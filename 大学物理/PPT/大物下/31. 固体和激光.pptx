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Default Extension="wav" ContentType="audio/x-wav"/>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0"/>
  </p:notesMasterIdLst>
  <p:handoutMasterIdLst>
    <p:handoutMasterId r:id="rId31"/>
  </p:handoutMasterIdLst>
  <p:sldIdLst>
    <p:sldId id="439" r:id="rId2"/>
    <p:sldId id="492" r:id="rId3"/>
    <p:sldId id="926" r:id="rId4"/>
    <p:sldId id="927" r:id="rId5"/>
    <p:sldId id="928" r:id="rId6"/>
    <p:sldId id="929" r:id="rId7"/>
    <p:sldId id="930" r:id="rId8"/>
    <p:sldId id="931" r:id="rId9"/>
    <p:sldId id="932" r:id="rId10"/>
    <p:sldId id="933" r:id="rId11"/>
    <p:sldId id="934" r:id="rId12"/>
    <p:sldId id="547" r:id="rId13"/>
    <p:sldId id="548" r:id="rId14"/>
    <p:sldId id="549" r:id="rId15"/>
    <p:sldId id="550" r:id="rId16"/>
    <p:sldId id="552" r:id="rId17"/>
    <p:sldId id="515" r:id="rId18"/>
    <p:sldId id="935" r:id="rId19"/>
    <p:sldId id="936" r:id="rId20"/>
    <p:sldId id="937" r:id="rId21"/>
    <p:sldId id="938" r:id="rId22"/>
    <p:sldId id="520" r:id="rId23"/>
    <p:sldId id="521" r:id="rId24"/>
    <p:sldId id="522" r:id="rId25"/>
    <p:sldId id="939" r:id="rId26"/>
    <p:sldId id="940" r:id="rId27"/>
    <p:sldId id="941" r:id="rId28"/>
    <p:sldId id="546" r:id="rId29"/>
  </p:sldIdLst>
  <p:sldSz cx="9144000" cy="6858000" type="screen4x3"/>
  <p:notesSz cx="6797675" cy="9928225"/>
  <p:custDataLst>
    <p:tags r:id="rId32"/>
  </p:custDataLst>
  <p:defaultTextStyle>
    <a:defPPr>
      <a:defRPr lang="zh-CN"/>
    </a:defPPr>
    <a:lvl1pPr algn="l" rtl="0" eaLnBrk="0" fontAlgn="base" hangingPunct="0">
      <a:spcBef>
        <a:spcPct val="0"/>
      </a:spcBef>
      <a:spcAft>
        <a:spcPct val="0"/>
      </a:spcAft>
      <a:defRPr kumimoji="1" sz="2400" b="1"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400" b="1"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400" b="1"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400" b="1"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400" b="1"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b="1"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b="1"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b="1"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b="1"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523" userDrawn="1">
          <p15:clr>
            <a:srgbClr val="A4A3A4"/>
          </p15:clr>
        </p15:guide>
        <p15:guide id="2" pos="507" userDrawn="1">
          <p15:clr>
            <a:srgbClr val="A4A3A4"/>
          </p15:clr>
        </p15:guide>
      </p15:sldGuideLst>
    </p:ext>
    <p:ext uri="{2D200454-40CA-4A62-9FC3-DE9A4176ACB9}">
      <p15:notesGuideLst xmlns:p15="http://schemas.microsoft.com/office/powerpoint/2012/main">
        <p15:guide id="1" orient="horz" pos="3127">
          <p15:clr>
            <a:srgbClr val="A4A3A4"/>
          </p15:clr>
        </p15:guide>
        <p15:guide id="2" pos="214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FF00"/>
    <a:srgbClr val="FFFF66"/>
    <a:srgbClr val="FFCC99"/>
    <a:srgbClr val="0000FF"/>
    <a:srgbClr val="800000"/>
    <a:srgbClr val="CC6600"/>
    <a:srgbClr val="009999"/>
    <a:srgbClr val="FF0000"/>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32" autoAdjust="0"/>
    <p:restoredTop sz="93420" autoAdjust="0"/>
  </p:normalViewPr>
  <p:slideViewPr>
    <p:cSldViewPr showGuides="1">
      <p:cViewPr varScale="1">
        <p:scale>
          <a:sx n="103" d="100"/>
          <a:sy n="103" d="100"/>
        </p:scale>
        <p:origin x="1158" y="72"/>
      </p:cViewPr>
      <p:guideLst>
        <p:guide orient="horz" pos="2523"/>
        <p:guide pos="507"/>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60" d="100"/>
          <a:sy n="60" d="100"/>
        </p:scale>
        <p:origin x="-1764" y="-84"/>
      </p:cViewPr>
      <p:guideLst>
        <p:guide orient="horz" pos="3127"/>
        <p:guide pos="2141"/>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heme" Target="theme/theme1.xml"/><Relationship Id="rId8" Type="http://schemas.openxmlformats.org/officeDocument/2006/relationships/slide" Target="slides/slide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image" Target="../media/image3.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emf"/><Relationship Id="rId1" Type="http://schemas.openxmlformats.org/officeDocument/2006/relationships/image" Target="../media/image15.emf"/><Relationship Id="rId4" Type="http://schemas.openxmlformats.org/officeDocument/2006/relationships/image" Target="../media/image18.emf"/></Relationships>
</file>

<file path=ppt/drawings/_rels/vmlDrawing5.vml.rels><?xml version="1.0" encoding="UTF-8" standalone="yes"?>
<Relationships xmlns="http://schemas.openxmlformats.org/package/2006/relationships"><Relationship Id="rId8" Type="http://schemas.openxmlformats.org/officeDocument/2006/relationships/image" Target="../media/image30.emf"/><Relationship Id="rId3" Type="http://schemas.openxmlformats.org/officeDocument/2006/relationships/image" Target="../media/image25.emf"/><Relationship Id="rId7" Type="http://schemas.openxmlformats.org/officeDocument/2006/relationships/image" Target="../media/image29.emf"/><Relationship Id="rId2" Type="http://schemas.openxmlformats.org/officeDocument/2006/relationships/image" Target="../media/image24.emf"/><Relationship Id="rId1" Type="http://schemas.openxmlformats.org/officeDocument/2006/relationships/image" Target="../media/image23.emf"/><Relationship Id="rId6" Type="http://schemas.openxmlformats.org/officeDocument/2006/relationships/image" Target="../media/image28.emf"/><Relationship Id="rId5" Type="http://schemas.openxmlformats.org/officeDocument/2006/relationships/image" Target="../media/image27.emf"/><Relationship Id="rId4" Type="http://schemas.openxmlformats.org/officeDocument/2006/relationships/image" Target="../media/image26.emf"/></Relationships>
</file>

<file path=ppt/drawings/_rels/vmlDrawing6.vml.rels><?xml version="1.0" encoding="UTF-8" standalone="yes"?>
<Relationships xmlns="http://schemas.openxmlformats.org/package/2006/relationships"><Relationship Id="rId8" Type="http://schemas.openxmlformats.org/officeDocument/2006/relationships/image" Target="../media/image38.emf"/><Relationship Id="rId3" Type="http://schemas.openxmlformats.org/officeDocument/2006/relationships/image" Target="../media/image33.emf"/><Relationship Id="rId7" Type="http://schemas.openxmlformats.org/officeDocument/2006/relationships/image" Target="../media/image37.emf"/><Relationship Id="rId2" Type="http://schemas.openxmlformats.org/officeDocument/2006/relationships/image" Target="../media/image32.emf"/><Relationship Id="rId1" Type="http://schemas.openxmlformats.org/officeDocument/2006/relationships/image" Target="../media/image31.emf"/><Relationship Id="rId6" Type="http://schemas.openxmlformats.org/officeDocument/2006/relationships/image" Target="../media/image36.emf"/><Relationship Id="rId5" Type="http://schemas.openxmlformats.org/officeDocument/2006/relationships/image" Target="../media/image35.emf"/><Relationship Id="rId4" Type="http://schemas.openxmlformats.org/officeDocument/2006/relationships/image" Target="../media/image34.emf"/><Relationship Id="rId9" Type="http://schemas.openxmlformats.org/officeDocument/2006/relationships/image" Target="../media/image39.e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42.emf"/><Relationship Id="rId2" Type="http://schemas.openxmlformats.org/officeDocument/2006/relationships/image" Target="../media/image41.emf"/><Relationship Id="rId1" Type="http://schemas.openxmlformats.org/officeDocument/2006/relationships/image" Target="../media/image40.e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46.emf"/><Relationship Id="rId2" Type="http://schemas.openxmlformats.org/officeDocument/2006/relationships/image" Target="../media/image45.emf"/><Relationship Id="rId1" Type="http://schemas.openxmlformats.org/officeDocument/2006/relationships/image" Target="../media/image44.emf"/><Relationship Id="rId6" Type="http://schemas.openxmlformats.org/officeDocument/2006/relationships/image" Target="../media/image49.emf"/><Relationship Id="rId5" Type="http://schemas.openxmlformats.org/officeDocument/2006/relationships/image" Target="../media/image48.emf"/><Relationship Id="rId4" Type="http://schemas.openxmlformats.org/officeDocument/2006/relationships/image" Target="../media/image47.e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52.emf"/><Relationship Id="rId2" Type="http://schemas.openxmlformats.org/officeDocument/2006/relationships/image" Target="../media/image51.emf"/><Relationship Id="rId1" Type="http://schemas.openxmlformats.org/officeDocument/2006/relationships/image" Target="../media/image50.emf"/><Relationship Id="rId5" Type="http://schemas.openxmlformats.org/officeDocument/2006/relationships/image" Target="../media/image54.emf"/><Relationship Id="rId4" Type="http://schemas.openxmlformats.org/officeDocument/2006/relationships/image" Target="../media/image53.e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58.emf"/><Relationship Id="rId2" Type="http://schemas.openxmlformats.org/officeDocument/2006/relationships/image" Target="../media/image57.emf"/><Relationship Id="rId1" Type="http://schemas.openxmlformats.org/officeDocument/2006/relationships/image" Target="../media/image56.emf"/><Relationship Id="rId6" Type="http://schemas.openxmlformats.org/officeDocument/2006/relationships/image" Target="../media/image61.emf"/><Relationship Id="rId5" Type="http://schemas.openxmlformats.org/officeDocument/2006/relationships/image" Target="../media/image60.emf"/><Relationship Id="rId4" Type="http://schemas.openxmlformats.org/officeDocument/2006/relationships/image" Target="../media/image59.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2098" name="Rectangle 2"/>
          <p:cNvSpPr>
            <a:spLocks noGrp="1" noChangeArrowheads="1"/>
          </p:cNvSpPr>
          <p:nvPr>
            <p:ph type="hdr" sz="quarter"/>
          </p:nvPr>
        </p:nvSpPr>
        <p:spPr bwMode="auto">
          <a:xfrm>
            <a:off x="0" y="0"/>
            <a:ext cx="2946400" cy="496888"/>
          </a:xfrm>
          <a:prstGeom prst="rect">
            <a:avLst/>
          </a:prstGeom>
          <a:noFill/>
          <a:ln w="9525">
            <a:noFill/>
            <a:miter lim="800000"/>
          </a:ln>
          <a:effectLst/>
        </p:spPr>
        <p:txBody>
          <a:bodyPr vert="horz" wrap="square" lIns="91440" tIns="45720" rIns="91440" bIns="45720" numCol="1" anchor="t" anchorCtr="0" compatLnSpc="1"/>
          <a:lstStyle>
            <a:lvl1pPr algn="l" eaLnBrk="1" hangingPunct="1">
              <a:defRPr sz="1200"/>
            </a:lvl1pPr>
          </a:lstStyle>
          <a:p>
            <a:pPr>
              <a:defRPr/>
            </a:pPr>
            <a:endParaRPr lang="en-US" altLang="zh-CN"/>
          </a:p>
        </p:txBody>
      </p:sp>
      <p:sp>
        <p:nvSpPr>
          <p:cNvPr id="132099" name="Rectangle 3"/>
          <p:cNvSpPr>
            <a:spLocks noGrp="1" noChangeArrowheads="1"/>
          </p:cNvSpPr>
          <p:nvPr>
            <p:ph type="dt" sz="quarter" idx="1"/>
          </p:nvPr>
        </p:nvSpPr>
        <p:spPr bwMode="auto">
          <a:xfrm>
            <a:off x="3851275" y="0"/>
            <a:ext cx="2946400" cy="496888"/>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lvl1pPr>
          </a:lstStyle>
          <a:p>
            <a:pPr>
              <a:defRPr/>
            </a:pPr>
            <a:endParaRPr lang="en-US" altLang="zh-CN"/>
          </a:p>
        </p:txBody>
      </p:sp>
      <p:sp>
        <p:nvSpPr>
          <p:cNvPr id="132100" name="Rectangle 4"/>
          <p:cNvSpPr>
            <a:spLocks noGrp="1" noChangeArrowheads="1"/>
          </p:cNvSpPr>
          <p:nvPr>
            <p:ph type="ftr" sz="quarter" idx="2"/>
          </p:nvPr>
        </p:nvSpPr>
        <p:spPr bwMode="auto">
          <a:xfrm>
            <a:off x="0" y="9431338"/>
            <a:ext cx="2946400" cy="496887"/>
          </a:xfrm>
          <a:prstGeom prst="rect">
            <a:avLst/>
          </a:prstGeom>
          <a:noFill/>
          <a:ln w="9525">
            <a:noFill/>
            <a:miter lim="800000"/>
          </a:ln>
          <a:effectLst/>
        </p:spPr>
        <p:txBody>
          <a:bodyPr vert="horz" wrap="square" lIns="91440" tIns="45720" rIns="91440" bIns="45720" numCol="1" anchor="b" anchorCtr="0" compatLnSpc="1"/>
          <a:lstStyle>
            <a:lvl1pPr algn="l" eaLnBrk="1" hangingPunct="1">
              <a:defRPr sz="1200"/>
            </a:lvl1pPr>
          </a:lstStyle>
          <a:p>
            <a:pPr>
              <a:defRPr/>
            </a:pPr>
            <a:endParaRPr lang="en-US" altLang="zh-CN"/>
          </a:p>
        </p:txBody>
      </p:sp>
      <p:sp>
        <p:nvSpPr>
          <p:cNvPr id="132101" name="Rectangle 5"/>
          <p:cNvSpPr>
            <a:spLocks noGrp="1" noChangeArrowheads="1"/>
          </p:cNvSpPr>
          <p:nvPr>
            <p:ph type="sldNum" sz="quarter" idx="3"/>
          </p:nvPr>
        </p:nvSpPr>
        <p:spPr bwMode="auto">
          <a:xfrm>
            <a:off x="3851275" y="9431338"/>
            <a:ext cx="2946400" cy="496887"/>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200"/>
            </a:lvl1pPr>
          </a:lstStyle>
          <a:p>
            <a:pPr>
              <a:defRPr/>
            </a:pPr>
            <a:fld id="{37FF4DE6-1985-490C-B7E0-EDBA30F6E0FB}" type="slidenum">
              <a:rPr lang="en-US" altLang="zh-CN"/>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8482" name="Rectangle 2"/>
          <p:cNvSpPr>
            <a:spLocks noGrp="1" noChangeArrowheads="1"/>
          </p:cNvSpPr>
          <p:nvPr>
            <p:ph type="hdr" sz="quarter"/>
          </p:nvPr>
        </p:nvSpPr>
        <p:spPr bwMode="auto">
          <a:xfrm>
            <a:off x="0" y="0"/>
            <a:ext cx="2946400" cy="496888"/>
          </a:xfrm>
          <a:prstGeom prst="rect">
            <a:avLst/>
          </a:prstGeom>
          <a:noFill/>
          <a:ln w="9525">
            <a:noFill/>
            <a:miter lim="800000"/>
          </a:ln>
          <a:effectLst/>
        </p:spPr>
        <p:txBody>
          <a:bodyPr vert="horz" wrap="square" lIns="91440" tIns="45720" rIns="91440" bIns="45720" numCol="1" anchor="t" anchorCtr="0" compatLnSpc="1"/>
          <a:lstStyle>
            <a:lvl1pPr algn="l" eaLnBrk="1" hangingPunct="1">
              <a:defRPr sz="1200"/>
            </a:lvl1pPr>
          </a:lstStyle>
          <a:p>
            <a:pPr>
              <a:defRPr/>
            </a:pPr>
            <a:endParaRPr lang="en-US" altLang="zh-CN"/>
          </a:p>
        </p:txBody>
      </p:sp>
      <p:sp>
        <p:nvSpPr>
          <p:cNvPr id="148483" name="Rectangle 3"/>
          <p:cNvSpPr>
            <a:spLocks noGrp="1" noChangeArrowheads="1"/>
          </p:cNvSpPr>
          <p:nvPr>
            <p:ph type="dt" idx="1"/>
          </p:nvPr>
        </p:nvSpPr>
        <p:spPr bwMode="auto">
          <a:xfrm>
            <a:off x="3851275" y="0"/>
            <a:ext cx="2946400" cy="496888"/>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lvl1pPr>
          </a:lstStyle>
          <a:p>
            <a:pPr>
              <a:defRPr/>
            </a:pPr>
            <a:endParaRPr lang="en-US" altLang="zh-CN"/>
          </a:p>
        </p:txBody>
      </p:sp>
      <p:sp>
        <p:nvSpPr>
          <p:cNvPr id="2052" name="Rectangle 4"/>
          <p:cNvSpPr>
            <a:spLocks noGrp="1" noRot="1" noChangeAspect="1" noChangeArrowheads="1" noTextEdit="1"/>
          </p:cNvSpPr>
          <p:nvPr>
            <p:ph type="sldImg" idx="2"/>
          </p:nvPr>
        </p:nvSpPr>
        <p:spPr bwMode="auto">
          <a:xfrm>
            <a:off x="917575" y="744538"/>
            <a:ext cx="4962525" cy="3722687"/>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148485" name="Rectangle 5"/>
          <p:cNvSpPr>
            <a:spLocks noGrp="1" noChangeArrowheads="1"/>
          </p:cNvSpPr>
          <p:nvPr>
            <p:ph type="body" sz="quarter" idx="3"/>
          </p:nvPr>
        </p:nvSpPr>
        <p:spPr bwMode="auto">
          <a:xfrm>
            <a:off x="906463" y="4716463"/>
            <a:ext cx="4984750" cy="4467225"/>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48486" name="Rectangle 6"/>
          <p:cNvSpPr>
            <a:spLocks noGrp="1" noChangeArrowheads="1"/>
          </p:cNvSpPr>
          <p:nvPr>
            <p:ph type="ftr" sz="quarter" idx="4"/>
          </p:nvPr>
        </p:nvSpPr>
        <p:spPr bwMode="auto">
          <a:xfrm>
            <a:off x="0" y="9431338"/>
            <a:ext cx="2946400" cy="496887"/>
          </a:xfrm>
          <a:prstGeom prst="rect">
            <a:avLst/>
          </a:prstGeom>
          <a:noFill/>
          <a:ln w="9525">
            <a:noFill/>
            <a:miter lim="800000"/>
          </a:ln>
          <a:effectLst/>
        </p:spPr>
        <p:txBody>
          <a:bodyPr vert="horz" wrap="square" lIns="91440" tIns="45720" rIns="91440" bIns="45720" numCol="1" anchor="b" anchorCtr="0" compatLnSpc="1"/>
          <a:lstStyle>
            <a:lvl1pPr algn="l" eaLnBrk="1" hangingPunct="1">
              <a:defRPr sz="1200"/>
            </a:lvl1pPr>
          </a:lstStyle>
          <a:p>
            <a:pPr>
              <a:defRPr/>
            </a:pPr>
            <a:endParaRPr lang="en-US" altLang="zh-CN"/>
          </a:p>
        </p:txBody>
      </p:sp>
      <p:sp>
        <p:nvSpPr>
          <p:cNvPr id="148487" name="Rectangle 7"/>
          <p:cNvSpPr>
            <a:spLocks noGrp="1" noChangeArrowheads="1"/>
          </p:cNvSpPr>
          <p:nvPr>
            <p:ph type="sldNum" sz="quarter" idx="5"/>
          </p:nvPr>
        </p:nvSpPr>
        <p:spPr bwMode="auto">
          <a:xfrm>
            <a:off x="3851275" y="9431338"/>
            <a:ext cx="2946400" cy="496887"/>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200"/>
            </a:lvl1pPr>
          </a:lstStyle>
          <a:p>
            <a:pPr>
              <a:defRPr/>
            </a:pPr>
            <a:fld id="{16216DFA-5E0B-4E3C-A3A7-5CFDC691FED5}" type="slidenum">
              <a:rPr lang="en-US" altLang="zh-CN"/>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a:extLst>
              <a:ext uri="{FF2B5EF4-FFF2-40B4-BE49-F238E27FC236}">
                <a16:creationId xmlns:a16="http://schemas.microsoft.com/office/drawing/2014/main" id="{94116144-728E-41CD-A7DC-81753A5073C5}"/>
              </a:ext>
            </a:extLst>
          </p:cNvPr>
          <p:cNvSpPr txBox="1">
            <a:spLocks noGrp="1" noChangeArrowheads="1"/>
          </p:cNvSpPr>
          <p:nvPr/>
        </p:nvSpPr>
        <p:spPr bwMode="auto">
          <a:xfrm>
            <a:off x="3888382" y="8526241"/>
            <a:ext cx="2975189" cy="4489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pPr>
            <a:fld id="{5CCB7AD7-A75C-4ECB-8EB6-BE9C38E94B62}" type="slidenum">
              <a:rPr lang="en-US" altLang="zh-CN" b="0">
                <a:latin typeface="Arial" panose="020B0604020202020204" pitchFamily="34" charset="0"/>
              </a:rPr>
              <a:pPr algn="r" eaLnBrk="1" hangingPunct="1">
                <a:spcBef>
                  <a:spcPct val="0"/>
                </a:spcBef>
              </a:pPr>
              <a:t>2</a:t>
            </a:fld>
            <a:endParaRPr lang="en-US" altLang="zh-CN" b="0">
              <a:latin typeface="Arial" panose="020B0604020202020204" pitchFamily="34" charset="0"/>
            </a:endParaRPr>
          </a:p>
        </p:txBody>
      </p:sp>
      <p:sp>
        <p:nvSpPr>
          <p:cNvPr id="35843" name="Rectangle 2">
            <a:extLst>
              <a:ext uri="{FF2B5EF4-FFF2-40B4-BE49-F238E27FC236}">
                <a16:creationId xmlns:a16="http://schemas.microsoft.com/office/drawing/2014/main" id="{B349DFD9-E5BA-4F3E-B749-D850BD13A4AD}"/>
              </a:ext>
            </a:extLst>
          </p:cNvPr>
          <p:cNvSpPr>
            <a:spLocks noGrp="1" noRot="1" noChangeAspect="1" noChangeArrowheads="1" noTextEdit="1"/>
          </p:cNvSpPr>
          <p:nvPr>
            <p:ph type="sldImg"/>
          </p:nvPr>
        </p:nvSpPr>
        <p:spPr>
          <a:ln/>
        </p:spPr>
      </p:sp>
      <p:sp>
        <p:nvSpPr>
          <p:cNvPr id="35844" name="Rectangle 3">
            <a:extLst>
              <a:ext uri="{FF2B5EF4-FFF2-40B4-BE49-F238E27FC236}">
                <a16:creationId xmlns:a16="http://schemas.microsoft.com/office/drawing/2014/main" id="{C0F4DADA-9617-4340-A268-F0C493DF2046}"/>
              </a:ext>
            </a:extLst>
          </p:cNvPr>
          <p:cNvSpPr>
            <a:spLocks noGrp="1" noChangeArrowheads="1"/>
          </p:cNvSpPr>
          <p:nvPr>
            <p:ph type="body" idx="1"/>
          </p:nvPr>
        </p:nvSpPr>
        <p:spPr>
          <a:xfrm>
            <a:off x="686819" y="4263968"/>
            <a:ext cx="5491473" cy="40403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a:extLst>
              <a:ext uri="{FF2B5EF4-FFF2-40B4-BE49-F238E27FC236}">
                <a16:creationId xmlns:a16="http://schemas.microsoft.com/office/drawing/2014/main" id="{FC5C6F29-273E-4851-8DB9-63FB11D62817}"/>
              </a:ext>
            </a:extLst>
          </p:cNvPr>
          <p:cNvSpPr txBox="1">
            <a:spLocks noGrp="1" noChangeArrowheads="1"/>
          </p:cNvSpPr>
          <p:nvPr/>
        </p:nvSpPr>
        <p:spPr bwMode="auto">
          <a:xfrm>
            <a:off x="4048537" y="7223502"/>
            <a:ext cx="3096845" cy="381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pPr>
            <a:fld id="{EA856B31-9924-43CD-9D99-263572265790}" type="slidenum">
              <a:rPr lang="en-US" altLang="zh-CN" b="0">
                <a:latin typeface="Arial" panose="020B0604020202020204" pitchFamily="34" charset="0"/>
              </a:rPr>
              <a:pPr algn="r" eaLnBrk="1" hangingPunct="1">
                <a:spcBef>
                  <a:spcPct val="0"/>
                </a:spcBef>
              </a:pPr>
              <a:t>4</a:t>
            </a:fld>
            <a:endParaRPr lang="en-US" altLang="zh-CN" b="0">
              <a:latin typeface="Arial" panose="020B0604020202020204" pitchFamily="34" charset="0"/>
            </a:endParaRPr>
          </a:p>
        </p:txBody>
      </p:sp>
      <p:sp>
        <p:nvSpPr>
          <p:cNvPr id="7171" name="Rectangle 2">
            <a:extLst>
              <a:ext uri="{FF2B5EF4-FFF2-40B4-BE49-F238E27FC236}">
                <a16:creationId xmlns:a16="http://schemas.microsoft.com/office/drawing/2014/main" id="{E7075985-7EC0-404E-8514-B81D3AAACF7D}"/>
              </a:ext>
            </a:extLst>
          </p:cNvPr>
          <p:cNvSpPr>
            <a:spLocks noGrp="1" noRot="1" noChangeAspect="1" noChangeArrowheads="1" noTextEdit="1"/>
          </p:cNvSpPr>
          <p:nvPr>
            <p:ph type="sldImg"/>
          </p:nvPr>
        </p:nvSpPr>
        <p:spPr>
          <a:ln/>
        </p:spPr>
      </p:sp>
      <p:sp>
        <p:nvSpPr>
          <p:cNvPr id="7172" name="Rectangle 3">
            <a:extLst>
              <a:ext uri="{FF2B5EF4-FFF2-40B4-BE49-F238E27FC236}">
                <a16:creationId xmlns:a16="http://schemas.microsoft.com/office/drawing/2014/main" id="{B6C4C0AC-48D3-4100-9F23-4E2251F9CE88}"/>
              </a:ext>
            </a:extLst>
          </p:cNvPr>
          <p:cNvSpPr>
            <a:spLocks noGrp="1" noChangeArrowheads="1"/>
          </p:cNvSpPr>
          <p:nvPr>
            <p:ph type="body" idx="1"/>
          </p:nvPr>
        </p:nvSpPr>
        <p:spPr>
          <a:xfrm>
            <a:off x="714538" y="3613446"/>
            <a:ext cx="5717846" cy="3422016"/>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a:extLst>
              <a:ext uri="{FF2B5EF4-FFF2-40B4-BE49-F238E27FC236}">
                <a16:creationId xmlns:a16="http://schemas.microsoft.com/office/drawing/2014/main" id="{01371F12-7B7E-4699-9313-0749EE6AB36E}"/>
              </a:ext>
            </a:extLst>
          </p:cNvPr>
          <p:cNvSpPr txBox="1">
            <a:spLocks noGrp="1" noChangeArrowheads="1"/>
          </p:cNvSpPr>
          <p:nvPr/>
        </p:nvSpPr>
        <p:spPr bwMode="auto">
          <a:xfrm>
            <a:off x="4048537" y="7223502"/>
            <a:ext cx="3096845" cy="381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pPr>
            <a:fld id="{5B85065B-EFA6-4C6C-B0E3-57BC3DB42503}" type="slidenum">
              <a:rPr lang="en-US" altLang="zh-CN" b="0">
                <a:latin typeface="Arial" panose="020B0604020202020204" pitchFamily="34" charset="0"/>
              </a:rPr>
              <a:pPr algn="r" eaLnBrk="1" hangingPunct="1">
                <a:spcBef>
                  <a:spcPct val="0"/>
                </a:spcBef>
              </a:pPr>
              <a:t>5</a:t>
            </a:fld>
            <a:endParaRPr lang="en-US" altLang="zh-CN" b="0">
              <a:latin typeface="Arial" panose="020B0604020202020204" pitchFamily="34" charset="0"/>
            </a:endParaRPr>
          </a:p>
        </p:txBody>
      </p:sp>
      <p:sp>
        <p:nvSpPr>
          <p:cNvPr id="9219" name="Rectangle 2">
            <a:extLst>
              <a:ext uri="{FF2B5EF4-FFF2-40B4-BE49-F238E27FC236}">
                <a16:creationId xmlns:a16="http://schemas.microsoft.com/office/drawing/2014/main" id="{7E6827D1-7E54-4898-A410-68368CD2C6C0}"/>
              </a:ext>
            </a:extLst>
          </p:cNvPr>
          <p:cNvSpPr>
            <a:spLocks noGrp="1" noRot="1" noChangeAspect="1" noChangeArrowheads="1" noTextEdit="1"/>
          </p:cNvSpPr>
          <p:nvPr>
            <p:ph type="sldImg"/>
          </p:nvPr>
        </p:nvSpPr>
        <p:spPr>
          <a:ln/>
        </p:spPr>
      </p:sp>
      <p:sp>
        <p:nvSpPr>
          <p:cNvPr id="9220" name="Rectangle 3">
            <a:extLst>
              <a:ext uri="{FF2B5EF4-FFF2-40B4-BE49-F238E27FC236}">
                <a16:creationId xmlns:a16="http://schemas.microsoft.com/office/drawing/2014/main" id="{166F220B-4C32-4720-8AF4-2FAADBA070A9}"/>
              </a:ext>
            </a:extLst>
          </p:cNvPr>
          <p:cNvSpPr>
            <a:spLocks noGrp="1" noChangeArrowheads="1"/>
          </p:cNvSpPr>
          <p:nvPr>
            <p:ph type="body" idx="1"/>
          </p:nvPr>
        </p:nvSpPr>
        <p:spPr>
          <a:xfrm>
            <a:off x="714538" y="3613446"/>
            <a:ext cx="5717846" cy="3422016"/>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a:extLst>
              <a:ext uri="{FF2B5EF4-FFF2-40B4-BE49-F238E27FC236}">
                <a16:creationId xmlns:a16="http://schemas.microsoft.com/office/drawing/2014/main" id="{DC34DE6E-89D7-40C6-B372-7FE2D3113435}"/>
              </a:ext>
            </a:extLst>
          </p:cNvPr>
          <p:cNvSpPr txBox="1">
            <a:spLocks noGrp="1" noChangeArrowheads="1"/>
          </p:cNvSpPr>
          <p:nvPr/>
        </p:nvSpPr>
        <p:spPr bwMode="auto">
          <a:xfrm>
            <a:off x="4048537" y="7223502"/>
            <a:ext cx="3096845" cy="381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pPr>
            <a:fld id="{71F18574-BE89-4CD8-B72F-ED41F40848B9}" type="slidenum">
              <a:rPr lang="en-US" altLang="zh-CN" b="0">
                <a:latin typeface="Arial" panose="020B0604020202020204" pitchFamily="34" charset="0"/>
              </a:rPr>
              <a:pPr algn="r" eaLnBrk="1" hangingPunct="1">
                <a:spcBef>
                  <a:spcPct val="0"/>
                </a:spcBef>
              </a:pPr>
              <a:t>6</a:t>
            </a:fld>
            <a:endParaRPr lang="en-US" altLang="zh-CN" b="0">
              <a:latin typeface="Arial" panose="020B0604020202020204" pitchFamily="34" charset="0"/>
            </a:endParaRPr>
          </a:p>
        </p:txBody>
      </p:sp>
      <p:sp>
        <p:nvSpPr>
          <p:cNvPr id="11267" name="Rectangle 2">
            <a:extLst>
              <a:ext uri="{FF2B5EF4-FFF2-40B4-BE49-F238E27FC236}">
                <a16:creationId xmlns:a16="http://schemas.microsoft.com/office/drawing/2014/main" id="{AF24A90F-1680-487A-BE1F-21BF0ACE9CFB}"/>
              </a:ext>
            </a:extLst>
          </p:cNvPr>
          <p:cNvSpPr>
            <a:spLocks noGrp="1" noRot="1" noChangeAspect="1" noChangeArrowheads="1" noTextEdit="1"/>
          </p:cNvSpPr>
          <p:nvPr>
            <p:ph type="sldImg"/>
          </p:nvPr>
        </p:nvSpPr>
        <p:spPr>
          <a:ln/>
        </p:spPr>
      </p:sp>
      <p:sp>
        <p:nvSpPr>
          <p:cNvPr id="11268" name="Rectangle 3">
            <a:extLst>
              <a:ext uri="{FF2B5EF4-FFF2-40B4-BE49-F238E27FC236}">
                <a16:creationId xmlns:a16="http://schemas.microsoft.com/office/drawing/2014/main" id="{358A0F83-4995-4122-BC3E-A815110D01E7}"/>
              </a:ext>
            </a:extLst>
          </p:cNvPr>
          <p:cNvSpPr>
            <a:spLocks noGrp="1" noChangeArrowheads="1"/>
          </p:cNvSpPr>
          <p:nvPr>
            <p:ph type="body" idx="1"/>
          </p:nvPr>
        </p:nvSpPr>
        <p:spPr>
          <a:xfrm>
            <a:off x="714538" y="3613446"/>
            <a:ext cx="5717846" cy="3422016"/>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a:extLst>
              <a:ext uri="{FF2B5EF4-FFF2-40B4-BE49-F238E27FC236}">
                <a16:creationId xmlns:a16="http://schemas.microsoft.com/office/drawing/2014/main" id="{BD966411-0678-4565-A543-07CBE9095C3B}"/>
              </a:ext>
            </a:extLst>
          </p:cNvPr>
          <p:cNvSpPr txBox="1">
            <a:spLocks noGrp="1" noChangeArrowheads="1"/>
          </p:cNvSpPr>
          <p:nvPr/>
        </p:nvSpPr>
        <p:spPr bwMode="auto">
          <a:xfrm>
            <a:off x="4048537" y="7223502"/>
            <a:ext cx="3096845" cy="381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pPr>
            <a:fld id="{2E2EA92F-A398-4BAC-B72C-C4680BDBBC4D}" type="slidenum">
              <a:rPr lang="en-US" altLang="zh-CN" b="0">
                <a:latin typeface="Arial" panose="020B0604020202020204" pitchFamily="34" charset="0"/>
              </a:rPr>
              <a:pPr algn="r" eaLnBrk="1" hangingPunct="1">
                <a:spcBef>
                  <a:spcPct val="0"/>
                </a:spcBef>
              </a:pPr>
              <a:t>7</a:t>
            </a:fld>
            <a:endParaRPr lang="en-US" altLang="zh-CN" b="0">
              <a:latin typeface="Arial" panose="020B0604020202020204" pitchFamily="34" charset="0"/>
            </a:endParaRPr>
          </a:p>
        </p:txBody>
      </p:sp>
      <p:sp>
        <p:nvSpPr>
          <p:cNvPr id="13315" name="Rectangle 2">
            <a:extLst>
              <a:ext uri="{FF2B5EF4-FFF2-40B4-BE49-F238E27FC236}">
                <a16:creationId xmlns:a16="http://schemas.microsoft.com/office/drawing/2014/main" id="{E58C2FFB-3550-4B08-951D-907AE2493DC3}"/>
              </a:ext>
            </a:extLst>
          </p:cNvPr>
          <p:cNvSpPr>
            <a:spLocks noGrp="1" noRot="1" noChangeAspect="1" noChangeArrowheads="1" noTextEdit="1"/>
          </p:cNvSpPr>
          <p:nvPr>
            <p:ph type="sldImg"/>
          </p:nvPr>
        </p:nvSpPr>
        <p:spPr>
          <a:ln/>
        </p:spPr>
      </p:sp>
      <p:sp>
        <p:nvSpPr>
          <p:cNvPr id="13316" name="Rectangle 3">
            <a:extLst>
              <a:ext uri="{FF2B5EF4-FFF2-40B4-BE49-F238E27FC236}">
                <a16:creationId xmlns:a16="http://schemas.microsoft.com/office/drawing/2014/main" id="{65AA3C66-9BEA-443C-B82A-A1555DC0BF8D}"/>
              </a:ext>
            </a:extLst>
          </p:cNvPr>
          <p:cNvSpPr>
            <a:spLocks noGrp="1" noChangeArrowheads="1"/>
          </p:cNvSpPr>
          <p:nvPr>
            <p:ph type="body" idx="1"/>
          </p:nvPr>
        </p:nvSpPr>
        <p:spPr>
          <a:xfrm>
            <a:off x="714538" y="3613446"/>
            <a:ext cx="5717846" cy="3422016"/>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a:extLst>
              <a:ext uri="{FF2B5EF4-FFF2-40B4-BE49-F238E27FC236}">
                <a16:creationId xmlns:a16="http://schemas.microsoft.com/office/drawing/2014/main" id="{6B1B3CA4-8152-437B-899A-0FEC029B4448}"/>
              </a:ext>
            </a:extLst>
          </p:cNvPr>
          <p:cNvSpPr txBox="1">
            <a:spLocks noGrp="1" noChangeArrowheads="1"/>
          </p:cNvSpPr>
          <p:nvPr/>
        </p:nvSpPr>
        <p:spPr bwMode="auto">
          <a:xfrm>
            <a:off x="4048537" y="7223502"/>
            <a:ext cx="3096845" cy="381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pPr>
            <a:fld id="{56E287E7-FBE7-4940-86C7-C90F38D39B30}" type="slidenum">
              <a:rPr lang="en-US" altLang="zh-CN" b="0">
                <a:latin typeface="Arial" panose="020B0604020202020204" pitchFamily="34" charset="0"/>
              </a:rPr>
              <a:pPr algn="r" eaLnBrk="1" hangingPunct="1">
                <a:spcBef>
                  <a:spcPct val="0"/>
                </a:spcBef>
              </a:pPr>
              <a:t>8</a:t>
            </a:fld>
            <a:endParaRPr lang="en-US" altLang="zh-CN" b="0">
              <a:latin typeface="Arial" panose="020B0604020202020204" pitchFamily="34" charset="0"/>
            </a:endParaRPr>
          </a:p>
        </p:txBody>
      </p:sp>
      <p:sp>
        <p:nvSpPr>
          <p:cNvPr id="15363" name="Rectangle 2">
            <a:extLst>
              <a:ext uri="{FF2B5EF4-FFF2-40B4-BE49-F238E27FC236}">
                <a16:creationId xmlns:a16="http://schemas.microsoft.com/office/drawing/2014/main" id="{866ED6FE-7F8A-4BF5-90C9-1D9ED267F6D5}"/>
              </a:ext>
            </a:extLst>
          </p:cNvPr>
          <p:cNvSpPr>
            <a:spLocks noGrp="1" noRot="1" noChangeAspect="1" noChangeArrowheads="1" noTextEdit="1"/>
          </p:cNvSpPr>
          <p:nvPr>
            <p:ph type="sldImg"/>
          </p:nvPr>
        </p:nvSpPr>
        <p:spPr>
          <a:ln/>
        </p:spPr>
      </p:sp>
      <p:sp>
        <p:nvSpPr>
          <p:cNvPr id="15364" name="Rectangle 3">
            <a:extLst>
              <a:ext uri="{FF2B5EF4-FFF2-40B4-BE49-F238E27FC236}">
                <a16:creationId xmlns:a16="http://schemas.microsoft.com/office/drawing/2014/main" id="{12871094-079E-41D6-82AB-795BFCDFA1C4}"/>
              </a:ext>
            </a:extLst>
          </p:cNvPr>
          <p:cNvSpPr>
            <a:spLocks noGrp="1" noChangeArrowheads="1"/>
          </p:cNvSpPr>
          <p:nvPr>
            <p:ph type="body" idx="1"/>
          </p:nvPr>
        </p:nvSpPr>
        <p:spPr>
          <a:xfrm>
            <a:off x="714538" y="3613446"/>
            <a:ext cx="5717846" cy="3422016"/>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a:extLst>
              <a:ext uri="{FF2B5EF4-FFF2-40B4-BE49-F238E27FC236}">
                <a16:creationId xmlns:a16="http://schemas.microsoft.com/office/drawing/2014/main" id="{2A0B6E13-6F26-4090-B88D-74442A0DBCB7}"/>
              </a:ext>
            </a:extLst>
          </p:cNvPr>
          <p:cNvSpPr txBox="1">
            <a:spLocks noGrp="1" noChangeArrowheads="1"/>
          </p:cNvSpPr>
          <p:nvPr/>
        </p:nvSpPr>
        <p:spPr bwMode="auto">
          <a:xfrm>
            <a:off x="4048537" y="7223502"/>
            <a:ext cx="3096845" cy="381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pPr>
            <a:fld id="{B080D1AB-BE68-4875-AC22-5A476EB2A594}" type="slidenum">
              <a:rPr lang="en-US" altLang="zh-CN" b="0">
                <a:latin typeface="Arial" panose="020B0604020202020204" pitchFamily="34" charset="0"/>
              </a:rPr>
              <a:pPr algn="r" eaLnBrk="1" hangingPunct="1">
                <a:spcBef>
                  <a:spcPct val="0"/>
                </a:spcBef>
              </a:pPr>
              <a:t>9</a:t>
            </a:fld>
            <a:endParaRPr lang="en-US" altLang="zh-CN" b="0">
              <a:latin typeface="Arial" panose="020B0604020202020204" pitchFamily="34" charset="0"/>
            </a:endParaRPr>
          </a:p>
        </p:txBody>
      </p:sp>
      <p:sp>
        <p:nvSpPr>
          <p:cNvPr id="17411" name="Rectangle 2">
            <a:extLst>
              <a:ext uri="{FF2B5EF4-FFF2-40B4-BE49-F238E27FC236}">
                <a16:creationId xmlns:a16="http://schemas.microsoft.com/office/drawing/2014/main" id="{58F8C6BD-C6C2-4DCB-BB59-4C5F98EC9676}"/>
              </a:ext>
            </a:extLst>
          </p:cNvPr>
          <p:cNvSpPr>
            <a:spLocks noGrp="1" noRot="1" noChangeAspect="1" noChangeArrowheads="1" noTextEdit="1"/>
          </p:cNvSpPr>
          <p:nvPr>
            <p:ph type="sldImg"/>
          </p:nvPr>
        </p:nvSpPr>
        <p:spPr>
          <a:ln/>
        </p:spPr>
      </p:sp>
      <p:sp>
        <p:nvSpPr>
          <p:cNvPr id="17412" name="Rectangle 3">
            <a:extLst>
              <a:ext uri="{FF2B5EF4-FFF2-40B4-BE49-F238E27FC236}">
                <a16:creationId xmlns:a16="http://schemas.microsoft.com/office/drawing/2014/main" id="{DD7B41E4-1AF9-4D9F-B31D-A4068D60EC89}"/>
              </a:ext>
            </a:extLst>
          </p:cNvPr>
          <p:cNvSpPr>
            <a:spLocks noGrp="1" noChangeArrowheads="1"/>
          </p:cNvSpPr>
          <p:nvPr>
            <p:ph type="body" idx="1"/>
          </p:nvPr>
        </p:nvSpPr>
        <p:spPr>
          <a:xfrm>
            <a:off x="714538" y="3613446"/>
            <a:ext cx="5717846" cy="3422016"/>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a:extLst>
              <a:ext uri="{FF2B5EF4-FFF2-40B4-BE49-F238E27FC236}">
                <a16:creationId xmlns:a16="http://schemas.microsoft.com/office/drawing/2014/main" id="{275FFBE9-4330-4674-8373-7C59F56A97BB}"/>
              </a:ext>
            </a:extLst>
          </p:cNvPr>
          <p:cNvSpPr txBox="1">
            <a:spLocks noGrp="1" noChangeArrowheads="1"/>
          </p:cNvSpPr>
          <p:nvPr/>
        </p:nvSpPr>
        <p:spPr bwMode="auto">
          <a:xfrm>
            <a:off x="4048537" y="7223502"/>
            <a:ext cx="3096845" cy="381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pPr>
            <a:fld id="{EA94E5CF-EBE6-4458-9475-41C8873DB87A}" type="slidenum">
              <a:rPr lang="en-US" altLang="zh-CN" b="0">
                <a:latin typeface="Arial" panose="020B0604020202020204" pitchFamily="34" charset="0"/>
              </a:rPr>
              <a:pPr algn="r" eaLnBrk="1" hangingPunct="1">
                <a:spcBef>
                  <a:spcPct val="0"/>
                </a:spcBef>
              </a:pPr>
              <a:t>10</a:t>
            </a:fld>
            <a:endParaRPr lang="en-US" altLang="zh-CN" b="0">
              <a:latin typeface="Arial" panose="020B0604020202020204" pitchFamily="34" charset="0"/>
            </a:endParaRPr>
          </a:p>
        </p:txBody>
      </p:sp>
      <p:sp>
        <p:nvSpPr>
          <p:cNvPr id="19459" name="Rectangle 2">
            <a:extLst>
              <a:ext uri="{FF2B5EF4-FFF2-40B4-BE49-F238E27FC236}">
                <a16:creationId xmlns:a16="http://schemas.microsoft.com/office/drawing/2014/main" id="{39908F55-E24F-437E-BEDE-D1E7B528CDEF}"/>
              </a:ext>
            </a:extLst>
          </p:cNvPr>
          <p:cNvSpPr>
            <a:spLocks noGrp="1" noRot="1" noChangeAspect="1" noChangeArrowheads="1" noTextEdit="1"/>
          </p:cNvSpPr>
          <p:nvPr>
            <p:ph type="sldImg"/>
          </p:nvPr>
        </p:nvSpPr>
        <p:spPr>
          <a:ln/>
        </p:spPr>
      </p:sp>
      <p:sp>
        <p:nvSpPr>
          <p:cNvPr id="19460" name="Rectangle 3">
            <a:extLst>
              <a:ext uri="{FF2B5EF4-FFF2-40B4-BE49-F238E27FC236}">
                <a16:creationId xmlns:a16="http://schemas.microsoft.com/office/drawing/2014/main" id="{8855D6F9-A0C1-46B9-A9D8-F6DEE8F70DC5}"/>
              </a:ext>
            </a:extLst>
          </p:cNvPr>
          <p:cNvSpPr>
            <a:spLocks noGrp="1" noChangeArrowheads="1"/>
          </p:cNvSpPr>
          <p:nvPr>
            <p:ph type="body" idx="1"/>
          </p:nvPr>
        </p:nvSpPr>
        <p:spPr>
          <a:xfrm>
            <a:off x="714538" y="3613446"/>
            <a:ext cx="5717846" cy="3422016"/>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a:extLst>
              <a:ext uri="{FF2B5EF4-FFF2-40B4-BE49-F238E27FC236}">
                <a16:creationId xmlns:a16="http://schemas.microsoft.com/office/drawing/2014/main" id="{C2B18FC3-8BD5-46E3-AABB-04D77ED5B3D3}"/>
              </a:ext>
            </a:extLst>
          </p:cNvPr>
          <p:cNvSpPr txBox="1">
            <a:spLocks noGrp="1" noChangeArrowheads="1"/>
          </p:cNvSpPr>
          <p:nvPr/>
        </p:nvSpPr>
        <p:spPr bwMode="auto">
          <a:xfrm>
            <a:off x="4048537" y="7223502"/>
            <a:ext cx="3096845" cy="381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pPr>
            <a:fld id="{F1D56D8A-D6A2-4885-B384-7FF9EB8A78A1}" type="slidenum">
              <a:rPr lang="en-US" altLang="zh-CN" b="0">
                <a:latin typeface="Arial" panose="020B0604020202020204" pitchFamily="34" charset="0"/>
              </a:rPr>
              <a:pPr algn="r" eaLnBrk="1" hangingPunct="1">
                <a:spcBef>
                  <a:spcPct val="0"/>
                </a:spcBef>
              </a:pPr>
              <a:t>11</a:t>
            </a:fld>
            <a:endParaRPr lang="en-US" altLang="zh-CN" b="0">
              <a:latin typeface="Arial" panose="020B0604020202020204" pitchFamily="34" charset="0"/>
            </a:endParaRPr>
          </a:p>
        </p:txBody>
      </p:sp>
      <p:sp>
        <p:nvSpPr>
          <p:cNvPr id="21507" name="Rectangle 2">
            <a:extLst>
              <a:ext uri="{FF2B5EF4-FFF2-40B4-BE49-F238E27FC236}">
                <a16:creationId xmlns:a16="http://schemas.microsoft.com/office/drawing/2014/main" id="{BD578122-2ADB-46D1-9382-4CA1F6EA10FF}"/>
              </a:ext>
            </a:extLst>
          </p:cNvPr>
          <p:cNvSpPr>
            <a:spLocks noGrp="1" noRot="1" noChangeAspect="1" noChangeArrowheads="1" noTextEdit="1"/>
          </p:cNvSpPr>
          <p:nvPr>
            <p:ph type="sldImg"/>
          </p:nvPr>
        </p:nvSpPr>
        <p:spPr>
          <a:ln/>
        </p:spPr>
      </p:sp>
      <p:sp>
        <p:nvSpPr>
          <p:cNvPr id="21508" name="Rectangle 3">
            <a:extLst>
              <a:ext uri="{FF2B5EF4-FFF2-40B4-BE49-F238E27FC236}">
                <a16:creationId xmlns:a16="http://schemas.microsoft.com/office/drawing/2014/main" id="{4A1202D3-2FFF-470E-B71B-0830539A6C47}"/>
              </a:ext>
            </a:extLst>
          </p:cNvPr>
          <p:cNvSpPr>
            <a:spLocks noGrp="1" noChangeArrowheads="1"/>
          </p:cNvSpPr>
          <p:nvPr>
            <p:ph type="body" idx="1"/>
          </p:nvPr>
        </p:nvSpPr>
        <p:spPr>
          <a:xfrm>
            <a:off x="714538" y="3613446"/>
            <a:ext cx="5717846" cy="3422016"/>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a:extLst>
              <a:ext uri="{FF2B5EF4-FFF2-40B4-BE49-F238E27FC236}">
                <a16:creationId xmlns:a16="http://schemas.microsoft.com/office/drawing/2014/main" id="{ED9012C2-DE6E-412C-8C3D-F4C5349A4C6F}"/>
              </a:ext>
            </a:extLst>
          </p:cNvPr>
          <p:cNvSpPr>
            <a:spLocks noGrp="1" noRot="1" noChangeAspect="1" noChangeArrowheads="1" noTextEdit="1"/>
          </p:cNvSpPr>
          <p:nvPr>
            <p:ph type="sldImg"/>
          </p:nvPr>
        </p:nvSpPr>
        <p:spPr>
          <a:ln/>
        </p:spPr>
      </p:sp>
      <p:sp>
        <p:nvSpPr>
          <p:cNvPr id="24579" name="备注占位符 2">
            <a:extLst>
              <a:ext uri="{FF2B5EF4-FFF2-40B4-BE49-F238E27FC236}">
                <a16:creationId xmlns:a16="http://schemas.microsoft.com/office/drawing/2014/main" id="{0B22A755-C531-4675-9459-EE0BF9BE3F6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4580" name="灯片编号占位符 3">
            <a:extLst>
              <a:ext uri="{FF2B5EF4-FFF2-40B4-BE49-F238E27FC236}">
                <a16:creationId xmlns:a16="http://schemas.microsoft.com/office/drawing/2014/main" id="{E8BC9372-278A-4019-9B98-0585A800768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1B26E207-195F-4C5B-9AA3-0DFD81CFD578}" type="slidenum">
              <a:rPr lang="en-US" altLang="zh-CN" smtClean="0"/>
              <a:pPr>
                <a:spcBef>
                  <a:spcPct val="0"/>
                </a:spcBef>
              </a:pPr>
              <a:t>13</a:t>
            </a:fld>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a:extLst>
              <a:ext uri="{FF2B5EF4-FFF2-40B4-BE49-F238E27FC236}">
                <a16:creationId xmlns:a16="http://schemas.microsoft.com/office/drawing/2014/main" id="{4EC9A6FC-372D-403B-B380-3E28002305D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F81868FA-B197-4199-AA12-3FBBC756807C}" type="slidenum">
              <a:rPr lang="en-US" altLang="zh-CN" smtClean="0"/>
              <a:pPr>
                <a:spcBef>
                  <a:spcPct val="0"/>
                </a:spcBef>
              </a:pPr>
              <a:t>23</a:t>
            </a:fld>
            <a:endParaRPr lang="en-US" altLang="zh-CN"/>
          </a:p>
        </p:txBody>
      </p:sp>
      <p:sp>
        <p:nvSpPr>
          <p:cNvPr id="35843" name="Rectangle 2">
            <a:extLst>
              <a:ext uri="{FF2B5EF4-FFF2-40B4-BE49-F238E27FC236}">
                <a16:creationId xmlns:a16="http://schemas.microsoft.com/office/drawing/2014/main" id="{27976980-8D82-4723-AE81-3D653F4D5C32}"/>
              </a:ext>
            </a:extLst>
          </p:cNvPr>
          <p:cNvSpPr>
            <a:spLocks noGrp="1" noRot="1" noChangeAspect="1" noChangeArrowheads="1" noTextEdit="1"/>
          </p:cNvSpPr>
          <p:nvPr>
            <p:ph type="sldImg"/>
          </p:nvPr>
        </p:nvSpPr>
        <p:spPr>
          <a:ln/>
        </p:spPr>
      </p:sp>
      <p:sp>
        <p:nvSpPr>
          <p:cNvPr id="35844" name="Rectangle 3">
            <a:extLst>
              <a:ext uri="{FF2B5EF4-FFF2-40B4-BE49-F238E27FC236}">
                <a16:creationId xmlns:a16="http://schemas.microsoft.com/office/drawing/2014/main" id="{0688925A-3281-4353-B92D-72C96C621F2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a:extLst>
              <a:ext uri="{FF2B5EF4-FFF2-40B4-BE49-F238E27FC236}">
                <a16:creationId xmlns:a16="http://schemas.microsoft.com/office/drawing/2014/main" id="{DBF9378B-07E8-4C14-9DD2-99416508B16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62013">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862013">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862013">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862013">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862013">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862013"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862013"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862013"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862013"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2253CB8A-B36A-4493-9E1D-2D22BF8E5CEA}" type="slidenum">
              <a:rPr kumimoji="0" lang="en-US" altLang="zh-CN" sz="1100" b="0" smtClean="0">
                <a:solidFill>
                  <a:srgbClr val="000000"/>
                </a:solidFill>
                <a:latin typeface="Arial" panose="020B0604020202020204" pitchFamily="34" charset="0"/>
              </a:rPr>
              <a:pPr>
                <a:spcBef>
                  <a:spcPct val="0"/>
                </a:spcBef>
              </a:pPr>
              <a:t>24</a:t>
            </a:fld>
            <a:endParaRPr kumimoji="0" lang="en-US" altLang="zh-CN" sz="1100" b="0">
              <a:solidFill>
                <a:srgbClr val="000000"/>
              </a:solidFill>
              <a:latin typeface="Arial" panose="020B0604020202020204" pitchFamily="34" charset="0"/>
            </a:endParaRPr>
          </a:p>
        </p:txBody>
      </p:sp>
      <p:sp>
        <p:nvSpPr>
          <p:cNvPr id="37891" name="Rectangle 2">
            <a:extLst>
              <a:ext uri="{FF2B5EF4-FFF2-40B4-BE49-F238E27FC236}">
                <a16:creationId xmlns:a16="http://schemas.microsoft.com/office/drawing/2014/main" id="{1AE5CA32-A89C-4D20-8B02-45A431E89CFA}"/>
              </a:ext>
            </a:extLst>
          </p:cNvPr>
          <p:cNvSpPr>
            <a:spLocks noGrp="1" noRot="1" noChangeAspect="1" noChangeArrowheads="1" noTextEdit="1"/>
          </p:cNvSpPr>
          <p:nvPr>
            <p:ph type="sldImg"/>
          </p:nvPr>
        </p:nvSpPr>
        <p:spPr>
          <a:ln/>
        </p:spPr>
      </p:sp>
      <p:sp>
        <p:nvSpPr>
          <p:cNvPr id="37892" name="Rectangle 3">
            <a:extLst>
              <a:ext uri="{FF2B5EF4-FFF2-40B4-BE49-F238E27FC236}">
                <a16:creationId xmlns:a16="http://schemas.microsoft.com/office/drawing/2014/main" id="{6AF35392-2F7C-4DF1-98C4-2892D6240F3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fourObj">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sz="quarter" idx="1"/>
          </p:nvPr>
        </p:nvSpPr>
        <p:spPr>
          <a:xfrm>
            <a:off x="457200" y="1600200"/>
            <a:ext cx="4038600" cy="218598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1600200"/>
            <a:ext cx="4038600" cy="218598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57200" y="3938588"/>
            <a:ext cx="4038600" cy="2187575"/>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内容占位符 5"/>
          <p:cNvSpPr>
            <a:spLocks noGrp="1"/>
          </p:cNvSpPr>
          <p:nvPr>
            <p:ph sz="quarter" idx="4"/>
          </p:nvPr>
        </p:nvSpPr>
        <p:spPr>
          <a:xfrm>
            <a:off x="4648200" y="3938588"/>
            <a:ext cx="4038600" cy="2187575"/>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00182F"/>
            </a:gs>
            <a:gs pos="100000">
              <a:srgbClr val="003366"/>
            </a:gs>
          </a:gsLst>
          <a:lin ang="5400000" scaled="1"/>
        </a:gradFill>
        <a:effectLst/>
      </p:bgPr>
    </p:bg>
    <p:spTree>
      <p:nvGrpSpPr>
        <p:cNvPr id="1" name=""/>
        <p:cNvGrpSpPr/>
        <p:nvPr/>
      </p:nvGrpSpPr>
      <p:grpSpPr>
        <a:xfrm>
          <a:off x="0" y="0"/>
          <a:ext cx="0" cy="0"/>
          <a:chOff x="0" y="0"/>
          <a:chExt cx="0" cy="0"/>
        </a:xfrm>
      </p:grpSpPr>
      <p:sp>
        <p:nvSpPr>
          <p:cNvPr id="1026" name="AutoShape 7"/>
          <p:cNvSpPr>
            <a:spLocks noChangeArrowheads="1"/>
          </p:cNvSpPr>
          <p:nvPr/>
        </p:nvSpPr>
        <p:spPr bwMode="auto">
          <a:xfrm>
            <a:off x="-25400" y="0"/>
            <a:ext cx="9204325" cy="6858000"/>
          </a:xfrm>
          <a:prstGeom prst="bevel">
            <a:avLst>
              <a:gd name="adj" fmla="val 1273"/>
            </a:avLst>
          </a:prstGeom>
          <a:solidFill>
            <a:srgbClr val="006699"/>
          </a:solidFill>
          <a:ln w="9525">
            <a:solidFill>
              <a:srgbClr val="006699"/>
            </a:solidFill>
            <a:miter lim="800000"/>
          </a:ln>
        </p:spPr>
        <p:txBody>
          <a:bodyPr wrap="none" anchor="ctr"/>
          <a:lstStyle>
            <a:lvl1pPr algn="ctr">
              <a:defRPr kumimoji="1" sz="2400" b="1">
                <a:solidFill>
                  <a:schemeClr val="tx1"/>
                </a:solidFill>
                <a:latin typeface="Times New Roman" panose="02020603050405020304" pitchFamily="18" charset="0"/>
                <a:ea typeface="宋体" panose="02010600030101010101" pitchFamily="2" charset="-122"/>
              </a:defRPr>
            </a:lvl1pPr>
            <a:lvl2pPr marL="742950" indent="-285750" algn="ctr">
              <a:defRPr kumimoji="1" sz="2400" b="1">
                <a:solidFill>
                  <a:schemeClr val="tx1"/>
                </a:solidFill>
                <a:latin typeface="Times New Roman" panose="02020603050405020304" pitchFamily="18" charset="0"/>
                <a:ea typeface="宋体" panose="02010600030101010101" pitchFamily="2" charset="-122"/>
              </a:defRPr>
            </a:lvl2pPr>
            <a:lvl3pPr marL="1143000" indent="-228600" algn="ctr">
              <a:defRPr kumimoji="1" sz="2400" b="1">
                <a:solidFill>
                  <a:schemeClr val="tx1"/>
                </a:solidFill>
                <a:latin typeface="Times New Roman" panose="02020603050405020304" pitchFamily="18" charset="0"/>
                <a:ea typeface="宋体" panose="02010600030101010101" pitchFamily="2" charset="-122"/>
              </a:defRPr>
            </a:lvl3pPr>
            <a:lvl4pPr marL="1600200" indent="-228600" algn="ctr">
              <a:defRPr kumimoji="1" sz="2400" b="1">
                <a:solidFill>
                  <a:schemeClr val="tx1"/>
                </a:solidFill>
                <a:latin typeface="Times New Roman" panose="02020603050405020304" pitchFamily="18" charset="0"/>
                <a:ea typeface="宋体" panose="02010600030101010101" pitchFamily="2" charset="-122"/>
              </a:defRPr>
            </a:lvl4pPr>
            <a:lvl5pPr marL="2057400" indent="-228600" algn="ctr">
              <a:defRPr kumimoji="1" sz="2400"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en-US"/>
          </a:p>
        </p:txBody>
      </p:sp>
      <p:sp>
        <p:nvSpPr>
          <p:cNvPr id="1027" name="Rectangle 8"/>
          <p:cNvSpPr>
            <a:spLocks noChangeArrowheads="1"/>
          </p:cNvSpPr>
          <p:nvPr/>
        </p:nvSpPr>
        <p:spPr bwMode="auto">
          <a:xfrm>
            <a:off x="250825" y="265113"/>
            <a:ext cx="8626475" cy="6330950"/>
          </a:xfrm>
          <a:prstGeom prst="rect">
            <a:avLst/>
          </a:prstGeom>
          <a:noFill/>
          <a:ln w="12700">
            <a:solidFill>
              <a:srgbClr val="FF0000"/>
            </a:solidFill>
            <a:prstDash val="dash"/>
            <a:miter lim="800000"/>
          </a:ln>
          <a:extLst>
            <a:ext uri="{909E8E84-426E-40DD-AFC4-6F175D3DCCD1}">
              <a14:hiddenFill xmlns:a14="http://schemas.microsoft.com/office/drawing/2010/main">
                <a:solidFill>
                  <a:srgbClr val="FFFFFF"/>
                </a:solidFill>
              </a14:hiddenFill>
            </a:ext>
          </a:extLst>
        </p:spPr>
        <p:txBody>
          <a:bodyPr wrap="none" anchor="ctr"/>
          <a:lstStyle>
            <a:lvl1pPr algn="ctr">
              <a:defRPr kumimoji="1" sz="2400" b="1">
                <a:solidFill>
                  <a:schemeClr val="tx1"/>
                </a:solidFill>
                <a:latin typeface="Times New Roman" panose="02020603050405020304" pitchFamily="18" charset="0"/>
                <a:ea typeface="宋体" panose="02010600030101010101" pitchFamily="2" charset="-122"/>
              </a:defRPr>
            </a:lvl1pPr>
            <a:lvl2pPr marL="742950" indent="-285750" algn="ctr">
              <a:defRPr kumimoji="1" sz="2400" b="1">
                <a:solidFill>
                  <a:schemeClr val="tx1"/>
                </a:solidFill>
                <a:latin typeface="Times New Roman" panose="02020603050405020304" pitchFamily="18" charset="0"/>
                <a:ea typeface="宋体" panose="02010600030101010101" pitchFamily="2" charset="-122"/>
              </a:defRPr>
            </a:lvl2pPr>
            <a:lvl3pPr marL="1143000" indent="-228600" algn="ctr">
              <a:defRPr kumimoji="1" sz="2400" b="1">
                <a:solidFill>
                  <a:schemeClr val="tx1"/>
                </a:solidFill>
                <a:latin typeface="Times New Roman" panose="02020603050405020304" pitchFamily="18" charset="0"/>
                <a:ea typeface="宋体" panose="02010600030101010101" pitchFamily="2" charset="-122"/>
              </a:defRPr>
            </a:lvl3pPr>
            <a:lvl4pPr marL="1600200" indent="-228600" algn="ctr">
              <a:defRPr kumimoji="1" sz="2400" b="1">
                <a:solidFill>
                  <a:schemeClr val="tx1"/>
                </a:solidFill>
                <a:latin typeface="Times New Roman" panose="02020603050405020304" pitchFamily="18" charset="0"/>
                <a:ea typeface="宋体" panose="02010600030101010101" pitchFamily="2" charset="-122"/>
              </a:defRPr>
            </a:lvl4pPr>
            <a:lvl5pPr marL="2057400" indent="-228600" algn="ctr">
              <a:defRPr kumimoji="1" sz="2400"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vmlDrawing" Target="../drawings/vmlDrawing1.vml"/><Relationship Id="rId5" Type="http://schemas.openxmlformats.org/officeDocument/2006/relationships/image" Target="../media/image2.emf"/><Relationship Id="rId4" Type="http://schemas.openxmlformats.org/officeDocument/2006/relationships/oleObject" Target="../embeddings/oleObject1.bin"/></Relationships>
</file>

<file path=ppt/slides/_rels/slide5.xml.rels><?xml version="1.0" encoding="UTF-8" standalone="yes"?>
<Relationships xmlns="http://schemas.openxmlformats.org/package/2006/relationships"><Relationship Id="rId8" Type="http://schemas.openxmlformats.org/officeDocument/2006/relationships/image" Target="../media/image5.jpeg"/><Relationship Id="rId3" Type="http://schemas.openxmlformats.org/officeDocument/2006/relationships/notesSlide" Target="../notesSlides/notesSlide3.xml"/><Relationship Id="rId7" Type="http://schemas.openxmlformats.org/officeDocument/2006/relationships/image" Target="../media/image4.emf"/><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oleObject" Target="../embeddings/oleObject3.bin"/><Relationship Id="rId5" Type="http://schemas.openxmlformats.org/officeDocument/2006/relationships/image" Target="../media/image3.emf"/><Relationship Id="rId4" Type="http://schemas.openxmlformats.org/officeDocument/2006/relationships/oleObject" Target="../embeddings/oleObject2.bin"/><Relationship Id="rId9" Type="http://schemas.openxmlformats.org/officeDocument/2006/relationships/image" Target="../media/image6.jpe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image" Target="../media/image7.emf"/><Relationship Id="rId5" Type="http://schemas.openxmlformats.org/officeDocument/2006/relationships/oleObject" Target="../embeddings/oleObject4.bin"/><Relationship Id="rId4" Type="http://schemas.openxmlformats.org/officeDocument/2006/relationships/image" Target="../media/image8.jpe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6.bin"/><Relationship Id="rId13" Type="http://schemas.openxmlformats.org/officeDocument/2006/relationships/image" Target="../media/image17.emf"/><Relationship Id="rId3" Type="http://schemas.openxmlformats.org/officeDocument/2006/relationships/audio" Target="../media/audio1.wav"/><Relationship Id="rId7" Type="http://schemas.openxmlformats.org/officeDocument/2006/relationships/image" Target="../media/image15.emf"/><Relationship Id="rId12" Type="http://schemas.openxmlformats.org/officeDocument/2006/relationships/oleObject" Target="../embeddings/oleObject7.bin"/><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oleObject" Target="../embeddings/oleObject5.bin"/><Relationship Id="rId11" Type="http://schemas.openxmlformats.org/officeDocument/2006/relationships/image" Target="../media/image22.jpeg"/><Relationship Id="rId5" Type="http://schemas.openxmlformats.org/officeDocument/2006/relationships/image" Target="../media/image20.jpeg"/><Relationship Id="rId15" Type="http://schemas.openxmlformats.org/officeDocument/2006/relationships/image" Target="../media/image18.emf"/><Relationship Id="rId10" Type="http://schemas.openxmlformats.org/officeDocument/2006/relationships/image" Target="../media/image21.jpeg"/><Relationship Id="rId4" Type="http://schemas.openxmlformats.org/officeDocument/2006/relationships/image" Target="../media/image19.jpeg"/><Relationship Id="rId9" Type="http://schemas.openxmlformats.org/officeDocument/2006/relationships/image" Target="../media/image16.emf"/><Relationship Id="rId14" Type="http://schemas.openxmlformats.org/officeDocument/2006/relationships/oleObject" Target="../embeddings/oleObject8.bin"/></Relationships>
</file>

<file path=ppt/slides/_rels/slide18.xml.rels><?xml version="1.0" encoding="UTF-8" standalone="yes"?>
<Relationships xmlns="http://schemas.openxmlformats.org/package/2006/relationships"><Relationship Id="rId8" Type="http://schemas.openxmlformats.org/officeDocument/2006/relationships/image" Target="../media/image25.emf"/><Relationship Id="rId13" Type="http://schemas.openxmlformats.org/officeDocument/2006/relationships/oleObject" Target="../embeddings/oleObject14.bin"/><Relationship Id="rId18" Type="http://schemas.openxmlformats.org/officeDocument/2006/relationships/image" Target="../media/image30.emf"/><Relationship Id="rId3" Type="http://schemas.openxmlformats.org/officeDocument/2006/relationships/oleObject" Target="../embeddings/oleObject9.bin"/><Relationship Id="rId7" Type="http://schemas.openxmlformats.org/officeDocument/2006/relationships/oleObject" Target="../embeddings/oleObject11.bin"/><Relationship Id="rId12" Type="http://schemas.openxmlformats.org/officeDocument/2006/relationships/image" Target="../media/image27.emf"/><Relationship Id="rId17" Type="http://schemas.openxmlformats.org/officeDocument/2006/relationships/oleObject" Target="../embeddings/oleObject16.bin"/><Relationship Id="rId2" Type="http://schemas.openxmlformats.org/officeDocument/2006/relationships/slideLayout" Target="../slideLayouts/slideLayout7.xml"/><Relationship Id="rId16" Type="http://schemas.openxmlformats.org/officeDocument/2006/relationships/image" Target="../media/image29.emf"/><Relationship Id="rId1" Type="http://schemas.openxmlformats.org/officeDocument/2006/relationships/vmlDrawing" Target="../drawings/vmlDrawing5.vml"/><Relationship Id="rId6" Type="http://schemas.openxmlformats.org/officeDocument/2006/relationships/image" Target="../media/image24.emf"/><Relationship Id="rId11" Type="http://schemas.openxmlformats.org/officeDocument/2006/relationships/oleObject" Target="../embeddings/oleObject13.bin"/><Relationship Id="rId5" Type="http://schemas.openxmlformats.org/officeDocument/2006/relationships/oleObject" Target="../embeddings/oleObject10.bin"/><Relationship Id="rId15" Type="http://schemas.openxmlformats.org/officeDocument/2006/relationships/oleObject" Target="../embeddings/oleObject15.bin"/><Relationship Id="rId10" Type="http://schemas.openxmlformats.org/officeDocument/2006/relationships/image" Target="../media/image26.emf"/><Relationship Id="rId4" Type="http://schemas.openxmlformats.org/officeDocument/2006/relationships/image" Target="../media/image23.emf"/><Relationship Id="rId9" Type="http://schemas.openxmlformats.org/officeDocument/2006/relationships/oleObject" Target="../embeddings/oleObject12.bin"/><Relationship Id="rId14" Type="http://schemas.openxmlformats.org/officeDocument/2006/relationships/image" Target="../media/image28.emf"/></Relationships>
</file>

<file path=ppt/slides/_rels/slide19.xml.rels><?xml version="1.0" encoding="UTF-8" standalone="yes"?>
<Relationships xmlns="http://schemas.openxmlformats.org/package/2006/relationships"><Relationship Id="rId8" Type="http://schemas.openxmlformats.org/officeDocument/2006/relationships/image" Target="../media/image33.emf"/><Relationship Id="rId13" Type="http://schemas.openxmlformats.org/officeDocument/2006/relationships/oleObject" Target="../embeddings/oleObject22.bin"/><Relationship Id="rId18" Type="http://schemas.openxmlformats.org/officeDocument/2006/relationships/image" Target="../media/image38.emf"/><Relationship Id="rId3" Type="http://schemas.openxmlformats.org/officeDocument/2006/relationships/oleObject" Target="../embeddings/oleObject17.bin"/><Relationship Id="rId7" Type="http://schemas.openxmlformats.org/officeDocument/2006/relationships/oleObject" Target="../embeddings/oleObject19.bin"/><Relationship Id="rId12" Type="http://schemas.openxmlformats.org/officeDocument/2006/relationships/image" Target="../media/image35.emf"/><Relationship Id="rId17" Type="http://schemas.openxmlformats.org/officeDocument/2006/relationships/oleObject" Target="../embeddings/oleObject24.bin"/><Relationship Id="rId2" Type="http://schemas.openxmlformats.org/officeDocument/2006/relationships/slideLayout" Target="../slideLayouts/slideLayout7.xml"/><Relationship Id="rId16" Type="http://schemas.openxmlformats.org/officeDocument/2006/relationships/image" Target="../media/image37.emf"/><Relationship Id="rId20" Type="http://schemas.openxmlformats.org/officeDocument/2006/relationships/image" Target="../media/image39.emf"/><Relationship Id="rId1" Type="http://schemas.openxmlformats.org/officeDocument/2006/relationships/vmlDrawing" Target="../drawings/vmlDrawing6.vml"/><Relationship Id="rId6" Type="http://schemas.openxmlformats.org/officeDocument/2006/relationships/image" Target="../media/image32.emf"/><Relationship Id="rId11" Type="http://schemas.openxmlformats.org/officeDocument/2006/relationships/oleObject" Target="../embeddings/oleObject21.bin"/><Relationship Id="rId5" Type="http://schemas.openxmlformats.org/officeDocument/2006/relationships/oleObject" Target="../embeddings/oleObject18.bin"/><Relationship Id="rId15" Type="http://schemas.openxmlformats.org/officeDocument/2006/relationships/oleObject" Target="../embeddings/oleObject23.bin"/><Relationship Id="rId10" Type="http://schemas.openxmlformats.org/officeDocument/2006/relationships/image" Target="../media/image34.emf"/><Relationship Id="rId19" Type="http://schemas.openxmlformats.org/officeDocument/2006/relationships/oleObject" Target="../embeddings/oleObject25.bin"/><Relationship Id="rId4" Type="http://schemas.openxmlformats.org/officeDocument/2006/relationships/image" Target="../media/image31.emf"/><Relationship Id="rId9" Type="http://schemas.openxmlformats.org/officeDocument/2006/relationships/oleObject" Target="../embeddings/oleObject20.bin"/><Relationship Id="rId14" Type="http://schemas.openxmlformats.org/officeDocument/2006/relationships/image" Target="../media/image36.emf"/></Relationships>
</file>

<file path=ppt/slides/_rels/slide20.xml.rels><?xml version="1.0" encoding="UTF-8" standalone="yes"?>
<Relationships xmlns="http://schemas.openxmlformats.org/package/2006/relationships"><Relationship Id="rId8" Type="http://schemas.openxmlformats.org/officeDocument/2006/relationships/oleObject" Target="../embeddings/oleObject28.bin"/><Relationship Id="rId3" Type="http://schemas.openxmlformats.org/officeDocument/2006/relationships/image" Target="../media/image43.jpeg"/><Relationship Id="rId7" Type="http://schemas.openxmlformats.org/officeDocument/2006/relationships/image" Target="../media/image41.emf"/><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oleObject" Target="../embeddings/oleObject27.bin"/><Relationship Id="rId5" Type="http://schemas.openxmlformats.org/officeDocument/2006/relationships/image" Target="../media/image40.emf"/><Relationship Id="rId4" Type="http://schemas.openxmlformats.org/officeDocument/2006/relationships/oleObject" Target="../embeddings/oleObject26.bin"/><Relationship Id="rId9" Type="http://schemas.openxmlformats.org/officeDocument/2006/relationships/image" Target="../media/image42.emf"/></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31.bin"/><Relationship Id="rId13" Type="http://schemas.openxmlformats.org/officeDocument/2006/relationships/image" Target="../media/image48.emf"/><Relationship Id="rId3" Type="http://schemas.openxmlformats.org/officeDocument/2006/relationships/audio" Target="../media/audio2.wav"/><Relationship Id="rId7" Type="http://schemas.openxmlformats.org/officeDocument/2006/relationships/image" Target="../media/image45.emf"/><Relationship Id="rId12" Type="http://schemas.openxmlformats.org/officeDocument/2006/relationships/oleObject" Target="../embeddings/oleObject33.bin"/><Relationship Id="rId2" Type="http://schemas.openxmlformats.org/officeDocument/2006/relationships/slideLayout" Target="../slideLayouts/slideLayout7.xml"/><Relationship Id="rId1" Type="http://schemas.openxmlformats.org/officeDocument/2006/relationships/vmlDrawing" Target="../drawings/vmlDrawing8.vml"/><Relationship Id="rId6" Type="http://schemas.openxmlformats.org/officeDocument/2006/relationships/oleObject" Target="../embeddings/oleObject30.bin"/><Relationship Id="rId11" Type="http://schemas.openxmlformats.org/officeDocument/2006/relationships/image" Target="../media/image47.emf"/><Relationship Id="rId5" Type="http://schemas.openxmlformats.org/officeDocument/2006/relationships/image" Target="../media/image44.emf"/><Relationship Id="rId15" Type="http://schemas.openxmlformats.org/officeDocument/2006/relationships/image" Target="../media/image49.emf"/><Relationship Id="rId10" Type="http://schemas.openxmlformats.org/officeDocument/2006/relationships/oleObject" Target="../embeddings/oleObject32.bin"/><Relationship Id="rId4" Type="http://schemas.openxmlformats.org/officeDocument/2006/relationships/oleObject" Target="../embeddings/oleObject29.bin"/><Relationship Id="rId9" Type="http://schemas.openxmlformats.org/officeDocument/2006/relationships/image" Target="../media/image46.emf"/><Relationship Id="rId14" Type="http://schemas.openxmlformats.org/officeDocument/2006/relationships/oleObject" Target="../embeddings/oleObject34.bin"/></Relationships>
</file>

<file path=ppt/slides/_rels/slide22.xml.rels><?xml version="1.0" encoding="UTF-8" standalone="yes"?>
<Relationships xmlns="http://schemas.openxmlformats.org/package/2006/relationships"><Relationship Id="rId8" Type="http://schemas.openxmlformats.org/officeDocument/2006/relationships/image" Target="../media/image52.emf"/><Relationship Id="rId3" Type="http://schemas.openxmlformats.org/officeDocument/2006/relationships/oleObject" Target="../embeddings/oleObject35.bin"/><Relationship Id="rId7" Type="http://schemas.openxmlformats.org/officeDocument/2006/relationships/oleObject" Target="../embeddings/oleObject37.bin"/><Relationship Id="rId12" Type="http://schemas.openxmlformats.org/officeDocument/2006/relationships/image" Target="../media/image54.emf"/><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image" Target="../media/image51.emf"/><Relationship Id="rId11" Type="http://schemas.openxmlformats.org/officeDocument/2006/relationships/oleObject" Target="../embeddings/oleObject39.bin"/><Relationship Id="rId5" Type="http://schemas.openxmlformats.org/officeDocument/2006/relationships/oleObject" Target="../embeddings/oleObject36.bin"/><Relationship Id="rId10" Type="http://schemas.openxmlformats.org/officeDocument/2006/relationships/image" Target="../media/image53.emf"/><Relationship Id="rId4" Type="http://schemas.openxmlformats.org/officeDocument/2006/relationships/image" Target="../media/image50.emf"/><Relationship Id="rId9" Type="http://schemas.openxmlformats.org/officeDocument/2006/relationships/oleObject" Target="../embeddings/oleObject38.bin"/></Relationships>
</file>

<file path=ppt/slides/_rels/slide23.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8" Type="http://schemas.openxmlformats.org/officeDocument/2006/relationships/image" Target="../media/image58.emf"/><Relationship Id="rId13" Type="http://schemas.openxmlformats.org/officeDocument/2006/relationships/oleObject" Target="../embeddings/oleObject45.bin"/><Relationship Id="rId3" Type="http://schemas.openxmlformats.org/officeDocument/2006/relationships/oleObject" Target="../embeddings/oleObject40.bin"/><Relationship Id="rId7" Type="http://schemas.openxmlformats.org/officeDocument/2006/relationships/oleObject" Target="../embeddings/oleObject42.bin"/><Relationship Id="rId12" Type="http://schemas.openxmlformats.org/officeDocument/2006/relationships/image" Target="../media/image60.emf"/><Relationship Id="rId2" Type="http://schemas.openxmlformats.org/officeDocument/2006/relationships/slideLayout" Target="../slideLayouts/slideLayout7.xml"/><Relationship Id="rId1" Type="http://schemas.openxmlformats.org/officeDocument/2006/relationships/vmlDrawing" Target="../drawings/vmlDrawing10.vml"/><Relationship Id="rId6" Type="http://schemas.openxmlformats.org/officeDocument/2006/relationships/image" Target="../media/image57.emf"/><Relationship Id="rId11" Type="http://schemas.openxmlformats.org/officeDocument/2006/relationships/oleObject" Target="../embeddings/oleObject44.bin"/><Relationship Id="rId5" Type="http://schemas.openxmlformats.org/officeDocument/2006/relationships/oleObject" Target="../embeddings/oleObject41.bin"/><Relationship Id="rId15" Type="http://schemas.openxmlformats.org/officeDocument/2006/relationships/image" Target="../media/image62.jpeg"/><Relationship Id="rId10" Type="http://schemas.openxmlformats.org/officeDocument/2006/relationships/image" Target="../media/image59.emf"/><Relationship Id="rId4" Type="http://schemas.openxmlformats.org/officeDocument/2006/relationships/image" Target="../media/image56.emf"/><Relationship Id="rId9" Type="http://schemas.openxmlformats.org/officeDocument/2006/relationships/oleObject" Target="../embeddings/oleObject43.bin"/><Relationship Id="rId14" Type="http://schemas.openxmlformats.org/officeDocument/2006/relationships/image" Target="../media/image61.em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7.xml"/><Relationship Id="rId4" Type="http://schemas.openxmlformats.org/officeDocument/2006/relationships/image" Target="../media/image65.png"/></Relationships>
</file>

<file path=ppt/slides/_rels/slide28.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4" name="组合 5">
            <a:extLst>
              <a:ext uri="{FF2B5EF4-FFF2-40B4-BE49-F238E27FC236}">
                <a16:creationId xmlns:a16="http://schemas.microsoft.com/office/drawing/2014/main" id="{07E43EF3-D066-4373-A94E-07BA3884BEF6}"/>
              </a:ext>
            </a:extLst>
          </p:cNvPr>
          <p:cNvGrpSpPr>
            <a:grpSpLocks/>
          </p:cNvGrpSpPr>
          <p:nvPr/>
        </p:nvGrpSpPr>
        <p:grpSpPr bwMode="auto">
          <a:xfrm>
            <a:off x="-571500" y="0"/>
            <a:ext cx="10293350" cy="6858000"/>
            <a:chOff x="-571500" y="0"/>
            <a:chExt cx="10293350" cy="6858024"/>
          </a:xfrm>
        </p:grpSpPr>
        <p:pic>
          <p:nvPicPr>
            <p:cNvPr id="5" name="Picture 4">
              <a:extLst>
                <a:ext uri="{FF2B5EF4-FFF2-40B4-BE49-F238E27FC236}">
                  <a16:creationId xmlns:a16="http://schemas.microsoft.com/office/drawing/2014/main" id="{B454AEDA-DF76-464B-B275-DA37D0B06A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1500" y="0"/>
              <a:ext cx="102933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4">
              <a:extLst>
                <a:ext uri="{FF2B5EF4-FFF2-40B4-BE49-F238E27FC236}">
                  <a16:creationId xmlns:a16="http://schemas.microsoft.com/office/drawing/2014/main" id="{957412E8-7F55-49AC-9415-861153D003C5}"/>
                </a:ext>
              </a:extLst>
            </p:cNvPr>
            <p:cNvSpPr>
              <a:spLocks noChangeArrowheads="1"/>
            </p:cNvSpPr>
            <p:nvPr/>
          </p:nvSpPr>
          <p:spPr bwMode="auto">
            <a:xfrm>
              <a:off x="6444208" y="6457914"/>
              <a:ext cx="261962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0" dirty="0">
                  <a:solidFill>
                    <a:srgbClr val="FF0000"/>
                  </a:solidFill>
                </a:rPr>
                <a:t>Yosemite National Park</a:t>
              </a:r>
              <a:endParaRPr lang="zh-CN" altLang="en-US" sz="2000" dirty="0">
                <a:solidFill>
                  <a:srgbClr val="FF0000"/>
                </a:solidFill>
              </a:endParaRPr>
            </a:p>
          </p:txBody>
        </p:sp>
      </p:grpSp>
      <p:sp>
        <p:nvSpPr>
          <p:cNvPr id="7" name="Text Box 1039"/>
          <p:cNvSpPr txBox="1">
            <a:spLocks noChangeArrowheads="1"/>
          </p:cNvSpPr>
          <p:nvPr/>
        </p:nvSpPr>
        <p:spPr bwMode="auto">
          <a:xfrm>
            <a:off x="1295400" y="3705225"/>
            <a:ext cx="6705600" cy="1758950"/>
          </a:xfrm>
          <a:prstGeom prst="rect">
            <a:avLst/>
          </a:prstGeom>
          <a:noFill/>
          <a:ln w="9525">
            <a:noFill/>
            <a:miter lim="800000"/>
          </a:ln>
          <a:effectLst/>
        </p:spPr>
        <p:txBody>
          <a:bodyPr>
            <a:spAutoFit/>
          </a:bodyPr>
          <a:lstStyle/>
          <a:p>
            <a:pPr algn="ctr" eaLnBrk="1" hangingPunct="1">
              <a:lnSpc>
                <a:spcPct val="75000"/>
              </a:lnSpc>
              <a:defRPr/>
            </a:pPr>
            <a:r>
              <a:rPr lang="en-US" altLang="zh-CN" sz="4000" dirty="0">
                <a:solidFill>
                  <a:srgbClr val="FFFF00"/>
                </a:solidFill>
                <a:effectLst>
                  <a:outerShdw blurRad="38100" dist="38100" dir="2700000" algn="tl">
                    <a:srgbClr val="000000"/>
                  </a:outerShdw>
                </a:effectLst>
              </a:rPr>
              <a:t>Xi’an  </a:t>
            </a:r>
            <a:r>
              <a:rPr lang="en-US" altLang="zh-CN" sz="4000" dirty="0" err="1">
                <a:solidFill>
                  <a:srgbClr val="FFFF00"/>
                </a:solidFill>
                <a:effectLst>
                  <a:outerShdw blurRad="38100" dist="38100" dir="2700000" algn="tl">
                    <a:srgbClr val="000000"/>
                  </a:outerShdw>
                </a:effectLst>
              </a:rPr>
              <a:t>Jiaotong</a:t>
            </a:r>
            <a:r>
              <a:rPr lang="en-US" altLang="zh-CN" sz="4000" dirty="0">
                <a:solidFill>
                  <a:srgbClr val="FFFF00"/>
                </a:solidFill>
                <a:effectLst>
                  <a:outerShdw blurRad="38100" dist="38100" dir="2700000" algn="tl">
                    <a:srgbClr val="000000"/>
                  </a:outerShdw>
                </a:effectLst>
              </a:rPr>
              <a:t>  University</a:t>
            </a:r>
          </a:p>
          <a:p>
            <a:pPr algn="ctr" eaLnBrk="1" hangingPunct="1">
              <a:lnSpc>
                <a:spcPct val="75000"/>
              </a:lnSpc>
              <a:defRPr/>
            </a:pPr>
            <a:endParaRPr lang="zh-CN" altLang="en-US" sz="4000" dirty="0">
              <a:solidFill>
                <a:srgbClr val="FFFF00"/>
              </a:solidFill>
              <a:effectLst>
                <a:outerShdw blurRad="38100" dist="38100" dir="2700000" algn="tl">
                  <a:srgbClr val="000000"/>
                </a:outerShdw>
              </a:effectLst>
              <a:latin typeface="Arial" panose="020B0604020202020204" pitchFamily="34" charset="0"/>
              <a:ea typeface="楷体_GB2312" pitchFamily="49" charset="-122"/>
            </a:endParaRPr>
          </a:p>
          <a:p>
            <a:pPr algn="ctr" eaLnBrk="1" hangingPunct="1">
              <a:lnSpc>
                <a:spcPct val="75000"/>
              </a:lnSpc>
              <a:defRPr/>
            </a:pPr>
            <a:endParaRPr lang="en-US" altLang="zh-CN" sz="2800" dirty="0">
              <a:solidFill>
                <a:srgbClr val="FFFF00"/>
              </a:solidFill>
              <a:effectLst>
                <a:outerShdw blurRad="38100" dist="38100" dir="2700000" algn="tl">
                  <a:srgbClr val="000000"/>
                </a:outerShdw>
              </a:effectLst>
              <a:latin typeface="Arial" panose="020B0604020202020204" pitchFamily="34" charset="0"/>
              <a:ea typeface="华文仿宋" panose="02010600040101010101" pitchFamily="17" charset="-122"/>
            </a:endParaRPr>
          </a:p>
          <a:p>
            <a:pPr algn="ctr" eaLnBrk="1" hangingPunct="1">
              <a:lnSpc>
                <a:spcPct val="75000"/>
              </a:lnSpc>
              <a:defRPr/>
            </a:pPr>
            <a:r>
              <a:rPr lang="en-US" altLang="zh-CN" sz="3600" dirty="0">
                <a:solidFill>
                  <a:srgbClr val="FFFF00"/>
                </a:solidFill>
                <a:effectLst>
                  <a:outerShdw blurRad="38100" dist="38100" dir="2700000" algn="tl">
                    <a:srgbClr val="000000"/>
                  </a:outerShdw>
                </a:effectLst>
                <a:ea typeface="华文仿宋" panose="02010600040101010101" pitchFamily="17" charset="-122"/>
              </a:rPr>
              <a:t>Dec. 25, 2025</a:t>
            </a:r>
          </a:p>
        </p:txBody>
      </p:sp>
      <p:sp>
        <p:nvSpPr>
          <p:cNvPr id="4099" name="WordArt 1044"/>
          <p:cNvSpPr>
            <a:spLocks noChangeArrowheads="1" noChangeShapeType="1" noTextEdit="1"/>
          </p:cNvSpPr>
          <p:nvPr/>
        </p:nvSpPr>
        <p:spPr bwMode="auto">
          <a:xfrm>
            <a:off x="539750" y="1268413"/>
            <a:ext cx="8077200" cy="1296987"/>
          </a:xfrm>
          <a:prstGeom prst="rect">
            <a:avLst/>
          </a:prstGeom>
          <a:extLst>
            <a:ext uri="{91240B29-F687-4F45-9708-019B960494DF}">
              <a14:hiddenLine xmlns:a14="http://schemas.microsoft.com/office/drawing/2010/main" w="9525">
                <a:solidFill>
                  <a:srgbClr val="000000"/>
                </a:solidFill>
                <a:round/>
              </a14:hiddenLine>
            </a:ext>
          </a:extLst>
        </p:spPr>
        <p:txBody>
          <a:bodyPr wrap="none" fromWordArt="1">
            <a:prstTxWarp prst="textPlain">
              <a:avLst>
                <a:gd name="adj" fmla="val 50000"/>
              </a:avLst>
            </a:prstTxWarp>
          </a:bodyPr>
          <a:lstStyle/>
          <a:p>
            <a:pPr algn="ctr"/>
            <a:r>
              <a:rPr lang="en-US" altLang="zh-CN" sz="4800" i="1" kern="10" dirty="0">
                <a:solidFill>
                  <a:srgbClr val="FF0000"/>
                </a:solidFill>
                <a:effectLst>
                  <a:outerShdw dist="35921" dir="2700000" algn="ctr" rotWithShape="0">
                    <a:srgbClr val="808080"/>
                  </a:outerShdw>
                </a:effectLst>
                <a:cs typeface="Times New Roman" panose="02020603050405020304" pitchFamily="18" charset="0"/>
              </a:rPr>
              <a:t>University Physics</a:t>
            </a:r>
            <a:endParaRPr lang="zh-CN" altLang="en-US" sz="4800" i="1" kern="10" dirty="0">
              <a:solidFill>
                <a:srgbClr val="FF0000"/>
              </a:solidFill>
              <a:effectLst>
                <a:outerShdw dist="35921" dir="2700000" algn="ctr" rotWithShape="0">
                  <a:srgbClr val="808080"/>
                </a:outerShdw>
              </a:effectLst>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14025" name="Group 9">
            <a:extLst>
              <a:ext uri="{FF2B5EF4-FFF2-40B4-BE49-F238E27FC236}">
                <a16:creationId xmlns:a16="http://schemas.microsoft.com/office/drawing/2014/main" id="{A398CA5B-96FC-44AD-81A8-A3E7F0864468}"/>
              </a:ext>
            </a:extLst>
          </p:cNvPr>
          <p:cNvGraphicFramePr>
            <a:graphicFrameLocks noGrp="1"/>
          </p:cNvGraphicFramePr>
          <p:nvPr/>
        </p:nvGraphicFramePr>
        <p:xfrm>
          <a:off x="649288" y="2408238"/>
          <a:ext cx="7923212" cy="3090862"/>
        </p:xfrm>
        <a:graphic>
          <a:graphicData uri="http://schemas.openxmlformats.org/drawingml/2006/table">
            <a:tbl>
              <a:tblPr/>
              <a:tblGrid>
                <a:gridCol w="1493837">
                  <a:extLst>
                    <a:ext uri="{9D8B030D-6E8A-4147-A177-3AD203B41FA5}">
                      <a16:colId xmlns:a16="http://schemas.microsoft.com/office/drawing/2014/main" val="1402732895"/>
                    </a:ext>
                  </a:extLst>
                </a:gridCol>
                <a:gridCol w="1928813">
                  <a:extLst>
                    <a:ext uri="{9D8B030D-6E8A-4147-A177-3AD203B41FA5}">
                      <a16:colId xmlns:a16="http://schemas.microsoft.com/office/drawing/2014/main" val="3049424966"/>
                    </a:ext>
                  </a:extLst>
                </a:gridCol>
                <a:gridCol w="1643062">
                  <a:extLst>
                    <a:ext uri="{9D8B030D-6E8A-4147-A177-3AD203B41FA5}">
                      <a16:colId xmlns:a16="http://schemas.microsoft.com/office/drawing/2014/main" val="298578671"/>
                    </a:ext>
                  </a:extLst>
                </a:gridCol>
                <a:gridCol w="1428750">
                  <a:extLst>
                    <a:ext uri="{9D8B030D-6E8A-4147-A177-3AD203B41FA5}">
                      <a16:colId xmlns:a16="http://schemas.microsoft.com/office/drawing/2014/main" val="1023948538"/>
                    </a:ext>
                  </a:extLst>
                </a:gridCol>
                <a:gridCol w="1428750">
                  <a:extLst>
                    <a:ext uri="{9D8B030D-6E8A-4147-A177-3AD203B41FA5}">
                      <a16:colId xmlns:a16="http://schemas.microsoft.com/office/drawing/2014/main" val="3741226539"/>
                    </a:ext>
                  </a:extLst>
                </a:gridCol>
              </a:tblGrid>
              <a:tr h="396227">
                <a:tc rowSpan="2">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 </a:t>
                      </a:r>
                      <a:r>
                        <a:rPr kumimoji="1" lang="zh-CN" altLang="en-US" sz="2000" b="1" i="0" u="none" strike="noStrike" cap="none" normalizeH="0" baseline="0">
                          <a:ln>
                            <a:noFill/>
                          </a:ln>
                          <a:solidFill>
                            <a:schemeClr val="bg1"/>
                          </a:solidFill>
                          <a:effectLst/>
                          <a:latin typeface="宋体" panose="02010600030101010101" pitchFamily="2" charset="-122"/>
                          <a:ea typeface="宋体" panose="02010600030101010101" pitchFamily="2" charset="-122"/>
                        </a:rPr>
                        <a:t>类型</a:t>
                      </a:r>
                    </a:p>
                  </a:txBody>
                  <a:tcPr marT="45714" marB="45714" horzOverflow="overflow">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ap="flat" cmpd="sng" algn="ctr">
                      <a:solidFill>
                        <a:srgbClr val="339966"/>
                      </a:solidFill>
                      <a:prstDash val="solid"/>
                      <a:round/>
                      <a:headEnd type="none" w="med" len="med"/>
                      <a:tailEnd type="none" w="med" len="med"/>
                    </a:lnTlToBr>
                    <a:lnBlToTr>
                      <a:noFill/>
                    </a:lnBlToTr>
                    <a:solidFill>
                      <a:srgbClr val="006666"/>
                    </a:solidFill>
                  </a:tcPr>
                </a:tc>
                <a:tc rowSpan="2">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000" b="1" i="0" u="none" strike="noStrike" cap="none" normalizeH="0" baseline="0">
                          <a:ln>
                            <a:noFill/>
                          </a:ln>
                          <a:solidFill>
                            <a:schemeClr val="bg1"/>
                          </a:solidFill>
                          <a:effectLst/>
                          <a:latin typeface="宋体" panose="02010600030101010101" pitchFamily="2" charset="-122"/>
                          <a:ea typeface="宋体" panose="02010600030101010101" pitchFamily="2" charset="-122"/>
                        </a:rPr>
                        <a:t>结合力</a:t>
                      </a:r>
                    </a:p>
                  </a:txBody>
                  <a:tcPr marT="45714" marB="45714"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006666"/>
                    </a:solidFill>
                  </a:tcPr>
                </a:tc>
                <a:tc rowSpan="2">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1" lang="zh-CN" altLang="en-US" sz="2000" b="1" i="0" u="none" strike="noStrike" cap="none" normalizeH="0" baseline="0">
                          <a:ln>
                            <a:noFill/>
                          </a:ln>
                          <a:solidFill>
                            <a:schemeClr val="bg1"/>
                          </a:solidFill>
                          <a:effectLst/>
                          <a:latin typeface="宋体" panose="02010600030101010101" pitchFamily="2" charset="-122"/>
                          <a:ea typeface="宋体" panose="02010600030101010101" pitchFamily="2" charset="-122"/>
                        </a:rPr>
                        <a:t>方向性</a:t>
                      </a:r>
                    </a:p>
                    <a:p>
                      <a:pPr marL="0" marR="0" lvl="0" indent="0" algn="ctr" defTabSz="914400" rtl="0" eaLnBrk="1" fontAlgn="base" latinLnBrk="0" hangingPunct="1">
                        <a:lnSpc>
                          <a:spcPct val="120000"/>
                        </a:lnSpc>
                        <a:spcBef>
                          <a:spcPct val="0"/>
                        </a:spcBef>
                        <a:spcAft>
                          <a:spcPct val="0"/>
                        </a:spcAft>
                        <a:buClrTx/>
                        <a:buSzTx/>
                        <a:buFontTx/>
                        <a:buNone/>
                        <a:tabLst/>
                      </a:pPr>
                      <a:r>
                        <a:rPr kumimoji="1" lang="zh-CN" altLang="en-US" sz="2000" b="1" i="0" u="none" strike="noStrike" cap="none" normalizeH="0" baseline="0">
                          <a:ln>
                            <a:noFill/>
                          </a:ln>
                          <a:solidFill>
                            <a:schemeClr val="bg1"/>
                          </a:solidFill>
                          <a:effectLst/>
                          <a:latin typeface="宋体" panose="02010600030101010101" pitchFamily="2" charset="-122"/>
                          <a:ea typeface="宋体" panose="02010600030101010101" pitchFamily="2" charset="-122"/>
                        </a:rPr>
                        <a:t>饱和性</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006666"/>
                    </a:solidFill>
                  </a:tcPr>
                </a:tc>
                <a:tc gridSpan="2">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000" b="1" i="0" u="none" strike="noStrike" cap="none" normalizeH="0" baseline="0">
                          <a:ln>
                            <a:noFill/>
                          </a:ln>
                          <a:solidFill>
                            <a:schemeClr val="bg1"/>
                          </a:solidFill>
                          <a:effectLst/>
                          <a:latin typeface="宋体" panose="02010600030101010101" pitchFamily="2" charset="-122"/>
                          <a:ea typeface="宋体" panose="02010600030101010101" pitchFamily="2" charset="-122"/>
                        </a:rPr>
                        <a:t>性能</a:t>
                      </a:r>
                    </a:p>
                  </a:txBody>
                  <a:tcPr marT="45714" marB="457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6666"/>
                    </a:solidFill>
                  </a:tcPr>
                </a:tc>
                <a:tc hMerge="1">
                  <a:txBody>
                    <a:bodyPr/>
                    <a:lstStyle/>
                    <a:p>
                      <a:endParaRPr lang="zh-CN" altLang="en-US"/>
                    </a:p>
                  </a:txBody>
                  <a:tcPr/>
                </a:tc>
                <a:extLst>
                  <a:ext uri="{0D108BD9-81ED-4DB2-BD59-A6C34878D82A}">
                    <a16:rowId xmlns:a16="http://schemas.microsoft.com/office/drawing/2014/main" val="2955691996"/>
                  </a:ext>
                </a:extLst>
              </a:tr>
              <a:tr h="396227">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000" b="1" i="0" u="none" strike="noStrike" cap="none" normalizeH="0" baseline="0">
                          <a:ln>
                            <a:noFill/>
                          </a:ln>
                          <a:solidFill>
                            <a:schemeClr val="bg1"/>
                          </a:solidFill>
                          <a:effectLst/>
                          <a:latin typeface="宋体" panose="02010600030101010101" pitchFamily="2" charset="-122"/>
                          <a:ea typeface="宋体" panose="02010600030101010101" pitchFamily="2" charset="-122"/>
                        </a:rPr>
                        <a:t>导电性</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006666"/>
                    </a:solid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000" b="1" i="0" u="none" strike="noStrike" cap="none" normalizeH="0" baseline="0">
                          <a:ln>
                            <a:noFill/>
                          </a:ln>
                          <a:solidFill>
                            <a:schemeClr val="bg1"/>
                          </a:solidFill>
                          <a:effectLst/>
                          <a:latin typeface="宋体" panose="02010600030101010101" pitchFamily="2" charset="-122"/>
                          <a:ea typeface="宋体" panose="02010600030101010101" pitchFamily="2" charset="-122"/>
                        </a:rPr>
                        <a:t>硬度 熔点</a:t>
                      </a:r>
                    </a:p>
                  </a:txBody>
                  <a:tcPr marT="45714" marB="4571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006666"/>
                    </a:solidFill>
                  </a:tcPr>
                </a:tc>
                <a:extLst>
                  <a:ext uri="{0D108BD9-81ED-4DB2-BD59-A6C34878D82A}">
                    <a16:rowId xmlns:a16="http://schemas.microsoft.com/office/drawing/2014/main" val="1198227244"/>
                  </a:ext>
                </a:extLst>
              </a:tr>
              <a:tr h="584125">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000" b="1" i="0" u="none" strike="noStrike" cap="none" normalizeH="0" baseline="0">
                          <a:ln>
                            <a:noFill/>
                          </a:ln>
                          <a:solidFill>
                            <a:schemeClr val="bg1"/>
                          </a:solidFill>
                          <a:effectLst/>
                          <a:latin typeface="宋体" panose="02010600030101010101" pitchFamily="2" charset="-122"/>
                          <a:ea typeface="宋体" panose="02010600030101010101" pitchFamily="2" charset="-122"/>
                        </a:rPr>
                        <a:t>离子晶体</a:t>
                      </a:r>
                    </a:p>
                  </a:txBody>
                  <a:tcPr marT="45714" marB="45714" anchor="ctr" horzOverflow="overflow">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6666"/>
                    </a:solid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000" b="1" i="0" u="none" strike="noStrike" cap="none" normalizeH="0" baseline="0">
                          <a:ln>
                            <a:noFill/>
                          </a:ln>
                          <a:solidFill>
                            <a:srgbClr val="0000CC"/>
                          </a:solidFill>
                          <a:effectLst/>
                          <a:latin typeface="宋体" panose="02010600030101010101" pitchFamily="2" charset="-122"/>
                          <a:ea typeface="宋体" panose="02010600030101010101" pitchFamily="2" charset="-122"/>
                        </a:rPr>
                        <a:t>离子键</a:t>
                      </a:r>
                    </a:p>
                  </a:txBody>
                  <a:tcPr marT="45714" marB="45714"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1">
                      <a:gsLst>
                        <a:gs pos="0">
                          <a:schemeClr val="accent1"/>
                        </a:gs>
                        <a:gs pos="100000">
                          <a:srgbClr val="005E47"/>
                        </a:gs>
                      </a:gsLst>
                      <a:lin ang="2700000" scaled="1"/>
                    </a:grad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000" b="1" i="0" u="none" strike="noStrike" cap="none" normalizeH="0" baseline="0">
                          <a:ln>
                            <a:noFill/>
                          </a:ln>
                          <a:solidFill>
                            <a:srgbClr val="0000CC"/>
                          </a:solidFill>
                          <a:effectLst/>
                          <a:latin typeface="宋体" panose="02010600030101010101" pitchFamily="2" charset="-122"/>
                          <a:ea typeface="宋体" panose="02010600030101010101" pitchFamily="2" charset="-122"/>
                        </a:rPr>
                        <a:t>无</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1">
                      <a:gsLst>
                        <a:gs pos="0">
                          <a:schemeClr val="accent1"/>
                        </a:gs>
                        <a:gs pos="100000">
                          <a:srgbClr val="005E47"/>
                        </a:gs>
                      </a:gsLst>
                      <a:lin ang="2700000" scaled="1"/>
                    </a:grad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000" b="1" i="0" u="none" strike="noStrike" cap="none" normalizeH="0" baseline="0">
                          <a:ln>
                            <a:noFill/>
                          </a:ln>
                          <a:solidFill>
                            <a:srgbClr val="0000CC"/>
                          </a:solidFill>
                          <a:effectLst/>
                          <a:latin typeface="宋体" panose="02010600030101010101" pitchFamily="2" charset="-122"/>
                          <a:ea typeface="宋体" panose="02010600030101010101" pitchFamily="2" charset="-122"/>
                        </a:rPr>
                        <a:t>弱</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1">
                      <a:gsLst>
                        <a:gs pos="0">
                          <a:schemeClr val="accent1"/>
                        </a:gs>
                        <a:gs pos="100000">
                          <a:srgbClr val="005E47"/>
                        </a:gs>
                      </a:gsLst>
                      <a:lin ang="2700000" scaled="1"/>
                    </a:grad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000" b="1" i="0" u="none" strike="noStrike" cap="none" normalizeH="0" baseline="0">
                          <a:ln>
                            <a:noFill/>
                          </a:ln>
                          <a:solidFill>
                            <a:srgbClr val="0000CC"/>
                          </a:solidFill>
                          <a:effectLst/>
                          <a:latin typeface="宋体" panose="02010600030101010101" pitchFamily="2" charset="-122"/>
                          <a:ea typeface="宋体" panose="02010600030101010101" pitchFamily="2" charset="-122"/>
                        </a:rPr>
                        <a:t>高</a:t>
                      </a:r>
                    </a:p>
                  </a:txBody>
                  <a:tcPr marT="45714" marB="4571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1">
                      <a:gsLst>
                        <a:gs pos="0">
                          <a:schemeClr val="accent1"/>
                        </a:gs>
                        <a:gs pos="100000">
                          <a:srgbClr val="005E47"/>
                        </a:gs>
                      </a:gsLst>
                      <a:lin ang="2700000" scaled="1"/>
                    </a:gradFill>
                  </a:tcPr>
                </a:tc>
                <a:extLst>
                  <a:ext uri="{0D108BD9-81ED-4DB2-BD59-A6C34878D82A}">
                    <a16:rowId xmlns:a16="http://schemas.microsoft.com/office/drawing/2014/main" val="1423902220"/>
                  </a:ext>
                </a:extLst>
              </a:tr>
              <a:tr h="571427">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000" b="1" i="0" u="none" strike="noStrike" cap="none" normalizeH="0" baseline="0">
                          <a:ln>
                            <a:noFill/>
                          </a:ln>
                          <a:solidFill>
                            <a:schemeClr val="bg1"/>
                          </a:solidFill>
                          <a:effectLst/>
                          <a:latin typeface="宋体" panose="02010600030101010101" pitchFamily="2" charset="-122"/>
                          <a:ea typeface="宋体" panose="02010600030101010101" pitchFamily="2" charset="-122"/>
                        </a:rPr>
                        <a:t>共价晶体</a:t>
                      </a:r>
                    </a:p>
                  </a:txBody>
                  <a:tcPr marT="45714" marB="45714" anchor="ctr" horzOverflow="overflow">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6666"/>
                    </a:solid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000" b="1" i="0" u="none" strike="noStrike" cap="none" normalizeH="0" baseline="0">
                          <a:ln>
                            <a:noFill/>
                          </a:ln>
                          <a:solidFill>
                            <a:srgbClr val="0000CC"/>
                          </a:solidFill>
                          <a:effectLst/>
                          <a:latin typeface="宋体" panose="02010600030101010101" pitchFamily="2" charset="-122"/>
                          <a:ea typeface="宋体" panose="02010600030101010101" pitchFamily="2" charset="-122"/>
                        </a:rPr>
                        <a:t>共价键</a:t>
                      </a:r>
                    </a:p>
                  </a:txBody>
                  <a:tcPr marT="45714" marB="45714"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1">
                      <a:gsLst>
                        <a:gs pos="0">
                          <a:schemeClr val="accent1"/>
                        </a:gs>
                        <a:gs pos="100000">
                          <a:srgbClr val="005E47"/>
                        </a:gs>
                      </a:gsLst>
                      <a:lin ang="2700000" scaled="1"/>
                    </a:grad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000" b="1" i="0" u="none" strike="noStrike" cap="none" normalizeH="0" baseline="0">
                          <a:ln>
                            <a:noFill/>
                          </a:ln>
                          <a:solidFill>
                            <a:srgbClr val="0000CC"/>
                          </a:solidFill>
                          <a:effectLst/>
                          <a:latin typeface="宋体" panose="02010600030101010101" pitchFamily="2" charset="-122"/>
                          <a:ea typeface="宋体" panose="02010600030101010101" pitchFamily="2" charset="-122"/>
                        </a:rPr>
                        <a:t>有</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1">
                      <a:gsLst>
                        <a:gs pos="0">
                          <a:schemeClr val="accent1"/>
                        </a:gs>
                        <a:gs pos="100000">
                          <a:srgbClr val="005E47"/>
                        </a:gs>
                      </a:gsLst>
                      <a:lin ang="2700000" scaled="1"/>
                    </a:grad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000" b="1" i="0" u="none" strike="noStrike" cap="none" normalizeH="0" baseline="0">
                          <a:ln>
                            <a:noFill/>
                          </a:ln>
                          <a:solidFill>
                            <a:srgbClr val="0000CC"/>
                          </a:solidFill>
                          <a:effectLst/>
                          <a:latin typeface="宋体" panose="02010600030101010101" pitchFamily="2" charset="-122"/>
                          <a:ea typeface="宋体" panose="02010600030101010101" pitchFamily="2" charset="-122"/>
                        </a:rPr>
                        <a:t>很低</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1">
                      <a:gsLst>
                        <a:gs pos="0">
                          <a:schemeClr val="accent1"/>
                        </a:gs>
                        <a:gs pos="100000">
                          <a:srgbClr val="005E47"/>
                        </a:gs>
                      </a:gsLst>
                      <a:lin ang="2700000" scaled="1"/>
                    </a:grad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000" b="1" i="0" u="none" strike="noStrike" cap="none" normalizeH="0" baseline="0">
                          <a:ln>
                            <a:noFill/>
                          </a:ln>
                          <a:solidFill>
                            <a:srgbClr val="0000CC"/>
                          </a:solidFill>
                          <a:effectLst/>
                          <a:latin typeface="宋体" panose="02010600030101010101" pitchFamily="2" charset="-122"/>
                          <a:ea typeface="宋体" panose="02010600030101010101" pitchFamily="2" charset="-122"/>
                        </a:rPr>
                        <a:t>高</a:t>
                      </a:r>
                    </a:p>
                  </a:txBody>
                  <a:tcPr marT="45714" marB="4571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1">
                      <a:gsLst>
                        <a:gs pos="0">
                          <a:schemeClr val="accent1"/>
                        </a:gs>
                        <a:gs pos="100000">
                          <a:srgbClr val="005E47"/>
                        </a:gs>
                      </a:gsLst>
                      <a:lin ang="2700000" scaled="1"/>
                    </a:gradFill>
                  </a:tcPr>
                </a:tc>
                <a:extLst>
                  <a:ext uri="{0D108BD9-81ED-4DB2-BD59-A6C34878D82A}">
                    <a16:rowId xmlns:a16="http://schemas.microsoft.com/office/drawing/2014/main" val="2907148485"/>
                  </a:ext>
                </a:extLst>
              </a:tr>
              <a:tr h="571427">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000" b="1" i="0" u="none" strike="noStrike" cap="none" normalizeH="0" baseline="0">
                          <a:ln>
                            <a:noFill/>
                          </a:ln>
                          <a:solidFill>
                            <a:schemeClr val="bg1"/>
                          </a:solidFill>
                          <a:effectLst/>
                          <a:latin typeface="宋体" panose="02010600030101010101" pitchFamily="2" charset="-122"/>
                          <a:ea typeface="宋体" panose="02010600030101010101" pitchFamily="2" charset="-122"/>
                        </a:rPr>
                        <a:t>分子晶体</a:t>
                      </a:r>
                    </a:p>
                  </a:txBody>
                  <a:tcPr marT="45714" marB="45714" anchor="ctr" horzOverflow="overflow">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6666"/>
                    </a:solid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000" b="1" i="0" u="none" strike="noStrike" cap="none" normalizeH="0" baseline="0">
                          <a:ln>
                            <a:noFill/>
                          </a:ln>
                          <a:solidFill>
                            <a:srgbClr val="0000CC"/>
                          </a:solidFill>
                          <a:effectLst/>
                          <a:latin typeface="宋体" panose="02010600030101010101" pitchFamily="2" charset="-122"/>
                          <a:ea typeface="宋体" panose="02010600030101010101" pitchFamily="2" charset="-122"/>
                        </a:rPr>
                        <a:t>范德瓦耳斯键</a:t>
                      </a:r>
                    </a:p>
                  </a:txBody>
                  <a:tcPr marT="45714" marB="45714"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1">
                      <a:gsLst>
                        <a:gs pos="0">
                          <a:schemeClr val="accent1"/>
                        </a:gs>
                        <a:gs pos="100000">
                          <a:srgbClr val="005E47"/>
                        </a:gs>
                      </a:gsLst>
                      <a:lin ang="2700000" scaled="1"/>
                    </a:grad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000" b="1" i="0" u="none" strike="noStrike" cap="none" normalizeH="0" baseline="0">
                          <a:ln>
                            <a:noFill/>
                          </a:ln>
                          <a:solidFill>
                            <a:srgbClr val="0000CC"/>
                          </a:solidFill>
                          <a:effectLst/>
                          <a:latin typeface="宋体" panose="02010600030101010101" pitchFamily="2" charset="-122"/>
                          <a:ea typeface="宋体" panose="02010600030101010101" pitchFamily="2" charset="-122"/>
                        </a:rPr>
                        <a:t>无</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1">
                      <a:gsLst>
                        <a:gs pos="0">
                          <a:schemeClr val="accent1"/>
                        </a:gs>
                        <a:gs pos="100000">
                          <a:srgbClr val="005E47"/>
                        </a:gs>
                      </a:gsLst>
                      <a:lin ang="2700000" scaled="1"/>
                    </a:grad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000" b="1" i="0" u="none" strike="noStrike" cap="none" normalizeH="0" baseline="0">
                          <a:ln>
                            <a:noFill/>
                          </a:ln>
                          <a:solidFill>
                            <a:srgbClr val="0000CC"/>
                          </a:solidFill>
                          <a:effectLst/>
                          <a:latin typeface="宋体" panose="02010600030101010101" pitchFamily="2" charset="-122"/>
                          <a:ea typeface="宋体" panose="02010600030101010101" pitchFamily="2" charset="-122"/>
                        </a:rPr>
                        <a:t>低</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1">
                      <a:gsLst>
                        <a:gs pos="0">
                          <a:schemeClr val="accent1"/>
                        </a:gs>
                        <a:gs pos="100000">
                          <a:srgbClr val="005E47"/>
                        </a:gs>
                      </a:gsLst>
                      <a:lin ang="2700000" scaled="1"/>
                    </a:grad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000" b="1" i="0" u="none" strike="noStrike" cap="none" normalizeH="0" baseline="0">
                          <a:ln>
                            <a:noFill/>
                          </a:ln>
                          <a:solidFill>
                            <a:srgbClr val="0000CC"/>
                          </a:solidFill>
                          <a:effectLst/>
                          <a:latin typeface="宋体" panose="02010600030101010101" pitchFamily="2" charset="-122"/>
                          <a:ea typeface="宋体" panose="02010600030101010101" pitchFamily="2" charset="-122"/>
                        </a:rPr>
                        <a:t>低</a:t>
                      </a:r>
                    </a:p>
                  </a:txBody>
                  <a:tcPr marT="45714" marB="4571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1">
                      <a:gsLst>
                        <a:gs pos="0">
                          <a:schemeClr val="accent1"/>
                        </a:gs>
                        <a:gs pos="100000">
                          <a:srgbClr val="005E47"/>
                        </a:gs>
                      </a:gsLst>
                      <a:lin ang="2700000" scaled="1"/>
                    </a:gradFill>
                  </a:tcPr>
                </a:tc>
                <a:extLst>
                  <a:ext uri="{0D108BD9-81ED-4DB2-BD59-A6C34878D82A}">
                    <a16:rowId xmlns:a16="http://schemas.microsoft.com/office/drawing/2014/main" val="1606699005"/>
                  </a:ext>
                </a:extLst>
              </a:tr>
              <a:tr h="571427">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000" b="1" i="0" u="none" strike="noStrike" cap="none" normalizeH="0" baseline="0">
                          <a:ln>
                            <a:noFill/>
                          </a:ln>
                          <a:solidFill>
                            <a:schemeClr val="bg1"/>
                          </a:solidFill>
                          <a:effectLst/>
                          <a:latin typeface="宋体" panose="02010600030101010101" pitchFamily="2" charset="-122"/>
                          <a:ea typeface="宋体" panose="02010600030101010101" pitchFamily="2" charset="-122"/>
                        </a:rPr>
                        <a:t>金属晶体</a:t>
                      </a:r>
                    </a:p>
                  </a:txBody>
                  <a:tcPr marT="45714" marB="45714" anchor="ctr" horzOverflow="overflow">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6666"/>
                    </a:solid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000" b="1" i="0" u="none" strike="noStrike" cap="none" normalizeH="0" baseline="0">
                          <a:ln>
                            <a:noFill/>
                          </a:ln>
                          <a:solidFill>
                            <a:srgbClr val="0000CC"/>
                          </a:solidFill>
                          <a:effectLst/>
                          <a:latin typeface="宋体" panose="02010600030101010101" pitchFamily="2" charset="-122"/>
                          <a:ea typeface="宋体" panose="02010600030101010101" pitchFamily="2" charset="-122"/>
                        </a:rPr>
                        <a:t>金属键</a:t>
                      </a:r>
                    </a:p>
                  </a:txBody>
                  <a:tcPr marT="45714" marB="45714"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1">
                      <a:gsLst>
                        <a:gs pos="0">
                          <a:schemeClr val="accent1"/>
                        </a:gs>
                        <a:gs pos="100000">
                          <a:srgbClr val="005E47"/>
                        </a:gs>
                      </a:gsLst>
                      <a:lin ang="2700000" scaled="1"/>
                    </a:grad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000" b="1" i="0" u="none" strike="noStrike" cap="none" normalizeH="0" baseline="0">
                          <a:ln>
                            <a:noFill/>
                          </a:ln>
                          <a:solidFill>
                            <a:srgbClr val="0000CC"/>
                          </a:solidFill>
                          <a:effectLst/>
                          <a:latin typeface="宋体" panose="02010600030101010101" pitchFamily="2" charset="-122"/>
                          <a:ea typeface="宋体" panose="02010600030101010101" pitchFamily="2" charset="-122"/>
                        </a:rPr>
                        <a:t>无</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1">
                      <a:gsLst>
                        <a:gs pos="0">
                          <a:schemeClr val="accent1"/>
                        </a:gs>
                        <a:gs pos="100000">
                          <a:srgbClr val="005E47"/>
                        </a:gs>
                      </a:gsLst>
                      <a:lin ang="2700000" scaled="1"/>
                    </a:grad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000" b="1" i="0" u="none" strike="noStrike" cap="none" normalizeH="0" baseline="0">
                          <a:ln>
                            <a:noFill/>
                          </a:ln>
                          <a:solidFill>
                            <a:srgbClr val="0000CC"/>
                          </a:solidFill>
                          <a:effectLst/>
                          <a:latin typeface="宋体" panose="02010600030101010101" pitchFamily="2" charset="-122"/>
                          <a:ea typeface="宋体" panose="02010600030101010101" pitchFamily="2" charset="-122"/>
                        </a:rPr>
                        <a:t>好</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1">
                      <a:gsLst>
                        <a:gs pos="0">
                          <a:schemeClr val="accent1"/>
                        </a:gs>
                        <a:gs pos="100000">
                          <a:srgbClr val="005E47"/>
                        </a:gs>
                      </a:gsLst>
                      <a:lin ang="2700000" scaled="1"/>
                    </a:grad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rgbClr val="0000CC"/>
                        </a:solidFill>
                        <a:effectLst/>
                        <a:latin typeface="宋体" panose="02010600030101010101" pitchFamily="2" charset="-122"/>
                        <a:ea typeface="宋体" panose="02010600030101010101" pitchFamily="2" charset="-122"/>
                      </a:endParaRPr>
                    </a:p>
                  </a:txBody>
                  <a:tcPr marT="45714" marB="4571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1">
                      <a:gsLst>
                        <a:gs pos="0">
                          <a:schemeClr val="accent1"/>
                        </a:gs>
                        <a:gs pos="100000">
                          <a:srgbClr val="005E47"/>
                        </a:gs>
                      </a:gsLst>
                      <a:lin ang="2700000" scaled="1"/>
                    </a:gradFill>
                  </a:tcPr>
                </a:tc>
                <a:extLst>
                  <a:ext uri="{0D108BD9-81ED-4DB2-BD59-A6C34878D82A}">
                    <a16:rowId xmlns:a16="http://schemas.microsoft.com/office/drawing/2014/main" val="2326561028"/>
                  </a:ext>
                </a:extLst>
              </a:tr>
            </a:tbl>
          </a:graphicData>
        </a:graphic>
      </p:graphicFrame>
      <p:sp>
        <p:nvSpPr>
          <p:cNvPr id="214066" name="Rectangle 50">
            <a:extLst>
              <a:ext uri="{FF2B5EF4-FFF2-40B4-BE49-F238E27FC236}">
                <a16:creationId xmlns:a16="http://schemas.microsoft.com/office/drawing/2014/main" id="{47E743FC-A9FF-499D-BB25-00BB8E30BB3D}"/>
              </a:ext>
            </a:extLst>
          </p:cNvPr>
          <p:cNvSpPr>
            <a:spLocks noChangeArrowheads="1"/>
          </p:cNvSpPr>
          <p:nvPr/>
        </p:nvSpPr>
        <p:spPr bwMode="auto">
          <a:xfrm>
            <a:off x="539750" y="1738313"/>
            <a:ext cx="4318000" cy="457200"/>
          </a:xfrm>
          <a:prstGeom prst="rect">
            <a:avLst/>
          </a:prstGeom>
          <a:noFill/>
          <a:ln w="9525">
            <a:noFill/>
            <a:miter lim="800000"/>
            <a:headEnd/>
            <a:tailEnd/>
          </a:ln>
        </p:spPr>
        <p:txBody>
          <a:bodyPr>
            <a:spAutoFit/>
          </a:bodyP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defRPr/>
            </a:pPr>
            <a:r>
              <a:rPr lang="zh-CN" altLang="en-US" dirty="0">
                <a:solidFill>
                  <a:srgbClr val="FFFF00"/>
                </a:solidFill>
                <a:effectLst>
                  <a:outerShdw blurRad="38100" dist="38100" dir="2700000" algn="tl">
                    <a:srgbClr val="000000"/>
                  </a:outerShdw>
                </a:effectLst>
                <a:latin typeface="宋体" panose="02010600030101010101" pitchFamily="2" charset="-122"/>
                <a:ea typeface="仿宋_GB2312" pitchFamily="49" charset="-122"/>
              </a:rPr>
              <a:t>晶体类型（晶体结合力）：</a:t>
            </a:r>
          </a:p>
        </p:txBody>
      </p:sp>
      <p:sp>
        <p:nvSpPr>
          <p:cNvPr id="34860" name="灯片编号占位符 1">
            <a:extLst>
              <a:ext uri="{FF2B5EF4-FFF2-40B4-BE49-F238E27FC236}">
                <a16:creationId xmlns:a16="http://schemas.microsoft.com/office/drawing/2014/main" id="{638B5280-B887-4BD7-9611-9BEF56FBC9DA}"/>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7C4F6013-C53A-4AD6-AF4F-B5FC1AA978C0}" type="slidenum">
              <a:rPr lang="en-US" altLang="zh-CN" b="0">
                <a:solidFill>
                  <a:srgbClr val="FF00FF"/>
                </a:solidFill>
              </a:rPr>
              <a:pPr eaLnBrk="1" hangingPunct="1"/>
              <a:t>2</a:t>
            </a:fld>
            <a:r>
              <a:rPr lang="en-US" altLang="zh-CN" b="0">
                <a:solidFill>
                  <a:srgbClr val="FF00FF"/>
                </a:solidFill>
              </a:rPr>
              <a:t>/40</a:t>
            </a:r>
          </a:p>
        </p:txBody>
      </p:sp>
      <p:sp>
        <p:nvSpPr>
          <p:cNvPr id="5" name="Rectangle 50">
            <a:extLst>
              <a:ext uri="{FF2B5EF4-FFF2-40B4-BE49-F238E27FC236}">
                <a16:creationId xmlns:a16="http://schemas.microsoft.com/office/drawing/2014/main" id="{B9943040-6F6A-4F8C-B2C2-2EFBDC3E7648}"/>
              </a:ext>
            </a:extLst>
          </p:cNvPr>
          <p:cNvSpPr>
            <a:spLocks noChangeArrowheads="1"/>
          </p:cNvSpPr>
          <p:nvPr/>
        </p:nvSpPr>
        <p:spPr bwMode="auto">
          <a:xfrm>
            <a:off x="539750" y="858838"/>
            <a:ext cx="8015509" cy="457200"/>
          </a:xfrm>
          <a:prstGeom prst="rect">
            <a:avLst/>
          </a:prstGeom>
          <a:noFill/>
          <a:ln w="9525">
            <a:noFill/>
            <a:miter lim="800000"/>
            <a:headEnd/>
            <a:tailEnd/>
          </a:ln>
        </p:spPr>
        <p:txBody>
          <a:bodyPr wrap="square">
            <a:spAutoFit/>
          </a:bodyP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defRPr/>
            </a:pPr>
            <a:r>
              <a:rPr lang="zh-CN" altLang="en-US" dirty="0">
                <a:solidFill>
                  <a:srgbClr val="FFFF00"/>
                </a:solidFill>
                <a:effectLst>
                  <a:outerShdw blurRad="38100" dist="38100" dir="2700000" algn="tl">
                    <a:srgbClr val="000000"/>
                  </a:outerShdw>
                </a:effectLst>
                <a:latin typeface="宋体" panose="02010600030101010101" pitchFamily="2" charset="-122"/>
                <a:ea typeface="仿宋_GB2312" pitchFamily="49" charset="-122"/>
              </a:rPr>
              <a:t>晶体的性质：构成晶体的原子种类以及空间点阵（晶格）</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14066"/>
                                        </p:tgtEl>
                                        <p:attrNameLst>
                                          <p:attrName>style.visibility</p:attrName>
                                        </p:attrNameLst>
                                      </p:cBhvr>
                                      <p:to>
                                        <p:strVal val="visible"/>
                                      </p:to>
                                    </p:set>
                                    <p:animEffect transition="in" filter="wipe(left)">
                                      <p:cBhvr>
                                        <p:cTn id="12" dur="500"/>
                                        <p:tgtEl>
                                          <p:spTgt spid="214066"/>
                                        </p:tgtEl>
                                      </p:cBhvr>
                                    </p:animEffect>
                                  </p:childTnLst>
                                </p:cTn>
                              </p:par>
                            </p:childTnLst>
                          </p:cTn>
                        </p:par>
                        <p:par>
                          <p:cTn id="13" fill="hold" nodeType="withGroup">
                            <p:stCondLst>
                              <p:cond delay="500"/>
                            </p:stCondLst>
                            <p:childTnLst>
                              <p:par>
                                <p:cTn id="14" presetID="22" presetClass="entr" presetSubtype="8" fill="hold" nodeType="afterEffect">
                                  <p:stCondLst>
                                    <p:cond delay="0"/>
                                  </p:stCondLst>
                                  <p:childTnLst>
                                    <p:set>
                                      <p:cBhvr>
                                        <p:cTn id="15" dur="1" fill="hold">
                                          <p:stCondLst>
                                            <p:cond delay="0"/>
                                          </p:stCondLst>
                                        </p:cTn>
                                        <p:tgtEl>
                                          <p:spTgt spid="214025"/>
                                        </p:tgtEl>
                                        <p:attrNameLst>
                                          <p:attrName>style.visibility</p:attrName>
                                        </p:attrNameLst>
                                      </p:cBhvr>
                                      <p:to>
                                        <p:strVal val="visible"/>
                                      </p:to>
                                    </p:set>
                                    <p:animEffect transition="in" filter="wipe(left)">
                                      <p:cBhvr>
                                        <p:cTn id="16" dur="500"/>
                                        <p:tgtEl>
                                          <p:spTgt spid="2140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4066" grpId="0"/>
      <p:bldP spid="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ext Box 2">
            <a:extLst>
              <a:ext uri="{FF2B5EF4-FFF2-40B4-BE49-F238E27FC236}">
                <a16:creationId xmlns:a16="http://schemas.microsoft.com/office/drawing/2014/main" id="{9B3CCC7D-C661-484E-ABFD-7599A3D1D042}"/>
              </a:ext>
            </a:extLst>
          </p:cNvPr>
          <p:cNvSpPr txBox="1">
            <a:spLocks noChangeArrowheads="1"/>
          </p:cNvSpPr>
          <p:nvPr/>
        </p:nvSpPr>
        <p:spPr bwMode="auto">
          <a:xfrm>
            <a:off x="684213" y="884238"/>
            <a:ext cx="6408737"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dirty="0">
                <a:solidFill>
                  <a:schemeClr val="hlink"/>
                </a:solidFill>
                <a:latin typeface="宋体" panose="02010600030101010101" pitchFamily="2" charset="-122"/>
              </a:rPr>
              <a:t>晶体都是由大量（</a:t>
            </a:r>
            <a:r>
              <a:rPr kumimoji="0" lang="en-US" altLang="zh-CN" dirty="0">
                <a:solidFill>
                  <a:schemeClr val="hlink"/>
                </a:solidFill>
                <a:latin typeface="宋体" panose="02010600030101010101" pitchFamily="2" charset="-122"/>
              </a:rPr>
              <a:t>10</a:t>
            </a:r>
            <a:r>
              <a:rPr kumimoji="0" lang="en-US" altLang="zh-CN" baseline="30000" dirty="0">
                <a:solidFill>
                  <a:schemeClr val="hlink"/>
                </a:solidFill>
                <a:latin typeface="宋体" panose="02010600030101010101" pitchFamily="2" charset="-122"/>
              </a:rPr>
              <a:t>23</a:t>
            </a:r>
            <a:r>
              <a:rPr kumimoji="0" lang="en-US" altLang="zh-CN" dirty="0">
                <a:solidFill>
                  <a:schemeClr val="hlink"/>
                </a:solidFill>
                <a:latin typeface="宋体" panose="02010600030101010101" pitchFamily="2" charset="-122"/>
              </a:rPr>
              <a:t>/cm</a:t>
            </a:r>
            <a:r>
              <a:rPr kumimoji="0" lang="en-US" altLang="zh-CN" baseline="30000" dirty="0">
                <a:solidFill>
                  <a:schemeClr val="hlink"/>
                </a:solidFill>
                <a:latin typeface="宋体" panose="02010600030101010101" pitchFamily="2" charset="-122"/>
              </a:rPr>
              <a:t>3</a:t>
            </a:r>
            <a:r>
              <a:rPr kumimoji="0" lang="zh-CN" altLang="en-US" dirty="0">
                <a:solidFill>
                  <a:schemeClr val="hlink"/>
                </a:solidFill>
                <a:latin typeface="宋体" panose="02010600030101010101" pitchFamily="2" charset="-122"/>
              </a:rPr>
              <a:t>）的原子周期排列紧密堆积在一起组成；每个原子又包含有原子核和电子。</a:t>
            </a:r>
          </a:p>
        </p:txBody>
      </p:sp>
      <p:sp>
        <p:nvSpPr>
          <p:cNvPr id="36867" name="Text Box 3">
            <a:extLst>
              <a:ext uri="{FF2B5EF4-FFF2-40B4-BE49-F238E27FC236}">
                <a16:creationId xmlns:a16="http://schemas.microsoft.com/office/drawing/2014/main" id="{FEA56E5B-7422-4624-A7D6-9B4725EB7F05}"/>
              </a:ext>
            </a:extLst>
          </p:cNvPr>
          <p:cNvSpPr txBox="1">
            <a:spLocks noChangeArrowheads="1"/>
          </p:cNvSpPr>
          <p:nvPr/>
        </p:nvSpPr>
        <p:spPr bwMode="auto">
          <a:xfrm>
            <a:off x="7286625" y="1143000"/>
            <a:ext cx="13160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a:solidFill>
                  <a:srgbClr val="00FF00"/>
                </a:solidFill>
                <a:latin typeface="宋体" panose="02010600030101010101" pitchFamily="2" charset="-122"/>
              </a:rPr>
              <a:t>多体问题</a:t>
            </a:r>
          </a:p>
        </p:txBody>
      </p:sp>
      <p:sp>
        <p:nvSpPr>
          <p:cNvPr id="36868" name="AutoShape 4">
            <a:extLst>
              <a:ext uri="{FF2B5EF4-FFF2-40B4-BE49-F238E27FC236}">
                <a16:creationId xmlns:a16="http://schemas.microsoft.com/office/drawing/2014/main" id="{42B33999-77AD-4486-BB33-6F52BFD6AD02}"/>
              </a:ext>
            </a:extLst>
          </p:cNvPr>
          <p:cNvSpPr>
            <a:spLocks/>
          </p:cNvSpPr>
          <p:nvPr/>
        </p:nvSpPr>
        <p:spPr bwMode="auto">
          <a:xfrm>
            <a:off x="6929438" y="955675"/>
            <a:ext cx="288925" cy="906463"/>
          </a:xfrm>
          <a:prstGeom prst="rightBrace">
            <a:avLst>
              <a:gd name="adj1" fmla="val 26145"/>
              <a:gd name="adj2" fmla="val 50000"/>
            </a:avLst>
          </a:prstGeom>
          <a:noFill/>
          <a:ln w="22225">
            <a:solidFill>
              <a:srgbClr val="00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kumimoji="0" lang="zh-CN" altLang="zh-CN" sz="1600">
              <a:solidFill>
                <a:srgbClr val="00FF00"/>
              </a:solidFill>
              <a:latin typeface="华文中宋" panose="02010600040101010101" pitchFamily="2" charset="-122"/>
              <a:ea typeface="华文中宋" panose="02010600040101010101" pitchFamily="2" charset="-122"/>
            </a:endParaRPr>
          </a:p>
        </p:txBody>
      </p:sp>
      <p:sp>
        <p:nvSpPr>
          <p:cNvPr id="195589" name="Text Box 5">
            <a:extLst>
              <a:ext uri="{FF2B5EF4-FFF2-40B4-BE49-F238E27FC236}">
                <a16:creationId xmlns:a16="http://schemas.microsoft.com/office/drawing/2014/main" id="{DA49259B-9A0C-4D91-9366-B3F766814614}"/>
              </a:ext>
            </a:extLst>
          </p:cNvPr>
          <p:cNvSpPr txBox="1">
            <a:spLocks noChangeArrowheads="1"/>
          </p:cNvSpPr>
          <p:nvPr/>
        </p:nvSpPr>
        <p:spPr bwMode="auto">
          <a:xfrm>
            <a:off x="663575" y="2214563"/>
            <a:ext cx="38369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dirty="0">
                <a:solidFill>
                  <a:schemeClr val="hlink"/>
                </a:solidFill>
                <a:latin typeface="宋体" panose="02010600030101010101" pitchFamily="2" charset="-122"/>
              </a:rPr>
              <a:t>近似处理方法：</a:t>
            </a:r>
          </a:p>
        </p:txBody>
      </p:sp>
      <p:sp>
        <p:nvSpPr>
          <p:cNvPr id="195590" name="Text Box 6">
            <a:extLst>
              <a:ext uri="{FF2B5EF4-FFF2-40B4-BE49-F238E27FC236}">
                <a16:creationId xmlns:a16="http://schemas.microsoft.com/office/drawing/2014/main" id="{EF706B02-B572-4966-B919-EED0DC15466C}"/>
              </a:ext>
            </a:extLst>
          </p:cNvPr>
          <p:cNvSpPr txBox="1">
            <a:spLocks noChangeArrowheads="1"/>
          </p:cNvSpPr>
          <p:nvPr/>
        </p:nvSpPr>
        <p:spPr bwMode="auto">
          <a:xfrm>
            <a:off x="1143000" y="2857500"/>
            <a:ext cx="7416800" cy="474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buClr>
                <a:schemeClr val="hlink"/>
              </a:buClr>
              <a:buFont typeface="Wingdings" panose="05000000000000000000" pitchFamily="2" charset="2"/>
              <a:buChar char="Ø"/>
            </a:pPr>
            <a:r>
              <a:rPr kumimoji="0" lang="en-US" altLang="zh-CN" sz="2200">
                <a:solidFill>
                  <a:schemeClr val="hlink"/>
                </a:solidFill>
                <a:latin typeface="宋体" panose="02010600030101010101" pitchFamily="2" charset="-122"/>
              </a:rPr>
              <a:t> </a:t>
            </a:r>
            <a:r>
              <a:rPr kumimoji="0" lang="zh-CN" altLang="en-US" sz="2200">
                <a:solidFill>
                  <a:schemeClr val="hlink"/>
                </a:solidFill>
                <a:latin typeface="宋体" panose="02010600030101010101" pitchFamily="2" charset="-122"/>
              </a:rPr>
              <a:t>晶体中周期性排列的原子核（或离子实）</a:t>
            </a:r>
            <a:r>
              <a:rPr kumimoji="0" lang="zh-CN" altLang="en-US" sz="2200">
                <a:solidFill>
                  <a:srgbClr val="66FFFF"/>
                </a:solidFill>
                <a:latin typeface="宋体" panose="02010600030101010101" pitchFamily="2" charset="-122"/>
              </a:rPr>
              <a:t>固定不动</a:t>
            </a:r>
            <a:r>
              <a:rPr kumimoji="0" lang="zh-CN" altLang="en-US" sz="2200">
                <a:solidFill>
                  <a:schemeClr val="hlink"/>
                </a:solidFill>
                <a:latin typeface="宋体" panose="02010600030101010101" pitchFamily="2" charset="-122"/>
              </a:rPr>
              <a:t>；</a:t>
            </a:r>
          </a:p>
        </p:txBody>
      </p:sp>
      <p:sp>
        <p:nvSpPr>
          <p:cNvPr id="195592" name="Text Box 8">
            <a:extLst>
              <a:ext uri="{FF2B5EF4-FFF2-40B4-BE49-F238E27FC236}">
                <a16:creationId xmlns:a16="http://schemas.microsoft.com/office/drawing/2014/main" id="{2828E4EB-7FF6-44D3-A196-B219377315E6}"/>
              </a:ext>
            </a:extLst>
          </p:cNvPr>
          <p:cNvSpPr txBox="1">
            <a:spLocks noChangeArrowheads="1"/>
          </p:cNvSpPr>
          <p:nvPr/>
        </p:nvSpPr>
        <p:spPr bwMode="auto">
          <a:xfrm>
            <a:off x="714375" y="4929188"/>
            <a:ext cx="792162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dirty="0">
                <a:solidFill>
                  <a:schemeClr val="hlink"/>
                </a:solidFill>
                <a:latin typeface="宋体" panose="02010600030101010101" pitchFamily="2" charset="-122"/>
              </a:rPr>
              <a:t>晶体中电子运动的多体问题转化为</a:t>
            </a:r>
            <a:r>
              <a:rPr kumimoji="0" lang="zh-CN" altLang="en-US" dirty="0">
                <a:solidFill>
                  <a:srgbClr val="66FFFF"/>
                </a:solidFill>
                <a:latin typeface="宋体" panose="02010600030101010101" pitchFamily="2" charset="-122"/>
              </a:rPr>
              <a:t>单电子在稳恒周期性势场中的运动问题</a:t>
            </a:r>
            <a:r>
              <a:rPr kumimoji="0" lang="zh-CN" altLang="en-US" dirty="0">
                <a:solidFill>
                  <a:schemeClr val="hlink"/>
                </a:solidFill>
                <a:latin typeface="宋体" panose="02010600030101010101" pitchFamily="2" charset="-122"/>
              </a:rPr>
              <a:t>；可通过求解电子在周期性势场中的薛定谔方程来研究晶体中电子的能量状态。</a:t>
            </a:r>
          </a:p>
        </p:txBody>
      </p:sp>
      <p:sp>
        <p:nvSpPr>
          <p:cNvPr id="195593" name="Text Box 9">
            <a:extLst>
              <a:ext uri="{FF2B5EF4-FFF2-40B4-BE49-F238E27FC236}">
                <a16:creationId xmlns:a16="http://schemas.microsoft.com/office/drawing/2014/main" id="{AD1E32BC-B7C4-4639-80A6-8B8B45924017}"/>
              </a:ext>
            </a:extLst>
          </p:cNvPr>
          <p:cNvSpPr txBox="1">
            <a:spLocks noChangeArrowheads="1"/>
          </p:cNvSpPr>
          <p:nvPr/>
        </p:nvSpPr>
        <p:spPr bwMode="auto">
          <a:xfrm>
            <a:off x="1112838" y="3382963"/>
            <a:ext cx="724535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buClr>
                <a:schemeClr val="hlink"/>
              </a:buClr>
              <a:buFont typeface="Wingdings" panose="05000000000000000000" pitchFamily="2" charset="2"/>
              <a:buChar char="Ø"/>
            </a:pPr>
            <a:r>
              <a:rPr kumimoji="0" lang="en-US" altLang="zh-CN">
                <a:solidFill>
                  <a:schemeClr val="hlink"/>
                </a:solidFill>
                <a:latin typeface="宋体" panose="02010600030101010101" pitchFamily="2" charset="-122"/>
              </a:rPr>
              <a:t> </a:t>
            </a:r>
            <a:r>
              <a:rPr kumimoji="0" lang="zh-CN" altLang="en-US" sz="2200">
                <a:solidFill>
                  <a:schemeClr val="hlink"/>
                </a:solidFill>
                <a:latin typeface="宋体" panose="02010600030101010101" pitchFamily="2" charset="-122"/>
              </a:rPr>
              <a:t>每个电子在固定的原子核形成的势场及其它电子所</a:t>
            </a:r>
          </a:p>
          <a:p>
            <a:pPr eaLnBrk="1" hangingPunct="1">
              <a:buFont typeface="Wingdings" panose="05000000000000000000" pitchFamily="2" charset="2"/>
              <a:buNone/>
            </a:pPr>
            <a:r>
              <a:rPr kumimoji="0" lang="zh-CN" altLang="en-US" sz="2200">
                <a:solidFill>
                  <a:schemeClr val="hlink"/>
                </a:solidFill>
                <a:latin typeface="宋体" panose="02010600030101010101" pitchFamily="2" charset="-122"/>
              </a:rPr>
              <a:t>   形成的</a:t>
            </a:r>
            <a:r>
              <a:rPr kumimoji="0" lang="zh-CN" altLang="en-US" sz="2200">
                <a:solidFill>
                  <a:srgbClr val="66FFFF"/>
                </a:solidFill>
                <a:latin typeface="宋体" panose="02010600030101010101" pitchFamily="2" charset="-122"/>
              </a:rPr>
              <a:t>平均场</a:t>
            </a:r>
            <a:r>
              <a:rPr kumimoji="0" lang="zh-CN" altLang="en-US" sz="2200">
                <a:solidFill>
                  <a:schemeClr val="hlink"/>
                </a:solidFill>
                <a:latin typeface="宋体" panose="02010600030101010101" pitchFamily="2" charset="-122"/>
              </a:rPr>
              <a:t>中运动</a:t>
            </a:r>
            <a:r>
              <a:rPr kumimoji="0" lang="zh-CN" altLang="en-US">
                <a:solidFill>
                  <a:schemeClr val="hlink"/>
                </a:solidFill>
                <a:latin typeface="宋体" panose="02010600030101010101" pitchFamily="2" charset="-122"/>
              </a:rPr>
              <a:t>；</a:t>
            </a:r>
          </a:p>
        </p:txBody>
      </p:sp>
      <p:sp>
        <p:nvSpPr>
          <p:cNvPr id="195594" name="Text Box 10">
            <a:extLst>
              <a:ext uri="{FF2B5EF4-FFF2-40B4-BE49-F238E27FC236}">
                <a16:creationId xmlns:a16="http://schemas.microsoft.com/office/drawing/2014/main" id="{3E2C9025-907D-44B5-9F85-7F650AEDF2AE}"/>
              </a:ext>
            </a:extLst>
          </p:cNvPr>
          <p:cNvSpPr txBox="1">
            <a:spLocks noChangeArrowheads="1"/>
          </p:cNvSpPr>
          <p:nvPr/>
        </p:nvSpPr>
        <p:spPr bwMode="auto">
          <a:xfrm>
            <a:off x="1138238" y="4270375"/>
            <a:ext cx="7077075"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buClr>
                <a:schemeClr val="hlink"/>
              </a:buClr>
              <a:buFont typeface="Wingdings" panose="05000000000000000000" pitchFamily="2" charset="2"/>
              <a:buChar char="Ø"/>
            </a:pPr>
            <a:r>
              <a:rPr kumimoji="0" lang="en-US" altLang="zh-CN" sz="2200">
                <a:solidFill>
                  <a:schemeClr val="hlink"/>
                </a:solidFill>
                <a:latin typeface="宋体" panose="02010600030101010101" pitchFamily="2" charset="-122"/>
              </a:rPr>
              <a:t> </a:t>
            </a:r>
            <a:r>
              <a:rPr kumimoji="0" lang="zh-CN" altLang="en-US" sz="2200">
                <a:solidFill>
                  <a:schemeClr val="hlink"/>
                </a:solidFill>
                <a:latin typeface="宋体" panose="02010600030101010101" pitchFamily="2" charset="-122"/>
              </a:rPr>
              <a:t>所有离子势场以及其它电子的平均场为</a:t>
            </a:r>
            <a:r>
              <a:rPr kumimoji="0" lang="zh-CN" altLang="en-US" sz="2200">
                <a:solidFill>
                  <a:srgbClr val="66FFFF"/>
                </a:solidFill>
                <a:latin typeface="宋体" panose="02010600030101010101" pitchFamily="2" charset="-122"/>
              </a:rPr>
              <a:t>周期性势场</a:t>
            </a:r>
            <a:r>
              <a:rPr kumimoji="0" lang="zh-CN" altLang="en-US" sz="2200">
                <a:solidFill>
                  <a:schemeClr val="hlink"/>
                </a:solidFill>
                <a:latin typeface="宋体" panose="02010600030101010101" pitchFamily="2" charset="-122"/>
              </a:rPr>
              <a:t>。</a:t>
            </a:r>
          </a:p>
        </p:txBody>
      </p:sp>
      <p:sp>
        <p:nvSpPr>
          <p:cNvPr id="36874" name="灯片编号占位符 1">
            <a:extLst>
              <a:ext uri="{FF2B5EF4-FFF2-40B4-BE49-F238E27FC236}">
                <a16:creationId xmlns:a16="http://schemas.microsoft.com/office/drawing/2014/main" id="{FADE4D75-9C32-402F-9EEA-88DB4FABFE76}"/>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1929E6B5-FA6D-4BDD-A60B-A97129F78B6B}" type="slidenum">
              <a:rPr lang="en-US" altLang="zh-CN" b="0">
                <a:solidFill>
                  <a:srgbClr val="FF00FF"/>
                </a:solidFill>
              </a:rPr>
              <a:pPr eaLnBrk="1" hangingPunct="1"/>
              <a:t>3</a:t>
            </a:fld>
            <a:r>
              <a:rPr lang="en-US" altLang="zh-CN" b="0">
                <a:solidFill>
                  <a:srgbClr val="FF00FF"/>
                </a:solidFill>
              </a:rPr>
              <a:t>/40</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95589"/>
                                        </p:tgtEl>
                                        <p:attrNameLst>
                                          <p:attrName>style.visibility</p:attrName>
                                        </p:attrNameLst>
                                      </p:cBhvr>
                                      <p:to>
                                        <p:strVal val="visible"/>
                                      </p:to>
                                    </p:set>
                                    <p:animEffect transition="in" filter="blinds(horizontal)">
                                      <p:cBhvr>
                                        <p:cTn id="7" dur="500"/>
                                        <p:tgtEl>
                                          <p:spTgt spid="195589"/>
                                        </p:tgtEl>
                                      </p:cBhvr>
                                    </p:animEffect>
                                  </p:childTnLst>
                                </p:cTn>
                              </p:par>
                            </p:childTnLst>
                          </p:cTn>
                        </p:par>
                        <p:par>
                          <p:cTn id="8" fill="hold" nodeType="afterGroup">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195590"/>
                                        </p:tgtEl>
                                        <p:attrNameLst>
                                          <p:attrName>style.visibility</p:attrName>
                                        </p:attrNameLst>
                                      </p:cBhvr>
                                      <p:to>
                                        <p:strVal val="visible"/>
                                      </p:to>
                                    </p:set>
                                    <p:animEffect transition="in" filter="blinds(horizontal)">
                                      <p:cBhvr>
                                        <p:cTn id="11" dur="500"/>
                                        <p:tgtEl>
                                          <p:spTgt spid="195590"/>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195593"/>
                                        </p:tgtEl>
                                        <p:attrNameLst>
                                          <p:attrName>style.visibility</p:attrName>
                                        </p:attrNameLst>
                                      </p:cBhvr>
                                      <p:to>
                                        <p:strVal val="visible"/>
                                      </p:to>
                                    </p:set>
                                    <p:animEffect transition="in" filter="blinds(horizontal)">
                                      <p:cBhvr>
                                        <p:cTn id="16" dur="500"/>
                                        <p:tgtEl>
                                          <p:spTgt spid="195593"/>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195594"/>
                                        </p:tgtEl>
                                        <p:attrNameLst>
                                          <p:attrName>style.visibility</p:attrName>
                                        </p:attrNameLst>
                                      </p:cBhvr>
                                      <p:to>
                                        <p:strVal val="visible"/>
                                      </p:to>
                                    </p:set>
                                    <p:animEffect transition="in" filter="blinds(horizontal)">
                                      <p:cBhvr>
                                        <p:cTn id="21" dur="500"/>
                                        <p:tgtEl>
                                          <p:spTgt spid="195594"/>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195592"/>
                                        </p:tgtEl>
                                        <p:attrNameLst>
                                          <p:attrName>style.visibility</p:attrName>
                                        </p:attrNameLst>
                                      </p:cBhvr>
                                      <p:to>
                                        <p:strVal val="visible"/>
                                      </p:to>
                                    </p:set>
                                    <p:animEffect transition="in" filter="blinds(horizontal)">
                                      <p:cBhvr>
                                        <p:cTn id="26" dur="500"/>
                                        <p:tgtEl>
                                          <p:spTgt spid="1955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589" grpId="0"/>
      <p:bldP spid="195590" grpId="0"/>
      <p:bldP spid="195592" grpId="0"/>
      <p:bldP spid="195593" grpId="0"/>
      <p:bldP spid="19559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2">
            <a:extLst>
              <a:ext uri="{FF2B5EF4-FFF2-40B4-BE49-F238E27FC236}">
                <a16:creationId xmlns:a16="http://schemas.microsoft.com/office/drawing/2014/main" id="{9E8763D3-9128-47FC-9B8D-06C494FC747D}"/>
              </a:ext>
            </a:extLst>
          </p:cNvPr>
          <p:cNvSpPr>
            <a:spLocks noChangeArrowheads="1"/>
          </p:cNvSpPr>
          <p:nvPr/>
        </p:nvSpPr>
        <p:spPr bwMode="auto">
          <a:xfrm>
            <a:off x="468313" y="1528763"/>
            <a:ext cx="8297862" cy="3600450"/>
          </a:xfrm>
          <a:prstGeom prst="rect">
            <a:avLst/>
          </a:prstGeom>
          <a:solidFill>
            <a:srgbClr val="003399">
              <a:alpha val="32156"/>
            </a:srgbClr>
          </a:solidFill>
          <a:ln w="9525">
            <a:miter lim="800000"/>
            <a:headEnd/>
            <a:tailEnd/>
          </a:ln>
          <a:scene3d>
            <a:camera prst="legacyObliqueTopRight"/>
            <a:lightRig rig="legacyFlat3" dir="r"/>
          </a:scene3d>
          <a:sp3d extrusionH="11100" prstMaterial="legacyPlastic">
            <a:bevelT w="13500" h="13500" prst="angle"/>
            <a:bevelB w="13500" h="13500" prst="angle"/>
            <a:extrusionClr>
              <a:srgbClr val="003399"/>
            </a:extrusionClr>
            <a:contourClr>
              <a:srgbClr val="003399"/>
            </a:contourClr>
          </a:sp3d>
        </p:spPr>
        <p:txBody>
          <a:bodyPr wrap="none" anchor="ctr">
            <a:flatTx/>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a:solidFill>
                <a:srgbClr val="FF9900"/>
              </a:solidFill>
              <a:latin typeface="Arial" panose="020B0604020202020204" pitchFamily="34" charset="0"/>
              <a:ea typeface="仿宋_GB2312" pitchFamily="49" charset="-122"/>
            </a:endParaRPr>
          </a:p>
        </p:txBody>
      </p:sp>
      <p:sp>
        <p:nvSpPr>
          <p:cNvPr id="215043" name="Freeform 3">
            <a:extLst>
              <a:ext uri="{FF2B5EF4-FFF2-40B4-BE49-F238E27FC236}">
                <a16:creationId xmlns:a16="http://schemas.microsoft.com/office/drawing/2014/main" id="{0DD33DE3-76BD-4544-B5BB-A2FC28810C31}"/>
              </a:ext>
            </a:extLst>
          </p:cNvPr>
          <p:cNvSpPr>
            <a:spLocks/>
          </p:cNvSpPr>
          <p:nvPr/>
        </p:nvSpPr>
        <p:spPr bwMode="auto">
          <a:xfrm>
            <a:off x="3956050" y="2849563"/>
            <a:ext cx="1047750" cy="1512887"/>
          </a:xfrm>
          <a:custGeom>
            <a:avLst/>
            <a:gdLst>
              <a:gd name="T0" fmla="*/ 0 w 1334"/>
              <a:gd name="T1" fmla="*/ 2147483646 h 1927"/>
              <a:gd name="T2" fmla="*/ 2147483646 w 1334"/>
              <a:gd name="T3" fmla="*/ 0 h 1927"/>
              <a:gd name="T4" fmla="*/ 0 60000 65536"/>
              <a:gd name="T5" fmla="*/ 0 60000 65536"/>
              <a:gd name="T6" fmla="*/ 0 w 1334"/>
              <a:gd name="T7" fmla="*/ 0 h 1927"/>
              <a:gd name="T8" fmla="*/ 1334 w 1334"/>
              <a:gd name="T9" fmla="*/ 1927 h 1927"/>
            </a:gdLst>
            <a:ahLst/>
            <a:cxnLst>
              <a:cxn ang="T4">
                <a:pos x="T0" y="T1"/>
              </a:cxn>
              <a:cxn ang="T5">
                <a:pos x="T2" y="T3"/>
              </a:cxn>
            </a:cxnLst>
            <a:rect l="T6" t="T7" r="T8" b="T9"/>
            <a:pathLst>
              <a:path w="1334" h="1927">
                <a:moveTo>
                  <a:pt x="0" y="1927"/>
                </a:moveTo>
                <a:cubicBezTo>
                  <a:pt x="144" y="958"/>
                  <a:pt x="504" y="101"/>
                  <a:pt x="1334" y="0"/>
                </a:cubicBezTo>
              </a:path>
            </a:pathLst>
          </a:custGeom>
          <a:noFill/>
          <a:ln w="28575">
            <a:solidFill>
              <a:schemeClr val="accent1"/>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5044" name="Line 4">
            <a:extLst>
              <a:ext uri="{FF2B5EF4-FFF2-40B4-BE49-F238E27FC236}">
                <a16:creationId xmlns:a16="http://schemas.microsoft.com/office/drawing/2014/main" id="{280C3667-1F32-4469-A793-0FE8BF33AA31}"/>
              </a:ext>
            </a:extLst>
          </p:cNvPr>
          <p:cNvSpPr>
            <a:spLocks noChangeShapeType="1"/>
          </p:cNvSpPr>
          <p:nvPr/>
        </p:nvSpPr>
        <p:spPr bwMode="auto">
          <a:xfrm>
            <a:off x="2482850" y="2633663"/>
            <a:ext cx="3816350" cy="0"/>
          </a:xfrm>
          <a:prstGeom prst="line">
            <a:avLst/>
          </a:prstGeom>
          <a:noFill/>
          <a:ln w="9525">
            <a:solidFill>
              <a:srgbClr val="CCCCFF">
                <a:alpha val="69019"/>
              </a:srgbClr>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215045" name="Line 5">
            <a:extLst>
              <a:ext uri="{FF2B5EF4-FFF2-40B4-BE49-F238E27FC236}">
                <a16:creationId xmlns:a16="http://schemas.microsoft.com/office/drawing/2014/main" id="{5E72E99C-B4A0-41CB-A085-41ECAD0BE89F}"/>
              </a:ext>
            </a:extLst>
          </p:cNvPr>
          <p:cNvSpPr>
            <a:spLocks noChangeShapeType="1"/>
          </p:cNvSpPr>
          <p:nvPr/>
        </p:nvSpPr>
        <p:spPr bwMode="auto">
          <a:xfrm flipV="1">
            <a:off x="3806825" y="1914525"/>
            <a:ext cx="0" cy="2663825"/>
          </a:xfrm>
          <a:prstGeom prst="line">
            <a:avLst/>
          </a:prstGeom>
          <a:noFill/>
          <a:ln w="9525">
            <a:solidFill>
              <a:srgbClr val="CCCCFF">
                <a:alpha val="69019"/>
              </a:srgbClr>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215046" name="Freeform 6">
            <a:extLst>
              <a:ext uri="{FF2B5EF4-FFF2-40B4-BE49-F238E27FC236}">
                <a16:creationId xmlns:a16="http://schemas.microsoft.com/office/drawing/2014/main" id="{E165A39C-6EC4-4DCB-B339-1A74CF013FF8}"/>
              </a:ext>
            </a:extLst>
          </p:cNvPr>
          <p:cNvSpPr>
            <a:spLocks/>
          </p:cNvSpPr>
          <p:nvPr/>
        </p:nvSpPr>
        <p:spPr bwMode="auto">
          <a:xfrm flipH="1">
            <a:off x="2627313" y="2849563"/>
            <a:ext cx="1049337" cy="1512887"/>
          </a:xfrm>
          <a:custGeom>
            <a:avLst/>
            <a:gdLst>
              <a:gd name="T0" fmla="*/ 0 w 1334"/>
              <a:gd name="T1" fmla="*/ 2147483646 h 1927"/>
              <a:gd name="T2" fmla="*/ 2147483646 w 1334"/>
              <a:gd name="T3" fmla="*/ 0 h 1927"/>
              <a:gd name="T4" fmla="*/ 0 60000 65536"/>
              <a:gd name="T5" fmla="*/ 0 60000 65536"/>
              <a:gd name="T6" fmla="*/ 0 w 1334"/>
              <a:gd name="T7" fmla="*/ 0 h 1927"/>
              <a:gd name="T8" fmla="*/ 1334 w 1334"/>
              <a:gd name="T9" fmla="*/ 1927 h 1927"/>
            </a:gdLst>
            <a:ahLst/>
            <a:cxnLst>
              <a:cxn ang="T4">
                <a:pos x="T0" y="T1"/>
              </a:cxn>
              <a:cxn ang="T5">
                <a:pos x="T2" y="T3"/>
              </a:cxn>
            </a:cxnLst>
            <a:rect l="T6" t="T7" r="T8" b="T9"/>
            <a:pathLst>
              <a:path w="1334" h="1927">
                <a:moveTo>
                  <a:pt x="0" y="1927"/>
                </a:moveTo>
                <a:cubicBezTo>
                  <a:pt x="144" y="958"/>
                  <a:pt x="504" y="101"/>
                  <a:pt x="1334" y="0"/>
                </a:cubicBezTo>
              </a:path>
            </a:pathLst>
          </a:custGeom>
          <a:noFill/>
          <a:ln w="28575">
            <a:solidFill>
              <a:schemeClr val="accent1"/>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5047" name="Freeform 7">
            <a:extLst>
              <a:ext uri="{FF2B5EF4-FFF2-40B4-BE49-F238E27FC236}">
                <a16:creationId xmlns:a16="http://schemas.microsoft.com/office/drawing/2014/main" id="{11FDA039-E639-4874-9E8A-4810829542AC}"/>
              </a:ext>
            </a:extLst>
          </p:cNvPr>
          <p:cNvSpPr>
            <a:spLocks/>
          </p:cNvSpPr>
          <p:nvPr/>
        </p:nvSpPr>
        <p:spPr bwMode="auto">
          <a:xfrm>
            <a:off x="5249863" y="2921000"/>
            <a:ext cx="1049337" cy="1512888"/>
          </a:xfrm>
          <a:custGeom>
            <a:avLst/>
            <a:gdLst>
              <a:gd name="T0" fmla="*/ 0 w 1334"/>
              <a:gd name="T1" fmla="*/ 2147483646 h 1927"/>
              <a:gd name="T2" fmla="*/ 2147483646 w 1334"/>
              <a:gd name="T3" fmla="*/ 0 h 1927"/>
              <a:gd name="T4" fmla="*/ 0 60000 65536"/>
              <a:gd name="T5" fmla="*/ 0 60000 65536"/>
              <a:gd name="T6" fmla="*/ 0 w 1334"/>
              <a:gd name="T7" fmla="*/ 0 h 1927"/>
              <a:gd name="T8" fmla="*/ 1334 w 1334"/>
              <a:gd name="T9" fmla="*/ 1927 h 1927"/>
            </a:gdLst>
            <a:ahLst/>
            <a:cxnLst>
              <a:cxn ang="T4">
                <a:pos x="T0" y="T1"/>
              </a:cxn>
              <a:cxn ang="T5">
                <a:pos x="T2" y="T3"/>
              </a:cxn>
            </a:cxnLst>
            <a:rect l="T6" t="T7" r="T8" b="T9"/>
            <a:pathLst>
              <a:path w="1334" h="1927">
                <a:moveTo>
                  <a:pt x="0" y="1927"/>
                </a:moveTo>
                <a:cubicBezTo>
                  <a:pt x="144" y="958"/>
                  <a:pt x="504" y="101"/>
                  <a:pt x="1334" y="0"/>
                </a:cubicBezTo>
              </a:path>
            </a:pathLst>
          </a:custGeom>
          <a:noFill/>
          <a:ln w="1905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5048" name="Freeform 8">
            <a:extLst>
              <a:ext uri="{FF2B5EF4-FFF2-40B4-BE49-F238E27FC236}">
                <a16:creationId xmlns:a16="http://schemas.microsoft.com/office/drawing/2014/main" id="{080A27A5-AC2D-46D6-AAC0-8E8707699D52}"/>
              </a:ext>
            </a:extLst>
          </p:cNvPr>
          <p:cNvSpPr>
            <a:spLocks/>
          </p:cNvSpPr>
          <p:nvPr/>
        </p:nvSpPr>
        <p:spPr bwMode="auto">
          <a:xfrm flipH="1">
            <a:off x="2586038" y="2921000"/>
            <a:ext cx="1049337" cy="1512888"/>
          </a:xfrm>
          <a:custGeom>
            <a:avLst/>
            <a:gdLst>
              <a:gd name="T0" fmla="*/ 0 w 1334"/>
              <a:gd name="T1" fmla="*/ 2147483646 h 1927"/>
              <a:gd name="T2" fmla="*/ 2147483646 w 1334"/>
              <a:gd name="T3" fmla="*/ 0 h 1927"/>
              <a:gd name="T4" fmla="*/ 0 60000 65536"/>
              <a:gd name="T5" fmla="*/ 0 60000 65536"/>
              <a:gd name="T6" fmla="*/ 0 w 1334"/>
              <a:gd name="T7" fmla="*/ 0 h 1927"/>
              <a:gd name="T8" fmla="*/ 1334 w 1334"/>
              <a:gd name="T9" fmla="*/ 1927 h 1927"/>
            </a:gdLst>
            <a:ahLst/>
            <a:cxnLst>
              <a:cxn ang="T4">
                <a:pos x="T0" y="T1"/>
              </a:cxn>
              <a:cxn ang="T5">
                <a:pos x="T2" y="T3"/>
              </a:cxn>
            </a:cxnLst>
            <a:rect l="T6" t="T7" r="T8" b="T9"/>
            <a:pathLst>
              <a:path w="1334" h="1927">
                <a:moveTo>
                  <a:pt x="0" y="1927"/>
                </a:moveTo>
                <a:cubicBezTo>
                  <a:pt x="144" y="958"/>
                  <a:pt x="504" y="101"/>
                  <a:pt x="1334" y="0"/>
                </a:cubicBezTo>
              </a:path>
            </a:pathLst>
          </a:custGeom>
          <a:noFill/>
          <a:ln w="1905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5049" name="Freeform 9">
            <a:extLst>
              <a:ext uri="{FF2B5EF4-FFF2-40B4-BE49-F238E27FC236}">
                <a16:creationId xmlns:a16="http://schemas.microsoft.com/office/drawing/2014/main" id="{6EA8217D-F5C7-4D35-91C2-999A5CF5CC66}"/>
              </a:ext>
            </a:extLst>
          </p:cNvPr>
          <p:cNvSpPr>
            <a:spLocks/>
          </p:cNvSpPr>
          <p:nvPr/>
        </p:nvSpPr>
        <p:spPr bwMode="auto">
          <a:xfrm>
            <a:off x="4003675" y="3570288"/>
            <a:ext cx="928688" cy="793750"/>
          </a:xfrm>
          <a:custGeom>
            <a:avLst/>
            <a:gdLst>
              <a:gd name="T0" fmla="*/ 0 w 1135"/>
              <a:gd name="T1" fmla="*/ 2147483646 h 1680"/>
              <a:gd name="T2" fmla="*/ 2147483646 w 1135"/>
              <a:gd name="T3" fmla="*/ 0 h 1680"/>
              <a:gd name="T4" fmla="*/ 2147483646 w 1135"/>
              <a:gd name="T5" fmla="*/ 2147483646 h 1680"/>
              <a:gd name="T6" fmla="*/ 0 60000 65536"/>
              <a:gd name="T7" fmla="*/ 0 60000 65536"/>
              <a:gd name="T8" fmla="*/ 0 60000 65536"/>
              <a:gd name="T9" fmla="*/ 0 w 1135"/>
              <a:gd name="T10" fmla="*/ 0 h 1680"/>
              <a:gd name="T11" fmla="*/ 1135 w 1135"/>
              <a:gd name="T12" fmla="*/ 1680 h 1680"/>
            </a:gdLst>
            <a:ahLst/>
            <a:cxnLst>
              <a:cxn ang="T6">
                <a:pos x="T0" y="T1"/>
              </a:cxn>
              <a:cxn ang="T7">
                <a:pos x="T2" y="T3"/>
              </a:cxn>
              <a:cxn ang="T8">
                <a:pos x="T4" y="T5"/>
              </a:cxn>
            </a:cxnLst>
            <a:rect l="T9" t="T10" r="T11" b="T12"/>
            <a:pathLst>
              <a:path w="1135" h="1680">
                <a:moveTo>
                  <a:pt x="0" y="1680"/>
                </a:moveTo>
                <a:cubicBezTo>
                  <a:pt x="22" y="1359"/>
                  <a:pt x="303" y="0"/>
                  <a:pt x="568" y="0"/>
                </a:cubicBezTo>
                <a:cubicBezTo>
                  <a:pt x="835" y="0"/>
                  <a:pt x="1096" y="1307"/>
                  <a:pt x="1135" y="1680"/>
                </a:cubicBezTo>
              </a:path>
            </a:pathLst>
          </a:custGeom>
          <a:noFill/>
          <a:ln w="1905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5050" name="Line 10">
            <a:extLst>
              <a:ext uri="{FF2B5EF4-FFF2-40B4-BE49-F238E27FC236}">
                <a16:creationId xmlns:a16="http://schemas.microsoft.com/office/drawing/2014/main" id="{7BA74994-BD87-46BE-97B4-AB11FFBC7691}"/>
              </a:ext>
            </a:extLst>
          </p:cNvPr>
          <p:cNvSpPr>
            <a:spLocks noChangeShapeType="1"/>
          </p:cNvSpPr>
          <p:nvPr/>
        </p:nvSpPr>
        <p:spPr bwMode="auto">
          <a:xfrm flipV="1">
            <a:off x="5099050" y="1914525"/>
            <a:ext cx="0" cy="2663825"/>
          </a:xfrm>
          <a:prstGeom prst="line">
            <a:avLst/>
          </a:prstGeom>
          <a:noFill/>
          <a:ln w="9525">
            <a:solidFill>
              <a:srgbClr val="CCCCFF">
                <a:alpha val="69019"/>
              </a:srgbClr>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215051" name="Freeform 11">
            <a:extLst>
              <a:ext uri="{FF2B5EF4-FFF2-40B4-BE49-F238E27FC236}">
                <a16:creationId xmlns:a16="http://schemas.microsoft.com/office/drawing/2014/main" id="{F39D96A8-FD89-43BA-8575-112CAE1B7008}"/>
              </a:ext>
            </a:extLst>
          </p:cNvPr>
          <p:cNvSpPr>
            <a:spLocks/>
          </p:cNvSpPr>
          <p:nvPr/>
        </p:nvSpPr>
        <p:spPr bwMode="auto">
          <a:xfrm flipH="1">
            <a:off x="3938588" y="2849563"/>
            <a:ext cx="1049337" cy="1512887"/>
          </a:xfrm>
          <a:custGeom>
            <a:avLst/>
            <a:gdLst>
              <a:gd name="T0" fmla="*/ 0 w 1334"/>
              <a:gd name="T1" fmla="*/ 2147483646 h 1927"/>
              <a:gd name="T2" fmla="*/ 2147483646 w 1334"/>
              <a:gd name="T3" fmla="*/ 0 h 1927"/>
              <a:gd name="T4" fmla="*/ 0 60000 65536"/>
              <a:gd name="T5" fmla="*/ 0 60000 65536"/>
              <a:gd name="T6" fmla="*/ 0 w 1334"/>
              <a:gd name="T7" fmla="*/ 0 h 1927"/>
              <a:gd name="T8" fmla="*/ 1334 w 1334"/>
              <a:gd name="T9" fmla="*/ 1927 h 1927"/>
            </a:gdLst>
            <a:ahLst/>
            <a:cxnLst>
              <a:cxn ang="T4">
                <a:pos x="T0" y="T1"/>
              </a:cxn>
              <a:cxn ang="T5">
                <a:pos x="T2" y="T3"/>
              </a:cxn>
            </a:cxnLst>
            <a:rect l="T6" t="T7" r="T8" b="T9"/>
            <a:pathLst>
              <a:path w="1334" h="1927">
                <a:moveTo>
                  <a:pt x="0" y="1927"/>
                </a:moveTo>
                <a:cubicBezTo>
                  <a:pt x="144" y="958"/>
                  <a:pt x="504" y="101"/>
                  <a:pt x="1334" y="0"/>
                </a:cubicBezTo>
              </a:path>
            </a:pathLst>
          </a:custGeom>
          <a:noFill/>
          <a:ln w="28575">
            <a:solidFill>
              <a:schemeClr val="accent1"/>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5052" name="Freeform 12">
            <a:extLst>
              <a:ext uri="{FF2B5EF4-FFF2-40B4-BE49-F238E27FC236}">
                <a16:creationId xmlns:a16="http://schemas.microsoft.com/office/drawing/2014/main" id="{A3102CB2-1B7B-42D0-9D66-46C2523B03C3}"/>
              </a:ext>
            </a:extLst>
          </p:cNvPr>
          <p:cNvSpPr>
            <a:spLocks/>
          </p:cNvSpPr>
          <p:nvPr/>
        </p:nvSpPr>
        <p:spPr bwMode="auto">
          <a:xfrm>
            <a:off x="5219700" y="2849563"/>
            <a:ext cx="1049338" cy="1512887"/>
          </a:xfrm>
          <a:custGeom>
            <a:avLst/>
            <a:gdLst>
              <a:gd name="T0" fmla="*/ 0 w 1334"/>
              <a:gd name="T1" fmla="*/ 2147483646 h 1927"/>
              <a:gd name="T2" fmla="*/ 2147483646 w 1334"/>
              <a:gd name="T3" fmla="*/ 0 h 1927"/>
              <a:gd name="T4" fmla="*/ 0 60000 65536"/>
              <a:gd name="T5" fmla="*/ 0 60000 65536"/>
              <a:gd name="T6" fmla="*/ 0 w 1334"/>
              <a:gd name="T7" fmla="*/ 0 h 1927"/>
              <a:gd name="T8" fmla="*/ 1334 w 1334"/>
              <a:gd name="T9" fmla="*/ 1927 h 1927"/>
            </a:gdLst>
            <a:ahLst/>
            <a:cxnLst>
              <a:cxn ang="T4">
                <a:pos x="T0" y="T1"/>
              </a:cxn>
              <a:cxn ang="T5">
                <a:pos x="T2" y="T3"/>
              </a:cxn>
            </a:cxnLst>
            <a:rect l="T6" t="T7" r="T8" b="T9"/>
            <a:pathLst>
              <a:path w="1334" h="1927">
                <a:moveTo>
                  <a:pt x="0" y="1927"/>
                </a:moveTo>
                <a:cubicBezTo>
                  <a:pt x="144" y="958"/>
                  <a:pt x="504" y="101"/>
                  <a:pt x="1334" y="0"/>
                </a:cubicBezTo>
              </a:path>
            </a:pathLst>
          </a:custGeom>
          <a:noFill/>
          <a:ln w="28575">
            <a:solidFill>
              <a:schemeClr val="accent1"/>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5053" name="Freeform 13">
            <a:extLst>
              <a:ext uri="{FF2B5EF4-FFF2-40B4-BE49-F238E27FC236}">
                <a16:creationId xmlns:a16="http://schemas.microsoft.com/office/drawing/2014/main" id="{786C0400-4B43-4E6D-A40B-CFA430B7BD03}"/>
              </a:ext>
            </a:extLst>
          </p:cNvPr>
          <p:cNvSpPr>
            <a:spLocks/>
          </p:cNvSpPr>
          <p:nvPr/>
        </p:nvSpPr>
        <p:spPr bwMode="auto">
          <a:xfrm>
            <a:off x="2708275" y="3568700"/>
            <a:ext cx="928688" cy="793750"/>
          </a:xfrm>
          <a:custGeom>
            <a:avLst/>
            <a:gdLst>
              <a:gd name="T0" fmla="*/ 0 w 1135"/>
              <a:gd name="T1" fmla="*/ 2147483646 h 1680"/>
              <a:gd name="T2" fmla="*/ 2147483646 w 1135"/>
              <a:gd name="T3" fmla="*/ 0 h 1680"/>
              <a:gd name="T4" fmla="*/ 2147483646 w 1135"/>
              <a:gd name="T5" fmla="*/ 2147483646 h 1680"/>
              <a:gd name="T6" fmla="*/ 0 60000 65536"/>
              <a:gd name="T7" fmla="*/ 0 60000 65536"/>
              <a:gd name="T8" fmla="*/ 0 60000 65536"/>
              <a:gd name="T9" fmla="*/ 0 w 1135"/>
              <a:gd name="T10" fmla="*/ 0 h 1680"/>
              <a:gd name="T11" fmla="*/ 1135 w 1135"/>
              <a:gd name="T12" fmla="*/ 1680 h 1680"/>
            </a:gdLst>
            <a:ahLst/>
            <a:cxnLst>
              <a:cxn ang="T6">
                <a:pos x="T0" y="T1"/>
              </a:cxn>
              <a:cxn ang="T7">
                <a:pos x="T2" y="T3"/>
              </a:cxn>
              <a:cxn ang="T8">
                <a:pos x="T4" y="T5"/>
              </a:cxn>
            </a:cxnLst>
            <a:rect l="T9" t="T10" r="T11" b="T12"/>
            <a:pathLst>
              <a:path w="1135" h="1680">
                <a:moveTo>
                  <a:pt x="0" y="1680"/>
                </a:moveTo>
                <a:cubicBezTo>
                  <a:pt x="22" y="1359"/>
                  <a:pt x="303" y="0"/>
                  <a:pt x="568" y="0"/>
                </a:cubicBezTo>
                <a:cubicBezTo>
                  <a:pt x="835" y="0"/>
                  <a:pt x="1096" y="1307"/>
                  <a:pt x="1135" y="1680"/>
                </a:cubicBezTo>
              </a:path>
            </a:pathLst>
          </a:custGeom>
          <a:noFill/>
          <a:ln w="1905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5054" name="Freeform 14">
            <a:extLst>
              <a:ext uri="{FF2B5EF4-FFF2-40B4-BE49-F238E27FC236}">
                <a16:creationId xmlns:a16="http://schemas.microsoft.com/office/drawing/2014/main" id="{720ABA2C-A253-432D-8534-31CBDA740D0F}"/>
              </a:ext>
            </a:extLst>
          </p:cNvPr>
          <p:cNvSpPr>
            <a:spLocks/>
          </p:cNvSpPr>
          <p:nvPr/>
        </p:nvSpPr>
        <p:spPr bwMode="auto">
          <a:xfrm>
            <a:off x="5292725" y="3576638"/>
            <a:ext cx="928688" cy="793750"/>
          </a:xfrm>
          <a:custGeom>
            <a:avLst/>
            <a:gdLst>
              <a:gd name="T0" fmla="*/ 0 w 1135"/>
              <a:gd name="T1" fmla="*/ 2147483646 h 1680"/>
              <a:gd name="T2" fmla="*/ 2147483646 w 1135"/>
              <a:gd name="T3" fmla="*/ 0 h 1680"/>
              <a:gd name="T4" fmla="*/ 2147483646 w 1135"/>
              <a:gd name="T5" fmla="*/ 2147483646 h 1680"/>
              <a:gd name="T6" fmla="*/ 0 60000 65536"/>
              <a:gd name="T7" fmla="*/ 0 60000 65536"/>
              <a:gd name="T8" fmla="*/ 0 60000 65536"/>
              <a:gd name="T9" fmla="*/ 0 w 1135"/>
              <a:gd name="T10" fmla="*/ 0 h 1680"/>
              <a:gd name="T11" fmla="*/ 1135 w 1135"/>
              <a:gd name="T12" fmla="*/ 1680 h 1680"/>
            </a:gdLst>
            <a:ahLst/>
            <a:cxnLst>
              <a:cxn ang="T6">
                <a:pos x="T0" y="T1"/>
              </a:cxn>
              <a:cxn ang="T7">
                <a:pos x="T2" y="T3"/>
              </a:cxn>
              <a:cxn ang="T8">
                <a:pos x="T4" y="T5"/>
              </a:cxn>
            </a:cxnLst>
            <a:rect l="T9" t="T10" r="T11" b="T12"/>
            <a:pathLst>
              <a:path w="1135" h="1680">
                <a:moveTo>
                  <a:pt x="0" y="1680"/>
                </a:moveTo>
                <a:cubicBezTo>
                  <a:pt x="22" y="1359"/>
                  <a:pt x="303" y="0"/>
                  <a:pt x="568" y="0"/>
                </a:cubicBezTo>
                <a:cubicBezTo>
                  <a:pt x="835" y="0"/>
                  <a:pt x="1096" y="1307"/>
                  <a:pt x="1135" y="1680"/>
                </a:cubicBezTo>
              </a:path>
            </a:pathLst>
          </a:custGeom>
          <a:noFill/>
          <a:ln w="1905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5055" name="Freeform 15">
            <a:extLst>
              <a:ext uri="{FF2B5EF4-FFF2-40B4-BE49-F238E27FC236}">
                <a16:creationId xmlns:a16="http://schemas.microsoft.com/office/drawing/2014/main" id="{8C04E4C0-8027-4698-8C80-FD78DDF8EDAB}"/>
              </a:ext>
            </a:extLst>
          </p:cNvPr>
          <p:cNvSpPr>
            <a:spLocks/>
          </p:cNvSpPr>
          <p:nvPr/>
        </p:nvSpPr>
        <p:spPr bwMode="auto">
          <a:xfrm>
            <a:off x="6588125" y="3568700"/>
            <a:ext cx="928688" cy="793750"/>
          </a:xfrm>
          <a:custGeom>
            <a:avLst/>
            <a:gdLst>
              <a:gd name="T0" fmla="*/ 0 w 1135"/>
              <a:gd name="T1" fmla="*/ 2147483646 h 1680"/>
              <a:gd name="T2" fmla="*/ 2147483646 w 1135"/>
              <a:gd name="T3" fmla="*/ 0 h 1680"/>
              <a:gd name="T4" fmla="*/ 2147483646 w 1135"/>
              <a:gd name="T5" fmla="*/ 2147483646 h 1680"/>
              <a:gd name="T6" fmla="*/ 0 60000 65536"/>
              <a:gd name="T7" fmla="*/ 0 60000 65536"/>
              <a:gd name="T8" fmla="*/ 0 60000 65536"/>
              <a:gd name="T9" fmla="*/ 0 w 1135"/>
              <a:gd name="T10" fmla="*/ 0 h 1680"/>
              <a:gd name="T11" fmla="*/ 1135 w 1135"/>
              <a:gd name="T12" fmla="*/ 1680 h 1680"/>
            </a:gdLst>
            <a:ahLst/>
            <a:cxnLst>
              <a:cxn ang="T6">
                <a:pos x="T0" y="T1"/>
              </a:cxn>
              <a:cxn ang="T7">
                <a:pos x="T2" y="T3"/>
              </a:cxn>
              <a:cxn ang="T8">
                <a:pos x="T4" y="T5"/>
              </a:cxn>
            </a:cxnLst>
            <a:rect l="T9" t="T10" r="T11" b="T12"/>
            <a:pathLst>
              <a:path w="1135" h="1680">
                <a:moveTo>
                  <a:pt x="0" y="1680"/>
                </a:moveTo>
                <a:cubicBezTo>
                  <a:pt x="22" y="1359"/>
                  <a:pt x="303" y="0"/>
                  <a:pt x="568" y="0"/>
                </a:cubicBezTo>
                <a:cubicBezTo>
                  <a:pt x="835" y="0"/>
                  <a:pt x="1096" y="1307"/>
                  <a:pt x="1135" y="1680"/>
                </a:cubicBezTo>
              </a:path>
            </a:pathLst>
          </a:custGeom>
          <a:noFill/>
          <a:ln w="1905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5056" name="Freeform 16">
            <a:extLst>
              <a:ext uri="{FF2B5EF4-FFF2-40B4-BE49-F238E27FC236}">
                <a16:creationId xmlns:a16="http://schemas.microsoft.com/office/drawing/2014/main" id="{5495AEC8-8898-496E-BFE4-F824AEC1AEF4}"/>
              </a:ext>
            </a:extLst>
          </p:cNvPr>
          <p:cNvSpPr>
            <a:spLocks/>
          </p:cNvSpPr>
          <p:nvPr/>
        </p:nvSpPr>
        <p:spPr bwMode="auto">
          <a:xfrm>
            <a:off x="7885113" y="3568700"/>
            <a:ext cx="465137" cy="793750"/>
          </a:xfrm>
          <a:custGeom>
            <a:avLst/>
            <a:gdLst>
              <a:gd name="T0" fmla="*/ 0 w 293"/>
              <a:gd name="T1" fmla="*/ 2147483646 h 500"/>
              <a:gd name="T2" fmla="*/ 2147483646 w 293"/>
              <a:gd name="T3" fmla="*/ 0 h 500"/>
              <a:gd name="T4" fmla="*/ 0 60000 65536"/>
              <a:gd name="T5" fmla="*/ 0 60000 65536"/>
              <a:gd name="T6" fmla="*/ 0 w 293"/>
              <a:gd name="T7" fmla="*/ 0 h 500"/>
              <a:gd name="T8" fmla="*/ 293 w 293"/>
              <a:gd name="T9" fmla="*/ 500 h 500"/>
            </a:gdLst>
            <a:ahLst/>
            <a:cxnLst>
              <a:cxn ang="T4">
                <a:pos x="T0" y="T1"/>
              </a:cxn>
              <a:cxn ang="T5">
                <a:pos x="T2" y="T3"/>
              </a:cxn>
            </a:cxnLst>
            <a:rect l="T6" t="T7" r="T8" b="T9"/>
            <a:pathLst>
              <a:path w="293" h="500">
                <a:moveTo>
                  <a:pt x="0" y="500"/>
                </a:moveTo>
                <a:cubicBezTo>
                  <a:pt x="11" y="404"/>
                  <a:pt x="156" y="0"/>
                  <a:pt x="293" y="0"/>
                </a:cubicBezTo>
              </a:path>
            </a:pathLst>
          </a:custGeom>
          <a:noFill/>
          <a:ln w="1905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5057" name="Freeform 17">
            <a:extLst>
              <a:ext uri="{FF2B5EF4-FFF2-40B4-BE49-F238E27FC236}">
                <a16:creationId xmlns:a16="http://schemas.microsoft.com/office/drawing/2014/main" id="{0FC4ECDB-6316-4D20-BA6C-D3A79091EC69}"/>
              </a:ext>
            </a:extLst>
          </p:cNvPr>
          <p:cNvSpPr>
            <a:spLocks/>
          </p:cNvSpPr>
          <p:nvPr/>
        </p:nvSpPr>
        <p:spPr bwMode="auto">
          <a:xfrm>
            <a:off x="1411288" y="3568700"/>
            <a:ext cx="928687" cy="793750"/>
          </a:xfrm>
          <a:custGeom>
            <a:avLst/>
            <a:gdLst>
              <a:gd name="T0" fmla="*/ 0 w 1135"/>
              <a:gd name="T1" fmla="*/ 2147483646 h 1680"/>
              <a:gd name="T2" fmla="*/ 2147483646 w 1135"/>
              <a:gd name="T3" fmla="*/ 0 h 1680"/>
              <a:gd name="T4" fmla="*/ 2147483646 w 1135"/>
              <a:gd name="T5" fmla="*/ 2147483646 h 1680"/>
              <a:gd name="T6" fmla="*/ 0 60000 65536"/>
              <a:gd name="T7" fmla="*/ 0 60000 65536"/>
              <a:gd name="T8" fmla="*/ 0 60000 65536"/>
              <a:gd name="T9" fmla="*/ 0 w 1135"/>
              <a:gd name="T10" fmla="*/ 0 h 1680"/>
              <a:gd name="T11" fmla="*/ 1135 w 1135"/>
              <a:gd name="T12" fmla="*/ 1680 h 1680"/>
            </a:gdLst>
            <a:ahLst/>
            <a:cxnLst>
              <a:cxn ang="T6">
                <a:pos x="T0" y="T1"/>
              </a:cxn>
              <a:cxn ang="T7">
                <a:pos x="T2" y="T3"/>
              </a:cxn>
              <a:cxn ang="T8">
                <a:pos x="T4" y="T5"/>
              </a:cxn>
            </a:cxnLst>
            <a:rect l="T9" t="T10" r="T11" b="T12"/>
            <a:pathLst>
              <a:path w="1135" h="1680">
                <a:moveTo>
                  <a:pt x="0" y="1680"/>
                </a:moveTo>
                <a:cubicBezTo>
                  <a:pt x="22" y="1359"/>
                  <a:pt x="303" y="0"/>
                  <a:pt x="568" y="0"/>
                </a:cubicBezTo>
                <a:cubicBezTo>
                  <a:pt x="835" y="0"/>
                  <a:pt x="1096" y="1307"/>
                  <a:pt x="1135" y="1680"/>
                </a:cubicBezTo>
              </a:path>
            </a:pathLst>
          </a:custGeom>
          <a:noFill/>
          <a:ln w="1905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5058" name="Oval 18">
            <a:extLst>
              <a:ext uri="{FF2B5EF4-FFF2-40B4-BE49-F238E27FC236}">
                <a16:creationId xmlns:a16="http://schemas.microsoft.com/office/drawing/2014/main" id="{76730B58-A138-4D17-9D5A-042C4203E76C}"/>
              </a:ext>
            </a:extLst>
          </p:cNvPr>
          <p:cNvSpPr>
            <a:spLocks noChangeArrowheads="1"/>
          </p:cNvSpPr>
          <p:nvPr/>
        </p:nvSpPr>
        <p:spPr bwMode="auto">
          <a:xfrm>
            <a:off x="5021263" y="2560638"/>
            <a:ext cx="144462" cy="144462"/>
          </a:xfrm>
          <a:prstGeom prst="ellipse">
            <a:avLst/>
          </a:prstGeom>
          <a:gradFill rotWithShape="1">
            <a:gsLst>
              <a:gs pos="0">
                <a:schemeClr val="bg1"/>
              </a:gs>
              <a:gs pos="100000">
                <a:schemeClr val="bg1">
                  <a:gamma/>
                  <a:shade val="46275"/>
                  <a:invGamma/>
                </a:schemeClr>
              </a:gs>
            </a:gsLst>
            <a:path path="shape">
              <a:fillToRect l="50000" t="50000" r="50000" b="50000"/>
            </a:path>
          </a:gradFill>
          <a:ln w="9525">
            <a:solidFill>
              <a:schemeClr val="tx1"/>
            </a:solidFill>
            <a:round/>
            <a:headEnd/>
            <a:tailEnd/>
          </a:ln>
          <a:effectLst/>
        </p:spPr>
        <p:txBody>
          <a:bodyPr wrap="none" anchor="ctr"/>
          <a:lstStyle/>
          <a:p>
            <a:pPr algn="ctr" eaLnBrk="1" hangingPunct="1">
              <a:defRPr/>
            </a:pPr>
            <a:endParaRPr lang="zh-CN" altLang="en-US">
              <a:solidFill>
                <a:schemeClr val="bg1"/>
              </a:solidFill>
            </a:endParaRPr>
          </a:p>
        </p:txBody>
      </p:sp>
      <p:sp>
        <p:nvSpPr>
          <p:cNvPr id="215059" name="Oval 19">
            <a:extLst>
              <a:ext uri="{FF2B5EF4-FFF2-40B4-BE49-F238E27FC236}">
                <a16:creationId xmlns:a16="http://schemas.microsoft.com/office/drawing/2014/main" id="{D22124A3-C027-42E9-8BE8-8B1F85A0D42C}"/>
              </a:ext>
            </a:extLst>
          </p:cNvPr>
          <p:cNvSpPr>
            <a:spLocks noChangeArrowheads="1"/>
          </p:cNvSpPr>
          <p:nvPr/>
        </p:nvSpPr>
        <p:spPr bwMode="auto">
          <a:xfrm>
            <a:off x="6342063" y="2560638"/>
            <a:ext cx="144462" cy="144462"/>
          </a:xfrm>
          <a:prstGeom prst="ellipse">
            <a:avLst/>
          </a:prstGeom>
          <a:gradFill rotWithShape="1">
            <a:gsLst>
              <a:gs pos="0">
                <a:schemeClr val="bg1"/>
              </a:gs>
              <a:gs pos="100000">
                <a:schemeClr val="bg1">
                  <a:gamma/>
                  <a:shade val="46275"/>
                  <a:invGamma/>
                </a:schemeClr>
              </a:gs>
            </a:gsLst>
            <a:path path="shape">
              <a:fillToRect l="50000" t="50000" r="50000" b="50000"/>
            </a:path>
          </a:gradFill>
          <a:ln w="9525">
            <a:solidFill>
              <a:schemeClr val="tx1"/>
            </a:solidFill>
            <a:round/>
            <a:headEnd/>
            <a:tailEnd/>
          </a:ln>
          <a:effectLst/>
        </p:spPr>
        <p:txBody>
          <a:bodyPr wrap="none" anchor="ctr"/>
          <a:lstStyle/>
          <a:p>
            <a:pPr algn="ctr" eaLnBrk="1" hangingPunct="1">
              <a:defRPr/>
            </a:pPr>
            <a:endParaRPr lang="zh-CN" altLang="en-US">
              <a:solidFill>
                <a:schemeClr val="bg1"/>
              </a:solidFill>
            </a:endParaRPr>
          </a:p>
        </p:txBody>
      </p:sp>
      <p:sp>
        <p:nvSpPr>
          <p:cNvPr id="215060" name="Oval 20">
            <a:extLst>
              <a:ext uri="{FF2B5EF4-FFF2-40B4-BE49-F238E27FC236}">
                <a16:creationId xmlns:a16="http://schemas.microsoft.com/office/drawing/2014/main" id="{911589F8-F3CC-46B4-A2FC-7BEB4A930CF6}"/>
              </a:ext>
            </a:extLst>
          </p:cNvPr>
          <p:cNvSpPr>
            <a:spLocks noChangeArrowheads="1"/>
          </p:cNvSpPr>
          <p:nvPr/>
        </p:nvSpPr>
        <p:spPr bwMode="auto">
          <a:xfrm>
            <a:off x="7640638" y="2560638"/>
            <a:ext cx="144462" cy="144462"/>
          </a:xfrm>
          <a:prstGeom prst="ellipse">
            <a:avLst/>
          </a:prstGeom>
          <a:gradFill rotWithShape="1">
            <a:gsLst>
              <a:gs pos="0">
                <a:schemeClr val="bg1"/>
              </a:gs>
              <a:gs pos="100000">
                <a:schemeClr val="bg1">
                  <a:gamma/>
                  <a:shade val="46275"/>
                  <a:invGamma/>
                </a:schemeClr>
              </a:gs>
            </a:gsLst>
            <a:path path="shape">
              <a:fillToRect l="50000" t="50000" r="50000" b="50000"/>
            </a:path>
          </a:gradFill>
          <a:ln w="9525">
            <a:solidFill>
              <a:schemeClr val="tx1"/>
            </a:solidFill>
            <a:round/>
            <a:headEnd/>
            <a:tailEnd/>
          </a:ln>
          <a:effectLst/>
        </p:spPr>
        <p:txBody>
          <a:bodyPr wrap="none" anchor="ctr"/>
          <a:lstStyle/>
          <a:p>
            <a:pPr algn="ctr" eaLnBrk="1" hangingPunct="1">
              <a:defRPr/>
            </a:pPr>
            <a:endParaRPr lang="zh-CN" altLang="en-US">
              <a:solidFill>
                <a:schemeClr val="bg1"/>
              </a:solidFill>
            </a:endParaRPr>
          </a:p>
        </p:txBody>
      </p:sp>
      <p:sp>
        <p:nvSpPr>
          <p:cNvPr id="215061" name="Oval 21">
            <a:extLst>
              <a:ext uri="{FF2B5EF4-FFF2-40B4-BE49-F238E27FC236}">
                <a16:creationId xmlns:a16="http://schemas.microsoft.com/office/drawing/2014/main" id="{25085C81-6CF5-4AB9-A739-A9E9B002F1B3}"/>
              </a:ext>
            </a:extLst>
          </p:cNvPr>
          <p:cNvSpPr>
            <a:spLocks noChangeArrowheads="1"/>
          </p:cNvSpPr>
          <p:nvPr/>
        </p:nvSpPr>
        <p:spPr bwMode="auto">
          <a:xfrm>
            <a:off x="3729038" y="2560638"/>
            <a:ext cx="144462" cy="144462"/>
          </a:xfrm>
          <a:prstGeom prst="ellipse">
            <a:avLst/>
          </a:prstGeom>
          <a:gradFill rotWithShape="1">
            <a:gsLst>
              <a:gs pos="0">
                <a:schemeClr val="bg1"/>
              </a:gs>
              <a:gs pos="100000">
                <a:schemeClr val="bg1">
                  <a:gamma/>
                  <a:shade val="46275"/>
                  <a:invGamma/>
                </a:schemeClr>
              </a:gs>
            </a:gsLst>
            <a:path path="shape">
              <a:fillToRect l="50000" t="50000" r="50000" b="50000"/>
            </a:path>
          </a:gradFill>
          <a:ln w="9525">
            <a:solidFill>
              <a:schemeClr val="tx1"/>
            </a:solidFill>
            <a:round/>
            <a:headEnd/>
            <a:tailEnd/>
          </a:ln>
          <a:effectLst/>
        </p:spPr>
        <p:txBody>
          <a:bodyPr wrap="none" anchor="ctr"/>
          <a:lstStyle/>
          <a:p>
            <a:pPr algn="ctr" eaLnBrk="1" hangingPunct="1">
              <a:defRPr/>
            </a:pPr>
            <a:endParaRPr lang="zh-CN" altLang="en-US">
              <a:solidFill>
                <a:schemeClr val="bg1"/>
              </a:solidFill>
            </a:endParaRPr>
          </a:p>
        </p:txBody>
      </p:sp>
      <p:sp>
        <p:nvSpPr>
          <p:cNvPr id="215062" name="Oval 22">
            <a:extLst>
              <a:ext uri="{FF2B5EF4-FFF2-40B4-BE49-F238E27FC236}">
                <a16:creationId xmlns:a16="http://schemas.microsoft.com/office/drawing/2014/main" id="{9D44D611-72B9-4291-82AF-0470035B2D3C}"/>
              </a:ext>
            </a:extLst>
          </p:cNvPr>
          <p:cNvSpPr>
            <a:spLocks noChangeArrowheads="1"/>
          </p:cNvSpPr>
          <p:nvPr/>
        </p:nvSpPr>
        <p:spPr bwMode="auto">
          <a:xfrm>
            <a:off x="2443163" y="2560638"/>
            <a:ext cx="144462" cy="144462"/>
          </a:xfrm>
          <a:prstGeom prst="ellipse">
            <a:avLst/>
          </a:prstGeom>
          <a:gradFill rotWithShape="1">
            <a:gsLst>
              <a:gs pos="0">
                <a:schemeClr val="bg1"/>
              </a:gs>
              <a:gs pos="100000">
                <a:schemeClr val="bg1">
                  <a:gamma/>
                  <a:shade val="46275"/>
                  <a:invGamma/>
                </a:schemeClr>
              </a:gs>
            </a:gsLst>
            <a:path path="shape">
              <a:fillToRect l="50000" t="50000" r="50000" b="50000"/>
            </a:path>
          </a:gradFill>
          <a:ln w="9525">
            <a:solidFill>
              <a:schemeClr val="tx1"/>
            </a:solidFill>
            <a:round/>
            <a:headEnd/>
            <a:tailEnd/>
          </a:ln>
          <a:effectLst/>
        </p:spPr>
        <p:txBody>
          <a:bodyPr wrap="none" anchor="ctr"/>
          <a:lstStyle/>
          <a:p>
            <a:pPr algn="ctr" eaLnBrk="1" hangingPunct="1">
              <a:defRPr/>
            </a:pPr>
            <a:endParaRPr lang="zh-CN" altLang="en-US">
              <a:solidFill>
                <a:schemeClr val="bg1"/>
              </a:solidFill>
            </a:endParaRPr>
          </a:p>
        </p:txBody>
      </p:sp>
      <p:sp>
        <p:nvSpPr>
          <p:cNvPr id="215063" name="Text Box 23">
            <a:extLst>
              <a:ext uri="{FF2B5EF4-FFF2-40B4-BE49-F238E27FC236}">
                <a16:creationId xmlns:a16="http://schemas.microsoft.com/office/drawing/2014/main" id="{2863F758-CF2C-448C-960B-95F1457905AB}"/>
              </a:ext>
            </a:extLst>
          </p:cNvPr>
          <p:cNvSpPr txBox="1">
            <a:spLocks noChangeArrowheads="1"/>
          </p:cNvSpPr>
          <p:nvPr/>
        </p:nvSpPr>
        <p:spPr bwMode="auto">
          <a:xfrm>
            <a:off x="2411413" y="4675188"/>
            <a:ext cx="40179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a:solidFill>
                  <a:srgbClr val="FF9900"/>
                </a:solidFill>
                <a:ea typeface="楷体_GB2312" pitchFamily="49" charset="-122"/>
              </a:rPr>
              <a:t>一维晶体点阵形成的势能函数曲线</a:t>
            </a:r>
          </a:p>
        </p:txBody>
      </p:sp>
      <p:sp>
        <p:nvSpPr>
          <p:cNvPr id="215064" name="Freeform 24">
            <a:extLst>
              <a:ext uri="{FF2B5EF4-FFF2-40B4-BE49-F238E27FC236}">
                <a16:creationId xmlns:a16="http://schemas.microsoft.com/office/drawing/2014/main" id="{2ECC4080-B62F-42B1-8746-95F49AFDB41A}"/>
              </a:ext>
            </a:extLst>
          </p:cNvPr>
          <p:cNvSpPr>
            <a:spLocks/>
          </p:cNvSpPr>
          <p:nvPr/>
        </p:nvSpPr>
        <p:spPr bwMode="auto">
          <a:xfrm>
            <a:off x="487363" y="3568700"/>
            <a:ext cx="463550" cy="793750"/>
          </a:xfrm>
          <a:custGeom>
            <a:avLst/>
            <a:gdLst>
              <a:gd name="T0" fmla="*/ 0 w 292"/>
              <a:gd name="T1" fmla="*/ 0 h 500"/>
              <a:gd name="T2" fmla="*/ 2147483646 w 292"/>
              <a:gd name="T3" fmla="*/ 2147483646 h 500"/>
              <a:gd name="T4" fmla="*/ 0 60000 65536"/>
              <a:gd name="T5" fmla="*/ 0 60000 65536"/>
              <a:gd name="T6" fmla="*/ 0 w 292"/>
              <a:gd name="T7" fmla="*/ 0 h 500"/>
              <a:gd name="T8" fmla="*/ 292 w 292"/>
              <a:gd name="T9" fmla="*/ 500 h 500"/>
            </a:gdLst>
            <a:ahLst/>
            <a:cxnLst>
              <a:cxn ang="T4">
                <a:pos x="T0" y="T1"/>
              </a:cxn>
              <a:cxn ang="T5">
                <a:pos x="T2" y="T3"/>
              </a:cxn>
            </a:cxnLst>
            <a:rect l="T6" t="T7" r="T8" b="T9"/>
            <a:pathLst>
              <a:path w="292" h="500">
                <a:moveTo>
                  <a:pt x="0" y="0"/>
                </a:moveTo>
                <a:cubicBezTo>
                  <a:pt x="137" y="0"/>
                  <a:pt x="272" y="389"/>
                  <a:pt x="292" y="500"/>
                </a:cubicBezTo>
              </a:path>
            </a:pathLst>
          </a:custGeom>
          <a:noFill/>
          <a:ln w="1905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5065" name="Oval 25">
            <a:extLst>
              <a:ext uri="{FF2B5EF4-FFF2-40B4-BE49-F238E27FC236}">
                <a16:creationId xmlns:a16="http://schemas.microsoft.com/office/drawing/2014/main" id="{95AE4A42-6286-4F08-9B22-C9C7883D48DF}"/>
              </a:ext>
            </a:extLst>
          </p:cNvPr>
          <p:cNvSpPr>
            <a:spLocks noChangeArrowheads="1"/>
          </p:cNvSpPr>
          <p:nvPr/>
        </p:nvSpPr>
        <p:spPr bwMode="auto">
          <a:xfrm>
            <a:off x="1125538" y="2560638"/>
            <a:ext cx="144462" cy="144462"/>
          </a:xfrm>
          <a:prstGeom prst="ellipse">
            <a:avLst/>
          </a:prstGeom>
          <a:gradFill rotWithShape="1">
            <a:gsLst>
              <a:gs pos="0">
                <a:schemeClr val="bg1"/>
              </a:gs>
              <a:gs pos="100000">
                <a:schemeClr val="bg1">
                  <a:gamma/>
                  <a:shade val="46275"/>
                  <a:invGamma/>
                </a:schemeClr>
              </a:gs>
            </a:gsLst>
            <a:path path="shape">
              <a:fillToRect l="50000" t="50000" r="50000" b="50000"/>
            </a:path>
          </a:gradFill>
          <a:ln w="9525">
            <a:solidFill>
              <a:schemeClr val="tx1"/>
            </a:solidFill>
            <a:round/>
            <a:headEnd/>
            <a:tailEnd/>
          </a:ln>
          <a:effectLst/>
        </p:spPr>
        <p:txBody>
          <a:bodyPr wrap="none" anchor="ctr"/>
          <a:lstStyle/>
          <a:p>
            <a:pPr algn="ctr" eaLnBrk="1" hangingPunct="1">
              <a:defRPr/>
            </a:pPr>
            <a:endParaRPr lang="zh-CN" altLang="en-US">
              <a:solidFill>
                <a:schemeClr val="bg1"/>
              </a:solidFill>
            </a:endParaRPr>
          </a:p>
        </p:txBody>
      </p:sp>
      <p:sp>
        <p:nvSpPr>
          <p:cNvPr id="215066" name="Text Box 26">
            <a:extLst>
              <a:ext uri="{FF2B5EF4-FFF2-40B4-BE49-F238E27FC236}">
                <a16:creationId xmlns:a16="http://schemas.microsoft.com/office/drawing/2014/main" id="{F239A817-2844-4B12-B6AF-E7E12E2AD9E3}"/>
              </a:ext>
            </a:extLst>
          </p:cNvPr>
          <p:cNvSpPr txBox="1">
            <a:spLocks noChangeArrowheads="1"/>
          </p:cNvSpPr>
          <p:nvPr/>
        </p:nvSpPr>
        <p:spPr bwMode="auto">
          <a:xfrm>
            <a:off x="3922713" y="1673225"/>
            <a:ext cx="42068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i="1">
                <a:solidFill>
                  <a:schemeClr val="bg1"/>
                </a:solidFill>
              </a:rPr>
              <a:t>E</a:t>
            </a:r>
            <a:r>
              <a:rPr lang="en-US" altLang="zh-CN" sz="1800" baseline="-22000">
                <a:solidFill>
                  <a:schemeClr val="bg1"/>
                </a:solidFill>
              </a:rPr>
              <a:t>P</a:t>
            </a:r>
          </a:p>
        </p:txBody>
      </p:sp>
      <p:sp>
        <p:nvSpPr>
          <p:cNvPr id="215067" name="Text Box 27">
            <a:extLst>
              <a:ext uri="{FF2B5EF4-FFF2-40B4-BE49-F238E27FC236}">
                <a16:creationId xmlns:a16="http://schemas.microsoft.com/office/drawing/2014/main" id="{307241FC-8760-4237-BD7D-BE076327974B}"/>
              </a:ext>
            </a:extLst>
          </p:cNvPr>
          <p:cNvSpPr txBox="1">
            <a:spLocks noChangeArrowheads="1"/>
          </p:cNvSpPr>
          <p:nvPr/>
        </p:nvSpPr>
        <p:spPr bwMode="auto">
          <a:xfrm>
            <a:off x="5867400" y="2224088"/>
            <a:ext cx="2730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i="1">
                <a:solidFill>
                  <a:schemeClr val="bg1"/>
                </a:solidFill>
              </a:rPr>
              <a:t>r</a:t>
            </a:r>
          </a:p>
        </p:txBody>
      </p:sp>
      <p:sp>
        <p:nvSpPr>
          <p:cNvPr id="215068" name="Text Box 28">
            <a:extLst>
              <a:ext uri="{FF2B5EF4-FFF2-40B4-BE49-F238E27FC236}">
                <a16:creationId xmlns:a16="http://schemas.microsoft.com/office/drawing/2014/main" id="{18233237-1422-4925-88AD-1502D331F2F1}"/>
              </a:ext>
            </a:extLst>
          </p:cNvPr>
          <p:cNvSpPr txBox="1">
            <a:spLocks noChangeArrowheads="1"/>
          </p:cNvSpPr>
          <p:nvPr/>
        </p:nvSpPr>
        <p:spPr bwMode="auto">
          <a:xfrm>
            <a:off x="5080000" y="2346325"/>
            <a:ext cx="2841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400">
                <a:solidFill>
                  <a:srgbClr val="FFFF00"/>
                </a:solidFill>
              </a:rPr>
              <a:t>+</a:t>
            </a:r>
          </a:p>
        </p:txBody>
      </p:sp>
      <p:sp>
        <p:nvSpPr>
          <p:cNvPr id="215069" name="Text Box 29">
            <a:extLst>
              <a:ext uri="{FF2B5EF4-FFF2-40B4-BE49-F238E27FC236}">
                <a16:creationId xmlns:a16="http://schemas.microsoft.com/office/drawing/2014/main" id="{38BAEE28-C48C-4001-B762-55ED25B99EA4}"/>
              </a:ext>
            </a:extLst>
          </p:cNvPr>
          <p:cNvSpPr txBox="1">
            <a:spLocks noChangeArrowheads="1"/>
          </p:cNvSpPr>
          <p:nvPr/>
        </p:nvSpPr>
        <p:spPr bwMode="auto">
          <a:xfrm>
            <a:off x="2482850" y="2346325"/>
            <a:ext cx="2841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400">
                <a:solidFill>
                  <a:srgbClr val="FFFF00"/>
                </a:solidFill>
              </a:rPr>
              <a:t>+</a:t>
            </a:r>
          </a:p>
        </p:txBody>
      </p:sp>
      <p:sp>
        <p:nvSpPr>
          <p:cNvPr id="215070" name="Text Box 30">
            <a:extLst>
              <a:ext uri="{FF2B5EF4-FFF2-40B4-BE49-F238E27FC236}">
                <a16:creationId xmlns:a16="http://schemas.microsoft.com/office/drawing/2014/main" id="{8BF4C783-D96E-4691-9125-5DF7001053BA}"/>
              </a:ext>
            </a:extLst>
          </p:cNvPr>
          <p:cNvSpPr txBox="1">
            <a:spLocks noChangeArrowheads="1"/>
          </p:cNvSpPr>
          <p:nvPr/>
        </p:nvSpPr>
        <p:spPr bwMode="auto">
          <a:xfrm>
            <a:off x="6443663" y="2346325"/>
            <a:ext cx="28416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400">
                <a:solidFill>
                  <a:srgbClr val="FFFF00"/>
                </a:solidFill>
              </a:rPr>
              <a:t>+</a:t>
            </a:r>
          </a:p>
        </p:txBody>
      </p:sp>
      <p:sp>
        <p:nvSpPr>
          <p:cNvPr id="215071" name="Text Box 31">
            <a:extLst>
              <a:ext uri="{FF2B5EF4-FFF2-40B4-BE49-F238E27FC236}">
                <a16:creationId xmlns:a16="http://schemas.microsoft.com/office/drawing/2014/main" id="{DDE4C563-0248-44CC-A9B4-E7F4CAC9B01B}"/>
              </a:ext>
            </a:extLst>
          </p:cNvPr>
          <p:cNvSpPr txBox="1">
            <a:spLocks noChangeArrowheads="1"/>
          </p:cNvSpPr>
          <p:nvPr/>
        </p:nvSpPr>
        <p:spPr bwMode="auto">
          <a:xfrm>
            <a:off x="7672388" y="2346325"/>
            <a:ext cx="28416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400">
                <a:solidFill>
                  <a:srgbClr val="FFFF00"/>
                </a:solidFill>
              </a:rPr>
              <a:t>+</a:t>
            </a:r>
          </a:p>
        </p:txBody>
      </p:sp>
      <p:sp>
        <p:nvSpPr>
          <p:cNvPr id="215072" name="Text Box 32">
            <a:extLst>
              <a:ext uri="{FF2B5EF4-FFF2-40B4-BE49-F238E27FC236}">
                <a16:creationId xmlns:a16="http://schemas.microsoft.com/office/drawing/2014/main" id="{1EB98ABB-CF1B-456C-85BE-6DB2BFE5A92A}"/>
              </a:ext>
            </a:extLst>
          </p:cNvPr>
          <p:cNvSpPr txBox="1">
            <a:spLocks noChangeArrowheads="1"/>
          </p:cNvSpPr>
          <p:nvPr/>
        </p:nvSpPr>
        <p:spPr bwMode="auto">
          <a:xfrm>
            <a:off x="1192213" y="2346325"/>
            <a:ext cx="28416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400">
                <a:solidFill>
                  <a:srgbClr val="FFFF00"/>
                </a:solidFill>
              </a:rPr>
              <a:t>+</a:t>
            </a:r>
          </a:p>
        </p:txBody>
      </p:sp>
      <p:sp>
        <p:nvSpPr>
          <p:cNvPr id="6177" name="Text Box 33">
            <a:extLst>
              <a:ext uri="{FF2B5EF4-FFF2-40B4-BE49-F238E27FC236}">
                <a16:creationId xmlns:a16="http://schemas.microsoft.com/office/drawing/2014/main" id="{6E72190E-0E6D-4FB6-852E-02C1E91553E5}"/>
              </a:ext>
            </a:extLst>
          </p:cNvPr>
          <p:cNvSpPr txBox="1">
            <a:spLocks noChangeArrowheads="1"/>
          </p:cNvSpPr>
          <p:nvPr/>
        </p:nvSpPr>
        <p:spPr bwMode="auto">
          <a:xfrm>
            <a:off x="357188" y="357188"/>
            <a:ext cx="50720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rgbClr val="FFFF00"/>
                </a:solidFill>
              </a:rPr>
              <a:t>二、周期性势场    电子的共有化</a:t>
            </a:r>
          </a:p>
        </p:txBody>
      </p:sp>
      <p:sp>
        <p:nvSpPr>
          <p:cNvPr id="215074" name="Line 34">
            <a:extLst>
              <a:ext uri="{FF2B5EF4-FFF2-40B4-BE49-F238E27FC236}">
                <a16:creationId xmlns:a16="http://schemas.microsoft.com/office/drawing/2014/main" id="{C542C8E5-8A4F-4A20-B89F-6BF66309FB55}"/>
              </a:ext>
            </a:extLst>
          </p:cNvPr>
          <p:cNvSpPr>
            <a:spLocks noChangeShapeType="1"/>
          </p:cNvSpPr>
          <p:nvPr/>
        </p:nvSpPr>
        <p:spPr bwMode="auto">
          <a:xfrm>
            <a:off x="539750" y="2632075"/>
            <a:ext cx="7848600" cy="0"/>
          </a:xfrm>
          <a:prstGeom prst="line">
            <a:avLst/>
          </a:prstGeom>
          <a:noFill/>
          <a:ln w="9525">
            <a:solidFill>
              <a:srgbClr val="CCCCFF">
                <a:alpha val="69019"/>
              </a:srgbClr>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215075" name="Text Box 35">
            <a:extLst>
              <a:ext uri="{FF2B5EF4-FFF2-40B4-BE49-F238E27FC236}">
                <a16:creationId xmlns:a16="http://schemas.microsoft.com/office/drawing/2014/main" id="{71A102CB-4366-4AE9-8A12-D60A29D7624B}"/>
              </a:ext>
            </a:extLst>
          </p:cNvPr>
          <p:cNvSpPr txBox="1">
            <a:spLocks noChangeArrowheads="1"/>
          </p:cNvSpPr>
          <p:nvPr/>
        </p:nvSpPr>
        <p:spPr bwMode="auto">
          <a:xfrm>
            <a:off x="8315325" y="2152650"/>
            <a:ext cx="2730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i="1">
                <a:solidFill>
                  <a:schemeClr val="bg1"/>
                </a:solidFill>
              </a:rPr>
              <a:t>r</a:t>
            </a:r>
          </a:p>
        </p:txBody>
      </p:sp>
      <p:sp>
        <p:nvSpPr>
          <p:cNvPr id="215076" name="Text Box 36">
            <a:extLst>
              <a:ext uri="{FF2B5EF4-FFF2-40B4-BE49-F238E27FC236}">
                <a16:creationId xmlns:a16="http://schemas.microsoft.com/office/drawing/2014/main" id="{D34A0484-DAE9-4C5D-ADEB-88C450E0461E}"/>
              </a:ext>
            </a:extLst>
          </p:cNvPr>
          <p:cNvSpPr txBox="1">
            <a:spLocks noChangeArrowheads="1"/>
          </p:cNvSpPr>
          <p:nvPr/>
        </p:nvSpPr>
        <p:spPr bwMode="auto">
          <a:xfrm>
            <a:off x="428625" y="908050"/>
            <a:ext cx="5572125"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200">
                <a:solidFill>
                  <a:schemeClr val="bg1"/>
                </a:solidFill>
                <a:latin typeface="宋体" panose="02010600030101010101" pitchFamily="2" charset="-122"/>
                <a:ea typeface="仿宋_GB2312" pitchFamily="49" charset="-122"/>
              </a:rPr>
              <a:t>以钠为例，价电子在 </a:t>
            </a:r>
            <a:r>
              <a:rPr lang="en-US" altLang="zh-CN" sz="2200">
                <a:solidFill>
                  <a:srgbClr val="00FFFF"/>
                </a:solidFill>
                <a:ea typeface="仿宋_GB2312" pitchFamily="49" charset="-122"/>
              </a:rPr>
              <a:t>Na</a:t>
            </a:r>
            <a:r>
              <a:rPr lang="en-US" altLang="zh-CN" sz="2200" baseline="30000">
                <a:solidFill>
                  <a:srgbClr val="00FFFF"/>
                </a:solidFill>
                <a:ea typeface="仿宋_GB2312" pitchFamily="49" charset="-122"/>
              </a:rPr>
              <a:t>+</a:t>
            </a:r>
            <a:r>
              <a:rPr lang="en-US" altLang="zh-CN" sz="2200" baseline="30000">
                <a:solidFill>
                  <a:srgbClr val="00FFFF"/>
                </a:solidFill>
                <a:latin typeface="宋体" panose="02010600030101010101" pitchFamily="2" charset="-122"/>
                <a:ea typeface="仿宋_GB2312" pitchFamily="49" charset="-122"/>
              </a:rPr>
              <a:t> </a:t>
            </a:r>
            <a:r>
              <a:rPr lang="zh-CN" altLang="en-US" sz="2200">
                <a:solidFill>
                  <a:schemeClr val="bg1"/>
                </a:solidFill>
                <a:latin typeface="宋体" panose="02010600030101010101" pitchFamily="2" charset="-122"/>
                <a:ea typeface="仿宋_GB2312" pitchFamily="49" charset="-122"/>
              </a:rPr>
              <a:t>电场中的势能</a:t>
            </a:r>
            <a:endParaRPr lang="en-US" altLang="zh-CN" sz="2200">
              <a:solidFill>
                <a:schemeClr val="bg1"/>
              </a:solidFill>
              <a:latin typeface="宋体" panose="02010600030101010101" pitchFamily="2" charset="-122"/>
              <a:ea typeface="仿宋_GB2312" pitchFamily="49" charset="-122"/>
            </a:endParaRPr>
          </a:p>
        </p:txBody>
      </p:sp>
      <p:sp>
        <p:nvSpPr>
          <p:cNvPr id="215077" name="Line 37">
            <a:extLst>
              <a:ext uri="{FF2B5EF4-FFF2-40B4-BE49-F238E27FC236}">
                <a16:creationId xmlns:a16="http://schemas.microsoft.com/office/drawing/2014/main" id="{A55862E8-AA13-4B3F-BB1F-21D477EB8DC8}"/>
              </a:ext>
            </a:extLst>
          </p:cNvPr>
          <p:cNvSpPr>
            <a:spLocks noChangeShapeType="1"/>
          </p:cNvSpPr>
          <p:nvPr/>
        </p:nvSpPr>
        <p:spPr bwMode="auto">
          <a:xfrm>
            <a:off x="611188" y="4094163"/>
            <a:ext cx="7777162" cy="0"/>
          </a:xfrm>
          <a:prstGeom prst="line">
            <a:avLst/>
          </a:prstGeom>
          <a:noFill/>
          <a:ln w="9525">
            <a:solidFill>
              <a:srgbClr val="FF9966">
                <a:alpha val="96077"/>
              </a:srgbClr>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078" name="Text Box 38">
            <a:extLst>
              <a:ext uri="{FF2B5EF4-FFF2-40B4-BE49-F238E27FC236}">
                <a16:creationId xmlns:a16="http://schemas.microsoft.com/office/drawing/2014/main" id="{BEF6D4AF-CABE-420B-90BE-67BAE479590D}"/>
              </a:ext>
            </a:extLst>
          </p:cNvPr>
          <p:cNvSpPr txBox="1">
            <a:spLocks noChangeArrowheads="1"/>
          </p:cNvSpPr>
          <p:nvPr/>
        </p:nvSpPr>
        <p:spPr bwMode="auto">
          <a:xfrm>
            <a:off x="428625" y="5610225"/>
            <a:ext cx="82756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buClr>
                <a:srgbClr val="FF9900"/>
              </a:buClr>
              <a:buSzPct val="85000"/>
              <a:buFont typeface="Wingdings" panose="05000000000000000000" pitchFamily="2" charset="2"/>
              <a:buChar char="l"/>
            </a:pPr>
            <a:r>
              <a:rPr lang="en-US" altLang="zh-CN">
                <a:solidFill>
                  <a:schemeClr val="bg1"/>
                </a:solidFill>
                <a:latin typeface="宋体" panose="02010600030101010101" pitchFamily="2" charset="-122"/>
                <a:ea typeface="仿宋_GB2312" pitchFamily="49" charset="-122"/>
              </a:rPr>
              <a:t> </a:t>
            </a:r>
            <a:r>
              <a:rPr lang="zh-CN" altLang="en-US">
                <a:solidFill>
                  <a:schemeClr val="bg1"/>
                </a:solidFill>
                <a:latin typeface="宋体" panose="02010600030101010101" pitchFamily="2" charset="-122"/>
                <a:ea typeface="仿宋_GB2312" pitchFamily="49" charset="-122"/>
              </a:rPr>
              <a:t>量子</a:t>
            </a:r>
            <a:r>
              <a:rPr lang="en-US" altLang="zh-CN">
                <a:solidFill>
                  <a:schemeClr val="bg1"/>
                </a:solidFill>
                <a:latin typeface="宋体" panose="02010600030101010101" pitchFamily="2" charset="-122"/>
                <a:ea typeface="仿宋_GB2312" pitchFamily="49" charset="-122"/>
              </a:rPr>
              <a:t>:  </a:t>
            </a:r>
            <a:r>
              <a:rPr lang="zh-CN" altLang="en-US">
                <a:solidFill>
                  <a:schemeClr val="bg1"/>
                </a:solidFill>
                <a:latin typeface="宋体" panose="02010600030101010101" pitchFamily="2" charset="-122"/>
                <a:ea typeface="仿宋_GB2312" pitchFamily="49" charset="-122"/>
              </a:rPr>
              <a:t>电子能量 </a:t>
            </a:r>
            <a:r>
              <a:rPr lang="en-US" altLang="zh-CN" i="1">
                <a:solidFill>
                  <a:srgbClr val="00FFFF"/>
                </a:solidFill>
                <a:ea typeface="仿宋_GB2312" pitchFamily="49" charset="-122"/>
              </a:rPr>
              <a:t>E </a:t>
            </a:r>
            <a:r>
              <a:rPr lang="zh-CN" altLang="en-US">
                <a:solidFill>
                  <a:schemeClr val="bg1"/>
                </a:solidFill>
                <a:latin typeface="宋体" panose="02010600030101010101" pitchFamily="2" charset="-122"/>
                <a:ea typeface="仿宋_GB2312" pitchFamily="49" charset="-122"/>
              </a:rPr>
              <a:t>低，穿过势垒概率小，共有化程度低</a:t>
            </a:r>
          </a:p>
        </p:txBody>
      </p:sp>
      <p:sp>
        <p:nvSpPr>
          <p:cNvPr id="215079" name="Text Box 39">
            <a:extLst>
              <a:ext uri="{FF2B5EF4-FFF2-40B4-BE49-F238E27FC236}">
                <a16:creationId xmlns:a16="http://schemas.microsoft.com/office/drawing/2014/main" id="{A7FF2F48-DBA4-46E1-98BA-0A16ACDEC658}"/>
              </a:ext>
            </a:extLst>
          </p:cNvPr>
          <p:cNvSpPr txBox="1">
            <a:spLocks noChangeArrowheads="1"/>
          </p:cNvSpPr>
          <p:nvPr/>
        </p:nvSpPr>
        <p:spPr bwMode="auto">
          <a:xfrm>
            <a:off x="1714500" y="6115050"/>
            <a:ext cx="70723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buClr>
                <a:srgbClr val="00FF00"/>
              </a:buClr>
            </a:pPr>
            <a:r>
              <a:rPr lang="en-US" altLang="zh-CN">
                <a:solidFill>
                  <a:schemeClr val="bg1"/>
                </a:solidFill>
                <a:latin typeface="宋体" panose="02010600030101010101" pitchFamily="2" charset="-122"/>
                <a:ea typeface="仿宋_GB2312" pitchFamily="49" charset="-122"/>
              </a:rPr>
              <a:t> </a:t>
            </a:r>
            <a:r>
              <a:rPr lang="zh-CN" altLang="en-US">
                <a:solidFill>
                  <a:schemeClr val="bg1"/>
                </a:solidFill>
                <a:latin typeface="宋体" panose="02010600030101010101" pitchFamily="2" charset="-122"/>
                <a:ea typeface="仿宋_GB2312" pitchFamily="49" charset="-122"/>
              </a:rPr>
              <a:t>电子能量 </a:t>
            </a:r>
            <a:r>
              <a:rPr lang="en-US" altLang="zh-CN" i="1">
                <a:solidFill>
                  <a:srgbClr val="00FFFF"/>
                </a:solidFill>
                <a:ea typeface="仿宋_GB2312" pitchFamily="49" charset="-122"/>
              </a:rPr>
              <a:t>E </a:t>
            </a:r>
            <a:r>
              <a:rPr lang="zh-CN" altLang="en-US">
                <a:solidFill>
                  <a:schemeClr val="bg1"/>
                </a:solidFill>
                <a:latin typeface="宋体" panose="02010600030101010101" pitchFamily="2" charset="-122"/>
                <a:ea typeface="仿宋_GB2312" pitchFamily="49" charset="-122"/>
              </a:rPr>
              <a:t>高，穿过势垒概率大，共有化程度高</a:t>
            </a:r>
            <a:endParaRPr lang="en-US" altLang="zh-CN">
              <a:solidFill>
                <a:schemeClr val="bg1"/>
              </a:solidFill>
              <a:latin typeface="宋体" panose="02010600030101010101" pitchFamily="2" charset="-122"/>
              <a:ea typeface="仿宋_GB2312" pitchFamily="49" charset="-122"/>
            </a:endParaRPr>
          </a:p>
        </p:txBody>
      </p:sp>
      <p:sp>
        <p:nvSpPr>
          <p:cNvPr id="215080" name="Text Box 40">
            <a:extLst>
              <a:ext uri="{FF2B5EF4-FFF2-40B4-BE49-F238E27FC236}">
                <a16:creationId xmlns:a16="http://schemas.microsoft.com/office/drawing/2014/main" id="{6B811262-7B18-48E7-ADBB-71CDD74EE808}"/>
              </a:ext>
            </a:extLst>
          </p:cNvPr>
          <p:cNvSpPr txBox="1">
            <a:spLocks noChangeArrowheads="1"/>
          </p:cNvSpPr>
          <p:nvPr/>
        </p:nvSpPr>
        <p:spPr bwMode="auto">
          <a:xfrm>
            <a:off x="8361363" y="3806825"/>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i="1">
                <a:solidFill>
                  <a:srgbClr val="FF9966"/>
                </a:solidFill>
              </a:rPr>
              <a:t>E</a:t>
            </a:r>
          </a:p>
        </p:txBody>
      </p:sp>
      <p:sp>
        <p:nvSpPr>
          <p:cNvPr id="215081" name="Text Box 41">
            <a:extLst>
              <a:ext uri="{FF2B5EF4-FFF2-40B4-BE49-F238E27FC236}">
                <a16:creationId xmlns:a16="http://schemas.microsoft.com/office/drawing/2014/main" id="{9237602C-D8A5-4CB8-801E-9BB48E22A5C4}"/>
              </a:ext>
            </a:extLst>
          </p:cNvPr>
          <p:cNvSpPr txBox="1">
            <a:spLocks noChangeArrowheads="1"/>
          </p:cNvSpPr>
          <p:nvPr/>
        </p:nvSpPr>
        <p:spPr bwMode="auto">
          <a:xfrm>
            <a:off x="3856038" y="2346325"/>
            <a:ext cx="28416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400">
                <a:solidFill>
                  <a:srgbClr val="FFFF00"/>
                </a:solidFill>
              </a:rPr>
              <a:t>+</a:t>
            </a:r>
          </a:p>
        </p:txBody>
      </p:sp>
      <p:sp>
        <p:nvSpPr>
          <p:cNvPr id="215082" name="Line 42">
            <a:extLst>
              <a:ext uri="{FF2B5EF4-FFF2-40B4-BE49-F238E27FC236}">
                <a16:creationId xmlns:a16="http://schemas.microsoft.com/office/drawing/2014/main" id="{30FD2001-CCD0-4379-843C-E71408B3D92E}"/>
              </a:ext>
            </a:extLst>
          </p:cNvPr>
          <p:cNvSpPr>
            <a:spLocks noChangeShapeType="1"/>
          </p:cNvSpPr>
          <p:nvPr/>
        </p:nvSpPr>
        <p:spPr bwMode="auto">
          <a:xfrm>
            <a:off x="3813175" y="2346325"/>
            <a:ext cx="1295400" cy="0"/>
          </a:xfrm>
          <a:prstGeom prst="line">
            <a:avLst/>
          </a:prstGeom>
          <a:noFill/>
          <a:ln w="9525">
            <a:solidFill>
              <a:srgbClr val="CC9900"/>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15083" name="Text Box 43">
            <a:extLst>
              <a:ext uri="{FF2B5EF4-FFF2-40B4-BE49-F238E27FC236}">
                <a16:creationId xmlns:a16="http://schemas.microsoft.com/office/drawing/2014/main" id="{5C1396C8-D43E-4E0C-B8E5-CA705A8E7649}"/>
              </a:ext>
            </a:extLst>
          </p:cNvPr>
          <p:cNvSpPr txBox="1">
            <a:spLocks noChangeArrowheads="1"/>
          </p:cNvSpPr>
          <p:nvPr/>
        </p:nvSpPr>
        <p:spPr bwMode="auto">
          <a:xfrm>
            <a:off x="4306888" y="196056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i="1">
                <a:solidFill>
                  <a:srgbClr val="CC9900"/>
                </a:solidFill>
              </a:rPr>
              <a:t>d</a:t>
            </a:r>
          </a:p>
        </p:txBody>
      </p:sp>
      <p:sp>
        <p:nvSpPr>
          <p:cNvPr id="215084" name="Line 44">
            <a:extLst>
              <a:ext uri="{FF2B5EF4-FFF2-40B4-BE49-F238E27FC236}">
                <a16:creationId xmlns:a16="http://schemas.microsoft.com/office/drawing/2014/main" id="{1BAF7F15-9066-4E01-A283-C9AD7229605E}"/>
              </a:ext>
            </a:extLst>
          </p:cNvPr>
          <p:cNvSpPr>
            <a:spLocks noChangeShapeType="1"/>
          </p:cNvSpPr>
          <p:nvPr/>
        </p:nvSpPr>
        <p:spPr bwMode="auto">
          <a:xfrm>
            <a:off x="5108575" y="2201863"/>
            <a:ext cx="0" cy="360362"/>
          </a:xfrm>
          <a:prstGeom prst="line">
            <a:avLst/>
          </a:prstGeom>
          <a:noFill/>
          <a:ln w="9525">
            <a:solidFill>
              <a:srgbClr val="CCCCFF">
                <a:alpha val="78038"/>
              </a:srgbClr>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085" name="Line 45">
            <a:extLst>
              <a:ext uri="{FF2B5EF4-FFF2-40B4-BE49-F238E27FC236}">
                <a16:creationId xmlns:a16="http://schemas.microsoft.com/office/drawing/2014/main" id="{08454CFB-623A-4233-B92A-39A435482613}"/>
              </a:ext>
            </a:extLst>
          </p:cNvPr>
          <p:cNvSpPr>
            <a:spLocks noChangeShapeType="1"/>
          </p:cNvSpPr>
          <p:nvPr/>
        </p:nvSpPr>
        <p:spPr bwMode="auto">
          <a:xfrm>
            <a:off x="611188" y="3663950"/>
            <a:ext cx="7777162" cy="0"/>
          </a:xfrm>
          <a:prstGeom prst="line">
            <a:avLst/>
          </a:prstGeom>
          <a:noFill/>
          <a:ln w="9525">
            <a:solidFill>
              <a:srgbClr val="FF9966">
                <a:alpha val="96077"/>
              </a:srgbClr>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086" name="Text Box 46">
            <a:extLst>
              <a:ext uri="{FF2B5EF4-FFF2-40B4-BE49-F238E27FC236}">
                <a16:creationId xmlns:a16="http://schemas.microsoft.com/office/drawing/2014/main" id="{79763249-7C3D-420D-8D64-AE69BA794E01}"/>
              </a:ext>
            </a:extLst>
          </p:cNvPr>
          <p:cNvSpPr txBox="1">
            <a:spLocks noChangeArrowheads="1"/>
          </p:cNvSpPr>
          <p:nvPr/>
        </p:nvSpPr>
        <p:spPr bwMode="auto">
          <a:xfrm>
            <a:off x="8361363" y="3376613"/>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i="1">
                <a:solidFill>
                  <a:srgbClr val="FF9966"/>
                </a:solidFill>
              </a:rPr>
              <a:t>E</a:t>
            </a:r>
          </a:p>
        </p:txBody>
      </p:sp>
      <p:sp>
        <p:nvSpPr>
          <p:cNvPr id="215088" name="Line 48">
            <a:extLst>
              <a:ext uri="{FF2B5EF4-FFF2-40B4-BE49-F238E27FC236}">
                <a16:creationId xmlns:a16="http://schemas.microsoft.com/office/drawing/2014/main" id="{45955F45-323C-43D4-BD5F-298C9A2EBF2D}"/>
              </a:ext>
            </a:extLst>
          </p:cNvPr>
          <p:cNvSpPr>
            <a:spLocks noChangeShapeType="1"/>
          </p:cNvSpPr>
          <p:nvPr/>
        </p:nvSpPr>
        <p:spPr bwMode="auto">
          <a:xfrm>
            <a:off x="3563938" y="4092575"/>
            <a:ext cx="503237" cy="0"/>
          </a:xfrm>
          <a:prstGeom prst="line">
            <a:avLst/>
          </a:prstGeom>
          <a:noFill/>
          <a:ln w="28575">
            <a:solidFill>
              <a:srgbClr val="FF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089" name="Text Box 49">
            <a:extLst>
              <a:ext uri="{FF2B5EF4-FFF2-40B4-BE49-F238E27FC236}">
                <a16:creationId xmlns:a16="http://schemas.microsoft.com/office/drawing/2014/main" id="{75A388E8-1A21-4391-B8AB-9FB0EBB9B5A6}"/>
              </a:ext>
            </a:extLst>
          </p:cNvPr>
          <p:cNvSpPr txBox="1">
            <a:spLocks noChangeArrowheads="1"/>
          </p:cNvSpPr>
          <p:nvPr/>
        </p:nvSpPr>
        <p:spPr bwMode="auto">
          <a:xfrm>
            <a:off x="428625" y="5110163"/>
            <a:ext cx="49323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buClr>
                <a:srgbClr val="FF9900"/>
              </a:buClr>
              <a:buSzPct val="85000"/>
              <a:buFont typeface="Wingdings" panose="05000000000000000000" pitchFamily="2" charset="2"/>
              <a:buChar char="l"/>
            </a:pPr>
            <a:r>
              <a:rPr lang="en-US" altLang="zh-CN">
                <a:solidFill>
                  <a:schemeClr val="bg1"/>
                </a:solidFill>
                <a:latin typeface="宋体" panose="02010600030101010101" pitchFamily="2" charset="-122"/>
                <a:ea typeface="仿宋_GB2312" pitchFamily="49" charset="-122"/>
              </a:rPr>
              <a:t> </a:t>
            </a:r>
            <a:r>
              <a:rPr lang="zh-CN" altLang="en-US">
                <a:solidFill>
                  <a:schemeClr val="bg1"/>
                </a:solidFill>
                <a:latin typeface="宋体" panose="02010600030101010101" pitchFamily="2" charset="-122"/>
                <a:ea typeface="仿宋_GB2312" pitchFamily="49" charset="-122"/>
              </a:rPr>
              <a:t>经典</a:t>
            </a:r>
            <a:r>
              <a:rPr lang="en-US" altLang="zh-CN">
                <a:solidFill>
                  <a:schemeClr val="bg1"/>
                </a:solidFill>
                <a:latin typeface="宋体" panose="02010600030101010101" pitchFamily="2" charset="-122"/>
                <a:ea typeface="仿宋_GB2312" pitchFamily="49" charset="-122"/>
              </a:rPr>
              <a:t>:  </a:t>
            </a:r>
            <a:r>
              <a:rPr lang="zh-CN" altLang="en-US">
                <a:solidFill>
                  <a:schemeClr val="bg1"/>
                </a:solidFill>
                <a:latin typeface="宋体" panose="02010600030101010101" pitchFamily="2" charset="-122"/>
                <a:ea typeface="仿宋_GB2312" pitchFamily="49" charset="-122"/>
              </a:rPr>
              <a:t>电子被束缚在</a:t>
            </a:r>
            <a:r>
              <a:rPr lang="en-US" altLang="zh-CN">
                <a:solidFill>
                  <a:srgbClr val="00FFFF"/>
                </a:solidFill>
                <a:ea typeface="仿宋_GB2312" pitchFamily="49" charset="-122"/>
              </a:rPr>
              <a:t>Na</a:t>
            </a:r>
            <a:r>
              <a:rPr lang="en-US" altLang="zh-CN" baseline="30000">
                <a:solidFill>
                  <a:srgbClr val="00FFFF"/>
                </a:solidFill>
                <a:ea typeface="仿宋_GB2312" pitchFamily="49" charset="-122"/>
              </a:rPr>
              <a:t>+</a:t>
            </a:r>
            <a:r>
              <a:rPr lang="zh-CN" altLang="en-US">
                <a:solidFill>
                  <a:schemeClr val="bg1"/>
                </a:solidFill>
                <a:latin typeface="宋体" panose="02010600030101010101" pitchFamily="2" charset="-122"/>
                <a:ea typeface="仿宋_GB2312" pitchFamily="49" charset="-122"/>
              </a:rPr>
              <a:t>周围</a:t>
            </a:r>
            <a:r>
              <a:rPr lang="en-US" altLang="zh-CN">
                <a:solidFill>
                  <a:schemeClr val="bg1"/>
                </a:solidFill>
                <a:latin typeface="宋体" panose="02010600030101010101" pitchFamily="2" charset="-122"/>
                <a:ea typeface="仿宋_GB2312" pitchFamily="49" charset="-122"/>
              </a:rPr>
              <a:t> </a:t>
            </a:r>
          </a:p>
        </p:txBody>
      </p:sp>
      <p:graphicFrame>
        <p:nvGraphicFramePr>
          <p:cNvPr id="2" name="Object 9">
            <a:extLst>
              <a:ext uri="{FF2B5EF4-FFF2-40B4-BE49-F238E27FC236}">
                <a16:creationId xmlns:a16="http://schemas.microsoft.com/office/drawing/2014/main" id="{564C7427-0868-4FD3-A4B2-D6730146552B}"/>
              </a:ext>
            </a:extLst>
          </p:cNvPr>
          <p:cNvGraphicFramePr>
            <a:graphicFrameLocks noChangeAspect="1"/>
          </p:cNvGraphicFramePr>
          <p:nvPr/>
        </p:nvGraphicFramePr>
        <p:xfrm>
          <a:off x="1095375" y="1530350"/>
          <a:ext cx="1762125" cy="755650"/>
        </p:xfrm>
        <a:graphic>
          <a:graphicData uri="http://schemas.openxmlformats.org/presentationml/2006/ole">
            <mc:AlternateContent xmlns:mc="http://schemas.openxmlformats.org/markup-compatibility/2006">
              <mc:Choice xmlns:v="urn:schemas-microsoft-com:vml" Requires="v">
                <p:oleObj spid="_x0000_s561192" name="公式" r:id="rId4" imgW="906745" imgH="388573" progId="Equation.3">
                  <p:embed/>
                </p:oleObj>
              </mc:Choice>
              <mc:Fallback>
                <p:oleObj name="公式" r:id="rId4" imgW="906745" imgH="388573" progId="Equation.3">
                  <p:embed/>
                  <p:pic>
                    <p:nvPicPr>
                      <p:cNvPr id="2" name="Object 9">
                        <a:extLst>
                          <a:ext uri="{FF2B5EF4-FFF2-40B4-BE49-F238E27FC236}">
                            <a16:creationId xmlns:a16="http://schemas.microsoft.com/office/drawing/2014/main" id="{564C7427-0868-4FD3-A4B2-D6730146552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95375" y="1530350"/>
                        <a:ext cx="1762125" cy="75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51" name="圆角矩形 50">
            <a:extLst>
              <a:ext uri="{FF2B5EF4-FFF2-40B4-BE49-F238E27FC236}">
                <a16:creationId xmlns:a16="http://schemas.microsoft.com/office/drawing/2014/main" id="{DFE01AB9-0356-48DD-B6BA-FD88942FCAF2}"/>
              </a:ext>
            </a:extLst>
          </p:cNvPr>
          <p:cNvSpPr/>
          <p:nvPr/>
        </p:nvSpPr>
        <p:spPr bwMode="auto">
          <a:xfrm>
            <a:off x="5500688" y="357188"/>
            <a:ext cx="3214687" cy="928687"/>
          </a:xfrm>
          <a:prstGeom prst="roundRect">
            <a:avLst>
              <a:gd name="adj" fmla="val 10040"/>
            </a:avLst>
          </a:prstGeom>
          <a:solidFill>
            <a:schemeClr val="accent1"/>
          </a:solidFill>
          <a:ln w="9525" cap="flat" cmpd="sng" algn="ctr">
            <a:solidFill>
              <a:schemeClr val="tx1"/>
            </a:solidFill>
            <a:prstDash val="solid"/>
            <a:round/>
            <a:headEnd type="none" w="med" len="med"/>
            <a:tailEnd type="none" w="med" len="med"/>
          </a:ln>
          <a:effec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buFont typeface="Arial" panose="020B0604020202020204" pitchFamily="34" charset="0"/>
              <a:buNone/>
              <a:defRPr/>
            </a:pPr>
            <a:r>
              <a:rPr lang="zh-CN" altLang="en-US" sz="2200">
                <a:effectLst>
                  <a:outerShdw blurRad="38100" dist="38100" dir="2700000" algn="tl">
                    <a:srgbClr val="FFFFFF"/>
                  </a:outerShdw>
                </a:effectLst>
              </a:rPr>
              <a:t>晶体中原子周期排列使</a:t>
            </a:r>
            <a:endParaRPr lang="en-US" altLang="zh-CN" sz="2200">
              <a:effectLst>
                <a:outerShdw blurRad="38100" dist="38100" dir="2700000" algn="tl">
                  <a:srgbClr val="FFFFFF"/>
                </a:outerShdw>
              </a:effectLst>
            </a:endParaRPr>
          </a:p>
          <a:p>
            <a:pPr algn="ctr" eaLnBrk="1" hangingPunct="1">
              <a:buFont typeface="Arial" panose="020B0604020202020204" pitchFamily="34" charset="0"/>
              <a:buNone/>
              <a:defRPr/>
            </a:pPr>
            <a:r>
              <a:rPr lang="zh-CN" altLang="en-US" sz="2200">
                <a:effectLst>
                  <a:outerShdw blurRad="38100" dist="38100" dir="2700000" algn="tl">
                    <a:srgbClr val="FFFFFF"/>
                  </a:outerShdw>
                </a:effectLst>
              </a:rPr>
              <a:t>价电子为所有原子共有</a:t>
            </a:r>
          </a:p>
        </p:txBody>
      </p:sp>
      <p:cxnSp>
        <p:nvCxnSpPr>
          <p:cNvPr id="54" name="直接箭头连接符 53">
            <a:extLst>
              <a:ext uri="{FF2B5EF4-FFF2-40B4-BE49-F238E27FC236}">
                <a16:creationId xmlns:a16="http://schemas.microsoft.com/office/drawing/2014/main" id="{BF2D6DAE-B3A9-43D7-9434-C11350E357AF}"/>
              </a:ext>
            </a:extLst>
          </p:cNvPr>
          <p:cNvCxnSpPr>
            <a:cxnSpLocks noChangeShapeType="1"/>
          </p:cNvCxnSpPr>
          <p:nvPr/>
        </p:nvCxnSpPr>
        <p:spPr bwMode="auto">
          <a:xfrm rot="10800000">
            <a:off x="4851400" y="641350"/>
            <a:ext cx="720725" cy="1588"/>
          </a:xfrm>
          <a:prstGeom prst="straightConnector1">
            <a:avLst/>
          </a:prstGeom>
          <a:noFill/>
          <a:ln w="31750" algn="ctr">
            <a:solidFill>
              <a:srgbClr val="FFFF00"/>
            </a:solidFill>
            <a:round/>
            <a:headEnd/>
            <a:tailEnd type="triangle" w="med" len="lg"/>
          </a:ln>
          <a:extLst>
            <a:ext uri="{909E8E84-426E-40DD-AFC4-6F175D3DCCD1}">
              <a14:hiddenFill xmlns:a14="http://schemas.microsoft.com/office/drawing/2010/main">
                <a:noFill/>
              </a14:hiddenFill>
            </a:ext>
          </a:extLst>
        </p:spPr>
      </p:cxnSp>
      <p:sp>
        <p:nvSpPr>
          <p:cNvPr id="6196" name="灯片编号占位符 1">
            <a:extLst>
              <a:ext uri="{FF2B5EF4-FFF2-40B4-BE49-F238E27FC236}">
                <a16:creationId xmlns:a16="http://schemas.microsoft.com/office/drawing/2014/main" id="{E89E5A47-BC32-4DEA-B84F-3E48C54445BF}"/>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809DECAD-34A7-430E-8BA6-434DF77AE34C}" type="slidenum">
              <a:rPr lang="en-US" altLang="zh-CN" b="0">
                <a:solidFill>
                  <a:srgbClr val="FF00FF"/>
                </a:solidFill>
              </a:rPr>
              <a:pPr eaLnBrk="1" hangingPunct="1"/>
              <a:t>4</a:t>
            </a:fld>
            <a:r>
              <a:rPr lang="en-US" altLang="zh-CN" b="0">
                <a:solidFill>
                  <a:srgbClr val="FF00FF"/>
                </a:solidFill>
              </a:rPr>
              <a:t>/40</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215076"/>
                                        </p:tgtEl>
                                        <p:attrNameLst>
                                          <p:attrName>style.visibility</p:attrName>
                                        </p:attrNameLst>
                                      </p:cBhvr>
                                      <p:to>
                                        <p:strVal val="visible"/>
                                      </p:to>
                                    </p:set>
                                    <p:animEffect transition="in" filter="blinds(horizontal)">
                                      <p:cBhvr>
                                        <p:cTn id="7" dur="500"/>
                                        <p:tgtEl>
                                          <p:spTgt spid="21507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215042"/>
                                        </p:tgtEl>
                                        <p:attrNameLst>
                                          <p:attrName>style.visibility</p:attrName>
                                        </p:attrNameLst>
                                      </p:cBhvr>
                                      <p:to>
                                        <p:strVal val="visible"/>
                                      </p:to>
                                    </p:set>
                                    <p:animEffect transition="in" filter="box(in)">
                                      <p:cBhvr>
                                        <p:cTn id="12" dur="500"/>
                                        <p:tgtEl>
                                          <p:spTgt spid="215042"/>
                                        </p:tgtEl>
                                      </p:cBhvr>
                                    </p:animEffect>
                                  </p:childTnLst>
                                </p:cTn>
                              </p:par>
                            </p:childTnLst>
                          </p:cTn>
                        </p:par>
                        <p:par>
                          <p:cTn id="13" fill="hold" nodeType="afterGroup">
                            <p:stCondLst>
                              <p:cond delay="500"/>
                            </p:stCondLst>
                            <p:childTnLst>
                              <p:par>
                                <p:cTn id="14" presetID="9" presetClass="entr" presetSubtype="0" fill="hold" grpId="0" nodeType="afterEffect">
                                  <p:stCondLst>
                                    <p:cond delay="0"/>
                                  </p:stCondLst>
                                  <p:childTnLst>
                                    <p:set>
                                      <p:cBhvr>
                                        <p:cTn id="15" dur="1" fill="hold">
                                          <p:stCondLst>
                                            <p:cond delay="0"/>
                                          </p:stCondLst>
                                        </p:cTn>
                                        <p:tgtEl>
                                          <p:spTgt spid="215061"/>
                                        </p:tgtEl>
                                        <p:attrNameLst>
                                          <p:attrName>style.visibility</p:attrName>
                                        </p:attrNameLst>
                                      </p:cBhvr>
                                      <p:to>
                                        <p:strVal val="visible"/>
                                      </p:to>
                                    </p:set>
                                    <p:animEffect transition="in" filter="dissolve">
                                      <p:cBhvr>
                                        <p:cTn id="16" dur="500"/>
                                        <p:tgtEl>
                                          <p:spTgt spid="215061"/>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215081"/>
                                        </p:tgtEl>
                                        <p:attrNameLst>
                                          <p:attrName>style.visibility</p:attrName>
                                        </p:attrNameLst>
                                      </p:cBhvr>
                                      <p:to>
                                        <p:strVal val="visible"/>
                                      </p:to>
                                    </p:set>
                                    <p:animEffect transition="in" filter="dissolve">
                                      <p:cBhvr>
                                        <p:cTn id="19" dur="500"/>
                                        <p:tgtEl>
                                          <p:spTgt spid="215081"/>
                                        </p:tgtEl>
                                      </p:cBhvr>
                                    </p:animEffect>
                                  </p:childTnLst>
                                </p:cTn>
                              </p:par>
                            </p:childTnLst>
                          </p:cTn>
                        </p:par>
                        <p:par>
                          <p:cTn id="20" fill="hold" nodeType="afterGroup">
                            <p:stCondLst>
                              <p:cond delay="1000"/>
                            </p:stCondLst>
                            <p:childTnLst>
                              <p:par>
                                <p:cTn id="21" presetID="9" presetClass="entr" presetSubtype="0" fill="hold" grpId="0" nodeType="afterEffect">
                                  <p:stCondLst>
                                    <p:cond delay="0"/>
                                  </p:stCondLst>
                                  <p:childTnLst>
                                    <p:set>
                                      <p:cBhvr>
                                        <p:cTn id="22" dur="1" fill="hold">
                                          <p:stCondLst>
                                            <p:cond delay="0"/>
                                          </p:stCondLst>
                                        </p:cTn>
                                        <p:tgtEl>
                                          <p:spTgt spid="215066"/>
                                        </p:tgtEl>
                                        <p:attrNameLst>
                                          <p:attrName>style.visibility</p:attrName>
                                        </p:attrNameLst>
                                      </p:cBhvr>
                                      <p:to>
                                        <p:strVal val="visible"/>
                                      </p:to>
                                    </p:set>
                                    <p:animEffect transition="in" filter="dissolve">
                                      <p:cBhvr>
                                        <p:cTn id="23" dur="500"/>
                                        <p:tgtEl>
                                          <p:spTgt spid="215066"/>
                                        </p:tgtEl>
                                      </p:cBhvr>
                                    </p:animEffect>
                                  </p:childTnLst>
                                </p:cTn>
                              </p:par>
                              <p:par>
                                <p:cTn id="24" presetID="9" presetClass="entr" presetSubtype="0" fill="hold" nodeType="withEffect">
                                  <p:stCondLst>
                                    <p:cond delay="0"/>
                                  </p:stCondLst>
                                  <p:childTnLst>
                                    <p:set>
                                      <p:cBhvr>
                                        <p:cTn id="25" dur="1" fill="hold">
                                          <p:stCondLst>
                                            <p:cond delay="0"/>
                                          </p:stCondLst>
                                        </p:cTn>
                                        <p:tgtEl>
                                          <p:spTgt spid="215045"/>
                                        </p:tgtEl>
                                        <p:attrNameLst>
                                          <p:attrName>style.visibility</p:attrName>
                                        </p:attrNameLst>
                                      </p:cBhvr>
                                      <p:to>
                                        <p:strVal val="visible"/>
                                      </p:to>
                                    </p:set>
                                    <p:animEffect transition="in" filter="dissolve">
                                      <p:cBhvr>
                                        <p:cTn id="26" dur="500"/>
                                        <p:tgtEl>
                                          <p:spTgt spid="215045"/>
                                        </p:tgtEl>
                                      </p:cBhvr>
                                    </p:animEffect>
                                  </p:childTnLst>
                                </p:cTn>
                              </p:par>
                              <p:par>
                                <p:cTn id="27" presetID="9" presetClass="entr" presetSubtype="0" fill="hold" nodeType="withEffect">
                                  <p:stCondLst>
                                    <p:cond delay="0"/>
                                  </p:stCondLst>
                                  <p:childTnLst>
                                    <p:set>
                                      <p:cBhvr>
                                        <p:cTn id="28" dur="1" fill="hold">
                                          <p:stCondLst>
                                            <p:cond delay="0"/>
                                          </p:stCondLst>
                                        </p:cTn>
                                        <p:tgtEl>
                                          <p:spTgt spid="215044"/>
                                        </p:tgtEl>
                                        <p:attrNameLst>
                                          <p:attrName>style.visibility</p:attrName>
                                        </p:attrNameLst>
                                      </p:cBhvr>
                                      <p:to>
                                        <p:strVal val="visible"/>
                                      </p:to>
                                    </p:set>
                                    <p:animEffect transition="in" filter="dissolve">
                                      <p:cBhvr>
                                        <p:cTn id="29" dur="500"/>
                                        <p:tgtEl>
                                          <p:spTgt spid="215044"/>
                                        </p:tgtEl>
                                      </p:cBhvr>
                                    </p:animEffect>
                                  </p:childTnLst>
                                </p:cTn>
                              </p:par>
                              <p:par>
                                <p:cTn id="30" presetID="9" presetClass="entr" presetSubtype="0" fill="hold" grpId="1" nodeType="withEffect">
                                  <p:stCondLst>
                                    <p:cond delay="0"/>
                                  </p:stCondLst>
                                  <p:childTnLst>
                                    <p:set>
                                      <p:cBhvr>
                                        <p:cTn id="31" dur="1" fill="hold">
                                          <p:stCondLst>
                                            <p:cond delay="0"/>
                                          </p:stCondLst>
                                        </p:cTn>
                                        <p:tgtEl>
                                          <p:spTgt spid="215067"/>
                                        </p:tgtEl>
                                        <p:attrNameLst>
                                          <p:attrName>style.visibility</p:attrName>
                                        </p:attrNameLst>
                                      </p:cBhvr>
                                      <p:to>
                                        <p:strVal val="visible"/>
                                      </p:to>
                                    </p:set>
                                    <p:animEffect transition="in" filter="dissolve">
                                      <p:cBhvr>
                                        <p:cTn id="32" dur="500"/>
                                        <p:tgtEl>
                                          <p:spTgt spid="21506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nodeType="click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dissolve">
                                      <p:cBhvr>
                                        <p:cTn id="37" dur="500"/>
                                        <p:tgtEl>
                                          <p:spTgt spid="2"/>
                                        </p:tgtEl>
                                      </p:cBhvr>
                                    </p:animEffect>
                                  </p:childTnLst>
                                </p:cTn>
                              </p:par>
                            </p:childTnLst>
                          </p:cTn>
                        </p:par>
                        <p:par>
                          <p:cTn id="38" fill="hold" nodeType="afterGroup">
                            <p:stCondLst>
                              <p:cond delay="500"/>
                            </p:stCondLst>
                            <p:childTnLst>
                              <p:par>
                                <p:cTn id="39" presetID="22" presetClass="entr" presetSubtype="4" fill="hold" nodeType="afterEffect">
                                  <p:stCondLst>
                                    <p:cond delay="0"/>
                                  </p:stCondLst>
                                  <p:childTnLst>
                                    <p:set>
                                      <p:cBhvr>
                                        <p:cTn id="40" dur="1" fill="hold">
                                          <p:stCondLst>
                                            <p:cond delay="0"/>
                                          </p:stCondLst>
                                        </p:cTn>
                                        <p:tgtEl>
                                          <p:spTgt spid="215046"/>
                                        </p:tgtEl>
                                        <p:attrNameLst>
                                          <p:attrName>style.visibility</p:attrName>
                                        </p:attrNameLst>
                                      </p:cBhvr>
                                      <p:to>
                                        <p:strVal val="visible"/>
                                      </p:to>
                                    </p:set>
                                    <p:animEffect transition="in" filter="wipe(down)">
                                      <p:cBhvr>
                                        <p:cTn id="41" dur="1000"/>
                                        <p:tgtEl>
                                          <p:spTgt spid="215046"/>
                                        </p:tgtEl>
                                      </p:cBhvr>
                                    </p:animEffect>
                                  </p:childTnLst>
                                </p:cTn>
                              </p:par>
                              <p:par>
                                <p:cTn id="42" presetID="22" presetClass="entr" presetSubtype="4" fill="hold" nodeType="withEffect">
                                  <p:stCondLst>
                                    <p:cond delay="0"/>
                                  </p:stCondLst>
                                  <p:childTnLst>
                                    <p:set>
                                      <p:cBhvr>
                                        <p:cTn id="43" dur="1" fill="hold">
                                          <p:stCondLst>
                                            <p:cond delay="0"/>
                                          </p:stCondLst>
                                        </p:cTn>
                                        <p:tgtEl>
                                          <p:spTgt spid="215043"/>
                                        </p:tgtEl>
                                        <p:attrNameLst>
                                          <p:attrName>style.visibility</p:attrName>
                                        </p:attrNameLst>
                                      </p:cBhvr>
                                      <p:to>
                                        <p:strVal val="visible"/>
                                      </p:to>
                                    </p:set>
                                    <p:animEffect transition="in" filter="wipe(down)">
                                      <p:cBhvr>
                                        <p:cTn id="44" dur="1000"/>
                                        <p:tgtEl>
                                          <p:spTgt spid="215043"/>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9" presetClass="entr" presetSubtype="0" fill="hold" grpId="0" nodeType="clickEffect">
                                  <p:stCondLst>
                                    <p:cond delay="0"/>
                                  </p:stCondLst>
                                  <p:childTnLst>
                                    <p:set>
                                      <p:cBhvr>
                                        <p:cTn id="48" dur="1" fill="hold">
                                          <p:stCondLst>
                                            <p:cond delay="0"/>
                                          </p:stCondLst>
                                        </p:cTn>
                                        <p:tgtEl>
                                          <p:spTgt spid="215058"/>
                                        </p:tgtEl>
                                        <p:attrNameLst>
                                          <p:attrName>style.visibility</p:attrName>
                                        </p:attrNameLst>
                                      </p:cBhvr>
                                      <p:to>
                                        <p:strVal val="visible"/>
                                      </p:to>
                                    </p:set>
                                    <p:animEffect transition="in" filter="dissolve">
                                      <p:cBhvr>
                                        <p:cTn id="49" dur="500"/>
                                        <p:tgtEl>
                                          <p:spTgt spid="215058"/>
                                        </p:tgtEl>
                                      </p:cBhvr>
                                    </p:animEffect>
                                  </p:childTnLst>
                                </p:cTn>
                              </p:par>
                              <p:par>
                                <p:cTn id="50" presetID="9" presetClass="entr" presetSubtype="0" fill="hold" grpId="0" nodeType="withEffect">
                                  <p:stCondLst>
                                    <p:cond delay="0"/>
                                  </p:stCondLst>
                                  <p:childTnLst>
                                    <p:set>
                                      <p:cBhvr>
                                        <p:cTn id="51" dur="1" fill="hold">
                                          <p:stCondLst>
                                            <p:cond delay="0"/>
                                          </p:stCondLst>
                                        </p:cTn>
                                        <p:tgtEl>
                                          <p:spTgt spid="215068"/>
                                        </p:tgtEl>
                                        <p:attrNameLst>
                                          <p:attrName>style.visibility</p:attrName>
                                        </p:attrNameLst>
                                      </p:cBhvr>
                                      <p:to>
                                        <p:strVal val="visible"/>
                                      </p:to>
                                    </p:set>
                                    <p:animEffect transition="in" filter="dissolve">
                                      <p:cBhvr>
                                        <p:cTn id="52" dur="500"/>
                                        <p:tgtEl>
                                          <p:spTgt spid="215068"/>
                                        </p:tgtEl>
                                      </p:cBhvr>
                                    </p:animEffect>
                                  </p:childTnLst>
                                </p:cTn>
                              </p:par>
                              <p:par>
                                <p:cTn id="53" presetID="9" presetClass="entr" presetSubtype="0" fill="hold" nodeType="withEffect">
                                  <p:stCondLst>
                                    <p:cond delay="0"/>
                                  </p:stCondLst>
                                  <p:childTnLst>
                                    <p:set>
                                      <p:cBhvr>
                                        <p:cTn id="54" dur="1" fill="hold">
                                          <p:stCondLst>
                                            <p:cond delay="0"/>
                                          </p:stCondLst>
                                        </p:cTn>
                                        <p:tgtEl>
                                          <p:spTgt spid="215050"/>
                                        </p:tgtEl>
                                        <p:attrNameLst>
                                          <p:attrName>style.visibility</p:attrName>
                                        </p:attrNameLst>
                                      </p:cBhvr>
                                      <p:to>
                                        <p:strVal val="visible"/>
                                      </p:to>
                                    </p:set>
                                    <p:animEffect transition="in" filter="dissolve">
                                      <p:cBhvr>
                                        <p:cTn id="55" dur="500"/>
                                        <p:tgtEl>
                                          <p:spTgt spid="215050"/>
                                        </p:tgtEl>
                                      </p:cBhvr>
                                    </p:animEffect>
                                  </p:childTnLst>
                                </p:cTn>
                              </p:par>
                            </p:childTnLst>
                          </p:cTn>
                        </p:par>
                        <p:par>
                          <p:cTn id="56" fill="hold" nodeType="afterGroup">
                            <p:stCondLst>
                              <p:cond delay="500"/>
                            </p:stCondLst>
                            <p:childTnLst>
                              <p:par>
                                <p:cTn id="57" presetID="9" presetClass="entr" presetSubtype="0" fill="hold" grpId="0" nodeType="afterEffect">
                                  <p:stCondLst>
                                    <p:cond delay="0"/>
                                  </p:stCondLst>
                                  <p:childTnLst>
                                    <p:set>
                                      <p:cBhvr>
                                        <p:cTn id="58" dur="1" fill="hold">
                                          <p:stCondLst>
                                            <p:cond delay="0"/>
                                          </p:stCondLst>
                                        </p:cTn>
                                        <p:tgtEl>
                                          <p:spTgt spid="215083"/>
                                        </p:tgtEl>
                                        <p:attrNameLst>
                                          <p:attrName>style.visibility</p:attrName>
                                        </p:attrNameLst>
                                      </p:cBhvr>
                                      <p:to>
                                        <p:strVal val="visible"/>
                                      </p:to>
                                    </p:set>
                                    <p:animEffect transition="in" filter="dissolve">
                                      <p:cBhvr>
                                        <p:cTn id="59" dur="500"/>
                                        <p:tgtEl>
                                          <p:spTgt spid="215083"/>
                                        </p:tgtEl>
                                      </p:cBhvr>
                                    </p:animEffect>
                                  </p:childTnLst>
                                </p:cTn>
                              </p:par>
                              <p:par>
                                <p:cTn id="60" presetID="9" presetClass="entr" presetSubtype="0" fill="hold" nodeType="withEffect">
                                  <p:stCondLst>
                                    <p:cond delay="0"/>
                                  </p:stCondLst>
                                  <p:childTnLst>
                                    <p:set>
                                      <p:cBhvr>
                                        <p:cTn id="61" dur="1" fill="hold">
                                          <p:stCondLst>
                                            <p:cond delay="0"/>
                                          </p:stCondLst>
                                        </p:cTn>
                                        <p:tgtEl>
                                          <p:spTgt spid="215082"/>
                                        </p:tgtEl>
                                        <p:attrNameLst>
                                          <p:attrName>style.visibility</p:attrName>
                                        </p:attrNameLst>
                                      </p:cBhvr>
                                      <p:to>
                                        <p:strVal val="visible"/>
                                      </p:to>
                                    </p:set>
                                    <p:animEffect transition="in" filter="dissolve">
                                      <p:cBhvr>
                                        <p:cTn id="62" dur="500"/>
                                        <p:tgtEl>
                                          <p:spTgt spid="215082"/>
                                        </p:tgtEl>
                                      </p:cBhvr>
                                    </p:animEffect>
                                  </p:childTnLst>
                                </p:cTn>
                              </p:par>
                            </p:childTnLst>
                          </p:cTn>
                        </p:par>
                        <p:par>
                          <p:cTn id="63" fill="hold" nodeType="afterGroup">
                            <p:stCondLst>
                              <p:cond delay="1000"/>
                            </p:stCondLst>
                            <p:childTnLst>
                              <p:par>
                                <p:cTn id="64" presetID="22" presetClass="entr" presetSubtype="4" fill="hold" nodeType="afterEffect">
                                  <p:stCondLst>
                                    <p:cond delay="0"/>
                                  </p:stCondLst>
                                  <p:childTnLst>
                                    <p:set>
                                      <p:cBhvr>
                                        <p:cTn id="65" dur="1" fill="hold">
                                          <p:stCondLst>
                                            <p:cond delay="0"/>
                                          </p:stCondLst>
                                        </p:cTn>
                                        <p:tgtEl>
                                          <p:spTgt spid="215051"/>
                                        </p:tgtEl>
                                        <p:attrNameLst>
                                          <p:attrName>style.visibility</p:attrName>
                                        </p:attrNameLst>
                                      </p:cBhvr>
                                      <p:to>
                                        <p:strVal val="visible"/>
                                      </p:to>
                                    </p:set>
                                    <p:animEffect transition="in" filter="wipe(down)">
                                      <p:cBhvr>
                                        <p:cTn id="66" dur="1000"/>
                                        <p:tgtEl>
                                          <p:spTgt spid="215051"/>
                                        </p:tgtEl>
                                      </p:cBhvr>
                                    </p:animEffect>
                                  </p:childTnLst>
                                </p:cTn>
                              </p:par>
                              <p:par>
                                <p:cTn id="67" presetID="22" presetClass="entr" presetSubtype="4" fill="hold" nodeType="withEffect">
                                  <p:stCondLst>
                                    <p:cond delay="0"/>
                                  </p:stCondLst>
                                  <p:childTnLst>
                                    <p:set>
                                      <p:cBhvr>
                                        <p:cTn id="68" dur="1" fill="hold">
                                          <p:stCondLst>
                                            <p:cond delay="0"/>
                                          </p:stCondLst>
                                        </p:cTn>
                                        <p:tgtEl>
                                          <p:spTgt spid="215052"/>
                                        </p:tgtEl>
                                        <p:attrNameLst>
                                          <p:attrName>style.visibility</p:attrName>
                                        </p:attrNameLst>
                                      </p:cBhvr>
                                      <p:to>
                                        <p:strVal val="visible"/>
                                      </p:to>
                                    </p:set>
                                    <p:animEffect transition="in" filter="wipe(down)">
                                      <p:cBhvr>
                                        <p:cTn id="69" dur="1000"/>
                                        <p:tgtEl>
                                          <p:spTgt spid="215052"/>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9" presetClass="entr" presetSubtype="0" fill="hold" nodeType="clickEffect">
                                  <p:stCondLst>
                                    <p:cond delay="0"/>
                                  </p:stCondLst>
                                  <p:childTnLst>
                                    <p:set>
                                      <p:cBhvr>
                                        <p:cTn id="73" dur="1" fill="hold">
                                          <p:stCondLst>
                                            <p:cond delay="0"/>
                                          </p:stCondLst>
                                        </p:cTn>
                                        <p:tgtEl>
                                          <p:spTgt spid="215049"/>
                                        </p:tgtEl>
                                        <p:attrNameLst>
                                          <p:attrName>style.visibility</p:attrName>
                                        </p:attrNameLst>
                                      </p:cBhvr>
                                      <p:to>
                                        <p:strVal val="visible"/>
                                      </p:to>
                                    </p:set>
                                    <p:animEffect transition="in" filter="dissolve">
                                      <p:cBhvr>
                                        <p:cTn id="74" dur="500"/>
                                        <p:tgtEl>
                                          <p:spTgt spid="215049"/>
                                        </p:tgtEl>
                                      </p:cBhvr>
                                    </p:animEffect>
                                  </p:childTnLst>
                                </p:cTn>
                              </p:par>
                            </p:childTnLst>
                          </p:cTn>
                        </p:par>
                        <p:par>
                          <p:cTn id="75" fill="hold" nodeType="afterGroup">
                            <p:stCondLst>
                              <p:cond delay="500"/>
                            </p:stCondLst>
                            <p:childTnLst>
                              <p:par>
                                <p:cTn id="76" presetID="9" presetClass="entr" presetSubtype="0" fill="hold" nodeType="afterEffect">
                                  <p:stCondLst>
                                    <p:cond delay="0"/>
                                  </p:stCondLst>
                                  <p:childTnLst>
                                    <p:set>
                                      <p:cBhvr>
                                        <p:cTn id="77" dur="1" fill="hold">
                                          <p:stCondLst>
                                            <p:cond delay="0"/>
                                          </p:stCondLst>
                                        </p:cTn>
                                        <p:tgtEl>
                                          <p:spTgt spid="215047"/>
                                        </p:tgtEl>
                                        <p:attrNameLst>
                                          <p:attrName>style.visibility</p:attrName>
                                        </p:attrNameLst>
                                      </p:cBhvr>
                                      <p:to>
                                        <p:strVal val="visible"/>
                                      </p:to>
                                    </p:set>
                                    <p:animEffect transition="in" filter="dissolve">
                                      <p:cBhvr>
                                        <p:cTn id="78" dur="500"/>
                                        <p:tgtEl>
                                          <p:spTgt spid="215047"/>
                                        </p:tgtEl>
                                      </p:cBhvr>
                                    </p:animEffect>
                                  </p:childTnLst>
                                </p:cTn>
                              </p:par>
                              <p:par>
                                <p:cTn id="79" presetID="9" presetClass="entr" presetSubtype="0" fill="hold" nodeType="withEffect">
                                  <p:stCondLst>
                                    <p:cond delay="0"/>
                                  </p:stCondLst>
                                  <p:childTnLst>
                                    <p:set>
                                      <p:cBhvr>
                                        <p:cTn id="80" dur="1" fill="hold">
                                          <p:stCondLst>
                                            <p:cond delay="0"/>
                                          </p:stCondLst>
                                        </p:cTn>
                                        <p:tgtEl>
                                          <p:spTgt spid="215048"/>
                                        </p:tgtEl>
                                        <p:attrNameLst>
                                          <p:attrName>style.visibility</p:attrName>
                                        </p:attrNameLst>
                                      </p:cBhvr>
                                      <p:to>
                                        <p:strVal val="visible"/>
                                      </p:to>
                                    </p:set>
                                    <p:animEffect transition="in" filter="dissolve">
                                      <p:cBhvr>
                                        <p:cTn id="81" dur="500"/>
                                        <p:tgtEl>
                                          <p:spTgt spid="215048"/>
                                        </p:tgtEl>
                                      </p:cBhvr>
                                    </p:animEffect>
                                  </p:childTnLst>
                                </p:cTn>
                              </p:par>
                            </p:childTnLst>
                          </p:cTn>
                        </p:par>
                        <p:par>
                          <p:cTn id="82" fill="hold" nodeType="afterGroup">
                            <p:stCondLst>
                              <p:cond delay="1000"/>
                            </p:stCondLst>
                            <p:childTnLst>
                              <p:par>
                                <p:cTn id="83" presetID="9" presetClass="exit" presetSubtype="0" fill="hold" nodeType="afterEffect">
                                  <p:stCondLst>
                                    <p:cond delay="0"/>
                                  </p:stCondLst>
                                  <p:childTnLst>
                                    <p:animEffect transition="out" filter="dissolve">
                                      <p:cBhvr>
                                        <p:cTn id="84" dur="500"/>
                                        <p:tgtEl>
                                          <p:spTgt spid="215046"/>
                                        </p:tgtEl>
                                      </p:cBhvr>
                                    </p:animEffect>
                                    <p:set>
                                      <p:cBhvr>
                                        <p:cTn id="85" dur="1" fill="hold">
                                          <p:stCondLst>
                                            <p:cond delay="499"/>
                                          </p:stCondLst>
                                        </p:cTn>
                                        <p:tgtEl>
                                          <p:spTgt spid="215046"/>
                                        </p:tgtEl>
                                        <p:attrNameLst>
                                          <p:attrName>style.visibility</p:attrName>
                                        </p:attrNameLst>
                                      </p:cBhvr>
                                      <p:to>
                                        <p:strVal val="hidden"/>
                                      </p:to>
                                    </p:set>
                                  </p:childTnLst>
                                </p:cTn>
                              </p:par>
                              <p:par>
                                <p:cTn id="86" presetID="9" presetClass="exit" presetSubtype="0" fill="hold" nodeType="withEffect">
                                  <p:stCondLst>
                                    <p:cond delay="0"/>
                                  </p:stCondLst>
                                  <p:childTnLst>
                                    <p:animEffect transition="out" filter="dissolve">
                                      <p:cBhvr>
                                        <p:cTn id="87" dur="500"/>
                                        <p:tgtEl>
                                          <p:spTgt spid="215051"/>
                                        </p:tgtEl>
                                      </p:cBhvr>
                                    </p:animEffect>
                                    <p:set>
                                      <p:cBhvr>
                                        <p:cTn id="88" dur="1" fill="hold">
                                          <p:stCondLst>
                                            <p:cond delay="499"/>
                                          </p:stCondLst>
                                        </p:cTn>
                                        <p:tgtEl>
                                          <p:spTgt spid="215051"/>
                                        </p:tgtEl>
                                        <p:attrNameLst>
                                          <p:attrName>style.visibility</p:attrName>
                                        </p:attrNameLst>
                                      </p:cBhvr>
                                      <p:to>
                                        <p:strVal val="hidden"/>
                                      </p:to>
                                    </p:set>
                                  </p:childTnLst>
                                </p:cTn>
                              </p:par>
                              <p:par>
                                <p:cTn id="89" presetID="9" presetClass="exit" presetSubtype="0" fill="hold" nodeType="withEffect">
                                  <p:stCondLst>
                                    <p:cond delay="0"/>
                                  </p:stCondLst>
                                  <p:childTnLst>
                                    <p:animEffect transition="out" filter="dissolve">
                                      <p:cBhvr>
                                        <p:cTn id="90" dur="500"/>
                                        <p:tgtEl>
                                          <p:spTgt spid="215043"/>
                                        </p:tgtEl>
                                      </p:cBhvr>
                                    </p:animEffect>
                                    <p:set>
                                      <p:cBhvr>
                                        <p:cTn id="91" dur="1" fill="hold">
                                          <p:stCondLst>
                                            <p:cond delay="499"/>
                                          </p:stCondLst>
                                        </p:cTn>
                                        <p:tgtEl>
                                          <p:spTgt spid="215043"/>
                                        </p:tgtEl>
                                        <p:attrNameLst>
                                          <p:attrName>style.visibility</p:attrName>
                                        </p:attrNameLst>
                                      </p:cBhvr>
                                      <p:to>
                                        <p:strVal val="hidden"/>
                                      </p:to>
                                    </p:set>
                                  </p:childTnLst>
                                </p:cTn>
                              </p:par>
                              <p:par>
                                <p:cTn id="92" presetID="9" presetClass="exit" presetSubtype="0" fill="hold" nodeType="withEffect">
                                  <p:stCondLst>
                                    <p:cond delay="0"/>
                                  </p:stCondLst>
                                  <p:childTnLst>
                                    <p:animEffect transition="out" filter="dissolve">
                                      <p:cBhvr>
                                        <p:cTn id="93" dur="500"/>
                                        <p:tgtEl>
                                          <p:spTgt spid="215052"/>
                                        </p:tgtEl>
                                      </p:cBhvr>
                                    </p:animEffect>
                                    <p:set>
                                      <p:cBhvr>
                                        <p:cTn id="94" dur="1" fill="hold">
                                          <p:stCondLst>
                                            <p:cond delay="499"/>
                                          </p:stCondLst>
                                        </p:cTn>
                                        <p:tgtEl>
                                          <p:spTgt spid="215052"/>
                                        </p:tgtEl>
                                        <p:attrNameLst>
                                          <p:attrName>style.visibility</p:attrName>
                                        </p:attrNameLst>
                                      </p:cBhvr>
                                      <p:to>
                                        <p:strVal val="hidden"/>
                                      </p:to>
                                    </p:set>
                                  </p:childTnLst>
                                </p:cTn>
                              </p:par>
                            </p:childTnLst>
                          </p:cTn>
                        </p:par>
                      </p:childTnLst>
                    </p:cTn>
                  </p:par>
                  <p:par>
                    <p:cTn id="95" fill="hold" nodeType="clickPar">
                      <p:stCondLst>
                        <p:cond delay="indefinite"/>
                      </p:stCondLst>
                      <p:childTnLst>
                        <p:par>
                          <p:cTn id="96" fill="hold" nodeType="withGroup">
                            <p:stCondLst>
                              <p:cond delay="0"/>
                            </p:stCondLst>
                            <p:childTnLst>
                              <p:par>
                                <p:cTn id="97" presetID="23" presetClass="entr" presetSubtype="32" fill="hold" grpId="0" nodeType="clickEffect">
                                  <p:stCondLst>
                                    <p:cond delay="0"/>
                                  </p:stCondLst>
                                  <p:childTnLst>
                                    <p:set>
                                      <p:cBhvr>
                                        <p:cTn id="98" dur="1" fill="hold">
                                          <p:stCondLst>
                                            <p:cond delay="0"/>
                                          </p:stCondLst>
                                        </p:cTn>
                                        <p:tgtEl>
                                          <p:spTgt spid="215062"/>
                                        </p:tgtEl>
                                        <p:attrNameLst>
                                          <p:attrName>style.visibility</p:attrName>
                                        </p:attrNameLst>
                                      </p:cBhvr>
                                      <p:to>
                                        <p:strVal val="visible"/>
                                      </p:to>
                                    </p:set>
                                    <p:anim calcmode="lin" valueType="num">
                                      <p:cBhvr>
                                        <p:cTn id="99" dur="500" fill="hold"/>
                                        <p:tgtEl>
                                          <p:spTgt spid="215062"/>
                                        </p:tgtEl>
                                        <p:attrNameLst>
                                          <p:attrName>ppt_w</p:attrName>
                                        </p:attrNameLst>
                                      </p:cBhvr>
                                      <p:tavLst>
                                        <p:tav tm="0">
                                          <p:val>
                                            <p:strVal val="4*#ppt_w"/>
                                          </p:val>
                                        </p:tav>
                                        <p:tav tm="100000">
                                          <p:val>
                                            <p:strVal val="#ppt_w"/>
                                          </p:val>
                                        </p:tav>
                                      </p:tavLst>
                                    </p:anim>
                                    <p:anim calcmode="lin" valueType="num">
                                      <p:cBhvr>
                                        <p:cTn id="100" dur="500" fill="hold"/>
                                        <p:tgtEl>
                                          <p:spTgt spid="215062"/>
                                        </p:tgtEl>
                                        <p:attrNameLst>
                                          <p:attrName>ppt_h</p:attrName>
                                        </p:attrNameLst>
                                      </p:cBhvr>
                                      <p:tavLst>
                                        <p:tav tm="0">
                                          <p:val>
                                            <p:strVal val="4*#ppt_h"/>
                                          </p:val>
                                        </p:tav>
                                        <p:tav tm="100000">
                                          <p:val>
                                            <p:strVal val="#ppt_h"/>
                                          </p:val>
                                        </p:tav>
                                      </p:tavLst>
                                    </p:anim>
                                  </p:childTnLst>
                                </p:cTn>
                              </p:par>
                              <p:par>
                                <p:cTn id="101" presetID="23" presetClass="entr" presetSubtype="32" fill="hold" grpId="0" nodeType="withEffect">
                                  <p:stCondLst>
                                    <p:cond delay="0"/>
                                  </p:stCondLst>
                                  <p:childTnLst>
                                    <p:set>
                                      <p:cBhvr>
                                        <p:cTn id="102" dur="1" fill="hold">
                                          <p:stCondLst>
                                            <p:cond delay="0"/>
                                          </p:stCondLst>
                                        </p:cTn>
                                        <p:tgtEl>
                                          <p:spTgt spid="215065"/>
                                        </p:tgtEl>
                                        <p:attrNameLst>
                                          <p:attrName>style.visibility</p:attrName>
                                        </p:attrNameLst>
                                      </p:cBhvr>
                                      <p:to>
                                        <p:strVal val="visible"/>
                                      </p:to>
                                    </p:set>
                                    <p:anim calcmode="lin" valueType="num">
                                      <p:cBhvr>
                                        <p:cTn id="103" dur="500" fill="hold"/>
                                        <p:tgtEl>
                                          <p:spTgt spid="215065"/>
                                        </p:tgtEl>
                                        <p:attrNameLst>
                                          <p:attrName>ppt_w</p:attrName>
                                        </p:attrNameLst>
                                      </p:cBhvr>
                                      <p:tavLst>
                                        <p:tav tm="0">
                                          <p:val>
                                            <p:strVal val="4*#ppt_w"/>
                                          </p:val>
                                        </p:tav>
                                        <p:tav tm="100000">
                                          <p:val>
                                            <p:strVal val="#ppt_w"/>
                                          </p:val>
                                        </p:tav>
                                      </p:tavLst>
                                    </p:anim>
                                    <p:anim calcmode="lin" valueType="num">
                                      <p:cBhvr>
                                        <p:cTn id="104" dur="500" fill="hold"/>
                                        <p:tgtEl>
                                          <p:spTgt spid="215065"/>
                                        </p:tgtEl>
                                        <p:attrNameLst>
                                          <p:attrName>ppt_h</p:attrName>
                                        </p:attrNameLst>
                                      </p:cBhvr>
                                      <p:tavLst>
                                        <p:tav tm="0">
                                          <p:val>
                                            <p:strVal val="4*#ppt_h"/>
                                          </p:val>
                                        </p:tav>
                                        <p:tav tm="100000">
                                          <p:val>
                                            <p:strVal val="#ppt_h"/>
                                          </p:val>
                                        </p:tav>
                                      </p:tavLst>
                                    </p:anim>
                                  </p:childTnLst>
                                </p:cTn>
                              </p:par>
                              <p:par>
                                <p:cTn id="105" presetID="23" presetClass="entr" presetSubtype="32" fill="hold" grpId="0" nodeType="withEffect">
                                  <p:stCondLst>
                                    <p:cond delay="0"/>
                                  </p:stCondLst>
                                  <p:childTnLst>
                                    <p:set>
                                      <p:cBhvr>
                                        <p:cTn id="106" dur="1" fill="hold">
                                          <p:stCondLst>
                                            <p:cond delay="0"/>
                                          </p:stCondLst>
                                        </p:cTn>
                                        <p:tgtEl>
                                          <p:spTgt spid="215059"/>
                                        </p:tgtEl>
                                        <p:attrNameLst>
                                          <p:attrName>style.visibility</p:attrName>
                                        </p:attrNameLst>
                                      </p:cBhvr>
                                      <p:to>
                                        <p:strVal val="visible"/>
                                      </p:to>
                                    </p:set>
                                    <p:anim calcmode="lin" valueType="num">
                                      <p:cBhvr>
                                        <p:cTn id="107" dur="500" fill="hold"/>
                                        <p:tgtEl>
                                          <p:spTgt spid="215059"/>
                                        </p:tgtEl>
                                        <p:attrNameLst>
                                          <p:attrName>ppt_w</p:attrName>
                                        </p:attrNameLst>
                                      </p:cBhvr>
                                      <p:tavLst>
                                        <p:tav tm="0">
                                          <p:val>
                                            <p:strVal val="4*#ppt_w"/>
                                          </p:val>
                                        </p:tav>
                                        <p:tav tm="100000">
                                          <p:val>
                                            <p:strVal val="#ppt_w"/>
                                          </p:val>
                                        </p:tav>
                                      </p:tavLst>
                                    </p:anim>
                                    <p:anim calcmode="lin" valueType="num">
                                      <p:cBhvr>
                                        <p:cTn id="108" dur="500" fill="hold"/>
                                        <p:tgtEl>
                                          <p:spTgt spid="215059"/>
                                        </p:tgtEl>
                                        <p:attrNameLst>
                                          <p:attrName>ppt_h</p:attrName>
                                        </p:attrNameLst>
                                      </p:cBhvr>
                                      <p:tavLst>
                                        <p:tav tm="0">
                                          <p:val>
                                            <p:strVal val="4*#ppt_h"/>
                                          </p:val>
                                        </p:tav>
                                        <p:tav tm="100000">
                                          <p:val>
                                            <p:strVal val="#ppt_h"/>
                                          </p:val>
                                        </p:tav>
                                      </p:tavLst>
                                    </p:anim>
                                  </p:childTnLst>
                                </p:cTn>
                              </p:par>
                              <p:par>
                                <p:cTn id="109" presetID="23" presetClass="entr" presetSubtype="32" fill="hold" grpId="0" nodeType="withEffect">
                                  <p:stCondLst>
                                    <p:cond delay="0"/>
                                  </p:stCondLst>
                                  <p:childTnLst>
                                    <p:set>
                                      <p:cBhvr>
                                        <p:cTn id="110" dur="1" fill="hold">
                                          <p:stCondLst>
                                            <p:cond delay="0"/>
                                          </p:stCondLst>
                                        </p:cTn>
                                        <p:tgtEl>
                                          <p:spTgt spid="215060"/>
                                        </p:tgtEl>
                                        <p:attrNameLst>
                                          <p:attrName>style.visibility</p:attrName>
                                        </p:attrNameLst>
                                      </p:cBhvr>
                                      <p:to>
                                        <p:strVal val="visible"/>
                                      </p:to>
                                    </p:set>
                                    <p:anim calcmode="lin" valueType="num">
                                      <p:cBhvr>
                                        <p:cTn id="111" dur="500" fill="hold"/>
                                        <p:tgtEl>
                                          <p:spTgt spid="215060"/>
                                        </p:tgtEl>
                                        <p:attrNameLst>
                                          <p:attrName>ppt_w</p:attrName>
                                        </p:attrNameLst>
                                      </p:cBhvr>
                                      <p:tavLst>
                                        <p:tav tm="0">
                                          <p:val>
                                            <p:strVal val="4*#ppt_w"/>
                                          </p:val>
                                        </p:tav>
                                        <p:tav tm="100000">
                                          <p:val>
                                            <p:strVal val="#ppt_w"/>
                                          </p:val>
                                        </p:tav>
                                      </p:tavLst>
                                    </p:anim>
                                    <p:anim calcmode="lin" valueType="num">
                                      <p:cBhvr>
                                        <p:cTn id="112" dur="500" fill="hold"/>
                                        <p:tgtEl>
                                          <p:spTgt spid="215060"/>
                                        </p:tgtEl>
                                        <p:attrNameLst>
                                          <p:attrName>ppt_h</p:attrName>
                                        </p:attrNameLst>
                                      </p:cBhvr>
                                      <p:tavLst>
                                        <p:tav tm="0">
                                          <p:val>
                                            <p:strVal val="4*#ppt_h"/>
                                          </p:val>
                                        </p:tav>
                                        <p:tav tm="100000">
                                          <p:val>
                                            <p:strVal val="#ppt_h"/>
                                          </p:val>
                                        </p:tav>
                                      </p:tavLst>
                                    </p:anim>
                                  </p:childTnLst>
                                </p:cTn>
                              </p:par>
                              <p:par>
                                <p:cTn id="113" presetID="9" presetClass="entr" presetSubtype="0" fill="hold" nodeType="withEffect">
                                  <p:stCondLst>
                                    <p:cond delay="0"/>
                                  </p:stCondLst>
                                  <p:childTnLst>
                                    <p:set>
                                      <p:cBhvr>
                                        <p:cTn id="114" dur="1" fill="hold">
                                          <p:stCondLst>
                                            <p:cond delay="0"/>
                                          </p:stCondLst>
                                        </p:cTn>
                                        <p:tgtEl>
                                          <p:spTgt spid="215074"/>
                                        </p:tgtEl>
                                        <p:attrNameLst>
                                          <p:attrName>style.visibility</p:attrName>
                                        </p:attrNameLst>
                                      </p:cBhvr>
                                      <p:to>
                                        <p:strVal val="visible"/>
                                      </p:to>
                                    </p:set>
                                    <p:animEffect transition="in" filter="dissolve">
                                      <p:cBhvr>
                                        <p:cTn id="115" dur="500"/>
                                        <p:tgtEl>
                                          <p:spTgt spid="215074"/>
                                        </p:tgtEl>
                                      </p:cBhvr>
                                    </p:animEffect>
                                  </p:childTnLst>
                                </p:cTn>
                              </p:par>
                              <p:par>
                                <p:cTn id="116" presetID="9" presetClass="entr" presetSubtype="0" fill="hold" grpId="0" nodeType="withEffect">
                                  <p:stCondLst>
                                    <p:cond delay="0"/>
                                  </p:stCondLst>
                                  <p:childTnLst>
                                    <p:set>
                                      <p:cBhvr>
                                        <p:cTn id="117" dur="1" fill="hold">
                                          <p:stCondLst>
                                            <p:cond delay="0"/>
                                          </p:stCondLst>
                                        </p:cTn>
                                        <p:tgtEl>
                                          <p:spTgt spid="215071"/>
                                        </p:tgtEl>
                                        <p:attrNameLst>
                                          <p:attrName>style.visibility</p:attrName>
                                        </p:attrNameLst>
                                      </p:cBhvr>
                                      <p:to>
                                        <p:strVal val="visible"/>
                                      </p:to>
                                    </p:set>
                                    <p:animEffect transition="in" filter="dissolve">
                                      <p:cBhvr>
                                        <p:cTn id="118" dur="500"/>
                                        <p:tgtEl>
                                          <p:spTgt spid="215071"/>
                                        </p:tgtEl>
                                      </p:cBhvr>
                                    </p:animEffect>
                                  </p:childTnLst>
                                </p:cTn>
                              </p:par>
                              <p:par>
                                <p:cTn id="119" presetID="9" presetClass="entr" presetSubtype="0" fill="hold" grpId="0" nodeType="withEffect">
                                  <p:stCondLst>
                                    <p:cond delay="0"/>
                                  </p:stCondLst>
                                  <p:childTnLst>
                                    <p:set>
                                      <p:cBhvr>
                                        <p:cTn id="120" dur="1" fill="hold">
                                          <p:stCondLst>
                                            <p:cond delay="0"/>
                                          </p:stCondLst>
                                        </p:cTn>
                                        <p:tgtEl>
                                          <p:spTgt spid="215070"/>
                                        </p:tgtEl>
                                        <p:attrNameLst>
                                          <p:attrName>style.visibility</p:attrName>
                                        </p:attrNameLst>
                                      </p:cBhvr>
                                      <p:to>
                                        <p:strVal val="visible"/>
                                      </p:to>
                                    </p:set>
                                    <p:animEffect transition="in" filter="dissolve">
                                      <p:cBhvr>
                                        <p:cTn id="121" dur="500"/>
                                        <p:tgtEl>
                                          <p:spTgt spid="215070"/>
                                        </p:tgtEl>
                                      </p:cBhvr>
                                    </p:animEffect>
                                  </p:childTnLst>
                                </p:cTn>
                              </p:par>
                              <p:par>
                                <p:cTn id="122" presetID="9" presetClass="entr" presetSubtype="0" fill="hold" grpId="0" nodeType="withEffect">
                                  <p:stCondLst>
                                    <p:cond delay="0"/>
                                  </p:stCondLst>
                                  <p:childTnLst>
                                    <p:set>
                                      <p:cBhvr>
                                        <p:cTn id="123" dur="1" fill="hold">
                                          <p:stCondLst>
                                            <p:cond delay="0"/>
                                          </p:stCondLst>
                                        </p:cTn>
                                        <p:tgtEl>
                                          <p:spTgt spid="215069"/>
                                        </p:tgtEl>
                                        <p:attrNameLst>
                                          <p:attrName>style.visibility</p:attrName>
                                        </p:attrNameLst>
                                      </p:cBhvr>
                                      <p:to>
                                        <p:strVal val="visible"/>
                                      </p:to>
                                    </p:set>
                                    <p:animEffect transition="in" filter="dissolve">
                                      <p:cBhvr>
                                        <p:cTn id="124" dur="500"/>
                                        <p:tgtEl>
                                          <p:spTgt spid="215069"/>
                                        </p:tgtEl>
                                      </p:cBhvr>
                                    </p:animEffect>
                                  </p:childTnLst>
                                </p:cTn>
                              </p:par>
                              <p:par>
                                <p:cTn id="125" presetID="9" presetClass="entr" presetSubtype="0" fill="hold" grpId="0" nodeType="withEffect">
                                  <p:stCondLst>
                                    <p:cond delay="0"/>
                                  </p:stCondLst>
                                  <p:childTnLst>
                                    <p:set>
                                      <p:cBhvr>
                                        <p:cTn id="126" dur="1" fill="hold">
                                          <p:stCondLst>
                                            <p:cond delay="0"/>
                                          </p:stCondLst>
                                        </p:cTn>
                                        <p:tgtEl>
                                          <p:spTgt spid="215072"/>
                                        </p:tgtEl>
                                        <p:attrNameLst>
                                          <p:attrName>style.visibility</p:attrName>
                                        </p:attrNameLst>
                                      </p:cBhvr>
                                      <p:to>
                                        <p:strVal val="visible"/>
                                      </p:to>
                                    </p:set>
                                    <p:animEffect transition="in" filter="dissolve">
                                      <p:cBhvr>
                                        <p:cTn id="127" dur="500"/>
                                        <p:tgtEl>
                                          <p:spTgt spid="215072"/>
                                        </p:tgtEl>
                                      </p:cBhvr>
                                    </p:animEffect>
                                  </p:childTnLst>
                                </p:cTn>
                              </p:par>
                              <p:par>
                                <p:cTn id="128" presetID="1" presetClass="entr" presetSubtype="0" fill="hold" grpId="0" nodeType="withEffect">
                                  <p:stCondLst>
                                    <p:cond delay="0"/>
                                  </p:stCondLst>
                                  <p:childTnLst>
                                    <p:set>
                                      <p:cBhvr>
                                        <p:cTn id="129" dur="1" fill="hold">
                                          <p:stCondLst>
                                            <p:cond delay="0"/>
                                          </p:stCondLst>
                                        </p:cTn>
                                        <p:tgtEl>
                                          <p:spTgt spid="215075"/>
                                        </p:tgtEl>
                                        <p:attrNameLst>
                                          <p:attrName>style.visibility</p:attrName>
                                        </p:attrNameLst>
                                      </p:cBhvr>
                                      <p:to>
                                        <p:strVal val="visible"/>
                                      </p:to>
                                    </p:set>
                                  </p:childTnLst>
                                </p:cTn>
                              </p:par>
                              <p:par>
                                <p:cTn id="130" presetID="1" presetClass="entr" presetSubtype="0" fill="hold" nodeType="withEffect">
                                  <p:stCondLst>
                                    <p:cond delay="0"/>
                                  </p:stCondLst>
                                  <p:childTnLst>
                                    <p:set>
                                      <p:cBhvr>
                                        <p:cTn id="131" dur="1" fill="hold">
                                          <p:stCondLst>
                                            <p:cond delay="0"/>
                                          </p:stCondLst>
                                        </p:cTn>
                                        <p:tgtEl>
                                          <p:spTgt spid="215074"/>
                                        </p:tgtEl>
                                        <p:attrNameLst>
                                          <p:attrName>style.visibility</p:attrName>
                                        </p:attrNameLst>
                                      </p:cBhvr>
                                      <p:to>
                                        <p:strVal val="visible"/>
                                      </p:to>
                                    </p:set>
                                  </p:childTnLst>
                                </p:cTn>
                              </p:par>
                              <p:par>
                                <p:cTn id="132" presetID="1" presetClass="exit" presetSubtype="0" fill="hold" nodeType="withEffect">
                                  <p:stCondLst>
                                    <p:cond delay="0"/>
                                  </p:stCondLst>
                                  <p:childTnLst>
                                    <p:set>
                                      <p:cBhvr>
                                        <p:cTn id="133" dur="1" fill="hold">
                                          <p:stCondLst>
                                            <p:cond delay="0"/>
                                          </p:stCondLst>
                                        </p:cTn>
                                        <p:tgtEl>
                                          <p:spTgt spid="215044"/>
                                        </p:tgtEl>
                                        <p:attrNameLst>
                                          <p:attrName>style.visibility</p:attrName>
                                        </p:attrNameLst>
                                      </p:cBhvr>
                                      <p:to>
                                        <p:strVal val="hidden"/>
                                      </p:to>
                                    </p:set>
                                  </p:childTnLst>
                                </p:cTn>
                              </p:par>
                              <p:par>
                                <p:cTn id="134" presetID="1" presetClass="exit" presetSubtype="0" fill="hold" grpId="0" nodeType="withEffect">
                                  <p:stCondLst>
                                    <p:cond delay="0"/>
                                  </p:stCondLst>
                                  <p:childTnLst>
                                    <p:set>
                                      <p:cBhvr>
                                        <p:cTn id="135" dur="1" fill="hold">
                                          <p:stCondLst>
                                            <p:cond delay="0"/>
                                          </p:stCondLst>
                                        </p:cTn>
                                        <p:tgtEl>
                                          <p:spTgt spid="215067"/>
                                        </p:tgtEl>
                                        <p:attrNameLst>
                                          <p:attrName>style.visibility</p:attrName>
                                        </p:attrNameLst>
                                      </p:cBhvr>
                                      <p:to>
                                        <p:strVal val="hidden"/>
                                      </p:to>
                                    </p:set>
                                  </p:childTnLst>
                                </p:cTn>
                              </p:par>
                            </p:childTnLst>
                          </p:cTn>
                        </p:par>
                      </p:childTnLst>
                    </p:cTn>
                  </p:par>
                  <p:par>
                    <p:cTn id="136" fill="hold" nodeType="clickPar">
                      <p:stCondLst>
                        <p:cond delay="indefinite"/>
                      </p:stCondLst>
                      <p:childTnLst>
                        <p:par>
                          <p:cTn id="137" fill="hold" nodeType="withGroup">
                            <p:stCondLst>
                              <p:cond delay="0"/>
                            </p:stCondLst>
                            <p:childTnLst>
                              <p:par>
                                <p:cTn id="138" presetID="9" presetClass="entr" presetSubtype="0" fill="hold" nodeType="clickEffect">
                                  <p:stCondLst>
                                    <p:cond delay="0"/>
                                  </p:stCondLst>
                                  <p:childTnLst>
                                    <p:set>
                                      <p:cBhvr>
                                        <p:cTn id="139" dur="1" fill="hold">
                                          <p:stCondLst>
                                            <p:cond delay="0"/>
                                          </p:stCondLst>
                                        </p:cTn>
                                        <p:tgtEl>
                                          <p:spTgt spid="215054"/>
                                        </p:tgtEl>
                                        <p:attrNameLst>
                                          <p:attrName>style.visibility</p:attrName>
                                        </p:attrNameLst>
                                      </p:cBhvr>
                                      <p:to>
                                        <p:strVal val="visible"/>
                                      </p:to>
                                    </p:set>
                                    <p:animEffect transition="in" filter="dissolve">
                                      <p:cBhvr>
                                        <p:cTn id="140" dur="500"/>
                                        <p:tgtEl>
                                          <p:spTgt spid="215054"/>
                                        </p:tgtEl>
                                      </p:cBhvr>
                                    </p:animEffect>
                                  </p:childTnLst>
                                </p:cTn>
                              </p:par>
                              <p:par>
                                <p:cTn id="141" presetID="9" presetClass="entr" presetSubtype="0" fill="hold" nodeType="withEffect">
                                  <p:stCondLst>
                                    <p:cond delay="0"/>
                                  </p:stCondLst>
                                  <p:childTnLst>
                                    <p:set>
                                      <p:cBhvr>
                                        <p:cTn id="142" dur="1" fill="hold">
                                          <p:stCondLst>
                                            <p:cond delay="0"/>
                                          </p:stCondLst>
                                        </p:cTn>
                                        <p:tgtEl>
                                          <p:spTgt spid="215053"/>
                                        </p:tgtEl>
                                        <p:attrNameLst>
                                          <p:attrName>style.visibility</p:attrName>
                                        </p:attrNameLst>
                                      </p:cBhvr>
                                      <p:to>
                                        <p:strVal val="visible"/>
                                      </p:to>
                                    </p:set>
                                    <p:animEffect transition="in" filter="dissolve">
                                      <p:cBhvr>
                                        <p:cTn id="143" dur="500"/>
                                        <p:tgtEl>
                                          <p:spTgt spid="215053"/>
                                        </p:tgtEl>
                                      </p:cBhvr>
                                    </p:animEffect>
                                  </p:childTnLst>
                                </p:cTn>
                              </p:par>
                              <p:par>
                                <p:cTn id="144" presetID="9" presetClass="entr" presetSubtype="0" fill="hold" nodeType="withEffect">
                                  <p:stCondLst>
                                    <p:cond delay="0"/>
                                  </p:stCondLst>
                                  <p:childTnLst>
                                    <p:set>
                                      <p:cBhvr>
                                        <p:cTn id="145" dur="1" fill="hold">
                                          <p:stCondLst>
                                            <p:cond delay="0"/>
                                          </p:stCondLst>
                                        </p:cTn>
                                        <p:tgtEl>
                                          <p:spTgt spid="215057"/>
                                        </p:tgtEl>
                                        <p:attrNameLst>
                                          <p:attrName>style.visibility</p:attrName>
                                        </p:attrNameLst>
                                      </p:cBhvr>
                                      <p:to>
                                        <p:strVal val="visible"/>
                                      </p:to>
                                    </p:set>
                                    <p:animEffect transition="in" filter="dissolve">
                                      <p:cBhvr>
                                        <p:cTn id="146" dur="500"/>
                                        <p:tgtEl>
                                          <p:spTgt spid="215057"/>
                                        </p:tgtEl>
                                      </p:cBhvr>
                                    </p:animEffect>
                                  </p:childTnLst>
                                </p:cTn>
                              </p:par>
                              <p:par>
                                <p:cTn id="147" presetID="9" presetClass="entr" presetSubtype="0" fill="hold" nodeType="withEffect">
                                  <p:stCondLst>
                                    <p:cond delay="0"/>
                                  </p:stCondLst>
                                  <p:childTnLst>
                                    <p:set>
                                      <p:cBhvr>
                                        <p:cTn id="148" dur="1" fill="hold">
                                          <p:stCondLst>
                                            <p:cond delay="0"/>
                                          </p:stCondLst>
                                        </p:cTn>
                                        <p:tgtEl>
                                          <p:spTgt spid="215056"/>
                                        </p:tgtEl>
                                        <p:attrNameLst>
                                          <p:attrName>style.visibility</p:attrName>
                                        </p:attrNameLst>
                                      </p:cBhvr>
                                      <p:to>
                                        <p:strVal val="visible"/>
                                      </p:to>
                                    </p:set>
                                    <p:animEffect transition="in" filter="dissolve">
                                      <p:cBhvr>
                                        <p:cTn id="149" dur="500"/>
                                        <p:tgtEl>
                                          <p:spTgt spid="215056"/>
                                        </p:tgtEl>
                                      </p:cBhvr>
                                    </p:animEffect>
                                  </p:childTnLst>
                                </p:cTn>
                              </p:par>
                              <p:par>
                                <p:cTn id="150" presetID="9" presetClass="entr" presetSubtype="0" fill="hold" nodeType="withEffect">
                                  <p:stCondLst>
                                    <p:cond delay="0"/>
                                  </p:stCondLst>
                                  <p:childTnLst>
                                    <p:set>
                                      <p:cBhvr>
                                        <p:cTn id="151" dur="1" fill="hold">
                                          <p:stCondLst>
                                            <p:cond delay="0"/>
                                          </p:stCondLst>
                                        </p:cTn>
                                        <p:tgtEl>
                                          <p:spTgt spid="215055"/>
                                        </p:tgtEl>
                                        <p:attrNameLst>
                                          <p:attrName>style.visibility</p:attrName>
                                        </p:attrNameLst>
                                      </p:cBhvr>
                                      <p:to>
                                        <p:strVal val="visible"/>
                                      </p:to>
                                    </p:set>
                                    <p:animEffect transition="in" filter="dissolve">
                                      <p:cBhvr>
                                        <p:cTn id="152" dur="500"/>
                                        <p:tgtEl>
                                          <p:spTgt spid="215055"/>
                                        </p:tgtEl>
                                      </p:cBhvr>
                                    </p:animEffect>
                                  </p:childTnLst>
                                </p:cTn>
                              </p:par>
                              <p:par>
                                <p:cTn id="153" presetID="9" presetClass="exit" presetSubtype="0" fill="hold" nodeType="withEffect">
                                  <p:stCondLst>
                                    <p:cond delay="0"/>
                                  </p:stCondLst>
                                  <p:childTnLst>
                                    <p:animEffect transition="out" filter="dissolve">
                                      <p:cBhvr>
                                        <p:cTn id="154" dur="500"/>
                                        <p:tgtEl>
                                          <p:spTgt spid="215048"/>
                                        </p:tgtEl>
                                      </p:cBhvr>
                                    </p:animEffect>
                                    <p:set>
                                      <p:cBhvr>
                                        <p:cTn id="155" dur="1" fill="hold">
                                          <p:stCondLst>
                                            <p:cond delay="499"/>
                                          </p:stCondLst>
                                        </p:cTn>
                                        <p:tgtEl>
                                          <p:spTgt spid="215048"/>
                                        </p:tgtEl>
                                        <p:attrNameLst>
                                          <p:attrName>style.visibility</p:attrName>
                                        </p:attrNameLst>
                                      </p:cBhvr>
                                      <p:to>
                                        <p:strVal val="hidden"/>
                                      </p:to>
                                    </p:set>
                                  </p:childTnLst>
                                </p:cTn>
                              </p:par>
                              <p:par>
                                <p:cTn id="156" presetID="9" presetClass="exit" presetSubtype="0" fill="hold" nodeType="withEffect">
                                  <p:stCondLst>
                                    <p:cond delay="0"/>
                                  </p:stCondLst>
                                  <p:childTnLst>
                                    <p:animEffect transition="out" filter="dissolve">
                                      <p:cBhvr>
                                        <p:cTn id="157" dur="500"/>
                                        <p:tgtEl>
                                          <p:spTgt spid="215047"/>
                                        </p:tgtEl>
                                      </p:cBhvr>
                                    </p:animEffect>
                                    <p:set>
                                      <p:cBhvr>
                                        <p:cTn id="158" dur="1" fill="hold">
                                          <p:stCondLst>
                                            <p:cond delay="499"/>
                                          </p:stCondLst>
                                        </p:cTn>
                                        <p:tgtEl>
                                          <p:spTgt spid="215047"/>
                                        </p:tgtEl>
                                        <p:attrNameLst>
                                          <p:attrName>style.visibility</p:attrName>
                                        </p:attrNameLst>
                                      </p:cBhvr>
                                      <p:to>
                                        <p:strVal val="hidden"/>
                                      </p:to>
                                    </p:set>
                                  </p:childTnLst>
                                </p:cTn>
                              </p:par>
                              <p:par>
                                <p:cTn id="159" presetID="9" presetClass="entr" presetSubtype="0" fill="hold" nodeType="withEffect">
                                  <p:stCondLst>
                                    <p:cond delay="0"/>
                                  </p:stCondLst>
                                  <p:childTnLst>
                                    <p:set>
                                      <p:cBhvr>
                                        <p:cTn id="160" dur="1" fill="hold">
                                          <p:stCondLst>
                                            <p:cond delay="0"/>
                                          </p:stCondLst>
                                        </p:cTn>
                                        <p:tgtEl>
                                          <p:spTgt spid="215064"/>
                                        </p:tgtEl>
                                        <p:attrNameLst>
                                          <p:attrName>style.visibility</p:attrName>
                                        </p:attrNameLst>
                                      </p:cBhvr>
                                      <p:to>
                                        <p:strVal val="visible"/>
                                      </p:to>
                                    </p:set>
                                    <p:animEffect transition="in" filter="dissolve">
                                      <p:cBhvr>
                                        <p:cTn id="161" dur="500"/>
                                        <p:tgtEl>
                                          <p:spTgt spid="215064"/>
                                        </p:tgtEl>
                                      </p:cBhvr>
                                    </p:animEffect>
                                  </p:childTnLst>
                                </p:cTn>
                              </p:par>
                              <p:par>
                                <p:cTn id="162" presetID="9" presetClass="exit" presetSubtype="0" fill="hold" nodeType="withEffect">
                                  <p:stCondLst>
                                    <p:cond delay="0"/>
                                  </p:stCondLst>
                                  <p:childTnLst>
                                    <p:animEffect transition="out" filter="dissolve">
                                      <p:cBhvr>
                                        <p:cTn id="163" dur="500"/>
                                        <p:tgtEl>
                                          <p:spTgt spid="215050"/>
                                        </p:tgtEl>
                                      </p:cBhvr>
                                    </p:animEffect>
                                    <p:set>
                                      <p:cBhvr>
                                        <p:cTn id="164" dur="1" fill="hold">
                                          <p:stCondLst>
                                            <p:cond delay="499"/>
                                          </p:stCondLst>
                                        </p:cTn>
                                        <p:tgtEl>
                                          <p:spTgt spid="215050"/>
                                        </p:tgtEl>
                                        <p:attrNameLst>
                                          <p:attrName>style.visibility</p:attrName>
                                        </p:attrNameLst>
                                      </p:cBhvr>
                                      <p:to>
                                        <p:strVal val="hidden"/>
                                      </p:to>
                                    </p:set>
                                  </p:childTnLst>
                                </p:cTn>
                              </p:par>
                              <p:par>
                                <p:cTn id="165" presetID="1" presetClass="entr" presetSubtype="0" fill="hold" nodeType="withEffect">
                                  <p:stCondLst>
                                    <p:cond delay="0"/>
                                  </p:stCondLst>
                                  <p:childTnLst>
                                    <p:set>
                                      <p:cBhvr>
                                        <p:cTn id="166" dur="1" fill="hold">
                                          <p:stCondLst>
                                            <p:cond delay="0"/>
                                          </p:stCondLst>
                                        </p:cTn>
                                        <p:tgtEl>
                                          <p:spTgt spid="215084"/>
                                        </p:tgtEl>
                                        <p:attrNameLst>
                                          <p:attrName>style.visibility</p:attrName>
                                        </p:attrNameLst>
                                      </p:cBhvr>
                                      <p:to>
                                        <p:strVal val="visible"/>
                                      </p:to>
                                    </p:set>
                                  </p:childTnLst>
                                </p:cTn>
                              </p:par>
                            </p:childTnLst>
                          </p:cTn>
                        </p:par>
                        <p:par>
                          <p:cTn id="167" fill="hold" nodeType="afterGroup">
                            <p:stCondLst>
                              <p:cond delay="500"/>
                            </p:stCondLst>
                            <p:childTnLst>
                              <p:par>
                                <p:cTn id="168" presetID="9" presetClass="entr" presetSubtype="0" fill="hold" nodeType="afterEffect">
                                  <p:stCondLst>
                                    <p:cond delay="0"/>
                                  </p:stCondLst>
                                  <p:childTnLst>
                                    <p:set>
                                      <p:cBhvr>
                                        <p:cTn id="169" dur="1" fill="hold">
                                          <p:stCondLst>
                                            <p:cond delay="0"/>
                                          </p:stCondLst>
                                        </p:cTn>
                                        <p:tgtEl>
                                          <p:spTgt spid="215074"/>
                                        </p:tgtEl>
                                        <p:attrNameLst>
                                          <p:attrName>style.visibility</p:attrName>
                                        </p:attrNameLst>
                                      </p:cBhvr>
                                      <p:to>
                                        <p:strVal val="visible"/>
                                      </p:to>
                                    </p:set>
                                    <p:animEffect transition="in" filter="dissolve">
                                      <p:cBhvr>
                                        <p:cTn id="170" dur="500"/>
                                        <p:tgtEl>
                                          <p:spTgt spid="215074"/>
                                        </p:tgtEl>
                                      </p:cBhvr>
                                    </p:animEffect>
                                  </p:childTnLst>
                                </p:cTn>
                              </p:par>
                            </p:childTnLst>
                          </p:cTn>
                        </p:par>
                        <p:par>
                          <p:cTn id="171" fill="hold" nodeType="afterGroup">
                            <p:stCondLst>
                              <p:cond delay="1000"/>
                            </p:stCondLst>
                            <p:childTnLst>
                              <p:par>
                                <p:cTn id="172" presetID="9" presetClass="entr" presetSubtype="0" fill="hold" grpId="0" nodeType="afterEffect">
                                  <p:stCondLst>
                                    <p:cond delay="0"/>
                                  </p:stCondLst>
                                  <p:childTnLst>
                                    <p:set>
                                      <p:cBhvr>
                                        <p:cTn id="173" dur="1" fill="hold">
                                          <p:stCondLst>
                                            <p:cond delay="0"/>
                                          </p:stCondLst>
                                        </p:cTn>
                                        <p:tgtEl>
                                          <p:spTgt spid="215063"/>
                                        </p:tgtEl>
                                        <p:attrNameLst>
                                          <p:attrName>style.visibility</p:attrName>
                                        </p:attrNameLst>
                                      </p:cBhvr>
                                      <p:to>
                                        <p:strVal val="visible"/>
                                      </p:to>
                                    </p:set>
                                    <p:animEffect transition="in" filter="dissolve">
                                      <p:cBhvr>
                                        <p:cTn id="174" dur="500"/>
                                        <p:tgtEl>
                                          <p:spTgt spid="215063"/>
                                        </p:tgtEl>
                                      </p:cBhvr>
                                    </p:animEffect>
                                  </p:childTnLst>
                                </p:cTn>
                              </p:par>
                            </p:childTnLst>
                          </p:cTn>
                        </p:par>
                      </p:childTnLst>
                    </p:cTn>
                  </p:par>
                  <p:par>
                    <p:cTn id="175" fill="hold" nodeType="clickPar">
                      <p:stCondLst>
                        <p:cond delay="indefinite"/>
                      </p:stCondLst>
                      <p:childTnLst>
                        <p:par>
                          <p:cTn id="176" fill="hold" nodeType="withGroup">
                            <p:stCondLst>
                              <p:cond delay="0"/>
                            </p:stCondLst>
                            <p:childTnLst>
                              <p:par>
                                <p:cTn id="177" presetID="9" presetClass="entr" presetSubtype="0" fill="hold" grpId="0" nodeType="clickEffect">
                                  <p:stCondLst>
                                    <p:cond delay="0"/>
                                  </p:stCondLst>
                                  <p:childTnLst>
                                    <p:set>
                                      <p:cBhvr>
                                        <p:cTn id="178" dur="1" fill="hold">
                                          <p:stCondLst>
                                            <p:cond delay="0"/>
                                          </p:stCondLst>
                                        </p:cTn>
                                        <p:tgtEl>
                                          <p:spTgt spid="215080"/>
                                        </p:tgtEl>
                                        <p:attrNameLst>
                                          <p:attrName>style.visibility</p:attrName>
                                        </p:attrNameLst>
                                      </p:cBhvr>
                                      <p:to>
                                        <p:strVal val="visible"/>
                                      </p:to>
                                    </p:set>
                                    <p:animEffect transition="in" filter="dissolve">
                                      <p:cBhvr>
                                        <p:cTn id="179" dur="500"/>
                                        <p:tgtEl>
                                          <p:spTgt spid="215080"/>
                                        </p:tgtEl>
                                      </p:cBhvr>
                                    </p:animEffect>
                                  </p:childTnLst>
                                </p:cTn>
                              </p:par>
                            </p:childTnLst>
                          </p:cTn>
                        </p:par>
                        <p:par>
                          <p:cTn id="180" fill="hold" nodeType="afterGroup">
                            <p:stCondLst>
                              <p:cond delay="500"/>
                            </p:stCondLst>
                            <p:childTnLst>
                              <p:par>
                                <p:cTn id="181" presetID="22" presetClass="entr" presetSubtype="2" fill="hold" nodeType="afterEffect">
                                  <p:stCondLst>
                                    <p:cond delay="0"/>
                                  </p:stCondLst>
                                  <p:childTnLst>
                                    <p:set>
                                      <p:cBhvr>
                                        <p:cTn id="182" dur="1" fill="hold">
                                          <p:stCondLst>
                                            <p:cond delay="0"/>
                                          </p:stCondLst>
                                        </p:cTn>
                                        <p:tgtEl>
                                          <p:spTgt spid="215077"/>
                                        </p:tgtEl>
                                        <p:attrNameLst>
                                          <p:attrName>style.visibility</p:attrName>
                                        </p:attrNameLst>
                                      </p:cBhvr>
                                      <p:to>
                                        <p:strVal val="visible"/>
                                      </p:to>
                                    </p:set>
                                    <p:animEffect transition="in" filter="wipe(right)">
                                      <p:cBhvr>
                                        <p:cTn id="183" dur="500"/>
                                        <p:tgtEl>
                                          <p:spTgt spid="215077"/>
                                        </p:tgtEl>
                                      </p:cBhvr>
                                    </p:animEffect>
                                  </p:childTnLst>
                                </p:cTn>
                              </p:par>
                            </p:childTnLst>
                          </p:cTn>
                        </p:par>
                      </p:childTnLst>
                    </p:cTn>
                  </p:par>
                  <p:par>
                    <p:cTn id="184" fill="hold" nodeType="clickPar">
                      <p:stCondLst>
                        <p:cond delay="indefinite"/>
                      </p:stCondLst>
                      <p:childTnLst>
                        <p:par>
                          <p:cTn id="185" fill="hold" nodeType="withGroup">
                            <p:stCondLst>
                              <p:cond delay="0"/>
                            </p:stCondLst>
                            <p:childTnLst>
                              <p:par>
                                <p:cTn id="186" presetID="22" presetClass="entr" presetSubtype="8" fill="hold" grpId="0" nodeType="clickEffect">
                                  <p:stCondLst>
                                    <p:cond delay="0"/>
                                  </p:stCondLst>
                                  <p:childTnLst>
                                    <p:set>
                                      <p:cBhvr>
                                        <p:cTn id="187" dur="1" fill="hold">
                                          <p:stCondLst>
                                            <p:cond delay="0"/>
                                          </p:stCondLst>
                                        </p:cTn>
                                        <p:tgtEl>
                                          <p:spTgt spid="215089"/>
                                        </p:tgtEl>
                                        <p:attrNameLst>
                                          <p:attrName>style.visibility</p:attrName>
                                        </p:attrNameLst>
                                      </p:cBhvr>
                                      <p:to>
                                        <p:strVal val="visible"/>
                                      </p:to>
                                    </p:set>
                                    <p:animEffect transition="in" filter="wipe(left)">
                                      <p:cBhvr>
                                        <p:cTn id="188" dur="500"/>
                                        <p:tgtEl>
                                          <p:spTgt spid="215089"/>
                                        </p:tgtEl>
                                      </p:cBhvr>
                                    </p:animEffect>
                                  </p:childTnLst>
                                </p:cTn>
                              </p:par>
                            </p:childTnLst>
                          </p:cTn>
                        </p:par>
                        <p:par>
                          <p:cTn id="189" fill="hold" nodeType="afterGroup">
                            <p:stCondLst>
                              <p:cond delay="500"/>
                            </p:stCondLst>
                            <p:childTnLst>
                              <p:par>
                                <p:cTn id="190" presetID="22" presetClass="entr" presetSubtype="4" fill="hold" nodeType="afterEffect">
                                  <p:stCondLst>
                                    <p:cond delay="0"/>
                                  </p:stCondLst>
                                  <p:childTnLst>
                                    <p:set>
                                      <p:cBhvr>
                                        <p:cTn id="191" dur="1" fill="hold">
                                          <p:stCondLst>
                                            <p:cond delay="0"/>
                                          </p:stCondLst>
                                        </p:cTn>
                                        <p:tgtEl>
                                          <p:spTgt spid="215088"/>
                                        </p:tgtEl>
                                        <p:attrNameLst>
                                          <p:attrName>style.visibility</p:attrName>
                                        </p:attrNameLst>
                                      </p:cBhvr>
                                      <p:to>
                                        <p:strVal val="visible"/>
                                      </p:to>
                                    </p:set>
                                    <p:animEffect transition="in" filter="wipe(down)">
                                      <p:cBhvr>
                                        <p:cTn id="192" dur="500"/>
                                        <p:tgtEl>
                                          <p:spTgt spid="215088"/>
                                        </p:tgtEl>
                                      </p:cBhvr>
                                    </p:animEffect>
                                  </p:childTnLst>
                                </p:cTn>
                              </p:par>
                            </p:childTnLst>
                          </p:cTn>
                        </p:par>
                      </p:childTnLst>
                    </p:cTn>
                  </p:par>
                  <p:par>
                    <p:cTn id="193" fill="hold" nodeType="clickPar">
                      <p:stCondLst>
                        <p:cond delay="indefinite"/>
                      </p:stCondLst>
                      <p:childTnLst>
                        <p:par>
                          <p:cTn id="194" fill="hold" nodeType="withGroup">
                            <p:stCondLst>
                              <p:cond delay="0"/>
                            </p:stCondLst>
                            <p:childTnLst>
                              <p:par>
                                <p:cTn id="195" presetID="22" presetClass="entr" presetSubtype="8" fill="hold" grpId="0" nodeType="clickEffect">
                                  <p:stCondLst>
                                    <p:cond delay="0"/>
                                  </p:stCondLst>
                                  <p:childTnLst>
                                    <p:set>
                                      <p:cBhvr>
                                        <p:cTn id="196" dur="1" fill="hold">
                                          <p:stCondLst>
                                            <p:cond delay="0"/>
                                          </p:stCondLst>
                                        </p:cTn>
                                        <p:tgtEl>
                                          <p:spTgt spid="215078"/>
                                        </p:tgtEl>
                                        <p:attrNameLst>
                                          <p:attrName>style.visibility</p:attrName>
                                        </p:attrNameLst>
                                      </p:cBhvr>
                                      <p:to>
                                        <p:strVal val="visible"/>
                                      </p:to>
                                    </p:set>
                                    <p:animEffect transition="in" filter="wipe(left)">
                                      <p:cBhvr>
                                        <p:cTn id="197" dur="500"/>
                                        <p:tgtEl>
                                          <p:spTgt spid="215078"/>
                                        </p:tgtEl>
                                      </p:cBhvr>
                                    </p:animEffect>
                                  </p:childTnLst>
                                </p:cTn>
                              </p:par>
                            </p:childTnLst>
                          </p:cTn>
                        </p:par>
                      </p:childTnLst>
                    </p:cTn>
                  </p:par>
                  <p:par>
                    <p:cTn id="198" fill="hold" nodeType="clickPar">
                      <p:stCondLst>
                        <p:cond delay="indefinite"/>
                      </p:stCondLst>
                      <p:childTnLst>
                        <p:par>
                          <p:cTn id="199" fill="hold" nodeType="withGroup">
                            <p:stCondLst>
                              <p:cond delay="0"/>
                            </p:stCondLst>
                            <p:childTnLst>
                              <p:par>
                                <p:cTn id="200" presetID="9" presetClass="exit" presetSubtype="0" fill="hold" grpId="1" nodeType="clickEffect">
                                  <p:stCondLst>
                                    <p:cond delay="0"/>
                                  </p:stCondLst>
                                  <p:childTnLst>
                                    <p:animEffect transition="out" filter="dissolve">
                                      <p:cBhvr>
                                        <p:cTn id="201" dur="500"/>
                                        <p:tgtEl>
                                          <p:spTgt spid="215080"/>
                                        </p:tgtEl>
                                      </p:cBhvr>
                                    </p:animEffect>
                                    <p:set>
                                      <p:cBhvr>
                                        <p:cTn id="202" dur="1" fill="hold">
                                          <p:stCondLst>
                                            <p:cond delay="499"/>
                                          </p:stCondLst>
                                        </p:cTn>
                                        <p:tgtEl>
                                          <p:spTgt spid="215080"/>
                                        </p:tgtEl>
                                        <p:attrNameLst>
                                          <p:attrName>style.visibility</p:attrName>
                                        </p:attrNameLst>
                                      </p:cBhvr>
                                      <p:to>
                                        <p:strVal val="hidden"/>
                                      </p:to>
                                    </p:set>
                                  </p:childTnLst>
                                </p:cTn>
                              </p:par>
                              <p:par>
                                <p:cTn id="203" presetID="9" presetClass="exit" presetSubtype="0" fill="hold" nodeType="withEffect">
                                  <p:stCondLst>
                                    <p:cond delay="0"/>
                                  </p:stCondLst>
                                  <p:childTnLst>
                                    <p:animEffect transition="out" filter="dissolve">
                                      <p:cBhvr>
                                        <p:cTn id="204" dur="500"/>
                                        <p:tgtEl>
                                          <p:spTgt spid="215077"/>
                                        </p:tgtEl>
                                      </p:cBhvr>
                                    </p:animEffect>
                                    <p:set>
                                      <p:cBhvr>
                                        <p:cTn id="205" dur="1" fill="hold">
                                          <p:stCondLst>
                                            <p:cond delay="499"/>
                                          </p:stCondLst>
                                        </p:cTn>
                                        <p:tgtEl>
                                          <p:spTgt spid="215077"/>
                                        </p:tgtEl>
                                        <p:attrNameLst>
                                          <p:attrName>style.visibility</p:attrName>
                                        </p:attrNameLst>
                                      </p:cBhvr>
                                      <p:to>
                                        <p:strVal val="hidden"/>
                                      </p:to>
                                    </p:set>
                                  </p:childTnLst>
                                </p:cTn>
                              </p:par>
                              <p:par>
                                <p:cTn id="206" presetID="9" presetClass="entr" presetSubtype="0" fill="hold" grpId="0" nodeType="withEffect">
                                  <p:stCondLst>
                                    <p:cond delay="0"/>
                                  </p:stCondLst>
                                  <p:childTnLst>
                                    <p:set>
                                      <p:cBhvr>
                                        <p:cTn id="207" dur="1" fill="hold">
                                          <p:stCondLst>
                                            <p:cond delay="0"/>
                                          </p:stCondLst>
                                        </p:cTn>
                                        <p:tgtEl>
                                          <p:spTgt spid="215086"/>
                                        </p:tgtEl>
                                        <p:attrNameLst>
                                          <p:attrName>style.visibility</p:attrName>
                                        </p:attrNameLst>
                                      </p:cBhvr>
                                      <p:to>
                                        <p:strVal val="visible"/>
                                      </p:to>
                                    </p:set>
                                    <p:animEffect transition="in" filter="dissolve">
                                      <p:cBhvr>
                                        <p:cTn id="208" dur="500"/>
                                        <p:tgtEl>
                                          <p:spTgt spid="215086"/>
                                        </p:tgtEl>
                                      </p:cBhvr>
                                    </p:animEffect>
                                  </p:childTnLst>
                                </p:cTn>
                              </p:par>
                              <p:par>
                                <p:cTn id="209" presetID="9" presetClass="entr" presetSubtype="0" fill="hold" nodeType="withEffect">
                                  <p:stCondLst>
                                    <p:cond delay="0"/>
                                  </p:stCondLst>
                                  <p:childTnLst>
                                    <p:set>
                                      <p:cBhvr>
                                        <p:cTn id="210" dur="1" fill="hold">
                                          <p:stCondLst>
                                            <p:cond delay="0"/>
                                          </p:stCondLst>
                                        </p:cTn>
                                        <p:tgtEl>
                                          <p:spTgt spid="215085"/>
                                        </p:tgtEl>
                                        <p:attrNameLst>
                                          <p:attrName>style.visibility</p:attrName>
                                        </p:attrNameLst>
                                      </p:cBhvr>
                                      <p:to>
                                        <p:strVal val="visible"/>
                                      </p:to>
                                    </p:set>
                                    <p:animEffect transition="in" filter="dissolve">
                                      <p:cBhvr>
                                        <p:cTn id="211" dur="500"/>
                                        <p:tgtEl>
                                          <p:spTgt spid="215085"/>
                                        </p:tgtEl>
                                      </p:cBhvr>
                                    </p:animEffect>
                                  </p:childTnLst>
                                </p:cTn>
                              </p:par>
                            </p:childTnLst>
                          </p:cTn>
                        </p:par>
                      </p:childTnLst>
                    </p:cTn>
                  </p:par>
                  <p:par>
                    <p:cTn id="212" fill="hold" nodeType="clickPar">
                      <p:stCondLst>
                        <p:cond delay="indefinite"/>
                      </p:stCondLst>
                      <p:childTnLst>
                        <p:par>
                          <p:cTn id="213" fill="hold" nodeType="withGroup">
                            <p:stCondLst>
                              <p:cond delay="0"/>
                            </p:stCondLst>
                            <p:childTnLst>
                              <p:par>
                                <p:cTn id="214" presetID="22" presetClass="entr" presetSubtype="8" fill="hold" grpId="0" nodeType="clickEffect">
                                  <p:stCondLst>
                                    <p:cond delay="0"/>
                                  </p:stCondLst>
                                  <p:childTnLst>
                                    <p:set>
                                      <p:cBhvr>
                                        <p:cTn id="215" dur="1" fill="hold">
                                          <p:stCondLst>
                                            <p:cond delay="0"/>
                                          </p:stCondLst>
                                        </p:cTn>
                                        <p:tgtEl>
                                          <p:spTgt spid="215079"/>
                                        </p:tgtEl>
                                        <p:attrNameLst>
                                          <p:attrName>style.visibility</p:attrName>
                                        </p:attrNameLst>
                                      </p:cBhvr>
                                      <p:to>
                                        <p:strVal val="visible"/>
                                      </p:to>
                                    </p:set>
                                    <p:animEffect transition="in" filter="wipe(left)">
                                      <p:cBhvr>
                                        <p:cTn id="216" dur="500"/>
                                        <p:tgtEl>
                                          <p:spTgt spid="215079"/>
                                        </p:tgtEl>
                                      </p:cBhvr>
                                    </p:animEffect>
                                  </p:childTnLst>
                                </p:cTn>
                              </p:par>
                            </p:childTnLst>
                          </p:cTn>
                        </p:par>
                        <p:par>
                          <p:cTn id="217" fill="hold" nodeType="afterGroup">
                            <p:stCondLst>
                              <p:cond delay="500"/>
                            </p:stCondLst>
                            <p:childTnLst>
                              <p:par>
                                <p:cTn id="218" presetID="9" presetClass="entr" presetSubtype="0" fill="hold" grpId="0" nodeType="afterEffect">
                                  <p:stCondLst>
                                    <p:cond delay="600"/>
                                  </p:stCondLst>
                                  <p:childTnLst>
                                    <p:set>
                                      <p:cBhvr>
                                        <p:cTn id="219" dur="1" fill="hold">
                                          <p:stCondLst>
                                            <p:cond delay="0"/>
                                          </p:stCondLst>
                                        </p:cTn>
                                        <p:tgtEl>
                                          <p:spTgt spid="51"/>
                                        </p:tgtEl>
                                        <p:attrNameLst>
                                          <p:attrName>style.visibility</p:attrName>
                                        </p:attrNameLst>
                                      </p:cBhvr>
                                      <p:to>
                                        <p:strVal val="visible"/>
                                      </p:to>
                                    </p:set>
                                    <p:animEffect transition="in" filter="dissolve">
                                      <p:cBhvr>
                                        <p:cTn id="220" dur="500"/>
                                        <p:tgtEl>
                                          <p:spTgt spid="51"/>
                                        </p:tgtEl>
                                      </p:cBhvr>
                                    </p:animEffect>
                                  </p:childTnLst>
                                </p:cTn>
                              </p:par>
                            </p:childTnLst>
                          </p:cTn>
                        </p:par>
                        <p:par>
                          <p:cTn id="221" fill="hold" nodeType="afterGroup">
                            <p:stCondLst>
                              <p:cond delay="1600"/>
                            </p:stCondLst>
                            <p:childTnLst>
                              <p:par>
                                <p:cTn id="222" presetID="22" presetClass="entr" presetSubtype="2" fill="hold" nodeType="afterEffect">
                                  <p:stCondLst>
                                    <p:cond delay="0"/>
                                  </p:stCondLst>
                                  <p:childTnLst>
                                    <p:set>
                                      <p:cBhvr>
                                        <p:cTn id="223" dur="1" fill="hold">
                                          <p:stCondLst>
                                            <p:cond delay="0"/>
                                          </p:stCondLst>
                                        </p:cTn>
                                        <p:tgtEl>
                                          <p:spTgt spid="54"/>
                                        </p:tgtEl>
                                        <p:attrNameLst>
                                          <p:attrName>style.visibility</p:attrName>
                                        </p:attrNameLst>
                                      </p:cBhvr>
                                      <p:to>
                                        <p:strVal val="visible"/>
                                      </p:to>
                                    </p:set>
                                    <p:animEffect transition="in" filter="wipe(right)">
                                      <p:cBhvr>
                                        <p:cTn id="224"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58" grpId="0" animBg="1"/>
      <p:bldP spid="215059" grpId="0" animBg="1"/>
      <p:bldP spid="215060" grpId="0" animBg="1"/>
      <p:bldP spid="215061" grpId="0" animBg="1"/>
      <p:bldP spid="215062" grpId="0" animBg="1"/>
      <p:bldP spid="215063" grpId="0"/>
      <p:bldP spid="215065" grpId="0" animBg="1"/>
      <p:bldP spid="215066" grpId="0"/>
      <p:bldP spid="215067" grpId="0"/>
      <p:bldP spid="215067" grpId="1"/>
      <p:bldP spid="215068" grpId="0"/>
      <p:bldP spid="215069" grpId="0"/>
      <p:bldP spid="215070" grpId="0"/>
      <p:bldP spid="215071" grpId="0"/>
      <p:bldP spid="215072" grpId="0"/>
      <p:bldP spid="215075" grpId="0"/>
      <p:bldP spid="215076" grpId="0"/>
      <p:bldP spid="215078" grpId="0"/>
      <p:bldP spid="215079" grpId="0"/>
      <p:bldP spid="215080" grpId="0"/>
      <p:bldP spid="215080" grpId="1"/>
      <p:bldP spid="215081" grpId="0"/>
      <p:bldP spid="215083" grpId="0"/>
      <p:bldP spid="215086" grpId="0"/>
      <p:bldP spid="215089" grpId="0"/>
      <p:bldP spid="51"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Rectangle 2">
            <a:extLst>
              <a:ext uri="{FF2B5EF4-FFF2-40B4-BE49-F238E27FC236}">
                <a16:creationId xmlns:a16="http://schemas.microsoft.com/office/drawing/2014/main" id="{3975E7EC-8600-46D1-A100-F31736C5AD2D}"/>
              </a:ext>
            </a:extLst>
          </p:cNvPr>
          <p:cNvSpPr>
            <a:spLocks noChangeArrowheads="1"/>
          </p:cNvSpPr>
          <p:nvPr/>
        </p:nvSpPr>
        <p:spPr bwMode="auto">
          <a:xfrm>
            <a:off x="428625" y="1857375"/>
            <a:ext cx="8286750" cy="2925763"/>
          </a:xfrm>
          <a:prstGeom prst="rect">
            <a:avLst/>
          </a:prstGeom>
          <a:solidFill>
            <a:srgbClr val="336699">
              <a:alpha val="32156"/>
            </a:srgbClr>
          </a:solidFill>
          <a:ln w="9525">
            <a:miter lim="800000"/>
            <a:headEnd/>
            <a:tailEnd/>
          </a:ln>
          <a:scene3d>
            <a:camera prst="legacyObliqueTopRight"/>
            <a:lightRig rig="legacyFlat3" dir="r"/>
          </a:scene3d>
          <a:sp3d extrusionH="36500" prstMaterial="legacyMatte">
            <a:bevelT w="13500" h="13500" prst="angle"/>
            <a:bevelB w="13500" h="13500" prst="angle"/>
            <a:extrusionClr>
              <a:srgbClr val="336699"/>
            </a:extrusionClr>
            <a:contourClr>
              <a:srgbClr val="336699"/>
            </a:contourClr>
          </a:sp3d>
        </p:spPr>
        <p:txBody>
          <a:bodyPr wrap="none" anchor="ctr">
            <a:flatTx/>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a:solidFill>
                <a:srgbClr val="FF9900"/>
              </a:solidFill>
              <a:latin typeface="Arial" panose="020B0604020202020204" pitchFamily="34" charset="0"/>
              <a:ea typeface="仿宋_GB2312" pitchFamily="49" charset="-122"/>
            </a:endParaRPr>
          </a:p>
        </p:txBody>
      </p:sp>
      <p:graphicFrame>
        <p:nvGraphicFramePr>
          <p:cNvPr id="216067" name="Object 2">
            <a:extLst>
              <a:ext uri="{FF2B5EF4-FFF2-40B4-BE49-F238E27FC236}">
                <a16:creationId xmlns:a16="http://schemas.microsoft.com/office/drawing/2014/main" id="{EB2557F8-FDB1-4E74-9C82-88B850E7C170}"/>
              </a:ext>
            </a:extLst>
          </p:cNvPr>
          <p:cNvGraphicFramePr>
            <a:graphicFrameLocks noChangeAspect="1"/>
          </p:cNvGraphicFramePr>
          <p:nvPr/>
        </p:nvGraphicFramePr>
        <p:xfrm>
          <a:off x="2428875" y="1143000"/>
          <a:ext cx="3789363" cy="652463"/>
        </p:xfrm>
        <a:graphic>
          <a:graphicData uri="http://schemas.openxmlformats.org/presentationml/2006/ole">
            <mc:AlternateContent xmlns:mc="http://schemas.openxmlformats.org/markup-compatibility/2006">
              <mc:Choice xmlns:v="urn:schemas-microsoft-com:vml" Requires="v">
                <p:oleObj spid="_x0000_s562254" name="公式" r:id="rId4" imgW="3878757" imgH="655399" progId="Equation.3">
                  <p:embed/>
                </p:oleObj>
              </mc:Choice>
              <mc:Fallback>
                <p:oleObj name="公式" r:id="rId4" imgW="3878757" imgH="655399" progId="Equation.3">
                  <p:embed/>
                  <p:pic>
                    <p:nvPicPr>
                      <p:cNvPr id="216067" name="Object 2">
                        <a:extLst>
                          <a:ext uri="{FF2B5EF4-FFF2-40B4-BE49-F238E27FC236}">
                            <a16:creationId xmlns:a16="http://schemas.microsoft.com/office/drawing/2014/main" id="{EB2557F8-FDB1-4E74-9C82-88B850E7C17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28875" y="1143000"/>
                        <a:ext cx="3789363" cy="652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16068" name="Text Box 4">
            <a:extLst>
              <a:ext uri="{FF2B5EF4-FFF2-40B4-BE49-F238E27FC236}">
                <a16:creationId xmlns:a16="http://schemas.microsoft.com/office/drawing/2014/main" id="{2F18869F-0414-458E-93AE-AA25ADC4A579}"/>
              </a:ext>
            </a:extLst>
          </p:cNvPr>
          <p:cNvSpPr txBox="1">
            <a:spLocks noChangeArrowheads="1"/>
          </p:cNvSpPr>
          <p:nvPr/>
        </p:nvSpPr>
        <p:spPr bwMode="auto">
          <a:xfrm>
            <a:off x="428625" y="714375"/>
            <a:ext cx="82296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latin typeface="宋体" panose="02010600030101010101" pitchFamily="2" charset="-122"/>
                <a:ea typeface="仿宋_GB2312" pitchFamily="49" charset="-122"/>
              </a:rPr>
              <a:t>电子在晶体中作共有化运动，处在三维周期性势场中</a:t>
            </a:r>
          </a:p>
        </p:txBody>
      </p:sp>
      <p:graphicFrame>
        <p:nvGraphicFramePr>
          <p:cNvPr id="216069" name="Object 3">
            <a:extLst>
              <a:ext uri="{FF2B5EF4-FFF2-40B4-BE49-F238E27FC236}">
                <a16:creationId xmlns:a16="http://schemas.microsoft.com/office/drawing/2014/main" id="{DCFD62A3-78F6-408B-9504-56A98B432803}"/>
              </a:ext>
            </a:extLst>
          </p:cNvPr>
          <p:cNvGraphicFramePr>
            <a:graphicFrameLocks noChangeAspect="1"/>
          </p:cNvGraphicFramePr>
          <p:nvPr/>
        </p:nvGraphicFramePr>
        <p:xfrm>
          <a:off x="7666038" y="857250"/>
          <a:ext cx="692150" cy="327025"/>
        </p:xfrm>
        <a:graphic>
          <a:graphicData uri="http://schemas.openxmlformats.org/presentationml/2006/ole">
            <mc:AlternateContent xmlns:mc="http://schemas.openxmlformats.org/markup-compatibility/2006">
              <mc:Choice xmlns:v="urn:schemas-microsoft-com:vml" Requires="v">
                <p:oleObj spid="_x0000_s562255" name="公式" r:id="rId6" imgW="556295" imgH="274461" progId="Equation.3">
                  <p:embed/>
                </p:oleObj>
              </mc:Choice>
              <mc:Fallback>
                <p:oleObj name="公式" r:id="rId6" imgW="556295" imgH="274461" progId="Equation.3">
                  <p:embed/>
                  <p:pic>
                    <p:nvPicPr>
                      <p:cNvPr id="216069" name="Object 3">
                        <a:extLst>
                          <a:ext uri="{FF2B5EF4-FFF2-40B4-BE49-F238E27FC236}">
                            <a16:creationId xmlns:a16="http://schemas.microsoft.com/office/drawing/2014/main" id="{DCFD62A3-78F6-408B-9504-56A98B43280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666038" y="857250"/>
                        <a:ext cx="692150" cy="32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102" name="Text Box 6">
            <a:extLst>
              <a:ext uri="{FF2B5EF4-FFF2-40B4-BE49-F238E27FC236}">
                <a16:creationId xmlns:a16="http://schemas.microsoft.com/office/drawing/2014/main" id="{42E491F4-D2B3-46CD-A805-5AD7465659CA}"/>
              </a:ext>
            </a:extLst>
          </p:cNvPr>
          <p:cNvSpPr txBox="1">
            <a:spLocks noChangeArrowheads="1"/>
          </p:cNvSpPr>
          <p:nvPr/>
        </p:nvSpPr>
        <p:spPr bwMode="auto">
          <a:xfrm>
            <a:off x="428625" y="214313"/>
            <a:ext cx="56149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rgbClr val="FFFF00"/>
                </a:solidFill>
              </a:rPr>
              <a:t>三、能带</a:t>
            </a:r>
          </a:p>
        </p:txBody>
      </p:sp>
      <p:pic>
        <p:nvPicPr>
          <p:cNvPr id="216071" name="Picture 7" descr="能级分裂1">
            <a:extLst>
              <a:ext uri="{FF2B5EF4-FFF2-40B4-BE49-F238E27FC236}">
                <a16:creationId xmlns:a16="http://schemas.microsoft.com/office/drawing/2014/main" id="{2BF42419-7BD1-43FF-ABF3-1DC4FF6E9B97}"/>
              </a:ext>
            </a:extLst>
          </p:cNvPr>
          <p:cNvPicPr>
            <a:picLocks noChangeAspect="1" noChangeArrowheads="1"/>
          </p:cNvPicPr>
          <p:nvPr/>
        </p:nvPicPr>
        <p:blipFill>
          <a:blip r:embed="rId8">
            <a:clrChange>
              <a:clrFrom>
                <a:srgbClr val="006599"/>
              </a:clrFrom>
              <a:clrTo>
                <a:srgbClr val="006599">
                  <a:alpha val="0"/>
                </a:srgbClr>
              </a:clrTo>
            </a:clrChange>
            <a:extLst>
              <a:ext uri="{28A0092B-C50C-407E-A947-70E740481C1C}">
                <a14:useLocalDpi xmlns:a14="http://schemas.microsoft.com/office/drawing/2010/main" val="0"/>
              </a:ext>
            </a:extLst>
          </a:blip>
          <a:srcRect l="3674" t="3862" r="12122" b="17027"/>
          <a:stretch>
            <a:fillRect/>
          </a:stretch>
        </p:blipFill>
        <p:spPr bwMode="auto">
          <a:xfrm>
            <a:off x="471488" y="1928813"/>
            <a:ext cx="3529012" cy="280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6072" name="Picture 8" descr="能级分裂2">
            <a:extLst>
              <a:ext uri="{FF2B5EF4-FFF2-40B4-BE49-F238E27FC236}">
                <a16:creationId xmlns:a16="http://schemas.microsoft.com/office/drawing/2014/main" id="{22703600-31DA-42FC-A12C-E81747AF947E}"/>
              </a:ext>
            </a:extLst>
          </p:cNvPr>
          <p:cNvPicPr>
            <a:picLocks noChangeAspect="1" noChangeArrowheads="1"/>
          </p:cNvPicPr>
          <p:nvPr/>
        </p:nvPicPr>
        <p:blipFill>
          <a:blip r:embed="rId9">
            <a:clrChange>
              <a:clrFrom>
                <a:srgbClr val="006599"/>
              </a:clrFrom>
              <a:clrTo>
                <a:srgbClr val="006599">
                  <a:alpha val="0"/>
                </a:srgbClr>
              </a:clrTo>
            </a:clrChange>
            <a:extLst>
              <a:ext uri="{28A0092B-C50C-407E-A947-70E740481C1C}">
                <a14:useLocalDpi xmlns:a14="http://schemas.microsoft.com/office/drawing/2010/main" val="0"/>
              </a:ext>
            </a:extLst>
          </a:blip>
          <a:srcRect l="1453" t="3125" r="4041" b="15625"/>
          <a:stretch>
            <a:fillRect/>
          </a:stretch>
        </p:blipFill>
        <p:spPr bwMode="auto">
          <a:xfrm>
            <a:off x="4000500" y="1881188"/>
            <a:ext cx="4752975" cy="2881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6073" name="Text Box 9">
            <a:extLst>
              <a:ext uri="{FF2B5EF4-FFF2-40B4-BE49-F238E27FC236}">
                <a16:creationId xmlns:a16="http://schemas.microsoft.com/office/drawing/2014/main" id="{A3F231A4-6329-4716-A9CD-66A7F05C5161}"/>
              </a:ext>
            </a:extLst>
          </p:cNvPr>
          <p:cNvSpPr txBox="1">
            <a:spLocks noChangeArrowheads="1"/>
          </p:cNvSpPr>
          <p:nvPr/>
        </p:nvSpPr>
        <p:spPr bwMode="auto">
          <a:xfrm>
            <a:off x="295275" y="4826000"/>
            <a:ext cx="11160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buClr>
                <a:srgbClr val="0099FF"/>
              </a:buClr>
              <a:buFont typeface="Wingdings" panose="05000000000000000000" pitchFamily="2" charset="2"/>
              <a:buChar char="Ø"/>
            </a:pPr>
            <a:r>
              <a:rPr lang="en-US" altLang="zh-CN" dirty="0">
                <a:solidFill>
                  <a:schemeClr val="bg1"/>
                </a:solidFill>
              </a:rPr>
              <a:t> </a:t>
            </a:r>
            <a:r>
              <a:rPr lang="zh-CN" altLang="en-US" dirty="0">
                <a:solidFill>
                  <a:schemeClr val="bg1"/>
                </a:solidFill>
              </a:rPr>
              <a:t>结论</a:t>
            </a:r>
          </a:p>
        </p:txBody>
      </p:sp>
      <p:sp>
        <p:nvSpPr>
          <p:cNvPr id="216074" name="Text Box 10">
            <a:extLst>
              <a:ext uri="{FF2B5EF4-FFF2-40B4-BE49-F238E27FC236}">
                <a16:creationId xmlns:a16="http://schemas.microsoft.com/office/drawing/2014/main" id="{44619F54-D466-4518-886A-A71D9CAA7018}"/>
              </a:ext>
            </a:extLst>
          </p:cNvPr>
          <p:cNvSpPr txBox="1">
            <a:spLocks noChangeArrowheads="1"/>
          </p:cNvSpPr>
          <p:nvPr/>
        </p:nvSpPr>
        <p:spPr bwMode="auto">
          <a:xfrm>
            <a:off x="708025" y="5302250"/>
            <a:ext cx="82931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buClr>
                <a:srgbClr val="FF9900"/>
              </a:buClr>
              <a:buSzPct val="85000"/>
              <a:buFont typeface="Wingdings" panose="05000000000000000000" pitchFamily="2" charset="2"/>
              <a:buChar char="l"/>
            </a:pPr>
            <a:r>
              <a:rPr lang="en-US" altLang="zh-CN" sz="2000" dirty="0">
                <a:solidFill>
                  <a:schemeClr val="bg1"/>
                </a:solidFill>
                <a:ea typeface="楷体_GB2312" pitchFamily="49" charset="-122"/>
              </a:rPr>
              <a:t> </a:t>
            </a:r>
            <a:r>
              <a:rPr lang="zh-CN" altLang="en-US" sz="2000" dirty="0">
                <a:solidFill>
                  <a:schemeClr val="bg1"/>
                </a:solidFill>
                <a:ea typeface="楷体_GB2312" pitchFamily="49" charset="-122"/>
              </a:rPr>
              <a:t>单个原子的每个能级都分裂成 </a:t>
            </a:r>
            <a:r>
              <a:rPr lang="en-US" altLang="zh-CN" sz="2000" i="1" dirty="0">
                <a:solidFill>
                  <a:srgbClr val="00FFFF"/>
                </a:solidFill>
                <a:ea typeface="楷体_GB2312" pitchFamily="49" charset="-122"/>
              </a:rPr>
              <a:t>N </a:t>
            </a:r>
            <a:r>
              <a:rPr lang="zh-CN" altLang="en-US" sz="2000" dirty="0">
                <a:solidFill>
                  <a:schemeClr val="bg1"/>
                </a:solidFill>
                <a:ea typeface="楷体_GB2312" pitchFamily="49" charset="-122"/>
              </a:rPr>
              <a:t>个与原能级很接近的新能级（能带）</a:t>
            </a:r>
            <a:endParaRPr lang="en-US" altLang="zh-CN" sz="2000" dirty="0">
              <a:solidFill>
                <a:schemeClr val="bg1"/>
              </a:solidFill>
              <a:ea typeface="楷体_GB2312" pitchFamily="49" charset="-122"/>
            </a:endParaRPr>
          </a:p>
        </p:txBody>
      </p:sp>
      <p:sp>
        <p:nvSpPr>
          <p:cNvPr id="216075" name="Text Box 11">
            <a:extLst>
              <a:ext uri="{FF2B5EF4-FFF2-40B4-BE49-F238E27FC236}">
                <a16:creationId xmlns:a16="http://schemas.microsoft.com/office/drawing/2014/main" id="{43928AC4-D49A-47E8-BAE3-87FFCCD4A5A3}"/>
              </a:ext>
            </a:extLst>
          </p:cNvPr>
          <p:cNvSpPr txBox="1">
            <a:spLocks noChangeArrowheads="1"/>
          </p:cNvSpPr>
          <p:nvPr/>
        </p:nvSpPr>
        <p:spPr bwMode="auto">
          <a:xfrm>
            <a:off x="709613" y="5726113"/>
            <a:ext cx="65262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buClr>
                <a:srgbClr val="FF9900"/>
              </a:buClr>
              <a:buSzPct val="85000"/>
              <a:buFont typeface="Wingdings" panose="05000000000000000000" pitchFamily="2" charset="2"/>
              <a:buChar char="l"/>
            </a:pPr>
            <a:r>
              <a:rPr lang="en-US" altLang="zh-CN" sz="2000" dirty="0">
                <a:solidFill>
                  <a:schemeClr val="bg1"/>
                </a:solidFill>
                <a:ea typeface="楷体_GB2312" pitchFamily="49" charset="-122"/>
              </a:rPr>
              <a:t> </a:t>
            </a:r>
            <a:r>
              <a:rPr lang="zh-CN" altLang="en-US" sz="2000" dirty="0">
                <a:solidFill>
                  <a:schemeClr val="bg1"/>
                </a:solidFill>
                <a:ea typeface="楷体_GB2312" pitchFamily="49" charset="-122"/>
              </a:rPr>
              <a:t>能带的宽度与电子的共有运动程度有关</a:t>
            </a:r>
            <a:endParaRPr lang="en-US" altLang="zh-CN" sz="2000" dirty="0">
              <a:solidFill>
                <a:schemeClr val="bg1"/>
              </a:solidFill>
              <a:ea typeface="楷体_GB2312" pitchFamily="49" charset="-122"/>
            </a:endParaRPr>
          </a:p>
        </p:txBody>
      </p:sp>
      <p:sp>
        <p:nvSpPr>
          <p:cNvPr id="216076" name="Text Box 12">
            <a:extLst>
              <a:ext uri="{FF2B5EF4-FFF2-40B4-BE49-F238E27FC236}">
                <a16:creationId xmlns:a16="http://schemas.microsoft.com/office/drawing/2014/main" id="{FAEBC7D5-D098-4FF5-A878-F67FF510F1CE}"/>
              </a:ext>
            </a:extLst>
          </p:cNvPr>
          <p:cNvSpPr txBox="1">
            <a:spLocks noChangeArrowheads="1"/>
          </p:cNvSpPr>
          <p:nvPr/>
        </p:nvSpPr>
        <p:spPr bwMode="auto">
          <a:xfrm>
            <a:off x="709613" y="6165850"/>
            <a:ext cx="75342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buClr>
                <a:srgbClr val="FF9900"/>
              </a:buClr>
              <a:buSzPct val="85000"/>
              <a:buFont typeface="Wingdings" panose="05000000000000000000" pitchFamily="2" charset="2"/>
              <a:buChar char="l"/>
            </a:pPr>
            <a:r>
              <a:rPr lang="en-US" altLang="zh-CN" sz="2000" dirty="0">
                <a:solidFill>
                  <a:schemeClr val="bg1"/>
                </a:solidFill>
                <a:ea typeface="楷体_GB2312" pitchFamily="49" charset="-122"/>
              </a:rPr>
              <a:t> </a:t>
            </a:r>
            <a:r>
              <a:rPr lang="zh-CN" altLang="en-US" sz="2000" dirty="0">
                <a:solidFill>
                  <a:schemeClr val="bg1"/>
                </a:solidFill>
                <a:ea typeface="楷体_GB2312" pitchFamily="49" charset="-122"/>
              </a:rPr>
              <a:t>能带之间有禁带</a:t>
            </a:r>
            <a:endParaRPr lang="en-US" altLang="zh-CN" sz="2000" dirty="0">
              <a:solidFill>
                <a:schemeClr val="bg1"/>
              </a:solidFill>
              <a:ea typeface="楷体_GB2312" pitchFamily="49" charset="-122"/>
            </a:endParaRPr>
          </a:p>
        </p:txBody>
      </p:sp>
      <p:sp>
        <p:nvSpPr>
          <p:cNvPr id="216077" name="Text Box 13">
            <a:extLst>
              <a:ext uri="{FF2B5EF4-FFF2-40B4-BE49-F238E27FC236}">
                <a16:creationId xmlns:a16="http://schemas.microsoft.com/office/drawing/2014/main" id="{CC99DA22-8C9F-4BE4-A2C4-E1291747BCD1}"/>
              </a:ext>
            </a:extLst>
          </p:cNvPr>
          <p:cNvSpPr txBox="1">
            <a:spLocks noChangeArrowheads="1"/>
          </p:cNvSpPr>
          <p:nvPr/>
        </p:nvSpPr>
        <p:spPr bwMode="auto">
          <a:xfrm>
            <a:off x="4197350" y="6165850"/>
            <a:ext cx="45180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buClr>
                <a:srgbClr val="FF9900"/>
              </a:buClr>
              <a:buSzPct val="85000"/>
              <a:buFont typeface="Wingdings" panose="05000000000000000000" pitchFamily="2" charset="2"/>
              <a:buChar char="l"/>
            </a:pPr>
            <a:r>
              <a:rPr lang="zh-CN" altLang="en-US" sz="2000">
                <a:solidFill>
                  <a:schemeClr val="bg1"/>
                </a:solidFill>
                <a:ea typeface="楷体_GB2312" pitchFamily="49" charset="-122"/>
              </a:rPr>
              <a:t> 不同能带之间可能有重叠</a:t>
            </a:r>
            <a:endParaRPr lang="en-US" altLang="zh-CN" sz="2000">
              <a:solidFill>
                <a:schemeClr val="bg1"/>
              </a:solidFill>
              <a:ea typeface="楷体_GB2312" pitchFamily="49" charset="-122"/>
            </a:endParaRPr>
          </a:p>
        </p:txBody>
      </p:sp>
      <p:sp>
        <p:nvSpPr>
          <p:cNvPr id="8206" name="灯片编号占位符 1">
            <a:extLst>
              <a:ext uri="{FF2B5EF4-FFF2-40B4-BE49-F238E27FC236}">
                <a16:creationId xmlns:a16="http://schemas.microsoft.com/office/drawing/2014/main" id="{3849BB7A-5F83-4267-B816-BDE8432FC9C2}"/>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D501C4F9-3E18-420B-B690-0130CFE9FDB6}" type="slidenum">
              <a:rPr lang="en-US" altLang="zh-CN" b="0">
                <a:solidFill>
                  <a:srgbClr val="FF00FF"/>
                </a:solidFill>
              </a:rPr>
              <a:pPr eaLnBrk="1" hangingPunct="1"/>
              <a:t>5</a:t>
            </a:fld>
            <a:r>
              <a:rPr lang="en-US" altLang="zh-CN" b="0">
                <a:solidFill>
                  <a:srgbClr val="FF00FF"/>
                </a:solidFill>
              </a:rPr>
              <a:t>/40</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4102"/>
                                        </p:tgtEl>
                                        <p:attrNameLst>
                                          <p:attrName>style.visibility</p:attrName>
                                        </p:attrNameLst>
                                      </p:cBhvr>
                                      <p:to>
                                        <p:strVal val="visible"/>
                                      </p:to>
                                    </p:set>
                                    <p:animEffect transition="in" filter="dissolve">
                                      <p:cBhvr>
                                        <p:cTn id="7" dur="500"/>
                                        <p:tgtEl>
                                          <p:spTgt spid="4102"/>
                                        </p:tgtEl>
                                      </p:cBhvr>
                                    </p:animEffect>
                                  </p:childTnLst>
                                </p:cTn>
                              </p:par>
                            </p:childTnLst>
                          </p:cTn>
                        </p:par>
                        <p:par>
                          <p:cTn id="8" fill="hold" nodeType="afterGroup">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216068"/>
                                        </p:tgtEl>
                                        <p:attrNameLst>
                                          <p:attrName>style.visibility</p:attrName>
                                        </p:attrNameLst>
                                      </p:cBhvr>
                                      <p:to>
                                        <p:strVal val="visible"/>
                                      </p:to>
                                    </p:set>
                                    <p:animEffect transition="in" filter="dissolve">
                                      <p:cBhvr>
                                        <p:cTn id="11" dur="500"/>
                                        <p:tgtEl>
                                          <p:spTgt spid="216068"/>
                                        </p:tgtEl>
                                      </p:cBhvr>
                                    </p:animEffect>
                                  </p:childTnLst>
                                </p:cTn>
                              </p:par>
                              <p:par>
                                <p:cTn id="12" presetID="9" presetClass="entr" presetSubtype="0" fill="hold" nodeType="withEffect">
                                  <p:stCondLst>
                                    <p:cond delay="0"/>
                                  </p:stCondLst>
                                  <p:childTnLst>
                                    <p:set>
                                      <p:cBhvr>
                                        <p:cTn id="13" dur="1" fill="hold">
                                          <p:stCondLst>
                                            <p:cond delay="0"/>
                                          </p:stCondLst>
                                        </p:cTn>
                                        <p:tgtEl>
                                          <p:spTgt spid="216069"/>
                                        </p:tgtEl>
                                        <p:attrNameLst>
                                          <p:attrName>style.visibility</p:attrName>
                                        </p:attrNameLst>
                                      </p:cBhvr>
                                      <p:to>
                                        <p:strVal val="visible"/>
                                      </p:to>
                                    </p:set>
                                    <p:animEffect transition="in" filter="dissolve">
                                      <p:cBhvr>
                                        <p:cTn id="14" dur="500"/>
                                        <p:tgtEl>
                                          <p:spTgt spid="216069"/>
                                        </p:tgtEl>
                                      </p:cBhvr>
                                    </p:animEffect>
                                  </p:childTnLst>
                                </p:cTn>
                              </p:par>
                            </p:childTnLst>
                          </p:cTn>
                        </p:par>
                        <p:par>
                          <p:cTn id="15" fill="hold" nodeType="afterGroup">
                            <p:stCondLst>
                              <p:cond delay="1000"/>
                            </p:stCondLst>
                            <p:childTnLst>
                              <p:par>
                                <p:cTn id="16" presetID="9" presetClass="entr" presetSubtype="0" fill="hold" nodeType="afterEffect">
                                  <p:stCondLst>
                                    <p:cond delay="0"/>
                                  </p:stCondLst>
                                  <p:childTnLst>
                                    <p:set>
                                      <p:cBhvr>
                                        <p:cTn id="17" dur="1" fill="hold">
                                          <p:stCondLst>
                                            <p:cond delay="0"/>
                                          </p:stCondLst>
                                        </p:cTn>
                                        <p:tgtEl>
                                          <p:spTgt spid="216067"/>
                                        </p:tgtEl>
                                        <p:attrNameLst>
                                          <p:attrName>style.visibility</p:attrName>
                                        </p:attrNameLst>
                                      </p:cBhvr>
                                      <p:to>
                                        <p:strVal val="visible"/>
                                      </p:to>
                                    </p:set>
                                    <p:animEffect transition="in" filter="dissolve">
                                      <p:cBhvr>
                                        <p:cTn id="18" dur="500"/>
                                        <p:tgtEl>
                                          <p:spTgt spid="216067"/>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4" presetClass="entr" presetSubtype="16" fill="hold" nodeType="clickEffect">
                                  <p:stCondLst>
                                    <p:cond delay="0"/>
                                  </p:stCondLst>
                                  <p:childTnLst>
                                    <p:set>
                                      <p:cBhvr>
                                        <p:cTn id="22" dur="1" fill="hold">
                                          <p:stCondLst>
                                            <p:cond delay="0"/>
                                          </p:stCondLst>
                                        </p:cTn>
                                        <p:tgtEl>
                                          <p:spTgt spid="216066"/>
                                        </p:tgtEl>
                                        <p:attrNameLst>
                                          <p:attrName>style.visibility</p:attrName>
                                        </p:attrNameLst>
                                      </p:cBhvr>
                                      <p:to>
                                        <p:strVal val="visible"/>
                                      </p:to>
                                    </p:set>
                                    <p:animEffect transition="in" filter="box(in)">
                                      <p:cBhvr>
                                        <p:cTn id="23" dur="500"/>
                                        <p:tgtEl>
                                          <p:spTgt spid="216066"/>
                                        </p:tgtEl>
                                      </p:cBhvr>
                                    </p:animEffect>
                                  </p:childTnLst>
                                </p:cTn>
                              </p:par>
                            </p:childTnLst>
                          </p:cTn>
                        </p:par>
                        <p:par>
                          <p:cTn id="24" fill="hold" nodeType="afterGroup">
                            <p:stCondLst>
                              <p:cond delay="500"/>
                            </p:stCondLst>
                            <p:childTnLst>
                              <p:par>
                                <p:cTn id="25" presetID="4" presetClass="entr" presetSubtype="32" fill="hold" nodeType="afterEffect">
                                  <p:stCondLst>
                                    <p:cond delay="0"/>
                                  </p:stCondLst>
                                  <p:childTnLst>
                                    <p:set>
                                      <p:cBhvr>
                                        <p:cTn id="26" dur="1" fill="hold">
                                          <p:stCondLst>
                                            <p:cond delay="0"/>
                                          </p:stCondLst>
                                        </p:cTn>
                                        <p:tgtEl>
                                          <p:spTgt spid="216071"/>
                                        </p:tgtEl>
                                        <p:attrNameLst>
                                          <p:attrName>style.visibility</p:attrName>
                                        </p:attrNameLst>
                                      </p:cBhvr>
                                      <p:to>
                                        <p:strVal val="visible"/>
                                      </p:to>
                                    </p:set>
                                    <p:animEffect transition="in" filter="box(out)">
                                      <p:cBhvr>
                                        <p:cTn id="27" dur="500"/>
                                        <p:tgtEl>
                                          <p:spTgt spid="21607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32" fill="hold" nodeType="clickEffect">
                                  <p:stCondLst>
                                    <p:cond delay="0"/>
                                  </p:stCondLst>
                                  <p:childTnLst>
                                    <p:set>
                                      <p:cBhvr>
                                        <p:cTn id="31" dur="1" fill="hold">
                                          <p:stCondLst>
                                            <p:cond delay="0"/>
                                          </p:stCondLst>
                                        </p:cTn>
                                        <p:tgtEl>
                                          <p:spTgt spid="216072"/>
                                        </p:tgtEl>
                                        <p:attrNameLst>
                                          <p:attrName>style.visibility</p:attrName>
                                        </p:attrNameLst>
                                      </p:cBhvr>
                                      <p:to>
                                        <p:strVal val="visible"/>
                                      </p:to>
                                    </p:set>
                                    <p:animEffect transition="in" filter="box(out)">
                                      <p:cBhvr>
                                        <p:cTn id="32" dur="500"/>
                                        <p:tgtEl>
                                          <p:spTgt spid="216072"/>
                                        </p:tgtEl>
                                      </p:cBhvr>
                                    </p:animEffect>
                                  </p:childTnLst>
                                </p:cTn>
                              </p:par>
                            </p:childTnLst>
                          </p:cTn>
                        </p:par>
                        <p:par>
                          <p:cTn id="33" fill="hold" nodeType="afterGroup">
                            <p:stCondLst>
                              <p:cond delay="500"/>
                            </p:stCondLst>
                            <p:childTnLst>
                              <p:par>
                                <p:cTn id="34" presetID="9" presetClass="entr" presetSubtype="0" fill="hold" grpId="0" nodeType="afterEffect">
                                  <p:stCondLst>
                                    <p:cond delay="0"/>
                                  </p:stCondLst>
                                  <p:childTnLst>
                                    <p:set>
                                      <p:cBhvr>
                                        <p:cTn id="35" dur="1" fill="hold">
                                          <p:stCondLst>
                                            <p:cond delay="0"/>
                                          </p:stCondLst>
                                        </p:cTn>
                                        <p:tgtEl>
                                          <p:spTgt spid="216073"/>
                                        </p:tgtEl>
                                        <p:attrNameLst>
                                          <p:attrName>style.visibility</p:attrName>
                                        </p:attrNameLst>
                                      </p:cBhvr>
                                      <p:to>
                                        <p:strVal val="visible"/>
                                      </p:to>
                                    </p:set>
                                    <p:animEffect transition="in" filter="dissolve">
                                      <p:cBhvr>
                                        <p:cTn id="36" dur="500"/>
                                        <p:tgtEl>
                                          <p:spTgt spid="216073"/>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3" presetClass="entr" presetSubtype="10" fill="hold" grpId="0" nodeType="clickEffect">
                                  <p:stCondLst>
                                    <p:cond delay="0"/>
                                  </p:stCondLst>
                                  <p:childTnLst>
                                    <p:set>
                                      <p:cBhvr>
                                        <p:cTn id="40" dur="1" fill="hold">
                                          <p:stCondLst>
                                            <p:cond delay="0"/>
                                          </p:stCondLst>
                                        </p:cTn>
                                        <p:tgtEl>
                                          <p:spTgt spid="216074"/>
                                        </p:tgtEl>
                                        <p:attrNameLst>
                                          <p:attrName>style.visibility</p:attrName>
                                        </p:attrNameLst>
                                      </p:cBhvr>
                                      <p:to>
                                        <p:strVal val="visible"/>
                                      </p:to>
                                    </p:set>
                                    <p:animEffect transition="in" filter="blinds(horizontal)">
                                      <p:cBhvr>
                                        <p:cTn id="41" dur="500"/>
                                        <p:tgtEl>
                                          <p:spTgt spid="216074"/>
                                        </p:tgtEl>
                                      </p:cBhvr>
                                    </p:animEffect>
                                  </p:childTnLst>
                                </p:cTn>
                              </p:par>
                            </p:childTnLst>
                          </p:cTn>
                        </p:par>
                        <p:par>
                          <p:cTn id="42" fill="hold" nodeType="afterGroup">
                            <p:stCondLst>
                              <p:cond delay="500"/>
                            </p:stCondLst>
                            <p:childTnLst>
                              <p:par>
                                <p:cTn id="43" presetID="3" presetClass="entr" presetSubtype="10" fill="hold" grpId="0" nodeType="afterEffect">
                                  <p:stCondLst>
                                    <p:cond delay="0"/>
                                  </p:stCondLst>
                                  <p:childTnLst>
                                    <p:set>
                                      <p:cBhvr>
                                        <p:cTn id="44" dur="1" fill="hold">
                                          <p:stCondLst>
                                            <p:cond delay="0"/>
                                          </p:stCondLst>
                                        </p:cTn>
                                        <p:tgtEl>
                                          <p:spTgt spid="216075"/>
                                        </p:tgtEl>
                                        <p:attrNameLst>
                                          <p:attrName>style.visibility</p:attrName>
                                        </p:attrNameLst>
                                      </p:cBhvr>
                                      <p:to>
                                        <p:strVal val="visible"/>
                                      </p:to>
                                    </p:set>
                                    <p:animEffect transition="in" filter="blinds(horizontal)">
                                      <p:cBhvr>
                                        <p:cTn id="45" dur="500"/>
                                        <p:tgtEl>
                                          <p:spTgt spid="216075"/>
                                        </p:tgtEl>
                                      </p:cBhvr>
                                    </p:animEffect>
                                  </p:childTnLst>
                                </p:cTn>
                              </p:par>
                            </p:childTnLst>
                          </p:cTn>
                        </p:par>
                        <p:par>
                          <p:cTn id="46" fill="hold" nodeType="afterGroup">
                            <p:stCondLst>
                              <p:cond delay="1000"/>
                            </p:stCondLst>
                            <p:childTnLst>
                              <p:par>
                                <p:cTn id="47" presetID="3" presetClass="entr" presetSubtype="10" fill="hold" grpId="0" nodeType="afterEffect">
                                  <p:stCondLst>
                                    <p:cond delay="0"/>
                                  </p:stCondLst>
                                  <p:childTnLst>
                                    <p:set>
                                      <p:cBhvr>
                                        <p:cTn id="48" dur="1" fill="hold">
                                          <p:stCondLst>
                                            <p:cond delay="0"/>
                                          </p:stCondLst>
                                        </p:cTn>
                                        <p:tgtEl>
                                          <p:spTgt spid="216076"/>
                                        </p:tgtEl>
                                        <p:attrNameLst>
                                          <p:attrName>style.visibility</p:attrName>
                                        </p:attrNameLst>
                                      </p:cBhvr>
                                      <p:to>
                                        <p:strVal val="visible"/>
                                      </p:to>
                                    </p:set>
                                    <p:animEffect transition="in" filter="blinds(horizontal)">
                                      <p:cBhvr>
                                        <p:cTn id="49" dur="500"/>
                                        <p:tgtEl>
                                          <p:spTgt spid="216076"/>
                                        </p:tgtEl>
                                      </p:cBhvr>
                                    </p:animEffect>
                                  </p:childTnLst>
                                </p:cTn>
                              </p:par>
                            </p:childTnLst>
                          </p:cTn>
                        </p:par>
                        <p:par>
                          <p:cTn id="50" fill="hold" nodeType="afterGroup">
                            <p:stCondLst>
                              <p:cond delay="1500"/>
                            </p:stCondLst>
                            <p:childTnLst>
                              <p:par>
                                <p:cTn id="51" presetID="3" presetClass="entr" presetSubtype="10" fill="hold" grpId="0" nodeType="afterEffect">
                                  <p:stCondLst>
                                    <p:cond delay="0"/>
                                  </p:stCondLst>
                                  <p:childTnLst>
                                    <p:set>
                                      <p:cBhvr>
                                        <p:cTn id="52" dur="1" fill="hold">
                                          <p:stCondLst>
                                            <p:cond delay="0"/>
                                          </p:stCondLst>
                                        </p:cTn>
                                        <p:tgtEl>
                                          <p:spTgt spid="216077"/>
                                        </p:tgtEl>
                                        <p:attrNameLst>
                                          <p:attrName>style.visibility</p:attrName>
                                        </p:attrNameLst>
                                      </p:cBhvr>
                                      <p:to>
                                        <p:strVal val="visible"/>
                                      </p:to>
                                    </p:set>
                                    <p:animEffect transition="in" filter="blinds(horizontal)">
                                      <p:cBhvr>
                                        <p:cTn id="53" dur="500"/>
                                        <p:tgtEl>
                                          <p:spTgt spid="2160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6068" grpId="0"/>
      <p:bldP spid="4102" grpId="0"/>
      <p:bldP spid="216073" grpId="0" autoUpdateAnimBg="0"/>
      <p:bldP spid="216074" grpId="0"/>
      <p:bldP spid="216075" grpId="0"/>
      <p:bldP spid="216076" grpId="0"/>
      <p:bldP spid="21607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Rectangle 2">
            <a:extLst>
              <a:ext uri="{FF2B5EF4-FFF2-40B4-BE49-F238E27FC236}">
                <a16:creationId xmlns:a16="http://schemas.microsoft.com/office/drawing/2014/main" id="{DD3BDC3D-18C2-40D6-B7E8-985D22B30C95}"/>
              </a:ext>
            </a:extLst>
          </p:cNvPr>
          <p:cNvSpPr>
            <a:spLocks noChangeArrowheads="1"/>
          </p:cNvSpPr>
          <p:nvPr/>
        </p:nvSpPr>
        <p:spPr bwMode="auto">
          <a:xfrm>
            <a:off x="755650" y="1441450"/>
            <a:ext cx="7905750" cy="4176713"/>
          </a:xfrm>
          <a:prstGeom prst="rect">
            <a:avLst/>
          </a:prstGeom>
          <a:solidFill>
            <a:srgbClr val="336699">
              <a:alpha val="32156"/>
            </a:srgbClr>
          </a:solidFill>
          <a:ln w="9525">
            <a:miter lim="800000"/>
            <a:headEnd/>
            <a:tailEnd/>
          </a:ln>
          <a:scene3d>
            <a:camera prst="legacyObliqueTopRight"/>
            <a:lightRig rig="legacyFlat3" dir="r"/>
          </a:scene3d>
          <a:sp3d extrusionH="36500" prstMaterial="legacyMatte">
            <a:bevelT w="13500" h="13500" prst="angle"/>
            <a:bevelB w="13500" h="13500" prst="angle"/>
            <a:extrusionClr>
              <a:srgbClr val="336699"/>
            </a:extrusionClr>
            <a:contourClr>
              <a:srgbClr val="336699"/>
            </a:contourClr>
          </a:sp3d>
        </p:spPr>
        <p:txBody>
          <a:bodyPr wrap="none" anchor="ctr">
            <a:flatTx/>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a:solidFill>
                <a:srgbClr val="FF9900"/>
              </a:solidFill>
              <a:latin typeface="Arial" panose="020B0604020202020204" pitchFamily="34" charset="0"/>
              <a:ea typeface="仿宋_GB2312" pitchFamily="49" charset="-122"/>
            </a:endParaRPr>
          </a:p>
        </p:txBody>
      </p:sp>
      <p:pic>
        <p:nvPicPr>
          <p:cNvPr id="217091" name="Picture 3" descr="能级分裂3">
            <a:extLst>
              <a:ext uri="{FF2B5EF4-FFF2-40B4-BE49-F238E27FC236}">
                <a16:creationId xmlns:a16="http://schemas.microsoft.com/office/drawing/2014/main" id="{A18268E4-9019-4F8C-A226-0AFDA1830F17}"/>
              </a:ext>
            </a:extLst>
          </p:cNvPr>
          <p:cNvPicPr>
            <a:picLocks noChangeAspect="1" noChangeArrowheads="1"/>
          </p:cNvPicPr>
          <p:nvPr/>
        </p:nvPicPr>
        <p:blipFill>
          <a:blip r:embed="rId4">
            <a:clrChange>
              <a:clrFrom>
                <a:srgbClr val="006599"/>
              </a:clrFrom>
              <a:clrTo>
                <a:srgbClr val="006599">
                  <a:alpha val="0"/>
                </a:srgbClr>
              </a:clrTo>
            </a:clrChange>
            <a:extLst>
              <a:ext uri="{28A0092B-C50C-407E-A947-70E740481C1C}">
                <a14:useLocalDpi xmlns:a14="http://schemas.microsoft.com/office/drawing/2010/main" val="0"/>
              </a:ext>
            </a:extLst>
          </a:blip>
          <a:srcRect l="3334" t="1469" r="3284" b="15942"/>
          <a:stretch>
            <a:fillRect/>
          </a:stretch>
        </p:blipFill>
        <p:spPr bwMode="auto">
          <a:xfrm>
            <a:off x="1244600" y="1455738"/>
            <a:ext cx="5329238" cy="3614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7092" name="Line 4">
            <a:extLst>
              <a:ext uri="{FF2B5EF4-FFF2-40B4-BE49-F238E27FC236}">
                <a16:creationId xmlns:a16="http://schemas.microsoft.com/office/drawing/2014/main" id="{48C6B0DD-1CE4-413E-8CD1-742C724490EB}"/>
              </a:ext>
            </a:extLst>
          </p:cNvPr>
          <p:cNvSpPr>
            <a:spLocks noChangeShapeType="1"/>
          </p:cNvSpPr>
          <p:nvPr/>
        </p:nvSpPr>
        <p:spPr bwMode="auto">
          <a:xfrm flipV="1">
            <a:off x="4154488" y="1516063"/>
            <a:ext cx="0" cy="3540125"/>
          </a:xfrm>
          <a:prstGeom prst="line">
            <a:avLst/>
          </a:prstGeom>
          <a:noFill/>
          <a:ln w="28575">
            <a:solidFill>
              <a:srgbClr val="0066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7093" name="Text Box 5">
            <a:extLst>
              <a:ext uri="{FF2B5EF4-FFF2-40B4-BE49-F238E27FC236}">
                <a16:creationId xmlns:a16="http://schemas.microsoft.com/office/drawing/2014/main" id="{BF677375-8864-4FAA-91D7-6762EA1718E6}"/>
              </a:ext>
            </a:extLst>
          </p:cNvPr>
          <p:cNvSpPr txBox="1">
            <a:spLocks noChangeArrowheads="1"/>
          </p:cNvSpPr>
          <p:nvPr/>
        </p:nvSpPr>
        <p:spPr bwMode="auto">
          <a:xfrm>
            <a:off x="785813" y="847725"/>
            <a:ext cx="280828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buClr>
                <a:srgbClr val="FF9900"/>
              </a:buClr>
              <a:buSzPct val="85000"/>
              <a:buFont typeface="Wingdings" panose="05000000000000000000" pitchFamily="2" charset="2"/>
              <a:buChar char="l"/>
            </a:pPr>
            <a:r>
              <a:rPr lang="en-US" altLang="zh-CN">
                <a:solidFill>
                  <a:schemeClr val="bg1"/>
                </a:solidFill>
                <a:latin typeface="宋体" panose="02010600030101010101" pitchFamily="2" charset="-122"/>
                <a:ea typeface="仿宋_GB2312" pitchFamily="49" charset="-122"/>
              </a:rPr>
              <a:t> </a:t>
            </a:r>
            <a:r>
              <a:rPr lang="zh-CN" altLang="en-US">
                <a:solidFill>
                  <a:schemeClr val="bg1"/>
                </a:solidFill>
                <a:latin typeface="宋体" panose="02010600030101010101" pitchFamily="2" charset="-122"/>
                <a:ea typeface="仿宋_GB2312" pitchFamily="49" charset="-122"/>
              </a:rPr>
              <a:t>泡利不相容原理</a:t>
            </a:r>
          </a:p>
        </p:txBody>
      </p:sp>
      <p:sp>
        <p:nvSpPr>
          <p:cNvPr id="217094" name="Text Box 6">
            <a:extLst>
              <a:ext uri="{FF2B5EF4-FFF2-40B4-BE49-F238E27FC236}">
                <a16:creationId xmlns:a16="http://schemas.microsoft.com/office/drawing/2014/main" id="{4F56AD4D-976B-45FC-9974-E8A59AF2B4BE}"/>
              </a:ext>
            </a:extLst>
          </p:cNvPr>
          <p:cNvSpPr txBox="1">
            <a:spLocks noChangeArrowheads="1"/>
          </p:cNvSpPr>
          <p:nvPr/>
        </p:nvSpPr>
        <p:spPr bwMode="auto">
          <a:xfrm>
            <a:off x="7077075" y="4673600"/>
            <a:ext cx="750888" cy="396875"/>
          </a:xfrm>
          <a:prstGeom prst="rect">
            <a:avLst/>
          </a:prstGeom>
          <a:solidFill>
            <a:srgbClr val="33CC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bg1"/>
                </a:solidFill>
              </a:rPr>
              <a:t>2×</a:t>
            </a:r>
            <a:r>
              <a:rPr lang="en-US" altLang="zh-CN" sz="2000" i="1">
                <a:solidFill>
                  <a:schemeClr val="bg1"/>
                </a:solidFill>
              </a:rPr>
              <a:t>N</a:t>
            </a:r>
          </a:p>
        </p:txBody>
      </p:sp>
      <p:sp>
        <p:nvSpPr>
          <p:cNvPr id="217095" name="Text Box 7">
            <a:extLst>
              <a:ext uri="{FF2B5EF4-FFF2-40B4-BE49-F238E27FC236}">
                <a16:creationId xmlns:a16="http://schemas.microsoft.com/office/drawing/2014/main" id="{E8B1AB5F-6A4E-43F3-9111-6C97728275A3}"/>
              </a:ext>
            </a:extLst>
          </p:cNvPr>
          <p:cNvSpPr txBox="1">
            <a:spLocks noChangeArrowheads="1"/>
          </p:cNvSpPr>
          <p:nvPr/>
        </p:nvSpPr>
        <p:spPr bwMode="auto">
          <a:xfrm>
            <a:off x="7077075" y="4071938"/>
            <a:ext cx="750888" cy="396875"/>
          </a:xfrm>
          <a:prstGeom prst="rect">
            <a:avLst/>
          </a:prstGeom>
          <a:solidFill>
            <a:srgbClr val="33CC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bg1"/>
                </a:solidFill>
              </a:rPr>
              <a:t>2×</a:t>
            </a:r>
            <a:r>
              <a:rPr lang="en-US" altLang="zh-CN" sz="2000" i="1">
                <a:solidFill>
                  <a:schemeClr val="bg1"/>
                </a:solidFill>
              </a:rPr>
              <a:t>N</a:t>
            </a:r>
          </a:p>
        </p:txBody>
      </p:sp>
      <p:sp>
        <p:nvSpPr>
          <p:cNvPr id="217096" name="Text Box 8">
            <a:extLst>
              <a:ext uri="{FF2B5EF4-FFF2-40B4-BE49-F238E27FC236}">
                <a16:creationId xmlns:a16="http://schemas.microsoft.com/office/drawing/2014/main" id="{11608FBD-40FC-4997-84FD-444D5D76CD02}"/>
              </a:ext>
            </a:extLst>
          </p:cNvPr>
          <p:cNvSpPr txBox="1">
            <a:spLocks noChangeArrowheads="1"/>
          </p:cNvSpPr>
          <p:nvPr/>
        </p:nvSpPr>
        <p:spPr bwMode="auto">
          <a:xfrm>
            <a:off x="7077075" y="2873375"/>
            <a:ext cx="750888" cy="396875"/>
          </a:xfrm>
          <a:prstGeom prst="rect">
            <a:avLst/>
          </a:prstGeom>
          <a:solidFill>
            <a:srgbClr val="33CC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bg1"/>
                </a:solidFill>
              </a:rPr>
              <a:t>2×</a:t>
            </a:r>
            <a:r>
              <a:rPr lang="en-US" altLang="zh-CN" sz="2000" i="1">
                <a:solidFill>
                  <a:schemeClr val="bg1"/>
                </a:solidFill>
              </a:rPr>
              <a:t>N</a:t>
            </a:r>
          </a:p>
        </p:txBody>
      </p:sp>
      <p:sp>
        <p:nvSpPr>
          <p:cNvPr id="217097" name="Text Box 9">
            <a:extLst>
              <a:ext uri="{FF2B5EF4-FFF2-40B4-BE49-F238E27FC236}">
                <a16:creationId xmlns:a16="http://schemas.microsoft.com/office/drawing/2014/main" id="{F3B5A8BE-2693-4062-BE4F-9FEB29399CB7}"/>
              </a:ext>
            </a:extLst>
          </p:cNvPr>
          <p:cNvSpPr txBox="1">
            <a:spLocks noChangeArrowheads="1"/>
          </p:cNvSpPr>
          <p:nvPr/>
        </p:nvSpPr>
        <p:spPr bwMode="auto">
          <a:xfrm>
            <a:off x="7077075" y="3495675"/>
            <a:ext cx="750888" cy="3968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bg1"/>
                </a:solidFill>
              </a:rPr>
              <a:t>6×</a:t>
            </a:r>
            <a:r>
              <a:rPr lang="en-US" altLang="zh-CN" sz="2000" i="1">
                <a:solidFill>
                  <a:schemeClr val="bg1"/>
                </a:solidFill>
              </a:rPr>
              <a:t>N</a:t>
            </a:r>
          </a:p>
        </p:txBody>
      </p:sp>
      <p:sp>
        <p:nvSpPr>
          <p:cNvPr id="217098" name="Text Box 10">
            <a:extLst>
              <a:ext uri="{FF2B5EF4-FFF2-40B4-BE49-F238E27FC236}">
                <a16:creationId xmlns:a16="http://schemas.microsoft.com/office/drawing/2014/main" id="{9B06DC02-A2F9-45BC-B830-5545C77B1677}"/>
              </a:ext>
            </a:extLst>
          </p:cNvPr>
          <p:cNvSpPr txBox="1">
            <a:spLocks noChangeArrowheads="1"/>
          </p:cNvSpPr>
          <p:nvPr/>
        </p:nvSpPr>
        <p:spPr bwMode="auto">
          <a:xfrm>
            <a:off x="7077075" y="2225675"/>
            <a:ext cx="750888" cy="3968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bg1"/>
                </a:solidFill>
              </a:rPr>
              <a:t>6×</a:t>
            </a:r>
            <a:r>
              <a:rPr lang="en-US" altLang="zh-CN" sz="2000" i="1">
                <a:solidFill>
                  <a:schemeClr val="bg1"/>
                </a:solidFill>
              </a:rPr>
              <a:t>N</a:t>
            </a:r>
          </a:p>
        </p:txBody>
      </p:sp>
      <p:sp>
        <p:nvSpPr>
          <p:cNvPr id="217099" name="Text Box 11">
            <a:extLst>
              <a:ext uri="{FF2B5EF4-FFF2-40B4-BE49-F238E27FC236}">
                <a16:creationId xmlns:a16="http://schemas.microsoft.com/office/drawing/2014/main" id="{5522BD96-9D09-48E0-B5E1-74AC051F340A}"/>
              </a:ext>
            </a:extLst>
          </p:cNvPr>
          <p:cNvSpPr txBox="1">
            <a:spLocks noChangeArrowheads="1"/>
          </p:cNvSpPr>
          <p:nvPr/>
        </p:nvSpPr>
        <p:spPr bwMode="auto">
          <a:xfrm>
            <a:off x="7077075" y="1576388"/>
            <a:ext cx="877888" cy="396875"/>
          </a:xfrm>
          <a:prstGeom prst="rect">
            <a:avLst/>
          </a:prstGeom>
          <a:solidFill>
            <a:srgbClr val="3399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bg1"/>
                </a:solidFill>
              </a:rPr>
              <a:t>10×</a:t>
            </a:r>
            <a:r>
              <a:rPr lang="en-US" altLang="zh-CN" sz="2000" i="1">
                <a:solidFill>
                  <a:schemeClr val="bg1"/>
                </a:solidFill>
              </a:rPr>
              <a:t>N</a:t>
            </a:r>
          </a:p>
        </p:txBody>
      </p:sp>
      <p:sp>
        <p:nvSpPr>
          <p:cNvPr id="217100" name="Text Box 12">
            <a:extLst>
              <a:ext uri="{FF2B5EF4-FFF2-40B4-BE49-F238E27FC236}">
                <a16:creationId xmlns:a16="http://schemas.microsoft.com/office/drawing/2014/main" id="{3E17884B-FD65-4D60-92DE-3DA9BC4F810D}"/>
              </a:ext>
            </a:extLst>
          </p:cNvPr>
          <p:cNvSpPr txBox="1">
            <a:spLocks noChangeArrowheads="1"/>
          </p:cNvSpPr>
          <p:nvPr/>
        </p:nvSpPr>
        <p:spPr bwMode="auto">
          <a:xfrm>
            <a:off x="612775" y="307975"/>
            <a:ext cx="70310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rgbClr val="FFFF00"/>
                </a:solidFill>
              </a:rPr>
              <a:t>四、能带中电子的分布        满带、价带、空带</a:t>
            </a:r>
          </a:p>
        </p:txBody>
      </p:sp>
      <p:graphicFrame>
        <p:nvGraphicFramePr>
          <p:cNvPr id="217101" name="Object 2">
            <a:extLst>
              <a:ext uri="{FF2B5EF4-FFF2-40B4-BE49-F238E27FC236}">
                <a16:creationId xmlns:a16="http://schemas.microsoft.com/office/drawing/2014/main" id="{248A3D11-8FFA-4A9F-9E87-49C24E2B3B9A}"/>
              </a:ext>
            </a:extLst>
          </p:cNvPr>
          <p:cNvGraphicFramePr>
            <a:graphicFrameLocks noChangeAspect="1"/>
          </p:cNvGraphicFramePr>
          <p:nvPr/>
        </p:nvGraphicFramePr>
        <p:xfrm>
          <a:off x="3630613" y="857250"/>
          <a:ext cx="1655762" cy="433388"/>
        </p:xfrm>
        <a:graphic>
          <a:graphicData uri="http://schemas.openxmlformats.org/presentationml/2006/ole">
            <mc:AlternateContent xmlns:mc="http://schemas.openxmlformats.org/markup-compatibility/2006">
              <mc:Choice xmlns:v="urn:schemas-microsoft-com:vml" Requires="v">
                <p:oleObj spid="_x0000_s563240" name="Equation" r:id="rId5" imgW="1585102" imgH="365666" progId="Equation.DSMT4">
                  <p:embed/>
                </p:oleObj>
              </mc:Choice>
              <mc:Fallback>
                <p:oleObj name="Equation" r:id="rId5" imgW="1585102" imgH="365666" progId="Equation.DSMT4">
                  <p:embed/>
                  <p:pic>
                    <p:nvPicPr>
                      <p:cNvPr id="217101" name="Object 2">
                        <a:extLst>
                          <a:ext uri="{FF2B5EF4-FFF2-40B4-BE49-F238E27FC236}">
                            <a16:creationId xmlns:a16="http://schemas.microsoft.com/office/drawing/2014/main" id="{248A3D11-8FFA-4A9F-9E87-49C24E2B3B9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30613" y="857250"/>
                        <a:ext cx="1655762" cy="433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17102" name="Text Box 14">
            <a:extLst>
              <a:ext uri="{FF2B5EF4-FFF2-40B4-BE49-F238E27FC236}">
                <a16:creationId xmlns:a16="http://schemas.microsoft.com/office/drawing/2014/main" id="{5A72A5A7-8664-46C4-B103-CEF72CA92361}"/>
              </a:ext>
            </a:extLst>
          </p:cNvPr>
          <p:cNvSpPr txBox="1">
            <a:spLocks noChangeArrowheads="1"/>
          </p:cNvSpPr>
          <p:nvPr/>
        </p:nvSpPr>
        <p:spPr bwMode="auto">
          <a:xfrm>
            <a:off x="846138" y="5635625"/>
            <a:ext cx="26543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buClr>
                <a:srgbClr val="FF9900"/>
              </a:buClr>
              <a:buSzPct val="85000"/>
              <a:buFont typeface="Wingdings" panose="05000000000000000000" pitchFamily="2" charset="2"/>
              <a:buChar char="l"/>
            </a:pPr>
            <a:r>
              <a:rPr lang="en-US" altLang="zh-CN">
                <a:solidFill>
                  <a:schemeClr val="bg1"/>
                </a:solidFill>
                <a:latin typeface="宋体" panose="02010600030101010101" pitchFamily="2" charset="-122"/>
                <a:ea typeface="仿宋_GB2312" pitchFamily="49" charset="-122"/>
              </a:rPr>
              <a:t> </a:t>
            </a:r>
            <a:r>
              <a:rPr lang="zh-CN" altLang="en-US">
                <a:solidFill>
                  <a:schemeClr val="bg1"/>
                </a:solidFill>
                <a:latin typeface="宋体" panose="02010600030101010101" pitchFamily="2" charset="-122"/>
                <a:ea typeface="仿宋_GB2312" pitchFamily="49" charset="-122"/>
              </a:rPr>
              <a:t>能量最小原理</a:t>
            </a:r>
          </a:p>
        </p:txBody>
      </p:sp>
      <p:sp>
        <p:nvSpPr>
          <p:cNvPr id="217103" name="Text Box 15">
            <a:extLst>
              <a:ext uri="{FF2B5EF4-FFF2-40B4-BE49-F238E27FC236}">
                <a16:creationId xmlns:a16="http://schemas.microsoft.com/office/drawing/2014/main" id="{AB66C9CC-DE47-4E1B-BEF7-C6CDF1E891D8}"/>
              </a:ext>
            </a:extLst>
          </p:cNvPr>
          <p:cNvSpPr txBox="1">
            <a:spLocks noChangeArrowheads="1"/>
          </p:cNvSpPr>
          <p:nvPr/>
        </p:nvSpPr>
        <p:spPr bwMode="auto">
          <a:xfrm>
            <a:off x="1127125" y="5076825"/>
            <a:ext cx="20161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a:solidFill>
                  <a:srgbClr val="FF9900"/>
                </a:solidFill>
                <a:ea typeface="楷体_GB2312" pitchFamily="49" charset="-122"/>
              </a:rPr>
              <a:t>原子能级</a:t>
            </a:r>
          </a:p>
        </p:txBody>
      </p:sp>
      <p:sp>
        <p:nvSpPr>
          <p:cNvPr id="217104" name="Text Box 16">
            <a:extLst>
              <a:ext uri="{FF2B5EF4-FFF2-40B4-BE49-F238E27FC236}">
                <a16:creationId xmlns:a16="http://schemas.microsoft.com/office/drawing/2014/main" id="{B1526395-7A91-4EDB-B3E8-57931B449BA2}"/>
              </a:ext>
            </a:extLst>
          </p:cNvPr>
          <p:cNvSpPr txBox="1">
            <a:spLocks noChangeArrowheads="1"/>
          </p:cNvSpPr>
          <p:nvPr/>
        </p:nvSpPr>
        <p:spPr bwMode="auto">
          <a:xfrm>
            <a:off x="3836988" y="5076825"/>
            <a:ext cx="25923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a:solidFill>
                  <a:srgbClr val="FF9900"/>
                </a:solidFill>
                <a:ea typeface="楷体_GB2312" pitchFamily="49" charset="-122"/>
              </a:rPr>
              <a:t>晶体能级</a:t>
            </a:r>
            <a:r>
              <a:rPr lang="zh-CN" altLang="en-US" sz="1800">
                <a:solidFill>
                  <a:srgbClr val="FF9900"/>
                </a:solidFill>
                <a:ea typeface="楷体_GB2312" pitchFamily="49" charset="-122"/>
              </a:rPr>
              <a:t>（</a:t>
            </a:r>
            <a:r>
              <a:rPr lang="en-US" altLang="zh-CN" sz="1800">
                <a:solidFill>
                  <a:srgbClr val="FF9900"/>
                </a:solidFill>
                <a:ea typeface="楷体_GB2312" pitchFamily="49" charset="-122"/>
              </a:rPr>
              <a:t>N</a:t>
            </a:r>
            <a:r>
              <a:rPr lang="zh-CN" altLang="en-US" sz="1800">
                <a:solidFill>
                  <a:srgbClr val="FF9900"/>
                </a:solidFill>
                <a:ea typeface="楷体_GB2312" pitchFamily="49" charset="-122"/>
              </a:rPr>
              <a:t>个原子）</a:t>
            </a:r>
          </a:p>
        </p:txBody>
      </p:sp>
      <p:sp>
        <p:nvSpPr>
          <p:cNvPr id="217105" name="Text Box 17">
            <a:extLst>
              <a:ext uri="{FF2B5EF4-FFF2-40B4-BE49-F238E27FC236}">
                <a16:creationId xmlns:a16="http://schemas.microsoft.com/office/drawing/2014/main" id="{D7CB8124-6705-492E-9A71-E7EB5D622DE4}"/>
              </a:ext>
            </a:extLst>
          </p:cNvPr>
          <p:cNvSpPr txBox="1">
            <a:spLocks noChangeArrowheads="1"/>
          </p:cNvSpPr>
          <p:nvPr/>
        </p:nvSpPr>
        <p:spPr bwMode="auto">
          <a:xfrm>
            <a:off x="6394450" y="5106988"/>
            <a:ext cx="22669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1800">
                <a:solidFill>
                  <a:srgbClr val="FF9900"/>
                </a:solidFill>
                <a:ea typeface="楷体_GB2312" pitchFamily="49" charset="-122"/>
              </a:rPr>
              <a:t>最多容纳电子数</a:t>
            </a:r>
          </a:p>
        </p:txBody>
      </p:sp>
      <p:sp>
        <p:nvSpPr>
          <p:cNvPr id="217106" name="Text Box 18">
            <a:extLst>
              <a:ext uri="{FF2B5EF4-FFF2-40B4-BE49-F238E27FC236}">
                <a16:creationId xmlns:a16="http://schemas.microsoft.com/office/drawing/2014/main" id="{E51B79BD-C95C-49BB-BC5E-D282C9DC5281}"/>
              </a:ext>
            </a:extLst>
          </p:cNvPr>
          <p:cNvSpPr txBox="1">
            <a:spLocks noChangeArrowheads="1"/>
          </p:cNvSpPr>
          <p:nvPr/>
        </p:nvSpPr>
        <p:spPr bwMode="auto">
          <a:xfrm>
            <a:off x="857250" y="6113463"/>
            <a:ext cx="800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dirty="0">
                <a:solidFill>
                  <a:schemeClr val="bg1"/>
                </a:solidFill>
                <a:latin typeface="宋体" panose="02010600030101010101" pitchFamily="2" charset="-122"/>
                <a:ea typeface="仿宋_GB2312" pitchFamily="49" charset="-122"/>
              </a:rPr>
              <a:t>一般情况下，价带是被电子所填充的能量最高的能带</a:t>
            </a:r>
            <a:endParaRPr lang="en-US" altLang="zh-CN" dirty="0">
              <a:solidFill>
                <a:schemeClr val="bg1"/>
              </a:solidFill>
              <a:latin typeface="宋体" panose="02010600030101010101" pitchFamily="2" charset="-122"/>
              <a:ea typeface="仿宋_GB2312" pitchFamily="49" charset="-122"/>
            </a:endParaRPr>
          </a:p>
        </p:txBody>
      </p:sp>
      <p:sp>
        <p:nvSpPr>
          <p:cNvPr id="10259" name="灯片编号占位符 1">
            <a:extLst>
              <a:ext uri="{FF2B5EF4-FFF2-40B4-BE49-F238E27FC236}">
                <a16:creationId xmlns:a16="http://schemas.microsoft.com/office/drawing/2014/main" id="{976DFBE4-06E3-40A5-8577-E0B38741BAB2}"/>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AFFDD3A0-5EA2-4FB3-8E41-C5B0734E1AD4}" type="slidenum">
              <a:rPr lang="en-US" altLang="zh-CN" b="0">
                <a:solidFill>
                  <a:srgbClr val="FF00FF"/>
                </a:solidFill>
              </a:rPr>
              <a:pPr eaLnBrk="1" hangingPunct="1"/>
              <a:t>6</a:t>
            </a:fld>
            <a:r>
              <a:rPr lang="en-US" altLang="zh-CN" b="0">
                <a:solidFill>
                  <a:srgbClr val="FF00FF"/>
                </a:solidFill>
              </a:rPr>
              <a:t>/40</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17100"/>
                                        </p:tgtEl>
                                        <p:attrNameLst>
                                          <p:attrName>style.visibility</p:attrName>
                                        </p:attrNameLst>
                                      </p:cBhvr>
                                      <p:to>
                                        <p:strVal val="visible"/>
                                      </p:to>
                                    </p:set>
                                    <p:animEffect transition="in" filter="wipe(left)">
                                      <p:cBhvr>
                                        <p:cTn id="7" dur="500"/>
                                        <p:tgtEl>
                                          <p:spTgt spid="217100"/>
                                        </p:tgtEl>
                                      </p:cBhvr>
                                    </p:animEffect>
                                  </p:childTnLst>
                                </p:cTn>
                              </p:par>
                            </p:childTnLst>
                          </p:cTn>
                        </p:par>
                        <p:par>
                          <p:cTn id="8" fill="hold" nodeType="with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17093"/>
                                        </p:tgtEl>
                                        <p:attrNameLst>
                                          <p:attrName>style.visibility</p:attrName>
                                        </p:attrNameLst>
                                      </p:cBhvr>
                                      <p:to>
                                        <p:strVal val="visible"/>
                                      </p:to>
                                    </p:set>
                                    <p:animEffect transition="in" filter="wipe(left)">
                                      <p:cBhvr>
                                        <p:cTn id="11" dur="500"/>
                                        <p:tgtEl>
                                          <p:spTgt spid="217093"/>
                                        </p:tgtEl>
                                      </p:cBhvr>
                                    </p:animEffect>
                                  </p:childTnLst>
                                </p:cTn>
                              </p:par>
                            </p:childTnLst>
                          </p:cTn>
                        </p:par>
                        <p:par>
                          <p:cTn id="12" fill="hold" nodeType="afterGroup">
                            <p:stCondLst>
                              <p:cond delay="1000"/>
                            </p:stCondLst>
                            <p:childTnLst>
                              <p:par>
                                <p:cTn id="13" presetID="22" presetClass="entr" presetSubtype="8" fill="hold" nodeType="afterEffect">
                                  <p:stCondLst>
                                    <p:cond delay="0"/>
                                  </p:stCondLst>
                                  <p:childTnLst>
                                    <p:set>
                                      <p:cBhvr>
                                        <p:cTn id="14" dur="1" fill="hold">
                                          <p:stCondLst>
                                            <p:cond delay="0"/>
                                          </p:stCondLst>
                                        </p:cTn>
                                        <p:tgtEl>
                                          <p:spTgt spid="217101"/>
                                        </p:tgtEl>
                                        <p:attrNameLst>
                                          <p:attrName>style.visibility</p:attrName>
                                        </p:attrNameLst>
                                      </p:cBhvr>
                                      <p:to>
                                        <p:strVal val="visible"/>
                                      </p:to>
                                    </p:set>
                                    <p:animEffect transition="in" filter="wipe(left)">
                                      <p:cBhvr>
                                        <p:cTn id="15" dur="500"/>
                                        <p:tgtEl>
                                          <p:spTgt spid="217101"/>
                                        </p:tgtEl>
                                      </p:cBhvr>
                                    </p:animEffect>
                                  </p:childTnLst>
                                </p:cTn>
                              </p:par>
                            </p:childTnLst>
                          </p:cTn>
                        </p:par>
                        <p:par>
                          <p:cTn id="16" fill="hold" nodeType="afterGroup">
                            <p:stCondLst>
                              <p:cond delay="1500"/>
                            </p:stCondLst>
                            <p:childTnLst>
                              <p:par>
                                <p:cTn id="17" presetID="9" presetClass="entr" presetSubtype="0" fill="hold" grpId="0" nodeType="afterEffect">
                                  <p:stCondLst>
                                    <p:cond delay="0"/>
                                  </p:stCondLst>
                                  <p:childTnLst>
                                    <p:set>
                                      <p:cBhvr>
                                        <p:cTn id="18" dur="1" fill="hold">
                                          <p:stCondLst>
                                            <p:cond delay="0"/>
                                          </p:stCondLst>
                                        </p:cTn>
                                        <p:tgtEl>
                                          <p:spTgt spid="217102"/>
                                        </p:tgtEl>
                                        <p:attrNameLst>
                                          <p:attrName>style.visibility</p:attrName>
                                        </p:attrNameLst>
                                      </p:cBhvr>
                                      <p:to>
                                        <p:strVal val="visible"/>
                                      </p:to>
                                    </p:set>
                                    <p:animEffect transition="in" filter="dissolve">
                                      <p:cBhvr>
                                        <p:cTn id="19" dur="500"/>
                                        <p:tgtEl>
                                          <p:spTgt spid="217102"/>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4" presetClass="entr" presetSubtype="16" fill="hold" nodeType="clickEffect">
                                  <p:stCondLst>
                                    <p:cond delay="0"/>
                                  </p:stCondLst>
                                  <p:childTnLst>
                                    <p:set>
                                      <p:cBhvr>
                                        <p:cTn id="23" dur="1" fill="hold">
                                          <p:stCondLst>
                                            <p:cond delay="0"/>
                                          </p:stCondLst>
                                        </p:cTn>
                                        <p:tgtEl>
                                          <p:spTgt spid="217090"/>
                                        </p:tgtEl>
                                        <p:attrNameLst>
                                          <p:attrName>style.visibility</p:attrName>
                                        </p:attrNameLst>
                                      </p:cBhvr>
                                      <p:to>
                                        <p:strVal val="visible"/>
                                      </p:to>
                                    </p:set>
                                    <p:animEffect transition="in" filter="box(in)">
                                      <p:cBhvr>
                                        <p:cTn id="24" dur="500"/>
                                        <p:tgtEl>
                                          <p:spTgt spid="217090"/>
                                        </p:tgtEl>
                                      </p:cBhvr>
                                    </p:animEffect>
                                  </p:childTnLst>
                                </p:cTn>
                              </p:par>
                            </p:childTnLst>
                          </p:cTn>
                        </p:par>
                        <p:par>
                          <p:cTn id="25" fill="hold" nodeType="afterGroup">
                            <p:stCondLst>
                              <p:cond delay="500"/>
                            </p:stCondLst>
                            <p:childTnLst>
                              <p:par>
                                <p:cTn id="26" presetID="4" presetClass="entr" presetSubtype="16" fill="hold" nodeType="afterEffect">
                                  <p:stCondLst>
                                    <p:cond delay="0"/>
                                  </p:stCondLst>
                                  <p:childTnLst>
                                    <p:set>
                                      <p:cBhvr>
                                        <p:cTn id="27" dur="1" fill="hold">
                                          <p:stCondLst>
                                            <p:cond delay="0"/>
                                          </p:stCondLst>
                                        </p:cTn>
                                        <p:tgtEl>
                                          <p:spTgt spid="217091"/>
                                        </p:tgtEl>
                                        <p:attrNameLst>
                                          <p:attrName>style.visibility</p:attrName>
                                        </p:attrNameLst>
                                      </p:cBhvr>
                                      <p:to>
                                        <p:strVal val="visible"/>
                                      </p:to>
                                    </p:set>
                                    <p:animEffect transition="in" filter="box(in)">
                                      <p:cBhvr>
                                        <p:cTn id="28" dur="500"/>
                                        <p:tgtEl>
                                          <p:spTgt spid="217091"/>
                                        </p:tgtEl>
                                      </p:cBhvr>
                                    </p:animEffect>
                                  </p:childTnLst>
                                </p:cTn>
                              </p:par>
                            </p:childTnLst>
                          </p:cTn>
                        </p:par>
                        <p:par>
                          <p:cTn id="29" fill="hold" nodeType="afterGroup">
                            <p:stCondLst>
                              <p:cond delay="1000"/>
                            </p:stCondLst>
                            <p:childTnLst>
                              <p:par>
                                <p:cTn id="30" presetID="1" presetClass="entr" presetSubtype="0" fill="hold" nodeType="afterEffect">
                                  <p:stCondLst>
                                    <p:cond delay="0"/>
                                  </p:stCondLst>
                                  <p:childTnLst>
                                    <p:set>
                                      <p:cBhvr>
                                        <p:cTn id="31" dur="1" fill="hold">
                                          <p:stCondLst>
                                            <p:cond delay="0"/>
                                          </p:stCondLst>
                                        </p:cTn>
                                        <p:tgtEl>
                                          <p:spTgt spid="217092"/>
                                        </p:tgtEl>
                                        <p:attrNameLst>
                                          <p:attrName>style.visibility</p:attrName>
                                        </p:attrNameLst>
                                      </p:cBhvr>
                                      <p:to>
                                        <p:strVal val="visible"/>
                                      </p:to>
                                    </p:set>
                                  </p:childTnLst>
                                </p:cTn>
                              </p:par>
                            </p:childTnLst>
                          </p:cTn>
                        </p:par>
                        <p:par>
                          <p:cTn id="32" fill="hold" nodeType="afterGroup">
                            <p:stCondLst>
                              <p:cond delay="1000"/>
                            </p:stCondLst>
                            <p:childTnLst>
                              <p:par>
                                <p:cTn id="33" presetID="22" presetClass="entr" presetSubtype="8" fill="hold" grpId="0" nodeType="afterEffect">
                                  <p:stCondLst>
                                    <p:cond delay="0"/>
                                  </p:stCondLst>
                                  <p:childTnLst>
                                    <p:set>
                                      <p:cBhvr>
                                        <p:cTn id="34" dur="1" fill="hold">
                                          <p:stCondLst>
                                            <p:cond delay="0"/>
                                          </p:stCondLst>
                                        </p:cTn>
                                        <p:tgtEl>
                                          <p:spTgt spid="217103"/>
                                        </p:tgtEl>
                                        <p:attrNameLst>
                                          <p:attrName>style.visibility</p:attrName>
                                        </p:attrNameLst>
                                      </p:cBhvr>
                                      <p:to>
                                        <p:strVal val="visible"/>
                                      </p:to>
                                    </p:set>
                                    <p:animEffect transition="in" filter="wipe(left)">
                                      <p:cBhvr>
                                        <p:cTn id="35" dur="500"/>
                                        <p:tgtEl>
                                          <p:spTgt spid="217103"/>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217104"/>
                                        </p:tgtEl>
                                        <p:attrNameLst>
                                          <p:attrName>style.visibility</p:attrName>
                                        </p:attrNameLst>
                                      </p:cBhvr>
                                      <p:to>
                                        <p:strVal val="visible"/>
                                      </p:to>
                                    </p:set>
                                    <p:animEffect transition="in" filter="wipe(left)">
                                      <p:cBhvr>
                                        <p:cTn id="40" dur="500"/>
                                        <p:tgtEl>
                                          <p:spTgt spid="217104"/>
                                        </p:tgtEl>
                                      </p:cBhvr>
                                    </p:animEffect>
                                  </p:childTnLst>
                                </p:cTn>
                              </p:par>
                            </p:childTnLst>
                          </p:cTn>
                        </p:par>
                        <p:par>
                          <p:cTn id="41" fill="hold" nodeType="withGroup">
                            <p:stCondLst>
                              <p:cond delay="500"/>
                            </p:stCondLst>
                            <p:childTnLst>
                              <p:par>
                                <p:cTn id="42" presetID="22" presetClass="entr" presetSubtype="8" fill="hold" grpId="0" nodeType="afterEffect">
                                  <p:stCondLst>
                                    <p:cond delay="0"/>
                                  </p:stCondLst>
                                  <p:childTnLst>
                                    <p:set>
                                      <p:cBhvr>
                                        <p:cTn id="43" dur="1" fill="hold">
                                          <p:stCondLst>
                                            <p:cond delay="0"/>
                                          </p:stCondLst>
                                        </p:cTn>
                                        <p:tgtEl>
                                          <p:spTgt spid="217105"/>
                                        </p:tgtEl>
                                        <p:attrNameLst>
                                          <p:attrName>style.visibility</p:attrName>
                                        </p:attrNameLst>
                                      </p:cBhvr>
                                      <p:to>
                                        <p:strVal val="visible"/>
                                      </p:to>
                                    </p:set>
                                    <p:animEffect transition="in" filter="wipe(left)">
                                      <p:cBhvr>
                                        <p:cTn id="44" dur="500"/>
                                        <p:tgtEl>
                                          <p:spTgt spid="217105"/>
                                        </p:tgtEl>
                                      </p:cBhvr>
                                    </p:animEffect>
                                  </p:childTnLst>
                                </p:cTn>
                              </p:par>
                            </p:childTnLst>
                          </p:cTn>
                        </p:par>
                      </p:childTnLst>
                    </p:cTn>
                  </p:par>
                  <p:par>
                    <p:cTn id="45" fill="hold">
                      <p:stCondLst>
                        <p:cond delay="indefinite"/>
                      </p:stCondLst>
                      <p:childTnLst>
                        <p:par>
                          <p:cTn id="46" fill="hold" nodeType="withGroup">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217094"/>
                                        </p:tgtEl>
                                        <p:attrNameLst>
                                          <p:attrName>style.visibility</p:attrName>
                                        </p:attrNameLst>
                                      </p:cBhvr>
                                      <p:to>
                                        <p:strVal val="visible"/>
                                      </p:to>
                                    </p:set>
                                    <p:animEffect transition="in" filter="wipe(left)">
                                      <p:cBhvr>
                                        <p:cTn id="49" dur="500"/>
                                        <p:tgtEl>
                                          <p:spTgt spid="217094"/>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217095"/>
                                        </p:tgtEl>
                                        <p:attrNameLst>
                                          <p:attrName>style.visibility</p:attrName>
                                        </p:attrNameLst>
                                      </p:cBhvr>
                                      <p:to>
                                        <p:strVal val="visible"/>
                                      </p:to>
                                    </p:set>
                                    <p:animEffect transition="in" filter="wipe(left)">
                                      <p:cBhvr>
                                        <p:cTn id="54" dur="500"/>
                                        <p:tgtEl>
                                          <p:spTgt spid="217095"/>
                                        </p:tgtEl>
                                      </p:cBhvr>
                                    </p:animEffect>
                                  </p:childTnLst>
                                </p:cTn>
                              </p:par>
                            </p:childTnLst>
                          </p:cTn>
                        </p:par>
                        <p:par>
                          <p:cTn id="55" fill="hold" nodeType="afterGroup">
                            <p:stCondLst>
                              <p:cond delay="500"/>
                            </p:stCondLst>
                            <p:childTnLst>
                              <p:par>
                                <p:cTn id="56" presetID="22" presetClass="entr" presetSubtype="8" fill="hold" grpId="0" nodeType="afterEffect">
                                  <p:stCondLst>
                                    <p:cond delay="0"/>
                                  </p:stCondLst>
                                  <p:childTnLst>
                                    <p:set>
                                      <p:cBhvr>
                                        <p:cTn id="57" dur="1" fill="hold">
                                          <p:stCondLst>
                                            <p:cond delay="0"/>
                                          </p:stCondLst>
                                        </p:cTn>
                                        <p:tgtEl>
                                          <p:spTgt spid="217096"/>
                                        </p:tgtEl>
                                        <p:attrNameLst>
                                          <p:attrName>style.visibility</p:attrName>
                                        </p:attrNameLst>
                                      </p:cBhvr>
                                      <p:to>
                                        <p:strVal val="visible"/>
                                      </p:to>
                                    </p:set>
                                    <p:animEffect transition="in" filter="wipe(left)">
                                      <p:cBhvr>
                                        <p:cTn id="58" dur="500"/>
                                        <p:tgtEl>
                                          <p:spTgt spid="217096"/>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217097"/>
                                        </p:tgtEl>
                                        <p:attrNameLst>
                                          <p:attrName>style.visibility</p:attrName>
                                        </p:attrNameLst>
                                      </p:cBhvr>
                                      <p:to>
                                        <p:strVal val="visible"/>
                                      </p:to>
                                    </p:set>
                                    <p:animEffect transition="in" filter="wipe(left)">
                                      <p:cBhvr>
                                        <p:cTn id="63" dur="500"/>
                                        <p:tgtEl>
                                          <p:spTgt spid="217097"/>
                                        </p:tgtEl>
                                      </p:cBhvr>
                                    </p:animEffect>
                                  </p:childTnLst>
                                </p:cTn>
                              </p:par>
                            </p:childTnLst>
                          </p:cTn>
                        </p:par>
                        <p:par>
                          <p:cTn id="64" fill="hold" nodeType="afterGroup">
                            <p:stCondLst>
                              <p:cond delay="500"/>
                            </p:stCondLst>
                            <p:childTnLst>
                              <p:par>
                                <p:cTn id="65" presetID="22" presetClass="entr" presetSubtype="8" fill="hold" grpId="0" nodeType="afterEffect">
                                  <p:stCondLst>
                                    <p:cond delay="0"/>
                                  </p:stCondLst>
                                  <p:childTnLst>
                                    <p:set>
                                      <p:cBhvr>
                                        <p:cTn id="66" dur="1" fill="hold">
                                          <p:stCondLst>
                                            <p:cond delay="0"/>
                                          </p:stCondLst>
                                        </p:cTn>
                                        <p:tgtEl>
                                          <p:spTgt spid="217098"/>
                                        </p:tgtEl>
                                        <p:attrNameLst>
                                          <p:attrName>style.visibility</p:attrName>
                                        </p:attrNameLst>
                                      </p:cBhvr>
                                      <p:to>
                                        <p:strVal val="visible"/>
                                      </p:to>
                                    </p:set>
                                    <p:animEffect transition="in" filter="wipe(left)">
                                      <p:cBhvr>
                                        <p:cTn id="67" dur="500"/>
                                        <p:tgtEl>
                                          <p:spTgt spid="217098"/>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217099"/>
                                        </p:tgtEl>
                                        <p:attrNameLst>
                                          <p:attrName>style.visibility</p:attrName>
                                        </p:attrNameLst>
                                      </p:cBhvr>
                                      <p:to>
                                        <p:strVal val="visible"/>
                                      </p:to>
                                    </p:set>
                                    <p:animEffect transition="in" filter="wipe(left)">
                                      <p:cBhvr>
                                        <p:cTn id="72" dur="500"/>
                                        <p:tgtEl>
                                          <p:spTgt spid="217099"/>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217106"/>
                                        </p:tgtEl>
                                        <p:attrNameLst>
                                          <p:attrName>style.visibility</p:attrName>
                                        </p:attrNameLst>
                                      </p:cBhvr>
                                      <p:to>
                                        <p:strVal val="visible"/>
                                      </p:to>
                                    </p:set>
                                    <p:animEffect transition="in" filter="wipe(left)">
                                      <p:cBhvr>
                                        <p:cTn id="77" dur="500"/>
                                        <p:tgtEl>
                                          <p:spTgt spid="2171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7093" grpId="0"/>
      <p:bldP spid="217094" grpId="0" animBg="1"/>
      <p:bldP spid="217095" grpId="0" animBg="1"/>
      <p:bldP spid="217096" grpId="0" animBg="1"/>
      <p:bldP spid="217097" grpId="0" animBg="1"/>
      <p:bldP spid="217098" grpId="0" animBg="1"/>
      <p:bldP spid="217099" grpId="0" animBg="1"/>
      <p:bldP spid="217100" grpId="0"/>
      <p:bldP spid="217102" grpId="0" autoUpdateAnimBg="0"/>
      <p:bldP spid="217103" grpId="0"/>
      <p:bldP spid="217104" grpId="0"/>
      <p:bldP spid="217105" grpId="0"/>
      <p:bldP spid="21710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09EECA1C-EA25-42A1-A567-0B2D5CAF0BC4}"/>
              </a:ext>
            </a:extLst>
          </p:cNvPr>
          <p:cNvGrpSpPr>
            <a:grpSpLocks/>
          </p:cNvGrpSpPr>
          <p:nvPr/>
        </p:nvGrpSpPr>
        <p:grpSpPr bwMode="auto">
          <a:xfrm>
            <a:off x="2238375" y="4313238"/>
            <a:ext cx="1600200" cy="1687512"/>
            <a:chOff x="1521" y="2717"/>
            <a:chExt cx="1008" cy="1063"/>
          </a:xfrm>
        </p:grpSpPr>
        <p:sp>
          <p:nvSpPr>
            <p:cNvPr id="12368" name="Line 3">
              <a:extLst>
                <a:ext uri="{FF2B5EF4-FFF2-40B4-BE49-F238E27FC236}">
                  <a16:creationId xmlns:a16="http://schemas.microsoft.com/office/drawing/2014/main" id="{F9774D03-A755-4D09-908B-D9FF6B39DFC2}"/>
                </a:ext>
              </a:extLst>
            </p:cNvPr>
            <p:cNvSpPr>
              <a:spLocks noChangeShapeType="1"/>
            </p:cNvSpPr>
            <p:nvPr/>
          </p:nvSpPr>
          <p:spPr bwMode="auto">
            <a:xfrm>
              <a:off x="1521" y="2717"/>
              <a:ext cx="1008"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69" name="Line 4">
              <a:extLst>
                <a:ext uri="{FF2B5EF4-FFF2-40B4-BE49-F238E27FC236}">
                  <a16:creationId xmlns:a16="http://schemas.microsoft.com/office/drawing/2014/main" id="{4C72EFE7-BF11-4989-868E-E89A99247E91}"/>
                </a:ext>
              </a:extLst>
            </p:cNvPr>
            <p:cNvSpPr>
              <a:spLocks noChangeShapeType="1"/>
            </p:cNvSpPr>
            <p:nvPr/>
          </p:nvSpPr>
          <p:spPr bwMode="auto">
            <a:xfrm>
              <a:off x="1521" y="2861"/>
              <a:ext cx="1008"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70" name="Line 5">
              <a:extLst>
                <a:ext uri="{FF2B5EF4-FFF2-40B4-BE49-F238E27FC236}">
                  <a16:creationId xmlns:a16="http://schemas.microsoft.com/office/drawing/2014/main" id="{CC0A3525-AC9A-4D4A-9CAA-564601608724}"/>
                </a:ext>
              </a:extLst>
            </p:cNvPr>
            <p:cNvSpPr>
              <a:spLocks noChangeShapeType="1"/>
            </p:cNvSpPr>
            <p:nvPr/>
          </p:nvSpPr>
          <p:spPr bwMode="auto">
            <a:xfrm>
              <a:off x="1521" y="3005"/>
              <a:ext cx="1008"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71" name="Oval 6">
              <a:extLst>
                <a:ext uri="{FF2B5EF4-FFF2-40B4-BE49-F238E27FC236}">
                  <a16:creationId xmlns:a16="http://schemas.microsoft.com/office/drawing/2014/main" id="{C3E12A01-2D3E-4DE5-8DAB-2A016721A07E}"/>
                </a:ext>
              </a:extLst>
            </p:cNvPr>
            <p:cNvSpPr>
              <a:spLocks noChangeArrowheads="1"/>
            </p:cNvSpPr>
            <p:nvPr/>
          </p:nvSpPr>
          <p:spPr bwMode="auto">
            <a:xfrm>
              <a:off x="1713" y="2957"/>
              <a:ext cx="96" cy="96"/>
            </a:xfrm>
            <a:prstGeom prst="ellipse">
              <a:avLst/>
            </a:prstGeom>
            <a:solidFill>
              <a:srgbClr val="99CC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2372" name="Line 7">
              <a:extLst>
                <a:ext uri="{FF2B5EF4-FFF2-40B4-BE49-F238E27FC236}">
                  <a16:creationId xmlns:a16="http://schemas.microsoft.com/office/drawing/2014/main" id="{EC85CE03-54C5-4BAC-BFEC-4C47E211A4AE}"/>
                </a:ext>
              </a:extLst>
            </p:cNvPr>
            <p:cNvSpPr>
              <a:spLocks noChangeShapeType="1"/>
            </p:cNvSpPr>
            <p:nvPr/>
          </p:nvSpPr>
          <p:spPr bwMode="auto">
            <a:xfrm>
              <a:off x="1521" y="3149"/>
              <a:ext cx="1008"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73" name="Oval 8">
              <a:extLst>
                <a:ext uri="{FF2B5EF4-FFF2-40B4-BE49-F238E27FC236}">
                  <a16:creationId xmlns:a16="http://schemas.microsoft.com/office/drawing/2014/main" id="{3BDE8A50-3D67-434C-B304-A809B3A59A36}"/>
                </a:ext>
              </a:extLst>
            </p:cNvPr>
            <p:cNvSpPr>
              <a:spLocks noChangeArrowheads="1"/>
            </p:cNvSpPr>
            <p:nvPr/>
          </p:nvSpPr>
          <p:spPr bwMode="auto">
            <a:xfrm>
              <a:off x="2241" y="3101"/>
              <a:ext cx="96" cy="96"/>
            </a:xfrm>
            <a:prstGeom prst="ellipse">
              <a:avLst/>
            </a:prstGeom>
            <a:solidFill>
              <a:srgbClr val="99CC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2374" name="Oval 9">
              <a:extLst>
                <a:ext uri="{FF2B5EF4-FFF2-40B4-BE49-F238E27FC236}">
                  <a16:creationId xmlns:a16="http://schemas.microsoft.com/office/drawing/2014/main" id="{090C9873-514F-4BDC-8559-E2B078339E81}"/>
                </a:ext>
              </a:extLst>
            </p:cNvPr>
            <p:cNvSpPr>
              <a:spLocks noChangeArrowheads="1"/>
            </p:cNvSpPr>
            <p:nvPr/>
          </p:nvSpPr>
          <p:spPr bwMode="auto">
            <a:xfrm>
              <a:off x="1713" y="3101"/>
              <a:ext cx="96" cy="96"/>
            </a:xfrm>
            <a:prstGeom prst="ellipse">
              <a:avLst/>
            </a:prstGeom>
            <a:solidFill>
              <a:srgbClr val="99CC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2375" name="Line 10">
              <a:extLst>
                <a:ext uri="{FF2B5EF4-FFF2-40B4-BE49-F238E27FC236}">
                  <a16:creationId xmlns:a16="http://schemas.microsoft.com/office/drawing/2014/main" id="{6178B1B6-24FA-42C3-BA6A-054BF9CEB92D}"/>
                </a:ext>
              </a:extLst>
            </p:cNvPr>
            <p:cNvSpPr>
              <a:spLocks noChangeShapeType="1"/>
            </p:cNvSpPr>
            <p:nvPr/>
          </p:nvSpPr>
          <p:spPr bwMode="auto">
            <a:xfrm>
              <a:off x="1521" y="3293"/>
              <a:ext cx="1008"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76" name="Oval 11">
              <a:extLst>
                <a:ext uri="{FF2B5EF4-FFF2-40B4-BE49-F238E27FC236}">
                  <a16:creationId xmlns:a16="http://schemas.microsoft.com/office/drawing/2014/main" id="{D0CCE3DC-0977-454B-BAF0-84FC829742AB}"/>
                </a:ext>
              </a:extLst>
            </p:cNvPr>
            <p:cNvSpPr>
              <a:spLocks noChangeArrowheads="1"/>
            </p:cNvSpPr>
            <p:nvPr/>
          </p:nvSpPr>
          <p:spPr bwMode="auto">
            <a:xfrm>
              <a:off x="2241" y="3245"/>
              <a:ext cx="96" cy="96"/>
            </a:xfrm>
            <a:prstGeom prst="ellipse">
              <a:avLst/>
            </a:prstGeom>
            <a:solidFill>
              <a:srgbClr val="99CC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2377" name="Oval 12">
              <a:extLst>
                <a:ext uri="{FF2B5EF4-FFF2-40B4-BE49-F238E27FC236}">
                  <a16:creationId xmlns:a16="http://schemas.microsoft.com/office/drawing/2014/main" id="{870995A9-332B-4F3D-85DC-517A4727A4E7}"/>
                </a:ext>
              </a:extLst>
            </p:cNvPr>
            <p:cNvSpPr>
              <a:spLocks noChangeArrowheads="1"/>
            </p:cNvSpPr>
            <p:nvPr/>
          </p:nvSpPr>
          <p:spPr bwMode="auto">
            <a:xfrm>
              <a:off x="1713" y="3245"/>
              <a:ext cx="96" cy="96"/>
            </a:xfrm>
            <a:prstGeom prst="ellipse">
              <a:avLst/>
            </a:prstGeom>
            <a:solidFill>
              <a:srgbClr val="99CC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2378" name="Line 13">
              <a:extLst>
                <a:ext uri="{FF2B5EF4-FFF2-40B4-BE49-F238E27FC236}">
                  <a16:creationId xmlns:a16="http://schemas.microsoft.com/office/drawing/2014/main" id="{6CE2404B-10FD-4D69-A93A-E6DB1DA6E08A}"/>
                </a:ext>
              </a:extLst>
            </p:cNvPr>
            <p:cNvSpPr>
              <a:spLocks noChangeShapeType="1"/>
            </p:cNvSpPr>
            <p:nvPr/>
          </p:nvSpPr>
          <p:spPr bwMode="auto">
            <a:xfrm>
              <a:off x="1521" y="3437"/>
              <a:ext cx="1008"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79" name="Oval 14">
              <a:extLst>
                <a:ext uri="{FF2B5EF4-FFF2-40B4-BE49-F238E27FC236}">
                  <a16:creationId xmlns:a16="http://schemas.microsoft.com/office/drawing/2014/main" id="{D0004A55-1F90-47D9-9D27-333E2CEA4F06}"/>
                </a:ext>
              </a:extLst>
            </p:cNvPr>
            <p:cNvSpPr>
              <a:spLocks noChangeArrowheads="1"/>
            </p:cNvSpPr>
            <p:nvPr/>
          </p:nvSpPr>
          <p:spPr bwMode="auto">
            <a:xfrm>
              <a:off x="2241" y="3389"/>
              <a:ext cx="96" cy="96"/>
            </a:xfrm>
            <a:prstGeom prst="ellipse">
              <a:avLst/>
            </a:prstGeom>
            <a:solidFill>
              <a:srgbClr val="99CC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2380" name="Oval 15">
              <a:extLst>
                <a:ext uri="{FF2B5EF4-FFF2-40B4-BE49-F238E27FC236}">
                  <a16:creationId xmlns:a16="http://schemas.microsoft.com/office/drawing/2014/main" id="{60B1A3FA-DB51-4DC7-8E40-962301204197}"/>
                </a:ext>
              </a:extLst>
            </p:cNvPr>
            <p:cNvSpPr>
              <a:spLocks noChangeArrowheads="1"/>
            </p:cNvSpPr>
            <p:nvPr/>
          </p:nvSpPr>
          <p:spPr bwMode="auto">
            <a:xfrm>
              <a:off x="1713" y="3389"/>
              <a:ext cx="96" cy="96"/>
            </a:xfrm>
            <a:prstGeom prst="ellipse">
              <a:avLst/>
            </a:prstGeom>
            <a:solidFill>
              <a:srgbClr val="99CC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2381" name="Rectangle 16">
              <a:extLst>
                <a:ext uri="{FF2B5EF4-FFF2-40B4-BE49-F238E27FC236}">
                  <a16:creationId xmlns:a16="http://schemas.microsoft.com/office/drawing/2014/main" id="{9857C05B-7977-4BE3-B352-F10D45CC2D9E}"/>
                </a:ext>
              </a:extLst>
            </p:cNvPr>
            <p:cNvSpPr>
              <a:spLocks noChangeArrowheads="1"/>
            </p:cNvSpPr>
            <p:nvPr/>
          </p:nvSpPr>
          <p:spPr bwMode="auto">
            <a:xfrm>
              <a:off x="1603" y="3530"/>
              <a:ext cx="92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dirty="0">
                  <a:solidFill>
                    <a:schemeClr val="bg1"/>
                  </a:solidFill>
                  <a:latin typeface="Arial" panose="020B0604020202020204" pitchFamily="34" charset="0"/>
                  <a:ea typeface="楷体_GB2312" pitchFamily="49" charset="-122"/>
                </a:rPr>
                <a:t>（未填满）</a:t>
              </a:r>
            </a:p>
          </p:txBody>
        </p:sp>
      </p:grpSp>
      <p:sp>
        <p:nvSpPr>
          <p:cNvPr id="218129" name="Rectangle 17">
            <a:extLst>
              <a:ext uri="{FF2B5EF4-FFF2-40B4-BE49-F238E27FC236}">
                <a16:creationId xmlns:a16="http://schemas.microsoft.com/office/drawing/2014/main" id="{F746D8AF-B4F4-4AAF-8436-89C425F74BAC}"/>
              </a:ext>
            </a:extLst>
          </p:cNvPr>
          <p:cNvSpPr>
            <a:spLocks noChangeArrowheads="1"/>
          </p:cNvSpPr>
          <p:nvPr/>
        </p:nvSpPr>
        <p:spPr bwMode="auto">
          <a:xfrm>
            <a:off x="500063" y="285750"/>
            <a:ext cx="58039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buClr>
                <a:srgbClr val="FF9900"/>
              </a:buClr>
              <a:buSzPct val="85000"/>
              <a:buFont typeface="Wingdings" panose="05000000000000000000" pitchFamily="2" charset="2"/>
              <a:buChar char="l"/>
            </a:pPr>
            <a:r>
              <a:rPr lang="en-US" altLang="zh-CN" dirty="0">
                <a:solidFill>
                  <a:schemeClr val="bg1"/>
                </a:solidFill>
                <a:latin typeface="宋体" panose="02010600030101010101" pitchFamily="2" charset="-122"/>
                <a:ea typeface="仿宋_GB2312" pitchFamily="49" charset="-122"/>
              </a:rPr>
              <a:t> </a:t>
            </a:r>
            <a:r>
              <a:rPr lang="zh-CN" altLang="en-US" dirty="0">
                <a:solidFill>
                  <a:schemeClr val="bg1"/>
                </a:solidFill>
                <a:latin typeface="宋体" panose="02010600030101010101" pitchFamily="2" charset="-122"/>
                <a:ea typeface="仿宋_GB2312" pitchFamily="49" charset="-122"/>
              </a:rPr>
              <a:t>满带、价带、空带及其导电特性</a:t>
            </a:r>
          </a:p>
        </p:txBody>
      </p:sp>
      <p:sp>
        <p:nvSpPr>
          <p:cNvPr id="218130" name="Rectangle 18">
            <a:extLst>
              <a:ext uri="{FF2B5EF4-FFF2-40B4-BE49-F238E27FC236}">
                <a16:creationId xmlns:a16="http://schemas.microsoft.com/office/drawing/2014/main" id="{D18424E3-983D-4F4B-BA39-016684960F9A}"/>
              </a:ext>
            </a:extLst>
          </p:cNvPr>
          <p:cNvSpPr>
            <a:spLocks noChangeArrowheads="1"/>
          </p:cNvSpPr>
          <p:nvPr/>
        </p:nvSpPr>
        <p:spPr bwMode="auto">
          <a:xfrm>
            <a:off x="785813" y="750888"/>
            <a:ext cx="68278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dirty="0">
                <a:solidFill>
                  <a:srgbClr val="66FFFF"/>
                </a:solidFill>
                <a:latin typeface="宋体" panose="02010600030101010101" pitchFamily="2" charset="-122"/>
                <a:ea typeface="仿宋_GB2312" pitchFamily="49" charset="-122"/>
              </a:rPr>
              <a:t>满带</a:t>
            </a:r>
            <a:r>
              <a:rPr lang="en-US" altLang="zh-CN" dirty="0">
                <a:solidFill>
                  <a:srgbClr val="66FFFF"/>
                </a:solidFill>
                <a:latin typeface="宋体" panose="02010600030101010101" pitchFamily="2" charset="-122"/>
                <a:ea typeface="仿宋_GB2312" pitchFamily="49" charset="-122"/>
              </a:rPr>
              <a:t>: </a:t>
            </a:r>
            <a:r>
              <a:rPr lang="zh-CN" altLang="en-US" dirty="0">
                <a:solidFill>
                  <a:schemeClr val="bg1"/>
                </a:solidFill>
                <a:latin typeface="宋体" panose="02010600030101010101" pitchFamily="2" charset="-122"/>
                <a:ea typeface="仿宋_GB2312" pitchFamily="49" charset="-122"/>
              </a:rPr>
              <a:t>由内层电子能级分裂形成，被填满的</a:t>
            </a:r>
            <a:endParaRPr lang="en-US" altLang="zh-CN" dirty="0">
              <a:solidFill>
                <a:schemeClr val="bg1"/>
              </a:solidFill>
              <a:latin typeface="宋体" panose="02010600030101010101" pitchFamily="2" charset="-122"/>
              <a:ea typeface="仿宋_GB2312" pitchFamily="49" charset="-122"/>
            </a:endParaRPr>
          </a:p>
        </p:txBody>
      </p:sp>
      <p:sp>
        <p:nvSpPr>
          <p:cNvPr id="218131" name="Rectangle 19">
            <a:extLst>
              <a:ext uri="{FF2B5EF4-FFF2-40B4-BE49-F238E27FC236}">
                <a16:creationId xmlns:a16="http://schemas.microsoft.com/office/drawing/2014/main" id="{49CFD03D-5BA7-4E46-A001-DE4782FF23C9}"/>
              </a:ext>
            </a:extLst>
          </p:cNvPr>
          <p:cNvSpPr>
            <a:spLocks noChangeArrowheads="1"/>
          </p:cNvSpPr>
          <p:nvPr/>
        </p:nvSpPr>
        <p:spPr bwMode="auto">
          <a:xfrm>
            <a:off x="785813" y="1185863"/>
            <a:ext cx="79470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dirty="0">
                <a:solidFill>
                  <a:srgbClr val="66FFFF"/>
                </a:solidFill>
                <a:latin typeface="宋体" panose="02010600030101010101" pitchFamily="2" charset="-122"/>
                <a:ea typeface="仿宋_GB2312" pitchFamily="49" charset="-122"/>
              </a:rPr>
              <a:t>价带</a:t>
            </a:r>
            <a:r>
              <a:rPr lang="en-US" altLang="zh-CN" dirty="0">
                <a:solidFill>
                  <a:srgbClr val="66FFFF"/>
                </a:solidFill>
                <a:latin typeface="宋体" panose="02010600030101010101" pitchFamily="2" charset="-122"/>
                <a:ea typeface="仿宋_GB2312" pitchFamily="49" charset="-122"/>
              </a:rPr>
              <a:t>: </a:t>
            </a:r>
            <a:r>
              <a:rPr lang="zh-CN" altLang="en-US" dirty="0">
                <a:solidFill>
                  <a:schemeClr val="bg1"/>
                </a:solidFill>
                <a:latin typeface="宋体" panose="02010600030101010101" pitchFamily="2" charset="-122"/>
                <a:ea typeface="仿宋_GB2312" pitchFamily="49" charset="-122"/>
              </a:rPr>
              <a:t>由价电子能级分裂形成，满带 </a:t>
            </a:r>
            <a:r>
              <a:rPr lang="en-US" altLang="zh-CN" dirty="0">
                <a:solidFill>
                  <a:schemeClr val="bg1"/>
                </a:solidFill>
                <a:latin typeface="宋体" panose="02010600030101010101" pitchFamily="2" charset="-122"/>
                <a:ea typeface="仿宋_GB2312" pitchFamily="49" charset="-122"/>
              </a:rPr>
              <a:t>or </a:t>
            </a:r>
            <a:r>
              <a:rPr lang="zh-CN" altLang="en-US" dirty="0">
                <a:solidFill>
                  <a:schemeClr val="bg1"/>
                </a:solidFill>
                <a:latin typeface="宋体" panose="02010600030101010101" pitchFamily="2" charset="-122"/>
                <a:ea typeface="仿宋_GB2312" pitchFamily="49" charset="-122"/>
              </a:rPr>
              <a:t>未满带 </a:t>
            </a:r>
            <a:r>
              <a:rPr lang="en-US" altLang="zh-CN" dirty="0">
                <a:solidFill>
                  <a:schemeClr val="bg1"/>
                </a:solidFill>
                <a:latin typeface="宋体" panose="02010600030101010101" pitchFamily="2" charset="-122"/>
                <a:ea typeface="仿宋_GB2312" pitchFamily="49" charset="-122"/>
              </a:rPr>
              <a:t>(</a:t>
            </a:r>
            <a:r>
              <a:rPr lang="zh-CN" altLang="en-US" dirty="0">
                <a:solidFill>
                  <a:schemeClr val="bg1"/>
                </a:solidFill>
                <a:latin typeface="宋体" panose="02010600030101010101" pitchFamily="2" charset="-122"/>
                <a:ea typeface="仿宋_GB2312" pitchFamily="49" charset="-122"/>
              </a:rPr>
              <a:t>可导电</a:t>
            </a:r>
            <a:r>
              <a:rPr lang="en-US" altLang="zh-CN" dirty="0">
                <a:solidFill>
                  <a:schemeClr val="bg1"/>
                </a:solidFill>
                <a:latin typeface="宋体" panose="02010600030101010101" pitchFamily="2" charset="-122"/>
                <a:ea typeface="仿宋_GB2312" pitchFamily="49" charset="-122"/>
              </a:rPr>
              <a:t>)</a:t>
            </a:r>
          </a:p>
        </p:txBody>
      </p:sp>
      <p:sp>
        <p:nvSpPr>
          <p:cNvPr id="218132" name="Rectangle 20">
            <a:extLst>
              <a:ext uri="{FF2B5EF4-FFF2-40B4-BE49-F238E27FC236}">
                <a16:creationId xmlns:a16="http://schemas.microsoft.com/office/drawing/2014/main" id="{BD414A3D-EAC1-4F02-AC75-7C3D8B6F9ED6}"/>
              </a:ext>
            </a:extLst>
          </p:cNvPr>
          <p:cNvSpPr>
            <a:spLocks noChangeArrowheads="1"/>
          </p:cNvSpPr>
          <p:nvPr/>
        </p:nvSpPr>
        <p:spPr bwMode="auto">
          <a:xfrm>
            <a:off x="785813" y="6140140"/>
            <a:ext cx="83581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dirty="0">
                <a:solidFill>
                  <a:srgbClr val="66FFFF"/>
                </a:solidFill>
                <a:latin typeface="宋体" panose="02010600030101010101" pitchFamily="2" charset="-122"/>
                <a:ea typeface="仿宋_GB2312" pitchFamily="49" charset="-122"/>
              </a:rPr>
              <a:t>空带（导带）</a:t>
            </a:r>
            <a:r>
              <a:rPr lang="en-US" altLang="zh-CN" dirty="0">
                <a:solidFill>
                  <a:srgbClr val="66FFFF"/>
                </a:solidFill>
                <a:latin typeface="宋体" panose="02010600030101010101" pitchFamily="2" charset="-122"/>
                <a:ea typeface="仿宋_GB2312" pitchFamily="49" charset="-122"/>
              </a:rPr>
              <a:t>: </a:t>
            </a:r>
            <a:r>
              <a:rPr lang="zh-CN" altLang="en-US" dirty="0">
                <a:solidFill>
                  <a:schemeClr val="bg1"/>
                </a:solidFill>
                <a:latin typeface="宋体" panose="02010600030101010101" pitchFamily="2" charset="-122"/>
                <a:ea typeface="仿宋_GB2312" pitchFamily="49" charset="-122"/>
              </a:rPr>
              <a:t>由激发态能级分裂形成，未填充（可导电）</a:t>
            </a:r>
            <a:endParaRPr lang="en-US" altLang="zh-CN" dirty="0">
              <a:solidFill>
                <a:schemeClr val="bg1"/>
              </a:solidFill>
              <a:latin typeface="宋体" panose="02010600030101010101" pitchFamily="2" charset="-122"/>
              <a:ea typeface="仿宋_GB2312" pitchFamily="49" charset="-122"/>
            </a:endParaRPr>
          </a:p>
        </p:txBody>
      </p:sp>
      <p:grpSp>
        <p:nvGrpSpPr>
          <p:cNvPr id="3" name="Group 21">
            <a:extLst>
              <a:ext uri="{FF2B5EF4-FFF2-40B4-BE49-F238E27FC236}">
                <a16:creationId xmlns:a16="http://schemas.microsoft.com/office/drawing/2014/main" id="{66DD9EE5-70D9-450C-A425-A6CD24A4CC1C}"/>
              </a:ext>
            </a:extLst>
          </p:cNvPr>
          <p:cNvGrpSpPr>
            <a:grpSpLocks/>
          </p:cNvGrpSpPr>
          <p:nvPr/>
        </p:nvGrpSpPr>
        <p:grpSpPr bwMode="auto">
          <a:xfrm>
            <a:off x="2235200" y="2103438"/>
            <a:ext cx="1600200" cy="1687512"/>
            <a:chOff x="1511" y="1325"/>
            <a:chExt cx="1008" cy="1063"/>
          </a:xfrm>
        </p:grpSpPr>
        <p:sp>
          <p:nvSpPr>
            <p:cNvPr id="12347" name="Line 22">
              <a:extLst>
                <a:ext uri="{FF2B5EF4-FFF2-40B4-BE49-F238E27FC236}">
                  <a16:creationId xmlns:a16="http://schemas.microsoft.com/office/drawing/2014/main" id="{93276306-C53E-481E-ACD9-74A269E24F74}"/>
                </a:ext>
              </a:extLst>
            </p:cNvPr>
            <p:cNvSpPr>
              <a:spLocks noChangeShapeType="1"/>
            </p:cNvSpPr>
            <p:nvPr/>
          </p:nvSpPr>
          <p:spPr bwMode="auto">
            <a:xfrm>
              <a:off x="1511" y="1620"/>
              <a:ext cx="1008"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48" name="Oval 23">
              <a:extLst>
                <a:ext uri="{FF2B5EF4-FFF2-40B4-BE49-F238E27FC236}">
                  <a16:creationId xmlns:a16="http://schemas.microsoft.com/office/drawing/2014/main" id="{19285554-C89E-43F9-993E-1020218E34D6}"/>
                </a:ext>
              </a:extLst>
            </p:cNvPr>
            <p:cNvSpPr>
              <a:spLocks noChangeArrowheads="1"/>
            </p:cNvSpPr>
            <p:nvPr/>
          </p:nvSpPr>
          <p:spPr bwMode="auto">
            <a:xfrm>
              <a:off x="2231" y="1572"/>
              <a:ext cx="96" cy="96"/>
            </a:xfrm>
            <a:prstGeom prst="ellipse">
              <a:avLst/>
            </a:prstGeom>
            <a:solidFill>
              <a:srgbClr val="99CC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2349" name="Oval 24">
              <a:extLst>
                <a:ext uri="{FF2B5EF4-FFF2-40B4-BE49-F238E27FC236}">
                  <a16:creationId xmlns:a16="http://schemas.microsoft.com/office/drawing/2014/main" id="{4139189C-D1C4-4B42-AEFC-FB9FFE1527B0}"/>
                </a:ext>
              </a:extLst>
            </p:cNvPr>
            <p:cNvSpPr>
              <a:spLocks noChangeArrowheads="1"/>
            </p:cNvSpPr>
            <p:nvPr/>
          </p:nvSpPr>
          <p:spPr bwMode="auto">
            <a:xfrm>
              <a:off x="1703" y="1572"/>
              <a:ext cx="96" cy="96"/>
            </a:xfrm>
            <a:prstGeom prst="ellipse">
              <a:avLst/>
            </a:prstGeom>
            <a:solidFill>
              <a:srgbClr val="99CC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2350" name="Line 25">
              <a:extLst>
                <a:ext uri="{FF2B5EF4-FFF2-40B4-BE49-F238E27FC236}">
                  <a16:creationId xmlns:a16="http://schemas.microsoft.com/office/drawing/2014/main" id="{FE8D8029-30B9-46F8-90E2-281D3C2DFC50}"/>
                </a:ext>
              </a:extLst>
            </p:cNvPr>
            <p:cNvSpPr>
              <a:spLocks noChangeShapeType="1"/>
            </p:cNvSpPr>
            <p:nvPr/>
          </p:nvSpPr>
          <p:spPr bwMode="auto">
            <a:xfrm>
              <a:off x="1511" y="1764"/>
              <a:ext cx="1008"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51" name="Oval 26">
              <a:extLst>
                <a:ext uri="{FF2B5EF4-FFF2-40B4-BE49-F238E27FC236}">
                  <a16:creationId xmlns:a16="http://schemas.microsoft.com/office/drawing/2014/main" id="{E12BBBFF-0623-4E4D-B1D7-6F9E8F5F59CC}"/>
                </a:ext>
              </a:extLst>
            </p:cNvPr>
            <p:cNvSpPr>
              <a:spLocks noChangeArrowheads="1"/>
            </p:cNvSpPr>
            <p:nvPr/>
          </p:nvSpPr>
          <p:spPr bwMode="auto">
            <a:xfrm>
              <a:off x="2231" y="1716"/>
              <a:ext cx="96" cy="96"/>
            </a:xfrm>
            <a:prstGeom prst="ellipse">
              <a:avLst/>
            </a:prstGeom>
            <a:solidFill>
              <a:srgbClr val="99CC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2352" name="Oval 27">
              <a:extLst>
                <a:ext uri="{FF2B5EF4-FFF2-40B4-BE49-F238E27FC236}">
                  <a16:creationId xmlns:a16="http://schemas.microsoft.com/office/drawing/2014/main" id="{92DD5225-016E-499D-BFE3-512A9ECCF9C9}"/>
                </a:ext>
              </a:extLst>
            </p:cNvPr>
            <p:cNvSpPr>
              <a:spLocks noChangeArrowheads="1"/>
            </p:cNvSpPr>
            <p:nvPr/>
          </p:nvSpPr>
          <p:spPr bwMode="auto">
            <a:xfrm>
              <a:off x="1703" y="1716"/>
              <a:ext cx="96" cy="96"/>
            </a:xfrm>
            <a:prstGeom prst="ellipse">
              <a:avLst/>
            </a:prstGeom>
            <a:solidFill>
              <a:srgbClr val="99CC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2353" name="Line 28">
              <a:extLst>
                <a:ext uri="{FF2B5EF4-FFF2-40B4-BE49-F238E27FC236}">
                  <a16:creationId xmlns:a16="http://schemas.microsoft.com/office/drawing/2014/main" id="{F6F8A1E4-8E23-4B41-B96D-73C5BCE2A1E8}"/>
                </a:ext>
              </a:extLst>
            </p:cNvPr>
            <p:cNvSpPr>
              <a:spLocks noChangeShapeType="1"/>
            </p:cNvSpPr>
            <p:nvPr/>
          </p:nvSpPr>
          <p:spPr bwMode="auto">
            <a:xfrm>
              <a:off x="1511" y="1908"/>
              <a:ext cx="1008"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54" name="Oval 29">
              <a:extLst>
                <a:ext uri="{FF2B5EF4-FFF2-40B4-BE49-F238E27FC236}">
                  <a16:creationId xmlns:a16="http://schemas.microsoft.com/office/drawing/2014/main" id="{DCA4CFBC-86B7-4127-8D65-B2D1986AB587}"/>
                </a:ext>
              </a:extLst>
            </p:cNvPr>
            <p:cNvSpPr>
              <a:spLocks noChangeArrowheads="1"/>
            </p:cNvSpPr>
            <p:nvPr/>
          </p:nvSpPr>
          <p:spPr bwMode="auto">
            <a:xfrm>
              <a:off x="2231" y="1860"/>
              <a:ext cx="96" cy="96"/>
            </a:xfrm>
            <a:prstGeom prst="ellipse">
              <a:avLst/>
            </a:prstGeom>
            <a:solidFill>
              <a:srgbClr val="99CC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2355" name="Oval 30">
              <a:extLst>
                <a:ext uri="{FF2B5EF4-FFF2-40B4-BE49-F238E27FC236}">
                  <a16:creationId xmlns:a16="http://schemas.microsoft.com/office/drawing/2014/main" id="{E686747A-D865-4DB3-8F68-4247C213D5C6}"/>
                </a:ext>
              </a:extLst>
            </p:cNvPr>
            <p:cNvSpPr>
              <a:spLocks noChangeArrowheads="1"/>
            </p:cNvSpPr>
            <p:nvPr/>
          </p:nvSpPr>
          <p:spPr bwMode="auto">
            <a:xfrm>
              <a:off x="1703" y="1860"/>
              <a:ext cx="96" cy="96"/>
            </a:xfrm>
            <a:prstGeom prst="ellipse">
              <a:avLst/>
            </a:prstGeom>
            <a:solidFill>
              <a:srgbClr val="99CC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2356" name="Line 31">
              <a:extLst>
                <a:ext uri="{FF2B5EF4-FFF2-40B4-BE49-F238E27FC236}">
                  <a16:creationId xmlns:a16="http://schemas.microsoft.com/office/drawing/2014/main" id="{422FEB21-732B-4F6F-A3FB-DBD9B527EE29}"/>
                </a:ext>
              </a:extLst>
            </p:cNvPr>
            <p:cNvSpPr>
              <a:spLocks noChangeShapeType="1"/>
            </p:cNvSpPr>
            <p:nvPr/>
          </p:nvSpPr>
          <p:spPr bwMode="auto">
            <a:xfrm>
              <a:off x="1511" y="2052"/>
              <a:ext cx="1008"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57" name="Oval 32">
              <a:extLst>
                <a:ext uri="{FF2B5EF4-FFF2-40B4-BE49-F238E27FC236}">
                  <a16:creationId xmlns:a16="http://schemas.microsoft.com/office/drawing/2014/main" id="{950B96A8-2C62-494A-8610-781394CE60DA}"/>
                </a:ext>
              </a:extLst>
            </p:cNvPr>
            <p:cNvSpPr>
              <a:spLocks noChangeArrowheads="1"/>
            </p:cNvSpPr>
            <p:nvPr/>
          </p:nvSpPr>
          <p:spPr bwMode="auto">
            <a:xfrm>
              <a:off x="2231" y="2004"/>
              <a:ext cx="96" cy="96"/>
            </a:xfrm>
            <a:prstGeom prst="ellipse">
              <a:avLst/>
            </a:prstGeom>
            <a:solidFill>
              <a:srgbClr val="99CC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2358" name="Oval 33">
              <a:extLst>
                <a:ext uri="{FF2B5EF4-FFF2-40B4-BE49-F238E27FC236}">
                  <a16:creationId xmlns:a16="http://schemas.microsoft.com/office/drawing/2014/main" id="{98BABDDB-F293-4556-8E18-661AA1DA7B1B}"/>
                </a:ext>
              </a:extLst>
            </p:cNvPr>
            <p:cNvSpPr>
              <a:spLocks noChangeArrowheads="1"/>
            </p:cNvSpPr>
            <p:nvPr/>
          </p:nvSpPr>
          <p:spPr bwMode="auto">
            <a:xfrm>
              <a:off x="1703" y="2004"/>
              <a:ext cx="96" cy="96"/>
            </a:xfrm>
            <a:prstGeom prst="ellipse">
              <a:avLst/>
            </a:prstGeom>
            <a:solidFill>
              <a:srgbClr val="99CC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2359" name="Line 34">
              <a:extLst>
                <a:ext uri="{FF2B5EF4-FFF2-40B4-BE49-F238E27FC236}">
                  <a16:creationId xmlns:a16="http://schemas.microsoft.com/office/drawing/2014/main" id="{25C192D7-46B8-4206-84EC-FCF54634F17E}"/>
                </a:ext>
              </a:extLst>
            </p:cNvPr>
            <p:cNvSpPr>
              <a:spLocks noChangeShapeType="1"/>
            </p:cNvSpPr>
            <p:nvPr/>
          </p:nvSpPr>
          <p:spPr bwMode="auto">
            <a:xfrm>
              <a:off x="1511" y="2196"/>
              <a:ext cx="1008"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60" name="Oval 35">
              <a:extLst>
                <a:ext uri="{FF2B5EF4-FFF2-40B4-BE49-F238E27FC236}">
                  <a16:creationId xmlns:a16="http://schemas.microsoft.com/office/drawing/2014/main" id="{744F466C-8B1E-4373-B2DE-DEA7198CCBCF}"/>
                </a:ext>
              </a:extLst>
            </p:cNvPr>
            <p:cNvSpPr>
              <a:spLocks noChangeArrowheads="1"/>
            </p:cNvSpPr>
            <p:nvPr/>
          </p:nvSpPr>
          <p:spPr bwMode="auto">
            <a:xfrm>
              <a:off x="2231" y="2148"/>
              <a:ext cx="96" cy="96"/>
            </a:xfrm>
            <a:prstGeom prst="ellipse">
              <a:avLst/>
            </a:prstGeom>
            <a:solidFill>
              <a:srgbClr val="99CC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2361" name="Oval 36">
              <a:extLst>
                <a:ext uri="{FF2B5EF4-FFF2-40B4-BE49-F238E27FC236}">
                  <a16:creationId xmlns:a16="http://schemas.microsoft.com/office/drawing/2014/main" id="{5CFBA4F3-A506-441C-9752-C0B30130E7CD}"/>
                </a:ext>
              </a:extLst>
            </p:cNvPr>
            <p:cNvSpPr>
              <a:spLocks noChangeArrowheads="1"/>
            </p:cNvSpPr>
            <p:nvPr/>
          </p:nvSpPr>
          <p:spPr bwMode="auto">
            <a:xfrm>
              <a:off x="1703" y="2148"/>
              <a:ext cx="96" cy="96"/>
            </a:xfrm>
            <a:prstGeom prst="ellipse">
              <a:avLst/>
            </a:prstGeom>
            <a:solidFill>
              <a:srgbClr val="99CC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2362" name="Line 37">
              <a:extLst>
                <a:ext uri="{FF2B5EF4-FFF2-40B4-BE49-F238E27FC236}">
                  <a16:creationId xmlns:a16="http://schemas.microsoft.com/office/drawing/2014/main" id="{F3465C7E-358A-4512-8079-A430F5DBBD20}"/>
                </a:ext>
              </a:extLst>
            </p:cNvPr>
            <p:cNvSpPr>
              <a:spLocks noChangeShapeType="1"/>
            </p:cNvSpPr>
            <p:nvPr/>
          </p:nvSpPr>
          <p:spPr bwMode="auto">
            <a:xfrm>
              <a:off x="1511" y="2340"/>
              <a:ext cx="1008"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63" name="Oval 38">
              <a:extLst>
                <a:ext uri="{FF2B5EF4-FFF2-40B4-BE49-F238E27FC236}">
                  <a16:creationId xmlns:a16="http://schemas.microsoft.com/office/drawing/2014/main" id="{835BECA0-5540-4F18-AFE4-EA14EC18A0BF}"/>
                </a:ext>
              </a:extLst>
            </p:cNvPr>
            <p:cNvSpPr>
              <a:spLocks noChangeArrowheads="1"/>
            </p:cNvSpPr>
            <p:nvPr/>
          </p:nvSpPr>
          <p:spPr bwMode="auto">
            <a:xfrm>
              <a:off x="2231" y="2292"/>
              <a:ext cx="96" cy="96"/>
            </a:xfrm>
            <a:prstGeom prst="ellipse">
              <a:avLst/>
            </a:prstGeom>
            <a:solidFill>
              <a:srgbClr val="99CC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2364" name="Oval 39">
              <a:extLst>
                <a:ext uri="{FF2B5EF4-FFF2-40B4-BE49-F238E27FC236}">
                  <a16:creationId xmlns:a16="http://schemas.microsoft.com/office/drawing/2014/main" id="{C0646FAB-C7F2-484D-BFE9-FD470D7E9A16}"/>
                </a:ext>
              </a:extLst>
            </p:cNvPr>
            <p:cNvSpPr>
              <a:spLocks noChangeArrowheads="1"/>
            </p:cNvSpPr>
            <p:nvPr/>
          </p:nvSpPr>
          <p:spPr bwMode="auto">
            <a:xfrm>
              <a:off x="1703" y="2292"/>
              <a:ext cx="96" cy="96"/>
            </a:xfrm>
            <a:prstGeom prst="ellipse">
              <a:avLst/>
            </a:prstGeom>
            <a:solidFill>
              <a:srgbClr val="99CC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2365" name="Text Box 40">
              <a:extLst>
                <a:ext uri="{FF2B5EF4-FFF2-40B4-BE49-F238E27FC236}">
                  <a16:creationId xmlns:a16="http://schemas.microsoft.com/office/drawing/2014/main" id="{559A6BAF-BDED-4D88-BF5B-53B66513B980}"/>
                </a:ext>
              </a:extLst>
            </p:cNvPr>
            <p:cNvSpPr txBox="1">
              <a:spLocks noChangeArrowheads="1"/>
            </p:cNvSpPr>
            <p:nvPr/>
          </p:nvSpPr>
          <p:spPr bwMode="auto">
            <a:xfrm>
              <a:off x="1746" y="1325"/>
              <a:ext cx="43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a:solidFill>
                    <a:srgbClr val="FFCC00"/>
                  </a:solidFill>
                  <a:ea typeface="楷体_GB2312" pitchFamily="49" charset="-122"/>
                </a:rPr>
                <a:t>满带</a:t>
              </a:r>
            </a:p>
          </p:txBody>
        </p:sp>
        <p:sp>
          <p:nvSpPr>
            <p:cNvPr id="12366" name="Oval 41">
              <a:extLst>
                <a:ext uri="{FF2B5EF4-FFF2-40B4-BE49-F238E27FC236}">
                  <a16:creationId xmlns:a16="http://schemas.microsoft.com/office/drawing/2014/main" id="{1EDDB689-B46B-4C63-9C66-8AA264A5C471}"/>
                </a:ext>
              </a:extLst>
            </p:cNvPr>
            <p:cNvSpPr>
              <a:spLocks noChangeArrowheads="1"/>
            </p:cNvSpPr>
            <p:nvPr/>
          </p:nvSpPr>
          <p:spPr bwMode="auto">
            <a:xfrm>
              <a:off x="2231" y="2148"/>
              <a:ext cx="96" cy="96"/>
            </a:xfrm>
            <a:prstGeom prst="ellipse">
              <a:avLst/>
            </a:prstGeom>
            <a:solidFill>
              <a:schemeClr val="tx1"/>
            </a:solidFill>
            <a:ln w="3175">
              <a:solidFill>
                <a:schemeClr val="bg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2367" name="Oval 42">
              <a:extLst>
                <a:ext uri="{FF2B5EF4-FFF2-40B4-BE49-F238E27FC236}">
                  <a16:creationId xmlns:a16="http://schemas.microsoft.com/office/drawing/2014/main" id="{03B36256-D854-486C-824E-4689CA5B835F}"/>
                </a:ext>
              </a:extLst>
            </p:cNvPr>
            <p:cNvSpPr>
              <a:spLocks noChangeArrowheads="1"/>
            </p:cNvSpPr>
            <p:nvPr/>
          </p:nvSpPr>
          <p:spPr bwMode="auto">
            <a:xfrm>
              <a:off x="2231" y="2148"/>
              <a:ext cx="96" cy="96"/>
            </a:xfrm>
            <a:prstGeom prst="ellipse">
              <a:avLst/>
            </a:prstGeom>
            <a:solidFill>
              <a:srgbClr val="99CCFF"/>
            </a:solidFill>
            <a:ln w="317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grpSp>
      <p:sp>
        <p:nvSpPr>
          <p:cNvPr id="218155" name="Text Box 43">
            <a:extLst>
              <a:ext uri="{FF2B5EF4-FFF2-40B4-BE49-F238E27FC236}">
                <a16:creationId xmlns:a16="http://schemas.microsoft.com/office/drawing/2014/main" id="{958759AA-E79D-47AE-99DB-681C13B5AC40}"/>
              </a:ext>
            </a:extLst>
          </p:cNvPr>
          <p:cNvSpPr txBox="1">
            <a:spLocks noChangeArrowheads="1"/>
          </p:cNvSpPr>
          <p:nvPr/>
        </p:nvSpPr>
        <p:spPr bwMode="auto">
          <a:xfrm>
            <a:off x="1143000" y="2717800"/>
            <a:ext cx="10922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dirty="0">
                <a:solidFill>
                  <a:srgbClr val="00FF99"/>
                </a:solidFill>
                <a:ea typeface="楷体_GB2312" pitchFamily="49" charset="-122"/>
              </a:rPr>
              <a:t>不参与导电</a:t>
            </a:r>
          </a:p>
        </p:txBody>
      </p:sp>
      <p:sp>
        <p:nvSpPr>
          <p:cNvPr id="218156" name="Text Box 44">
            <a:extLst>
              <a:ext uri="{FF2B5EF4-FFF2-40B4-BE49-F238E27FC236}">
                <a16:creationId xmlns:a16="http://schemas.microsoft.com/office/drawing/2014/main" id="{A3787382-897B-4A29-ADB8-656590253EB6}"/>
              </a:ext>
            </a:extLst>
          </p:cNvPr>
          <p:cNvSpPr txBox="1">
            <a:spLocks noChangeArrowheads="1"/>
          </p:cNvSpPr>
          <p:nvPr/>
        </p:nvSpPr>
        <p:spPr bwMode="auto">
          <a:xfrm>
            <a:off x="1177925" y="4489450"/>
            <a:ext cx="9144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a:solidFill>
                  <a:srgbClr val="00FF99"/>
                </a:solidFill>
                <a:ea typeface="楷体_GB2312" pitchFamily="49" charset="-122"/>
              </a:rPr>
              <a:t>参与导电</a:t>
            </a:r>
          </a:p>
        </p:txBody>
      </p:sp>
      <p:sp>
        <p:nvSpPr>
          <p:cNvPr id="218157" name="Text Box 45">
            <a:extLst>
              <a:ext uri="{FF2B5EF4-FFF2-40B4-BE49-F238E27FC236}">
                <a16:creationId xmlns:a16="http://schemas.microsoft.com/office/drawing/2014/main" id="{6E56FCA0-47CB-4B71-BCE0-596290F78AFF}"/>
              </a:ext>
            </a:extLst>
          </p:cNvPr>
          <p:cNvSpPr txBox="1">
            <a:spLocks noChangeArrowheads="1"/>
          </p:cNvSpPr>
          <p:nvPr/>
        </p:nvSpPr>
        <p:spPr bwMode="auto">
          <a:xfrm>
            <a:off x="7513638" y="2717800"/>
            <a:ext cx="9144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a:solidFill>
                  <a:srgbClr val="00FF99"/>
                </a:solidFill>
                <a:ea typeface="楷体_GB2312" pitchFamily="49" charset="-122"/>
              </a:rPr>
              <a:t>参与导电</a:t>
            </a:r>
          </a:p>
        </p:txBody>
      </p:sp>
      <p:grpSp>
        <p:nvGrpSpPr>
          <p:cNvPr id="12320" name="Group 47">
            <a:extLst>
              <a:ext uri="{FF2B5EF4-FFF2-40B4-BE49-F238E27FC236}">
                <a16:creationId xmlns:a16="http://schemas.microsoft.com/office/drawing/2014/main" id="{E9AC8399-275E-47D7-839A-42ED293CD4E5}"/>
              </a:ext>
            </a:extLst>
          </p:cNvPr>
          <p:cNvGrpSpPr>
            <a:grpSpLocks/>
          </p:cNvGrpSpPr>
          <p:nvPr/>
        </p:nvGrpSpPr>
        <p:grpSpPr bwMode="auto">
          <a:xfrm>
            <a:off x="5937250" y="2132013"/>
            <a:ext cx="1600200" cy="1582737"/>
            <a:chOff x="3851" y="1343"/>
            <a:chExt cx="1008" cy="997"/>
          </a:xfrm>
        </p:grpSpPr>
        <p:sp>
          <p:nvSpPr>
            <p:cNvPr id="12340" name="Line 48">
              <a:extLst>
                <a:ext uri="{FF2B5EF4-FFF2-40B4-BE49-F238E27FC236}">
                  <a16:creationId xmlns:a16="http://schemas.microsoft.com/office/drawing/2014/main" id="{79086EE6-4FCE-4006-A0A6-D6F9484B0444}"/>
                </a:ext>
              </a:extLst>
            </p:cNvPr>
            <p:cNvSpPr>
              <a:spLocks noChangeShapeType="1"/>
            </p:cNvSpPr>
            <p:nvPr/>
          </p:nvSpPr>
          <p:spPr bwMode="auto">
            <a:xfrm>
              <a:off x="3851" y="1620"/>
              <a:ext cx="1008"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41" name="Line 49">
              <a:extLst>
                <a:ext uri="{FF2B5EF4-FFF2-40B4-BE49-F238E27FC236}">
                  <a16:creationId xmlns:a16="http://schemas.microsoft.com/office/drawing/2014/main" id="{14718475-D269-4BBB-A1DE-176E4165009B}"/>
                </a:ext>
              </a:extLst>
            </p:cNvPr>
            <p:cNvSpPr>
              <a:spLocks noChangeShapeType="1"/>
            </p:cNvSpPr>
            <p:nvPr/>
          </p:nvSpPr>
          <p:spPr bwMode="auto">
            <a:xfrm>
              <a:off x="3851" y="1764"/>
              <a:ext cx="1008"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42" name="Line 50">
              <a:extLst>
                <a:ext uri="{FF2B5EF4-FFF2-40B4-BE49-F238E27FC236}">
                  <a16:creationId xmlns:a16="http://schemas.microsoft.com/office/drawing/2014/main" id="{8259F6B5-5044-4F21-BBDE-43E30B78A94A}"/>
                </a:ext>
              </a:extLst>
            </p:cNvPr>
            <p:cNvSpPr>
              <a:spLocks noChangeShapeType="1"/>
            </p:cNvSpPr>
            <p:nvPr/>
          </p:nvSpPr>
          <p:spPr bwMode="auto">
            <a:xfrm>
              <a:off x="3851" y="1908"/>
              <a:ext cx="1008"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43" name="Line 51">
              <a:extLst>
                <a:ext uri="{FF2B5EF4-FFF2-40B4-BE49-F238E27FC236}">
                  <a16:creationId xmlns:a16="http://schemas.microsoft.com/office/drawing/2014/main" id="{F853F039-8F8F-4112-A46F-88924FE4C1D1}"/>
                </a:ext>
              </a:extLst>
            </p:cNvPr>
            <p:cNvSpPr>
              <a:spLocks noChangeShapeType="1"/>
            </p:cNvSpPr>
            <p:nvPr/>
          </p:nvSpPr>
          <p:spPr bwMode="auto">
            <a:xfrm>
              <a:off x="3851" y="2052"/>
              <a:ext cx="1008"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44" name="Line 52">
              <a:extLst>
                <a:ext uri="{FF2B5EF4-FFF2-40B4-BE49-F238E27FC236}">
                  <a16:creationId xmlns:a16="http://schemas.microsoft.com/office/drawing/2014/main" id="{C9F73478-EFA3-4049-B40C-9F31A1AF4FCE}"/>
                </a:ext>
              </a:extLst>
            </p:cNvPr>
            <p:cNvSpPr>
              <a:spLocks noChangeShapeType="1"/>
            </p:cNvSpPr>
            <p:nvPr/>
          </p:nvSpPr>
          <p:spPr bwMode="auto">
            <a:xfrm>
              <a:off x="3851" y="2196"/>
              <a:ext cx="1008"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45" name="Line 53">
              <a:extLst>
                <a:ext uri="{FF2B5EF4-FFF2-40B4-BE49-F238E27FC236}">
                  <a16:creationId xmlns:a16="http://schemas.microsoft.com/office/drawing/2014/main" id="{1781CDF3-3F72-4AD7-94C2-E7DBC3670EA7}"/>
                </a:ext>
              </a:extLst>
            </p:cNvPr>
            <p:cNvSpPr>
              <a:spLocks noChangeShapeType="1"/>
            </p:cNvSpPr>
            <p:nvPr/>
          </p:nvSpPr>
          <p:spPr bwMode="auto">
            <a:xfrm>
              <a:off x="3851" y="2340"/>
              <a:ext cx="1008"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46" name="Text Box 54">
              <a:extLst>
                <a:ext uri="{FF2B5EF4-FFF2-40B4-BE49-F238E27FC236}">
                  <a16:creationId xmlns:a16="http://schemas.microsoft.com/office/drawing/2014/main" id="{04B80AC3-99BE-4222-9E00-BD873C26F9A1}"/>
                </a:ext>
              </a:extLst>
            </p:cNvPr>
            <p:cNvSpPr txBox="1">
              <a:spLocks noChangeArrowheads="1"/>
            </p:cNvSpPr>
            <p:nvPr/>
          </p:nvSpPr>
          <p:spPr bwMode="auto">
            <a:xfrm>
              <a:off x="4102" y="1343"/>
              <a:ext cx="43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a:solidFill>
                    <a:srgbClr val="FFCC00"/>
                  </a:solidFill>
                  <a:ea typeface="楷体_GB2312" pitchFamily="49" charset="-122"/>
                </a:rPr>
                <a:t>空带</a:t>
              </a:r>
            </a:p>
          </p:txBody>
        </p:sp>
      </p:grpSp>
      <p:grpSp>
        <p:nvGrpSpPr>
          <p:cNvPr id="11" name="组合 10">
            <a:extLst>
              <a:ext uri="{FF2B5EF4-FFF2-40B4-BE49-F238E27FC236}">
                <a16:creationId xmlns:a16="http://schemas.microsoft.com/office/drawing/2014/main" id="{8A7CEF28-954A-419D-BF22-E5A108957A74}"/>
              </a:ext>
            </a:extLst>
          </p:cNvPr>
          <p:cNvGrpSpPr/>
          <p:nvPr/>
        </p:nvGrpSpPr>
        <p:grpSpPr>
          <a:xfrm>
            <a:off x="5996136" y="4224338"/>
            <a:ext cx="1600200" cy="1776412"/>
            <a:chOff x="5996136" y="4224338"/>
            <a:chExt cx="1600200" cy="1776412"/>
          </a:xfrm>
        </p:grpSpPr>
        <p:grpSp>
          <p:nvGrpSpPr>
            <p:cNvPr id="5" name="组合 4">
              <a:extLst>
                <a:ext uri="{FF2B5EF4-FFF2-40B4-BE49-F238E27FC236}">
                  <a16:creationId xmlns:a16="http://schemas.microsoft.com/office/drawing/2014/main" id="{A20CA509-C37C-44E7-8443-4B1286F1F7E7}"/>
                </a:ext>
              </a:extLst>
            </p:cNvPr>
            <p:cNvGrpSpPr/>
            <p:nvPr/>
          </p:nvGrpSpPr>
          <p:grpSpPr>
            <a:xfrm>
              <a:off x="5996136" y="4224338"/>
              <a:ext cx="1600200" cy="1295400"/>
              <a:chOff x="6644208" y="4224338"/>
              <a:chExt cx="1600200" cy="1295400"/>
            </a:xfrm>
          </p:grpSpPr>
          <p:sp>
            <p:nvSpPr>
              <p:cNvPr id="12321" name="Line 55">
                <a:extLst>
                  <a:ext uri="{FF2B5EF4-FFF2-40B4-BE49-F238E27FC236}">
                    <a16:creationId xmlns:a16="http://schemas.microsoft.com/office/drawing/2014/main" id="{D8EBD410-CFCB-4011-BAAE-1801371D4012}"/>
                  </a:ext>
                </a:extLst>
              </p:cNvPr>
              <p:cNvSpPr>
                <a:spLocks noChangeShapeType="1"/>
              </p:cNvSpPr>
              <p:nvPr/>
            </p:nvSpPr>
            <p:spPr bwMode="auto">
              <a:xfrm>
                <a:off x="6644208" y="4300538"/>
                <a:ext cx="1600200"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22" name="Oval 56">
                <a:extLst>
                  <a:ext uri="{FF2B5EF4-FFF2-40B4-BE49-F238E27FC236}">
                    <a16:creationId xmlns:a16="http://schemas.microsoft.com/office/drawing/2014/main" id="{43CEA285-3C0C-469E-AE5B-804BA3AACCC8}"/>
                  </a:ext>
                </a:extLst>
              </p:cNvPr>
              <p:cNvSpPr>
                <a:spLocks noChangeArrowheads="1"/>
              </p:cNvSpPr>
              <p:nvPr/>
            </p:nvSpPr>
            <p:spPr bwMode="auto">
              <a:xfrm>
                <a:off x="7787208" y="4224338"/>
                <a:ext cx="152400" cy="152400"/>
              </a:xfrm>
              <a:prstGeom prst="ellipse">
                <a:avLst/>
              </a:prstGeom>
              <a:solidFill>
                <a:srgbClr val="99CC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2323" name="Oval 57">
                <a:extLst>
                  <a:ext uri="{FF2B5EF4-FFF2-40B4-BE49-F238E27FC236}">
                    <a16:creationId xmlns:a16="http://schemas.microsoft.com/office/drawing/2014/main" id="{AAA4AA85-85CD-45FB-B5BA-DCA380A5B899}"/>
                  </a:ext>
                </a:extLst>
              </p:cNvPr>
              <p:cNvSpPr>
                <a:spLocks noChangeArrowheads="1"/>
              </p:cNvSpPr>
              <p:nvPr/>
            </p:nvSpPr>
            <p:spPr bwMode="auto">
              <a:xfrm>
                <a:off x="6949008" y="4224338"/>
                <a:ext cx="152400" cy="152400"/>
              </a:xfrm>
              <a:prstGeom prst="ellipse">
                <a:avLst/>
              </a:prstGeom>
              <a:solidFill>
                <a:srgbClr val="99CC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2324" name="Line 58">
                <a:extLst>
                  <a:ext uri="{FF2B5EF4-FFF2-40B4-BE49-F238E27FC236}">
                    <a16:creationId xmlns:a16="http://schemas.microsoft.com/office/drawing/2014/main" id="{1DD2D3AA-DEF6-4EC0-8A7C-527636F798CB}"/>
                  </a:ext>
                </a:extLst>
              </p:cNvPr>
              <p:cNvSpPr>
                <a:spLocks noChangeShapeType="1"/>
              </p:cNvSpPr>
              <p:nvPr/>
            </p:nvSpPr>
            <p:spPr bwMode="auto">
              <a:xfrm>
                <a:off x="6644208" y="4529138"/>
                <a:ext cx="1600200"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25" name="Oval 59">
                <a:extLst>
                  <a:ext uri="{FF2B5EF4-FFF2-40B4-BE49-F238E27FC236}">
                    <a16:creationId xmlns:a16="http://schemas.microsoft.com/office/drawing/2014/main" id="{91AD8ADF-BB63-4451-A0A2-607334E83839}"/>
                  </a:ext>
                </a:extLst>
              </p:cNvPr>
              <p:cNvSpPr>
                <a:spLocks noChangeArrowheads="1"/>
              </p:cNvSpPr>
              <p:nvPr/>
            </p:nvSpPr>
            <p:spPr bwMode="auto">
              <a:xfrm>
                <a:off x="7787208" y="4452938"/>
                <a:ext cx="152400" cy="152400"/>
              </a:xfrm>
              <a:prstGeom prst="ellipse">
                <a:avLst/>
              </a:prstGeom>
              <a:solidFill>
                <a:srgbClr val="99CC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2326" name="Oval 60">
                <a:extLst>
                  <a:ext uri="{FF2B5EF4-FFF2-40B4-BE49-F238E27FC236}">
                    <a16:creationId xmlns:a16="http://schemas.microsoft.com/office/drawing/2014/main" id="{7A2C7053-4A22-4598-B286-CCDE6596D2EB}"/>
                  </a:ext>
                </a:extLst>
              </p:cNvPr>
              <p:cNvSpPr>
                <a:spLocks noChangeArrowheads="1"/>
              </p:cNvSpPr>
              <p:nvPr/>
            </p:nvSpPr>
            <p:spPr bwMode="auto">
              <a:xfrm>
                <a:off x="6949008" y="4452938"/>
                <a:ext cx="152400" cy="152400"/>
              </a:xfrm>
              <a:prstGeom prst="ellipse">
                <a:avLst/>
              </a:prstGeom>
              <a:solidFill>
                <a:srgbClr val="99CC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2327" name="Line 61">
                <a:extLst>
                  <a:ext uri="{FF2B5EF4-FFF2-40B4-BE49-F238E27FC236}">
                    <a16:creationId xmlns:a16="http://schemas.microsoft.com/office/drawing/2014/main" id="{CD12F6E1-A77A-4EFD-8143-4C8404D5D935}"/>
                  </a:ext>
                </a:extLst>
              </p:cNvPr>
              <p:cNvSpPr>
                <a:spLocks noChangeShapeType="1"/>
              </p:cNvSpPr>
              <p:nvPr/>
            </p:nvSpPr>
            <p:spPr bwMode="auto">
              <a:xfrm>
                <a:off x="6644208" y="4757738"/>
                <a:ext cx="1600200"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28" name="Oval 62">
                <a:extLst>
                  <a:ext uri="{FF2B5EF4-FFF2-40B4-BE49-F238E27FC236}">
                    <a16:creationId xmlns:a16="http://schemas.microsoft.com/office/drawing/2014/main" id="{C295685A-F888-4CA2-AA3E-8C75D3D242E1}"/>
                  </a:ext>
                </a:extLst>
              </p:cNvPr>
              <p:cNvSpPr>
                <a:spLocks noChangeArrowheads="1"/>
              </p:cNvSpPr>
              <p:nvPr/>
            </p:nvSpPr>
            <p:spPr bwMode="auto">
              <a:xfrm>
                <a:off x="7787208" y="4681538"/>
                <a:ext cx="152400" cy="152400"/>
              </a:xfrm>
              <a:prstGeom prst="ellipse">
                <a:avLst/>
              </a:prstGeom>
              <a:solidFill>
                <a:srgbClr val="99CC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2329" name="Oval 63">
                <a:extLst>
                  <a:ext uri="{FF2B5EF4-FFF2-40B4-BE49-F238E27FC236}">
                    <a16:creationId xmlns:a16="http://schemas.microsoft.com/office/drawing/2014/main" id="{4A2C0D5B-9F52-4C9F-BD60-205443E306F7}"/>
                  </a:ext>
                </a:extLst>
              </p:cNvPr>
              <p:cNvSpPr>
                <a:spLocks noChangeArrowheads="1"/>
              </p:cNvSpPr>
              <p:nvPr/>
            </p:nvSpPr>
            <p:spPr bwMode="auto">
              <a:xfrm>
                <a:off x="6949008" y="4681538"/>
                <a:ext cx="152400" cy="152400"/>
              </a:xfrm>
              <a:prstGeom prst="ellipse">
                <a:avLst/>
              </a:prstGeom>
              <a:solidFill>
                <a:srgbClr val="99CC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2330" name="Line 64">
                <a:extLst>
                  <a:ext uri="{FF2B5EF4-FFF2-40B4-BE49-F238E27FC236}">
                    <a16:creationId xmlns:a16="http://schemas.microsoft.com/office/drawing/2014/main" id="{01885243-94C2-4884-AE2D-1AC066EAE7B2}"/>
                  </a:ext>
                </a:extLst>
              </p:cNvPr>
              <p:cNvSpPr>
                <a:spLocks noChangeShapeType="1"/>
              </p:cNvSpPr>
              <p:nvPr/>
            </p:nvSpPr>
            <p:spPr bwMode="auto">
              <a:xfrm>
                <a:off x="6644208" y="4986338"/>
                <a:ext cx="1600200"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31" name="Oval 65">
                <a:extLst>
                  <a:ext uri="{FF2B5EF4-FFF2-40B4-BE49-F238E27FC236}">
                    <a16:creationId xmlns:a16="http://schemas.microsoft.com/office/drawing/2014/main" id="{E54F567A-68F6-4FA1-87E2-97D3A625794B}"/>
                  </a:ext>
                </a:extLst>
              </p:cNvPr>
              <p:cNvSpPr>
                <a:spLocks noChangeArrowheads="1"/>
              </p:cNvSpPr>
              <p:nvPr/>
            </p:nvSpPr>
            <p:spPr bwMode="auto">
              <a:xfrm>
                <a:off x="7787208" y="4910138"/>
                <a:ext cx="152400" cy="152400"/>
              </a:xfrm>
              <a:prstGeom prst="ellipse">
                <a:avLst/>
              </a:prstGeom>
              <a:solidFill>
                <a:srgbClr val="99CC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2332" name="Oval 66">
                <a:extLst>
                  <a:ext uri="{FF2B5EF4-FFF2-40B4-BE49-F238E27FC236}">
                    <a16:creationId xmlns:a16="http://schemas.microsoft.com/office/drawing/2014/main" id="{38CAD3CF-516A-4F07-9576-897F43B7C505}"/>
                  </a:ext>
                </a:extLst>
              </p:cNvPr>
              <p:cNvSpPr>
                <a:spLocks noChangeArrowheads="1"/>
              </p:cNvSpPr>
              <p:nvPr/>
            </p:nvSpPr>
            <p:spPr bwMode="auto">
              <a:xfrm>
                <a:off x="6949008" y="4910138"/>
                <a:ext cx="152400" cy="152400"/>
              </a:xfrm>
              <a:prstGeom prst="ellipse">
                <a:avLst/>
              </a:prstGeom>
              <a:solidFill>
                <a:srgbClr val="99CC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2333" name="Line 67">
                <a:extLst>
                  <a:ext uri="{FF2B5EF4-FFF2-40B4-BE49-F238E27FC236}">
                    <a16:creationId xmlns:a16="http://schemas.microsoft.com/office/drawing/2014/main" id="{655B0274-2EBB-46D3-AC51-ED5C3F2A3075}"/>
                  </a:ext>
                </a:extLst>
              </p:cNvPr>
              <p:cNvSpPr>
                <a:spLocks noChangeShapeType="1"/>
              </p:cNvSpPr>
              <p:nvPr/>
            </p:nvSpPr>
            <p:spPr bwMode="auto">
              <a:xfrm>
                <a:off x="6644208" y="5214938"/>
                <a:ext cx="1600200"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34" name="Oval 68">
                <a:extLst>
                  <a:ext uri="{FF2B5EF4-FFF2-40B4-BE49-F238E27FC236}">
                    <a16:creationId xmlns:a16="http://schemas.microsoft.com/office/drawing/2014/main" id="{E54F8EA7-6F0C-4924-85A7-2F5C8A1341E8}"/>
                  </a:ext>
                </a:extLst>
              </p:cNvPr>
              <p:cNvSpPr>
                <a:spLocks noChangeArrowheads="1"/>
              </p:cNvSpPr>
              <p:nvPr/>
            </p:nvSpPr>
            <p:spPr bwMode="auto">
              <a:xfrm>
                <a:off x="7787208" y="5138738"/>
                <a:ext cx="152400" cy="152400"/>
              </a:xfrm>
              <a:prstGeom prst="ellipse">
                <a:avLst/>
              </a:prstGeom>
              <a:solidFill>
                <a:srgbClr val="99CC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2335" name="Oval 69">
                <a:extLst>
                  <a:ext uri="{FF2B5EF4-FFF2-40B4-BE49-F238E27FC236}">
                    <a16:creationId xmlns:a16="http://schemas.microsoft.com/office/drawing/2014/main" id="{BEC961F6-DAF3-4871-BA2D-470D21CC6E3C}"/>
                  </a:ext>
                </a:extLst>
              </p:cNvPr>
              <p:cNvSpPr>
                <a:spLocks noChangeArrowheads="1"/>
              </p:cNvSpPr>
              <p:nvPr/>
            </p:nvSpPr>
            <p:spPr bwMode="auto">
              <a:xfrm>
                <a:off x="6949008" y="5138738"/>
                <a:ext cx="152400" cy="152400"/>
              </a:xfrm>
              <a:prstGeom prst="ellipse">
                <a:avLst/>
              </a:prstGeom>
              <a:solidFill>
                <a:srgbClr val="99CC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2336" name="Line 70">
                <a:extLst>
                  <a:ext uri="{FF2B5EF4-FFF2-40B4-BE49-F238E27FC236}">
                    <a16:creationId xmlns:a16="http://schemas.microsoft.com/office/drawing/2014/main" id="{8FED68D6-DD5F-44EF-83E1-FA74FF8056F5}"/>
                  </a:ext>
                </a:extLst>
              </p:cNvPr>
              <p:cNvSpPr>
                <a:spLocks noChangeShapeType="1"/>
              </p:cNvSpPr>
              <p:nvPr/>
            </p:nvSpPr>
            <p:spPr bwMode="auto">
              <a:xfrm>
                <a:off x="6644208" y="5443538"/>
                <a:ext cx="1600200"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37" name="Oval 71">
                <a:extLst>
                  <a:ext uri="{FF2B5EF4-FFF2-40B4-BE49-F238E27FC236}">
                    <a16:creationId xmlns:a16="http://schemas.microsoft.com/office/drawing/2014/main" id="{227A7BE7-A0DA-40AB-A1CD-944CDE9362C3}"/>
                  </a:ext>
                </a:extLst>
              </p:cNvPr>
              <p:cNvSpPr>
                <a:spLocks noChangeArrowheads="1"/>
              </p:cNvSpPr>
              <p:nvPr/>
            </p:nvSpPr>
            <p:spPr bwMode="auto">
              <a:xfrm>
                <a:off x="7787208" y="5367338"/>
                <a:ext cx="152400" cy="152400"/>
              </a:xfrm>
              <a:prstGeom prst="ellipse">
                <a:avLst/>
              </a:prstGeom>
              <a:solidFill>
                <a:srgbClr val="99CC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2338" name="Oval 72">
                <a:extLst>
                  <a:ext uri="{FF2B5EF4-FFF2-40B4-BE49-F238E27FC236}">
                    <a16:creationId xmlns:a16="http://schemas.microsoft.com/office/drawing/2014/main" id="{F53AE7FC-CE04-45C2-A0E0-B12ACD4A3075}"/>
                  </a:ext>
                </a:extLst>
              </p:cNvPr>
              <p:cNvSpPr>
                <a:spLocks noChangeArrowheads="1"/>
              </p:cNvSpPr>
              <p:nvPr/>
            </p:nvSpPr>
            <p:spPr bwMode="auto">
              <a:xfrm>
                <a:off x="6949008" y="5367338"/>
                <a:ext cx="152400" cy="152400"/>
              </a:xfrm>
              <a:prstGeom prst="ellipse">
                <a:avLst/>
              </a:prstGeom>
              <a:solidFill>
                <a:srgbClr val="99CC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grpSp>
        <p:sp>
          <p:nvSpPr>
            <p:cNvPr id="12339" name="Rectangle 73">
              <a:extLst>
                <a:ext uri="{FF2B5EF4-FFF2-40B4-BE49-F238E27FC236}">
                  <a16:creationId xmlns:a16="http://schemas.microsoft.com/office/drawing/2014/main" id="{D7AE0D22-9A92-46BE-AACC-E87EE3E2E4E6}"/>
                </a:ext>
              </a:extLst>
            </p:cNvPr>
            <p:cNvSpPr>
              <a:spLocks noChangeArrowheads="1"/>
            </p:cNvSpPr>
            <p:nvPr/>
          </p:nvSpPr>
          <p:spPr bwMode="auto">
            <a:xfrm>
              <a:off x="6181725" y="5603875"/>
              <a:ext cx="12065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dirty="0">
                  <a:solidFill>
                    <a:schemeClr val="bg1"/>
                  </a:solidFill>
                  <a:latin typeface="Arial" panose="020B0604020202020204" pitchFamily="34" charset="0"/>
                  <a:ea typeface="楷体_GB2312" pitchFamily="49" charset="-122"/>
                </a:rPr>
                <a:t>（填满）</a:t>
              </a:r>
            </a:p>
          </p:txBody>
        </p:sp>
      </p:grpSp>
      <p:grpSp>
        <p:nvGrpSpPr>
          <p:cNvPr id="6" name="Group 74">
            <a:extLst>
              <a:ext uri="{FF2B5EF4-FFF2-40B4-BE49-F238E27FC236}">
                <a16:creationId xmlns:a16="http://schemas.microsoft.com/office/drawing/2014/main" id="{6C512074-4C9A-40CE-BE8D-E436964E88FA}"/>
              </a:ext>
            </a:extLst>
          </p:cNvPr>
          <p:cNvGrpSpPr>
            <a:grpSpLocks/>
          </p:cNvGrpSpPr>
          <p:nvPr/>
        </p:nvGrpSpPr>
        <p:grpSpPr bwMode="auto">
          <a:xfrm>
            <a:off x="4078288" y="4721225"/>
            <a:ext cx="1685925" cy="396875"/>
            <a:chOff x="2680" y="2974"/>
            <a:chExt cx="1062" cy="250"/>
          </a:xfrm>
        </p:grpSpPr>
        <p:sp>
          <p:nvSpPr>
            <p:cNvPr id="12317" name="Text Box 75">
              <a:extLst>
                <a:ext uri="{FF2B5EF4-FFF2-40B4-BE49-F238E27FC236}">
                  <a16:creationId xmlns:a16="http://schemas.microsoft.com/office/drawing/2014/main" id="{F8AA83EC-C857-45B0-A62C-3DD1522B038D}"/>
                </a:ext>
              </a:extLst>
            </p:cNvPr>
            <p:cNvSpPr txBox="1">
              <a:spLocks noChangeArrowheads="1"/>
            </p:cNvSpPr>
            <p:nvPr/>
          </p:nvSpPr>
          <p:spPr bwMode="auto">
            <a:xfrm>
              <a:off x="2968" y="2974"/>
              <a:ext cx="43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a:solidFill>
                    <a:srgbClr val="FFCC00"/>
                  </a:solidFill>
                  <a:ea typeface="楷体_GB2312" pitchFamily="49" charset="-122"/>
                </a:rPr>
                <a:t>价带</a:t>
              </a:r>
            </a:p>
          </p:txBody>
        </p:sp>
        <p:sp>
          <p:nvSpPr>
            <p:cNvPr id="12318" name="AutoShape 76">
              <a:extLst>
                <a:ext uri="{FF2B5EF4-FFF2-40B4-BE49-F238E27FC236}">
                  <a16:creationId xmlns:a16="http://schemas.microsoft.com/office/drawing/2014/main" id="{00220960-3C0E-4495-A300-17605910713F}"/>
                </a:ext>
              </a:extLst>
            </p:cNvPr>
            <p:cNvSpPr>
              <a:spLocks noChangeArrowheads="1"/>
            </p:cNvSpPr>
            <p:nvPr/>
          </p:nvSpPr>
          <p:spPr bwMode="auto">
            <a:xfrm>
              <a:off x="2680" y="3012"/>
              <a:ext cx="272" cy="181"/>
            </a:xfrm>
            <a:prstGeom prst="leftArrow">
              <a:avLst>
                <a:gd name="adj1" fmla="val 50000"/>
                <a:gd name="adj2" fmla="val 37569"/>
              </a:avLst>
            </a:prstGeom>
            <a:solidFill>
              <a:schemeClr val="accent1"/>
            </a:solidFill>
            <a:ln w="9525">
              <a:solidFill>
                <a:schemeClr val="tx1"/>
              </a:solidFill>
              <a:miter lim="800000"/>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2319" name="AutoShape 77">
              <a:extLst>
                <a:ext uri="{FF2B5EF4-FFF2-40B4-BE49-F238E27FC236}">
                  <a16:creationId xmlns:a16="http://schemas.microsoft.com/office/drawing/2014/main" id="{11995AB3-61FC-4E88-9409-E50EE0108347}"/>
                </a:ext>
              </a:extLst>
            </p:cNvPr>
            <p:cNvSpPr>
              <a:spLocks noChangeArrowheads="1"/>
            </p:cNvSpPr>
            <p:nvPr/>
          </p:nvSpPr>
          <p:spPr bwMode="auto">
            <a:xfrm flipH="1">
              <a:off x="3470" y="3011"/>
              <a:ext cx="272" cy="181"/>
            </a:xfrm>
            <a:prstGeom prst="leftArrow">
              <a:avLst>
                <a:gd name="adj1" fmla="val 50000"/>
                <a:gd name="adj2" fmla="val 37569"/>
              </a:avLst>
            </a:prstGeom>
            <a:solidFill>
              <a:schemeClr val="accent1"/>
            </a:solidFill>
            <a:ln w="9525">
              <a:solidFill>
                <a:schemeClr val="tx1"/>
              </a:solidFill>
              <a:miter lim="800000"/>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grpSp>
      <p:grpSp>
        <p:nvGrpSpPr>
          <p:cNvPr id="7" name="Group 78">
            <a:extLst>
              <a:ext uri="{FF2B5EF4-FFF2-40B4-BE49-F238E27FC236}">
                <a16:creationId xmlns:a16="http://schemas.microsoft.com/office/drawing/2014/main" id="{4D5BD6D0-BEF7-4CD6-8CC1-E403FB5C1D16}"/>
              </a:ext>
            </a:extLst>
          </p:cNvPr>
          <p:cNvGrpSpPr>
            <a:grpSpLocks/>
          </p:cNvGrpSpPr>
          <p:nvPr/>
        </p:nvGrpSpPr>
        <p:grpSpPr bwMode="auto">
          <a:xfrm>
            <a:off x="2617788" y="2811463"/>
            <a:ext cx="914400" cy="762000"/>
            <a:chOff x="960" y="960"/>
            <a:chExt cx="576" cy="480"/>
          </a:xfrm>
        </p:grpSpPr>
        <p:sp>
          <p:nvSpPr>
            <p:cNvPr id="12315" name="Arc 79">
              <a:extLst>
                <a:ext uri="{FF2B5EF4-FFF2-40B4-BE49-F238E27FC236}">
                  <a16:creationId xmlns:a16="http://schemas.microsoft.com/office/drawing/2014/main" id="{EB2CF987-0F33-4D07-9E36-7896676A25E3}"/>
                </a:ext>
              </a:extLst>
            </p:cNvPr>
            <p:cNvSpPr>
              <a:spLocks/>
            </p:cNvSpPr>
            <p:nvPr/>
          </p:nvSpPr>
          <p:spPr bwMode="auto">
            <a:xfrm>
              <a:off x="960" y="960"/>
              <a:ext cx="528" cy="429"/>
            </a:xfrm>
            <a:custGeom>
              <a:avLst/>
              <a:gdLst>
                <a:gd name="T0" fmla="*/ 0 w 21472"/>
                <a:gd name="T1" fmla="*/ 0 h 21449"/>
                <a:gd name="T2" fmla="*/ 0 w 21472"/>
                <a:gd name="T3" fmla="*/ 0 h 21449"/>
                <a:gd name="T4" fmla="*/ 0 w 21472"/>
                <a:gd name="T5" fmla="*/ 0 h 21449"/>
                <a:gd name="T6" fmla="*/ 0 60000 65536"/>
                <a:gd name="T7" fmla="*/ 0 60000 65536"/>
                <a:gd name="T8" fmla="*/ 0 60000 65536"/>
                <a:gd name="T9" fmla="*/ 0 w 21472"/>
                <a:gd name="T10" fmla="*/ 0 h 21449"/>
                <a:gd name="T11" fmla="*/ 21472 w 21472"/>
                <a:gd name="T12" fmla="*/ 21449 h 21449"/>
              </a:gdLst>
              <a:ahLst/>
              <a:cxnLst>
                <a:cxn ang="T6">
                  <a:pos x="T0" y="T1"/>
                </a:cxn>
                <a:cxn ang="T7">
                  <a:pos x="T2" y="T3"/>
                </a:cxn>
                <a:cxn ang="T8">
                  <a:pos x="T4" y="T5"/>
                </a:cxn>
              </a:cxnLst>
              <a:rect l="T9" t="T10" r="T11" b="T12"/>
              <a:pathLst>
                <a:path w="21472" h="21449" fill="none" extrusionOk="0">
                  <a:moveTo>
                    <a:pt x="2548" y="-1"/>
                  </a:moveTo>
                  <a:cubicBezTo>
                    <a:pt x="12532" y="1185"/>
                    <a:pt x="20377" y="9104"/>
                    <a:pt x="21471" y="19099"/>
                  </a:cubicBezTo>
                </a:path>
                <a:path w="21472" h="21449" stroke="0" extrusionOk="0">
                  <a:moveTo>
                    <a:pt x="2548" y="-1"/>
                  </a:moveTo>
                  <a:cubicBezTo>
                    <a:pt x="12532" y="1185"/>
                    <a:pt x="20377" y="9104"/>
                    <a:pt x="21471" y="19099"/>
                  </a:cubicBezTo>
                  <a:lnTo>
                    <a:pt x="0" y="21449"/>
                  </a:lnTo>
                  <a:lnTo>
                    <a:pt x="2548" y="-1"/>
                  </a:lnTo>
                  <a:close/>
                </a:path>
              </a:pathLst>
            </a:custGeom>
            <a:noFill/>
            <a:ln w="28575">
              <a:solidFill>
                <a:srgbClr val="FF3300"/>
              </a:solidFill>
              <a:round/>
              <a:headEnd type="triangle" w="med" len="me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2316" name="Oval 80">
              <a:extLst>
                <a:ext uri="{FF2B5EF4-FFF2-40B4-BE49-F238E27FC236}">
                  <a16:creationId xmlns:a16="http://schemas.microsoft.com/office/drawing/2014/main" id="{FE5DA4B9-0BCB-4AA3-8ACA-C0A2C8C51E0B}"/>
                </a:ext>
              </a:extLst>
            </p:cNvPr>
            <p:cNvSpPr>
              <a:spLocks noChangeArrowheads="1"/>
            </p:cNvSpPr>
            <p:nvPr/>
          </p:nvSpPr>
          <p:spPr bwMode="auto">
            <a:xfrm>
              <a:off x="1440" y="1344"/>
              <a:ext cx="96" cy="96"/>
            </a:xfrm>
            <a:prstGeom prst="ellipse">
              <a:avLst/>
            </a:prstGeom>
            <a:solidFill>
              <a:schemeClr val="tx1"/>
            </a:solidFill>
            <a:ln w="3175">
              <a:solidFill>
                <a:schemeClr val="bg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grpSp>
      <p:grpSp>
        <p:nvGrpSpPr>
          <p:cNvPr id="8" name="Group 81">
            <a:extLst>
              <a:ext uri="{FF2B5EF4-FFF2-40B4-BE49-F238E27FC236}">
                <a16:creationId xmlns:a16="http://schemas.microsoft.com/office/drawing/2014/main" id="{4AC50BAD-B1D3-4343-BB06-7EF26A961928}"/>
              </a:ext>
            </a:extLst>
          </p:cNvPr>
          <p:cNvGrpSpPr>
            <a:grpSpLocks/>
          </p:cNvGrpSpPr>
          <p:nvPr/>
        </p:nvGrpSpPr>
        <p:grpSpPr bwMode="auto">
          <a:xfrm>
            <a:off x="2717800" y="2659063"/>
            <a:ext cx="814388" cy="914400"/>
            <a:chOff x="1023" y="864"/>
            <a:chExt cx="513" cy="576"/>
          </a:xfrm>
        </p:grpSpPr>
        <p:sp>
          <p:nvSpPr>
            <p:cNvPr id="12313" name="Arc 82">
              <a:extLst>
                <a:ext uri="{FF2B5EF4-FFF2-40B4-BE49-F238E27FC236}">
                  <a16:creationId xmlns:a16="http://schemas.microsoft.com/office/drawing/2014/main" id="{62E2C3EA-5BEC-4EAB-82DE-36F95C5FC5BF}"/>
                </a:ext>
              </a:extLst>
            </p:cNvPr>
            <p:cNvSpPr>
              <a:spLocks/>
            </p:cNvSpPr>
            <p:nvPr/>
          </p:nvSpPr>
          <p:spPr bwMode="auto">
            <a:xfrm rot="10781262">
              <a:off x="1023" y="864"/>
              <a:ext cx="463" cy="527"/>
            </a:xfrm>
            <a:custGeom>
              <a:avLst/>
              <a:gdLst>
                <a:gd name="T0" fmla="*/ 0 w 20710"/>
                <a:gd name="T1" fmla="*/ 0 h 21571"/>
                <a:gd name="T2" fmla="*/ 0 w 20710"/>
                <a:gd name="T3" fmla="*/ 0 h 21571"/>
                <a:gd name="T4" fmla="*/ 0 w 20710"/>
                <a:gd name="T5" fmla="*/ 0 h 21571"/>
                <a:gd name="T6" fmla="*/ 0 60000 65536"/>
                <a:gd name="T7" fmla="*/ 0 60000 65536"/>
                <a:gd name="T8" fmla="*/ 0 60000 65536"/>
                <a:gd name="T9" fmla="*/ 0 w 20710"/>
                <a:gd name="T10" fmla="*/ 0 h 21571"/>
                <a:gd name="T11" fmla="*/ 20710 w 20710"/>
                <a:gd name="T12" fmla="*/ 21571 h 21571"/>
              </a:gdLst>
              <a:ahLst/>
              <a:cxnLst>
                <a:cxn ang="T6">
                  <a:pos x="T0" y="T1"/>
                </a:cxn>
                <a:cxn ang="T7">
                  <a:pos x="T2" y="T3"/>
                </a:cxn>
                <a:cxn ang="T8">
                  <a:pos x="T4" y="T5"/>
                </a:cxn>
              </a:cxnLst>
              <a:rect l="T9" t="T10" r="T11" b="T12"/>
              <a:pathLst>
                <a:path w="20710" h="21571" fill="none" extrusionOk="0">
                  <a:moveTo>
                    <a:pt x="1118" y="-1"/>
                  </a:moveTo>
                  <a:cubicBezTo>
                    <a:pt x="10258" y="473"/>
                    <a:pt x="18108" y="6657"/>
                    <a:pt x="20709" y="15433"/>
                  </a:cubicBezTo>
                </a:path>
                <a:path w="20710" h="21571" stroke="0" extrusionOk="0">
                  <a:moveTo>
                    <a:pt x="1118" y="-1"/>
                  </a:moveTo>
                  <a:cubicBezTo>
                    <a:pt x="10258" y="473"/>
                    <a:pt x="18108" y="6657"/>
                    <a:pt x="20709" y="15433"/>
                  </a:cubicBezTo>
                  <a:lnTo>
                    <a:pt x="0" y="21571"/>
                  </a:lnTo>
                  <a:lnTo>
                    <a:pt x="1118" y="-1"/>
                  </a:lnTo>
                  <a:close/>
                </a:path>
              </a:pathLst>
            </a:custGeom>
            <a:noFill/>
            <a:ln w="28575">
              <a:solidFill>
                <a:srgbClr val="FF3300"/>
              </a:solidFill>
              <a:round/>
              <a:headEnd type="triangle" w="med" len="me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2314" name="Oval 83">
              <a:extLst>
                <a:ext uri="{FF2B5EF4-FFF2-40B4-BE49-F238E27FC236}">
                  <a16:creationId xmlns:a16="http://schemas.microsoft.com/office/drawing/2014/main" id="{5C19C8BF-4BEF-4221-B794-FCC35865B4BE}"/>
                </a:ext>
              </a:extLst>
            </p:cNvPr>
            <p:cNvSpPr>
              <a:spLocks noChangeArrowheads="1"/>
            </p:cNvSpPr>
            <p:nvPr/>
          </p:nvSpPr>
          <p:spPr bwMode="auto">
            <a:xfrm>
              <a:off x="1440" y="1344"/>
              <a:ext cx="96" cy="96"/>
            </a:xfrm>
            <a:prstGeom prst="ellipse">
              <a:avLst/>
            </a:prstGeom>
            <a:solidFill>
              <a:srgbClr val="99CCFF"/>
            </a:solidFill>
            <a:ln w="317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grpSp>
      <p:grpSp>
        <p:nvGrpSpPr>
          <p:cNvPr id="9" name="Group 84">
            <a:extLst>
              <a:ext uri="{FF2B5EF4-FFF2-40B4-BE49-F238E27FC236}">
                <a16:creationId xmlns:a16="http://schemas.microsoft.com/office/drawing/2014/main" id="{D8A29DCD-1C8E-48FC-8C2D-D112EF6AC9B8}"/>
              </a:ext>
            </a:extLst>
          </p:cNvPr>
          <p:cNvGrpSpPr>
            <a:grpSpLocks/>
          </p:cNvGrpSpPr>
          <p:nvPr/>
        </p:nvGrpSpPr>
        <p:grpSpPr bwMode="auto">
          <a:xfrm>
            <a:off x="3387725" y="4462463"/>
            <a:ext cx="152400" cy="838200"/>
            <a:chOff x="1440" y="2160"/>
            <a:chExt cx="96" cy="528"/>
          </a:xfrm>
        </p:grpSpPr>
        <p:sp>
          <p:nvSpPr>
            <p:cNvPr id="12310" name="Oval 85">
              <a:extLst>
                <a:ext uri="{FF2B5EF4-FFF2-40B4-BE49-F238E27FC236}">
                  <a16:creationId xmlns:a16="http://schemas.microsoft.com/office/drawing/2014/main" id="{469D0134-8977-476D-988F-27F256AF8BBF}"/>
                </a:ext>
              </a:extLst>
            </p:cNvPr>
            <p:cNvSpPr>
              <a:spLocks noChangeArrowheads="1"/>
            </p:cNvSpPr>
            <p:nvPr/>
          </p:nvSpPr>
          <p:spPr bwMode="auto">
            <a:xfrm>
              <a:off x="1440" y="2592"/>
              <a:ext cx="96" cy="96"/>
            </a:xfrm>
            <a:prstGeom prst="ellipse">
              <a:avLst/>
            </a:prstGeom>
            <a:solidFill>
              <a:schemeClr val="tx1"/>
            </a:solidFill>
            <a:ln w="3175">
              <a:solidFill>
                <a:schemeClr val="bg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2311" name="Oval 86">
              <a:extLst>
                <a:ext uri="{FF2B5EF4-FFF2-40B4-BE49-F238E27FC236}">
                  <a16:creationId xmlns:a16="http://schemas.microsoft.com/office/drawing/2014/main" id="{EE134AB4-0C98-451B-83AF-7FC77B089B4C}"/>
                </a:ext>
              </a:extLst>
            </p:cNvPr>
            <p:cNvSpPr>
              <a:spLocks noChangeArrowheads="1"/>
            </p:cNvSpPr>
            <p:nvPr/>
          </p:nvSpPr>
          <p:spPr bwMode="auto">
            <a:xfrm>
              <a:off x="1440" y="2160"/>
              <a:ext cx="96" cy="96"/>
            </a:xfrm>
            <a:prstGeom prst="ellipse">
              <a:avLst/>
            </a:prstGeom>
            <a:solidFill>
              <a:srgbClr val="99CCFF"/>
            </a:solidFill>
            <a:ln w="317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2312" name="Line 87">
              <a:extLst>
                <a:ext uri="{FF2B5EF4-FFF2-40B4-BE49-F238E27FC236}">
                  <a16:creationId xmlns:a16="http://schemas.microsoft.com/office/drawing/2014/main" id="{382161CA-90B4-48BF-8CE6-4783101F06C7}"/>
                </a:ext>
              </a:extLst>
            </p:cNvPr>
            <p:cNvSpPr>
              <a:spLocks noChangeShapeType="1"/>
            </p:cNvSpPr>
            <p:nvPr/>
          </p:nvSpPr>
          <p:spPr bwMode="auto">
            <a:xfrm flipV="1">
              <a:off x="1488" y="2256"/>
              <a:ext cx="0" cy="336"/>
            </a:xfrm>
            <a:prstGeom prst="line">
              <a:avLst/>
            </a:prstGeom>
            <a:noFill/>
            <a:ln w="28575">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0" name="Group 88">
            <a:extLst>
              <a:ext uri="{FF2B5EF4-FFF2-40B4-BE49-F238E27FC236}">
                <a16:creationId xmlns:a16="http://schemas.microsoft.com/office/drawing/2014/main" id="{9CD354CE-EF07-4782-965E-D3AF8842B006}"/>
              </a:ext>
            </a:extLst>
          </p:cNvPr>
          <p:cNvGrpSpPr>
            <a:grpSpLocks/>
          </p:cNvGrpSpPr>
          <p:nvPr/>
        </p:nvGrpSpPr>
        <p:grpSpPr bwMode="auto">
          <a:xfrm>
            <a:off x="7153275" y="3419476"/>
            <a:ext cx="152400" cy="954088"/>
            <a:chOff x="3888" y="1354"/>
            <a:chExt cx="96" cy="601"/>
          </a:xfrm>
        </p:grpSpPr>
        <p:sp>
          <p:nvSpPr>
            <p:cNvPr id="12307" name="Oval 89">
              <a:extLst>
                <a:ext uri="{FF2B5EF4-FFF2-40B4-BE49-F238E27FC236}">
                  <a16:creationId xmlns:a16="http://schemas.microsoft.com/office/drawing/2014/main" id="{C4773F44-C190-4C6E-BD84-F8C2820D8E50}"/>
                </a:ext>
              </a:extLst>
            </p:cNvPr>
            <p:cNvSpPr>
              <a:spLocks noChangeArrowheads="1"/>
            </p:cNvSpPr>
            <p:nvPr/>
          </p:nvSpPr>
          <p:spPr bwMode="auto">
            <a:xfrm>
              <a:off x="3888" y="1859"/>
              <a:ext cx="96" cy="96"/>
            </a:xfrm>
            <a:prstGeom prst="ellipse">
              <a:avLst/>
            </a:prstGeom>
            <a:solidFill>
              <a:schemeClr val="tx1"/>
            </a:solidFill>
            <a:ln w="3175">
              <a:solidFill>
                <a:schemeClr val="bg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2308" name="Oval 90">
              <a:extLst>
                <a:ext uri="{FF2B5EF4-FFF2-40B4-BE49-F238E27FC236}">
                  <a16:creationId xmlns:a16="http://schemas.microsoft.com/office/drawing/2014/main" id="{3846C14B-969E-4145-8FEA-E8DCF0EAE93F}"/>
                </a:ext>
              </a:extLst>
            </p:cNvPr>
            <p:cNvSpPr>
              <a:spLocks noChangeArrowheads="1"/>
            </p:cNvSpPr>
            <p:nvPr/>
          </p:nvSpPr>
          <p:spPr bwMode="auto">
            <a:xfrm>
              <a:off x="3888" y="1354"/>
              <a:ext cx="96" cy="96"/>
            </a:xfrm>
            <a:prstGeom prst="ellipse">
              <a:avLst/>
            </a:prstGeom>
            <a:solidFill>
              <a:srgbClr val="99CCFF"/>
            </a:solidFill>
            <a:ln w="317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2309" name="Line 91">
              <a:extLst>
                <a:ext uri="{FF2B5EF4-FFF2-40B4-BE49-F238E27FC236}">
                  <a16:creationId xmlns:a16="http://schemas.microsoft.com/office/drawing/2014/main" id="{961A8E04-07FF-424D-83CE-845FF2AB2A3B}"/>
                </a:ext>
              </a:extLst>
            </p:cNvPr>
            <p:cNvSpPr>
              <a:spLocks noChangeShapeType="1"/>
            </p:cNvSpPr>
            <p:nvPr/>
          </p:nvSpPr>
          <p:spPr bwMode="auto">
            <a:xfrm flipV="1">
              <a:off x="3936" y="1392"/>
              <a:ext cx="0" cy="480"/>
            </a:xfrm>
            <a:prstGeom prst="line">
              <a:avLst/>
            </a:prstGeom>
            <a:noFill/>
            <a:ln w="28575">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218204" name="Text Box 92">
            <a:extLst>
              <a:ext uri="{FF2B5EF4-FFF2-40B4-BE49-F238E27FC236}">
                <a16:creationId xmlns:a16="http://schemas.microsoft.com/office/drawing/2014/main" id="{2CC65DAA-D7BF-47FF-B36C-FB95987255B3}"/>
              </a:ext>
            </a:extLst>
          </p:cNvPr>
          <p:cNvSpPr txBox="1">
            <a:spLocks noChangeArrowheads="1"/>
          </p:cNvSpPr>
          <p:nvPr/>
        </p:nvSpPr>
        <p:spPr bwMode="auto">
          <a:xfrm>
            <a:off x="776864" y="1649773"/>
            <a:ext cx="67929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dirty="0">
                <a:solidFill>
                  <a:srgbClr val="00FFFF"/>
                </a:solidFill>
                <a:latin typeface="宋体" panose="02010600030101010101" pitchFamily="2" charset="-122"/>
                <a:ea typeface="仿宋_GB2312" pitchFamily="49" charset="-122"/>
              </a:rPr>
              <a:t>导带</a:t>
            </a:r>
            <a:r>
              <a:rPr lang="en-US" altLang="zh-CN" dirty="0">
                <a:solidFill>
                  <a:srgbClr val="00FFFF"/>
                </a:solidFill>
                <a:latin typeface="宋体" panose="02010600030101010101" pitchFamily="2" charset="-122"/>
                <a:ea typeface="仿宋_GB2312" pitchFamily="49" charset="-122"/>
              </a:rPr>
              <a:t>: </a:t>
            </a:r>
            <a:r>
              <a:rPr lang="zh-CN" altLang="en-US" dirty="0">
                <a:solidFill>
                  <a:schemeClr val="bg1"/>
                </a:solidFill>
                <a:latin typeface="宋体" panose="02010600030101010101" pitchFamily="2" charset="-122"/>
                <a:ea typeface="仿宋_GB2312" pitchFamily="49" charset="-122"/>
              </a:rPr>
              <a:t>未填满的带（空带与价带相邻）</a:t>
            </a:r>
            <a:endParaRPr lang="en-US" altLang="zh-CN" dirty="0">
              <a:solidFill>
                <a:schemeClr val="bg1"/>
              </a:solidFill>
              <a:latin typeface="宋体" panose="02010600030101010101" pitchFamily="2" charset="-122"/>
              <a:ea typeface="仿宋_GB2312" pitchFamily="49" charset="-122"/>
            </a:endParaRPr>
          </a:p>
        </p:txBody>
      </p:sp>
      <p:sp>
        <p:nvSpPr>
          <p:cNvPr id="12306" name="灯片编号占位符 1">
            <a:extLst>
              <a:ext uri="{FF2B5EF4-FFF2-40B4-BE49-F238E27FC236}">
                <a16:creationId xmlns:a16="http://schemas.microsoft.com/office/drawing/2014/main" id="{2DDB1AA8-84CE-445B-85F0-0D003882C19F}"/>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664F1CC2-4C09-47EB-B540-C22AC475D078}" type="slidenum">
              <a:rPr lang="en-US" altLang="zh-CN" b="0">
                <a:solidFill>
                  <a:srgbClr val="FF00FF"/>
                </a:solidFill>
              </a:rPr>
              <a:pPr eaLnBrk="1" hangingPunct="1"/>
              <a:t>7</a:t>
            </a:fld>
            <a:r>
              <a:rPr lang="en-US" altLang="zh-CN" b="0">
                <a:solidFill>
                  <a:srgbClr val="FF00FF"/>
                </a:solidFill>
              </a:rPr>
              <a:t>/40</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18129"/>
                                        </p:tgtEl>
                                        <p:attrNameLst>
                                          <p:attrName>style.visibility</p:attrName>
                                        </p:attrNameLst>
                                      </p:cBhvr>
                                      <p:to>
                                        <p:strVal val="visible"/>
                                      </p:to>
                                    </p:set>
                                    <p:animEffect transition="in" filter="wipe(left)">
                                      <p:cBhvr>
                                        <p:cTn id="7" dur="500"/>
                                        <p:tgtEl>
                                          <p:spTgt spid="21812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18130"/>
                                        </p:tgtEl>
                                        <p:attrNameLst>
                                          <p:attrName>style.visibility</p:attrName>
                                        </p:attrNameLst>
                                      </p:cBhvr>
                                      <p:to>
                                        <p:strVal val="visible"/>
                                      </p:to>
                                    </p:set>
                                    <p:animEffect transition="in" filter="wipe(left)">
                                      <p:cBhvr>
                                        <p:cTn id="12" dur="500"/>
                                        <p:tgtEl>
                                          <p:spTgt spid="21813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ox(in)">
                                      <p:cBhvr>
                                        <p:cTn id="17" dur="500"/>
                                        <p:tgtEl>
                                          <p:spTgt spid="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8" presetClass="entr" presetSubtype="9"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strips(upLeft)">
                                      <p:cBhvr>
                                        <p:cTn id="22" dur="500"/>
                                        <p:tgtEl>
                                          <p:spTgt spid="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8" presetClass="entr" presetSubtype="6"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strips(downRight)">
                                      <p:cBhvr>
                                        <p:cTn id="27" dur="500"/>
                                        <p:tgtEl>
                                          <p:spTgt spid="8"/>
                                        </p:tgtEl>
                                      </p:cBhvr>
                                    </p:animEffect>
                                  </p:childTnLst>
                                </p:cTn>
                              </p:par>
                            </p:childTnLst>
                          </p:cTn>
                        </p:par>
                        <p:par>
                          <p:cTn id="28" fill="hold" nodeType="afterGroup">
                            <p:stCondLst>
                              <p:cond delay="500"/>
                            </p:stCondLst>
                            <p:childTnLst>
                              <p:par>
                                <p:cTn id="29" presetID="22" presetClass="entr" presetSubtype="8" fill="hold" grpId="0" nodeType="afterEffect">
                                  <p:stCondLst>
                                    <p:cond delay="0"/>
                                  </p:stCondLst>
                                  <p:childTnLst>
                                    <p:set>
                                      <p:cBhvr>
                                        <p:cTn id="30" dur="1" fill="hold">
                                          <p:stCondLst>
                                            <p:cond delay="0"/>
                                          </p:stCondLst>
                                        </p:cTn>
                                        <p:tgtEl>
                                          <p:spTgt spid="218155"/>
                                        </p:tgtEl>
                                        <p:attrNameLst>
                                          <p:attrName>style.visibility</p:attrName>
                                        </p:attrNameLst>
                                      </p:cBhvr>
                                      <p:to>
                                        <p:strVal val="visible"/>
                                      </p:to>
                                    </p:set>
                                    <p:animEffect transition="in" filter="wipe(left)">
                                      <p:cBhvr>
                                        <p:cTn id="31" dur="500"/>
                                        <p:tgtEl>
                                          <p:spTgt spid="218155"/>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218131"/>
                                        </p:tgtEl>
                                        <p:attrNameLst>
                                          <p:attrName>style.visibility</p:attrName>
                                        </p:attrNameLst>
                                      </p:cBhvr>
                                      <p:to>
                                        <p:strVal val="visible"/>
                                      </p:to>
                                    </p:set>
                                    <p:animEffect transition="in" filter="wipe(left)">
                                      <p:cBhvr>
                                        <p:cTn id="36" dur="500"/>
                                        <p:tgtEl>
                                          <p:spTgt spid="218131"/>
                                        </p:tgtEl>
                                      </p:cBhvr>
                                    </p:animEffect>
                                  </p:childTnLst>
                                </p:cTn>
                              </p:par>
                            </p:childTnLst>
                          </p:cTn>
                        </p:par>
                      </p:childTnLst>
                    </p:cTn>
                  </p:par>
                  <p:par>
                    <p:cTn id="37" fill="hold">
                      <p:stCondLst>
                        <p:cond delay="indefinite"/>
                      </p:stCondLst>
                      <p:childTnLst>
                        <p:par>
                          <p:cTn id="38" fill="hold">
                            <p:stCondLst>
                              <p:cond delay="0"/>
                            </p:stCondLst>
                            <p:childTnLst>
                              <p:par>
                                <p:cTn id="39" presetID="4" presetClass="entr" presetSubtype="32" fill="hold" nodeType="clickEffect">
                                  <p:stCondLst>
                                    <p:cond delay="0"/>
                                  </p:stCondLst>
                                  <p:childTnLst>
                                    <p:set>
                                      <p:cBhvr>
                                        <p:cTn id="40" dur="1" fill="hold">
                                          <p:stCondLst>
                                            <p:cond delay="0"/>
                                          </p:stCondLst>
                                        </p:cTn>
                                        <p:tgtEl>
                                          <p:spTgt spid="6"/>
                                        </p:tgtEl>
                                        <p:attrNameLst>
                                          <p:attrName>style.visibility</p:attrName>
                                        </p:attrNameLst>
                                      </p:cBhvr>
                                      <p:to>
                                        <p:strVal val="visible"/>
                                      </p:to>
                                    </p:set>
                                    <p:animEffect transition="in" filter="box(out)">
                                      <p:cBhvr>
                                        <p:cTn id="41" dur="500"/>
                                        <p:tgtEl>
                                          <p:spTgt spid="6"/>
                                        </p:tgtEl>
                                      </p:cBhvr>
                                    </p:animEffect>
                                  </p:childTnLst>
                                </p:cTn>
                              </p:par>
                            </p:childTnLst>
                          </p:cTn>
                        </p:par>
                        <p:par>
                          <p:cTn id="42" fill="hold">
                            <p:stCondLst>
                              <p:cond delay="500"/>
                            </p:stCondLst>
                            <p:childTnLst>
                              <p:par>
                                <p:cTn id="43" presetID="22" presetClass="entr" presetSubtype="8" fill="hold" nodeType="afterEffect">
                                  <p:stCondLst>
                                    <p:cond delay="0"/>
                                  </p:stCondLst>
                                  <p:childTnLst>
                                    <p:set>
                                      <p:cBhvr>
                                        <p:cTn id="44" dur="1" fill="hold">
                                          <p:stCondLst>
                                            <p:cond delay="0"/>
                                          </p:stCondLst>
                                        </p:cTn>
                                        <p:tgtEl>
                                          <p:spTgt spid="11"/>
                                        </p:tgtEl>
                                        <p:attrNameLst>
                                          <p:attrName>style.visibility</p:attrName>
                                        </p:attrNameLst>
                                      </p:cBhvr>
                                      <p:to>
                                        <p:strVal val="visible"/>
                                      </p:to>
                                    </p:set>
                                    <p:animEffect transition="in" filter="wipe(left)">
                                      <p:cBhvr>
                                        <p:cTn id="45" dur="500"/>
                                        <p:tgtEl>
                                          <p:spTgt spid="11"/>
                                        </p:tgtEl>
                                      </p:cBhvr>
                                    </p:animEffect>
                                  </p:childTnLst>
                                </p:cTn>
                              </p:par>
                              <p:par>
                                <p:cTn id="46" presetID="22" presetClass="entr" presetSubtype="2" fill="hold" nodeType="withEffect">
                                  <p:stCondLst>
                                    <p:cond delay="0"/>
                                  </p:stCondLst>
                                  <p:childTnLst>
                                    <p:set>
                                      <p:cBhvr>
                                        <p:cTn id="47" dur="1" fill="hold">
                                          <p:stCondLst>
                                            <p:cond delay="0"/>
                                          </p:stCondLst>
                                        </p:cTn>
                                        <p:tgtEl>
                                          <p:spTgt spid="2"/>
                                        </p:tgtEl>
                                        <p:attrNameLst>
                                          <p:attrName>style.visibility</p:attrName>
                                        </p:attrNameLst>
                                      </p:cBhvr>
                                      <p:to>
                                        <p:strVal val="visible"/>
                                      </p:to>
                                    </p:set>
                                    <p:animEffect transition="in" filter="wipe(right)">
                                      <p:cBhvr>
                                        <p:cTn id="48" dur="500"/>
                                        <p:tgtEl>
                                          <p:spTgt spid="2"/>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12" presetClass="entr" presetSubtype="4" fill="hold" nodeType="clickEffect">
                                  <p:stCondLst>
                                    <p:cond delay="0"/>
                                  </p:stCondLst>
                                  <p:childTnLst>
                                    <p:set>
                                      <p:cBhvr>
                                        <p:cTn id="52" dur="1" fill="hold">
                                          <p:stCondLst>
                                            <p:cond delay="0"/>
                                          </p:stCondLst>
                                        </p:cTn>
                                        <p:tgtEl>
                                          <p:spTgt spid="9"/>
                                        </p:tgtEl>
                                        <p:attrNameLst>
                                          <p:attrName>style.visibility</p:attrName>
                                        </p:attrNameLst>
                                      </p:cBhvr>
                                      <p:to>
                                        <p:strVal val="visible"/>
                                      </p:to>
                                    </p:set>
                                    <p:animEffect transition="in" filter="slide(fromBottom)">
                                      <p:cBhvr>
                                        <p:cTn id="53" dur="500"/>
                                        <p:tgtEl>
                                          <p:spTgt spid="9"/>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218156"/>
                                        </p:tgtEl>
                                        <p:attrNameLst>
                                          <p:attrName>style.visibility</p:attrName>
                                        </p:attrNameLst>
                                      </p:cBhvr>
                                      <p:to>
                                        <p:strVal val="visible"/>
                                      </p:to>
                                    </p:set>
                                    <p:animEffect transition="in" filter="wipe(left)">
                                      <p:cBhvr>
                                        <p:cTn id="58" dur="500"/>
                                        <p:tgtEl>
                                          <p:spTgt spid="218156"/>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218132"/>
                                        </p:tgtEl>
                                        <p:attrNameLst>
                                          <p:attrName>style.visibility</p:attrName>
                                        </p:attrNameLst>
                                      </p:cBhvr>
                                      <p:to>
                                        <p:strVal val="visible"/>
                                      </p:to>
                                    </p:set>
                                    <p:animEffect transition="in" filter="wipe(left)">
                                      <p:cBhvr>
                                        <p:cTn id="63" dur="500"/>
                                        <p:tgtEl>
                                          <p:spTgt spid="218132"/>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4" fill="hold" nodeType="clickEffect">
                                  <p:stCondLst>
                                    <p:cond delay="0"/>
                                  </p:stCondLst>
                                  <p:childTnLst>
                                    <p:set>
                                      <p:cBhvr>
                                        <p:cTn id="67" dur="1" fill="hold">
                                          <p:stCondLst>
                                            <p:cond delay="0"/>
                                          </p:stCondLst>
                                        </p:cTn>
                                        <p:tgtEl>
                                          <p:spTgt spid="12320"/>
                                        </p:tgtEl>
                                        <p:attrNameLst>
                                          <p:attrName>style.visibility</p:attrName>
                                        </p:attrNameLst>
                                      </p:cBhvr>
                                      <p:to>
                                        <p:strVal val="visible"/>
                                      </p:to>
                                    </p:set>
                                    <p:animEffect transition="in" filter="wipe(down)">
                                      <p:cBhvr>
                                        <p:cTn id="68" dur="500"/>
                                        <p:tgtEl>
                                          <p:spTgt spid="12320"/>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12" presetClass="entr" presetSubtype="4" fill="hold" nodeType="clickEffect">
                                  <p:stCondLst>
                                    <p:cond delay="0"/>
                                  </p:stCondLst>
                                  <p:childTnLst>
                                    <p:set>
                                      <p:cBhvr>
                                        <p:cTn id="72" dur="1" fill="hold">
                                          <p:stCondLst>
                                            <p:cond delay="0"/>
                                          </p:stCondLst>
                                        </p:cTn>
                                        <p:tgtEl>
                                          <p:spTgt spid="10"/>
                                        </p:tgtEl>
                                        <p:attrNameLst>
                                          <p:attrName>style.visibility</p:attrName>
                                        </p:attrNameLst>
                                      </p:cBhvr>
                                      <p:to>
                                        <p:strVal val="visible"/>
                                      </p:to>
                                    </p:set>
                                    <p:animEffect transition="in" filter="slide(fromBottom)">
                                      <p:cBhvr>
                                        <p:cTn id="73" dur="500"/>
                                        <p:tgtEl>
                                          <p:spTgt spid="10"/>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22" presetClass="entr" presetSubtype="8" fill="hold" grpId="0" nodeType="clickEffect">
                                  <p:stCondLst>
                                    <p:cond delay="0"/>
                                  </p:stCondLst>
                                  <p:childTnLst>
                                    <p:set>
                                      <p:cBhvr>
                                        <p:cTn id="77" dur="1" fill="hold">
                                          <p:stCondLst>
                                            <p:cond delay="0"/>
                                          </p:stCondLst>
                                        </p:cTn>
                                        <p:tgtEl>
                                          <p:spTgt spid="218157"/>
                                        </p:tgtEl>
                                        <p:attrNameLst>
                                          <p:attrName>style.visibility</p:attrName>
                                        </p:attrNameLst>
                                      </p:cBhvr>
                                      <p:to>
                                        <p:strVal val="visible"/>
                                      </p:to>
                                    </p:set>
                                    <p:animEffect transition="in" filter="wipe(left)">
                                      <p:cBhvr>
                                        <p:cTn id="78" dur="500"/>
                                        <p:tgtEl>
                                          <p:spTgt spid="218157"/>
                                        </p:tgtEl>
                                      </p:cBhvr>
                                    </p:animEffect>
                                  </p:childTnLst>
                                </p:cTn>
                              </p:par>
                            </p:childTnLst>
                          </p:cTn>
                        </p:par>
                      </p:childTnLst>
                    </p:cTn>
                  </p:par>
                  <p:par>
                    <p:cTn id="79" fill="hold">
                      <p:stCondLst>
                        <p:cond delay="indefinite"/>
                      </p:stCondLst>
                      <p:childTnLst>
                        <p:par>
                          <p:cTn id="80" fill="hold">
                            <p:stCondLst>
                              <p:cond delay="0"/>
                            </p:stCondLst>
                            <p:childTnLst>
                              <p:par>
                                <p:cTn id="81" presetID="12" presetClass="entr" presetSubtype="8" fill="hold" grpId="0" nodeType="clickEffect">
                                  <p:stCondLst>
                                    <p:cond delay="0"/>
                                  </p:stCondLst>
                                  <p:childTnLst>
                                    <p:set>
                                      <p:cBhvr>
                                        <p:cTn id="82" dur="1" fill="hold">
                                          <p:stCondLst>
                                            <p:cond delay="0"/>
                                          </p:stCondLst>
                                        </p:cTn>
                                        <p:tgtEl>
                                          <p:spTgt spid="218204"/>
                                        </p:tgtEl>
                                        <p:attrNameLst>
                                          <p:attrName>style.visibility</p:attrName>
                                        </p:attrNameLst>
                                      </p:cBhvr>
                                      <p:to>
                                        <p:strVal val="visible"/>
                                      </p:to>
                                    </p:set>
                                    <p:animEffect transition="in" filter="slide(fromLeft)">
                                      <p:cBhvr>
                                        <p:cTn id="83" dur="500"/>
                                        <p:tgtEl>
                                          <p:spTgt spid="2182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8129" grpId="0"/>
      <p:bldP spid="218130" grpId="0"/>
      <p:bldP spid="218131" grpId="0"/>
      <p:bldP spid="218132" grpId="0"/>
      <p:bldP spid="218155" grpId="0"/>
      <p:bldP spid="218156" grpId="0"/>
      <p:bldP spid="218157" grpId="0"/>
      <p:bldP spid="218204"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8338C677-22E7-4912-B564-E330081E9C87}"/>
              </a:ext>
            </a:extLst>
          </p:cNvPr>
          <p:cNvSpPr>
            <a:spLocks noChangeArrowheads="1"/>
          </p:cNvSpPr>
          <p:nvPr/>
        </p:nvSpPr>
        <p:spPr bwMode="auto">
          <a:xfrm>
            <a:off x="528638" y="357188"/>
            <a:ext cx="6400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dirty="0">
                <a:solidFill>
                  <a:srgbClr val="FFFF00"/>
                </a:solidFill>
                <a:latin typeface="宋体" panose="02010600030101010101" pitchFamily="2" charset="-122"/>
                <a:ea typeface="仿宋_GB2312" pitchFamily="49" charset="-122"/>
              </a:rPr>
              <a:t>绝缘体   半导体   导体</a:t>
            </a:r>
            <a:endParaRPr lang="zh-CN" altLang="en-US" dirty="0">
              <a:solidFill>
                <a:srgbClr val="FFFF00"/>
              </a:solidFill>
              <a:latin typeface="宋体" panose="02010600030101010101" pitchFamily="2" charset="-122"/>
            </a:endParaRPr>
          </a:p>
        </p:txBody>
      </p:sp>
      <p:grpSp>
        <p:nvGrpSpPr>
          <p:cNvPr id="2" name="Group 3">
            <a:extLst>
              <a:ext uri="{FF2B5EF4-FFF2-40B4-BE49-F238E27FC236}">
                <a16:creationId xmlns:a16="http://schemas.microsoft.com/office/drawing/2014/main" id="{8E7F456E-EF04-40BA-B2FE-91B54A3F549B}"/>
              </a:ext>
            </a:extLst>
          </p:cNvPr>
          <p:cNvGrpSpPr>
            <a:grpSpLocks/>
          </p:cNvGrpSpPr>
          <p:nvPr/>
        </p:nvGrpSpPr>
        <p:grpSpPr bwMode="auto">
          <a:xfrm>
            <a:off x="1547813" y="4294188"/>
            <a:ext cx="1600200" cy="1295400"/>
            <a:chOff x="3360" y="672"/>
            <a:chExt cx="1008" cy="816"/>
          </a:xfrm>
        </p:grpSpPr>
        <p:sp>
          <p:nvSpPr>
            <p:cNvPr id="14396" name="Line 4">
              <a:extLst>
                <a:ext uri="{FF2B5EF4-FFF2-40B4-BE49-F238E27FC236}">
                  <a16:creationId xmlns:a16="http://schemas.microsoft.com/office/drawing/2014/main" id="{A4768DFF-16FE-434E-8E5F-9CD92A47DA2C}"/>
                </a:ext>
              </a:extLst>
            </p:cNvPr>
            <p:cNvSpPr>
              <a:spLocks noChangeShapeType="1"/>
            </p:cNvSpPr>
            <p:nvPr/>
          </p:nvSpPr>
          <p:spPr bwMode="auto">
            <a:xfrm>
              <a:off x="3360" y="720"/>
              <a:ext cx="1008"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97" name="Oval 5">
              <a:extLst>
                <a:ext uri="{FF2B5EF4-FFF2-40B4-BE49-F238E27FC236}">
                  <a16:creationId xmlns:a16="http://schemas.microsoft.com/office/drawing/2014/main" id="{94EF56B4-EB75-4AF8-BA50-DFDB74439955}"/>
                </a:ext>
              </a:extLst>
            </p:cNvPr>
            <p:cNvSpPr>
              <a:spLocks noChangeArrowheads="1"/>
            </p:cNvSpPr>
            <p:nvPr/>
          </p:nvSpPr>
          <p:spPr bwMode="auto">
            <a:xfrm>
              <a:off x="4080" y="672"/>
              <a:ext cx="96" cy="96"/>
            </a:xfrm>
            <a:prstGeom prst="ellipse">
              <a:avLst/>
            </a:prstGeom>
            <a:solidFill>
              <a:srgbClr val="99CC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4398" name="Oval 6">
              <a:extLst>
                <a:ext uri="{FF2B5EF4-FFF2-40B4-BE49-F238E27FC236}">
                  <a16:creationId xmlns:a16="http://schemas.microsoft.com/office/drawing/2014/main" id="{1E168988-FAAE-48C1-AF73-85D904BB5C5D}"/>
                </a:ext>
              </a:extLst>
            </p:cNvPr>
            <p:cNvSpPr>
              <a:spLocks noChangeArrowheads="1"/>
            </p:cNvSpPr>
            <p:nvPr/>
          </p:nvSpPr>
          <p:spPr bwMode="auto">
            <a:xfrm>
              <a:off x="3552" y="672"/>
              <a:ext cx="96" cy="96"/>
            </a:xfrm>
            <a:prstGeom prst="ellipse">
              <a:avLst/>
            </a:prstGeom>
            <a:solidFill>
              <a:srgbClr val="99CC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4399" name="Line 7">
              <a:extLst>
                <a:ext uri="{FF2B5EF4-FFF2-40B4-BE49-F238E27FC236}">
                  <a16:creationId xmlns:a16="http://schemas.microsoft.com/office/drawing/2014/main" id="{6AD86E91-35DC-46E3-8983-8B3E85B6BB55}"/>
                </a:ext>
              </a:extLst>
            </p:cNvPr>
            <p:cNvSpPr>
              <a:spLocks noChangeShapeType="1"/>
            </p:cNvSpPr>
            <p:nvPr/>
          </p:nvSpPr>
          <p:spPr bwMode="auto">
            <a:xfrm>
              <a:off x="3360" y="864"/>
              <a:ext cx="1008"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00" name="Oval 8">
              <a:extLst>
                <a:ext uri="{FF2B5EF4-FFF2-40B4-BE49-F238E27FC236}">
                  <a16:creationId xmlns:a16="http://schemas.microsoft.com/office/drawing/2014/main" id="{C13BA8CB-3329-4114-9341-DC5FB4E6154F}"/>
                </a:ext>
              </a:extLst>
            </p:cNvPr>
            <p:cNvSpPr>
              <a:spLocks noChangeArrowheads="1"/>
            </p:cNvSpPr>
            <p:nvPr/>
          </p:nvSpPr>
          <p:spPr bwMode="auto">
            <a:xfrm>
              <a:off x="4080" y="816"/>
              <a:ext cx="96" cy="96"/>
            </a:xfrm>
            <a:prstGeom prst="ellipse">
              <a:avLst/>
            </a:prstGeom>
            <a:solidFill>
              <a:srgbClr val="99CC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4401" name="Oval 9">
              <a:extLst>
                <a:ext uri="{FF2B5EF4-FFF2-40B4-BE49-F238E27FC236}">
                  <a16:creationId xmlns:a16="http://schemas.microsoft.com/office/drawing/2014/main" id="{911D5FE9-32CD-467C-8475-E04D97305D54}"/>
                </a:ext>
              </a:extLst>
            </p:cNvPr>
            <p:cNvSpPr>
              <a:spLocks noChangeArrowheads="1"/>
            </p:cNvSpPr>
            <p:nvPr/>
          </p:nvSpPr>
          <p:spPr bwMode="auto">
            <a:xfrm>
              <a:off x="3552" y="816"/>
              <a:ext cx="96" cy="96"/>
            </a:xfrm>
            <a:prstGeom prst="ellipse">
              <a:avLst/>
            </a:prstGeom>
            <a:solidFill>
              <a:srgbClr val="99CC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4402" name="Line 10">
              <a:extLst>
                <a:ext uri="{FF2B5EF4-FFF2-40B4-BE49-F238E27FC236}">
                  <a16:creationId xmlns:a16="http://schemas.microsoft.com/office/drawing/2014/main" id="{EB18721F-500B-49C9-8A6A-549133FA4AC7}"/>
                </a:ext>
              </a:extLst>
            </p:cNvPr>
            <p:cNvSpPr>
              <a:spLocks noChangeShapeType="1"/>
            </p:cNvSpPr>
            <p:nvPr/>
          </p:nvSpPr>
          <p:spPr bwMode="auto">
            <a:xfrm>
              <a:off x="3360" y="1008"/>
              <a:ext cx="1008"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03" name="Oval 11">
              <a:extLst>
                <a:ext uri="{FF2B5EF4-FFF2-40B4-BE49-F238E27FC236}">
                  <a16:creationId xmlns:a16="http://schemas.microsoft.com/office/drawing/2014/main" id="{AF6E6947-4E6D-40BC-99F8-65D9AACAF710}"/>
                </a:ext>
              </a:extLst>
            </p:cNvPr>
            <p:cNvSpPr>
              <a:spLocks noChangeArrowheads="1"/>
            </p:cNvSpPr>
            <p:nvPr/>
          </p:nvSpPr>
          <p:spPr bwMode="auto">
            <a:xfrm>
              <a:off x="4080" y="960"/>
              <a:ext cx="96" cy="96"/>
            </a:xfrm>
            <a:prstGeom prst="ellipse">
              <a:avLst/>
            </a:prstGeom>
            <a:solidFill>
              <a:srgbClr val="99CC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4404" name="Oval 12">
              <a:extLst>
                <a:ext uri="{FF2B5EF4-FFF2-40B4-BE49-F238E27FC236}">
                  <a16:creationId xmlns:a16="http://schemas.microsoft.com/office/drawing/2014/main" id="{47C8E19C-9B39-4D58-9B6B-7B0691801128}"/>
                </a:ext>
              </a:extLst>
            </p:cNvPr>
            <p:cNvSpPr>
              <a:spLocks noChangeArrowheads="1"/>
            </p:cNvSpPr>
            <p:nvPr/>
          </p:nvSpPr>
          <p:spPr bwMode="auto">
            <a:xfrm>
              <a:off x="3552" y="960"/>
              <a:ext cx="96" cy="96"/>
            </a:xfrm>
            <a:prstGeom prst="ellipse">
              <a:avLst/>
            </a:prstGeom>
            <a:solidFill>
              <a:srgbClr val="99CC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4405" name="Line 13">
              <a:extLst>
                <a:ext uri="{FF2B5EF4-FFF2-40B4-BE49-F238E27FC236}">
                  <a16:creationId xmlns:a16="http://schemas.microsoft.com/office/drawing/2014/main" id="{31C49E9A-01B1-451B-8C81-EEC79B115259}"/>
                </a:ext>
              </a:extLst>
            </p:cNvPr>
            <p:cNvSpPr>
              <a:spLocks noChangeShapeType="1"/>
            </p:cNvSpPr>
            <p:nvPr/>
          </p:nvSpPr>
          <p:spPr bwMode="auto">
            <a:xfrm>
              <a:off x="3360" y="1152"/>
              <a:ext cx="1008"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06" name="Oval 14">
              <a:extLst>
                <a:ext uri="{FF2B5EF4-FFF2-40B4-BE49-F238E27FC236}">
                  <a16:creationId xmlns:a16="http://schemas.microsoft.com/office/drawing/2014/main" id="{268F95C9-4974-4803-B803-BE2258A109E3}"/>
                </a:ext>
              </a:extLst>
            </p:cNvPr>
            <p:cNvSpPr>
              <a:spLocks noChangeArrowheads="1"/>
            </p:cNvSpPr>
            <p:nvPr/>
          </p:nvSpPr>
          <p:spPr bwMode="auto">
            <a:xfrm>
              <a:off x="4080" y="1104"/>
              <a:ext cx="96" cy="96"/>
            </a:xfrm>
            <a:prstGeom prst="ellipse">
              <a:avLst/>
            </a:prstGeom>
            <a:solidFill>
              <a:srgbClr val="99CC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4407" name="Oval 15">
              <a:extLst>
                <a:ext uri="{FF2B5EF4-FFF2-40B4-BE49-F238E27FC236}">
                  <a16:creationId xmlns:a16="http://schemas.microsoft.com/office/drawing/2014/main" id="{E773764F-B693-46E5-A64B-E71335D3E6B5}"/>
                </a:ext>
              </a:extLst>
            </p:cNvPr>
            <p:cNvSpPr>
              <a:spLocks noChangeArrowheads="1"/>
            </p:cNvSpPr>
            <p:nvPr/>
          </p:nvSpPr>
          <p:spPr bwMode="auto">
            <a:xfrm>
              <a:off x="3552" y="1104"/>
              <a:ext cx="96" cy="96"/>
            </a:xfrm>
            <a:prstGeom prst="ellipse">
              <a:avLst/>
            </a:prstGeom>
            <a:solidFill>
              <a:srgbClr val="99CC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4408" name="Line 16">
              <a:extLst>
                <a:ext uri="{FF2B5EF4-FFF2-40B4-BE49-F238E27FC236}">
                  <a16:creationId xmlns:a16="http://schemas.microsoft.com/office/drawing/2014/main" id="{23CA06D3-698F-45DF-B441-FFB8BDF5A1B3}"/>
                </a:ext>
              </a:extLst>
            </p:cNvPr>
            <p:cNvSpPr>
              <a:spLocks noChangeShapeType="1"/>
            </p:cNvSpPr>
            <p:nvPr/>
          </p:nvSpPr>
          <p:spPr bwMode="auto">
            <a:xfrm>
              <a:off x="3360" y="1296"/>
              <a:ext cx="1008"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09" name="Oval 17">
              <a:extLst>
                <a:ext uri="{FF2B5EF4-FFF2-40B4-BE49-F238E27FC236}">
                  <a16:creationId xmlns:a16="http://schemas.microsoft.com/office/drawing/2014/main" id="{7A5D2EAE-A08D-4FE3-9E43-1EDCC9B030FF}"/>
                </a:ext>
              </a:extLst>
            </p:cNvPr>
            <p:cNvSpPr>
              <a:spLocks noChangeArrowheads="1"/>
            </p:cNvSpPr>
            <p:nvPr/>
          </p:nvSpPr>
          <p:spPr bwMode="auto">
            <a:xfrm>
              <a:off x="4080" y="1248"/>
              <a:ext cx="96" cy="96"/>
            </a:xfrm>
            <a:prstGeom prst="ellipse">
              <a:avLst/>
            </a:prstGeom>
            <a:solidFill>
              <a:srgbClr val="99CC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4410" name="Oval 18">
              <a:extLst>
                <a:ext uri="{FF2B5EF4-FFF2-40B4-BE49-F238E27FC236}">
                  <a16:creationId xmlns:a16="http://schemas.microsoft.com/office/drawing/2014/main" id="{E37BD165-34DD-4573-890F-E8E10B30890E}"/>
                </a:ext>
              </a:extLst>
            </p:cNvPr>
            <p:cNvSpPr>
              <a:spLocks noChangeArrowheads="1"/>
            </p:cNvSpPr>
            <p:nvPr/>
          </p:nvSpPr>
          <p:spPr bwMode="auto">
            <a:xfrm>
              <a:off x="3552" y="1248"/>
              <a:ext cx="96" cy="96"/>
            </a:xfrm>
            <a:prstGeom prst="ellipse">
              <a:avLst/>
            </a:prstGeom>
            <a:solidFill>
              <a:srgbClr val="99CC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4411" name="Line 19">
              <a:extLst>
                <a:ext uri="{FF2B5EF4-FFF2-40B4-BE49-F238E27FC236}">
                  <a16:creationId xmlns:a16="http://schemas.microsoft.com/office/drawing/2014/main" id="{F7869A79-0031-4672-BE9E-69E15AF47884}"/>
                </a:ext>
              </a:extLst>
            </p:cNvPr>
            <p:cNvSpPr>
              <a:spLocks noChangeShapeType="1"/>
            </p:cNvSpPr>
            <p:nvPr/>
          </p:nvSpPr>
          <p:spPr bwMode="auto">
            <a:xfrm>
              <a:off x="3360" y="1440"/>
              <a:ext cx="1008"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12" name="Oval 20">
              <a:extLst>
                <a:ext uri="{FF2B5EF4-FFF2-40B4-BE49-F238E27FC236}">
                  <a16:creationId xmlns:a16="http://schemas.microsoft.com/office/drawing/2014/main" id="{E3CD0E04-AA1D-4BB8-95BC-D0613CF40375}"/>
                </a:ext>
              </a:extLst>
            </p:cNvPr>
            <p:cNvSpPr>
              <a:spLocks noChangeArrowheads="1"/>
            </p:cNvSpPr>
            <p:nvPr/>
          </p:nvSpPr>
          <p:spPr bwMode="auto">
            <a:xfrm>
              <a:off x="4080" y="1392"/>
              <a:ext cx="96" cy="96"/>
            </a:xfrm>
            <a:prstGeom prst="ellipse">
              <a:avLst/>
            </a:prstGeom>
            <a:solidFill>
              <a:srgbClr val="99CC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4413" name="Oval 21">
              <a:extLst>
                <a:ext uri="{FF2B5EF4-FFF2-40B4-BE49-F238E27FC236}">
                  <a16:creationId xmlns:a16="http://schemas.microsoft.com/office/drawing/2014/main" id="{80B1D081-44B9-444F-8760-799D5F2866B4}"/>
                </a:ext>
              </a:extLst>
            </p:cNvPr>
            <p:cNvSpPr>
              <a:spLocks noChangeArrowheads="1"/>
            </p:cNvSpPr>
            <p:nvPr/>
          </p:nvSpPr>
          <p:spPr bwMode="auto">
            <a:xfrm>
              <a:off x="3552" y="1392"/>
              <a:ext cx="96" cy="96"/>
            </a:xfrm>
            <a:prstGeom prst="ellipse">
              <a:avLst/>
            </a:prstGeom>
            <a:solidFill>
              <a:srgbClr val="99CC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grpSp>
      <p:grpSp>
        <p:nvGrpSpPr>
          <p:cNvPr id="3" name="Group 22">
            <a:extLst>
              <a:ext uri="{FF2B5EF4-FFF2-40B4-BE49-F238E27FC236}">
                <a16:creationId xmlns:a16="http://schemas.microsoft.com/office/drawing/2014/main" id="{E417D5BD-C785-4D87-8536-280F9D3C659A}"/>
              </a:ext>
            </a:extLst>
          </p:cNvPr>
          <p:cNvGrpSpPr>
            <a:grpSpLocks/>
          </p:cNvGrpSpPr>
          <p:nvPr/>
        </p:nvGrpSpPr>
        <p:grpSpPr bwMode="auto">
          <a:xfrm>
            <a:off x="1547813" y="1703388"/>
            <a:ext cx="1600200" cy="1143000"/>
            <a:chOff x="3456" y="2400"/>
            <a:chExt cx="1008" cy="720"/>
          </a:xfrm>
        </p:grpSpPr>
        <p:sp>
          <p:nvSpPr>
            <p:cNvPr id="14390" name="Line 23">
              <a:extLst>
                <a:ext uri="{FF2B5EF4-FFF2-40B4-BE49-F238E27FC236}">
                  <a16:creationId xmlns:a16="http://schemas.microsoft.com/office/drawing/2014/main" id="{A2295B0F-26D7-4715-B01B-D1712BC660A4}"/>
                </a:ext>
              </a:extLst>
            </p:cNvPr>
            <p:cNvSpPr>
              <a:spLocks noChangeShapeType="1"/>
            </p:cNvSpPr>
            <p:nvPr/>
          </p:nvSpPr>
          <p:spPr bwMode="auto">
            <a:xfrm>
              <a:off x="3456" y="2400"/>
              <a:ext cx="1008" cy="0"/>
            </a:xfrm>
            <a:prstGeom prst="line">
              <a:avLst/>
            </a:prstGeom>
            <a:noFill/>
            <a:ln w="19050">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91" name="Line 24">
              <a:extLst>
                <a:ext uri="{FF2B5EF4-FFF2-40B4-BE49-F238E27FC236}">
                  <a16:creationId xmlns:a16="http://schemas.microsoft.com/office/drawing/2014/main" id="{FA5821D4-D88A-46E4-9A45-4D9602E99081}"/>
                </a:ext>
              </a:extLst>
            </p:cNvPr>
            <p:cNvSpPr>
              <a:spLocks noChangeShapeType="1"/>
            </p:cNvSpPr>
            <p:nvPr/>
          </p:nvSpPr>
          <p:spPr bwMode="auto">
            <a:xfrm>
              <a:off x="3456" y="2544"/>
              <a:ext cx="1008" cy="0"/>
            </a:xfrm>
            <a:prstGeom prst="line">
              <a:avLst/>
            </a:prstGeom>
            <a:noFill/>
            <a:ln w="19050">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92" name="Line 25">
              <a:extLst>
                <a:ext uri="{FF2B5EF4-FFF2-40B4-BE49-F238E27FC236}">
                  <a16:creationId xmlns:a16="http://schemas.microsoft.com/office/drawing/2014/main" id="{DECB734D-D1FA-474A-A350-68655AC1F051}"/>
                </a:ext>
              </a:extLst>
            </p:cNvPr>
            <p:cNvSpPr>
              <a:spLocks noChangeShapeType="1"/>
            </p:cNvSpPr>
            <p:nvPr/>
          </p:nvSpPr>
          <p:spPr bwMode="auto">
            <a:xfrm>
              <a:off x="3456" y="2688"/>
              <a:ext cx="1008" cy="0"/>
            </a:xfrm>
            <a:prstGeom prst="line">
              <a:avLst/>
            </a:prstGeom>
            <a:noFill/>
            <a:ln w="19050">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93" name="Line 26">
              <a:extLst>
                <a:ext uri="{FF2B5EF4-FFF2-40B4-BE49-F238E27FC236}">
                  <a16:creationId xmlns:a16="http://schemas.microsoft.com/office/drawing/2014/main" id="{09B3A457-E781-4830-B41D-A41C263EE44E}"/>
                </a:ext>
              </a:extLst>
            </p:cNvPr>
            <p:cNvSpPr>
              <a:spLocks noChangeShapeType="1"/>
            </p:cNvSpPr>
            <p:nvPr/>
          </p:nvSpPr>
          <p:spPr bwMode="auto">
            <a:xfrm>
              <a:off x="3456" y="2832"/>
              <a:ext cx="1008" cy="0"/>
            </a:xfrm>
            <a:prstGeom prst="line">
              <a:avLst/>
            </a:prstGeom>
            <a:noFill/>
            <a:ln w="19050">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94" name="Line 27">
              <a:extLst>
                <a:ext uri="{FF2B5EF4-FFF2-40B4-BE49-F238E27FC236}">
                  <a16:creationId xmlns:a16="http://schemas.microsoft.com/office/drawing/2014/main" id="{25386878-0DE3-4872-8DC9-BA061D783A2D}"/>
                </a:ext>
              </a:extLst>
            </p:cNvPr>
            <p:cNvSpPr>
              <a:spLocks noChangeShapeType="1"/>
            </p:cNvSpPr>
            <p:nvPr/>
          </p:nvSpPr>
          <p:spPr bwMode="auto">
            <a:xfrm>
              <a:off x="3456" y="2976"/>
              <a:ext cx="1008" cy="0"/>
            </a:xfrm>
            <a:prstGeom prst="line">
              <a:avLst/>
            </a:prstGeom>
            <a:noFill/>
            <a:ln w="19050">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95" name="Line 28">
              <a:extLst>
                <a:ext uri="{FF2B5EF4-FFF2-40B4-BE49-F238E27FC236}">
                  <a16:creationId xmlns:a16="http://schemas.microsoft.com/office/drawing/2014/main" id="{30B33EBF-71E2-44C2-A7C4-AAAC0B91565B}"/>
                </a:ext>
              </a:extLst>
            </p:cNvPr>
            <p:cNvSpPr>
              <a:spLocks noChangeShapeType="1"/>
            </p:cNvSpPr>
            <p:nvPr/>
          </p:nvSpPr>
          <p:spPr bwMode="auto">
            <a:xfrm>
              <a:off x="3456" y="3120"/>
              <a:ext cx="1008" cy="0"/>
            </a:xfrm>
            <a:prstGeom prst="line">
              <a:avLst/>
            </a:prstGeom>
            <a:noFill/>
            <a:ln w="19050">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4" name="Group 29">
            <a:extLst>
              <a:ext uri="{FF2B5EF4-FFF2-40B4-BE49-F238E27FC236}">
                <a16:creationId xmlns:a16="http://schemas.microsoft.com/office/drawing/2014/main" id="{9CC72605-375F-4E9E-BD8C-39131F3D4783}"/>
              </a:ext>
            </a:extLst>
          </p:cNvPr>
          <p:cNvGrpSpPr>
            <a:grpSpLocks/>
          </p:cNvGrpSpPr>
          <p:nvPr/>
        </p:nvGrpSpPr>
        <p:grpSpPr bwMode="auto">
          <a:xfrm>
            <a:off x="1700213" y="2846388"/>
            <a:ext cx="1295400" cy="1524000"/>
            <a:chOff x="672" y="1584"/>
            <a:chExt cx="816" cy="960"/>
          </a:xfrm>
        </p:grpSpPr>
        <p:sp>
          <p:nvSpPr>
            <p:cNvPr id="14388" name="Rectangle 30">
              <a:extLst>
                <a:ext uri="{FF2B5EF4-FFF2-40B4-BE49-F238E27FC236}">
                  <a16:creationId xmlns:a16="http://schemas.microsoft.com/office/drawing/2014/main" id="{DA22CF84-2253-460E-8E0A-7164AE1397AC}"/>
                </a:ext>
              </a:extLst>
            </p:cNvPr>
            <p:cNvSpPr>
              <a:spLocks noChangeArrowheads="1"/>
            </p:cNvSpPr>
            <p:nvPr/>
          </p:nvSpPr>
          <p:spPr bwMode="auto">
            <a:xfrm>
              <a:off x="768" y="1968"/>
              <a:ext cx="720" cy="288"/>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a:solidFill>
                    <a:srgbClr val="00FFFF"/>
                  </a:solidFill>
                </a:rPr>
                <a:t>3~6eV</a:t>
              </a:r>
            </a:p>
          </p:txBody>
        </p:sp>
        <p:sp>
          <p:nvSpPr>
            <p:cNvPr id="14389" name="Line 31">
              <a:extLst>
                <a:ext uri="{FF2B5EF4-FFF2-40B4-BE49-F238E27FC236}">
                  <a16:creationId xmlns:a16="http://schemas.microsoft.com/office/drawing/2014/main" id="{8AF0C10B-5B82-4447-9627-5528CEA2F6EB}"/>
                </a:ext>
              </a:extLst>
            </p:cNvPr>
            <p:cNvSpPr>
              <a:spLocks noChangeShapeType="1"/>
            </p:cNvSpPr>
            <p:nvPr/>
          </p:nvSpPr>
          <p:spPr bwMode="auto">
            <a:xfrm>
              <a:off x="672" y="1584"/>
              <a:ext cx="0" cy="960"/>
            </a:xfrm>
            <a:prstGeom prst="line">
              <a:avLst/>
            </a:prstGeom>
            <a:noFill/>
            <a:ln w="9525">
              <a:solidFill>
                <a:srgbClr val="FFCC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219168" name="Rectangle 32">
            <a:extLst>
              <a:ext uri="{FF2B5EF4-FFF2-40B4-BE49-F238E27FC236}">
                <a16:creationId xmlns:a16="http://schemas.microsoft.com/office/drawing/2014/main" id="{A570C32D-1270-4003-9190-415944B42C56}"/>
              </a:ext>
            </a:extLst>
          </p:cNvPr>
          <p:cNvSpPr>
            <a:spLocks noChangeArrowheads="1"/>
          </p:cNvSpPr>
          <p:nvPr/>
        </p:nvSpPr>
        <p:spPr bwMode="auto">
          <a:xfrm>
            <a:off x="611188" y="955675"/>
            <a:ext cx="33178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chemeClr val="bg1"/>
                </a:solidFill>
                <a:latin typeface="宋体" panose="02010600030101010101" pitchFamily="2" charset="-122"/>
                <a:ea typeface="仿宋_GB2312" pitchFamily="49" charset="-122"/>
              </a:rPr>
              <a:t>1. </a:t>
            </a:r>
            <a:r>
              <a:rPr lang="zh-CN" altLang="en-US">
                <a:solidFill>
                  <a:schemeClr val="bg1"/>
                </a:solidFill>
                <a:latin typeface="宋体" panose="02010600030101010101" pitchFamily="2" charset="-122"/>
                <a:ea typeface="仿宋_GB2312" pitchFamily="49" charset="-122"/>
              </a:rPr>
              <a:t>绝缘体</a:t>
            </a:r>
          </a:p>
        </p:txBody>
      </p:sp>
      <p:sp>
        <p:nvSpPr>
          <p:cNvPr id="219169" name="Text Box 33">
            <a:extLst>
              <a:ext uri="{FF2B5EF4-FFF2-40B4-BE49-F238E27FC236}">
                <a16:creationId xmlns:a16="http://schemas.microsoft.com/office/drawing/2014/main" id="{FAC7C85C-9A05-40AA-B324-24D4859D83FB}"/>
              </a:ext>
            </a:extLst>
          </p:cNvPr>
          <p:cNvSpPr txBox="1">
            <a:spLocks noChangeArrowheads="1"/>
          </p:cNvSpPr>
          <p:nvPr/>
        </p:nvSpPr>
        <p:spPr bwMode="auto">
          <a:xfrm>
            <a:off x="3148013" y="4581525"/>
            <a:ext cx="582612"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a:solidFill>
                  <a:schemeClr val="bg1"/>
                </a:solidFill>
                <a:ea typeface="楷体_GB2312" pitchFamily="49" charset="-122"/>
              </a:rPr>
              <a:t>价带</a:t>
            </a:r>
          </a:p>
        </p:txBody>
      </p:sp>
      <p:sp>
        <p:nvSpPr>
          <p:cNvPr id="219170" name="Line 34">
            <a:extLst>
              <a:ext uri="{FF2B5EF4-FFF2-40B4-BE49-F238E27FC236}">
                <a16:creationId xmlns:a16="http://schemas.microsoft.com/office/drawing/2014/main" id="{E5F1A32F-80BE-4212-A5BB-44C6B0BC7EEB}"/>
              </a:ext>
            </a:extLst>
          </p:cNvPr>
          <p:cNvSpPr>
            <a:spLocks noChangeShapeType="1"/>
          </p:cNvSpPr>
          <p:nvPr/>
        </p:nvSpPr>
        <p:spPr bwMode="auto">
          <a:xfrm>
            <a:off x="4214813" y="908050"/>
            <a:ext cx="0" cy="4751388"/>
          </a:xfrm>
          <a:prstGeom prst="line">
            <a:avLst/>
          </a:prstGeom>
          <a:noFill/>
          <a:ln w="19050">
            <a:solidFill>
              <a:srgbClr val="00FFFF"/>
            </a:solidFill>
            <a:prstDash val="lgDash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9171" name="Line 35">
            <a:extLst>
              <a:ext uri="{FF2B5EF4-FFF2-40B4-BE49-F238E27FC236}">
                <a16:creationId xmlns:a16="http://schemas.microsoft.com/office/drawing/2014/main" id="{CB8A22E9-64FD-4C55-9049-02A3B00AC1E8}"/>
              </a:ext>
            </a:extLst>
          </p:cNvPr>
          <p:cNvSpPr>
            <a:spLocks noChangeShapeType="1"/>
          </p:cNvSpPr>
          <p:nvPr/>
        </p:nvSpPr>
        <p:spPr bwMode="auto">
          <a:xfrm>
            <a:off x="4287838" y="908050"/>
            <a:ext cx="0" cy="4751388"/>
          </a:xfrm>
          <a:prstGeom prst="line">
            <a:avLst/>
          </a:prstGeom>
          <a:noFill/>
          <a:ln w="19050">
            <a:solidFill>
              <a:srgbClr val="00FFFF"/>
            </a:solidFill>
            <a:prstDash val="lgDashDot"/>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5" name="Group 36">
            <a:extLst>
              <a:ext uri="{FF2B5EF4-FFF2-40B4-BE49-F238E27FC236}">
                <a16:creationId xmlns:a16="http://schemas.microsoft.com/office/drawing/2014/main" id="{C059CFC8-C570-4C34-8AE7-A7679305B6A5}"/>
              </a:ext>
            </a:extLst>
          </p:cNvPr>
          <p:cNvGrpSpPr>
            <a:grpSpLocks/>
          </p:cNvGrpSpPr>
          <p:nvPr/>
        </p:nvGrpSpPr>
        <p:grpSpPr bwMode="auto">
          <a:xfrm>
            <a:off x="5618163" y="2276475"/>
            <a:ext cx="1600200" cy="1143000"/>
            <a:chOff x="3456" y="2400"/>
            <a:chExt cx="1008" cy="720"/>
          </a:xfrm>
        </p:grpSpPr>
        <p:sp>
          <p:nvSpPr>
            <p:cNvPr id="14382" name="Line 37">
              <a:extLst>
                <a:ext uri="{FF2B5EF4-FFF2-40B4-BE49-F238E27FC236}">
                  <a16:creationId xmlns:a16="http://schemas.microsoft.com/office/drawing/2014/main" id="{958673A0-4633-4177-8345-E2F451A95B91}"/>
                </a:ext>
              </a:extLst>
            </p:cNvPr>
            <p:cNvSpPr>
              <a:spLocks noChangeShapeType="1"/>
            </p:cNvSpPr>
            <p:nvPr/>
          </p:nvSpPr>
          <p:spPr bwMode="auto">
            <a:xfrm>
              <a:off x="3456" y="2400"/>
              <a:ext cx="1008" cy="0"/>
            </a:xfrm>
            <a:prstGeom prst="line">
              <a:avLst/>
            </a:prstGeom>
            <a:noFill/>
            <a:ln w="19050">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83" name="Line 38">
              <a:extLst>
                <a:ext uri="{FF2B5EF4-FFF2-40B4-BE49-F238E27FC236}">
                  <a16:creationId xmlns:a16="http://schemas.microsoft.com/office/drawing/2014/main" id="{5905D8AF-9D9D-4C57-B6CD-52F4EE4C9F4D}"/>
                </a:ext>
              </a:extLst>
            </p:cNvPr>
            <p:cNvSpPr>
              <a:spLocks noChangeShapeType="1"/>
            </p:cNvSpPr>
            <p:nvPr/>
          </p:nvSpPr>
          <p:spPr bwMode="auto">
            <a:xfrm>
              <a:off x="3456" y="2544"/>
              <a:ext cx="1008" cy="0"/>
            </a:xfrm>
            <a:prstGeom prst="line">
              <a:avLst/>
            </a:prstGeom>
            <a:noFill/>
            <a:ln w="19050">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84" name="Line 39">
              <a:extLst>
                <a:ext uri="{FF2B5EF4-FFF2-40B4-BE49-F238E27FC236}">
                  <a16:creationId xmlns:a16="http://schemas.microsoft.com/office/drawing/2014/main" id="{10B8EBFE-C434-4FE0-AC41-2629B2DDAEBE}"/>
                </a:ext>
              </a:extLst>
            </p:cNvPr>
            <p:cNvSpPr>
              <a:spLocks noChangeShapeType="1"/>
            </p:cNvSpPr>
            <p:nvPr/>
          </p:nvSpPr>
          <p:spPr bwMode="auto">
            <a:xfrm>
              <a:off x="3456" y="2688"/>
              <a:ext cx="1008" cy="0"/>
            </a:xfrm>
            <a:prstGeom prst="line">
              <a:avLst/>
            </a:prstGeom>
            <a:noFill/>
            <a:ln w="19050">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85" name="Line 40">
              <a:extLst>
                <a:ext uri="{FF2B5EF4-FFF2-40B4-BE49-F238E27FC236}">
                  <a16:creationId xmlns:a16="http://schemas.microsoft.com/office/drawing/2014/main" id="{E2D8A8B5-07BA-49BD-AFE7-C0B42CC1DC08}"/>
                </a:ext>
              </a:extLst>
            </p:cNvPr>
            <p:cNvSpPr>
              <a:spLocks noChangeShapeType="1"/>
            </p:cNvSpPr>
            <p:nvPr/>
          </p:nvSpPr>
          <p:spPr bwMode="auto">
            <a:xfrm>
              <a:off x="3456" y="2832"/>
              <a:ext cx="1008" cy="0"/>
            </a:xfrm>
            <a:prstGeom prst="line">
              <a:avLst/>
            </a:prstGeom>
            <a:noFill/>
            <a:ln w="19050">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86" name="Line 41">
              <a:extLst>
                <a:ext uri="{FF2B5EF4-FFF2-40B4-BE49-F238E27FC236}">
                  <a16:creationId xmlns:a16="http://schemas.microsoft.com/office/drawing/2014/main" id="{ACB6C441-270A-4495-9B10-0BC7C56C611E}"/>
                </a:ext>
              </a:extLst>
            </p:cNvPr>
            <p:cNvSpPr>
              <a:spLocks noChangeShapeType="1"/>
            </p:cNvSpPr>
            <p:nvPr/>
          </p:nvSpPr>
          <p:spPr bwMode="auto">
            <a:xfrm>
              <a:off x="3456" y="2976"/>
              <a:ext cx="1008" cy="0"/>
            </a:xfrm>
            <a:prstGeom prst="line">
              <a:avLst/>
            </a:prstGeom>
            <a:noFill/>
            <a:ln w="19050">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87" name="Line 42">
              <a:extLst>
                <a:ext uri="{FF2B5EF4-FFF2-40B4-BE49-F238E27FC236}">
                  <a16:creationId xmlns:a16="http://schemas.microsoft.com/office/drawing/2014/main" id="{D8CF8BF0-7628-4CF1-9F83-9DAAA18127B2}"/>
                </a:ext>
              </a:extLst>
            </p:cNvPr>
            <p:cNvSpPr>
              <a:spLocks noChangeShapeType="1"/>
            </p:cNvSpPr>
            <p:nvPr/>
          </p:nvSpPr>
          <p:spPr bwMode="auto">
            <a:xfrm>
              <a:off x="3456" y="3120"/>
              <a:ext cx="1008" cy="0"/>
            </a:xfrm>
            <a:prstGeom prst="line">
              <a:avLst/>
            </a:prstGeom>
            <a:noFill/>
            <a:ln w="19050">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19179" name="Text Box 43">
            <a:extLst>
              <a:ext uri="{FF2B5EF4-FFF2-40B4-BE49-F238E27FC236}">
                <a16:creationId xmlns:a16="http://schemas.microsoft.com/office/drawing/2014/main" id="{08C044EB-51BF-439D-B9C3-DF11878CB1E0}"/>
              </a:ext>
            </a:extLst>
          </p:cNvPr>
          <p:cNvSpPr txBox="1">
            <a:spLocks noChangeArrowheads="1"/>
          </p:cNvSpPr>
          <p:nvPr/>
        </p:nvSpPr>
        <p:spPr bwMode="auto">
          <a:xfrm>
            <a:off x="5051425" y="4335463"/>
            <a:ext cx="582613"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a:solidFill>
                  <a:schemeClr val="bg1"/>
                </a:solidFill>
                <a:latin typeface="宋体" panose="02010600030101010101" pitchFamily="2" charset="-122"/>
                <a:ea typeface="仿宋_GB2312" pitchFamily="49" charset="-122"/>
              </a:rPr>
              <a:t>价带</a:t>
            </a:r>
          </a:p>
        </p:txBody>
      </p:sp>
      <p:grpSp>
        <p:nvGrpSpPr>
          <p:cNvPr id="6" name="Group 44">
            <a:extLst>
              <a:ext uri="{FF2B5EF4-FFF2-40B4-BE49-F238E27FC236}">
                <a16:creationId xmlns:a16="http://schemas.microsoft.com/office/drawing/2014/main" id="{EA46656F-4439-4F8A-BA52-D878CF798BA8}"/>
              </a:ext>
            </a:extLst>
          </p:cNvPr>
          <p:cNvGrpSpPr>
            <a:grpSpLocks/>
          </p:cNvGrpSpPr>
          <p:nvPr/>
        </p:nvGrpSpPr>
        <p:grpSpPr bwMode="auto">
          <a:xfrm>
            <a:off x="5618163" y="4029075"/>
            <a:ext cx="1600200" cy="1295400"/>
            <a:chOff x="3360" y="672"/>
            <a:chExt cx="1008" cy="816"/>
          </a:xfrm>
        </p:grpSpPr>
        <p:sp>
          <p:nvSpPr>
            <p:cNvPr id="14364" name="Line 45">
              <a:extLst>
                <a:ext uri="{FF2B5EF4-FFF2-40B4-BE49-F238E27FC236}">
                  <a16:creationId xmlns:a16="http://schemas.microsoft.com/office/drawing/2014/main" id="{35B37041-A341-421C-A7C8-8A62DC21ECDF}"/>
                </a:ext>
              </a:extLst>
            </p:cNvPr>
            <p:cNvSpPr>
              <a:spLocks noChangeShapeType="1"/>
            </p:cNvSpPr>
            <p:nvPr/>
          </p:nvSpPr>
          <p:spPr bwMode="auto">
            <a:xfrm>
              <a:off x="3360" y="720"/>
              <a:ext cx="1008"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65" name="Oval 46">
              <a:extLst>
                <a:ext uri="{FF2B5EF4-FFF2-40B4-BE49-F238E27FC236}">
                  <a16:creationId xmlns:a16="http://schemas.microsoft.com/office/drawing/2014/main" id="{4F72696F-3B77-4E23-A3FC-1C46E58C4A6D}"/>
                </a:ext>
              </a:extLst>
            </p:cNvPr>
            <p:cNvSpPr>
              <a:spLocks noChangeArrowheads="1"/>
            </p:cNvSpPr>
            <p:nvPr/>
          </p:nvSpPr>
          <p:spPr bwMode="auto">
            <a:xfrm>
              <a:off x="4080" y="672"/>
              <a:ext cx="96" cy="96"/>
            </a:xfrm>
            <a:prstGeom prst="ellipse">
              <a:avLst/>
            </a:prstGeom>
            <a:solidFill>
              <a:srgbClr val="99CC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4366" name="Oval 47">
              <a:extLst>
                <a:ext uri="{FF2B5EF4-FFF2-40B4-BE49-F238E27FC236}">
                  <a16:creationId xmlns:a16="http://schemas.microsoft.com/office/drawing/2014/main" id="{84011358-669B-4C54-A7AD-46170FAE8EC4}"/>
                </a:ext>
              </a:extLst>
            </p:cNvPr>
            <p:cNvSpPr>
              <a:spLocks noChangeArrowheads="1"/>
            </p:cNvSpPr>
            <p:nvPr/>
          </p:nvSpPr>
          <p:spPr bwMode="auto">
            <a:xfrm>
              <a:off x="3552" y="672"/>
              <a:ext cx="96" cy="96"/>
            </a:xfrm>
            <a:prstGeom prst="ellipse">
              <a:avLst/>
            </a:prstGeom>
            <a:solidFill>
              <a:srgbClr val="99CC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4367" name="Line 48">
              <a:extLst>
                <a:ext uri="{FF2B5EF4-FFF2-40B4-BE49-F238E27FC236}">
                  <a16:creationId xmlns:a16="http://schemas.microsoft.com/office/drawing/2014/main" id="{BCD815E5-992D-4FC9-94A0-430B95284A1C}"/>
                </a:ext>
              </a:extLst>
            </p:cNvPr>
            <p:cNvSpPr>
              <a:spLocks noChangeShapeType="1"/>
            </p:cNvSpPr>
            <p:nvPr/>
          </p:nvSpPr>
          <p:spPr bwMode="auto">
            <a:xfrm>
              <a:off x="3360" y="864"/>
              <a:ext cx="1008"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68" name="Oval 49">
              <a:extLst>
                <a:ext uri="{FF2B5EF4-FFF2-40B4-BE49-F238E27FC236}">
                  <a16:creationId xmlns:a16="http://schemas.microsoft.com/office/drawing/2014/main" id="{19242939-45BC-4537-99A6-F60789A6356E}"/>
                </a:ext>
              </a:extLst>
            </p:cNvPr>
            <p:cNvSpPr>
              <a:spLocks noChangeArrowheads="1"/>
            </p:cNvSpPr>
            <p:nvPr/>
          </p:nvSpPr>
          <p:spPr bwMode="auto">
            <a:xfrm>
              <a:off x="4080" y="816"/>
              <a:ext cx="96" cy="96"/>
            </a:xfrm>
            <a:prstGeom prst="ellipse">
              <a:avLst/>
            </a:prstGeom>
            <a:solidFill>
              <a:srgbClr val="99CC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4369" name="Oval 50">
              <a:extLst>
                <a:ext uri="{FF2B5EF4-FFF2-40B4-BE49-F238E27FC236}">
                  <a16:creationId xmlns:a16="http://schemas.microsoft.com/office/drawing/2014/main" id="{8DCE4939-0E00-4387-8226-AF9106DB1BD8}"/>
                </a:ext>
              </a:extLst>
            </p:cNvPr>
            <p:cNvSpPr>
              <a:spLocks noChangeArrowheads="1"/>
            </p:cNvSpPr>
            <p:nvPr/>
          </p:nvSpPr>
          <p:spPr bwMode="auto">
            <a:xfrm>
              <a:off x="3552" y="816"/>
              <a:ext cx="96" cy="96"/>
            </a:xfrm>
            <a:prstGeom prst="ellipse">
              <a:avLst/>
            </a:prstGeom>
            <a:solidFill>
              <a:srgbClr val="99CC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4370" name="Line 51">
              <a:extLst>
                <a:ext uri="{FF2B5EF4-FFF2-40B4-BE49-F238E27FC236}">
                  <a16:creationId xmlns:a16="http://schemas.microsoft.com/office/drawing/2014/main" id="{472C7486-5C6B-43D8-8767-44D8BD776E89}"/>
                </a:ext>
              </a:extLst>
            </p:cNvPr>
            <p:cNvSpPr>
              <a:spLocks noChangeShapeType="1"/>
            </p:cNvSpPr>
            <p:nvPr/>
          </p:nvSpPr>
          <p:spPr bwMode="auto">
            <a:xfrm>
              <a:off x="3360" y="1008"/>
              <a:ext cx="1008"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71" name="Oval 52">
              <a:extLst>
                <a:ext uri="{FF2B5EF4-FFF2-40B4-BE49-F238E27FC236}">
                  <a16:creationId xmlns:a16="http://schemas.microsoft.com/office/drawing/2014/main" id="{5A568273-6BFD-4807-B421-6FE97CA54BAF}"/>
                </a:ext>
              </a:extLst>
            </p:cNvPr>
            <p:cNvSpPr>
              <a:spLocks noChangeArrowheads="1"/>
            </p:cNvSpPr>
            <p:nvPr/>
          </p:nvSpPr>
          <p:spPr bwMode="auto">
            <a:xfrm>
              <a:off x="4080" y="960"/>
              <a:ext cx="96" cy="96"/>
            </a:xfrm>
            <a:prstGeom prst="ellipse">
              <a:avLst/>
            </a:prstGeom>
            <a:solidFill>
              <a:srgbClr val="99CC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4372" name="Oval 53">
              <a:extLst>
                <a:ext uri="{FF2B5EF4-FFF2-40B4-BE49-F238E27FC236}">
                  <a16:creationId xmlns:a16="http://schemas.microsoft.com/office/drawing/2014/main" id="{FD82471D-0585-402A-9A21-971C826CB486}"/>
                </a:ext>
              </a:extLst>
            </p:cNvPr>
            <p:cNvSpPr>
              <a:spLocks noChangeArrowheads="1"/>
            </p:cNvSpPr>
            <p:nvPr/>
          </p:nvSpPr>
          <p:spPr bwMode="auto">
            <a:xfrm>
              <a:off x="3552" y="960"/>
              <a:ext cx="96" cy="96"/>
            </a:xfrm>
            <a:prstGeom prst="ellipse">
              <a:avLst/>
            </a:prstGeom>
            <a:solidFill>
              <a:srgbClr val="99CC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4373" name="Line 54">
              <a:extLst>
                <a:ext uri="{FF2B5EF4-FFF2-40B4-BE49-F238E27FC236}">
                  <a16:creationId xmlns:a16="http://schemas.microsoft.com/office/drawing/2014/main" id="{72A88768-7A89-4232-8953-488598867DB0}"/>
                </a:ext>
              </a:extLst>
            </p:cNvPr>
            <p:cNvSpPr>
              <a:spLocks noChangeShapeType="1"/>
            </p:cNvSpPr>
            <p:nvPr/>
          </p:nvSpPr>
          <p:spPr bwMode="auto">
            <a:xfrm>
              <a:off x="3360" y="1152"/>
              <a:ext cx="1008"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74" name="Oval 55">
              <a:extLst>
                <a:ext uri="{FF2B5EF4-FFF2-40B4-BE49-F238E27FC236}">
                  <a16:creationId xmlns:a16="http://schemas.microsoft.com/office/drawing/2014/main" id="{85F1DAA0-5A0E-40C2-B98C-4C37FBD26FB1}"/>
                </a:ext>
              </a:extLst>
            </p:cNvPr>
            <p:cNvSpPr>
              <a:spLocks noChangeArrowheads="1"/>
            </p:cNvSpPr>
            <p:nvPr/>
          </p:nvSpPr>
          <p:spPr bwMode="auto">
            <a:xfrm>
              <a:off x="4080" y="1104"/>
              <a:ext cx="96" cy="96"/>
            </a:xfrm>
            <a:prstGeom prst="ellipse">
              <a:avLst/>
            </a:prstGeom>
            <a:solidFill>
              <a:srgbClr val="99CC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4375" name="Oval 56">
              <a:extLst>
                <a:ext uri="{FF2B5EF4-FFF2-40B4-BE49-F238E27FC236}">
                  <a16:creationId xmlns:a16="http://schemas.microsoft.com/office/drawing/2014/main" id="{45073C53-9B14-4367-9F2C-B9CCB53C9040}"/>
                </a:ext>
              </a:extLst>
            </p:cNvPr>
            <p:cNvSpPr>
              <a:spLocks noChangeArrowheads="1"/>
            </p:cNvSpPr>
            <p:nvPr/>
          </p:nvSpPr>
          <p:spPr bwMode="auto">
            <a:xfrm>
              <a:off x="3552" y="1104"/>
              <a:ext cx="96" cy="96"/>
            </a:xfrm>
            <a:prstGeom prst="ellipse">
              <a:avLst/>
            </a:prstGeom>
            <a:solidFill>
              <a:srgbClr val="99CC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4376" name="Line 57">
              <a:extLst>
                <a:ext uri="{FF2B5EF4-FFF2-40B4-BE49-F238E27FC236}">
                  <a16:creationId xmlns:a16="http://schemas.microsoft.com/office/drawing/2014/main" id="{BDC74A72-7DA4-4136-AA85-DA404FC56A6D}"/>
                </a:ext>
              </a:extLst>
            </p:cNvPr>
            <p:cNvSpPr>
              <a:spLocks noChangeShapeType="1"/>
            </p:cNvSpPr>
            <p:nvPr/>
          </p:nvSpPr>
          <p:spPr bwMode="auto">
            <a:xfrm>
              <a:off x="3360" y="1296"/>
              <a:ext cx="1008"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77" name="Oval 58">
              <a:extLst>
                <a:ext uri="{FF2B5EF4-FFF2-40B4-BE49-F238E27FC236}">
                  <a16:creationId xmlns:a16="http://schemas.microsoft.com/office/drawing/2014/main" id="{F0631CEC-7227-453E-A524-EA40591A7960}"/>
                </a:ext>
              </a:extLst>
            </p:cNvPr>
            <p:cNvSpPr>
              <a:spLocks noChangeArrowheads="1"/>
            </p:cNvSpPr>
            <p:nvPr/>
          </p:nvSpPr>
          <p:spPr bwMode="auto">
            <a:xfrm>
              <a:off x="4080" y="1248"/>
              <a:ext cx="96" cy="96"/>
            </a:xfrm>
            <a:prstGeom prst="ellipse">
              <a:avLst/>
            </a:prstGeom>
            <a:solidFill>
              <a:srgbClr val="99CC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4378" name="Oval 59">
              <a:extLst>
                <a:ext uri="{FF2B5EF4-FFF2-40B4-BE49-F238E27FC236}">
                  <a16:creationId xmlns:a16="http://schemas.microsoft.com/office/drawing/2014/main" id="{79CF55E9-F7A3-4B83-AB88-0DB9868B44EA}"/>
                </a:ext>
              </a:extLst>
            </p:cNvPr>
            <p:cNvSpPr>
              <a:spLocks noChangeArrowheads="1"/>
            </p:cNvSpPr>
            <p:nvPr/>
          </p:nvSpPr>
          <p:spPr bwMode="auto">
            <a:xfrm>
              <a:off x="3552" y="1248"/>
              <a:ext cx="96" cy="96"/>
            </a:xfrm>
            <a:prstGeom prst="ellipse">
              <a:avLst/>
            </a:prstGeom>
            <a:solidFill>
              <a:srgbClr val="99CC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4379" name="Line 60">
              <a:extLst>
                <a:ext uri="{FF2B5EF4-FFF2-40B4-BE49-F238E27FC236}">
                  <a16:creationId xmlns:a16="http://schemas.microsoft.com/office/drawing/2014/main" id="{1F35E0F6-F6D8-48E2-9A12-97125AE092D8}"/>
                </a:ext>
              </a:extLst>
            </p:cNvPr>
            <p:cNvSpPr>
              <a:spLocks noChangeShapeType="1"/>
            </p:cNvSpPr>
            <p:nvPr/>
          </p:nvSpPr>
          <p:spPr bwMode="auto">
            <a:xfrm>
              <a:off x="3360" y="1440"/>
              <a:ext cx="1008"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80" name="Oval 61">
              <a:extLst>
                <a:ext uri="{FF2B5EF4-FFF2-40B4-BE49-F238E27FC236}">
                  <a16:creationId xmlns:a16="http://schemas.microsoft.com/office/drawing/2014/main" id="{AA8E47B3-82AB-49B2-8564-3120C14E8591}"/>
                </a:ext>
              </a:extLst>
            </p:cNvPr>
            <p:cNvSpPr>
              <a:spLocks noChangeArrowheads="1"/>
            </p:cNvSpPr>
            <p:nvPr/>
          </p:nvSpPr>
          <p:spPr bwMode="auto">
            <a:xfrm>
              <a:off x="4080" y="1392"/>
              <a:ext cx="96" cy="96"/>
            </a:xfrm>
            <a:prstGeom prst="ellipse">
              <a:avLst/>
            </a:prstGeom>
            <a:solidFill>
              <a:srgbClr val="99CC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4381" name="Oval 62">
              <a:extLst>
                <a:ext uri="{FF2B5EF4-FFF2-40B4-BE49-F238E27FC236}">
                  <a16:creationId xmlns:a16="http://schemas.microsoft.com/office/drawing/2014/main" id="{158C5448-B8E6-4A92-930E-61E7E2D06C6F}"/>
                </a:ext>
              </a:extLst>
            </p:cNvPr>
            <p:cNvSpPr>
              <a:spLocks noChangeArrowheads="1"/>
            </p:cNvSpPr>
            <p:nvPr/>
          </p:nvSpPr>
          <p:spPr bwMode="auto">
            <a:xfrm>
              <a:off x="3552" y="1392"/>
              <a:ext cx="96" cy="96"/>
            </a:xfrm>
            <a:prstGeom prst="ellipse">
              <a:avLst/>
            </a:prstGeom>
            <a:solidFill>
              <a:srgbClr val="99CC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grpSp>
      <p:grpSp>
        <p:nvGrpSpPr>
          <p:cNvPr id="7" name="Group 63">
            <a:extLst>
              <a:ext uri="{FF2B5EF4-FFF2-40B4-BE49-F238E27FC236}">
                <a16:creationId xmlns:a16="http://schemas.microsoft.com/office/drawing/2014/main" id="{8AC60DC0-082D-41A1-827F-5F3ADAC5D7EA}"/>
              </a:ext>
            </a:extLst>
          </p:cNvPr>
          <p:cNvGrpSpPr>
            <a:grpSpLocks/>
          </p:cNvGrpSpPr>
          <p:nvPr/>
        </p:nvGrpSpPr>
        <p:grpSpPr bwMode="auto">
          <a:xfrm>
            <a:off x="6761163" y="3114675"/>
            <a:ext cx="152400" cy="1066800"/>
            <a:chOff x="3888" y="1296"/>
            <a:chExt cx="96" cy="672"/>
          </a:xfrm>
        </p:grpSpPr>
        <p:sp>
          <p:nvSpPr>
            <p:cNvPr id="14361" name="Oval 64">
              <a:extLst>
                <a:ext uri="{FF2B5EF4-FFF2-40B4-BE49-F238E27FC236}">
                  <a16:creationId xmlns:a16="http://schemas.microsoft.com/office/drawing/2014/main" id="{AB6C4AE4-F7CE-458C-A98C-6EEA488830C2}"/>
                </a:ext>
              </a:extLst>
            </p:cNvPr>
            <p:cNvSpPr>
              <a:spLocks noChangeArrowheads="1"/>
            </p:cNvSpPr>
            <p:nvPr/>
          </p:nvSpPr>
          <p:spPr bwMode="auto">
            <a:xfrm>
              <a:off x="3888" y="1872"/>
              <a:ext cx="96" cy="96"/>
            </a:xfrm>
            <a:prstGeom prst="ellipse">
              <a:avLst/>
            </a:prstGeom>
            <a:solidFill>
              <a:schemeClr val="tx1"/>
            </a:solidFill>
            <a:ln w="3175">
              <a:solidFill>
                <a:schemeClr val="bg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4362" name="Oval 65">
              <a:extLst>
                <a:ext uri="{FF2B5EF4-FFF2-40B4-BE49-F238E27FC236}">
                  <a16:creationId xmlns:a16="http://schemas.microsoft.com/office/drawing/2014/main" id="{BCB12431-515F-494F-9AE4-D3DD7FB56915}"/>
                </a:ext>
              </a:extLst>
            </p:cNvPr>
            <p:cNvSpPr>
              <a:spLocks noChangeArrowheads="1"/>
            </p:cNvSpPr>
            <p:nvPr/>
          </p:nvSpPr>
          <p:spPr bwMode="auto">
            <a:xfrm>
              <a:off x="3888" y="1296"/>
              <a:ext cx="96" cy="96"/>
            </a:xfrm>
            <a:prstGeom prst="ellipse">
              <a:avLst/>
            </a:prstGeom>
            <a:solidFill>
              <a:srgbClr val="99CCFF"/>
            </a:solidFill>
            <a:ln w="317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4363" name="Line 66">
              <a:extLst>
                <a:ext uri="{FF2B5EF4-FFF2-40B4-BE49-F238E27FC236}">
                  <a16:creationId xmlns:a16="http://schemas.microsoft.com/office/drawing/2014/main" id="{812AF7BB-0BBE-483D-A847-D6A15FEBAF49}"/>
                </a:ext>
              </a:extLst>
            </p:cNvPr>
            <p:cNvSpPr>
              <a:spLocks noChangeShapeType="1"/>
            </p:cNvSpPr>
            <p:nvPr/>
          </p:nvSpPr>
          <p:spPr bwMode="auto">
            <a:xfrm flipV="1">
              <a:off x="3936" y="1392"/>
              <a:ext cx="0" cy="480"/>
            </a:xfrm>
            <a:prstGeom prst="line">
              <a:avLst/>
            </a:prstGeom>
            <a:noFill/>
            <a:ln w="28575">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8" name="Group 67">
            <a:extLst>
              <a:ext uri="{FF2B5EF4-FFF2-40B4-BE49-F238E27FC236}">
                <a16:creationId xmlns:a16="http://schemas.microsoft.com/office/drawing/2014/main" id="{33B0ED91-9342-4813-B184-8E7E3B4DE48B}"/>
              </a:ext>
            </a:extLst>
          </p:cNvPr>
          <p:cNvGrpSpPr>
            <a:grpSpLocks/>
          </p:cNvGrpSpPr>
          <p:nvPr/>
        </p:nvGrpSpPr>
        <p:grpSpPr bwMode="auto">
          <a:xfrm>
            <a:off x="4932363" y="3419475"/>
            <a:ext cx="1447800" cy="685800"/>
            <a:chOff x="2064" y="1776"/>
            <a:chExt cx="912" cy="432"/>
          </a:xfrm>
        </p:grpSpPr>
        <p:sp>
          <p:nvSpPr>
            <p:cNvPr id="14359" name="Rectangle 68">
              <a:extLst>
                <a:ext uri="{FF2B5EF4-FFF2-40B4-BE49-F238E27FC236}">
                  <a16:creationId xmlns:a16="http://schemas.microsoft.com/office/drawing/2014/main" id="{2B423589-408C-410A-8A55-EBA84E90E0C3}"/>
                </a:ext>
              </a:extLst>
            </p:cNvPr>
            <p:cNvSpPr>
              <a:spLocks noChangeArrowheads="1"/>
            </p:cNvSpPr>
            <p:nvPr/>
          </p:nvSpPr>
          <p:spPr bwMode="auto">
            <a:xfrm>
              <a:off x="2064" y="1872"/>
              <a:ext cx="786" cy="25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a:solidFill>
                    <a:srgbClr val="00FFFF"/>
                  </a:solidFill>
                  <a:ea typeface="仿宋_GB2312" pitchFamily="49" charset="-122"/>
                </a:rPr>
                <a:t>0.1~1.5eV</a:t>
              </a:r>
            </a:p>
          </p:txBody>
        </p:sp>
        <p:sp>
          <p:nvSpPr>
            <p:cNvPr id="14360" name="Line 69">
              <a:extLst>
                <a:ext uri="{FF2B5EF4-FFF2-40B4-BE49-F238E27FC236}">
                  <a16:creationId xmlns:a16="http://schemas.microsoft.com/office/drawing/2014/main" id="{6B660A9E-AA9C-4FFE-B570-662E9D2EC2E5}"/>
                </a:ext>
              </a:extLst>
            </p:cNvPr>
            <p:cNvSpPr>
              <a:spLocks noChangeShapeType="1"/>
            </p:cNvSpPr>
            <p:nvPr/>
          </p:nvSpPr>
          <p:spPr bwMode="auto">
            <a:xfrm>
              <a:off x="2976" y="1776"/>
              <a:ext cx="0" cy="432"/>
            </a:xfrm>
            <a:prstGeom prst="line">
              <a:avLst/>
            </a:prstGeom>
            <a:noFill/>
            <a:ln w="9525">
              <a:solidFill>
                <a:srgbClr val="FFCC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219206" name="Rectangle 70">
            <a:extLst>
              <a:ext uri="{FF2B5EF4-FFF2-40B4-BE49-F238E27FC236}">
                <a16:creationId xmlns:a16="http://schemas.microsoft.com/office/drawing/2014/main" id="{5DBF53E6-12DC-43FF-A056-3183EECB1E86}"/>
              </a:ext>
            </a:extLst>
          </p:cNvPr>
          <p:cNvSpPr>
            <a:spLocks noChangeArrowheads="1"/>
          </p:cNvSpPr>
          <p:nvPr/>
        </p:nvSpPr>
        <p:spPr bwMode="auto">
          <a:xfrm>
            <a:off x="4572000" y="955675"/>
            <a:ext cx="35004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chemeClr val="bg1"/>
                </a:solidFill>
                <a:latin typeface="宋体" panose="02010600030101010101" pitchFamily="2" charset="-122"/>
                <a:ea typeface="仿宋_GB2312" pitchFamily="49" charset="-122"/>
              </a:rPr>
              <a:t>2.</a:t>
            </a:r>
            <a:r>
              <a:rPr lang="zh-CN" altLang="en-US">
                <a:solidFill>
                  <a:schemeClr val="bg1"/>
                </a:solidFill>
                <a:latin typeface="宋体" panose="02010600030101010101" pitchFamily="2" charset="-122"/>
                <a:ea typeface="仿宋_GB2312" pitchFamily="49" charset="-122"/>
              </a:rPr>
              <a:t>半导体</a:t>
            </a:r>
            <a:r>
              <a:rPr lang="zh-CN" altLang="en-US" sz="1800">
                <a:solidFill>
                  <a:srgbClr val="FF9900"/>
                </a:solidFill>
                <a:latin typeface="宋体" panose="02010600030101010101" pitchFamily="2" charset="-122"/>
                <a:ea typeface="仿宋_GB2312" pitchFamily="49" charset="-122"/>
              </a:rPr>
              <a:t>（本征半导体）</a:t>
            </a:r>
          </a:p>
        </p:txBody>
      </p:sp>
      <p:sp>
        <p:nvSpPr>
          <p:cNvPr id="219207" name="Rectangle 71">
            <a:extLst>
              <a:ext uri="{FF2B5EF4-FFF2-40B4-BE49-F238E27FC236}">
                <a16:creationId xmlns:a16="http://schemas.microsoft.com/office/drawing/2014/main" id="{4CFEB2A9-B51A-4B51-9000-4857BCAAA3A0}"/>
              </a:ext>
            </a:extLst>
          </p:cNvPr>
          <p:cNvSpPr>
            <a:spLocks noChangeArrowheads="1"/>
          </p:cNvSpPr>
          <p:nvPr/>
        </p:nvSpPr>
        <p:spPr bwMode="auto">
          <a:xfrm>
            <a:off x="7073900" y="3895725"/>
            <a:ext cx="12065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a:solidFill>
                  <a:srgbClr val="00FF00"/>
                </a:solidFill>
                <a:ea typeface="楷体_GB2312" pitchFamily="49" charset="-122"/>
              </a:rPr>
              <a:t>（空穴）</a:t>
            </a:r>
          </a:p>
        </p:txBody>
      </p:sp>
      <p:sp>
        <p:nvSpPr>
          <p:cNvPr id="219208" name="Rectangle 72">
            <a:extLst>
              <a:ext uri="{FF2B5EF4-FFF2-40B4-BE49-F238E27FC236}">
                <a16:creationId xmlns:a16="http://schemas.microsoft.com/office/drawing/2014/main" id="{A19655C1-2875-4651-BE6E-5FB806E3283B}"/>
              </a:ext>
            </a:extLst>
          </p:cNvPr>
          <p:cNvSpPr>
            <a:spLocks noChangeArrowheads="1"/>
          </p:cNvSpPr>
          <p:nvPr/>
        </p:nvSpPr>
        <p:spPr bwMode="auto">
          <a:xfrm>
            <a:off x="7073900" y="2982913"/>
            <a:ext cx="12065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a:solidFill>
                  <a:srgbClr val="00FF00"/>
                </a:solidFill>
                <a:ea typeface="楷体_GB2312" pitchFamily="49" charset="-122"/>
              </a:rPr>
              <a:t>（电子）</a:t>
            </a:r>
          </a:p>
        </p:txBody>
      </p:sp>
      <p:sp>
        <p:nvSpPr>
          <p:cNvPr id="219209" name="Rectangle 73">
            <a:extLst>
              <a:ext uri="{FF2B5EF4-FFF2-40B4-BE49-F238E27FC236}">
                <a16:creationId xmlns:a16="http://schemas.microsoft.com/office/drawing/2014/main" id="{1A5F008B-63C2-428F-A020-271AB75B4BF9}"/>
              </a:ext>
            </a:extLst>
          </p:cNvPr>
          <p:cNvSpPr>
            <a:spLocks noChangeArrowheads="1"/>
          </p:cNvSpPr>
          <p:nvPr/>
        </p:nvSpPr>
        <p:spPr bwMode="auto">
          <a:xfrm>
            <a:off x="6926263" y="3500438"/>
            <a:ext cx="16779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1800">
                <a:solidFill>
                  <a:srgbClr val="FF9900"/>
                </a:solidFill>
                <a:ea typeface="楷体_GB2312" pitchFamily="49" charset="-122"/>
              </a:rPr>
              <a:t>电子 </a:t>
            </a:r>
            <a:r>
              <a:rPr lang="en-US" altLang="zh-CN" sz="1800">
                <a:solidFill>
                  <a:schemeClr val="bg1"/>
                </a:solidFill>
                <a:ea typeface="楷体_GB2312" pitchFamily="49" charset="-122"/>
              </a:rPr>
              <a:t>—</a:t>
            </a:r>
            <a:r>
              <a:rPr lang="en-US" altLang="zh-CN" sz="1800">
                <a:solidFill>
                  <a:srgbClr val="FF9900"/>
                </a:solidFill>
                <a:ea typeface="楷体_GB2312" pitchFamily="49" charset="-122"/>
              </a:rPr>
              <a:t> </a:t>
            </a:r>
            <a:r>
              <a:rPr lang="zh-CN" altLang="en-US" sz="1800">
                <a:solidFill>
                  <a:srgbClr val="FF9900"/>
                </a:solidFill>
                <a:ea typeface="楷体_GB2312" pitchFamily="49" charset="-122"/>
              </a:rPr>
              <a:t>空穴</a:t>
            </a:r>
            <a:r>
              <a:rPr lang="zh-CN" altLang="en-US" sz="1800">
                <a:solidFill>
                  <a:srgbClr val="FFFF00"/>
                </a:solidFill>
                <a:ea typeface="楷体_GB2312" pitchFamily="49" charset="-122"/>
              </a:rPr>
              <a:t>对</a:t>
            </a:r>
          </a:p>
        </p:txBody>
      </p:sp>
      <p:sp>
        <p:nvSpPr>
          <p:cNvPr id="219211" name="Rectangle 75">
            <a:extLst>
              <a:ext uri="{FF2B5EF4-FFF2-40B4-BE49-F238E27FC236}">
                <a16:creationId xmlns:a16="http://schemas.microsoft.com/office/drawing/2014/main" id="{A69FBD4F-E8B2-4F46-AEBB-8BF91B4D3A4E}"/>
              </a:ext>
            </a:extLst>
          </p:cNvPr>
          <p:cNvSpPr>
            <a:spLocks noChangeArrowheads="1"/>
          </p:cNvSpPr>
          <p:nvPr/>
        </p:nvSpPr>
        <p:spPr bwMode="auto">
          <a:xfrm>
            <a:off x="5651202" y="5805264"/>
            <a:ext cx="20891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buClr>
                <a:srgbClr val="FF9900"/>
              </a:buClr>
              <a:buSzPct val="85000"/>
              <a:buFont typeface="Wingdings" panose="05000000000000000000" pitchFamily="2" charset="2"/>
              <a:buChar char="l"/>
            </a:pPr>
            <a:r>
              <a:rPr lang="en-US" altLang="zh-CN" dirty="0">
                <a:solidFill>
                  <a:schemeClr val="bg1"/>
                </a:solidFill>
                <a:latin typeface="宋体" panose="02010600030101010101" pitchFamily="2" charset="-122"/>
                <a:ea typeface="仿宋_GB2312" pitchFamily="49" charset="-122"/>
              </a:rPr>
              <a:t> </a:t>
            </a:r>
            <a:r>
              <a:rPr lang="zh-CN" altLang="en-US" dirty="0">
                <a:solidFill>
                  <a:schemeClr val="bg1"/>
                </a:solidFill>
                <a:latin typeface="宋体" panose="02010600030101010101" pitchFamily="2" charset="-122"/>
                <a:ea typeface="仿宋_GB2312" pitchFamily="49" charset="-122"/>
              </a:rPr>
              <a:t>温度特性</a:t>
            </a:r>
          </a:p>
        </p:txBody>
      </p:sp>
      <p:sp>
        <p:nvSpPr>
          <p:cNvPr id="219212" name="Rectangle 76">
            <a:extLst>
              <a:ext uri="{FF2B5EF4-FFF2-40B4-BE49-F238E27FC236}">
                <a16:creationId xmlns:a16="http://schemas.microsoft.com/office/drawing/2014/main" id="{F3DCB3B0-3649-4165-90BF-0757CC3AC5DA}"/>
              </a:ext>
            </a:extLst>
          </p:cNvPr>
          <p:cNvSpPr>
            <a:spLocks noChangeArrowheads="1"/>
          </p:cNvSpPr>
          <p:nvPr/>
        </p:nvSpPr>
        <p:spPr bwMode="auto">
          <a:xfrm>
            <a:off x="1259632" y="5851523"/>
            <a:ext cx="233838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buClr>
                <a:srgbClr val="FF9900"/>
              </a:buClr>
              <a:buSzPct val="85000"/>
              <a:buFont typeface="Wingdings" panose="05000000000000000000" pitchFamily="2" charset="2"/>
              <a:buChar char="l"/>
            </a:pPr>
            <a:r>
              <a:rPr lang="en-US" altLang="zh-CN" dirty="0">
                <a:solidFill>
                  <a:schemeClr val="bg1"/>
                </a:solidFill>
                <a:latin typeface="宋体" panose="02010600030101010101" pitchFamily="2" charset="-122"/>
                <a:ea typeface="仿宋_GB2312" pitchFamily="49" charset="-122"/>
              </a:rPr>
              <a:t> </a:t>
            </a:r>
            <a:r>
              <a:rPr lang="zh-CN" altLang="en-US" dirty="0">
                <a:solidFill>
                  <a:schemeClr val="bg1"/>
                </a:solidFill>
                <a:latin typeface="宋体" panose="02010600030101010101" pitchFamily="2" charset="-122"/>
                <a:ea typeface="仿宋_GB2312" pitchFamily="49" charset="-122"/>
              </a:rPr>
              <a:t>击穿特性</a:t>
            </a:r>
          </a:p>
        </p:txBody>
      </p:sp>
      <p:sp>
        <p:nvSpPr>
          <p:cNvPr id="14358" name="灯片编号占位符 1">
            <a:extLst>
              <a:ext uri="{FF2B5EF4-FFF2-40B4-BE49-F238E27FC236}">
                <a16:creationId xmlns:a16="http://schemas.microsoft.com/office/drawing/2014/main" id="{C013DBFE-0816-4618-85B5-EB5C02605290}"/>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AC8B8A11-981F-4855-908F-08A8E8378513}" type="slidenum">
              <a:rPr lang="en-US" altLang="zh-CN" b="0">
                <a:solidFill>
                  <a:srgbClr val="FF00FF"/>
                </a:solidFill>
              </a:rPr>
              <a:pPr eaLnBrk="1" hangingPunct="1"/>
              <a:t>8</a:t>
            </a:fld>
            <a:r>
              <a:rPr lang="en-US" altLang="zh-CN" b="0">
                <a:solidFill>
                  <a:srgbClr val="FF00FF"/>
                </a:solidFill>
              </a:rPr>
              <a:t>/40</a:t>
            </a:r>
          </a:p>
        </p:txBody>
      </p:sp>
      <p:grpSp>
        <p:nvGrpSpPr>
          <p:cNvPr id="9" name="组合 8">
            <a:extLst>
              <a:ext uri="{FF2B5EF4-FFF2-40B4-BE49-F238E27FC236}">
                <a16:creationId xmlns:a16="http://schemas.microsoft.com/office/drawing/2014/main" id="{6E7DD8C7-0109-4606-A53C-BDB3DAFD66F2}"/>
              </a:ext>
            </a:extLst>
          </p:cNvPr>
          <p:cNvGrpSpPr/>
          <p:nvPr/>
        </p:nvGrpSpPr>
        <p:grpSpPr>
          <a:xfrm>
            <a:off x="3276104" y="5830126"/>
            <a:ext cx="2279372" cy="461665"/>
            <a:chOff x="3276104" y="5830126"/>
            <a:chExt cx="2279372" cy="461665"/>
          </a:xfrm>
        </p:grpSpPr>
        <p:sp>
          <p:nvSpPr>
            <p:cNvPr id="219210" name="Rectangle 74">
              <a:extLst>
                <a:ext uri="{FF2B5EF4-FFF2-40B4-BE49-F238E27FC236}">
                  <a16:creationId xmlns:a16="http://schemas.microsoft.com/office/drawing/2014/main" id="{C56EE0DB-9F98-49A7-A7B7-6BF1034FFCD7}"/>
                </a:ext>
              </a:extLst>
            </p:cNvPr>
            <p:cNvSpPr>
              <a:spLocks noChangeArrowheads="1"/>
            </p:cNvSpPr>
            <p:nvPr/>
          </p:nvSpPr>
          <p:spPr bwMode="auto">
            <a:xfrm>
              <a:off x="3707904" y="5830126"/>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buSzPct val="85000"/>
                <a:buFont typeface="Wingdings" panose="05000000000000000000" pitchFamily="2" charset="2"/>
                <a:buNone/>
              </a:pPr>
              <a:r>
                <a:rPr lang="zh-CN" altLang="en-US" dirty="0">
                  <a:solidFill>
                    <a:schemeClr val="bg1"/>
                  </a:solidFill>
                  <a:latin typeface="宋体" panose="02010600030101010101" pitchFamily="2" charset="-122"/>
                  <a:ea typeface="仿宋_GB2312" pitchFamily="49" charset="-122"/>
                </a:rPr>
                <a:t>导电特性</a:t>
              </a:r>
              <a:endParaRPr lang="zh-CN" altLang="en-US" sz="1800" dirty="0">
                <a:solidFill>
                  <a:schemeClr val="bg1"/>
                </a:solidFill>
                <a:latin typeface="宋体" panose="02010600030101010101" pitchFamily="2" charset="-122"/>
                <a:ea typeface="仿宋_GB2312" pitchFamily="49" charset="-122"/>
              </a:endParaRPr>
            </a:p>
          </p:txBody>
        </p:sp>
        <p:sp>
          <p:nvSpPr>
            <p:cNvPr id="78" name="AutoShape 77">
              <a:extLst>
                <a:ext uri="{FF2B5EF4-FFF2-40B4-BE49-F238E27FC236}">
                  <a16:creationId xmlns:a16="http://schemas.microsoft.com/office/drawing/2014/main" id="{D55CCEF2-6BD7-4C6F-917A-4993FB6873D7}"/>
                </a:ext>
              </a:extLst>
            </p:cNvPr>
            <p:cNvSpPr>
              <a:spLocks noChangeArrowheads="1"/>
            </p:cNvSpPr>
            <p:nvPr/>
          </p:nvSpPr>
          <p:spPr bwMode="auto">
            <a:xfrm flipH="1">
              <a:off x="5123676" y="5917289"/>
              <a:ext cx="431800" cy="287338"/>
            </a:xfrm>
            <a:prstGeom prst="leftArrow">
              <a:avLst>
                <a:gd name="adj1" fmla="val 50000"/>
                <a:gd name="adj2" fmla="val 37569"/>
              </a:avLst>
            </a:prstGeom>
            <a:solidFill>
              <a:schemeClr val="accent1"/>
            </a:solidFill>
            <a:ln w="9525">
              <a:solidFill>
                <a:schemeClr val="tx1"/>
              </a:solidFill>
              <a:miter lim="800000"/>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79" name="AutoShape 76">
              <a:extLst>
                <a:ext uri="{FF2B5EF4-FFF2-40B4-BE49-F238E27FC236}">
                  <a16:creationId xmlns:a16="http://schemas.microsoft.com/office/drawing/2014/main" id="{80A5244D-78D1-4530-9D70-6CC2BB273CD1}"/>
                </a:ext>
              </a:extLst>
            </p:cNvPr>
            <p:cNvSpPr>
              <a:spLocks noChangeArrowheads="1"/>
            </p:cNvSpPr>
            <p:nvPr/>
          </p:nvSpPr>
          <p:spPr bwMode="auto">
            <a:xfrm>
              <a:off x="3276104" y="5932519"/>
              <a:ext cx="431800" cy="287338"/>
            </a:xfrm>
            <a:prstGeom prst="leftArrow">
              <a:avLst>
                <a:gd name="adj1" fmla="val 50000"/>
                <a:gd name="adj2" fmla="val 37569"/>
              </a:avLst>
            </a:prstGeom>
            <a:solidFill>
              <a:schemeClr val="accent1"/>
            </a:solidFill>
            <a:ln w="9525">
              <a:solidFill>
                <a:schemeClr val="tx1"/>
              </a:solidFill>
              <a:miter lim="800000"/>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19168"/>
                                        </p:tgtEl>
                                        <p:attrNameLst>
                                          <p:attrName>style.visibility</p:attrName>
                                        </p:attrNameLst>
                                      </p:cBhvr>
                                      <p:to>
                                        <p:strVal val="visible"/>
                                      </p:to>
                                    </p:set>
                                    <p:animEffect transition="in" filter="dissolve">
                                      <p:cBhvr>
                                        <p:cTn id="7" dur="500"/>
                                        <p:tgtEl>
                                          <p:spTgt spid="219168"/>
                                        </p:tgtEl>
                                      </p:cBhvr>
                                    </p:animEffect>
                                  </p:childTnLst>
                                </p:cTn>
                              </p:par>
                            </p:childTnLst>
                          </p:cTn>
                        </p:par>
                        <p:par>
                          <p:cTn id="8" fill="hold" nodeType="afterGroup">
                            <p:stCondLst>
                              <p:cond delay="500"/>
                            </p:stCondLst>
                            <p:childTnLst>
                              <p:par>
                                <p:cTn id="9" presetID="9" presetClass="entr" presetSubtype="0"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dissolve">
                                      <p:cBhvr>
                                        <p:cTn id="11" dur="500"/>
                                        <p:tgtEl>
                                          <p:spTgt spid="3"/>
                                        </p:tgtEl>
                                      </p:cBhvr>
                                    </p:animEffect>
                                  </p:childTnLst>
                                </p:cTn>
                              </p:par>
                              <p:par>
                                <p:cTn id="12" presetID="9" presetClass="entr" presetSubtype="0" fill="hold" nodeType="with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dissolve">
                                      <p:cBhvr>
                                        <p:cTn id="14" dur="500"/>
                                        <p:tgtEl>
                                          <p:spTgt spid="2"/>
                                        </p:tgtEl>
                                      </p:cBhvr>
                                    </p:animEffect>
                                  </p:childTnLst>
                                </p:cTn>
                              </p:par>
                              <p:par>
                                <p:cTn id="15" presetID="9" presetClass="entr" presetSubtype="0" fill="hold" grpId="0" nodeType="withEffect">
                                  <p:stCondLst>
                                    <p:cond delay="0"/>
                                  </p:stCondLst>
                                  <p:childTnLst>
                                    <p:set>
                                      <p:cBhvr>
                                        <p:cTn id="16" dur="1" fill="hold">
                                          <p:stCondLst>
                                            <p:cond delay="0"/>
                                          </p:stCondLst>
                                        </p:cTn>
                                        <p:tgtEl>
                                          <p:spTgt spid="219169"/>
                                        </p:tgtEl>
                                        <p:attrNameLst>
                                          <p:attrName>style.visibility</p:attrName>
                                        </p:attrNameLst>
                                      </p:cBhvr>
                                      <p:to>
                                        <p:strVal val="visible"/>
                                      </p:to>
                                    </p:set>
                                    <p:animEffect transition="in" filter="dissolve">
                                      <p:cBhvr>
                                        <p:cTn id="17" dur="500"/>
                                        <p:tgtEl>
                                          <p:spTgt spid="219169"/>
                                        </p:tgtEl>
                                      </p:cBhvr>
                                    </p:animEffect>
                                  </p:childTnLst>
                                </p:cTn>
                              </p:par>
                            </p:childTnLst>
                          </p:cTn>
                        </p:par>
                        <p:par>
                          <p:cTn id="18" fill="hold" nodeType="withGroup">
                            <p:stCondLst>
                              <p:cond delay="1000"/>
                            </p:stCondLst>
                            <p:childTnLst>
                              <p:par>
                                <p:cTn id="19" presetID="9" presetClass="entr" presetSubtype="0" fill="hold" grpId="0" nodeType="afterEffect">
                                  <p:stCondLst>
                                    <p:cond delay="0"/>
                                  </p:stCondLst>
                                  <p:childTnLst>
                                    <p:set>
                                      <p:cBhvr>
                                        <p:cTn id="20" dur="1" fill="hold">
                                          <p:stCondLst>
                                            <p:cond delay="0"/>
                                          </p:stCondLst>
                                        </p:cTn>
                                        <p:tgtEl>
                                          <p:spTgt spid="219212"/>
                                        </p:tgtEl>
                                        <p:attrNameLst>
                                          <p:attrName>style.visibility</p:attrName>
                                        </p:attrNameLst>
                                      </p:cBhvr>
                                      <p:to>
                                        <p:strVal val="visible"/>
                                      </p:to>
                                    </p:set>
                                    <p:animEffect transition="in" filter="dissolve">
                                      <p:cBhvr>
                                        <p:cTn id="21" dur="500"/>
                                        <p:tgtEl>
                                          <p:spTgt spid="219212"/>
                                        </p:tgtEl>
                                      </p:cBhvr>
                                    </p:animEffect>
                                  </p:childTnLst>
                                </p:cTn>
                              </p:par>
                            </p:childTnLst>
                          </p:cTn>
                        </p:par>
                      </p:childTnLst>
                    </p:cTn>
                  </p:par>
                  <p:par>
                    <p:cTn id="22" fill="hold">
                      <p:stCondLst>
                        <p:cond delay="indefinite"/>
                      </p:stCondLst>
                      <p:childTnLst>
                        <p:par>
                          <p:cTn id="23" fill="hold">
                            <p:stCondLst>
                              <p:cond delay="0"/>
                            </p:stCondLst>
                            <p:childTnLst>
                              <p:par>
                                <p:cTn id="24" presetID="16" presetClass="entr" presetSubtype="42" fill="hold" nodeType="click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barn(outHorizontal)">
                                      <p:cBhvr>
                                        <p:cTn id="26" dur="500"/>
                                        <p:tgtEl>
                                          <p:spTgt spid="4"/>
                                        </p:tgtEl>
                                      </p:cBhvr>
                                    </p:animEffect>
                                  </p:childTnLst>
                                </p:cTn>
                              </p:par>
                            </p:childTnLst>
                          </p:cTn>
                        </p:par>
                        <p:par>
                          <p:cTn id="27" fill="hold" nodeType="afterGroup">
                            <p:stCondLst>
                              <p:cond delay="500"/>
                            </p:stCondLst>
                            <p:childTnLst>
                              <p:par>
                                <p:cTn id="28" presetID="22" presetClass="entr" presetSubtype="1" fill="hold" nodeType="afterEffect">
                                  <p:stCondLst>
                                    <p:cond delay="0"/>
                                  </p:stCondLst>
                                  <p:childTnLst>
                                    <p:set>
                                      <p:cBhvr>
                                        <p:cTn id="29" dur="1" fill="hold">
                                          <p:stCondLst>
                                            <p:cond delay="0"/>
                                          </p:stCondLst>
                                        </p:cTn>
                                        <p:tgtEl>
                                          <p:spTgt spid="219170"/>
                                        </p:tgtEl>
                                        <p:attrNameLst>
                                          <p:attrName>style.visibility</p:attrName>
                                        </p:attrNameLst>
                                      </p:cBhvr>
                                      <p:to>
                                        <p:strVal val="visible"/>
                                      </p:to>
                                    </p:set>
                                    <p:animEffect transition="in" filter="wipe(up)">
                                      <p:cBhvr>
                                        <p:cTn id="30" dur="500"/>
                                        <p:tgtEl>
                                          <p:spTgt spid="219170"/>
                                        </p:tgtEl>
                                      </p:cBhvr>
                                    </p:animEffect>
                                  </p:childTnLst>
                                </p:cTn>
                              </p:par>
                              <p:par>
                                <p:cTn id="31" presetID="22" presetClass="entr" presetSubtype="1" fill="hold" nodeType="withEffect">
                                  <p:stCondLst>
                                    <p:cond delay="0"/>
                                  </p:stCondLst>
                                  <p:childTnLst>
                                    <p:set>
                                      <p:cBhvr>
                                        <p:cTn id="32" dur="1" fill="hold">
                                          <p:stCondLst>
                                            <p:cond delay="0"/>
                                          </p:stCondLst>
                                        </p:cTn>
                                        <p:tgtEl>
                                          <p:spTgt spid="219171"/>
                                        </p:tgtEl>
                                        <p:attrNameLst>
                                          <p:attrName>style.visibility</p:attrName>
                                        </p:attrNameLst>
                                      </p:cBhvr>
                                      <p:to>
                                        <p:strVal val="visible"/>
                                      </p:to>
                                    </p:set>
                                    <p:animEffect transition="in" filter="wipe(up)">
                                      <p:cBhvr>
                                        <p:cTn id="33" dur="500"/>
                                        <p:tgtEl>
                                          <p:spTgt spid="219171"/>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9" presetClass="entr" presetSubtype="0" fill="hold" grpId="0" nodeType="clickEffect">
                                  <p:stCondLst>
                                    <p:cond delay="0"/>
                                  </p:stCondLst>
                                  <p:childTnLst>
                                    <p:set>
                                      <p:cBhvr>
                                        <p:cTn id="37" dur="1" fill="hold">
                                          <p:stCondLst>
                                            <p:cond delay="0"/>
                                          </p:stCondLst>
                                        </p:cTn>
                                        <p:tgtEl>
                                          <p:spTgt spid="219206"/>
                                        </p:tgtEl>
                                        <p:attrNameLst>
                                          <p:attrName>style.visibility</p:attrName>
                                        </p:attrNameLst>
                                      </p:cBhvr>
                                      <p:to>
                                        <p:strVal val="visible"/>
                                      </p:to>
                                    </p:set>
                                    <p:animEffect transition="in" filter="dissolve">
                                      <p:cBhvr>
                                        <p:cTn id="38" dur="500"/>
                                        <p:tgtEl>
                                          <p:spTgt spid="219206"/>
                                        </p:tgtEl>
                                      </p:cBhvr>
                                    </p:animEffect>
                                  </p:childTnLst>
                                </p:cTn>
                              </p:par>
                            </p:childTnLst>
                          </p:cTn>
                        </p:par>
                        <p:par>
                          <p:cTn id="39" fill="hold" nodeType="afterGroup">
                            <p:stCondLst>
                              <p:cond delay="500"/>
                            </p:stCondLst>
                            <p:childTnLst>
                              <p:par>
                                <p:cTn id="40" presetID="9" presetClass="entr" presetSubtype="0" fill="hold" nodeType="afterEffect">
                                  <p:stCondLst>
                                    <p:cond delay="0"/>
                                  </p:stCondLst>
                                  <p:childTnLst>
                                    <p:set>
                                      <p:cBhvr>
                                        <p:cTn id="41" dur="1" fill="hold">
                                          <p:stCondLst>
                                            <p:cond delay="0"/>
                                          </p:stCondLst>
                                        </p:cTn>
                                        <p:tgtEl>
                                          <p:spTgt spid="5"/>
                                        </p:tgtEl>
                                        <p:attrNameLst>
                                          <p:attrName>style.visibility</p:attrName>
                                        </p:attrNameLst>
                                      </p:cBhvr>
                                      <p:to>
                                        <p:strVal val="visible"/>
                                      </p:to>
                                    </p:set>
                                    <p:animEffect transition="in" filter="dissolve">
                                      <p:cBhvr>
                                        <p:cTn id="42" dur="500"/>
                                        <p:tgtEl>
                                          <p:spTgt spid="5"/>
                                        </p:tgtEl>
                                      </p:cBhvr>
                                    </p:animEffect>
                                  </p:childTnLst>
                                </p:cTn>
                              </p:par>
                              <p:par>
                                <p:cTn id="43" presetID="9" presetClass="entr" presetSubtype="0" fill="hold" nodeType="withEffect">
                                  <p:stCondLst>
                                    <p:cond delay="0"/>
                                  </p:stCondLst>
                                  <p:childTnLst>
                                    <p:set>
                                      <p:cBhvr>
                                        <p:cTn id="44" dur="1" fill="hold">
                                          <p:stCondLst>
                                            <p:cond delay="0"/>
                                          </p:stCondLst>
                                        </p:cTn>
                                        <p:tgtEl>
                                          <p:spTgt spid="6"/>
                                        </p:tgtEl>
                                        <p:attrNameLst>
                                          <p:attrName>style.visibility</p:attrName>
                                        </p:attrNameLst>
                                      </p:cBhvr>
                                      <p:to>
                                        <p:strVal val="visible"/>
                                      </p:to>
                                    </p:set>
                                    <p:animEffect transition="in" filter="dissolve">
                                      <p:cBhvr>
                                        <p:cTn id="45" dur="500"/>
                                        <p:tgtEl>
                                          <p:spTgt spid="6"/>
                                        </p:tgtEl>
                                      </p:cBhvr>
                                    </p:animEffect>
                                  </p:childTnLst>
                                </p:cTn>
                              </p:par>
                              <p:par>
                                <p:cTn id="46" presetID="9" presetClass="entr" presetSubtype="0" fill="hold" grpId="0" nodeType="withEffect">
                                  <p:stCondLst>
                                    <p:cond delay="0"/>
                                  </p:stCondLst>
                                  <p:childTnLst>
                                    <p:set>
                                      <p:cBhvr>
                                        <p:cTn id="47" dur="1" fill="hold">
                                          <p:stCondLst>
                                            <p:cond delay="0"/>
                                          </p:stCondLst>
                                        </p:cTn>
                                        <p:tgtEl>
                                          <p:spTgt spid="219179"/>
                                        </p:tgtEl>
                                        <p:attrNameLst>
                                          <p:attrName>style.visibility</p:attrName>
                                        </p:attrNameLst>
                                      </p:cBhvr>
                                      <p:to>
                                        <p:strVal val="visible"/>
                                      </p:to>
                                    </p:set>
                                    <p:animEffect transition="in" filter="dissolve">
                                      <p:cBhvr>
                                        <p:cTn id="48" dur="500"/>
                                        <p:tgtEl>
                                          <p:spTgt spid="219179"/>
                                        </p:tgtEl>
                                      </p:cBhvr>
                                    </p:animEffect>
                                  </p:childTnLst>
                                </p:cTn>
                              </p:par>
                            </p:childTnLst>
                          </p:cTn>
                        </p:par>
                        <p:par>
                          <p:cTn id="49" fill="hold" nodeType="afterGroup">
                            <p:stCondLst>
                              <p:cond delay="1000"/>
                            </p:stCondLst>
                            <p:childTnLst>
                              <p:par>
                                <p:cTn id="50" presetID="16" presetClass="entr" presetSubtype="42" fill="hold" nodeType="afterEffect">
                                  <p:stCondLst>
                                    <p:cond delay="0"/>
                                  </p:stCondLst>
                                  <p:childTnLst>
                                    <p:set>
                                      <p:cBhvr>
                                        <p:cTn id="51" dur="1" fill="hold">
                                          <p:stCondLst>
                                            <p:cond delay="0"/>
                                          </p:stCondLst>
                                        </p:cTn>
                                        <p:tgtEl>
                                          <p:spTgt spid="8"/>
                                        </p:tgtEl>
                                        <p:attrNameLst>
                                          <p:attrName>style.visibility</p:attrName>
                                        </p:attrNameLst>
                                      </p:cBhvr>
                                      <p:to>
                                        <p:strVal val="visible"/>
                                      </p:to>
                                    </p:set>
                                    <p:animEffect transition="in" filter="barn(outHorizontal)">
                                      <p:cBhvr>
                                        <p:cTn id="52" dur="500"/>
                                        <p:tgtEl>
                                          <p:spTgt spid="8"/>
                                        </p:tgtEl>
                                      </p:cBhvr>
                                    </p:animEffect>
                                  </p:childTnLst>
                                </p:cTn>
                              </p:par>
                            </p:childTnLst>
                          </p:cTn>
                        </p:par>
                      </p:childTnLst>
                    </p:cTn>
                  </p:par>
                  <p:par>
                    <p:cTn id="53" fill="hold">
                      <p:stCondLst>
                        <p:cond delay="indefinite"/>
                      </p:stCondLst>
                      <p:childTnLst>
                        <p:par>
                          <p:cTn id="54" fill="hold">
                            <p:stCondLst>
                              <p:cond delay="0"/>
                            </p:stCondLst>
                            <p:childTnLst>
                              <p:par>
                                <p:cTn id="55" presetID="12" presetClass="entr" presetSubtype="4" fill="hold" nodeType="clickEffect">
                                  <p:stCondLst>
                                    <p:cond delay="0"/>
                                  </p:stCondLst>
                                  <p:childTnLst>
                                    <p:set>
                                      <p:cBhvr>
                                        <p:cTn id="56" dur="1" fill="hold">
                                          <p:stCondLst>
                                            <p:cond delay="0"/>
                                          </p:stCondLst>
                                        </p:cTn>
                                        <p:tgtEl>
                                          <p:spTgt spid="7"/>
                                        </p:tgtEl>
                                        <p:attrNameLst>
                                          <p:attrName>style.visibility</p:attrName>
                                        </p:attrNameLst>
                                      </p:cBhvr>
                                      <p:to>
                                        <p:strVal val="visible"/>
                                      </p:to>
                                    </p:set>
                                    <p:animEffect transition="in" filter="slide(fromBottom)">
                                      <p:cBhvr>
                                        <p:cTn id="57" dur="500"/>
                                        <p:tgtEl>
                                          <p:spTgt spid="7"/>
                                        </p:tgtEl>
                                      </p:cBhvr>
                                    </p:animEffect>
                                  </p:childTnLst>
                                </p:cTn>
                              </p:par>
                            </p:childTnLst>
                          </p:cTn>
                        </p:par>
                        <p:par>
                          <p:cTn id="58" fill="hold" nodeType="afterGroup">
                            <p:stCondLst>
                              <p:cond delay="500"/>
                            </p:stCondLst>
                            <p:childTnLst>
                              <p:par>
                                <p:cTn id="59" presetID="9" presetClass="entr" presetSubtype="0" fill="hold" grpId="0" nodeType="afterEffect">
                                  <p:stCondLst>
                                    <p:cond delay="0"/>
                                  </p:stCondLst>
                                  <p:childTnLst>
                                    <p:set>
                                      <p:cBhvr>
                                        <p:cTn id="60" dur="1" fill="hold">
                                          <p:stCondLst>
                                            <p:cond delay="0"/>
                                          </p:stCondLst>
                                        </p:cTn>
                                        <p:tgtEl>
                                          <p:spTgt spid="219207"/>
                                        </p:tgtEl>
                                        <p:attrNameLst>
                                          <p:attrName>style.visibility</p:attrName>
                                        </p:attrNameLst>
                                      </p:cBhvr>
                                      <p:to>
                                        <p:strVal val="visible"/>
                                      </p:to>
                                    </p:set>
                                    <p:animEffect transition="in" filter="dissolve">
                                      <p:cBhvr>
                                        <p:cTn id="61" dur="500"/>
                                        <p:tgtEl>
                                          <p:spTgt spid="219207"/>
                                        </p:tgtEl>
                                      </p:cBhvr>
                                    </p:animEffect>
                                  </p:childTnLst>
                                </p:cTn>
                              </p:par>
                            </p:childTnLst>
                          </p:cTn>
                        </p:par>
                        <p:par>
                          <p:cTn id="62" fill="hold" nodeType="afterGroup">
                            <p:stCondLst>
                              <p:cond delay="1000"/>
                            </p:stCondLst>
                            <p:childTnLst>
                              <p:par>
                                <p:cTn id="63" presetID="9" presetClass="entr" presetSubtype="0" fill="hold" grpId="0" nodeType="afterEffect">
                                  <p:stCondLst>
                                    <p:cond delay="0"/>
                                  </p:stCondLst>
                                  <p:childTnLst>
                                    <p:set>
                                      <p:cBhvr>
                                        <p:cTn id="64" dur="1" fill="hold">
                                          <p:stCondLst>
                                            <p:cond delay="0"/>
                                          </p:stCondLst>
                                        </p:cTn>
                                        <p:tgtEl>
                                          <p:spTgt spid="219208"/>
                                        </p:tgtEl>
                                        <p:attrNameLst>
                                          <p:attrName>style.visibility</p:attrName>
                                        </p:attrNameLst>
                                      </p:cBhvr>
                                      <p:to>
                                        <p:strVal val="visible"/>
                                      </p:to>
                                    </p:set>
                                    <p:animEffect transition="in" filter="dissolve">
                                      <p:cBhvr>
                                        <p:cTn id="65" dur="500"/>
                                        <p:tgtEl>
                                          <p:spTgt spid="219208"/>
                                        </p:tgtEl>
                                      </p:cBhvr>
                                    </p:animEffect>
                                  </p:childTnLst>
                                </p:cTn>
                              </p:par>
                            </p:childTnLst>
                          </p:cTn>
                        </p:par>
                        <p:par>
                          <p:cTn id="66" fill="hold" nodeType="afterGroup">
                            <p:stCondLst>
                              <p:cond delay="1500"/>
                            </p:stCondLst>
                            <p:childTnLst>
                              <p:par>
                                <p:cTn id="67" presetID="9" presetClass="entr" presetSubtype="0" fill="hold" grpId="0" nodeType="afterEffect">
                                  <p:stCondLst>
                                    <p:cond delay="0"/>
                                  </p:stCondLst>
                                  <p:childTnLst>
                                    <p:set>
                                      <p:cBhvr>
                                        <p:cTn id="68" dur="1" fill="hold">
                                          <p:stCondLst>
                                            <p:cond delay="0"/>
                                          </p:stCondLst>
                                        </p:cTn>
                                        <p:tgtEl>
                                          <p:spTgt spid="219209"/>
                                        </p:tgtEl>
                                        <p:attrNameLst>
                                          <p:attrName>style.visibility</p:attrName>
                                        </p:attrNameLst>
                                      </p:cBhvr>
                                      <p:to>
                                        <p:strVal val="visible"/>
                                      </p:to>
                                    </p:set>
                                    <p:animEffect transition="in" filter="dissolve">
                                      <p:cBhvr>
                                        <p:cTn id="69" dur="500"/>
                                        <p:tgtEl>
                                          <p:spTgt spid="219209"/>
                                        </p:tgtEl>
                                      </p:cBhvr>
                                    </p:animEffect>
                                  </p:childTnLst>
                                </p:cTn>
                              </p:par>
                            </p:childTnLst>
                          </p:cTn>
                        </p:par>
                        <p:par>
                          <p:cTn id="70" fill="hold">
                            <p:stCondLst>
                              <p:cond delay="2000"/>
                            </p:stCondLst>
                            <p:childTnLst>
                              <p:par>
                                <p:cTn id="71" presetID="9" presetClass="entr" presetSubtype="0" fill="hold" grpId="0" nodeType="afterEffect">
                                  <p:stCondLst>
                                    <p:cond delay="0"/>
                                  </p:stCondLst>
                                  <p:childTnLst>
                                    <p:set>
                                      <p:cBhvr>
                                        <p:cTn id="72" dur="1" fill="hold">
                                          <p:stCondLst>
                                            <p:cond delay="0"/>
                                          </p:stCondLst>
                                        </p:cTn>
                                        <p:tgtEl>
                                          <p:spTgt spid="219211"/>
                                        </p:tgtEl>
                                        <p:attrNameLst>
                                          <p:attrName>style.visibility</p:attrName>
                                        </p:attrNameLst>
                                      </p:cBhvr>
                                      <p:to>
                                        <p:strVal val="visible"/>
                                      </p:to>
                                    </p:set>
                                    <p:animEffect transition="in" filter="dissolve">
                                      <p:cBhvr>
                                        <p:cTn id="73" dur="500"/>
                                        <p:tgtEl>
                                          <p:spTgt spid="219211"/>
                                        </p:tgtEl>
                                      </p:cBhvr>
                                    </p:animEffect>
                                  </p:childTnLst>
                                </p:cTn>
                              </p:par>
                            </p:childTnLst>
                          </p:cTn>
                        </p:par>
                      </p:childTnLst>
                    </p:cTn>
                  </p:par>
                  <p:par>
                    <p:cTn id="74" fill="hold">
                      <p:stCondLst>
                        <p:cond delay="indefinite"/>
                      </p:stCondLst>
                      <p:childTnLst>
                        <p:par>
                          <p:cTn id="75" fill="hold">
                            <p:stCondLst>
                              <p:cond delay="0"/>
                            </p:stCondLst>
                            <p:childTnLst>
                              <p:par>
                                <p:cTn id="76" presetID="55" presetClass="entr" presetSubtype="0" fill="hold" nodeType="clickEffect">
                                  <p:stCondLst>
                                    <p:cond delay="0"/>
                                  </p:stCondLst>
                                  <p:childTnLst>
                                    <p:set>
                                      <p:cBhvr>
                                        <p:cTn id="77" dur="1" fill="hold">
                                          <p:stCondLst>
                                            <p:cond delay="0"/>
                                          </p:stCondLst>
                                        </p:cTn>
                                        <p:tgtEl>
                                          <p:spTgt spid="9"/>
                                        </p:tgtEl>
                                        <p:attrNameLst>
                                          <p:attrName>style.visibility</p:attrName>
                                        </p:attrNameLst>
                                      </p:cBhvr>
                                      <p:to>
                                        <p:strVal val="visible"/>
                                      </p:to>
                                    </p:set>
                                    <p:anim calcmode="lin" valueType="num">
                                      <p:cBhvr>
                                        <p:cTn id="78" dur="1000" fill="hold"/>
                                        <p:tgtEl>
                                          <p:spTgt spid="9"/>
                                        </p:tgtEl>
                                        <p:attrNameLst>
                                          <p:attrName>ppt_w</p:attrName>
                                        </p:attrNameLst>
                                      </p:cBhvr>
                                      <p:tavLst>
                                        <p:tav tm="0">
                                          <p:val>
                                            <p:strVal val="#ppt_w*0.70"/>
                                          </p:val>
                                        </p:tav>
                                        <p:tav tm="100000">
                                          <p:val>
                                            <p:strVal val="#ppt_w"/>
                                          </p:val>
                                        </p:tav>
                                      </p:tavLst>
                                    </p:anim>
                                    <p:anim calcmode="lin" valueType="num">
                                      <p:cBhvr>
                                        <p:cTn id="79" dur="1000" fill="hold"/>
                                        <p:tgtEl>
                                          <p:spTgt spid="9"/>
                                        </p:tgtEl>
                                        <p:attrNameLst>
                                          <p:attrName>ppt_h</p:attrName>
                                        </p:attrNameLst>
                                      </p:cBhvr>
                                      <p:tavLst>
                                        <p:tav tm="0">
                                          <p:val>
                                            <p:strVal val="#ppt_h"/>
                                          </p:val>
                                        </p:tav>
                                        <p:tav tm="100000">
                                          <p:val>
                                            <p:strVal val="#ppt_h"/>
                                          </p:val>
                                        </p:tav>
                                      </p:tavLst>
                                    </p:anim>
                                    <p:animEffect transition="in" filter="fade">
                                      <p:cBhvr>
                                        <p:cTn id="80"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9168" grpId="0"/>
      <p:bldP spid="219169" grpId="0"/>
      <p:bldP spid="219179" grpId="0"/>
      <p:bldP spid="219206" grpId="0"/>
      <p:bldP spid="219207" grpId="0"/>
      <p:bldP spid="219208" grpId="0"/>
      <p:bldP spid="219209" grpId="0"/>
      <p:bldP spid="219211" grpId="0"/>
      <p:bldP spid="219212" grpId="0"/>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0162" name="Text Box 2">
            <a:extLst>
              <a:ext uri="{FF2B5EF4-FFF2-40B4-BE49-F238E27FC236}">
                <a16:creationId xmlns:a16="http://schemas.microsoft.com/office/drawing/2014/main" id="{61CEFD7C-D96B-42AB-8532-328EF357715D}"/>
              </a:ext>
            </a:extLst>
          </p:cNvPr>
          <p:cNvSpPr txBox="1">
            <a:spLocks noChangeArrowheads="1"/>
          </p:cNvSpPr>
          <p:nvPr/>
        </p:nvSpPr>
        <p:spPr bwMode="auto">
          <a:xfrm>
            <a:off x="1587500" y="4724400"/>
            <a:ext cx="4397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a:solidFill>
                  <a:srgbClr val="FF9900"/>
                </a:solidFill>
                <a:latin typeface="楷体_GB2312" pitchFamily="49" charset="-122"/>
                <a:ea typeface="楷体_GB2312" pitchFamily="49" charset="-122"/>
              </a:rPr>
              <a:t>锂</a:t>
            </a:r>
          </a:p>
        </p:txBody>
      </p:sp>
      <p:grpSp>
        <p:nvGrpSpPr>
          <p:cNvPr id="2" name="Group 3">
            <a:extLst>
              <a:ext uri="{FF2B5EF4-FFF2-40B4-BE49-F238E27FC236}">
                <a16:creationId xmlns:a16="http://schemas.microsoft.com/office/drawing/2014/main" id="{256700E3-865D-4282-B00F-3A2B6D2753E7}"/>
              </a:ext>
            </a:extLst>
          </p:cNvPr>
          <p:cNvGrpSpPr>
            <a:grpSpLocks/>
          </p:cNvGrpSpPr>
          <p:nvPr/>
        </p:nvGrpSpPr>
        <p:grpSpPr bwMode="auto">
          <a:xfrm>
            <a:off x="1071563" y="1484313"/>
            <a:ext cx="1676400" cy="2971800"/>
            <a:chOff x="4272" y="1104"/>
            <a:chExt cx="1056" cy="1872"/>
          </a:xfrm>
        </p:grpSpPr>
        <p:grpSp>
          <p:nvGrpSpPr>
            <p:cNvPr id="16442" name="Group 4">
              <a:extLst>
                <a:ext uri="{FF2B5EF4-FFF2-40B4-BE49-F238E27FC236}">
                  <a16:creationId xmlns:a16="http://schemas.microsoft.com/office/drawing/2014/main" id="{2BE2662F-23B9-444E-8FC3-61E795C7C06C}"/>
                </a:ext>
              </a:extLst>
            </p:cNvPr>
            <p:cNvGrpSpPr>
              <a:grpSpLocks/>
            </p:cNvGrpSpPr>
            <p:nvPr/>
          </p:nvGrpSpPr>
          <p:grpSpPr bwMode="auto">
            <a:xfrm>
              <a:off x="4320" y="2208"/>
              <a:ext cx="1008" cy="768"/>
              <a:chOff x="720" y="2064"/>
              <a:chExt cx="1008" cy="768"/>
            </a:xfrm>
          </p:grpSpPr>
          <p:sp>
            <p:nvSpPr>
              <p:cNvPr id="16450" name="Line 5">
                <a:extLst>
                  <a:ext uri="{FF2B5EF4-FFF2-40B4-BE49-F238E27FC236}">
                    <a16:creationId xmlns:a16="http://schemas.microsoft.com/office/drawing/2014/main" id="{3DF0F8FB-64F2-41B2-8416-C6DBDE992808}"/>
                  </a:ext>
                </a:extLst>
              </p:cNvPr>
              <p:cNvSpPr>
                <a:spLocks noChangeShapeType="1"/>
              </p:cNvSpPr>
              <p:nvPr/>
            </p:nvSpPr>
            <p:spPr bwMode="auto">
              <a:xfrm>
                <a:off x="720" y="2064"/>
                <a:ext cx="1008"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451" name="Line 6">
                <a:extLst>
                  <a:ext uri="{FF2B5EF4-FFF2-40B4-BE49-F238E27FC236}">
                    <a16:creationId xmlns:a16="http://schemas.microsoft.com/office/drawing/2014/main" id="{B7712226-1FCD-484A-93B0-D6015FF12CE3}"/>
                  </a:ext>
                </a:extLst>
              </p:cNvPr>
              <p:cNvSpPr>
                <a:spLocks noChangeShapeType="1"/>
              </p:cNvSpPr>
              <p:nvPr/>
            </p:nvSpPr>
            <p:spPr bwMode="auto">
              <a:xfrm>
                <a:off x="720" y="2208"/>
                <a:ext cx="1008"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452" name="Line 7">
                <a:extLst>
                  <a:ext uri="{FF2B5EF4-FFF2-40B4-BE49-F238E27FC236}">
                    <a16:creationId xmlns:a16="http://schemas.microsoft.com/office/drawing/2014/main" id="{A877036F-F051-43D6-B65F-FBCDB61596AA}"/>
                  </a:ext>
                </a:extLst>
              </p:cNvPr>
              <p:cNvSpPr>
                <a:spLocks noChangeShapeType="1"/>
              </p:cNvSpPr>
              <p:nvPr/>
            </p:nvSpPr>
            <p:spPr bwMode="auto">
              <a:xfrm>
                <a:off x="720" y="2352"/>
                <a:ext cx="1008"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453" name="Oval 8">
                <a:extLst>
                  <a:ext uri="{FF2B5EF4-FFF2-40B4-BE49-F238E27FC236}">
                    <a16:creationId xmlns:a16="http://schemas.microsoft.com/office/drawing/2014/main" id="{E4CB0F0C-19C9-4B27-8D7A-513DF44BFED3}"/>
                  </a:ext>
                </a:extLst>
              </p:cNvPr>
              <p:cNvSpPr>
                <a:spLocks noChangeArrowheads="1"/>
              </p:cNvSpPr>
              <p:nvPr/>
            </p:nvSpPr>
            <p:spPr bwMode="auto">
              <a:xfrm>
                <a:off x="912" y="2304"/>
                <a:ext cx="96" cy="96"/>
              </a:xfrm>
              <a:prstGeom prst="ellipse">
                <a:avLst/>
              </a:prstGeom>
              <a:solidFill>
                <a:srgbClr val="99CC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6454" name="Line 9">
                <a:extLst>
                  <a:ext uri="{FF2B5EF4-FFF2-40B4-BE49-F238E27FC236}">
                    <a16:creationId xmlns:a16="http://schemas.microsoft.com/office/drawing/2014/main" id="{C623B3A7-4135-49D9-862F-DD40D1EA770D}"/>
                  </a:ext>
                </a:extLst>
              </p:cNvPr>
              <p:cNvSpPr>
                <a:spLocks noChangeShapeType="1"/>
              </p:cNvSpPr>
              <p:nvPr/>
            </p:nvSpPr>
            <p:spPr bwMode="auto">
              <a:xfrm>
                <a:off x="720" y="2496"/>
                <a:ext cx="1008"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455" name="Oval 10">
                <a:extLst>
                  <a:ext uri="{FF2B5EF4-FFF2-40B4-BE49-F238E27FC236}">
                    <a16:creationId xmlns:a16="http://schemas.microsoft.com/office/drawing/2014/main" id="{2CA9D755-1F3F-45BE-9D55-D0D4C1A0032C}"/>
                  </a:ext>
                </a:extLst>
              </p:cNvPr>
              <p:cNvSpPr>
                <a:spLocks noChangeArrowheads="1"/>
              </p:cNvSpPr>
              <p:nvPr/>
            </p:nvSpPr>
            <p:spPr bwMode="auto">
              <a:xfrm>
                <a:off x="1440" y="2448"/>
                <a:ext cx="96" cy="96"/>
              </a:xfrm>
              <a:prstGeom prst="ellipse">
                <a:avLst/>
              </a:prstGeom>
              <a:solidFill>
                <a:srgbClr val="99CC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6456" name="Oval 11">
                <a:extLst>
                  <a:ext uri="{FF2B5EF4-FFF2-40B4-BE49-F238E27FC236}">
                    <a16:creationId xmlns:a16="http://schemas.microsoft.com/office/drawing/2014/main" id="{91246092-CABA-4043-A292-A7E24D6157B8}"/>
                  </a:ext>
                </a:extLst>
              </p:cNvPr>
              <p:cNvSpPr>
                <a:spLocks noChangeArrowheads="1"/>
              </p:cNvSpPr>
              <p:nvPr/>
            </p:nvSpPr>
            <p:spPr bwMode="auto">
              <a:xfrm>
                <a:off x="912" y="2448"/>
                <a:ext cx="96" cy="96"/>
              </a:xfrm>
              <a:prstGeom prst="ellipse">
                <a:avLst/>
              </a:prstGeom>
              <a:solidFill>
                <a:srgbClr val="99CC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6457" name="Line 12">
                <a:extLst>
                  <a:ext uri="{FF2B5EF4-FFF2-40B4-BE49-F238E27FC236}">
                    <a16:creationId xmlns:a16="http://schemas.microsoft.com/office/drawing/2014/main" id="{C2AEE82A-A089-407C-8F6F-76AE19DDC725}"/>
                  </a:ext>
                </a:extLst>
              </p:cNvPr>
              <p:cNvSpPr>
                <a:spLocks noChangeShapeType="1"/>
              </p:cNvSpPr>
              <p:nvPr/>
            </p:nvSpPr>
            <p:spPr bwMode="auto">
              <a:xfrm>
                <a:off x="720" y="2640"/>
                <a:ext cx="1008"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458" name="Oval 13">
                <a:extLst>
                  <a:ext uri="{FF2B5EF4-FFF2-40B4-BE49-F238E27FC236}">
                    <a16:creationId xmlns:a16="http://schemas.microsoft.com/office/drawing/2014/main" id="{C8C14066-67D8-4180-93AC-78EAD039A950}"/>
                  </a:ext>
                </a:extLst>
              </p:cNvPr>
              <p:cNvSpPr>
                <a:spLocks noChangeArrowheads="1"/>
              </p:cNvSpPr>
              <p:nvPr/>
            </p:nvSpPr>
            <p:spPr bwMode="auto">
              <a:xfrm>
                <a:off x="1440" y="2592"/>
                <a:ext cx="96" cy="96"/>
              </a:xfrm>
              <a:prstGeom prst="ellipse">
                <a:avLst/>
              </a:prstGeom>
              <a:solidFill>
                <a:srgbClr val="99CC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6459" name="Oval 14">
                <a:extLst>
                  <a:ext uri="{FF2B5EF4-FFF2-40B4-BE49-F238E27FC236}">
                    <a16:creationId xmlns:a16="http://schemas.microsoft.com/office/drawing/2014/main" id="{D44F2132-931E-43D1-91E6-38DAD5242D20}"/>
                  </a:ext>
                </a:extLst>
              </p:cNvPr>
              <p:cNvSpPr>
                <a:spLocks noChangeArrowheads="1"/>
              </p:cNvSpPr>
              <p:nvPr/>
            </p:nvSpPr>
            <p:spPr bwMode="auto">
              <a:xfrm>
                <a:off x="912" y="2592"/>
                <a:ext cx="96" cy="96"/>
              </a:xfrm>
              <a:prstGeom prst="ellipse">
                <a:avLst/>
              </a:prstGeom>
              <a:solidFill>
                <a:srgbClr val="99CC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6460" name="Line 15">
                <a:extLst>
                  <a:ext uri="{FF2B5EF4-FFF2-40B4-BE49-F238E27FC236}">
                    <a16:creationId xmlns:a16="http://schemas.microsoft.com/office/drawing/2014/main" id="{B51FFF7A-18CB-4A4B-82C6-1BD95B558F47}"/>
                  </a:ext>
                </a:extLst>
              </p:cNvPr>
              <p:cNvSpPr>
                <a:spLocks noChangeShapeType="1"/>
              </p:cNvSpPr>
              <p:nvPr/>
            </p:nvSpPr>
            <p:spPr bwMode="auto">
              <a:xfrm>
                <a:off x="720" y="2784"/>
                <a:ext cx="1008"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461" name="Oval 16">
                <a:extLst>
                  <a:ext uri="{FF2B5EF4-FFF2-40B4-BE49-F238E27FC236}">
                    <a16:creationId xmlns:a16="http://schemas.microsoft.com/office/drawing/2014/main" id="{3C3CC230-67DC-49E8-9B11-1A004706FBAA}"/>
                  </a:ext>
                </a:extLst>
              </p:cNvPr>
              <p:cNvSpPr>
                <a:spLocks noChangeArrowheads="1"/>
              </p:cNvSpPr>
              <p:nvPr/>
            </p:nvSpPr>
            <p:spPr bwMode="auto">
              <a:xfrm>
                <a:off x="1440" y="2736"/>
                <a:ext cx="96" cy="96"/>
              </a:xfrm>
              <a:prstGeom prst="ellipse">
                <a:avLst/>
              </a:prstGeom>
              <a:solidFill>
                <a:srgbClr val="99CC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6462" name="Oval 17">
                <a:extLst>
                  <a:ext uri="{FF2B5EF4-FFF2-40B4-BE49-F238E27FC236}">
                    <a16:creationId xmlns:a16="http://schemas.microsoft.com/office/drawing/2014/main" id="{615C384C-48B6-4D09-B20B-1AC648B64945}"/>
                  </a:ext>
                </a:extLst>
              </p:cNvPr>
              <p:cNvSpPr>
                <a:spLocks noChangeArrowheads="1"/>
              </p:cNvSpPr>
              <p:nvPr/>
            </p:nvSpPr>
            <p:spPr bwMode="auto">
              <a:xfrm>
                <a:off x="912" y="2736"/>
                <a:ext cx="96" cy="96"/>
              </a:xfrm>
              <a:prstGeom prst="ellipse">
                <a:avLst/>
              </a:prstGeom>
              <a:solidFill>
                <a:srgbClr val="99CC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grpSp>
        <p:grpSp>
          <p:nvGrpSpPr>
            <p:cNvPr id="16443" name="Group 18">
              <a:extLst>
                <a:ext uri="{FF2B5EF4-FFF2-40B4-BE49-F238E27FC236}">
                  <a16:creationId xmlns:a16="http://schemas.microsoft.com/office/drawing/2014/main" id="{AC0A27C9-E4FF-4338-BE4E-7B1A239A9F58}"/>
                </a:ext>
              </a:extLst>
            </p:cNvPr>
            <p:cNvGrpSpPr>
              <a:grpSpLocks/>
            </p:cNvGrpSpPr>
            <p:nvPr/>
          </p:nvGrpSpPr>
          <p:grpSpPr bwMode="auto">
            <a:xfrm>
              <a:off x="4272" y="1104"/>
              <a:ext cx="1008" cy="720"/>
              <a:chOff x="3456" y="2400"/>
              <a:chExt cx="1008" cy="720"/>
            </a:xfrm>
          </p:grpSpPr>
          <p:sp>
            <p:nvSpPr>
              <p:cNvPr id="16444" name="Line 19">
                <a:extLst>
                  <a:ext uri="{FF2B5EF4-FFF2-40B4-BE49-F238E27FC236}">
                    <a16:creationId xmlns:a16="http://schemas.microsoft.com/office/drawing/2014/main" id="{5887F8A0-9AE0-4710-9C95-F0DEEE48DEC6}"/>
                  </a:ext>
                </a:extLst>
              </p:cNvPr>
              <p:cNvSpPr>
                <a:spLocks noChangeShapeType="1"/>
              </p:cNvSpPr>
              <p:nvPr/>
            </p:nvSpPr>
            <p:spPr bwMode="auto">
              <a:xfrm>
                <a:off x="3456" y="2400"/>
                <a:ext cx="1008" cy="0"/>
              </a:xfrm>
              <a:prstGeom prst="line">
                <a:avLst/>
              </a:prstGeom>
              <a:noFill/>
              <a:ln w="19050">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445" name="Line 20">
                <a:extLst>
                  <a:ext uri="{FF2B5EF4-FFF2-40B4-BE49-F238E27FC236}">
                    <a16:creationId xmlns:a16="http://schemas.microsoft.com/office/drawing/2014/main" id="{B1CFC45B-D358-4E66-91D7-DFCBB6B04616}"/>
                  </a:ext>
                </a:extLst>
              </p:cNvPr>
              <p:cNvSpPr>
                <a:spLocks noChangeShapeType="1"/>
              </p:cNvSpPr>
              <p:nvPr/>
            </p:nvSpPr>
            <p:spPr bwMode="auto">
              <a:xfrm>
                <a:off x="3456" y="2544"/>
                <a:ext cx="1008" cy="0"/>
              </a:xfrm>
              <a:prstGeom prst="line">
                <a:avLst/>
              </a:prstGeom>
              <a:noFill/>
              <a:ln w="19050">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446" name="Line 21">
                <a:extLst>
                  <a:ext uri="{FF2B5EF4-FFF2-40B4-BE49-F238E27FC236}">
                    <a16:creationId xmlns:a16="http://schemas.microsoft.com/office/drawing/2014/main" id="{D238D712-E699-4FED-8EFD-D78EAF9865EA}"/>
                  </a:ext>
                </a:extLst>
              </p:cNvPr>
              <p:cNvSpPr>
                <a:spLocks noChangeShapeType="1"/>
              </p:cNvSpPr>
              <p:nvPr/>
            </p:nvSpPr>
            <p:spPr bwMode="auto">
              <a:xfrm>
                <a:off x="3456" y="2688"/>
                <a:ext cx="1008" cy="0"/>
              </a:xfrm>
              <a:prstGeom prst="line">
                <a:avLst/>
              </a:prstGeom>
              <a:noFill/>
              <a:ln w="19050">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447" name="Line 22">
                <a:extLst>
                  <a:ext uri="{FF2B5EF4-FFF2-40B4-BE49-F238E27FC236}">
                    <a16:creationId xmlns:a16="http://schemas.microsoft.com/office/drawing/2014/main" id="{F829C385-ACBD-4685-9D0D-BBE50C6240CD}"/>
                  </a:ext>
                </a:extLst>
              </p:cNvPr>
              <p:cNvSpPr>
                <a:spLocks noChangeShapeType="1"/>
              </p:cNvSpPr>
              <p:nvPr/>
            </p:nvSpPr>
            <p:spPr bwMode="auto">
              <a:xfrm>
                <a:off x="3456" y="2832"/>
                <a:ext cx="1008" cy="0"/>
              </a:xfrm>
              <a:prstGeom prst="line">
                <a:avLst/>
              </a:prstGeom>
              <a:noFill/>
              <a:ln w="19050">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448" name="Line 23">
                <a:extLst>
                  <a:ext uri="{FF2B5EF4-FFF2-40B4-BE49-F238E27FC236}">
                    <a16:creationId xmlns:a16="http://schemas.microsoft.com/office/drawing/2014/main" id="{46CCB5C2-56E9-41F1-B0F6-17BD15221116}"/>
                  </a:ext>
                </a:extLst>
              </p:cNvPr>
              <p:cNvSpPr>
                <a:spLocks noChangeShapeType="1"/>
              </p:cNvSpPr>
              <p:nvPr/>
            </p:nvSpPr>
            <p:spPr bwMode="auto">
              <a:xfrm>
                <a:off x="3456" y="2976"/>
                <a:ext cx="1008" cy="0"/>
              </a:xfrm>
              <a:prstGeom prst="line">
                <a:avLst/>
              </a:prstGeom>
              <a:noFill/>
              <a:ln w="19050">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449" name="Line 24">
                <a:extLst>
                  <a:ext uri="{FF2B5EF4-FFF2-40B4-BE49-F238E27FC236}">
                    <a16:creationId xmlns:a16="http://schemas.microsoft.com/office/drawing/2014/main" id="{7451C13A-1501-4E26-8B58-B4CBBA85D516}"/>
                  </a:ext>
                </a:extLst>
              </p:cNvPr>
              <p:cNvSpPr>
                <a:spLocks noChangeShapeType="1"/>
              </p:cNvSpPr>
              <p:nvPr/>
            </p:nvSpPr>
            <p:spPr bwMode="auto">
              <a:xfrm>
                <a:off x="3456" y="3120"/>
                <a:ext cx="1008" cy="0"/>
              </a:xfrm>
              <a:prstGeom prst="line">
                <a:avLst/>
              </a:prstGeom>
              <a:noFill/>
              <a:ln w="19050">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5" name="Group 25">
            <a:extLst>
              <a:ext uri="{FF2B5EF4-FFF2-40B4-BE49-F238E27FC236}">
                <a16:creationId xmlns:a16="http://schemas.microsoft.com/office/drawing/2014/main" id="{B6DC2B94-30BB-427A-932B-E4815CD282BE}"/>
              </a:ext>
            </a:extLst>
          </p:cNvPr>
          <p:cNvGrpSpPr>
            <a:grpSpLocks/>
          </p:cNvGrpSpPr>
          <p:nvPr/>
        </p:nvGrpSpPr>
        <p:grpSpPr bwMode="auto">
          <a:xfrm>
            <a:off x="3492500" y="2349500"/>
            <a:ext cx="1828800" cy="2057400"/>
            <a:chOff x="4320" y="1680"/>
            <a:chExt cx="1152" cy="1296"/>
          </a:xfrm>
        </p:grpSpPr>
        <p:grpSp>
          <p:nvGrpSpPr>
            <p:cNvPr id="16416" name="Group 26">
              <a:extLst>
                <a:ext uri="{FF2B5EF4-FFF2-40B4-BE49-F238E27FC236}">
                  <a16:creationId xmlns:a16="http://schemas.microsoft.com/office/drawing/2014/main" id="{8817A09B-E276-49B9-BC35-4FAF499E9FEA}"/>
                </a:ext>
              </a:extLst>
            </p:cNvPr>
            <p:cNvGrpSpPr>
              <a:grpSpLocks/>
            </p:cNvGrpSpPr>
            <p:nvPr/>
          </p:nvGrpSpPr>
          <p:grpSpPr bwMode="auto">
            <a:xfrm>
              <a:off x="4464" y="1680"/>
              <a:ext cx="1008" cy="720"/>
              <a:chOff x="3456" y="2400"/>
              <a:chExt cx="1008" cy="720"/>
            </a:xfrm>
          </p:grpSpPr>
          <p:sp>
            <p:nvSpPr>
              <p:cNvPr id="16436" name="Line 27">
                <a:extLst>
                  <a:ext uri="{FF2B5EF4-FFF2-40B4-BE49-F238E27FC236}">
                    <a16:creationId xmlns:a16="http://schemas.microsoft.com/office/drawing/2014/main" id="{377E5407-D32F-4D66-B5D9-40996CF6F756}"/>
                  </a:ext>
                </a:extLst>
              </p:cNvPr>
              <p:cNvSpPr>
                <a:spLocks noChangeShapeType="1"/>
              </p:cNvSpPr>
              <p:nvPr/>
            </p:nvSpPr>
            <p:spPr bwMode="auto">
              <a:xfrm>
                <a:off x="3456" y="2400"/>
                <a:ext cx="1008" cy="0"/>
              </a:xfrm>
              <a:prstGeom prst="line">
                <a:avLst/>
              </a:prstGeom>
              <a:noFill/>
              <a:ln w="19050">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437" name="Line 28">
                <a:extLst>
                  <a:ext uri="{FF2B5EF4-FFF2-40B4-BE49-F238E27FC236}">
                    <a16:creationId xmlns:a16="http://schemas.microsoft.com/office/drawing/2014/main" id="{8D5B5620-FA8E-406D-8296-87A265D54C32}"/>
                  </a:ext>
                </a:extLst>
              </p:cNvPr>
              <p:cNvSpPr>
                <a:spLocks noChangeShapeType="1"/>
              </p:cNvSpPr>
              <p:nvPr/>
            </p:nvSpPr>
            <p:spPr bwMode="auto">
              <a:xfrm>
                <a:off x="3456" y="2544"/>
                <a:ext cx="1008" cy="0"/>
              </a:xfrm>
              <a:prstGeom prst="line">
                <a:avLst/>
              </a:prstGeom>
              <a:noFill/>
              <a:ln w="19050">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438" name="Line 29">
                <a:extLst>
                  <a:ext uri="{FF2B5EF4-FFF2-40B4-BE49-F238E27FC236}">
                    <a16:creationId xmlns:a16="http://schemas.microsoft.com/office/drawing/2014/main" id="{FBE7771E-C976-48F8-AE44-8891DE454576}"/>
                  </a:ext>
                </a:extLst>
              </p:cNvPr>
              <p:cNvSpPr>
                <a:spLocks noChangeShapeType="1"/>
              </p:cNvSpPr>
              <p:nvPr/>
            </p:nvSpPr>
            <p:spPr bwMode="auto">
              <a:xfrm>
                <a:off x="3456" y="2688"/>
                <a:ext cx="1008" cy="0"/>
              </a:xfrm>
              <a:prstGeom prst="line">
                <a:avLst/>
              </a:prstGeom>
              <a:noFill/>
              <a:ln w="19050">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439" name="Line 30">
                <a:extLst>
                  <a:ext uri="{FF2B5EF4-FFF2-40B4-BE49-F238E27FC236}">
                    <a16:creationId xmlns:a16="http://schemas.microsoft.com/office/drawing/2014/main" id="{43C016B4-FF0E-4080-B0EE-39AF2FD91414}"/>
                  </a:ext>
                </a:extLst>
              </p:cNvPr>
              <p:cNvSpPr>
                <a:spLocks noChangeShapeType="1"/>
              </p:cNvSpPr>
              <p:nvPr/>
            </p:nvSpPr>
            <p:spPr bwMode="auto">
              <a:xfrm>
                <a:off x="3456" y="2832"/>
                <a:ext cx="1008" cy="0"/>
              </a:xfrm>
              <a:prstGeom prst="line">
                <a:avLst/>
              </a:prstGeom>
              <a:noFill/>
              <a:ln w="19050">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440" name="Line 31">
                <a:extLst>
                  <a:ext uri="{FF2B5EF4-FFF2-40B4-BE49-F238E27FC236}">
                    <a16:creationId xmlns:a16="http://schemas.microsoft.com/office/drawing/2014/main" id="{7CBA8AAA-74A5-47B7-999F-F206C928BA7A}"/>
                  </a:ext>
                </a:extLst>
              </p:cNvPr>
              <p:cNvSpPr>
                <a:spLocks noChangeShapeType="1"/>
              </p:cNvSpPr>
              <p:nvPr/>
            </p:nvSpPr>
            <p:spPr bwMode="auto">
              <a:xfrm>
                <a:off x="3456" y="2976"/>
                <a:ext cx="1008" cy="0"/>
              </a:xfrm>
              <a:prstGeom prst="line">
                <a:avLst/>
              </a:prstGeom>
              <a:noFill/>
              <a:ln w="19050">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441" name="Line 32">
                <a:extLst>
                  <a:ext uri="{FF2B5EF4-FFF2-40B4-BE49-F238E27FC236}">
                    <a16:creationId xmlns:a16="http://schemas.microsoft.com/office/drawing/2014/main" id="{2A4CD85F-9A19-4728-9278-E2BAF0C5A4C8}"/>
                  </a:ext>
                </a:extLst>
              </p:cNvPr>
              <p:cNvSpPr>
                <a:spLocks noChangeShapeType="1"/>
              </p:cNvSpPr>
              <p:nvPr/>
            </p:nvSpPr>
            <p:spPr bwMode="auto">
              <a:xfrm>
                <a:off x="3456" y="3120"/>
                <a:ext cx="1008" cy="0"/>
              </a:xfrm>
              <a:prstGeom prst="line">
                <a:avLst/>
              </a:prstGeom>
              <a:noFill/>
              <a:ln w="19050">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6417" name="Group 33">
              <a:extLst>
                <a:ext uri="{FF2B5EF4-FFF2-40B4-BE49-F238E27FC236}">
                  <a16:creationId xmlns:a16="http://schemas.microsoft.com/office/drawing/2014/main" id="{246A5A7B-30E9-4DAD-B279-48FCADAB13B8}"/>
                </a:ext>
              </a:extLst>
            </p:cNvPr>
            <p:cNvGrpSpPr>
              <a:grpSpLocks/>
            </p:cNvGrpSpPr>
            <p:nvPr/>
          </p:nvGrpSpPr>
          <p:grpSpPr bwMode="auto">
            <a:xfrm>
              <a:off x="4320" y="2160"/>
              <a:ext cx="1008" cy="816"/>
              <a:chOff x="3360" y="672"/>
              <a:chExt cx="1008" cy="816"/>
            </a:xfrm>
          </p:grpSpPr>
          <p:sp>
            <p:nvSpPr>
              <p:cNvPr id="16418" name="Line 34">
                <a:extLst>
                  <a:ext uri="{FF2B5EF4-FFF2-40B4-BE49-F238E27FC236}">
                    <a16:creationId xmlns:a16="http://schemas.microsoft.com/office/drawing/2014/main" id="{8EC76037-873D-49F3-85F4-DA959A7CA302}"/>
                  </a:ext>
                </a:extLst>
              </p:cNvPr>
              <p:cNvSpPr>
                <a:spLocks noChangeShapeType="1"/>
              </p:cNvSpPr>
              <p:nvPr/>
            </p:nvSpPr>
            <p:spPr bwMode="auto">
              <a:xfrm>
                <a:off x="3360" y="720"/>
                <a:ext cx="1008"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419" name="Oval 35">
                <a:extLst>
                  <a:ext uri="{FF2B5EF4-FFF2-40B4-BE49-F238E27FC236}">
                    <a16:creationId xmlns:a16="http://schemas.microsoft.com/office/drawing/2014/main" id="{20116C2E-9FDA-4879-8720-5B4E9704475B}"/>
                  </a:ext>
                </a:extLst>
              </p:cNvPr>
              <p:cNvSpPr>
                <a:spLocks noChangeArrowheads="1"/>
              </p:cNvSpPr>
              <p:nvPr/>
            </p:nvSpPr>
            <p:spPr bwMode="auto">
              <a:xfrm>
                <a:off x="4080" y="672"/>
                <a:ext cx="96" cy="96"/>
              </a:xfrm>
              <a:prstGeom prst="ellipse">
                <a:avLst/>
              </a:prstGeom>
              <a:solidFill>
                <a:srgbClr val="99CC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6420" name="Oval 36">
                <a:extLst>
                  <a:ext uri="{FF2B5EF4-FFF2-40B4-BE49-F238E27FC236}">
                    <a16:creationId xmlns:a16="http://schemas.microsoft.com/office/drawing/2014/main" id="{122A5730-95BB-48EE-8EA1-8A4FDD9CEC6F}"/>
                  </a:ext>
                </a:extLst>
              </p:cNvPr>
              <p:cNvSpPr>
                <a:spLocks noChangeArrowheads="1"/>
              </p:cNvSpPr>
              <p:nvPr/>
            </p:nvSpPr>
            <p:spPr bwMode="auto">
              <a:xfrm>
                <a:off x="3552" y="672"/>
                <a:ext cx="96" cy="96"/>
              </a:xfrm>
              <a:prstGeom prst="ellipse">
                <a:avLst/>
              </a:prstGeom>
              <a:solidFill>
                <a:srgbClr val="99CC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6421" name="Line 37">
                <a:extLst>
                  <a:ext uri="{FF2B5EF4-FFF2-40B4-BE49-F238E27FC236}">
                    <a16:creationId xmlns:a16="http://schemas.microsoft.com/office/drawing/2014/main" id="{D7B6E569-09EE-451E-83C0-63B95C058C3B}"/>
                  </a:ext>
                </a:extLst>
              </p:cNvPr>
              <p:cNvSpPr>
                <a:spLocks noChangeShapeType="1"/>
              </p:cNvSpPr>
              <p:nvPr/>
            </p:nvSpPr>
            <p:spPr bwMode="auto">
              <a:xfrm>
                <a:off x="3360" y="864"/>
                <a:ext cx="1008"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422" name="Oval 38">
                <a:extLst>
                  <a:ext uri="{FF2B5EF4-FFF2-40B4-BE49-F238E27FC236}">
                    <a16:creationId xmlns:a16="http://schemas.microsoft.com/office/drawing/2014/main" id="{400176E5-EADD-412D-B746-52C2D7702E6A}"/>
                  </a:ext>
                </a:extLst>
              </p:cNvPr>
              <p:cNvSpPr>
                <a:spLocks noChangeArrowheads="1"/>
              </p:cNvSpPr>
              <p:nvPr/>
            </p:nvSpPr>
            <p:spPr bwMode="auto">
              <a:xfrm>
                <a:off x="4080" y="816"/>
                <a:ext cx="96" cy="96"/>
              </a:xfrm>
              <a:prstGeom prst="ellipse">
                <a:avLst/>
              </a:prstGeom>
              <a:solidFill>
                <a:srgbClr val="99CC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6423" name="Oval 39">
                <a:extLst>
                  <a:ext uri="{FF2B5EF4-FFF2-40B4-BE49-F238E27FC236}">
                    <a16:creationId xmlns:a16="http://schemas.microsoft.com/office/drawing/2014/main" id="{BED7E972-7AFF-4591-A525-83ED9D8D5E4B}"/>
                  </a:ext>
                </a:extLst>
              </p:cNvPr>
              <p:cNvSpPr>
                <a:spLocks noChangeArrowheads="1"/>
              </p:cNvSpPr>
              <p:nvPr/>
            </p:nvSpPr>
            <p:spPr bwMode="auto">
              <a:xfrm>
                <a:off x="3552" y="816"/>
                <a:ext cx="96" cy="96"/>
              </a:xfrm>
              <a:prstGeom prst="ellipse">
                <a:avLst/>
              </a:prstGeom>
              <a:solidFill>
                <a:srgbClr val="99CC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6424" name="Line 40">
                <a:extLst>
                  <a:ext uri="{FF2B5EF4-FFF2-40B4-BE49-F238E27FC236}">
                    <a16:creationId xmlns:a16="http://schemas.microsoft.com/office/drawing/2014/main" id="{40553637-6F63-4680-8A9E-6C7A92987752}"/>
                  </a:ext>
                </a:extLst>
              </p:cNvPr>
              <p:cNvSpPr>
                <a:spLocks noChangeShapeType="1"/>
              </p:cNvSpPr>
              <p:nvPr/>
            </p:nvSpPr>
            <p:spPr bwMode="auto">
              <a:xfrm>
                <a:off x="3360" y="1008"/>
                <a:ext cx="1008"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425" name="Oval 41">
                <a:extLst>
                  <a:ext uri="{FF2B5EF4-FFF2-40B4-BE49-F238E27FC236}">
                    <a16:creationId xmlns:a16="http://schemas.microsoft.com/office/drawing/2014/main" id="{72026754-83A7-409D-A590-19DB74000A15}"/>
                  </a:ext>
                </a:extLst>
              </p:cNvPr>
              <p:cNvSpPr>
                <a:spLocks noChangeArrowheads="1"/>
              </p:cNvSpPr>
              <p:nvPr/>
            </p:nvSpPr>
            <p:spPr bwMode="auto">
              <a:xfrm>
                <a:off x="4080" y="960"/>
                <a:ext cx="96" cy="96"/>
              </a:xfrm>
              <a:prstGeom prst="ellipse">
                <a:avLst/>
              </a:prstGeom>
              <a:solidFill>
                <a:srgbClr val="99CC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6426" name="Oval 42">
                <a:extLst>
                  <a:ext uri="{FF2B5EF4-FFF2-40B4-BE49-F238E27FC236}">
                    <a16:creationId xmlns:a16="http://schemas.microsoft.com/office/drawing/2014/main" id="{4F760C62-45D1-4557-8602-17C1465E4559}"/>
                  </a:ext>
                </a:extLst>
              </p:cNvPr>
              <p:cNvSpPr>
                <a:spLocks noChangeArrowheads="1"/>
              </p:cNvSpPr>
              <p:nvPr/>
            </p:nvSpPr>
            <p:spPr bwMode="auto">
              <a:xfrm>
                <a:off x="3552" y="960"/>
                <a:ext cx="96" cy="96"/>
              </a:xfrm>
              <a:prstGeom prst="ellipse">
                <a:avLst/>
              </a:prstGeom>
              <a:solidFill>
                <a:srgbClr val="99CC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6427" name="Line 43">
                <a:extLst>
                  <a:ext uri="{FF2B5EF4-FFF2-40B4-BE49-F238E27FC236}">
                    <a16:creationId xmlns:a16="http://schemas.microsoft.com/office/drawing/2014/main" id="{1C5BB9EE-2BED-40A9-966A-977969C70545}"/>
                  </a:ext>
                </a:extLst>
              </p:cNvPr>
              <p:cNvSpPr>
                <a:spLocks noChangeShapeType="1"/>
              </p:cNvSpPr>
              <p:nvPr/>
            </p:nvSpPr>
            <p:spPr bwMode="auto">
              <a:xfrm>
                <a:off x="3360" y="1152"/>
                <a:ext cx="1008"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428" name="Oval 44">
                <a:extLst>
                  <a:ext uri="{FF2B5EF4-FFF2-40B4-BE49-F238E27FC236}">
                    <a16:creationId xmlns:a16="http://schemas.microsoft.com/office/drawing/2014/main" id="{8846A5D4-BCB7-4E8A-914C-40F7C43AE49E}"/>
                  </a:ext>
                </a:extLst>
              </p:cNvPr>
              <p:cNvSpPr>
                <a:spLocks noChangeArrowheads="1"/>
              </p:cNvSpPr>
              <p:nvPr/>
            </p:nvSpPr>
            <p:spPr bwMode="auto">
              <a:xfrm>
                <a:off x="4080" y="1104"/>
                <a:ext cx="96" cy="96"/>
              </a:xfrm>
              <a:prstGeom prst="ellipse">
                <a:avLst/>
              </a:prstGeom>
              <a:solidFill>
                <a:srgbClr val="99CC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6429" name="Oval 45">
                <a:extLst>
                  <a:ext uri="{FF2B5EF4-FFF2-40B4-BE49-F238E27FC236}">
                    <a16:creationId xmlns:a16="http://schemas.microsoft.com/office/drawing/2014/main" id="{84EBB1FB-5FF5-4755-ACA6-55D99793E0F2}"/>
                  </a:ext>
                </a:extLst>
              </p:cNvPr>
              <p:cNvSpPr>
                <a:spLocks noChangeArrowheads="1"/>
              </p:cNvSpPr>
              <p:nvPr/>
            </p:nvSpPr>
            <p:spPr bwMode="auto">
              <a:xfrm>
                <a:off x="3552" y="1104"/>
                <a:ext cx="96" cy="96"/>
              </a:xfrm>
              <a:prstGeom prst="ellipse">
                <a:avLst/>
              </a:prstGeom>
              <a:solidFill>
                <a:srgbClr val="99CC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6430" name="Line 46">
                <a:extLst>
                  <a:ext uri="{FF2B5EF4-FFF2-40B4-BE49-F238E27FC236}">
                    <a16:creationId xmlns:a16="http://schemas.microsoft.com/office/drawing/2014/main" id="{72608C70-53DB-4802-AB77-2356CAD53457}"/>
                  </a:ext>
                </a:extLst>
              </p:cNvPr>
              <p:cNvSpPr>
                <a:spLocks noChangeShapeType="1"/>
              </p:cNvSpPr>
              <p:nvPr/>
            </p:nvSpPr>
            <p:spPr bwMode="auto">
              <a:xfrm>
                <a:off x="3360" y="1296"/>
                <a:ext cx="1008"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431" name="Oval 47">
                <a:extLst>
                  <a:ext uri="{FF2B5EF4-FFF2-40B4-BE49-F238E27FC236}">
                    <a16:creationId xmlns:a16="http://schemas.microsoft.com/office/drawing/2014/main" id="{699EC411-1C01-4788-86BD-9D3FD630C7E3}"/>
                  </a:ext>
                </a:extLst>
              </p:cNvPr>
              <p:cNvSpPr>
                <a:spLocks noChangeArrowheads="1"/>
              </p:cNvSpPr>
              <p:nvPr/>
            </p:nvSpPr>
            <p:spPr bwMode="auto">
              <a:xfrm>
                <a:off x="4080" y="1248"/>
                <a:ext cx="96" cy="96"/>
              </a:xfrm>
              <a:prstGeom prst="ellipse">
                <a:avLst/>
              </a:prstGeom>
              <a:solidFill>
                <a:srgbClr val="99CC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6432" name="Oval 48">
                <a:extLst>
                  <a:ext uri="{FF2B5EF4-FFF2-40B4-BE49-F238E27FC236}">
                    <a16:creationId xmlns:a16="http://schemas.microsoft.com/office/drawing/2014/main" id="{088AC9D0-59F3-4CBC-8E19-1E183C63ABBB}"/>
                  </a:ext>
                </a:extLst>
              </p:cNvPr>
              <p:cNvSpPr>
                <a:spLocks noChangeArrowheads="1"/>
              </p:cNvSpPr>
              <p:nvPr/>
            </p:nvSpPr>
            <p:spPr bwMode="auto">
              <a:xfrm>
                <a:off x="3552" y="1248"/>
                <a:ext cx="96" cy="96"/>
              </a:xfrm>
              <a:prstGeom prst="ellipse">
                <a:avLst/>
              </a:prstGeom>
              <a:solidFill>
                <a:srgbClr val="99CC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6433" name="Line 49">
                <a:extLst>
                  <a:ext uri="{FF2B5EF4-FFF2-40B4-BE49-F238E27FC236}">
                    <a16:creationId xmlns:a16="http://schemas.microsoft.com/office/drawing/2014/main" id="{D496FFE7-CA8B-42FD-B2DD-E0EFB188C650}"/>
                  </a:ext>
                </a:extLst>
              </p:cNvPr>
              <p:cNvSpPr>
                <a:spLocks noChangeShapeType="1"/>
              </p:cNvSpPr>
              <p:nvPr/>
            </p:nvSpPr>
            <p:spPr bwMode="auto">
              <a:xfrm>
                <a:off x="3360" y="1440"/>
                <a:ext cx="1008"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434" name="Oval 50">
                <a:extLst>
                  <a:ext uri="{FF2B5EF4-FFF2-40B4-BE49-F238E27FC236}">
                    <a16:creationId xmlns:a16="http://schemas.microsoft.com/office/drawing/2014/main" id="{05DB685D-86D0-4465-B3B2-BD9204F2D921}"/>
                  </a:ext>
                </a:extLst>
              </p:cNvPr>
              <p:cNvSpPr>
                <a:spLocks noChangeArrowheads="1"/>
              </p:cNvSpPr>
              <p:nvPr/>
            </p:nvSpPr>
            <p:spPr bwMode="auto">
              <a:xfrm>
                <a:off x="4080" y="1392"/>
                <a:ext cx="96" cy="96"/>
              </a:xfrm>
              <a:prstGeom prst="ellipse">
                <a:avLst/>
              </a:prstGeom>
              <a:solidFill>
                <a:srgbClr val="99CC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6435" name="Oval 51">
                <a:extLst>
                  <a:ext uri="{FF2B5EF4-FFF2-40B4-BE49-F238E27FC236}">
                    <a16:creationId xmlns:a16="http://schemas.microsoft.com/office/drawing/2014/main" id="{B1A76D4B-35FE-49A5-8680-F3A9811C341F}"/>
                  </a:ext>
                </a:extLst>
              </p:cNvPr>
              <p:cNvSpPr>
                <a:spLocks noChangeArrowheads="1"/>
              </p:cNvSpPr>
              <p:nvPr/>
            </p:nvSpPr>
            <p:spPr bwMode="auto">
              <a:xfrm>
                <a:off x="3552" y="1392"/>
                <a:ext cx="96" cy="96"/>
              </a:xfrm>
              <a:prstGeom prst="ellipse">
                <a:avLst/>
              </a:prstGeom>
              <a:solidFill>
                <a:srgbClr val="99CC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grpSp>
      </p:grpSp>
      <p:sp>
        <p:nvSpPr>
          <p:cNvPr id="220212" name="Text Box 52">
            <a:extLst>
              <a:ext uri="{FF2B5EF4-FFF2-40B4-BE49-F238E27FC236}">
                <a16:creationId xmlns:a16="http://schemas.microsoft.com/office/drawing/2014/main" id="{A0B86064-C36E-42F7-83CE-3872D92A679C}"/>
              </a:ext>
            </a:extLst>
          </p:cNvPr>
          <p:cNvSpPr txBox="1">
            <a:spLocks noChangeArrowheads="1"/>
          </p:cNvSpPr>
          <p:nvPr/>
        </p:nvSpPr>
        <p:spPr bwMode="auto">
          <a:xfrm>
            <a:off x="4089400" y="4724400"/>
            <a:ext cx="4397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a:solidFill>
                  <a:srgbClr val="FF9900"/>
                </a:solidFill>
                <a:latin typeface="楷体_GB2312" pitchFamily="49" charset="-122"/>
                <a:ea typeface="楷体_GB2312" pitchFamily="49" charset="-122"/>
              </a:rPr>
              <a:t>镁</a:t>
            </a:r>
          </a:p>
        </p:txBody>
      </p:sp>
      <p:sp>
        <p:nvSpPr>
          <p:cNvPr id="220213" name="Text Box 53">
            <a:extLst>
              <a:ext uri="{FF2B5EF4-FFF2-40B4-BE49-F238E27FC236}">
                <a16:creationId xmlns:a16="http://schemas.microsoft.com/office/drawing/2014/main" id="{BA14066C-64F6-4122-99A5-5EB79A8956AA}"/>
              </a:ext>
            </a:extLst>
          </p:cNvPr>
          <p:cNvSpPr txBox="1">
            <a:spLocks noChangeArrowheads="1"/>
          </p:cNvSpPr>
          <p:nvPr/>
        </p:nvSpPr>
        <p:spPr bwMode="auto">
          <a:xfrm>
            <a:off x="6643688" y="4724400"/>
            <a:ext cx="15922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a:solidFill>
                  <a:srgbClr val="FF9900"/>
                </a:solidFill>
                <a:latin typeface="楷体_GB2312" pitchFamily="49" charset="-122"/>
                <a:ea typeface="楷体_GB2312" pitchFamily="49" charset="-122"/>
              </a:rPr>
              <a:t>铜 、铝  银</a:t>
            </a:r>
          </a:p>
        </p:txBody>
      </p:sp>
      <p:grpSp>
        <p:nvGrpSpPr>
          <p:cNvPr id="8" name="Group 54">
            <a:extLst>
              <a:ext uri="{FF2B5EF4-FFF2-40B4-BE49-F238E27FC236}">
                <a16:creationId xmlns:a16="http://schemas.microsoft.com/office/drawing/2014/main" id="{EBB3FD2B-6752-43F1-B8F8-860D7B43B1DF}"/>
              </a:ext>
            </a:extLst>
          </p:cNvPr>
          <p:cNvGrpSpPr>
            <a:grpSpLocks/>
          </p:cNvGrpSpPr>
          <p:nvPr/>
        </p:nvGrpSpPr>
        <p:grpSpPr bwMode="auto">
          <a:xfrm>
            <a:off x="6372225" y="2351088"/>
            <a:ext cx="1828800" cy="2057400"/>
            <a:chOff x="4320" y="1680"/>
            <a:chExt cx="1152" cy="1296"/>
          </a:xfrm>
        </p:grpSpPr>
        <p:grpSp>
          <p:nvGrpSpPr>
            <p:cNvPr id="16395" name="Group 55">
              <a:extLst>
                <a:ext uri="{FF2B5EF4-FFF2-40B4-BE49-F238E27FC236}">
                  <a16:creationId xmlns:a16="http://schemas.microsoft.com/office/drawing/2014/main" id="{F52FA01C-FE38-47CF-914A-60835BA260BF}"/>
                </a:ext>
              </a:extLst>
            </p:cNvPr>
            <p:cNvGrpSpPr>
              <a:grpSpLocks/>
            </p:cNvGrpSpPr>
            <p:nvPr/>
          </p:nvGrpSpPr>
          <p:grpSpPr bwMode="auto">
            <a:xfrm>
              <a:off x="4464" y="1680"/>
              <a:ext cx="1008" cy="720"/>
              <a:chOff x="3456" y="2400"/>
              <a:chExt cx="1008" cy="720"/>
            </a:xfrm>
          </p:grpSpPr>
          <p:sp>
            <p:nvSpPr>
              <p:cNvPr id="16410" name="Line 56">
                <a:extLst>
                  <a:ext uri="{FF2B5EF4-FFF2-40B4-BE49-F238E27FC236}">
                    <a16:creationId xmlns:a16="http://schemas.microsoft.com/office/drawing/2014/main" id="{C2F15B42-9F14-4396-B8EE-B10EA448B303}"/>
                  </a:ext>
                </a:extLst>
              </p:cNvPr>
              <p:cNvSpPr>
                <a:spLocks noChangeShapeType="1"/>
              </p:cNvSpPr>
              <p:nvPr/>
            </p:nvSpPr>
            <p:spPr bwMode="auto">
              <a:xfrm>
                <a:off x="3456" y="2400"/>
                <a:ext cx="1008" cy="0"/>
              </a:xfrm>
              <a:prstGeom prst="line">
                <a:avLst/>
              </a:prstGeom>
              <a:noFill/>
              <a:ln w="19050">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411" name="Line 57">
                <a:extLst>
                  <a:ext uri="{FF2B5EF4-FFF2-40B4-BE49-F238E27FC236}">
                    <a16:creationId xmlns:a16="http://schemas.microsoft.com/office/drawing/2014/main" id="{247D51CC-7DCC-43A5-8042-EA8C610893DF}"/>
                  </a:ext>
                </a:extLst>
              </p:cNvPr>
              <p:cNvSpPr>
                <a:spLocks noChangeShapeType="1"/>
              </p:cNvSpPr>
              <p:nvPr/>
            </p:nvSpPr>
            <p:spPr bwMode="auto">
              <a:xfrm>
                <a:off x="3456" y="2544"/>
                <a:ext cx="1008" cy="0"/>
              </a:xfrm>
              <a:prstGeom prst="line">
                <a:avLst/>
              </a:prstGeom>
              <a:noFill/>
              <a:ln w="19050">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412" name="Line 58">
                <a:extLst>
                  <a:ext uri="{FF2B5EF4-FFF2-40B4-BE49-F238E27FC236}">
                    <a16:creationId xmlns:a16="http://schemas.microsoft.com/office/drawing/2014/main" id="{0086B848-F10A-4D4B-A9AB-5E57CFA47305}"/>
                  </a:ext>
                </a:extLst>
              </p:cNvPr>
              <p:cNvSpPr>
                <a:spLocks noChangeShapeType="1"/>
              </p:cNvSpPr>
              <p:nvPr/>
            </p:nvSpPr>
            <p:spPr bwMode="auto">
              <a:xfrm>
                <a:off x="3456" y="2688"/>
                <a:ext cx="1008" cy="0"/>
              </a:xfrm>
              <a:prstGeom prst="line">
                <a:avLst/>
              </a:prstGeom>
              <a:noFill/>
              <a:ln w="19050">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413" name="Line 59">
                <a:extLst>
                  <a:ext uri="{FF2B5EF4-FFF2-40B4-BE49-F238E27FC236}">
                    <a16:creationId xmlns:a16="http://schemas.microsoft.com/office/drawing/2014/main" id="{48084832-0EEF-41EF-A542-2F76A4BF5CF6}"/>
                  </a:ext>
                </a:extLst>
              </p:cNvPr>
              <p:cNvSpPr>
                <a:spLocks noChangeShapeType="1"/>
              </p:cNvSpPr>
              <p:nvPr/>
            </p:nvSpPr>
            <p:spPr bwMode="auto">
              <a:xfrm>
                <a:off x="3456" y="2832"/>
                <a:ext cx="1008" cy="0"/>
              </a:xfrm>
              <a:prstGeom prst="line">
                <a:avLst/>
              </a:prstGeom>
              <a:noFill/>
              <a:ln w="19050">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414" name="Line 60">
                <a:extLst>
                  <a:ext uri="{FF2B5EF4-FFF2-40B4-BE49-F238E27FC236}">
                    <a16:creationId xmlns:a16="http://schemas.microsoft.com/office/drawing/2014/main" id="{21BB0D49-50F6-42C2-AC0F-3379D1D0D37F}"/>
                  </a:ext>
                </a:extLst>
              </p:cNvPr>
              <p:cNvSpPr>
                <a:spLocks noChangeShapeType="1"/>
              </p:cNvSpPr>
              <p:nvPr/>
            </p:nvSpPr>
            <p:spPr bwMode="auto">
              <a:xfrm>
                <a:off x="3456" y="2976"/>
                <a:ext cx="1008" cy="0"/>
              </a:xfrm>
              <a:prstGeom prst="line">
                <a:avLst/>
              </a:prstGeom>
              <a:noFill/>
              <a:ln w="19050">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415" name="Line 61">
                <a:extLst>
                  <a:ext uri="{FF2B5EF4-FFF2-40B4-BE49-F238E27FC236}">
                    <a16:creationId xmlns:a16="http://schemas.microsoft.com/office/drawing/2014/main" id="{D6B10A8C-01FB-4CAB-B692-1DD3C883D907}"/>
                  </a:ext>
                </a:extLst>
              </p:cNvPr>
              <p:cNvSpPr>
                <a:spLocks noChangeShapeType="1"/>
              </p:cNvSpPr>
              <p:nvPr/>
            </p:nvSpPr>
            <p:spPr bwMode="auto">
              <a:xfrm>
                <a:off x="3456" y="3120"/>
                <a:ext cx="1008" cy="0"/>
              </a:xfrm>
              <a:prstGeom prst="line">
                <a:avLst/>
              </a:prstGeom>
              <a:noFill/>
              <a:ln w="19050">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6396" name="Group 62">
              <a:extLst>
                <a:ext uri="{FF2B5EF4-FFF2-40B4-BE49-F238E27FC236}">
                  <a16:creationId xmlns:a16="http://schemas.microsoft.com/office/drawing/2014/main" id="{4D8D38E7-7502-4EA2-836E-CE3FC635C47F}"/>
                </a:ext>
              </a:extLst>
            </p:cNvPr>
            <p:cNvGrpSpPr>
              <a:grpSpLocks/>
            </p:cNvGrpSpPr>
            <p:nvPr/>
          </p:nvGrpSpPr>
          <p:grpSpPr bwMode="auto">
            <a:xfrm>
              <a:off x="4320" y="2208"/>
              <a:ext cx="1008" cy="768"/>
              <a:chOff x="720" y="2064"/>
              <a:chExt cx="1008" cy="768"/>
            </a:xfrm>
          </p:grpSpPr>
          <p:sp>
            <p:nvSpPr>
              <p:cNvPr id="16397" name="Line 63">
                <a:extLst>
                  <a:ext uri="{FF2B5EF4-FFF2-40B4-BE49-F238E27FC236}">
                    <a16:creationId xmlns:a16="http://schemas.microsoft.com/office/drawing/2014/main" id="{42362FCD-199C-46A2-84D0-A4E759D13015}"/>
                  </a:ext>
                </a:extLst>
              </p:cNvPr>
              <p:cNvSpPr>
                <a:spLocks noChangeShapeType="1"/>
              </p:cNvSpPr>
              <p:nvPr/>
            </p:nvSpPr>
            <p:spPr bwMode="auto">
              <a:xfrm>
                <a:off x="720" y="2064"/>
                <a:ext cx="1008"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398" name="Line 64">
                <a:extLst>
                  <a:ext uri="{FF2B5EF4-FFF2-40B4-BE49-F238E27FC236}">
                    <a16:creationId xmlns:a16="http://schemas.microsoft.com/office/drawing/2014/main" id="{702E2B67-FF43-4F68-B336-4EE3E3788D5E}"/>
                  </a:ext>
                </a:extLst>
              </p:cNvPr>
              <p:cNvSpPr>
                <a:spLocks noChangeShapeType="1"/>
              </p:cNvSpPr>
              <p:nvPr/>
            </p:nvSpPr>
            <p:spPr bwMode="auto">
              <a:xfrm>
                <a:off x="720" y="2208"/>
                <a:ext cx="1008"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399" name="Line 65">
                <a:extLst>
                  <a:ext uri="{FF2B5EF4-FFF2-40B4-BE49-F238E27FC236}">
                    <a16:creationId xmlns:a16="http://schemas.microsoft.com/office/drawing/2014/main" id="{1DF96A29-A41A-4A92-92D5-553C539270ED}"/>
                  </a:ext>
                </a:extLst>
              </p:cNvPr>
              <p:cNvSpPr>
                <a:spLocks noChangeShapeType="1"/>
              </p:cNvSpPr>
              <p:nvPr/>
            </p:nvSpPr>
            <p:spPr bwMode="auto">
              <a:xfrm>
                <a:off x="720" y="2352"/>
                <a:ext cx="1008"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400" name="Oval 66">
                <a:extLst>
                  <a:ext uri="{FF2B5EF4-FFF2-40B4-BE49-F238E27FC236}">
                    <a16:creationId xmlns:a16="http://schemas.microsoft.com/office/drawing/2014/main" id="{9D95FB4C-FC8C-42D7-AB19-BCEB8DE97FAC}"/>
                  </a:ext>
                </a:extLst>
              </p:cNvPr>
              <p:cNvSpPr>
                <a:spLocks noChangeArrowheads="1"/>
              </p:cNvSpPr>
              <p:nvPr/>
            </p:nvSpPr>
            <p:spPr bwMode="auto">
              <a:xfrm>
                <a:off x="912" y="2304"/>
                <a:ext cx="96" cy="96"/>
              </a:xfrm>
              <a:prstGeom prst="ellipse">
                <a:avLst/>
              </a:prstGeom>
              <a:solidFill>
                <a:srgbClr val="99CC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6401" name="Line 67">
                <a:extLst>
                  <a:ext uri="{FF2B5EF4-FFF2-40B4-BE49-F238E27FC236}">
                    <a16:creationId xmlns:a16="http://schemas.microsoft.com/office/drawing/2014/main" id="{D99E3E97-5636-42AF-974C-ACB99AB361CD}"/>
                  </a:ext>
                </a:extLst>
              </p:cNvPr>
              <p:cNvSpPr>
                <a:spLocks noChangeShapeType="1"/>
              </p:cNvSpPr>
              <p:nvPr/>
            </p:nvSpPr>
            <p:spPr bwMode="auto">
              <a:xfrm>
                <a:off x="720" y="2496"/>
                <a:ext cx="1008"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402" name="Oval 68">
                <a:extLst>
                  <a:ext uri="{FF2B5EF4-FFF2-40B4-BE49-F238E27FC236}">
                    <a16:creationId xmlns:a16="http://schemas.microsoft.com/office/drawing/2014/main" id="{C2141D83-9C41-4047-9B14-D8D8568B2656}"/>
                  </a:ext>
                </a:extLst>
              </p:cNvPr>
              <p:cNvSpPr>
                <a:spLocks noChangeArrowheads="1"/>
              </p:cNvSpPr>
              <p:nvPr/>
            </p:nvSpPr>
            <p:spPr bwMode="auto">
              <a:xfrm>
                <a:off x="1440" y="2448"/>
                <a:ext cx="96" cy="96"/>
              </a:xfrm>
              <a:prstGeom prst="ellipse">
                <a:avLst/>
              </a:prstGeom>
              <a:solidFill>
                <a:srgbClr val="99CC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6403" name="Oval 69">
                <a:extLst>
                  <a:ext uri="{FF2B5EF4-FFF2-40B4-BE49-F238E27FC236}">
                    <a16:creationId xmlns:a16="http://schemas.microsoft.com/office/drawing/2014/main" id="{0DEB6DDB-479D-494E-878A-173EFCD839BF}"/>
                  </a:ext>
                </a:extLst>
              </p:cNvPr>
              <p:cNvSpPr>
                <a:spLocks noChangeArrowheads="1"/>
              </p:cNvSpPr>
              <p:nvPr/>
            </p:nvSpPr>
            <p:spPr bwMode="auto">
              <a:xfrm>
                <a:off x="912" y="2448"/>
                <a:ext cx="96" cy="96"/>
              </a:xfrm>
              <a:prstGeom prst="ellipse">
                <a:avLst/>
              </a:prstGeom>
              <a:solidFill>
                <a:srgbClr val="99CC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6404" name="Line 70">
                <a:extLst>
                  <a:ext uri="{FF2B5EF4-FFF2-40B4-BE49-F238E27FC236}">
                    <a16:creationId xmlns:a16="http://schemas.microsoft.com/office/drawing/2014/main" id="{0AFF65C6-B8AD-4813-A209-C48A66E445FD}"/>
                  </a:ext>
                </a:extLst>
              </p:cNvPr>
              <p:cNvSpPr>
                <a:spLocks noChangeShapeType="1"/>
              </p:cNvSpPr>
              <p:nvPr/>
            </p:nvSpPr>
            <p:spPr bwMode="auto">
              <a:xfrm>
                <a:off x="720" y="2640"/>
                <a:ext cx="1008"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405" name="Oval 71">
                <a:extLst>
                  <a:ext uri="{FF2B5EF4-FFF2-40B4-BE49-F238E27FC236}">
                    <a16:creationId xmlns:a16="http://schemas.microsoft.com/office/drawing/2014/main" id="{AEC0D396-FA6A-4E7F-81B2-1DAA0810F5BF}"/>
                  </a:ext>
                </a:extLst>
              </p:cNvPr>
              <p:cNvSpPr>
                <a:spLocks noChangeArrowheads="1"/>
              </p:cNvSpPr>
              <p:nvPr/>
            </p:nvSpPr>
            <p:spPr bwMode="auto">
              <a:xfrm>
                <a:off x="1440" y="2592"/>
                <a:ext cx="96" cy="96"/>
              </a:xfrm>
              <a:prstGeom prst="ellipse">
                <a:avLst/>
              </a:prstGeom>
              <a:solidFill>
                <a:srgbClr val="99CC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6406" name="Oval 72">
                <a:extLst>
                  <a:ext uri="{FF2B5EF4-FFF2-40B4-BE49-F238E27FC236}">
                    <a16:creationId xmlns:a16="http://schemas.microsoft.com/office/drawing/2014/main" id="{48F54C32-BDD2-4FFC-945E-88284A103BAC}"/>
                  </a:ext>
                </a:extLst>
              </p:cNvPr>
              <p:cNvSpPr>
                <a:spLocks noChangeArrowheads="1"/>
              </p:cNvSpPr>
              <p:nvPr/>
            </p:nvSpPr>
            <p:spPr bwMode="auto">
              <a:xfrm>
                <a:off x="912" y="2592"/>
                <a:ext cx="96" cy="96"/>
              </a:xfrm>
              <a:prstGeom prst="ellipse">
                <a:avLst/>
              </a:prstGeom>
              <a:solidFill>
                <a:srgbClr val="99CC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6407" name="Line 73">
                <a:extLst>
                  <a:ext uri="{FF2B5EF4-FFF2-40B4-BE49-F238E27FC236}">
                    <a16:creationId xmlns:a16="http://schemas.microsoft.com/office/drawing/2014/main" id="{7FBFC511-7109-4D93-8313-4E554B507856}"/>
                  </a:ext>
                </a:extLst>
              </p:cNvPr>
              <p:cNvSpPr>
                <a:spLocks noChangeShapeType="1"/>
              </p:cNvSpPr>
              <p:nvPr/>
            </p:nvSpPr>
            <p:spPr bwMode="auto">
              <a:xfrm>
                <a:off x="720" y="2784"/>
                <a:ext cx="1008"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408" name="Oval 74">
                <a:extLst>
                  <a:ext uri="{FF2B5EF4-FFF2-40B4-BE49-F238E27FC236}">
                    <a16:creationId xmlns:a16="http://schemas.microsoft.com/office/drawing/2014/main" id="{6631014C-C2BF-445B-B93D-670D66691A29}"/>
                  </a:ext>
                </a:extLst>
              </p:cNvPr>
              <p:cNvSpPr>
                <a:spLocks noChangeArrowheads="1"/>
              </p:cNvSpPr>
              <p:nvPr/>
            </p:nvSpPr>
            <p:spPr bwMode="auto">
              <a:xfrm>
                <a:off x="1440" y="2736"/>
                <a:ext cx="96" cy="96"/>
              </a:xfrm>
              <a:prstGeom prst="ellipse">
                <a:avLst/>
              </a:prstGeom>
              <a:solidFill>
                <a:srgbClr val="99CC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6409" name="Oval 75">
                <a:extLst>
                  <a:ext uri="{FF2B5EF4-FFF2-40B4-BE49-F238E27FC236}">
                    <a16:creationId xmlns:a16="http://schemas.microsoft.com/office/drawing/2014/main" id="{BA7C7893-CEDF-4D9F-A952-B9535A20A2DA}"/>
                  </a:ext>
                </a:extLst>
              </p:cNvPr>
              <p:cNvSpPr>
                <a:spLocks noChangeArrowheads="1"/>
              </p:cNvSpPr>
              <p:nvPr/>
            </p:nvSpPr>
            <p:spPr bwMode="auto">
              <a:xfrm>
                <a:off x="912" y="2736"/>
                <a:ext cx="96" cy="96"/>
              </a:xfrm>
              <a:prstGeom prst="ellipse">
                <a:avLst/>
              </a:prstGeom>
              <a:solidFill>
                <a:srgbClr val="99CC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grpSp>
      </p:grpSp>
      <p:sp>
        <p:nvSpPr>
          <p:cNvPr id="220236" name="Rectangle 76">
            <a:extLst>
              <a:ext uri="{FF2B5EF4-FFF2-40B4-BE49-F238E27FC236}">
                <a16:creationId xmlns:a16="http://schemas.microsoft.com/office/drawing/2014/main" id="{D08BF905-2EE0-4B80-838D-7DEA9106A314}"/>
              </a:ext>
            </a:extLst>
          </p:cNvPr>
          <p:cNvSpPr>
            <a:spLocks noChangeArrowheads="1"/>
          </p:cNvSpPr>
          <p:nvPr/>
        </p:nvSpPr>
        <p:spPr bwMode="auto">
          <a:xfrm>
            <a:off x="684213" y="595313"/>
            <a:ext cx="48958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chemeClr val="bg1"/>
                </a:solidFill>
                <a:latin typeface="宋体" panose="02010600030101010101" pitchFamily="2" charset="-122"/>
                <a:ea typeface="仿宋_GB2312" pitchFamily="49" charset="-122"/>
              </a:rPr>
              <a:t>3. </a:t>
            </a:r>
            <a:r>
              <a:rPr lang="zh-CN" altLang="en-US">
                <a:solidFill>
                  <a:schemeClr val="bg1"/>
                </a:solidFill>
                <a:latin typeface="宋体" panose="02010600030101010101" pitchFamily="2" charset="-122"/>
                <a:ea typeface="仿宋_GB2312" pitchFamily="49" charset="-122"/>
              </a:rPr>
              <a:t>导体的能带结构</a:t>
            </a:r>
            <a:r>
              <a:rPr lang="zh-CN" altLang="en-US">
                <a:solidFill>
                  <a:srgbClr val="FFCC00"/>
                </a:solidFill>
                <a:latin typeface="宋体" panose="02010600030101010101" pitchFamily="2" charset="-122"/>
                <a:ea typeface="仿宋_GB2312" pitchFamily="49" charset="-122"/>
              </a:rPr>
              <a:t>（三种情况）</a:t>
            </a:r>
          </a:p>
        </p:txBody>
      </p:sp>
      <p:sp>
        <p:nvSpPr>
          <p:cNvPr id="16393" name="灯片编号占位符 1">
            <a:extLst>
              <a:ext uri="{FF2B5EF4-FFF2-40B4-BE49-F238E27FC236}">
                <a16:creationId xmlns:a16="http://schemas.microsoft.com/office/drawing/2014/main" id="{D85B740F-7A1B-4D4D-A741-A448376BCDCB}"/>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9FE5DD76-6F8F-495A-98DE-17BFA199BF6C}" type="slidenum">
              <a:rPr lang="en-US" altLang="zh-CN" b="0">
                <a:solidFill>
                  <a:srgbClr val="FF00FF"/>
                </a:solidFill>
              </a:rPr>
              <a:pPr eaLnBrk="1" hangingPunct="1"/>
              <a:t>9</a:t>
            </a:fld>
            <a:r>
              <a:rPr lang="en-US" altLang="zh-CN" b="0">
                <a:solidFill>
                  <a:srgbClr val="FF00FF"/>
                </a:solidFill>
              </a:rPr>
              <a:t>/40</a:t>
            </a:r>
          </a:p>
        </p:txBody>
      </p:sp>
      <p:sp>
        <p:nvSpPr>
          <p:cNvPr id="78" name="Rectangle 74">
            <a:extLst>
              <a:ext uri="{FF2B5EF4-FFF2-40B4-BE49-F238E27FC236}">
                <a16:creationId xmlns:a16="http://schemas.microsoft.com/office/drawing/2014/main" id="{6C268AEE-CFDE-4BE2-9877-D30A1F519366}"/>
              </a:ext>
            </a:extLst>
          </p:cNvPr>
          <p:cNvSpPr>
            <a:spLocks noChangeArrowheads="1"/>
          </p:cNvSpPr>
          <p:nvPr/>
        </p:nvSpPr>
        <p:spPr bwMode="auto">
          <a:xfrm>
            <a:off x="642938" y="5610225"/>
            <a:ext cx="82867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buSzPct val="85000"/>
              <a:buFont typeface="Wingdings" panose="05000000000000000000" pitchFamily="2" charset="2"/>
              <a:buNone/>
            </a:pPr>
            <a:r>
              <a:rPr lang="zh-CN" altLang="en-US">
                <a:solidFill>
                  <a:schemeClr val="bg1"/>
                </a:solidFill>
                <a:latin typeface="宋体" panose="02010600030101010101" pitchFamily="2" charset="-122"/>
                <a:ea typeface="仿宋_GB2312" pitchFamily="49" charset="-122"/>
              </a:rPr>
              <a:t>导体：价带是半满的，或者是满带（满带与空带互相重叠）</a:t>
            </a:r>
            <a:endParaRPr lang="zh-CN" altLang="en-US" sz="1800">
              <a:solidFill>
                <a:schemeClr val="bg1"/>
              </a:solidFill>
              <a:latin typeface="宋体" panose="02010600030101010101" pitchFamily="2" charset="-122"/>
              <a:ea typeface="仿宋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220236"/>
                                        </p:tgtEl>
                                        <p:attrNameLst>
                                          <p:attrName>style.visibility</p:attrName>
                                        </p:attrNameLst>
                                      </p:cBhvr>
                                      <p:to>
                                        <p:strVal val="visible"/>
                                      </p:to>
                                    </p:set>
                                    <p:animEffect transition="in" filter="dissolve">
                                      <p:cBhvr>
                                        <p:cTn id="7" dur="500"/>
                                        <p:tgtEl>
                                          <p:spTgt spid="22023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dissolve">
                                      <p:cBhvr>
                                        <p:cTn id="12" dur="500"/>
                                        <p:tgtEl>
                                          <p:spTgt spid="2"/>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220162"/>
                                        </p:tgtEl>
                                        <p:attrNameLst>
                                          <p:attrName>style.visibility</p:attrName>
                                        </p:attrNameLst>
                                      </p:cBhvr>
                                      <p:to>
                                        <p:strVal val="visible"/>
                                      </p:to>
                                    </p:set>
                                    <p:animEffect transition="in" filter="dissolve">
                                      <p:cBhvr>
                                        <p:cTn id="15" dur="500"/>
                                        <p:tgtEl>
                                          <p:spTgt spid="220162"/>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9" presetClass="entr" presetSubtype="0" fill="hold"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dissolve">
                                      <p:cBhvr>
                                        <p:cTn id="20" dur="500"/>
                                        <p:tgtEl>
                                          <p:spTgt spid="5"/>
                                        </p:tgtEl>
                                      </p:cBhvr>
                                    </p:animEffect>
                                  </p:childTnLst>
                                </p:cTn>
                              </p:par>
                              <p:par>
                                <p:cTn id="21" presetID="9" presetClass="entr" presetSubtype="0" fill="hold" grpId="0" nodeType="withEffect">
                                  <p:stCondLst>
                                    <p:cond delay="0"/>
                                  </p:stCondLst>
                                  <p:childTnLst>
                                    <p:set>
                                      <p:cBhvr>
                                        <p:cTn id="22" dur="1" fill="hold">
                                          <p:stCondLst>
                                            <p:cond delay="0"/>
                                          </p:stCondLst>
                                        </p:cTn>
                                        <p:tgtEl>
                                          <p:spTgt spid="220212"/>
                                        </p:tgtEl>
                                        <p:attrNameLst>
                                          <p:attrName>style.visibility</p:attrName>
                                        </p:attrNameLst>
                                      </p:cBhvr>
                                      <p:to>
                                        <p:strVal val="visible"/>
                                      </p:to>
                                    </p:set>
                                    <p:animEffect transition="in" filter="dissolve">
                                      <p:cBhvr>
                                        <p:cTn id="23" dur="500"/>
                                        <p:tgtEl>
                                          <p:spTgt spid="220212"/>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9" presetClass="entr" presetSubtype="0" fill="hold"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dissolve">
                                      <p:cBhvr>
                                        <p:cTn id="28" dur="500"/>
                                        <p:tgtEl>
                                          <p:spTgt spid="8"/>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220213"/>
                                        </p:tgtEl>
                                        <p:attrNameLst>
                                          <p:attrName>style.visibility</p:attrName>
                                        </p:attrNameLst>
                                      </p:cBhvr>
                                      <p:to>
                                        <p:strVal val="visible"/>
                                      </p:to>
                                    </p:set>
                                    <p:animEffect transition="in" filter="dissolve">
                                      <p:cBhvr>
                                        <p:cTn id="31" dur="500"/>
                                        <p:tgtEl>
                                          <p:spTgt spid="220213"/>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9" presetClass="entr" presetSubtype="0" fill="hold" grpId="0" nodeType="clickEffect">
                                  <p:stCondLst>
                                    <p:cond delay="0"/>
                                  </p:stCondLst>
                                  <p:childTnLst>
                                    <p:set>
                                      <p:cBhvr>
                                        <p:cTn id="35" dur="1" fill="hold">
                                          <p:stCondLst>
                                            <p:cond delay="0"/>
                                          </p:stCondLst>
                                        </p:cTn>
                                        <p:tgtEl>
                                          <p:spTgt spid="78"/>
                                        </p:tgtEl>
                                        <p:attrNameLst>
                                          <p:attrName>style.visibility</p:attrName>
                                        </p:attrNameLst>
                                      </p:cBhvr>
                                      <p:to>
                                        <p:strVal val="visible"/>
                                      </p:to>
                                    </p:set>
                                    <p:animEffect transition="in" filter="dissolve">
                                      <p:cBhvr>
                                        <p:cTn id="36" dur="500"/>
                                        <p:tgtEl>
                                          <p:spTgt spid="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0162" grpId="0"/>
      <p:bldP spid="220212" grpId="0"/>
      <p:bldP spid="220213" grpId="0"/>
      <p:bldP spid="220236" grpId="0" autoUpdateAnimBg="0"/>
      <p:bldP spid="78" grpId="0"/>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1186" name="Rectangle 2">
            <a:extLst>
              <a:ext uri="{FF2B5EF4-FFF2-40B4-BE49-F238E27FC236}">
                <a16:creationId xmlns:a16="http://schemas.microsoft.com/office/drawing/2014/main" id="{5F7E3D15-2523-44B6-A840-6A24064FABAB}"/>
              </a:ext>
            </a:extLst>
          </p:cNvPr>
          <p:cNvSpPr>
            <a:spLocks noChangeArrowheads="1"/>
          </p:cNvSpPr>
          <p:nvPr/>
        </p:nvSpPr>
        <p:spPr bwMode="auto">
          <a:xfrm>
            <a:off x="857250" y="2786063"/>
            <a:ext cx="7775575" cy="3695700"/>
          </a:xfrm>
          <a:prstGeom prst="rect">
            <a:avLst/>
          </a:prstGeom>
          <a:solidFill>
            <a:srgbClr val="336699">
              <a:alpha val="32156"/>
            </a:srgbClr>
          </a:solidFill>
          <a:ln w="9525">
            <a:miter lim="800000"/>
            <a:headEnd/>
            <a:tailEnd/>
          </a:ln>
          <a:scene3d>
            <a:camera prst="legacyObliqueTopRight"/>
            <a:lightRig rig="legacyFlat3" dir="r"/>
          </a:scene3d>
          <a:sp3d extrusionH="36500" prstMaterial="legacyMatte">
            <a:bevelT w="13500" h="13500" prst="angle"/>
            <a:bevelB w="13500" h="13500" prst="angle"/>
            <a:extrusionClr>
              <a:srgbClr val="336699"/>
            </a:extrusionClr>
            <a:contourClr>
              <a:srgbClr val="336699"/>
            </a:contourClr>
          </a:sp3d>
        </p:spPr>
        <p:txBody>
          <a:bodyPr wrap="none" anchor="ctr">
            <a:flatTx/>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a:solidFill>
                <a:srgbClr val="FF9900"/>
              </a:solidFill>
              <a:latin typeface="Arial" panose="020B0604020202020204" pitchFamily="34" charset="0"/>
              <a:ea typeface="仿宋_GB2312" pitchFamily="49" charset="-122"/>
            </a:endParaRPr>
          </a:p>
        </p:txBody>
      </p:sp>
      <p:sp>
        <p:nvSpPr>
          <p:cNvPr id="221187" name="Rectangle 3">
            <a:extLst>
              <a:ext uri="{FF2B5EF4-FFF2-40B4-BE49-F238E27FC236}">
                <a16:creationId xmlns:a16="http://schemas.microsoft.com/office/drawing/2014/main" id="{142BF544-0E17-41DE-9FC9-1EF12CF33DE7}"/>
              </a:ext>
            </a:extLst>
          </p:cNvPr>
          <p:cNvSpPr>
            <a:spLocks noChangeArrowheads="1"/>
          </p:cNvSpPr>
          <p:nvPr/>
        </p:nvSpPr>
        <p:spPr bwMode="auto">
          <a:xfrm>
            <a:off x="884238" y="808038"/>
            <a:ext cx="2819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latin typeface="宋体" panose="02010600030101010101" pitchFamily="2" charset="-122"/>
                <a:ea typeface="仿宋_GB2312" pitchFamily="49" charset="-122"/>
              </a:rPr>
              <a:t>本征半导体：</a:t>
            </a:r>
          </a:p>
        </p:txBody>
      </p:sp>
      <p:sp>
        <p:nvSpPr>
          <p:cNvPr id="221188" name="Rectangle 4">
            <a:extLst>
              <a:ext uri="{FF2B5EF4-FFF2-40B4-BE49-F238E27FC236}">
                <a16:creationId xmlns:a16="http://schemas.microsoft.com/office/drawing/2014/main" id="{19D78D45-501A-4DD4-815D-904ECA084722}"/>
              </a:ext>
            </a:extLst>
          </p:cNvPr>
          <p:cNvSpPr>
            <a:spLocks noChangeArrowheads="1"/>
          </p:cNvSpPr>
          <p:nvPr/>
        </p:nvSpPr>
        <p:spPr bwMode="auto">
          <a:xfrm>
            <a:off x="528638" y="257175"/>
            <a:ext cx="53292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dirty="0">
                <a:solidFill>
                  <a:srgbClr val="FFFF00"/>
                </a:solidFill>
              </a:rPr>
              <a:t>五</a:t>
            </a:r>
            <a:r>
              <a:rPr lang="en-US" altLang="zh-CN" dirty="0">
                <a:solidFill>
                  <a:srgbClr val="FFFF00"/>
                </a:solidFill>
              </a:rPr>
              <a:t>. </a:t>
            </a:r>
            <a:r>
              <a:rPr lang="zh-CN" altLang="en-US" dirty="0">
                <a:solidFill>
                  <a:srgbClr val="FFFF00"/>
                </a:solidFill>
              </a:rPr>
              <a:t>杂质半导体      </a:t>
            </a:r>
            <a:r>
              <a:rPr lang="en-US" altLang="zh-CN" dirty="0" err="1">
                <a:solidFill>
                  <a:srgbClr val="FFFF00"/>
                </a:solidFill>
              </a:rPr>
              <a:t>pn</a:t>
            </a:r>
            <a:r>
              <a:rPr lang="en-US" altLang="zh-CN" dirty="0">
                <a:solidFill>
                  <a:srgbClr val="FFFF00"/>
                </a:solidFill>
              </a:rPr>
              <a:t> </a:t>
            </a:r>
            <a:r>
              <a:rPr lang="zh-CN" altLang="en-US" dirty="0">
                <a:solidFill>
                  <a:srgbClr val="FFFF00"/>
                </a:solidFill>
              </a:rPr>
              <a:t>结 </a:t>
            </a:r>
          </a:p>
        </p:txBody>
      </p:sp>
      <p:sp>
        <p:nvSpPr>
          <p:cNvPr id="221189" name="Rectangle 5">
            <a:extLst>
              <a:ext uri="{FF2B5EF4-FFF2-40B4-BE49-F238E27FC236}">
                <a16:creationId xmlns:a16="http://schemas.microsoft.com/office/drawing/2014/main" id="{72E8913F-D9BB-4AEF-8B17-FABEB3FFB90D}"/>
              </a:ext>
            </a:extLst>
          </p:cNvPr>
          <p:cNvSpPr>
            <a:spLocks noChangeArrowheads="1"/>
          </p:cNvSpPr>
          <p:nvPr/>
        </p:nvSpPr>
        <p:spPr bwMode="auto">
          <a:xfrm>
            <a:off x="895350" y="1757363"/>
            <a:ext cx="2819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latin typeface="宋体" panose="02010600030101010101" pitchFamily="2" charset="-122"/>
                <a:ea typeface="仿宋_GB2312" pitchFamily="49" charset="-122"/>
              </a:rPr>
              <a:t>杂质半导体</a:t>
            </a:r>
          </a:p>
        </p:txBody>
      </p:sp>
      <p:sp>
        <p:nvSpPr>
          <p:cNvPr id="221190" name="Text Box 6">
            <a:extLst>
              <a:ext uri="{FF2B5EF4-FFF2-40B4-BE49-F238E27FC236}">
                <a16:creationId xmlns:a16="http://schemas.microsoft.com/office/drawing/2014/main" id="{E5194597-697C-423A-BB8C-618740414E82}"/>
              </a:ext>
            </a:extLst>
          </p:cNvPr>
          <p:cNvSpPr txBox="1">
            <a:spLocks noChangeArrowheads="1"/>
          </p:cNvSpPr>
          <p:nvPr/>
        </p:nvSpPr>
        <p:spPr bwMode="auto">
          <a:xfrm>
            <a:off x="639763" y="2214563"/>
            <a:ext cx="39322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rgbClr val="00FFFF"/>
                </a:solidFill>
                <a:latin typeface="宋体" panose="02010600030101010101" pitchFamily="2" charset="-122"/>
                <a:ea typeface="仿宋_GB2312" pitchFamily="49" charset="-122"/>
              </a:rPr>
              <a:t>（</a:t>
            </a:r>
            <a:r>
              <a:rPr lang="en-US" altLang="zh-CN">
                <a:solidFill>
                  <a:srgbClr val="00FFFF"/>
                </a:solidFill>
                <a:latin typeface="宋体" panose="02010600030101010101" pitchFamily="2" charset="-122"/>
                <a:ea typeface="仿宋_GB2312" pitchFamily="49" charset="-122"/>
              </a:rPr>
              <a:t>1</a:t>
            </a:r>
            <a:r>
              <a:rPr lang="zh-CN" altLang="en-US">
                <a:solidFill>
                  <a:srgbClr val="00FFFF"/>
                </a:solidFill>
                <a:latin typeface="宋体" panose="02010600030101010101" pitchFamily="2" charset="-122"/>
                <a:ea typeface="仿宋_GB2312" pitchFamily="49" charset="-122"/>
              </a:rPr>
              <a:t>）</a:t>
            </a:r>
            <a:r>
              <a:rPr lang="en-US" altLang="zh-CN">
                <a:solidFill>
                  <a:srgbClr val="FF9900"/>
                </a:solidFill>
                <a:latin typeface="宋体" panose="02010600030101010101" pitchFamily="2" charset="-122"/>
                <a:ea typeface="仿宋_GB2312" pitchFamily="49" charset="-122"/>
              </a:rPr>
              <a:t>n</a:t>
            </a:r>
            <a:r>
              <a:rPr lang="en-US" altLang="zh-CN">
                <a:solidFill>
                  <a:srgbClr val="00FFFF"/>
                </a:solidFill>
                <a:latin typeface="宋体" panose="02010600030101010101" pitchFamily="2" charset="-122"/>
                <a:ea typeface="仿宋_GB2312" pitchFamily="49" charset="-122"/>
              </a:rPr>
              <a:t> </a:t>
            </a:r>
            <a:r>
              <a:rPr lang="zh-CN" altLang="en-US">
                <a:solidFill>
                  <a:srgbClr val="00FFFF"/>
                </a:solidFill>
                <a:latin typeface="宋体" panose="02010600030101010101" pitchFamily="2" charset="-122"/>
                <a:ea typeface="仿宋_GB2312" pitchFamily="49" charset="-122"/>
              </a:rPr>
              <a:t>型半导体</a:t>
            </a:r>
          </a:p>
        </p:txBody>
      </p:sp>
      <p:sp>
        <p:nvSpPr>
          <p:cNvPr id="221191" name="Rectangle 7">
            <a:extLst>
              <a:ext uri="{FF2B5EF4-FFF2-40B4-BE49-F238E27FC236}">
                <a16:creationId xmlns:a16="http://schemas.microsoft.com/office/drawing/2014/main" id="{B293FAFD-D145-4423-8AC4-835352589597}"/>
              </a:ext>
            </a:extLst>
          </p:cNvPr>
          <p:cNvSpPr>
            <a:spLocks noChangeArrowheads="1"/>
          </p:cNvSpPr>
          <p:nvPr/>
        </p:nvSpPr>
        <p:spPr bwMode="auto">
          <a:xfrm>
            <a:off x="2740025" y="808038"/>
            <a:ext cx="51133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latin typeface="宋体" panose="02010600030101010101" pitchFamily="2" charset="-122"/>
                <a:ea typeface="仿宋_GB2312" pitchFamily="49" charset="-122"/>
              </a:rPr>
              <a:t>没有掺杂和缺陷的理想半导体</a:t>
            </a:r>
            <a:endParaRPr lang="en-US" altLang="zh-CN">
              <a:solidFill>
                <a:schemeClr val="bg1"/>
              </a:solidFill>
              <a:latin typeface="宋体" panose="02010600030101010101" pitchFamily="2" charset="-122"/>
              <a:ea typeface="仿宋_GB2312" pitchFamily="49" charset="-122"/>
            </a:endParaRPr>
          </a:p>
        </p:txBody>
      </p:sp>
      <p:sp>
        <p:nvSpPr>
          <p:cNvPr id="221192" name="Rectangle 8">
            <a:extLst>
              <a:ext uri="{FF2B5EF4-FFF2-40B4-BE49-F238E27FC236}">
                <a16:creationId xmlns:a16="http://schemas.microsoft.com/office/drawing/2014/main" id="{5A9B9423-3DEB-45C9-8FD1-257B996580E0}"/>
              </a:ext>
            </a:extLst>
          </p:cNvPr>
          <p:cNvSpPr>
            <a:spLocks noChangeArrowheads="1"/>
          </p:cNvSpPr>
          <p:nvPr/>
        </p:nvSpPr>
        <p:spPr bwMode="auto">
          <a:xfrm>
            <a:off x="2738438" y="1284288"/>
            <a:ext cx="5762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latin typeface="宋体" panose="02010600030101010101" pitchFamily="2" charset="-122"/>
                <a:ea typeface="仿宋_GB2312" pitchFamily="49" charset="-122"/>
              </a:rPr>
              <a:t>参与导电的载流子为</a:t>
            </a:r>
            <a:r>
              <a:rPr lang="zh-CN" altLang="en-US">
                <a:solidFill>
                  <a:srgbClr val="FF9900"/>
                </a:solidFill>
                <a:latin typeface="宋体" panose="02010600030101010101" pitchFamily="2" charset="-122"/>
                <a:ea typeface="仿宋_GB2312" pitchFamily="49" charset="-122"/>
              </a:rPr>
              <a:t>电子 </a:t>
            </a:r>
            <a:r>
              <a:rPr lang="en-US" altLang="zh-CN">
                <a:solidFill>
                  <a:schemeClr val="bg1"/>
                </a:solidFill>
                <a:latin typeface="宋体" panose="02010600030101010101" pitchFamily="2" charset="-122"/>
                <a:ea typeface="仿宋_GB2312" pitchFamily="49" charset="-122"/>
              </a:rPr>
              <a:t>—</a:t>
            </a:r>
            <a:r>
              <a:rPr lang="en-US" altLang="zh-CN">
                <a:solidFill>
                  <a:srgbClr val="FF9900"/>
                </a:solidFill>
                <a:latin typeface="宋体" panose="02010600030101010101" pitchFamily="2" charset="-122"/>
                <a:ea typeface="仿宋_GB2312" pitchFamily="49" charset="-122"/>
              </a:rPr>
              <a:t> </a:t>
            </a:r>
            <a:r>
              <a:rPr lang="zh-CN" altLang="en-US">
                <a:solidFill>
                  <a:srgbClr val="FF9900"/>
                </a:solidFill>
                <a:latin typeface="宋体" panose="02010600030101010101" pitchFamily="2" charset="-122"/>
                <a:ea typeface="仿宋_GB2312" pitchFamily="49" charset="-122"/>
              </a:rPr>
              <a:t>空穴</a:t>
            </a:r>
            <a:r>
              <a:rPr lang="zh-CN" altLang="en-US">
                <a:solidFill>
                  <a:srgbClr val="FFFF00"/>
                </a:solidFill>
                <a:latin typeface="宋体" panose="02010600030101010101" pitchFamily="2" charset="-122"/>
                <a:ea typeface="仿宋_GB2312" pitchFamily="49" charset="-122"/>
              </a:rPr>
              <a:t>对</a:t>
            </a:r>
            <a:endParaRPr lang="en-US" altLang="zh-CN">
              <a:solidFill>
                <a:schemeClr val="bg1"/>
              </a:solidFill>
              <a:latin typeface="宋体" panose="02010600030101010101" pitchFamily="2" charset="-122"/>
              <a:ea typeface="仿宋_GB2312" pitchFamily="49" charset="-122"/>
            </a:endParaRPr>
          </a:p>
        </p:txBody>
      </p:sp>
      <p:sp>
        <p:nvSpPr>
          <p:cNvPr id="221193" name="Text Box 9">
            <a:extLst>
              <a:ext uri="{FF2B5EF4-FFF2-40B4-BE49-F238E27FC236}">
                <a16:creationId xmlns:a16="http://schemas.microsoft.com/office/drawing/2014/main" id="{ABABC46D-CFD5-4AE6-A07C-8D564F90828D}"/>
              </a:ext>
            </a:extLst>
          </p:cNvPr>
          <p:cNvSpPr txBox="1">
            <a:spLocks noChangeArrowheads="1"/>
          </p:cNvSpPr>
          <p:nvPr/>
        </p:nvSpPr>
        <p:spPr bwMode="auto">
          <a:xfrm>
            <a:off x="7807325" y="3817938"/>
            <a:ext cx="839788" cy="708025"/>
          </a:xfrm>
          <a:prstGeom prst="rect">
            <a:avLst/>
          </a:prstGeom>
          <a:solidFill>
            <a:srgbClr val="00336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a:solidFill>
                  <a:srgbClr val="FF9900"/>
                </a:solidFill>
                <a:ea typeface="楷体_GB2312" pitchFamily="49" charset="-122"/>
              </a:rPr>
              <a:t>杂质能级</a:t>
            </a:r>
          </a:p>
        </p:txBody>
      </p:sp>
      <p:grpSp>
        <p:nvGrpSpPr>
          <p:cNvPr id="2" name="Group 10">
            <a:extLst>
              <a:ext uri="{FF2B5EF4-FFF2-40B4-BE49-F238E27FC236}">
                <a16:creationId xmlns:a16="http://schemas.microsoft.com/office/drawing/2014/main" id="{364733D2-7037-4BA3-9A75-F73808A3F423}"/>
              </a:ext>
            </a:extLst>
          </p:cNvPr>
          <p:cNvGrpSpPr>
            <a:grpSpLocks/>
          </p:cNvGrpSpPr>
          <p:nvPr/>
        </p:nvGrpSpPr>
        <p:grpSpPr bwMode="auto">
          <a:xfrm>
            <a:off x="5597525" y="5143500"/>
            <a:ext cx="2098675" cy="1241425"/>
            <a:chOff x="384" y="2496"/>
            <a:chExt cx="1344" cy="816"/>
          </a:xfrm>
        </p:grpSpPr>
        <p:sp>
          <p:nvSpPr>
            <p:cNvPr id="18470" name="Oval 11">
              <a:extLst>
                <a:ext uri="{FF2B5EF4-FFF2-40B4-BE49-F238E27FC236}">
                  <a16:creationId xmlns:a16="http://schemas.microsoft.com/office/drawing/2014/main" id="{253A8179-44E0-44EC-8011-76A60BFAE369}"/>
                </a:ext>
              </a:extLst>
            </p:cNvPr>
            <p:cNvSpPr>
              <a:spLocks noChangeArrowheads="1"/>
            </p:cNvSpPr>
            <p:nvPr/>
          </p:nvSpPr>
          <p:spPr bwMode="auto">
            <a:xfrm>
              <a:off x="1296" y="2496"/>
              <a:ext cx="96" cy="96"/>
            </a:xfrm>
            <a:prstGeom prst="ellipse">
              <a:avLst/>
            </a:prstGeom>
            <a:solidFill>
              <a:srgbClr val="99CC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8471" name="Oval 12">
              <a:extLst>
                <a:ext uri="{FF2B5EF4-FFF2-40B4-BE49-F238E27FC236}">
                  <a16:creationId xmlns:a16="http://schemas.microsoft.com/office/drawing/2014/main" id="{4DF026D5-96F6-4D22-9F28-AAC1689A6C38}"/>
                </a:ext>
              </a:extLst>
            </p:cNvPr>
            <p:cNvSpPr>
              <a:spLocks noChangeArrowheads="1"/>
            </p:cNvSpPr>
            <p:nvPr/>
          </p:nvSpPr>
          <p:spPr bwMode="auto">
            <a:xfrm>
              <a:off x="768" y="2496"/>
              <a:ext cx="96" cy="96"/>
            </a:xfrm>
            <a:prstGeom prst="ellipse">
              <a:avLst/>
            </a:prstGeom>
            <a:solidFill>
              <a:srgbClr val="99CC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8472" name="Oval 13">
              <a:extLst>
                <a:ext uri="{FF2B5EF4-FFF2-40B4-BE49-F238E27FC236}">
                  <a16:creationId xmlns:a16="http://schemas.microsoft.com/office/drawing/2014/main" id="{4108F96C-C458-466B-A006-A7356FBACCBB}"/>
                </a:ext>
              </a:extLst>
            </p:cNvPr>
            <p:cNvSpPr>
              <a:spLocks noChangeArrowheads="1"/>
            </p:cNvSpPr>
            <p:nvPr/>
          </p:nvSpPr>
          <p:spPr bwMode="auto">
            <a:xfrm>
              <a:off x="1296" y="2640"/>
              <a:ext cx="96" cy="96"/>
            </a:xfrm>
            <a:prstGeom prst="ellipse">
              <a:avLst/>
            </a:prstGeom>
            <a:solidFill>
              <a:srgbClr val="99CC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8473" name="Oval 14">
              <a:extLst>
                <a:ext uri="{FF2B5EF4-FFF2-40B4-BE49-F238E27FC236}">
                  <a16:creationId xmlns:a16="http://schemas.microsoft.com/office/drawing/2014/main" id="{912F7BE4-3B62-4853-848B-E2377B2BB47E}"/>
                </a:ext>
              </a:extLst>
            </p:cNvPr>
            <p:cNvSpPr>
              <a:spLocks noChangeArrowheads="1"/>
            </p:cNvSpPr>
            <p:nvPr/>
          </p:nvSpPr>
          <p:spPr bwMode="auto">
            <a:xfrm>
              <a:off x="768" y="2640"/>
              <a:ext cx="96" cy="96"/>
            </a:xfrm>
            <a:prstGeom prst="ellipse">
              <a:avLst/>
            </a:prstGeom>
            <a:solidFill>
              <a:srgbClr val="99CC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8474" name="Oval 15">
              <a:extLst>
                <a:ext uri="{FF2B5EF4-FFF2-40B4-BE49-F238E27FC236}">
                  <a16:creationId xmlns:a16="http://schemas.microsoft.com/office/drawing/2014/main" id="{5CB334BA-240A-432D-B090-DE40BCC2FC08}"/>
                </a:ext>
              </a:extLst>
            </p:cNvPr>
            <p:cNvSpPr>
              <a:spLocks noChangeArrowheads="1"/>
            </p:cNvSpPr>
            <p:nvPr/>
          </p:nvSpPr>
          <p:spPr bwMode="auto">
            <a:xfrm>
              <a:off x="1296" y="2784"/>
              <a:ext cx="96" cy="96"/>
            </a:xfrm>
            <a:prstGeom prst="ellipse">
              <a:avLst/>
            </a:prstGeom>
            <a:solidFill>
              <a:srgbClr val="99CC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8475" name="Oval 16">
              <a:extLst>
                <a:ext uri="{FF2B5EF4-FFF2-40B4-BE49-F238E27FC236}">
                  <a16:creationId xmlns:a16="http://schemas.microsoft.com/office/drawing/2014/main" id="{E146C299-D263-4001-81F2-8714BE083A67}"/>
                </a:ext>
              </a:extLst>
            </p:cNvPr>
            <p:cNvSpPr>
              <a:spLocks noChangeArrowheads="1"/>
            </p:cNvSpPr>
            <p:nvPr/>
          </p:nvSpPr>
          <p:spPr bwMode="auto">
            <a:xfrm>
              <a:off x="768" y="2784"/>
              <a:ext cx="96" cy="96"/>
            </a:xfrm>
            <a:prstGeom prst="ellipse">
              <a:avLst/>
            </a:prstGeom>
            <a:solidFill>
              <a:srgbClr val="99CC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8476" name="Oval 17">
              <a:extLst>
                <a:ext uri="{FF2B5EF4-FFF2-40B4-BE49-F238E27FC236}">
                  <a16:creationId xmlns:a16="http://schemas.microsoft.com/office/drawing/2014/main" id="{A8827760-CD2B-4E61-9290-92641DD2EF83}"/>
                </a:ext>
              </a:extLst>
            </p:cNvPr>
            <p:cNvSpPr>
              <a:spLocks noChangeArrowheads="1"/>
            </p:cNvSpPr>
            <p:nvPr/>
          </p:nvSpPr>
          <p:spPr bwMode="auto">
            <a:xfrm>
              <a:off x="1296" y="2928"/>
              <a:ext cx="96" cy="96"/>
            </a:xfrm>
            <a:prstGeom prst="ellipse">
              <a:avLst/>
            </a:prstGeom>
            <a:solidFill>
              <a:srgbClr val="99CC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8477" name="Oval 18">
              <a:extLst>
                <a:ext uri="{FF2B5EF4-FFF2-40B4-BE49-F238E27FC236}">
                  <a16:creationId xmlns:a16="http://schemas.microsoft.com/office/drawing/2014/main" id="{10BF2913-8F9F-4570-B69A-477C22DBB011}"/>
                </a:ext>
              </a:extLst>
            </p:cNvPr>
            <p:cNvSpPr>
              <a:spLocks noChangeArrowheads="1"/>
            </p:cNvSpPr>
            <p:nvPr/>
          </p:nvSpPr>
          <p:spPr bwMode="auto">
            <a:xfrm>
              <a:off x="768" y="2928"/>
              <a:ext cx="96" cy="96"/>
            </a:xfrm>
            <a:prstGeom prst="ellipse">
              <a:avLst/>
            </a:prstGeom>
            <a:solidFill>
              <a:srgbClr val="99CC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8478" name="Oval 19">
              <a:extLst>
                <a:ext uri="{FF2B5EF4-FFF2-40B4-BE49-F238E27FC236}">
                  <a16:creationId xmlns:a16="http://schemas.microsoft.com/office/drawing/2014/main" id="{FCF187F8-DF71-4383-B294-B26DD944EFD7}"/>
                </a:ext>
              </a:extLst>
            </p:cNvPr>
            <p:cNvSpPr>
              <a:spLocks noChangeArrowheads="1"/>
            </p:cNvSpPr>
            <p:nvPr/>
          </p:nvSpPr>
          <p:spPr bwMode="auto">
            <a:xfrm>
              <a:off x="1296" y="3072"/>
              <a:ext cx="96" cy="96"/>
            </a:xfrm>
            <a:prstGeom prst="ellipse">
              <a:avLst/>
            </a:prstGeom>
            <a:solidFill>
              <a:srgbClr val="99CC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8479" name="Oval 20">
              <a:extLst>
                <a:ext uri="{FF2B5EF4-FFF2-40B4-BE49-F238E27FC236}">
                  <a16:creationId xmlns:a16="http://schemas.microsoft.com/office/drawing/2014/main" id="{0E78A5B8-C1ED-4653-AA73-CBC28CB33190}"/>
                </a:ext>
              </a:extLst>
            </p:cNvPr>
            <p:cNvSpPr>
              <a:spLocks noChangeArrowheads="1"/>
            </p:cNvSpPr>
            <p:nvPr/>
          </p:nvSpPr>
          <p:spPr bwMode="auto">
            <a:xfrm>
              <a:off x="768" y="3072"/>
              <a:ext cx="96" cy="96"/>
            </a:xfrm>
            <a:prstGeom prst="ellipse">
              <a:avLst/>
            </a:prstGeom>
            <a:solidFill>
              <a:srgbClr val="99CC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grpSp>
          <p:nvGrpSpPr>
            <p:cNvPr id="18480" name="Group 21">
              <a:extLst>
                <a:ext uri="{FF2B5EF4-FFF2-40B4-BE49-F238E27FC236}">
                  <a16:creationId xmlns:a16="http://schemas.microsoft.com/office/drawing/2014/main" id="{32A8FC49-9356-42AC-8657-84A9B0DC52B7}"/>
                </a:ext>
              </a:extLst>
            </p:cNvPr>
            <p:cNvGrpSpPr>
              <a:grpSpLocks/>
            </p:cNvGrpSpPr>
            <p:nvPr/>
          </p:nvGrpSpPr>
          <p:grpSpPr bwMode="auto">
            <a:xfrm>
              <a:off x="384" y="2544"/>
              <a:ext cx="1344" cy="720"/>
              <a:chOff x="576" y="2544"/>
              <a:chExt cx="1008" cy="720"/>
            </a:xfrm>
          </p:grpSpPr>
          <p:sp>
            <p:nvSpPr>
              <p:cNvPr id="18483" name="Line 22">
                <a:extLst>
                  <a:ext uri="{FF2B5EF4-FFF2-40B4-BE49-F238E27FC236}">
                    <a16:creationId xmlns:a16="http://schemas.microsoft.com/office/drawing/2014/main" id="{18D44ADF-DA3E-4F22-A8BD-F9ACAFA8AD08}"/>
                  </a:ext>
                </a:extLst>
              </p:cNvPr>
              <p:cNvSpPr>
                <a:spLocks noChangeShapeType="1"/>
              </p:cNvSpPr>
              <p:nvPr/>
            </p:nvSpPr>
            <p:spPr bwMode="auto">
              <a:xfrm>
                <a:off x="576" y="2544"/>
                <a:ext cx="1008"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84" name="Line 23">
                <a:extLst>
                  <a:ext uri="{FF2B5EF4-FFF2-40B4-BE49-F238E27FC236}">
                    <a16:creationId xmlns:a16="http://schemas.microsoft.com/office/drawing/2014/main" id="{57A80822-3692-4FF7-8111-C1F8022F2015}"/>
                  </a:ext>
                </a:extLst>
              </p:cNvPr>
              <p:cNvSpPr>
                <a:spLocks noChangeShapeType="1"/>
              </p:cNvSpPr>
              <p:nvPr/>
            </p:nvSpPr>
            <p:spPr bwMode="auto">
              <a:xfrm>
                <a:off x="576" y="2688"/>
                <a:ext cx="1008"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85" name="Line 24">
                <a:extLst>
                  <a:ext uri="{FF2B5EF4-FFF2-40B4-BE49-F238E27FC236}">
                    <a16:creationId xmlns:a16="http://schemas.microsoft.com/office/drawing/2014/main" id="{FC1E3B13-36BF-464C-ACAD-D7B604B6237B}"/>
                  </a:ext>
                </a:extLst>
              </p:cNvPr>
              <p:cNvSpPr>
                <a:spLocks noChangeShapeType="1"/>
              </p:cNvSpPr>
              <p:nvPr/>
            </p:nvSpPr>
            <p:spPr bwMode="auto">
              <a:xfrm>
                <a:off x="576" y="2832"/>
                <a:ext cx="1008"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86" name="Line 25">
                <a:extLst>
                  <a:ext uri="{FF2B5EF4-FFF2-40B4-BE49-F238E27FC236}">
                    <a16:creationId xmlns:a16="http://schemas.microsoft.com/office/drawing/2014/main" id="{83B33060-653A-454F-8D39-131EF74C479A}"/>
                  </a:ext>
                </a:extLst>
              </p:cNvPr>
              <p:cNvSpPr>
                <a:spLocks noChangeShapeType="1"/>
              </p:cNvSpPr>
              <p:nvPr/>
            </p:nvSpPr>
            <p:spPr bwMode="auto">
              <a:xfrm>
                <a:off x="576" y="2976"/>
                <a:ext cx="1008"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87" name="Line 26">
                <a:extLst>
                  <a:ext uri="{FF2B5EF4-FFF2-40B4-BE49-F238E27FC236}">
                    <a16:creationId xmlns:a16="http://schemas.microsoft.com/office/drawing/2014/main" id="{10BEC78B-842C-4C9D-ABCC-965E13172154}"/>
                  </a:ext>
                </a:extLst>
              </p:cNvPr>
              <p:cNvSpPr>
                <a:spLocks noChangeShapeType="1"/>
              </p:cNvSpPr>
              <p:nvPr/>
            </p:nvSpPr>
            <p:spPr bwMode="auto">
              <a:xfrm>
                <a:off x="576" y="3120"/>
                <a:ext cx="1008"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88" name="Line 27">
                <a:extLst>
                  <a:ext uri="{FF2B5EF4-FFF2-40B4-BE49-F238E27FC236}">
                    <a16:creationId xmlns:a16="http://schemas.microsoft.com/office/drawing/2014/main" id="{9C5CBB5B-8A35-4F38-8E39-A6EECBB51349}"/>
                  </a:ext>
                </a:extLst>
              </p:cNvPr>
              <p:cNvSpPr>
                <a:spLocks noChangeShapeType="1"/>
              </p:cNvSpPr>
              <p:nvPr/>
            </p:nvSpPr>
            <p:spPr bwMode="auto">
              <a:xfrm>
                <a:off x="576" y="3264"/>
                <a:ext cx="1008"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8481" name="Oval 28">
              <a:extLst>
                <a:ext uri="{FF2B5EF4-FFF2-40B4-BE49-F238E27FC236}">
                  <a16:creationId xmlns:a16="http://schemas.microsoft.com/office/drawing/2014/main" id="{0A876FDA-1042-4388-A03D-9ABB57F163E3}"/>
                </a:ext>
              </a:extLst>
            </p:cNvPr>
            <p:cNvSpPr>
              <a:spLocks noChangeArrowheads="1"/>
            </p:cNvSpPr>
            <p:nvPr/>
          </p:nvSpPr>
          <p:spPr bwMode="auto">
            <a:xfrm>
              <a:off x="1296" y="3216"/>
              <a:ext cx="96" cy="96"/>
            </a:xfrm>
            <a:prstGeom prst="ellipse">
              <a:avLst/>
            </a:prstGeom>
            <a:solidFill>
              <a:srgbClr val="99CC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8482" name="Oval 29">
              <a:extLst>
                <a:ext uri="{FF2B5EF4-FFF2-40B4-BE49-F238E27FC236}">
                  <a16:creationId xmlns:a16="http://schemas.microsoft.com/office/drawing/2014/main" id="{1ADFD5FB-D0EC-4180-B069-4729F04BEEE6}"/>
                </a:ext>
              </a:extLst>
            </p:cNvPr>
            <p:cNvSpPr>
              <a:spLocks noChangeArrowheads="1"/>
            </p:cNvSpPr>
            <p:nvPr/>
          </p:nvSpPr>
          <p:spPr bwMode="auto">
            <a:xfrm>
              <a:off x="768" y="3216"/>
              <a:ext cx="96" cy="96"/>
            </a:xfrm>
            <a:prstGeom prst="ellipse">
              <a:avLst/>
            </a:prstGeom>
            <a:solidFill>
              <a:srgbClr val="99CC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grpSp>
      <p:grpSp>
        <p:nvGrpSpPr>
          <p:cNvPr id="4" name="Group 30">
            <a:extLst>
              <a:ext uri="{FF2B5EF4-FFF2-40B4-BE49-F238E27FC236}">
                <a16:creationId xmlns:a16="http://schemas.microsoft.com/office/drawing/2014/main" id="{55508977-B60A-47A8-A25A-937D0EDA04F3}"/>
              </a:ext>
            </a:extLst>
          </p:cNvPr>
          <p:cNvGrpSpPr>
            <a:grpSpLocks/>
          </p:cNvGrpSpPr>
          <p:nvPr/>
        </p:nvGrpSpPr>
        <p:grpSpPr bwMode="auto">
          <a:xfrm>
            <a:off x="5597525" y="2857500"/>
            <a:ext cx="2098675" cy="1095375"/>
            <a:chOff x="3456" y="2400"/>
            <a:chExt cx="1008" cy="720"/>
          </a:xfrm>
        </p:grpSpPr>
        <p:sp>
          <p:nvSpPr>
            <p:cNvPr id="18464" name="Line 31">
              <a:extLst>
                <a:ext uri="{FF2B5EF4-FFF2-40B4-BE49-F238E27FC236}">
                  <a16:creationId xmlns:a16="http://schemas.microsoft.com/office/drawing/2014/main" id="{1DF4513E-3020-4D75-A038-8C7D238FE44F}"/>
                </a:ext>
              </a:extLst>
            </p:cNvPr>
            <p:cNvSpPr>
              <a:spLocks noChangeShapeType="1"/>
            </p:cNvSpPr>
            <p:nvPr/>
          </p:nvSpPr>
          <p:spPr bwMode="auto">
            <a:xfrm>
              <a:off x="3456" y="2400"/>
              <a:ext cx="1008" cy="0"/>
            </a:xfrm>
            <a:prstGeom prst="line">
              <a:avLst/>
            </a:prstGeom>
            <a:noFill/>
            <a:ln w="19050">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65" name="Line 32">
              <a:extLst>
                <a:ext uri="{FF2B5EF4-FFF2-40B4-BE49-F238E27FC236}">
                  <a16:creationId xmlns:a16="http://schemas.microsoft.com/office/drawing/2014/main" id="{B869CFBB-73F5-41B0-BCAC-841D374461EE}"/>
                </a:ext>
              </a:extLst>
            </p:cNvPr>
            <p:cNvSpPr>
              <a:spLocks noChangeShapeType="1"/>
            </p:cNvSpPr>
            <p:nvPr/>
          </p:nvSpPr>
          <p:spPr bwMode="auto">
            <a:xfrm>
              <a:off x="3456" y="2544"/>
              <a:ext cx="1008" cy="0"/>
            </a:xfrm>
            <a:prstGeom prst="line">
              <a:avLst/>
            </a:prstGeom>
            <a:noFill/>
            <a:ln w="19050">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66" name="Line 33">
              <a:extLst>
                <a:ext uri="{FF2B5EF4-FFF2-40B4-BE49-F238E27FC236}">
                  <a16:creationId xmlns:a16="http://schemas.microsoft.com/office/drawing/2014/main" id="{CD36EB2C-6CFE-4BA8-8302-DB269F612247}"/>
                </a:ext>
              </a:extLst>
            </p:cNvPr>
            <p:cNvSpPr>
              <a:spLocks noChangeShapeType="1"/>
            </p:cNvSpPr>
            <p:nvPr/>
          </p:nvSpPr>
          <p:spPr bwMode="auto">
            <a:xfrm>
              <a:off x="3456" y="2688"/>
              <a:ext cx="1008" cy="0"/>
            </a:xfrm>
            <a:prstGeom prst="line">
              <a:avLst/>
            </a:prstGeom>
            <a:noFill/>
            <a:ln w="19050">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67" name="Line 34">
              <a:extLst>
                <a:ext uri="{FF2B5EF4-FFF2-40B4-BE49-F238E27FC236}">
                  <a16:creationId xmlns:a16="http://schemas.microsoft.com/office/drawing/2014/main" id="{03F195C2-CDBF-41BF-8729-AA8AB147E460}"/>
                </a:ext>
              </a:extLst>
            </p:cNvPr>
            <p:cNvSpPr>
              <a:spLocks noChangeShapeType="1"/>
            </p:cNvSpPr>
            <p:nvPr/>
          </p:nvSpPr>
          <p:spPr bwMode="auto">
            <a:xfrm>
              <a:off x="3456" y="2832"/>
              <a:ext cx="1008" cy="0"/>
            </a:xfrm>
            <a:prstGeom prst="line">
              <a:avLst/>
            </a:prstGeom>
            <a:noFill/>
            <a:ln w="19050">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68" name="Line 35">
              <a:extLst>
                <a:ext uri="{FF2B5EF4-FFF2-40B4-BE49-F238E27FC236}">
                  <a16:creationId xmlns:a16="http://schemas.microsoft.com/office/drawing/2014/main" id="{AE6DBC25-0A2F-456F-85A3-5F9D8543482A}"/>
                </a:ext>
              </a:extLst>
            </p:cNvPr>
            <p:cNvSpPr>
              <a:spLocks noChangeShapeType="1"/>
            </p:cNvSpPr>
            <p:nvPr/>
          </p:nvSpPr>
          <p:spPr bwMode="auto">
            <a:xfrm>
              <a:off x="3456" y="2976"/>
              <a:ext cx="1008" cy="0"/>
            </a:xfrm>
            <a:prstGeom prst="line">
              <a:avLst/>
            </a:prstGeom>
            <a:noFill/>
            <a:ln w="19050">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69" name="Line 36">
              <a:extLst>
                <a:ext uri="{FF2B5EF4-FFF2-40B4-BE49-F238E27FC236}">
                  <a16:creationId xmlns:a16="http://schemas.microsoft.com/office/drawing/2014/main" id="{56D86B6B-EEF9-4BAF-831A-51BE366A82DF}"/>
                </a:ext>
              </a:extLst>
            </p:cNvPr>
            <p:cNvSpPr>
              <a:spLocks noChangeShapeType="1"/>
            </p:cNvSpPr>
            <p:nvPr/>
          </p:nvSpPr>
          <p:spPr bwMode="auto">
            <a:xfrm>
              <a:off x="3456" y="3120"/>
              <a:ext cx="1008" cy="0"/>
            </a:xfrm>
            <a:prstGeom prst="line">
              <a:avLst/>
            </a:prstGeom>
            <a:noFill/>
            <a:ln w="19050">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pic>
        <p:nvPicPr>
          <p:cNvPr id="221221" name="Picture 37" descr="N 型半导体">
            <a:extLst>
              <a:ext uri="{FF2B5EF4-FFF2-40B4-BE49-F238E27FC236}">
                <a16:creationId xmlns:a16="http://schemas.microsoft.com/office/drawing/2014/main" id="{9E8CDCF9-0108-478C-BB03-E84A7B0EC9A5}"/>
              </a:ext>
            </a:extLst>
          </p:cNvPr>
          <p:cNvPicPr>
            <a:picLocks noChangeAspect="1" noChangeArrowheads="1"/>
          </p:cNvPicPr>
          <p:nvPr/>
        </p:nvPicPr>
        <p:blipFill>
          <a:blip r:embed="rId3">
            <a:clrChange>
              <a:clrFrom>
                <a:srgbClr val="006599"/>
              </a:clrFrom>
              <a:clrTo>
                <a:srgbClr val="006599">
                  <a:alpha val="0"/>
                </a:srgbClr>
              </a:clrTo>
            </a:clrChange>
            <a:extLst>
              <a:ext uri="{28A0092B-C50C-407E-A947-70E740481C1C}">
                <a14:useLocalDpi xmlns:a14="http://schemas.microsoft.com/office/drawing/2010/main" val="0"/>
              </a:ext>
            </a:extLst>
          </a:blip>
          <a:srcRect l="6554" t="9799" r="7159" b="3743"/>
          <a:stretch>
            <a:fillRect/>
          </a:stretch>
        </p:blipFill>
        <p:spPr bwMode="auto">
          <a:xfrm>
            <a:off x="928688" y="2857500"/>
            <a:ext cx="3556000" cy="3498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Group 38">
            <a:extLst>
              <a:ext uri="{FF2B5EF4-FFF2-40B4-BE49-F238E27FC236}">
                <a16:creationId xmlns:a16="http://schemas.microsoft.com/office/drawing/2014/main" id="{0A575F3B-A400-4C97-A285-4464261B083A}"/>
              </a:ext>
            </a:extLst>
          </p:cNvPr>
          <p:cNvGrpSpPr>
            <a:grpSpLocks/>
          </p:cNvGrpSpPr>
          <p:nvPr/>
        </p:nvGrpSpPr>
        <p:grpSpPr bwMode="auto">
          <a:xfrm>
            <a:off x="5597525" y="4275138"/>
            <a:ext cx="2098675" cy="146050"/>
            <a:chOff x="3504" y="1632"/>
            <a:chExt cx="1344" cy="96"/>
          </a:xfrm>
        </p:grpSpPr>
        <p:sp>
          <p:nvSpPr>
            <p:cNvPr id="18461" name="Line 39">
              <a:extLst>
                <a:ext uri="{FF2B5EF4-FFF2-40B4-BE49-F238E27FC236}">
                  <a16:creationId xmlns:a16="http://schemas.microsoft.com/office/drawing/2014/main" id="{CAD92C92-9EE8-4A79-86FE-F74623D474C4}"/>
                </a:ext>
              </a:extLst>
            </p:cNvPr>
            <p:cNvSpPr>
              <a:spLocks noChangeShapeType="1"/>
            </p:cNvSpPr>
            <p:nvPr/>
          </p:nvSpPr>
          <p:spPr bwMode="auto">
            <a:xfrm>
              <a:off x="3504" y="1680"/>
              <a:ext cx="1344" cy="0"/>
            </a:xfrm>
            <a:prstGeom prst="line">
              <a:avLst/>
            </a:prstGeom>
            <a:noFill/>
            <a:ln w="9525">
              <a:solidFill>
                <a:schemeClr val="bg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62" name="Oval 40">
              <a:extLst>
                <a:ext uri="{FF2B5EF4-FFF2-40B4-BE49-F238E27FC236}">
                  <a16:creationId xmlns:a16="http://schemas.microsoft.com/office/drawing/2014/main" id="{84E879B5-0079-4F46-84AB-DD84BF3A69E3}"/>
                </a:ext>
              </a:extLst>
            </p:cNvPr>
            <p:cNvSpPr>
              <a:spLocks noChangeArrowheads="1"/>
            </p:cNvSpPr>
            <p:nvPr/>
          </p:nvSpPr>
          <p:spPr bwMode="auto">
            <a:xfrm>
              <a:off x="3696" y="1632"/>
              <a:ext cx="96" cy="96"/>
            </a:xfrm>
            <a:prstGeom prst="ellipse">
              <a:avLst/>
            </a:prstGeom>
            <a:solidFill>
              <a:srgbClr val="99CCFF"/>
            </a:solidFill>
            <a:ln w="317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8463" name="Oval 42">
              <a:extLst>
                <a:ext uri="{FF2B5EF4-FFF2-40B4-BE49-F238E27FC236}">
                  <a16:creationId xmlns:a16="http://schemas.microsoft.com/office/drawing/2014/main" id="{733B35E3-63FD-40A1-8531-36FD6E271B8D}"/>
                </a:ext>
              </a:extLst>
            </p:cNvPr>
            <p:cNvSpPr>
              <a:spLocks noChangeArrowheads="1"/>
            </p:cNvSpPr>
            <p:nvPr/>
          </p:nvSpPr>
          <p:spPr bwMode="auto">
            <a:xfrm>
              <a:off x="4272" y="1632"/>
              <a:ext cx="96" cy="96"/>
            </a:xfrm>
            <a:prstGeom prst="ellipse">
              <a:avLst/>
            </a:prstGeom>
            <a:solidFill>
              <a:srgbClr val="99CCFF"/>
            </a:solidFill>
            <a:ln w="317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grpSp>
      <p:grpSp>
        <p:nvGrpSpPr>
          <p:cNvPr id="6" name="Group 44">
            <a:extLst>
              <a:ext uri="{FF2B5EF4-FFF2-40B4-BE49-F238E27FC236}">
                <a16:creationId xmlns:a16="http://schemas.microsoft.com/office/drawing/2014/main" id="{1561EAB8-D6DA-48EF-ACD5-D3490B23211D}"/>
              </a:ext>
            </a:extLst>
          </p:cNvPr>
          <p:cNvGrpSpPr>
            <a:grpSpLocks/>
          </p:cNvGrpSpPr>
          <p:nvPr/>
        </p:nvGrpSpPr>
        <p:grpSpPr bwMode="auto">
          <a:xfrm>
            <a:off x="6784975" y="3429000"/>
            <a:ext cx="149225" cy="992188"/>
            <a:chOff x="3888" y="1316"/>
            <a:chExt cx="96" cy="652"/>
          </a:xfrm>
        </p:grpSpPr>
        <p:sp>
          <p:nvSpPr>
            <p:cNvPr id="18458" name="Oval 45">
              <a:extLst>
                <a:ext uri="{FF2B5EF4-FFF2-40B4-BE49-F238E27FC236}">
                  <a16:creationId xmlns:a16="http://schemas.microsoft.com/office/drawing/2014/main" id="{0D614955-BADE-4618-8188-65554553CD4B}"/>
                </a:ext>
              </a:extLst>
            </p:cNvPr>
            <p:cNvSpPr>
              <a:spLocks noChangeArrowheads="1"/>
            </p:cNvSpPr>
            <p:nvPr/>
          </p:nvSpPr>
          <p:spPr bwMode="auto">
            <a:xfrm>
              <a:off x="3888" y="1872"/>
              <a:ext cx="96" cy="96"/>
            </a:xfrm>
            <a:prstGeom prst="ellipse">
              <a:avLst/>
            </a:prstGeom>
            <a:solidFill>
              <a:schemeClr val="tx1"/>
            </a:solidFill>
            <a:ln w="3175">
              <a:solidFill>
                <a:schemeClr val="bg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8459" name="Oval 46">
              <a:extLst>
                <a:ext uri="{FF2B5EF4-FFF2-40B4-BE49-F238E27FC236}">
                  <a16:creationId xmlns:a16="http://schemas.microsoft.com/office/drawing/2014/main" id="{DACA9219-E5CC-4ACE-B231-DB7DC85A229B}"/>
                </a:ext>
              </a:extLst>
            </p:cNvPr>
            <p:cNvSpPr>
              <a:spLocks noChangeArrowheads="1"/>
            </p:cNvSpPr>
            <p:nvPr/>
          </p:nvSpPr>
          <p:spPr bwMode="auto">
            <a:xfrm>
              <a:off x="3888" y="1316"/>
              <a:ext cx="96" cy="96"/>
            </a:xfrm>
            <a:prstGeom prst="ellipse">
              <a:avLst/>
            </a:prstGeom>
            <a:solidFill>
              <a:srgbClr val="99CCFF"/>
            </a:solidFill>
            <a:ln w="317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8460" name="Line 47">
              <a:extLst>
                <a:ext uri="{FF2B5EF4-FFF2-40B4-BE49-F238E27FC236}">
                  <a16:creationId xmlns:a16="http://schemas.microsoft.com/office/drawing/2014/main" id="{79EAD2C1-C575-4B79-B801-02B15536D6C6}"/>
                </a:ext>
              </a:extLst>
            </p:cNvPr>
            <p:cNvSpPr>
              <a:spLocks noChangeShapeType="1"/>
            </p:cNvSpPr>
            <p:nvPr/>
          </p:nvSpPr>
          <p:spPr bwMode="auto">
            <a:xfrm flipV="1">
              <a:off x="3936" y="1410"/>
              <a:ext cx="0" cy="480"/>
            </a:xfrm>
            <a:prstGeom prst="line">
              <a:avLst/>
            </a:prstGeom>
            <a:noFill/>
            <a:ln w="28575">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221232" name="Text Box 48">
            <a:extLst>
              <a:ext uri="{FF2B5EF4-FFF2-40B4-BE49-F238E27FC236}">
                <a16:creationId xmlns:a16="http://schemas.microsoft.com/office/drawing/2014/main" id="{CFCDF4C5-0A6F-4CDA-BE20-D5E1C7DAB16F}"/>
              </a:ext>
            </a:extLst>
          </p:cNvPr>
          <p:cNvSpPr txBox="1">
            <a:spLocks noChangeArrowheads="1"/>
          </p:cNvSpPr>
          <p:nvPr/>
        </p:nvSpPr>
        <p:spPr bwMode="auto">
          <a:xfrm>
            <a:off x="7786688" y="5508625"/>
            <a:ext cx="8239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a:solidFill>
                  <a:srgbClr val="FF9900"/>
                </a:solidFill>
                <a:ea typeface="楷体_GB2312" pitchFamily="49" charset="-122"/>
              </a:rPr>
              <a:t>价带</a:t>
            </a:r>
          </a:p>
        </p:txBody>
      </p:sp>
      <p:grpSp>
        <p:nvGrpSpPr>
          <p:cNvPr id="7" name="Group 49">
            <a:extLst>
              <a:ext uri="{FF2B5EF4-FFF2-40B4-BE49-F238E27FC236}">
                <a16:creationId xmlns:a16="http://schemas.microsoft.com/office/drawing/2014/main" id="{2DD860CA-5B5F-44FD-B750-CBDB40261AE9}"/>
              </a:ext>
            </a:extLst>
          </p:cNvPr>
          <p:cNvGrpSpPr>
            <a:grpSpLocks/>
          </p:cNvGrpSpPr>
          <p:nvPr/>
        </p:nvGrpSpPr>
        <p:grpSpPr bwMode="auto">
          <a:xfrm>
            <a:off x="4960938" y="3571875"/>
            <a:ext cx="449262" cy="1095375"/>
            <a:chOff x="3120" y="1200"/>
            <a:chExt cx="288" cy="720"/>
          </a:xfrm>
        </p:grpSpPr>
        <p:sp>
          <p:nvSpPr>
            <p:cNvPr id="18454" name="Line 50">
              <a:extLst>
                <a:ext uri="{FF2B5EF4-FFF2-40B4-BE49-F238E27FC236}">
                  <a16:creationId xmlns:a16="http://schemas.microsoft.com/office/drawing/2014/main" id="{D359907C-7A25-45BC-A809-CF6A2B75903B}"/>
                </a:ext>
              </a:extLst>
            </p:cNvPr>
            <p:cNvSpPr>
              <a:spLocks noChangeShapeType="1"/>
            </p:cNvSpPr>
            <p:nvPr/>
          </p:nvSpPr>
          <p:spPr bwMode="auto">
            <a:xfrm>
              <a:off x="3120" y="1440"/>
              <a:ext cx="288" cy="0"/>
            </a:xfrm>
            <a:prstGeom prst="line">
              <a:avLst/>
            </a:prstGeom>
            <a:noFill/>
            <a:ln w="9525">
              <a:solidFill>
                <a:srgbClr val="33996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55" name="Line 51">
              <a:extLst>
                <a:ext uri="{FF2B5EF4-FFF2-40B4-BE49-F238E27FC236}">
                  <a16:creationId xmlns:a16="http://schemas.microsoft.com/office/drawing/2014/main" id="{578491E4-9D80-4DD3-A64F-F7EB14540D86}"/>
                </a:ext>
              </a:extLst>
            </p:cNvPr>
            <p:cNvSpPr>
              <a:spLocks noChangeShapeType="1"/>
            </p:cNvSpPr>
            <p:nvPr/>
          </p:nvSpPr>
          <p:spPr bwMode="auto">
            <a:xfrm>
              <a:off x="3120" y="1680"/>
              <a:ext cx="288" cy="0"/>
            </a:xfrm>
            <a:prstGeom prst="line">
              <a:avLst/>
            </a:prstGeom>
            <a:noFill/>
            <a:ln w="9525">
              <a:solidFill>
                <a:srgbClr val="33996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56" name="Line 52">
              <a:extLst>
                <a:ext uri="{FF2B5EF4-FFF2-40B4-BE49-F238E27FC236}">
                  <a16:creationId xmlns:a16="http://schemas.microsoft.com/office/drawing/2014/main" id="{5AEA6A00-F0F4-406A-95C2-6AF279CD4172}"/>
                </a:ext>
              </a:extLst>
            </p:cNvPr>
            <p:cNvSpPr>
              <a:spLocks noChangeShapeType="1"/>
            </p:cNvSpPr>
            <p:nvPr/>
          </p:nvSpPr>
          <p:spPr bwMode="auto">
            <a:xfrm>
              <a:off x="3264" y="1200"/>
              <a:ext cx="0" cy="240"/>
            </a:xfrm>
            <a:prstGeom prst="line">
              <a:avLst/>
            </a:prstGeom>
            <a:noFill/>
            <a:ln w="9525">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457" name="Line 53">
              <a:extLst>
                <a:ext uri="{FF2B5EF4-FFF2-40B4-BE49-F238E27FC236}">
                  <a16:creationId xmlns:a16="http://schemas.microsoft.com/office/drawing/2014/main" id="{4474114A-1F54-4373-89A7-96901F10CA77}"/>
                </a:ext>
              </a:extLst>
            </p:cNvPr>
            <p:cNvSpPr>
              <a:spLocks noChangeShapeType="1"/>
            </p:cNvSpPr>
            <p:nvPr/>
          </p:nvSpPr>
          <p:spPr bwMode="auto">
            <a:xfrm>
              <a:off x="3264" y="1680"/>
              <a:ext cx="0" cy="240"/>
            </a:xfrm>
            <a:prstGeom prst="line">
              <a:avLst/>
            </a:prstGeom>
            <a:noFill/>
            <a:ln w="9525">
              <a:solidFill>
                <a:schemeClr val="accent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grpSp>
      <p:sp>
        <p:nvSpPr>
          <p:cNvPr id="221238" name="Text Box 54">
            <a:extLst>
              <a:ext uri="{FF2B5EF4-FFF2-40B4-BE49-F238E27FC236}">
                <a16:creationId xmlns:a16="http://schemas.microsoft.com/office/drawing/2014/main" id="{270ED42A-90E9-4626-8C86-A2A5326C9BB5}"/>
              </a:ext>
            </a:extLst>
          </p:cNvPr>
          <p:cNvSpPr txBox="1">
            <a:spLocks noChangeArrowheads="1"/>
          </p:cNvSpPr>
          <p:nvPr/>
        </p:nvSpPr>
        <p:spPr bwMode="auto">
          <a:xfrm>
            <a:off x="4565650" y="3886200"/>
            <a:ext cx="12922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a:solidFill>
                  <a:srgbClr val="00FFCC"/>
                </a:solidFill>
              </a:rPr>
              <a:t>10</a:t>
            </a:r>
            <a:r>
              <a:rPr lang="en-US" altLang="zh-CN" baseline="30000">
                <a:solidFill>
                  <a:srgbClr val="00FFCC"/>
                </a:solidFill>
              </a:rPr>
              <a:t>-2 </a:t>
            </a:r>
            <a:r>
              <a:rPr lang="en-US" altLang="zh-CN">
                <a:solidFill>
                  <a:srgbClr val="00FFCC"/>
                </a:solidFill>
              </a:rPr>
              <a:t>e</a:t>
            </a:r>
            <a:r>
              <a:rPr lang="en-US" altLang="zh-CN" sz="2000">
                <a:solidFill>
                  <a:srgbClr val="00FFCC"/>
                </a:solidFill>
              </a:rPr>
              <a:t>V</a:t>
            </a:r>
          </a:p>
        </p:txBody>
      </p:sp>
      <p:sp>
        <p:nvSpPr>
          <p:cNvPr id="221239" name="Text Box 55">
            <a:extLst>
              <a:ext uri="{FF2B5EF4-FFF2-40B4-BE49-F238E27FC236}">
                <a16:creationId xmlns:a16="http://schemas.microsoft.com/office/drawing/2014/main" id="{8D5C575D-7B36-4A7D-AF94-5502FE069724}"/>
              </a:ext>
            </a:extLst>
          </p:cNvPr>
          <p:cNvSpPr txBox="1">
            <a:spLocks noChangeArrowheads="1"/>
          </p:cNvSpPr>
          <p:nvPr/>
        </p:nvSpPr>
        <p:spPr bwMode="auto">
          <a:xfrm>
            <a:off x="7805738" y="3786188"/>
            <a:ext cx="839787" cy="708025"/>
          </a:xfrm>
          <a:prstGeom prst="rect">
            <a:avLst/>
          </a:prstGeom>
          <a:solidFill>
            <a:srgbClr val="00336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a:solidFill>
                  <a:srgbClr val="FF9900"/>
                </a:solidFill>
                <a:ea typeface="楷体_GB2312" pitchFamily="49" charset="-122"/>
              </a:rPr>
              <a:t>施主能级</a:t>
            </a:r>
          </a:p>
        </p:txBody>
      </p:sp>
      <p:sp>
        <p:nvSpPr>
          <p:cNvPr id="221240" name="Oval 56">
            <a:extLst>
              <a:ext uri="{FF2B5EF4-FFF2-40B4-BE49-F238E27FC236}">
                <a16:creationId xmlns:a16="http://schemas.microsoft.com/office/drawing/2014/main" id="{0918FEBB-551C-4BDA-8F2E-F13BDEFAEEF2}"/>
              </a:ext>
            </a:extLst>
          </p:cNvPr>
          <p:cNvSpPr>
            <a:spLocks noChangeArrowheads="1"/>
          </p:cNvSpPr>
          <p:nvPr/>
        </p:nvSpPr>
        <p:spPr bwMode="auto">
          <a:xfrm>
            <a:off x="2420938" y="4327525"/>
            <a:ext cx="566737" cy="552450"/>
          </a:xfrm>
          <a:prstGeom prst="ellipse">
            <a:avLst/>
          </a:prstGeom>
          <a:solidFill>
            <a:schemeClr val="tx1"/>
          </a:solidFill>
          <a:ln w="28575">
            <a:solidFill>
              <a:srgbClr val="FFFF00"/>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solidFill>
                  <a:srgbClr val="FF9900"/>
                </a:solidFill>
              </a:rPr>
              <a:t>Si</a:t>
            </a:r>
          </a:p>
        </p:txBody>
      </p:sp>
      <p:sp>
        <p:nvSpPr>
          <p:cNvPr id="18452" name="灯片编号占位符 1">
            <a:extLst>
              <a:ext uri="{FF2B5EF4-FFF2-40B4-BE49-F238E27FC236}">
                <a16:creationId xmlns:a16="http://schemas.microsoft.com/office/drawing/2014/main" id="{60CC4A4D-6E52-4D80-AE4B-7F49994D43ED}"/>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BDAF6215-ABDA-4B81-995F-0DE04C25441B}" type="slidenum">
              <a:rPr lang="en-US" altLang="zh-CN" b="0" smtClean="0">
                <a:solidFill>
                  <a:srgbClr val="FF00FF"/>
                </a:solidFill>
              </a:rPr>
              <a:pPr eaLnBrk="1" hangingPunct="1"/>
              <a:t>10</a:t>
            </a:fld>
            <a:r>
              <a:rPr lang="en-US" altLang="zh-CN" b="0" dirty="0">
                <a:solidFill>
                  <a:srgbClr val="FF00FF"/>
                </a:solidFill>
              </a:rPr>
              <a:t>/40</a:t>
            </a:r>
          </a:p>
        </p:txBody>
      </p:sp>
      <p:sp>
        <p:nvSpPr>
          <p:cNvPr id="58" name="左大括号 57">
            <a:extLst>
              <a:ext uri="{FF2B5EF4-FFF2-40B4-BE49-F238E27FC236}">
                <a16:creationId xmlns:a16="http://schemas.microsoft.com/office/drawing/2014/main" id="{4ECD72D9-4828-400D-B4BE-819A357702D5}"/>
              </a:ext>
            </a:extLst>
          </p:cNvPr>
          <p:cNvSpPr>
            <a:spLocks/>
          </p:cNvSpPr>
          <p:nvPr/>
        </p:nvSpPr>
        <p:spPr bwMode="auto">
          <a:xfrm>
            <a:off x="642938" y="1000125"/>
            <a:ext cx="285750" cy="1000125"/>
          </a:xfrm>
          <a:prstGeom prst="leftBrace">
            <a:avLst>
              <a:gd name="adj1" fmla="val 32942"/>
              <a:gd name="adj2" fmla="val 50000"/>
            </a:avLst>
          </a:prstGeom>
          <a:noFill/>
          <a:ln w="254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21188"/>
                                        </p:tgtEl>
                                        <p:attrNameLst>
                                          <p:attrName>style.visibility</p:attrName>
                                        </p:attrNameLst>
                                      </p:cBhvr>
                                      <p:to>
                                        <p:strVal val="visible"/>
                                      </p:to>
                                    </p:set>
                                    <p:animEffect transition="in" filter="wipe(left)">
                                      <p:cBhvr>
                                        <p:cTn id="7" dur="500"/>
                                        <p:tgtEl>
                                          <p:spTgt spid="221188"/>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21187"/>
                                        </p:tgtEl>
                                        <p:attrNameLst>
                                          <p:attrName>style.visibility</p:attrName>
                                        </p:attrNameLst>
                                      </p:cBhvr>
                                      <p:to>
                                        <p:strVal val="visible"/>
                                      </p:to>
                                    </p:set>
                                    <p:animEffect transition="in" filter="wipe(left)">
                                      <p:cBhvr>
                                        <p:cTn id="11" dur="500"/>
                                        <p:tgtEl>
                                          <p:spTgt spid="221187"/>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221191"/>
                                        </p:tgtEl>
                                        <p:attrNameLst>
                                          <p:attrName>style.visibility</p:attrName>
                                        </p:attrNameLst>
                                      </p:cBhvr>
                                      <p:to>
                                        <p:strVal val="visible"/>
                                      </p:to>
                                    </p:set>
                                    <p:animEffect transition="in" filter="wipe(left)">
                                      <p:cBhvr>
                                        <p:cTn id="16" dur="500"/>
                                        <p:tgtEl>
                                          <p:spTgt spid="221191"/>
                                        </p:tgtEl>
                                      </p:cBhvr>
                                    </p:animEffect>
                                  </p:childTnLst>
                                </p:cTn>
                              </p:par>
                            </p:childTnLst>
                          </p:cTn>
                        </p:par>
                        <p:par>
                          <p:cTn id="17" fill="hold" nodeType="afterGroup">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221192"/>
                                        </p:tgtEl>
                                        <p:attrNameLst>
                                          <p:attrName>style.visibility</p:attrName>
                                        </p:attrNameLst>
                                      </p:cBhvr>
                                      <p:to>
                                        <p:strVal val="visible"/>
                                      </p:to>
                                    </p:set>
                                    <p:animEffect transition="in" filter="wipe(left)">
                                      <p:cBhvr>
                                        <p:cTn id="20" dur="500"/>
                                        <p:tgtEl>
                                          <p:spTgt spid="221192"/>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221189"/>
                                        </p:tgtEl>
                                        <p:attrNameLst>
                                          <p:attrName>style.visibility</p:attrName>
                                        </p:attrNameLst>
                                      </p:cBhvr>
                                      <p:to>
                                        <p:strVal val="visible"/>
                                      </p:to>
                                    </p:set>
                                    <p:animEffect transition="in" filter="wipe(left)">
                                      <p:cBhvr>
                                        <p:cTn id="25" dur="500"/>
                                        <p:tgtEl>
                                          <p:spTgt spid="221189"/>
                                        </p:tgtEl>
                                      </p:cBhvr>
                                    </p:animEffect>
                                  </p:childTnLst>
                                </p:cTn>
                              </p:par>
                            </p:childTnLst>
                          </p:cTn>
                        </p:par>
                        <p:par>
                          <p:cTn id="26" fill="hold" nodeType="afterGroup">
                            <p:stCondLst>
                              <p:cond delay="500"/>
                            </p:stCondLst>
                            <p:childTnLst>
                              <p:par>
                                <p:cTn id="27" presetID="22" presetClass="entr" presetSubtype="2" fill="hold" grpId="0" nodeType="afterEffect">
                                  <p:stCondLst>
                                    <p:cond delay="0"/>
                                  </p:stCondLst>
                                  <p:childTnLst>
                                    <p:set>
                                      <p:cBhvr>
                                        <p:cTn id="28" dur="1" fill="hold">
                                          <p:stCondLst>
                                            <p:cond delay="0"/>
                                          </p:stCondLst>
                                        </p:cTn>
                                        <p:tgtEl>
                                          <p:spTgt spid="58"/>
                                        </p:tgtEl>
                                        <p:attrNameLst>
                                          <p:attrName>style.visibility</p:attrName>
                                        </p:attrNameLst>
                                      </p:cBhvr>
                                      <p:to>
                                        <p:strVal val="visible"/>
                                      </p:to>
                                    </p:set>
                                    <p:animEffect transition="in" filter="wipe(right)">
                                      <p:cBhvr>
                                        <p:cTn id="29" dur="500"/>
                                        <p:tgtEl>
                                          <p:spTgt spid="58"/>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221190"/>
                                        </p:tgtEl>
                                        <p:attrNameLst>
                                          <p:attrName>style.visibility</p:attrName>
                                        </p:attrNameLst>
                                      </p:cBhvr>
                                      <p:to>
                                        <p:strVal val="visible"/>
                                      </p:to>
                                    </p:set>
                                    <p:animEffect transition="in" filter="wipe(left)">
                                      <p:cBhvr>
                                        <p:cTn id="34" dur="500"/>
                                        <p:tgtEl>
                                          <p:spTgt spid="221190"/>
                                        </p:tgtEl>
                                      </p:cBhvr>
                                    </p:animEffect>
                                  </p:childTnLst>
                                </p:cTn>
                              </p:par>
                            </p:childTnLst>
                          </p:cTn>
                        </p:par>
                        <p:par>
                          <p:cTn id="35" fill="hold" nodeType="afterGroup">
                            <p:stCondLst>
                              <p:cond delay="500"/>
                            </p:stCondLst>
                            <p:childTnLst>
                              <p:par>
                                <p:cTn id="36" presetID="4" presetClass="entr" presetSubtype="16" fill="hold" nodeType="afterEffect">
                                  <p:stCondLst>
                                    <p:cond delay="0"/>
                                  </p:stCondLst>
                                  <p:childTnLst>
                                    <p:set>
                                      <p:cBhvr>
                                        <p:cTn id="37" dur="1" fill="hold">
                                          <p:stCondLst>
                                            <p:cond delay="0"/>
                                          </p:stCondLst>
                                        </p:cTn>
                                        <p:tgtEl>
                                          <p:spTgt spid="221186"/>
                                        </p:tgtEl>
                                        <p:attrNameLst>
                                          <p:attrName>style.visibility</p:attrName>
                                        </p:attrNameLst>
                                      </p:cBhvr>
                                      <p:to>
                                        <p:strVal val="visible"/>
                                      </p:to>
                                    </p:set>
                                    <p:animEffect transition="in" filter="box(in)">
                                      <p:cBhvr>
                                        <p:cTn id="38" dur="500"/>
                                        <p:tgtEl>
                                          <p:spTgt spid="221186"/>
                                        </p:tgtEl>
                                      </p:cBhvr>
                                    </p:animEffect>
                                  </p:childTnLst>
                                </p:cTn>
                              </p:par>
                              <p:par>
                                <p:cTn id="39" presetID="9" presetClass="entr" presetSubtype="0" fill="hold" nodeType="withEffect">
                                  <p:stCondLst>
                                    <p:cond delay="0"/>
                                  </p:stCondLst>
                                  <p:childTnLst>
                                    <p:set>
                                      <p:cBhvr>
                                        <p:cTn id="40" dur="1" fill="hold">
                                          <p:stCondLst>
                                            <p:cond delay="0"/>
                                          </p:stCondLst>
                                        </p:cTn>
                                        <p:tgtEl>
                                          <p:spTgt spid="221221"/>
                                        </p:tgtEl>
                                        <p:attrNameLst>
                                          <p:attrName>style.visibility</p:attrName>
                                        </p:attrNameLst>
                                      </p:cBhvr>
                                      <p:to>
                                        <p:strVal val="visible"/>
                                      </p:to>
                                    </p:set>
                                    <p:animEffect transition="in" filter="dissolve">
                                      <p:cBhvr>
                                        <p:cTn id="41" dur="500"/>
                                        <p:tgtEl>
                                          <p:spTgt spid="221221"/>
                                        </p:tgtEl>
                                      </p:cBhvr>
                                    </p:animEffect>
                                  </p:childTnLst>
                                </p:cTn>
                              </p:par>
                            </p:childTnLst>
                          </p:cTn>
                        </p:par>
                        <p:par>
                          <p:cTn id="42" fill="hold" nodeType="afterGroup">
                            <p:stCondLst>
                              <p:cond delay="1000"/>
                            </p:stCondLst>
                            <p:childTnLst>
                              <p:par>
                                <p:cTn id="43" presetID="9" presetClass="entr" presetSubtype="0" fill="hold" grpId="0" nodeType="afterEffect">
                                  <p:stCondLst>
                                    <p:cond delay="500"/>
                                  </p:stCondLst>
                                  <p:childTnLst>
                                    <p:set>
                                      <p:cBhvr>
                                        <p:cTn id="44" dur="1" fill="hold">
                                          <p:stCondLst>
                                            <p:cond delay="0"/>
                                          </p:stCondLst>
                                        </p:cTn>
                                        <p:tgtEl>
                                          <p:spTgt spid="221240"/>
                                        </p:tgtEl>
                                        <p:attrNameLst>
                                          <p:attrName>style.visibility</p:attrName>
                                        </p:attrNameLst>
                                      </p:cBhvr>
                                      <p:to>
                                        <p:strVal val="visible"/>
                                      </p:to>
                                    </p:set>
                                    <p:animEffect transition="in" filter="dissolve">
                                      <p:cBhvr>
                                        <p:cTn id="45" dur="500"/>
                                        <p:tgtEl>
                                          <p:spTgt spid="221240"/>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9" presetClass="entr" presetSubtype="0" fill="hold" nodeType="clickEffect">
                                  <p:stCondLst>
                                    <p:cond delay="0"/>
                                  </p:stCondLst>
                                  <p:childTnLst>
                                    <p:set>
                                      <p:cBhvr>
                                        <p:cTn id="49" dur="1" fill="hold">
                                          <p:stCondLst>
                                            <p:cond delay="0"/>
                                          </p:stCondLst>
                                        </p:cTn>
                                        <p:tgtEl>
                                          <p:spTgt spid="4"/>
                                        </p:tgtEl>
                                        <p:attrNameLst>
                                          <p:attrName>style.visibility</p:attrName>
                                        </p:attrNameLst>
                                      </p:cBhvr>
                                      <p:to>
                                        <p:strVal val="visible"/>
                                      </p:to>
                                    </p:set>
                                    <p:animEffect transition="in" filter="dissolve">
                                      <p:cBhvr>
                                        <p:cTn id="50" dur="500"/>
                                        <p:tgtEl>
                                          <p:spTgt spid="4"/>
                                        </p:tgtEl>
                                      </p:cBhvr>
                                    </p:animEffect>
                                  </p:childTnLst>
                                </p:cTn>
                              </p:par>
                              <p:par>
                                <p:cTn id="51" presetID="9" presetClass="entr" presetSubtype="0" fill="hold" nodeType="withEffect">
                                  <p:stCondLst>
                                    <p:cond delay="0"/>
                                  </p:stCondLst>
                                  <p:childTnLst>
                                    <p:set>
                                      <p:cBhvr>
                                        <p:cTn id="52" dur="1" fill="hold">
                                          <p:stCondLst>
                                            <p:cond delay="0"/>
                                          </p:stCondLst>
                                        </p:cTn>
                                        <p:tgtEl>
                                          <p:spTgt spid="2"/>
                                        </p:tgtEl>
                                        <p:attrNameLst>
                                          <p:attrName>style.visibility</p:attrName>
                                        </p:attrNameLst>
                                      </p:cBhvr>
                                      <p:to>
                                        <p:strVal val="visible"/>
                                      </p:to>
                                    </p:set>
                                    <p:animEffect transition="in" filter="dissolve">
                                      <p:cBhvr>
                                        <p:cTn id="53" dur="500"/>
                                        <p:tgtEl>
                                          <p:spTgt spid="2"/>
                                        </p:tgtEl>
                                      </p:cBhvr>
                                    </p:animEffect>
                                  </p:childTnLst>
                                </p:cTn>
                              </p:par>
                              <p:par>
                                <p:cTn id="54" presetID="9" presetClass="entr" presetSubtype="0" fill="hold" grpId="0" nodeType="withEffect">
                                  <p:stCondLst>
                                    <p:cond delay="0"/>
                                  </p:stCondLst>
                                  <p:childTnLst>
                                    <p:set>
                                      <p:cBhvr>
                                        <p:cTn id="55" dur="1" fill="hold">
                                          <p:stCondLst>
                                            <p:cond delay="0"/>
                                          </p:stCondLst>
                                        </p:cTn>
                                        <p:tgtEl>
                                          <p:spTgt spid="221232"/>
                                        </p:tgtEl>
                                        <p:attrNameLst>
                                          <p:attrName>style.visibility</p:attrName>
                                        </p:attrNameLst>
                                      </p:cBhvr>
                                      <p:to>
                                        <p:strVal val="visible"/>
                                      </p:to>
                                    </p:set>
                                    <p:animEffect transition="in" filter="dissolve">
                                      <p:cBhvr>
                                        <p:cTn id="56" dur="500"/>
                                        <p:tgtEl>
                                          <p:spTgt spid="221232"/>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1" presetClass="exit" presetSubtype="0" fill="hold" grpId="1" nodeType="clickEffect">
                                  <p:stCondLst>
                                    <p:cond delay="0"/>
                                  </p:stCondLst>
                                  <p:childTnLst>
                                    <p:set>
                                      <p:cBhvr>
                                        <p:cTn id="60" dur="1" fill="hold">
                                          <p:stCondLst>
                                            <p:cond delay="0"/>
                                          </p:stCondLst>
                                        </p:cTn>
                                        <p:tgtEl>
                                          <p:spTgt spid="221240"/>
                                        </p:tgtEl>
                                        <p:attrNameLst>
                                          <p:attrName>style.visibility</p:attrName>
                                        </p:attrNameLst>
                                      </p:cBhvr>
                                      <p:to>
                                        <p:strVal val="hidden"/>
                                      </p:to>
                                    </p:set>
                                  </p:childTnLst>
                                </p:cTn>
                              </p:par>
                            </p:childTnLst>
                          </p:cTn>
                        </p:par>
                      </p:childTnLst>
                    </p:cTn>
                  </p:par>
                  <p:par>
                    <p:cTn id="61" fill="hold" nodeType="clickPar">
                      <p:stCondLst>
                        <p:cond delay="indefinite"/>
                      </p:stCondLst>
                      <p:childTnLst>
                        <p:par>
                          <p:cTn id="62" fill="hold" nodeType="withGroup">
                            <p:stCondLst>
                              <p:cond delay="0"/>
                            </p:stCondLst>
                            <p:childTnLst>
                              <p:par>
                                <p:cTn id="63" presetID="12" presetClass="entr" presetSubtype="8" fill="hold" nodeType="clickEffect">
                                  <p:stCondLst>
                                    <p:cond delay="0"/>
                                  </p:stCondLst>
                                  <p:childTnLst>
                                    <p:set>
                                      <p:cBhvr>
                                        <p:cTn id="64" dur="1" fill="hold">
                                          <p:stCondLst>
                                            <p:cond delay="0"/>
                                          </p:stCondLst>
                                        </p:cTn>
                                        <p:tgtEl>
                                          <p:spTgt spid="5"/>
                                        </p:tgtEl>
                                        <p:attrNameLst>
                                          <p:attrName>style.visibility</p:attrName>
                                        </p:attrNameLst>
                                      </p:cBhvr>
                                      <p:to>
                                        <p:strVal val="visible"/>
                                      </p:to>
                                    </p:set>
                                    <p:animEffect transition="in" filter="slide(fromLeft)">
                                      <p:cBhvr>
                                        <p:cTn id="65" dur="500"/>
                                        <p:tgtEl>
                                          <p:spTgt spid="5"/>
                                        </p:tgtEl>
                                      </p:cBhvr>
                                    </p:animEffect>
                                  </p:childTnLst>
                                </p:cTn>
                              </p:par>
                            </p:childTnLst>
                          </p:cTn>
                        </p:par>
                        <p:par>
                          <p:cTn id="66" fill="hold" nodeType="afterGroup">
                            <p:stCondLst>
                              <p:cond delay="500"/>
                            </p:stCondLst>
                            <p:childTnLst>
                              <p:par>
                                <p:cTn id="67" presetID="12" presetClass="entr" presetSubtype="2" fill="hold" grpId="0" nodeType="afterEffect">
                                  <p:stCondLst>
                                    <p:cond delay="0"/>
                                  </p:stCondLst>
                                  <p:childTnLst>
                                    <p:set>
                                      <p:cBhvr>
                                        <p:cTn id="68" dur="1" fill="hold">
                                          <p:stCondLst>
                                            <p:cond delay="0"/>
                                          </p:stCondLst>
                                        </p:cTn>
                                        <p:tgtEl>
                                          <p:spTgt spid="221193"/>
                                        </p:tgtEl>
                                        <p:attrNameLst>
                                          <p:attrName>style.visibility</p:attrName>
                                        </p:attrNameLst>
                                      </p:cBhvr>
                                      <p:to>
                                        <p:strVal val="visible"/>
                                      </p:to>
                                    </p:set>
                                    <p:animEffect transition="in" filter="slide(fromRight)">
                                      <p:cBhvr>
                                        <p:cTn id="69" dur="500"/>
                                        <p:tgtEl>
                                          <p:spTgt spid="221193"/>
                                        </p:tgtEl>
                                      </p:cBhvr>
                                    </p:animEffect>
                                  </p:childTnLst>
                                </p:cTn>
                              </p:par>
                            </p:childTnLst>
                          </p:cTn>
                        </p:par>
                        <p:par>
                          <p:cTn id="70" fill="hold" nodeType="afterGroup">
                            <p:stCondLst>
                              <p:cond delay="1000"/>
                            </p:stCondLst>
                            <p:childTnLst>
                              <p:par>
                                <p:cTn id="71" presetID="23" presetClass="entr" presetSubtype="288" fill="hold" nodeType="afterEffect">
                                  <p:stCondLst>
                                    <p:cond delay="0"/>
                                  </p:stCondLst>
                                  <p:childTnLst>
                                    <p:set>
                                      <p:cBhvr>
                                        <p:cTn id="72" dur="1" fill="hold">
                                          <p:stCondLst>
                                            <p:cond delay="0"/>
                                          </p:stCondLst>
                                        </p:cTn>
                                        <p:tgtEl>
                                          <p:spTgt spid="7"/>
                                        </p:tgtEl>
                                        <p:attrNameLst>
                                          <p:attrName>style.visibility</p:attrName>
                                        </p:attrNameLst>
                                      </p:cBhvr>
                                      <p:to>
                                        <p:strVal val="visible"/>
                                      </p:to>
                                    </p:set>
                                    <p:anim calcmode="lin" valueType="num">
                                      <p:cBhvr>
                                        <p:cTn id="73" dur="500" fill="hold"/>
                                        <p:tgtEl>
                                          <p:spTgt spid="7"/>
                                        </p:tgtEl>
                                        <p:attrNameLst>
                                          <p:attrName>ppt_w</p:attrName>
                                        </p:attrNameLst>
                                      </p:cBhvr>
                                      <p:tavLst>
                                        <p:tav tm="0">
                                          <p:val>
                                            <p:strVal val="4/3*#ppt_w"/>
                                          </p:val>
                                        </p:tav>
                                        <p:tav tm="100000">
                                          <p:val>
                                            <p:strVal val="#ppt_w"/>
                                          </p:val>
                                        </p:tav>
                                      </p:tavLst>
                                    </p:anim>
                                    <p:anim calcmode="lin" valueType="num">
                                      <p:cBhvr>
                                        <p:cTn id="74" dur="500" fill="hold"/>
                                        <p:tgtEl>
                                          <p:spTgt spid="7"/>
                                        </p:tgtEl>
                                        <p:attrNameLst>
                                          <p:attrName>ppt_h</p:attrName>
                                        </p:attrNameLst>
                                      </p:cBhvr>
                                      <p:tavLst>
                                        <p:tav tm="0">
                                          <p:val>
                                            <p:strVal val="4/3*#ppt_h"/>
                                          </p:val>
                                        </p:tav>
                                        <p:tav tm="100000">
                                          <p:val>
                                            <p:strVal val="#ppt_h"/>
                                          </p:val>
                                        </p:tav>
                                      </p:tavLst>
                                    </p:anim>
                                  </p:childTnLst>
                                </p:cTn>
                              </p:par>
                              <p:par>
                                <p:cTn id="75" presetID="1" presetClass="entr" presetSubtype="0" fill="hold" grpId="0" nodeType="withEffect">
                                  <p:stCondLst>
                                    <p:cond delay="0"/>
                                  </p:stCondLst>
                                  <p:childTnLst>
                                    <p:set>
                                      <p:cBhvr>
                                        <p:cTn id="76" dur="1" fill="hold">
                                          <p:stCondLst>
                                            <p:cond delay="499"/>
                                          </p:stCondLst>
                                        </p:cTn>
                                        <p:tgtEl>
                                          <p:spTgt spid="221238"/>
                                        </p:tgtEl>
                                        <p:attrNameLst>
                                          <p:attrName>style.visibility</p:attrName>
                                        </p:attrNameLst>
                                      </p:cBhvr>
                                      <p:to>
                                        <p:strVal val="visible"/>
                                      </p:to>
                                    </p:set>
                                  </p:childTnLst>
                                </p:cTn>
                              </p:par>
                            </p:childTnLst>
                          </p:cTn>
                        </p:par>
                      </p:childTnLst>
                    </p:cTn>
                  </p:par>
                  <p:par>
                    <p:cTn id="77" fill="hold" nodeType="clickPar">
                      <p:stCondLst>
                        <p:cond delay="indefinite"/>
                      </p:stCondLst>
                      <p:childTnLst>
                        <p:par>
                          <p:cTn id="78" fill="hold" nodeType="withGroup">
                            <p:stCondLst>
                              <p:cond delay="0"/>
                            </p:stCondLst>
                            <p:childTnLst>
                              <p:par>
                                <p:cTn id="79" presetID="12" presetClass="entr" presetSubtype="4" fill="hold" nodeType="clickEffect">
                                  <p:stCondLst>
                                    <p:cond delay="0"/>
                                  </p:stCondLst>
                                  <p:childTnLst>
                                    <p:set>
                                      <p:cBhvr>
                                        <p:cTn id="80" dur="1" fill="hold">
                                          <p:stCondLst>
                                            <p:cond delay="0"/>
                                          </p:stCondLst>
                                        </p:cTn>
                                        <p:tgtEl>
                                          <p:spTgt spid="6"/>
                                        </p:tgtEl>
                                        <p:attrNameLst>
                                          <p:attrName>style.visibility</p:attrName>
                                        </p:attrNameLst>
                                      </p:cBhvr>
                                      <p:to>
                                        <p:strVal val="visible"/>
                                      </p:to>
                                    </p:set>
                                    <p:animEffect transition="in" filter="slide(fromBottom)">
                                      <p:cBhvr>
                                        <p:cTn id="81" dur="500"/>
                                        <p:tgtEl>
                                          <p:spTgt spid="6"/>
                                        </p:tgtEl>
                                      </p:cBhvr>
                                    </p:animEffect>
                                  </p:childTnLst>
                                </p:cTn>
                              </p:par>
                            </p:childTnLst>
                          </p:cTn>
                        </p:par>
                        <p:par>
                          <p:cTn id="82" fill="hold" nodeType="afterGroup">
                            <p:stCondLst>
                              <p:cond delay="500"/>
                            </p:stCondLst>
                            <p:childTnLst>
                              <p:par>
                                <p:cTn id="83" presetID="9" presetClass="entr" presetSubtype="0" fill="hold" grpId="0" nodeType="afterEffect">
                                  <p:stCondLst>
                                    <p:cond delay="500"/>
                                  </p:stCondLst>
                                  <p:childTnLst>
                                    <p:set>
                                      <p:cBhvr>
                                        <p:cTn id="84" dur="1" fill="hold">
                                          <p:stCondLst>
                                            <p:cond delay="0"/>
                                          </p:stCondLst>
                                        </p:cTn>
                                        <p:tgtEl>
                                          <p:spTgt spid="221239"/>
                                        </p:tgtEl>
                                        <p:attrNameLst>
                                          <p:attrName>style.visibility</p:attrName>
                                        </p:attrNameLst>
                                      </p:cBhvr>
                                      <p:to>
                                        <p:strVal val="visible"/>
                                      </p:to>
                                    </p:set>
                                    <p:animEffect transition="in" filter="dissolve">
                                      <p:cBhvr>
                                        <p:cTn id="85" dur="1000"/>
                                        <p:tgtEl>
                                          <p:spTgt spid="2212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1187" grpId="0"/>
      <p:bldP spid="221188" grpId="0"/>
      <p:bldP spid="221189" grpId="0"/>
      <p:bldP spid="221190" grpId="0"/>
      <p:bldP spid="221191" grpId="0"/>
      <p:bldP spid="221192" grpId="0"/>
      <p:bldP spid="221193" grpId="0" animBg="1" autoUpdateAnimBg="0"/>
      <p:bldP spid="221232" grpId="0"/>
      <p:bldP spid="221238" grpId="0" autoUpdateAnimBg="0"/>
      <p:bldP spid="221239" grpId="0" animBg="1" autoUpdateAnimBg="0"/>
      <p:bldP spid="221240" grpId="0" animBg="1"/>
      <p:bldP spid="221240" grpId="1" animBg="1"/>
      <p:bldP spid="58" grpId="0" animBg="1"/>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2210" name="Rectangle 2">
            <a:extLst>
              <a:ext uri="{FF2B5EF4-FFF2-40B4-BE49-F238E27FC236}">
                <a16:creationId xmlns:a16="http://schemas.microsoft.com/office/drawing/2014/main" id="{D07F89C2-0C41-41D0-AD20-03997F263C58}"/>
              </a:ext>
            </a:extLst>
          </p:cNvPr>
          <p:cNvSpPr>
            <a:spLocks noChangeArrowheads="1"/>
          </p:cNvSpPr>
          <p:nvPr/>
        </p:nvSpPr>
        <p:spPr bwMode="auto">
          <a:xfrm>
            <a:off x="727075" y="1700213"/>
            <a:ext cx="7905750" cy="4249737"/>
          </a:xfrm>
          <a:prstGeom prst="rect">
            <a:avLst/>
          </a:prstGeom>
          <a:solidFill>
            <a:srgbClr val="336699">
              <a:alpha val="32156"/>
            </a:srgbClr>
          </a:solidFill>
          <a:ln w="9525">
            <a:miter lim="800000"/>
            <a:headEnd/>
            <a:tailEnd/>
          </a:ln>
          <a:scene3d>
            <a:camera prst="legacyObliqueTopRight"/>
            <a:lightRig rig="legacyFlat3" dir="r"/>
          </a:scene3d>
          <a:sp3d extrusionH="36500" prstMaterial="legacyMatte">
            <a:bevelT w="13500" h="13500" prst="angle"/>
            <a:bevelB w="13500" h="13500" prst="angle"/>
            <a:extrusionClr>
              <a:srgbClr val="336699"/>
            </a:extrusionClr>
            <a:contourClr>
              <a:srgbClr val="336699"/>
            </a:contourClr>
          </a:sp3d>
        </p:spPr>
        <p:txBody>
          <a:bodyPr wrap="none" anchor="ctr">
            <a:flatTx/>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a:solidFill>
                <a:srgbClr val="FF9900"/>
              </a:solidFill>
              <a:latin typeface="Arial" panose="020B0604020202020204" pitchFamily="34" charset="0"/>
              <a:ea typeface="仿宋_GB2312" pitchFamily="49" charset="-122"/>
            </a:endParaRPr>
          </a:p>
        </p:txBody>
      </p:sp>
      <p:pic>
        <p:nvPicPr>
          <p:cNvPr id="222211" name="Picture 3" descr="P 型半导体">
            <a:extLst>
              <a:ext uri="{FF2B5EF4-FFF2-40B4-BE49-F238E27FC236}">
                <a16:creationId xmlns:a16="http://schemas.microsoft.com/office/drawing/2014/main" id="{2FF3C056-7EC5-45C5-B2FF-DBE52C35C554}"/>
              </a:ext>
            </a:extLst>
          </p:cNvPr>
          <p:cNvPicPr>
            <a:picLocks noChangeAspect="1" noChangeArrowheads="1"/>
          </p:cNvPicPr>
          <p:nvPr/>
        </p:nvPicPr>
        <p:blipFill>
          <a:blip r:embed="rId3">
            <a:clrChange>
              <a:clrFrom>
                <a:srgbClr val="006599"/>
              </a:clrFrom>
              <a:clrTo>
                <a:srgbClr val="006599">
                  <a:alpha val="0"/>
                </a:srgbClr>
              </a:clrTo>
            </a:clrChange>
            <a:extLst>
              <a:ext uri="{28A0092B-C50C-407E-A947-70E740481C1C}">
                <a14:useLocalDpi xmlns:a14="http://schemas.microsoft.com/office/drawing/2010/main" val="0"/>
              </a:ext>
            </a:extLst>
          </a:blip>
          <a:srcRect l="5190" t="10764" r="3751" b="1736"/>
          <a:stretch>
            <a:fillRect/>
          </a:stretch>
        </p:blipFill>
        <p:spPr bwMode="auto">
          <a:xfrm>
            <a:off x="841375" y="1989138"/>
            <a:ext cx="3816350"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2212" name="Text Box 4">
            <a:extLst>
              <a:ext uri="{FF2B5EF4-FFF2-40B4-BE49-F238E27FC236}">
                <a16:creationId xmlns:a16="http://schemas.microsoft.com/office/drawing/2014/main" id="{DCD9FB90-FC28-4D18-B20C-01ACB19B8668}"/>
              </a:ext>
            </a:extLst>
          </p:cNvPr>
          <p:cNvSpPr txBox="1">
            <a:spLocks noChangeArrowheads="1"/>
          </p:cNvSpPr>
          <p:nvPr/>
        </p:nvSpPr>
        <p:spPr bwMode="auto">
          <a:xfrm>
            <a:off x="765175" y="955675"/>
            <a:ext cx="25098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dirty="0">
                <a:solidFill>
                  <a:srgbClr val="00FFFF"/>
                </a:solidFill>
                <a:latin typeface="宋体" panose="02010600030101010101" pitchFamily="2" charset="-122"/>
                <a:ea typeface="仿宋_GB2312" pitchFamily="49" charset="-122"/>
              </a:rPr>
              <a:t>(2) </a:t>
            </a:r>
            <a:r>
              <a:rPr lang="en-US" altLang="zh-CN" i="1" dirty="0">
                <a:solidFill>
                  <a:srgbClr val="00FFFF"/>
                </a:solidFill>
                <a:latin typeface="宋体" panose="02010600030101010101" pitchFamily="2" charset="-122"/>
                <a:ea typeface="仿宋_GB2312" pitchFamily="49" charset="-122"/>
              </a:rPr>
              <a:t> </a:t>
            </a:r>
            <a:r>
              <a:rPr lang="en-US" altLang="zh-CN" dirty="0">
                <a:solidFill>
                  <a:srgbClr val="FF9900"/>
                </a:solidFill>
                <a:latin typeface="宋体" panose="02010600030101010101" pitchFamily="2" charset="-122"/>
                <a:ea typeface="仿宋_GB2312" pitchFamily="49" charset="-122"/>
              </a:rPr>
              <a:t>p</a:t>
            </a:r>
            <a:r>
              <a:rPr lang="en-US" altLang="zh-CN" dirty="0">
                <a:solidFill>
                  <a:srgbClr val="00FFFF"/>
                </a:solidFill>
                <a:latin typeface="宋体" panose="02010600030101010101" pitchFamily="2" charset="-122"/>
                <a:ea typeface="仿宋_GB2312" pitchFamily="49" charset="-122"/>
              </a:rPr>
              <a:t> </a:t>
            </a:r>
            <a:r>
              <a:rPr lang="zh-CN" altLang="en-US" dirty="0">
                <a:solidFill>
                  <a:srgbClr val="00FFFF"/>
                </a:solidFill>
                <a:latin typeface="宋体" panose="02010600030101010101" pitchFamily="2" charset="-122"/>
                <a:ea typeface="仿宋_GB2312" pitchFamily="49" charset="-122"/>
              </a:rPr>
              <a:t>型半导体</a:t>
            </a:r>
          </a:p>
        </p:txBody>
      </p:sp>
      <p:grpSp>
        <p:nvGrpSpPr>
          <p:cNvPr id="2" name="Group 5">
            <a:extLst>
              <a:ext uri="{FF2B5EF4-FFF2-40B4-BE49-F238E27FC236}">
                <a16:creationId xmlns:a16="http://schemas.microsoft.com/office/drawing/2014/main" id="{4CE9C52C-F9A5-4EB7-A344-72B476CE877C}"/>
              </a:ext>
            </a:extLst>
          </p:cNvPr>
          <p:cNvGrpSpPr>
            <a:grpSpLocks/>
          </p:cNvGrpSpPr>
          <p:nvPr/>
        </p:nvGrpSpPr>
        <p:grpSpPr bwMode="auto">
          <a:xfrm>
            <a:off x="5576888" y="4365625"/>
            <a:ext cx="2133600" cy="1295400"/>
            <a:chOff x="384" y="2496"/>
            <a:chExt cx="1344" cy="816"/>
          </a:xfrm>
        </p:grpSpPr>
        <p:sp>
          <p:nvSpPr>
            <p:cNvPr id="20511" name="Oval 6">
              <a:extLst>
                <a:ext uri="{FF2B5EF4-FFF2-40B4-BE49-F238E27FC236}">
                  <a16:creationId xmlns:a16="http://schemas.microsoft.com/office/drawing/2014/main" id="{4FB07C3D-40FC-4D51-A22E-BA5F0A633137}"/>
                </a:ext>
              </a:extLst>
            </p:cNvPr>
            <p:cNvSpPr>
              <a:spLocks noChangeArrowheads="1"/>
            </p:cNvSpPr>
            <p:nvPr/>
          </p:nvSpPr>
          <p:spPr bwMode="auto">
            <a:xfrm>
              <a:off x="1296" y="2496"/>
              <a:ext cx="96" cy="96"/>
            </a:xfrm>
            <a:prstGeom prst="ellipse">
              <a:avLst/>
            </a:prstGeom>
            <a:solidFill>
              <a:srgbClr val="99CC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20512" name="Oval 7">
              <a:extLst>
                <a:ext uri="{FF2B5EF4-FFF2-40B4-BE49-F238E27FC236}">
                  <a16:creationId xmlns:a16="http://schemas.microsoft.com/office/drawing/2014/main" id="{6C123C7B-EE4F-44D3-88A6-62527AD89628}"/>
                </a:ext>
              </a:extLst>
            </p:cNvPr>
            <p:cNvSpPr>
              <a:spLocks noChangeArrowheads="1"/>
            </p:cNvSpPr>
            <p:nvPr/>
          </p:nvSpPr>
          <p:spPr bwMode="auto">
            <a:xfrm>
              <a:off x="768" y="2496"/>
              <a:ext cx="96" cy="96"/>
            </a:xfrm>
            <a:prstGeom prst="ellipse">
              <a:avLst/>
            </a:prstGeom>
            <a:solidFill>
              <a:srgbClr val="99CC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20513" name="Oval 8">
              <a:extLst>
                <a:ext uri="{FF2B5EF4-FFF2-40B4-BE49-F238E27FC236}">
                  <a16:creationId xmlns:a16="http://schemas.microsoft.com/office/drawing/2014/main" id="{4DC4D46D-BD32-4E7F-93FB-E224B575CA5E}"/>
                </a:ext>
              </a:extLst>
            </p:cNvPr>
            <p:cNvSpPr>
              <a:spLocks noChangeArrowheads="1"/>
            </p:cNvSpPr>
            <p:nvPr/>
          </p:nvSpPr>
          <p:spPr bwMode="auto">
            <a:xfrm>
              <a:off x="1296" y="2640"/>
              <a:ext cx="96" cy="96"/>
            </a:xfrm>
            <a:prstGeom prst="ellipse">
              <a:avLst/>
            </a:prstGeom>
            <a:solidFill>
              <a:srgbClr val="99CC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20514" name="Oval 9">
              <a:extLst>
                <a:ext uri="{FF2B5EF4-FFF2-40B4-BE49-F238E27FC236}">
                  <a16:creationId xmlns:a16="http://schemas.microsoft.com/office/drawing/2014/main" id="{3481DA1D-A700-485E-954B-5A091AE3CEFD}"/>
                </a:ext>
              </a:extLst>
            </p:cNvPr>
            <p:cNvSpPr>
              <a:spLocks noChangeArrowheads="1"/>
            </p:cNvSpPr>
            <p:nvPr/>
          </p:nvSpPr>
          <p:spPr bwMode="auto">
            <a:xfrm>
              <a:off x="768" y="2640"/>
              <a:ext cx="96" cy="96"/>
            </a:xfrm>
            <a:prstGeom prst="ellipse">
              <a:avLst/>
            </a:prstGeom>
            <a:solidFill>
              <a:srgbClr val="99CC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20515" name="Oval 10">
              <a:extLst>
                <a:ext uri="{FF2B5EF4-FFF2-40B4-BE49-F238E27FC236}">
                  <a16:creationId xmlns:a16="http://schemas.microsoft.com/office/drawing/2014/main" id="{56A7F737-E477-4918-AFCF-146179D2FE76}"/>
                </a:ext>
              </a:extLst>
            </p:cNvPr>
            <p:cNvSpPr>
              <a:spLocks noChangeArrowheads="1"/>
            </p:cNvSpPr>
            <p:nvPr/>
          </p:nvSpPr>
          <p:spPr bwMode="auto">
            <a:xfrm>
              <a:off x="1296" y="2784"/>
              <a:ext cx="96" cy="96"/>
            </a:xfrm>
            <a:prstGeom prst="ellipse">
              <a:avLst/>
            </a:prstGeom>
            <a:solidFill>
              <a:srgbClr val="99CC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20516" name="Oval 11">
              <a:extLst>
                <a:ext uri="{FF2B5EF4-FFF2-40B4-BE49-F238E27FC236}">
                  <a16:creationId xmlns:a16="http://schemas.microsoft.com/office/drawing/2014/main" id="{2F1F9221-95D8-445E-9354-20895B72B071}"/>
                </a:ext>
              </a:extLst>
            </p:cNvPr>
            <p:cNvSpPr>
              <a:spLocks noChangeArrowheads="1"/>
            </p:cNvSpPr>
            <p:nvPr/>
          </p:nvSpPr>
          <p:spPr bwMode="auto">
            <a:xfrm>
              <a:off x="768" y="2784"/>
              <a:ext cx="96" cy="96"/>
            </a:xfrm>
            <a:prstGeom prst="ellipse">
              <a:avLst/>
            </a:prstGeom>
            <a:solidFill>
              <a:srgbClr val="99CC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20517" name="Oval 12">
              <a:extLst>
                <a:ext uri="{FF2B5EF4-FFF2-40B4-BE49-F238E27FC236}">
                  <a16:creationId xmlns:a16="http://schemas.microsoft.com/office/drawing/2014/main" id="{3C425C6B-9522-44BE-9A6C-B505FD0BC37A}"/>
                </a:ext>
              </a:extLst>
            </p:cNvPr>
            <p:cNvSpPr>
              <a:spLocks noChangeArrowheads="1"/>
            </p:cNvSpPr>
            <p:nvPr/>
          </p:nvSpPr>
          <p:spPr bwMode="auto">
            <a:xfrm>
              <a:off x="1296" y="2928"/>
              <a:ext cx="96" cy="96"/>
            </a:xfrm>
            <a:prstGeom prst="ellipse">
              <a:avLst/>
            </a:prstGeom>
            <a:solidFill>
              <a:srgbClr val="99CC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20518" name="Oval 13">
              <a:extLst>
                <a:ext uri="{FF2B5EF4-FFF2-40B4-BE49-F238E27FC236}">
                  <a16:creationId xmlns:a16="http://schemas.microsoft.com/office/drawing/2014/main" id="{4801A6CF-889D-445C-8B12-05CD518DF45F}"/>
                </a:ext>
              </a:extLst>
            </p:cNvPr>
            <p:cNvSpPr>
              <a:spLocks noChangeArrowheads="1"/>
            </p:cNvSpPr>
            <p:nvPr/>
          </p:nvSpPr>
          <p:spPr bwMode="auto">
            <a:xfrm>
              <a:off x="768" y="2928"/>
              <a:ext cx="96" cy="96"/>
            </a:xfrm>
            <a:prstGeom prst="ellipse">
              <a:avLst/>
            </a:prstGeom>
            <a:solidFill>
              <a:srgbClr val="99CC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20519" name="Oval 14">
              <a:extLst>
                <a:ext uri="{FF2B5EF4-FFF2-40B4-BE49-F238E27FC236}">
                  <a16:creationId xmlns:a16="http://schemas.microsoft.com/office/drawing/2014/main" id="{4B5AA8B1-E60C-485C-AE62-2FC66A65F982}"/>
                </a:ext>
              </a:extLst>
            </p:cNvPr>
            <p:cNvSpPr>
              <a:spLocks noChangeArrowheads="1"/>
            </p:cNvSpPr>
            <p:nvPr/>
          </p:nvSpPr>
          <p:spPr bwMode="auto">
            <a:xfrm>
              <a:off x="1296" y="3072"/>
              <a:ext cx="96" cy="96"/>
            </a:xfrm>
            <a:prstGeom prst="ellipse">
              <a:avLst/>
            </a:prstGeom>
            <a:solidFill>
              <a:srgbClr val="99CC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20520" name="Oval 15">
              <a:extLst>
                <a:ext uri="{FF2B5EF4-FFF2-40B4-BE49-F238E27FC236}">
                  <a16:creationId xmlns:a16="http://schemas.microsoft.com/office/drawing/2014/main" id="{03234567-2E21-41B5-A8FA-FCD95AFD08D0}"/>
                </a:ext>
              </a:extLst>
            </p:cNvPr>
            <p:cNvSpPr>
              <a:spLocks noChangeArrowheads="1"/>
            </p:cNvSpPr>
            <p:nvPr/>
          </p:nvSpPr>
          <p:spPr bwMode="auto">
            <a:xfrm>
              <a:off x="768" y="3072"/>
              <a:ext cx="96" cy="96"/>
            </a:xfrm>
            <a:prstGeom prst="ellipse">
              <a:avLst/>
            </a:prstGeom>
            <a:solidFill>
              <a:srgbClr val="99CC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grpSp>
          <p:nvGrpSpPr>
            <p:cNvPr id="20521" name="Group 16">
              <a:extLst>
                <a:ext uri="{FF2B5EF4-FFF2-40B4-BE49-F238E27FC236}">
                  <a16:creationId xmlns:a16="http://schemas.microsoft.com/office/drawing/2014/main" id="{5C7B1BC6-B2D9-46A9-8BAC-DD9A41BCBEFD}"/>
                </a:ext>
              </a:extLst>
            </p:cNvPr>
            <p:cNvGrpSpPr>
              <a:grpSpLocks/>
            </p:cNvGrpSpPr>
            <p:nvPr/>
          </p:nvGrpSpPr>
          <p:grpSpPr bwMode="auto">
            <a:xfrm>
              <a:off x="384" y="2544"/>
              <a:ext cx="1344" cy="720"/>
              <a:chOff x="576" y="2544"/>
              <a:chExt cx="1008" cy="720"/>
            </a:xfrm>
          </p:grpSpPr>
          <p:sp>
            <p:nvSpPr>
              <p:cNvPr id="20524" name="Line 17">
                <a:extLst>
                  <a:ext uri="{FF2B5EF4-FFF2-40B4-BE49-F238E27FC236}">
                    <a16:creationId xmlns:a16="http://schemas.microsoft.com/office/drawing/2014/main" id="{4834E2E5-9718-4030-A9C1-33876E0BC586}"/>
                  </a:ext>
                </a:extLst>
              </p:cNvPr>
              <p:cNvSpPr>
                <a:spLocks noChangeShapeType="1"/>
              </p:cNvSpPr>
              <p:nvPr/>
            </p:nvSpPr>
            <p:spPr bwMode="auto">
              <a:xfrm>
                <a:off x="576" y="2544"/>
                <a:ext cx="1008"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25" name="Line 18">
                <a:extLst>
                  <a:ext uri="{FF2B5EF4-FFF2-40B4-BE49-F238E27FC236}">
                    <a16:creationId xmlns:a16="http://schemas.microsoft.com/office/drawing/2014/main" id="{BEFD580A-ED97-4CE7-BCBE-A034A990252F}"/>
                  </a:ext>
                </a:extLst>
              </p:cNvPr>
              <p:cNvSpPr>
                <a:spLocks noChangeShapeType="1"/>
              </p:cNvSpPr>
              <p:nvPr/>
            </p:nvSpPr>
            <p:spPr bwMode="auto">
              <a:xfrm>
                <a:off x="576" y="2688"/>
                <a:ext cx="1008"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26" name="Line 19">
                <a:extLst>
                  <a:ext uri="{FF2B5EF4-FFF2-40B4-BE49-F238E27FC236}">
                    <a16:creationId xmlns:a16="http://schemas.microsoft.com/office/drawing/2014/main" id="{26E1EA73-42A1-4508-A173-D32875F8B5D3}"/>
                  </a:ext>
                </a:extLst>
              </p:cNvPr>
              <p:cNvSpPr>
                <a:spLocks noChangeShapeType="1"/>
              </p:cNvSpPr>
              <p:nvPr/>
            </p:nvSpPr>
            <p:spPr bwMode="auto">
              <a:xfrm>
                <a:off x="576" y="2832"/>
                <a:ext cx="1008"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27" name="Line 20">
                <a:extLst>
                  <a:ext uri="{FF2B5EF4-FFF2-40B4-BE49-F238E27FC236}">
                    <a16:creationId xmlns:a16="http://schemas.microsoft.com/office/drawing/2014/main" id="{B675692A-5A28-4F23-970C-4D8D3CE1ABB7}"/>
                  </a:ext>
                </a:extLst>
              </p:cNvPr>
              <p:cNvSpPr>
                <a:spLocks noChangeShapeType="1"/>
              </p:cNvSpPr>
              <p:nvPr/>
            </p:nvSpPr>
            <p:spPr bwMode="auto">
              <a:xfrm>
                <a:off x="576" y="2976"/>
                <a:ext cx="1008"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28" name="Line 21">
                <a:extLst>
                  <a:ext uri="{FF2B5EF4-FFF2-40B4-BE49-F238E27FC236}">
                    <a16:creationId xmlns:a16="http://schemas.microsoft.com/office/drawing/2014/main" id="{A0227837-F8AA-4550-B1ED-3E8327E202AD}"/>
                  </a:ext>
                </a:extLst>
              </p:cNvPr>
              <p:cNvSpPr>
                <a:spLocks noChangeShapeType="1"/>
              </p:cNvSpPr>
              <p:nvPr/>
            </p:nvSpPr>
            <p:spPr bwMode="auto">
              <a:xfrm>
                <a:off x="576" y="3120"/>
                <a:ext cx="1008"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29" name="Line 22">
                <a:extLst>
                  <a:ext uri="{FF2B5EF4-FFF2-40B4-BE49-F238E27FC236}">
                    <a16:creationId xmlns:a16="http://schemas.microsoft.com/office/drawing/2014/main" id="{7ABE0CE0-2711-44BA-9EB1-6BBCB5701ACA}"/>
                  </a:ext>
                </a:extLst>
              </p:cNvPr>
              <p:cNvSpPr>
                <a:spLocks noChangeShapeType="1"/>
              </p:cNvSpPr>
              <p:nvPr/>
            </p:nvSpPr>
            <p:spPr bwMode="auto">
              <a:xfrm>
                <a:off x="576" y="3264"/>
                <a:ext cx="1008"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0522" name="Oval 23">
              <a:extLst>
                <a:ext uri="{FF2B5EF4-FFF2-40B4-BE49-F238E27FC236}">
                  <a16:creationId xmlns:a16="http://schemas.microsoft.com/office/drawing/2014/main" id="{C6ECBC79-21E4-4389-890F-8FAE3C8B331C}"/>
                </a:ext>
              </a:extLst>
            </p:cNvPr>
            <p:cNvSpPr>
              <a:spLocks noChangeArrowheads="1"/>
            </p:cNvSpPr>
            <p:nvPr/>
          </p:nvSpPr>
          <p:spPr bwMode="auto">
            <a:xfrm>
              <a:off x="1296" y="3216"/>
              <a:ext cx="96" cy="96"/>
            </a:xfrm>
            <a:prstGeom prst="ellipse">
              <a:avLst/>
            </a:prstGeom>
            <a:solidFill>
              <a:srgbClr val="99CC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20523" name="Oval 24">
              <a:extLst>
                <a:ext uri="{FF2B5EF4-FFF2-40B4-BE49-F238E27FC236}">
                  <a16:creationId xmlns:a16="http://schemas.microsoft.com/office/drawing/2014/main" id="{CD4919F9-29D1-4B6F-8AE3-05DBB307CC87}"/>
                </a:ext>
              </a:extLst>
            </p:cNvPr>
            <p:cNvSpPr>
              <a:spLocks noChangeArrowheads="1"/>
            </p:cNvSpPr>
            <p:nvPr/>
          </p:nvSpPr>
          <p:spPr bwMode="auto">
            <a:xfrm>
              <a:off x="768" y="3216"/>
              <a:ext cx="96" cy="96"/>
            </a:xfrm>
            <a:prstGeom prst="ellipse">
              <a:avLst/>
            </a:prstGeom>
            <a:solidFill>
              <a:srgbClr val="99CC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grpSp>
      <p:grpSp>
        <p:nvGrpSpPr>
          <p:cNvPr id="4" name="Group 25">
            <a:extLst>
              <a:ext uri="{FF2B5EF4-FFF2-40B4-BE49-F238E27FC236}">
                <a16:creationId xmlns:a16="http://schemas.microsoft.com/office/drawing/2014/main" id="{6D00B275-F510-4697-AD41-872A384BC07A}"/>
              </a:ext>
            </a:extLst>
          </p:cNvPr>
          <p:cNvGrpSpPr>
            <a:grpSpLocks/>
          </p:cNvGrpSpPr>
          <p:nvPr/>
        </p:nvGrpSpPr>
        <p:grpSpPr bwMode="auto">
          <a:xfrm>
            <a:off x="5576888" y="1851025"/>
            <a:ext cx="2133600" cy="1143000"/>
            <a:chOff x="3456" y="2400"/>
            <a:chExt cx="1008" cy="720"/>
          </a:xfrm>
        </p:grpSpPr>
        <p:sp>
          <p:nvSpPr>
            <p:cNvPr id="20505" name="Line 26">
              <a:extLst>
                <a:ext uri="{FF2B5EF4-FFF2-40B4-BE49-F238E27FC236}">
                  <a16:creationId xmlns:a16="http://schemas.microsoft.com/office/drawing/2014/main" id="{33A971C8-B7FE-4697-8510-74C556C66CD7}"/>
                </a:ext>
              </a:extLst>
            </p:cNvPr>
            <p:cNvSpPr>
              <a:spLocks noChangeShapeType="1"/>
            </p:cNvSpPr>
            <p:nvPr/>
          </p:nvSpPr>
          <p:spPr bwMode="auto">
            <a:xfrm>
              <a:off x="3456" y="2400"/>
              <a:ext cx="1008" cy="0"/>
            </a:xfrm>
            <a:prstGeom prst="line">
              <a:avLst/>
            </a:prstGeom>
            <a:noFill/>
            <a:ln w="19050">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06" name="Line 27">
              <a:extLst>
                <a:ext uri="{FF2B5EF4-FFF2-40B4-BE49-F238E27FC236}">
                  <a16:creationId xmlns:a16="http://schemas.microsoft.com/office/drawing/2014/main" id="{7F71F1E9-38B1-4C4F-97FD-ABD64888DB36}"/>
                </a:ext>
              </a:extLst>
            </p:cNvPr>
            <p:cNvSpPr>
              <a:spLocks noChangeShapeType="1"/>
            </p:cNvSpPr>
            <p:nvPr/>
          </p:nvSpPr>
          <p:spPr bwMode="auto">
            <a:xfrm>
              <a:off x="3456" y="2544"/>
              <a:ext cx="1008" cy="0"/>
            </a:xfrm>
            <a:prstGeom prst="line">
              <a:avLst/>
            </a:prstGeom>
            <a:noFill/>
            <a:ln w="19050">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07" name="Line 28">
              <a:extLst>
                <a:ext uri="{FF2B5EF4-FFF2-40B4-BE49-F238E27FC236}">
                  <a16:creationId xmlns:a16="http://schemas.microsoft.com/office/drawing/2014/main" id="{1EDAEB0A-37E1-45C2-82F2-AD76C7520591}"/>
                </a:ext>
              </a:extLst>
            </p:cNvPr>
            <p:cNvSpPr>
              <a:spLocks noChangeShapeType="1"/>
            </p:cNvSpPr>
            <p:nvPr/>
          </p:nvSpPr>
          <p:spPr bwMode="auto">
            <a:xfrm>
              <a:off x="3456" y="2688"/>
              <a:ext cx="1008" cy="0"/>
            </a:xfrm>
            <a:prstGeom prst="line">
              <a:avLst/>
            </a:prstGeom>
            <a:noFill/>
            <a:ln w="19050">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08" name="Line 29">
              <a:extLst>
                <a:ext uri="{FF2B5EF4-FFF2-40B4-BE49-F238E27FC236}">
                  <a16:creationId xmlns:a16="http://schemas.microsoft.com/office/drawing/2014/main" id="{DD7BB6F1-1E02-455B-B914-8DDFCB4E0956}"/>
                </a:ext>
              </a:extLst>
            </p:cNvPr>
            <p:cNvSpPr>
              <a:spLocks noChangeShapeType="1"/>
            </p:cNvSpPr>
            <p:nvPr/>
          </p:nvSpPr>
          <p:spPr bwMode="auto">
            <a:xfrm>
              <a:off x="3456" y="2832"/>
              <a:ext cx="1008" cy="0"/>
            </a:xfrm>
            <a:prstGeom prst="line">
              <a:avLst/>
            </a:prstGeom>
            <a:noFill/>
            <a:ln w="19050">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09" name="Line 30">
              <a:extLst>
                <a:ext uri="{FF2B5EF4-FFF2-40B4-BE49-F238E27FC236}">
                  <a16:creationId xmlns:a16="http://schemas.microsoft.com/office/drawing/2014/main" id="{E2556473-5A9A-4E68-9FCD-CEC36A17C97F}"/>
                </a:ext>
              </a:extLst>
            </p:cNvPr>
            <p:cNvSpPr>
              <a:spLocks noChangeShapeType="1"/>
            </p:cNvSpPr>
            <p:nvPr/>
          </p:nvSpPr>
          <p:spPr bwMode="auto">
            <a:xfrm>
              <a:off x="3456" y="2976"/>
              <a:ext cx="1008" cy="0"/>
            </a:xfrm>
            <a:prstGeom prst="line">
              <a:avLst/>
            </a:prstGeom>
            <a:noFill/>
            <a:ln w="19050">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10" name="Line 31">
              <a:extLst>
                <a:ext uri="{FF2B5EF4-FFF2-40B4-BE49-F238E27FC236}">
                  <a16:creationId xmlns:a16="http://schemas.microsoft.com/office/drawing/2014/main" id="{8948E2A5-5F60-437F-9904-1C99AA6B2A56}"/>
                </a:ext>
              </a:extLst>
            </p:cNvPr>
            <p:cNvSpPr>
              <a:spLocks noChangeShapeType="1"/>
            </p:cNvSpPr>
            <p:nvPr/>
          </p:nvSpPr>
          <p:spPr bwMode="auto">
            <a:xfrm>
              <a:off x="3456" y="3120"/>
              <a:ext cx="1008" cy="0"/>
            </a:xfrm>
            <a:prstGeom prst="line">
              <a:avLst/>
            </a:prstGeom>
            <a:noFill/>
            <a:ln w="19050">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22240" name="Text Box 32">
            <a:extLst>
              <a:ext uri="{FF2B5EF4-FFF2-40B4-BE49-F238E27FC236}">
                <a16:creationId xmlns:a16="http://schemas.microsoft.com/office/drawing/2014/main" id="{D9854252-6610-4C66-BE9F-DCECA99EBF42}"/>
              </a:ext>
            </a:extLst>
          </p:cNvPr>
          <p:cNvSpPr txBox="1">
            <a:spLocks noChangeArrowheads="1"/>
          </p:cNvSpPr>
          <p:nvPr/>
        </p:nvSpPr>
        <p:spPr bwMode="auto">
          <a:xfrm>
            <a:off x="2909888" y="3756025"/>
            <a:ext cx="990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000">
                <a:solidFill>
                  <a:schemeClr val="bg1"/>
                </a:solidFill>
              </a:rPr>
              <a:t>空穴</a:t>
            </a:r>
          </a:p>
        </p:txBody>
      </p:sp>
      <p:sp>
        <p:nvSpPr>
          <p:cNvPr id="222241" name="Text Box 33">
            <a:extLst>
              <a:ext uri="{FF2B5EF4-FFF2-40B4-BE49-F238E27FC236}">
                <a16:creationId xmlns:a16="http://schemas.microsoft.com/office/drawing/2014/main" id="{5EEEBBDA-5296-41BD-A43E-CDA89450E484}"/>
              </a:ext>
            </a:extLst>
          </p:cNvPr>
          <p:cNvSpPr txBox="1">
            <a:spLocks noChangeArrowheads="1"/>
          </p:cNvSpPr>
          <p:nvPr/>
        </p:nvSpPr>
        <p:spPr bwMode="auto">
          <a:xfrm>
            <a:off x="7807325" y="3700463"/>
            <a:ext cx="854075" cy="701675"/>
          </a:xfrm>
          <a:prstGeom prst="rect">
            <a:avLst/>
          </a:prstGeom>
          <a:solidFill>
            <a:srgbClr val="00336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a:solidFill>
                  <a:srgbClr val="FF9900"/>
                </a:solidFill>
                <a:ea typeface="楷体_GB2312" pitchFamily="49" charset="-122"/>
              </a:rPr>
              <a:t>杂质能级</a:t>
            </a:r>
          </a:p>
        </p:txBody>
      </p:sp>
      <p:grpSp>
        <p:nvGrpSpPr>
          <p:cNvPr id="5" name="Group 34">
            <a:extLst>
              <a:ext uri="{FF2B5EF4-FFF2-40B4-BE49-F238E27FC236}">
                <a16:creationId xmlns:a16="http://schemas.microsoft.com/office/drawing/2014/main" id="{9C1C338F-6D44-43A4-8AFA-84AB1809C99E}"/>
              </a:ext>
            </a:extLst>
          </p:cNvPr>
          <p:cNvGrpSpPr>
            <a:grpSpLocks/>
          </p:cNvGrpSpPr>
          <p:nvPr/>
        </p:nvGrpSpPr>
        <p:grpSpPr bwMode="auto">
          <a:xfrm>
            <a:off x="5576888" y="3984625"/>
            <a:ext cx="2133600" cy="152400"/>
            <a:chOff x="3504" y="2064"/>
            <a:chExt cx="1344" cy="96"/>
          </a:xfrm>
        </p:grpSpPr>
        <p:sp>
          <p:nvSpPr>
            <p:cNvPr id="20502" name="Line 35">
              <a:extLst>
                <a:ext uri="{FF2B5EF4-FFF2-40B4-BE49-F238E27FC236}">
                  <a16:creationId xmlns:a16="http://schemas.microsoft.com/office/drawing/2014/main" id="{E74E57A5-57F7-4B8E-A12D-BDAFCCC21594}"/>
                </a:ext>
              </a:extLst>
            </p:cNvPr>
            <p:cNvSpPr>
              <a:spLocks noChangeShapeType="1"/>
            </p:cNvSpPr>
            <p:nvPr/>
          </p:nvSpPr>
          <p:spPr bwMode="auto">
            <a:xfrm>
              <a:off x="3504" y="2112"/>
              <a:ext cx="1344" cy="0"/>
            </a:xfrm>
            <a:prstGeom prst="line">
              <a:avLst/>
            </a:prstGeom>
            <a:noFill/>
            <a:ln w="9525">
              <a:solidFill>
                <a:schemeClr val="bg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03" name="Oval 36">
              <a:extLst>
                <a:ext uri="{FF2B5EF4-FFF2-40B4-BE49-F238E27FC236}">
                  <a16:creationId xmlns:a16="http://schemas.microsoft.com/office/drawing/2014/main" id="{CFF502C0-1B15-43FA-A4B6-6209B818BBC5}"/>
                </a:ext>
              </a:extLst>
            </p:cNvPr>
            <p:cNvSpPr>
              <a:spLocks noChangeArrowheads="1"/>
            </p:cNvSpPr>
            <p:nvPr/>
          </p:nvSpPr>
          <p:spPr bwMode="auto">
            <a:xfrm>
              <a:off x="3696" y="2064"/>
              <a:ext cx="96" cy="96"/>
            </a:xfrm>
            <a:prstGeom prst="ellipse">
              <a:avLst/>
            </a:prstGeom>
            <a:solidFill>
              <a:schemeClr val="tx1"/>
            </a:solidFill>
            <a:ln w="3175">
              <a:solidFill>
                <a:schemeClr val="bg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20504" name="Oval 38">
              <a:extLst>
                <a:ext uri="{FF2B5EF4-FFF2-40B4-BE49-F238E27FC236}">
                  <a16:creationId xmlns:a16="http://schemas.microsoft.com/office/drawing/2014/main" id="{199AF5D6-1BC1-4F69-8996-6D1691A64E5A}"/>
                </a:ext>
              </a:extLst>
            </p:cNvPr>
            <p:cNvSpPr>
              <a:spLocks noChangeArrowheads="1"/>
            </p:cNvSpPr>
            <p:nvPr/>
          </p:nvSpPr>
          <p:spPr bwMode="auto">
            <a:xfrm>
              <a:off x="4272" y="2064"/>
              <a:ext cx="96" cy="96"/>
            </a:xfrm>
            <a:prstGeom prst="ellipse">
              <a:avLst/>
            </a:prstGeom>
            <a:solidFill>
              <a:schemeClr val="tx1"/>
            </a:solidFill>
            <a:ln w="3175">
              <a:solidFill>
                <a:schemeClr val="bg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grpSp>
      <p:sp>
        <p:nvSpPr>
          <p:cNvPr id="222248" name="Arc 40">
            <a:extLst>
              <a:ext uri="{FF2B5EF4-FFF2-40B4-BE49-F238E27FC236}">
                <a16:creationId xmlns:a16="http://schemas.microsoft.com/office/drawing/2014/main" id="{724B6A9B-ED66-408A-917A-CD110094DCA1}"/>
              </a:ext>
            </a:extLst>
          </p:cNvPr>
          <p:cNvSpPr>
            <a:spLocks/>
          </p:cNvSpPr>
          <p:nvPr/>
        </p:nvSpPr>
        <p:spPr bwMode="auto">
          <a:xfrm flipV="1">
            <a:off x="6262688" y="4137025"/>
            <a:ext cx="609600" cy="755650"/>
          </a:xfrm>
          <a:custGeom>
            <a:avLst/>
            <a:gdLst>
              <a:gd name="T0" fmla="*/ 2147483646 w 21600"/>
              <a:gd name="T1" fmla="*/ 0 h 21439"/>
              <a:gd name="T2" fmla="*/ 2147483646 w 21600"/>
              <a:gd name="T3" fmla="*/ 2147483646 h 21439"/>
              <a:gd name="T4" fmla="*/ 0 w 21600"/>
              <a:gd name="T5" fmla="*/ 2147483646 h 21439"/>
              <a:gd name="T6" fmla="*/ 0 60000 65536"/>
              <a:gd name="T7" fmla="*/ 0 60000 65536"/>
              <a:gd name="T8" fmla="*/ 0 60000 65536"/>
              <a:gd name="T9" fmla="*/ 0 w 21600"/>
              <a:gd name="T10" fmla="*/ 0 h 21439"/>
              <a:gd name="T11" fmla="*/ 21600 w 21600"/>
              <a:gd name="T12" fmla="*/ 21439 h 21439"/>
            </a:gdLst>
            <a:ahLst/>
            <a:cxnLst>
              <a:cxn ang="T6">
                <a:pos x="T0" y="T1"/>
              </a:cxn>
              <a:cxn ang="T7">
                <a:pos x="T2" y="T3"/>
              </a:cxn>
              <a:cxn ang="T8">
                <a:pos x="T4" y="T5"/>
              </a:cxn>
            </a:cxnLst>
            <a:rect l="T9" t="T10" r="T11" b="T12"/>
            <a:pathLst>
              <a:path w="21600" h="21439" fill="none" extrusionOk="0">
                <a:moveTo>
                  <a:pt x="2632" y="0"/>
                </a:moveTo>
                <a:cubicBezTo>
                  <a:pt x="13462" y="1330"/>
                  <a:pt x="21600" y="10527"/>
                  <a:pt x="21600" y="21439"/>
                </a:cubicBezTo>
              </a:path>
              <a:path w="21600" h="21439" stroke="0" extrusionOk="0">
                <a:moveTo>
                  <a:pt x="2632" y="0"/>
                </a:moveTo>
                <a:cubicBezTo>
                  <a:pt x="13462" y="1330"/>
                  <a:pt x="21600" y="10527"/>
                  <a:pt x="21600" y="21439"/>
                </a:cubicBezTo>
                <a:lnTo>
                  <a:pt x="0" y="21439"/>
                </a:lnTo>
                <a:lnTo>
                  <a:pt x="2632" y="0"/>
                </a:lnTo>
                <a:close/>
              </a:path>
            </a:pathLst>
          </a:custGeom>
          <a:noFill/>
          <a:ln w="38100">
            <a:solidFill>
              <a:srgbClr val="FF33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2249" name="Oval 41">
            <a:extLst>
              <a:ext uri="{FF2B5EF4-FFF2-40B4-BE49-F238E27FC236}">
                <a16:creationId xmlns:a16="http://schemas.microsoft.com/office/drawing/2014/main" id="{40A6EE7F-A124-4E93-B0E3-DD7123453864}"/>
              </a:ext>
            </a:extLst>
          </p:cNvPr>
          <p:cNvSpPr>
            <a:spLocks noChangeArrowheads="1"/>
          </p:cNvSpPr>
          <p:nvPr/>
        </p:nvSpPr>
        <p:spPr bwMode="auto">
          <a:xfrm>
            <a:off x="6186488" y="4822825"/>
            <a:ext cx="152400" cy="152400"/>
          </a:xfrm>
          <a:prstGeom prst="ellipse">
            <a:avLst/>
          </a:prstGeom>
          <a:solidFill>
            <a:schemeClr val="tx1"/>
          </a:solidFill>
          <a:ln w="3175">
            <a:solidFill>
              <a:schemeClr val="bg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222250" name="Oval 42">
            <a:extLst>
              <a:ext uri="{FF2B5EF4-FFF2-40B4-BE49-F238E27FC236}">
                <a16:creationId xmlns:a16="http://schemas.microsoft.com/office/drawing/2014/main" id="{2B60537D-4D23-477D-8655-5CC8ECC5B347}"/>
              </a:ext>
            </a:extLst>
          </p:cNvPr>
          <p:cNvSpPr>
            <a:spLocks noChangeArrowheads="1"/>
          </p:cNvSpPr>
          <p:nvPr/>
        </p:nvSpPr>
        <p:spPr bwMode="auto">
          <a:xfrm>
            <a:off x="6796088" y="3984625"/>
            <a:ext cx="152400" cy="152400"/>
          </a:xfrm>
          <a:prstGeom prst="ellipse">
            <a:avLst/>
          </a:prstGeom>
          <a:solidFill>
            <a:srgbClr val="99CCFF"/>
          </a:solidFill>
          <a:ln w="317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222251" name="Text Box 43">
            <a:extLst>
              <a:ext uri="{FF2B5EF4-FFF2-40B4-BE49-F238E27FC236}">
                <a16:creationId xmlns:a16="http://schemas.microsoft.com/office/drawing/2014/main" id="{5A994900-9A66-4301-BF0E-CBBF546881A0}"/>
              </a:ext>
            </a:extLst>
          </p:cNvPr>
          <p:cNvSpPr txBox="1">
            <a:spLocks noChangeArrowheads="1"/>
          </p:cNvSpPr>
          <p:nvPr/>
        </p:nvSpPr>
        <p:spPr bwMode="auto">
          <a:xfrm>
            <a:off x="7786688" y="4759325"/>
            <a:ext cx="838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a:solidFill>
                  <a:srgbClr val="FF9900"/>
                </a:solidFill>
                <a:ea typeface="楷体_GB2312" pitchFamily="49" charset="-122"/>
              </a:rPr>
              <a:t>价带</a:t>
            </a:r>
          </a:p>
        </p:txBody>
      </p:sp>
      <p:sp>
        <p:nvSpPr>
          <p:cNvPr id="222252" name="Text Box 44">
            <a:extLst>
              <a:ext uri="{FF2B5EF4-FFF2-40B4-BE49-F238E27FC236}">
                <a16:creationId xmlns:a16="http://schemas.microsoft.com/office/drawing/2014/main" id="{D26AE143-2670-4E83-9976-FB64DD945D51}"/>
              </a:ext>
            </a:extLst>
          </p:cNvPr>
          <p:cNvSpPr txBox="1">
            <a:spLocks noChangeArrowheads="1"/>
          </p:cNvSpPr>
          <p:nvPr/>
        </p:nvSpPr>
        <p:spPr bwMode="auto">
          <a:xfrm>
            <a:off x="7805738" y="3698875"/>
            <a:ext cx="854075" cy="701675"/>
          </a:xfrm>
          <a:prstGeom prst="rect">
            <a:avLst/>
          </a:prstGeom>
          <a:solidFill>
            <a:srgbClr val="00336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a:solidFill>
                  <a:srgbClr val="FF9900"/>
                </a:solidFill>
                <a:ea typeface="楷体_GB2312" pitchFamily="49" charset="-122"/>
              </a:rPr>
              <a:t>受主能级</a:t>
            </a:r>
          </a:p>
        </p:txBody>
      </p:sp>
      <p:grpSp>
        <p:nvGrpSpPr>
          <p:cNvPr id="6" name="Group 45">
            <a:extLst>
              <a:ext uri="{FF2B5EF4-FFF2-40B4-BE49-F238E27FC236}">
                <a16:creationId xmlns:a16="http://schemas.microsoft.com/office/drawing/2014/main" id="{A463C4FF-5091-49E4-8A6C-BF8D2B433FDD}"/>
              </a:ext>
            </a:extLst>
          </p:cNvPr>
          <p:cNvGrpSpPr>
            <a:grpSpLocks/>
          </p:cNvGrpSpPr>
          <p:nvPr/>
        </p:nvGrpSpPr>
        <p:grpSpPr bwMode="auto">
          <a:xfrm>
            <a:off x="4991100" y="3679825"/>
            <a:ext cx="457200" cy="1143000"/>
            <a:chOff x="3120" y="1200"/>
            <a:chExt cx="288" cy="720"/>
          </a:xfrm>
        </p:grpSpPr>
        <p:sp>
          <p:nvSpPr>
            <p:cNvPr id="20498" name="Line 46">
              <a:extLst>
                <a:ext uri="{FF2B5EF4-FFF2-40B4-BE49-F238E27FC236}">
                  <a16:creationId xmlns:a16="http://schemas.microsoft.com/office/drawing/2014/main" id="{0D3554A1-4EAF-47DA-9534-C161732B2531}"/>
                </a:ext>
              </a:extLst>
            </p:cNvPr>
            <p:cNvSpPr>
              <a:spLocks noChangeShapeType="1"/>
            </p:cNvSpPr>
            <p:nvPr/>
          </p:nvSpPr>
          <p:spPr bwMode="auto">
            <a:xfrm>
              <a:off x="3120" y="1440"/>
              <a:ext cx="288" cy="0"/>
            </a:xfrm>
            <a:prstGeom prst="line">
              <a:avLst/>
            </a:prstGeom>
            <a:noFill/>
            <a:ln w="9525">
              <a:solidFill>
                <a:srgbClr val="33996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499" name="Line 47">
              <a:extLst>
                <a:ext uri="{FF2B5EF4-FFF2-40B4-BE49-F238E27FC236}">
                  <a16:creationId xmlns:a16="http://schemas.microsoft.com/office/drawing/2014/main" id="{E30609D2-7322-48DA-A18B-9619BA884BB0}"/>
                </a:ext>
              </a:extLst>
            </p:cNvPr>
            <p:cNvSpPr>
              <a:spLocks noChangeShapeType="1"/>
            </p:cNvSpPr>
            <p:nvPr/>
          </p:nvSpPr>
          <p:spPr bwMode="auto">
            <a:xfrm>
              <a:off x="3120" y="1680"/>
              <a:ext cx="288" cy="0"/>
            </a:xfrm>
            <a:prstGeom prst="line">
              <a:avLst/>
            </a:prstGeom>
            <a:noFill/>
            <a:ln w="9525">
              <a:solidFill>
                <a:srgbClr val="33996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00" name="Line 48">
              <a:extLst>
                <a:ext uri="{FF2B5EF4-FFF2-40B4-BE49-F238E27FC236}">
                  <a16:creationId xmlns:a16="http://schemas.microsoft.com/office/drawing/2014/main" id="{316432BC-E70C-4BE2-8E79-9392892D8F02}"/>
                </a:ext>
              </a:extLst>
            </p:cNvPr>
            <p:cNvSpPr>
              <a:spLocks noChangeShapeType="1"/>
            </p:cNvSpPr>
            <p:nvPr/>
          </p:nvSpPr>
          <p:spPr bwMode="auto">
            <a:xfrm>
              <a:off x="3264" y="1200"/>
              <a:ext cx="0" cy="240"/>
            </a:xfrm>
            <a:prstGeom prst="line">
              <a:avLst/>
            </a:prstGeom>
            <a:noFill/>
            <a:ln w="9525">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501" name="Line 49">
              <a:extLst>
                <a:ext uri="{FF2B5EF4-FFF2-40B4-BE49-F238E27FC236}">
                  <a16:creationId xmlns:a16="http://schemas.microsoft.com/office/drawing/2014/main" id="{3D8A2ECE-25F8-426D-82DF-B492A61CCF05}"/>
                </a:ext>
              </a:extLst>
            </p:cNvPr>
            <p:cNvSpPr>
              <a:spLocks noChangeShapeType="1"/>
            </p:cNvSpPr>
            <p:nvPr/>
          </p:nvSpPr>
          <p:spPr bwMode="auto">
            <a:xfrm>
              <a:off x="3264" y="1680"/>
              <a:ext cx="0" cy="240"/>
            </a:xfrm>
            <a:prstGeom prst="line">
              <a:avLst/>
            </a:prstGeom>
            <a:noFill/>
            <a:ln w="9525">
              <a:solidFill>
                <a:schemeClr val="accent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grpSp>
      <p:sp>
        <p:nvSpPr>
          <p:cNvPr id="222258" name="Text Box 50">
            <a:extLst>
              <a:ext uri="{FF2B5EF4-FFF2-40B4-BE49-F238E27FC236}">
                <a16:creationId xmlns:a16="http://schemas.microsoft.com/office/drawing/2014/main" id="{B0D4C5B5-F5BB-4F42-8473-E6044203CA51}"/>
              </a:ext>
            </a:extLst>
          </p:cNvPr>
          <p:cNvSpPr txBox="1">
            <a:spLocks noChangeArrowheads="1"/>
          </p:cNvSpPr>
          <p:nvPr/>
        </p:nvSpPr>
        <p:spPr bwMode="auto">
          <a:xfrm>
            <a:off x="4586288" y="4022725"/>
            <a:ext cx="1028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a:solidFill>
                  <a:srgbClr val="00FFCC"/>
                </a:solidFill>
              </a:rPr>
              <a:t>10</a:t>
            </a:r>
            <a:r>
              <a:rPr lang="en-US" altLang="zh-CN" baseline="30000">
                <a:solidFill>
                  <a:srgbClr val="00FFCC"/>
                </a:solidFill>
              </a:rPr>
              <a:t>-2 </a:t>
            </a:r>
            <a:r>
              <a:rPr lang="en-US" altLang="zh-CN">
                <a:solidFill>
                  <a:srgbClr val="00FFCC"/>
                </a:solidFill>
              </a:rPr>
              <a:t>e</a:t>
            </a:r>
            <a:r>
              <a:rPr lang="en-US" altLang="zh-CN" sz="2000">
                <a:solidFill>
                  <a:srgbClr val="00FFCC"/>
                </a:solidFill>
              </a:rPr>
              <a:t>V</a:t>
            </a:r>
          </a:p>
        </p:txBody>
      </p:sp>
      <p:sp>
        <p:nvSpPr>
          <p:cNvPr id="20497" name="灯片编号占位符 1">
            <a:extLst>
              <a:ext uri="{FF2B5EF4-FFF2-40B4-BE49-F238E27FC236}">
                <a16:creationId xmlns:a16="http://schemas.microsoft.com/office/drawing/2014/main" id="{EFB1B257-4FC4-4D47-A96F-BED5BFC5A5AE}"/>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6B07CF2B-F998-489B-A2DC-7E00A4CDD3B0}" type="slidenum">
              <a:rPr lang="en-US" altLang="zh-CN" b="0" smtClean="0">
                <a:solidFill>
                  <a:srgbClr val="FF00FF"/>
                </a:solidFill>
              </a:rPr>
              <a:pPr eaLnBrk="1" hangingPunct="1"/>
              <a:t>11</a:t>
            </a:fld>
            <a:r>
              <a:rPr lang="en-US" altLang="zh-CN" b="0" dirty="0">
                <a:solidFill>
                  <a:srgbClr val="FF00FF"/>
                </a:solidFill>
              </a:rPr>
              <a:t>/40</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22212"/>
                                        </p:tgtEl>
                                        <p:attrNameLst>
                                          <p:attrName>style.visibility</p:attrName>
                                        </p:attrNameLst>
                                      </p:cBhvr>
                                      <p:to>
                                        <p:strVal val="visible"/>
                                      </p:to>
                                    </p:set>
                                    <p:animEffect transition="in" filter="wipe(left)">
                                      <p:cBhvr>
                                        <p:cTn id="7" dur="500"/>
                                        <p:tgtEl>
                                          <p:spTgt spid="22221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222210"/>
                                        </p:tgtEl>
                                        <p:attrNameLst>
                                          <p:attrName>style.visibility</p:attrName>
                                        </p:attrNameLst>
                                      </p:cBhvr>
                                      <p:to>
                                        <p:strVal val="visible"/>
                                      </p:to>
                                    </p:set>
                                    <p:animEffect transition="in" filter="dissolve">
                                      <p:cBhvr>
                                        <p:cTn id="12" dur="500"/>
                                        <p:tgtEl>
                                          <p:spTgt spid="222210"/>
                                        </p:tgtEl>
                                      </p:cBhvr>
                                    </p:animEffect>
                                  </p:childTnLst>
                                </p:cTn>
                              </p:par>
                              <p:par>
                                <p:cTn id="13" presetID="9" presetClass="entr" presetSubtype="0" fill="hold" nodeType="withEffect">
                                  <p:stCondLst>
                                    <p:cond delay="0"/>
                                  </p:stCondLst>
                                  <p:childTnLst>
                                    <p:set>
                                      <p:cBhvr>
                                        <p:cTn id="14" dur="1" fill="hold">
                                          <p:stCondLst>
                                            <p:cond delay="0"/>
                                          </p:stCondLst>
                                        </p:cTn>
                                        <p:tgtEl>
                                          <p:spTgt spid="222211"/>
                                        </p:tgtEl>
                                        <p:attrNameLst>
                                          <p:attrName>style.visibility</p:attrName>
                                        </p:attrNameLst>
                                      </p:cBhvr>
                                      <p:to>
                                        <p:strVal val="visible"/>
                                      </p:to>
                                    </p:set>
                                    <p:animEffect transition="in" filter="dissolve">
                                      <p:cBhvr>
                                        <p:cTn id="15" dur="500"/>
                                        <p:tgtEl>
                                          <p:spTgt spid="222211"/>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222240"/>
                                        </p:tgtEl>
                                        <p:attrNameLst>
                                          <p:attrName>style.visibility</p:attrName>
                                        </p:attrNameLst>
                                      </p:cBhvr>
                                      <p:to>
                                        <p:strVal val="visible"/>
                                      </p:to>
                                    </p:set>
                                    <p:animEffect transition="in" filter="dissolve">
                                      <p:cBhvr>
                                        <p:cTn id="18" dur="500"/>
                                        <p:tgtEl>
                                          <p:spTgt spid="222240"/>
                                        </p:tgtEl>
                                      </p:cBhvr>
                                    </p:animEffect>
                                  </p:childTnLst>
                                </p:cTn>
                              </p:par>
                            </p:childTnLst>
                          </p:cTn>
                        </p:par>
                        <p:par>
                          <p:cTn id="19" fill="hold" nodeType="afterGroup">
                            <p:stCondLst>
                              <p:cond delay="500"/>
                            </p:stCondLst>
                            <p:childTnLst>
                              <p:par>
                                <p:cTn id="20" presetID="9" presetClass="entr" presetSubtype="0" fill="hold" nodeType="after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dissolve">
                                      <p:cBhvr>
                                        <p:cTn id="22" dur="500"/>
                                        <p:tgtEl>
                                          <p:spTgt spid="4"/>
                                        </p:tgtEl>
                                      </p:cBhvr>
                                    </p:animEffect>
                                  </p:childTnLst>
                                </p:cTn>
                              </p:par>
                              <p:par>
                                <p:cTn id="23" presetID="9" presetClass="entr" presetSubtype="0" fill="hold" nodeType="with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dissolve">
                                      <p:cBhvr>
                                        <p:cTn id="25" dur="500"/>
                                        <p:tgtEl>
                                          <p:spTgt spid="2"/>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222251"/>
                                        </p:tgtEl>
                                        <p:attrNameLst>
                                          <p:attrName>style.visibility</p:attrName>
                                        </p:attrNameLst>
                                      </p:cBhvr>
                                      <p:to>
                                        <p:strVal val="visible"/>
                                      </p:to>
                                    </p:set>
                                    <p:animEffect transition="in" filter="dissolve">
                                      <p:cBhvr>
                                        <p:cTn id="28" dur="500"/>
                                        <p:tgtEl>
                                          <p:spTgt spid="222251"/>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nodeType="click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wipe(left)">
                                      <p:cBhvr>
                                        <p:cTn id="33" dur="500"/>
                                        <p:tgtEl>
                                          <p:spTgt spid="5"/>
                                        </p:tgtEl>
                                      </p:cBhvr>
                                    </p:animEffect>
                                  </p:childTnLst>
                                </p:cTn>
                              </p:par>
                            </p:childTnLst>
                          </p:cTn>
                        </p:par>
                        <p:par>
                          <p:cTn id="34" fill="hold" nodeType="afterGroup">
                            <p:stCondLst>
                              <p:cond delay="500"/>
                            </p:stCondLst>
                            <p:childTnLst>
                              <p:par>
                                <p:cTn id="35" presetID="22" presetClass="entr" presetSubtype="8" fill="hold" grpId="0" nodeType="afterEffect">
                                  <p:stCondLst>
                                    <p:cond delay="0"/>
                                  </p:stCondLst>
                                  <p:childTnLst>
                                    <p:set>
                                      <p:cBhvr>
                                        <p:cTn id="36" dur="1" fill="hold">
                                          <p:stCondLst>
                                            <p:cond delay="0"/>
                                          </p:stCondLst>
                                        </p:cTn>
                                        <p:tgtEl>
                                          <p:spTgt spid="222241"/>
                                        </p:tgtEl>
                                        <p:attrNameLst>
                                          <p:attrName>style.visibility</p:attrName>
                                        </p:attrNameLst>
                                      </p:cBhvr>
                                      <p:to>
                                        <p:strVal val="visible"/>
                                      </p:to>
                                    </p:set>
                                    <p:animEffect transition="in" filter="wipe(left)">
                                      <p:cBhvr>
                                        <p:cTn id="37" dur="500"/>
                                        <p:tgtEl>
                                          <p:spTgt spid="222241"/>
                                        </p:tgtEl>
                                      </p:cBhvr>
                                    </p:animEffect>
                                  </p:childTnLst>
                                </p:cTn>
                              </p:par>
                            </p:childTnLst>
                          </p:cTn>
                        </p:par>
                        <p:par>
                          <p:cTn id="38" fill="hold" nodeType="afterGroup">
                            <p:stCondLst>
                              <p:cond delay="1000"/>
                            </p:stCondLst>
                            <p:childTnLst>
                              <p:par>
                                <p:cTn id="39" presetID="23" presetClass="entr" presetSubtype="288" fill="hold" nodeType="afterEffect">
                                  <p:stCondLst>
                                    <p:cond delay="0"/>
                                  </p:stCondLst>
                                  <p:childTnLst>
                                    <p:set>
                                      <p:cBhvr>
                                        <p:cTn id="40" dur="1" fill="hold">
                                          <p:stCondLst>
                                            <p:cond delay="0"/>
                                          </p:stCondLst>
                                        </p:cTn>
                                        <p:tgtEl>
                                          <p:spTgt spid="6"/>
                                        </p:tgtEl>
                                        <p:attrNameLst>
                                          <p:attrName>style.visibility</p:attrName>
                                        </p:attrNameLst>
                                      </p:cBhvr>
                                      <p:to>
                                        <p:strVal val="visible"/>
                                      </p:to>
                                    </p:set>
                                    <p:anim calcmode="lin" valueType="num">
                                      <p:cBhvr>
                                        <p:cTn id="41" dur="500" fill="hold"/>
                                        <p:tgtEl>
                                          <p:spTgt spid="6"/>
                                        </p:tgtEl>
                                        <p:attrNameLst>
                                          <p:attrName>ppt_w</p:attrName>
                                        </p:attrNameLst>
                                      </p:cBhvr>
                                      <p:tavLst>
                                        <p:tav tm="0">
                                          <p:val>
                                            <p:strVal val="4/3*#ppt_w"/>
                                          </p:val>
                                        </p:tav>
                                        <p:tav tm="100000">
                                          <p:val>
                                            <p:strVal val="#ppt_w"/>
                                          </p:val>
                                        </p:tav>
                                      </p:tavLst>
                                    </p:anim>
                                    <p:anim calcmode="lin" valueType="num">
                                      <p:cBhvr>
                                        <p:cTn id="42" dur="500" fill="hold"/>
                                        <p:tgtEl>
                                          <p:spTgt spid="6"/>
                                        </p:tgtEl>
                                        <p:attrNameLst>
                                          <p:attrName>ppt_h</p:attrName>
                                        </p:attrNameLst>
                                      </p:cBhvr>
                                      <p:tavLst>
                                        <p:tav tm="0">
                                          <p:val>
                                            <p:strVal val="4/3*#ppt_h"/>
                                          </p:val>
                                        </p:tav>
                                        <p:tav tm="100000">
                                          <p:val>
                                            <p:strVal val="#ppt_h"/>
                                          </p:val>
                                        </p:tav>
                                      </p:tavLst>
                                    </p:anim>
                                  </p:childTnLst>
                                </p:cTn>
                              </p:par>
                              <p:par>
                                <p:cTn id="43" presetID="1" presetClass="entr" presetSubtype="0" fill="hold" grpId="0" nodeType="withEffect">
                                  <p:stCondLst>
                                    <p:cond delay="0"/>
                                  </p:stCondLst>
                                  <p:childTnLst>
                                    <p:set>
                                      <p:cBhvr>
                                        <p:cTn id="44" dur="1" fill="hold">
                                          <p:stCondLst>
                                            <p:cond delay="499"/>
                                          </p:stCondLst>
                                        </p:cTn>
                                        <p:tgtEl>
                                          <p:spTgt spid="222258"/>
                                        </p:tgtEl>
                                        <p:attrNameLst>
                                          <p:attrName>style.visibility</p:attrName>
                                        </p:attrNameLst>
                                      </p:cBhvr>
                                      <p:to>
                                        <p:strVal val="visible"/>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9" presetClass="entr" presetSubtype="0" fill="hold" grpId="0" nodeType="clickEffect">
                                  <p:stCondLst>
                                    <p:cond delay="0"/>
                                  </p:stCondLst>
                                  <p:childTnLst>
                                    <p:set>
                                      <p:cBhvr>
                                        <p:cTn id="48" dur="1" fill="hold">
                                          <p:stCondLst>
                                            <p:cond delay="0"/>
                                          </p:stCondLst>
                                        </p:cTn>
                                        <p:tgtEl>
                                          <p:spTgt spid="222249"/>
                                        </p:tgtEl>
                                        <p:attrNameLst>
                                          <p:attrName>style.visibility</p:attrName>
                                        </p:attrNameLst>
                                      </p:cBhvr>
                                      <p:to>
                                        <p:strVal val="visible"/>
                                      </p:to>
                                    </p:set>
                                    <p:animEffect transition="in" filter="dissolve">
                                      <p:cBhvr>
                                        <p:cTn id="49" dur="500"/>
                                        <p:tgtEl>
                                          <p:spTgt spid="222249"/>
                                        </p:tgtEl>
                                      </p:cBhvr>
                                    </p:animEffect>
                                  </p:childTnLst>
                                </p:cTn>
                              </p:par>
                            </p:childTnLst>
                          </p:cTn>
                        </p:par>
                        <p:par>
                          <p:cTn id="50" fill="hold" nodeType="afterGroup">
                            <p:stCondLst>
                              <p:cond delay="500"/>
                            </p:stCondLst>
                            <p:childTnLst>
                              <p:par>
                                <p:cTn id="51" presetID="18" presetClass="entr" presetSubtype="3" fill="hold" nodeType="afterEffect">
                                  <p:stCondLst>
                                    <p:cond delay="0"/>
                                  </p:stCondLst>
                                  <p:childTnLst>
                                    <p:set>
                                      <p:cBhvr>
                                        <p:cTn id="52" dur="1" fill="hold">
                                          <p:stCondLst>
                                            <p:cond delay="0"/>
                                          </p:stCondLst>
                                        </p:cTn>
                                        <p:tgtEl>
                                          <p:spTgt spid="222248"/>
                                        </p:tgtEl>
                                        <p:attrNameLst>
                                          <p:attrName>style.visibility</p:attrName>
                                        </p:attrNameLst>
                                      </p:cBhvr>
                                      <p:to>
                                        <p:strVal val="visible"/>
                                      </p:to>
                                    </p:set>
                                    <p:animEffect transition="in" filter="strips(upRight)">
                                      <p:cBhvr>
                                        <p:cTn id="53" dur="500"/>
                                        <p:tgtEl>
                                          <p:spTgt spid="222248"/>
                                        </p:tgtEl>
                                      </p:cBhvr>
                                    </p:animEffect>
                                  </p:childTnLst>
                                </p:cTn>
                              </p:par>
                            </p:childTnLst>
                          </p:cTn>
                        </p:par>
                        <p:par>
                          <p:cTn id="54" fill="hold" nodeType="afterGroup">
                            <p:stCondLst>
                              <p:cond delay="1000"/>
                            </p:stCondLst>
                            <p:childTnLst>
                              <p:par>
                                <p:cTn id="55" presetID="9" presetClass="entr" presetSubtype="0" fill="hold" grpId="0" nodeType="afterEffect">
                                  <p:stCondLst>
                                    <p:cond delay="0"/>
                                  </p:stCondLst>
                                  <p:childTnLst>
                                    <p:set>
                                      <p:cBhvr>
                                        <p:cTn id="56" dur="1" fill="hold">
                                          <p:stCondLst>
                                            <p:cond delay="0"/>
                                          </p:stCondLst>
                                        </p:cTn>
                                        <p:tgtEl>
                                          <p:spTgt spid="222250"/>
                                        </p:tgtEl>
                                        <p:attrNameLst>
                                          <p:attrName>style.visibility</p:attrName>
                                        </p:attrNameLst>
                                      </p:cBhvr>
                                      <p:to>
                                        <p:strVal val="visible"/>
                                      </p:to>
                                    </p:set>
                                    <p:animEffect transition="in" filter="dissolve">
                                      <p:cBhvr>
                                        <p:cTn id="57" dur="500"/>
                                        <p:tgtEl>
                                          <p:spTgt spid="222250"/>
                                        </p:tgtEl>
                                      </p:cBhvr>
                                    </p:animEffect>
                                  </p:childTnLst>
                                </p:cTn>
                              </p:par>
                            </p:childTnLst>
                          </p:cTn>
                        </p:par>
                        <p:par>
                          <p:cTn id="58" fill="hold" nodeType="afterGroup">
                            <p:stCondLst>
                              <p:cond delay="1500"/>
                            </p:stCondLst>
                            <p:childTnLst>
                              <p:par>
                                <p:cTn id="59" presetID="9" presetClass="entr" presetSubtype="0" fill="hold" grpId="0" nodeType="afterEffect">
                                  <p:stCondLst>
                                    <p:cond delay="0"/>
                                  </p:stCondLst>
                                  <p:childTnLst>
                                    <p:set>
                                      <p:cBhvr>
                                        <p:cTn id="60" dur="1" fill="hold">
                                          <p:stCondLst>
                                            <p:cond delay="0"/>
                                          </p:stCondLst>
                                        </p:cTn>
                                        <p:tgtEl>
                                          <p:spTgt spid="222252"/>
                                        </p:tgtEl>
                                        <p:attrNameLst>
                                          <p:attrName>style.visibility</p:attrName>
                                        </p:attrNameLst>
                                      </p:cBhvr>
                                      <p:to>
                                        <p:strVal val="visible"/>
                                      </p:to>
                                    </p:set>
                                    <p:animEffect transition="in" filter="dissolve">
                                      <p:cBhvr>
                                        <p:cTn id="61" dur="1000"/>
                                        <p:tgtEl>
                                          <p:spTgt spid="2222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2212" grpId="0"/>
      <p:bldP spid="222240" grpId="0" autoUpdateAnimBg="0"/>
      <p:bldP spid="222241" grpId="0" animBg="1" autoUpdateAnimBg="0"/>
      <p:bldP spid="222249" grpId="0" animBg="1"/>
      <p:bldP spid="222250" grpId="0" animBg="1"/>
      <p:bldP spid="222251" grpId="0"/>
      <p:bldP spid="222252" grpId="0" animBg="1" autoUpdateAnimBg="0"/>
      <p:bldP spid="222258"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20482" name="Picture 2" descr="PN结">
            <a:extLst>
              <a:ext uri="{FF2B5EF4-FFF2-40B4-BE49-F238E27FC236}">
                <a16:creationId xmlns:a16="http://schemas.microsoft.com/office/drawing/2014/main" id="{9F92FB56-9216-4456-B4CC-4073D903E73F}"/>
              </a:ext>
            </a:extLst>
          </p:cNvPr>
          <p:cNvPicPr>
            <a:picLocks noChangeAspect="1" noChangeArrowheads="1"/>
          </p:cNvPicPr>
          <p:nvPr/>
        </p:nvPicPr>
        <p:blipFill>
          <a:blip r:embed="rId2">
            <a:clrChange>
              <a:clrFrom>
                <a:srgbClr val="006599"/>
              </a:clrFrom>
              <a:clrTo>
                <a:srgbClr val="006599">
                  <a:alpha val="0"/>
                </a:srgbClr>
              </a:clrTo>
            </a:clrChange>
            <a:extLst>
              <a:ext uri="{28A0092B-C50C-407E-A947-70E740481C1C}">
                <a14:useLocalDpi xmlns:a14="http://schemas.microsoft.com/office/drawing/2010/main" val="0"/>
              </a:ext>
            </a:extLst>
          </a:blip>
          <a:srcRect/>
          <a:stretch>
            <a:fillRect/>
          </a:stretch>
        </p:blipFill>
        <p:spPr bwMode="auto">
          <a:xfrm>
            <a:off x="500063" y="1214438"/>
            <a:ext cx="3276600" cy="415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1" name="Picture 3" descr="PN结2">
            <a:extLst>
              <a:ext uri="{FF2B5EF4-FFF2-40B4-BE49-F238E27FC236}">
                <a16:creationId xmlns:a16="http://schemas.microsoft.com/office/drawing/2014/main" id="{CAE47230-80C5-455D-9D63-4DD1FB90C38A}"/>
              </a:ext>
            </a:extLst>
          </p:cNvPr>
          <p:cNvPicPr>
            <a:picLocks noChangeAspect="1" noChangeArrowheads="1"/>
          </p:cNvPicPr>
          <p:nvPr/>
        </p:nvPicPr>
        <p:blipFill>
          <a:blip r:embed="rId3">
            <a:clrChange>
              <a:clrFrom>
                <a:srgbClr val="006798"/>
              </a:clrFrom>
              <a:clrTo>
                <a:srgbClr val="006798">
                  <a:alpha val="0"/>
                </a:srgbClr>
              </a:clrTo>
            </a:clrChange>
            <a:extLst>
              <a:ext uri="{28A0092B-C50C-407E-A947-70E740481C1C}">
                <a14:useLocalDpi xmlns:a14="http://schemas.microsoft.com/office/drawing/2010/main" val="0"/>
              </a:ext>
            </a:extLst>
          </a:blip>
          <a:srcRect/>
          <a:stretch>
            <a:fillRect/>
          </a:stretch>
        </p:blipFill>
        <p:spPr bwMode="auto">
          <a:xfrm>
            <a:off x="4286250" y="1098550"/>
            <a:ext cx="4356100" cy="425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4" name="Rectangle 9">
            <a:extLst>
              <a:ext uri="{FF2B5EF4-FFF2-40B4-BE49-F238E27FC236}">
                <a16:creationId xmlns:a16="http://schemas.microsoft.com/office/drawing/2014/main" id="{CBF43EA3-7AD7-4D09-BC08-E2D2CA9E1732}"/>
              </a:ext>
            </a:extLst>
          </p:cNvPr>
          <p:cNvSpPr>
            <a:spLocks noChangeArrowheads="1"/>
          </p:cNvSpPr>
          <p:nvPr/>
        </p:nvSpPr>
        <p:spPr bwMode="auto">
          <a:xfrm>
            <a:off x="539750" y="5568950"/>
            <a:ext cx="3343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chemeClr val="bg1"/>
                </a:solidFill>
                <a:ea typeface="楷体_GB2312" pitchFamily="49" charset="-122"/>
              </a:rPr>
              <a:t>pn</a:t>
            </a:r>
            <a:r>
              <a:rPr lang="en-US" altLang="zh-CN" i="1">
                <a:solidFill>
                  <a:schemeClr val="bg1"/>
                </a:solidFill>
                <a:ea typeface="楷体_GB2312" pitchFamily="49" charset="-122"/>
              </a:rPr>
              <a:t> </a:t>
            </a:r>
            <a:r>
              <a:rPr lang="zh-CN" altLang="en-US">
                <a:solidFill>
                  <a:schemeClr val="bg1"/>
                </a:solidFill>
                <a:ea typeface="楷体_GB2312" pitchFamily="49" charset="-122"/>
              </a:rPr>
              <a:t>结中的电场和电势差</a:t>
            </a:r>
          </a:p>
        </p:txBody>
      </p:sp>
      <p:sp>
        <p:nvSpPr>
          <p:cNvPr id="22538" name="Rectangle 10">
            <a:extLst>
              <a:ext uri="{FF2B5EF4-FFF2-40B4-BE49-F238E27FC236}">
                <a16:creationId xmlns:a16="http://schemas.microsoft.com/office/drawing/2014/main" id="{423D953E-48A7-4CBC-8936-122B088A0F1D}"/>
              </a:ext>
            </a:extLst>
          </p:cNvPr>
          <p:cNvSpPr>
            <a:spLocks noChangeArrowheads="1"/>
          </p:cNvSpPr>
          <p:nvPr/>
        </p:nvSpPr>
        <p:spPr bwMode="auto">
          <a:xfrm>
            <a:off x="5070475" y="5286375"/>
            <a:ext cx="34290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125000"/>
              </a:lnSpc>
            </a:pPr>
            <a:r>
              <a:rPr lang="en-US" altLang="zh-CN">
                <a:solidFill>
                  <a:srgbClr val="00FFFF"/>
                </a:solidFill>
                <a:ea typeface="楷体_GB2312" pitchFamily="49" charset="-122"/>
              </a:rPr>
              <a:t>p </a:t>
            </a:r>
            <a:r>
              <a:rPr lang="zh-CN" altLang="en-US">
                <a:solidFill>
                  <a:schemeClr val="bg1"/>
                </a:solidFill>
                <a:ea typeface="楷体_GB2312" pitchFamily="49" charset="-122"/>
              </a:rPr>
              <a:t>区能带升高，</a:t>
            </a:r>
            <a:r>
              <a:rPr lang="en-US" altLang="zh-CN">
                <a:solidFill>
                  <a:srgbClr val="00FFFF"/>
                </a:solidFill>
                <a:ea typeface="楷体_GB2312" pitchFamily="49" charset="-122"/>
              </a:rPr>
              <a:t>n </a:t>
            </a:r>
            <a:r>
              <a:rPr lang="zh-CN" altLang="en-US">
                <a:solidFill>
                  <a:schemeClr val="bg1"/>
                </a:solidFill>
                <a:ea typeface="楷体_GB2312" pitchFamily="49" charset="-122"/>
              </a:rPr>
              <a:t>区能带降低，形成势垒</a:t>
            </a:r>
          </a:p>
        </p:txBody>
      </p:sp>
      <p:sp>
        <p:nvSpPr>
          <p:cNvPr id="20486" name="Rectangle 11">
            <a:extLst>
              <a:ext uri="{FF2B5EF4-FFF2-40B4-BE49-F238E27FC236}">
                <a16:creationId xmlns:a16="http://schemas.microsoft.com/office/drawing/2014/main" id="{29766C08-30CA-41D0-86DA-527282BF439E}"/>
              </a:ext>
            </a:extLst>
          </p:cNvPr>
          <p:cNvSpPr>
            <a:spLocks noChangeArrowheads="1"/>
          </p:cNvSpPr>
          <p:nvPr/>
        </p:nvSpPr>
        <p:spPr bwMode="auto">
          <a:xfrm>
            <a:off x="506413" y="647700"/>
            <a:ext cx="507369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dirty="0">
                <a:solidFill>
                  <a:schemeClr val="accent1">
                    <a:lumMod val="60000"/>
                    <a:lumOff val="40000"/>
                  </a:schemeClr>
                </a:solidFill>
                <a:latin typeface="+mn-ea"/>
                <a:ea typeface="+mn-ea"/>
              </a:rPr>
              <a:t>（</a:t>
            </a:r>
            <a:r>
              <a:rPr lang="en-US" altLang="zh-CN" dirty="0">
                <a:solidFill>
                  <a:schemeClr val="accent1">
                    <a:lumMod val="60000"/>
                    <a:lumOff val="40000"/>
                  </a:schemeClr>
                </a:solidFill>
                <a:latin typeface="+mn-ea"/>
                <a:ea typeface="+mn-ea"/>
              </a:rPr>
              <a:t>3</a:t>
            </a:r>
            <a:r>
              <a:rPr lang="zh-CN" altLang="en-US" dirty="0">
                <a:solidFill>
                  <a:schemeClr val="accent1">
                    <a:lumMod val="60000"/>
                    <a:lumOff val="40000"/>
                  </a:schemeClr>
                </a:solidFill>
                <a:latin typeface="+mn-ea"/>
                <a:ea typeface="+mn-ea"/>
              </a:rPr>
              <a:t>）</a:t>
            </a:r>
            <a:r>
              <a:rPr lang="en-US" altLang="zh-CN" dirty="0" err="1">
                <a:solidFill>
                  <a:schemeClr val="accent1">
                    <a:lumMod val="60000"/>
                    <a:lumOff val="40000"/>
                  </a:schemeClr>
                </a:solidFill>
                <a:latin typeface="+mn-lt"/>
                <a:ea typeface="+mn-ea"/>
              </a:rPr>
              <a:t>pn</a:t>
            </a:r>
            <a:r>
              <a:rPr lang="en-US" altLang="zh-CN" i="1" dirty="0">
                <a:solidFill>
                  <a:schemeClr val="accent1">
                    <a:lumMod val="60000"/>
                    <a:lumOff val="40000"/>
                  </a:schemeClr>
                </a:solidFill>
                <a:latin typeface="+mn-ea"/>
                <a:ea typeface="+mn-ea"/>
              </a:rPr>
              <a:t> </a:t>
            </a:r>
            <a:r>
              <a:rPr lang="zh-CN" altLang="en-US" dirty="0">
                <a:solidFill>
                  <a:schemeClr val="accent1">
                    <a:lumMod val="60000"/>
                    <a:lumOff val="40000"/>
                  </a:schemeClr>
                </a:solidFill>
                <a:latin typeface="+mn-ea"/>
                <a:ea typeface="+mn-ea"/>
              </a:rPr>
              <a:t>结中的电场和势垒</a:t>
            </a:r>
          </a:p>
        </p:txBody>
      </p:sp>
      <p:sp>
        <p:nvSpPr>
          <p:cNvPr id="22535" name="灯片编号占位符 1">
            <a:extLst>
              <a:ext uri="{FF2B5EF4-FFF2-40B4-BE49-F238E27FC236}">
                <a16:creationId xmlns:a16="http://schemas.microsoft.com/office/drawing/2014/main" id="{C390DF20-C7E0-44F1-96BB-4FA55F977D6E}"/>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F899EBB3-57BE-4F34-994D-D05D2F2DA568}" type="slidenum">
              <a:rPr lang="en-US" altLang="zh-CN" b="0" smtClean="0">
                <a:solidFill>
                  <a:srgbClr val="FF00FF"/>
                </a:solidFill>
              </a:rPr>
              <a:pPr eaLnBrk="1" hangingPunct="1"/>
              <a:t>12</a:t>
            </a:fld>
            <a:r>
              <a:rPr lang="en-US" altLang="zh-CN" b="0" dirty="0">
                <a:solidFill>
                  <a:srgbClr val="FF00FF"/>
                </a:solidFill>
              </a:rPr>
              <a:t>/40</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20486"/>
                                        </p:tgtEl>
                                        <p:attrNameLst>
                                          <p:attrName>style.visibility</p:attrName>
                                        </p:attrNameLst>
                                      </p:cBhvr>
                                      <p:to>
                                        <p:strVal val="visible"/>
                                      </p:to>
                                    </p:set>
                                    <p:animEffect transition="in" filter="dissolve">
                                      <p:cBhvr>
                                        <p:cTn id="7" dur="500"/>
                                        <p:tgtEl>
                                          <p:spTgt spid="2048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0482"/>
                                        </p:tgtEl>
                                        <p:attrNameLst>
                                          <p:attrName>style.visibility</p:attrName>
                                        </p:attrNameLst>
                                      </p:cBhvr>
                                      <p:to>
                                        <p:strVal val="visible"/>
                                      </p:to>
                                    </p:set>
                                    <p:animEffect transition="in" filter="blinds(horizontal)">
                                      <p:cBhvr>
                                        <p:cTn id="12" dur="500"/>
                                        <p:tgtEl>
                                          <p:spTgt spid="20482"/>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20484"/>
                                        </p:tgtEl>
                                        <p:attrNameLst>
                                          <p:attrName>style.visibility</p:attrName>
                                        </p:attrNameLst>
                                      </p:cBhvr>
                                      <p:to>
                                        <p:strVal val="visible"/>
                                      </p:to>
                                    </p:set>
                                    <p:animEffect transition="in" filter="blinds(horizontal)">
                                      <p:cBhvr>
                                        <p:cTn id="15" dur="500"/>
                                        <p:tgtEl>
                                          <p:spTgt spid="20484"/>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4" presetClass="entr" presetSubtype="32" fill="hold" nodeType="clickEffect">
                                  <p:stCondLst>
                                    <p:cond delay="0"/>
                                  </p:stCondLst>
                                  <p:childTnLst>
                                    <p:set>
                                      <p:cBhvr>
                                        <p:cTn id="19" dur="1" fill="hold">
                                          <p:stCondLst>
                                            <p:cond delay="0"/>
                                          </p:stCondLst>
                                        </p:cTn>
                                        <p:tgtEl>
                                          <p:spTgt spid="22531"/>
                                        </p:tgtEl>
                                        <p:attrNameLst>
                                          <p:attrName>style.visibility</p:attrName>
                                        </p:attrNameLst>
                                      </p:cBhvr>
                                      <p:to>
                                        <p:strVal val="visible"/>
                                      </p:to>
                                    </p:set>
                                    <p:animEffect transition="in" filter="box(out)">
                                      <p:cBhvr>
                                        <p:cTn id="20" dur="500"/>
                                        <p:tgtEl>
                                          <p:spTgt spid="22531"/>
                                        </p:tgtEl>
                                      </p:cBhvr>
                                    </p:animEffect>
                                  </p:childTnLst>
                                </p:cTn>
                              </p:par>
                            </p:childTnLst>
                          </p:cTn>
                        </p:par>
                        <p:par>
                          <p:cTn id="21" fill="hold" nodeType="afterGroup">
                            <p:stCondLst>
                              <p:cond delay="500"/>
                            </p:stCondLst>
                            <p:childTnLst>
                              <p:par>
                                <p:cTn id="22" presetID="22" presetClass="entr" presetSubtype="8" fill="hold" grpId="0" nodeType="afterEffect">
                                  <p:stCondLst>
                                    <p:cond delay="0"/>
                                  </p:stCondLst>
                                  <p:childTnLst>
                                    <p:set>
                                      <p:cBhvr>
                                        <p:cTn id="23" dur="1" fill="hold">
                                          <p:stCondLst>
                                            <p:cond delay="0"/>
                                          </p:stCondLst>
                                        </p:cTn>
                                        <p:tgtEl>
                                          <p:spTgt spid="22538"/>
                                        </p:tgtEl>
                                        <p:attrNameLst>
                                          <p:attrName>style.visibility</p:attrName>
                                        </p:attrNameLst>
                                      </p:cBhvr>
                                      <p:to>
                                        <p:strVal val="visible"/>
                                      </p:to>
                                    </p:set>
                                    <p:animEffect transition="in" filter="wipe(left)">
                                      <p:cBhvr>
                                        <p:cTn id="24" dur="500"/>
                                        <p:tgtEl>
                                          <p:spTgt spid="225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4" grpId="0"/>
      <p:bldP spid="22538" grpId="0"/>
      <p:bldP spid="20486" grpId="0"/>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559" name="Text Box 7">
            <a:extLst>
              <a:ext uri="{FF2B5EF4-FFF2-40B4-BE49-F238E27FC236}">
                <a16:creationId xmlns:a16="http://schemas.microsoft.com/office/drawing/2014/main" id="{B5F797DB-D033-4966-A632-A0C880A8B127}"/>
              </a:ext>
            </a:extLst>
          </p:cNvPr>
          <p:cNvSpPr txBox="1">
            <a:spLocks noChangeArrowheads="1"/>
          </p:cNvSpPr>
          <p:nvPr/>
        </p:nvSpPr>
        <p:spPr bwMode="auto">
          <a:xfrm>
            <a:off x="357188" y="5013325"/>
            <a:ext cx="4321175" cy="140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en-US" altLang="zh-CN">
                <a:solidFill>
                  <a:schemeClr val="bg1"/>
                </a:solidFill>
              </a:rPr>
              <a:t>pn </a:t>
            </a:r>
            <a:r>
              <a:rPr lang="zh-CN" altLang="en-US">
                <a:solidFill>
                  <a:schemeClr val="bg1"/>
                </a:solidFill>
                <a:ea typeface="楷体_GB2312" pitchFamily="49" charset="-122"/>
              </a:rPr>
              <a:t>结中电场减弱，势垒降低，电子、空穴扩散容易，形成正向宏观电流，随电压变化</a:t>
            </a:r>
          </a:p>
        </p:txBody>
      </p:sp>
      <p:sp>
        <p:nvSpPr>
          <p:cNvPr id="23560" name="Text Box 8">
            <a:extLst>
              <a:ext uri="{FF2B5EF4-FFF2-40B4-BE49-F238E27FC236}">
                <a16:creationId xmlns:a16="http://schemas.microsoft.com/office/drawing/2014/main" id="{7A68177F-0CD2-4C5E-928C-5472EA074480}"/>
              </a:ext>
            </a:extLst>
          </p:cNvPr>
          <p:cNvSpPr txBox="1">
            <a:spLocks noChangeArrowheads="1"/>
          </p:cNvSpPr>
          <p:nvPr/>
        </p:nvSpPr>
        <p:spPr bwMode="auto">
          <a:xfrm>
            <a:off x="4794250" y="5000625"/>
            <a:ext cx="4054475" cy="140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en-US" altLang="zh-CN">
                <a:solidFill>
                  <a:schemeClr val="bg1"/>
                </a:solidFill>
              </a:rPr>
              <a:t>pn</a:t>
            </a:r>
            <a:r>
              <a:rPr lang="zh-CN" altLang="en-US">
                <a:solidFill>
                  <a:schemeClr val="bg1"/>
                </a:solidFill>
                <a:ea typeface="楷体_GB2312" pitchFamily="49" charset="-122"/>
              </a:rPr>
              <a:t>结中电场增强，势垒增高，电子、空穴扩散困难，形成很小的反向电流。</a:t>
            </a:r>
          </a:p>
        </p:txBody>
      </p:sp>
      <p:sp>
        <p:nvSpPr>
          <p:cNvPr id="23556" name="Text Box 10">
            <a:extLst>
              <a:ext uri="{FF2B5EF4-FFF2-40B4-BE49-F238E27FC236}">
                <a16:creationId xmlns:a16="http://schemas.microsoft.com/office/drawing/2014/main" id="{3BA22469-DB36-4D43-B8FA-D6F3E63E676C}"/>
              </a:ext>
            </a:extLst>
          </p:cNvPr>
          <p:cNvSpPr txBox="1">
            <a:spLocks noChangeArrowheads="1"/>
          </p:cNvSpPr>
          <p:nvPr/>
        </p:nvSpPr>
        <p:spPr bwMode="auto">
          <a:xfrm>
            <a:off x="395287" y="404813"/>
            <a:ext cx="57245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dirty="0">
                <a:solidFill>
                  <a:srgbClr val="00FFFF"/>
                </a:solidFill>
              </a:rPr>
              <a:t>（</a:t>
            </a:r>
            <a:r>
              <a:rPr lang="en-US" altLang="zh-CN" dirty="0">
                <a:solidFill>
                  <a:srgbClr val="00FFFF"/>
                </a:solidFill>
              </a:rPr>
              <a:t>4</a:t>
            </a:r>
            <a:r>
              <a:rPr lang="zh-CN" altLang="en-US" dirty="0">
                <a:solidFill>
                  <a:srgbClr val="00FFFF"/>
                </a:solidFill>
              </a:rPr>
              <a:t>）</a:t>
            </a:r>
            <a:r>
              <a:rPr lang="en-US" altLang="zh-CN" dirty="0">
                <a:solidFill>
                  <a:srgbClr val="00FFFF"/>
                </a:solidFill>
              </a:rPr>
              <a:t> </a:t>
            </a:r>
            <a:r>
              <a:rPr lang="en-US" altLang="zh-CN" dirty="0" err="1">
                <a:solidFill>
                  <a:srgbClr val="00FFFF"/>
                </a:solidFill>
              </a:rPr>
              <a:t>pn</a:t>
            </a:r>
            <a:r>
              <a:rPr lang="zh-CN" altLang="en-US" dirty="0">
                <a:solidFill>
                  <a:srgbClr val="00FFFF"/>
                </a:solidFill>
              </a:rPr>
              <a:t>结中电流和外加电压的关系</a:t>
            </a:r>
          </a:p>
        </p:txBody>
      </p:sp>
      <p:sp>
        <p:nvSpPr>
          <p:cNvPr id="23563" name="Text Box 11">
            <a:extLst>
              <a:ext uri="{FF2B5EF4-FFF2-40B4-BE49-F238E27FC236}">
                <a16:creationId xmlns:a16="http://schemas.microsoft.com/office/drawing/2014/main" id="{641E1987-2FBE-46F1-8258-44616129312E}"/>
              </a:ext>
            </a:extLst>
          </p:cNvPr>
          <p:cNvSpPr txBox="1">
            <a:spLocks noChangeArrowheads="1"/>
          </p:cNvSpPr>
          <p:nvPr/>
        </p:nvSpPr>
        <p:spPr bwMode="auto">
          <a:xfrm>
            <a:off x="1871663" y="2781300"/>
            <a:ext cx="1200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a:solidFill>
                  <a:schemeClr val="bg1"/>
                </a:solidFill>
                <a:ea typeface="楷体_GB2312" pitchFamily="49" charset="-122"/>
              </a:rPr>
              <a:t>正向电压</a:t>
            </a:r>
          </a:p>
        </p:txBody>
      </p:sp>
      <p:sp>
        <p:nvSpPr>
          <p:cNvPr id="23564" name="Text Box 12">
            <a:extLst>
              <a:ext uri="{FF2B5EF4-FFF2-40B4-BE49-F238E27FC236}">
                <a16:creationId xmlns:a16="http://schemas.microsoft.com/office/drawing/2014/main" id="{7DCBB29E-C3C4-4420-A8ED-1E341BA425F2}"/>
              </a:ext>
            </a:extLst>
          </p:cNvPr>
          <p:cNvSpPr txBox="1">
            <a:spLocks noChangeArrowheads="1"/>
          </p:cNvSpPr>
          <p:nvPr/>
        </p:nvSpPr>
        <p:spPr bwMode="auto">
          <a:xfrm>
            <a:off x="6119813" y="2708275"/>
            <a:ext cx="1200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a:solidFill>
                  <a:schemeClr val="bg1"/>
                </a:solidFill>
                <a:ea typeface="楷体_GB2312" pitchFamily="49" charset="-122"/>
              </a:rPr>
              <a:t>反向电压</a:t>
            </a:r>
          </a:p>
        </p:txBody>
      </p:sp>
      <p:grpSp>
        <p:nvGrpSpPr>
          <p:cNvPr id="2" name="Group 15">
            <a:extLst>
              <a:ext uri="{FF2B5EF4-FFF2-40B4-BE49-F238E27FC236}">
                <a16:creationId xmlns:a16="http://schemas.microsoft.com/office/drawing/2014/main" id="{B03AEA90-E3D1-40C4-B13D-105AA517AA88}"/>
              </a:ext>
            </a:extLst>
          </p:cNvPr>
          <p:cNvGrpSpPr>
            <a:grpSpLocks/>
          </p:cNvGrpSpPr>
          <p:nvPr/>
        </p:nvGrpSpPr>
        <p:grpSpPr bwMode="auto">
          <a:xfrm>
            <a:off x="285750" y="823913"/>
            <a:ext cx="8610600" cy="4476750"/>
            <a:chOff x="288" y="519"/>
            <a:chExt cx="5424" cy="2820"/>
          </a:xfrm>
        </p:grpSpPr>
        <p:pic>
          <p:nvPicPr>
            <p:cNvPr id="23561" name="Picture 2" descr="PN结3（电压）">
              <a:extLst>
                <a:ext uri="{FF2B5EF4-FFF2-40B4-BE49-F238E27FC236}">
                  <a16:creationId xmlns:a16="http://schemas.microsoft.com/office/drawing/2014/main" id="{8B9947FB-7945-434F-B14E-4563EDB044F2}"/>
                </a:ext>
              </a:extLst>
            </p:cNvPr>
            <p:cNvPicPr>
              <a:picLocks noChangeAspect="1" noChangeArrowheads="1"/>
            </p:cNvPicPr>
            <p:nvPr/>
          </p:nvPicPr>
          <p:blipFill>
            <a:blip r:embed="rId3">
              <a:clrChange>
                <a:clrFrom>
                  <a:srgbClr val="006599"/>
                </a:clrFrom>
                <a:clrTo>
                  <a:srgbClr val="006599">
                    <a:alpha val="0"/>
                  </a:srgbClr>
                </a:clrTo>
              </a:clrChange>
              <a:extLst>
                <a:ext uri="{28A0092B-C50C-407E-A947-70E740481C1C}">
                  <a14:useLocalDpi xmlns:a14="http://schemas.microsoft.com/office/drawing/2010/main" val="0"/>
                </a:ext>
              </a:extLst>
            </a:blip>
            <a:srcRect/>
            <a:stretch>
              <a:fillRect/>
            </a:stretch>
          </p:blipFill>
          <p:spPr bwMode="auto">
            <a:xfrm>
              <a:off x="288" y="549"/>
              <a:ext cx="5424" cy="27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62" name="Line 6">
              <a:extLst>
                <a:ext uri="{FF2B5EF4-FFF2-40B4-BE49-F238E27FC236}">
                  <a16:creationId xmlns:a16="http://schemas.microsoft.com/office/drawing/2014/main" id="{30D9B01E-8EEB-481D-B6F2-52CC7DB640B1}"/>
                </a:ext>
              </a:extLst>
            </p:cNvPr>
            <p:cNvSpPr>
              <a:spLocks noChangeShapeType="1"/>
            </p:cNvSpPr>
            <p:nvPr/>
          </p:nvSpPr>
          <p:spPr bwMode="auto">
            <a:xfrm flipH="1">
              <a:off x="4176" y="629"/>
              <a:ext cx="201" cy="0"/>
            </a:xfrm>
            <a:prstGeom prst="line">
              <a:avLst/>
            </a:prstGeom>
            <a:noFill/>
            <a:ln w="9525">
              <a:solidFill>
                <a:schemeClr val="hlink"/>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 name="Line 9">
              <a:extLst>
                <a:ext uri="{FF2B5EF4-FFF2-40B4-BE49-F238E27FC236}">
                  <a16:creationId xmlns:a16="http://schemas.microsoft.com/office/drawing/2014/main" id="{67ED9F60-D60A-442D-AB92-67E1BF5F1B94}"/>
                </a:ext>
              </a:extLst>
            </p:cNvPr>
            <p:cNvSpPr>
              <a:spLocks noChangeShapeType="1"/>
            </p:cNvSpPr>
            <p:nvPr/>
          </p:nvSpPr>
          <p:spPr bwMode="auto">
            <a:xfrm flipH="1">
              <a:off x="1474" y="629"/>
              <a:ext cx="201" cy="0"/>
            </a:xfrm>
            <a:prstGeom prst="line">
              <a:avLst/>
            </a:prstGeom>
            <a:noFill/>
            <a:ln w="9525">
              <a:solidFill>
                <a:schemeClr val="hlink"/>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 name="Text Box 13">
              <a:extLst>
                <a:ext uri="{FF2B5EF4-FFF2-40B4-BE49-F238E27FC236}">
                  <a16:creationId xmlns:a16="http://schemas.microsoft.com/office/drawing/2014/main" id="{0DE20F86-D8B9-46DE-8679-BEF65C8B1C1C}"/>
                </a:ext>
              </a:extLst>
            </p:cNvPr>
            <p:cNvSpPr txBox="1">
              <a:spLocks noChangeArrowheads="1"/>
            </p:cNvSpPr>
            <p:nvPr/>
          </p:nvSpPr>
          <p:spPr bwMode="auto">
            <a:xfrm>
              <a:off x="1655" y="519"/>
              <a:ext cx="2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800" i="1">
                  <a:solidFill>
                    <a:schemeClr val="hlink"/>
                  </a:solidFill>
                </a:rPr>
                <a:t>E</a:t>
              </a:r>
            </a:p>
          </p:txBody>
        </p:sp>
        <p:sp>
          <p:nvSpPr>
            <p:cNvPr id="23565" name="Text Box 14">
              <a:extLst>
                <a:ext uri="{FF2B5EF4-FFF2-40B4-BE49-F238E27FC236}">
                  <a16:creationId xmlns:a16="http://schemas.microsoft.com/office/drawing/2014/main" id="{95BA89E1-E721-4749-B953-2D3995CD4768}"/>
                </a:ext>
              </a:extLst>
            </p:cNvPr>
            <p:cNvSpPr txBox="1">
              <a:spLocks noChangeArrowheads="1"/>
            </p:cNvSpPr>
            <p:nvPr/>
          </p:nvSpPr>
          <p:spPr bwMode="auto">
            <a:xfrm>
              <a:off x="4346" y="523"/>
              <a:ext cx="2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800" i="1">
                  <a:solidFill>
                    <a:schemeClr val="hlink"/>
                  </a:solidFill>
                </a:rPr>
                <a:t>E</a:t>
              </a:r>
            </a:p>
          </p:txBody>
        </p:sp>
      </p:grpSp>
      <p:sp>
        <p:nvSpPr>
          <p:cNvPr id="5" name="灯片编号占位符 1">
            <a:extLst>
              <a:ext uri="{FF2B5EF4-FFF2-40B4-BE49-F238E27FC236}">
                <a16:creationId xmlns:a16="http://schemas.microsoft.com/office/drawing/2014/main" id="{EF71C715-560C-4A43-BB97-1BFC12CB09B7}"/>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20D1106F-48A1-4B39-B1BD-40F62F3A4C3E}" type="slidenum">
              <a:rPr lang="en-US" altLang="zh-CN" b="0" smtClean="0">
                <a:solidFill>
                  <a:srgbClr val="FF00FF"/>
                </a:solidFill>
              </a:rPr>
              <a:pPr eaLnBrk="1" hangingPunct="1"/>
              <a:t>13</a:t>
            </a:fld>
            <a:r>
              <a:rPr lang="en-US" altLang="zh-CN" b="0" dirty="0">
                <a:solidFill>
                  <a:srgbClr val="FF00FF"/>
                </a:solidFill>
              </a:rPr>
              <a:t>/40</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3563"/>
                                        </p:tgtEl>
                                        <p:attrNameLst>
                                          <p:attrName>style.visibility</p:attrName>
                                        </p:attrNameLst>
                                      </p:cBhvr>
                                      <p:to>
                                        <p:strVal val="visible"/>
                                      </p:to>
                                    </p:set>
                                    <p:animEffect transition="in" filter="dissolve">
                                      <p:cBhvr>
                                        <p:cTn id="12" dur="500"/>
                                        <p:tgtEl>
                                          <p:spTgt spid="23563"/>
                                        </p:tgtEl>
                                      </p:cBhvr>
                                    </p:animEffect>
                                  </p:childTnLst>
                                </p:cTn>
                              </p:par>
                            </p:childTnLst>
                          </p:cTn>
                        </p:par>
                        <p:par>
                          <p:cTn id="13" fill="hold" nodeType="afterGroup">
                            <p:stCondLst>
                              <p:cond delay="500"/>
                            </p:stCondLst>
                            <p:childTnLst>
                              <p:par>
                                <p:cTn id="14" presetID="9" presetClass="entr" presetSubtype="0" fill="hold" grpId="0" nodeType="afterEffect">
                                  <p:stCondLst>
                                    <p:cond delay="0"/>
                                  </p:stCondLst>
                                  <p:childTnLst>
                                    <p:set>
                                      <p:cBhvr>
                                        <p:cTn id="15" dur="1" fill="hold">
                                          <p:stCondLst>
                                            <p:cond delay="0"/>
                                          </p:stCondLst>
                                        </p:cTn>
                                        <p:tgtEl>
                                          <p:spTgt spid="23559"/>
                                        </p:tgtEl>
                                        <p:attrNameLst>
                                          <p:attrName>style.visibility</p:attrName>
                                        </p:attrNameLst>
                                      </p:cBhvr>
                                      <p:to>
                                        <p:strVal val="visible"/>
                                      </p:to>
                                    </p:set>
                                    <p:animEffect transition="in" filter="dissolve">
                                      <p:cBhvr>
                                        <p:cTn id="16" dur="500"/>
                                        <p:tgtEl>
                                          <p:spTgt spid="23559"/>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23564"/>
                                        </p:tgtEl>
                                        <p:attrNameLst>
                                          <p:attrName>style.visibility</p:attrName>
                                        </p:attrNameLst>
                                      </p:cBhvr>
                                      <p:to>
                                        <p:strVal val="visible"/>
                                      </p:to>
                                    </p:set>
                                    <p:animEffect transition="in" filter="dissolve">
                                      <p:cBhvr>
                                        <p:cTn id="21" dur="500"/>
                                        <p:tgtEl>
                                          <p:spTgt spid="23564"/>
                                        </p:tgtEl>
                                      </p:cBhvr>
                                    </p:animEffect>
                                  </p:childTnLst>
                                </p:cTn>
                              </p:par>
                            </p:childTnLst>
                          </p:cTn>
                        </p:par>
                        <p:par>
                          <p:cTn id="22" fill="hold" nodeType="afterGroup">
                            <p:stCondLst>
                              <p:cond delay="500"/>
                            </p:stCondLst>
                            <p:childTnLst>
                              <p:par>
                                <p:cTn id="23" presetID="9" presetClass="entr" presetSubtype="0" fill="hold" grpId="0" nodeType="afterEffect">
                                  <p:stCondLst>
                                    <p:cond delay="0"/>
                                  </p:stCondLst>
                                  <p:childTnLst>
                                    <p:set>
                                      <p:cBhvr>
                                        <p:cTn id="24" dur="1" fill="hold">
                                          <p:stCondLst>
                                            <p:cond delay="0"/>
                                          </p:stCondLst>
                                        </p:cTn>
                                        <p:tgtEl>
                                          <p:spTgt spid="23560"/>
                                        </p:tgtEl>
                                        <p:attrNameLst>
                                          <p:attrName>style.visibility</p:attrName>
                                        </p:attrNameLst>
                                      </p:cBhvr>
                                      <p:to>
                                        <p:strVal val="visible"/>
                                      </p:to>
                                    </p:set>
                                    <p:animEffect transition="in" filter="dissolve">
                                      <p:cBhvr>
                                        <p:cTn id="25" dur="500"/>
                                        <p:tgtEl>
                                          <p:spTgt spid="235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9" grpId="0" autoUpdateAnimBg="0"/>
      <p:bldP spid="23560" grpId="0" autoUpdateAnimBg="0"/>
      <p:bldP spid="23563" grpId="0"/>
      <p:bldP spid="23564" grpId="0"/>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628" name="Freeform 28">
            <a:extLst>
              <a:ext uri="{FF2B5EF4-FFF2-40B4-BE49-F238E27FC236}">
                <a16:creationId xmlns:a16="http://schemas.microsoft.com/office/drawing/2014/main" id="{CD78159E-9CEC-49E8-8E6E-C8DBF9EFA9B6}"/>
              </a:ext>
            </a:extLst>
          </p:cNvPr>
          <p:cNvSpPr>
            <a:spLocks/>
          </p:cNvSpPr>
          <p:nvPr/>
        </p:nvSpPr>
        <p:spPr bwMode="auto">
          <a:xfrm>
            <a:off x="2411758" y="1216447"/>
            <a:ext cx="3738562" cy="3309937"/>
          </a:xfrm>
          <a:custGeom>
            <a:avLst/>
            <a:gdLst>
              <a:gd name="T0" fmla="*/ 2147483646 w 3643"/>
              <a:gd name="T1" fmla="*/ 0 h 3448"/>
              <a:gd name="T2" fmla="*/ 2147483646 w 3643"/>
              <a:gd name="T3" fmla="*/ 2147483646 h 3448"/>
              <a:gd name="T4" fmla="*/ 2147483646 w 3643"/>
              <a:gd name="T5" fmla="*/ 2147483646 h 3448"/>
              <a:gd name="T6" fmla="*/ 2147483646 w 3643"/>
              <a:gd name="T7" fmla="*/ 2147483646 h 3448"/>
              <a:gd name="T8" fmla="*/ 0 60000 65536"/>
              <a:gd name="T9" fmla="*/ 0 60000 65536"/>
              <a:gd name="T10" fmla="*/ 0 60000 65536"/>
              <a:gd name="T11" fmla="*/ 0 60000 65536"/>
              <a:gd name="T12" fmla="*/ 0 w 3643"/>
              <a:gd name="T13" fmla="*/ 0 h 3448"/>
              <a:gd name="T14" fmla="*/ 3643 w 3643"/>
              <a:gd name="T15" fmla="*/ 3448 h 3448"/>
            </a:gdLst>
            <a:ahLst/>
            <a:cxnLst>
              <a:cxn ang="T8">
                <a:pos x="T0" y="T1"/>
              </a:cxn>
              <a:cxn ang="T9">
                <a:pos x="T2" y="T3"/>
              </a:cxn>
              <a:cxn ang="T10">
                <a:pos x="T4" y="T5"/>
              </a:cxn>
              <a:cxn ang="T11">
                <a:pos x="T6" y="T7"/>
              </a:cxn>
            </a:cxnLst>
            <a:rect l="T12" t="T13" r="T14" b="T15"/>
            <a:pathLst>
              <a:path w="3643" h="3448">
                <a:moveTo>
                  <a:pt x="3643" y="0"/>
                </a:moveTo>
                <a:cubicBezTo>
                  <a:pt x="3560" y="1624"/>
                  <a:pt x="3009" y="2307"/>
                  <a:pt x="2100" y="2404"/>
                </a:cubicBezTo>
                <a:cubicBezTo>
                  <a:pt x="1191" y="2501"/>
                  <a:pt x="892" y="2469"/>
                  <a:pt x="484" y="2501"/>
                </a:cubicBezTo>
                <a:cubicBezTo>
                  <a:pt x="314" y="2515"/>
                  <a:pt x="0" y="3431"/>
                  <a:pt x="14" y="3448"/>
                </a:cubicBezTo>
              </a:path>
            </a:pathLst>
          </a:custGeom>
          <a:noFill/>
          <a:ln w="19050">
            <a:solidFill>
              <a:srgbClr val="FFFF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5646" name="Rectangle 46">
            <a:extLst>
              <a:ext uri="{FF2B5EF4-FFF2-40B4-BE49-F238E27FC236}">
                <a16:creationId xmlns:a16="http://schemas.microsoft.com/office/drawing/2014/main" id="{63FD4F7A-C8F9-4A63-AE5C-C39384D6264E}"/>
              </a:ext>
            </a:extLst>
          </p:cNvPr>
          <p:cNvSpPr>
            <a:spLocks noChangeArrowheads="1"/>
          </p:cNvSpPr>
          <p:nvPr/>
        </p:nvSpPr>
        <p:spPr bwMode="auto">
          <a:xfrm>
            <a:off x="2365720" y="3500859"/>
            <a:ext cx="2232025" cy="1079500"/>
          </a:xfrm>
          <a:prstGeom prst="rect">
            <a:avLst/>
          </a:prstGeom>
          <a:solidFill>
            <a:srgbClr val="00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5604" name="Text Box 13">
            <a:extLst>
              <a:ext uri="{FF2B5EF4-FFF2-40B4-BE49-F238E27FC236}">
                <a16:creationId xmlns:a16="http://schemas.microsoft.com/office/drawing/2014/main" id="{53BDA3CB-7830-43A0-A637-333F38223054}"/>
              </a:ext>
            </a:extLst>
          </p:cNvPr>
          <p:cNvSpPr txBox="1">
            <a:spLocks noChangeArrowheads="1"/>
          </p:cNvSpPr>
          <p:nvPr/>
        </p:nvSpPr>
        <p:spPr bwMode="auto">
          <a:xfrm>
            <a:off x="4599333" y="2759497"/>
            <a:ext cx="668337"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200">
                <a:solidFill>
                  <a:srgbClr val="DDDDDD"/>
                </a:solidFill>
              </a:rPr>
              <a:t>10</a:t>
            </a:r>
          </a:p>
        </p:txBody>
      </p:sp>
      <p:sp>
        <p:nvSpPr>
          <p:cNvPr id="25605" name="Text Box 14">
            <a:extLst>
              <a:ext uri="{FF2B5EF4-FFF2-40B4-BE49-F238E27FC236}">
                <a16:creationId xmlns:a16="http://schemas.microsoft.com/office/drawing/2014/main" id="{A5F7465C-F3BA-4063-8511-C5F67CD46FAB}"/>
              </a:ext>
            </a:extLst>
          </p:cNvPr>
          <p:cNvSpPr txBox="1">
            <a:spLocks noChangeArrowheads="1"/>
          </p:cNvSpPr>
          <p:nvPr/>
        </p:nvSpPr>
        <p:spPr bwMode="auto">
          <a:xfrm>
            <a:off x="4599333" y="2121322"/>
            <a:ext cx="668337"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200">
                <a:solidFill>
                  <a:srgbClr val="DDDDDD"/>
                </a:solidFill>
              </a:rPr>
              <a:t>20</a:t>
            </a:r>
          </a:p>
        </p:txBody>
      </p:sp>
      <p:sp>
        <p:nvSpPr>
          <p:cNvPr id="25606" name="Text Box 15">
            <a:extLst>
              <a:ext uri="{FF2B5EF4-FFF2-40B4-BE49-F238E27FC236}">
                <a16:creationId xmlns:a16="http://schemas.microsoft.com/office/drawing/2014/main" id="{E18D33CF-5D4E-4C3D-A785-DEAADB732B65}"/>
              </a:ext>
            </a:extLst>
          </p:cNvPr>
          <p:cNvSpPr txBox="1">
            <a:spLocks noChangeArrowheads="1"/>
          </p:cNvSpPr>
          <p:nvPr/>
        </p:nvSpPr>
        <p:spPr bwMode="auto">
          <a:xfrm>
            <a:off x="4599333" y="1489497"/>
            <a:ext cx="668337"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200">
                <a:solidFill>
                  <a:srgbClr val="DDDDDD"/>
                </a:solidFill>
              </a:rPr>
              <a:t>30</a:t>
            </a:r>
          </a:p>
        </p:txBody>
      </p:sp>
      <p:sp>
        <p:nvSpPr>
          <p:cNvPr id="25607" name="Text Box 17">
            <a:extLst>
              <a:ext uri="{FF2B5EF4-FFF2-40B4-BE49-F238E27FC236}">
                <a16:creationId xmlns:a16="http://schemas.microsoft.com/office/drawing/2014/main" id="{4A60D73F-32CA-4ED4-B656-C4F191101371}"/>
              </a:ext>
            </a:extLst>
          </p:cNvPr>
          <p:cNvSpPr txBox="1">
            <a:spLocks noChangeArrowheads="1"/>
          </p:cNvSpPr>
          <p:nvPr/>
        </p:nvSpPr>
        <p:spPr bwMode="auto">
          <a:xfrm>
            <a:off x="4600920" y="3848522"/>
            <a:ext cx="668338"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200">
                <a:solidFill>
                  <a:srgbClr val="DDDDDD"/>
                </a:solidFill>
              </a:rPr>
              <a:t>10</a:t>
            </a:r>
          </a:p>
        </p:txBody>
      </p:sp>
      <p:sp>
        <p:nvSpPr>
          <p:cNvPr id="25608" name="Text Box 19">
            <a:extLst>
              <a:ext uri="{FF2B5EF4-FFF2-40B4-BE49-F238E27FC236}">
                <a16:creationId xmlns:a16="http://schemas.microsoft.com/office/drawing/2014/main" id="{9EA8B050-FB07-4670-9519-98EC3B0DDBF6}"/>
              </a:ext>
            </a:extLst>
          </p:cNvPr>
          <p:cNvSpPr txBox="1">
            <a:spLocks noChangeArrowheads="1"/>
          </p:cNvSpPr>
          <p:nvPr/>
        </p:nvSpPr>
        <p:spPr bwMode="auto">
          <a:xfrm>
            <a:off x="4600920" y="4497809"/>
            <a:ext cx="668338"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200">
                <a:solidFill>
                  <a:srgbClr val="DDDDDD"/>
                </a:solidFill>
              </a:rPr>
              <a:t>20</a:t>
            </a:r>
          </a:p>
        </p:txBody>
      </p:sp>
      <p:sp>
        <p:nvSpPr>
          <p:cNvPr id="25609" name="Line 7">
            <a:extLst>
              <a:ext uri="{FF2B5EF4-FFF2-40B4-BE49-F238E27FC236}">
                <a16:creationId xmlns:a16="http://schemas.microsoft.com/office/drawing/2014/main" id="{8B8A2165-E379-464D-81E6-DE2345167563}"/>
              </a:ext>
            </a:extLst>
          </p:cNvPr>
          <p:cNvSpPr>
            <a:spLocks noChangeShapeType="1"/>
          </p:cNvSpPr>
          <p:nvPr/>
        </p:nvSpPr>
        <p:spPr bwMode="auto">
          <a:xfrm flipV="1">
            <a:off x="4575520" y="1057697"/>
            <a:ext cx="0" cy="3744912"/>
          </a:xfrm>
          <a:prstGeom prst="line">
            <a:avLst/>
          </a:prstGeom>
          <a:noFill/>
          <a:ln w="9525">
            <a:solidFill>
              <a:srgbClr val="33CC33">
                <a:alpha val="79999"/>
              </a:srgbClr>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25610" name="Line 8">
            <a:extLst>
              <a:ext uri="{FF2B5EF4-FFF2-40B4-BE49-F238E27FC236}">
                <a16:creationId xmlns:a16="http://schemas.microsoft.com/office/drawing/2014/main" id="{882E711B-3F60-432D-91BF-4C399B192A34}"/>
              </a:ext>
            </a:extLst>
          </p:cNvPr>
          <p:cNvSpPr>
            <a:spLocks noChangeShapeType="1"/>
          </p:cNvSpPr>
          <p:nvPr/>
        </p:nvSpPr>
        <p:spPr bwMode="auto">
          <a:xfrm>
            <a:off x="2294283" y="3524672"/>
            <a:ext cx="4608512" cy="0"/>
          </a:xfrm>
          <a:prstGeom prst="line">
            <a:avLst/>
          </a:prstGeom>
          <a:noFill/>
          <a:ln w="19050">
            <a:solidFill>
              <a:srgbClr val="33CC33">
                <a:alpha val="79999"/>
              </a:srgbClr>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grpSp>
        <p:nvGrpSpPr>
          <p:cNvPr id="25611" name="Group 39">
            <a:extLst>
              <a:ext uri="{FF2B5EF4-FFF2-40B4-BE49-F238E27FC236}">
                <a16:creationId xmlns:a16="http://schemas.microsoft.com/office/drawing/2014/main" id="{77663A6F-8A32-4216-BBBC-264B105F0382}"/>
              </a:ext>
            </a:extLst>
          </p:cNvPr>
          <p:cNvGrpSpPr>
            <a:grpSpLocks/>
          </p:cNvGrpSpPr>
          <p:nvPr/>
        </p:nvGrpSpPr>
        <p:grpSpPr bwMode="auto">
          <a:xfrm>
            <a:off x="4575520" y="1624434"/>
            <a:ext cx="95250" cy="1262063"/>
            <a:chOff x="2140" y="1746"/>
            <a:chExt cx="60" cy="795"/>
          </a:xfrm>
        </p:grpSpPr>
        <p:sp>
          <p:nvSpPr>
            <p:cNvPr id="25637" name="Line 10">
              <a:extLst>
                <a:ext uri="{FF2B5EF4-FFF2-40B4-BE49-F238E27FC236}">
                  <a16:creationId xmlns:a16="http://schemas.microsoft.com/office/drawing/2014/main" id="{BCB11B54-466C-4E40-8378-C8CC6A347D0F}"/>
                </a:ext>
              </a:extLst>
            </p:cNvPr>
            <p:cNvSpPr>
              <a:spLocks noChangeShapeType="1"/>
            </p:cNvSpPr>
            <p:nvPr/>
          </p:nvSpPr>
          <p:spPr bwMode="auto">
            <a:xfrm flipV="1">
              <a:off x="2140" y="2541"/>
              <a:ext cx="58" cy="0"/>
            </a:xfrm>
            <a:prstGeom prst="line">
              <a:avLst/>
            </a:prstGeom>
            <a:noFill/>
            <a:ln w="317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38" name="Line 11">
              <a:extLst>
                <a:ext uri="{FF2B5EF4-FFF2-40B4-BE49-F238E27FC236}">
                  <a16:creationId xmlns:a16="http://schemas.microsoft.com/office/drawing/2014/main" id="{9298EB1C-1C77-4FE3-B42D-881A4F5F74E8}"/>
                </a:ext>
              </a:extLst>
            </p:cNvPr>
            <p:cNvSpPr>
              <a:spLocks noChangeShapeType="1"/>
            </p:cNvSpPr>
            <p:nvPr/>
          </p:nvSpPr>
          <p:spPr bwMode="auto">
            <a:xfrm flipV="1">
              <a:off x="2140" y="2157"/>
              <a:ext cx="58" cy="0"/>
            </a:xfrm>
            <a:prstGeom prst="line">
              <a:avLst/>
            </a:prstGeom>
            <a:noFill/>
            <a:ln w="317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39" name="Line 12">
              <a:extLst>
                <a:ext uri="{FF2B5EF4-FFF2-40B4-BE49-F238E27FC236}">
                  <a16:creationId xmlns:a16="http://schemas.microsoft.com/office/drawing/2014/main" id="{78876C18-ACA5-4023-ADD3-4EF69B567C94}"/>
                </a:ext>
              </a:extLst>
            </p:cNvPr>
            <p:cNvSpPr>
              <a:spLocks noChangeShapeType="1"/>
            </p:cNvSpPr>
            <p:nvPr/>
          </p:nvSpPr>
          <p:spPr bwMode="auto">
            <a:xfrm flipV="1">
              <a:off x="2141" y="1746"/>
              <a:ext cx="59" cy="0"/>
            </a:xfrm>
            <a:prstGeom prst="line">
              <a:avLst/>
            </a:prstGeom>
            <a:noFill/>
            <a:ln w="317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5612" name="Line 16">
            <a:extLst>
              <a:ext uri="{FF2B5EF4-FFF2-40B4-BE49-F238E27FC236}">
                <a16:creationId xmlns:a16="http://schemas.microsoft.com/office/drawing/2014/main" id="{18A94C5F-F974-496D-81A3-535C22CECC3B}"/>
              </a:ext>
            </a:extLst>
          </p:cNvPr>
          <p:cNvSpPr>
            <a:spLocks noChangeShapeType="1"/>
          </p:cNvSpPr>
          <p:nvPr/>
        </p:nvSpPr>
        <p:spPr bwMode="auto">
          <a:xfrm flipV="1">
            <a:off x="4575520" y="3975522"/>
            <a:ext cx="92075" cy="0"/>
          </a:xfrm>
          <a:prstGeom prst="line">
            <a:avLst/>
          </a:prstGeom>
          <a:noFill/>
          <a:ln w="317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13" name="Line 18">
            <a:extLst>
              <a:ext uri="{FF2B5EF4-FFF2-40B4-BE49-F238E27FC236}">
                <a16:creationId xmlns:a16="http://schemas.microsoft.com/office/drawing/2014/main" id="{8C2BDBE5-296C-4A9A-9DF8-7916D69AB9F7}"/>
              </a:ext>
            </a:extLst>
          </p:cNvPr>
          <p:cNvSpPr>
            <a:spLocks noChangeShapeType="1"/>
          </p:cNvSpPr>
          <p:nvPr/>
        </p:nvSpPr>
        <p:spPr bwMode="auto">
          <a:xfrm flipV="1">
            <a:off x="4575520" y="4629572"/>
            <a:ext cx="92075" cy="0"/>
          </a:xfrm>
          <a:prstGeom prst="line">
            <a:avLst/>
          </a:prstGeom>
          <a:noFill/>
          <a:ln w="317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25614" name="Group 38">
            <a:extLst>
              <a:ext uri="{FF2B5EF4-FFF2-40B4-BE49-F238E27FC236}">
                <a16:creationId xmlns:a16="http://schemas.microsoft.com/office/drawing/2014/main" id="{B40B6B1D-22A6-4F8A-AE66-81EBC321348F}"/>
              </a:ext>
            </a:extLst>
          </p:cNvPr>
          <p:cNvGrpSpPr>
            <a:grpSpLocks/>
          </p:cNvGrpSpPr>
          <p:nvPr/>
        </p:nvGrpSpPr>
        <p:grpSpPr bwMode="auto">
          <a:xfrm>
            <a:off x="2480020" y="3426247"/>
            <a:ext cx="3724275" cy="88900"/>
            <a:chOff x="820" y="2870"/>
            <a:chExt cx="2346" cy="56"/>
          </a:xfrm>
        </p:grpSpPr>
        <p:sp>
          <p:nvSpPr>
            <p:cNvPr id="25629" name="Line 20">
              <a:extLst>
                <a:ext uri="{FF2B5EF4-FFF2-40B4-BE49-F238E27FC236}">
                  <a16:creationId xmlns:a16="http://schemas.microsoft.com/office/drawing/2014/main" id="{6FF81F09-D0B0-4443-B2CB-A87FB6B7BA2C}"/>
                </a:ext>
              </a:extLst>
            </p:cNvPr>
            <p:cNvSpPr>
              <a:spLocks noChangeShapeType="1"/>
            </p:cNvSpPr>
            <p:nvPr/>
          </p:nvSpPr>
          <p:spPr bwMode="auto">
            <a:xfrm rot="16200000" flipV="1">
              <a:off x="2522" y="2898"/>
              <a:ext cx="55" cy="0"/>
            </a:xfrm>
            <a:prstGeom prst="line">
              <a:avLst/>
            </a:prstGeom>
            <a:noFill/>
            <a:ln w="317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30" name="Line 21">
              <a:extLst>
                <a:ext uri="{FF2B5EF4-FFF2-40B4-BE49-F238E27FC236}">
                  <a16:creationId xmlns:a16="http://schemas.microsoft.com/office/drawing/2014/main" id="{3B2E69E2-89A6-4D67-86F3-519F96BB2D53}"/>
                </a:ext>
              </a:extLst>
            </p:cNvPr>
            <p:cNvSpPr>
              <a:spLocks noChangeShapeType="1"/>
            </p:cNvSpPr>
            <p:nvPr/>
          </p:nvSpPr>
          <p:spPr bwMode="auto">
            <a:xfrm rot="16200000" flipV="1">
              <a:off x="2933" y="2899"/>
              <a:ext cx="55" cy="0"/>
            </a:xfrm>
            <a:prstGeom prst="line">
              <a:avLst/>
            </a:prstGeom>
            <a:noFill/>
            <a:ln w="317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31" name="Line 22">
              <a:extLst>
                <a:ext uri="{FF2B5EF4-FFF2-40B4-BE49-F238E27FC236}">
                  <a16:creationId xmlns:a16="http://schemas.microsoft.com/office/drawing/2014/main" id="{3C2A13A6-4AA1-434A-9202-1C173FC8A07B}"/>
                </a:ext>
              </a:extLst>
            </p:cNvPr>
            <p:cNvSpPr>
              <a:spLocks noChangeShapeType="1"/>
            </p:cNvSpPr>
            <p:nvPr/>
          </p:nvSpPr>
          <p:spPr bwMode="auto">
            <a:xfrm rot="16200000" flipV="1">
              <a:off x="1613" y="2899"/>
              <a:ext cx="55" cy="0"/>
            </a:xfrm>
            <a:prstGeom prst="line">
              <a:avLst/>
            </a:prstGeom>
            <a:noFill/>
            <a:ln w="317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32" name="Line 23">
              <a:extLst>
                <a:ext uri="{FF2B5EF4-FFF2-40B4-BE49-F238E27FC236}">
                  <a16:creationId xmlns:a16="http://schemas.microsoft.com/office/drawing/2014/main" id="{9EDA8E36-E62A-4247-AC3B-A9EB51EDA970}"/>
                </a:ext>
              </a:extLst>
            </p:cNvPr>
            <p:cNvSpPr>
              <a:spLocks noChangeShapeType="1"/>
            </p:cNvSpPr>
            <p:nvPr/>
          </p:nvSpPr>
          <p:spPr bwMode="auto">
            <a:xfrm rot="16200000" flipV="1">
              <a:off x="1203" y="2899"/>
              <a:ext cx="55" cy="0"/>
            </a:xfrm>
            <a:prstGeom prst="line">
              <a:avLst/>
            </a:prstGeom>
            <a:noFill/>
            <a:ln w="317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33" name="Line 24">
              <a:extLst>
                <a:ext uri="{FF2B5EF4-FFF2-40B4-BE49-F238E27FC236}">
                  <a16:creationId xmlns:a16="http://schemas.microsoft.com/office/drawing/2014/main" id="{900EA21B-1721-46F0-9F52-34DEB406579B}"/>
                </a:ext>
              </a:extLst>
            </p:cNvPr>
            <p:cNvSpPr>
              <a:spLocks noChangeShapeType="1"/>
            </p:cNvSpPr>
            <p:nvPr/>
          </p:nvSpPr>
          <p:spPr bwMode="auto">
            <a:xfrm rot="16200000" flipV="1">
              <a:off x="792" y="2899"/>
              <a:ext cx="55" cy="0"/>
            </a:xfrm>
            <a:prstGeom prst="line">
              <a:avLst/>
            </a:prstGeom>
            <a:noFill/>
            <a:ln w="317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34" name="Line 25">
              <a:extLst>
                <a:ext uri="{FF2B5EF4-FFF2-40B4-BE49-F238E27FC236}">
                  <a16:creationId xmlns:a16="http://schemas.microsoft.com/office/drawing/2014/main" id="{AB947973-E824-4224-BAEB-E736BF1BDA4B}"/>
                </a:ext>
              </a:extLst>
            </p:cNvPr>
            <p:cNvSpPr>
              <a:spLocks noChangeShapeType="1"/>
            </p:cNvSpPr>
            <p:nvPr/>
          </p:nvSpPr>
          <p:spPr bwMode="auto">
            <a:xfrm rot="16200000" flipV="1">
              <a:off x="2317" y="2899"/>
              <a:ext cx="55" cy="0"/>
            </a:xfrm>
            <a:prstGeom prst="line">
              <a:avLst/>
            </a:prstGeom>
            <a:noFill/>
            <a:ln w="317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35" name="Line 26">
              <a:extLst>
                <a:ext uri="{FF2B5EF4-FFF2-40B4-BE49-F238E27FC236}">
                  <a16:creationId xmlns:a16="http://schemas.microsoft.com/office/drawing/2014/main" id="{0F3BF52F-7F37-483F-BEFF-21C095843380}"/>
                </a:ext>
              </a:extLst>
            </p:cNvPr>
            <p:cNvSpPr>
              <a:spLocks noChangeShapeType="1"/>
            </p:cNvSpPr>
            <p:nvPr/>
          </p:nvSpPr>
          <p:spPr bwMode="auto">
            <a:xfrm rot="16200000" flipV="1">
              <a:off x="2716" y="2899"/>
              <a:ext cx="55" cy="0"/>
            </a:xfrm>
            <a:prstGeom prst="line">
              <a:avLst/>
            </a:prstGeom>
            <a:noFill/>
            <a:ln w="317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36" name="Line 27">
              <a:extLst>
                <a:ext uri="{FF2B5EF4-FFF2-40B4-BE49-F238E27FC236}">
                  <a16:creationId xmlns:a16="http://schemas.microsoft.com/office/drawing/2014/main" id="{C604CC34-9009-4562-A4A9-CEB1BEF102C4}"/>
                </a:ext>
              </a:extLst>
            </p:cNvPr>
            <p:cNvSpPr>
              <a:spLocks noChangeShapeType="1"/>
            </p:cNvSpPr>
            <p:nvPr/>
          </p:nvSpPr>
          <p:spPr bwMode="auto">
            <a:xfrm rot="16200000" flipV="1">
              <a:off x="3138" y="2899"/>
              <a:ext cx="55" cy="0"/>
            </a:xfrm>
            <a:prstGeom prst="line">
              <a:avLst/>
            </a:prstGeom>
            <a:noFill/>
            <a:ln w="317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5615" name="Text Box 30">
            <a:extLst>
              <a:ext uri="{FF2B5EF4-FFF2-40B4-BE49-F238E27FC236}">
                <a16:creationId xmlns:a16="http://schemas.microsoft.com/office/drawing/2014/main" id="{E07D4017-E4ED-4455-99CC-5496D42BDC0F}"/>
              </a:ext>
            </a:extLst>
          </p:cNvPr>
          <p:cNvSpPr txBox="1">
            <a:spLocks noChangeArrowheads="1"/>
          </p:cNvSpPr>
          <p:nvPr/>
        </p:nvSpPr>
        <p:spPr bwMode="auto">
          <a:xfrm>
            <a:off x="5012083" y="3500859"/>
            <a:ext cx="4127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200">
                <a:solidFill>
                  <a:srgbClr val="DDDDDD"/>
                </a:solidFill>
              </a:rPr>
              <a:t>0. 4</a:t>
            </a:r>
          </a:p>
        </p:txBody>
      </p:sp>
      <p:sp>
        <p:nvSpPr>
          <p:cNvPr id="25616" name="Text Box 32">
            <a:extLst>
              <a:ext uri="{FF2B5EF4-FFF2-40B4-BE49-F238E27FC236}">
                <a16:creationId xmlns:a16="http://schemas.microsoft.com/office/drawing/2014/main" id="{6EA7BB4E-4336-4CBE-BAEC-5D9C3FA4C10E}"/>
              </a:ext>
            </a:extLst>
          </p:cNvPr>
          <p:cNvSpPr txBox="1">
            <a:spLocks noChangeArrowheads="1"/>
          </p:cNvSpPr>
          <p:nvPr/>
        </p:nvSpPr>
        <p:spPr bwMode="auto">
          <a:xfrm>
            <a:off x="5697883" y="3500859"/>
            <a:ext cx="4127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200">
                <a:solidFill>
                  <a:srgbClr val="DDDDDD"/>
                </a:solidFill>
              </a:rPr>
              <a:t>0. 8</a:t>
            </a:r>
          </a:p>
        </p:txBody>
      </p:sp>
      <p:sp>
        <p:nvSpPr>
          <p:cNvPr id="25617" name="Text Box 34">
            <a:extLst>
              <a:ext uri="{FF2B5EF4-FFF2-40B4-BE49-F238E27FC236}">
                <a16:creationId xmlns:a16="http://schemas.microsoft.com/office/drawing/2014/main" id="{C3237501-8044-431F-8277-ABCFBEDEE8DC}"/>
              </a:ext>
            </a:extLst>
          </p:cNvPr>
          <p:cNvSpPr txBox="1">
            <a:spLocks noChangeArrowheads="1"/>
          </p:cNvSpPr>
          <p:nvPr/>
        </p:nvSpPr>
        <p:spPr bwMode="auto">
          <a:xfrm>
            <a:off x="2941983" y="3213522"/>
            <a:ext cx="668337"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200">
                <a:solidFill>
                  <a:srgbClr val="DDDDDD"/>
                </a:solidFill>
              </a:rPr>
              <a:t>20</a:t>
            </a:r>
          </a:p>
        </p:txBody>
      </p:sp>
      <p:sp>
        <p:nvSpPr>
          <p:cNvPr id="25618" name="Text Box 35">
            <a:extLst>
              <a:ext uri="{FF2B5EF4-FFF2-40B4-BE49-F238E27FC236}">
                <a16:creationId xmlns:a16="http://schemas.microsoft.com/office/drawing/2014/main" id="{AC49A45E-D09B-4C7F-836C-2817FFBAC33A}"/>
              </a:ext>
            </a:extLst>
          </p:cNvPr>
          <p:cNvSpPr txBox="1">
            <a:spLocks noChangeArrowheads="1"/>
          </p:cNvSpPr>
          <p:nvPr/>
        </p:nvSpPr>
        <p:spPr bwMode="auto">
          <a:xfrm>
            <a:off x="2294283" y="3213522"/>
            <a:ext cx="668337"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200">
                <a:solidFill>
                  <a:srgbClr val="DDDDDD"/>
                </a:solidFill>
              </a:rPr>
              <a:t>30</a:t>
            </a:r>
          </a:p>
        </p:txBody>
      </p:sp>
      <p:sp>
        <p:nvSpPr>
          <p:cNvPr id="25642" name="Text Box 42">
            <a:extLst>
              <a:ext uri="{FF2B5EF4-FFF2-40B4-BE49-F238E27FC236}">
                <a16:creationId xmlns:a16="http://schemas.microsoft.com/office/drawing/2014/main" id="{F255A3A9-E1E0-4565-9423-8BC906BB7E75}"/>
              </a:ext>
            </a:extLst>
          </p:cNvPr>
          <p:cNvSpPr txBox="1">
            <a:spLocks noChangeArrowheads="1"/>
          </p:cNvSpPr>
          <p:nvPr/>
        </p:nvSpPr>
        <p:spPr bwMode="auto">
          <a:xfrm>
            <a:off x="3039789" y="5758085"/>
            <a:ext cx="29003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dirty="0" err="1">
                <a:solidFill>
                  <a:srgbClr val="FFFF00"/>
                </a:solidFill>
                <a:ea typeface="楷体_GB2312" pitchFamily="49" charset="-122"/>
              </a:rPr>
              <a:t>pn</a:t>
            </a:r>
            <a:r>
              <a:rPr lang="en-US" altLang="zh-CN" dirty="0">
                <a:solidFill>
                  <a:srgbClr val="FFFF00"/>
                </a:solidFill>
                <a:ea typeface="楷体_GB2312" pitchFamily="49" charset="-122"/>
              </a:rPr>
              <a:t> </a:t>
            </a:r>
            <a:r>
              <a:rPr lang="zh-CN" altLang="en-US" dirty="0">
                <a:solidFill>
                  <a:srgbClr val="FFFF00"/>
                </a:solidFill>
                <a:ea typeface="楷体_GB2312" pitchFamily="49" charset="-122"/>
              </a:rPr>
              <a:t>结单向导电性</a:t>
            </a:r>
          </a:p>
        </p:txBody>
      </p:sp>
      <p:sp>
        <p:nvSpPr>
          <p:cNvPr id="25622" name="Text Box 43">
            <a:extLst>
              <a:ext uri="{FF2B5EF4-FFF2-40B4-BE49-F238E27FC236}">
                <a16:creationId xmlns:a16="http://schemas.microsoft.com/office/drawing/2014/main" id="{A409C003-7926-44F0-9D87-9BE8264CD92E}"/>
              </a:ext>
            </a:extLst>
          </p:cNvPr>
          <p:cNvSpPr txBox="1">
            <a:spLocks noChangeArrowheads="1"/>
          </p:cNvSpPr>
          <p:nvPr/>
        </p:nvSpPr>
        <p:spPr bwMode="auto">
          <a:xfrm>
            <a:off x="3354733" y="5085184"/>
            <a:ext cx="23399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a:solidFill>
                  <a:schemeClr val="bg1"/>
                </a:solidFill>
                <a:ea typeface="楷体_GB2312" pitchFamily="49" charset="-122"/>
              </a:rPr>
              <a:t>pn </a:t>
            </a:r>
            <a:r>
              <a:rPr lang="zh-CN" altLang="en-US" sz="2000">
                <a:solidFill>
                  <a:schemeClr val="bg1"/>
                </a:solidFill>
                <a:ea typeface="楷体_GB2312" pitchFamily="49" charset="-122"/>
              </a:rPr>
              <a:t>结伏安特性曲线</a:t>
            </a:r>
          </a:p>
        </p:txBody>
      </p:sp>
      <p:sp>
        <p:nvSpPr>
          <p:cNvPr id="25623" name="Text Box 44">
            <a:extLst>
              <a:ext uri="{FF2B5EF4-FFF2-40B4-BE49-F238E27FC236}">
                <a16:creationId xmlns:a16="http://schemas.microsoft.com/office/drawing/2014/main" id="{2EA1E176-EF3B-4754-A96C-BA58541DFE5E}"/>
              </a:ext>
            </a:extLst>
          </p:cNvPr>
          <p:cNvSpPr txBox="1">
            <a:spLocks noChangeArrowheads="1"/>
          </p:cNvSpPr>
          <p:nvPr/>
        </p:nvSpPr>
        <p:spPr bwMode="auto">
          <a:xfrm>
            <a:off x="6470995" y="3524672"/>
            <a:ext cx="6350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i="1">
                <a:solidFill>
                  <a:srgbClr val="DDDDDD"/>
                </a:solidFill>
              </a:rPr>
              <a:t>U / </a:t>
            </a:r>
            <a:r>
              <a:rPr lang="en-US" altLang="zh-CN" sz="1600">
                <a:solidFill>
                  <a:srgbClr val="DDDDDD"/>
                </a:solidFill>
              </a:rPr>
              <a:t>V</a:t>
            </a:r>
          </a:p>
        </p:txBody>
      </p:sp>
      <p:sp>
        <p:nvSpPr>
          <p:cNvPr id="25624" name="Text Box 45">
            <a:extLst>
              <a:ext uri="{FF2B5EF4-FFF2-40B4-BE49-F238E27FC236}">
                <a16:creationId xmlns:a16="http://schemas.microsoft.com/office/drawing/2014/main" id="{9E643273-84FD-4DB8-B60E-E9D620E0CDAB}"/>
              </a:ext>
            </a:extLst>
          </p:cNvPr>
          <p:cNvSpPr txBox="1">
            <a:spLocks noChangeArrowheads="1"/>
          </p:cNvSpPr>
          <p:nvPr/>
        </p:nvSpPr>
        <p:spPr bwMode="auto">
          <a:xfrm>
            <a:off x="3738908" y="1052934"/>
            <a:ext cx="7159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i="1">
                <a:solidFill>
                  <a:srgbClr val="DDDDDD"/>
                </a:solidFill>
              </a:rPr>
              <a:t>I </a:t>
            </a:r>
            <a:r>
              <a:rPr lang="en-US" altLang="zh-CN" sz="1600">
                <a:solidFill>
                  <a:srgbClr val="DDDDDD"/>
                </a:solidFill>
              </a:rPr>
              <a:t>/ mA</a:t>
            </a:r>
          </a:p>
        </p:txBody>
      </p:sp>
      <p:sp>
        <p:nvSpPr>
          <p:cNvPr id="25649" name="Text Box 49">
            <a:extLst>
              <a:ext uri="{FF2B5EF4-FFF2-40B4-BE49-F238E27FC236}">
                <a16:creationId xmlns:a16="http://schemas.microsoft.com/office/drawing/2014/main" id="{FA5377C4-66A8-4577-B827-D0A9AE45DF1E}"/>
              </a:ext>
            </a:extLst>
          </p:cNvPr>
          <p:cNvSpPr txBox="1">
            <a:spLocks noChangeArrowheads="1"/>
          </p:cNvSpPr>
          <p:nvPr/>
        </p:nvSpPr>
        <p:spPr bwMode="auto">
          <a:xfrm>
            <a:off x="6039195" y="2230859"/>
            <a:ext cx="641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800">
                <a:solidFill>
                  <a:srgbClr val="DDDDDD"/>
                </a:solidFill>
                <a:ea typeface="楷体_GB2312" pitchFamily="49" charset="-122"/>
              </a:rPr>
              <a:t>正向</a:t>
            </a:r>
          </a:p>
        </p:txBody>
      </p:sp>
      <p:sp>
        <p:nvSpPr>
          <p:cNvPr id="25650" name="Text Box 50">
            <a:extLst>
              <a:ext uri="{FF2B5EF4-FFF2-40B4-BE49-F238E27FC236}">
                <a16:creationId xmlns:a16="http://schemas.microsoft.com/office/drawing/2014/main" id="{11619699-0B03-4CA8-8B53-70448EDDEC4B}"/>
              </a:ext>
            </a:extLst>
          </p:cNvPr>
          <p:cNvSpPr txBox="1">
            <a:spLocks noChangeArrowheads="1"/>
          </p:cNvSpPr>
          <p:nvPr/>
        </p:nvSpPr>
        <p:spPr bwMode="auto">
          <a:xfrm>
            <a:off x="3015008" y="4281909"/>
            <a:ext cx="641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800" dirty="0">
                <a:solidFill>
                  <a:srgbClr val="DDDDDD"/>
                </a:solidFill>
                <a:ea typeface="楷体_GB2312" pitchFamily="49" charset="-122"/>
              </a:rPr>
              <a:t>反向</a:t>
            </a:r>
          </a:p>
        </p:txBody>
      </p:sp>
      <p:sp>
        <p:nvSpPr>
          <p:cNvPr id="25651" name="Text Box 51">
            <a:extLst>
              <a:ext uri="{FF2B5EF4-FFF2-40B4-BE49-F238E27FC236}">
                <a16:creationId xmlns:a16="http://schemas.microsoft.com/office/drawing/2014/main" id="{4D6B7B50-8CFE-4A26-A9B5-A222498355CE}"/>
              </a:ext>
            </a:extLst>
          </p:cNvPr>
          <p:cNvSpPr txBox="1">
            <a:spLocks noChangeArrowheads="1"/>
          </p:cNvSpPr>
          <p:nvPr/>
        </p:nvSpPr>
        <p:spPr bwMode="auto">
          <a:xfrm>
            <a:off x="2726083" y="3670722"/>
            <a:ext cx="10985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800" dirty="0">
                <a:solidFill>
                  <a:srgbClr val="DDDDDD"/>
                </a:solidFill>
                <a:ea typeface="楷体_GB2312" pitchFamily="49" charset="-122"/>
              </a:rPr>
              <a:t>击穿电压</a:t>
            </a:r>
          </a:p>
        </p:txBody>
      </p:sp>
      <p:sp>
        <p:nvSpPr>
          <p:cNvPr id="2" name="灯片编号占位符 1">
            <a:extLst>
              <a:ext uri="{FF2B5EF4-FFF2-40B4-BE49-F238E27FC236}">
                <a16:creationId xmlns:a16="http://schemas.microsoft.com/office/drawing/2014/main" id="{09E2EE9E-BABC-4B6A-9C73-BCCF742C507B}"/>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FA754AD9-5B09-4EB1-AD04-7DEDCA6D08F8}" type="slidenum">
              <a:rPr lang="en-US" altLang="zh-CN" b="0" smtClean="0">
                <a:solidFill>
                  <a:srgbClr val="FF00FF"/>
                </a:solidFill>
              </a:rPr>
              <a:pPr eaLnBrk="1" hangingPunct="1"/>
              <a:t>14</a:t>
            </a:fld>
            <a:r>
              <a:rPr lang="en-US" altLang="zh-CN" b="0" dirty="0">
                <a:solidFill>
                  <a:srgbClr val="FF00FF"/>
                </a:solidFill>
              </a:rPr>
              <a:t>/40</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25642"/>
                                        </p:tgtEl>
                                        <p:attrNameLst>
                                          <p:attrName>style.visibility</p:attrName>
                                        </p:attrNameLst>
                                      </p:cBhvr>
                                      <p:to>
                                        <p:strVal val="visible"/>
                                      </p:to>
                                    </p:set>
                                    <p:animEffect transition="in" filter="dissolve">
                                      <p:cBhvr>
                                        <p:cTn id="7" dur="500"/>
                                        <p:tgtEl>
                                          <p:spTgt spid="2564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5628"/>
                                        </p:tgtEl>
                                        <p:attrNameLst>
                                          <p:attrName>style.visibility</p:attrName>
                                        </p:attrNameLst>
                                      </p:cBhvr>
                                      <p:to>
                                        <p:strVal val="visible"/>
                                      </p:to>
                                    </p:set>
                                    <p:animEffect transition="in" filter="wipe(down)">
                                      <p:cBhvr>
                                        <p:cTn id="12" dur="1000"/>
                                        <p:tgtEl>
                                          <p:spTgt spid="25628"/>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25649"/>
                                        </p:tgtEl>
                                        <p:attrNameLst>
                                          <p:attrName>style.visibility</p:attrName>
                                        </p:attrNameLst>
                                      </p:cBhvr>
                                      <p:to>
                                        <p:strVal val="visible"/>
                                      </p:to>
                                    </p:set>
                                    <p:animEffect transition="in" filter="dissolve">
                                      <p:cBhvr>
                                        <p:cTn id="15" dur="500"/>
                                        <p:tgtEl>
                                          <p:spTgt spid="25649"/>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8" presetClass="exit" presetSubtype="3" fill="hold" grpId="0" nodeType="clickEffect">
                                  <p:stCondLst>
                                    <p:cond delay="0"/>
                                  </p:stCondLst>
                                  <p:childTnLst>
                                    <p:animEffect transition="out" filter="strips(upRight)">
                                      <p:cBhvr>
                                        <p:cTn id="19" dur="2000"/>
                                        <p:tgtEl>
                                          <p:spTgt spid="25646"/>
                                        </p:tgtEl>
                                      </p:cBhvr>
                                    </p:animEffect>
                                    <p:set>
                                      <p:cBhvr>
                                        <p:cTn id="20" dur="1" fill="hold">
                                          <p:stCondLst>
                                            <p:cond delay="1999"/>
                                          </p:stCondLst>
                                        </p:cTn>
                                        <p:tgtEl>
                                          <p:spTgt spid="25646"/>
                                        </p:tgtEl>
                                        <p:attrNameLst>
                                          <p:attrName>style.visibility</p:attrName>
                                        </p:attrNameLst>
                                      </p:cBhvr>
                                      <p:to>
                                        <p:strVal val="hidden"/>
                                      </p:to>
                                    </p:set>
                                  </p:childTnLst>
                                </p:cTn>
                              </p:par>
                              <p:par>
                                <p:cTn id="21" presetID="9" presetClass="entr" presetSubtype="0" fill="hold" grpId="0" nodeType="withEffect">
                                  <p:stCondLst>
                                    <p:cond delay="0"/>
                                  </p:stCondLst>
                                  <p:childTnLst>
                                    <p:set>
                                      <p:cBhvr>
                                        <p:cTn id="22" dur="1" fill="hold">
                                          <p:stCondLst>
                                            <p:cond delay="0"/>
                                          </p:stCondLst>
                                        </p:cTn>
                                        <p:tgtEl>
                                          <p:spTgt spid="25650"/>
                                        </p:tgtEl>
                                        <p:attrNameLst>
                                          <p:attrName>style.visibility</p:attrName>
                                        </p:attrNameLst>
                                      </p:cBhvr>
                                      <p:to>
                                        <p:strVal val="visible"/>
                                      </p:to>
                                    </p:set>
                                    <p:animEffect transition="in" filter="dissolve">
                                      <p:cBhvr>
                                        <p:cTn id="23" dur="500"/>
                                        <p:tgtEl>
                                          <p:spTgt spid="25650"/>
                                        </p:tgtEl>
                                      </p:cBhvr>
                                    </p:animEffect>
                                  </p:childTnLst>
                                </p:cTn>
                              </p:par>
                              <p:par>
                                <p:cTn id="24" presetID="9" presetClass="entr" presetSubtype="0" fill="hold" grpId="0" nodeType="withEffect">
                                  <p:stCondLst>
                                    <p:cond delay="1000"/>
                                  </p:stCondLst>
                                  <p:childTnLst>
                                    <p:set>
                                      <p:cBhvr>
                                        <p:cTn id="25" dur="1" fill="hold">
                                          <p:stCondLst>
                                            <p:cond delay="0"/>
                                          </p:stCondLst>
                                        </p:cTn>
                                        <p:tgtEl>
                                          <p:spTgt spid="25651"/>
                                        </p:tgtEl>
                                        <p:attrNameLst>
                                          <p:attrName>style.visibility</p:attrName>
                                        </p:attrNameLst>
                                      </p:cBhvr>
                                      <p:to>
                                        <p:strVal val="visible"/>
                                      </p:to>
                                    </p:set>
                                    <p:animEffect transition="in" filter="dissolve">
                                      <p:cBhvr>
                                        <p:cTn id="26" dur="500"/>
                                        <p:tgtEl>
                                          <p:spTgt spid="256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46" grpId="0" animBg="1"/>
      <p:bldP spid="25642" grpId="0" autoUpdateAnimBg="0"/>
      <p:bldP spid="25649" grpId="0"/>
      <p:bldP spid="25650" grpId="0"/>
      <p:bldP spid="2565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ext Box 2">
            <a:extLst>
              <a:ext uri="{FF2B5EF4-FFF2-40B4-BE49-F238E27FC236}">
                <a16:creationId xmlns:a16="http://schemas.microsoft.com/office/drawing/2014/main" id="{67FA8F5A-DD78-44CF-91FC-E9B604A31FA9}"/>
              </a:ext>
            </a:extLst>
          </p:cNvPr>
          <p:cNvSpPr txBox="1">
            <a:spLocks noChangeArrowheads="1"/>
          </p:cNvSpPr>
          <p:nvPr/>
        </p:nvSpPr>
        <p:spPr bwMode="auto">
          <a:xfrm>
            <a:off x="327025" y="620713"/>
            <a:ext cx="8301038"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a:solidFill>
                  <a:schemeClr val="bg1"/>
                </a:solidFill>
              </a:rPr>
              <a:t>半导体器件发展简介</a:t>
            </a:r>
            <a:r>
              <a:rPr lang="en-US" altLang="zh-CN" sz="3200">
                <a:solidFill>
                  <a:schemeClr val="bg1"/>
                </a:solidFill>
              </a:rPr>
              <a:t>:</a:t>
            </a:r>
            <a:endParaRPr lang="zh-CN" altLang="en-US" sz="3200">
              <a:solidFill>
                <a:schemeClr val="bg1"/>
              </a:solidFill>
            </a:endParaRPr>
          </a:p>
        </p:txBody>
      </p:sp>
      <p:sp>
        <p:nvSpPr>
          <p:cNvPr id="26627" name="Text Box 6">
            <a:extLst>
              <a:ext uri="{FF2B5EF4-FFF2-40B4-BE49-F238E27FC236}">
                <a16:creationId xmlns:a16="http://schemas.microsoft.com/office/drawing/2014/main" id="{EACADC48-B319-496D-846A-9693072B994C}"/>
              </a:ext>
            </a:extLst>
          </p:cNvPr>
          <p:cNvSpPr txBox="1">
            <a:spLocks noChangeArrowheads="1"/>
          </p:cNvSpPr>
          <p:nvPr/>
        </p:nvSpPr>
        <p:spPr bwMode="auto">
          <a:xfrm>
            <a:off x="285750" y="1311275"/>
            <a:ext cx="8505825" cy="1169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pPr>
            <a:r>
              <a:rPr lang="en-US" altLang="zh-CN" sz="2800" dirty="0">
                <a:solidFill>
                  <a:schemeClr val="bg1"/>
                </a:solidFill>
                <a:latin typeface="宋体" panose="02010600030101010101" pitchFamily="2" charset="-122"/>
              </a:rPr>
              <a:t>     </a:t>
            </a:r>
            <a:r>
              <a:rPr lang="en-US" altLang="zh-CN" sz="2800" dirty="0">
                <a:solidFill>
                  <a:schemeClr val="bg1"/>
                </a:solidFill>
              </a:rPr>
              <a:t>p-n</a:t>
            </a:r>
            <a:r>
              <a:rPr lang="zh-CN" altLang="en-US" sz="2800" dirty="0">
                <a:solidFill>
                  <a:schemeClr val="bg1"/>
                </a:solidFill>
                <a:latin typeface="宋体" panose="02010600030101010101" pitchFamily="2" charset="-122"/>
              </a:rPr>
              <a:t>结的适当组合可以作成具有放大作用的晶体三极管（</a:t>
            </a:r>
            <a:r>
              <a:rPr lang="en-US" altLang="zh-CN" sz="2800" dirty="0" err="1">
                <a:solidFill>
                  <a:schemeClr val="bg1"/>
                </a:solidFill>
              </a:rPr>
              <a:t>trasistor</a:t>
            </a:r>
            <a:r>
              <a:rPr lang="zh-CN" altLang="en-US" sz="2800" dirty="0">
                <a:solidFill>
                  <a:schemeClr val="bg1"/>
                </a:solidFill>
                <a:latin typeface="宋体" panose="02010600030101010101" pitchFamily="2" charset="-122"/>
              </a:rPr>
              <a:t>）和其他一些半导体器件。</a:t>
            </a:r>
          </a:p>
        </p:txBody>
      </p:sp>
      <p:sp>
        <p:nvSpPr>
          <p:cNvPr id="26628" name="Text Box 11">
            <a:extLst>
              <a:ext uri="{FF2B5EF4-FFF2-40B4-BE49-F238E27FC236}">
                <a16:creationId xmlns:a16="http://schemas.microsoft.com/office/drawing/2014/main" id="{FE9C52D9-C3C7-46F8-BBEF-D8D1CD0C9FDF}"/>
              </a:ext>
            </a:extLst>
          </p:cNvPr>
          <p:cNvSpPr txBox="1">
            <a:spLocks noChangeArrowheads="1"/>
          </p:cNvSpPr>
          <p:nvPr/>
        </p:nvSpPr>
        <p:spPr bwMode="auto">
          <a:xfrm>
            <a:off x="2870200" y="2987675"/>
            <a:ext cx="1701800" cy="519113"/>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rgbClr val="FF0000"/>
                </a:solidFill>
              </a:rPr>
              <a:t>集成电路 </a:t>
            </a:r>
          </a:p>
        </p:txBody>
      </p:sp>
      <p:sp>
        <p:nvSpPr>
          <p:cNvPr id="26629" name="Text Box 12">
            <a:extLst>
              <a:ext uri="{FF2B5EF4-FFF2-40B4-BE49-F238E27FC236}">
                <a16:creationId xmlns:a16="http://schemas.microsoft.com/office/drawing/2014/main" id="{EEAEE359-9CC0-4FE8-9685-EA5C74FD0D2F}"/>
              </a:ext>
            </a:extLst>
          </p:cNvPr>
          <p:cNvSpPr txBox="1">
            <a:spLocks noChangeArrowheads="1"/>
          </p:cNvSpPr>
          <p:nvPr/>
        </p:nvSpPr>
        <p:spPr bwMode="auto">
          <a:xfrm>
            <a:off x="2898775" y="3676650"/>
            <a:ext cx="2862263" cy="519113"/>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rgbClr val="FF0000"/>
                </a:solidFill>
              </a:rPr>
              <a:t>大规模集成电路  </a:t>
            </a:r>
          </a:p>
        </p:txBody>
      </p:sp>
      <p:sp>
        <p:nvSpPr>
          <p:cNvPr id="26630" name="Text Box 13">
            <a:extLst>
              <a:ext uri="{FF2B5EF4-FFF2-40B4-BE49-F238E27FC236}">
                <a16:creationId xmlns:a16="http://schemas.microsoft.com/office/drawing/2014/main" id="{F56A19D6-1A91-4755-9E8E-1CB9C52F6BB2}"/>
              </a:ext>
            </a:extLst>
          </p:cNvPr>
          <p:cNvSpPr txBox="1">
            <a:spLocks noChangeArrowheads="1"/>
          </p:cNvSpPr>
          <p:nvPr/>
        </p:nvSpPr>
        <p:spPr bwMode="auto">
          <a:xfrm>
            <a:off x="2895600" y="4354513"/>
            <a:ext cx="3041650" cy="519112"/>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rgbClr val="FF0000"/>
                </a:solidFill>
              </a:rPr>
              <a:t>超大规模集成电路</a:t>
            </a:r>
          </a:p>
        </p:txBody>
      </p:sp>
      <p:sp>
        <p:nvSpPr>
          <p:cNvPr id="26631" name="AutoShape 14">
            <a:extLst>
              <a:ext uri="{FF2B5EF4-FFF2-40B4-BE49-F238E27FC236}">
                <a16:creationId xmlns:a16="http://schemas.microsoft.com/office/drawing/2014/main" id="{D9C3091D-CC55-40D1-AAFC-D09D9F38C360}"/>
              </a:ext>
            </a:extLst>
          </p:cNvPr>
          <p:cNvSpPr>
            <a:spLocks noChangeArrowheads="1"/>
          </p:cNvSpPr>
          <p:nvPr/>
        </p:nvSpPr>
        <p:spPr bwMode="auto">
          <a:xfrm>
            <a:off x="1893888" y="4454525"/>
            <a:ext cx="685800" cy="381000"/>
          </a:xfrm>
          <a:prstGeom prst="rightArrow">
            <a:avLst>
              <a:gd name="adj1" fmla="val 50000"/>
              <a:gd name="adj2" fmla="val 45000"/>
            </a:avLst>
          </a:prstGeom>
          <a:noFill/>
          <a:ln w="38100">
            <a:solidFill>
              <a:srgbClr val="FF33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6632" name="AutoShape 15">
            <a:extLst>
              <a:ext uri="{FF2B5EF4-FFF2-40B4-BE49-F238E27FC236}">
                <a16:creationId xmlns:a16="http://schemas.microsoft.com/office/drawing/2014/main" id="{DC2F1639-1F01-45B7-8432-00C5199F5A82}"/>
              </a:ext>
            </a:extLst>
          </p:cNvPr>
          <p:cNvSpPr>
            <a:spLocks noChangeArrowheads="1"/>
          </p:cNvSpPr>
          <p:nvPr/>
        </p:nvSpPr>
        <p:spPr bwMode="auto">
          <a:xfrm>
            <a:off x="1908175" y="3762375"/>
            <a:ext cx="685800" cy="381000"/>
          </a:xfrm>
          <a:prstGeom prst="rightArrow">
            <a:avLst>
              <a:gd name="adj1" fmla="val 50000"/>
              <a:gd name="adj2" fmla="val 45000"/>
            </a:avLst>
          </a:prstGeom>
          <a:noFill/>
          <a:ln w="38100">
            <a:solidFill>
              <a:srgbClr val="FF33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6633" name="AutoShape 16">
            <a:extLst>
              <a:ext uri="{FF2B5EF4-FFF2-40B4-BE49-F238E27FC236}">
                <a16:creationId xmlns:a16="http://schemas.microsoft.com/office/drawing/2014/main" id="{A51FADA3-A879-4460-B854-328CBFACA841}"/>
              </a:ext>
            </a:extLst>
          </p:cNvPr>
          <p:cNvSpPr>
            <a:spLocks noChangeArrowheads="1"/>
          </p:cNvSpPr>
          <p:nvPr/>
        </p:nvSpPr>
        <p:spPr bwMode="auto">
          <a:xfrm>
            <a:off x="1879600" y="3073400"/>
            <a:ext cx="685800" cy="381000"/>
          </a:xfrm>
          <a:prstGeom prst="rightArrow">
            <a:avLst>
              <a:gd name="adj1" fmla="val 50000"/>
              <a:gd name="adj2" fmla="val 45000"/>
            </a:avLst>
          </a:prstGeom>
          <a:noFill/>
          <a:ln w="38100">
            <a:solidFill>
              <a:srgbClr val="FF33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6634" name="Rectangle 17">
            <a:extLst>
              <a:ext uri="{FF2B5EF4-FFF2-40B4-BE49-F238E27FC236}">
                <a16:creationId xmlns:a16="http://schemas.microsoft.com/office/drawing/2014/main" id="{C7D0DC53-1DE6-4F1E-AFA3-2339F4EE994D}"/>
              </a:ext>
            </a:extLst>
          </p:cNvPr>
          <p:cNvSpPr>
            <a:spLocks noChangeArrowheads="1"/>
          </p:cNvSpPr>
          <p:nvPr/>
        </p:nvSpPr>
        <p:spPr bwMode="auto">
          <a:xfrm>
            <a:off x="390525" y="2917825"/>
            <a:ext cx="1255713" cy="519113"/>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rgbClr val="FF0000"/>
                </a:solidFill>
              </a:rPr>
              <a:t>晶体管</a:t>
            </a:r>
          </a:p>
        </p:txBody>
      </p:sp>
      <p:sp>
        <p:nvSpPr>
          <p:cNvPr id="26635" name="Text Box 18">
            <a:extLst>
              <a:ext uri="{FF2B5EF4-FFF2-40B4-BE49-F238E27FC236}">
                <a16:creationId xmlns:a16="http://schemas.microsoft.com/office/drawing/2014/main" id="{1E663C51-E514-4240-A175-8792C77859A5}"/>
              </a:ext>
            </a:extLst>
          </p:cNvPr>
          <p:cNvSpPr txBox="1">
            <a:spLocks noChangeArrowheads="1"/>
          </p:cNvSpPr>
          <p:nvPr/>
        </p:nvSpPr>
        <p:spPr bwMode="auto">
          <a:xfrm>
            <a:off x="200025" y="3395663"/>
            <a:ext cx="26701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a:solidFill>
                  <a:schemeClr val="bg1"/>
                </a:solidFill>
              </a:rPr>
              <a:t>（ </a:t>
            </a:r>
            <a:r>
              <a:rPr lang="en-US" altLang="zh-CN">
                <a:solidFill>
                  <a:schemeClr val="bg1"/>
                </a:solidFill>
              </a:rPr>
              <a:t>1947 </a:t>
            </a:r>
            <a:r>
              <a:rPr lang="zh-CN" altLang="en-US">
                <a:solidFill>
                  <a:schemeClr val="bg1"/>
                </a:solidFill>
              </a:rPr>
              <a:t>）</a:t>
            </a:r>
          </a:p>
        </p:txBody>
      </p:sp>
      <p:sp>
        <p:nvSpPr>
          <p:cNvPr id="26636" name="Text Box 19">
            <a:extLst>
              <a:ext uri="{FF2B5EF4-FFF2-40B4-BE49-F238E27FC236}">
                <a16:creationId xmlns:a16="http://schemas.microsoft.com/office/drawing/2014/main" id="{4CDCDD8E-1A23-4DDB-9F04-6554777224C5}"/>
              </a:ext>
            </a:extLst>
          </p:cNvPr>
          <p:cNvSpPr txBox="1">
            <a:spLocks noChangeArrowheads="1"/>
          </p:cNvSpPr>
          <p:nvPr/>
        </p:nvSpPr>
        <p:spPr bwMode="auto">
          <a:xfrm>
            <a:off x="4695825" y="3000375"/>
            <a:ext cx="14954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a:solidFill>
                  <a:schemeClr val="bg1"/>
                </a:solidFill>
              </a:rPr>
              <a:t>（</a:t>
            </a:r>
            <a:r>
              <a:rPr lang="en-US" altLang="zh-CN">
                <a:solidFill>
                  <a:schemeClr val="bg1"/>
                </a:solidFill>
              </a:rPr>
              <a:t>1962 </a:t>
            </a:r>
            <a:r>
              <a:rPr lang="zh-CN" altLang="en-US">
                <a:solidFill>
                  <a:schemeClr val="bg1"/>
                </a:solidFill>
              </a:rPr>
              <a:t>）</a:t>
            </a:r>
          </a:p>
        </p:txBody>
      </p:sp>
      <p:sp>
        <p:nvSpPr>
          <p:cNvPr id="26637" name="Text Box 20">
            <a:extLst>
              <a:ext uri="{FF2B5EF4-FFF2-40B4-BE49-F238E27FC236}">
                <a16:creationId xmlns:a16="http://schemas.microsoft.com/office/drawing/2014/main" id="{32FE4465-F8B3-45D6-98A8-41D99A407272}"/>
              </a:ext>
            </a:extLst>
          </p:cNvPr>
          <p:cNvSpPr txBox="1">
            <a:spLocks noChangeArrowheads="1"/>
          </p:cNvSpPr>
          <p:nvPr/>
        </p:nvSpPr>
        <p:spPr bwMode="auto">
          <a:xfrm>
            <a:off x="6659563" y="4359275"/>
            <a:ext cx="221773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a:solidFill>
                  <a:schemeClr val="bg1"/>
                </a:solidFill>
              </a:rPr>
              <a:t>（</a:t>
            </a:r>
            <a:r>
              <a:rPr lang="en-US" altLang="zh-CN">
                <a:solidFill>
                  <a:schemeClr val="bg1"/>
                </a:solidFill>
              </a:rPr>
              <a:t>80</a:t>
            </a:r>
            <a:r>
              <a:rPr lang="zh-CN" altLang="en-US">
                <a:solidFill>
                  <a:schemeClr val="bg1"/>
                </a:solidFill>
              </a:rPr>
              <a:t>年代 ）</a:t>
            </a:r>
          </a:p>
        </p:txBody>
      </p:sp>
      <p:sp>
        <p:nvSpPr>
          <p:cNvPr id="26638" name="Text Box 21">
            <a:extLst>
              <a:ext uri="{FF2B5EF4-FFF2-40B4-BE49-F238E27FC236}">
                <a16:creationId xmlns:a16="http://schemas.microsoft.com/office/drawing/2014/main" id="{22445DDC-D698-475D-A74A-D300FA88274C}"/>
              </a:ext>
            </a:extLst>
          </p:cNvPr>
          <p:cNvSpPr txBox="1">
            <a:spLocks noChangeArrowheads="1"/>
          </p:cNvSpPr>
          <p:nvPr/>
        </p:nvSpPr>
        <p:spPr bwMode="auto">
          <a:xfrm>
            <a:off x="6165850" y="3648075"/>
            <a:ext cx="9715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solidFill>
                  <a:schemeClr val="bg1"/>
                </a:solidFill>
              </a:rPr>
              <a:t>10</a:t>
            </a:r>
            <a:r>
              <a:rPr lang="en-US" altLang="zh-CN" baseline="30000">
                <a:solidFill>
                  <a:schemeClr val="bg1"/>
                </a:solidFill>
              </a:rPr>
              <a:t>3</a:t>
            </a:r>
            <a:endParaRPr lang="en-US" altLang="zh-CN">
              <a:solidFill>
                <a:schemeClr val="bg1"/>
              </a:solidFill>
            </a:endParaRPr>
          </a:p>
        </p:txBody>
      </p:sp>
      <p:sp>
        <p:nvSpPr>
          <p:cNvPr id="26639" name="Text Box 22">
            <a:extLst>
              <a:ext uri="{FF2B5EF4-FFF2-40B4-BE49-F238E27FC236}">
                <a16:creationId xmlns:a16="http://schemas.microsoft.com/office/drawing/2014/main" id="{FB56C430-2CF9-4116-8762-925321B27DA0}"/>
              </a:ext>
            </a:extLst>
          </p:cNvPr>
          <p:cNvSpPr txBox="1">
            <a:spLocks noChangeArrowheads="1"/>
          </p:cNvSpPr>
          <p:nvPr/>
        </p:nvSpPr>
        <p:spPr bwMode="auto">
          <a:xfrm>
            <a:off x="6165850" y="4359275"/>
            <a:ext cx="10350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solidFill>
                  <a:schemeClr val="bg1"/>
                </a:solidFill>
              </a:rPr>
              <a:t>10</a:t>
            </a:r>
            <a:r>
              <a:rPr lang="en-US" altLang="zh-CN" baseline="30000">
                <a:solidFill>
                  <a:schemeClr val="bg1"/>
                </a:solidFill>
              </a:rPr>
              <a:t>5</a:t>
            </a:r>
            <a:endParaRPr lang="en-US" altLang="zh-CN">
              <a:solidFill>
                <a:schemeClr val="bg1"/>
              </a:solidFill>
            </a:endParaRPr>
          </a:p>
        </p:txBody>
      </p:sp>
      <p:sp>
        <p:nvSpPr>
          <p:cNvPr id="26640" name="Text Box 23">
            <a:extLst>
              <a:ext uri="{FF2B5EF4-FFF2-40B4-BE49-F238E27FC236}">
                <a16:creationId xmlns:a16="http://schemas.microsoft.com/office/drawing/2014/main" id="{13018F06-0E0F-4869-A977-5870451A2774}"/>
              </a:ext>
            </a:extLst>
          </p:cNvPr>
          <p:cNvSpPr txBox="1">
            <a:spLocks noChangeArrowheads="1"/>
          </p:cNvSpPr>
          <p:nvPr/>
        </p:nvSpPr>
        <p:spPr bwMode="auto">
          <a:xfrm>
            <a:off x="2889250" y="5051425"/>
            <a:ext cx="3041650" cy="519113"/>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rgbClr val="FF0000"/>
                </a:solidFill>
              </a:rPr>
              <a:t>甚大规模集成电路</a:t>
            </a:r>
          </a:p>
        </p:txBody>
      </p:sp>
      <p:sp>
        <p:nvSpPr>
          <p:cNvPr id="26641" name="AutoShape 24">
            <a:extLst>
              <a:ext uri="{FF2B5EF4-FFF2-40B4-BE49-F238E27FC236}">
                <a16:creationId xmlns:a16="http://schemas.microsoft.com/office/drawing/2014/main" id="{11D4E728-FC40-47D0-A286-8F77FFE6C747}"/>
              </a:ext>
            </a:extLst>
          </p:cNvPr>
          <p:cNvSpPr>
            <a:spLocks noChangeArrowheads="1"/>
          </p:cNvSpPr>
          <p:nvPr/>
        </p:nvSpPr>
        <p:spPr bwMode="auto">
          <a:xfrm>
            <a:off x="1868488" y="5129213"/>
            <a:ext cx="685800" cy="381000"/>
          </a:xfrm>
          <a:prstGeom prst="rightArrow">
            <a:avLst>
              <a:gd name="adj1" fmla="val 50000"/>
              <a:gd name="adj2" fmla="val 45000"/>
            </a:avLst>
          </a:prstGeom>
          <a:noFill/>
          <a:ln w="38100">
            <a:solidFill>
              <a:srgbClr val="FF33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6642" name="Text Box 25">
            <a:extLst>
              <a:ext uri="{FF2B5EF4-FFF2-40B4-BE49-F238E27FC236}">
                <a16:creationId xmlns:a16="http://schemas.microsoft.com/office/drawing/2014/main" id="{761D8C8F-9481-4E7F-B06A-43C456AABC17}"/>
              </a:ext>
            </a:extLst>
          </p:cNvPr>
          <p:cNvSpPr txBox="1">
            <a:spLocks noChangeArrowheads="1"/>
          </p:cNvSpPr>
          <p:nvPr/>
        </p:nvSpPr>
        <p:spPr bwMode="auto">
          <a:xfrm>
            <a:off x="2887663" y="5746750"/>
            <a:ext cx="3041650" cy="519113"/>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rgbClr val="FF0000"/>
                </a:solidFill>
              </a:rPr>
              <a:t>巨大规模集成电路</a:t>
            </a:r>
          </a:p>
        </p:txBody>
      </p:sp>
      <p:sp>
        <p:nvSpPr>
          <p:cNvPr id="26643" name="AutoShape 26">
            <a:extLst>
              <a:ext uri="{FF2B5EF4-FFF2-40B4-BE49-F238E27FC236}">
                <a16:creationId xmlns:a16="http://schemas.microsoft.com/office/drawing/2014/main" id="{C361D2AD-C0EA-4E5C-B554-24A2FDD40771}"/>
              </a:ext>
            </a:extLst>
          </p:cNvPr>
          <p:cNvSpPr>
            <a:spLocks noChangeArrowheads="1"/>
          </p:cNvSpPr>
          <p:nvPr/>
        </p:nvSpPr>
        <p:spPr bwMode="auto">
          <a:xfrm>
            <a:off x="1862138" y="5803900"/>
            <a:ext cx="685800" cy="381000"/>
          </a:xfrm>
          <a:prstGeom prst="rightArrow">
            <a:avLst>
              <a:gd name="adj1" fmla="val 50000"/>
              <a:gd name="adj2" fmla="val 45000"/>
            </a:avLst>
          </a:prstGeom>
          <a:noFill/>
          <a:ln w="38100">
            <a:solidFill>
              <a:srgbClr val="FF33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6644" name="Text Box 27">
            <a:extLst>
              <a:ext uri="{FF2B5EF4-FFF2-40B4-BE49-F238E27FC236}">
                <a16:creationId xmlns:a16="http://schemas.microsoft.com/office/drawing/2014/main" id="{F6C2993F-480B-4136-A13F-4FD1F5064798}"/>
              </a:ext>
            </a:extLst>
          </p:cNvPr>
          <p:cNvSpPr txBox="1">
            <a:spLocks noChangeArrowheads="1"/>
          </p:cNvSpPr>
          <p:nvPr/>
        </p:nvSpPr>
        <p:spPr bwMode="auto">
          <a:xfrm>
            <a:off x="6176963" y="4999038"/>
            <a:ext cx="10239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solidFill>
                  <a:schemeClr val="bg1"/>
                </a:solidFill>
              </a:rPr>
              <a:t>10</a:t>
            </a:r>
            <a:r>
              <a:rPr lang="en-US" altLang="zh-CN" baseline="30000">
                <a:solidFill>
                  <a:schemeClr val="bg1"/>
                </a:solidFill>
              </a:rPr>
              <a:t>7</a:t>
            </a:r>
            <a:endParaRPr lang="en-US" altLang="zh-CN">
              <a:solidFill>
                <a:schemeClr val="bg1"/>
              </a:solidFill>
            </a:endParaRPr>
          </a:p>
        </p:txBody>
      </p:sp>
      <p:sp>
        <p:nvSpPr>
          <p:cNvPr id="26645" name="Text Box 28">
            <a:extLst>
              <a:ext uri="{FF2B5EF4-FFF2-40B4-BE49-F238E27FC236}">
                <a16:creationId xmlns:a16="http://schemas.microsoft.com/office/drawing/2014/main" id="{92675FB0-DD3F-4B1B-B672-D3EBFCEA1FA8}"/>
              </a:ext>
            </a:extLst>
          </p:cNvPr>
          <p:cNvSpPr txBox="1">
            <a:spLocks noChangeArrowheads="1"/>
          </p:cNvSpPr>
          <p:nvPr/>
        </p:nvSpPr>
        <p:spPr bwMode="auto">
          <a:xfrm>
            <a:off x="6172200" y="5729288"/>
            <a:ext cx="990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solidFill>
                  <a:schemeClr val="bg1"/>
                </a:solidFill>
              </a:rPr>
              <a:t>10</a:t>
            </a:r>
            <a:r>
              <a:rPr lang="en-US" altLang="zh-CN" baseline="30000">
                <a:solidFill>
                  <a:schemeClr val="bg1"/>
                </a:solidFill>
              </a:rPr>
              <a:t>9</a:t>
            </a:r>
            <a:endParaRPr lang="en-US" altLang="zh-CN">
              <a:solidFill>
                <a:schemeClr val="bg1"/>
              </a:solidFill>
            </a:endParaRPr>
          </a:p>
        </p:txBody>
      </p:sp>
      <p:sp>
        <p:nvSpPr>
          <p:cNvPr id="26646" name="Text Box 29">
            <a:extLst>
              <a:ext uri="{FF2B5EF4-FFF2-40B4-BE49-F238E27FC236}">
                <a16:creationId xmlns:a16="http://schemas.microsoft.com/office/drawing/2014/main" id="{E18B3474-9F48-4805-8D90-CF00A6EA0855}"/>
              </a:ext>
            </a:extLst>
          </p:cNvPr>
          <p:cNvSpPr txBox="1">
            <a:spLocks noChangeArrowheads="1"/>
          </p:cNvSpPr>
          <p:nvPr/>
        </p:nvSpPr>
        <p:spPr bwMode="auto">
          <a:xfrm>
            <a:off x="6580188" y="3638550"/>
            <a:ext cx="24304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solidFill>
                  <a:schemeClr val="bg1"/>
                </a:solidFill>
              </a:rPr>
              <a:t> </a:t>
            </a:r>
            <a:r>
              <a:rPr lang="zh-CN" altLang="en-US">
                <a:solidFill>
                  <a:schemeClr val="bg1"/>
                </a:solidFill>
              </a:rPr>
              <a:t>（</a:t>
            </a:r>
            <a:r>
              <a:rPr lang="en-US" altLang="zh-CN">
                <a:solidFill>
                  <a:schemeClr val="bg1"/>
                </a:solidFill>
              </a:rPr>
              <a:t>70</a:t>
            </a:r>
            <a:r>
              <a:rPr lang="zh-CN" altLang="en-US">
                <a:solidFill>
                  <a:schemeClr val="bg1"/>
                </a:solidFill>
              </a:rPr>
              <a:t>年代 ）</a:t>
            </a:r>
          </a:p>
        </p:txBody>
      </p:sp>
      <p:sp>
        <p:nvSpPr>
          <p:cNvPr id="26647" name="Text Box 30">
            <a:extLst>
              <a:ext uri="{FF2B5EF4-FFF2-40B4-BE49-F238E27FC236}">
                <a16:creationId xmlns:a16="http://schemas.microsoft.com/office/drawing/2014/main" id="{CC2140A6-BEF2-4880-A371-4C4CBF9CE6C6}"/>
              </a:ext>
            </a:extLst>
          </p:cNvPr>
          <p:cNvSpPr txBox="1">
            <a:spLocks noChangeArrowheads="1"/>
          </p:cNvSpPr>
          <p:nvPr/>
        </p:nvSpPr>
        <p:spPr bwMode="auto">
          <a:xfrm>
            <a:off x="6699250" y="4999038"/>
            <a:ext cx="24828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a:solidFill>
                  <a:schemeClr val="bg1"/>
                </a:solidFill>
              </a:rPr>
              <a:t>（</a:t>
            </a:r>
            <a:r>
              <a:rPr lang="en-US" altLang="zh-CN">
                <a:solidFill>
                  <a:schemeClr val="bg1"/>
                </a:solidFill>
              </a:rPr>
              <a:t>90</a:t>
            </a:r>
            <a:r>
              <a:rPr lang="zh-CN" altLang="en-US">
                <a:solidFill>
                  <a:schemeClr val="bg1"/>
                </a:solidFill>
              </a:rPr>
              <a:t>年代 ）</a:t>
            </a:r>
          </a:p>
        </p:txBody>
      </p:sp>
      <p:sp>
        <p:nvSpPr>
          <p:cNvPr id="26648" name="Text Box 31">
            <a:extLst>
              <a:ext uri="{FF2B5EF4-FFF2-40B4-BE49-F238E27FC236}">
                <a16:creationId xmlns:a16="http://schemas.microsoft.com/office/drawing/2014/main" id="{E696924F-09B2-482D-ABBD-0BDD5D171B62}"/>
              </a:ext>
            </a:extLst>
          </p:cNvPr>
          <p:cNvSpPr txBox="1">
            <a:spLocks noChangeArrowheads="1"/>
          </p:cNvSpPr>
          <p:nvPr/>
        </p:nvSpPr>
        <p:spPr bwMode="auto">
          <a:xfrm>
            <a:off x="6726238" y="5707063"/>
            <a:ext cx="249396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a:solidFill>
                  <a:schemeClr val="bg1"/>
                </a:solidFill>
              </a:rPr>
              <a:t>（现在）</a:t>
            </a:r>
          </a:p>
        </p:txBody>
      </p:sp>
      <p:sp>
        <p:nvSpPr>
          <p:cNvPr id="26649" name="灯片编号占位符 1">
            <a:extLst>
              <a:ext uri="{FF2B5EF4-FFF2-40B4-BE49-F238E27FC236}">
                <a16:creationId xmlns:a16="http://schemas.microsoft.com/office/drawing/2014/main" id="{E4136C84-064E-488F-8036-3F2A0D97E831}"/>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E5712011-F45F-4D0B-A415-A716F7A64860}" type="slidenum">
              <a:rPr lang="en-US" altLang="zh-CN" b="0" smtClean="0">
                <a:solidFill>
                  <a:srgbClr val="FF00FF"/>
                </a:solidFill>
              </a:rPr>
              <a:pPr eaLnBrk="1" hangingPunct="1"/>
              <a:t>15</a:t>
            </a:fld>
            <a:r>
              <a:rPr lang="en-US" altLang="zh-CN" b="0" dirty="0">
                <a:solidFill>
                  <a:srgbClr val="FF00FF"/>
                </a:solidFill>
              </a:rPr>
              <a:t>/40</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3" descr="芯片">
            <a:extLst>
              <a:ext uri="{FF2B5EF4-FFF2-40B4-BE49-F238E27FC236}">
                <a16:creationId xmlns:a16="http://schemas.microsoft.com/office/drawing/2014/main" id="{487EC563-872B-424D-8B4D-A1FF5E05DE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518" t="3397" r="2832" b="13866"/>
          <a:stretch>
            <a:fillRect/>
          </a:stretch>
        </p:blipFill>
        <p:spPr bwMode="auto">
          <a:xfrm>
            <a:off x="1571625" y="714375"/>
            <a:ext cx="5992813" cy="4335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1" name="Text Box 4">
            <a:extLst>
              <a:ext uri="{FF2B5EF4-FFF2-40B4-BE49-F238E27FC236}">
                <a16:creationId xmlns:a16="http://schemas.microsoft.com/office/drawing/2014/main" id="{F6FA9795-C6DE-4DA3-84DD-398BC42E9B16}"/>
              </a:ext>
            </a:extLst>
          </p:cNvPr>
          <p:cNvSpPr txBox="1">
            <a:spLocks noChangeArrowheads="1"/>
          </p:cNvSpPr>
          <p:nvPr/>
        </p:nvSpPr>
        <p:spPr bwMode="auto">
          <a:xfrm>
            <a:off x="1143000" y="5599113"/>
            <a:ext cx="7089775"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latin typeface="宋体" panose="02010600030101010101" pitchFamily="2" charset="-122"/>
              </a:rPr>
              <a:t>每一个集成块（图中一个长方形部分）约为手指甲大小，它有</a:t>
            </a:r>
            <a:r>
              <a:rPr lang="en-US" altLang="zh-CN">
                <a:solidFill>
                  <a:schemeClr val="bg1"/>
                </a:solidFill>
                <a:latin typeface="宋体" panose="02010600030101010101" pitchFamily="2" charset="-122"/>
              </a:rPr>
              <a:t>300</a:t>
            </a:r>
            <a:r>
              <a:rPr lang="zh-CN" altLang="en-US">
                <a:solidFill>
                  <a:schemeClr val="bg1"/>
                </a:solidFill>
                <a:latin typeface="宋体" panose="02010600030101010101" pitchFamily="2" charset="-122"/>
              </a:rPr>
              <a:t>多万个三极管。</a:t>
            </a:r>
          </a:p>
        </p:txBody>
      </p:sp>
      <p:sp>
        <p:nvSpPr>
          <p:cNvPr id="27652" name="Text Box 5">
            <a:extLst>
              <a:ext uri="{FF2B5EF4-FFF2-40B4-BE49-F238E27FC236}">
                <a16:creationId xmlns:a16="http://schemas.microsoft.com/office/drawing/2014/main" id="{81583D2F-CA9B-462E-8F40-DC53D9E8E8F2}"/>
              </a:ext>
            </a:extLst>
          </p:cNvPr>
          <p:cNvSpPr txBox="1">
            <a:spLocks noChangeArrowheads="1"/>
          </p:cNvSpPr>
          <p:nvPr/>
        </p:nvSpPr>
        <p:spPr bwMode="auto">
          <a:xfrm>
            <a:off x="2627313" y="5105400"/>
            <a:ext cx="49450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rgbClr val="FFFF00"/>
                </a:solidFill>
              </a:rPr>
              <a:t> INMOS  T900  </a:t>
            </a:r>
            <a:r>
              <a:rPr lang="zh-CN" altLang="en-US">
                <a:solidFill>
                  <a:srgbClr val="FFFF00"/>
                </a:solidFill>
              </a:rPr>
              <a:t>微处理器</a:t>
            </a:r>
          </a:p>
        </p:txBody>
      </p:sp>
      <p:sp>
        <p:nvSpPr>
          <p:cNvPr id="27653" name="灯片编号占位符 1">
            <a:extLst>
              <a:ext uri="{FF2B5EF4-FFF2-40B4-BE49-F238E27FC236}">
                <a16:creationId xmlns:a16="http://schemas.microsoft.com/office/drawing/2014/main" id="{60F4EDBC-C20B-4841-AA22-CF1AE9BCFC27}"/>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ED30F1B2-2F11-4C21-815F-86FAA0FF0602}" type="slidenum">
              <a:rPr lang="en-US" altLang="zh-CN" b="0" smtClean="0">
                <a:solidFill>
                  <a:srgbClr val="FF00FF"/>
                </a:solidFill>
              </a:rPr>
              <a:pPr eaLnBrk="1" hangingPunct="1"/>
              <a:t>16</a:t>
            </a:fld>
            <a:r>
              <a:rPr lang="en-US" altLang="zh-CN" b="0" dirty="0">
                <a:solidFill>
                  <a:srgbClr val="FF00FF"/>
                </a:solidFill>
              </a:rPr>
              <a:t>/40</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Text Box 2">
            <a:extLst>
              <a:ext uri="{FF2B5EF4-FFF2-40B4-BE49-F238E27FC236}">
                <a16:creationId xmlns:a16="http://schemas.microsoft.com/office/drawing/2014/main" id="{3EB09FCB-2B7C-4D61-80B1-4CA5DA50A341}"/>
              </a:ext>
            </a:extLst>
          </p:cNvPr>
          <p:cNvSpPr txBox="1">
            <a:spLocks noChangeArrowheads="1"/>
          </p:cNvSpPr>
          <p:nvPr/>
        </p:nvSpPr>
        <p:spPr bwMode="auto">
          <a:xfrm>
            <a:off x="2928938" y="277813"/>
            <a:ext cx="34290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200">
                <a:solidFill>
                  <a:srgbClr val="00FF00"/>
                </a:solidFill>
                <a:ea typeface="SimHei" panose="02010609060101010101" pitchFamily="49" charset="-122"/>
              </a:rPr>
              <a:t>§19.7</a:t>
            </a:r>
            <a:r>
              <a:rPr lang="en-US" altLang="zh-CN" sz="3200">
                <a:solidFill>
                  <a:srgbClr val="00FF00"/>
                </a:solidFill>
                <a:latin typeface="SimHei" panose="02010609060101010101" pitchFamily="49" charset="-122"/>
                <a:ea typeface="SimHei" panose="02010609060101010101" pitchFamily="49" charset="-122"/>
              </a:rPr>
              <a:t> </a:t>
            </a:r>
            <a:r>
              <a:rPr lang="zh-CN" altLang="en-US" sz="3200">
                <a:solidFill>
                  <a:srgbClr val="00FF00"/>
                </a:solidFill>
                <a:latin typeface="SimHei" panose="02010609060101010101" pitchFamily="49" charset="-122"/>
                <a:ea typeface="SimHei" panose="02010609060101010101" pitchFamily="49" charset="-122"/>
              </a:rPr>
              <a:t>激   光</a:t>
            </a:r>
          </a:p>
        </p:txBody>
      </p:sp>
      <p:sp>
        <p:nvSpPr>
          <p:cNvPr id="117763" name="Text Box 3">
            <a:extLst>
              <a:ext uri="{FF2B5EF4-FFF2-40B4-BE49-F238E27FC236}">
                <a16:creationId xmlns:a16="http://schemas.microsoft.com/office/drawing/2014/main" id="{2D3D2130-6E8C-4109-B539-FB27F98AB2BE}"/>
              </a:ext>
            </a:extLst>
          </p:cNvPr>
          <p:cNvSpPr txBox="1">
            <a:spLocks noChangeArrowheads="1"/>
          </p:cNvSpPr>
          <p:nvPr/>
        </p:nvSpPr>
        <p:spPr bwMode="auto">
          <a:xfrm>
            <a:off x="395288" y="785813"/>
            <a:ext cx="41052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a:solidFill>
                  <a:srgbClr val="FFFF00"/>
                </a:solidFill>
                <a:latin typeface="宋体" panose="02010600030101010101" pitchFamily="2" charset="-122"/>
              </a:rPr>
              <a:t>一</a:t>
            </a:r>
            <a:r>
              <a:rPr lang="en-US" altLang="zh-CN" sz="2800">
                <a:solidFill>
                  <a:srgbClr val="FFFF00"/>
                </a:solidFill>
                <a:latin typeface="宋体" panose="02010600030101010101" pitchFamily="2" charset="-122"/>
              </a:rPr>
              <a:t>.</a:t>
            </a:r>
            <a:r>
              <a:rPr lang="zh-CN" altLang="en-US" sz="2800">
                <a:solidFill>
                  <a:srgbClr val="FFFF00"/>
                </a:solidFill>
                <a:latin typeface="宋体" panose="02010600030101010101" pitchFamily="2" charset="-122"/>
              </a:rPr>
              <a:t>光的吸收与辐射</a:t>
            </a:r>
          </a:p>
        </p:txBody>
      </p:sp>
      <p:sp>
        <p:nvSpPr>
          <p:cNvPr id="117764" name="Rectangle 4">
            <a:extLst>
              <a:ext uri="{FF2B5EF4-FFF2-40B4-BE49-F238E27FC236}">
                <a16:creationId xmlns:a16="http://schemas.microsoft.com/office/drawing/2014/main" id="{9C4386C1-2D23-4985-9292-8AA11D0BAA07}"/>
              </a:ext>
            </a:extLst>
          </p:cNvPr>
          <p:cNvSpPr>
            <a:spLocks noChangeArrowheads="1"/>
          </p:cNvSpPr>
          <p:nvPr/>
        </p:nvSpPr>
        <p:spPr bwMode="auto">
          <a:xfrm>
            <a:off x="3489186" y="812800"/>
            <a:ext cx="4946650"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76176" bIns="76176">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r" eaLnBrk="1" hangingPunct="1"/>
            <a:r>
              <a:rPr lang="zh-CN" altLang="en-US" sz="2200" dirty="0">
                <a:solidFill>
                  <a:schemeClr val="bg1"/>
                </a:solidFill>
                <a:latin typeface="宋体" panose="02010600030101010101" pitchFamily="2" charset="-122"/>
              </a:rPr>
              <a:t>能级跃迁的三种模式</a:t>
            </a:r>
          </a:p>
        </p:txBody>
      </p:sp>
      <p:grpSp>
        <p:nvGrpSpPr>
          <p:cNvPr id="2" name="Group 5">
            <a:extLst>
              <a:ext uri="{FF2B5EF4-FFF2-40B4-BE49-F238E27FC236}">
                <a16:creationId xmlns:a16="http://schemas.microsoft.com/office/drawing/2014/main" id="{7C12BCAF-707B-4818-AF98-07DE261CBB9A}"/>
              </a:ext>
            </a:extLst>
          </p:cNvPr>
          <p:cNvGrpSpPr>
            <a:grpSpLocks/>
          </p:cNvGrpSpPr>
          <p:nvPr/>
        </p:nvGrpSpPr>
        <p:grpSpPr bwMode="auto">
          <a:xfrm>
            <a:off x="6848475" y="2535238"/>
            <a:ext cx="533400" cy="457200"/>
            <a:chOff x="4704" y="384"/>
            <a:chExt cx="336" cy="288"/>
          </a:xfrm>
        </p:grpSpPr>
        <p:pic>
          <p:nvPicPr>
            <p:cNvPr id="28761" name="Picture 6" descr="Untitled art 1">
              <a:extLst>
                <a:ext uri="{FF2B5EF4-FFF2-40B4-BE49-F238E27FC236}">
                  <a16:creationId xmlns:a16="http://schemas.microsoft.com/office/drawing/2014/main" id="{1556A660-0E84-4603-9ADB-CCA7D6F286FE}"/>
                </a:ext>
              </a:extLst>
            </p:cNvPr>
            <p:cNvPicPr>
              <a:picLocks noChangeAspect="1" noChangeArrowheads="1"/>
            </p:cNvPicPr>
            <p:nvPr/>
          </p:nvPicPr>
          <p:blipFill>
            <a:blip r:embed="rId4" cstate="print">
              <a:clrChange>
                <a:clrFrom>
                  <a:srgbClr val="006599"/>
                </a:clrFrom>
                <a:clrTo>
                  <a:srgbClr val="006599">
                    <a:alpha val="0"/>
                  </a:srgbClr>
                </a:clrTo>
              </a:clrChange>
              <a:extLst>
                <a:ext uri="{28A0092B-C50C-407E-A947-70E740481C1C}">
                  <a14:useLocalDpi xmlns:a14="http://schemas.microsoft.com/office/drawing/2010/main" val="0"/>
                </a:ext>
              </a:extLst>
            </a:blip>
            <a:srcRect/>
            <a:stretch>
              <a:fillRect/>
            </a:stretch>
          </p:blipFill>
          <p:spPr bwMode="auto">
            <a:xfrm>
              <a:off x="4704" y="384"/>
              <a:ext cx="288"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762" name="Rectangle 7">
              <a:extLst>
                <a:ext uri="{FF2B5EF4-FFF2-40B4-BE49-F238E27FC236}">
                  <a16:creationId xmlns:a16="http://schemas.microsoft.com/office/drawing/2014/main" id="{4BEA8199-E04A-424F-98E8-89066988666F}"/>
                </a:ext>
              </a:extLst>
            </p:cNvPr>
            <p:cNvSpPr>
              <a:spLocks noChangeArrowheads="1"/>
            </p:cNvSpPr>
            <p:nvPr/>
          </p:nvSpPr>
          <p:spPr bwMode="auto">
            <a:xfrm>
              <a:off x="4944" y="384"/>
              <a:ext cx="96" cy="288"/>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grpSp>
      <p:sp>
        <p:nvSpPr>
          <p:cNvPr id="117768" name="Rectangle 8">
            <a:extLst>
              <a:ext uri="{FF2B5EF4-FFF2-40B4-BE49-F238E27FC236}">
                <a16:creationId xmlns:a16="http://schemas.microsoft.com/office/drawing/2014/main" id="{D3450C77-E02F-4667-8984-9568C16AEFB9}"/>
              </a:ext>
            </a:extLst>
          </p:cNvPr>
          <p:cNvSpPr>
            <a:spLocks noChangeArrowheads="1"/>
          </p:cNvSpPr>
          <p:nvPr/>
        </p:nvSpPr>
        <p:spPr bwMode="auto">
          <a:xfrm>
            <a:off x="838200" y="1466850"/>
            <a:ext cx="3886200" cy="2451100"/>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a:solidFill>
                <a:schemeClr val="bg1"/>
              </a:solidFill>
            </a:endParaRPr>
          </a:p>
        </p:txBody>
      </p:sp>
      <p:grpSp>
        <p:nvGrpSpPr>
          <p:cNvPr id="3" name="Group 9">
            <a:extLst>
              <a:ext uri="{FF2B5EF4-FFF2-40B4-BE49-F238E27FC236}">
                <a16:creationId xmlns:a16="http://schemas.microsoft.com/office/drawing/2014/main" id="{3A039218-B296-4465-A72D-A492468AFBF9}"/>
              </a:ext>
            </a:extLst>
          </p:cNvPr>
          <p:cNvGrpSpPr>
            <a:grpSpLocks/>
          </p:cNvGrpSpPr>
          <p:nvPr/>
        </p:nvGrpSpPr>
        <p:grpSpPr bwMode="auto">
          <a:xfrm>
            <a:off x="2501900" y="1651000"/>
            <a:ext cx="533400" cy="1333500"/>
            <a:chOff x="4416" y="384"/>
            <a:chExt cx="336" cy="840"/>
          </a:xfrm>
        </p:grpSpPr>
        <p:grpSp>
          <p:nvGrpSpPr>
            <p:cNvPr id="28755" name="Group 10">
              <a:extLst>
                <a:ext uri="{FF2B5EF4-FFF2-40B4-BE49-F238E27FC236}">
                  <a16:creationId xmlns:a16="http://schemas.microsoft.com/office/drawing/2014/main" id="{46F34D7A-BFEB-496A-8CD3-FAD429061BED}"/>
                </a:ext>
              </a:extLst>
            </p:cNvPr>
            <p:cNvGrpSpPr>
              <a:grpSpLocks/>
            </p:cNvGrpSpPr>
            <p:nvPr/>
          </p:nvGrpSpPr>
          <p:grpSpPr bwMode="auto">
            <a:xfrm>
              <a:off x="4416" y="672"/>
              <a:ext cx="336" cy="552"/>
              <a:chOff x="4416" y="672"/>
              <a:chExt cx="336" cy="552"/>
            </a:xfrm>
          </p:grpSpPr>
          <p:grpSp>
            <p:nvGrpSpPr>
              <p:cNvPr id="28757" name="Group 11">
                <a:extLst>
                  <a:ext uri="{FF2B5EF4-FFF2-40B4-BE49-F238E27FC236}">
                    <a16:creationId xmlns:a16="http://schemas.microsoft.com/office/drawing/2014/main" id="{000AEE77-FE84-4B60-B65E-1EF48A79D8AB}"/>
                  </a:ext>
                </a:extLst>
              </p:cNvPr>
              <p:cNvGrpSpPr>
                <a:grpSpLocks/>
              </p:cNvGrpSpPr>
              <p:nvPr/>
            </p:nvGrpSpPr>
            <p:grpSpPr bwMode="auto">
              <a:xfrm>
                <a:off x="4416" y="936"/>
                <a:ext cx="336" cy="288"/>
                <a:chOff x="4704" y="384"/>
                <a:chExt cx="336" cy="288"/>
              </a:xfrm>
            </p:grpSpPr>
            <p:pic>
              <p:nvPicPr>
                <p:cNvPr id="28759" name="Picture 12" descr="Untitled art 1">
                  <a:extLst>
                    <a:ext uri="{FF2B5EF4-FFF2-40B4-BE49-F238E27FC236}">
                      <a16:creationId xmlns:a16="http://schemas.microsoft.com/office/drawing/2014/main" id="{A7036C9A-1BFA-4079-AD78-6AED1B291D39}"/>
                    </a:ext>
                  </a:extLst>
                </p:cNvPr>
                <p:cNvPicPr>
                  <a:picLocks noChangeAspect="1" noChangeArrowheads="1"/>
                </p:cNvPicPr>
                <p:nvPr/>
              </p:nvPicPr>
              <p:blipFill>
                <a:blip r:embed="rId4" cstate="print">
                  <a:clrChange>
                    <a:clrFrom>
                      <a:srgbClr val="006599"/>
                    </a:clrFrom>
                    <a:clrTo>
                      <a:srgbClr val="006599">
                        <a:alpha val="0"/>
                      </a:srgbClr>
                    </a:clrTo>
                  </a:clrChange>
                  <a:extLst>
                    <a:ext uri="{28A0092B-C50C-407E-A947-70E740481C1C}">
                      <a14:useLocalDpi xmlns:a14="http://schemas.microsoft.com/office/drawing/2010/main" val="0"/>
                    </a:ext>
                  </a:extLst>
                </a:blip>
                <a:srcRect/>
                <a:stretch>
                  <a:fillRect/>
                </a:stretch>
              </p:blipFill>
              <p:spPr bwMode="auto">
                <a:xfrm>
                  <a:off x="4704" y="384"/>
                  <a:ext cx="288"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760" name="Rectangle 13">
                  <a:extLst>
                    <a:ext uri="{FF2B5EF4-FFF2-40B4-BE49-F238E27FC236}">
                      <a16:creationId xmlns:a16="http://schemas.microsoft.com/office/drawing/2014/main" id="{FA5635EE-75BB-40EE-A77C-11D181EC490C}"/>
                    </a:ext>
                  </a:extLst>
                </p:cNvPr>
                <p:cNvSpPr>
                  <a:spLocks noChangeArrowheads="1"/>
                </p:cNvSpPr>
                <p:nvPr/>
              </p:nvSpPr>
              <p:spPr bwMode="auto">
                <a:xfrm>
                  <a:off x="4944" y="384"/>
                  <a:ext cx="96" cy="288"/>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grpSp>
          <p:sp>
            <p:nvSpPr>
              <p:cNvPr id="28758" name="Line 14">
                <a:extLst>
                  <a:ext uri="{FF2B5EF4-FFF2-40B4-BE49-F238E27FC236}">
                    <a16:creationId xmlns:a16="http://schemas.microsoft.com/office/drawing/2014/main" id="{F9AE06F1-13CD-48EE-AAD2-4BD4529996CC}"/>
                  </a:ext>
                </a:extLst>
              </p:cNvPr>
              <p:cNvSpPr>
                <a:spLocks noChangeShapeType="1"/>
              </p:cNvSpPr>
              <p:nvPr/>
            </p:nvSpPr>
            <p:spPr bwMode="auto">
              <a:xfrm>
                <a:off x="4560" y="672"/>
                <a:ext cx="0" cy="288"/>
              </a:xfrm>
              <a:prstGeom prst="line">
                <a:avLst/>
              </a:prstGeom>
              <a:noFill/>
              <a:ln w="28575">
                <a:solidFill>
                  <a:schemeClr val="folHlink"/>
                </a:solidFill>
                <a:prstDash val="sysDot"/>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28756" name="Oval 15">
              <a:extLst>
                <a:ext uri="{FF2B5EF4-FFF2-40B4-BE49-F238E27FC236}">
                  <a16:creationId xmlns:a16="http://schemas.microsoft.com/office/drawing/2014/main" id="{AB390F91-FBEB-4E02-AE55-12BC5E81758F}"/>
                </a:ext>
              </a:extLst>
            </p:cNvPr>
            <p:cNvSpPr>
              <a:spLocks noChangeArrowheads="1"/>
            </p:cNvSpPr>
            <p:nvPr/>
          </p:nvSpPr>
          <p:spPr bwMode="auto">
            <a:xfrm>
              <a:off x="4488" y="384"/>
              <a:ext cx="144" cy="144"/>
            </a:xfrm>
            <a:prstGeom prst="ellipse">
              <a:avLst/>
            </a:prstGeom>
            <a:noFill/>
            <a:ln w="9525" cap="rnd">
              <a:solidFill>
                <a:srgbClr val="FFCC66"/>
              </a:solidFill>
              <a:prstDash val="sysDot"/>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grpSp>
      <p:pic>
        <p:nvPicPr>
          <p:cNvPr id="117776" name="Picture 16" descr="光子">
            <a:extLst>
              <a:ext uri="{FF2B5EF4-FFF2-40B4-BE49-F238E27FC236}">
                <a16:creationId xmlns:a16="http://schemas.microsoft.com/office/drawing/2014/main" id="{91127697-8476-4289-8D9A-AD62FEFD10B6}"/>
              </a:ext>
            </a:extLst>
          </p:cNvPr>
          <p:cNvPicPr>
            <a:picLocks noChangeAspect="1" noChangeArrowheads="1"/>
          </p:cNvPicPr>
          <p:nvPr/>
        </p:nvPicPr>
        <p:blipFill>
          <a:blip r:embed="rId5">
            <a:clrChange>
              <a:clrFrom>
                <a:srgbClr val="006599"/>
              </a:clrFrom>
              <a:clrTo>
                <a:srgbClr val="006599">
                  <a:alpha val="0"/>
                </a:srgbClr>
              </a:clrTo>
            </a:clrChange>
            <a:extLst>
              <a:ext uri="{28A0092B-C50C-407E-A947-70E740481C1C}">
                <a14:useLocalDpi xmlns:a14="http://schemas.microsoft.com/office/drawing/2010/main" val="0"/>
              </a:ext>
            </a:extLst>
          </a:blip>
          <a:srcRect/>
          <a:stretch>
            <a:fillRect/>
          </a:stretch>
        </p:blipFill>
        <p:spPr bwMode="auto">
          <a:xfrm>
            <a:off x="2928938" y="1901825"/>
            <a:ext cx="1357312" cy="765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7">
            <a:extLst>
              <a:ext uri="{FF2B5EF4-FFF2-40B4-BE49-F238E27FC236}">
                <a16:creationId xmlns:a16="http://schemas.microsoft.com/office/drawing/2014/main" id="{E1D8C524-93B9-43FF-BF0A-13A05E1ABD9F}"/>
              </a:ext>
            </a:extLst>
          </p:cNvPr>
          <p:cNvGrpSpPr>
            <a:grpSpLocks/>
          </p:cNvGrpSpPr>
          <p:nvPr/>
        </p:nvGrpSpPr>
        <p:grpSpPr bwMode="auto">
          <a:xfrm>
            <a:off x="2501900" y="1574800"/>
            <a:ext cx="533400" cy="457200"/>
            <a:chOff x="4704" y="384"/>
            <a:chExt cx="336" cy="288"/>
          </a:xfrm>
        </p:grpSpPr>
        <p:pic>
          <p:nvPicPr>
            <p:cNvPr id="28753" name="Picture 18" descr="Untitled art 1">
              <a:extLst>
                <a:ext uri="{FF2B5EF4-FFF2-40B4-BE49-F238E27FC236}">
                  <a16:creationId xmlns:a16="http://schemas.microsoft.com/office/drawing/2014/main" id="{413CB4D3-B597-4744-A11C-814FE07C21EB}"/>
                </a:ext>
              </a:extLst>
            </p:cNvPr>
            <p:cNvPicPr>
              <a:picLocks noChangeAspect="1" noChangeArrowheads="1"/>
            </p:cNvPicPr>
            <p:nvPr/>
          </p:nvPicPr>
          <p:blipFill>
            <a:blip r:embed="rId4" cstate="print">
              <a:clrChange>
                <a:clrFrom>
                  <a:srgbClr val="006599"/>
                </a:clrFrom>
                <a:clrTo>
                  <a:srgbClr val="006599">
                    <a:alpha val="0"/>
                  </a:srgbClr>
                </a:clrTo>
              </a:clrChange>
              <a:extLst>
                <a:ext uri="{28A0092B-C50C-407E-A947-70E740481C1C}">
                  <a14:useLocalDpi xmlns:a14="http://schemas.microsoft.com/office/drawing/2010/main" val="0"/>
                </a:ext>
              </a:extLst>
            </a:blip>
            <a:srcRect/>
            <a:stretch>
              <a:fillRect/>
            </a:stretch>
          </p:blipFill>
          <p:spPr bwMode="auto">
            <a:xfrm>
              <a:off x="4704" y="384"/>
              <a:ext cx="288"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754" name="Rectangle 19">
              <a:extLst>
                <a:ext uri="{FF2B5EF4-FFF2-40B4-BE49-F238E27FC236}">
                  <a16:creationId xmlns:a16="http://schemas.microsoft.com/office/drawing/2014/main" id="{9C85581E-D4C6-4FE3-A5B5-6D8D3E9F585E}"/>
                </a:ext>
              </a:extLst>
            </p:cNvPr>
            <p:cNvSpPr>
              <a:spLocks noChangeArrowheads="1"/>
            </p:cNvSpPr>
            <p:nvPr/>
          </p:nvSpPr>
          <p:spPr bwMode="auto">
            <a:xfrm>
              <a:off x="4944" y="384"/>
              <a:ext cx="96" cy="288"/>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grpSp>
      <p:sp>
        <p:nvSpPr>
          <p:cNvPr id="117780" name="Rectangle 20">
            <a:extLst>
              <a:ext uri="{FF2B5EF4-FFF2-40B4-BE49-F238E27FC236}">
                <a16:creationId xmlns:a16="http://schemas.microsoft.com/office/drawing/2014/main" id="{73B137D4-04D3-4E0F-BDCD-A128E9A5D5DE}"/>
              </a:ext>
            </a:extLst>
          </p:cNvPr>
          <p:cNvSpPr>
            <a:spLocks noChangeArrowheads="1"/>
          </p:cNvSpPr>
          <p:nvPr/>
        </p:nvSpPr>
        <p:spPr bwMode="auto">
          <a:xfrm>
            <a:off x="827088" y="1622425"/>
            <a:ext cx="533400"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a:solidFill>
                  <a:schemeClr val="bg1"/>
                </a:solidFill>
                <a:latin typeface="宋体" panose="02010600030101010101" pitchFamily="2" charset="-122"/>
                <a:ea typeface="仿宋_GB2312" pitchFamily="49" charset="-122"/>
              </a:rPr>
              <a:t>自发辐射</a:t>
            </a:r>
          </a:p>
        </p:txBody>
      </p:sp>
      <p:graphicFrame>
        <p:nvGraphicFramePr>
          <p:cNvPr id="117781" name="Object 21">
            <a:extLst>
              <a:ext uri="{FF2B5EF4-FFF2-40B4-BE49-F238E27FC236}">
                <a16:creationId xmlns:a16="http://schemas.microsoft.com/office/drawing/2014/main" id="{B46E6CE6-EFC8-4360-8C34-1533515847D1}"/>
              </a:ext>
            </a:extLst>
          </p:cNvPr>
          <p:cNvGraphicFramePr>
            <a:graphicFrameLocks/>
          </p:cNvGraphicFramePr>
          <p:nvPr/>
        </p:nvGraphicFramePr>
        <p:xfrm>
          <a:off x="1327150" y="3168650"/>
          <a:ext cx="2584450" cy="741363"/>
        </p:xfrm>
        <a:graphic>
          <a:graphicData uri="http://schemas.openxmlformats.org/presentationml/2006/ole">
            <mc:AlternateContent xmlns:mc="http://schemas.openxmlformats.org/markup-compatibility/2006">
              <mc:Choice xmlns:v="urn:schemas-microsoft-com:vml" Requires="v">
                <p:oleObj spid="_x0000_s564378" name="Equation" r:id="rId6" imgW="2545009" imgH="792417" progId="Equation.3">
                  <p:embed/>
                </p:oleObj>
              </mc:Choice>
              <mc:Fallback>
                <p:oleObj name="Equation" r:id="rId6" imgW="2545009" imgH="792417" progId="Equation.3">
                  <p:embed/>
                  <p:pic>
                    <p:nvPicPr>
                      <p:cNvPr id="117781" name="Object 21">
                        <a:extLst>
                          <a:ext uri="{FF2B5EF4-FFF2-40B4-BE49-F238E27FC236}">
                            <a16:creationId xmlns:a16="http://schemas.microsoft.com/office/drawing/2014/main" id="{B46E6CE6-EFC8-4360-8C34-1533515847D1}"/>
                          </a:ext>
                        </a:extLst>
                      </p:cNvPr>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27150" y="3168650"/>
                        <a:ext cx="2584450" cy="741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7782" name="Rectangle 22">
            <a:extLst>
              <a:ext uri="{FF2B5EF4-FFF2-40B4-BE49-F238E27FC236}">
                <a16:creationId xmlns:a16="http://schemas.microsoft.com/office/drawing/2014/main" id="{9F7A0429-49FD-47FE-868D-CC21D3E37F58}"/>
              </a:ext>
            </a:extLst>
          </p:cNvPr>
          <p:cNvSpPr>
            <a:spLocks noChangeArrowheads="1"/>
          </p:cNvSpPr>
          <p:nvPr/>
        </p:nvSpPr>
        <p:spPr bwMode="auto">
          <a:xfrm>
            <a:off x="4743450" y="1543050"/>
            <a:ext cx="685800" cy="170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52352" bIns="76176">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a:solidFill>
                  <a:schemeClr val="bg1"/>
                </a:solidFill>
                <a:latin typeface="宋体" panose="02010600030101010101" pitchFamily="2" charset="-122"/>
                <a:ea typeface="仿宋_GB2312" pitchFamily="49" charset="-122"/>
              </a:rPr>
              <a:t>受激吸收</a:t>
            </a:r>
          </a:p>
        </p:txBody>
      </p:sp>
      <p:graphicFrame>
        <p:nvGraphicFramePr>
          <p:cNvPr id="117783" name="Object 23">
            <a:extLst>
              <a:ext uri="{FF2B5EF4-FFF2-40B4-BE49-F238E27FC236}">
                <a16:creationId xmlns:a16="http://schemas.microsoft.com/office/drawing/2014/main" id="{566C7DED-3B36-47CE-BECE-F073EC665428}"/>
              </a:ext>
            </a:extLst>
          </p:cNvPr>
          <p:cNvGraphicFramePr>
            <a:graphicFrameLocks/>
          </p:cNvGraphicFramePr>
          <p:nvPr/>
        </p:nvGraphicFramePr>
        <p:xfrm>
          <a:off x="6932613" y="5929313"/>
          <a:ext cx="952500" cy="317500"/>
        </p:xfrm>
        <a:graphic>
          <a:graphicData uri="http://schemas.openxmlformats.org/presentationml/2006/ole">
            <mc:AlternateContent xmlns:mc="http://schemas.openxmlformats.org/markup-compatibility/2006">
              <mc:Choice xmlns:v="urn:schemas-microsoft-com:vml" Requires="v">
                <p:oleObj spid="_x0000_s564379" name="Equation" r:id="rId8" imgW="922055" imgH="289733" progId="Equation.3">
                  <p:embed/>
                </p:oleObj>
              </mc:Choice>
              <mc:Fallback>
                <p:oleObj name="Equation" r:id="rId8" imgW="922055" imgH="289733" progId="Equation.3">
                  <p:embed/>
                  <p:pic>
                    <p:nvPicPr>
                      <p:cNvPr id="117783" name="Object 23">
                        <a:extLst>
                          <a:ext uri="{FF2B5EF4-FFF2-40B4-BE49-F238E27FC236}">
                            <a16:creationId xmlns:a16="http://schemas.microsoft.com/office/drawing/2014/main" id="{566C7DED-3B36-47CE-BECE-F073EC665428}"/>
                          </a:ext>
                        </a:extLst>
                      </p:cNvPr>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932613" y="5929313"/>
                        <a:ext cx="952500"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7784" name="AutoShape 24">
            <a:extLst>
              <a:ext uri="{FF2B5EF4-FFF2-40B4-BE49-F238E27FC236}">
                <a16:creationId xmlns:a16="http://schemas.microsoft.com/office/drawing/2014/main" id="{F7B270D5-05BE-4F68-A7FF-1120ABD10779}"/>
              </a:ext>
            </a:extLst>
          </p:cNvPr>
          <p:cNvSpPr>
            <a:spLocks noChangeArrowheads="1"/>
          </p:cNvSpPr>
          <p:nvPr/>
        </p:nvSpPr>
        <p:spPr bwMode="auto">
          <a:xfrm>
            <a:off x="4186238" y="1612900"/>
            <a:ext cx="457200" cy="2008188"/>
          </a:xfrm>
          <a:prstGeom prst="wedgeRectCallout">
            <a:avLst>
              <a:gd name="adj1" fmla="val -144444"/>
              <a:gd name="adj2" fmla="val 39722"/>
            </a:avLst>
          </a:prstGeom>
          <a:solidFill>
            <a:srgbClr val="00CC99">
              <a:alpha val="54117"/>
            </a:srgbClr>
          </a:solidFill>
          <a:ln w="9525">
            <a:solidFill>
              <a:schemeClr val="tx1"/>
            </a:solidFill>
            <a:miter lim="800000"/>
            <a:headEnd/>
            <a:tailEnd/>
          </a:ln>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a:solidFill>
                  <a:schemeClr val="bg1"/>
                </a:solidFill>
                <a:latin typeface="宋体" panose="02010600030101010101" pitchFamily="2" charset="-122"/>
                <a:ea typeface="仿宋_GB2312" pitchFamily="49" charset="-122"/>
              </a:rPr>
              <a:t>自发辐射系数</a:t>
            </a:r>
          </a:p>
        </p:txBody>
      </p:sp>
      <p:sp>
        <p:nvSpPr>
          <p:cNvPr id="117785" name="AutoShape 25">
            <a:extLst>
              <a:ext uri="{FF2B5EF4-FFF2-40B4-BE49-F238E27FC236}">
                <a16:creationId xmlns:a16="http://schemas.microsoft.com/office/drawing/2014/main" id="{FBC2D704-2D40-456D-A02A-A599962678AF}"/>
              </a:ext>
            </a:extLst>
          </p:cNvPr>
          <p:cNvSpPr>
            <a:spLocks noChangeArrowheads="1"/>
          </p:cNvSpPr>
          <p:nvPr/>
        </p:nvSpPr>
        <p:spPr bwMode="auto">
          <a:xfrm>
            <a:off x="8137525" y="1604963"/>
            <a:ext cx="434975" cy="1998662"/>
          </a:xfrm>
          <a:prstGeom prst="wedgeRectCallout">
            <a:avLst>
              <a:gd name="adj1" fmla="val -119708"/>
              <a:gd name="adj2" fmla="val 38088"/>
            </a:avLst>
          </a:prstGeom>
          <a:solidFill>
            <a:srgbClr val="00CC99">
              <a:alpha val="59999"/>
            </a:srgbClr>
          </a:solidFill>
          <a:ln w="9525">
            <a:solidFill>
              <a:schemeClr val="tx1"/>
            </a:solidFill>
            <a:miter lim="800000"/>
            <a:headEnd/>
            <a:tailEnd/>
          </a:ln>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a:solidFill>
                  <a:schemeClr val="bg1"/>
                </a:solidFill>
                <a:latin typeface="宋体" panose="02010600030101010101" pitchFamily="2" charset="-122"/>
                <a:ea typeface="仿宋_GB2312" pitchFamily="49" charset="-122"/>
              </a:rPr>
              <a:t>受激吸收系数</a:t>
            </a:r>
          </a:p>
        </p:txBody>
      </p:sp>
      <p:pic>
        <p:nvPicPr>
          <p:cNvPr id="117786" name="Picture 26" descr="光子">
            <a:extLst>
              <a:ext uri="{FF2B5EF4-FFF2-40B4-BE49-F238E27FC236}">
                <a16:creationId xmlns:a16="http://schemas.microsoft.com/office/drawing/2014/main" id="{CADF93ED-71B6-4CB4-ABB7-120C95F58DCD}"/>
              </a:ext>
            </a:extLst>
          </p:cNvPr>
          <p:cNvPicPr>
            <a:picLocks noChangeAspect="1" noChangeArrowheads="1"/>
          </p:cNvPicPr>
          <p:nvPr/>
        </p:nvPicPr>
        <p:blipFill>
          <a:blip r:embed="rId5">
            <a:clrChange>
              <a:clrFrom>
                <a:srgbClr val="006599"/>
              </a:clrFrom>
              <a:clrTo>
                <a:srgbClr val="006599">
                  <a:alpha val="0"/>
                </a:srgbClr>
              </a:clrTo>
            </a:clrChange>
            <a:extLst>
              <a:ext uri="{28A0092B-C50C-407E-A947-70E740481C1C}">
                <a14:useLocalDpi xmlns:a14="http://schemas.microsoft.com/office/drawing/2010/main" val="0"/>
              </a:ext>
            </a:extLst>
          </a:blip>
          <a:srcRect/>
          <a:stretch>
            <a:fillRect/>
          </a:stretch>
        </p:blipFill>
        <p:spPr bwMode="auto">
          <a:xfrm>
            <a:off x="5357813" y="2060575"/>
            <a:ext cx="1357312" cy="76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7787" name="Picture 27" descr="光子">
            <a:extLst>
              <a:ext uri="{FF2B5EF4-FFF2-40B4-BE49-F238E27FC236}">
                <a16:creationId xmlns:a16="http://schemas.microsoft.com/office/drawing/2014/main" id="{7DC2BE65-5820-434B-B15C-7C0999D9611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214438" y="4616450"/>
            <a:ext cx="1066800" cy="64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3757" name="Picture 29" descr="2个光子">
            <a:extLst>
              <a:ext uri="{FF2B5EF4-FFF2-40B4-BE49-F238E27FC236}">
                <a16:creationId xmlns:a16="http://schemas.microsoft.com/office/drawing/2014/main" id="{C0B5B24C-96DF-42B9-8AB2-46B89D4FA879}"/>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857500" y="4616450"/>
            <a:ext cx="1331913" cy="630238"/>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pic>
      <p:grpSp>
        <p:nvGrpSpPr>
          <p:cNvPr id="7" name="Group 31">
            <a:extLst>
              <a:ext uri="{FF2B5EF4-FFF2-40B4-BE49-F238E27FC236}">
                <a16:creationId xmlns:a16="http://schemas.microsoft.com/office/drawing/2014/main" id="{8C7D621B-EA79-4285-9ABF-46E9124DA201}"/>
              </a:ext>
            </a:extLst>
          </p:cNvPr>
          <p:cNvGrpSpPr>
            <a:grpSpLocks/>
          </p:cNvGrpSpPr>
          <p:nvPr/>
        </p:nvGrpSpPr>
        <p:grpSpPr bwMode="auto">
          <a:xfrm>
            <a:off x="2362200" y="4062413"/>
            <a:ext cx="533400" cy="457200"/>
            <a:chOff x="4704" y="384"/>
            <a:chExt cx="336" cy="288"/>
          </a:xfrm>
        </p:grpSpPr>
        <p:pic>
          <p:nvPicPr>
            <p:cNvPr id="28751" name="Picture 32" descr="Untitled art 1">
              <a:extLst>
                <a:ext uri="{FF2B5EF4-FFF2-40B4-BE49-F238E27FC236}">
                  <a16:creationId xmlns:a16="http://schemas.microsoft.com/office/drawing/2014/main" id="{145CB88D-FA97-4F93-99E9-144B323E343D}"/>
                </a:ext>
              </a:extLst>
            </p:cNvPr>
            <p:cNvPicPr>
              <a:picLocks noChangeAspect="1" noChangeArrowheads="1"/>
            </p:cNvPicPr>
            <p:nvPr/>
          </p:nvPicPr>
          <p:blipFill>
            <a:blip r:embed="rId4" cstate="print">
              <a:clrChange>
                <a:clrFrom>
                  <a:srgbClr val="006599"/>
                </a:clrFrom>
                <a:clrTo>
                  <a:srgbClr val="006599">
                    <a:alpha val="0"/>
                  </a:srgbClr>
                </a:clrTo>
              </a:clrChange>
              <a:extLst>
                <a:ext uri="{28A0092B-C50C-407E-A947-70E740481C1C}">
                  <a14:useLocalDpi xmlns:a14="http://schemas.microsoft.com/office/drawing/2010/main" val="0"/>
                </a:ext>
              </a:extLst>
            </a:blip>
            <a:srcRect/>
            <a:stretch>
              <a:fillRect/>
            </a:stretch>
          </p:blipFill>
          <p:spPr bwMode="auto">
            <a:xfrm>
              <a:off x="4704" y="384"/>
              <a:ext cx="288"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752" name="Rectangle 33">
              <a:extLst>
                <a:ext uri="{FF2B5EF4-FFF2-40B4-BE49-F238E27FC236}">
                  <a16:creationId xmlns:a16="http://schemas.microsoft.com/office/drawing/2014/main" id="{A7B64CD2-9B45-424D-B171-6F1ED3FE750A}"/>
                </a:ext>
              </a:extLst>
            </p:cNvPr>
            <p:cNvSpPr>
              <a:spLocks noChangeArrowheads="1"/>
            </p:cNvSpPr>
            <p:nvPr/>
          </p:nvSpPr>
          <p:spPr bwMode="auto">
            <a:xfrm>
              <a:off x="4944" y="384"/>
              <a:ext cx="96" cy="288"/>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grpSp>
      <p:grpSp>
        <p:nvGrpSpPr>
          <p:cNvPr id="8" name="Group 34">
            <a:extLst>
              <a:ext uri="{FF2B5EF4-FFF2-40B4-BE49-F238E27FC236}">
                <a16:creationId xmlns:a16="http://schemas.microsoft.com/office/drawing/2014/main" id="{CAE1F97B-FE7A-4EAB-B273-C5A709433CBF}"/>
              </a:ext>
            </a:extLst>
          </p:cNvPr>
          <p:cNvGrpSpPr>
            <a:grpSpLocks/>
          </p:cNvGrpSpPr>
          <p:nvPr/>
        </p:nvGrpSpPr>
        <p:grpSpPr bwMode="auto">
          <a:xfrm>
            <a:off x="1892300" y="1755775"/>
            <a:ext cx="1143000" cy="1343025"/>
            <a:chOff x="4032" y="450"/>
            <a:chExt cx="720" cy="846"/>
          </a:xfrm>
        </p:grpSpPr>
        <p:grpSp>
          <p:nvGrpSpPr>
            <p:cNvPr id="28745" name="Group 35">
              <a:extLst>
                <a:ext uri="{FF2B5EF4-FFF2-40B4-BE49-F238E27FC236}">
                  <a16:creationId xmlns:a16="http://schemas.microsoft.com/office/drawing/2014/main" id="{F8248217-829B-4DDC-9402-E6CDBA463223}"/>
                </a:ext>
              </a:extLst>
            </p:cNvPr>
            <p:cNvGrpSpPr>
              <a:grpSpLocks/>
            </p:cNvGrpSpPr>
            <p:nvPr/>
          </p:nvGrpSpPr>
          <p:grpSpPr bwMode="auto">
            <a:xfrm>
              <a:off x="4244" y="552"/>
              <a:ext cx="508" cy="672"/>
              <a:chOff x="3888" y="696"/>
              <a:chExt cx="508" cy="672"/>
            </a:xfrm>
          </p:grpSpPr>
          <p:sp>
            <p:nvSpPr>
              <p:cNvPr id="28749" name="Rectangle 36">
                <a:extLst>
                  <a:ext uri="{FF2B5EF4-FFF2-40B4-BE49-F238E27FC236}">
                    <a16:creationId xmlns:a16="http://schemas.microsoft.com/office/drawing/2014/main" id="{C4A45FC4-98D6-4793-888E-C0E3E766EB04}"/>
                  </a:ext>
                </a:extLst>
              </p:cNvPr>
              <p:cNvSpPr>
                <a:spLocks noChangeArrowheads="1"/>
              </p:cNvSpPr>
              <p:nvPr/>
            </p:nvSpPr>
            <p:spPr bwMode="auto">
              <a:xfrm>
                <a:off x="3888" y="696"/>
                <a:ext cx="480" cy="72"/>
              </a:xfrm>
              <a:prstGeom prst="rect">
                <a:avLst/>
              </a:prstGeom>
              <a:solidFill>
                <a:schemeClr val="accent1"/>
              </a:solidFill>
              <a:ln w="9525">
                <a:solidFill>
                  <a:schemeClr val="tx1"/>
                </a:solidFill>
                <a:miter lim="800000"/>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28750" name="Rectangle 37">
                <a:extLst>
                  <a:ext uri="{FF2B5EF4-FFF2-40B4-BE49-F238E27FC236}">
                    <a16:creationId xmlns:a16="http://schemas.microsoft.com/office/drawing/2014/main" id="{AB11B41C-5192-4F01-9CA6-213D8E9B7977}"/>
                  </a:ext>
                </a:extLst>
              </p:cNvPr>
              <p:cNvSpPr>
                <a:spLocks noChangeArrowheads="1"/>
              </p:cNvSpPr>
              <p:nvPr/>
            </p:nvSpPr>
            <p:spPr bwMode="auto">
              <a:xfrm>
                <a:off x="3888" y="1296"/>
                <a:ext cx="508" cy="72"/>
              </a:xfrm>
              <a:prstGeom prst="rect">
                <a:avLst/>
              </a:prstGeom>
              <a:solidFill>
                <a:schemeClr val="accent1"/>
              </a:solidFill>
              <a:ln w="9525">
                <a:solidFill>
                  <a:schemeClr val="tx1"/>
                </a:solidFill>
                <a:miter lim="800000"/>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grpSp>
        <p:grpSp>
          <p:nvGrpSpPr>
            <p:cNvPr id="28746" name="Group 38">
              <a:extLst>
                <a:ext uri="{FF2B5EF4-FFF2-40B4-BE49-F238E27FC236}">
                  <a16:creationId xmlns:a16="http://schemas.microsoft.com/office/drawing/2014/main" id="{D8CF0870-7FBC-472E-9A2B-9BF651FEF9F8}"/>
                </a:ext>
              </a:extLst>
            </p:cNvPr>
            <p:cNvGrpSpPr>
              <a:grpSpLocks/>
            </p:cNvGrpSpPr>
            <p:nvPr/>
          </p:nvGrpSpPr>
          <p:grpSpPr bwMode="auto">
            <a:xfrm>
              <a:off x="4032" y="450"/>
              <a:ext cx="268" cy="846"/>
              <a:chOff x="4052" y="3129"/>
              <a:chExt cx="268" cy="846"/>
            </a:xfrm>
          </p:grpSpPr>
          <p:sp>
            <p:nvSpPr>
              <p:cNvPr id="28747" name="Text Box 39">
                <a:extLst>
                  <a:ext uri="{FF2B5EF4-FFF2-40B4-BE49-F238E27FC236}">
                    <a16:creationId xmlns:a16="http://schemas.microsoft.com/office/drawing/2014/main" id="{37BBD067-F48E-4BAB-94BD-D41AA5BBB0BA}"/>
                  </a:ext>
                </a:extLst>
              </p:cNvPr>
              <p:cNvSpPr txBox="1">
                <a:spLocks noChangeArrowheads="1"/>
              </p:cNvSpPr>
              <p:nvPr/>
            </p:nvSpPr>
            <p:spPr bwMode="auto">
              <a:xfrm>
                <a:off x="4060" y="3129"/>
                <a:ext cx="26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i="1">
                    <a:solidFill>
                      <a:srgbClr val="99FF99"/>
                    </a:solidFill>
                  </a:rPr>
                  <a:t>E</a:t>
                </a:r>
                <a:r>
                  <a:rPr lang="en-US" altLang="zh-CN" sz="1800" baseline="-20000">
                    <a:solidFill>
                      <a:srgbClr val="99FF99"/>
                    </a:solidFill>
                  </a:rPr>
                  <a:t>2</a:t>
                </a:r>
                <a:endParaRPr lang="en-US" altLang="zh-CN" sz="1800">
                  <a:solidFill>
                    <a:srgbClr val="99FF99"/>
                  </a:solidFill>
                </a:endParaRPr>
              </a:p>
            </p:txBody>
          </p:sp>
          <p:sp>
            <p:nvSpPr>
              <p:cNvPr id="28748" name="Text Box 40">
                <a:extLst>
                  <a:ext uri="{FF2B5EF4-FFF2-40B4-BE49-F238E27FC236}">
                    <a16:creationId xmlns:a16="http://schemas.microsoft.com/office/drawing/2014/main" id="{B432FF7F-C949-4FC2-8A88-5FC9BF71ACA9}"/>
                  </a:ext>
                </a:extLst>
              </p:cNvPr>
              <p:cNvSpPr txBox="1">
                <a:spLocks noChangeArrowheads="1"/>
              </p:cNvSpPr>
              <p:nvPr/>
            </p:nvSpPr>
            <p:spPr bwMode="auto">
              <a:xfrm>
                <a:off x="4052" y="3744"/>
                <a:ext cx="26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i="1">
                    <a:solidFill>
                      <a:srgbClr val="99FF99"/>
                    </a:solidFill>
                  </a:rPr>
                  <a:t>E</a:t>
                </a:r>
                <a:r>
                  <a:rPr lang="en-US" altLang="zh-CN" sz="1800" baseline="-20000">
                    <a:solidFill>
                      <a:srgbClr val="99FF99"/>
                    </a:solidFill>
                  </a:rPr>
                  <a:t>1</a:t>
                </a:r>
                <a:endParaRPr lang="en-US" altLang="zh-CN" sz="1800">
                  <a:solidFill>
                    <a:srgbClr val="99FF99"/>
                  </a:solidFill>
                </a:endParaRPr>
              </a:p>
            </p:txBody>
          </p:sp>
        </p:grpSp>
      </p:grpSp>
      <p:graphicFrame>
        <p:nvGraphicFramePr>
          <p:cNvPr id="117801" name="Object 41">
            <a:extLst>
              <a:ext uri="{FF2B5EF4-FFF2-40B4-BE49-F238E27FC236}">
                <a16:creationId xmlns:a16="http://schemas.microsoft.com/office/drawing/2014/main" id="{FB7008A5-BD3D-43F9-810B-704AC2B7AF67}"/>
              </a:ext>
            </a:extLst>
          </p:cNvPr>
          <p:cNvGraphicFramePr>
            <a:graphicFrameLocks/>
          </p:cNvGraphicFramePr>
          <p:nvPr/>
        </p:nvGraphicFramePr>
        <p:xfrm>
          <a:off x="1187450" y="5688013"/>
          <a:ext cx="2681288" cy="741362"/>
        </p:xfrm>
        <a:graphic>
          <a:graphicData uri="http://schemas.openxmlformats.org/presentationml/2006/ole">
            <mc:AlternateContent xmlns:mc="http://schemas.openxmlformats.org/markup-compatibility/2006">
              <mc:Choice xmlns:v="urn:schemas-microsoft-com:vml" Requires="v">
                <p:oleObj spid="_x0000_s564380" name="Equation" r:id="rId12" imgW="2651760" imgH="792417" progId="Equation.3">
                  <p:embed/>
                </p:oleObj>
              </mc:Choice>
              <mc:Fallback>
                <p:oleObj name="Equation" r:id="rId12" imgW="2651760" imgH="792417" progId="Equation.3">
                  <p:embed/>
                  <p:pic>
                    <p:nvPicPr>
                      <p:cNvPr id="117801" name="Object 41">
                        <a:extLst>
                          <a:ext uri="{FF2B5EF4-FFF2-40B4-BE49-F238E27FC236}">
                            <a16:creationId xmlns:a16="http://schemas.microsoft.com/office/drawing/2014/main" id="{FB7008A5-BD3D-43F9-810B-704AC2B7AF67}"/>
                          </a:ext>
                        </a:extLst>
                      </p:cNvPr>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187450" y="5688013"/>
                        <a:ext cx="2681288" cy="741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7802" name="Object 42">
            <a:extLst>
              <a:ext uri="{FF2B5EF4-FFF2-40B4-BE49-F238E27FC236}">
                <a16:creationId xmlns:a16="http://schemas.microsoft.com/office/drawing/2014/main" id="{92DB597B-35D4-459A-9DF5-C4CD1DAC7146}"/>
              </a:ext>
            </a:extLst>
          </p:cNvPr>
          <p:cNvGraphicFramePr>
            <a:graphicFrameLocks/>
          </p:cNvGraphicFramePr>
          <p:nvPr/>
        </p:nvGraphicFramePr>
        <p:xfrm>
          <a:off x="5292725" y="3168650"/>
          <a:ext cx="2701925" cy="741363"/>
        </p:xfrm>
        <a:graphic>
          <a:graphicData uri="http://schemas.openxmlformats.org/presentationml/2006/ole">
            <mc:AlternateContent xmlns:mc="http://schemas.openxmlformats.org/markup-compatibility/2006">
              <mc:Choice xmlns:v="urn:schemas-microsoft-com:vml" Requires="v">
                <p:oleObj spid="_x0000_s564381" name="Equation" r:id="rId14" imgW="2674726" imgH="792417" progId="Equation.3">
                  <p:embed/>
                </p:oleObj>
              </mc:Choice>
              <mc:Fallback>
                <p:oleObj name="Equation" r:id="rId14" imgW="2674726" imgH="792417" progId="Equation.3">
                  <p:embed/>
                  <p:pic>
                    <p:nvPicPr>
                      <p:cNvPr id="117802" name="Object 42">
                        <a:extLst>
                          <a:ext uri="{FF2B5EF4-FFF2-40B4-BE49-F238E27FC236}">
                            <a16:creationId xmlns:a16="http://schemas.microsoft.com/office/drawing/2014/main" id="{92DB597B-35D4-459A-9DF5-C4CD1DAC7146}"/>
                          </a:ext>
                        </a:extLst>
                      </p:cNvPr>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292725" y="3168650"/>
                        <a:ext cx="2701925" cy="741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7803" name="Group 43">
            <a:extLst>
              <a:ext uri="{FF2B5EF4-FFF2-40B4-BE49-F238E27FC236}">
                <a16:creationId xmlns:a16="http://schemas.microsoft.com/office/drawing/2014/main" id="{D02AEF18-1C81-4560-ACAE-41F8051C98ED}"/>
              </a:ext>
            </a:extLst>
          </p:cNvPr>
          <p:cNvGraphicFramePr>
            <a:graphicFrameLocks noGrp="1"/>
          </p:cNvGraphicFramePr>
          <p:nvPr/>
        </p:nvGraphicFramePr>
        <p:xfrm>
          <a:off x="4876800" y="4125913"/>
          <a:ext cx="3656013" cy="1703410"/>
        </p:xfrm>
        <a:graphic>
          <a:graphicData uri="http://schemas.openxmlformats.org/drawingml/2006/table">
            <a:tbl>
              <a:tblPr/>
              <a:tblGrid>
                <a:gridCol w="1828800">
                  <a:extLst>
                    <a:ext uri="{9D8B030D-6E8A-4147-A177-3AD203B41FA5}">
                      <a16:colId xmlns:a16="http://schemas.microsoft.com/office/drawing/2014/main" val="3554131127"/>
                    </a:ext>
                  </a:extLst>
                </a:gridCol>
                <a:gridCol w="912813">
                  <a:extLst>
                    <a:ext uri="{9D8B030D-6E8A-4147-A177-3AD203B41FA5}">
                      <a16:colId xmlns:a16="http://schemas.microsoft.com/office/drawing/2014/main" val="1542657565"/>
                    </a:ext>
                  </a:extLst>
                </a:gridCol>
                <a:gridCol w="914400">
                  <a:extLst>
                    <a:ext uri="{9D8B030D-6E8A-4147-A177-3AD203B41FA5}">
                      <a16:colId xmlns:a16="http://schemas.microsoft.com/office/drawing/2014/main" val="2419500050"/>
                    </a:ext>
                  </a:extLst>
                </a:gridCol>
              </a:tblGrid>
              <a:tr h="822881">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marT="45692" marB="45692" horzOverflow="overflow">
                    <a:lnL w="12700" cap="flat" cmpd="sng" algn="ctr">
                      <a:solidFill>
                        <a:schemeClr va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w="9525" cap="flat" cmpd="sng" algn="ctr">
                      <a:solidFill>
                        <a:schemeClr val="hlink"/>
                      </a:solidFill>
                      <a:prstDash val="solid"/>
                      <a:round/>
                      <a:headEnd type="none" w="med" len="med"/>
                      <a:tailEnd type="none" w="med" len="med"/>
                    </a:lnTlToBr>
                    <a:lnBlToTr>
                      <a:noFill/>
                    </a:lnBlToTr>
                    <a:solidFill>
                      <a:schemeClr val="tx2"/>
                    </a:solid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2400" b="1" i="0" u="none" strike="noStrike" cap="none" normalizeH="0" baseline="0">
                          <a:ln>
                            <a:noFill/>
                          </a:ln>
                          <a:solidFill>
                            <a:srgbClr val="00FFFF"/>
                          </a:solidFill>
                          <a:effectLst/>
                          <a:latin typeface="宋体" panose="02010600030101010101" pitchFamily="2" charset="-122"/>
                          <a:ea typeface="宋体" panose="02010600030101010101" pitchFamily="2" charset="-122"/>
                        </a:rPr>
                        <a:t>自发辐射</a:t>
                      </a:r>
                    </a:p>
                  </a:txBody>
                  <a:tcPr marT="45692" marB="45692"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solidFill>
                      <a:schemeClr val="tx2"/>
                    </a:solid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2400" b="1" i="0" u="none" strike="noStrike" cap="none" normalizeH="0" baseline="0">
                          <a:ln>
                            <a:noFill/>
                          </a:ln>
                          <a:solidFill>
                            <a:srgbClr val="00FFFF"/>
                          </a:solidFill>
                          <a:effectLst/>
                          <a:latin typeface="宋体" panose="02010600030101010101" pitchFamily="2" charset="-122"/>
                          <a:ea typeface="宋体" panose="02010600030101010101" pitchFamily="2" charset="-122"/>
                        </a:rPr>
                        <a:t>受激辐射</a:t>
                      </a:r>
                    </a:p>
                  </a:txBody>
                  <a:tcPr marT="45692" marB="45692" horzOverflow="overflow">
                    <a:lnL w="12700" cap="flat" cmpd="sng" algn="ctr">
                      <a:solidFill>
                        <a:schemeClr val="folHlink"/>
                      </a:solidFill>
                      <a:prstDash val="solid"/>
                      <a:round/>
                      <a:headEnd type="none" w="med" len="med"/>
                      <a:tailEnd type="none" w="med" len="med"/>
                    </a:lnL>
                    <a:lnR w="12700" cap="flat" cmpd="sng" algn="ctr">
                      <a:solidFill>
                        <a:schemeClr val="hlink"/>
                      </a:solidFill>
                      <a:prstDash val="solid"/>
                      <a:round/>
                      <a:headEnd type="none" w="med" len="med"/>
                      <a:tailEnd type="none" w="med" len="med"/>
                    </a:lnR>
                    <a:lnT w="12700" cap="flat" cmpd="sng" algn="ctr">
                      <a:solidFill>
                        <a:schemeClr va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solidFill>
                      <a:schemeClr val="tx2"/>
                    </a:solidFill>
                  </a:tcPr>
                </a:tc>
                <a:extLst>
                  <a:ext uri="{0D108BD9-81ED-4DB2-BD59-A6C34878D82A}">
                    <a16:rowId xmlns:a16="http://schemas.microsoft.com/office/drawing/2014/main" val="911412911"/>
                  </a:ext>
                </a:extLst>
              </a:tr>
              <a:tr h="880506">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400" b="1" i="0" u="none" strike="noStrike" cap="none" normalizeH="0" baseline="0">
                          <a:ln>
                            <a:noFill/>
                          </a:ln>
                          <a:solidFill>
                            <a:srgbClr val="00FFFF"/>
                          </a:solidFill>
                          <a:effectLst/>
                          <a:latin typeface="宋体" panose="02010600030101010101" pitchFamily="2" charset="-122"/>
                          <a:ea typeface="宋体" panose="02010600030101010101" pitchFamily="2" charset="-122"/>
                        </a:rPr>
                        <a:t>光波的频率 相位偏振态</a:t>
                      </a:r>
                    </a:p>
                  </a:txBody>
                  <a:tcPr marT="45692" marB="45692" horzOverflow="overflow">
                    <a:lnL w="12700" cap="flat" cmpd="sng" algn="ctr">
                      <a:solidFill>
                        <a:schemeClr va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hlink"/>
                      </a:solidFill>
                      <a:prstDash val="solid"/>
                      <a:round/>
                      <a:headEnd type="none" w="med" len="med"/>
                      <a:tailEnd type="none" w="med" len="med"/>
                    </a:lnB>
                    <a:lnTlToBr>
                      <a:noFill/>
                    </a:lnTlToBr>
                    <a:lnBlToTr>
                      <a:noFill/>
                    </a:lnBlToTr>
                    <a:solidFill>
                      <a:schemeClr val="tx2"/>
                    </a:solid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a:ln>
                            <a:noFill/>
                          </a:ln>
                          <a:solidFill>
                            <a:schemeClr val="bg1"/>
                          </a:solidFill>
                          <a:effectLst/>
                          <a:latin typeface="宋体" panose="02010600030101010101" pitchFamily="2" charset="-122"/>
                          <a:ea typeface="宋体" panose="02010600030101010101" pitchFamily="2" charset="-122"/>
                        </a:rPr>
                        <a:t>无关</a:t>
                      </a:r>
                    </a:p>
                  </a:txBody>
                  <a:tcPr marT="45692" marB="45692" anchor="ctr"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hlink"/>
                      </a:solidFill>
                      <a:prstDash val="solid"/>
                      <a:round/>
                      <a:headEnd type="none" w="med" len="med"/>
                      <a:tailEnd type="none" w="med" len="med"/>
                    </a:lnB>
                    <a:lnTlToBr>
                      <a:noFill/>
                    </a:lnTlToBr>
                    <a:lnBlToTr>
                      <a:noFill/>
                    </a:lnBlToTr>
                    <a:solidFill>
                      <a:schemeClr val="tx2"/>
                    </a:solid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a:ln>
                            <a:noFill/>
                          </a:ln>
                          <a:solidFill>
                            <a:schemeClr val="bg1"/>
                          </a:solidFill>
                          <a:effectLst/>
                          <a:latin typeface="宋体" panose="02010600030101010101" pitchFamily="2" charset="-122"/>
                          <a:ea typeface="宋体" panose="02010600030101010101" pitchFamily="2" charset="-122"/>
                        </a:rPr>
                        <a:t>全同</a:t>
                      </a:r>
                    </a:p>
                  </a:txBody>
                  <a:tcPr marT="45692" marB="45692" anchor="ctr" horzOverflow="overflow">
                    <a:lnL w="12700" cap="flat" cmpd="sng" algn="ctr">
                      <a:solidFill>
                        <a:schemeClr val="folHlink"/>
                      </a:solidFill>
                      <a:prstDash val="solid"/>
                      <a:round/>
                      <a:headEnd type="none" w="med" len="med"/>
                      <a:tailEnd type="none" w="med" len="med"/>
                    </a:lnL>
                    <a:lnR w="12700" cap="flat" cmpd="sng" algn="ctr">
                      <a:solidFill>
                        <a:schemeClr va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hlink"/>
                      </a:solidFill>
                      <a:prstDash val="solid"/>
                      <a:round/>
                      <a:headEnd type="none" w="med" len="med"/>
                      <a:tailEnd type="none" w="med" len="med"/>
                    </a:lnB>
                    <a:lnTlToBr>
                      <a:noFill/>
                    </a:lnTlToBr>
                    <a:lnBlToTr>
                      <a:noFill/>
                    </a:lnBlToTr>
                    <a:solidFill>
                      <a:schemeClr val="tx2"/>
                    </a:solidFill>
                  </a:tcPr>
                </a:tc>
                <a:extLst>
                  <a:ext uri="{0D108BD9-81ED-4DB2-BD59-A6C34878D82A}">
                    <a16:rowId xmlns:a16="http://schemas.microsoft.com/office/drawing/2014/main" val="3057802123"/>
                  </a:ext>
                </a:extLst>
              </a:tr>
            </a:tbl>
          </a:graphicData>
        </a:graphic>
      </p:graphicFrame>
      <p:sp>
        <p:nvSpPr>
          <p:cNvPr id="117818" name="Rectangle 58">
            <a:extLst>
              <a:ext uri="{FF2B5EF4-FFF2-40B4-BE49-F238E27FC236}">
                <a16:creationId xmlns:a16="http://schemas.microsoft.com/office/drawing/2014/main" id="{8A1031B1-5030-4959-91AC-6665D99AEFD2}"/>
              </a:ext>
            </a:extLst>
          </p:cNvPr>
          <p:cNvSpPr>
            <a:spLocks noChangeArrowheads="1"/>
          </p:cNvSpPr>
          <p:nvPr/>
        </p:nvSpPr>
        <p:spPr bwMode="auto">
          <a:xfrm>
            <a:off x="4724400" y="1466850"/>
            <a:ext cx="3879850" cy="2451100"/>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a:solidFill>
                <a:schemeClr val="bg1"/>
              </a:solidFill>
            </a:endParaRPr>
          </a:p>
        </p:txBody>
      </p:sp>
      <p:sp>
        <p:nvSpPr>
          <p:cNvPr id="117819" name="Rectangle 59">
            <a:extLst>
              <a:ext uri="{FF2B5EF4-FFF2-40B4-BE49-F238E27FC236}">
                <a16:creationId xmlns:a16="http://schemas.microsoft.com/office/drawing/2014/main" id="{3F5B85DE-FE56-461B-BCA5-D0BA51339EB3}"/>
              </a:ext>
            </a:extLst>
          </p:cNvPr>
          <p:cNvSpPr>
            <a:spLocks noChangeArrowheads="1"/>
          </p:cNvSpPr>
          <p:nvPr/>
        </p:nvSpPr>
        <p:spPr bwMode="auto">
          <a:xfrm>
            <a:off x="838200" y="3910013"/>
            <a:ext cx="3886200" cy="2519362"/>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a:solidFill>
                <a:schemeClr val="bg1"/>
              </a:solidFill>
            </a:endParaRPr>
          </a:p>
        </p:txBody>
      </p:sp>
      <p:sp>
        <p:nvSpPr>
          <p:cNvPr id="117820" name="Rectangle 60">
            <a:extLst>
              <a:ext uri="{FF2B5EF4-FFF2-40B4-BE49-F238E27FC236}">
                <a16:creationId xmlns:a16="http://schemas.microsoft.com/office/drawing/2014/main" id="{902A8E5C-957E-44D1-B471-EB393D963594}"/>
              </a:ext>
            </a:extLst>
          </p:cNvPr>
          <p:cNvSpPr>
            <a:spLocks noChangeArrowheads="1"/>
          </p:cNvSpPr>
          <p:nvPr/>
        </p:nvSpPr>
        <p:spPr bwMode="auto">
          <a:xfrm>
            <a:off x="806450" y="4049713"/>
            <a:ext cx="609600" cy="170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52352" bIns="76176">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a:solidFill>
                  <a:schemeClr val="bg1"/>
                </a:solidFill>
                <a:latin typeface="宋体" panose="02010600030101010101" pitchFamily="2" charset="-122"/>
                <a:ea typeface="仿宋_GB2312" pitchFamily="49" charset="-122"/>
              </a:rPr>
              <a:t>受激辐射</a:t>
            </a:r>
          </a:p>
        </p:txBody>
      </p:sp>
      <p:grpSp>
        <p:nvGrpSpPr>
          <p:cNvPr id="11" name="Group 61">
            <a:extLst>
              <a:ext uri="{FF2B5EF4-FFF2-40B4-BE49-F238E27FC236}">
                <a16:creationId xmlns:a16="http://schemas.microsoft.com/office/drawing/2014/main" id="{7285DE34-A425-42E6-8841-13BCB1EFB7A8}"/>
              </a:ext>
            </a:extLst>
          </p:cNvPr>
          <p:cNvGrpSpPr>
            <a:grpSpLocks/>
          </p:cNvGrpSpPr>
          <p:nvPr/>
        </p:nvGrpSpPr>
        <p:grpSpPr bwMode="auto">
          <a:xfrm>
            <a:off x="2339975" y="4062413"/>
            <a:ext cx="533400" cy="1409700"/>
            <a:chOff x="4464" y="1632"/>
            <a:chExt cx="336" cy="888"/>
          </a:xfrm>
        </p:grpSpPr>
        <p:sp>
          <p:nvSpPr>
            <p:cNvPr id="28738" name="Rectangle 62">
              <a:extLst>
                <a:ext uri="{FF2B5EF4-FFF2-40B4-BE49-F238E27FC236}">
                  <a16:creationId xmlns:a16="http://schemas.microsoft.com/office/drawing/2014/main" id="{A966F9E7-94F0-4D94-8809-55CC41E91400}"/>
                </a:ext>
              </a:extLst>
            </p:cNvPr>
            <p:cNvSpPr>
              <a:spLocks noChangeArrowheads="1"/>
            </p:cNvSpPr>
            <p:nvPr/>
          </p:nvSpPr>
          <p:spPr bwMode="auto">
            <a:xfrm>
              <a:off x="4464" y="1632"/>
              <a:ext cx="288" cy="24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grpSp>
          <p:nvGrpSpPr>
            <p:cNvPr id="28739" name="Group 63">
              <a:extLst>
                <a:ext uri="{FF2B5EF4-FFF2-40B4-BE49-F238E27FC236}">
                  <a16:creationId xmlns:a16="http://schemas.microsoft.com/office/drawing/2014/main" id="{BFEAFEB7-EF47-4B20-8161-27CBAE0572EF}"/>
                </a:ext>
              </a:extLst>
            </p:cNvPr>
            <p:cNvGrpSpPr>
              <a:grpSpLocks/>
            </p:cNvGrpSpPr>
            <p:nvPr/>
          </p:nvGrpSpPr>
          <p:grpSpPr bwMode="auto">
            <a:xfrm>
              <a:off x="4464" y="1680"/>
              <a:ext cx="336" cy="840"/>
              <a:chOff x="4464" y="1680"/>
              <a:chExt cx="336" cy="840"/>
            </a:xfrm>
          </p:grpSpPr>
          <p:grpSp>
            <p:nvGrpSpPr>
              <p:cNvPr id="28740" name="Group 64">
                <a:extLst>
                  <a:ext uri="{FF2B5EF4-FFF2-40B4-BE49-F238E27FC236}">
                    <a16:creationId xmlns:a16="http://schemas.microsoft.com/office/drawing/2014/main" id="{628589C5-77AE-427D-AB84-055F2D671E35}"/>
                  </a:ext>
                </a:extLst>
              </p:cNvPr>
              <p:cNvGrpSpPr>
                <a:grpSpLocks/>
              </p:cNvGrpSpPr>
              <p:nvPr/>
            </p:nvGrpSpPr>
            <p:grpSpPr bwMode="auto">
              <a:xfrm>
                <a:off x="4464" y="2232"/>
                <a:ext cx="336" cy="288"/>
                <a:chOff x="4704" y="384"/>
                <a:chExt cx="336" cy="288"/>
              </a:xfrm>
            </p:grpSpPr>
            <p:pic>
              <p:nvPicPr>
                <p:cNvPr id="28743" name="Picture 65" descr="Untitled art 1">
                  <a:extLst>
                    <a:ext uri="{FF2B5EF4-FFF2-40B4-BE49-F238E27FC236}">
                      <a16:creationId xmlns:a16="http://schemas.microsoft.com/office/drawing/2014/main" id="{21C18FA0-6AF7-47E5-9FF7-D493CCE712F6}"/>
                    </a:ext>
                  </a:extLst>
                </p:cNvPr>
                <p:cNvPicPr>
                  <a:picLocks noChangeAspect="1" noChangeArrowheads="1"/>
                </p:cNvPicPr>
                <p:nvPr/>
              </p:nvPicPr>
              <p:blipFill>
                <a:blip r:embed="rId4" cstate="print">
                  <a:clrChange>
                    <a:clrFrom>
                      <a:srgbClr val="006599"/>
                    </a:clrFrom>
                    <a:clrTo>
                      <a:srgbClr val="006599">
                        <a:alpha val="0"/>
                      </a:srgbClr>
                    </a:clrTo>
                  </a:clrChange>
                  <a:extLst>
                    <a:ext uri="{28A0092B-C50C-407E-A947-70E740481C1C}">
                      <a14:useLocalDpi xmlns:a14="http://schemas.microsoft.com/office/drawing/2010/main" val="0"/>
                    </a:ext>
                  </a:extLst>
                </a:blip>
                <a:srcRect/>
                <a:stretch>
                  <a:fillRect/>
                </a:stretch>
              </p:blipFill>
              <p:spPr bwMode="auto">
                <a:xfrm>
                  <a:off x="4704" y="384"/>
                  <a:ext cx="288"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744" name="Rectangle 66">
                  <a:extLst>
                    <a:ext uri="{FF2B5EF4-FFF2-40B4-BE49-F238E27FC236}">
                      <a16:creationId xmlns:a16="http://schemas.microsoft.com/office/drawing/2014/main" id="{CAE5DCAF-BE5A-422B-A06F-781DC0CE06AB}"/>
                    </a:ext>
                  </a:extLst>
                </p:cNvPr>
                <p:cNvSpPr>
                  <a:spLocks noChangeArrowheads="1"/>
                </p:cNvSpPr>
                <p:nvPr/>
              </p:nvSpPr>
              <p:spPr bwMode="auto">
                <a:xfrm>
                  <a:off x="4944" y="384"/>
                  <a:ext cx="96" cy="288"/>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grpSp>
          <p:sp>
            <p:nvSpPr>
              <p:cNvPr id="28741" name="Line 67">
                <a:extLst>
                  <a:ext uri="{FF2B5EF4-FFF2-40B4-BE49-F238E27FC236}">
                    <a16:creationId xmlns:a16="http://schemas.microsoft.com/office/drawing/2014/main" id="{74B13B33-0607-4736-8707-2ED83BC938F0}"/>
                  </a:ext>
                </a:extLst>
              </p:cNvPr>
              <p:cNvSpPr>
                <a:spLocks noChangeShapeType="1"/>
              </p:cNvSpPr>
              <p:nvPr/>
            </p:nvSpPr>
            <p:spPr bwMode="auto">
              <a:xfrm>
                <a:off x="4608" y="1968"/>
                <a:ext cx="0" cy="288"/>
              </a:xfrm>
              <a:prstGeom prst="line">
                <a:avLst/>
              </a:prstGeom>
              <a:noFill/>
              <a:ln w="28575">
                <a:solidFill>
                  <a:schemeClr val="folHlink"/>
                </a:solidFill>
                <a:prstDash val="sysDot"/>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742" name="Oval 68">
                <a:extLst>
                  <a:ext uri="{FF2B5EF4-FFF2-40B4-BE49-F238E27FC236}">
                    <a16:creationId xmlns:a16="http://schemas.microsoft.com/office/drawing/2014/main" id="{BD079B02-A7B0-414E-B52A-20EF9570DC02}"/>
                  </a:ext>
                </a:extLst>
              </p:cNvPr>
              <p:cNvSpPr>
                <a:spLocks noChangeArrowheads="1"/>
              </p:cNvSpPr>
              <p:nvPr/>
            </p:nvSpPr>
            <p:spPr bwMode="auto">
              <a:xfrm>
                <a:off x="4536" y="1680"/>
                <a:ext cx="144" cy="144"/>
              </a:xfrm>
              <a:prstGeom prst="ellipse">
                <a:avLst/>
              </a:prstGeom>
              <a:noFill/>
              <a:ln w="9525" cap="rnd">
                <a:solidFill>
                  <a:srgbClr val="FFCC66"/>
                </a:solidFill>
                <a:prstDash val="sysDot"/>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grpSp>
      </p:grpSp>
      <p:sp>
        <p:nvSpPr>
          <p:cNvPr id="117829" name="Rectangle 69">
            <a:extLst>
              <a:ext uri="{FF2B5EF4-FFF2-40B4-BE49-F238E27FC236}">
                <a16:creationId xmlns:a16="http://schemas.microsoft.com/office/drawing/2014/main" id="{6F7FFA1A-9040-4FD1-BFF1-76D4E6F4AF46}"/>
              </a:ext>
            </a:extLst>
          </p:cNvPr>
          <p:cNvSpPr>
            <a:spLocks noChangeArrowheads="1"/>
          </p:cNvSpPr>
          <p:nvPr/>
        </p:nvSpPr>
        <p:spPr bwMode="auto">
          <a:xfrm>
            <a:off x="6804025" y="2597150"/>
            <a:ext cx="457200" cy="30480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grpSp>
        <p:nvGrpSpPr>
          <p:cNvPr id="14" name="Group 70">
            <a:extLst>
              <a:ext uri="{FF2B5EF4-FFF2-40B4-BE49-F238E27FC236}">
                <a16:creationId xmlns:a16="http://schemas.microsoft.com/office/drawing/2014/main" id="{F50A6391-E8F1-4C27-8AB0-5C39E336F718}"/>
              </a:ext>
            </a:extLst>
          </p:cNvPr>
          <p:cNvGrpSpPr>
            <a:grpSpLocks/>
          </p:cNvGrpSpPr>
          <p:nvPr/>
        </p:nvGrpSpPr>
        <p:grpSpPr bwMode="auto">
          <a:xfrm>
            <a:off x="6804025" y="1604963"/>
            <a:ext cx="533400" cy="1295400"/>
            <a:chOff x="4512" y="-17"/>
            <a:chExt cx="336" cy="816"/>
          </a:xfrm>
        </p:grpSpPr>
        <p:grpSp>
          <p:nvGrpSpPr>
            <p:cNvPr id="28733" name="Group 71">
              <a:extLst>
                <a:ext uri="{FF2B5EF4-FFF2-40B4-BE49-F238E27FC236}">
                  <a16:creationId xmlns:a16="http://schemas.microsoft.com/office/drawing/2014/main" id="{57706632-C7D6-4846-A9E7-AE1D3AAA69E7}"/>
                </a:ext>
              </a:extLst>
            </p:cNvPr>
            <p:cNvGrpSpPr>
              <a:grpSpLocks/>
            </p:cNvGrpSpPr>
            <p:nvPr/>
          </p:nvGrpSpPr>
          <p:grpSpPr bwMode="auto">
            <a:xfrm>
              <a:off x="4512" y="-17"/>
              <a:ext cx="336" cy="288"/>
              <a:chOff x="4704" y="384"/>
              <a:chExt cx="336" cy="288"/>
            </a:xfrm>
          </p:grpSpPr>
          <p:pic>
            <p:nvPicPr>
              <p:cNvPr id="28736" name="Picture 72" descr="Untitled art 1">
                <a:extLst>
                  <a:ext uri="{FF2B5EF4-FFF2-40B4-BE49-F238E27FC236}">
                    <a16:creationId xmlns:a16="http://schemas.microsoft.com/office/drawing/2014/main" id="{70B8FA89-E936-4C35-984C-E46CCD1B3BC0}"/>
                  </a:ext>
                </a:extLst>
              </p:cNvPr>
              <p:cNvPicPr>
                <a:picLocks noChangeAspect="1" noChangeArrowheads="1"/>
              </p:cNvPicPr>
              <p:nvPr/>
            </p:nvPicPr>
            <p:blipFill>
              <a:blip r:embed="rId4" cstate="print">
                <a:clrChange>
                  <a:clrFrom>
                    <a:srgbClr val="006599"/>
                  </a:clrFrom>
                  <a:clrTo>
                    <a:srgbClr val="006599">
                      <a:alpha val="0"/>
                    </a:srgbClr>
                  </a:clrTo>
                </a:clrChange>
                <a:extLst>
                  <a:ext uri="{28A0092B-C50C-407E-A947-70E740481C1C}">
                    <a14:useLocalDpi xmlns:a14="http://schemas.microsoft.com/office/drawing/2010/main" val="0"/>
                  </a:ext>
                </a:extLst>
              </a:blip>
              <a:srcRect/>
              <a:stretch>
                <a:fillRect/>
              </a:stretch>
            </p:blipFill>
            <p:spPr bwMode="auto">
              <a:xfrm>
                <a:off x="4704" y="384"/>
                <a:ext cx="288"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737" name="Rectangle 73">
                <a:extLst>
                  <a:ext uri="{FF2B5EF4-FFF2-40B4-BE49-F238E27FC236}">
                    <a16:creationId xmlns:a16="http://schemas.microsoft.com/office/drawing/2014/main" id="{937C42A5-2BCB-439D-B1D9-3C35B0CE05E8}"/>
                  </a:ext>
                </a:extLst>
              </p:cNvPr>
              <p:cNvSpPr>
                <a:spLocks noChangeArrowheads="1"/>
              </p:cNvSpPr>
              <p:nvPr/>
            </p:nvSpPr>
            <p:spPr bwMode="auto">
              <a:xfrm>
                <a:off x="4944" y="384"/>
                <a:ext cx="96" cy="288"/>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grpSp>
        <p:sp>
          <p:nvSpPr>
            <p:cNvPr id="28734" name="Line 74">
              <a:extLst>
                <a:ext uri="{FF2B5EF4-FFF2-40B4-BE49-F238E27FC236}">
                  <a16:creationId xmlns:a16="http://schemas.microsoft.com/office/drawing/2014/main" id="{420189A3-3EB7-408A-8EB5-78071B775137}"/>
                </a:ext>
              </a:extLst>
            </p:cNvPr>
            <p:cNvSpPr>
              <a:spLocks noChangeShapeType="1"/>
            </p:cNvSpPr>
            <p:nvPr/>
          </p:nvSpPr>
          <p:spPr bwMode="auto">
            <a:xfrm>
              <a:off x="4656" y="319"/>
              <a:ext cx="0" cy="288"/>
            </a:xfrm>
            <a:prstGeom prst="line">
              <a:avLst/>
            </a:prstGeom>
            <a:noFill/>
            <a:ln w="28575">
              <a:solidFill>
                <a:schemeClr val="folHlink"/>
              </a:solidFill>
              <a:prstDash val="sysDot"/>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28735" name="Oval 75">
              <a:extLst>
                <a:ext uri="{FF2B5EF4-FFF2-40B4-BE49-F238E27FC236}">
                  <a16:creationId xmlns:a16="http://schemas.microsoft.com/office/drawing/2014/main" id="{395A9F67-7C75-4A4F-B317-FA21603B8BC6}"/>
                </a:ext>
              </a:extLst>
            </p:cNvPr>
            <p:cNvSpPr>
              <a:spLocks noChangeArrowheads="1"/>
            </p:cNvSpPr>
            <p:nvPr/>
          </p:nvSpPr>
          <p:spPr bwMode="auto">
            <a:xfrm>
              <a:off x="4584" y="655"/>
              <a:ext cx="144" cy="144"/>
            </a:xfrm>
            <a:prstGeom prst="ellipse">
              <a:avLst/>
            </a:prstGeom>
            <a:noFill/>
            <a:ln w="9525" cap="rnd">
              <a:solidFill>
                <a:srgbClr val="FFCC66"/>
              </a:solidFill>
              <a:prstDash val="sysDot"/>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grpSp>
      <p:grpSp>
        <p:nvGrpSpPr>
          <p:cNvPr id="16" name="Group 76">
            <a:extLst>
              <a:ext uri="{FF2B5EF4-FFF2-40B4-BE49-F238E27FC236}">
                <a16:creationId xmlns:a16="http://schemas.microsoft.com/office/drawing/2014/main" id="{96A81906-5AE8-42A3-8AF8-13BCE6193F45}"/>
              </a:ext>
            </a:extLst>
          </p:cNvPr>
          <p:cNvGrpSpPr>
            <a:grpSpLocks/>
          </p:cNvGrpSpPr>
          <p:nvPr/>
        </p:nvGrpSpPr>
        <p:grpSpPr bwMode="auto">
          <a:xfrm>
            <a:off x="6308725" y="1755775"/>
            <a:ext cx="1143000" cy="1343025"/>
            <a:chOff x="4080" y="3120"/>
            <a:chExt cx="720" cy="846"/>
          </a:xfrm>
        </p:grpSpPr>
        <p:grpSp>
          <p:nvGrpSpPr>
            <p:cNvPr id="28727" name="Group 77">
              <a:extLst>
                <a:ext uri="{FF2B5EF4-FFF2-40B4-BE49-F238E27FC236}">
                  <a16:creationId xmlns:a16="http://schemas.microsoft.com/office/drawing/2014/main" id="{450A27B3-C894-49E0-B51A-4DA6586C8765}"/>
                </a:ext>
              </a:extLst>
            </p:cNvPr>
            <p:cNvGrpSpPr>
              <a:grpSpLocks/>
            </p:cNvGrpSpPr>
            <p:nvPr/>
          </p:nvGrpSpPr>
          <p:grpSpPr bwMode="auto">
            <a:xfrm>
              <a:off x="4080" y="3120"/>
              <a:ext cx="268" cy="846"/>
              <a:chOff x="4052" y="3129"/>
              <a:chExt cx="268" cy="846"/>
            </a:xfrm>
          </p:grpSpPr>
          <p:sp>
            <p:nvSpPr>
              <p:cNvPr id="28731" name="Text Box 78">
                <a:extLst>
                  <a:ext uri="{FF2B5EF4-FFF2-40B4-BE49-F238E27FC236}">
                    <a16:creationId xmlns:a16="http://schemas.microsoft.com/office/drawing/2014/main" id="{78EB9D36-077D-4437-9178-212A6DA18539}"/>
                  </a:ext>
                </a:extLst>
              </p:cNvPr>
              <p:cNvSpPr txBox="1">
                <a:spLocks noChangeArrowheads="1"/>
              </p:cNvSpPr>
              <p:nvPr/>
            </p:nvSpPr>
            <p:spPr bwMode="auto">
              <a:xfrm>
                <a:off x="4060" y="3129"/>
                <a:ext cx="26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i="1">
                    <a:solidFill>
                      <a:srgbClr val="99FF99"/>
                    </a:solidFill>
                  </a:rPr>
                  <a:t>E</a:t>
                </a:r>
                <a:r>
                  <a:rPr lang="en-US" altLang="zh-CN" sz="1800" baseline="-20000">
                    <a:solidFill>
                      <a:srgbClr val="99FF99"/>
                    </a:solidFill>
                  </a:rPr>
                  <a:t>2</a:t>
                </a:r>
                <a:endParaRPr lang="en-US" altLang="zh-CN" sz="1800">
                  <a:solidFill>
                    <a:srgbClr val="99FF99"/>
                  </a:solidFill>
                </a:endParaRPr>
              </a:p>
            </p:txBody>
          </p:sp>
          <p:sp>
            <p:nvSpPr>
              <p:cNvPr id="28732" name="Text Box 79">
                <a:extLst>
                  <a:ext uri="{FF2B5EF4-FFF2-40B4-BE49-F238E27FC236}">
                    <a16:creationId xmlns:a16="http://schemas.microsoft.com/office/drawing/2014/main" id="{013BDABA-E7D5-4131-A839-1B5ECFE38165}"/>
                  </a:ext>
                </a:extLst>
              </p:cNvPr>
              <p:cNvSpPr txBox="1">
                <a:spLocks noChangeArrowheads="1"/>
              </p:cNvSpPr>
              <p:nvPr/>
            </p:nvSpPr>
            <p:spPr bwMode="auto">
              <a:xfrm>
                <a:off x="4052" y="3744"/>
                <a:ext cx="26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i="1">
                    <a:solidFill>
                      <a:srgbClr val="99FF99"/>
                    </a:solidFill>
                  </a:rPr>
                  <a:t>E</a:t>
                </a:r>
                <a:r>
                  <a:rPr lang="en-US" altLang="zh-CN" sz="1800" baseline="-20000">
                    <a:solidFill>
                      <a:srgbClr val="99FF99"/>
                    </a:solidFill>
                  </a:rPr>
                  <a:t>1</a:t>
                </a:r>
                <a:endParaRPr lang="en-US" altLang="zh-CN" sz="1800">
                  <a:solidFill>
                    <a:srgbClr val="99FF99"/>
                  </a:solidFill>
                </a:endParaRPr>
              </a:p>
            </p:txBody>
          </p:sp>
        </p:grpSp>
        <p:grpSp>
          <p:nvGrpSpPr>
            <p:cNvPr id="28728" name="Group 80">
              <a:extLst>
                <a:ext uri="{FF2B5EF4-FFF2-40B4-BE49-F238E27FC236}">
                  <a16:creationId xmlns:a16="http://schemas.microsoft.com/office/drawing/2014/main" id="{76BCBAB3-B247-4855-ACE2-DAC3DB3101CB}"/>
                </a:ext>
              </a:extLst>
            </p:cNvPr>
            <p:cNvGrpSpPr>
              <a:grpSpLocks/>
            </p:cNvGrpSpPr>
            <p:nvPr/>
          </p:nvGrpSpPr>
          <p:grpSpPr bwMode="auto">
            <a:xfrm>
              <a:off x="4292" y="3216"/>
              <a:ext cx="508" cy="672"/>
              <a:chOff x="3888" y="696"/>
              <a:chExt cx="508" cy="672"/>
            </a:xfrm>
          </p:grpSpPr>
          <p:sp>
            <p:nvSpPr>
              <p:cNvPr id="28729" name="Rectangle 81">
                <a:extLst>
                  <a:ext uri="{FF2B5EF4-FFF2-40B4-BE49-F238E27FC236}">
                    <a16:creationId xmlns:a16="http://schemas.microsoft.com/office/drawing/2014/main" id="{7EE13384-629C-4D9D-9F04-CAAF1C60AFA2}"/>
                  </a:ext>
                </a:extLst>
              </p:cNvPr>
              <p:cNvSpPr>
                <a:spLocks noChangeArrowheads="1"/>
              </p:cNvSpPr>
              <p:nvPr/>
            </p:nvSpPr>
            <p:spPr bwMode="auto">
              <a:xfrm>
                <a:off x="3888" y="696"/>
                <a:ext cx="480" cy="72"/>
              </a:xfrm>
              <a:prstGeom prst="rect">
                <a:avLst/>
              </a:prstGeom>
              <a:solidFill>
                <a:schemeClr val="accent1"/>
              </a:solidFill>
              <a:ln w="9525">
                <a:solidFill>
                  <a:schemeClr val="tx1"/>
                </a:solidFill>
                <a:miter lim="800000"/>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28730" name="Rectangle 82">
                <a:extLst>
                  <a:ext uri="{FF2B5EF4-FFF2-40B4-BE49-F238E27FC236}">
                    <a16:creationId xmlns:a16="http://schemas.microsoft.com/office/drawing/2014/main" id="{E3DF8F14-52A1-42AA-852C-84EBEAE18A4C}"/>
                  </a:ext>
                </a:extLst>
              </p:cNvPr>
              <p:cNvSpPr>
                <a:spLocks noChangeArrowheads="1"/>
              </p:cNvSpPr>
              <p:nvPr/>
            </p:nvSpPr>
            <p:spPr bwMode="auto">
              <a:xfrm>
                <a:off x="3888" y="1296"/>
                <a:ext cx="508" cy="72"/>
              </a:xfrm>
              <a:prstGeom prst="rect">
                <a:avLst/>
              </a:prstGeom>
              <a:solidFill>
                <a:schemeClr val="accent1"/>
              </a:solidFill>
              <a:ln w="9525">
                <a:solidFill>
                  <a:schemeClr val="tx1"/>
                </a:solidFill>
                <a:miter lim="800000"/>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grpSp>
      </p:grpSp>
      <p:grpSp>
        <p:nvGrpSpPr>
          <p:cNvPr id="19" name="Group 83">
            <a:extLst>
              <a:ext uri="{FF2B5EF4-FFF2-40B4-BE49-F238E27FC236}">
                <a16:creationId xmlns:a16="http://schemas.microsoft.com/office/drawing/2014/main" id="{1003AD40-D6A1-4E9B-AF4E-10FCF0478660}"/>
              </a:ext>
            </a:extLst>
          </p:cNvPr>
          <p:cNvGrpSpPr>
            <a:grpSpLocks/>
          </p:cNvGrpSpPr>
          <p:nvPr/>
        </p:nvGrpSpPr>
        <p:grpSpPr bwMode="auto">
          <a:xfrm>
            <a:off x="1785938" y="4243388"/>
            <a:ext cx="1143000" cy="1343025"/>
            <a:chOff x="4080" y="1746"/>
            <a:chExt cx="720" cy="846"/>
          </a:xfrm>
        </p:grpSpPr>
        <p:grpSp>
          <p:nvGrpSpPr>
            <p:cNvPr id="28721" name="Group 84">
              <a:extLst>
                <a:ext uri="{FF2B5EF4-FFF2-40B4-BE49-F238E27FC236}">
                  <a16:creationId xmlns:a16="http://schemas.microsoft.com/office/drawing/2014/main" id="{FF3CCD49-2E64-4E06-8F9F-B571BC49DAEB}"/>
                </a:ext>
              </a:extLst>
            </p:cNvPr>
            <p:cNvGrpSpPr>
              <a:grpSpLocks/>
            </p:cNvGrpSpPr>
            <p:nvPr/>
          </p:nvGrpSpPr>
          <p:grpSpPr bwMode="auto">
            <a:xfrm>
              <a:off x="4292" y="1848"/>
              <a:ext cx="508" cy="672"/>
              <a:chOff x="3888" y="696"/>
              <a:chExt cx="508" cy="672"/>
            </a:xfrm>
          </p:grpSpPr>
          <p:sp>
            <p:nvSpPr>
              <p:cNvPr id="28725" name="Rectangle 85">
                <a:extLst>
                  <a:ext uri="{FF2B5EF4-FFF2-40B4-BE49-F238E27FC236}">
                    <a16:creationId xmlns:a16="http://schemas.microsoft.com/office/drawing/2014/main" id="{C3E308C3-2606-4B41-8436-9E7DA56DF18C}"/>
                  </a:ext>
                </a:extLst>
              </p:cNvPr>
              <p:cNvSpPr>
                <a:spLocks noChangeArrowheads="1"/>
              </p:cNvSpPr>
              <p:nvPr/>
            </p:nvSpPr>
            <p:spPr bwMode="auto">
              <a:xfrm>
                <a:off x="3888" y="696"/>
                <a:ext cx="480" cy="72"/>
              </a:xfrm>
              <a:prstGeom prst="rect">
                <a:avLst/>
              </a:prstGeom>
              <a:solidFill>
                <a:schemeClr val="accent1"/>
              </a:solidFill>
              <a:ln w="9525">
                <a:solidFill>
                  <a:schemeClr val="tx1"/>
                </a:solidFill>
                <a:miter lim="800000"/>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28726" name="Rectangle 86">
                <a:extLst>
                  <a:ext uri="{FF2B5EF4-FFF2-40B4-BE49-F238E27FC236}">
                    <a16:creationId xmlns:a16="http://schemas.microsoft.com/office/drawing/2014/main" id="{2B9203E3-53AD-4F76-96C4-177C704E172E}"/>
                  </a:ext>
                </a:extLst>
              </p:cNvPr>
              <p:cNvSpPr>
                <a:spLocks noChangeArrowheads="1"/>
              </p:cNvSpPr>
              <p:nvPr/>
            </p:nvSpPr>
            <p:spPr bwMode="auto">
              <a:xfrm>
                <a:off x="3888" y="1296"/>
                <a:ext cx="508" cy="72"/>
              </a:xfrm>
              <a:prstGeom prst="rect">
                <a:avLst/>
              </a:prstGeom>
              <a:solidFill>
                <a:schemeClr val="accent1"/>
              </a:solidFill>
              <a:ln w="9525">
                <a:solidFill>
                  <a:schemeClr val="tx1"/>
                </a:solidFill>
                <a:miter lim="800000"/>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grpSp>
        <p:grpSp>
          <p:nvGrpSpPr>
            <p:cNvPr id="28722" name="Group 87">
              <a:extLst>
                <a:ext uri="{FF2B5EF4-FFF2-40B4-BE49-F238E27FC236}">
                  <a16:creationId xmlns:a16="http://schemas.microsoft.com/office/drawing/2014/main" id="{D4C00A50-4A45-45F2-AD73-BA83BBCCAB11}"/>
                </a:ext>
              </a:extLst>
            </p:cNvPr>
            <p:cNvGrpSpPr>
              <a:grpSpLocks/>
            </p:cNvGrpSpPr>
            <p:nvPr/>
          </p:nvGrpSpPr>
          <p:grpSpPr bwMode="auto">
            <a:xfrm>
              <a:off x="4080" y="1746"/>
              <a:ext cx="268" cy="846"/>
              <a:chOff x="4052" y="3129"/>
              <a:chExt cx="268" cy="846"/>
            </a:xfrm>
          </p:grpSpPr>
          <p:sp>
            <p:nvSpPr>
              <p:cNvPr id="28723" name="Text Box 88">
                <a:extLst>
                  <a:ext uri="{FF2B5EF4-FFF2-40B4-BE49-F238E27FC236}">
                    <a16:creationId xmlns:a16="http://schemas.microsoft.com/office/drawing/2014/main" id="{348F5F6D-FEE6-4876-BFF1-6A5C89E2FCEA}"/>
                  </a:ext>
                </a:extLst>
              </p:cNvPr>
              <p:cNvSpPr txBox="1">
                <a:spLocks noChangeArrowheads="1"/>
              </p:cNvSpPr>
              <p:nvPr/>
            </p:nvSpPr>
            <p:spPr bwMode="auto">
              <a:xfrm>
                <a:off x="4060" y="3129"/>
                <a:ext cx="26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i="1">
                    <a:solidFill>
                      <a:srgbClr val="99FF99"/>
                    </a:solidFill>
                  </a:rPr>
                  <a:t>E</a:t>
                </a:r>
                <a:r>
                  <a:rPr lang="en-US" altLang="zh-CN" sz="1800" baseline="-20000">
                    <a:solidFill>
                      <a:srgbClr val="99FF99"/>
                    </a:solidFill>
                  </a:rPr>
                  <a:t>2</a:t>
                </a:r>
                <a:endParaRPr lang="en-US" altLang="zh-CN" sz="1800">
                  <a:solidFill>
                    <a:srgbClr val="99FF99"/>
                  </a:solidFill>
                </a:endParaRPr>
              </a:p>
            </p:txBody>
          </p:sp>
          <p:sp>
            <p:nvSpPr>
              <p:cNvPr id="28724" name="Text Box 89">
                <a:extLst>
                  <a:ext uri="{FF2B5EF4-FFF2-40B4-BE49-F238E27FC236}">
                    <a16:creationId xmlns:a16="http://schemas.microsoft.com/office/drawing/2014/main" id="{42F3663E-9170-445F-82A6-BB45AB93F366}"/>
                  </a:ext>
                </a:extLst>
              </p:cNvPr>
              <p:cNvSpPr txBox="1">
                <a:spLocks noChangeArrowheads="1"/>
              </p:cNvSpPr>
              <p:nvPr/>
            </p:nvSpPr>
            <p:spPr bwMode="auto">
              <a:xfrm>
                <a:off x="4052" y="3744"/>
                <a:ext cx="26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i="1">
                    <a:solidFill>
                      <a:srgbClr val="99FF99"/>
                    </a:solidFill>
                  </a:rPr>
                  <a:t>E</a:t>
                </a:r>
                <a:r>
                  <a:rPr lang="en-US" altLang="zh-CN" sz="1800" baseline="-20000">
                    <a:solidFill>
                      <a:srgbClr val="99FF99"/>
                    </a:solidFill>
                  </a:rPr>
                  <a:t>1</a:t>
                </a:r>
                <a:endParaRPr lang="en-US" altLang="zh-CN" sz="1800">
                  <a:solidFill>
                    <a:srgbClr val="99FF99"/>
                  </a:solidFill>
                </a:endParaRPr>
              </a:p>
            </p:txBody>
          </p:sp>
        </p:grpSp>
      </p:grpSp>
      <p:sp>
        <p:nvSpPr>
          <p:cNvPr id="117850" name="AutoShape 90">
            <a:extLst>
              <a:ext uri="{FF2B5EF4-FFF2-40B4-BE49-F238E27FC236}">
                <a16:creationId xmlns:a16="http://schemas.microsoft.com/office/drawing/2014/main" id="{ED0ED75F-AD7C-41E9-B7AB-81F7F8A91F57}"/>
              </a:ext>
            </a:extLst>
          </p:cNvPr>
          <p:cNvSpPr>
            <a:spLocks noChangeArrowheads="1"/>
          </p:cNvSpPr>
          <p:nvPr/>
        </p:nvSpPr>
        <p:spPr bwMode="auto">
          <a:xfrm>
            <a:off x="4211638" y="4125913"/>
            <a:ext cx="431800" cy="1944687"/>
          </a:xfrm>
          <a:prstGeom prst="wedgeRectCallout">
            <a:avLst>
              <a:gd name="adj1" fmla="val -130884"/>
              <a:gd name="adj2" fmla="val 47389"/>
            </a:avLst>
          </a:prstGeom>
          <a:solidFill>
            <a:srgbClr val="00CC99">
              <a:alpha val="59999"/>
            </a:srgbClr>
          </a:solidFill>
          <a:ln w="9525">
            <a:solidFill>
              <a:schemeClr val="tx1"/>
            </a:solidFill>
            <a:miter lim="800000"/>
            <a:headEnd/>
            <a:tailEnd/>
          </a:ln>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a:solidFill>
                  <a:schemeClr val="bg1"/>
                </a:solidFill>
                <a:latin typeface="宋体" panose="02010600030101010101" pitchFamily="2" charset="-122"/>
                <a:ea typeface="仿宋_GB2312" pitchFamily="49" charset="-122"/>
              </a:rPr>
              <a:t>受激辐射系数</a:t>
            </a:r>
          </a:p>
        </p:txBody>
      </p:sp>
      <p:sp>
        <p:nvSpPr>
          <p:cNvPr id="117851" name="Text Box 91">
            <a:extLst>
              <a:ext uri="{FF2B5EF4-FFF2-40B4-BE49-F238E27FC236}">
                <a16:creationId xmlns:a16="http://schemas.microsoft.com/office/drawing/2014/main" id="{E4220A68-8CB1-4309-9A8E-84382281BDD2}"/>
              </a:ext>
            </a:extLst>
          </p:cNvPr>
          <p:cNvSpPr txBox="1">
            <a:spLocks noChangeArrowheads="1"/>
          </p:cNvSpPr>
          <p:nvPr/>
        </p:nvSpPr>
        <p:spPr bwMode="auto">
          <a:xfrm>
            <a:off x="5183188" y="5889625"/>
            <a:ext cx="1454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a:solidFill>
                  <a:schemeClr val="bg1"/>
                </a:solidFill>
              </a:rPr>
              <a:t>一般情况下</a:t>
            </a:r>
          </a:p>
        </p:txBody>
      </p:sp>
      <p:sp>
        <p:nvSpPr>
          <p:cNvPr id="28720" name="灯片编号占位符 1">
            <a:extLst>
              <a:ext uri="{FF2B5EF4-FFF2-40B4-BE49-F238E27FC236}">
                <a16:creationId xmlns:a16="http://schemas.microsoft.com/office/drawing/2014/main" id="{21D3ED3C-B63D-42EE-A57C-233123158006}"/>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C3C582FF-A664-4252-88DC-82C98DC70BD9}" type="slidenum">
              <a:rPr lang="en-US" altLang="zh-CN" b="0">
                <a:solidFill>
                  <a:srgbClr val="FF00FF"/>
                </a:solidFill>
              </a:rPr>
              <a:pPr eaLnBrk="1" hangingPunct="1"/>
              <a:t>17</a:t>
            </a:fld>
            <a:r>
              <a:rPr lang="en-US" altLang="zh-CN" b="0">
                <a:solidFill>
                  <a:srgbClr val="FF00FF"/>
                </a:solidFill>
              </a:rPr>
              <a:t>/28</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17762"/>
                                        </p:tgtEl>
                                        <p:attrNameLst>
                                          <p:attrName>style.visibility</p:attrName>
                                        </p:attrNameLst>
                                      </p:cBhvr>
                                      <p:to>
                                        <p:strVal val="visible"/>
                                      </p:to>
                                    </p:set>
                                    <p:animEffect transition="in" filter="wipe(left)">
                                      <p:cBhvr>
                                        <p:cTn id="7" dur="1000"/>
                                        <p:tgtEl>
                                          <p:spTgt spid="117762"/>
                                        </p:tgtEl>
                                      </p:cBhvr>
                                    </p:animEffect>
                                  </p:childTnLst>
                                </p:cTn>
                              </p:par>
                            </p:childTnLst>
                          </p:cTn>
                        </p:par>
                        <p:par>
                          <p:cTn id="8" fill="hold" nodeType="afterGroup">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117763"/>
                                        </p:tgtEl>
                                        <p:attrNameLst>
                                          <p:attrName>style.visibility</p:attrName>
                                        </p:attrNameLst>
                                      </p:cBhvr>
                                      <p:to>
                                        <p:strVal val="visible"/>
                                      </p:to>
                                    </p:set>
                                    <p:animEffect transition="in" filter="wipe(left)">
                                      <p:cBhvr>
                                        <p:cTn id="11" dur="1000"/>
                                        <p:tgtEl>
                                          <p:spTgt spid="117763"/>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17764"/>
                                        </p:tgtEl>
                                        <p:attrNameLst>
                                          <p:attrName>style.visibility</p:attrName>
                                        </p:attrNameLst>
                                      </p:cBhvr>
                                      <p:to>
                                        <p:strVal val="visible"/>
                                      </p:to>
                                    </p:set>
                                    <p:animEffect transition="in" filter="wipe(left)">
                                      <p:cBhvr>
                                        <p:cTn id="16" dur="1000"/>
                                        <p:tgtEl>
                                          <p:spTgt spid="117764"/>
                                        </p:tgtEl>
                                      </p:cBhvr>
                                    </p:animEffect>
                                  </p:childTnLst>
                                </p:cTn>
                              </p:par>
                            </p:childTnLst>
                          </p:cTn>
                        </p:par>
                        <p:par>
                          <p:cTn id="17" fill="hold" nodeType="afterGroup">
                            <p:stCondLst>
                              <p:cond delay="1000"/>
                            </p:stCondLst>
                            <p:childTnLst>
                              <p:par>
                                <p:cTn id="18" presetID="22" presetClass="entr" presetSubtype="1" fill="hold" grpId="0" nodeType="afterEffect">
                                  <p:stCondLst>
                                    <p:cond delay="0"/>
                                  </p:stCondLst>
                                  <p:childTnLst>
                                    <p:set>
                                      <p:cBhvr>
                                        <p:cTn id="19" dur="1" fill="hold">
                                          <p:stCondLst>
                                            <p:cond delay="0"/>
                                          </p:stCondLst>
                                        </p:cTn>
                                        <p:tgtEl>
                                          <p:spTgt spid="117780"/>
                                        </p:tgtEl>
                                        <p:attrNameLst>
                                          <p:attrName>style.visibility</p:attrName>
                                        </p:attrNameLst>
                                      </p:cBhvr>
                                      <p:to>
                                        <p:strVal val="visible"/>
                                      </p:to>
                                    </p:set>
                                    <p:animEffect transition="in" filter="wipe(up)">
                                      <p:cBhvr>
                                        <p:cTn id="20" dur="500"/>
                                        <p:tgtEl>
                                          <p:spTgt spid="117780"/>
                                        </p:tgtEl>
                                      </p:cBhvr>
                                    </p:animEffect>
                                  </p:childTnLst>
                                </p:cTn>
                              </p:par>
                            </p:childTnLst>
                          </p:cTn>
                        </p:par>
                        <p:par>
                          <p:cTn id="21" fill="hold" nodeType="afterGroup">
                            <p:stCondLst>
                              <p:cond delay="1500"/>
                            </p:stCondLst>
                            <p:childTnLst>
                              <p:par>
                                <p:cTn id="22" presetID="22" presetClass="entr" presetSubtype="1" fill="hold" grpId="0" nodeType="afterEffect">
                                  <p:stCondLst>
                                    <p:cond delay="0"/>
                                  </p:stCondLst>
                                  <p:childTnLst>
                                    <p:set>
                                      <p:cBhvr>
                                        <p:cTn id="23" dur="1" fill="hold">
                                          <p:stCondLst>
                                            <p:cond delay="0"/>
                                          </p:stCondLst>
                                        </p:cTn>
                                        <p:tgtEl>
                                          <p:spTgt spid="117820"/>
                                        </p:tgtEl>
                                        <p:attrNameLst>
                                          <p:attrName>style.visibility</p:attrName>
                                        </p:attrNameLst>
                                      </p:cBhvr>
                                      <p:to>
                                        <p:strVal val="visible"/>
                                      </p:to>
                                    </p:set>
                                    <p:animEffect transition="in" filter="wipe(up)">
                                      <p:cBhvr>
                                        <p:cTn id="24" dur="500"/>
                                        <p:tgtEl>
                                          <p:spTgt spid="117820"/>
                                        </p:tgtEl>
                                      </p:cBhvr>
                                    </p:animEffect>
                                  </p:childTnLst>
                                </p:cTn>
                              </p:par>
                            </p:childTnLst>
                          </p:cTn>
                        </p:par>
                        <p:par>
                          <p:cTn id="25" fill="hold" nodeType="afterGroup">
                            <p:stCondLst>
                              <p:cond delay="2000"/>
                            </p:stCondLst>
                            <p:childTnLst>
                              <p:par>
                                <p:cTn id="26" presetID="22" presetClass="entr" presetSubtype="1" fill="hold" grpId="0" nodeType="afterEffect">
                                  <p:stCondLst>
                                    <p:cond delay="0"/>
                                  </p:stCondLst>
                                  <p:childTnLst>
                                    <p:set>
                                      <p:cBhvr>
                                        <p:cTn id="27" dur="1" fill="hold">
                                          <p:stCondLst>
                                            <p:cond delay="0"/>
                                          </p:stCondLst>
                                        </p:cTn>
                                        <p:tgtEl>
                                          <p:spTgt spid="117782"/>
                                        </p:tgtEl>
                                        <p:attrNameLst>
                                          <p:attrName>style.visibility</p:attrName>
                                        </p:attrNameLst>
                                      </p:cBhvr>
                                      <p:to>
                                        <p:strVal val="visible"/>
                                      </p:to>
                                    </p:set>
                                    <p:animEffect transition="in" filter="wipe(up)">
                                      <p:cBhvr>
                                        <p:cTn id="28" dur="500"/>
                                        <p:tgtEl>
                                          <p:spTgt spid="117782"/>
                                        </p:tgtEl>
                                      </p:cBhvr>
                                    </p:animEffect>
                                  </p:childTnLst>
                                </p:cTn>
                              </p:par>
                            </p:childTnLst>
                          </p:cTn>
                        </p:par>
                        <p:par>
                          <p:cTn id="29" fill="hold" nodeType="afterGroup">
                            <p:stCondLst>
                              <p:cond delay="2500"/>
                            </p:stCondLst>
                            <p:childTnLst>
                              <p:par>
                                <p:cTn id="30" presetID="1" presetClass="entr" presetSubtype="0" fill="hold" grpId="0" nodeType="afterEffect">
                                  <p:stCondLst>
                                    <p:cond delay="500"/>
                                  </p:stCondLst>
                                  <p:childTnLst>
                                    <p:set>
                                      <p:cBhvr>
                                        <p:cTn id="31" dur="1" fill="hold">
                                          <p:stCondLst>
                                            <p:cond delay="0"/>
                                          </p:stCondLst>
                                        </p:cTn>
                                        <p:tgtEl>
                                          <p:spTgt spid="117768"/>
                                        </p:tgtEl>
                                        <p:attrNameLst>
                                          <p:attrName>style.visibility</p:attrName>
                                        </p:attrNameLst>
                                      </p:cBhvr>
                                      <p:to>
                                        <p:strVal val="visible"/>
                                      </p:to>
                                    </p:set>
                                  </p:childTnLst>
                                </p:cTn>
                              </p:par>
                            </p:childTnLst>
                          </p:cTn>
                        </p:par>
                      </p:childTnLst>
                    </p:cTn>
                  </p:par>
                  <p:par>
                    <p:cTn id="32" fill="hold" nodeType="clickPar">
                      <p:stCondLst>
                        <p:cond delay="indefinite"/>
                      </p:stCondLst>
                      <p:childTnLst>
                        <p:par>
                          <p:cTn id="33" fill="hold" nodeType="withGroup">
                            <p:stCondLst>
                              <p:cond delay="0"/>
                            </p:stCondLst>
                            <p:childTnLst>
                              <p:par>
                                <p:cTn id="34" presetID="3" presetClass="entr" presetSubtype="10" fill="hold" nodeType="clickEffect">
                                  <p:stCondLst>
                                    <p:cond delay="0"/>
                                  </p:stCondLst>
                                  <p:childTnLst>
                                    <p:set>
                                      <p:cBhvr>
                                        <p:cTn id="35" dur="1" fill="hold">
                                          <p:stCondLst>
                                            <p:cond delay="0"/>
                                          </p:stCondLst>
                                        </p:cTn>
                                        <p:tgtEl>
                                          <p:spTgt spid="8"/>
                                        </p:tgtEl>
                                        <p:attrNameLst>
                                          <p:attrName>style.visibility</p:attrName>
                                        </p:attrNameLst>
                                      </p:cBhvr>
                                      <p:to>
                                        <p:strVal val="visible"/>
                                      </p:to>
                                    </p:set>
                                    <p:animEffect transition="in" filter="blinds(horizontal)">
                                      <p:cBhvr>
                                        <p:cTn id="36" dur="500"/>
                                        <p:tgtEl>
                                          <p:spTgt spid="8"/>
                                        </p:tgtEl>
                                      </p:cBhvr>
                                    </p:animEffect>
                                  </p:childTnLst>
                                </p:cTn>
                              </p:par>
                            </p:childTnLst>
                          </p:cTn>
                        </p:par>
                        <p:par>
                          <p:cTn id="37" fill="hold" nodeType="afterGroup">
                            <p:stCondLst>
                              <p:cond delay="500"/>
                            </p:stCondLst>
                            <p:childTnLst>
                              <p:par>
                                <p:cTn id="38" presetID="9" presetClass="entr" presetSubtype="0" fill="hold" nodeType="afterEffect">
                                  <p:stCondLst>
                                    <p:cond delay="0"/>
                                  </p:stCondLst>
                                  <p:childTnLst>
                                    <p:set>
                                      <p:cBhvr>
                                        <p:cTn id="39" dur="1" fill="hold">
                                          <p:stCondLst>
                                            <p:cond delay="0"/>
                                          </p:stCondLst>
                                        </p:cTn>
                                        <p:tgtEl>
                                          <p:spTgt spid="6"/>
                                        </p:tgtEl>
                                        <p:attrNameLst>
                                          <p:attrName>style.visibility</p:attrName>
                                        </p:attrNameLst>
                                      </p:cBhvr>
                                      <p:to>
                                        <p:strVal val="visible"/>
                                      </p:to>
                                    </p:set>
                                    <p:animEffect transition="in" filter="dissolve">
                                      <p:cBhvr>
                                        <p:cTn id="40" dur="500"/>
                                        <p:tgtEl>
                                          <p:spTgt spid="6"/>
                                        </p:tgtEl>
                                      </p:cBhvr>
                                    </p:animEffect>
                                  </p:childTnLst>
                                  <p:subTnLst>
                                    <p:set>
                                      <p:cBhvr override="childStyle">
                                        <p:cTn dur="1" fill="hold" display="0" masterRel="nextClick" afterEffect="1"/>
                                        <p:tgtEl>
                                          <p:spTgt spid="6"/>
                                        </p:tgtEl>
                                        <p:attrNameLst>
                                          <p:attrName>style.visibility</p:attrName>
                                        </p:attrNameLst>
                                      </p:cBhvr>
                                      <p:to>
                                        <p:strVal val="hidden"/>
                                      </p:to>
                                    </p:set>
                                  </p:subTnLst>
                                </p:cTn>
                              </p:par>
                            </p:childTnLst>
                          </p:cTn>
                        </p:par>
                      </p:childTnLst>
                    </p:cTn>
                  </p:par>
                  <p:par>
                    <p:cTn id="41" fill="hold" nodeType="clickPar">
                      <p:stCondLst>
                        <p:cond delay="indefinite"/>
                      </p:stCondLst>
                      <p:childTnLst>
                        <p:par>
                          <p:cTn id="42" fill="hold" nodeType="withGroup">
                            <p:stCondLst>
                              <p:cond delay="0"/>
                            </p:stCondLst>
                            <p:childTnLst>
                              <p:par>
                                <p:cTn id="43" presetID="12" presetClass="entr" presetSubtype="1" fill="hold" nodeType="clickEffect">
                                  <p:stCondLst>
                                    <p:cond delay="0"/>
                                  </p:stCondLst>
                                  <p:childTnLst>
                                    <p:set>
                                      <p:cBhvr>
                                        <p:cTn id="44" dur="1" fill="hold">
                                          <p:stCondLst>
                                            <p:cond delay="0"/>
                                          </p:stCondLst>
                                        </p:cTn>
                                        <p:tgtEl>
                                          <p:spTgt spid="3"/>
                                        </p:tgtEl>
                                        <p:attrNameLst>
                                          <p:attrName>style.visibility</p:attrName>
                                        </p:attrNameLst>
                                      </p:cBhvr>
                                      <p:to>
                                        <p:strVal val="visible"/>
                                      </p:to>
                                    </p:set>
                                    <p:animEffect transition="in" filter="slide(fromTop)">
                                      <p:cBhvr>
                                        <p:cTn id="45" dur="500"/>
                                        <p:tgtEl>
                                          <p:spTgt spid="3"/>
                                        </p:tgtEl>
                                      </p:cBhvr>
                                    </p:animEffect>
                                  </p:childTnLst>
                                </p:cTn>
                              </p:par>
                            </p:childTnLst>
                          </p:cTn>
                        </p:par>
                        <p:par>
                          <p:cTn id="46" fill="hold" nodeType="afterGroup">
                            <p:stCondLst>
                              <p:cond delay="500"/>
                            </p:stCondLst>
                            <p:childTnLst>
                              <p:par>
                                <p:cTn id="47" presetID="12" presetClass="entr" presetSubtype="8" fill="hold" nodeType="afterEffect">
                                  <p:stCondLst>
                                    <p:cond delay="0"/>
                                  </p:stCondLst>
                                  <p:childTnLst>
                                    <p:set>
                                      <p:cBhvr>
                                        <p:cTn id="48" dur="1" fill="hold">
                                          <p:stCondLst>
                                            <p:cond delay="0"/>
                                          </p:stCondLst>
                                        </p:cTn>
                                        <p:tgtEl>
                                          <p:spTgt spid="117776"/>
                                        </p:tgtEl>
                                        <p:attrNameLst>
                                          <p:attrName>style.visibility</p:attrName>
                                        </p:attrNameLst>
                                      </p:cBhvr>
                                      <p:to>
                                        <p:strVal val="visible"/>
                                      </p:to>
                                    </p:set>
                                    <p:animEffect transition="in" filter="slide(fromLeft)">
                                      <p:cBhvr>
                                        <p:cTn id="49" dur="500"/>
                                        <p:tgtEl>
                                          <p:spTgt spid="117776"/>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9" presetClass="entr" presetSubtype="0" fill="hold" nodeType="clickEffect">
                                  <p:stCondLst>
                                    <p:cond delay="0"/>
                                  </p:stCondLst>
                                  <p:childTnLst>
                                    <p:set>
                                      <p:cBhvr>
                                        <p:cTn id="53" dur="1" fill="hold">
                                          <p:stCondLst>
                                            <p:cond delay="0"/>
                                          </p:stCondLst>
                                        </p:cTn>
                                        <p:tgtEl>
                                          <p:spTgt spid="117781"/>
                                        </p:tgtEl>
                                        <p:attrNameLst>
                                          <p:attrName>style.visibility</p:attrName>
                                        </p:attrNameLst>
                                      </p:cBhvr>
                                      <p:to>
                                        <p:strVal val="visible"/>
                                      </p:to>
                                    </p:set>
                                    <p:animEffect transition="in" filter="dissolve">
                                      <p:cBhvr>
                                        <p:cTn id="54" dur="500"/>
                                        <p:tgtEl>
                                          <p:spTgt spid="117781"/>
                                        </p:tgtEl>
                                      </p:cBhvr>
                                    </p:animEffect>
                                  </p:childTnLst>
                                </p:cTn>
                              </p:par>
                            </p:childTnLst>
                          </p:cTn>
                        </p:par>
                        <p:par>
                          <p:cTn id="55" fill="hold" nodeType="afterGroup">
                            <p:stCondLst>
                              <p:cond delay="500"/>
                            </p:stCondLst>
                            <p:childTnLst>
                              <p:par>
                                <p:cTn id="56" presetID="18" presetClass="entr" presetSubtype="3" fill="hold" grpId="0" nodeType="afterEffect">
                                  <p:stCondLst>
                                    <p:cond delay="0"/>
                                  </p:stCondLst>
                                  <p:childTnLst>
                                    <p:set>
                                      <p:cBhvr>
                                        <p:cTn id="57" dur="1" fill="hold">
                                          <p:stCondLst>
                                            <p:cond delay="0"/>
                                          </p:stCondLst>
                                        </p:cTn>
                                        <p:tgtEl>
                                          <p:spTgt spid="117784"/>
                                        </p:tgtEl>
                                        <p:attrNameLst>
                                          <p:attrName>style.visibility</p:attrName>
                                        </p:attrNameLst>
                                      </p:cBhvr>
                                      <p:to>
                                        <p:strVal val="visible"/>
                                      </p:to>
                                    </p:set>
                                    <p:animEffect transition="in" filter="strips(upRight)">
                                      <p:cBhvr>
                                        <p:cTn id="58" dur="500"/>
                                        <p:tgtEl>
                                          <p:spTgt spid="117784"/>
                                        </p:tgtEl>
                                      </p:cBhvr>
                                    </p:animEffect>
                                  </p:childTnLst>
                                </p:cTn>
                              </p:par>
                            </p:childTnLst>
                          </p:cTn>
                        </p:par>
                        <p:par>
                          <p:cTn id="59" fill="hold" nodeType="afterGroup">
                            <p:stCondLst>
                              <p:cond delay="1000"/>
                            </p:stCondLst>
                            <p:childTnLst>
                              <p:par>
                                <p:cTn id="60" presetID="1" presetClass="entr" presetSubtype="0" fill="hold" grpId="0" nodeType="afterEffect">
                                  <p:stCondLst>
                                    <p:cond delay="500"/>
                                  </p:stCondLst>
                                  <p:childTnLst>
                                    <p:set>
                                      <p:cBhvr>
                                        <p:cTn id="61" dur="1" fill="hold">
                                          <p:stCondLst>
                                            <p:cond delay="0"/>
                                          </p:stCondLst>
                                        </p:cTn>
                                        <p:tgtEl>
                                          <p:spTgt spid="117819"/>
                                        </p:tgtEl>
                                        <p:attrNameLst>
                                          <p:attrName>style.visibility</p:attrName>
                                        </p:attrNameLst>
                                      </p:cBhvr>
                                      <p:to>
                                        <p:strVal val="visible"/>
                                      </p:to>
                                    </p:se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8" fill="hold" nodeType="clickEffect">
                                  <p:stCondLst>
                                    <p:cond delay="0"/>
                                  </p:stCondLst>
                                  <p:childTnLst>
                                    <p:set>
                                      <p:cBhvr>
                                        <p:cTn id="65" dur="1" fill="hold">
                                          <p:stCondLst>
                                            <p:cond delay="0"/>
                                          </p:stCondLst>
                                        </p:cTn>
                                        <p:tgtEl>
                                          <p:spTgt spid="19"/>
                                        </p:tgtEl>
                                        <p:attrNameLst>
                                          <p:attrName>style.visibility</p:attrName>
                                        </p:attrNameLst>
                                      </p:cBhvr>
                                      <p:to>
                                        <p:strVal val="visible"/>
                                      </p:to>
                                    </p:set>
                                    <p:animEffect transition="in" filter="wipe(left)">
                                      <p:cBhvr>
                                        <p:cTn id="66" dur="1000"/>
                                        <p:tgtEl>
                                          <p:spTgt spid="19"/>
                                        </p:tgtEl>
                                      </p:cBhvr>
                                    </p:animEffect>
                                  </p:childTnLst>
                                </p:cTn>
                              </p:par>
                            </p:childTnLst>
                          </p:cTn>
                        </p:par>
                        <p:par>
                          <p:cTn id="67" fill="hold" nodeType="afterGroup">
                            <p:stCondLst>
                              <p:cond delay="1000"/>
                            </p:stCondLst>
                            <p:childTnLst>
                              <p:par>
                                <p:cTn id="68" presetID="1" presetClass="entr" presetSubtype="0" fill="hold" nodeType="afterEffect">
                                  <p:stCondLst>
                                    <p:cond delay="0"/>
                                  </p:stCondLst>
                                  <p:childTnLst>
                                    <p:set>
                                      <p:cBhvr>
                                        <p:cTn id="69" dur="1" fill="hold">
                                          <p:stCondLst>
                                            <p:cond delay="0"/>
                                          </p:stCondLst>
                                        </p:cTn>
                                        <p:tgtEl>
                                          <p:spTgt spid="7"/>
                                        </p:tgtEl>
                                        <p:attrNameLst>
                                          <p:attrName>style.visibility</p:attrName>
                                        </p:attrNameLst>
                                      </p:cBhvr>
                                      <p:to>
                                        <p:strVal val="visible"/>
                                      </p:to>
                                    </p:set>
                                  </p:childTnLst>
                                </p:cTn>
                              </p:par>
                            </p:childTnLst>
                          </p:cTn>
                        </p:par>
                      </p:childTnLst>
                    </p:cTn>
                  </p:par>
                  <p:par>
                    <p:cTn id="70" fill="hold" nodeType="clickPar">
                      <p:stCondLst>
                        <p:cond delay="indefinite"/>
                      </p:stCondLst>
                      <p:childTnLst>
                        <p:par>
                          <p:cTn id="71" fill="hold" nodeType="withGroup">
                            <p:stCondLst>
                              <p:cond delay="0"/>
                            </p:stCondLst>
                            <p:childTnLst>
                              <p:par>
                                <p:cTn id="72" presetID="22" presetClass="entr" presetSubtype="8" fill="hold" nodeType="clickEffect">
                                  <p:stCondLst>
                                    <p:cond delay="0"/>
                                  </p:stCondLst>
                                  <p:childTnLst>
                                    <p:set>
                                      <p:cBhvr>
                                        <p:cTn id="73" dur="1" fill="hold">
                                          <p:stCondLst>
                                            <p:cond delay="0"/>
                                          </p:stCondLst>
                                        </p:cTn>
                                        <p:tgtEl>
                                          <p:spTgt spid="117787"/>
                                        </p:tgtEl>
                                        <p:attrNameLst>
                                          <p:attrName>style.visibility</p:attrName>
                                        </p:attrNameLst>
                                      </p:cBhvr>
                                      <p:to>
                                        <p:strVal val="visible"/>
                                      </p:to>
                                    </p:set>
                                    <p:animEffect transition="in" filter="wipe(left)">
                                      <p:cBhvr>
                                        <p:cTn id="74" dur="500"/>
                                        <p:tgtEl>
                                          <p:spTgt spid="117787"/>
                                        </p:tgtEl>
                                      </p:cBhvr>
                                    </p:animEffect>
                                  </p:childTnLst>
                                </p:cTn>
                              </p:par>
                            </p:childTnLst>
                          </p:cTn>
                        </p:par>
                        <p:par>
                          <p:cTn id="75" fill="hold" nodeType="afterGroup">
                            <p:stCondLst>
                              <p:cond delay="500"/>
                            </p:stCondLst>
                            <p:childTnLst>
                              <p:par>
                                <p:cTn id="76" presetID="12" presetClass="entr" presetSubtype="1" fill="hold" nodeType="afterEffect">
                                  <p:stCondLst>
                                    <p:cond delay="0"/>
                                  </p:stCondLst>
                                  <p:childTnLst>
                                    <p:set>
                                      <p:cBhvr>
                                        <p:cTn id="77" dur="1" fill="hold">
                                          <p:stCondLst>
                                            <p:cond delay="0"/>
                                          </p:stCondLst>
                                        </p:cTn>
                                        <p:tgtEl>
                                          <p:spTgt spid="11"/>
                                        </p:tgtEl>
                                        <p:attrNameLst>
                                          <p:attrName>style.visibility</p:attrName>
                                        </p:attrNameLst>
                                      </p:cBhvr>
                                      <p:to>
                                        <p:strVal val="visible"/>
                                      </p:to>
                                    </p:set>
                                    <p:animEffect transition="in" filter="slide(fromTop)">
                                      <p:cBhvr>
                                        <p:cTn id="78" dur="500"/>
                                        <p:tgtEl>
                                          <p:spTgt spid="11"/>
                                        </p:tgtEl>
                                      </p:cBhvr>
                                    </p:animEffect>
                                  </p:childTnLst>
                                </p:cTn>
                              </p:par>
                            </p:childTnLst>
                          </p:cTn>
                        </p:par>
                        <p:par>
                          <p:cTn id="79" fill="hold" nodeType="afterGroup">
                            <p:stCondLst>
                              <p:cond delay="1000"/>
                            </p:stCondLst>
                            <p:childTnLst>
                              <p:par>
                                <p:cTn id="80" presetID="22" presetClass="entr" presetSubtype="8" fill="hold" nodeType="afterEffect">
                                  <p:stCondLst>
                                    <p:cond delay="0"/>
                                  </p:stCondLst>
                                  <p:childTnLst>
                                    <p:set>
                                      <p:cBhvr>
                                        <p:cTn id="81" dur="1" fill="hold">
                                          <p:stCondLst>
                                            <p:cond delay="0"/>
                                          </p:stCondLst>
                                        </p:cTn>
                                        <p:tgtEl>
                                          <p:spTgt spid="73757"/>
                                        </p:tgtEl>
                                        <p:attrNameLst>
                                          <p:attrName>style.visibility</p:attrName>
                                        </p:attrNameLst>
                                      </p:cBhvr>
                                      <p:to>
                                        <p:strVal val="visible"/>
                                      </p:to>
                                    </p:set>
                                    <p:animEffect transition="in" filter="wipe(left)">
                                      <p:cBhvr>
                                        <p:cTn id="82" dur="500"/>
                                        <p:tgtEl>
                                          <p:spTgt spid="73757"/>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9" presetClass="entr" presetSubtype="0" fill="hold" nodeType="clickEffect">
                                  <p:stCondLst>
                                    <p:cond delay="0"/>
                                  </p:stCondLst>
                                  <p:childTnLst>
                                    <p:set>
                                      <p:cBhvr>
                                        <p:cTn id="86" dur="1" fill="hold">
                                          <p:stCondLst>
                                            <p:cond delay="0"/>
                                          </p:stCondLst>
                                        </p:cTn>
                                        <p:tgtEl>
                                          <p:spTgt spid="117801"/>
                                        </p:tgtEl>
                                        <p:attrNameLst>
                                          <p:attrName>style.visibility</p:attrName>
                                        </p:attrNameLst>
                                      </p:cBhvr>
                                      <p:to>
                                        <p:strVal val="visible"/>
                                      </p:to>
                                    </p:set>
                                    <p:animEffect transition="in" filter="dissolve">
                                      <p:cBhvr>
                                        <p:cTn id="87" dur="500"/>
                                        <p:tgtEl>
                                          <p:spTgt spid="117801"/>
                                        </p:tgtEl>
                                      </p:cBhvr>
                                    </p:animEffect>
                                  </p:childTnLst>
                                </p:cTn>
                              </p:par>
                            </p:childTnLst>
                          </p:cTn>
                        </p:par>
                        <p:par>
                          <p:cTn id="88" fill="hold" nodeType="afterGroup">
                            <p:stCondLst>
                              <p:cond delay="500"/>
                            </p:stCondLst>
                            <p:childTnLst>
                              <p:par>
                                <p:cTn id="89" presetID="18" presetClass="entr" presetSubtype="3" fill="hold" grpId="0" nodeType="afterEffect">
                                  <p:stCondLst>
                                    <p:cond delay="0"/>
                                  </p:stCondLst>
                                  <p:childTnLst>
                                    <p:set>
                                      <p:cBhvr>
                                        <p:cTn id="90" dur="1" fill="hold">
                                          <p:stCondLst>
                                            <p:cond delay="0"/>
                                          </p:stCondLst>
                                        </p:cTn>
                                        <p:tgtEl>
                                          <p:spTgt spid="117850"/>
                                        </p:tgtEl>
                                        <p:attrNameLst>
                                          <p:attrName>style.visibility</p:attrName>
                                        </p:attrNameLst>
                                      </p:cBhvr>
                                      <p:to>
                                        <p:strVal val="visible"/>
                                      </p:to>
                                    </p:set>
                                    <p:animEffect transition="in" filter="strips(upRight)">
                                      <p:cBhvr>
                                        <p:cTn id="91" dur="500"/>
                                        <p:tgtEl>
                                          <p:spTgt spid="117850"/>
                                        </p:tgtEl>
                                      </p:cBhvr>
                                    </p:animEffect>
                                  </p:childTnLst>
                                </p:cTn>
                              </p:par>
                            </p:childTnLst>
                          </p:cTn>
                        </p:par>
                        <p:par>
                          <p:cTn id="92" fill="hold" nodeType="afterGroup">
                            <p:stCondLst>
                              <p:cond delay="1000"/>
                            </p:stCondLst>
                            <p:childTnLst>
                              <p:par>
                                <p:cTn id="93" presetID="1" presetClass="entr" presetSubtype="0" fill="hold" grpId="0" nodeType="afterEffect">
                                  <p:stCondLst>
                                    <p:cond delay="500"/>
                                  </p:stCondLst>
                                  <p:childTnLst>
                                    <p:set>
                                      <p:cBhvr>
                                        <p:cTn id="94" dur="1" fill="hold">
                                          <p:stCondLst>
                                            <p:cond delay="0"/>
                                          </p:stCondLst>
                                        </p:cTn>
                                        <p:tgtEl>
                                          <p:spTgt spid="117818"/>
                                        </p:tgtEl>
                                        <p:attrNameLst>
                                          <p:attrName>style.visibility</p:attrName>
                                        </p:attrNameLst>
                                      </p:cBhvr>
                                      <p:to>
                                        <p:strVal val="visible"/>
                                      </p:to>
                                    </p:set>
                                  </p:childTnLst>
                                </p:cTn>
                              </p:par>
                            </p:childTnLst>
                          </p:cTn>
                        </p:par>
                      </p:childTnLst>
                    </p:cTn>
                  </p:par>
                  <p:par>
                    <p:cTn id="95" fill="hold" nodeType="clickPar">
                      <p:stCondLst>
                        <p:cond delay="indefinite"/>
                      </p:stCondLst>
                      <p:childTnLst>
                        <p:par>
                          <p:cTn id="96" fill="hold" nodeType="withGroup">
                            <p:stCondLst>
                              <p:cond delay="0"/>
                            </p:stCondLst>
                            <p:childTnLst>
                              <p:par>
                                <p:cTn id="97" presetID="22" presetClass="entr" presetSubtype="8" fill="hold" nodeType="clickEffect">
                                  <p:stCondLst>
                                    <p:cond delay="0"/>
                                  </p:stCondLst>
                                  <p:childTnLst>
                                    <p:set>
                                      <p:cBhvr>
                                        <p:cTn id="98" dur="1" fill="hold">
                                          <p:stCondLst>
                                            <p:cond delay="0"/>
                                          </p:stCondLst>
                                        </p:cTn>
                                        <p:tgtEl>
                                          <p:spTgt spid="16"/>
                                        </p:tgtEl>
                                        <p:attrNameLst>
                                          <p:attrName>style.visibility</p:attrName>
                                        </p:attrNameLst>
                                      </p:cBhvr>
                                      <p:to>
                                        <p:strVal val="visible"/>
                                      </p:to>
                                    </p:set>
                                    <p:animEffect transition="in" filter="wipe(left)">
                                      <p:cBhvr>
                                        <p:cTn id="99" dur="1000"/>
                                        <p:tgtEl>
                                          <p:spTgt spid="16"/>
                                        </p:tgtEl>
                                      </p:cBhvr>
                                    </p:animEffect>
                                  </p:childTnLst>
                                </p:cTn>
                              </p:par>
                            </p:childTnLst>
                          </p:cTn>
                        </p:par>
                        <p:par>
                          <p:cTn id="100" fill="hold" nodeType="afterGroup">
                            <p:stCondLst>
                              <p:cond delay="1000"/>
                            </p:stCondLst>
                            <p:childTnLst>
                              <p:par>
                                <p:cTn id="101" presetID="22" presetClass="entr" presetSubtype="8" fill="hold" nodeType="afterEffect">
                                  <p:stCondLst>
                                    <p:cond delay="0"/>
                                  </p:stCondLst>
                                  <p:childTnLst>
                                    <p:set>
                                      <p:cBhvr>
                                        <p:cTn id="102" dur="1" fill="hold">
                                          <p:stCondLst>
                                            <p:cond delay="0"/>
                                          </p:stCondLst>
                                        </p:cTn>
                                        <p:tgtEl>
                                          <p:spTgt spid="2"/>
                                        </p:tgtEl>
                                        <p:attrNameLst>
                                          <p:attrName>style.visibility</p:attrName>
                                        </p:attrNameLst>
                                      </p:cBhvr>
                                      <p:to>
                                        <p:strVal val="visible"/>
                                      </p:to>
                                    </p:set>
                                    <p:animEffect transition="in" filter="wipe(left)">
                                      <p:cBhvr>
                                        <p:cTn id="103" dur="500"/>
                                        <p:tgtEl>
                                          <p:spTgt spid="2"/>
                                        </p:tgtEl>
                                      </p:cBhvr>
                                    </p:animEffect>
                                  </p:childTnLst>
                                </p:cTn>
                              </p:par>
                            </p:childTnLst>
                          </p:cTn>
                        </p:par>
                        <p:par>
                          <p:cTn id="104" fill="hold" nodeType="afterGroup">
                            <p:stCondLst>
                              <p:cond delay="1500"/>
                            </p:stCondLst>
                            <p:childTnLst>
                              <p:par>
                                <p:cTn id="105" presetID="22" presetClass="entr" presetSubtype="4" fill="hold" nodeType="afterEffect">
                                  <p:stCondLst>
                                    <p:cond delay="0"/>
                                  </p:stCondLst>
                                  <p:childTnLst>
                                    <p:set>
                                      <p:cBhvr>
                                        <p:cTn id="106" dur="1" fill="hold">
                                          <p:stCondLst>
                                            <p:cond delay="0"/>
                                          </p:stCondLst>
                                        </p:cTn>
                                        <p:tgtEl>
                                          <p:spTgt spid="117786"/>
                                        </p:tgtEl>
                                        <p:attrNameLst>
                                          <p:attrName>style.visibility</p:attrName>
                                        </p:attrNameLst>
                                      </p:cBhvr>
                                      <p:to>
                                        <p:strVal val="visible"/>
                                      </p:to>
                                    </p:set>
                                    <p:animEffect transition="in" filter="wipe(down)">
                                      <p:cBhvr>
                                        <p:cTn id="107" dur="500"/>
                                        <p:tgtEl>
                                          <p:spTgt spid="117786"/>
                                        </p:tgtEl>
                                      </p:cBhvr>
                                    </p:animEffec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12" presetClass="entr" presetSubtype="4" fill="hold" nodeType="clickEffect">
                                  <p:stCondLst>
                                    <p:cond delay="0"/>
                                  </p:stCondLst>
                                  <p:childTnLst>
                                    <p:set>
                                      <p:cBhvr>
                                        <p:cTn id="111" dur="1" fill="hold">
                                          <p:stCondLst>
                                            <p:cond delay="0"/>
                                          </p:stCondLst>
                                        </p:cTn>
                                        <p:tgtEl>
                                          <p:spTgt spid="14"/>
                                        </p:tgtEl>
                                        <p:attrNameLst>
                                          <p:attrName>style.visibility</p:attrName>
                                        </p:attrNameLst>
                                      </p:cBhvr>
                                      <p:to>
                                        <p:strVal val="visible"/>
                                      </p:to>
                                    </p:set>
                                    <p:animEffect transition="in" filter="slide(fromBottom)">
                                      <p:cBhvr>
                                        <p:cTn id="112" dur="500"/>
                                        <p:tgtEl>
                                          <p:spTgt spid="14"/>
                                        </p:tgtEl>
                                      </p:cBhvr>
                                    </p:animEffect>
                                  </p:childTnLst>
                                </p:cTn>
                              </p:par>
                              <p:par>
                                <p:cTn id="113" presetID="12" presetClass="exit" presetSubtype="2" fill="hold" nodeType="withEffect">
                                  <p:stCondLst>
                                    <p:cond delay="0"/>
                                  </p:stCondLst>
                                  <p:childTnLst>
                                    <p:animEffect transition="out" filter="slide(fromRight)">
                                      <p:cBhvr>
                                        <p:cTn id="114" dur="500"/>
                                        <p:tgtEl>
                                          <p:spTgt spid="117786"/>
                                        </p:tgtEl>
                                      </p:cBhvr>
                                    </p:animEffect>
                                    <p:set>
                                      <p:cBhvr>
                                        <p:cTn id="115" dur="1" fill="hold">
                                          <p:stCondLst>
                                            <p:cond delay="499"/>
                                          </p:stCondLst>
                                        </p:cTn>
                                        <p:tgtEl>
                                          <p:spTgt spid="117786"/>
                                        </p:tgtEl>
                                        <p:attrNameLst>
                                          <p:attrName>style.visibility</p:attrName>
                                        </p:attrNameLst>
                                      </p:cBhvr>
                                      <p:to>
                                        <p:strVal val="hidden"/>
                                      </p:to>
                                    </p:set>
                                  </p:childTnLst>
                                </p:cTn>
                              </p:par>
                            </p:childTnLst>
                          </p:cTn>
                        </p:par>
                        <p:par>
                          <p:cTn id="116" fill="hold" nodeType="afterGroup">
                            <p:stCondLst>
                              <p:cond delay="500"/>
                            </p:stCondLst>
                            <p:childTnLst>
                              <p:par>
                                <p:cTn id="117" presetID="9" presetClass="entr" presetSubtype="0" fill="hold" grpId="0" nodeType="afterEffect">
                                  <p:stCondLst>
                                    <p:cond delay="0"/>
                                  </p:stCondLst>
                                  <p:childTnLst>
                                    <p:set>
                                      <p:cBhvr>
                                        <p:cTn id="118" dur="1" fill="hold">
                                          <p:stCondLst>
                                            <p:cond delay="0"/>
                                          </p:stCondLst>
                                        </p:cTn>
                                        <p:tgtEl>
                                          <p:spTgt spid="117829"/>
                                        </p:tgtEl>
                                        <p:attrNameLst>
                                          <p:attrName>style.visibility</p:attrName>
                                        </p:attrNameLst>
                                      </p:cBhvr>
                                      <p:to>
                                        <p:strVal val="visible"/>
                                      </p:to>
                                    </p:set>
                                    <p:animEffect transition="in" filter="dissolve">
                                      <p:cBhvr>
                                        <p:cTn id="119" dur="500"/>
                                        <p:tgtEl>
                                          <p:spTgt spid="117829"/>
                                        </p:tgtEl>
                                      </p:cBhvr>
                                    </p:animEffect>
                                  </p:childTnLst>
                                </p:cTn>
                              </p:par>
                            </p:childTnLst>
                          </p:cTn>
                        </p:par>
                      </p:childTnLst>
                    </p:cTn>
                  </p:par>
                  <p:par>
                    <p:cTn id="120" fill="hold" nodeType="clickPar">
                      <p:stCondLst>
                        <p:cond delay="indefinite"/>
                      </p:stCondLst>
                      <p:childTnLst>
                        <p:par>
                          <p:cTn id="121" fill="hold" nodeType="withGroup">
                            <p:stCondLst>
                              <p:cond delay="0"/>
                            </p:stCondLst>
                            <p:childTnLst>
                              <p:par>
                                <p:cTn id="122" presetID="9" presetClass="entr" presetSubtype="0" fill="hold" nodeType="clickEffect">
                                  <p:stCondLst>
                                    <p:cond delay="0"/>
                                  </p:stCondLst>
                                  <p:childTnLst>
                                    <p:set>
                                      <p:cBhvr>
                                        <p:cTn id="123" dur="1" fill="hold">
                                          <p:stCondLst>
                                            <p:cond delay="0"/>
                                          </p:stCondLst>
                                        </p:cTn>
                                        <p:tgtEl>
                                          <p:spTgt spid="117802"/>
                                        </p:tgtEl>
                                        <p:attrNameLst>
                                          <p:attrName>style.visibility</p:attrName>
                                        </p:attrNameLst>
                                      </p:cBhvr>
                                      <p:to>
                                        <p:strVal val="visible"/>
                                      </p:to>
                                    </p:set>
                                    <p:animEffect transition="in" filter="dissolve">
                                      <p:cBhvr>
                                        <p:cTn id="124" dur="500"/>
                                        <p:tgtEl>
                                          <p:spTgt spid="117802"/>
                                        </p:tgtEl>
                                      </p:cBhvr>
                                    </p:animEffect>
                                  </p:childTnLst>
                                </p:cTn>
                              </p:par>
                            </p:childTnLst>
                          </p:cTn>
                        </p:par>
                        <p:par>
                          <p:cTn id="125" fill="hold" nodeType="afterGroup">
                            <p:stCondLst>
                              <p:cond delay="500"/>
                            </p:stCondLst>
                            <p:childTnLst>
                              <p:par>
                                <p:cTn id="126" presetID="18" presetClass="entr" presetSubtype="3" fill="hold" grpId="0" nodeType="afterEffect">
                                  <p:stCondLst>
                                    <p:cond delay="0"/>
                                  </p:stCondLst>
                                  <p:childTnLst>
                                    <p:set>
                                      <p:cBhvr>
                                        <p:cTn id="127" dur="1" fill="hold">
                                          <p:stCondLst>
                                            <p:cond delay="0"/>
                                          </p:stCondLst>
                                        </p:cTn>
                                        <p:tgtEl>
                                          <p:spTgt spid="117785"/>
                                        </p:tgtEl>
                                        <p:attrNameLst>
                                          <p:attrName>style.visibility</p:attrName>
                                        </p:attrNameLst>
                                      </p:cBhvr>
                                      <p:to>
                                        <p:strVal val="visible"/>
                                      </p:to>
                                    </p:set>
                                    <p:animEffect transition="in" filter="strips(upRight)">
                                      <p:cBhvr>
                                        <p:cTn id="128" dur="500"/>
                                        <p:tgtEl>
                                          <p:spTgt spid="117785"/>
                                        </p:tgtEl>
                                      </p:cBhvr>
                                    </p:animEffect>
                                  </p:childTnLst>
                                </p:cTn>
                              </p:par>
                            </p:childTnLst>
                          </p:cTn>
                        </p:par>
                      </p:childTnLst>
                    </p:cTn>
                  </p:par>
                  <p:par>
                    <p:cTn id="129" fill="hold" nodeType="clickPar">
                      <p:stCondLst>
                        <p:cond delay="indefinite"/>
                      </p:stCondLst>
                      <p:childTnLst>
                        <p:par>
                          <p:cTn id="130" fill="hold" nodeType="withGroup">
                            <p:stCondLst>
                              <p:cond delay="0"/>
                            </p:stCondLst>
                            <p:childTnLst>
                              <p:par>
                                <p:cTn id="131" presetID="22" presetClass="entr" presetSubtype="8" fill="hold" grpId="0" nodeType="clickEffect">
                                  <p:stCondLst>
                                    <p:cond delay="0"/>
                                  </p:stCondLst>
                                  <p:childTnLst>
                                    <p:set>
                                      <p:cBhvr>
                                        <p:cTn id="132" dur="1" fill="hold">
                                          <p:stCondLst>
                                            <p:cond delay="0"/>
                                          </p:stCondLst>
                                        </p:cTn>
                                        <p:tgtEl>
                                          <p:spTgt spid="117851"/>
                                        </p:tgtEl>
                                        <p:attrNameLst>
                                          <p:attrName>style.visibility</p:attrName>
                                        </p:attrNameLst>
                                      </p:cBhvr>
                                      <p:to>
                                        <p:strVal val="visible"/>
                                      </p:to>
                                    </p:set>
                                    <p:animEffect transition="in" filter="wipe(left)">
                                      <p:cBhvr>
                                        <p:cTn id="133" dur="500"/>
                                        <p:tgtEl>
                                          <p:spTgt spid="117851"/>
                                        </p:tgtEl>
                                      </p:cBhvr>
                                    </p:animEffect>
                                  </p:childTnLst>
                                </p:cTn>
                              </p:par>
                            </p:childTnLst>
                          </p:cTn>
                        </p:par>
                        <p:par>
                          <p:cTn id="134" fill="hold" nodeType="afterGroup">
                            <p:stCondLst>
                              <p:cond delay="500"/>
                            </p:stCondLst>
                            <p:childTnLst>
                              <p:par>
                                <p:cTn id="135" presetID="22" presetClass="entr" presetSubtype="8" fill="hold" nodeType="afterEffect">
                                  <p:stCondLst>
                                    <p:cond delay="0"/>
                                  </p:stCondLst>
                                  <p:childTnLst>
                                    <p:set>
                                      <p:cBhvr>
                                        <p:cTn id="136" dur="1" fill="hold">
                                          <p:stCondLst>
                                            <p:cond delay="0"/>
                                          </p:stCondLst>
                                        </p:cTn>
                                        <p:tgtEl>
                                          <p:spTgt spid="117783"/>
                                        </p:tgtEl>
                                        <p:attrNameLst>
                                          <p:attrName>style.visibility</p:attrName>
                                        </p:attrNameLst>
                                      </p:cBhvr>
                                      <p:to>
                                        <p:strVal val="visible"/>
                                      </p:to>
                                    </p:set>
                                    <p:animEffect transition="in" filter="wipe(left)">
                                      <p:cBhvr>
                                        <p:cTn id="137" dur="500"/>
                                        <p:tgtEl>
                                          <p:spTgt spid="117783"/>
                                        </p:tgtEl>
                                      </p:cBhvr>
                                    </p:animEffect>
                                  </p:childTnLst>
                                </p:cTn>
                              </p:par>
                            </p:childTnLst>
                          </p:cTn>
                        </p:par>
                      </p:childTnLst>
                    </p:cTn>
                  </p:par>
                  <p:par>
                    <p:cTn id="138" fill="hold" nodeType="clickPar">
                      <p:stCondLst>
                        <p:cond delay="indefinite"/>
                      </p:stCondLst>
                      <p:childTnLst>
                        <p:par>
                          <p:cTn id="139" fill="hold" nodeType="withGroup">
                            <p:stCondLst>
                              <p:cond delay="0"/>
                            </p:stCondLst>
                            <p:childTnLst>
                              <p:par>
                                <p:cTn id="140" presetID="4" presetClass="entr" presetSubtype="32" fill="hold" nodeType="clickEffect">
                                  <p:stCondLst>
                                    <p:cond delay="0"/>
                                  </p:stCondLst>
                                  <p:childTnLst>
                                    <p:set>
                                      <p:cBhvr>
                                        <p:cTn id="141" dur="1" fill="hold">
                                          <p:stCondLst>
                                            <p:cond delay="0"/>
                                          </p:stCondLst>
                                        </p:cTn>
                                        <p:tgtEl>
                                          <p:spTgt spid="117803"/>
                                        </p:tgtEl>
                                        <p:attrNameLst>
                                          <p:attrName>style.visibility</p:attrName>
                                        </p:attrNameLst>
                                      </p:cBhvr>
                                      <p:to>
                                        <p:strVal val="visible"/>
                                      </p:to>
                                    </p:set>
                                    <p:animEffect transition="in" filter="box(out)">
                                      <p:cBhvr>
                                        <p:cTn id="142" dur="500"/>
                                        <p:tgtEl>
                                          <p:spTgt spid="117803"/>
                                        </p:tgtEl>
                                      </p:cBhvr>
                                    </p:animEffect>
                                  </p:childTnLst>
                                  <p:subTnLst>
                                    <p:audio>
                                      <p:cMediaNode>
                                        <p:cTn display="0" masterRel="sameClick">
                                          <p:stCondLst>
                                            <p:cond evt="begin" delay="0">
                                              <p:tn val="140"/>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762" grpId="0"/>
      <p:bldP spid="117763" grpId="0"/>
      <p:bldP spid="117764" grpId="0" autoUpdateAnimBg="0"/>
      <p:bldP spid="117768" grpId="0" animBg="1"/>
      <p:bldP spid="117780" grpId="0"/>
      <p:bldP spid="117782" grpId="0" autoUpdateAnimBg="0"/>
      <p:bldP spid="117784" grpId="0" animBg="1" autoUpdateAnimBg="0"/>
      <p:bldP spid="117785" grpId="0" animBg="1" autoUpdateAnimBg="0"/>
      <p:bldP spid="117818" grpId="0" animBg="1"/>
      <p:bldP spid="117819" grpId="0" animBg="1"/>
      <p:bldP spid="117820" grpId="0" autoUpdateAnimBg="0"/>
      <p:bldP spid="117829" grpId="0" animBg="1"/>
      <p:bldP spid="117850" grpId="0" animBg="1" autoUpdateAnimBg="0"/>
      <p:bldP spid="117851"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a:extLst>
              <a:ext uri="{FF2B5EF4-FFF2-40B4-BE49-F238E27FC236}">
                <a16:creationId xmlns:a16="http://schemas.microsoft.com/office/drawing/2014/main" id="{5DB54654-6EF2-45CE-B43B-0DF27AEE8695}"/>
              </a:ext>
            </a:extLst>
          </p:cNvPr>
          <p:cNvSpPr>
            <a:spLocks noChangeArrowheads="1"/>
          </p:cNvSpPr>
          <p:nvPr/>
        </p:nvSpPr>
        <p:spPr bwMode="auto">
          <a:xfrm>
            <a:off x="357188" y="142875"/>
            <a:ext cx="4343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rgbClr val="FFFF00"/>
                </a:solidFill>
                <a:latin typeface="宋体" panose="02010600030101010101" pitchFamily="2" charset="-122"/>
              </a:rPr>
              <a:t>二</a:t>
            </a:r>
            <a:r>
              <a:rPr lang="en-US" altLang="zh-CN">
                <a:solidFill>
                  <a:srgbClr val="FFFF00"/>
                </a:solidFill>
                <a:latin typeface="宋体" panose="02010600030101010101" pitchFamily="2" charset="-122"/>
              </a:rPr>
              <a:t>.</a:t>
            </a:r>
            <a:r>
              <a:rPr lang="zh-CN" altLang="en-US">
                <a:solidFill>
                  <a:srgbClr val="FFFF00"/>
                </a:solidFill>
                <a:latin typeface="宋体" panose="02010600030101010101" pitchFamily="2" charset="-122"/>
              </a:rPr>
              <a:t>粒子数反转和光放大</a:t>
            </a:r>
            <a:r>
              <a:rPr lang="zh-CN" altLang="en-US">
                <a:solidFill>
                  <a:srgbClr val="FFCC66"/>
                </a:solidFill>
                <a:latin typeface="宋体" panose="02010600030101010101" pitchFamily="2" charset="-122"/>
              </a:rPr>
              <a:t> </a:t>
            </a:r>
          </a:p>
        </p:txBody>
      </p:sp>
      <p:sp>
        <p:nvSpPr>
          <p:cNvPr id="29699" name="Text Box 3">
            <a:extLst>
              <a:ext uri="{FF2B5EF4-FFF2-40B4-BE49-F238E27FC236}">
                <a16:creationId xmlns:a16="http://schemas.microsoft.com/office/drawing/2014/main" id="{B1CFEBE9-4B66-4ECA-B08F-68AF4877F649}"/>
              </a:ext>
            </a:extLst>
          </p:cNvPr>
          <p:cNvSpPr txBox="1">
            <a:spLocks noChangeArrowheads="1"/>
          </p:cNvSpPr>
          <p:nvPr/>
        </p:nvSpPr>
        <p:spPr bwMode="auto">
          <a:xfrm>
            <a:off x="539750" y="1187450"/>
            <a:ext cx="184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sz="2000" i="1">
              <a:solidFill>
                <a:srgbClr val="FFCC66"/>
              </a:solidFill>
            </a:endParaRPr>
          </a:p>
        </p:txBody>
      </p:sp>
      <p:sp>
        <p:nvSpPr>
          <p:cNvPr id="29700" name="Rectangle 4">
            <a:extLst>
              <a:ext uri="{FF2B5EF4-FFF2-40B4-BE49-F238E27FC236}">
                <a16:creationId xmlns:a16="http://schemas.microsoft.com/office/drawing/2014/main" id="{8366EAA5-E4E6-4701-9C91-8885C8E79758}"/>
              </a:ext>
            </a:extLst>
          </p:cNvPr>
          <p:cNvSpPr>
            <a:spLocks noChangeArrowheads="1"/>
          </p:cNvSpPr>
          <p:nvPr/>
        </p:nvSpPr>
        <p:spPr bwMode="auto">
          <a:xfrm>
            <a:off x="6559550" y="625475"/>
            <a:ext cx="1752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sz="2000">
              <a:solidFill>
                <a:srgbClr val="FFCC66"/>
              </a:solidFill>
              <a:ea typeface="仿宋_GB2312" pitchFamily="49" charset="-122"/>
            </a:endParaRPr>
          </a:p>
        </p:txBody>
      </p:sp>
      <p:sp>
        <p:nvSpPr>
          <p:cNvPr id="29701" name="Rectangle 5">
            <a:extLst>
              <a:ext uri="{FF2B5EF4-FFF2-40B4-BE49-F238E27FC236}">
                <a16:creationId xmlns:a16="http://schemas.microsoft.com/office/drawing/2014/main" id="{EDBE7042-D172-4BE5-A5BB-75FAF4ABD44B}"/>
              </a:ext>
            </a:extLst>
          </p:cNvPr>
          <p:cNvSpPr>
            <a:spLocks noChangeArrowheads="1"/>
          </p:cNvSpPr>
          <p:nvPr/>
        </p:nvSpPr>
        <p:spPr bwMode="auto">
          <a:xfrm>
            <a:off x="4578350" y="549275"/>
            <a:ext cx="1828800"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52352" bIns="76176">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zh-CN">
              <a:solidFill>
                <a:srgbClr val="FFCC66"/>
              </a:solidFill>
              <a:latin typeface="仿宋_GB2312" pitchFamily="49" charset="-122"/>
              <a:ea typeface="仿宋_GB2312" pitchFamily="49" charset="-122"/>
            </a:endParaRPr>
          </a:p>
        </p:txBody>
      </p:sp>
      <p:sp>
        <p:nvSpPr>
          <p:cNvPr id="29702" name="Rectangle 6">
            <a:extLst>
              <a:ext uri="{FF2B5EF4-FFF2-40B4-BE49-F238E27FC236}">
                <a16:creationId xmlns:a16="http://schemas.microsoft.com/office/drawing/2014/main" id="{E4F47F02-6553-487D-A953-787D9E89CE63}"/>
              </a:ext>
            </a:extLst>
          </p:cNvPr>
          <p:cNvSpPr>
            <a:spLocks noChangeArrowheads="1"/>
          </p:cNvSpPr>
          <p:nvPr/>
        </p:nvSpPr>
        <p:spPr bwMode="auto">
          <a:xfrm>
            <a:off x="2520950" y="549275"/>
            <a:ext cx="1752600"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52352" bIns="76176">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zh-CN">
              <a:solidFill>
                <a:srgbClr val="FFCC66"/>
              </a:solidFill>
              <a:latin typeface="仿宋_GB2312" pitchFamily="49" charset="-122"/>
              <a:ea typeface="仿宋_GB2312" pitchFamily="49" charset="-122"/>
            </a:endParaRPr>
          </a:p>
        </p:txBody>
      </p:sp>
      <p:graphicFrame>
        <p:nvGraphicFramePr>
          <p:cNvPr id="118791" name="Group 7">
            <a:extLst>
              <a:ext uri="{FF2B5EF4-FFF2-40B4-BE49-F238E27FC236}">
                <a16:creationId xmlns:a16="http://schemas.microsoft.com/office/drawing/2014/main" id="{D1856B64-64D0-45D3-A980-555AEAC973F7}"/>
              </a:ext>
            </a:extLst>
          </p:cNvPr>
          <p:cNvGraphicFramePr>
            <a:graphicFrameLocks noGrp="1"/>
          </p:cNvGraphicFramePr>
          <p:nvPr/>
        </p:nvGraphicFramePr>
        <p:xfrm>
          <a:off x="755650" y="714375"/>
          <a:ext cx="7777163" cy="1117600"/>
        </p:xfrm>
        <a:graphic>
          <a:graphicData uri="http://schemas.openxmlformats.org/drawingml/2006/table">
            <a:tbl>
              <a:tblPr/>
              <a:tblGrid>
                <a:gridCol w="1944688">
                  <a:extLst>
                    <a:ext uri="{9D8B030D-6E8A-4147-A177-3AD203B41FA5}">
                      <a16:colId xmlns:a16="http://schemas.microsoft.com/office/drawing/2014/main" val="2751862720"/>
                    </a:ext>
                  </a:extLst>
                </a:gridCol>
                <a:gridCol w="1944687">
                  <a:extLst>
                    <a:ext uri="{9D8B030D-6E8A-4147-A177-3AD203B41FA5}">
                      <a16:colId xmlns:a16="http://schemas.microsoft.com/office/drawing/2014/main" val="1970016592"/>
                    </a:ext>
                  </a:extLst>
                </a:gridCol>
                <a:gridCol w="1943100">
                  <a:extLst>
                    <a:ext uri="{9D8B030D-6E8A-4147-A177-3AD203B41FA5}">
                      <a16:colId xmlns:a16="http://schemas.microsoft.com/office/drawing/2014/main" val="2356351434"/>
                    </a:ext>
                  </a:extLst>
                </a:gridCol>
                <a:gridCol w="1944688">
                  <a:extLst>
                    <a:ext uri="{9D8B030D-6E8A-4147-A177-3AD203B41FA5}">
                      <a16:colId xmlns:a16="http://schemas.microsoft.com/office/drawing/2014/main" val="2864882539"/>
                    </a:ext>
                  </a:extLst>
                </a:gridCol>
              </a:tblGrid>
              <a:tr h="541338">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2000" b="1" i="1" u="none" strike="noStrike" cap="none" normalizeH="0" baseline="0">
                        <a:ln>
                          <a:noFill/>
                        </a:ln>
                        <a:solidFill>
                          <a:srgbClr val="FFCC66"/>
                        </a:solidFill>
                        <a:effectLst/>
                        <a:latin typeface="Times New Roman" panose="02020603050405020304" pitchFamily="18" charset="0"/>
                        <a:ea typeface="宋体" panose="02010600030101010101" pitchFamily="2" charset="-122"/>
                      </a:endParaRPr>
                    </a:p>
                  </a:txBody>
                  <a:tcPr marL="18000" marR="18000" marT="18000" marB="18000" horzOverflow="overflow">
                    <a:lnL w="12700" cap="flat" cmpd="sng" algn="ctr">
                      <a:solidFill>
                        <a:srgbClr val="00FFFF"/>
                      </a:solidFill>
                      <a:prstDash val="solid"/>
                      <a:round/>
                      <a:headEnd type="none" w="med" len="med"/>
                      <a:tailEnd type="none" w="med" len="med"/>
                    </a:lnL>
                    <a:lnR w="12700" cap="flat" cmpd="sng" algn="ctr">
                      <a:solidFill>
                        <a:srgbClr val="00FFFF"/>
                      </a:solidFill>
                      <a:prstDash val="solid"/>
                      <a:round/>
                      <a:headEnd type="none" w="med" len="med"/>
                      <a:tailEnd type="none" w="med" len="med"/>
                    </a:lnR>
                    <a:lnT w="12700" cap="flat" cmpd="sng" algn="ctr">
                      <a:solidFill>
                        <a:srgbClr val="00FFFF"/>
                      </a:solidFill>
                      <a:prstDash val="solid"/>
                      <a:round/>
                      <a:headEnd type="none" w="med" len="med"/>
                      <a:tailEnd type="none" w="med" len="med"/>
                    </a:lnT>
                    <a:lnB w="12700" cap="flat" cmpd="sng" algn="ctr">
                      <a:solidFill>
                        <a:srgbClr val="00FFFF"/>
                      </a:solidFill>
                      <a:prstDash val="solid"/>
                      <a:round/>
                      <a:headEnd type="none" w="med" len="med"/>
                      <a:tailEnd type="none" w="med" len="med"/>
                    </a:lnB>
                    <a:lnTlToBr>
                      <a:noFill/>
                    </a:lnTlToBr>
                    <a:lnBlToTr>
                      <a:noFill/>
                    </a:lnBlToTr>
                    <a:solidFill>
                      <a:srgbClr val="006666"/>
                    </a:solid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a:ln>
                            <a:noFill/>
                          </a:ln>
                          <a:solidFill>
                            <a:schemeClr val="bg1"/>
                          </a:solidFill>
                          <a:effectLst/>
                          <a:latin typeface="仿宋_GB2312" pitchFamily="49" charset="-122"/>
                          <a:ea typeface="宋体" panose="02010600030101010101" pitchFamily="2" charset="-122"/>
                        </a:rPr>
                        <a:t>受激吸收</a:t>
                      </a:r>
                    </a:p>
                  </a:txBody>
                  <a:tcPr marL="18000" marR="18000" marT="18000" marB="18000" anchor="ctr" horzOverflow="overflow">
                    <a:lnL w="12700" cap="flat" cmpd="sng" algn="ctr">
                      <a:solidFill>
                        <a:srgbClr val="00FFFF"/>
                      </a:solidFill>
                      <a:prstDash val="solid"/>
                      <a:round/>
                      <a:headEnd type="none" w="med" len="med"/>
                      <a:tailEnd type="none" w="med" len="med"/>
                    </a:lnL>
                    <a:lnR w="12700" cap="flat" cmpd="sng" algn="ctr">
                      <a:solidFill>
                        <a:srgbClr val="00FFFF"/>
                      </a:solidFill>
                      <a:prstDash val="solid"/>
                      <a:round/>
                      <a:headEnd type="none" w="med" len="med"/>
                      <a:tailEnd type="none" w="med" len="med"/>
                    </a:lnR>
                    <a:lnT w="12700" cap="flat" cmpd="sng" algn="ctr">
                      <a:solidFill>
                        <a:srgbClr val="00FFFF"/>
                      </a:solidFill>
                      <a:prstDash val="solid"/>
                      <a:round/>
                      <a:headEnd type="none" w="med" len="med"/>
                      <a:tailEnd type="none" w="med" len="med"/>
                    </a:lnT>
                    <a:lnB w="12700" cap="flat" cmpd="sng" algn="ctr">
                      <a:solidFill>
                        <a:srgbClr val="00FFFF"/>
                      </a:solidFill>
                      <a:prstDash val="solid"/>
                      <a:round/>
                      <a:headEnd type="none" w="med" len="med"/>
                      <a:tailEnd type="none" w="med" len="med"/>
                    </a:lnB>
                    <a:lnTlToBr>
                      <a:noFill/>
                    </a:lnTlToBr>
                    <a:lnBlToTr>
                      <a:noFill/>
                    </a:lnBlToTr>
                    <a:solidFill>
                      <a:srgbClr val="006666"/>
                    </a:solid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bg1"/>
                          </a:solidFill>
                          <a:effectLst/>
                          <a:latin typeface="仿宋_GB2312" pitchFamily="49" charset="-122"/>
                          <a:ea typeface="宋体" panose="02010600030101010101" pitchFamily="2" charset="-122"/>
                        </a:rPr>
                        <a:t>受激辐射</a:t>
                      </a:r>
                      <a:endParaRPr kumimoji="0" lang="zh-CN" altLang="en-US" sz="2000" b="0" i="0" u="none" strike="noStrike" cap="none" normalizeH="0" baseline="0">
                        <a:ln>
                          <a:noFill/>
                        </a:ln>
                        <a:solidFill>
                          <a:schemeClr val="bg1"/>
                        </a:solidFill>
                        <a:effectLst/>
                        <a:latin typeface="Times New Roman" panose="02020603050405020304" pitchFamily="18" charset="0"/>
                        <a:ea typeface="宋体" panose="02010600030101010101" pitchFamily="2" charset="-122"/>
                      </a:endParaRPr>
                    </a:p>
                  </a:txBody>
                  <a:tcPr marL="18000" marR="18000" marT="18000" marB="18000" anchor="ctr" horzOverflow="overflow">
                    <a:lnL w="12700" cap="flat" cmpd="sng" algn="ctr">
                      <a:solidFill>
                        <a:srgbClr val="00FFFF"/>
                      </a:solidFill>
                      <a:prstDash val="solid"/>
                      <a:round/>
                      <a:headEnd type="none" w="med" len="med"/>
                      <a:tailEnd type="none" w="med" len="med"/>
                    </a:lnL>
                    <a:lnR w="12700" cap="flat" cmpd="sng" algn="ctr">
                      <a:solidFill>
                        <a:srgbClr val="00FFFF"/>
                      </a:solidFill>
                      <a:prstDash val="solid"/>
                      <a:round/>
                      <a:headEnd type="none" w="med" len="med"/>
                      <a:tailEnd type="none" w="med" len="med"/>
                    </a:lnR>
                    <a:lnT w="12700" cap="flat" cmpd="sng" algn="ctr">
                      <a:solidFill>
                        <a:srgbClr val="00FFFF"/>
                      </a:solidFill>
                      <a:prstDash val="solid"/>
                      <a:round/>
                      <a:headEnd type="none" w="med" len="med"/>
                      <a:tailEnd type="none" w="med" len="med"/>
                    </a:lnT>
                    <a:lnB w="12700" cap="flat" cmpd="sng" algn="ctr">
                      <a:solidFill>
                        <a:srgbClr val="00FFFF"/>
                      </a:solidFill>
                      <a:prstDash val="solid"/>
                      <a:round/>
                      <a:headEnd type="none" w="med" len="med"/>
                      <a:tailEnd type="none" w="med" len="med"/>
                    </a:lnB>
                    <a:lnTlToBr>
                      <a:noFill/>
                    </a:lnTlToBr>
                    <a:lnBlToTr>
                      <a:noFill/>
                    </a:lnBlToTr>
                    <a:solidFill>
                      <a:srgbClr val="006666"/>
                    </a:solid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bg1"/>
                          </a:solidFill>
                          <a:effectLst/>
                          <a:latin typeface="Times New Roman" panose="02020603050405020304" pitchFamily="18" charset="0"/>
                          <a:ea typeface="宋体" panose="02010600030101010101" pitchFamily="2" charset="-122"/>
                        </a:rPr>
                        <a:t>自发辐射</a:t>
                      </a:r>
                      <a:endParaRPr kumimoji="0" lang="zh-CN" altLang="en-US" sz="2000" b="0" i="0" u="none" strike="noStrike" cap="none" normalizeH="0" baseline="0">
                        <a:ln>
                          <a:noFill/>
                        </a:ln>
                        <a:solidFill>
                          <a:schemeClr val="bg1"/>
                        </a:solidFill>
                        <a:effectLst/>
                        <a:latin typeface="Times New Roman" panose="02020603050405020304" pitchFamily="18" charset="0"/>
                        <a:ea typeface="宋体" panose="02010600030101010101" pitchFamily="2" charset="-122"/>
                      </a:endParaRPr>
                    </a:p>
                  </a:txBody>
                  <a:tcPr marL="18000" marR="18000" marT="18000" marB="18000" anchor="ctr" horzOverflow="overflow">
                    <a:lnL w="12700" cap="flat" cmpd="sng" algn="ctr">
                      <a:solidFill>
                        <a:srgbClr val="00FFFF"/>
                      </a:solidFill>
                      <a:prstDash val="solid"/>
                      <a:round/>
                      <a:headEnd type="none" w="med" len="med"/>
                      <a:tailEnd type="none" w="med" len="med"/>
                    </a:lnL>
                    <a:lnR w="12700" cap="flat" cmpd="sng" algn="ctr">
                      <a:solidFill>
                        <a:srgbClr val="00FFFF"/>
                      </a:solidFill>
                      <a:prstDash val="solid"/>
                      <a:round/>
                      <a:headEnd type="none" w="med" len="med"/>
                      <a:tailEnd type="none" w="med" len="med"/>
                    </a:lnR>
                    <a:lnT w="12700" cap="flat" cmpd="sng" algn="ctr">
                      <a:solidFill>
                        <a:srgbClr val="00FFFF"/>
                      </a:solidFill>
                      <a:prstDash val="solid"/>
                      <a:round/>
                      <a:headEnd type="none" w="med" len="med"/>
                      <a:tailEnd type="none" w="med" len="med"/>
                    </a:lnT>
                    <a:lnB w="12700" cap="flat" cmpd="sng" algn="ctr">
                      <a:solidFill>
                        <a:srgbClr val="00FFFF"/>
                      </a:solidFill>
                      <a:prstDash val="solid"/>
                      <a:round/>
                      <a:headEnd type="none" w="med" len="med"/>
                      <a:tailEnd type="none" w="med" len="med"/>
                    </a:lnB>
                    <a:lnTlToBr>
                      <a:noFill/>
                    </a:lnTlToBr>
                    <a:lnBlToTr>
                      <a:noFill/>
                    </a:lnBlToTr>
                    <a:solidFill>
                      <a:srgbClr val="006666"/>
                    </a:solidFill>
                  </a:tcPr>
                </a:tc>
                <a:extLst>
                  <a:ext uri="{0D108BD9-81ED-4DB2-BD59-A6C34878D82A}">
                    <a16:rowId xmlns:a16="http://schemas.microsoft.com/office/drawing/2014/main" val="4046285088"/>
                  </a:ext>
                </a:extLst>
              </a:tr>
              <a:tr h="576262">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bg1"/>
                          </a:solidFill>
                          <a:effectLst/>
                          <a:latin typeface="Times New Roman" panose="02020603050405020304" pitchFamily="18" charset="0"/>
                          <a:ea typeface="宋体" panose="02010600030101010101" pitchFamily="2" charset="-122"/>
                        </a:rPr>
                        <a:t>介质中的光强</a:t>
                      </a:r>
                      <a:r>
                        <a:rPr kumimoji="0" lang="zh-CN" altLang="en-US" sz="2000" b="1" i="0" u="none" strike="noStrike" cap="none" normalizeH="0" baseline="0">
                          <a:ln>
                            <a:noFill/>
                          </a:ln>
                          <a:solidFill>
                            <a:srgbClr val="99FF99"/>
                          </a:solidFill>
                          <a:effectLst/>
                          <a:latin typeface="Times New Roman" panose="02020603050405020304" pitchFamily="18" charset="0"/>
                          <a:ea typeface="宋体" panose="02010600030101010101" pitchFamily="2" charset="-122"/>
                        </a:rPr>
                        <a:t> </a:t>
                      </a:r>
                      <a:r>
                        <a:rPr kumimoji="0" lang="en-US" altLang="zh-CN" sz="2000" b="1" i="1" u="none" strike="noStrike" cap="none" normalizeH="0" baseline="0">
                          <a:ln>
                            <a:noFill/>
                          </a:ln>
                          <a:solidFill>
                            <a:srgbClr val="00FFFF"/>
                          </a:solidFill>
                          <a:effectLst/>
                          <a:latin typeface="Times New Roman" panose="02020603050405020304" pitchFamily="18" charset="0"/>
                          <a:ea typeface="宋体" panose="02010600030101010101" pitchFamily="2" charset="-122"/>
                        </a:rPr>
                        <a:t>I</a:t>
                      </a:r>
                    </a:p>
                  </a:txBody>
                  <a:tcPr marL="18000" marR="18000" marT="18000" marB="18000" anchor="ctr" horzOverflow="overflow">
                    <a:lnL w="12700" cap="flat" cmpd="sng" algn="ctr">
                      <a:solidFill>
                        <a:srgbClr val="00FFFF"/>
                      </a:solidFill>
                      <a:prstDash val="solid"/>
                      <a:round/>
                      <a:headEnd type="none" w="med" len="med"/>
                      <a:tailEnd type="none" w="med" len="med"/>
                    </a:lnL>
                    <a:lnR w="12700" cap="flat" cmpd="sng" algn="ctr">
                      <a:solidFill>
                        <a:srgbClr val="00FFFF"/>
                      </a:solidFill>
                      <a:prstDash val="solid"/>
                      <a:round/>
                      <a:headEnd type="none" w="med" len="med"/>
                      <a:tailEnd type="none" w="med" len="med"/>
                    </a:lnR>
                    <a:lnT w="12700" cap="flat" cmpd="sng" algn="ctr">
                      <a:solidFill>
                        <a:srgbClr val="00FFFF"/>
                      </a:solidFill>
                      <a:prstDash val="solid"/>
                      <a:round/>
                      <a:headEnd type="none" w="med" len="med"/>
                      <a:tailEnd type="none" w="med" len="med"/>
                    </a:lnT>
                    <a:lnB w="12700" cap="flat" cmpd="sng" algn="ctr">
                      <a:solidFill>
                        <a:srgbClr val="00FFFF"/>
                      </a:solidFill>
                      <a:prstDash val="solid"/>
                      <a:round/>
                      <a:headEnd type="none" w="med" len="med"/>
                      <a:tailEnd type="none" w="med" len="med"/>
                    </a:lnB>
                    <a:lnTlToBr>
                      <a:noFill/>
                    </a:lnTlToBr>
                    <a:lnBlToTr>
                      <a:noFill/>
                    </a:lnBlToTr>
                    <a:solidFill>
                      <a:srgbClr val="006666"/>
                    </a:solid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a:ln>
                            <a:noFill/>
                          </a:ln>
                          <a:solidFill>
                            <a:srgbClr val="FFFF00"/>
                          </a:solidFill>
                          <a:effectLst/>
                          <a:latin typeface="Times New Roman" panose="02020603050405020304" pitchFamily="18" charset="0"/>
                          <a:ea typeface="宋体" panose="02010600030101010101" pitchFamily="2" charset="-122"/>
                        </a:rPr>
                        <a:t>- </a:t>
                      </a:r>
                      <a:r>
                        <a:rPr kumimoji="0" lang="en-US" altLang="zh-CN" sz="2000" b="1" i="1" u="none" strike="noStrike" cap="none" normalizeH="0" baseline="0">
                          <a:ln>
                            <a:noFill/>
                          </a:ln>
                          <a:solidFill>
                            <a:srgbClr val="FFFF00"/>
                          </a:solidFill>
                          <a:effectLst/>
                          <a:latin typeface="Times New Roman" panose="02020603050405020304" pitchFamily="18" charset="0"/>
                          <a:ea typeface="宋体" panose="02010600030101010101" pitchFamily="2" charset="-122"/>
                        </a:rPr>
                        <a:t>kN</a:t>
                      </a:r>
                      <a:r>
                        <a:rPr kumimoji="0" lang="en-US" altLang="zh-CN" sz="2000" b="1" i="0" u="none" strike="noStrike" cap="none" normalizeH="0" baseline="-20000">
                          <a:ln>
                            <a:noFill/>
                          </a:ln>
                          <a:solidFill>
                            <a:srgbClr val="FFFF00"/>
                          </a:solidFill>
                          <a:effectLst/>
                          <a:latin typeface="Times New Roman" panose="02020603050405020304" pitchFamily="18" charset="0"/>
                          <a:ea typeface="宋体" panose="02010600030101010101" pitchFamily="2" charset="-122"/>
                        </a:rPr>
                        <a:t>1 </a:t>
                      </a:r>
                      <a:r>
                        <a:rPr kumimoji="0" lang="en-US" altLang="zh-CN" sz="2000" b="1" i="1" u="none" strike="noStrike" cap="none" normalizeH="0" baseline="0">
                          <a:ln>
                            <a:noFill/>
                          </a:ln>
                          <a:solidFill>
                            <a:srgbClr val="FFFF00"/>
                          </a:solidFill>
                          <a:effectLst/>
                          <a:latin typeface="Times New Roman" panose="02020603050405020304" pitchFamily="18" charset="0"/>
                          <a:ea typeface="宋体" panose="02010600030101010101" pitchFamily="2" charset="-122"/>
                        </a:rPr>
                        <a:t>IB</a:t>
                      </a:r>
                    </a:p>
                  </a:txBody>
                  <a:tcPr marL="18000" marR="18000" marT="18000" marB="18000" anchor="ctr" horzOverflow="overflow">
                    <a:lnL w="12700" cap="flat" cmpd="sng" algn="ctr">
                      <a:solidFill>
                        <a:srgbClr val="00FFFF"/>
                      </a:solidFill>
                      <a:prstDash val="solid"/>
                      <a:round/>
                      <a:headEnd type="none" w="med" len="med"/>
                      <a:tailEnd type="none" w="med" len="med"/>
                    </a:lnL>
                    <a:lnR w="12700" cap="flat" cmpd="sng" algn="ctr">
                      <a:solidFill>
                        <a:srgbClr val="00FFFF"/>
                      </a:solidFill>
                      <a:prstDash val="solid"/>
                      <a:round/>
                      <a:headEnd type="none" w="med" len="med"/>
                      <a:tailEnd type="none" w="med" len="med"/>
                    </a:lnR>
                    <a:lnT w="12700" cap="flat" cmpd="sng" algn="ctr">
                      <a:solidFill>
                        <a:srgbClr val="00FFFF"/>
                      </a:solidFill>
                      <a:prstDash val="solid"/>
                      <a:round/>
                      <a:headEnd type="none" w="med" len="med"/>
                      <a:tailEnd type="none" w="med" len="med"/>
                    </a:lnT>
                    <a:lnB w="12700" cap="flat" cmpd="sng" algn="ctr">
                      <a:solidFill>
                        <a:srgbClr val="00FFFF"/>
                      </a:solidFill>
                      <a:prstDash val="solid"/>
                      <a:round/>
                      <a:headEnd type="none" w="med" len="med"/>
                      <a:tailEnd type="none" w="med" len="med"/>
                    </a:lnB>
                    <a:lnTlToBr>
                      <a:noFill/>
                    </a:lnTlToBr>
                    <a:lnBlToTr>
                      <a:noFill/>
                    </a:lnBlToTr>
                    <a:solidFill>
                      <a:schemeClr val="tx1"/>
                    </a:solid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a:ln>
                            <a:noFill/>
                          </a:ln>
                          <a:solidFill>
                            <a:srgbClr val="FFFF00"/>
                          </a:solidFill>
                          <a:effectLst/>
                          <a:latin typeface="Times New Roman" panose="02020603050405020304" pitchFamily="18" charset="0"/>
                          <a:ea typeface="宋体" panose="02010600030101010101" pitchFamily="2" charset="-122"/>
                        </a:rPr>
                        <a:t>+ </a:t>
                      </a:r>
                      <a:r>
                        <a:rPr kumimoji="0" lang="en-US" altLang="zh-CN" sz="2000" b="1" i="1" u="none" strike="noStrike" cap="none" normalizeH="0" baseline="0">
                          <a:ln>
                            <a:noFill/>
                          </a:ln>
                          <a:solidFill>
                            <a:srgbClr val="FFFF00"/>
                          </a:solidFill>
                          <a:effectLst/>
                          <a:latin typeface="Times New Roman" panose="02020603050405020304" pitchFamily="18" charset="0"/>
                          <a:ea typeface="宋体" panose="02010600030101010101" pitchFamily="2" charset="-122"/>
                        </a:rPr>
                        <a:t>kN</a:t>
                      </a:r>
                      <a:r>
                        <a:rPr kumimoji="0" lang="en-US" altLang="zh-CN" sz="2000" b="1" i="0" u="none" strike="noStrike" cap="none" normalizeH="0" baseline="-20000">
                          <a:ln>
                            <a:noFill/>
                          </a:ln>
                          <a:solidFill>
                            <a:srgbClr val="FFFF00"/>
                          </a:solidFill>
                          <a:effectLst/>
                          <a:latin typeface="Times New Roman" panose="02020603050405020304" pitchFamily="18" charset="0"/>
                          <a:ea typeface="宋体" panose="02010600030101010101" pitchFamily="2" charset="-122"/>
                        </a:rPr>
                        <a:t>2 </a:t>
                      </a:r>
                      <a:r>
                        <a:rPr kumimoji="0" lang="en-US" altLang="zh-CN" sz="2000" b="1" i="1" u="none" strike="noStrike" cap="none" normalizeH="0" baseline="0">
                          <a:ln>
                            <a:noFill/>
                          </a:ln>
                          <a:solidFill>
                            <a:srgbClr val="FFFF00"/>
                          </a:solidFill>
                          <a:effectLst/>
                          <a:latin typeface="Times New Roman" panose="02020603050405020304" pitchFamily="18" charset="0"/>
                          <a:ea typeface="宋体" panose="02010600030101010101" pitchFamily="2" charset="-122"/>
                        </a:rPr>
                        <a:t>IB</a:t>
                      </a:r>
                      <a:endParaRPr kumimoji="0" lang="en-US" altLang="zh-CN" sz="2000" b="1" i="0" u="none" strike="noStrike" cap="none" normalizeH="0" baseline="0">
                        <a:ln>
                          <a:noFill/>
                        </a:ln>
                        <a:solidFill>
                          <a:srgbClr val="FFFF00"/>
                        </a:solidFill>
                        <a:effectLst/>
                        <a:latin typeface="Times New Roman" panose="02020603050405020304" pitchFamily="18" charset="0"/>
                        <a:ea typeface="宋体" panose="02010600030101010101" pitchFamily="2" charset="-122"/>
                      </a:endParaRPr>
                    </a:p>
                  </a:txBody>
                  <a:tcPr marL="18000" marR="18000" marT="18000" marB="18000" anchor="ctr" horzOverflow="overflow">
                    <a:lnL w="12700" cap="flat" cmpd="sng" algn="ctr">
                      <a:solidFill>
                        <a:srgbClr val="00FFFF"/>
                      </a:solidFill>
                      <a:prstDash val="solid"/>
                      <a:round/>
                      <a:headEnd type="none" w="med" len="med"/>
                      <a:tailEnd type="none" w="med" len="med"/>
                    </a:lnL>
                    <a:lnR w="12700" cap="flat" cmpd="sng" algn="ctr">
                      <a:solidFill>
                        <a:srgbClr val="00FFFF"/>
                      </a:solidFill>
                      <a:prstDash val="solid"/>
                      <a:round/>
                      <a:headEnd type="none" w="med" len="med"/>
                      <a:tailEnd type="none" w="med" len="med"/>
                    </a:lnR>
                    <a:lnT w="12700" cap="flat" cmpd="sng" algn="ctr">
                      <a:solidFill>
                        <a:srgbClr val="00FFFF"/>
                      </a:solidFill>
                      <a:prstDash val="solid"/>
                      <a:round/>
                      <a:headEnd type="none" w="med" len="med"/>
                      <a:tailEnd type="none" w="med" len="med"/>
                    </a:lnT>
                    <a:lnB w="12700" cap="flat" cmpd="sng" algn="ctr">
                      <a:solidFill>
                        <a:srgbClr val="00FFFF"/>
                      </a:solidFill>
                      <a:prstDash val="solid"/>
                      <a:round/>
                      <a:headEnd type="none" w="med" len="med"/>
                      <a:tailEnd type="none" w="med" len="med"/>
                    </a:lnB>
                    <a:lnTlToBr>
                      <a:noFill/>
                    </a:lnTlToBr>
                    <a:lnBlToTr>
                      <a:noFill/>
                    </a:lnBlToTr>
                    <a:solidFill>
                      <a:schemeClr val="tx1"/>
                    </a:solid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a:ln>
                            <a:noFill/>
                          </a:ln>
                          <a:solidFill>
                            <a:srgbClr val="FFFF00"/>
                          </a:solidFill>
                          <a:effectLst/>
                          <a:latin typeface="Times New Roman" panose="02020603050405020304" pitchFamily="18" charset="0"/>
                          <a:ea typeface="宋体" panose="02010600030101010101" pitchFamily="2" charset="-122"/>
                        </a:rPr>
                        <a:t>忽略</a:t>
                      </a:r>
                    </a:p>
                  </a:txBody>
                  <a:tcPr marL="18000" marR="18000" marT="18000" marB="18000" anchor="ctr" horzOverflow="overflow">
                    <a:lnL w="12700" cap="flat" cmpd="sng" algn="ctr">
                      <a:solidFill>
                        <a:srgbClr val="00FFFF"/>
                      </a:solidFill>
                      <a:prstDash val="solid"/>
                      <a:round/>
                      <a:headEnd type="none" w="med" len="med"/>
                      <a:tailEnd type="none" w="med" len="med"/>
                    </a:lnL>
                    <a:lnR w="12700" cap="flat" cmpd="sng" algn="ctr">
                      <a:solidFill>
                        <a:srgbClr val="00FFFF"/>
                      </a:solidFill>
                      <a:prstDash val="solid"/>
                      <a:round/>
                      <a:headEnd type="none" w="med" len="med"/>
                      <a:tailEnd type="none" w="med" len="med"/>
                    </a:lnR>
                    <a:lnT w="12700" cap="flat" cmpd="sng" algn="ctr">
                      <a:solidFill>
                        <a:srgbClr val="00FFFF"/>
                      </a:solidFill>
                      <a:prstDash val="solid"/>
                      <a:round/>
                      <a:headEnd type="none" w="med" len="med"/>
                      <a:tailEnd type="none" w="med" len="med"/>
                    </a:lnT>
                    <a:lnB w="12700" cap="flat" cmpd="sng" algn="ctr">
                      <a:solidFill>
                        <a:srgbClr val="00FFFF"/>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2220329844"/>
                  </a:ext>
                </a:extLst>
              </a:tr>
            </a:tbl>
          </a:graphicData>
        </a:graphic>
      </p:graphicFrame>
      <p:graphicFrame>
        <p:nvGraphicFramePr>
          <p:cNvPr id="118808" name="Object 24">
            <a:extLst>
              <a:ext uri="{FF2B5EF4-FFF2-40B4-BE49-F238E27FC236}">
                <a16:creationId xmlns:a16="http://schemas.microsoft.com/office/drawing/2014/main" id="{C1720EB3-B52F-46D8-97BC-FC2DD9943487}"/>
              </a:ext>
            </a:extLst>
          </p:cNvPr>
          <p:cNvGraphicFramePr>
            <a:graphicFrameLocks noChangeAspect="1"/>
          </p:cNvGraphicFramePr>
          <p:nvPr/>
        </p:nvGraphicFramePr>
        <p:xfrm>
          <a:off x="3636963" y="1924050"/>
          <a:ext cx="2220912" cy="433388"/>
        </p:xfrm>
        <a:graphic>
          <a:graphicData uri="http://schemas.openxmlformats.org/presentationml/2006/ole">
            <mc:AlternateContent xmlns:mc="http://schemas.openxmlformats.org/markup-compatibility/2006">
              <mc:Choice xmlns:v="urn:schemas-microsoft-com:vml" Requires="v">
                <p:oleObj spid="_x0000_s565562" name="公式" r:id="rId3" imgW="1074314" imgH="182833" progId="Equation.3">
                  <p:embed/>
                </p:oleObj>
              </mc:Choice>
              <mc:Fallback>
                <p:oleObj name="公式" r:id="rId3" imgW="1074314" imgH="182833" progId="Equation.3">
                  <p:embed/>
                  <p:pic>
                    <p:nvPicPr>
                      <p:cNvPr id="118808" name="Object 24">
                        <a:extLst>
                          <a:ext uri="{FF2B5EF4-FFF2-40B4-BE49-F238E27FC236}">
                            <a16:creationId xmlns:a16="http://schemas.microsoft.com/office/drawing/2014/main" id="{C1720EB3-B52F-46D8-97BC-FC2DD994348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36963" y="1924050"/>
                        <a:ext cx="2220912"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8809" name="Text Box 25">
            <a:extLst>
              <a:ext uri="{FF2B5EF4-FFF2-40B4-BE49-F238E27FC236}">
                <a16:creationId xmlns:a16="http://schemas.microsoft.com/office/drawing/2014/main" id="{297851B1-220E-4459-9D06-2DFBED0B5705}"/>
              </a:ext>
            </a:extLst>
          </p:cNvPr>
          <p:cNvSpPr txBox="1">
            <a:spLocks noChangeArrowheads="1"/>
          </p:cNvSpPr>
          <p:nvPr/>
        </p:nvSpPr>
        <p:spPr bwMode="auto">
          <a:xfrm>
            <a:off x="2195513" y="1895475"/>
            <a:ext cx="1422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300">
                <a:solidFill>
                  <a:schemeClr val="bg1"/>
                </a:solidFill>
                <a:latin typeface="宋体" panose="02010600030101010101" pitchFamily="2" charset="-122"/>
              </a:rPr>
              <a:t>光强变化</a:t>
            </a:r>
          </a:p>
        </p:txBody>
      </p:sp>
      <p:sp>
        <p:nvSpPr>
          <p:cNvPr id="118810" name="Rectangle 26">
            <a:extLst>
              <a:ext uri="{FF2B5EF4-FFF2-40B4-BE49-F238E27FC236}">
                <a16:creationId xmlns:a16="http://schemas.microsoft.com/office/drawing/2014/main" id="{0C52D60D-226E-4766-81AA-98A2C73CC1B3}"/>
              </a:ext>
            </a:extLst>
          </p:cNvPr>
          <p:cNvSpPr>
            <a:spLocks noChangeArrowheads="1"/>
          </p:cNvSpPr>
          <p:nvPr/>
        </p:nvSpPr>
        <p:spPr bwMode="auto">
          <a:xfrm>
            <a:off x="577850" y="2786063"/>
            <a:ext cx="8280400" cy="927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ts val="3500"/>
              </a:lnSpc>
            </a:pPr>
            <a:r>
              <a:rPr lang="zh-CN" altLang="en-US" sz="2300" dirty="0">
                <a:solidFill>
                  <a:schemeClr val="bg1"/>
                </a:solidFill>
                <a:latin typeface="宋体" panose="02010600030101010101" pitchFamily="2" charset="-122"/>
              </a:rPr>
              <a:t>实验：在确定的温度下，原子在能级上的分布是遵守玻耳兹曼分布定律</a:t>
            </a:r>
          </a:p>
        </p:txBody>
      </p:sp>
      <p:sp>
        <p:nvSpPr>
          <p:cNvPr id="118811" name="Rectangle 27">
            <a:extLst>
              <a:ext uri="{FF2B5EF4-FFF2-40B4-BE49-F238E27FC236}">
                <a16:creationId xmlns:a16="http://schemas.microsoft.com/office/drawing/2014/main" id="{6404A685-36A0-4F33-831D-9E5E46F4BB83}"/>
              </a:ext>
            </a:extLst>
          </p:cNvPr>
          <p:cNvSpPr>
            <a:spLocks noChangeArrowheads="1"/>
          </p:cNvSpPr>
          <p:nvPr/>
        </p:nvSpPr>
        <p:spPr bwMode="auto">
          <a:xfrm>
            <a:off x="395288" y="2357438"/>
            <a:ext cx="41767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300" dirty="0">
                <a:solidFill>
                  <a:srgbClr val="00FFFF"/>
                </a:solidFill>
                <a:ea typeface="华文中宋" panose="02010600040101010101" pitchFamily="2" charset="-122"/>
              </a:rPr>
              <a:t>1. </a:t>
            </a:r>
            <a:r>
              <a:rPr lang="zh-CN" altLang="en-US" sz="2300" dirty="0">
                <a:solidFill>
                  <a:srgbClr val="00FFFF"/>
                </a:solidFill>
                <a:ea typeface="华文中宋" panose="02010600040101010101" pitchFamily="2" charset="-122"/>
              </a:rPr>
              <a:t>玻玻耳兹曼分布定律</a:t>
            </a:r>
          </a:p>
        </p:txBody>
      </p:sp>
      <p:graphicFrame>
        <p:nvGraphicFramePr>
          <p:cNvPr id="118812" name="Object 28">
            <a:extLst>
              <a:ext uri="{FF2B5EF4-FFF2-40B4-BE49-F238E27FC236}">
                <a16:creationId xmlns:a16="http://schemas.microsoft.com/office/drawing/2014/main" id="{75A9B76A-03ED-4149-AFEF-876E12AC3461}"/>
              </a:ext>
            </a:extLst>
          </p:cNvPr>
          <p:cNvGraphicFramePr>
            <a:graphicFrameLocks noChangeAspect="1"/>
          </p:cNvGraphicFramePr>
          <p:nvPr/>
        </p:nvGraphicFramePr>
        <p:xfrm>
          <a:off x="2643188" y="3413125"/>
          <a:ext cx="2482850" cy="457200"/>
        </p:xfrm>
        <a:graphic>
          <a:graphicData uri="http://schemas.openxmlformats.org/presentationml/2006/ole">
            <mc:AlternateContent xmlns:mc="http://schemas.openxmlformats.org/markup-compatibility/2006">
              <mc:Choice xmlns:v="urn:schemas-microsoft-com:vml" Requires="v">
                <p:oleObj spid="_x0000_s565563" name="公式" r:id="rId5" imgW="1204031" imgH="198104" progId="Equation.3">
                  <p:embed/>
                </p:oleObj>
              </mc:Choice>
              <mc:Fallback>
                <p:oleObj name="公式" r:id="rId5" imgW="1204031" imgH="198104" progId="Equation.3">
                  <p:embed/>
                  <p:pic>
                    <p:nvPicPr>
                      <p:cNvPr id="118812" name="Object 28">
                        <a:extLst>
                          <a:ext uri="{FF2B5EF4-FFF2-40B4-BE49-F238E27FC236}">
                            <a16:creationId xmlns:a16="http://schemas.microsoft.com/office/drawing/2014/main" id="{75A9B76A-03ED-4149-AFEF-876E12AC346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43188" y="3413125"/>
                        <a:ext cx="2482850" cy="457200"/>
                      </a:xfrm>
                      <a:prstGeom prst="rect">
                        <a:avLst/>
                      </a:prstGeom>
                      <a:noFill/>
                      <a:ln>
                        <a:noFill/>
                      </a:ln>
                      <a:extLst>
                        <a:ext uri="{909E8E84-426E-40DD-AFC4-6F175D3DCCD1}">
                          <a14:hiddenFill xmlns:a14="http://schemas.microsoft.com/office/drawing/2010/main">
                            <a:solidFill>
                              <a:srgbClr val="006699"/>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8813" name="Object 29">
            <a:extLst>
              <a:ext uri="{FF2B5EF4-FFF2-40B4-BE49-F238E27FC236}">
                <a16:creationId xmlns:a16="http://schemas.microsoft.com/office/drawing/2014/main" id="{72A5D4D4-587F-4232-9D70-FFE2EF79EB4B}"/>
              </a:ext>
            </a:extLst>
          </p:cNvPr>
          <p:cNvGraphicFramePr>
            <a:graphicFrameLocks noChangeAspect="1"/>
          </p:cNvGraphicFramePr>
          <p:nvPr/>
        </p:nvGraphicFramePr>
        <p:xfrm>
          <a:off x="5659438" y="3286125"/>
          <a:ext cx="2292350" cy="755650"/>
        </p:xfrm>
        <a:graphic>
          <a:graphicData uri="http://schemas.openxmlformats.org/presentationml/2006/ole">
            <mc:AlternateContent xmlns:mc="http://schemas.openxmlformats.org/markup-compatibility/2006">
              <mc:Choice xmlns:v="urn:schemas-microsoft-com:vml" Requires="v">
                <p:oleObj spid="_x0000_s565564" name="Equation" r:id="rId7" imgW="1264849" imgH="403844" progId="Equation.3">
                  <p:embed/>
                </p:oleObj>
              </mc:Choice>
              <mc:Fallback>
                <p:oleObj name="Equation" r:id="rId7" imgW="1264849" imgH="403844" progId="Equation.3">
                  <p:embed/>
                  <p:pic>
                    <p:nvPicPr>
                      <p:cNvPr id="118813" name="Object 29">
                        <a:extLst>
                          <a:ext uri="{FF2B5EF4-FFF2-40B4-BE49-F238E27FC236}">
                            <a16:creationId xmlns:a16="http://schemas.microsoft.com/office/drawing/2014/main" id="{72A5D4D4-587F-4232-9D70-FFE2EF79EB4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659438" y="3286125"/>
                        <a:ext cx="2292350" cy="755650"/>
                      </a:xfrm>
                      <a:prstGeom prst="rect">
                        <a:avLst/>
                      </a:prstGeom>
                      <a:noFill/>
                      <a:ln>
                        <a:noFill/>
                      </a:ln>
                      <a:extLst>
                        <a:ext uri="{909E8E84-426E-40DD-AFC4-6F175D3DCCD1}">
                          <a14:hiddenFill xmlns:a14="http://schemas.microsoft.com/office/drawing/2010/main">
                            <a:solidFill>
                              <a:srgbClr val="006699"/>
                            </a:solidFill>
                          </a14:hiddenFill>
                        </a:ext>
                        <a:ext uri="{91240B29-F687-4F45-9708-019B960494DF}">
                          <a14:hiddenLine xmlns:a14="http://schemas.microsoft.com/office/drawing/2010/main" w="22225">
                            <a:solidFill>
                              <a:srgbClr val="FF6600"/>
                            </a:solidFill>
                            <a:miter lim="800000"/>
                            <a:headEnd/>
                            <a:tailEnd/>
                          </a14:hiddenLine>
                        </a:ext>
                      </a:extLst>
                    </p:spPr>
                  </p:pic>
                </p:oleObj>
              </mc:Fallback>
            </mc:AlternateContent>
          </a:graphicData>
        </a:graphic>
      </p:graphicFrame>
      <p:sp>
        <p:nvSpPr>
          <p:cNvPr id="118814" name="Rectangle 30">
            <a:extLst>
              <a:ext uri="{FF2B5EF4-FFF2-40B4-BE49-F238E27FC236}">
                <a16:creationId xmlns:a16="http://schemas.microsoft.com/office/drawing/2014/main" id="{8A6882DE-FFE9-4925-88F4-DC9031765625}"/>
              </a:ext>
            </a:extLst>
          </p:cNvPr>
          <p:cNvSpPr>
            <a:spLocks noChangeArrowheads="1"/>
          </p:cNvSpPr>
          <p:nvPr/>
        </p:nvSpPr>
        <p:spPr bwMode="auto">
          <a:xfrm>
            <a:off x="571500" y="3857625"/>
            <a:ext cx="3352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300" dirty="0">
                <a:solidFill>
                  <a:schemeClr val="bg1"/>
                </a:solidFill>
                <a:latin typeface="宋体" panose="02010600030101010101" pitchFamily="2" charset="-122"/>
              </a:rPr>
              <a:t>例：氢原子体系</a:t>
            </a:r>
          </a:p>
        </p:txBody>
      </p:sp>
      <p:graphicFrame>
        <p:nvGraphicFramePr>
          <p:cNvPr id="118815" name="Object 31">
            <a:extLst>
              <a:ext uri="{FF2B5EF4-FFF2-40B4-BE49-F238E27FC236}">
                <a16:creationId xmlns:a16="http://schemas.microsoft.com/office/drawing/2014/main" id="{C6E9B150-DD31-454A-A208-7D310420A591}"/>
              </a:ext>
            </a:extLst>
          </p:cNvPr>
          <p:cNvGraphicFramePr>
            <a:graphicFrameLocks noChangeAspect="1"/>
          </p:cNvGraphicFramePr>
          <p:nvPr/>
        </p:nvGraphicFramePr>
        <p:xfrm>
          <a:off x="1403350" y="4394200"/>
          <a:ext cx="1249363" cy="357188"/>
        </p:xfrm>
        <a:graphic>
          <a:graphicData uri="http://schemas.openxmlformats.org/presentationml/2006/ole">
            <mc:AlternateContent xmlns:mc="http://schemas.openxmlformats.org/markup-compatibility/2006">
              <mc:Choice xmlns:v="urn:schemas-microsoft-com:vml" Requires="v">
                <p:oleObj spid="_x0000_s565565" name="Equation" r:id="rId9" imgW="617114" imgH="144654" progId="Equation.3">
                  <p:embed/>
                </p:oleObj>
              </mc:Choice>
              <mc:Fallback>
                <p:oleObj name="Equation" r:id="rId9" imgW="617114" imgH="144654" progId="Equation.3">
                  <p:embed/>
                  <p:pic>
                    <p:nvPicPr>
                      <p:cNvPr id="118815" name="Object 31">
                        <a:extLst>
                          <a:ext uri="{FF2B5EF4-FFF2-40B4-BE49-F238E27FC236}">
                            <a16:creationId xmlns:a16="http://schemas.microsoft.com/office/drawing/2014/main" id="{C6E9B150-DD31-454A-A208-7D310420A591}"/>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403350" y="4394200"/>
                        <a:ext cx="1249363" cy="357188"/>
                      </a:xfrm>
                      <a:prstGeom prst="rect">
                        <a:avLst/>
                      </a:prstGeom>
                      <a:noFill/>
                      <a:ln>
                        <a:noFill/>
                      </a:ln>
                      <a:extLst>
                        <a:ext uri="{909E8E84-426E-40DD-AFC4-6F175D3DCCD1}">
                          <a14:hiddenFill xmlns:a14="http://schemas.microsoft.com/office/drawing/2010/main">
                            <a:solidFill>
                              <a:srgbClr val="006699"/>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8816" name="Object 32">
            <a:extLst>
              <a:ext uri="{FF2B5EF4-FFF2-40B4-BE49-F238E27FC236}">
                <a16:creationId xmlns:a16="http://schemas.microsoft.com/office/drawing/2014/main" id="{B873DCF2-2DCF-4B70-A96E-4DD848C2686C}"/>
              </a:ext>
            </a:extLst>
          </p:cNvPr>
          <p:cNvGraphicFramePr>
            <a:graphicFrameLocks noChangeAspect="1"/>
          </p:cNvGraphicFramePr>
          <p:nvPr/>
        </p:nvGraphicFramePr>
        <p:xfrm>
          <a:off x="3500438" y="4173538"/>
          <a:ext cx="3752850" cy="755650"/>
        </p:xfrm>
        <a:graphic>
          <a:graphicData uri="http://schemas.openxmlformats.org/presentationml/2006/ole">
            <mc:AlternateContent xmlns:mc="http://schemas.openxmlformats.org/markup-compatibility/2006">
              <mc:Choice xmlns:v="urn:schemas-microsoft-com:vml" Requires="v">
                <p:oleObj spid="_x0000_s565566" name="Equation" r:id="rId11" imgW="2163938" imgH="403844" progId="Equation.3">
                  <p:embed/>
                </p:oleObj>
              </mc:Choice>
              <mc:Fallback>
                <p:oleObj name="Equation" r:id="rId11" imgW="2163938" imgH="403844" progId="Equation.3">
                  <p:embed/>
                  <p:pic>
                    <p:nvPicPr>
                      <p:cNvPr id="118816" name="Object 32">
                        <a:extLst>
                          <a:ext uri="{FF2B5EF4-FFF2-40B4-BE49-F238E27FC236}">
                            <a16:creationId xmlns:a16="http://schemas.microsoft.com/office/drawing/2014/main" id="{B873DCF2-2DCF-4B70-A96E-4DD848C2686C}"/>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500438" y="4173538"/>
                        <a:ext cx="3752850" cy="755650"/>
                      </a:xfrm>
                      <a:prstGeom prst="rect">
                        <a:avLst/>
                      </a:prstGeom>
                      <a:noFill/>
                      <a:ln>
                        <a:noFill/>
                      </a:ln>
                      <a:extLst>
                        <a:ext uri="{909E8E84-426E-40DD-AFC4-6F175D3DCCD1}">
                          <a14:hiddenFill xmlns:a14="http://schemas.microsoft.com/office/drawing/2010/main">
                            <a:solidFill>
                              <a:srgbClr val="006699"/>
                            </a:solidFill>
                          </a14:hiddenFill>
                        </a:ext>
                        <a:ext uri="{91240B29-F687-4F45-9708-019B960494DF}">
                          <a14:hiddenLine xmlns:a14="http://schemas.microsoft.com/office/drawing/2010/main" w="22225">
                            <a:solidFill>
                              <a:srgbClr val="FF6600"/>
                            </a:solidFill>
                            <a:miter lim="800000"/>
                            <a:headEnd/>
                            <a:tailEnd/>
                          </a14:hiddenLine>
                        </a:ext>
                      </a:extLst>
                    </p:spPr>
                  </p:pic>
                </p:oleObj>
              </mc:Fallback>
            </mc:AlternateContent>
          </a:graphicData>
        </a:graphic>
      </p:graphicFrame>
      <p:sp>
        <p:nvSpPr>
          <p:cNvPr id="118817" name="AutoShape 33">
            <a:extLst>
              <a:ext uri="{FF2B5EF4-FFF2-40B4-BE49-F238E27FC236}">
                <a16:creationId xmlns:a16="http://schemas.microsoft.com/office/drawing/2014/main" id="{14FD611B-0335-43B5-B415-9A6D10EC2D04}"/>
              </a:ext>
            </a:extLst>
          </p:cNvPr>
          <p:cNvSpPr>
            <a:spLocks noChangeArrowheads="1"/>
          </p:cNvSpPr>
          <p:nvPr/>
        </p:nvSpPr>
        <p:spPr bwMode="auto">
          <a:xfrm>
            <a:off x="2714625" y="4383088"/>
            <a:ext cx="642938" cy="381000"/>
          </a:xfrm>
          <a:prstGeom prst="rightArrow">
            <a:avLst>
              <a:gd name="adj1" fmla="val 50000"/>
              <a:gd name="adj2" fmla="val 62695"/>
            </a:avLst>
          </a:prstGeom>
          <a:noFill/>
          <a:ln w="19050">
            <a:solidFill>
              <a:srgbClr val="FFCC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graphicFrame>
        <p:nvGraphicFramePr>
          <p:cNvPr id="118818" name="Object 34">
            <a:extLst>
              <a:ext uri="{FF2B5EF4-FFF2-40B4-BE49-F238E27FC236}">
                <a16:creationId xmlns:a16="http://schemas.microsoft.com/office/drawing/2014/main" id="{583FBDCB-0B53-407D-A805-020526629A1C}"/>
              </a:ext>
            </a:extLst>
          </p:cNvPr>
          <p:cNvGraphicFramePr>
            <a:graphicFrameLocks noChangeAspect="1"/>
          </p:cNvGraphicFramePr>
          <p:nvPr/>
        </p:nvGraphicFramePr>
        <p:xfrm>
          <a:off x="1331913" y="5095875"/>
          <a:ext cx="1673225" cy="357188"/>
        </p:xfrm>
        <a:graphic>
          <a:graphicData uri="http://schemas.openxmlformats.org/presentationml/2006/ole">
            <mc:AlternateContent xmlns:mc="http://schemas.openxmlformats.org/markup-compatibility/2006">
              <mc:Choice xmlns:v="urn:schemas-microsoft-com:vml" Requires="v">
                <p:oleObj spid="_x0000_s565567" name="Equation" r:id="rId13" imgW="693243" imgH="144654" progId="Equation.3">
                  <p:embed/>
                </p:oleObj>
              </mc:Choice>
              <mc:Fallback>
                <p:oleObj name="Equation" r:id="rId13" imgW="693243" imgH="144654" progId="Equation.3">
                  <p:embed/>
                  <p:pic>
                    <p:nvPicPr>
                      <p:cNvPr id="118818" name="Object 34">
                        <a:extLst>
                          <a:ext uri="{FF2B5EF4-FFF2-40B4-BE49-F238E27FC236}">
                            <a16:creationId xmlns:a16="http://schemas.microsoft.com/office/drawing/2014/main" id="{583FBDCB-0B53-407D-A805-020526629A1C}"/>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331913" y="5095875"/>
                        <a:ext cx="1673225" cy="357188"/>
                      </a:xfrm>
                      <a:prstGeom prst="rect">
                        <a:avLst/>
                      </a:prstGeom>
                      <a:noFill/>
                      <a:ln>
                        <a:noFill/>
                      </a:ln>
                      <a:extLst>
                        <a:ext uri="{909E8E84-426E-40DD-AFC4-6F175D3DCCD1}">
                          <a14:hiddenFill xmlns:a14="http://schemas.microsoft.com/office/drawing/2010/main">
                            <a:solidFill>
                              <a:srgbClr val="006699"/>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8819" name="AutoShape 35">
            <a:extLst>
              <a:ext uri="{FF2B5EF4-FFF2-40B4-BE49-F238E27FC236}">
                <a16:creationId xmlns:a16="http://schemas.microsoft.com/office/drawing/2014/main" id="{57A5C2DB-F26B-4818-A230-E772B214FD6F}"/>
              </a:ext>
            </a:extLst>
          </p:cNvPr>
          <p:cNvSpPr>
            <a:spLocks noChangeArrowheads="1"/>
          </p:cNvSpPr>
          <p:nvPr/>
        </p:nvSpPr>
        <p:spPr bwMode="auto">
          <a:xfrm>
            <a:off x="3059113" y="5078413"/>
            <a:ext cx="727075" cy="381000"/>
          </a:xfrm>
          <a:prstGeom prst="rightArrow">
            <a:avLst>
              <a:gd name="adj1" fmla="val 50000"/>
              <a:gd name="adj2" fmla="val 58080"/>
            </a:avLst>
          </a:prstGeom>
          <a:noFill/>
          <a:ln w="19050">
            <a:solidFill>
              <a:srgbClr val="FFCC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graphicFrame>
        <p:nvGraphicFramePr>
          <p:cNvPr id="118820" name="Object 36">
            <a:extLst>
              <a:ext uri="{FF2B5EF4-FFF2-40B4-BE49-F238E27FC236}">
                <a16:creationId xmlns:a16="http://schemas.microsoft.com/office/drawing/2014/main" id="{A6D55BF9-60E6-4220-AA86-15F6CE553074}"/>
              </a:ext>
            </a:extLst>
          </p:cNvPr>
          <p:cNvGraphicFramePr>
            <a:graphicFrameLocks noChangeAspect="1"/>
          </p:cNvGraphicFramePr>
          <p:nvPr/>
        </p:nvGraphicFramePr>
        <p:xfrm>
          <a:off x="4000500" y="4887913"/>
          <a:ext cx="1931988" cy="755650"/>
        </p:xfrm>
        <a:graphic>
          <a:graphicData uri="http://schemas.openxmlformats.org/presentationml/2006/ole">
            <mc:AlternateContent xmlns:mc="http://schemas.openxmlformats.org/markup-compatibility/2006">
              <mc:Choice xmlns:v="urn:schemas-microsoft-com:vml" Requires="v">
                <p:oleObj spid="_x0000_s565568" name="Equation" r:id="rId15" imgW="1059003" imgH="403844" progId="Equation.3">
                  <p:embed/>
                </p:oleObj>
              </mc:Choice>
              <mc:Fallback>
                <p:oleObj name="Equation" r:id="rId15" imgW="1059003" imgH="403844" progId="Equation.3">
                  <p:embed/>
                  <p:pic>
                    <p:nvPicPr>
                      <p:cNvPr id="118820" name="Object 36">
                        <a:extLst>
                          <a:ext uri="{FF2B5EF4-FFF2-40B4-BE49-F238E27FC236}">
                            <a16:creationId xmlns:a16="http://schemas.microsoft.com/office/drawing/2014/main" id="{A6D55BF9-60E6-4220-AA86-15F6CE553074}"/>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000500" y="4887913"/>
                        <a:ext cx="1931988" cy="755650"/>
                      </a:xfrm>
                      <a:prstGeom prst="rect">
                        <a:avLst/>
                      </a:prstGeom>
                      <a:noFill/>
                      <a:ln>
                        <a:noFill/>
                      </a:ln>
                      <a:extLst>
                        <a:ext uri="{909E8E84-426E-40DD-AFC4-6F175D3DCCD1}">
                          <a14:hiddenFill xmlns:a14="http://schemas.microsoft.com/office/drawing/2010/main">
                            <a:solidFill>
                              <a:srgbClr val="006699"/>
                            </a:solidFill>
                          </a14:hiddenFill>
                        </a:ext>
                        <a:ext uri="{91240B29-F687-4F45-9708-019B960494DF}">
                          <a14:hiddenLine xmlns:a14="http://schemas.microsoft.com/office/drawing/2010/main" w="22225">
                            <a:solidFill>
                              <a:srgbClr val="FF6600"/>
                            </a:solidFill>
                            <a:miter lim="800000"/>
                            <a:headEnd/>
                            <a:tailEnd/>
                          </a14:hiddenLine>
                        </a:ext>
                      </a:extLst>
                    </p:spPr>
                  </p:pic>
                </p:oleObj>
              </mc:Fallback>
            </mc:AlternateContent>
          </a:graphicData>
        </a:graphic>
      </p:graphicFrame>
      <p:sp>
        <p:nvSpPr>
          <p:cNvPr id="118821" name="Rectangle 37">
            <a:extLst>
              <a:ext uri="{FF2B5EF4-FFF2-40B4-BE49-F238E27FC236}">
                <a16:creationId xmlns:a16="http://schemas.microsoft.com/office/drawing/2014/main" id="{6D80D9FE-6AC3-4FD8-AF14-C357D2083695}"/>
              </a:ext>
            </a:extLst>
          </p:cNvPr>
          <p:cNvSpPr>
            <a:spLocks noChangeArrowheads="1"/>
          </p:cNvSpPr>
          <p:nvPr/>
        </p:nvSpPr>
        <p:spPr bwMode="auto">
          <a:xfrm>
            <a:off x="6072188" y="4972050"/>
            <a:ext cx="2714625" cy="457200"/>
          </a:xfrm>
          <a:prstGeom prst="rect">
            <a:avLst/>
          </a:prstGeom>
          <a:noFill/>
          <a:ln w="22225">
            <a:noFill/>
            <a:miter lim="800000"/>
            <a:headEnd/>
            <a:tailEnd/>
          </a:ln>
        </p:spPr>
        <p:txBody>
          <a:bodyPr>
            <a:spAutoFit/>
          </a:bodyPr>
          <a:lstStyle/>
          <a:p>
            <a:pPr algn="ctr" eaLnBrk="1" hangingPunct="1">
              <a:defRPr/>
            </a:pPr>
            <a:r>
              <a:rPr lang="zh-CN" altLang="en-US" sz="2300" dirty="0">
                <a:solidFill>
                  <a:srgbClr val="FFFF00"/>
                </a:solidFill>
                <a:latin typeface="+mn-ea"/>
                <a:ea typeface="+mn-ea"/>
              </a:rPr>
              <a:t>粒子数正常分布</a:t>
            </a:r>
          </a:p>
        </p:txBody>
      </p:sp>
      <p:sp>
        <p:nvSpPr>
          <p:cNvPr id="118822" name="Text Box 38">
            <a:extLst>
              <a:ext uri="{FF2B5EF4-FFF2-40B4-BE49-F238E27FC236}">
                <a16:creationId xmlns:a16="http://schemas.microsoft.com/office/drawing/2014/main" id="{5B1CC7D6-8EDF-4077-B3B7-5AE91A7300E9}"/>
              </a:ext>
            </a:extLst>
          </p:cNvPr>
          <p:cNvSpPr txBox="1">
            <a:spLocks noChangeArrowheads="1"/>
          </p:cNvSpPr>
          <p:nvPr/>
        </p:nvSpPr>
        <p:spPr bwMode="auto">
          <a:xfrm>
            <a:off x="906463" y="5619750"/>
            <a:ext cx="1511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rgbClr val="FFFF00"/>
                </a:solidFill>
              </a:rPr>
              <a:t>说明</a:t>
            </a:r>
          </a:p>
        </p:txBody>
      </p:sp>
      <p:sp>
        <p:nvSpPr>
          <p:cNvPr id="118823" name="AutoShape 39">
            <a:extLst>
              <a:ext uri="{FF2B5EF4-FFF2-40B4-BE49-F238E27FC236}">
                <a16:creationId xmlns:a16="http://schemas.microsoft.com/office/drawing/2014/main" id="{F02E8DD2-1E71-4130-8EE9-8422187459A9}"/>
              </a:ext>
            </a:extLst>
          </p:cNvPr>
          <p:cNvSpPr>
            <a:spLocks noChangeArrowheads="1"/>
          </p:cNvSpPr>
          <p:nvPr/>
        </p:nvSpPr>
        <p:spPr bwMode="auto">
          <a:xfrm>
            <a:off x="546100" y="5572125"/>
            <a:ext cx="360363" cy="576263"/>
          </a:xfrm>
          <a:prstGeom prst="star4">
            <a:avLst>
              <a:gd name="adj" fmla="val 18519"/>
            </a:avLst>
          </a:prstGeom>
          <a:gradFill rotWithShape="0">
            <a:gsLst>
              <a:gs pos="0">
                <a:srgbClr val="99FF99"/>
              </a:gs>
              <a:gs pos="100000">
                <a:srgbClr val="477647"/>
              </a:gs>
            </a:gsLst>
            <a:path path="shape">
              <a:fillToRect l="50000" t="50000" r="50000" b="50000"/>
            </a:path>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18824" name="Rectangle 40">
            <a:extLst>
              <a:ext uri="{FF2B5EF4-FFF2-40B4-BE49-F238E27FC236}">
                <a16:creationId xmlns:a16="http://schemas.microsoft.com/office/drawing/2014/main" id="{0B623589-AA42-4BF8-A4A8-083F8B092C5F}"/>
              </a:ext>
            </a:extLst>
          </p:cNvPr>
          <p:cNvSpPr>
            <a:spLocks noChangeArrowheads="1"/>
          </p:cNvSpPr>
          <p:nvPr/>
        </p:nvSpPr>
        <p:spPr bwMode="auto">
          <a:xfrm>
            <a:off x="1698625" y="5648325"/>
            <a:ext cx="70881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a:solidFill>
                  <a:schemeClr val="bg1"/>
                </a:solidFill>
                <a:ea typeface="楷体_GB2312" pitchFamily="49" charset="-122"/>
              </a:rPr>
              <a:t>一般体系中原子几乎都处于基态，受激吸收大于受激辐射</a:t>
            </a:r>
          </a:p>
        </p:txBody>
      </p:sp>
      <p:sp>
        <p:nvSpPr>
          <p:cNvPr id="118825" name="Rectangle 41">
            <a:extLst>
              <a:ext uri="{FF2B5EF4-FFF2-40B4-BE49-F238E27FC236}">
                <a16:creationId xmlns:a16="http://schemas.microsoft.com/office/drawing/2014/main" id="{FB6626BA-AF94-4CAB-AED5-0B417A807DBA}"/>
              </a:ext>
            </a:extLst>
          </p:cNvPr>
          <p:cNvSpPr>
            <a:spLocks noChangeArrowheads="1"/>
          </p:cNvSpPr>
          <p:nvPr/>
        </p:nvSpPr>
        <p:spPr bwMode="auto">
          <a:xfrm>
            <a:off x="835025" y="6108700"/>
            <a:ext cx="80232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dirty="0">
                <a:solidFill>
                  <a:schemeClr val="bg1"/>
                </a:solidFill>
                <a:ea typeface="楷体_GB2312" pitchFamily="49" charset="-122"/>
              </a:rPr>
              <a:t>若介质处于粒子数反转态，            光在其中传播时有可能得以放大</a:t>
            </a:r>
          </a:p>
        </p:txBody>
      </p:sp>
      <p:graphicFrame>
        <p:nvGraphicFramePr>
          <p:cNvPr id="118826" name="Object 42">
            <a:extLst>
              <a:ext uri="{FF2B5EF4-FFF2-40B4-BE49-F238E27FC236}">
                <a16:creationId xmlns:a16="http://schemas.microsoft.com/office/drawing/2014/main" id="{C26AE88B-57F1-4EF1-9D01-0F487CD02FBC}"/>
              </a:ext>
            </a:extLst>
          </p:cNvPr>
          <p:cNvGraphicFramePr>
            <a:graphicFrameLocks noChangeAspect="1"/>
          </p:cNvGraphicFramePr>
          <p:nvPr/>
        </p:nvGraphicFramePr>
        <p:xfrm>
          <a:off x="4000500" y="6159500"/>
          <a:ext cx="687388" cy="346075"/>
        </p:xfrm>
        <a:graphic>
          <a:graphicData uri="http://schemas.openxmlformats.org/presentationml/2006/ole">
            <mc:AlternateContent xmlns:mc="http://schemas.openxmlformats.org/markup-compatibility/2006">
              <mc:Choice xmlns:v="urn:schemas-microsoft-com:vml" Requires="v">
                <p:oleObj spid="_x0000_s565569" name="公式" r:id="rId17" imgW="503133" imgH="182833" progId="Equation.3">
                  <p:embed/>
                </p:oleObj>
              </mc:Choice>
              <mc:Fallback>
                <p:oleObj name="公式" r:id="rId17" imgW="503133" imgH="182833" progId="Equation.3">
                  <p:embed/>
                  <p:pic>
                    <p:nvPicPr>
                      <p:cNvPr id="118826" name="Object 42">
                        <a:extLst>
                          <a:ext uri="{FF2B5EF4-FFF2-40B4-BE49-F238E27FC236}">
                            <a16:creationId xmlns:a16="http://schemas.microsoft.com/office/drawing/2014/main" id="{C26AE88B-57F1-4EF1-9D01-0F487CD02FBC}"/>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000500" y="6159500"/>
                        <a:ext cx="687388" cy="346075"/>
                      </a:xfrm>
                      <a:prstGeom prst="rect">
                        <a:avLst/>
                      </a:prstGeom>
                      <a:noFill/>
                      <a:ln>
                        <a:noFill/>
                      </a:ln>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9739" name="灯片编号占位符 1">
            <a:extLst>
              <a:ext uri="{FF2B5EF4-FFF2-40B4-BE49-F238E27FC236}">
                <a16:creationId xmlns:a16="http://schemas.microsoft.com/office/drawing/2014/main" id="{60605207-069C-4971-B7E4-E90E083DB7A0}"/>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AA0CAB70-1ECC-4D05-A434-611DF033AB25}" type="slidenum">
              <a:rPr lang="en-US" altLang="zh-CN" b="0">
                <a:solidFill>
                  <a:srgbClr val="FF00FF"/>
                </a:solidFill>
              </a:rPr>
              <a:pPr eaLnBrk="1" hangingPunct="1"/>
              <a:t>18</a:t>
            </a:fld>
            <a:r>
              <a:rPr lang="en-US" altLang="zh-CN" b="0">
                <a:solidFill>
                  <a:srgbClr val="FF00FF"/>
                </a:solidFill>
              </a:rPr>
              <a:t>/28</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18786"/>
                                        </p:tgtEl>
                                        <p:attrNameLst>
                                          <p:attrName>style.visibility</p:attrName>
                                        </p:attrNameLst>
                                      </p:cBhvr>
                                      <p:to>
                                        <p:strVal val="visible"/>
                                      </p:to>
                                    </p:set>
                                    <p:animEffect transition="in" filter="wipe(left)">
                                      <p:cBhvr>
                                        <p:cTn id="7" dur="1000"/>
                                        <p:tgtEl>
                                          <p:spTgt spid="11878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18791"/>
                                        </p:tgtEl>
                                        <p:attrNameLst>
                                          <p:attrName>style.visibility</p:attrName>
                                        </p:attrNameLst>
                                      </p:cBhvr>
                                      <p:to>
                                        <p:strVal val="visible"/>
                                      </p:to>
                                    </p:set>
                                    <p:animEffect transition="in" filter="wipe(left)">
                                      <p:cBhvr>
                                        <p:cTn id="12" dur="1000"/>
                                        <p:tgtEl>
                                          <p:spTgt spid="11879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18809"/>
                                        </p:tgtEl>
                                        <p:attrNameLst>
                                          <p:attrName>style.visibility</p:attrName>
                                        </p:attrNameLst>
                                      </p:cBhvr>
                                      <p:to>
                                        <p:strVal val="visible"/>
                                      </p:to>
                                    </p:set>
                                    <p:animEffect transition="in" filter="wipe(left)">
                                      <p:cBhvr>
                                        <p:cTn id="17" dur="1000"/>
                                        <p:tgtEl>
                                          <p:spTgt spid="118809"/>
                                        </p:tgtEl>
                                      </p:cBhvr>
                                    </p:animEffect>
                                  </p:childTnLst>
                                </p:cTn>
                              </p:par>
                            </p:childTnLst>
                          </p:cTn>
                        </p:par>
                        <p:par>
                          <p:cTn id="18" fill="hold" nodeType="afterGroup">
                            <p:stCondLst>
                              <p:cond delay="1000"/>
                            </p:stCondLst>
                            <p:childTnLst>
                              <p:par>
                                <p:cTn id="19" presetID="22" presetClass="entr" presetSubtype="8" fill="hold" nodeType="afterEffect">
                                  <p:stCondLst>
                                    <p:cond delay="0"/>
                                  </p:stCondLst>
                                  <p:childTnLst>
                                    <p:set>
                                      <p:cBhvr>
                                        <p:cTn id="20" dur="1" fill="hold">
                                          <p:stCondLst>
                                            <p:cond delay="0"/>
                                          </p:stCondLst>
                                        </p:cTn>
                                        <p:tgtEl>
                                          <p:spTgt spid="118808"/>
                                        </p:tgtEl>
                                        <p:attrNameLst>
                                          <p:attrName>style.visibility</p:attrName>
                                        </p:attrNameLst>
                                      </p:cBhvr>
                                      <p:to>
                                        <p:strVal val="visible"/>
                                      </p:to>
                                    </p:set>
                                    <p:animEffect transition="in" filter="wipe(left)">
                                      <p:cBhvr>
                                        <p:cTn id="21" dur="1000"/>
                                        <p:tgtEl>
                                          <p:spTgt spid="118808"/>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18811"/>
                                        </p:tgtEl>
                                        <p:attrNameLst>
                                          <p:attrName>style.visibility</p:attrName>
                                        </p:attrNameLst>
                                      </p:cBhvr>
                                      <p:to>
                                        <p:strVal val="visible"/>
                                      </p:to>
                                    </p:set>
                                    <p:animEffect transition="in" filter="wipe(left)">
                                      <p:cBhvr>
                                        <p:cTn id="26" dur="1000"/>
                                        <p:tgtEl>
                                          <p:spTgt spid="118811"/>
                                        </p:tgtEl>
                                      </p:cBhvr>
                                    </p:animEffect>
                                  </p:childTnLst>
                                </p:cTn>
                              </p:par>
                            </p:childTnLst>
                          </p:cTn>
                        </p:par>
                        <p:par>
                          <p:cTn id="27" fill="hold" nodeType="afterGroup">
                            <p:stCondLst>
                              <p:cond delay="1000"/>
                            </p:stCondLst>
                            <p:childTnLst>
                              <p:par>
                                <p:cTn id="28" presetID="9" presetClass="entr" presetSubtype="0" fill="hold" grpId="0" nodeType="afterEffect">
                                  <p:stCondLst>
                                    <p:cond delay="0"/>
                                  </p:stCondLst>
                                  <p:childTnLst>
                                    <p:set>
                                      <p:cBhvr>
                                        <p:cTn id="29" dur="1" fill="hold">
                                          <p:stCondLst>
                                            <p:cond delay="0"/>
                                          </p:stCondLst>
                                        </p:cTn>
                                        <p:tgtEl>
                                          <p:spTgt spid="118810"/>
                                        </p:tgtEl>
                                        <p:attrNameLst>
                                          <p:attrName>style.visibility</p:attrName>
                                        </p:attrNameLst>
                                      </p:cBhvr>
                                      <p:to>
                                        <p:strVal val="visible"/>
                                      </p:to>
                                    </p:set>
                                    <p:animEffect transition="in" filter="dissolve">
                                      <p:cBhvr>
                                        <p:cTn id="30" dur="500"/>
                                        <p:tgtEl>
                                          <p:spTgt spid="118810"/>
                                        </p:tgtEl>
                                      </p:cBhvr>
                                    </p:animEffect>
                                  </p:childTnLst>
                                </p:cTn>
                              </p:par>
                            </p:childTnLst>
                          </p:cTn>
                        </p:par>
                        <p:par>
                          <p:cTn id="31" fill="hold" nodeType="afterGroup">
                            <p:stCondLst>
                              <p:cond delay="1500"/>
                            </p:stCondLst>
                            <p:childTnLst>
                              <p:par>
                                <p:cTn id="32" presetID="22" presetClass="entr" presetSubtype="8" fill="hold" nodeType="afterEffect">
                                  <p:stCondLst>
                                    <p:cond delay="0"/>
                                  </p:stCondLst>
                                  <p:childTnLst>
                                    <p:set>
                                      <p:cBhvr>
                                        <p:cTn id="33" dur="1" fill="hold">
                                          <p:stCondLst>
                                            <p:cond delay="0"/>
                                          </p:stCondLst>
                                        </p:cTn>
                                        <p:tgtEl>
                                          <p:spTgt spid="118812"/>
                                        </p:tgtEl>
                                        <p:attrNameLst>
                                          <p:attrName>style.visibility</p:attrName>
                                        </p:attrNameLst>
                                      </p:cBhvr>
                                      <p:to>
                                        <p:strVal val="visible"/>
                                      </p:to>
                                    </p:set>
                                    <p:animEffect transition="in" filter="wipe(left)">
                                      <p:cBhvr>
                                        <p:cTn id="34" dur="500"/>
                                        <p:tgtEl>
                                          <p:spTgt spid="118812"/>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nodeType="clickEffect">
                                  <p:stCondLst>
                                    <p:cond delay="0"/>
                                  </p:stCondLst>
                                  <p:childTnLst>
                                    <p:set>
                                      <p:cBhvr>
                                        <p:cTn id="38" dur="1" fill="hold">
                                          <p:stCondLst>
                                            <p:cond delay="0"/>
                                          </p:stCondLst>
                                        </p:cTn>
                                        <p:tgtEl>
                                          <p:spTgt spid="118813"/>
                                        </p:tgtEl>
                                        <p:attrNameLst>
                                          <p:attrName>style.visibility</p:attrName>
                                        </p:attrNameLst>
                                      </p:cBhvr>
                                      <p:to>
                                        <p:strVal val="visible"/>
                                      </p:to>
                                    </p:set>
                                    <p:animEffect transition="in" filter="wipe(left)">
                                      <p:cBhvr>
                                        <p:cTn id="39" dur="500"/>
                                        <p:tgtEl>
                                          <p:spTgt spid="118813"/>
                                        </p:tgtEl>
                                      </p:cBhvr>
                                    </p:animEffect>
                                  </p:childTnLst>
                                </p:cTn>
                              </p:par>
                            </p:childTnLst>
                          </p:cTn>
                        </p:par>
                        <p:par>
                          <p:cTn id="40" fill="hold" nodeType="afterGroup">
                            <p:stCondLst>
                              <p:cond delay="500"/>
                            </p:stCondLst>
                            <p:childTnLst>
                              <p:par>
                                <p:cTn id="41" presetID="9" presetClass="entr" presetSubtype="0" fill="hold" grpId="0" nodeType="afterEffect">
                                  <p:stCondLst>
                                    <p:cond delay="500"/>
                                  </p:stCondLst>
                                  <p:childTnLst>
                                    <p:set>
                                      <p:cBhvr>
                                        <p:cTn id="42" dur="1" fill="hold">
                                          <p:stCondLst>
                                            <p:cond delay="0"/>
                                          </p:stCondLst>
                                        </p:cTn>
                                        <p:tgtEl>
                                          <p:spTgt spid="118814"/>
                                        </p:tgtEl>
                                        <p:attrNameLst>
                                          <p:attrName>style.visibility</p:attrName>
                                        </p:attrNameLst>
                                      </p:cBhvr>
                                      <p:to>
                                        <p:strVal val="visible"/>
                                      </p:to>
                                    </p:set>
                                    <p:animEffect transition="in" filter="dissolve">
                                      <p:cBhvr>
                                        <p:cTn id="43" dur="500"/>
                                        <p:tgtEl>
                                          <p:spTgt spid="118814"/>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nodeType="clickEffect">
                                  <p:stCondLst>
                                    <p:cond delay="0"/>
                                  </p:stCondLst>
                                  <p:childTnLst>
                                    <p:set>
                                      <p:cBhvr>
                                        <p:cTn id="47" dur="1" fill="hold">
                                          <p:stCondLst>
                                            <p:cond delay="0"/>
                                          </p:stCondLst>
                                        </p:cTn>
                                        <p:tgtEl>
                                          <p:spTgt spid="118815"/>
                                        </p:tgtEl>
                                        <p:attrNameLst>
                                          <p:attrName>style.visibility</p:attrName>
                                        </p:attrNameLst>
                                      </p:cBhvr>
                                      <p:to>
                                        <p:strVal val="visible"/>
                                      </p:to>
                                    </p:set>
                                    <p:animEffect transition="in" filter="wipe(left)">
                                      <p:cBhvr>
                                        <p:cTn id="48" dur="500"/>
                                        <p:tgtEl>
                                          <p:spTgt spid="118815"/>
                                        </p:tgtEl>
                                      </p:cBhvr>
                                    </p:animEffect>
                                  </p:childTnLst>
                                </p:cTn>
                              </p:par>
                            </p:childTnLst>
                          </p:cTn>
                        </p:par>
                        <p:par>
                          <p:cTn id="49" fill="hold" nodeType="afterGroup">
                            <p:stCondLst>
                              <p:cond delay="500"/>
                            </p:stCondLst>
                            <p:childTnLst>
                              <p:par>
                                <p:cTn id="50" presetID="2" presetClass="entr" presetSubtype="8" fill="hold" grpId="0" nodeType="afterEffect">
                                  <p:stCondLst>
                                    <p:cond delay="0"/>
                                  </p:stCondLst>
                                  <p:childTnLst>
                                    <p:set>
                                      <p:cBhvr>
                                        <p:cTn id="51" dur="1" fill="hold">
                                          <p:stCondLst>
                                            <p:cond delay="0"/>
                                          </p:stCondLst>
                                        </p:cTn>
                                        <p:tgtEl>
                                          <p:spTgt spid="118817"/>
                                        </p:tgtEl>
                                        <p:attrNameLst>
                                          <p:attrName>style.visibility</p:attrName>
                                        </p:attrNameLst>
                                      </p:cBhvr>
                                      <p:to>
                                        <p:strVal val="visible"/>
                                      </p:to>
                                    </p:set>
                                    <p:anim calcmode="lin" valueType="num">
                                      <p:cBhvr additive="base">
                                        <p:cTn id="52" dur="500" fill="hold"/>
                                        <p:tgtEl>
                                          <p:spTgt spid="118817"/>
                                        </p:tgtEl>
                                        <p:attrNameLst>
                                          <p:attrName>ppt_x</p:attrName>
                                        </p:attrNameLst>
                                      </p:cBhvr>
                                      <p:tavLst>
                                        <p:tav tm="0">
                                          <p:val>
                                            <p:strVal val="0-#ppt_w/2"/>
                                          </p:val>
                                        </p:tav>
                                        <p:tav tm="100000">
                                          <p:val>
                                            <p:strVal val="#ppt_x"/>
                                          </p:val>
                                        </p:tav>
                                      </p:tavLst>
                                    </p:anim>
                                    <p:anim calcmode="lin" valueType="num">
                                      <p:cBhvr additive="base">
                                        <p:cTn id="53" dur="500" fill="hold"/>
                                        <p:tgtEl>
                                          <p:spTgt spid="118817"/>
                                        </p:tgtEl>
                                        <p:attrNameLst>
                                          <p:attrName>ppt_y</p:attrName>
                                        </p:attrNameLst>
                                      </p:cBhvr>
                                      <p:tavLst>
                                        <p:tav tm="0">
                                          <p:val>
                                            <p:strVal val="#ppt_y"/>
                                          </p:val>
                                        </p:tav>
                                        <p:tav tm="100000">
                                          <p:val>
                                            <p:strVal val="#ppt_y"/>
                                          </p:val>
                                        </p:tav>
                                      </p:tavLst>
                                    </p:anim>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8" fill="hold" nodeType="clickEffect">
                                  <p:stCondLst>
                                    <p:cond delay="0"/>
                                  </p:stCondLst>
                                  <p:childTnLst>
                                    <p:set>
                                      <p:cBhvr>
                                        <p:cTn id="57" dur="1" fill="hold">
                                          <p:stCondLst>
                                            <p:cond delay="0"/>
                                          </p:stCondLst>
                                        </p:cTn>
                                        <p:tgtEl>
                                          <p:spTgt spid="118816"/>
                                        </p:tgtEl>
                                        <p:attrNameLst>
                                          <p:attrName>style.visibility</p:attrName>
                                        </p:attrNameLst>
                                      </p:cBhvr>
                                      <p:to>
                                        <p:strVal val="visible"/>
                                      </p:to>
                                    </p:set>
                                    <p:animEffect transition="in" filter="wipe(left)">
                                      <p:cBhvr>
                                        <p:cTn id="58" dur="500"/>
                                        <p:tgtEl>
                                          <p:spTgt spid="118816"/>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8" fill="hold" nodeType="clickEffect">
                                  <p:stCondLst>
                                    <p:cond delay="0"/>
                                  </p:stCondLst>
                                  <p:childTnLst>
                                    <p:set>
                                      <p:cBhvr>
                                        <p:cTn id="62" dur="1" fill="hold">
                                          <p:stCondLst>
                                            <p:cond delay="0"/>
                                          </p:stCondLst>
                                        </p:cTn>
                                        <p:tgtEl>
                                          <p:spTgt spid="118818"/>
                                        </p:tgtEl>
                                        <p:attrNameLst>
                                          <p:attrName>style.visibility</p:attrName>
                                        </p:attrNameLst>
                                      </p:cBhvr>
                                      <p:to>
                                        <p:strVal val="visible"/>
                                      </p:to>
                                    </p:set>
                                    <p:animEffect transition="in" filter="wipe(left)">
                                      <p:cBhvr>
                                        <p:cTn id="63" dur="500"/>
                                        <p:tgtEl>
                                          <p:spTgt spid="118818"/>
                                        </p:tgtEl>
                                      </p:cBhvr>
                                    </p:animEffect>
                                  </p:childTnLst>
                                </p:cTn>
                              </p:par>
                            </p:childTnLst>
                          </p:cTn>
                        </p:par>
                        <p:par>
                          <p:cTn id="64" fill="hold" nodeType="afterGroup">
                            <p:stCondLst>
                              <p:cond delay="500"/>
                            </p:stCondLst>
                            <p:childTnLst>
                              <p:par>
                                <p:cTn id="65" presetID="2" presetClass="entr" presetSubtype="8" fill="hold" grpId="0" nodeType="afterEffect">
                                  <p:stCondLst>
                                    <p:cond delay="0"/>
                                  </p:stCondLst>
                                  <p:childTnLst>
                                    <p:set>
                                      <p:cBhvr>
                                        <p:cTn id="66" dur="1" fill="hold">
                                          <p:stCondLst>
                                            <p:cond delay="0"/>
                                          </p:stCondLst>
                                        </p:cTn>
                                        <p:tgtEl>
                                          <p:spTgt spid="118819"/>
                                        </p:tgtEl>
                                        <p:attrNameLst>
                                          <p:attrName>style.visibility</p:attrName>
                                        </p:attrNameLst>
                                      </p:cBhvr>
                                      <p:to>
                                        <p:strVal val="visible"/>
                                      </p:to>
                                    </p:set>
                                    <p:anim calcmode="lin" valueType="num">
                                      <p:cBhvr additive="base">
                                        <p:cTn id="67" dur="500" fill="hold"/>
                                        <p:tgtEl>
                                          <p:spTgt spid="118819"/>
                                        </p:tgtEl>
                                        <p:attrNameLst>
                                          <p:attrName>ppt_x</p:attrName>
                                        </p:attrNameLst>
                                      </p:cBhvr>
                                      <p:tavLst>
                                        <p:tav tm="0">
                                          <p:val>
                                            <p:strVal val="0-#ppt_w/2"/>
                                          </p:val>
                                        </p:tav>
                                        <p:tav tm="100000">
                                          <p:val>
                                            <p:strVal val="#ppt_x"/>
                                          </p:val>
                                        </p:tav>
                                      </p:tavLst>
                                    </p:anim>
                                    <p:anim calcmode="lin" valueType="num">
                                      <p:cBhvr additive="base">
                                        <p:cTn id="68" dur="500" fill="hold"/>
                                        <p:tgtEl>
                                          <p:spTgt spid="118819"/>
                                        </p:tgtEl>
                                        <p:attrNameLst>
                                          <p:attrName>ppt_y</p:attrName>
                                        </p:attrNameLst>
                                      </p:cBhvr>
                                      <p:tavLst>
                                        <p:tav tm="0">
                                          <p:val>
                                            <p:strVal val="#ppt_y"/>
                                          </p:val>
                                        </p:tav>
                                        <p:tav tm="100000">
                                          <p:val>
                                            <p:strVal val="#ppt_y"/>
                                          </p:val>
                                        </p:tav>
                                      </p:tavLst>
                                    </p:anim>
                                  </p:childTnLst>
                                </p:cTn>
                              </p:par>
                            </p:childTnLst>
                          </p:cTn>
                        </p:par>
                        <p:par>
                          <p:cTn id="69" fill="hold" nodeType="afterGroup">
                            <p:stCondLst>
                              <p:cond delay="1000"/>
                            </p:stCondLst>
                            <p:childTnLst>
                              <p:par>
                                <p:cTn id="70" presetID="22" presetClass="entr" presetSubtype="8" fill="hold" nodeType="afterEffect">
                                  <p:stCondLst>
                                    <p:cond delay="0"/>
                                  </p:stCondLst>
                                  <p:childTnLst>
                                    <p:set>
                                      <p:cBhvr>
                                        <p:cTn id="71" dur="1" fill="hold">
                                          <p:stCondLst>
                                            <p:cond delay="0"/>
                                          </p:stCondLst>
                                        </p:cTn>
                                        <p:tgtEl>
                                          <p:spTgt spid="118820"/>
                                        </p:tgtEl>
                                        <p:attrNameLst>
                                          <p:attrName>style.visibility</p:attrName>
                                        </p:attrNameLst>
                                      </p:cBhvr>
                                      <p:to>
                                        <p:strVal val="visible"/>
                                      </p:to>
                                    </p:set>
                                    <p:animEffect transition="in" filter="wipe(left)">
                                      <p:cBhvr>
                                        <p:cTn id="72" dur="500"/>
                                        <p:tgtEl>
                                          <p:spTgt spid="118820"/>
                                        </p:tgtEl>
                                      </p:cBhvr>
                                    </p:animEffect>
                                  </p:childTnLst>
                                </p:cTn>
                              </p:par>
                            </p:childTnLst>
                          </p:cTn>
                        </p:par>
                        <p:par>
                          <p:cTn id="73" fill="hold" nodeType="afterGroup">
                            <p:stCondLst>
                              <p:cond delay="1500"/>
                            </p:stCondLst>
                            <p:childTnLst>
                              <p:par>
                                <p:cTn id="74" presetID="22" presetClass="entr" presetSubtype="8" fill="hold" grpId="0" nodeType="afterEffect">
                                  <p:stCondLst>
                                    <p:cond delay="0"/>
                                  </p:stCondLst>
                                  <p:childTnLst>
                                    <p:set>
                                      <p:cBhvr>
                                        <p:cTn id="75" dur="1" fill="hold">
                                          <p:stCondLst>
                                            <p:cond delay="0"/>
                                          </p:stCondLst>
                                        </p:cTn>
                                        <p:tgtEl>
                                          <p:spTgt spid="118821"/>
                                        </p:tgtEl>
                                        <p:attrNameLst>
                                          <p:attrName>style.visibility</p:attrName>
                                        </p:attrNameLst>
                                      </p:cBhvr>
                                      <p:to>
                                        <p:strVal val="visible"/>
                                      </p:to>
                                    </p:set>
                                    <p:animEffect transition="in" filter="wipe(left)">
                                      <p:cBhvr>
                                        <p:cTn id="76" dur="1000"/>
                                        <p:tgtEl>
                                          <p:spTgt spid="118821"/>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50" presetClass="entr" presetSubtype="0" decel="100000" fill="hold" grpId="0" nodeType="clickEffect">
                                  <p:stCondLst>
                                    <p:cond delay="0"/>
                                  </p:stCondLst>
                                  <p:childTnLst>
                                    <p:set>
                                      <p:cBhvr>
                                        <p:cTn id="80" dur="1" fill="hold">
                                          <p:stCondLst>
                                            <p:cond delay="0"/>
                                          </p:stCondLst>
                                        </p:cTn>
                                        <p:tgtEl>
                                          <p:spTgt spid="118823"/>
                                        </p:tgtEl>
                                        <p:attrNameLst>
                                          <p:attrName>style.visibility</p:attrName>
                                        </p:attrNameLst>
                                      </p:cBhvr>
                                      <p:to>
                                        <p:strVal val="visible"/>
                                      </p:to>
                                    </p:set>
                                    <p:anim calcmode="lin" valueType="num">
                                      <p:cBhvr>
                                        <p:cTn id="81" dur="1000" fill="hold"/>
                                        <p:tgtEl>
                                          <p:spTgt spid="118823"/>
                                        </p:tgtEl>
                                        <p:attrNameLst>
                                          <p:attrName>ppt_w</p:attrName>
                                        </p:attrNameLst>
                                      </p:cBhvr>
                                      <p:tavLst>
                                        <p:tav tm="0">
                                          <p:val>
                                            <p:strVal val="#ppt_w+.3"/>
                                          </p:val>
                                        </p:tav>
                                        <p:tav tm="100000">
                                          <p:val>
                                            <p:strVal val="#ppt_w"/>
                                          </p:val>
                                        </p:tav>
                                      </p:tavLst>
                                    </p:anim>
                                    <p:anim calcmode="lin" valueType="num">
                                      <p:cBhvr>
                                        <p:cTn id="82" dur="1000" fill="hold"/>
                                        <p:tgtEl>
                                          <p:spTgt spid="118823"/>
                                        </p:tgtEl>
                                        <p:attrNameLst>
                                          <p:attrName>ppt_h</p:attrName>
                                        </p:attrNameLst>
                                      </p:cBhvr>
                                      <p:tavLst>
                                        <p:tav tm="0">
                                          <p:val>
                                            <p:strVal val="#ppt_h"/>
                                          </p:val>
                                        </p:tav>
                                        <p:tav tm="100000">
                                          <p:val>
                                            <p:strVal val="#ppt_h"/>
                                          </p:val>
                                        </p:tav>
                                      </p:tavLst>
                                    </p:anim>
                                    <p:animEffect transition="in" filter="fade">
                                      <p:cBhvr>
                                        <p:cTn id="83" dur="1000"/>
                                        <p:tgtEl>
                                          <p:spTgt spid="118823"/>
                                        </p:tgtEl>
                                      </p:cBhvr>
                                    </p:animEffect>
                                  </p:childTnLst>
                                </p:cTn>
                              </p:par>
                              <p:par>
                                <p:cTn id="84" presetID="9" presetClass="entr" presetSubtype="0" fill="hold" grpId="0" nodeType="withEffect">
                                  <p:stCondLst>
                                    <p:cond delay="0"/>
                                  </p:stCondLst>
                                  <p:childTnLst>
                                    <p:set>
                                      <p:cBhvr>
                                        <p:cTn id="85" dur="1" fill="hold">
                                          <p:stCondLst>
                                            <p:cond delay="0"/>
                                          </p:stCondLst>
                                        </p:cTn>
                                        <p:tgtEl>
                                          <p:spTgt spid="118822"/>
                                        </p:tgtEl>
                                        <p:attrNameLst>
                                          <p:attrName>style.visibility</p:attrName>
                                        </p:attrNameLst>
                                      </p:cBhvr>
                                      <p:to>
                                        <p:strVal val="visible"/>
                                      </p:to>
                                    </p:set>
                                    <p:animEffect transition="in" filter="dissolve">
                                      <p:cBhvr>
                                        <p:cTn id="86" dur="500"/>
                                        <p:tgtEl>
                                          <p:spTgt spid="118822"/>
                                        </p:tgtEl>
                                      </p:cBhvr>
                                    </p:animEffect>
                                  </p:childTnLst>
                                </p:cTn>
                              </p:par>
                            </p:childTnLst>
                          </p:cTn>
                        </p:par>
                        <p:par>
                          <p:cTn id="87" fill="hold" nodeType="afterGroup">
                            <p:stCondLst>
                              <p:cond delay="1000"/>
                            </p:stCondLst>
                            <p:childTnLst>
                              <p:par>
                                <p:cTn id="88" presetID="22" presetClass="entr" presetSubtype="8" fill="hold" grpId="0" nodeType="afterEffect">
                                  <p:stCondLst>
                                    <p:cond delay="0"/>
                                  </p:stCondLst>
                                  <p:childTnLst>
                                    <p:set>
                                      <p:cBhvr>
                                        <p:cTn id="89" dur="1" fill="hold">
                                          <p:stCondLst>
                                            <p:cond delay="0"/>
                                          </p:stCondLst>
                                        </p:cTn>
                                        <p:tgtEl>
                                          <p:spTgt spid="118824"/>
                                        </p:tgtEl>
                                        <p:attrNameLst>
                                          <p:attrName>style.visibility</p:attrName>
                                        </p:attrNameLst>
                                      </p:cBhvr>
                                      <p:to>
                                        <p:strVal val="visible"/>
                                      </p:to>
                                    </p:set>
                                    <p:animEffect transition="in" filter="wipe(left)">
                                      <p:cBhvr>
                                        <p:cTn id="90" dur="1000"/>
                                        <p:tgtEl>
                                          <p:spTgt spid="118824"/>
                                        </p:tgtEl>
                                      </p:cBhvr>
                                    </p:animEffect>
                                  </p:childTnLst>
                                </p:cTn>
                              </p:par>
                            </p:childTnLst>
                          </p:cTn>
                        </p:par>
                      </p:childTnLst>
                    </p:cTn>
                  </p:par>
                  <p:par>
                    <p:cTn id="91" fill="hold" nodeType="clickPar">
                      <p:stCondLst>
                        <p:cond delay="indefinite"/>
                      </p:stCondLst>
                      <p:childTnLst>
                        <p:par>
                          <p:cTn id="92" fill="hold" nodeType="withGroup">
                            <p:stCondLst>
                              <p:cond delay="0"/>
                            </p:stCondLst>
                            <p:childTnLst>
                              <p:par>
                                <p:cTn id="93" presetID="22" presetClass="entr" presetSubtype="8" fill="hold" grpId="0" nodeType="clickEffect">
                                  <p:stCondLst>
                                    <p:cond delay="0"/>
                                  </p:stCondLst>
                                  <p:childTnLst>
                                    <p:set>
                                      <p:cBhvr>
                                        <p:cTn id="94" dur="1" fill="hold">
                                          <p:stCondLst>
                                            <p:cond delay="0"/>
                                          </p:stCondLst>
                                        </p:cTn>
                                        <p:tgtEl>
                                          <p:spTgt spid="118825"/>
                                        </p:tgtEl>
                                        <p:attrNameLst>
                                          <p:attrName>style.visibility</p:attrName>
                                        </p:attrNameLst>
                                      </p:cBhvr>
                                      <p:to>
                                        <p:strVal val="visible"/>
                                      </p:to>
                                    </p:set>
                                    <p:animEffect transition="in" filter="wipe(left)">
                                      <p:cBhvr>
                                        <p:cTn id="95" dur="500"/>
                                        <p:tgtEl>
                                          <p:spTgt spid="118825"/>
                                        </p:tgtEl>
                                      </p:cBhvr>
                                    </p:animEffect>
                                  </p:childTnLst>
                                </p:cTn>
                              </p:par>
                            </p:childTnLst>
                          </p:cTn>
                        </p:par>
                        <p:par>
                          <p:cTn id="96" fill="hold" nodeType="afterGroup">
                            <p:stCondLst>
                              <p:cond delay="500"/>
                            </p:stCondLst>
                            <p:childTnLst>
                              <p:par>
                                <p:cTn id="97" presetID="23" presetClass="entr" presetSubtype="32" fill="hold" nodeType="afterEffect">
                                  <p:stCondLst>
                                    <p:cond delay="0"/>
                                  </p:stCondLst>
                                  <p:childTnLst>
                                    <p:set>
                                      <p:cBhvr>
                                        <p:cTn id="98" dur="1" fill="hold">
                                          <p:stCondLst>
                                            <p:cond delay="0"/>
                                          </p:stCondLst>
                                        </p:cTn>
                                        <p:tgtEl>
                                          <p:spTgt spid="118826"/>
                                        </p:tgtEl>
                                        <p:attrNameLst>
                                          <p:attrName>style.visibility</p:attrName>
                                        </p:attrNameLst>
                                      </p:cBhvr>
                                      <p:to>
                                        <p:strVal val="visible"/>
                                      </p:to>
                                    </p:set>
                                    <p:anim calcmode="lin" valueType="num">
                                      <p:cBhvr>
                                        <p:cTn id="99" dur="500" fill="hold"/>
                                        <p:tgtEl>
                                          <p:spTgt spid="118826"/>
                                        </p:tgtEl>
                                        <p:attrNameLst>
                                          <p:attrName>ppt_w</p:attrName>
                                        </p:attrNameLst>
                                      </p:cBhvr>
                                      <p:tavLst>
                                        <p:tav tm="0">
                                          <p:val>
                                            <p:strVal val="4*#ppt_w"/>
                                          </p:val>
                                        </p:tav>
                                        <p:tav tm="100000">
                                          <p:val>
                                            <p:strVal val="#ppt_w"/>
                                          </p:val>
                                        </p:tav>
                                      </p:tavLst>
                                    </p:anim>
                                    <p:anim calcmode="lin" valueType="num">
                                      <p:cBhvr>
                                        <p:cTn id="100" dur="500" fill="hold"/>
                                        <p:tgtEl>
                                          <p:spTgt spid="118826"/>
                                        </p:tgtEl>
                                        <p:attrNameLst>
                                          <p:attrName>ppt_h</p:attrName>
                                        </p:attrNameLst>
                                      </p:cBhvr>
                                      <p:tavLst>
                                        <p:tav tm="0">
                                          <p:val>
                                            <p:strVal val="4*#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786" grpId="0"/>
      <p:bldP spid="118809" grpId="0"/>
      <p:bldP spid="118810" grpId="0" autoUpdateAnimBg="0"/>
      <p:bldP spid="118811" grpId="0" autoUpdateAnimBg="0"/>
      <p:bldP spid="118814" grpId="0" autoUpdateAnimBg="0"/>
      <p:bldP spid="118817" grpId="0" animBg="1"/>
      <p:bldP spid="118819" grpId="0" animBg="1"/>
      <p:bldP spid="118821" grpId="0"/>
      <p:bldP spid="118822" grpId="0"/>
      <p:bldP spid="118823" grpId="0" animBg="1"/>
      <p:bldP spid="118824" grpId="0" autoUpdateAnimBg="0"/>
      <p:bldP spid="11882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a:extLst>
              <a:ext uri="{FF2B5EF4-FFF2-40B4-BE49-F238E27FC236}">
                <a16:creationId xmlns:a16="http://schemas.microsoft.com/office/drawing/2014/main" id="{E567188C-4B5F-44EB-B029-8E2E9832E58F}"/>
              </a:ext>
            </a:extLst>
          </p:cNvPr>
          <p:cNvSpPr>
            <a:spLocks noChangeArrowheads="1"/>
          </p:cNvSpPr>
          <p:nvPr/>
        </p:nvSpPr>
        <p:spPr bwMode="auto">
          <a:xfrm>
            <a:off x="357188" y="190500"/>
            <a:ext cx="21605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76176" bIns="76176">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rgbClr val="00FFFF"/>
                </a:solidFill>
                <a:ea typeface="华文中宋" panose="02010600040101010101" pitchFamily="2" charset="-122"/>
              </a:rPr>
              <a:t>2. </a:t>
            </a:r>
            <a:r>
              <a:rPr lang="zh-CN" altLang="en-US">
                <a:solidFill>
                  <a:srgbClr val="00FFFF"/>
                </a:solidFill>
                <a:ea typeface="华文中宋" panose="02010600040101010101" pitchFamily="2" charset="-122"/>
              </a:rPr>
              <a:t>粒子数反转</a:t>
            </a:r>
          </a:p>
        </p:txBody>
      </p:sp>
      <p:sp>
        <p:nvSpPr>
          <p:cNvPr id="119811" name="Rectangle 3">
            <a:extLst>
              <a:ext uri="{FF2B5EF4-FFF2-40B4-BE49-F238E27FC236}">
                <a16:creationId xmlns:a16="http://schemas.microsoft.com/office/drawing/2014/main" id="{E3D14558-C139-4895-B337-BEB5E73F1966}"/>
              </a:ext>
            </a:extLst>
          </p:cNvPr>
          <p:cNvSpPr>
            <a:spLocks noChangeArrowheads="1"/>
          </p:cNvSpPr>
          <p:nvPr/>
        </p:nvSpPr>
        <p:spPr bwMode="auto">
          <a:xfrm>
            <a:off x="2374900" y="190500"/>
            <a:ext cx="56007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tIns="76176" bIns="76176">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chemeClr val="bg1"/>
                </a:solidFill>
                <a:latin typeface="宋体" panose="02010600030101010101" pitchFamily="2" charset="-122"/>
              </a:rPr>
              <a:t>——</a:t>
            </a:r>
            <a:r>
              <a:rPr lang="zh-CN" altLang="en-US">
                <a:solidFill>
                  <a:schemeClr val="bg1"/>
                </a:solidFill>
                <a:latin typeface="宋体" panose="02010600030101010101" pitchFamily="2" charset="-122"/>
              </a:rPr>
              <a:t>产生光放大和激光的前提条件</a:t>
            </a:r>
          </a:p>
        </p:txBody>
      </p:sp>
      <p:graphicFrame>
        <p:nvGraphicFramePr>
          <p:cNvPr id="119812" name="Object 4">
            <a:extLst>
              <a:ext uri="{FF2B5EF4-FFF2-40B4-BE49-F238E27FC236}">
                <a16:creationId xmlns:a16="http://schemas.microsoft.com/office/drawing/2014/main" id="{0A8E7368-1F7C-46D9-BA28-9F9A2108704A}"/>
              </a:ext>
            </a:extLst>
          </p:cNvPr>
          <p:cNvGraphicFramePr>
            <a:graphicFrameLocks noChangeAspect="1"/>
          </p:cNvGraphicFramePr>
          <p:nvPr/>
        </p:nvGraphicFramePr>
        <p:xfrm>
          <a:off x="1171575" y="750888"/>
          <a:ext cx="1508125" cy="463550"/>
        </p:xfrm>
        <a:graphic>
          <a:graphicData uri="http://schemas.openxmlformats.org/presentationml/2006/ole">
            <mc:AlternateContent xmlns:mc="http://schemas.openxmlformats.org/markup-compatibility/2006">
              <mc:Choice xmlns:v="urn:schemas-microsoft-com:vml" Requires="v">
                <p:oleObj spid="_x0000_s566625" name="Equation" r:id="rId3" imgW="579262" imgH="182833" progId="Equation.3">
                  <p:embed/>
                </p:oleObj>
              </mc:Choice>
              <mc:Fallback>
                <p:oleObj name="Equation" r:id="rId3" imgW="579262" imgH="182833" progId="Equation.3">
                  <p:embed/>
                  <p:pic>
                    <p:nvPicPr>
                      <p:cNvPr id="119812" name="Object 4">
                        <a:extLst>
                          <a:ext uri="{FF2B5EF4-FFF2-40B4-BE49-F238E27FC236}">
                            <a16:creationId xmlns:a16="http://schemas.microsoft.com/office/drawing/2014/main" id="{0A8E7368-1F7C-46D9-BA28-9F9A2108704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71575" y="750888"/>
                        <a:ext cx="1508125" cy="463550"/>
                      </a:xfrm>
                      <a:prstGeom prst="rect">
                        <a:avLst/>
                      </a:prstGeom>
                      <a:noFill/>
                      <a:ln>
                        <a:noFill/>
                      </a:ln>
                      <a:extLst>
                        <a:ext uri="{909E8E84-426E-40DD-AFC4-6F175D3DCCD1}">
                          <a14:hiddenFill xmlns:a14="http://schemas.microsoft.com/office/drawing/2010/main">
                            <a:solidFill>
                              <a:srgbClr val="006699"/>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9813" name="Object 5">
            <a:extLst>
              <a:ext uri="{FF2B5EF4-FFF2-40B4-BE49-F238E27FC236}">
                <a16:creationId xmlns:a16="http://schemas.microsoft.com/office/drawing/2014/main" id="{E260ABF6-DAB3-401B-AA1D-AB3BAADC7840}"/>
              </a:ext>
            </a:extLst>
          </p:cNvPr>
          <p:cNvGraphicFramePr>
            <a:graphicFrameLocks noChangeAspect="1"/>
          </p:cNvGraphicFramePr>
          <p:nvPr/>
        </p:nvGraphicFramePr>
        <p:xfrm>
          <a:off x="3824288" y="750888"/>
          <a:ext cx="1319212" cy="463550"/>
        </p:xfrm>
        <a:graphic>
          <a:graphicData uri="http://schemas.openxmlformats.org/presentationml/2006/ole">
            <mc:AlternateContent xmlns:mc="http://schemas.openxmlformats.org/markup-compatibility/2006">
              <mc:Choice xmlns:v="urn:schemas-microsoft-com:vml" Requires="v">
                <p:oleObj spid="_x0000_s566626" name="Equation" r:id="rId5" imgW="503133" imgH="182833" progId="Equation.3">
                  <p:embed/>
                </p:oleObj>
              </mc:Choice>
              <mc:Fallback>
                <p:oleObj name="Equation" r:id="rId5" imgW="503133" imgH="182833" progId="Equation.3">
                  <p:embed/>
                  <p:pic>
                    <p:nvPicPr>
                      <p:cNvPr id="119813" name="Object 5">
                        <a:extLst>
                          <a:ext uri="{FF2B5EF4-FFF2-40B4-BE49-F238E27FC236}">
                            <a16:creationId xmlns:a16="http://schemas.microsoft.com/office/drawing/2014/main" id="{E260ABF6-DAB3-401B-AA1D-AB3BAADC784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24288" y="750888"/>
                        <a:ext cx="1319212" cy="463550"/>
                      </a:xfrm>
                      <a:prstGeom prst="rect">
                        <a:avLst/>
                      </a:prstGeom>
                      <a:noFill/>
                      <a:ln>
                        <a:noFill/>
                      </a:ln>
                      <a:extLst>
                        <a:ext uri="{909E8E84-426E-40DD-AFC4-6F175D3DCCD1}">
                          <a14:hiddenFill xmlns:a14="http://schemas.microsoft.com/office/drawing/2010/main">
                            <a:solidFill>
                              <a:srgbClr val="006699"/>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9814" name="AutoShape 6">
            <a:extLst>
              <a:ext uri="{FF2B5EF4-FFF2-40B4-BE49-F238E27FC236}">
                <a16:creationId xmlns:a16="http://schemas.microsoft.com/office/drawing/2014/main" id="{A852C14F-0520-4E9A-AC59-E48E1203B922}"/>
              </a:ext>
            </a:extLst>
          </p:cNvPr>
          <p:cNvSpPr>
            <a:spLocks noChangeArrowheads="1"/>
          </p:cNvSpPr>
          <p:nvPr/>
        </p:nvSpPr>
        <p:spPr bwMode="auto">
          <a:xfrm>
            <a:off x="2843213" y="793750"/>
            <a:ext cx="800100" cy="385763"/>
          </a:xfrm>
          <a:prstGeom prst="rightArrow">
            <a:avLst>
              <a:gd name="adj1" fmla="val 50000"/>
              <a:gd name="adj2" fmla="val 53455"/>
            </a:avLst>
          </a:prstGeom>
          <a:noFill/>
          <a:ln w="22225">
            <a:solidFill>
              <a:srgbClr val="00FF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19815" name="Rectangle 7">
            <a:extLst>
              <a:ext uri="{FF2B5EF4-FFF2-40B4-BE49-F238E27FC236}">
                <a16:creationId xmlns:a16="http://schemas.microsoft.com/office/drawing/2014/main" id="{22D0CEE5-DF4C-4211-B6FC-731B9E70AE68}"/>
              </a:ext>
            </a:extLst>
          </p:cNvPr>
          <p:cNvSpPr>
            <a:spLocks noChangeArrowheads="1"/>
          </p:cNvSpPr>
          <p:nvPr/>
        </p:nvSpPr>
        <p:spPr bwMode="auto">
          <a:xfrm>
            <a:off x="571500" y="1257300"/>
            <a:ext cx="81438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rgbClr val="EDFE4A"/>
                </a:solidFill>
                <a:latin typeface="宋体" panose="02010600030101010101" pitchFamily="2" charset="-122"/>
              </a:rPr>
              <a:t>★ </a:t>
            </a:r>
            <a:r>
              <a:rPr lang="zh-CN" altLang="en-US">
                <a:solidFill>
                  <a:schemeClr val="bg1"/>
                </a:solidFill>
                <a:latin typeface="宋体" panose="02010600030101010101" pitchFamily="2" charset="-122"/>
              </a:rPr>
              <a:t>产生粒子数反转的物质 </a:t>
            </a:r>
            <a:r>
              <a:rPr lang="en-US" altLang="zh-CN">
                <a:solidFill>
                  <a:schemeClr val="bg1"/>
                </a:solidFill>
                <a:latin typeface="宋体" panose="02010600030101010101" pitchFamily="2" charset="-122"/>
              </a:rPr>
              <a:t>—— </a:t>
            </a:r>
            <a:r>
              <a:rPr lang="zh-CN" altLang="en-US">
                <a:solidFill>
                  <a:srgbClr val="00FFFF"/>
                </a:solidFill>
                <a:latin typeface="宋体" panose="02010600030101010101" pitchFamily="2" charset="-122"/>
              </a:rPr>
              <a:t>激活物质</a:t>
            </a:r>
            <a:r>
              <a:rPr lang="en-US" altLang="zh-CN">
                <a:solidFill>
                  <a:schemeClr val="bg1"/>
                </a:solidFill>
                <a:latin typeface="宋体" panose="02010600030101010101" pitchFamily="2" charset="-122"/>
              </a:rPr>
              <a:t>(</a:t>
            </a:r>
            <a:r>
              <a:rPr lang="zh-CN" altLang="en-US">
                <a:solidFill>
                  <a:schemeClr val="bg1"/>
                </a:solidFill>
                <a:latin typeface="宋体" panose="02010600030101010101" pitchFamily="2" charset="-122"/>
              </a:rPr>
              <a:t>亚稳态</a:t>
            </a:r>
            <a:r>
              <a:rPr lang="en-US" altLang="zh-CN">
                <a:solidFill>
                  <a:schemeClr val="bg1"/>
                </a:solidFill>
                <a:latin typeface="宋体" panose="02010600030101010101" pitchFamily="2" charset="-122"/>
              </a:rPr>
              <a:t>)</a:t>
            </a:r>
          </a:p>
        </p:txBody>
      </p:sp>
      <p:sp>
        <p:nvSpPr>
          <p:cNvPr id="119816" name="Line 8">
            <a:extLst>
              <a:ext uri="{FF2B5EF4-FFF2-40B4-BE49-F238E27FC236}">
                <a16:creationId xmlns:a16="http://schemas.microsoft.com/office/drawing/2014/main" id="{E1AE77AB-7245-4433-BD44-0EE6BC0AC94A}"/>
              </a:ext>
            </a:extLst>
          </p:cNvPr>
          <p:cNvSpPr>
            <a:spLocks noChangeShapeType="1"/>
          </p:cNvSpPr>
          <p:nvPr/>
        </p:nvSpPr>
        <p:spPr bwMode="auto">
          <a:xfrm>
            <a:off x="1122363" y="4008438"/>
            <a:ext cx="1600200" cy="0"/>
          </a:xfrm>
          <a:prstGeom prst="line">
            <a:avLst/>
          </a:prstGeom>
          <a:noFill/>
          <a:ln w="22225">
            <a:solidFill>
              <a:srgbClr val="96969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9817" name="Line 9">
            <a:extLst>
              <a:ext uri="{FF2B5EF4-FFF2-40B4-BE49-F238E27FC236}">
                <a16:creationId xmlns:a16="http://schemas.microsoft.com/office/drawing/2014/main" id="{B540DFC4-F0BF-47C3-B79C-19F3819EFAAE}"/>
              </a:ext>
            </a:extLst>
          </p:cNvPr>
          <p:cNvSpPr>
            <a:spLocks noChangeShapeType="1"/>
          </p:cNvSpPr>
          <p:nvPr/>
        </p:nvSpPr>
        <p:spPr bwMode="auto">
          <a:xfrm>
            <a:off x="1122363" y="1951038"/>
            <a:ext cx="1600200" cy="0"/>
          </a:xfrm>
          <a:prstGeom prst="line">
            <a:avLst/>
          </a:prstGeom>
          <a:noFill/>
          <a:ln w="22225">
            <a:solidFill>
              <a:srgbClr val="FF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9818" name="Line 10">
            <a:extLst>
              <a:ext uri="{FF2B5EF4-FFF2-40B4-BE49-F238E27FC236}">
                <a16:creationId xmlns:a16="http://schemas.microsoft.com/office/drawing/2014/main" id="{E0BF020E-7B7C-4993-9ADA-20D14E34A18C}"/>
              </a:ext>
            </a:extLst>
          </p:cNvPr>
          <p:cNvSpPr>
            <a:spLocks noChangeShapeType="1"/>
          </p:cNvSpPr>
          <p:nvPr/>
        </p:nvSpPr>
        <p:spPr bwMode="auto">
          <a:xfrm>
            <a:off x="1960563" y="2560638"/>
            <a:ext cx="1371600" cy="0"/>
          </a:xfrm>
          <a:prstGeom prst="line">
            <a:avLst/>
          </a:prstGeom>
          <a:noFill/>
          <a:ln w="19050">
            <a:solidFill>
              <a:srgbClr val="00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9819" name="Line 11">
            <a:extLst>
              <a:ext uri="{FF2B5EF4-FFF2-40B4-BE49-F238E27FC236}">
                <a16:creationId xmlns:a16="http://schemas.microsoft.com/office/drawing/2014/main" id="{4B8E5FB0-461B-477D-9978-8D5B0A2D5F74}"/>
              </a:ext>
            </a:extLst>
          </p:cNvPr>
          <p:cNvSpPr>
            <a:spLocks noChangeShapeType="1"/>
          </p:cNvSpPr>
          <p:nvPr/>
        </p:nvSpPr>
        <p:spPr bwMode="auto">
          <a:xfrm flipV="1">
            <a:off x="1579563" y="1951038"/>
            <a:ext cx="0" cy="2057400"/>
          </a:xfrm>
          <a:prstGeom prst="line">
            <a:avLst/>
          </a:prstGeom>
          <a:noFill/>
          <a:ln w="22225">
            <a:solidFill>
              <a:srgbClr val="FFFF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9820" name="AutoShape 12">
            <a:extLst>
              <a:ext uri="{FF2B5EF4-FFF2-40B4-BE49-F238E27FC236}">
                <a16:creationId xmlns:a16="http://schemas.microsoft.com/office/drawing/2014/main" id="{0F3CE048-6578-478A-9A29-012032A06FE6}"/>
              </a:ext>
            </a:extLst>
          </p:cNvPr>
          <p:cNvSpPr>
            <a:spLocks noChangeArrowheads="1"/>
          </p:cNvSpPr>
          <p:nvPr/>
        </p:nvSpPr>
        <p:spPr bwMode="auto">
          <a:xfrm rot="3034945">
            <a:off x="474663" y="3284538"/>
            <a:ext cx="1219200" cy="381000"/>
          </a:xfrm>
          <a:prstGeom prst="rightArrow">
            <a:avLst>
              <a:gd name="adj1" fmla="val 50000"/>
              <a:gd name="adj2" fmla="val 80000"/>
            </a:avLst>
          </a:prstGeom>
          <a:noFill/>
          <a:ln w="22225">
            <a:solidFill>
              <a:srgbClr val="00FF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19821" name="Rectangle 13">
            <a:extLst>
              <a:ext uri="{FF2B5EF4-FFF2-40B4-BE49-F238E27FC236}">
                <a16:creationId xmlns:a16="http://schemas.microsoft.com/office/drawing/2014/main" id="{0402D858-24E0-432E-8770-B300F9EA41BB}"/>
              </a:ext>
            </a:extLst>
          </p:cNvPr>
          <p:cNvSpPr>
            <a:spLocks noChangeArrowheads="1"/>
          </p:cNvSpPr>
          <p:nvPr/>
        </p:nvSpPr>
        <p:spPr bwMode="auto">
          <a:xfrm>
            <a:off x="588963" y="2514600"/>
            <a:ext cx="742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a:solidFill>
                  <a:srgbClr val="66FF33"/>
                </a:solidFill>
              </a:rPr>
              <a:t>激励</a:t>
            </a:r>
          </a:p>
        </p:txBody>
      </p:sp>
      <p:sp>
        <p:nvSpPr>
          <p:cNvPr id="119822" name="Rectangle 14">
            <a:extLst>
              <a:ext uri="{FF2B5EF4-FFF2-40B4-BE49-F238E27FC236}">
                <a16:creationId xmlns:a16="http://schemas.microsoft.com/office/drawing/2014/main" id="{2E8F9909-CD60-47F7-96D1-F66C55E27C9B}"/>
              </a:ext>
            </a:extLst>
          </p:cNvPr>
          <p:cNvSpPr>
            <a:spLocks noChangeArrowheads="1"/>
          </p:cNvSpPr>
          <p:nvPr/>
        </p:nvSpPr>
        <p:spPr bwMode="auto">
          <a:xfrm>
            <a:off x="3449638" y="1746250"/>
            <a:ext cx="16224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a:solidFill>
                  <a:srgbClr val="EDFE4A"/>
                </a:solidFill>
              </a:rPr>
              <a:t>激发态</a:t>
            </a:r>
          </a:p>
        </p:txBody>
      </p:sp>
      <p:graphicFrame>
        <p:nvGraphicFramePr>
          <p:cNvPr id="119823" name="Object 15">
            <a:extLst>
              <a:ext uri="{FF2B5EF4-FFF2-40B4-BE49-F238E27FC236}">
                <a16:creationId xmlns:a16="http://schemas.microsoft.com/office/drawing/2014/main" id="{09A68498-7031-44A0-AC60-907C73B28AA9}"/>
              </a:ext>
            </a:extLst>
          </p:cNvPr>
          <p:cNvGraphicFramePr>
            <a:graphicFrameLocks noChangeAspect="1"/>
          </p:cNvGraphicFramePr>
          <p:nvPr/>
        </p:nvGraphicFramePr>
        <p:xfrm>
          <a:off x="2798763" y="3703638"/>
          <a:ext cx="439737" cy="463550"/>
        </p:xfrm>
        <a:graphic>
          <a:graphicData uri="http://schemas.openxmlformats.org/presentationml/2006/ole">
            <mc:AlternateContent xmlns:mc="http://schemas.openxmlformats.org/markup-compatibility/2006">
              <mc:Choice xmlns:v="urn:schemas-microsoft-com:vml" Requires="v">
                <p:oleObj spid="_x0000_s566627" name="Equation" r:id="rId7" imgW="144603" imgH="182833" progId="Equation.3">
                  <p:embed/>
                </p:oleObj>
              </mc:Choice>
              <mc:Fallback>
                <p:oleObj name="Equation" r:id="rId7" imgW="144603" imgH="182833" progId="Equation.3">
                  <p:embed/>
                  <p:pic>
                    <p:nvPicPr>
                      <p:cNvPr id="119823" name="Object 15">
                        <a:extLst>
                          <a:ext uri="{FF2B5EF4-FFF2-40B4-BE49-F238E27FC236}">
                            <a16:creationId xmlns:a16="http://schemas.microsoft.com/office/drawing/2014/main" id="{09A68498-7031-44A0-AC60-907C73B28AA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98763" y="3703638"/>
                        <a:ext cx="439737" cy="463550"/>
                      </a:xfrm>
                      <a:prstGeom prst="rect">
                        <a:avLst/>
                      </a:prstGeom>
                      <a:noFill/>
                      <a:ln>
                        <a:noFill/>
                      </a:ln>
                      <a:extLst>
                        <a:ext uri="{909E8E84-426E-40DD-AFC4-6F175D3DCCD1}">
                          <a14:hiddenFill xmlns:a14="http://schemas.microsoft.com/office/drawing/2010/main">
                            <a:solidFill>
                              <a:srgbClr val="006699"/>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9824" name="Object 16">
            <a:extLst>
              <a:ext uri="{FF2B5EF4-FFF2-40B4-BE49-F238E27FC236}">
                <a16:creationId xmlns:a16="http://schemas.microsoft.com/office/drawing/2014/main" id="{C7CD5880-8C52-4C2F-A20F-25CC54C982D6}"/>
              </a:ext>
            </a:extLst>
          </p:cNvPr>
          <p:cNvGraphicFramePr>
            <a:graphicFrameLocks noChangeAspect="1"/>
          </p:cNvGraphicFramePr>
          <p:nvPr/>
        </p:nvGraphicFramePr>
        <p:xfrm>
          <a:off x="3408363" y="2332038"/>
          <a:ext cx="471487" cy="463550"/>
        </p:xfrm>
        <a:graphic>
          <a:graphicData uri="http://schemas.openxmlformats.org/presentationml/2006/ole">
            <mc:AlternateContent xmlns:mc="http://schemas.openxmlformats.org/markup-compatibility/2006">
              <mc:Choice xmlns:v="urn:schemas-microsoft-com:vml" Requires="v">
                <p:oleObj spid="_x0000_s566628" name="Equation" r:id="rId9" imgW="159914" imgH="182833" progId="Equation.3">
                  <p:embed/>
                </p:oleObj>
              </mc:Choice>
              <mc:Fallback>
                <p:oleObj name="Equation" r:id="rId9" imgW="159914" imgH="182833" progId="Equation.3">
                  <p:embed/>
                  <p:pic>
                    <p:nvPicPr>
                      <p:cNvPr id="119824" name="Object 16">
                        <a:extLst>
                          <a:ext uri="{FF2B5EF4-FFF2-40B4-BE49-F238E27FC236}">
                            <a16:creationId xmlns:a16="http://schemas.microsoft.com/office/drawing/2014/main" id="{C7CD5880-8C52-4C2F-A20F-25CC54C982D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408363" y="2332038"/>
                        <a:ext cx="471487" cy="463550"/>
                      </a:xfrm>
                      <a:prstGeom prst="rect">
                        <a:avLst/>
                      </a:prstGeom>
                      <a:noFill/>
                      <a:ln>
                        <a:noFill/>
                      </a:ln>
                      <a:extLst>
                        <a:ext uri="{909E8E84-426E-40DD-AFC4-6F175D3DCCD1}">
                          <a14:hiddenFill xmlns:a14="http://schemas.microsoft.com/office/drawing/2010/main">
                            <a:solidFill>
                              <a:srgbClr val="006699"/>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9825" name="Object 17">
            <a:extLst>
              <a:ext uri="{FF2B5EF4-FFF2-40B4-BE49-F238E27FC236}">
                <a16:creationId xmlns:a16="http://schemas.microsoft.com/office/drawing/2014/main" id="{65571EC0-B81B-44F5-8AB1-A5037AB7957C}"/>
              </a:ext>
            </a:extLst>
          </p:cNvPr>
          <p:cNvGraphicFramePr>
            <a:graphicFrameLocks noChangeAspect="1"/>
          </p:cNvGraphicFramePr>
          <p:nvPr/>
        </p:nvGraphicFramePr>
        <p:xfrm>
          <a:off x="3027363" y="1722438"/>
          <a:ext cx="471487" cy="490537"/>
        </p:xfrm>
        <a:graphic>
          <a:graphicData uri="http://schemas.openxmlformats.org/presentationml/2006/ole">
            <mc:AlternateContent xmlns:mc="http://schemas.openxmlformats.org/markup-compatibility/2006">
              <mc:Choice xmlns:v="urn:schemas-microsoft-com:vml" Requires="v">
                <p:oleObj spid="_x0000_s566629" name="Equation" r:id="rId11" imgW="159914" imgH="198104" progId="Equation.3">
                  <p:embed/>
                </p:oleObj>
              </mc:Choice>
              <mc:Fallback>
                <p:oleObj name="Equation" r:id="rId11" imgW="159914" imgH="198104" progId="Equation.3">
                  <p:embed/>
                  <p:pic>
                    <p:nvPicPr>
                      <p:cNvPr id="119825" name="Object 17">
                        <a:extLst>
                          <a:ext uri="{FF2B5EF4-FFF2-40B4-BE49-F238E27FC236}">
                            <a16:creationId xmlns:a16="http://schemas.microsoft.com/office/drawing/2014/main" id="{65571EC0-B81B-44F5-8AB1-A5037AB7957C}"/>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027363" y="1722438"/>
                        <a:ext cx="471487" cy="490537"/>
                      </a:xfrm>
                      <a:prstGeom prst="rect">
                        <a:avLst/>
                      </a:prstGeom>
                      <a:noFill/>
                      <a:ln>
                        <a:noFill/>
                      </a:ln>
                      <a:extLst>
                        <a:ext uri="{909E8E84-426E-40DD-AFC4-6F175D3DCCD1}">
                          <a14:hiddenFill xmlns:a14="http://schemas.microsoft.com/office/drawing/2010/main">
                            <a:solidFill>
                              <a:srgbClr val="006699"/>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9826" name="Rectangle 18">
            <a:extLst>
              <a:ext uri="{FF2B5EF4-FFF2-40B4-BE49-F238E27FC236}">
                <a16:creationId xmlns:a16="http://schemas.microsoft.com/office/drawing/2014/main" id="{3301D237-4373-4D2F-BFB0-E990FF96848C}"/>
              </a:ext>
            </a:extLst>
          </p:cNvPr>
          <p:cNvSpPr>
            <a:spLocks noChangeArrowheads="1"/>
          </p:cNvSpPr>
          <p:nvPr/>
        </p:nvSpPr>
        <p:spPr bwMode="auto">
          <a:xfrm>
            <a:off x="3179763" y="3703638"/>
            <a:ext cx="16224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a:solidFill>
                  <a:srgbClr val="EDFE4A"/>
                </a:solidFill>
              </a:rPr>
              <a:t>基态</a:t>
            </a:r>
          </a:p>
        </p:txBody>
      </p:sp>
      <p:sp>
        <p:nvSpPr>
          <p:cNvPr id="119827" name="Line 19">
            <a:extLst>
              <a:ext uri="{FF2B5EF4-FFF2-40B4-BE49-F238E27FC236}">
                <a16:creationId xmlns:a16="http://schemas.microsoft.com/office/drawing/2014/main" id="{6BA7F031-32B1-4242-A763-AEEB0866E19C}"/>
              </a:ext>
            </a:extLst>
          </p:cNvPr>
          <p:cNvSpPr>
            <a:spLocks noChangeShapeType="1"/>
          </p:cNvSpPr>
          <p:nvPr/>
        </p:nvSpPr>
        <p:spPr bwMode="auto">
          <a:xfrm>
            <a:off x="2036763" y="1951038"/>
            <a:ext cx="457200" cy="609600"/>
          </a:xfrm>
          <a:prstGeom prst="line">
            <a:avLst/>
          </a:prstGeom>
          <a:noFill/>
          <a:ln w="22225">
            <a:solidFill>
              <a:srgbClr val="FF66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9828" name="Line 20">
            <a:extLst>
              <a:ext uri="{FF2B5EF4-FFF2-40B4-BE49-F238E27FC236}">
                <a16:creationId xmlns:a16="http://schemas.microsoft.com/office/drawing/2014/main" id="{66F3D830-57D1-4EA2-AC79-AB0B71B5B101}"/>
              </a:ext>
            </a:extLst>
          </p:cNvPr>
          <p:cNvSpPr>
            <a:spLocks noChangeShapeType="1"/>
          </p:cNvSpPr>
          <p:nvPr/>
        </p:nvSpPr>
        <p:spPr bwMode="auto">
          <a:xfrm flipH="1">
            <a:off x="2036763" y="2560638"/>
            <a:ext cx="609600" cy="1447800"/>
          </a:xfrm>
          <a:prstGeom prst="line">
            <a:avLst/>
          </a:prstGeom>
          <a:noFill/>
          <a:ln w="22225">
            <a:solidFill>
              <a:srgbClr val="FFCC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2" name="Group 21">
            <a:extLst>
              <a:ext uri="{FF2B5EF4-FFF2-40B4-BE49-F238E27FC236}">
                <a16:creationId xmlns:a16="http://schemas.microsoft.com/office/drawing/2014/main" id="{D6AD4F0A-5AD0-46F5-9C16-02C816014C91}"/>
              </a:ext>
            </a:extLst>
          </p:cNvPr>
          <p:cNvGrpSpPr>
            <a:grpSpLocks/>
          </p:cNvGrpSpPr>
          <p:nvPr/>
        </p:nvGrpSpPr>
        <p:grpSpPr bwMode="auto">
          <a:xfrm>
            <a:off x="2493963" y="3094038"/>
            <a:ext cx="990600" cy="228600"/>
            <a:chOff x="1056" y="2400"/>
            <a:chExt cx="624" cy="144"/>
          </a:xfrm>
        </p:grpSpPr>
        <p:grpSp>
          <p:nvGrpSpPr>
            <p:cNvPr id="30781" name="Group 22">
              <a:extLst>
                <a:ext uri="{FF2B5EF4-FFF2-40B4-BE49-F238E27FC236}">
                  <a16:creationId xmlns:a16="http://schemas.microsoft.com/office/drawing/2014/main" id="{A40D1BBD-4D9B-4C14-AF1A-5EFCE6871955}"/>
                </a:ext>
              </a:extLst>
            </p:cNvPr>
            <p:cNvGrpSpPr>
              <a:grpSpLocks/>
            </p:cNvGrpSpPr>
            <p:nvPr/>
          </p:nvGrpSpPr>
          <p:grpSpPr bwMode="auto">
            <a:xfrm>
              <a:off x="1056" y="2400"/>
              <a:ext cx="432" cy="144"/>
              <a:chOff x="1968" y="3258"/>
              <a:chExt cx="1306" cy="648"/>
            </a:xfrm>
          </p:grpSpPr>
          <p:grpSp>
            <p:nvGrpSpPr>
              <p:cNvPr id="30783" name="Group 23">
                <a:extLst>
                  <a:ext uri="{FF2B5EF4-FFF2-40B4-BE49-F238E27FC236}">
                    <a16:creationId xmlns:a16="http://schemas.microsoft.com/office/drawing/2014/main" id="{D981659E-CFF3-419F-9657-9F2FE0F888B3}"/>
                  </a:ext>
                </a:extLst>
              </p:cNvPr>
              <p:cNvGrpSpPr>
                <a:grpSpLocks/>
              </p:cNvGrpSpPr>
              <p:nvPr/>
            </p:nvGrpSpPr>
            <p:grpSpPr bwMode="auto">
              <a:xfrm flipV="1">
                <a:off x="2621" y="3258"/>
                <a:ext cx="653" cy="648"/>
                <a:chOff x="1728" y="1728"/>
                <a:chExt cx="2141" cy="432"/>
              </a:xfrm>
            </p:grpSpPr>
            <p:sp>
              <p:nvSpPr>
                <p:cNvPr id="30789" name="Freeform 24">
                  <a:extLst>
                    <a:ext uri="{FF2B5EF4-FFF2-40B4-BE49-F238E27FC236}">
                      <a16:creationId xmlns:a16="http://schemas.microsoft.com/office/drawing/2014/main" id="{E99047A8-65D7-42C3-B9A3-2FEA87556892}"/>
                    </a:ext>
                  </a:extLst>
                </p:cNvPr>
                <p:cNvSpPr>
                  <a:spLocks/>
                </p:cNvSpPr>
                <p:nvPr/>
              </p:nvSpPr>
              <p:spPr bwMode="auto">
                <a:xfrm flipV="1">
                  <a:off x="1728" y="1728"/>
                  <a:ext cx="556" cy="228"/>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894"/>
                      </a:moveTo>
                      <a:lnTo>
                        <a:pt x="197" y="1533"/>
                      </a:lnTo>
                      <a:lnTo>
                        <a:pt x="427" y="2120"/>
                      </a:lnTo>
                      <a:lnTo>
                        <a:pt x="657" y="2708"/>
                      </a:lnTo>
                      <a:lnTo>
                        <a:pt x="952" y="3295"/>
                      </a:lnTo>
                      <a:lnTo>
                        <a:pt x="1084" y="3934"/>
                      </a:lnTo>
                      <a:lnTo>
                        <a:pt x="1314" y="4521"/>
                      </a:lnTo>
                      <a:lnTo>
                        <a:pt x="1544" y="5109"/>
                      </a:lnTo>
                      <a:lnTo>
                        <a:pt x="1708" y="5696"/>
                      </a:lnTo>
                      <a:lnTo>
                        <a:pt x="2003" y="6284"/>
                      </a:lnTo>
                      <a:lnTo>
                        <a:pt x="2233" y="6820"/>
                      </a:lnTo>
                      <a:lnTo>
                        <a:pt x="2430" y="7407"/>
                      </a:lnTo>
                      <a:lnTo>
                        <a:pt x="2726" y="7944"/>
                      </a:lnTo>
                      <a:lnTo>
                        <a:pt x="2857" y="8531"/>
                      </a:lnTo>
                      <a:lnTo>
                        <a:pt x="3120" y="9119"/>
                      </a:lnTo>
                      <a:lnTo>
                        <a:pt x="3383" y="9630"/>
                      </a:lnTo>
                      <a:lnTo>
                        <a:pt x="3547" y="10217"/>
                      </a:lnTo>
                      <a:lnTo>
                        <a:pt x="3810" y="10754"/>
                      </a:lnTo>
                      <a:lnTo>
                        <a:pt x="4007" y="11239"/>
                      </a:lnTo>
                      <a:lnTo>
                        <a:pt x="4236" y="11775"/>
                      </a:lnTo>
                      <a:lnTo>
                        <a:pt x="4433" y="12261"/>
                      </a:lnTo>
                      <a:lnTo>
                        <a:pt x="4663" y="12771"/>
                      </a:lnTo>
                      <a:lnTo>
                        <a:pt x="4959" y="13206"/>
                      </a:lnTo>
                      <a:lnTo>
                        <a:pt x="5090" y="13640"/>
                      </a:lnTo>
                      <a:lnTo>
                        <a:pt x="5386" y="14074"/>
                      </a:lnTo>
                      <a:lnTo>
                        <a:pt x="5517" y="14585"/>
                      </a:lnTo>
                      <a:lnTo>
                        <a:pt x="5714" y="15019"/>
                      </a:lnTo>
                      <a:lnTo>
                        <a:pt x="6010" y="15453"/>
                      </a:lnTo>
                      <a:lnTo>
                        <a:pt x="6207" y="15862"/>
                      </a:lnTo>
                      <a:lnTo>
                        <a:pt x="6404" y="16194"/>
                      </a:lnTo>
                      <a:lnTo>
                        <a:pt x="6634" y="16577"/>
                      </a:lnTo>
                      <a:lnTo>
                        <a:pt x="6864" y="16935"/>
                      </a:lnTo>
                      <a:lnTo>
                        <a:pt x="7094" y="17267"/>
                      </a:lnTo>
                      <a:lnTo>
                        <a:pt x="7323" y="17573"/>
                      </a:lnTo>
                      <a:lnTo>
                        <a:pt x="7521" y="17905"/>
                      </a:lnTo>
                      <a:lnTo>
                        <a:pt x="7685" y="18212"/>
                      </a:lnTo>
                      <a:lnTo>
                        <a:pt x="7947" y="18467"/>
                      </a:lnTo>
                      <a:lnTo>
                        <a:pt x="8210" y="18697"/>
                      </a:lnTo>
                      <a:lnTo>
                        <a:pt x="8342" y="18953"/>
                      </a:lnTo>
                      <a:lnTo>
                        <a:pt x="8604" y="19132"/>
                      </a:lnTo>
                      <a:lnTo>
                        <a:pt x="8801" y="19336"/>
                      </a:lnTo>
                      <a:lnTo>
                        <a:pt x="9064" y="19489"/>
                      </a:lnTo>
                      <a:lnTo>
                        <a:pt x="9228" y="19642"/>
                      </a:lnTo>
                      <a:lnTo>
                        <a:pt x="9425" y="19719"/>
                      </a:lnTo>
                      <a:lnTo>
                        <a:pt x="9622" y="19872"/>
                      </a:lnTo>
                      <a:lnTo>
                        <a:pt x="9885" y="19923"/>
                      </a:lnTo>
                      <a:lnTo>
                        <a:pt x="10082" y="19974"/>
                      </a:lnTo>
                      <a:lnTo>
                        <a:pt x="10246" y="19974"/>
                      </a:lnTo>
                      <a:lnTo>
                        <a:pt x="10509" y="19974"/>
                      </a:lnTo>
                      <a:lnTo>
                        <a:pt x="10739" y="19974"/>
                      </a:lnTo>
                      <a:lnTo>
                        <a:pt x="10903" y="19923"/>
                      </a:lnTo>
                      <a:lnTo>
                        <a:pt x="11100" y="19821"/>
                      </a:lnTo>
                      <a:lnTo>
                        <a:pt x="11330" y="19693"/>
                      </a:lnTo>
                      <a:lnTo>
                        <a:pt x="11626" y="19489"/>
                      </a:lnTo>
                      <a:lnTo>
                        <a:pt x="11790" y="19234"/>
                      </a:lnTo>
                      <a:lnTo>
                        <a:pt x="12020" y="19055"/>
                      </a:lnTo>
                      <a:lnTo>
                        <a:pt x="12184" y="18748"/>
                      </a:lnTo>
                      <a:lnTo>
                        <a:pt x="12447" y="18467"/>
                      </a:lnTo>
                      <a:lnTo>
                        <a:pt x="12677" y="18110"/>
                      </a:lnTo>
                      <a:lnTo>
                        <a:pt x="12906" y="17727"/>
                      </a:lnTo>
                      <a:lnTo>
                        <a:pt x="13136" y="17318"/>
                      </a:lnTo>
                      <a:lnTo>
                        <a:pt x="13366" y="16884"/>
                      </a:lnTo>
                      <a:lnTo>
                        <a:pt x="13629" y="16501"/>
                      </a:lnTo>
                      <a:lnTo>
                        <a:pt x="13892" y="16041"/>
                      </a:lnTo>
                      <a:lnTo>
                        <a:pt x="14056" y="15556"/>
                      </a:lnTo>
                      <a:lnTo>
                        <a:pt x="14286" y="15070"/>
                      </a:lnTo>
                      <a:lnTo>
                        <a:pt x="14516" y="14534"/>
                      </a:lnTo>
                      <a:lnTo>
                        <a:pt x="14713" y="13997"/>
                      </a:lnTo>
                      <a:lnTo>
                        <a:pt x="15008" y="13487"/>
                      </a:lnTo>
                      <a:lnTo>
                        <a:pt x="15205" y="12950"/>
                      </a:lnTo>
                      <a:lnTo>
                        <a:pt x="15468" y="12363"/>
                      </a:lnTo>
                      <a:lnTo>
                        <a:pt x="15731" y="11775"/>
                      </a:lnTo>
                      <a:lnTo>
                        <a:pt x="15895" y="11239"/>
                      </a:lnTo>
                      <a:lnTo>
                        <a:pt x="16092" y="10651"/>
                      </a:lnTo>
                      <a:lnTo>
                        <a:pt x="16289" y="10064"/>
                      </a:lnTo>
                      <a:lnTo>
                        <a:pt x="16552" y="9527"/>
                      </a:lnTo>
                      <a:lnTo>
                        <a:pt x="16749" y="8940"/>
                      </a:lnTo>
                      <a:lnTo>
                        <a:pt x="16913" y="8352"/>
                      </a:lnTo>
                      <a:lnTo>
                        <a:pt x="17176" y="7816"/>
                      </a:lnTo>
                      <a:lnTo>
                        <a:pt x="17340" y="7203"/>
                      </a:lnTo>
                      <a:lnTo>
                        <a:pt x="17570" y="6667"/>
                      </a:lnTo>
                      <a:lnTo>
                        <a:pt x="17734" y="6130"/>
                      </a:lnTo>
                      <a:lnTo>
                        <a:pt x="17898" y="5594"/>
                      </a:lnTo>
                      <a:lnTo>
                        <a:pt x="18128" y="5057"/>
                      </a:lnTo>
                      <a:lnTo>
                        <a:pt x="18325" y="4572"/>
                      </a:lnTo>
                      <a:lnTo>
                        <a:pt x="18456" y="4061"/>
                      </a:lnTo>
                      <a:lnTo>
                        <a:pt x="18621" y="3525"/>
                      </a:lnTo>
                      <a:lnTo>
                        <a:pt x="18752" y="3142"/>
                      </a:lnTo>
                      <a:lnTo>
                        <a:pt x="18982" y="2656"/>
                      </a:lnTo>
                      <a:lnTo>
                        <a:pt x="19048" y="2248"/>
                      </a:lnTo>
                      <a:lnTo>
                        <a:pt x="19278" y="1814"/>
                      </a:lnTo>
                      <a:lnTo>
                        <a:pt x="19409" y="1430"/>
                      </a:lnTo>
                      <a:lnTo>
                        <a:pt x="19540" y="1073"/>
                      </a:lnTo>
                      <a:lnTo>
                        <a:pt x="19672" y="843"/>
                      </a:lnTo>
                      <a:lnTo>
                        <a:pt x="19803" y="485"/>
                      </a:lnTo>
                      <a:lnTo>
                        <a:pt x="19869" y="204"/>
                      </a:lnTo>
                      <a:lnTo>
                        <a:pt x="19967" y="0"/>
                      </a:lnTo>
                    </a:path>
                  </a:pathLst>
                </a:custGeom>
                <a:noFill/>
                <a:ln w="19050">
                  <a:solidFill>
                    <a:srgbClr val="FFCC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0790" name="Freeform 25">
                  <a:extLst>
                    <a:ext uri="{FF2B5EF4-FFF2-40B4-BE49-F238E27FC236}">
                      <a16:creationId xmlns:a16="http://schemas.microsoft.com/office/drawing/2014/main" id="{D1F22B49-D257-4F37-A498-7A00C3EEAEB6}"/>
                    </a:ext>
                  </a:extLst>
                </p:cNvPr>
                <p:cNvSpPr>
                  <a:spLocks/>
                </p:cNvSpPr>
                <p:nvPr/>
              </p:nvSpPr>
              <p:spPr bwMode="auto">
                <a:xfrm flipH="1">
                  <a:off x="2247" y="1932"/>
                  <a:ext cx="557" cy="228"/>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894"/>
                      </a:moveTo>
                      <a:lnTo>
                        <a:pt x="197" y="1533"/>
                      </a:lnTo>
                      <a:lnTo>
                        <a:pt x="427" y="2120"/>
                      </a:lnTo>
                      <a:lnTo>
                        <a:pt x="657" y="2708"/>
                      </a:lnTo>
                      <a:lnTo>
                        <a:pt x="952" y="3295"/>
                      </a:lnTo>
                      <a:lnTo>
                        <a:pt x="1084" y="3934"/>
                      </a:lnTo>
                      <a:lnTo>
                        <a:pt x="1314" y="4521"/>
                      </a:lnTo>
                      <a:lnTo>
                        <a:pt x="1544" y="5109"/>
                      </a:lnTo>
                      <a:lnTo>
                        <a:pt x="1708" y="5696"/>
                      </a:lnTo>
                      <a:lnTo>
                        <a:pt x="2003" y="6284"/>
                      </a:lnTo>
                      <a:lnTo>
                        <a:pt x="2233" y="6820"/>
                      </a:lnTo>
                      <a:lnTo>
                        <a:pt x="2430" y="7407"/>
                      </a:lnTo>
                      <a:lnTo>
                        <a:pt x="2726" y="7944"/>
                      </a:lnTo>
                      <a:lnTo>
                        <a:pt x="2857" y="8531"/>
                      </a:lnTo>
                      <a:lnTo>
                        <a:pt x="3120" y="9119"/>
                      </a:lnTo>
                      <a:lnTo>
                        <a:pt x="3383" y="9630"/>
                      </a:lnTo>
                      <a:lnTo>
                        <a:pt x="3547" y="10217"/>
                      </a:lnTo>
                      <a:lnTo>
                        <a:pt x="3810" y="10754"/>
                      </a:lnTo>
                      <a:lnTo>
                        <a:pt x="4007" y="11239"/>
                      </a:lnTo>
                      <a:lnTo>
                        <a:pt x="4236" y="11775"/>
                      </a:lnTo>
                      <a:lnTo>
                        <a:pt x="4433" y="12261"/>
                      </a:lnTo>
                      <a:lnTo>
                        <a:pt x="4663" y="12771"/>
                      </a:lnTo>
                      <a:lnTo>
                        <a:pt x="4959" y="13206"/>
                      </a:lnTo>
                      <a:lnTo>
                        <a:pt x="5090" y="13640"/>
                      </a:lnTo>
                      <a:lnTo>
                        <a:pt x="5386" y="14074"/>
                      </a:lnTo>
                      <a:lnTo>
                        <a:pt x="5517" y="14585"/>
                      </a:lnTo>
                      <a:lnTo>
                        <a:pt x="5714" y="15019"/>
                      </a:lnTo>
                      <a:lnTo>
                        <a:pt x="6010" y="15453"/>
                      </a:lnTo>
                      <a:lnTo>
                        <a:pt x="6207" y="15862"/>
                      </a:lnTo>
                      <a:lnTo>
                        <a:pt x="6404" y="16194"/>
                      </a:lnTo>
                      <a:lnTo>
                        <a:pt x="6634" y="16577"/>
                      </a:lnTo>
                      <a:lnTo>
                        <a:pt x="6864" y="16935"/>
                      </a:lnTo>
                      <a:lnTo>
                        <a:pt x="7094" y="17267"/>
                      </a:lnTo>
                      <a:lnTo>
                        <a:pt x="7323" y="17573"/>
                      </a:lnTo>
                      <a:lnTo>
                        <a:pt x="7521" y="17905"/>
                      </a:lnTo>
                      <a:lnTo>
                        <a:pt x="7685" y="18212"/>
                      </a:lnTo>
                      <a:lnTo>
                        <a:pt x="7947" y="18467"/>
                      </a:lnTo>
                      <a:lnTo>
                        <a:pt x="8210" y="18697"/>
                      </a:lnTo>
                      <a:lnTo>
                        <a:pt x="8342" y="18953"/>
                      </a:lnTo>
                      <a:lnTo>
                        <a:pt x="8604" y="19132"/>
                      </a:lnTo>
                      <a:lnTo>
                        <a:pt x="8801" y="19336"/>
                      </a:lnTo>
                      <a:lnTo>
                        <a:pt x="9064" y="19489"/>
                      </a:lnTo>
                      <a:lnTo>
                        <a:pt x="9228" y="19642"/>
                      </a:lnTo>
                      <a:lnTo>
                        <a:pt x="9425" y="19719"/>
                      </a:lnTo>
                      <a:lnTo>
                        <a:pt x="9622" y="19872"/>
                      </a:lnTo>
                      <a:lnTo>
                        <a:pt x="9885" y="19923"/>
                      </a:lnTo>
                      <a:lnTo>
                        <a:pt x="10082" y="19974"/>
                      </a:lnTo>
                      <a:lnTo>
                        <a:pt x="10246" y="19974"/>
                      </a:lnTo>
                      <a:lnTo>
                        <a:pt x="10509" y="19974"/>
                      </a:lnTo>
                      <a:lnTo>
                        <a:pt x="10739" y="19974"/>
                      </a:lnTo>
                      <a:lnTo>
                        <a:pt x="10903" y="19923"/>
                      </a:lnTo>
                      <a:lnTo>
                        <a:pt x="11100" y="19821"/>
                      </a:lnTo>
                      <a:lnTo>
                        <a:pt x="11330" y="19693"/>
                      </a:lnTo>
                      <a:lnTo>
                        <a:pt x="11626" y="19489"/>
                      </a:lnTo>
                      <a:lnTo>
                        <a:pt x="11790" y="19234"/>
                      </a:lnTo>
                      <a:lnTo>
                        <a:pt x="12020" y="19055"/>
                      </a:lnTo>
                      <a:lnTo>
                        <a:pt x="12184" y="18748"/>
                      </a:lnTo>
                      <a:lnTo>
                        <a:pt x="12447" y="18467"/>
                      </a:lnTo>
                      <a:lnTo>
                        <a:pt x="12677" y="18110"/>
                      </a:lnTo>
                      <a:lnTo>
                        <a:pt x="12906" y="17727"/>
                      </a:lnTo>
                      <a:lnTo>
                        <a:pt x="13136" y="17318"/>
                      </a:lnTo>
                      <a:lnTo>
                        <a:pt x="13366" y="16884"/>
                      </a:lnTo>
                      <a:lnTo>
                        <a:pt x="13629" y="16501"/>
                      </a:lnTo>
                      <a:lnTo>
                        <a:pt x="13892" y="16041"/>
                      </a:lnTo>
                      <a:lnTo>
                        <a:pt x="14056" y="15556"/>
                      </a:lnTo>
                      <a:lnTo>
                        <a:pt x="14286" y="15070"/>
                      </a:lnTo>
                      <a:lnTo>
                        <a:pt x="14516" y="14534"/>
                      </a:lnTo>
                      <a:lnTo>
                        <a:pt x="14713" y="13997"/>
                      </a:lnTo>
                      <a:lnTo>
                        <a:pt x="15008" y="13487"/>
                      </a:lnTo>
                      <a:lnTo>
                        <a:pt x="15205" y="12950"/>
                      </a:lnTo>
                      <a:lnTo>
                        <a:pt x="15468" y="12363"/>
                      </a:lnTo>
                      <a:lnTo>
                        <a:pt x="15731" y="11775"/>
                      </a:lnTo>
                      <a:lnTo>
                        <a:pt x="15895" y="11239"/>
                      </a:lnTo>
                      <a:lnTo>
                        <a:pt x="16092" y="10651"/>
                      </a:lnTo>
                      <a:lnTo>
                        <a:pt x="16289" y="10064"/>
                      </a:lnTo>
                      <a:lnTo>
                        <a:pt x="16552" y="9527"/>
                      </a:lnTo>
                      <a:lnTo>
                        <a:pt x="16749" y="8940"/>
                      </a:lnTo>
                      <a:lnTo>
                        <a:pt x="16913" y="8352"/>
                      </a:lnTo>
                      <a:lnTo>
                        <a:pt x="17176" y="7816"/>
                      </a:lnTo>
                      <a:lnTo>
                        <a:pt x="17340" y="7203"/>
                      </a:lnTo>
                      <a:lnTo>
                        <a:pt x="17570" y="6667"/>
                      </a:lnTo>
                      <a:lnTo>
                        <a:pt x="17734" y="6130"/>
                      </a:lnTo>
                      <a:lnTo>
                        <a:pt x="17898" y="5594"/>
                      </a:lnTo>
                      <a:lnTo>
                        <a:pt x="18128" y="5057"/>
                      </a:lnTo>
                      <a:lnTo>
                        <a:pt x="18325" y="4572"/>
                      </a:lnTo>
                      <a:lnTo>
                        <a:pt x="18456" y="4061"/>
                      </a:lnTo>
                      <a:lnTo>
                        <a:pt x="18621" y="3525"/>
                      </a:lnTo>
                      <a:lnTo>
                        <a:pt x="18752" y="3142"/>
                      </a:lnTo>
                      <a:lnTo>
                        <a:pt x="18982" y="2656"/>
                      </a:lnTo>
                      <a:lnTo>
                        <a:pt x="19048" y="2248"/>
                      </a:lnTo>
                      <a:lnTo>
                        <a:pt x="19278" y="1814"/>
                      </a:lnTo>
                      <a:lnTo>
                        <a:pt x="19409" y="1430"/>
                      </a:lnTo>
                      <a:lnTo>
                        <a:pt x="19540" y="1073"/>
                      </a:lnTo>
                      <a:lnTo>
                        <a:pt x="19672" y="843"/>
                      </a:lnTo>
                      <a:lnTo>
                        <a:pt x="19803" y="485"/>
                      </a:lnTo>
                      <a:lnTo>
                        <a:pt x="19869" y="204"/>
                      </a:lnTo>
                      <a:lnTo>
                        <a:pt x="19967" y="0"/>
                      </a:lnTo>
                    </a:path>
                  </a:pathLst>
                </a:custGeom>
                <a:noFill/>
                <a:ln w="19050">
                  <a:solidFill>
                    <a:srgbClr val="FFCC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0791" name="Freeform 26">
                  <a:extLst>
                    <a:ext uri="{FF2B5EF4-FFF2-40B4-BE49-F238E27FC236}">
                      <a16:creationId xmlns:a16="http://schemas.microsoft.com/office/drawing/2014/main" id="{1E92AD17-413B-4BF6-94EC-52C9ADA5D93F}"/>
                    </a:ext>
                  </a:extLst>
                </p:cNvPr>
                <p:cNvSpPr>
                  <a:spLocks/>
                </p:cNvSpPr>
                <p:nvPr/>
              </p:nvSpPr>
              <p:spPr bwMode="auto">
                <a:xfrm flipV="1">
                  <a:off x="2804" y="1728"/>
                  <a:ext cx="556" cy="228"/>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894"/>
                      </a:moveTo>
                      <a:lnTo>
                        <a:pt x="197" y="1533"/>
                      </a:lnTo>
                      <a:lnTo>
                        <a:pt x="427" y="2120"/>
                      </a:lnTo>
                      <a:lnTo>
                        <a:pt x="657" y="2708"/>
                      </a:lnTo>
                      <a:lnTo>
                        <a:pt x="952" y="3295"/>
                      </a:lnTo>
                      <a:lnTo>
                        <a:pt x="1084" y="3934"/>
                      </a:lnTo>
                      <a:lnTo>
                        <a:pt x="1314" y="4521"/>
                      </a:lnTo>
                      <a:lnTo>
                        <a:pt x="1544" y="5109"/>
                      </a:lnTo>
                      <a:lnTo>
                        <a:pt x="1708" y="5696"/>
                      </a:lnTo>
                      <a:lnTo>
                        <a:pt x="2003" y="6284"/>
                      </a:lnTo>
                      <a:lnTo>
                        <a:pt x="2233" y="6820"/>
                      </a:lnTo>
                      <a:lnTo>
                        <a:pt x="2430" y="7407"/>
                      </a:lnTo>
                      <a:lnTo>
                        <a:pt x="2726" y="7944"/>
                      </a:lnTo>
                      <a:lnTo>
                        <a:pt x="2857" y="8531"/>
                      </a:lnTo>
                      <a:lnTo>
                        <a:pt x="3120" y="9119"/>
                      </a:lnTo>
                      <a:lnTo>
                        <a:pt x="3383" y="9630"/>
                      </a:lnTo>
                      <a:lnTo>
                        <a:pt x="3547" y="10217"/>
                      </a:lnTo>
                      <a:lnTo>
                        <a:pt x="3810" y="10754"/>
                      </a:lnTo>
                      <a:lnTo>
                        <a:pt x="4007" y="11239"/>
                      </a:lnTo>
                      <a:lnTo>
                        <a:pt x="4236" y="11775"/>
                      </a:lnTo>
                      <a:lnTo>
                        <a:pt x="4433" y="12261"/>
                      </a:lnTo>
                      <a:lnTo>
                        <a:pt x="4663" y="12771"/>
                      </a:lnTo>
                      <a:lnTo>
                        <a:pt x="4959" y="13206"/>
                      </a:lnTo>
                      <a:lnTo>
                        <a:pt x="5090" y="13640"/>
                      </a:lnTo>
                      <a:lnTo>
                        <a:pt x="5386" y="14074"/>
                      </a:lnTo>
                      <a:lnTo>
                        <a:pt x="5517" y="14585"/>
                      </a:lnTo>
                      <a:lnTo>
                        <a:pt x="5714" y="15019"/>
                      </a:lnTo>
                      <a:lnTo>
                        <a:pt x="6010" y="15453"/>
                      </a:lnTo>
                      <a:lnTo>
                        <a:pt x="6207" y="15862"/>
                      </a:lnTo>
                      <a:lnTo>
                        <a:pt x="6404" y="16194"/>
                      </a:lnTo>
                      <a:lnTo>
                        <a:pt x="6634" y="16577"/>
                      </a:lnTo>
                      <a:lnTo>
                        <a:pt x="6864" y="16935"/>
                      </a:lnTo>
                      <a:lnTo>
                        <a:pt x="7094" y="17267"/>
                      </a:lnTo>
                      <a:lnTo>
                        <a:pt x="7323" y="17573"/>
                      </a:lnTo>
                      <a:lnTo>
                        <a:pt x="7521" y="17905"/>
                      </a:lnTo>
                      <a:lnTo>
                        <a:pt x="7685" y="18212"/>
                      </a:lnTo>
                      <a:lnTo>
                        <a:pt x="7947" y="18467"/>
                      </a:lnTo>
                      <a:lnTo>
                        <a:pt x="8210" y="18697"/>
                      </a:lnTo>
                      <a:lnTo>
                        <a:pt x="8342" y="18953"/>
                      </a:lnTo>
                      <a:lnTo>
                        <a:pt x="8604" y="19132"/>
                      </a:lnTo>
                      <a:lnTo>
                        <a:pt x="8801" y="19336"/>
                      </a:lnTo>
                      <a:lnTo>
                        <a:pt x="9064" y="19489"/>
                      </a:lnTo>
                      <a:lnTo>
                        <a:pt x="9228" y="19642"/>
                      </a:lnTo>
                      <a:lnTo>
                        <a:pt x="9425" y="19719"/>
                      </a:lnTo>
                      <a:lnTo>
                        <a:pt x="9622" y="19872"/>
                      </a:lnTo>
                      <a:lnTo>
                        <a:pt x="9885" y="19923"/>
                      </a:lnTo>
                      <a:lnTo>
                        <a:pt x="10082" y="19974"/>
                      </a:lnTo>
                      <a:lnTo>
                        <a:pt x="10246" y="19974"/>
                      </a:lnTo>
                      <a:lnTo>
                        <a:pt x="10509" y="19974"/>
                      </a:lnTo>
                      <a:lnTo>
                        <a:pt x="10739" y="19974"/>
                      </a:lnTo>
                      <a:lnTo>
                        <a:pt x="10903" y="19923"/>
                      </a:lnTo>
                      <a:lnTo>
                        <a:pt x="11100" y="19821"/>
                      </a:lnTo>
                      <a:lnTo>
                        <a:pt x="11330" y="19693"/>
                      </a:lnTo>
                      <a:lnTo>
                        <a:pt x="11626" y="19489"/>
                      </a:lnTo>
                      <a:lnTo>
                        <a:pt x="11790" y="19234"/>
                      </a:lnTo>
                      <a:lnTo>
                        <a:pt x="12020" y="19055"/>
                      </a:lnTo>
                      <a:lnTo>
                        <a:pt x="12184" y="18748"/>
                      </a:lnTo>
                      <a:lnTo>
                        <a:pt x="12447" y="18467"/>
                      </a:lnTo>
                      <a:lnTo>
                        <a:pt x="12677" y="18110"/>
                      </a:lnTo>
                      <a:lnTo>
                        <a:pt x="12906" y="17727"/>
                      </a:lnTo>
                      <a:lnTo>
                        <a:pt x="13136" y="17318"/>
                      </a:lnTo>
                      <a:lnTo>
                        <a:pt x="13366" y="16884"/>
                      </a:lnTo>
                      <a:lnTo>
                        <a:pt x="13629" y="16501"/>
                      </a:lnTo>
                      <a:lnTo>
                        <a:pt x="13892" y="16041"/>
                      </a:lnTo>
                      <a:lnTo>
                        <a:pt x="14056" y="15556"/>
                      </a:lnTo>
                      <a:lnTo>
                        <a:pt x="14286" y="15070"/>
                      </a:lnTo>
                      <a:lnTo>
                        <a:pt x="14516" y="14534"/>
                      </a:lnTo>
                      <a:lnTo>
                        <a:pt x="14713" y="13997"/>
                      </a:lnTo>
                      <a:lnTo>
                        <a:pt x="15008" y="13487"/>
                      </a:lnTo>
                      <a:lnTo>
                        <a:pt x="15205" y="12950"/>
                      </a:lnTo>
                      <a:lnTo>
                        <a:pt x="15468" y="12363"/>
                      </a:lnTo>
                      <a:lnTo>
                        <a:pt x="15731" y="11775"/>
                      </a:lnTo>
                      <a:lnTo>
                        <a:pt x="15895" y="11239"/>
                      </a:lnTo>
                      <a:lnTo>
                        <a:pt x="16092" y="10651"/>
                      </a:lnTo>
                      <a:lnTo>
                        <a:pt x="16289" y="10064"/>
                      </a:lnTo>
                      <a:lnTo>
                        <a:pt x="16552" y="9527"/>
                      </a:lnTo>
                      <a:lnTo>
                        <a:pt x="16749" y="8940"/>
                      </a:lnTo>
                      <a:lnTo>
                        <a:pt x="16913" y="8352"/>
                      </a:lnTo>
                      <a:lnTo>
                        <a:pt x="17176" y="7816"/>
                      </a:lnTo>
                      <a:lnTo>
                        <a:pt x="17340" y="7203"/>
                      </a:lnTo>
                      <a:lnTo>
                        <a:pt x="17570" y="6667"/>
                      </a:lnTo>
                      <a:lnTo>
                        <a:pt x="17734" y="6130"/>
                      </a:lnTo>
                      <a:lnTo>
                        <a:pt x="17898" y="5594"/>
                      </a:lnTo>
                      <a:lnTo>
                        <a:pt x="18128" y="5057"/>
                      </a:lnTo>
                      <a:lnTo>
                        <a:pt x="18325" y="4572"/>
                      </a:lnTo>
                      <a:lnTo>
                        <a:pt x="18456" y="4061"/>
                      </a:lnTo>
                      <a:lnTo>
                        <a:pt x="18621" y="3525"/>
                      </a:lnTo>
                      <a:lnTo>
                        <a:pt x="18752" y="3142"/>
                      </a:lnTo>
                      <a:lnTo>
                        <a:pt x="18982" y="2656"/>
                      </a:lnTo>
                      <a:lnTo>
                        <a:pt x="19048" y="2248"/>
                      </a:lnTo>
                      <a:lnTo>
                        <a:pt x="19278" y="1814"/>
                      </a:lnTo>
                      <a:lnTo>
                        <a:pt x="19409" y="1430"/>
                      </a:lnTo>
                      <a:lnTo>
                        <a:pt x="19540" y="1073"/>
                      </a:lnTo>
                      <a:lnTo>
                        <a:pt x="19672" y="843"/>
                      </a:lnTo>
                      <a:lnTo>
                        <a:pt x="19803" y="485"/>
                      </a:lnTo>
                      <a:lnTo>
                        <a:pt x="19869" y="204"/>
                      </a:lnTo>
                      <a:lnTo>
                        <a:pt x="19967" y="0"/>
                      </a:lnTo>
                    </a:path>
                  </a:pathLst>
                </a:custGeom>
                <a:noFill/>
                <a:ln w="19050">
                  <a:solidFill>
                    <a:srgbClr val="FFCC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0792" name="Freeform 27">
                  <a:extLst>
                    <a:ext uri="{FF2B5EF4-FFF2-40B4-BE49-F238E27FC236}">
                      <a16:creationId xmlns:a16="http://schemas.microsoft.com/office/drawing/2014/main" id="{E978DDC3-F682-4980-BFF9-48A7C0DC8E18}"/>
                    </a:ext>
                  </a:extLst>
                </p:cNvPr>
                <p:cNvSpPr>
                  <a:spLocks/>
                </p:cNvSpPr>
                <p:nvPr/>
              </p:nvSpPr>
              <p:spPr bwMode="auto">
                <a:xfrm flipH="1">
                  <a:off x="3312" y="1920"/>
                  <a:ext cx="557" cy="228"/>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894"/>
                      </a:moveTo>
                      <a:lnTo>
                        <a:pt x="197" y="1533"/>
                      </a:lnTo>
                      <a:lnTo>
                        <a:pt x="427" y="2120"/>
                      </a:lnTo>
                      <a:lnTo>
                        <a:pt x="657" y="2708"/>
                      </a:lnTo>
                      <a:lnTo>
                        <a:pt x="952" y="3295"/>
                      </a:lnTo>
                      <a:lnTo>
                        <a:pt x="1084" y="3934"/>
                      </a:lnTo>
                      <a:lnTo>
                        <a:pt x="1314" y="4521"/>
                      </a:lnTo>
                      <a:lnTo>
                        <a:pt x="1544" y="5109"/>
                      </a:lnTo>
                      <a:lnTo>
                        <a:pt x="1708" y="5696"/>
                      </a:lnTo>
                      <a:lnTo>
                        <a:pt x="2003" y="6284"/>
                      </a:lnTo>
                      <a:lnTo>
                        <a:pt x="2233" y="6820"/>
                      </a:lnTo>
                      <a:lnTo>
                        <a:pt x="2430" y="7407"/>
                      </a:lnTo>
                      <a:lnTo>
                        <a:pt x="2726" y="7944"/>
                      </a:lnTo>
                      <a:lnTo>
                        <a:pt x="2857" y="8531"/>
                      </a:lnTo>
                      <a:lnTo>
                        <a:pt x="3120" y="9119"/>
                      </a:lnTo>
                      <a:lnTo>
                        <a:pt x="3383" y="9630"/>
                      </a:lnTo>
                      <a:lnTo>
                        <a:pt x="3547" y="10217"/>
                      </a:lnTo>
                      <a:lnTo>
                        <a:pt x="3810" y="10754"/>
                      </a:lnTo>
                      <a:lnTo>
                        <a:pt x="4007" y="11239"/>
                      </a:lnTo>
                      <a:lnTo>
                        <a:pt x="4236" y="11775"/>
                      </a:lnTo>
                      <a:lnTo>
                        <a:pt x="4433" y="12261"/>
                      </a:lnTo>
                      <a:lnTo>
                        <a:pt x="4663" y="12771"/>
                      </a:lnTo>
                      <a:lnTo>
                        <a:pt x="4959" y="13206"/>
                      </a:lnTo>
                      <a:lnTo>
                        <a:pt x="5090" y="13640"/>
                      </a:lnTo>
                      <a:lnTo>
                        <a:pt x="5386" y="14074"/>
                      </a:lnTo>
                      <a:lnTo>
                        <a:pt x="5517" y="14585"/>
                      </a:lnTo>
                      <a:lnTo>
                        <a:pt x="5714" y="15019"/>
                      </a:lnTo>
                      <a:lnTo>
                        <a:pt x="6010" y="15453"/>
                      </a:lnTo>
                      <a:lnTo>
                        <a:pt x="6207" y="15862"/>
                      </a:lnTo>
                      <a:lnTo>
                        <a:pt x="6404" y="16194"/>
                      </a:lnTo>
                      <a:lnTo>
                        <a:pt x="6634" y="16577"/>
                      </a:lnTo>
                      <a:lnTo>
                        <a:pt x="6864" y="16935"/>
                      </a:lnTo>
                      <a:lnTo>
                        <a:pt x="7094" y="17267"/>
                      </a:lnTo>
                      <a:lnTo>
                        <a:pt x="7323" y="17573"/>
                      </a:lnTo>
                      <a:lnTo>
                        <a:pt x="7521" y="17905"/>
                      </a:lnTo>
                      <a:lnTo>
                        <a:pt x="7685" y="18212"/>
                      </a:lnTo>
                      <a:lnTo>
                        <a:pt x="7947" y="18467"/>
                      </a:lnTo>
                      <a:lnTo>
                        <a:pt x="8210" y="18697"/>
                      </a:lnTo>
                      <a:lnTo>
                        <a:pt x="8342" y="18953"/>
                      </a:lnTo>
                      <a:lnTo>
                        <a:pt x="8604" y="19132"/>
                      </a:lnTo>
                      <a:lnTo>
                        <a:pt x="8801" y="19336"/>
                      </a:lnTo>
                      <a:lnTo>
                        <a:pt x="9064" y="19489"/>
                      </a:lnTo>
                      <a:lnTo>
                        <a:pt x="9228" y="19642"/>
                      </a:lnTo>
                      <a:lnTo>
                        <a:pt x="9425" y="19719"/>
                      </a:lnTo>
                      <a:lnTo>
                        <a:pt x="9622" y="19872"/>
                      </a:lnTo>
                      <a:lnTo>
                        <a:pt x="9885" y="19923"/>
                      </a:lnTo>
                      <a:lnTo>
                        <a:pt x="10082" y="19974"/>
                      </a:lnTo>
                      <a:lnTo>
                        <a:pt x="10246" y="19974"/>
                      </a:lnTo>
                      <a:lnTo>
                        <a:pt x="10509" y="19974"/>
                      </a:lnTo>
                      <a:lnTo>
                        <a:pt x="10739" y="19974"/>
                      </a:lnTo>
                      <a:lnTo>
                        <a:pt x="10903" y="19923"/>
                      </a:lnTo>
                      <a:lnTo>
                        <a:pt x="11100" y="19821"/>
                      </a:lnTo>
                      <a:lnTo>
                        <a:pt x="11330" y="19693"/>
                      </a:lnTo>
                      <a:lnTo>
                        <a:pt x="11626" y="19489"/>
                      </a:lnTo>
                      <a:lnTo>
                        <a:pt x="11790" y="19234"/>
                      </a:lnTo>
                      <a:lnTo>
                        <a:pt x="12020" y="19055"/>
                      </a:lnTo>
                      <a:lnTo>
                        <a:pt x="12184" y="18748"/>
                      </a:lnTo>
                      <a:lnTo>
                        <a:pt x="12447" y="18467"/>
                      </a:lnTo>
                      <a:lnTo>
                        <a:pt x="12677" y="18110"/>
                      </a:lnTo>
                      <a:lnTo>
                        <a:pt x="12906" y="17727"/>
                      </a:lnTo>
                      <a:lnTo>
                        <a:pt x="13136" y="17318"/>
                      </a:lnTo>
                      <a:lnTo>
                        <a:pt x="13366" y="16884"/>
                      </a:lnTo>
                      <a:lnTo>
                        <a:pt x="13629" y="16501"/>
                      </a:lnTo>
                      <a:lnTo>
                        <a:pt x="13892" y="16041"/>
                      </a:lnTo>
                      <a:lnTo>
                        <a:pt x="14056" y="15556"/>
                      </a:lnTo>
                      <a:lnTo>
                        <a:pt x="14286" y="15070"/>
                      </a:lnTo>
                      <a:lnTo>
                        <a:pt x="14516" y="14534"/>
                      </a:lnTo>
                      <a:lnTo>
                        <a:pt x="14713" y="13997"/>
                      </a:lnTo>
                      <a:lnTo>
                        <a:pt x="15008" y="13487"/>
                      </a:lnTo>
                      <a:lnTo>
                        <a:pt x="15205" y="12950"/>
                      </a:lnTo>
                      <a:lnTo>
                        <a:pt x="15468" y="12363"/>
                      </a:lnTo>
                      <a:lnTo>
                        <a:pt x="15731" y="11775"/>
                      </a:lnTo>
                      <a:lnTo>
                        <a:pt x="15895" y="11239"/>
                      </a:lnTo>
                      <a:lnTo>
                        <a:pt x="16092" y="10651"/>
                      </a:lnTo>
                      <a:lnTo>
                        <a:pt x="16289" y="10064"/>
                      </a:lnTo>
                      <a:lnTo>
                        <a:pt x="16552" y="9527"/>
                      </a:lnTo>
                      <a:lnTo>
                        <a:pt x="16749" y="8940"/>
                      </a:lnTo>
                      <a:lnTo>
                        <a:pt x="16913" y="8352"/>
                      </a:lnTo>
                      <a:lnTo>
                        <a:pt x="17176" y="7816"/>
                      </a:lnTo>
                      <a:lnTo>
                        <a:pt x="17340" y="7203"/>
                      </a:lnTo>
                      <a:lnTo>
                        <a:pt x="17570" y="6667"/>
                      </a:lnTo>
                      <a:lnTo>
                        <a:pt x="17734" y="6130"/>
                      </a:lnTo>
                      <a:lnTo>
                        <a:pt x="17898" y="5594"/>
                      </a:lnTo>
                      <a:lnTo>
                        <a:pt x="18128" y="5057"/>
                      </a:lnTo>
                      <a:lnTo>
                        <a:pt x="18325" y="4572"/>
                      </a:lnTo>
                      <a:lnTo>
                        <a:pt x="18456" y="4061"/>
                      </a:lnTo>
                      <a:lnTo>
                        <a:pt x="18621" y="3525"/>
                      </a:lnTo>
                      <a:lnTo>
                        <a:pt x="18752" y="3142"/>
                      </a:lnTo>
                      <a:lnTo>
                        <a:pt x="18982" y="2656"/>
                      </a:lnTo>
                      <a:lnTo>
                        <a:pt x="19048" y="2248"/>
                      </a:lnTo>
                      <a:lnTo>
                        <a:pt x="19278" y="1814"/>
                      </a:lnTo>
                      <a:lnTo>
                        <a:pt x="19409" y="1430"/>
                      </a:lnTo>
                      <a:lnTo>
                        <a:pt x="19540" y="1073"/>
                      </a:lnTo>
                      <a:lnTo>
                        <a:pt x="19672" y="843"/>
                      </a:lnTo>
                      <a:lnTo>
                        <a:pt x="19803" y="485"/>
                      </a:lnTo>
                      <a:lnTo>
                        <a:pt x="19869" y="204"/>
                      </a:lnTo>
                      <a:lnTo>
                        <a:pt x="19967" y="0"/>
                      </a:lnTo>
                    </a:path>
                  </a:pathLst>
                </a:custGeom>
                <a:noFill/>
                <a:ln w="19050">
                  <a:solidFill>
                    <a:srgbClr val="FFCC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30784" name="Group 28">
                <a:extLst>
                  <a:ext uri="{FF2B5EF4-FFF2-40B4-BE49-F238E27FC236}">
                    <a16:creationId xmlns:a16="http://schemas.microsoft.com/office/drawing/2014/main" id="{7BCBD37F-DBC0-4DAE-81C9-46F06EC7D97B}"/>
                  </a:ext>
                </a:extLst>
              </p:cNvPr>
              <p:cNvGrpSpPr>
                <a:grpSpLocks/>
              </p:cNvGrpSpPr>
              <p:nvPr/>
            </p:nvGrpSpPr>
            <p:grpSpPr bwMode="auto">
              <a:xfrm flipV="1">
                <a:off x="1968" y="3258"/>
                <a:ext cx="653" cy="648"/>
                <a:chOff x="1728" y="1728"/>
                <a:chExt cx="2141" cy="432"/>
              </a:xfrm>
            </p:grpSpPr>
            <p:sp>
              <p:nvSpPr>
                <p:cNvPr id="30785" name="Freeform 29">
                  <a:extLst>
                    <a:ext uri="{FF2B5EF4-FFF2-40B4-BE49-F238E27FC236}">
                      <a16:creationId xmlns:a16="http://schemas.microsoft.com/office/drawing/2014/main" id="{146219EC-C4E9-424C-8145-8D76EBE40CC6}"/>
                    </a:ext>
                  </a:extLst>
                </p:cNvPr>
                <p:cNvSpPr>
                  <a:spLocks/>
                </p:cNvSpPr>
                <p:nvPr/>
              </p:nvSpPr>
              <p:spPr bwMode="auto">
                <a:xfrm flipV="1">
                  <a:off x="1728" y="1728"/>
                  <a:ext cx="556" cy="228"/>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894"/>
                      </a:moveTo>
                      <a:lnTo>
                        <a:pt x="197" y="1533"/>
                      </a:lnTo>
                      <a:lnTo>
                        <a:pt x="427" y="2120"/>
                      </a:lnTo>
                      <a:lnTo>
                        <a:pt x="657" y="2708"/>
                      </a:lnTo>
                      <a:lnTo>
                        <a:pt x="952" y="3295"/>
                      </a:lnTo>
                      <a:lnTo>
                        <a:pt x="1084" y="3934"/>
                      </a:lnTo>
                      <a:lnTo>
                        <a:pt x="1314" y="4521"/>
                      </a:lnTo>
                      <a:lnTo>
                        <a:pt x="1544" y="5109"/>
                      </a:lnTo>
                      <a:lnTo>
                        <a:pt x="1708" y="5696"/>
                      </a:lnTo>
                      <a:lnTo>
                        <a:pt x="2003" y="6284"/>
                      </a:lnTo>
                      <a:lnTo>
                        <a:pt x="2233" y="6820"/>
                      </a:lnTo>
                      <a:lnTo>
                        <a:pt x="2430" y="7407"/>
                      </a:lnTo>
                      <a:lnTo>
                        <a:pt x="2726" y="7944"/>
                      </a:lnTo>
                      <a:lnTo>
                        <a:pt x="2857" y="8531"/>
                      </a:lnTo>
                      <a:lnTo>
                        <a:pt x="3120" y="9119"/>
                      </a:lnTo>
                      <a:lnTo>
                        <a:pt x="3383" y="9630"/>
                      </a:lnTo>
                      <a:lnTo>
                        <a:pt x="3547" y="10217"/>
                      </a:lnTo>
                      <a:lnTo>
                        <a:pt x="3810" y="10754"/>
                      </a:lnTo>
                      <a:lnTo>
                        <a:pt x="4007" y="11239"/>
                      </a:lnTo>
                      <a:lnTo>
                        <a:pt x="4236" y="11775"/>
                      </a:lnTo>
                      <a:lnTo>
                        <a:pt x="4433" y="12261"/>
                      </a:lnTo>
                      <a:lnTo>
                        <a:pt x="4663" y="12771"/>
                      </a:lnTo>
                      <a:lnTo>
                        <a:pt x="4959" y="13206"/>
                      </a:lnTo>
                      <a:lnTo>
                        <a:pt x="5090" y="13640"/>
                      </a:lnTo>
                      <a:lnTo>
                        <a:pt x="5386" y="14074"/>
                      </a:lnTo>
                      <a:lnTo>
                        <a:pt x="5517" y="14585"/>
                      </a:lnTo>
                      <a:lnTo>
                        <a:pt x="5714" y="15019"/>
                      </a:lnTo>
                      <a:lnTo>
                        <a:pt x="6010" y="15453"/>
                      </a:lnTo>
                      <a:lnTo>
                        <a:pt x="6207" y="15862"/>
                      </a:lnTo>
                      <a:lnTo>
                        <a:pt x="6404" y="16194"/>
                      </a:lnTo>
                      <a:lnTo>
                        <a:pt x="6634" y="16577"/>
                      </a:lnTo>
                      <a:lnTo>
                        <a:pt x="6864" y="16935"/>
                      </a:lnTo>
                      <a:lnTo>
                        <a:pt x="7094" y="17267"/>
                      </a:lnTo>
                      <a:lnTo>
                        <a:pt x="7323" y="17573"/>
                      </a:lnTo>
                      <a:lnTo>
                        <a:pt x="7521" y="17905"/>
                      </a:lnTo>
                      <a:lnTo>
                        <a:pt x="7685" y="18212"/>
                      </a:lnTo>
                      <a:lnTo>
                        <a:pt x="7947" y="18467"/>
                      </a:lnTo>
                      <a:lnTo>
                        <a:pt x="8210" y="18697"/>
                      </a:lnTo>
                      <a:lnTo>
                        <a:pt x="8342" y="18953"/>
                      </a:lnTo>
                      <a:lnTo>
                        <a:pt x="8604" y="19132"/>
                      </a:lnTo>
                      <a:lnTo>
                        <a:pt x="8801" y="19336"/>
                      </a:lnTo>
                      <a:lnTo>
                        <a:pt x="9064" y="19489"/>
                      </a:lnTo>
                      <a:lnTo>
                        <a:pt x="9228" y="19642"/>
                      </a:lnTo>
                      <a:lnTo>
                        <a:pt x="9425" y="19719"/>
                      </a:lnTo>
                      <a:lnTo>
                        <a:pt x="9622" y="19872"/>
                      </a:lnTo>
                      <a:lnTo>
                        <a:pt x="9885" y="19923"/>
                      </a:lnTo>
                      <a:lnTo>
                        <a:pt x="10082" y="19974"/>
                      </a:lnTo>
                      <a:lnTo>
                        <a:pt x="10246" y="19974"/>
                      </a:lnTo>
                      <a:lnTo>
                        <a:pt x="10509" y="19974"/>
                      </a:lnTo>
                      <a:lnTo>
                        <a:pt x="10739" y="19974"/>
                      </a:lnTo>
                      <a:lnTo>
                        <a:pt x="10903" y="19923"/>
                      </a:lnTo>
                      <a:lnTo>
                        <a:pt x="11100" y="19821"/>
                      </a:lnTo>
                      <a:lnTo>
                        <a:pt x="11330" y="19693"/>
                      </a:lnTo>
                      <a:lnTo>
                        <a:pt x="11626" y="19489"/>
                      </a:lnTo>
                      <a:lnTo>
                        <a:pt x="11790" y="19234"/>
                      </a:lnTo>
                      <a:lnTo>
                        <a:pt x="12020" y="19055"/>
                      </a:lnTo>
                      <a:lnTo>
                        <a:pt x="12184" y="18748"/>
                      </a:lnTo>
                      <a:lnTo>
                        <a:pt x="12447" y="18467"/>
                      </a:lnTo>
                      <a:lnTo>
                        <a:pt x="12677" y="18110"/>
                      </a:lnTo>
                      <a:lnTo>
                        <a:pt x="12906" y="17727"/>
                      </a:lnTo>
                      <a:lnTo>
                        <a:pt x="13136" y="17318"/>
                      </a:lnTo>
                      <a:lnTo>
                        <a:pt x="13366" y="16884"/>
                      </a:lnTo>
                      <a:lnTo>
                        <a:pt x="13629" y="16501"/>
                      </a:lnTo>
                      <a:lnTo>
                        <a:pt x="13892" y="16041"/>
                      </a:lnTo>
                      <a:lnTo>
                        <a:pt x="14056" y="15556"/>
                      </a:lnTo>
                      <a:lnTo>
                        <a:pt x="14286" y="15070"/>
                      </a:lnTo>
                      <a:lnTo>
                        <a:pt x="14516" y="14534"/>
                      </a:lnTo>
                      <a:lnTo>
                        <a:pt x="14713" y="13997"/>
                      </a:lnTo>
                      <a:lnTo>
                        <a:pt x="15008" y="13487"/>
                      </a:lnTo>
                      <a:lnTo>
                        <a:pt x="15205" y="12950"/>
                      </a:lnTo>
                      <a:lnTo>
                        <a:pt x="15468" y="12363"/>
                      </a:lnTo>
                      <a:lnTo>
                        <a:pt x="15731" y="11775"/>
                      </a:lnTo>
                      <a:lnTo>
                        <a:pt x="15895" y="11239"/>
                      </a:lnTo>
                      <a:lnTo>
                        <a:pt x="16092" y="10651"/>
                      </a:lnTo>
                      <a:lnTo>
                        <a:pt x="16289" y="10064"/>
                      </a:lnTo>
                      <a:lnTo>
                        <a:pt x="16552" y="9527"/>
                      </a:lnTo>
                      <a:lnTo>
                        <a:pt x="16749" y="8940"/>
                      </a:lnTo>
                      <a:lnTo>
                        <a:pt x="16913" y="8352"/>
                      </a:lnTo>
                      <a:lnTo>
                        <a:pt x="17176" y="7816"/>
                      </a:lnTo>
                      <a:lnTo>
                        <a:pt x="17340" y="7203"/>
                      </a:lnTo>
                      <a:lnTo>
                        <a:pt x="17570" y="6667"/>
                      </a:lnTo>
                      <a:lnTo>
                        <a:pt x="17734" y="6130"/>
                      </a:lnTo>
                      <a:lnTo>
                        <a:pt x="17898" y="5594"/>
                      </a:lnTo>
                      <a:lnTo>
                        <a:pt x="18128" y="5057"/>
                      </a:lnTo>
                      <a:lnTo>
                        <a:pt x="18325" y="4572"/>
                      </a:lnTo>
                      <a:lnTo>
                        <a:pt x="18456" y="4061"/>
                      </a:lnTo>
                      <a:lnTo>
                        <a:pt x="18621" y="3525"/>
                      </a:lnTo>
                      <a:lnTo>
                        <a:pt x="18752" y="3142"/>
                      </a:lnTo>
                      <a:lnTo>
                        <a:pt x="18982" y="2656"/>
                      </a:lnTo>
                      <a:lnTo>
                        <a:pt x="19048" y="2248"/>
                      </a:lnTo>
                      <a:lnTo>
                        <a:pt x="19278" y="1814"/>
                      </a:lnTo>
                      <a:lnTo>
                        <a:pt x="19409" y="1430"/>
                      </a:lnTo>
                      <a:lnTo>
                        <a:pt x="19540" y="1073"/>
                      </a:lnTo>
                      <a:lnTo>
                        <a:pt x="19672" y="843"/>
                      </a:lnTo>
                      <a:lnTo>
                        <a:pt x="19803" y="485"/>
                      </a:lnTo>
                      <a:lnTo>
                        <a:pt x="19869" y="204"/>
                      </a:lnTo>
                      <a:lnTo>
                        <a:pt x="19967" y="0"/>
                      </a:lnTo>
                    </a:path>
                  </a:pathLst>
                </a:custGeom>
                <a:noFill/>
                <a:ln w="19050">
                  <a:solidFill>
                    <a:srgbClr val="FFCC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0786" name="Freeform 30">
                  <a:extLst>
                    <a:ext uri="{FF2B5EF4-FFF2-40B4-BE49-F238E27FC236}">
                      <a16:creationId xmlns:a16="http://schemas.microsoft.com/office/drawing/2014/main" id="{96EA0F77-75C9-4B2D-8580-725B6A34C825}"/>
                    </a:ext>
                  </a:extLst>
                </p:cNvPr>
                <p:cNvSpPr>
                  <a:spLocks/>
                </p:cNvSpPr>
                <p:nvPr/>
              </p:nvSpPr>
              <p:spPr bwMode="auto">
                <a:xfrm flipH="1">
                  <a:off x="2247" y="1932"/>
                  <a:ext cx="557" cy="228"/>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894"/>
                      </a:moveTo>
                      <a:lnTo>
                        <a:pt x="197" y="1533"/>
                      </a:lnTo>
                      <a:lnTo>
                        <a:pt x="427" y="2120"/>
                      </a:lnTo>
                      <a:lnTo>
                        <a:pt x="657" y="2708"/>
                      </a:lnTo>
                      <a:lnTo>
                        <a:pt x="952" y="3295"/>
                      </a:lnTo>
                      <a:lnTo>
                        <a:pt x="1084" y="3934"/>
                      </a:lnTo>
                      <a:lnTo>
                        <a:pt x="1314" y="4521"/>
                      </a:lnTo>
                      <a:lnTo>
                        <a:pt x="1544" y="5109"/>
                      </a:lnTo>
                      <a:lnTo>
                        <a:pt x="1708" y="5696"/>
                      </a:lnTo>
                      <a:lnTo>
                        <a:pt x="2003" y="6284"/>
                      </a:lnTo>
                      <a:lnTo>
                        <a:pt x="2233" y="6820"/>
                      </a:lnTo>
                      <a:lnTo>
                        <a:pt x="2430" y="7407"/>
                      </a:lnTo>
                      <a:lnTo>
                        <a:pt x="2726" y="7944"/>
                      </a:lnTo>
                      <a:lnTo>
                        <a:pt x="2857" y="8531"/>
                      </a:lnTo>
                      <a:lnTo>
                        <a:pt x="3120" y="9119"/>
                      </a:lnTo>
                      <a:lnTo>
                        <a:pt x="3383" y="9630"/>
                      </a:lnTo>
                      <a:lnTo>
                        <a:pt x="3547" y="10217"/>
                      </a:lnTo>
                      <a:lnTo>
                        <a:pt x="3810" y="10754"/>
                      </a:lnTo>
                      <a:lnTo>
                        <a:pt x="4007" y="11239"/>
                      </a:lnTo>
                      <a:lnTo>
                        <a:pt x="4236" y="11775"/>
                      </a:lnTo>
                      <a:lnTo>
                        <a:pt x="4433" y="12261"/>
                      </a:lnTo>
                      <a:lnTo>
                        <a:pt x="4663" y="12771"/>
                      </a:lnTo>
                      <a:lnTo>
                        <a:pt x="4959" y="13206"/>
                      </a:lnTo>
                      <a:lnTo>
                        <a:pt x="5090" y="13640"/>
                      </a:lnTo>
                      <a:lnTo>
                        <a:pt x="5386" y="14074"/>
                      </a:lnTo>
                      <a:lnTo>
                        <a:pt x="5517" y="14585"/>
                      </a:lnTo>
                      <a:lnTo>
                        <a:pt x="5714" y="15019"/>
                      </a:lnTo>
                      <a:lnTo>
                        <a:pt x="6010" y="15453"/>
                      </a:lnTo>
                      <a:lnTo>
                        <a:pt x="6207" y="15862"/>
                      </a:lnTo>
                      <a:lnTo>
                        <a:pt x="6404" y="16194"/>
                      </a:lnTo>
                      <a:lnTo>
                        <a:pt x="6634" y="16577"/>
                      </a:lnTo>
                      <a:lnTo>
                        <a:pt x="6864" y="16935"/>
                      </a:lnTo>
                      <a:lnTo>
                        <a:pt x="7094" y="17267"/>
                      </a:lnTo>
                      <a:lnTo>
                        <a:pt x="7323" y="17573"/>
                      </a:lnTo>
                      <a:lnTo>
                        <a:pt x="7521" y="17905"/>
                      </a:lnTo>
                      <a:lnTo>
                        <a:pt x="7685" y="18212"/>
                      </a:lnTo>
                      <a:lnTo>
                        <a:pt x="7947" y="18467"/>
                      </a:lnTo>
                      <a:lnTo>
                        <a:pt x="8210" y="18697"/>
                      </a:lnTo>
                      <a:lnTo>
                        <a:pt x="8342" y="18953"/>
                      </a:lnTo>
                      <a:lnTo>
                        <a:pt x="8604" y="19132"/>
                      </a:lnTo>
                      <a:lnTo>
                        <a:pt x="8801" y="19336"/>
                      </a:lnTo>
                      <a:lnTo>
                        <a:pt x="9064" y="19489"/>
                      </a:lnTo>
                      <a:lnTo>
                        <a:pt x="9228" y="19642"/>
                      </a:lnTo>
                      <a:lnTo>
                        <a:pt x="9425" y="19719"/>
                      </a:lnTo>
                      <a:lnTo>
                        <a:pt x="9622" y="19872"/>
                      </a:lnTo>
                      <a:lnTo>
                        <a:pt x="9885" y="19923"/>
                      </a:lnTo>
                      <a:lnTo>
                        <a:pt x="10082" y="19974"/>
                      </a:lnTo>
                      <a:lnTo>
                        <a:pt x="10246" y="19974"/>
                      </a:lnTo>
                      <a:lnTo>
                        <a:pt x="10509" y="19974"/>
                      </a:lnTo>
                      <a:lnTo>
                        <a:pt x="10739" y="19974"/>
                      </a:lnTo>
                      <a:lnTo>
                        <a:pt x="10903" y="19923"/>
                      </a:lnTo>
                      <a:lnTo>
                        <a:pt x="11100" y="19821"/>
                      </a:lnTo>
                      <a:lnTo>
                        <a:pt x="11330" y="19693"/>
                      </a:lnTo>
                      <a:lnTo>
                        <a:pt x="11626" y="19489"/>
                      </a:lnTo>
                      <a:lnTo>
                        <a:pt x="11790" y="19234"/>
                      </a:lnTo>
                      <a:lnTo>
                        <a:pt x="12020" y="19055"/>
                      </a:lnTo>
                      <a:lnTo>
                        <a:pt x="12184" y="18748"/>
                      </a:lnTo>
                      <a:lnTo>
                        <a:pt x="12447" y="18467"/>
                      </a:lnTo>
                      <a:lnTo>
                        <a:pt x="12677" y="18110"/>
                      </a:lnTo>
                      <a:lnTo>
                        <a:pt x="12906" y="17727"/>
                      </a:lnTo>
                      <a:lnTo>
                        <a:pt x="13136" y="17318"/>
                      </a:lnTo>
                      <a:lnTo>
                        <a:pt x="13366" y="16884"/>
                      </a:lnTo>
                      <a:lnTo>
                        <a:pt x="13629" y="16501"/>
                      </a:lnTo>
                      <a:lnTo>
                        <a:pt x="13892" y="16041"/>
                      </a:lnTo>
                      <a:lnTo>
                        <a:pt x="14056" y="15556"/>
                      </a:lnTo>
                      <a:lnTo>
                        <a:pt x="14286" y="15070"/>
                      </a:lnTo>
                      <a:lnTo>
                        <a:pt x="14516" y="14534"/>
                      </a:lnTo>
                      <a:lnTo>
                        <a:pt x="14713" y="13997"/>
                      </a:lnTo>
                      <a:lnTo>
                        <a:pt x="15008" y="13487"/>
                      </a:lnTo>
                      <a:lnTo>
                        <a:pt x="15205" y="12950"/>
                      </a:lnTo>
                      <a:lnTo>
                        <a:pt x="15468" y="12363"/>
                      </a:lnTo>
                      <a:lnTo>
                        <a:pt x="15731" y="11775"/>
                      </a:lnTo>
                      <a:lnTo>
                        <a:pt x="15895" y="11239"/>
                      </a:lnTo>
                      <a:lnTo>
                        <a:pt x="16092" y="10651"/>
                      </a:lnTo>
                      <a:lnTo>
                        <a:pt x="16289" y="10064"/>
                      </a:lnTo>
                      <a:lnTo>
                        <a:pt x="16552" y="9527"/>
                      </a:lnTo>
                      <a:lnTo>
                        <a:pt x="16749" y="8940"/>
                      </a:lnTo>
                      <a:lnTo>
                        <a:pt x="16913" y="8352"/>
                      </a:lnTo>
                      <a:lnTo>
                        <a:pt x="17176" y="7816"/>
                      </a:lnTo>
                      <a:lnTo>
                        <a:pt x="17340" y="7203"/>
                      </a:lnTo>
                      <a:lnTo>
                        <a:pt x="17570" y="6667"/>
                      </a:lnTo>
                      <a:lnTo>
                        <a:pt x="17734" y="6130"/>
                      </a:lnTo>
                      <a:lnTo>
                        <a:pt x="17898" y="5594"/>
                      </a:lnTo>
                      <a:lnTo>
                        <a:pt x="18128" y="5057"/>
                      </a:lnTo>
                      <a:lnTo>
                        <a:pt x="18325" y="4572"/>
                      </a:lnTo>
                      <a:lnTo>
                        <a:pt x="18456" y="4061"/>
                      </a:lnTo>
                      <a:lnTo>
                        <a:pt x="18621" y="3525"/>
                      </a:lnTo>
                      <a:lnTo>
                        <a:pt x="18752" y="3142"/>
                      </a:lnTo>
                      <a:lnTo>
                        <a:pt x="18982" y="2656"/>
                      </a:lnTo>
                      <a:lnTo>
                        <a:pt x="19048" y="2248"/>
                      </a:lnTo>
                      <a:lnTo>
                        <a:pt x="19278" y="1814"/>
                      </a:lnTo>
                      <a:lnTo>
                        <a:pt x="19409" y="1430"/>
                      </a:lnTo>
                      <a:lnTo>
                        <a:pt x="19540" y="1073"/>
                      </a:lnTo>
                      <a:lnTo>
                        <a:pt x="19672" y="843"/>
                      </a:lnTo>
                      <a:lnTo>
                        <a:pt x="19803" y="485"/>
                      </a:lnTo>
                      <a:lnTo>
                        <a:pt x="19869" y="204"/>
                      </a:lnTo>
                      <a:lnTo>
                        <a:pt x="19967" y="0"/>
                      </a:lnTo>
                    </a:path>
                  </a:pathLst>
                </a:custGeom>
                <a:noFill/>
                <a:ln w="19050">
                  <a:solidFill>
                    <a:srgbClr val="FFCC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0787" name="Freeform 31">
                  <a:extLst>
                    <a:ext uri="{FF2B5EF4-FFF2-40B4-BE49-F238E27FC236}">
                      <a16:creationId xmlns:a16="http://schemas.microsoft.com/office/drawing/2014/main" id="{DB894192-D0FC-4BAD-9A48-6CBDF6F8A89F}"/>
                    </a:ext>
                  </a:extLst>
                </p:cNvPr>
                <p:cNvSpPr>
                  <a:spLocks/>
                </p:cNvSpPr>
                <p:nvPr/>
              </p:nvSpPr>
              <p:spPr bwMode="auto">
                <a:xfrm flipV="1">
                  <a:off x="2804" y="1728"/>
                  <a:ext cx="556" cy="228"/>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894"/>
                      </a:moveTo>
                      <a:lnTo>
                        <a:pt x="197" y="1533"/>
                      </a:lnTo>
                      <a:lnTo>
                        <a:pt x="427" y="2120"/>
                      </a:lnTo>
                      <a:lnTo>
                        <a:pt x="657" y="2708"/>
                      </a:lnTo>
                      <a:lnTo>
                        <a:pt x="952" y="3295"/>
                      </a:lnTo>
                      <a:lnTo>
                        <a:pt x="1084" y="3934"/>
                      </a:lnTo>
                      <a:lnTo>
                        <a:pt x="1314" y="4521"/>
                      </a:lnTo>
                      <a:lnTo>
                        <a:pt x="1544" y="5109"/>
                      </a:lnTo>
                      <a:lnTo>
                        <a:pt x="1708" y="5696"/>
                      </a:lnTo>
                      <a:lnTo>
                        <a:pt x="2003" y="6284"/>
                      </a:lnTo>
                      <a:lnTo>
                        <a:pt x="2233" y="6820"/>
                      </a:lnTo>
                      <a:lnTo>
                        <a:pt x="2430" y="7407"/>
                      </a:lnTo>
                      <a:lnTo>
                        <a:pt x="2726" y="7944"/>
                      </a:lnTo>
                      <a:lnTo>
                        <a:pt x="2857" y="8531"/>
                      </a:lnTo>
                      <a:lnTo>
                        <a:pt x="3120" y="9119"/>
                      </a:lnTo>
                      <a:lnTo>
                        <a:pt x="3383" y="9630"/>
                      </a:lnTo>
                      <a:lnTo>
                        <a:pt x="3547" y="10217"/>
                      </a:lnTo>
                      <a:lnTo>
                        <a:pt x="3810" y="10754"/>
                      </a:lnTo>
                      <a:lnTo>
                        <a:pt x="4007" y="11239"/>
                      </a:lnTo>
                      <a:lnTo>
                        <a:pt x="4236" y="11775"/>
                      </a:lnTo>
                      <a:lnTo>
                        <a:pt x="4433" y="12261"/>
                      </a:lnTo>
                      <a:lnTo>
                        <a:pt x="4663" y="12771"/>
                      </a:lnTo>
                      <a:lnTo>
                        <a:pt x="4959" y="13206"/>
                      </a:lnTo>
                      <a:lnTo>
                        <a:pt x="5090" y="13640"/>
                      </a:lnTo>
                      <a:lnTo>
                        <a:pt x="5386" y="14074"/>
                      </a:lnTo>
                      <a:lnTo>
                        <a:pt x="5517" y="14585"/>
                      </a:lnTo>
                      <a:lnTo>
                        <a:pt x="5714" y="15019"/>
                      </a:lnTo>
                      <a:lnTo>
                        <a:pt x="6010" y="15453"/>
                      </a:lnTo>
                      <a:lnTo>
                        <a:pt x="6207" y="15862"/>
                      </a:lnTo>
                      <a:lnTo>
                        <a:pt x="6404" y="16194"/>
                      </a:lnTo>
                      <a:lnTo>
                        <a:pt x="6634" y="16577"/>
                      </a:lnTo>
                      <a:lnTo>
                        <a:pt x="6864" y="16935"/>
                      </a:lnTo>
                      <a:lnTo>
                        <a:pt x="7094" y="17267"/>
                      </a:lnTo>
                      <a:lnTo>
                        <a:pt x="7323" y="17573"/>
                      </a:lnTo>
                      <a:lnTo>
                        <a:pt x="7521" y="17905"/>
                      </a:lnTo>
                      <a:lnTo>
                        <a:pt x="7685" y="18212"/>
                      </a:lnTo>
                      <a:lnTo>
                        <a:pt x="7947" y="18467"/>
                      </a:lnTo>
                      <a:lnTo>
                        <a:pt x="8210" y="18697"/>
                      </a:lnTo>
                      <a:lnTo>
                        <a:pt x="8342" y="18953"/>
                      </a:lnTo>
                      <a:lnTo>
                        <a:pt x="8604" y="19132"/>
                      </a:lnTo>
                      <a:lnTo>
                        <a:pt x="8801" y="19336"/>
                      </a:lnTo>
                      <a:lnTo>
                        <a:pt x="9064" y="19489"/>
                      </a:lnTo>
                      <a:lnTo>
                        <a:pt x="9228" y="19642"/>
                      </a:lnTo>
                      <a:lnTo>
                        <a:pt x="9425" y="19719"/>
                      </a:lnTo>
                      <a:lnTo>
                        <a:pt x="9622" y="19872"/>
                      </a:lnTo>
                      <a:lnTo>
                        <a:pt x="9885" y="19923"/>
                      </a:lnTo>
                      <a:lnTo>
                        <a:pt x="10082" y="19974"/>
                      </a:lnTo>
                      <a:lnTo>
                        <a:pt x="10246" y="19974"/>
                      </a:lnTo>
                      <a:lnTo>
                        <a:pt x="10509" y="19974"/>
                      </a:lnTo>
                      <a:lnTo>
                        <a:pt x="10739" y="19974"/>
                      </a:lnTo>
                      <a:lnTo>
                        <a:pt x="10903" y="19923"/>
                      </a:lnTo>
                      <a:lnTo>
                        <a:pt x="11100" y="19821"/>
                      </a:lnTo>
                      <a:lnTo>
                        <a:pt x="11330" y="19693"/>
                      </a:lnTo>
                      <a:lnTo>
                        <a:pt x="11626" y="19489"/>
                      </a:lnTo>
                      <a:lnTo>
                        <a:pt x="11790" y="19234"/>
                      </a:lnTo>
                      <a:lnTo>
                        <a:pt x="12020" y="19055"/>
                      </a:lnTo>
                      <a:lnTo>
                        <a:pt x="12184" y="18748"/>
                      </a:lnTo>
                      <a:lnTo>
                        <a:pt x="12447" y="18467"/>
                      </a:lnTo>
                      <a:lnTo>
                        <a:pt x="12677" y="18110"/>
                      </a:lnTo>
                      <a:lnTo>
                        <a:pt x="12906" y="17727"/>
                      </a:lnTo>
                      <a:lnTo>
                        <a:pt x="13136" y="17318"/>
                      </a:lnTo>
                      <a:lnTo>
                        <a:pt x="13366" y="16884"/>
                      </a:lnTo>
                      <a:lnTo>
                        <a:pt x="13629" y="16501"/>
                      </a:lnTo>
                      <a:lnTo>
                        <a:pt x="13892" y="16041"/>
                      </a:lnTo>
                      <a:lnTo>
                        <a:pt x="14056" y="15556"/>
                      </a:lnTo>
                      <a:lnTo>
                        <a:pt x="14286" y="15070"/>
                      </a:lnTo>
                      <a:lnTo>
                        <a:pt x="14516" y="14534"/>
                      </a:lnTo>
                      <a:lnTo>
                        <a:pt x="14713" y="13997"/>
                      </a:lnTo>
                      <a:lnTo>
                        <a:pt x="15008" y="13487"/>
                      </a:lnTo>
                      <a:lnTo>
                        <a:pt x="15205" y="12950"/>
                      </a:lnTo>
                      <a:lnTo>
                        <a:pt x="15468" y="12363"/>
                      </a:lnTo>
                      <a:lnTo>
                        <a:pt x="15731" y="11775"/>
                      </a:lnTo>
                      <a:lnTo>
                        <a:pt x="15895" y="11239"/>
                      </a:lnTo>
                      <a:lnTo>
                        <a:pt x="16092" y="10651"/>
                      </a:lnTo>
                      <a:lnTo>
                        <a:pt x="16289" y="10064"/>
                      </a:lnTo>
                      <a:lnTo>
                        <a:pt x="16552" y="9527"/>
                      </a:lnTo>
                      <a:lnTo>
                        <a:pt x="16749" y="8940"/>
                      </a:lnTo>
                      <a:lnTo>
                        <a:pt x="16913" y="8352"/>
                      </a:lnTo>
                      <a:lnTo>
                        <a:pt x="17176" y="7816"/>
                      </a:lnTo>
                      <a:lnTo>
                        <a:pt x="17340" y="7203"/>
                      </a:lnTo>
                      <a:lnTo>
                        <a:pt x="17570" y="6667"/>
                      </a:lnTo>
                      <a:lnTo>
                        <a:pt x="17734" y="6130"/>
                      </a:lnTo>
                      <a:lnTo>
                        <a:pt x="17898" y="5594"/>
                      </a:lnTo>
                      <a:lnTo>
                        <a:pt x="18128" y="5057"/>
                      </a:lnTo>
                      <a:lnTo>
                        <a:pt x="18325" y="4572"/>
                      </a:lnTo>
                      <a:lnTo>
                        <a:pt x="18456" y="4061"/>
                      </a:lnTo>
                      <a:lnTo>
                        <a:pt x="18621" y="3525"/>
                      </a:lnTo>
                      <a:lnTo>
                        <a:pt x="18752" y="3142"/>
                      </a:lnTo>
                      <a:lnTo>
                        <a:pt x="18982" y="2656"/>
                      </a:lnTo>
                      <a:lnTo>
                        <a:pt x="19048" y="2248"/>
                      </a:lnTo>
                      <a:lnTo>
                        <a:pt x="19278" y="1814"/>
                      </a:lnTo>
                      <a:lnTo>
                        <a:pt x="19409" y="1430"/>
                      </a:lnTo>
                      <a:lnTo>
                        <a:pt x="19540" y="1073"/>
                      </a:lnTo>
                      <a:lnTo>
                        <a:pt x="19672" y="843"/>
                      </a:lnTo>
                      <a:lnTo>
                        <a:pt x="19803" y="485"/>
                      </a:lnTo>
                      <a:lnTo>
                        <a:pt x="19869" y="204"/>
                      </a:lnTo>
                      <a:lnTo>
                        <a:pt x="19967" y="0"/>
                      </a:lnTo>
                    </a:path>
                  </a:pathLst>
                </a:custGeom>
                <a:noFill/>
                <a:ln w="19050">
                  <a:solidFill>
                    <a:srgbClr val="FFCC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0788" name="Freeform 32">
                  <a:extLst>
                    <a:ext uri="{FF2B5EF4-FFF2-40B4-BE49-F238E27FC236}">
                      <a16:creationId xmlns:a16="http://schemas.microsoft.com/office/drawing/2014/main" id="{01B4A8FE-708A-4AAD-9612-D90E10092293}"/>
                    </a:ext>
                  </a:extLst>
                </p:cNvPr>
                <p:cNvSpPr>
                  <a:spLocks/>
                </p:cNvSpPr>
                <p:nvPr/>
              </p:nvSpPr>
              <p:spPr bwMode="auto">
                <a:xfrm flipH="1">
                  <a:off x="3312" y="1920"/>
                  <a:ext cx="557" cy="228"/>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894"/>
                      </a:moveTo>
                      <a:lnTo>
                        <a:pt x="197" y="1533"/>
                      </a:lnTo>
                      <a:lnTo>
                        <a:pt x="427" y="2120"/>
                      </a:lnTo>
                      <a:lnTo>
                        <a:pt x="657" y="2708"/>
                      </a:lnTo>
                      <a:lnTo>
                        <a:pt x="952" y="3295"/>
                      </a:lnTo>
                      <a:lnTo>
                        <a:pt x="1084" y="3934"/>
                      </a:lnTo>
                      <a:lnTo>
                        <a:pt x="1314" y="4521"/>
                      </a:lnTo>
                      <a:lnTo>
                        <a:pt x="1544" y="5109"/>
                      </a:lnTo>
                      <a:lnTo>
                        <a:pt x="1708" y="5696"/>
                      </a:lnTo>
                      <a:lnTo>
                        <a:pt x="2003" y="6284"/>
                      </a:lnTo>
                      <a:lnTo>
                        <a:pt x="2233" y="6820"/>
                      </a:lnTo>
                      <a:lnTo>
                        <a:pt x="2430" y="7407"/>
                      </a:lnTo>
                      <a:lnTo>
                        <a:pt x="2726" y="7944"/>
                      </a:lnTo>
                      <a:lnTo>
                        <a:pt x="2857" y="8531"/>
                      </a:lnTo>
                      <a:lnTo>
                        <a:pt x="3120" y="9119"/>
                      </a:lnTo>
                      <a:lnTo>
                        <a:pt x="3383" y="9630"/>
                      </a:lnTo>
                      <a:lnTo>
                        <a:pt x="3547" y="10217"/>
                      </a:lnTo>
                      <a:lnTo>
                        <a:pt x="3810" y="10754"/>
                      </a:lnTo>
                      <a:lnTo>
                        <a:pt x="4007" y="11239"/>
                      </a:lnTo>
                      <a:lnTo>
                        <a:pt x="4236" y="11775"/>
                      </a:lnTo>
                      <a:lnTo>
                        <a:pt x="4433" y="12261"/>
                      </a:lnTo>
                      <a:lnTo>
                        <a:pt x="4663" y="12771"/>
                      </a:lnTo>
                      <a:lnTo>
                        <a:pt x="4959" y="13206"/>
                      </a:lnTo>
                      <a:lnTo>
                        <a:pt x="5090" y="13640"/>
                      </a:lnTo>
                      <a:lnTo>
                        <a:pt x="5386" y="14074"/>
                      </a:lnTo>
                      <a:lnTo>
                        <a:pt x="5517" y="14585"/>
                      </a:lnTo>
                      <a:lnTo>
                        <a:pt x="5714" y="15019"/>
                      </a:lnTo>
                      <a:lnTo>
                        <a:pt x="6010" y="15453"/>
                      </a:lnTo>
                      <a:lnTo>
                        <a:pt x="6207" y="15862"/>
                      </a:lnTo>
                      <a:lnTo>
                        <a:pt x="6404" y="16194"/>
                      </a:lnTo>
                      <a:lnTo>
                        <a:pt x="6634" y="16577"/>
                      </a:lnTo>
                      <a:lnTo>
                        <a:pt x="6864" y="16935"/>
                      </a:lnTo>
                      <a:lnTo>
                        <a:pt x="7094" y="17267"/>
                      </a:lnTo>
                      <a:lnTo>
                        <a:pt x="7323" y="17573"/>
                      </a:lnTo>
                      <a:lnTo>
                        <a:pt x="7521" y="17905"/>
                      </a:lnTo>
                      <a:lnTo>
                        <a:pt x="7685" y="18212"/>
                      </a:lnTo>
                      <a:lnTo>
                        <a:pt x="7947" y="18467"/>
                      </a:lnTo>
                      <a:lnTo>
                        <a:pt x="8210" y="18697"/>
                      </a:lnTo>
                      <a:lnTo>
                        <a:pt x="8342" y="18953"/>
                      </a:lnTo>
                      <a:lnTo>
                        <a:pt x="8604" y="19132"/>
                      </a:lnTo>
                      <a:lnTo>
                        <a:pt x="8801" y="19336"/>
                      </a:lnTo>
                      <a:lnTo>
                        <a:pt x="9064" y="19489"/>
                      </a:lnTo>
                      <a:lnTo>
                        <a:pt x="9228" y="19642"/>
                      </a:lnTo>
                      <a:lnTo>
                        <a:pt x="9425" y="19719"/>
                      </a:lnTo>
                      <a:lnTo>
                        <a:pt x="9622" y="19872"/>
                      </a:lnTo>
                      <a:lnTo>
                        <a:pt x="9885" y="19923"/>
                      </a:lnTo>
                      <a:lnTo>
                        <a:pt x="10082" y="19974"/>
                      </a:lnTo>
                      <a:lnTo>
                        <a:pt x="10246" y="19974"/>
                      </a:lnTo>
                      <a:lnTo>
                        <a:pt x="10509" y="19974"/>
                      </a:lnTo>
                      <a:lnTo>
                        <a:pt x="10739" y="19974"/>
                      </a:lnTo>
                      <a:lnTo>
                        <a:pt x="10903" y="19923"/>
                      </a:lnTo>
                      <a:lnTo>
                        <a:pt x="11100" y="19821"/>
                      </a:lnTo>
                      <a:lnTo>
                        <a:pt x="11330" y="19693"/>
                      </a:lnTo>
                      <a:lnTo>
                        <a:pt x="11626" y="19489"/>
                      </a:lnTo>
                      <a:lnTo>
                        <a:pt x="11790" y="19234"/>
                      </a:lnTo>
                      <a:lnTo>
                        <a:pt x="12020" y="19055"/>
                      </a:lnTo>
                      <a:lnTo>
                        <a:pt x="12184" y="18748"/>
                      </a:lnTo>
                      <a:lnTo>
                        <a:pt x="12447" y="18467"/>
                      </a:lnTo>
                      <a:lnTo>
                        <a:pt x="12677" y="18110"/>
                      </a:lnTo>
                      <a:lnTo>
                        <a:pt x="12906" y="17727"/>
                      </a:lnTo>
                      <a:lnTo>
                        <a:pt x="13136" y="17318"/>
                      </a:lnTo>
                      <a:lnTo>
                        <a:pt x="13366" y="16884"/>
                      </a:lnTo>
                      <a:lnTo>
                        <a:pt x="13629" y="16501"/>
                      </a:lnTo>
                      <a:lnTo>
                        <a:pt x="13892" y="16041"/>
                      </a:lnTo>
                      <a:lnTo>
                        <a:pt x="14056" y="15556"/>
                      </a:lnTo>
                      <a:lnTo>
                        <a:pt x="14286" y="15070"/>
                      </a:lnTo>
                      <a:lnTo>
                        <a:pt x="14516" y="14534"/>
                      </a:lnTo>
                      <a:lnTo>
                        <a:pt x="14713" y="13997"/>
                      </a:lnTo>
                      <a:lnTo>
                        <a:pt x="15008" y="13487"/>
                      </a:lnTo>
                      <a:lnTo>
                        <a:pt x="15205" y="12950"/>
                      </a:lnTo>
                      <a:lnTo>
                        <a:pt x="15468" y="12363"/>
                      </a:lnTo>
                      <a:lnTo>
                        <a:pt x="15731" y="11775"/>
                      </a:lnTo>
                      <a:lnTo>
                        <a:pt x="15895" y="11239"/>
                      </a:lnTo>
                      <a:lnTo>
                        <a:pt x="16092" y="10651"/>
                      </a:lnTo>
                      <a:lnTo>
                        <a:pt x="16289" y="10064"/>
                      </a:lnTo>
                      <a:lnTo>
                        <a:pt x="16552" y="9527"/>
                      </a:lnTo>
                      <a:lnTo>
                        <a:pt x="16749" y="8940"/>
                      </a:lnTo>
                      <a:lnTo>
                        <a:pt x="16913" y="8352"/>
                      </a:lnTo>
                      <a:lnTo>
                        <a:pt x="17176" y="7816"/>
                      </a:lnTo>
                      <a:lnTo>
                        <a:pt x="17340" y="7203"/>
                      </a:lnTo>
                      <a:lnTo>
                        <a:pt x="17570" y="6667"/>
                      </a:lnTo>
                      <a:lnTo>
                        <a:pt x="17734" y="6130"/>
                      </a:lnTo>
                      <a:lnTo>
                        <a:pt x="17898" y="5594"/>
                      </a:lnTo>
                      <a:lnTo>
                        <a:pt x="18128" y="5057"/>
                      </a:lnTo>
                      <a:lnTo>
                        <a:pt x="18325" y="4572"/>
                      </a:lnTo>
                      <a:lnTo>
                        <a:pt x="18456" y="4061"/>
                      </a:lnTo>
                      <a:lnTo>
                        <a:pt x="18621" y="3525"/>
                      </a:lnTo>
                      <a:lnTo>
                        <a:pt x="18752" y="3142"/>
                      </a:lnTo>
                      <a:lnTo>
                        <a:pt x="18982" y="2656"/>
                      </a:lnTo>
                      <a:lnTo>
                        <a:pt x="19048" y="2248"/>
                      </a:lnTo>
                      <a:lnTo>
                        <a:pt x="19278" y="1814"/>
                      </a:lnTo>
                      <a:lnTo>
                        <a:pt x="19409" y="1430"/>
                      </a:lnTo>
                      <a:lnTo>
                        <a:pt x="19540" y="1073"/>
                      </a:lnTo>
                      <a:lnTo>
                        <a:pt x="19672" y="843"/>
                      </a:lnTo>
                      <a:lnTo>
                        <a:pt x="19803" y="485"/>
                      </a:lnTo>
                      <a:lnTo>
                        <a:pt x="19869" y="204"/>
                      </a:lnTo>
                      <a:lnTo>
                        <a:pt x="19967" y="0"/>
                      </a:lnTo>
                    </a:path>
                  </a:pathLst>
                </a:custGeom>
                <a:noFill/>
                <a:ln w="19050">
                  <a:solidFill>
                    <a:srgbClr val="FFCC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sp>
          <p:nvSpPr>
            <p:cNvPr id="30782" name="Line 33">
              <a:extLst>
                <a:ext uri="{FF2B5EF4-FFF2-40B4-BE49-F238E27FC236}">
                  <a16:creationId xmlns:a16="http://schemas.microsoft.com/office/drawing/2014/main" id="{78275F74-807B-4C09-89A0-6195557FA38F}"/>
                </a:ext>
              </a:extLst>
            </p:cNvPr>
            <p:cNvSpPr>
              <a:spLocks noChangeShapeType="1"/>
            </p:cNvSpPr>
            <p:nvPr/>
          </p:nvSpPr>
          <p:spPr bwMode="auto">
            <a:xfrm>
              <a:off x="1488" y="2496"/>
              <a:ext cx="192" cy="0"/>
            </a:xfrm>
            <a:prstGeom prst="line">
              <a:avLst/>
            </a:prstGeom>
            <a:noFill/>
            <a:ln w="22225">
              <a:solidFill>
                <a:srgbClr val="FFCC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19842" name="Rectangle 34">
            <a:extLst>
              <a:ext uri="{FF2B5EF4-FFF2-40B4-BE49-F238E27FC236}">
                <a16:creationId xmlns:a16="http://schemas.microsoft.com/office/drawing/2014/main" id="{AD46BBD9-BA69-400B-BAD1-4E86C0197FD4}"/>
              </a:ext>
            </a:extLst>
          </p:cNvPr>
          <p:cNvSpPr>
            <a:spLocks noChangeArrowheads="1"/>
          </p:cNvSpPr>
          <p:nvPr/>
        </p:nvSpPr>
        <p:spPr bwMode="auto">
          <a:xfrm>
            <a:off x="977900" y="4087813"/>
            <a:ext cx="3451225" cy="973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pPr>
            <a:r>
              <a:rPr lang="zh-CN" altLang="en-US" sz="2200">
                <a:solidFill>
                  <a:schemeClr val="bg1"/>
                </a:solidFill>
                <a:ea typeface="楷体_GB2312" pitchFamily="49" charset="-122"/>
              </a:rPr>
              <a:t>三能级结构</a:t>
            </a:r>
          </a:p>
          <a:p>
            <a:pPr eaLnBrk="1" hangingPunct="1">
              <a:lnSpc>
                <a:spcPct val="130000"/>
              </a:lnSpc>
            </a:pPr>
            <a:r>
              <a:rPr lang="en-US" altLang="zh-CN" sz="2200">
                <a:solidFill>
                  <a:srgbClr val="00FFFF"/>
                </a:solidFill>
                <a:ea typeface="楷体_GB2312" pitchFamily="49" charset="-122"/>
              </a:rPr>
              <a:t>E</a:t>
            </a:r>
            <a:r>
              <a:rPr lang="en-US" altLang="zh-CN" sz="2200" baseline="-25000">
                <a:solidFill>
                  <a:srgbClr val="00FFFF"/>
                </a:solidFill>
                <a:ea typeface="楷体_GB2312" pitchFamily="49" charset="-122"/>
              </a:rPr>
              <a:t>2 </a:t>
            </a:r>
            <a:r>
              <a:rPr lang="zh-CN" altLang="en-US" sz="2200">
                <a:solidFill>
                  <a:schemeClr val="bg1"/>
                </a:solidFill>
                <a:ea typeface="楷体_GB2312" pitchFamily="49" charset="-122"/>
              </a:rPr>
              <a:t>和</a:t>
            </a:r>
            <a:r>
              <a:rPr lang="en-US" altLang="zh-CN" sz="2200">
                <a:solidFill>
                  <a:srgbClr val="00FFFF"/>
                </a:solidFill>
                <a:ea typeface="楷体_GB2312" pitchFamily="49" charset="-122"/>
              </a:rPr>
              <a:t>E</a:t>
            </a:r>
            <a:r>
              <a:rPr lang="en-US" altLang="zh-CN" sz="2200" baseline="-25000">
                <a:solidFill>
                  <a:srgbClr val="00FFFF"/>
                </a:solidFill>
                <a:ea typeface="楷体_GB2312" pitchFamily="49" charset="-122"/>
              </a:rPr>
              <a:t>1 </a:t>
            </a:r>
            <a:r>
              <a:rPr lang="zh-CN" altLang="en-US" sz="2200">
                <a:solidFill>
                  <a:schemeClr val="bg1"/>
                </a:solidFill>
                <a:ea typeface="楷体_GB2312" pitchFamily="49" charset="-122"/>
              </a:rPr>
              <a:t>间粒子数反转</a:t>
            </a:r>
          </a:p>
        </p:txBody>
      </p:sp>
      <p:sp>
        <p:nvSpPr>
          <p:cNvPr id="119843" name="Rectangle 35">
            <a:extLst>
              <a:ext uri="{FF2B5EF4-FFF2-40B4-BE49-F238E27FC236}">
                <a16:creationId xmlns:a16="http://schemas.microsoft.com/office/drawing/2014/main" id="{BBE25771-AEC3-4E76-9AE0-55EF1E548C1E}"/>
              </a:ext>
            </a:extLst>
          </p:cNvPr>
          <p:cNvSpPr>
            <a:spLocks noChangeArrowheads="1"/>
          </p:cNvSpPr>
          <p:nvPr/>
        </p:nvSpPr>
        <p:spPr bwMode="auto">
          <a:xfrm>
            <a:off x="3779838" y="2357438"/>
            <a:ext cx="15128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a:solidFill>
                  <a:srgbClr val="00FFFF"/>
                </a:solidFill>
              </a:rPr>
              <a:t>亚稳态</a:t>
            </a:r>
          </a:p>
        </p:txBody>
      </p:sp>
      <p:sp>
        <p:nvSpPr>
          <p:cNvPr id="119844" name="Line 36">
            <a:extLst>
              <a:ext uri="{FF2B5EF4-FFF2-40B4-BE49-F238E27FC236}">
                <a16:creationId xmlns:a16="http://schemas.microsoft.com/office/drawing/2014/main" id="{5D02F4CF-D4E3-4A23-8DF4-87480A219233}"/>
              </a:ext>
            </a:extLst>
          </p:cNvPr>
          <p:cNvSpPr>
            <a:spLocks noChangeShapeType="1"/>
          </p:cNvSpPr>
          <p:nvPr/>
        </p:nvSpPr>
        <p:spPr bwMode="auto">
          <a:xfrm>
            <a:off x="5257800" y="4000500"/>
            <a:ext cx="1600200" cy="0"/>
          </a:xfrm>
          <a:prstGeom prst="line">
            <a:avLst/>
          </a:prstGeom>
          <a:noFill/>
          <a:ln w="22225">
            <a:solidFill>
              <a:srgbClr val="96969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9845" name="Line 37">
            <a:extLst>
              <a:ext uri="{FF2B5EF4-FFF2-40B4-BE49-F238E27FC236}">
                <a16:creationId xmlns:a16="http://schemas.microsoft.com/office/drawing/2014/main" id="{E2665A71-ACBA-4BFC-99E7-B4B92BA31158}"/>
              </a:ext>
            </a:extLst>
          </p:cNvPr>
          <p:cNvSpPr>
            <a:spLocks noChangeShapeType="1"/>
          </p:cNvSpPr>
          <p:nvPr/>
        </p:nvSpPr>
        <p:spPr bwMode="auto">
          <a:xfrm>
            <a:off x="5257800" y="1912938"/>
            <a:ext cx="1600200" cy="0"/>
          </a:xfrm>
          <a:prstGeom prst="line">
            <a:avLst/>
          </a:prstGeom>
          <a:noFill/>
          <a:ln w="22225">
            <a:solidFill>
              <a:srgbClr val="96969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9846" name="Line 38">
            <a:extLst>
              <a:ext uri="{FF2B5EF4-FFF2-40B4-BE49-F238E27FC236}">
                <a16:creationId xmlns:a16="http://schemas.microsoft.com/office/drawing/2014/main" id="{AABA5FE8-40CB-4F76-8766-682D98DFA136}"/>
              </a:ext>
            </a:extLst>
          </p:cNvPr>
          <p:cNvSpPr>
            <a:spLocks noChangeShapeType="1"/>
          </p:cNvSpPr>
          <p:nvPr/>
        </p:nvSpPr>
        <p:spPr bwMode="auto">
          <a:xfrm>
            <a:off x="6096000" y="2446338"/>
            <a:ext cx="1066800" cy="0"/>
          </a:xfrm>
          <a:prstGeom prst="line">
            <a:avLst/>
          </a:prstGeom>
          <a:noFill/>
          <a:ln w="19050">
            <a:solidFill>
              <a:srgbClr val="00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9847" name="Line 39">
            <a:extLst>
              <a:ext uri="{FF2B5EF4-FFF2-40B4-BE49-F238E27FC236}">
                <a16:creationId xmlns:a16="http://schemas.microsoft.com/office/drawing/2014/main" id="{10C2246A-682C-4312-9D30-97BA66EDD1DA}"/>
              </a:ext>
            </a:extLst>
          </p:cNvPr>
          <p:cNvSpPr>
            <a:spLocks noChangeShapeType="1"/>
          </p:cNvSpPr>
          <p:nvPr/>
        </p:nvSpPr>
        <p:spPr bwMode="auto">
          <a:xfrm flipV="1">
            <a:off x="5715000" y="1912938"/>
            <a:ext cx="0" cy="2106612"/>
          </a:xfrm>
          <a:prstGeom prst="line">
            <a:avLst/>
          </a:prstGeom>
          <a:noFill/>
          <a:ln w="22225">
            <a:solidFill>
              <a:srgbClr val="FFFF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9848" name="AutoShape 40">
            <a:extLst>
              <a:ext uri="{FF2B5EF4-FFF2-40B4-BE49-F238E27FC236}">
                <a16:creationId xmlns:a16="http://schemas.microsoft.com/office/drawing/2014/main" id="{25F162BA-9C2A-42D6-A57D-98878869D167}"/>
              </a:ext>
            </a:extLst>
          </p:cNvPr>
          <p:cNvSpPr>
            <a:spLocks noChangeArrowheads="1"/>
          </p:cNvSpPr>
          <p:nvPr/>
        </p:nvSpPr>
        <p:spPr bwMode="auto">
          <a:xfrm rot="3034945">
            <a:off x="4610100" y="3300413"/>
            <a:ext cx="1219200" cy="381000"/>
          </a:xfrm>
          <a:prstGeom prst="rightArrow">
            <a:avLst>
              <a:gd name="adj1" fmla="val 50000"/>
              <a:gd name="adj2" fmla="val 80000"/>
            </a:avLst>
          </a:prstGeom>
          <a:noFill/>
          <a:ln w="22225">
            <a:solidFill>
              <a:srgbClr val="00FF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19849" name="Rectangle 41">
            <a:extLst>
              <a:ext uri="{FF2B5EF4-FFF2-40B4-BE49-F238E27FC236}">
                <a16:creationId xmlns:a16="http://schemas.microsoft.com/office/drawing/2014/main" id="{E4EB292A-2101-4911-82BE-1FD47026AF0A}"/>
              </a:ext>
            </a:extLst>
          </p:cNvPr>
          <p:cNvSpPr>
            <a:spLocks noChangeArrowheads="1"/>
          </p:cNvSpPr>
          <p:nvPr/>
        </p:nvSpPr>
        <p:spPr bwMode="auto">
          <a:xfrm>
            <a:off x="4724400" y="2500313"/>
            <a:ext cx="16224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a:solidFill>
                  <a:srgbClr val="66FF33"/>
                </a:solidFill>
              </a:rPr>
              <a:t>激励</a:t>
            </a:r>
          </a:p>
        </p:txBody>
      </p:sp>
      <p:sp>
        <p:nvSpPr>
          <p:cNvPr id="119850" name="Rectangle 42">
            <a:extLst>
              <a:ext uri="{FF2B5EF4-FFF2-40B4-BE49-F238E27FC236}">
                <a16:creationId xmlns:a16="http://schemas.microsoft.com/office/drawing/2014/main" id="{1EAB11A3-CC7D-4463-A740-C2D421B1C2CF}"/>
              </a:ext>
            </a:extLst>
          </p:cNvPr>
          <p:cNvSpPr>
            <a:spLocks noChangeArrowheads="1"/>
          </p:cNvSpPr>
          <p:nvPr/>
        </p:nvSpPr>
        <p:spPr bwMode="auto">
          <a:xfrm>
            <a:off x="7315200" y="1765300"/>
            <a:ext cx="16224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a:solidFill>
                  <a:srgbClr val="EDFE4A"/>
                </a:solidFill>
              </a:rPr>
              <a:t>激发态</a:t>
            </a:r>
          </a:p>
        </p:txBody>
      </p:sp>
      <p:graphicFrame>
        <p:nvGraphicFramePr>
          <p:cNvPr id="119851" name="Object 43">
            <a:extLst>
              <a:ext uri="{FF2B5EF4-FFF2-40B4-BE49-F238E27FC236}">
                <a16:creationId xmlns:a16="http://schemas.microsoft.com/office/drawing/2014/main" id="{C3575DD6-1BC9-466A-B668-F1695BA1B23B}"/>
              </a:ext>
            </a:extLst>
          </p:cNvPr>
          <p:cNvGraphicFramePr>
            <a:graphicFrameLocks noChangeAspect="1"/>
          </p:cNvGraphicFramePr>
          <p:nvPr/>
        </p:nvGraphicFramePr>
        <p:xfrm>
          <a:off x="7010400" y="3714750"/>
          <a:ext cx="439738" cy="463550"/>
        </p:xfrm>
        <a:graphic>
          <a:graphicData uri="http://schemas.openxmlformats.org/presentationml/2006/ole">
            <mc:AlternateContent xmlns:mc="http://schemas.openxmlformats.org/markup-compatibility/2006">
              <mc:Choice xmlns:v="urn:schemas-microsoft-com:vml" Requires="v">
                <p:oleObj spid="_x0000_s566630" name="Equation" r:id="rId13" imgW="144603" imgH="182833" progId="Equation.3">
                  <p:embed/>
                </p:oleObj>
              </mc:Choice>
              <mc:Fallback>
                <p:oleObj name="Equation" r:id="rId13" imgW="144603" imgH="182833" progId="Equation.3">
                  <p:embed/>
                  <p:pic>
                    <p:nvPicPr>
                      <p:cNvPr id="119851" name="Object 43">
                        <a:extLst>
                          <a:ext uri="{FF2B5EF4-FFF2-40B4-BE49-F238E27FC236}">
                            <a16:creationId xmlns:a16="http://schemas.microsoft.com/office/drawing/2014/main" id="{C3575DD6-1BC9-466A-B668-F1695BA1B23B}"/>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010400" y="3714750"/>
                        <a:ext cx="439738" cy="463550"/>
                      </a:xfrm>
                      <a:prstGeom prst="rect">
                        <a:avLst/>
                      </a:prstGeom>
                      <a:noFill/>
                      <a:ln>
                        <a:noFill/>
                      </a:ln>
                      <a:extLst>
                        <a:ext uri="{909E8E84-426E-40DD-AFC4-6F175D3DCCD1}">
                          <a14:hiddenFill xmlns:a14="http://schemas.microsoft.com/office/drawing/2010/main">
                            <a:solidFill>
                              <a:srgbClr val="006699"/>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9852" name="Object 44">
            <a:extLst>
              <a:ext uri="{FF2B5EF4-FFF2-40B4-BE49-F238E27FC236}">
                <a16:creationId xmlns:a16="http://schemas.microsoft.com/office/drawing/2014/main" id="{325E4A6F-F06E-477B-B403-D6564EEA7814}"/>
              </a:ext>
            </a:extLst>
          </p:cNvPr>
          <p:cNvGraphicFramePr>
            <a:graphicFrameLocks noChangeAspect="1"/>
          </p:cNvGraphicFramePr>
          <p:nvPr/>
        </p:nvGraphicFramePr>
        <p:xfrm>
          <a:off x="7239000" y="2903538"/>
          <a:ext cx="471488" cy="463550"/>
        </p:xfrm>
        <a:graphic>
          <a:graphicData uri="http://schemas.openxmlformats.org/presentationml/2006/ole">
            <mc:AlternateContent xmlns:mc="http://schemas.openxmlformats.org/markup-compatibility/2006">
              <mc:Choice xmlns:v="urn:schemas-microsoft-com:vml" Requires="v">
                <p:oleObj spid="_x0000_s566631" name="Equation" r:id="rId15" imgW="159914" imgH="182833" progId="Equation.3">
                  <p:embed/>
                </p:oleObj>
              </mc:Choice>
              <mc:Fallback>
                <p:oleObj name="Equation" r:id="rId15" imgW="159914" imgH="182833" progId="Equation.3">
                  <p:embed/>
                  <p:pic>
                    <p:nvPicPr>
                      <p:cNvPr id="119852" name="Object 44">
                        <a:extLst>
                          <a:ext uri="{FF2B5EF4-FFF2-40B4-BE49-F238E27FC236}">
                            <a16:creationId xmlns:a16="http://schemas.microsoft.com/office/drawing/2014/main" id="{325E4A6F-F06E-477B-B403-D6564EEA7814}"/>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239000" y="2903538"/>
                        <a:ext cx="471488" cy="463550"/>
                      </a:xfrm>
                      <a:prstGeom prst="rect">
                        <a:avLst/>
                      </a:prstGeom>
                      <a:noFill/>
                      <a:ln>
                        <a:noFill/>
                      </a:ln>
                      <a:extLst>
                        <a:ext uri="{909E8E84-426E-40DD-AFC4-6F175D3DCCD1}">
                          <a14:hiddenFill xmlns:a14="http://schemas.microsoft.com/office/drawing/2010/main">
                            <a:solidFill>
                              <a:srgbClr val="006699"/>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9853" name="Object 45">
            <a:extLst>
              <a:ext uri="{FF2B5EF4-FFF2-40B4-BE49-F238E27FC236}">
                <a16:creationId xmlns:a16="http://schemas.microsoft.com/office/drawing/2014/main" id="{6C435BCD-7D54-442A-91BB-68A188FBAC65}"/>
              </a:ext>
            </a:extLst>
          </p:cNvPr>
          <p:cNvGraphicFramePr>
            <a:graphicFrameLocks noChangeAspect="1"/>
          </p:cNvGraphicFramePr>
          <p:nvPr/>
        </p:nvGraphicFramePr>
        <p:xfrm>
          <a:off x="6934200" y="1765300"/>
          <a:ext cx="471488" cy="463550"/>
        </p:xfrm>
        <a:graphic>
          <a:graphicData uri="http://schemas.openxmlformats.org/presentationml/2006/ole">
            <mc:AlternateContent xmlns:mc="http://schemas.openxmlformats.org/markup-compatibility/2006">
              <mc:Choice xmlns:v="urn:schemas-microsoft-com:vml" Requires="v">
                <p:oleObj spid="_x0000_s566632" name="Equation" r:id="rId17" imgW="159914" imgH="182833" progId="Equation.3">
                  <p:embed/>
                </p:oleObj>
              </mc:Choice>
              <mc:Fallback>
                <p:oleObj name="Equation" r:id="rId17" imgW="159914" imgH="182833" progId="Equation.3">
                  <p:embed/>
                  <p:pic>
                    <p:nvPicPr>
                      <p:cNvPr id="119853" name="Object 45">
                        <a:extLst>
                          <a:ext uri="{FF2B5EF4-FFF2-40B4-BE49-F238E27FC236}">
                            <a16:creationId xmlns:a16="http://schemas.microsoft.com/office/drawing/2014/main" id="{6C435BCD-7D54-442A-91BB-68A188FBAC65}"/>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934200" y="1765300"/>
                        <a:ext cx="471488" cy="463550"/>
                      </a:xfrm>
                      <a:prstGeom prst="rect">
                        <a:avLst/>
                      </a:prstGeom>
                      <a:noFill/>
                      <a:ln>
                        <a:noFill/>
                      </a:ln>
                      <a:extLst>
                        <a:ext uri="{909E8E84-426E-40DD-AFC4-6F175D3DCCD1}">
                          <a14:hiddenFill xmlns:a14="http://schemas.microsoft.com/office/drawing/2010/main">
                            <a:solidFill>
                              <a:srgbClr val="006699"/>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9854" name="Rectangle 46">
            <a:extLst>
              <a:ext uri="{FF2B5EF4-FFF2-40B4-BE49-F238E27FC236}">
                <a16:creationId xmlns:a16="http://schemas.microsoft.com/office/drawing/2014/main" id="{D2473986-B327-4765-B90B-F61CB1723033}"/>
              </a:ext>
            </a:extLst>
          </p:cNvPr>
          <p:cNvSpPr>
            <a:spLocks noChangeArrowheads="1"/>
          </p:cNvSpPr>
          <p:nvPr/>
        </p:nvSpPr>
        <p:spPr bwMode="auto">
          <a:xfrm>
            <a:off x="7521575" y="3714750"/>
            <a:ext cx="16224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a:solidFill>
                  <a:srgbClr val="EDFE4A"/>
                </a:solidFill>
              </a:rPr>
              <a:t>基态</a:t>
            </a:r>
          </a:p>
        </p:txBody>
      </p:sp>
      <p:sp>
        <p:nvSpPr>
          <p:cNvPr id="119855" name="Line 47">
            <a:extLst>
              <a:ext uri="{FF2B5EF4-FFF2-40B4-BE49-F238E27FC236}">
                <a16:creationId xmlns:a16="http://schemas.microsoft.com/office/drawing/2014/main" id="{E5578EEE-E6AC-4A6F-A53F-4756772C426F}"/>
              </a:ext>
            </a:extLst>
          </p:cNvPr>
          <p:cNvSpPr>
            <a:spLocks noChangeShapeType="1"/>
          </p:cNvSpPr>
          <p:nvPr/>
        </p:nvSpPr>
        <p:spPr bwMode="auto">
          <a:xfrm>
            <a:off x="6172200" y="1912938"/>
            <a:ext cx="457200" cy="533400"/>
          </a:xfrm>
          <a:prstGeom prst="line">
            <a:avLst/>
          </a:prstGeom>
          <a:noFill/>
          <a:ln w="22225">
            <a:solidFill>
              <a:srgbClr val="FF66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9856" name="Line 48">
            <a:extLst>
              <a:ext uri="{FF2B5EF4-FFF2-40B4-BE49-F238E27FC236}">
                <a16:creationId xmlns:a16="http://schemas.microsoft.com/office/drawing/2014/main" id="{B5C0C6CD-B89D-4A92-A8AE-1683921C1A4A}"/>
              </a:ext>
            </a:extLst>
          </p:cNvPr>
          <p:cNvSpPr>
            <a:spLocks noChangeShapeType="1"/>
          </p:cNvSpPr>
          <p:nvPr/>
        </p:nvSpPr>
        <p:spPr bwMode="auto">
          <a:xfrm flipH="1">
            <a:off x="6215063" y="3055938"/>
            <a:ext cx="414337" cy="944562"/>
          </a:xfrm>
          <a:prstGeom prst="line">
            <a:avLst/>
          </a:prstGeom>
          <a:noFill/>
          <a:ln w="22225">
            <a:solidFill>
              <a:srgbClr val="FF66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9857" name="Line 49">
            <a:extLst>
              <a:ext uri="{FF2B5EF4-FFF2-40B4-BE49-F238E27FC236}">
                <a16:creationId xmlns:a16="http://schemas.microsoft.com/office/drawing/2014/main" id="{DE3D1C15-A1DC-4596-A571-C8BAD57911C5}"/>
              </a:ext>
            </a:extLst>
          </p:cNvPr>
          <p:cNvSpPr>
            <a:spLocks noChangeShapeType="1"/>
          </p:cNvSpPr>
          <p:nvPr/>
        </p:nvSpPr>
        <p:spPr bwMode="auto">
          <a:xfrm>
            <a:off x="6096000" y="3055938"/>
            <a:ext cx="1066800" cy="0"/>
          </a:xfrm>
          <a:prstGeom prst="line">
            <a:avLst/>
          </a:prstGeom>
          <a:noFill/>
          <a:ln w="22225">
            <a:solidFill>
              <a:srgbClr val="969696"/>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19858" name="Object 50">
            <a:extLst>
              <a:ext uri="{FF2B5EF4-FFF2-40B4-BE49-F238E27FC236}">
                <a16:creationId xmlns:a16="http://schemas.microsoft.com/office/drawing/2014/main" id="{73BE10BE-F0A1-4EC4-AA9A-8761003CDAC3}"/>
              </a:ext>
            </a:extLst>
          </p:cNvPr>
          <p:cNvGraphicFramePr>
            <a:graphicFrameLocks noChangeAspect="1"/>
          </p:cNvGraphicFramePr>
          <p:nvPr/>
        </p:nvGraphicFramePr>
        <p:xfrm>
          <a:off x="7315200" y="2217738"/>
          <a:ext cx="471488" cy="490537"/>
        </p:xfrm>
        <a:graphic>
          <a:graphicData uri="http://schemas.openxmlformats.org/presentationml/2006/ole">
            <mc:AlternateContent xmlns:mc="http://schemas.openxmlformats.org/markup-compatibility/2006">
              <mc:Choice xmlns:v="urn:schemas-microsoft-com:vml" Requires="v">
                <p:oleObj spid="_x0000_s566633" name="Equation" r:id="rId19" imgW="159914" imgH="198104" progId="Equation.3">
                  <p:embed/>
                </p:oleObj>
              </mc:Choice>
              <mc:Fallback>
                <p:oleObj name="Equation" r:id="rId19" imgW="159914" imgH="198104" progId="Equation.3">
                  <p:embed/>
                  <p:pic>
                    <p:nvPicPr>
                      <p:cNvPr id="119858" name="Object 50">
                        <a:extLst>
                          <a:ext uri="{FF2B5EF4-FFF2-40B4-BE49-F238E27FC236}">
                            <a16:creationId xmlns:a16="http://schemas.microsoft.com/office/drawing/2014/main" id="{73BE10BE-F0A1-4EC4-AA9A-8761003CDAC3}"/>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7315200" y="2217738"/>
                        <a:ext cx="471488" cy="490537"/>
                      </a:xfrm>
                      <a:prstGeom prst="rect">
                        <a:avLst/>
                      </a:prstGeom>
                      <a:noFill/>
                      <a:ln>
                        <a:noFill/>
                      </a:ln>
                      <a:extLst>
                        <a:ext uri="{909E8E84-426E-40DD-AFC4-6F175D3DCCD1}">
                          <a14:hiddenFill xmlns:a14="http://schemas.microsoft.com/office/drawing/2010/main">
                            <a:solidFill>
                              <a:srgbClr val="006699"/>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9859" name="Rectangle 51">
            <a:extLst>
              <a:ext uri="{FF2B5EF4-FFF2-40B4-BE49-F238E27FC236}">
                <a16:creationId xmlns:a16="http://schemas.microsoft.com/office/drawing/2014/main" id="{07AA6AF5-F955-4BE7-BEFE-10EC91796601}"/>
              </a:ext>
            </a:extLst>
          </p:cNvPr>
          <p:cNvSpPr>
            <a:spLocks noChangeArrowheads="1"/>
          </p:cNvSpPr>
          <p:nvPr/>
        </p:nvSpPr>
        <p:spPr bwMode="auto">
          <a:xfrm>
            <a:off x="7696200" y="2217738"/>
            <a:ext cx="1447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a:solidFill>
                  <a:srgbClr val="00FFFF"/>
                </a:solidFill>
              </a:rPr>
              <a:t>亚稳态</a:t>
            </a:r>
          </a:p>
        </p:txBody>
      </p:sp>
      <p:grpSp>
        <p:nvGrpSpPr>
          <p:cNvPr id="6" name="Group 52">
            <a:extLst>
              <a:ext uri="{FF2B5EF4-FFF2-40B4-BE49-F238E27FC236}">
                <a16:creationId xmlns:a16="http://schemas.microsoft.com/office/drawing/2014/main" id="{75DF42EC-C07E-4551-ABAB-87CC2A2F5024}"/>
              </a:ext>
            </a:extLst>
          </p:cNvPr>
          <p:cNvGrpSpPr>
            <a:grpSpLocks/>
          </p:cNvGrpSpPr>
          <p:nvPr/>
        </p:nvGrpSpPr>
        <p:grpSpPr bwMode="auto">
          <a:xfrm>
            <a:off x="6781800" y="2674938"/>
            <a:ext cx="990600" cy="228600"/>
            <a:chOff x="1056" y="2400"/>
            <a:chExt cx="624" cy="144"/>
          </a:xfrm>
        </p:grpSpPr>
        <p:grpSp>
          <p:nvGrpSpPr>
            <p:cNvPr id="30769" name="Group 53">
              <a:extLst>
                <a:ext uri="{FF2B5EF4-FFF2-40B4-BE49-F238E27FC236}">
                  <a16:creationId xmlns:a16="http://schemas.microsoft.com/office/drawing/2014/main" id="{AB861836-083C-48D9-AF60-7068050E25A4}"/>
                </a:ext>
              </a:extLst>
            </p:cNvPr>
            <p:cNvGrpSpPr>
              <a:grpSpLocks/>
            </p:cNvGrpSpPr>
            <p:nvPr/>
          </p:nvGrpSpPr>
          <p:grpSpPr bwMode="auto">
            <a:xfrm>
              <a:off x="1056" y="2400"/>
              <a:ext cx="432" cy="144"/>
              <a:chOff x="1968" y="3258"/>
              <a:chExt cx="1306" cy="648"/>
            </a:xfrm>
          </p:grpSpPr>
          <p:grpSp>
            <p:nvGrpSpPr>
              <p:cNvPr id="30771" name="Group 54">
                <a:extLst>
                  <a:ext uri="{FF2B5EF4-FFF2-40B4-BE49-F238E27FC236}">
                    <a16:creationId xmlns:a16="http://schemas.microsoft.com/office/drawing/2014/main" id="{8AD2CDF9-A592-4C20-B668-D74B8662EEED}"/>
                  </a:ext>
                </a:extLst>
              </p:cNvPr>
              <p:cNvGrpSpPr>
                <a:grpSpLocks/>
              </p:cNvGrpSpPr>
              <p:nvPr/>
            </p:nvGrpSpPr>
            <p:grpSpPr bwMode="auto">
              <a:xfrm flipV="1">
                <a:off x="2621" y="3258"/>
                <a:ext cx="653" cy="648"/>
                <a:chOff x="1728" y="1728"/>
                <a:chExt cx="2141" cy="432"/>
              </a:xfrm>
            </p:grpSpPr>
            <p:sp>
              <p:nvSpPr>
                <p:cNvPr id="30777" name="Freeform 55">
                  <a:extLst>
                    <a:ext uri="{FF2B5EF4-FFF2-40B4-BE49-F238E27FC236}">
                      <a16:creationId xmlns:a16="http://schemas.microsoft.com/office/drawing/2014/main" id="{55E04E92-4B45-4226-9C49-E423E7105951}"/>
                    </a:ext>
                  </a:extLst>
                </p:cNvPr>
                <p:cNvSpPr>
                  <a:spLocks/>
                </p:cNvSpPr>
                <p:nvPr/>
              </p:nvSpPr>
              <p:spPr bwMode="auto">
                <a:xfrm flipV="1">
                  <a:off x="1728" y="1728"/>
                  <a:ext cx="556" cy="228"/>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894"/>
                      </a:moveTo>
                      <a:lnTo>
                        <a:pt x="197" y="1533"/>
                      </a:lnTo>
                      <a:lnTo>
                        <a:pt x="427" y="2120"/>
                      </a:lnTo>
                      <a:lnTo>
                        <a:pt x="657" y="2708"/>
                      </a:lnTo>
                      <a:lnTo>
                        <a:pt x="952" y="3295"/>
                      </a:lnTo>
                      <a:lnTo>
                        <a:pt x="1084" y="3934"/>
                      </a:lnTo>
                      <a:lnTo>
                        <a:pt x="1314" y="4521"/>
                      </a:lnTo>
                      <a:lnTo>
                        <a:pt x="1544" y="5109"/>
                      </a:lnTo>
                      <a:lnTo>
                        <a:pt x="1708" y="5696"/>
                      </a:lnTo>
                      <a:lnTo>
                        <a:pt x="2003" y="6284"/>
                      </a:lnTo>
                      <a:lnTo>
                        <a:pt x="2233" y="6820"/>
                      </a:lnTo>
                      <a:lnTo>
                        <a:pt x="2430" y="7407"/>
                      </a:lnTo>
                      <a:lnTo>
                        <a:pt x="2726" y="7944"/>
                      </a:lnTo>
                      <a:lnTo>
                        <a:pt x="2857" y="8531"/>
                      </a:lnTo>
                      <a:lnTo>
                        <a:pt x="3120" y="9119"/>
                      </a:lnTo>
                      <a:lnTo>
                        <a:pt x="3383" y="9630"/>
                      </a:lnTo>
                      <a:lnTo>
                        <a:pt x="3547" y="10217"/>
                      </a:lnTo>
                      <a:lnTo>
                        <a:pt x="3810" y="10754"/>
                      </a:lnTo>
                      <a:lnTo>
                        <a:pt x="4007" y="11239"/>
                      </a:lnTo>
                      <a:lnTo>
                        <a:pt x="4236" y="11775"/>
                      </a:lnTo>
                      <a:lnTo>
                        <a:pt x="4433" y="12261"/>
                      </a:lnTo>
                      <a:lnTo>
                        <a:pt x="4663" y="12771"/>
                      </a:lnTo>
                      <a:lnTo>
                        <a:pt x="4959" y="13206"/>
                      </a:lnTo>
                      <a:lnTo>
                        <a:pt x="5090" y="13640"/>
                      </a:lnTo>
                      <a:lnTo>
                        <a:pt x="5386" y="14074"/>
                      </a:lnTo>
                      <a:lnTo>
                        <a:pt x="5517" y="14585"/>
                      </a:lnTo>
                      <a:lnTo>
                        <a:pt x="5714" y="15019"/>
                      </a:lnTo>
                      <a:lnTo>
                        <a:pt x="6010" y="15453"/>
                      </a:lnTo>
                      <a:lnTo>
                        <a:pt x="6207" y="15862"/>
                      </a:lnTo>
                      <a:lnTo>
                        <a:pt x="6404" y="16194"/>
                      </a:lnTo>
                      <a:lnTo>
                        <a:pt x="6634" y="16577"/>
                      </a:lnTo>
                      <a:lnTo>
                        <a:pt x="6864" y="16935"/>
                      </a:lnTo>
                      <a:lnTo>
                        <a:pt x="7094" y="17267"/>
                      </a:lnTo>
                      <a:lnTo>
                        <a:pt x="7323" y="17573"/>
                      </a:lnTo>
                      <a:lnTo>
                        <a:pt x="7521" y="17905"/>
                      </a:lnTo>
                      <a:lnTo>
                        <a:pt x="7685" y="18212"/>
                      </a:lnTo>
                      <a:lnTo>
                        <a:pt x="7947" y="18467"/>
                      </a:lnTo>
                      <a:lnTo>
                        <a:pt x="8210" y="18697"/>
                      </a:lnTo>
                      <a:lnTo>
                        <a:pt x="8342" y="18953"/>
                      </a:lnTo>
                      <a:lnTo>
                        <a:pt x="8604" y="19132"/>
                      </a:lnTo>
                      <a:lnTo>
                        <a:pt x="8801" y="19336"/>
                      </a:lnTo>
                      <a:lnTo>
                        <a:pt x="9064" y="19489"/>
                      </a:lnTo>
                      <a:lnTo>
                        <a:pt x="9228" y="19642"/>
                      </a:lnTo>
                      <a:lnTo>
                        <a:pt x="9425" y="19719"/>
                      </a:lnTo>
                      <a:lnTo>
                        <a:pt x="9622" y="19872"/>
                      </a:lnTo>
                      <a:lnTo>
                        <a:pt x="9885" y="19923"/>
                      </a:lnTo>
                      <a:lnTo>
                        <a:pt x="10082" y="19974"/>
                      </a:lnTo>
                      <a:lnTo>
                        <a:pt x="10246" y="19974"/>
                      </a:lnTo>
                      <a:lnTo>
                        <a:pt x="10509" y="19974"/>
                      </a:lnTo>
                      <a:lnTo>
                        <a:pt x="10739" y="19974"/>
                      </a:lnTo>
                      <a:lnTo>
                        <a:pt x="10903" y="19923"/>
                      </a:lnTo>
                      <a:lnTo>
                        <a:pt x="11100" y="19821"/>
                      </a:lnTo>
                      <a:lnTo>
                        <a:pt x="11330" y="19693"/>
                      </a:lnTo>
                      <a:lnTo>
                        <a:pt x="11626" y="19489"/>
                      </a:lnTo>
                      <a:lnTo>
                        <a:pt x="11790" y="19234"/>
                      </a:lnTo>
                      <a:lnTo>
                        <a:pt x="12020" y="19055"/>
                      </a:lnTo>
                      <a:lnTo>
                        <a:pt x="12184" y="18748"/>
                      </a:lnTo>
                      <a:lnTo>
                        <a:pt x="12447" y="18467"/>
                      </a:lnTo>
                      <a:lnTo>
                        <a:pt x="12677" y="18110"/>
                      </a:lnTo>
                      <a:lnTo>
                        <a:pt x="12906" y="17727"/>
                      </a:lnTo>
                      <a:lnTo>
                        <a:pt x="13136" y="17318"/>
                      </a:lnTo>
                      <a:lnTo>
                        <a:pt x="13366" y="16884"/>
                      </a:lnTo>
                      <a:lnTo>
                        <a:pt x="13629" y="16501"/>
                      </a:lnTo>
                      <a:lnTo>
                        <a:pt x="13892" y="16041"/>
                      </a:lnTo>
                      <a:lnTo>
                        <a:pt x="14056" y="15556"/>
                      </a:lnTo>
                      <a:lnTo>
                        <a:pt x="14286" y="15070"/>
                      </a:lnTo>
                      <a:lnTo>
                        <a:pt x="14516" y="14534"/>
                      </a:lnTo>
                      <a:lnTo>
                        <a:pt x="14713" y="13997"/>
                      </a:lnTo>
                      <a:lnTo>
                        <a:pt x="15008" y="13487"/>
                      </a:lnTo>
                      <a:lnTo>
                        <a:pt x="15205" y="12950"/>
                      </a:lnTo>
                      <a:lnTo>
                        <a:pt x="15468" y="12363"/>
                      </a:lnTo>
                      <a:lnTo>
                        <a:pt x="15731" y="11775"/>
                      </a:lnTo>
                      <a:lnTo>
                        <a:pt x="15895" y="11239"/>
                      </a:lnTo>
                      <a:lnTo>
                        <a:pt x="16092" y="10651"/>
                      </a:lnTo>
                      <a:lnTo>
                        <a:pt x="16289" y="10064"/>
                      </a:lnTo>
                      <a:lnTo>
                        <a:pt x="16552" y="9527"/>
                      </a:lnTo>
                      <a:lnTo>
                        <a:pt x="16749" y="8940"/>
                      </a:lnTo>
                      <a:lnTo>
                        <a:pt x="16913" y="8352"/>
                      </a:lnTo>
                      <a:lnTo>
                        <a:pt x="17176" y="7816"/>
                      </a:lnTo>
                      <a:lnTo>
                        <a:pt x="17340" y="7203"/>
                      </a:lnTo>
                      <a:lnTo>
                        <a:pt x="17570" y="6667"/>
                      </a:lnTo>
                      <a:lnTo>
                        <a:pt x="17734" y="6130"/>
                      </a:lnTo>
                      <a:lnTo>
                        <a:pt x="17898" y="5594"/>
                      </a:lnTo>
                      <a:lnTo>
                        <a:pt x="18128" y="5057"/>
                      </a:lnTo>
                      <a:lnTo>
                        <a:pt x="18325" y="4572"/>
                      </a:lnTo>
                      <a:lnTo>
                        <a:pt x="18456" y="4061"/>
                      </a:lnTo>
                      <a:lnTo>
                        <a:pt x="18621" y="3525"/>
                      </a:lnTo>
                      <a:lnTo>
                        <a:pt x="18752" y="3142"/>
                      </a:lnTo>
                      <a:lnTo>
                        <a:pt x="18982" y="2656"/>
                      </a:lnTo>
                      <a:lnTo>
                        <a:pt x="19048" y="2248"/>
                      </a:lnTo>
                      <a:lnTo>
                        <a:pt x="19278" y="1814"/>
                      </a:lnTo>
                      <a:lnTo>
                        <a:pt x="19409" y="1430"/>
                      </a:lnTo>
                      <a:lnTo>
                        <a:pt x="19540" y="1073"/>
                      </a:lnTo>
                      <a:lnTo>
                        <a:pt x="19672" y="843"/>
                      </a:lnTo>
                      <a:lnTo>
                        <a:pt x="19803" y="485"/>
                      </a:lnTo>
                      <a:lnTo>
                        <a:pt x="19869" y="204"/>
                      </a:lnTo>
                      <a:lnTo>
                        <a:pt x="19967" y="0"/>
                      </a:lnTo>
                    </a:path>
                  </a:pathLst>
                </a:custGeom>
                <a:noFill/>
                <a:ln w="19050">
                  <a:solidFill>
                    <a:srgbClr val="FFCC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0778" name="Freeform 56">
                  <a:extLst>
                    <a:ext uri="{FF2B5EF4-FFF2-40B4-BE49-F238E27FC236}">
                      <a16:creationId xmlns:a16="http://schemas.microsoft.com/office/drawing/2014/main" id="{388569EE-143B-4BB8-863B-EC108506C3D9}"/>
                    </a:ext>
                  </a:extLst>
                </p:cNvPr>
                <p:cNvSpPr>
                  <a:spLocks/>
                </p:cNvSpPr>
                <p:nvPr/>
              </p:nvSpPr>
              <p:spPr bwMode="auto">
                <a:xfrm flipH="1">
                  <a:off x="2247" y="1932"/>
                  <a:ext cx="557" cy="228"/>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894"/>
                      </a:moveTo>
                      <a:lnTo>
                        <a:pt x="197" y="1533"/>
                      </a:lnTo>
                      <a:lnTo>
                        <a:pt x="427" y="2120"/>
                      </a:lnTo>
                      <a:lnTo>
                        <a:pt x="657" y="2708"/>
                      </a:lnTo>
                      <a:lnTo>
                        <a:pt x="952" y="3295"/>
                      </a:lnTo>
                      <a:lnTo>
                        <a:pt x="1084" y="3934"/>
                      </a:lnTo>
                      <a:lnTo>
                        <a:pt x="1314" y="4521"/>
                      </a:lnTo>
                      <a:lnTo>
                        <a:pt x="1544" y="5109"/>
                      </a:lnTo>
                      <a:lnTo>
                        <a:pt x="1708" y="5696"/>
                      </a:lnTo>
                      <a:lnTo>
                        <a:pt x="2003" y="6284"/>
                      </a:lnTo>
                      <a:lnTo>
                        <a:pt x="2233" y="6820"/>
                      </a:lnTo>
                      <a:lnTo>
                        <a:pt x="2430" y="7407"/>
                      </a:lnTo>
                      <a:lnTo>
                        <a:pt x="2726" y="7944"/>
                      </a:lnTo>
                      <a:lnTo>
                        <a:pt x="2857" y="8531"/>
                      </a:lnTo>
                      <a:lnTo>
                        <a:pt x="3120" y="9119"/>
                      </a:lnTo>
                      <a:lnTo>
                        <a:pt x="3383" y="9630"/>
                      </a:lnTo>
                      <a:lnTo>
                        <a:pt x="3547" y="10217"/>
                      </a:lnTo>
                      <a:lnTo>
                        <a:pt x="3810" y="10754"/>
                      </a:lnTo>
                      <a:lnTo>
                        <a:pt x="4007" y="11239"/>
                      </a:lnTo>
                      <a:lnTo>
                        <a:pt x="4236" y="11775"/>
                      </a:lnTo>
                      <a:lnTo>
                        <a:pt x="4433" y="12261"/>
                      </a:lnTo>
                      <a:lnTo>
                        <a:pt x="4663" y="12771"/>
                      </a:lnTo>
                      <a:lnTo>
                        <a:pt x="4959" y="13206"/>
                      </a:lnTo>
                      <a:lnTo>
                        <a:pt x="5090" y="13640"/>
                      </a:lnTo>
                      <a:lnTo>
                        <a:pt x="5386" y="14074"/>
                      </a:lnTo>
                      <a:lnTo>
                        <a:pt x="5517" y="14585"/>
                      </a:lnTo>
                      <a:lnTo>
                        <a:pt x="5714" y="15019"/>
                      </a:lnTo>
                      <a:lnTo>
                        <a:pt x="6010" y="15453"/>
                      </a:lnTo>
                      <a:lnTo>
                        <a:pt x="6207" y="15862"/>
                      </a:lnTo>
                      <a:lnTo>
                        <a:pt x="6404" y="16194"/>
                      </a:lnTo>
                      <a:lnTo>
                        <a:pt x="6634" y="16577"/>
                      </a:lnTo>
                      <a:lnTo>
                        <a:pt x="6864" y="16935"/>
                      </a:lnTo>
                      <a:lnTo>
                        <a:pt x="7094" y="17267"/>
                      </a:lnTo>
                      <a:lnTo>
                        <a:pt x="7323" y="17573"/>
                      </a:lnTo>
                      <a:lnTo>
                        <a:pt x="7521" y="17905"/>
                      </a:lnTo>
                      <a:lnTo>
                        <a:pt x="7685" y="18212"/>
                      </a:lnTo>
                      <a:lnTo>
                        <a:pt x="7947" y="18467"/>
                      </a:lnTo>
                      <a:lnTo>
                        <a:pt x="8210" y="18697"/>
                      </a:lnTo>
                      <a:lnTo>
                        <a:pt x="8342" y="18953"/>
                      </a:lnTo>
                      <a:lnTo>
                        <a:pt x="8604" y="19132"/>
                      </a:lnTo>
                      <a:lnTo>
                        <a:pt x="8801" y="19336"/>
                      </a:lnTo>
                      <a:lnTo>
                        <a:pt x="9064" y="19489"/>
                      </a:lnTo>
                      <a:lnTo>
                        <a:pt x="9228" y="19642"/>
                      </a:lnTo>
                      <a:lnTo>
                        <a:pt x="9425" y="19719"/>
                      </a:lnTo>
                      <a:lnTo>
                        <a:pt x="9622" y="19872"/>
                      </a:lnTo>
                      <a:lnTo>
                        <a:pt x="9885" y="19923"/>
                      </a:lnTo>
                      <a:lnTo>
                        <a:pt x="10082" y="19974"/>
                      </a:lnTo>
                      <a:lnTo>
                        <a:pt x="10246" y="19974"/>
                      </a:lnTo>
                      <a:lnTo>
                        <a:pt x="10509" y="19974"/>
                      </a:lnTo>
                      <a:lnTo>
                        <a:pt x="10739" y="19974"/>
                      </a:lnTo>
                      <a:lnTo>
                        <a:pt x="10903" y="19923"/>
                      </a:lnTo>
                      <a:lnTo>
                        <a:pt x="11100" y="19821"/>
                      </a:lnTo>
                      <a:lnTo>
                        <a:pt x="11330" y="19693"/>
                      </a:lnTo>
                      <a:lnTo>
                        <a:pt x="11626" y="19489"/>
                      </a:lnTo>
                      <a:lnTo>
                        <a:pt x="11790" y="19234"/>
                      </a:lnTo>
                      <a:lnTo>
                        <a:pt x="12020" y="19055"/>
                      </a:lnTo>
                      <a:lnTo>
                        <a:pt x="12184" y="18748"/>
                      </a:lnTo>
                      <a:lnTo>
                        <a:pt x="12447" y="18467"/>
                      </a:lnTo>
                      <a:lnTo>
                        <a:pt x="12677" y="18110"/>
                      </a:lnTo>
                      <a:lnTo>
                        <a:pt x="12906" y="17727"/>
                      </a:lnTo>
                      <a:lnTo>
                        <a:pt x="13136" y="17318"/>
                      </a:lnTo>
                      <a:lnTo>
                        <a:pt x="13366" y="16884"/>
                      </a:lnTo>
                      <a:lnTo>
                        <a:pt x="13629" y="16501"/>
                      </a:lnTo>
                      <a:lnTo>
                        <a:pt x="13892" y="16041"/>
                      </a:lnTo>
                      <a:lnTo>
                        <a:pt x="14056" y="15556"/>
                      </a:lnTo>
                      <a:lnTo>
                        <a:pt x="14286" y="15070"/>
                      </a:lnTo>
                      <a:lnTo>
                        <a:pt x="14516" y="14534"/>
                      </a:lnTo>
                      <a:lnTo>
                        <a:pt x="14713" y="13997"/>
                      </a:lnTo>
                      <a:lnTo>
                        <a:pt x="15008" y="13487"/>
                      </a:lnTo>
                      <a:lnTo>
                        <a:pt x="15205" y="12950"/>
                      </a:lnTo>
                      <a:lnTo>
                        <a:pt x="15468" y="12363"/>
                      </a:lnTo>
                      <a:lnTo>
                        <a:pt x="15731" y="11775"/>
                      </a:lnTo>
                      <a:lnTo>
                        <a:pt x="15895" y="11239"/>
                      </a:lnTo>
                      <a:lnTo>
                        <a:pt x="16092" y="10651"/>
                      </a:lnTo>
                      <a:lnTo>
                        <a:pt x="16289" y="10064"/>
                      </a:lnTo>
                      <a:lnTo>
                        <a:pt x="16552" y="9527"/>
                      </a:lnTo>
                      <a:lnTo>
                        <a:pt x="16749" y="8940"/>
                      </a:lnTo>
                      <a:lnTo>
                        <a:pt x="16913" y="8352"/>
                      </a:lnTo>
                      <a:lnTo>
                        <a:pt x="17176" y="7816"/>
                      </a:lnTo>
                      <a:lnTo>
                        <a:pt x="17340" y="7203"/>
                      </a:lnTo>
                      <a:lnTo>
                        <a:pt x="17570" y="6667"/>
                      </a:lnTo>
                      <a:lnTo>
                        <a:pt x="17734" y="6130"/>
                      </a:lnTo>
                      <a:lnTo>
                        <a:pt x="17898" y="5594"/>
                      </a:lnTo>
                      <a:lnTo>
                        <a:pt x="18128" y="5057"/>
                      </a:lnTo>
                      <a:lnTo>
                        <a:pt x="18325" y="4572"/>
                      </a:lnTo>
                      <a:lnTo>
                        <a:pt x="18456" y="4061"/>
                      </a:lnTo>
                      <a:lnTo>
                        <a:pt x="18621" y="3525"/>
                      </a:lnTo>
                      <a:lnTo>
                        <a:pt x="18752" y="3142"/>
                      </a:lnTo>
                      <a:lnTo>
                        <a:pt x="18982" y="2656"/>
                      </a:lnTo>
                      <a:lnTo>
                        <a:pt x="19048" y="2248"/>
                      </a:lnTo>
                      <a:lnTo>
                        <a:pt x="19278" y="1814"/>
                      </a:lnTo>
                      <a:lnTo>
                        <a:pt x="19409" y="1430"/>
                      </a:lnTo>
                      <a:lnTo>
                        <a:pt x="19540" y="1073"/>
                      </a:lnTo>
                      <a:lnTo>
                        <a:pt x="19672" y="843"/>
                      </a:lnTo>
                      <a:lnTo>
                        <a:pt x="19803" y="485"/>
                      </a:lnTo>
                      <a:lnTo>
                        <a:pt x="19869" y="204"/>
                      </a:lnTo>
                      <a:lnTo>
                        <a:pt x="19967" y="0"/>
                      </a:lnTo>
                    </a:path>
                  </a:pathLst>
                </a:custGeom>
                <a:noFill/>
                <a:ln w="19050">
                  <a:solidFill>
                    <a:srgbClr val="FFCC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0779" name="Freeform 57">
                  <a:extLst>
                    <a:ext uri="{FF2B5EF4-FFF2-40B4-BE49-F238E27FC236}">
                      <a16:creationId xmlns:a16="http://schemas.microsoft.com/office/drawing/2014/main" id="{8C830CA3-B65B-4020-A201-0618B4382805}"/>
                    </a:ext>
                  </a:extLst>
                </p:cNvPr>
                <p:cNvSpPr>
                  <a:spLocks/>
                </p:cNvSpPr>
                <p:nvPr/>
              </p:nvSpPr>
              <p:spPr bwMode="auto">
                <a:xfrm flipV="1">
                  <a:off x="2804" y="1728"/>
                  <a:ext cx="556" cy="228"/>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894"/>
                      </a:moveTo>
                      <a:lnTo>
                        <a:pt x="197" y="1533"/>
                      </a:lnTo>
                      <a:lnTo>
                        <a:pt x="427" y="2120"/>
                      </a:lnTo>
                      <a:lnTo>
                        <a:pt x="657" y="2708"/>
                      </a:lnTo>
                      <a:lnTo>
                        <a:pt x="952" y="3295"/>
                      </a:lnTo>
                      <a:lnTo>
                        <a:pt x="1084" y="3934"/>
                      </a:lnTo>
                      <a:lnTo>
                        <a:pt x="1314" y="4521"/>
                      </a:lnTo>
                      <a:lnTo>
                        <a:pt x="1544" y="5109"/>
                      </a:lnTo>
                      <a:lnTo>
                        <a:pt x="1708" y="5696"/>
                      </a:lnTo>
                      <a:lnTo>
                        <a:pt x="2003" y="6284"/>
                      </a:lnTo>
                      <a:lnTo>
                        <a:pt x="2233" y="6820"/>
                      </a:lnTo>
                      <a:lnTo>
                        <a:pt x="2430" y="7407"/>
                      </a:lnTo>
                      <a:lnTo>
                        <a:pt x="2726" y="7944"/>
                      </a:lnTo>
                      <a:lnTo>
                        <a:pt x="2857" y="8531"/>
                      </a:lnTo>
                      <a:lnTo>
                        <a:pt x="3120" y="9119"/>
                      </a:lnTo>
                      <a:lnTo>
                        <a:pt x="3383" y="9630"/>
                      </a:lnTo>
                      <a:lnTo>
                        <a:pt x="3547" y="10217"/>
                      </a:lnTo>
                      <a:lnTo>
                        <a:pt x="3810" y="10754"/>
                      </a:lnTo>
                      <a:lnTo>
                        <a:pt x="4007" y="11239"/>
                      </a:lnTo>
                      <a:lnTo>
                        <a:pt x="4236" y="11775"/>
                      </a:lnTo>
                      <a:lnTo>
                        <a:pt x="4433" y="12261"/>
                      </a:lnTo>
                      <a:lnTo>
                        <a:pt x="4663" y="12771"/>
                      </a:lnTo>
                      <a:lnTo>
                        <a:pt x="4959" y="13206"/>
                      </a:lnTo>
                      <a:lnTo>
                        <a:pt x="5090" y="13640"/>
                      </a:lnTo>
                      <a:lnTo>
                        <a:pt x="5386" y="14074"/>
                      </a:lnTo>
                      <a:lnTo>
                        <a:pt x="5517" y="14585"/>
                      </a:lnTo>
                      <a:lnTo>
                        <a:pt x="5714" y="15019"/>
                      </a:lnTo>
                      <a:lnTo>
                        <a:pt x="6010" y="15453"/>
                      </a:lnTo>
                      <a:lnTo>
                        <a:pt x="6207" y="15862"/>
                      </a:lnTo>
                      <a:lnTo>
                        <a:pt x="6404" y="16194"/>
                      </a:lnTo>
                      <a:lnTo>
                        <a:pt x="6634" y="16577"/>
                      </a:lnTo>
                      <a:lnTo>
                        <a:pt x="6864" y="16935"/>
                      </a:lnTo>
                      <a:lnTo>
                        <a:pt x="7094" y="17267"/>
                      </a:lnTo>
                      <a:lnTo>
                        <a:pt x="7323" y="17573"/>
                      </a:lnTo>
                      <a:lnTo>
                        <a:pt x="7521" y="17905"/>
                      </a:lnTo>
                      <a:lnTo>
                        <a:pt x="7685" y="18212"/>
                      </a:lnTo>
                      <a:lnTo>
                        <a:pt x="7947" y="18467"/>
                      </a:lnTo>
                      <a:lnTo>
                        <a:pt x="8210" y="18697"/>
                      </a:lnTo>
                      <a:lnTo>
                        <a:pt x="8342" y="18953"/>
                      </a:lnTo>
                      <a:lnTo>
                        <a:pt x="8604" y="19132"/>
                      </a:lnTo>
                      <a:lnTo>
                        <a:pt x="8801" y="19336"/>
                      </a:lnTo>
                      <a:lnTo>
                        <a:pt x="9064" y="19489"/>
                      </a:lnTo>
                      <a:lnTo>
                        <a:pt x="9228" y="19642"/>
                      </a:lnTo>
                      <a:lnTo>
                        <a:pt x="9425" y="19719"/>
                      </a:lnTo>
                      <a:lnTo>
                        <a:pt x="9622" y="19872"/>
                      </a:lnTo>
                      <a:lnTo>
                        <a:pt x="9885" y="19923"/>
                      </a:lnTo>
                      <a:lnTo>
                        <a:pt x="10082" y="19974"/>
                      </a:lnTo>
                      <a:lnTo>
                        <a:pt x="10246" y="19974"/>
                      </a:lnTo>
                      <a:lnTo>
                        <a:pt x="10509" y="19974"/>
                      </a:lnTo>
                      <a:lnTo>
                        <a:pt x="10739" y="19974"/>
                      </a:lnTo>
                      <a:lnTo>
                        <a:pt x="10903" y="19923"/>
                      </a:lnTo>
                      <a:lnTo>
                        <a:pt x="11100" y="19821"/>
                      </a:lnTo>
                      <a:lnTo>
                        <a:pt x="11330" y="19693"/>
                      </a:lnTo>
                      <a:lnTo>
                        <a:pt x="11626" y="19489"/>
                      </a:lnTo>
                      <a:lnTo>
                        <a:pt x="11790" y="19234"/>
                      </a:lnTo>
                      <a:lnTo>
                        <a:pt x="12020" y="19055"/>
                      </a:lnTo>
                      <a:lnTo>
                        <a:pt x="12184" y="18748"/>
                      </a:lnTo>
                      <a:lnTo>
                        <a:pt x="12447" y="18467"/>
                      </a:lnTo>
                      <a:lnTo>
                        <a:pt x="12677" y="18110"/>
                      </a:lnTo>
                      <a:lnTo>
                        <a:pt x="12906" y="17727"/>
                      </a:lnTo>
                      <a:lnTo>
                        <a:pt x="13136" y="17318"/>
                      </a:lnTo>
                      <a:lnTo>
                        <a:pt x="13366" y="16884"/>
                      </a:lnTo>
                      <a:lnTo>
                        <a:pt x="13629" y="16501"/>
                      </a:lnTo>
                      <a:lnTo>
                        <a:pt x="13892" y="16041"/>
                      </a:lnTo>
                      <a:lnTo>
                        <a:pt x="14056" y="15556"/>
                      </a:lnTo>
                      <a:lnTo>
                        <a:pt x="14286" y="15070"/>
                      </a:lnTo>
                      <a:lnTo>
                        <a:pt x="14516" y="14534"/>
                      </a:lnTo>
                      <a:lnTo>
                        <a:pt x="14713" y="13997"/>
                      </a:lnTo>
                      <a:lnTo>
                        <a:pt x="15008" y="13487"/>
                      </a:lnTo>
                      <a:lnTo>
                        <a:pt x="15205" y="12950"/>
                      </a:lnTo>
                      <a:lnTo>
                        <a:pt x="15468" y="12363"/>
                      </a:lnTo>
                      <a:lnTo>
                        <a:pt x="15731" y="11775"/>
                      </a:lnTo>
                      <a:lnTo>
                        <a:pt x="15895" y="11239"/>
                      </a:lnTo>
                      <a:lnTo>
                        <a:pt x="16092" y="10651"/>
                      </a:lnTo>
                      <a:lnTo>
                        <a:pt x="16289" y="10064"/>
                      </a:lnTo>
                      <a:lnTo>
                        <a:pt x="16552" y="9527"/>
                      </a:lnTo>
                      <a:lnTo>
                        <a:pt x="16749" y="8940"/>
                      </a:lnTo>
                      <a:lnTo>
                        <a:pt x="16913" y="8352"/>
                      </a:lnTo>
                      <a:lnTo>
                        <a:pt x="17176" y="7816"/>
                      </a:lnTo>
                      <a:lnTo>
                        <a:pt x="17340" y="7203"/>
                      </a:lnTo>
                      <a:lnTo>
                        <a:pt x="17570" y="6667"/>
                      </a:lnTo>
                      <a:lnTo>
                        <a:pt x="17734" y="6130"/>
                      </a:lnTo>
                      <a:lnTo>
                        <a:pt x="17898" y="5594"/>
                      </a:lnTo>
                      <a:lnTo>
                        <a:pt x="18128" y="5057"/>
                      </a:lnTo>
                      <a:lnTo>
                        <a:pt x="18325" y="4572"/>
                      </a:lnTo>
                      <a:lnTo>
                        <a:pt x="18456" y="4061"/>
                      </a:lnTo>
                      <a:lnTo>
                        <a:pt x="18621" y="3525"/>
                      </a:lnTo>
                      <a:lnTo>
                        <a:pt x="18752" y="3142"/>
                      </a:lnTo>
                      <a:lnTo>
                        <a:pt x="18982" y="2656"/>
                      </a:lnTo>
                      <a:lnTo>
                        <a:pt x="19048" y="2248"/>
                      </a:lnTo>
                      <a:lnTo>
                        <a:pt x="19278" y="1814"/>
                      </a:lnTo>
                      <a:lnTo>
                        <a:pt x="19409" y="1430"/>
                      </a:lnTo>
                      <a:lnTo>
                        <a:pt x="19540" y="1073"/>
                      </a:lnTo>
                      <a:lnTo>
                        <a:pt x="19672" y="843"/>
                      </a:lnTo>
                      <a:lnTo>
                        <a:pt x="19803" y="485"/>
                      </a:lnTo>
                      <a:lnTo>
                        <a:pt x="19869" y="204"/>
                      </a:lnTo>
                      <a:lnTo>
                        <a:pt x="19967" y="0"/>
                      </a:lnTo>
                    </a:path>
                  </a:pathLst>
                </a:custGeom>
                <a:noFill/>
                <a:ln w="19050">
                  <a:solidFill>
                    <a:srgbClr val="FFCC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0780" name="Freeform 58">
                  <a:extLst>
                    <a:ext uri="{FF2B5EF4-FFF2-40B4-BE49-F238E27FC236}">
                      <a16:creationId xmlns:a16="http://schemas.microsoft.com/office/drawing/2014/main" id="{E9671565-A918-47E1-A9B0-EC337C354F6B}"/>
                    </a:ext>
                  </a:extLst>
                </p:cNvPr>
                <p:cNvSpPr>
                  <a:spLocks/>
                </p:cNvSpPr>
                <p:nvPr/>
              </p:nvSpPr>
              <p:spPr bwMode="auto">
                <a:xfrm flipH="1">
                  <a:off x="3312" y="1920"/>
                  <a:ext cx="557" cy="228"/>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894"/>
                      </a:moveTo>
                      <a:lnTo>
                        <a:pt x="197" y="1533"/>
                      </a:lnTo>
                      <a:lnTo>
                        <a:pt x="427" y="2120"/>
                      </a:lnTo>
                      <a:lnTo>
                        <a:pt x="657" y="2708"/>
                      </a:lnTo>
                      <a:lnTo>
                        <a:pt x="952" y="3295"/>
                      </a:lnTo>
                      <a:lnTo>
                        <a:pt x="1084" y="3934"/>
                      </a:lnTo>
                      <a:lnTo>
                        <a:pt x="1314" y="4521"/>
                      </a:lnTo>
                      <a:lnTo>
                        <a:pt x="1544" y="5109"/>
                      </a:lnTo>
                      <a:lnTo>
                        <a:pt x="1708" y="5696"/>
                      </a:lnTo>
                      <a:lnTo>
                        <a:pt x="2003" y="6284"/>
                      </a:lnTo>
                      <a:lnTo>
                        <a:pt x="2233" y="6820"/>
                      </a:lnTo>
                      <a:lnTo>
                        <a:pt x="2430" y="7407"/>
                      </a:lnTo>
                      <a:lnTo>
                        <a:pt x="2726" y="7944"/>
                      </a:lnTo>
                      <a:lnTo>
                        <a:pt x="2857" y="8531"/>
                      </a:lnTo>
                      <a:lnTo>
                        <a:pt x="3120" y="9119"/>
                      </a:lnTo>
                      <a:lnTo>
                        <a:pt x="3383" y="9630"/>
                      </a:lnTo>
                      <a:lnTo>
                        <a:pt x="3547" y="10217"/>
                      </a:lnTo>
                      <a:lnTo>
                        <a:pt x="3810" y="10754"/>
                      </a:lnTo>
                      <a:lnTo>
                        <a:pt x="4007" y="11239"/>
                      </a:lnTo>
                      <a:lnTo>
                        <a:pt x="4236" y="11775"/>
                      </a:lnTo>
                      <a:lnTo>
                        <a:pt x="4433" y="12261"/>
                      </a:lnTo>
                      <a:lnTo>
                        <a:pt x="4663" y="12771"/>
                      </a:lnTo>
                      <a:lnTo>
                        <a:pt x="4959" y="13206"/>
                      </a:lnTo>
                      <a:lnTo>
                        <a:pt x="5090" y="13640"/>
                      </a:lnTo>
                      <a:lnTo>
                        <a:pt x="5386" y="14074"/>
                      </a:lnTo>
                      <a:lnTo>
                        <a:pt x="5517" y="14585"/>
                      </a:lnTo>
                      <a:lnTo>
                        <a:pt x="5714" y="15019"/>
                      </a:lnTo>
                      <a:lnTo>
                        <a:pt x="6010" y="15453"/>
                      </a:lnTo>
                      <a:lnTo>
                        <a:pt x="6207" y="15862"/>
                      </a:lnTo>
                      <a:lnTo>
                        <a:pt x="6404" y="16194"/>
                      </a:lnTo>
                      <a:lnTo>
                        <a:pt x="6634" y="16577"/>
                      </a:lnTo>
                      <a:lnTo>
                        <a:pt x="6864" y="16935"/>
                      </a:lnTo>
                      <a:lnTo>
                        <a:pt x="7094" y="17267"/>
                      </a:lnTo>
                      <a:lnTo>
                        <a:pt x="7323" y="17573"/>
                      </a:lnTo>
                      <a:lnTo>
                        <a:pt x="7521" y="17905"/>
                      </a:lnTo>
                      <a:lnTo>
                        <a:pt x="7685" y="18212"/>
                      </a:lnTo>
                      <a:lnTo>
                        <a:pt x="7947" y="18467"/>
                      </a:lnTo>
                      <a:lnTo>
                        <a:pt x="8210" y="18697"/>
                      </a:lnTo>
                      <a:lnTo>
                        <a:pt x="8342" y="18953"/>
                      </a:lnTo>
                      <a:lnTo>
                        <a:pt x="8604" y="19132"/>
                      </a:lnTo>
                      <a:lnTo>
                        <a:pt x="8801" y="19336"/>
                      </a:lnTo>
                      <a:lnTo>
                        <a:pt x="9064" y="19489"/>
                      </a:lnTo>
                      <a:lnTo>
                        <a:pt x="9228" y="19642"/>
                      </a:lnTo>
                      <a:lnTo>
                        <a:pt x="9425" y="19719"/>
                      </a:lnTo>
                      <a:lnTo>
                        <a:pt x="9622" y="19872"/>
                      </a:lnTo>
                      <a:lnTo>
                        <a:pt x="9885" y="19923"/>
                      </a:lnTo>
                      <a:lnTo>
                        <a:pt x="10082" y="19974"/>
                      </a:lnTo>
                      <a:lnTo>
                        <a:pt x="10246" y="19974"/>
                      </a:lnTo>
                      <a:lnTo>
                        <a:pt x="10509" y="19974"/>
                      </a:lnTo>
                      <a:lnTo>
                        <a:pt x="10739" y="19974"/>
                      </a:lnTo>
                      <a:lnTo>
                        <a:pt x="10903" y="19923"/>
                      </a:lnTo>
                      <a:lnTo>
                        <a:pt x="11100" y="19821"/>
                      </a:lnTo>
                      <a:lnTo>
                        <a:pt x="11330" y="19693"/>
                      </a:lnTo>
                      <a:lnTo>
                        <a:pt x="11626" y="19489"/>
                      </a:lnTo>
                      <a:lnTo>
                        <a:pt x="11790" y="19234"/>
                      </a:lnTo>
                      <a:lnTo>
                        <a:pt x="12020" y="19055"/>
                      </a:lnTo>
                      <a:lnTo>
                        <a:pt x="12184" y="18748"/>
                      </a:lnTo>
                      <a:lnTo>
                        <a:pt x="12447" y="18467"/>
                      </a:lnTo>
                      <a:lnTo>
                        <a:pt x="12677" y="18110"/>
                      </a:lnTo>
                      <a:lnTo>
                        <a:pt x="12906" y="17727"/>
                      </a:lnTo>
                      <a:lnTo>
                        <a:pt x="13136" y="17318"/>
                      </a:lnTo>
                      <a:lnTo>
                        <a:pt x="13366" y="16884"/>
                      </a:lnTo>
                      <a:lnTo>
                        <a:pt x="13629" y="16501"/>
                      </a:lnTo>
                      <a:lnTo>
                        <a:pt x="13892" y="16041"/>
                      </a:lnTo>
                      <a:lnTo>
                        <a:pt x="14056" y="15556"/>
                      </a:lnTo>
                      <a:lnTo>
                        <a:pt x="14286" y="15070"/>
                      </a:lnTo>
                      <a:lnTo>
                        <a:pt x="14516" y="14534"/>
                      </a:lnTo>
                      <a:lnTo>
                        <a:pt x="14713" y="13997"/>
                      </a:lnTo>
                      <a:lnTo>
                        <a:pt x="15008" y="13487"/>
                      </a:lnTo>
                      <a:lnTo>
                        <a:pt x="15205" y="12950"/>
                      </a:lnTo>
                      <a:lnTo>
                        <a:pt x="15468" y="12363"/>
                      </a:lnTo>
                      <a:lnTo>
                        <a:pt x="15731" y="11775"/>
                      </a:lnTo>
                      <a:lnTo>
                        <a:pt x="15895" y="11239"/>
                      </a:lnTo>
                      <a:lnTo>
                        <a:pt x="16092" y="10651"/>
                      </a:lnTo>
                      <a:lnTo>
                        <a:pt x="16289" y="10064"/>
                      </a:lnTo>
                      <a:lnTo>
                        <a:pt x="16552" y="9527"/>
                      </a:lnTo>
                      <a:lnTo>
                        <a:pt x="16749" y="8940"/>
                      </a:lnTo>
                      <a:lnTo>
                        <a:pt x="16913" y="8352"/>
                      </a:lnTo>
                      <a:lnTo>
                        <a:pt x="17176" y="7816"/>
                      </a:lnTo>
                      <a:lnTo>
                        <a:pt x="17340" y="7203"/>
                      </a:lnTo>
                      <a:lnTo>
                        <a:pt x="17570" y="6667"/>
                      </a:lnTo>
                      <a:lnTo>
                        <a:pt x="17734" y="6130"/>
                      </a:lnTo>
                      <a:lnTo>
                        <a:pt x="17898" y="5594"/>
                      </a:lnTo>
                      <a:lnTo>
                        <a:pt x="18128" y="5057"/>
                      </a:lnTo>
                      <a:lnTo>
                        <a:pt x="18325" y="4572"/>
                      </a:lnTo>
                      <a:lnTo>
                        <a:pt x="18456" y="4061"/>
                      </a:lnTo>
                      <a:lnTo>
                        <a:pt x="18621" y="3525"/>
                      </a:lnTo>
                      <a:lnTo>
                        <a:pt x="18752" y="3142"/>
                      </a:lnTo>
                      <a:lnTo>
                        <a:pt x="18982" y="2656"/>
                      </a:lnTo>
                      <a:lnTo>
                        <a:pt x="19048" y="2248"/>
                      </a:lnTo>
                      <a:lnTo>
                        <a:pt x="19278" y="1814"/>
                      </a:lnTo>
                      <a:lnTo>
                        <a:pt x="19409" y="1430"/>
                      </a:lnTo>
                      <a:lnTo>
                        <a:pt x="19540" y="1073"/>
                      </a:lnTo>
                      <a:lnTo>
                        <a:pt x="19672" y="843"/>
                      </a:lnTo>
                      <a:lnTo>
                        <a:pt x="19803" y="485"/>
                      </a:lnTo>
                      <a:lnTo>
                        <a:pt x="19869" y="204"/>
                      </a:lnTo>
                      <a:lnTo>
                        <a:pt x="19967" y="0"/>
                      </a:lnTo>
                    </a:path>
                  </a:pathLst>
                </a:custGeom>
                <a:noFill/>
                <a:ln w="19050">
                  <a:solidFill>
                    <a:srgbClr val="FFCC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30772" name="Group 59">
                <a:extLst>
                  <a:ext uri="{FF2B5EF4-FFF2-40B4-BE49-F238E27FC236}">
                    <a16:creationId xmlns:a16="http://schemas.microsoft.com/office/drawing/2014/main" id="{BFF19695-E06C-409E-98EE-ED6DB275F236}"/>
                  </a:ext>
                </a:extLst>
              </p:cNvPr>
              <p:cNvGrpSpPr>
                <a:grpSpLocks/>
              </p:cNvGrpSpPr>
              <p:nvPr/>
            </p:nvGrpSpPr>
            <p:grpSpPr bwMode="auto">
              <a:xfrm flipV="1">
                <a:off x="1968" y="3258"/>
                <a:ext cx="653" cy="648"/>
                <a:chOff x="1728" y="1728"/>
                <a:chExt cx="2141" cy="432"/>
              </a:xfrm>
            </p:grpSpPr>
            <p:sp>
              <p:nvSpPr>
                <p:cNvPr id="30773" name="Freeform 60">
                  <a:extLst>
                    <a:ext uri="{FF2B5EF4-FFF2-40B4-BE49-F238E27FC236}">
                      <a16:creationId xmlns:a16="http://schemas.microsoft.com/office/drawing/2014/main" id="{B0E923AE-BFF2-4E90-9303-1EAA321093C1}"/>
                    </a:ext>
                  </a:extLst>
                </p:cNvPr>
                <p:cNvSpPr>
                  <a:spLocks/>
                </p:cNvSpPr>
                <p:nvPr/>
              </p:nvSpPr>
              <p:spPr bwMode="auto">
                <a:xfrm flipV="1">
                  <a:off x="1728" y="1728"/>
                  <a:ext cx="556" cy="228"/>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894"/>
                      </a:moveTo>
                      <a:lnTo>
                        <a:pt x="197" y="1533"/>
                      </a:lnTo>
                      <a:lnTo>
                        <a:pt x="427" y="2120"/>
                      </a:lnTo>
                      <a:lnTo>
                        <a:pt x="657" y="2708"/>
                      </a:lnTo>
                      <a:lnTo>
                        <a:pt x="952" y="3295"/>
                      </a:lnTo>
                      <a:lnTo>
                        <a:pt x="1084" y="3934"/>
                      </a:lnTo>
                      <a:lnTo>
                        <a:pt x="1314" y="4521"/>
                      </a:lnTo>
                      <a:lnTo>
                        <a:pt x="1544" y="5109"/>
                      </a:lnTo>
                      <a:lnTo>
                        <a:pt x="1708" y="5696"/>
                      </a:lnTo>
                      <a:lnTo>
                        <a:pt x="2003" y="6284"/>
                      </a:lnTo>
                      <a:lnTo>
                        <a:pt x="2233" y="6820"/>
                      </a:lnTo>
                      <a:lnTo>
                        <a:pt x="2430" y="7407"/>
                      </a:lnTo>
                      <a:lnTo>
                        <a:pt x="2726" y="7944"/>
                      </a:lnTo>
                      <a:lnTo>
                        <a:pt x="2857" y="8531"/>
                      </a:lnTo>
                      <a:lnTo>
                        <a:pt x="3120" y="9119"/>
                      </a:lnTo>
                      <a:lnTo>
                        <a:pt x="3383" y="9630"/>
                      </a:lnTo>
                      <a:lnTo>
                        <a:pt x="3547" y="10217"/>
                      </a:lnTo>
                      <a:lnTo>
                        <a:pt x="3810" y="10754"/>
                      </a:lnTo>
                      <a:lnTo>
                        <a:pt x="4007" y="11239"/>
                      </a:lnTo>
                      <a:lnTo>
                        <a:pt x="4236" y="11775"/>
                      </a:lnTo>
                      <a:lnTo>
                        <a:pt x="4433" y="12261"/>
                      </a:lnTo>
                      <a:lnTo>
                        <a:pt x="4663" y="12771"/>
                      </a:lnTo>
                      <a:lnTo>
                        <a:pt x="4959" y="13206"/>
                      </a:lnTo>
                      <a:lnTo>
                        <a:pt x="5090" y="13640"/>
                      </a:lnTo>
                      <a:lnTo>
                        <a:pt x="5386" y="14074"/>
                      </a:lnTo>
                      <a:lnTo>
                        <a:pt x="5517" y="14585"/>
                      </a:lnTo>
                      <a:lnTo>
                        <a:pt x="5714" y="15019"/>
                      </a:lnTo>
                      <a:lnTo>
                        <a:pt x="6010" y="15453"/>
                      </a:lnTo>
                      <a:lnTo>
                        <a:pt x="6207" y="15862"/>
                      </a:lnTo>
                      <a:lnTo>
                        <a:pt x="6404" y="16194"/>
                      </a:lnTo>
                      <a:lnTo>
                        <a:pt x="6634" y="16577"/>
                      </a:lnTo>
                      <a:lnTo>
                        <a:pt x="6864" y="16935"/>
                      </a:lnTo>
                      <a:lnTo>
                        <a:pt x="7094" y="17267"/>
                      </a:lnTo>
                      <a:lnTo>
                        <a:pt x="7323" y="17573"/>
                      </a:lnTo>
                      <a:lnTo>
                        <a:pt x="7521" y="17905"/>
                      </a:lnTo>
                      <a:lnTo>
                        <a:pt x="7685" y="18212"/>
                      </a:lnTo>
                      <a:lnTo>
                        <a:pt x="7947" y="18467"/>
                      </a:lnTo>
                      <a:lnTo>
                        <a:pt x="8210" y="18697"/>
                      </a:lnTo>
                      <a:lnTo>
                        <a:pt x="8342" y="18953"/>
                      </a:lnTo>
                      <a:lnTo>
                        <a:pt x="8604" y="19132"/>
                      </a:lnTo>
                      <a:lnTo>
                        <a:pt x="8801" y="19336"/>
                      </a:lnTo>
                      <a:lnTo>
                        <a:pt x="9064" y="19489"/>
                      </a:lnTo>
                      <a:lnTo>
                        <a:pt x="9228" y="19642"/>
                      </a:lnTo>
                      <a:lnTo>
                        <a:pt x="9425" y="19719"/>
                      </a:lnTo>
                      <a:lnTo>
                        <a:pt x="9622" y="19872"/>
                      </a:lnTo>
                      <a:lnTo>
                        <a:pt x="9885" y="19923"/>
                      </a:lnTo>
                      <a:lnTo>
                        <a:pt x="10082" y="19974"/>
                      </a:lnTo>
                      <a:lnTo>
                        <a:pt x="10246" y="19974"/>
                      </a:lnTo>
                      <a:lnTo>
                        <a:pt x="10509" y="19974"/>
                      </a:lnTo>
                      <a:lnTo>
                        <a:pt x="10739" y="19974"/>
                      </a:lnTo>
                      <a:lnTo>
                        <a:pt x="10903" y="19923"/>
                      </a:lnTo>
                      <a:lnTo>
                        <a:pt x="11100" y="19821"/>
                      </a:lnTo>
                      <a:lnTo>
                        <a:pt x="11330" y="19693"/>
                      </a:lnTo>
                      <a:lnTo>
                        <a:pt x="11626" y="19489"/>
                      </a:lnTo>
                      <a:lnTo>
                        <a:pt x="11790" y="19234"/>
                      </a:lnTo>
                      <a:lnTo>
                        <a:pt x="12020" y="19055"/>
                      </a:lnTo>
                      <a:lnTo>
                        <a:pt x="12184" y="18748"/>
                      </a:lnTo>
                      <a:lnTo>
                        <a:pt x="12447" y="18467"/>
                      </a:lnTo>
                      <a:lnTo>
                        <a:pt x="12677" y="18110"/>
                      </a:lnTo>
                      <a:lnTo>
                        <a:pt x="12906" y="17727"/>
                      </a:lnTo>
                      <a:lnTo>
                        <a:pt x="13136" y="17318"/>
                      </a:lnTo>
                      <a:lnTo>
                        <a:pt x="13366" y="16884"/>
                      </a:lnTo>
                      <a:lnTo>
                        <a:pt x="13629" y="16501"/>
                      </a:lnTo>
                      <a:lnTo>
                        <a:pt x="13892" y="16041"/>
                      </a:lnTo>
                      <a:lnTo>
                        <a:pt x="14056" y="15556"/>
                      </a:lnTo>
                      <a:lnTo>
                        <a:pt x="14286" y="15070"/>
                      </a:lnTo>
                      <a:lnTo>
                        <a:pt x="14516" y="14534"/>
                      </a:lnTo>
                      <a:lnTo>
                        <a:pt x="14713" y="13997"/>
                      </a:lnTo>
                      <a:lnTo>
                        <a:pt x="15008" y="13487"/>
                      </a:lnTo>
                      <a:lnTo>
                        <a:pt x="15205" y="12950"/>
                      </a:lnTo>
                      <a:lnTo>
                        <a:pt x="15468" y="12363"/>
                      </a:lnTo>
                      <a:lnTo>
                        <a:pt x="15731" y="11775"/>
                      </a:lnTo>
                      <a:lnTo>
                        <a:pt x="15895" y="11239"/>
                      </a:lnTo>
                      <a:lnTo>
                        <a:pt x="16092" y="10651"/>
                      </a:lnTo>
                      <a:lnTo>
                        <a:pt x="16289" y="10064"/>
                      </a:lnTo>
                      <a:lnTo>
                        <a:pt x="16552" y="9527"/>
                      </a:lnTo>
                      <a:lnTo>
                        <a:pt x="16749" y="8940"/>
                      </a:lnTo>
                      <a:lnTo>
                        <a:pt x="16913" y="8352"/>
                      </a:lnTo>
                      <a:lnTo>
                        <a:pt x="17176" y="7816"/>
                      </a:lnTo>
                      <a:lnTo>
                        <a:pt x="17340" y="7203"/>
                      </a:lnTo>
                      <a:lnTo>
                        <a:pt x="17570" y="6667"/>
                      </a:lnTo>
                      <a:lnTo>
                        <a:pt x="17734" y="6130"/>
                      </a:lnTo>
                      <a:lnTo>
                        <a:pt x="17898" y="5594"/>
                      </a:lnTo>
                      <a:lnTo>
                        <a:pt x="18128" y="5057"/>
                      </a:lnTo>
                      <a:lnTo>
                        <a:pt x="18325" y="4572"/>
                      </a:lnTo>
                      <a:lnTo>
                        <a:pt x="18456" y="4061"/>
                      </a:lnTo>
                      <a:lnTo>
                        <a:pt x="18621" y="3525"/>
                      </a:lnTo>
                      <a:lnTo>
                        <a:pt x="18752" y="3142"/>
                      </a:lnTo>
                      <a:lnTo>
                        <a:pt x="18982" y="2656"/>
                      </a:lnTo>
                      <a:lnTo>
                        <a:pt x="19048" y="2248"/>
                      </a:lnTo>
                      <a:lnTo>
                        <a:pt x="19278" y="1814"/>
                      </a:lnTo>
                      <a:lnTo>
                        <a:pt x="19409" y="1430"/>
                      </a:lnTo>
                      <a:lnTo>
                        <a:pt x="19540" y="1073"/>
                      </a:lnTo>
                      <a:lnTo>
                        <a:pt x="19672" y="843"/>
                      </a:lnTo>
                      <a:lnTo>
                        <a:pt x="19803" y="485"/>
                      </a:lnTo>
                      <a:lnTo>
                        <a:pt x="19869" y="204"/>
                      </a:lnTo>
                      <a:lnTo>
                        <a:pt x="19967" y="0"/>
                      </a:lnTo>
                    </a:path>
                  </a:pathLst>
                </a:custGeom>
                <a:noFill/>
                <a:ln w="19050">
                  <a:solidFill>
                    <a:srgbClr val="FFCC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0774" name="Freeform 61">
                  <a:extLst>
                    <a:ext uri="{FF2B5EF4-FFF2-40B4-BE49-F238E27FC236}">
                      <a16:creationId xmlns:a16="http://schemas.microsoft.com/office/drawing/2014/main" id="{A6186220-7908-4F38-9A6A-8BF4B96EE508}"/>
                    </a:ext>
                  </a:extLst>
                </p:cNvPr>
                <p:cNvSpPr>
                  <a:spLocks/>
                </p:cNvSpPr>
                <p:nvPr/>
              </p:nvSpPr>
              <p:spPr bwMode="auto">
                <a:xfrm flipH="1">
                  <a:off x="2247" y="1932"/>
                  <a:ext cx="557" cy="228"/>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894"/>
                      </a:moveTo>
                      <a:lnTo>
                        <a:pt x="197" y="1533"/>
                      </a:lnTo>
                      <a:lnTo>
                        <a:pt x="427" y="2120"/>
                      </a:lnTo>
                      <a:lnTo>
                        <a:pt x="657" y="2708"/>
                      </a:lnTo>
                      <a:lnTo>
                        <a:pt x="952" y="3295"/>
                      </a:lnTo>
                      <a:lnTo>
                        <a:pt x="1084" y="3934"/>
                      </a:lnTo>
                      <a:lnTo>
                        <a:pt x="1314" y="4521"/>
                      </a:lnTo>
                      <a:lnTo>
                        <a:pt x="1544" y="5109"/>
                      </a:lnTo>
                      <a:lnTo>
                        <a:pt x="1708" y="5696"/>
                      </a:lnTo>
                      <a:lnTo>
                        <a:pt x="2003" y="6284"/>
                      </a:lnTo>
                      <a:lnTo>
                        <a:pt x="2233" y="6820"/>
                      </a:lnTo>
                      <a:lnTo>
                        <a:pt x="2430" y="7407"/>
                      </a:lnTo>
                      <a:lnTo>
                        <a:pt x="2726" y="7944"/>
                      </a:lnTo>
                      <a:lnTo>
                        <a:pt x="2857" y="8531"/>
                      </a:lnTo>
                      <a:lnTo>
                        <a:pt x="3120" y="9119"/>
                      </a:lnTo>
                      <a:lnTo>
                        <a:pt x="3383" y="9630"/>
                      </a:lnTo>
                      <a:lnTo>
                        <a:pt x="3547" y="10217"/>
                      </a:lnTo>
                      <a:lnTo>
                        <a:pt x="3810" y="10754"/>
                      </a:lnTo>
                      <a:lnTo>
                        <a:pt x="4007" y="11239"/>
                      </a:lnTo>
                      <a:lnTo>
                        <a:pt x="4236" y="11775"/>
                      </a:lnTo>
                      <a:lnTo>
                        <a:pt x="4433" y="12261"/>
                      </a:lnTo>
                      <a:lnTo>
                        <a:pt x="4663" y="12771"/>
                      </a:lnTo>
                      <a:lnTo>
                        <a:pt x="4959" y="13206"/>
                      </a:lnTo>
                      <a:lnTo>
                        <a:pt x="5090" y="13640"/>
                      </a:lnTo>
                      <a:lnTo>
                        <a:pt x="5386" y="14074"/>
                      </a:lnTo>
                      <a:lnTo>
                        <a:pt x="5517" y="14585"/>
                      </a:lnTo>
                      <a:lnTo>
                        <a:pt x="5714" y="15019"/>
                      </a:lnTo>
                      <a:lnTo>
                        <a:pt x="6010" y="15453"/>
                      </a:lnTo>
                      <a:lnTo>
                        <a:pt x="6207" y="15862"/>
                      </a:lnTo>
                      <a:lnTo>
                        <a:pt x="6404" y="16194"/>
                      </a:lnTo>
                      <a:lnTo>
                        <a:pt x="6634" y="16577"/>
                      </a:lnTo>
                      <a:lnTo>
                        <a:pt x="6864" y="16935"/>
                      </a:lnTo>
                      <a:lnTo>
                        <a:pt x="7094" y="17267"/>
                      </a:lnTo>
                      <a:lnTo>
                        <a:pt x="7323" y="17573"/>
                      </a:lnTo>
                      <a:lnTo>
                        <a:pt x="7521" y="17905"/>
                      </a:lnTo>
                      <a:lnTo>
                        <a:pt x="7685" y="18212"/>
                      </a:lnTo>
                      <a:lnTo>
                        <a:pt x="7947" y="18467"/>
                      </a:lnTo>
                      <a:lnTo>
                        <a:pt x="8210" y="18697"/>
                      </a:lnTo>
                      <a:lnTo>
                        <a:pt x="8342" y="18953"/>
                      </a:lnTo>
                      <a:lnTo>
                        <a:pt x="8604" y="19132"/>
                      </a:lnTo>
                      <a:lnTo>
                        <a:pt x="8801" y="19336"/>
                      </a:lnTo>
                      <a:lnTo>
                        <a:pt x="9064" y="19489"/>
                      </a:lnTo>
                      <a:lnTo>
                        <a:pt x="9228" y="19642"/>
                      </a:lnTo>
                      <a:lnTo>
                        <a:pt x="9425" y="19719"/>
                      </a:lnTo>
                      <a:lnTo>
                        <a:pt x="9622" y="19872"/>
                      </a:lnTo>
                      <a:lnTo>
                        <a:pt x="9885" y="19923"/>
                      </a:lnTo>
                      <a:lnTo>
                        <a:pt x="10082" y="19974"/>
                      </a:lnTo>
                      <a:lnTo>
                        <a:pt x="10246" y="19974"/>
                      </a:lnTo>
                      <a:lnTo>
                        <a:pt x="10509" y="19974"/>
                      </a:lnTo>
                      <a:lnTo>
                        <a:pt x="10739" y="19974"/>
                      </a:lnTo>
                      <a:lnTo>
                        <a:pt x="10903" y="19923"/>
                      </a:lnTo>
                      <a:lnTo>
                        <a:pt x="11100" y="19821"/>
                      </a:lnTo>
                      <a:lnTo>
                        <a:pt x="11330" y="19693"/>
                      </a:lnTo>
                      <a:lnTo>
                        <a:pt x="11626" y="19489"/>
                      </a:lnTo>
                      <a:lnTo>
                        <a:pt x="11790" y="19234"/>
                      </a:lnTo>
                      <a:lnTo>
                        <a:pt x="12020" y="19055"/>
                      </a:lnTo>
                      <a:lnTo>
                        <a:pt x="12184" y="18748"/>
                      </a:lnTo>
                      <a:lnTo>
                        <a:pt x="12447" y="18467"/>
                      </a:lnTo>
                      <a:lnTo>
                        <a:pt x="12677" y="18110"/>
                      </a:lnTo>
                      <a:lnTo>
                        <a:pt x="12906" y="17727"/>
                      </a:lnTo>
                      <a:lnTo>
                        <a:pt x="13136" y="17318"/>
                      </a:lnTo>
                      <a:lnTo>
                        <a:pt x="13366" y="16884"/>
                      </a:lnTo>
                      <a:lnTo>
                        <a:pt x="13629" y="16501"/>
                      </a:lnTo>
                      <a:lnTo>
                        <a:pt x="13892" y="16041"/>
                      </a:lnTo>
                      <a:lnTo>
                        <a:pt x="14056" y="15556"/>
                      </a:lnTo>
                      <a:lnTo>
                        <a:pt x="14286" y="15070"/>
                      </a:lnTo>
                      <a:lnTo>
                        <a:pt x="14516" y="14534"/>
                      </a:lnTo>
                      <a:lnTo>
                        <a:pt x="14713" y="13997"/>
                      </a:lnTo>
                      <a:lnTo>
                        <a:pt x="15008" y="13487"/>
                      </a:lnTo>
                      <a:lnTo>
                        <a:pt x="15205" y="12950"/>
                      </a:lnTo>
                      <a:lnTo>
                        <a:pt x="15468" y="12363"/>
                      </a:lnTo>
                      <a:lnTo>
                        <a:pt x="15731" y="11775"/>
                      </a:lnTo>
                      <a:lnTo>
                        <a:pt x="15895" y="11239"/>
                      </a:lnTo>
                      <a:lnTo>
                        <a:pt x="16092" y="10651"/>
                      </a:lnTo>
                      <a:lnTo>
                        <a:pt x="16289" y="10064"/>
                      </a:lnTo>
                      <a:lnTo>
                        <a:pt x="16552" y="9527"/>
                      </a:lnTo>
                      <a:lnTo>
                        <a:pt x="16749" y="8940"/>
                      </a:lnTo>
                      <a:lnTo>
                        <a:pt x="16913" y="8352"/>
                      </a:lnTo>
                      <a:lnTo>
                        <a:pt x="17176" y="7816"/>
                      </a:lnTo>
                      <a:lnTo>
                        <a:pt x="17340" y="7203"/>
                      </a:lnTo>
                      <a:lnTo>
                        <a:pt x="17570" y="6667"/>
                      </a:lnTo>
                      <a:lnTo>
                        <a:pt x="17734" y="6130"/>
                      </a:lnTo>
                      <a:lnTo>
                        <a:pt x="17898" y="5594"/>
                      </a:lnTo>
                      <a:lnTo>
                        <a:pt x="18128" y="5057"/>
                      </a:lnTo>
                      <a:lnTo>
                        <a:pt x="18325" y="4572"/>
                      </a:lnTo>
                      <a:lnTo>
                        <a:pt x="18456" y="4061"/>
                      </a:lnTo>
                      <a:lnTo>
                        <a:pt x="18621" y="3525"/>
                      </a:lnTo>
                      <a:lnTo>
                        <a:pt x="18752" y="3142"/>
                      </a:lnTo>
                      <a:lnTo>
                        <a:pt x="18982" y="2656"/>
                      </a:lnTo>
                      <a:lnTo>
                        <a:pt x="19048" y="2248"/>
                      </a:lnTo>
                      <a:lnTo>
                        <a:pt x="19278" y="1814"/>
                      </a:lnTo>
                      <a:lnTo>
                        <a:pt x="19409" y="1430"/>
                      </a:lnTo>
                      <a:lnTo>
                        <a:pt x="19540" y="1073"/>
                      </a:lnTo>
                      <a:lnTo>
                        <a:pt x="19672" y="843"/>
                      </a:lnTo>
                      <a:lnTo>
                        <a:pt x="19803" y="485"/>
                      </a:lnTo>
                      <a:lnTo>
                        <a:pt x="19869" y="204"/>
                      </a:lnTo>
                      <a:lnTo>
                        <a:pt x="19967" y="0"/>
                      </a:lnTo>
                    </a:path>
                  </a:pathLst>
                </a:custGeom>
                <a:noFill/>
                <a:ln w="19050">
                  <a:solidFill>
                    <a:srgbClr val="FFCC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0775" name="Freeform 62">
                  <a:extLst>
                    <a:ext uri="{FF2B5EF4-FFF2-40B4-BE49-F238E27FC236}">
                      <a16:creationId xmlns:a16="http://schemas.microsoft.com/office/drawing/2014/main" id="{9DDFE4A7-E45B-441F-B670-80356C87C378}"/>
                    </a:ext>
                  </a:extLst>
                </p:cNvPr>
                <p:cNvSpPr>
                  <a:spLocks/>
                </p:cNvSpPr>
                <p:nvPr/>
              </p:nvSpPr>
              <p:spPr bwMode="auto">
                <a:xfrm flipV="1">
                  <a:off x="2804" y="1728"/>
                  <a:ext cx="556" cy="228"/>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894"/>
                      </a:moveTo>
                      <a:lnTo>
                        <a:pt x="197" y="1533"/>
                      </a:lnTo>
                      <a:lnTo>
                        <a:pt x="427" y="2120"/>
                      </a:lnTo>
                      <a:lnTo>
                        <a:pt x="657" y="2708"/>
                      </a:lnTo>
                      <a:lnTo>
                        <a:pt x="952" y="3295"/>
                      </a:lnTo>
                      <a:lnTo>
                        <a:pt x="1084" y="3934"/>
                      </a:lnTo>
                      <a:lnTo>
                        <a:pt x="1314" y="4521"/>
                      </a:lnTo>
                      <a:lnTo>
                        <a:pt x="1544" y="5109"/>
                      </a:lnTo>
                      <a:lnTo>
                        <a:pt x="1708" y="5696"/>
                      </a:lnTo>
                      <a:lnTo>
                        <a:pt x="2003" y="6284"/>
                      </a:lnTo>
                      <a:lnTo>
                        <a:pt x="2233" y="6820"/>
                      </a:lnTo>
                      <a:lnTo>
                        <a:pt x="2430" y="7407"/>
                      </a:lnTo>
                      <a:lnTo>
                        <a:pt x="2726" y="7944"/>
                      </a:lnTo>
                      <a:lnTo>
                        <a:pt x="2857" y="8531"/>
                      </a:lnTo>
                      <a:lnTo>
                        <a:pt x="3120" y="9119"/>
                      </a:lnTo>
                      <a:lnTo>
                        <a:pt x="3383" y="9630"/>
                      </a:lnTo>
                      <a:lnTo>
                        <a:pt x="3547" y="10217"/>
                      </a:lnTo>
                      <a:lnTo>
                        <a:pt x="3810" y="10754"/>
                      </a:lnTo>
                      <a:lnTo>
                        <a:pt x="4007" y="11239"/>
                      </a:lnTo>
                      <a:lnTo>
                        <a:pt x="4236" y="11775"/>
                      </a:lnTo>
                      <a:lnTo>
                        <a:pt x="4433" y="12261"/>
                      </a:lnTo>
                      <a:lnTo>
                        <a:pt x="4663" y="12771"/>
                      </a:lnTo>
                      <a:lnTo>
                        <a:pt x="4959" y="13206"/>
                      </a:lnTo>
                      <a:lnTo>
                        <a:pt x="5090" y="13640"/>
                      </a:lnTo>
                      <a:lnTo>
                        <a:pt x="5386" y="14074"/>
                      </a:lnTo>
                      <a:lnTo>
                        <a:pt x="5517" y="14585"/>
                      </a:lnTo>
                      <a:lnTo>
                        <a:pt x="5714" y="15019"/>
                      </a:lnTo>
                      <a:lnTo>
                        <a:pt x="6010" y="15453"/>
                      </a:lnTo>
                      <a:lnTo>
                        <a:pt x="6207" y="15862"/>
                      </a:lnTo>
                      <a:lnTo>
                        <a:pt x="6404" y="16194"/>
                      </a:lnTo>
                      <a:lnTo>
                        <a:pt x="6634" y="16577"/>
                      </a:lnTo>
                      <a:lnTo>
                        <a:pt x="6864" y="16935"/>
                      </a:lnTo>
                      <a:lnTo>
                        <a:pt x="7094" y="17267"/>
                      </a:lnTo>
                      <a:lnTo>
                        <a:pt x="7323" y="17573"/>
                      </a:lnTo>
                      <a:lnTo>
                        <a:pt x="7521" y="17905"/>
                      </a:lnTo>
                      <a:lnTo>
                        <a:pt x="7685" y="18212"/>
                      </a:lnTo>
                      <a:lnTo>
                        <a:pt x="7947" y="18467"/>
                      </a:lnTo>
                      <a:lnTo>
                        <a:pt x="8210" y="18697"/>
                      </a:lnTo>
                      <a:lnTo>
                        <a:pt x="8342" y="18953"/>
                      </a:lnTo>
                      <a:lnTo>
                        <a:pt x="8604" y="19132"/>
                      </a:lnTo>
                      <a:lnTo>
                        <a:pt x="8801" y="19336"/>
                      </a:lnTo>
                      <a:lnTo>
                        <a:pt x="9064" y="19489"/>
                      </a:lnTo>
                      <a:lnTo>
                        <a:pt x="9228" y="19642"/>
                      </a:lnTo>
                      <a:lnTo>
                        <a:pt x="9425" y="19719"/>
                      </a:lnTo>
                      <a:lnTo>
                        <a:pt x="9622" y="19872"/>
                      </a:lnTo>
                      <a:lnTo>
                        <a:pt x="9885" y="19923"/>
                      </a:lnTo>
                      <a:lnTo>
                        <a:pt x="10082" y="19974"/>
                      </a:lnTo>
                      <a:lnTo>
                        <a:pt x="10246" y="19974"/>
                      </a:lnTo>
                      <a:lnTo>
                        <a:pt x="10509" y="19974"/>
                      </a:lnTo>
                      <a:lnTo>
                        <a:pt x="10739" y="19974"/>
                      </a:lnTo>
                      <a:lnTo>
                        <a:pt x="10903" y="19923"/>
                      </a:lnTo>
                      <a:lnTo>
                        <a:pt x="11100" y="19821"/>
                      </a:lnTo>
                      <a:lnTo>
                        <a:pt x="11330" y="19693"/>
                      </a:lnTo>
                      <a:lnTo>
                        <a:pt x="11626" y="19489"/>
                      </a:lnTo>
                      <a:lnTo>
                        <a:pt x="11790" y="19234"/>
                      </a:lnTo>
                      <a:lnTo>
                        <a:pt x="12020" y="19055"/>
                      </a:lnTo>
                      <a:lnTo>
                        <a:pt x="12184" y="18748"/>
                      </a:lnTo>
                      <a:lnTo>
                        <a:pt x="12447" y="18467"/>
                      </a:lnTo>
                      <a:lnTo>
                        <a:pt x="12677" y="18110"/>
                      </a:lnTo>
                      <a:lnTo>
                        <a:pt x="12906" y="17727"/>
                      </a:lnTo>
                      <a:lnTo>
                        <a:pt x="13136" y="17318"/>
                      </a:lnTo>
                      <a:lnTo>
                        <a:pt x="13366" y="16884"/>
                      </a:lnTo>
                      <a:lnTo>
                        <a:pt x="13629" y="16501"/>
                      </a:lnTo>
                      <a:lnTo>
                        <a:pt x="13892" y="16041"/>
                      </a:lnTo>
                      <a:lnTo>
                        <a:pt x="14056" y="15556"/>
                      </a:lnTo>
                      <a:lnTo>
                        <a:pt x="14286" y="15070"/>
                      </a:lnTo>
                      <a:lnTo>
                        <a:pt x="14516" y="14534"/>
                      </a:lnTo>
                      <a:lnTo>
                        <a:pt x="14713" y="13997"/>
                      </a:lnTo>
                      <a:lnTo>
                        <a:pt x="15008" y="13487"/>
                      </a:lnTo>
                      <a:lnTo>
                        <a:pt x="15205" y="12950"/>
                      </a:lnTo>
                      <a:lnTo>
                        <a:pt x="15468" y="12363"/>
                      </a:lnTo>
                      <a:lnTo>
                        <a:pt x="15731" y="11775"/>
                      </a:lnTo>
                      <a:lnTo>
                        <a:pt x="15895" y="11239"/>
                      </a:lnTo>
                      <a:lnTo>
                        <a:pt x="16092" y="10651"/>
                      </a:lnTo>
                      <a:lnTo>
                        <a:pt x="16289" y="10064"/>
                      </a:lnTo>
                      <a:lnTo>
                        <a:pt x="16552" y="9527"/>
                      </a:lnTo>
                      <a:lnTo>
                        <a:pt x="16749" y="8940"/>
                      </a:lnTo>
                      <a:lnTo>
                        <a:pt x="16913" y="8352"/>
                      </a:lnTo>
                      <a:lnTo>
                        <a:pt x="17176" y="7816"/>
                      </a:lnTo>
                      <a:lnTo>
                        <a:pt x="17340" y="7203"/>
                      </a:lnTo>
                      <a:lnTo>
                        <a:pt x="17570" y="6667"/>
                      </a:lnTo>
                      <a:lnTo>
                        <a:pt x="17734" y="6130"/>
                      </a:lnTo>
                      <a:lnTo>
                        <a:pt x="17898" y="5594"/>
                      </a:lnTo>
                      <a:lnTo>
                        <a:pt x="18128" y="5057"/>
                      </a:lnTo>
                      <a:lnTo>
                        <a:pt x="18325" y="4572"/>
                      </a:lnTo>
                      <a:lnTo>
                        <a:pt x="18456" y="4061"/>
                      </a:lnTo>
                      <a:lnTo>
                        <a:pt x="18621" y="3525"/>
                      </a:lnTo>
                      <a:lnTo>
                        <a:pt x="18752" y="3142"/>
                      </a:lnTo>
                      <a:lnTo>
                        <a:pt x="18982" y="2656"/>
                      </a:lnTo>
                      <a:lnTo>
                        <a:pt x="19048" y="2248"/>
                      </a:lnTo>
                      <a:lnTo>
                        <a:pt x="19278" y="1814"/>
                      </a:lnTo>
                      <a:lnTo>
                        <a:pt x="19409" y="1430"/>
                      </a:lnTo>
                      <a:lnTo>
                        <a:pt x="19540" y="1073"/>
                      </a:lnTo>
                      <a:lnTo>
                        <a:pt x="19672" y="843"/>
                      </a:lnTo>
                      <a:lnTo>
                        <a:pt x="19803" y="485"/>
                      </a:lnTo>
                      <a:lnTo>
                        <a:pt x="19869" y="204"/>
                      </a:lnTo>
                      <a:lnTo>
                        <a:pt x="19967" y="0"/>
                      </a:lnTo>
                    </a:path>
                  </a:pathLst>
                </a:custGeom>
                <a:noFill/>
                <a:ln w="19050">
                  <a:solidFill>
                    <a:srgbClr val="FFCC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0776" name="Freeform 63">
                  <a:extLst>
                    <a:ext uri="{FF2B5EF4-FFF2-40B4-BE49-F238E27FC236}">
                      <a16:creationId xmlns:a16="http://schemas.microsoft.com/office/drawing/2014/main" id="{373D9E82-F5E9-407A-8A15-F23852FEBDE7}"/>
                    </a:ext>
                  </a:extLst>
                </p:cNvPr>
                <p:cNvSpPr>
                  <a:spLocks/>
                </p:cNvSpPr>
                <p:nvPr/>
              </p:nvSpPr>
              <p:spPr bwMode="auto">
                <a:xfrm flipH="1">
                  <a:off x="3312" y="1920"/>
                  <a:ext cx="557" cy="228"/>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894"/>
                      </a:moveTo>
                      <a:lnTo>
                        <a:pt x="197" y="1533"/>
                      </a:lnTo>
                      <a:lnTo>
                        <a:pt x="427" y="2120"/>
                      </a:lnTo>
                      <a:lnTo>
                        <a:pt x="657" y="2708"/>
                      </a:lnTo>
                      <a:lnTo>
                        <a:pt x="952" y="3295"/>
                      </a:lnTo>
                      <a:lnTo>
                        <a:pt x="1084" y="3934"/>
                      </a:lnTo>
                      <a:lnTo>
                        <a:pt x="1314" y="4521"/>
                      </a:lnTo>
                      <a:lnTo>
                        <a:pt x="1544" y="5109"/>
                      </a:lnTo>
                      <a:lnTo>
                        <a:pt x="1708" y="5696"/>
                      </a:lnTo>
                      <a:lnTo>
                        <a:pt x="2003" y="6284"/>
                      </a:lnTo>
                      <a:lnTo>
                        <a:pt x="2233" y="6820"/>
                      </a:lnTo>
                      <a:lnTo>
                        <a:pt x="2430" y="7407"/>
                      </a:lnTo>
                      <a:lnTo>
                        <a:pt x="2726" y="7944"/>
                      </a:lnTo>
                      <a:lnTo>
                        <a:pt x="2857" y="8531"/>
                      </a:lnTo>
                      <a:lnTo>
                        <a:pt x="3120" y="9119"/>
                      </a:lnTo>
                      <a:lnTo>
                        <a:pt x="3383" y="9630"/>
                      </a:lnTo>
                      <a:lnTo>
                        <a:pt x="3547" y="10217"/>
                      </a:lnTo>
                      <a:lnTo>
                        <a:pt x="3810" y="10754"/>
                      </a:lnTo>
                      <a:lnTo>
                        <a:pt x="4007" y="11239"/>
                      </a:lnTo>
                      <a:lnTo>
                        <a:pt x="4236" y="11775"/>
                      </a:lnTo>
                      <a:lnTo>
                        <a:pt x="4433" y="12261"/>
                      </a:lnTo>
                      <a:lnTo>
                        <a:pt x="4663" y="12771"/>
                      </a:lnTo>
                      <a:lnTo>
                        <a:pt x="4959" y="13206"/>
                      </a:lnTo>
                      <a:lnTo>
                        <a:pt x="5090" y="13640"/>
                      </a:lnTo>
                      <a:lnTo>
                        <a:pt x="5386" y="14074"/>
                      </a:lnTo>
                      <a:lnTo>
                        <a:pt x="5517" y="14585"/>
                      </a:lnTo>
                      <a:lnTo>
                        <a:pt x="5714" y="15019"/>
                      </a:lnTo>
                      <a:lnTo>
                        <a:pt x="6010" y="15453"/>
                      </a:lnTo>
                      <a:lnTo>
                        <a:pt x="6207" y="15862"/>
                      </a:lnTo>
                      <a:lnTo>
                        <a:pt x="6404" y="16194"/>
                      </a:lnTo>
                      <a:lnTo>
                        <a:pt x="6634" y="16577"/>
                      </a:lnTo>
                      <a:lnTo>
                        <a:pt x="6864" y="16935"/>
                      </a:lnTo>
                      <a:lnTo>
                        <a:pt x="7094" y="17267"/>
                      </a:lnTo>
                      <a:lnTo>
                        <a:pt x="7323" y="17573"/>
                      </a:lnTo>
                      <a:lnTo>
                        <a:pt x="7521" y="17905"/>
                      </a:lnTo>
                      <a:lnTo>
                        <a:pt x="7685" y="18212"/>
                      </a:lnTo>
                      <a:lnTo>
                        <a:pt x="7947" y="18467"/>
                      </a:lnTo>
                      <a:lnTo>
                        <a:pt x="8210" y="18697"/>
                      </a:lnTo>
                      <a:lnTo>
                        <a:pt x="8342" y="18953"/>
                      </a:lnTo>
                      <a:lnTo>
                        <a:pt x="8604" y="19132"/>
                      </a:lnTo>
                      <a:lnTo>
                        <a:pt x="8801" y="19336"/>
                      </a:lnTo>
                      <a:lnTo>
                        <a:pt x="9064" y="19489"/>
                      </a:lnTo>
                      <a:lnTo>
                        <a:pt x="9228" y="19642"/>
                      </a:lnTo>
                      <a:lnTo>
                        <a:pt x="9425" y="19719"/>
                      </a:lnTo>
                      <a:lnTo>
                        <a:pt x="9622" y="19872"/>
                      </a:lnTo>
                      <a:lnTo>
                        <a:pt x="9885" y="19923"/>
                      </a:lnTo>
                      <a:lnTo>
                        <a:pt x="10082" y="19974"/>
                      </a:lnTo>
                      <a:lnTo>
                        <a:pt x="10246" y="19974"/>
                      </a:lnTo>
                      <a:lnTo>
                        <a:pt x="10509" y="19974"/>
                      </a:lnTo>
                      <a:lnTo>
                        <a:pt x="10739" y="19974"/>
                      </a:lnTo>
                      <a:lnTo>
                        <a:pt x="10903" y="19923"/>
                      </a:lnTo>
                      <a:lnTo>
                        <a:pt x="11100" y="19821"/>
                      </a:lnTo>
                      <a:lnTo>
                        <a:pt x="11330" y="19693"/>
                      </a:lnTo>
                      <a:lnTo>
                        <a:pt x="11626" y="19489"/>
                      </a:lnTo>
                      <a:lnTo>
                        <a:pt x="11790" y="19234"/>
                      </a:lnTo>
                      <a:lnTo>
                        <a:pt x="12020" y="19055"/>
                      </a:lnTo>
                      <a:lnTo>
                        <a:pt x="12184" y="18748"/>
                      </a:lnTo>
                      <a:lnTo>
                        <a:pt x="12447" y="18467"/>
                      </a:lnTo>
                      <a:lnTo>
                        <a:pt x="12677" y="18110"/>
                      </a:lnTo>
                      <a:lnTo>
                        <a:pt x="12906" y="17727"/>
                      </a:lnTo>
                      <a:lnTo>
                        <a:pt x="13136" y="17318"/>
                      </a:lnTo>
                      <a:lnTo>
                        <a:pt x="13366" y="16884"/>
                      </a:lnTo>
                      <a:lnTo>
                        <a:pt x="13629" y="16501"/>
                      </a:lnTo>
                      <a:lnTo>
                        <a:pt x="13892" y="16041"/>
                      </a:lnTo>
                      <a:lnTo>
                        <a:pt x="14056" y="15556"/>
                      </a:lnTo>
                      <a:lnTo>
                        <a:pt x="14286" y="15070"/>
                      </a:lnTo>
                      <a:lnTo>
                        <a:pt x="14516" y="14534"/>
                      </a:lnTo>
                      <a:lnTo>
                        <a:pt x="14713" y="13997"/>
                      </a:lnTo>
                      <a:lnTo>
                        <a:pt x="15008" y="13487"/>
                      </a:lnTo>
                      <a:lnTo>
                        <a:pt x="15205" y="12950"/>
                      </a:lnTo>
                      <a:lnTo>
                        <a:pt x="15468" y="12363"/>
                      </a:lnTo>
                      <a:lnTo>
                        <a:pt x="15731" y="11775"/>
                      </a:lnTo>
                      <a:lnTo>
                        <a:pt x="15895" y="11239"/>
                      </a:lnTo>
                      <a:lnTo>
                        <a:pt x="16092" y="10651"/>
                      </a:lnTo>
                      <a:lnTo>
                        <a:pt x="16289" y="10064"/>
                      </a:lnTo>
                      <a:lnTo>
                        <a:pt x="16552" y="9527"/>
                      </a:lnTo>
                      <a:lnTo>
                        <a:pt x="16749" y="8940"/>
                      </a:lnTo>
                      <a:lnTo>
                        <a:pt x="16913" y="8352"/>
                      </a:lnTo>
                      <a:lnTo>
                        <a:pt x="17176" y="7816"/>
                      </a:lnTo>
                      <a:lnTo>
                        <a:pt x="17340" y="7203"/>
                      </a:lnTo>
                      <a:lnTo>
                        <a:pt x="17570" y="6667"/>
                      </a:lnTo>
                      <a:lnTo>
                        <a:pt x="17734" y="6130"/>
                      </a:lnTo>
                      <a:lnTo>
                        <a:pt x="17898" y="5594"/>
                      </a:lnTo>
                      <a:lnTo>
                        <a:pt x="18128" y="5057"/>
                      </a:lnTo>
                      <a:lnTo>
                        <a:pt x="18325" y="4572"/>
                      </a:lnTo>
                      <a:lnTo>
                        <a:pt x="18456" y="4061"/>
                      </a:lnTo>
                      <a:lnTo>
                        <a:pt x="18621" y="3525"/>
                      </a:lnTo>
                      <a:lnTo>
                        <a:pt x="18752" y="3142"/>
                      </a:lnTo>
                      <a:lnTo>
                        <a:pt x="18982" y="2656"/>
                      </a:lnTo>
                      <a:lnTo>
                        <a:pt x="19048" y="2248"/>
                      </a:lnTo>
                      <a:lnTo>
                        <a:pt x="19278" y="1814"/>
                      </a:lnTo>
                      <a:lnTo>
                        <a:pt x="19409" y="1430"/>
                      </a:lnTo>
                      <a:lnTo>
                        <a:pt x="19540" y="1073"/>
                      </a:lnTo>
                      <a:lnTo>
                        <a:pt x="19672" y="843"/>
                      </a:lnTo>
                      <a:lnTo>
                        <a:pt x="19803" y="485"/>
                      </a:lnTo>
                      <a:lnTo>
                        <a:pt x="19869" y="204"/>
                      </a:lnTo>
                      <a:lnTo>
                        <a:pt x="19967" y="0"/>
                      </a:lnTo>
                    </a:path>
                  </a:pathLst>
                </a:custGeom>
                <a:noFill/>
                <a:ln w="19050">
                  <a:solidFill>
                    <a:srgbClr val="FFCC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sp>
          <p:nvSpPr>
            <p:cNvPr id="30770" name="Line 64">
              <a:extLst>
                <a:ext uri="{FF2B5EF4-FFF2-40B4-BE49-F238E27FC236}">
                  <a16:creationId xmlns:a16="http://schemas.microsoft.com/office/drawing/2014/main" id="{6077AADD-24C6-423C-8300-AE2170E3952A}"/>
                </a:ext>
              </a:extLst>
            </p:cNvPr>
            <p:cNvSpPr>
              <a:spLocks noChangeShapeType="1"/>
            </p:cNvSpPr>
            <p:nvPr/>
          </p:nvSpPr>
          <p:spPr bwMode="auto">
            <a:xfrm>
              <a:off x="1488" y="2496"/>
              <a:ext cx="192" cy="0"/>
            </a:xfrm>
            <a:prstGeom prst="line">
              <a:avLst/>
            </a:prstGeom>
            <a:noFill/>
            <a:ln w="22225">
              <a:solidFill>
                <a:srgbClr val="FFCC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19873" name="Line 65">
            <a:extLst>
              <a:ext uri="{FF2B5EF4-FFF2-40B4-BE49-F238E27FC236}">
                <a16:creationId xmlns:a16="http://schemas.microsoft.com/office/drawing/2014/main" id="{9A92199E-5959-439E-A38D-FEE686A7E2E9}"/>
              </a:ext>
            </a:extLst>
          </p:cNvPr>
          <p:cNvSpPr>
            <a:spLocks noChangeShapeType="1"/>
          </p:cNvSpPr>
          <p:nvPr/>
        </p:nvSpPr>
        <p:spPr bwMode="auto">
          <a:xfrm>
            <a:off x="6629400" y="2446338"/>
            <a:ext cx="0" cy="609600"/>
          </a:xfrm>
          <a:prstGeom prst="line">
            <a:avLst/>
          </a:prstGeom>
          <a:noFill/>
          <a:ln w="22225">
            <a:solidFill>
              <a:srgbClr val="FFCC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9874" name="Rectangle 66">
            <a:extLst>
              <a:ext uri="{FF2B5EF4-FFF2-40B4-BE49-F238E27FC236}">
                <a16:creationId xmlns:a16="http://schemas.microsoft.com/office/drawing/2014/main" id="{37312489-7D5E-4BCC-9118-666E8DAF7C77}"/>
              </a:ext>
            </a:extLst>
          </p:cNvPr>
          <p:cNvSpPr>
            <a:spLocks noChangeArrowheads="1"/>
          </p:cNvSpPr>
          <p:nvPr/>
        </p:nvSpPr>
        <p:spPr bwMode="auto">
          <a:xfrm>
            <a:off x="5153025" y="4071938"/>
            <a:ext cx="3562350" cy="973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pPr>
            <a:r>
              <a:rPr lang="zh-CN" altLang="en-US" sz="2200">
                <a:solidFill>
                  <a:schemeClr val="bg1"/>
                </a:solidFill>
                <a:ea typeface="楷体_GB2312" pitchFamily="49" charset="-122"/>
              </a:rPr>
              <a:t>四能级结构</a:t>
            </a:r>
          </a:p>
          <a:p>
            <a:pPr eaLnBrk="1" hangingPunct="1">
              <a:lnSpc>
                <a:spcPct val="130000"/>
              </a:lnSpc>
            </a:pPr>
            <a:r>
              <a:rPr lang="en-US" altLang="zh-CN" sz="2200">
                <a:solidFill>
                  <a:srgbClr val="00FFFF"/>
                </a:solidFill>
                <a:ea typeface="楷体_GB2312" pitchFamily="49" charset="-122"/>
              </a:rPr>
              <a:t>E</a:t>
            </a:r>
            <a:r>
              <a:rPr lang="en-US" altLang="zh-CN" sz="2200" baseline="-25000">
                <a:solidFill>
                  <a:srgbClr val="00FFFF"/>
                </a:solidFill>
                <a:ea typeface="楷体_GB2312" pitchFamily="49" charset="-122"/>
              </a:rPr>
              <a:t>3 </a:t>
            </a:r>
            <a:r>
              <a:rPr lang="zh-CN" altLang="en-US" sz="2200">
                <a:solidFill>
                  <a:schemeClr val="bg1"/>
                </a:solidFill>
                <a:ea typeface="楷体_GB2312" pitchFamily="49" charset="-122"/>
              </a:rPr>
              <a:t>和</a:t>
            </a:r>
            <a:r>
              <a:rPr lang="en-US" altLang="zh-CN" sz="2200">
                <a:solidFill>
                  <a:srgbClr val="00FFFF"/>
                </a:solidFill>
                <a:ea typeface="楷体_GB2312" pitchFamily="49" charset="-122"/>
              </a:rPr>
              <a:t>E</a:t>
            </a:r>
            <a:r>
              <a:rPr lang="en-US" altLang="zh-CN" sz="2200" baseline="-25000">
                <a:solidFill>
                  <a:srgbClr val="00FFFF"/>
                </a:solidFill>
                <a:ea typeface="楷体_GB2312" pitchFamily="49" charset="-122"/>
              </a:rPr>
              <a:t>2 </a:t>
            </a:r>
            <a:r>
              <a:rPr lang="zh-CN" altLang="en-US" sz="2200">
                <a:solidFill>
                  <a:schemeClr val="bg1"/>
                </a:solidFill>
                <a:ea typeface="楷体_GB2312" pitchFamily="49" charset="-122"/>
              </a:rPr>
              <a:t>间粒子数反转</a:t>
            </a:r>
          </a:p>
        </p:txBody>
      </p:sp>
      <p:sp>
        <p:nvSpPr>
          <p:cNvPr id="119875" name="Rectangle 67">
            <a:extLst>
              <a:ext uri="{FF2B5EF4-FFF2-40B4-BE49-F238E27FC236}">
                <a16:creationId xmlns:a16="http://schemas.microsoft.com/office/drawing/2014/main" id="{425F86BD-B1CE-42DA-8578-D55FC592A68D}"/>
              </a:ext>
            </a:extLst>
          </p:cNvPr>
          <p:cNvSpPr>
            <a:spLocks noChangeArrowheads="1"/>
          </p:cNvSpPr>
          <p:nvPr/>
        </p:nvSpPr>
        <p:spPr bwMode="auto">
          <a:xfrm>
            <a:off x="7696200" y="2903538"/>
            <a:ext cx="1447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a:solidFill>
                  <a:srgbClr val="EDFE4A"/>
                </a:solidFill>
              </a:rPr>
              <a:t>激发态</a:t>
            </a:r>
          </a:p>
        </p:txBody>
      </p:sp>
      <p:sp>
        <p:nvSpPr>
          <p:cNvPr id="119876" name="Rectangle 68">
            <a:extLst>
              <a:ext uri="{FF2B5EF4-FFF2-40B4-BE49-F238E27FC236}">
                <a16:creationId xmlns:a16="http://schemas.microsoft.com/office/drawing/2014/main" id="{55623A21-F765-4CD5-A0AB-9F267FFAE28C}"/>
              </a:ext>
            </a:extLst>
          </p:cNvPr>
          <p:cNvSpPr>
            <a:spLocks noChangeArrowheads="1"/>
          </p:cNvSpPr>
          <p:nvPr/>
        </p:nvSpPr>
        <p:spPr bwMode="auto">
          <a:xfrm>
            <a:off x="673100" y="5038725"/>
            <a:ext cx="2819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rgbClr val="82FD4B"/>
                </a:solidFill>
                <a:latin typeface="宋体" panose="02010600030101010101" pitchFamily="2" charset="-122"/>
              </a:rPr>
              <a:t>抽运（激励） </a:t>
            </a:r>
          </a:p>
        </p:txBody>
      </p:sp>
      <p:sp>
        <p:nvSpPr>
          <p:cNvPr id="119877" name="Rectangle 69">
            <a:extLst>
              <a:ext uri="{FF2B5EF4-FFF2-40B4-BE49-F238E27FC236}">
                <a16:creationId xmlns:a16="http://schemas.microsoft.com/office/drawing/2014/main" id="{31A373A3-630D-423C-AB22-BFEC7B10F9A1}"/>
              </a:ext>
            </a:extLst>
          </p:cNvPr>
          <p:cNvSpPr>
            <a:spLocks noChangeArrowheads="1"/>
          </p:cNvSpPr>
          <p:nvPr/>
        </p:nvSpPr>
        <p:spPr bwMode="auto">
          <a:xfrm>
            <a:off x="2533650" y="5038725"/>
            <a:ext cx="63246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chemeClr val="bg1"/>
                </a:solidFill>
                <a:latin typeface="宋体" panose="02010600030101010101" pitchFamily="2" charset="-122"/>
              </a:rPr>
              <a:t>—— </a:t>
            </a:r>
            <a:r>
              <a:rPr lang="zh-CN" altLang="en-US">
                <a:solidFill>
                  <a:schemeClr val="bg1"/>
                </a:solidFill>
                <a:latin typeface="宋体" panose="02010600030101010101" pitchFamily="2" charset="-122"/>
              </a:rPr>
              <a:t>光激励、电子碰撞、共振转移等方法</a:t>
            </a:r>
          </a:p>
        </p:txBody>
      </p:sp>
      <p:sp>
        <p:nvSpPr>
          <p:cNvPr id="119878" name="Rectangle 70">
            <a:extLst>
              <a:ext uri="{FF2B5EF4-FFF2-40B4-BE49-F238E27FC236}">
                <a16:creationId xmlns:a16="http://schemas.microsoft.com/office/drawing/2014/main" id="{1BE18057-C94C-4565-BE58-D3D54FAA69B1}"/>
              </a:ext>
            </a:extLst>
          </p:cNvPr>
          <p:cNvSpPr>
            <a:spLocks noChangeArrowheads="1"/>
          </p:cNvSpPr>
          <p:nvPr/>
        </p:nvSpPr>
        <p:spPr bwMode="auto">
          <a:xfrm>
            <a:off x="357188" y="5500688"/>
            <a:ext cx="45370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76176" bIns="76176">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rgbClr val="00FFFF"/>
                </a:solidFill>
                <a:ea typeface="华文中宋" panose="02010600040101010101" pitchFamily="2" charset="-122"/>
              </a:rPr>
              <a:t>3. </a:t>
            </a:r>
            <a:r>
              <a:rPr lang="zh-CN" altLang="en-US">
                <a:solidFill>
                  <a:srgbClr val="00FFFF"/>
                </a:solidFill>
                <a:ea typeface="华文中宋" panose="02010600040101010101" pitchFamily="2" charset="-122"/>
              </a:rPr>
              <a:t>光在激活物质中的增益现象</a:t>
            </a:r>
          </a:p>
        </p:txBody>
      </p:sp>
      <p:sp>
        <p:nvSpPr>
          <p:cNvPr id="119879" name="Text Box 71">
            <a:extLst>
              <a:ext uri="{FF2B5EF4-FFF2-40B4-BE49-F238E27FC236}">
                <a16:creationId xmlns:a16="http://schemas.microsoft.com/office/drawing/2014/main" id="{BE51B31A-30F5-4FAF-A502-C0D39938A939}"/>
              </a:ext>
            </a:extLst>
          </p:cNvPr>
          <p:cNvSpPr txBox="1">
            <a:spLocks noChangeArrowheads="1"/>
          </p:cNvSpPr>
          <p:nvPr/>
        </p:nvSpPr>
        <p:spPr bwMode="auto">
          <a:xfrm>
            <a:off x="642938" y="6000750"/>
            <a:ext cx="80533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dirty="0">
                <a:solidFill>
                  <a:srgbClr val="EDFE4A"/>
                </a:solidFill>
                <a:latin typeface="宋体" panose="02010600030101010101" pitchFamily="2" charset="-122"/>
              </a:rPr>
              <a:t>增益介质</a:t>
            </a:r>
            <a:r>
              <a:rPr lang="zh-CN" altLang="en-US" dirty="0">
                <a:solidFill>
                  <a:srgbClr val="00FFFF"/>
                </a:solidFill>
                <a:latin typeface="宋体" panose="02010600030101010101" pitchFamily="2" charset="-122"/>
              </a:rPr>
              <a:t>：</a:t>
            </a:r>
            <a:r>
              <a:rPr lang="zh-CN" altLang="en-US" dirty="0">
                <a:solidFill>
                  <a:schemeClr val="bg1"/>
                </a:solidFill>
                <a:latin typeface="宋体" panose="02010600030101010101" pitchFamily="2" charset="-122"/>
              </a:rPr>
              <a:t>处于粒子数反转态的介质，并实现增益现象。</a:t>
            </a:r>
          </a:p>
        </p:txBody>
      </p:sp>
      <p:sp>
        <p:nvSpPr>
          <p:cNvPr id="30768" name="灯片编号占位符 1">
            <a:extLst>
              <a:ext uri="{FF2B5EF4-FFF2-40B4-BE49-F238E27FC236}">
                <a16:creationId xmlns:a16="http://schemas.microsoft.com/office/drawing/2014/main" id="{087C7601-FDD6-467C-BB11-B74A04C2AE35}"/>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1C00F53C-A3E0-43BD-9000-03012478FE7E}" type="slidenum">
              <a:rPr lang="en-US" altLang="zh-CN" b="0">
                <a:solidFill>
                  <a:srgbClr val="FF00FF"/>
                </a:solidFill>
              </a:rPr>
              <a:pPr eaLnBrk="1" hangingPunct="1"/>
              <a:t>19</a:t>
            </a:fld>
            <a:r>
              <a:rPr lang="en-US" altLang="zh-CN" b="0">
                <a:solidFill>
                  <a:srgbClr val="FF00FF"/>
                </a:solidFill>
              </a:rPr>
              <a:t>/28</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19810"/>
                                        </p:tgtEl>
                                        <p:attrNameLst>
                                          <p:attrName>style.visibility</p:attrName>
                                        </p:attrNameLst>
                                      </p:cBhvr>
                                      <p:to>
                                        <p:strVal val="visible"/>
                                      </p:to>
                                    </p:set>
                                    <p:animEffect transition="in" filter="wipe(left)">
                                      <p:cBhvr>
                                        <p:cTn id="7" dur="500"/>
                                        <p:tgtEl>
                                          <p:spTgt spid="119810"/>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19811"/>
                                        </p:tgtEl>
                                        <p:attrNameLst>
                                          <p:attrName>style.visibility</p:attrName>
                                        </p:attrNameLst>
                                      </p:cBhvr>
                                      <p:to>
                                        <p:strVal val="visible"/>
                                      </p:to>
                                    </p:set>
                                    <p:animEffect transition="in" filter="wipe(left)">
                                      <p:cBhvr>
                                        <p:cTn id="11" dur="500"/>
                                        <p:tgtEl>
                                          <p:spTgt spid="119811"/>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19815"/>
                                        </p:tgtEl>
                                        <p:attrNameLst>
                                          <p:attrName>style.visibility</p:attrName>
                                        </p:attrNameLst>
                                      </p:cBhvr>
                                      <p:to>
                                        <p:strVal val="visible"/>
                                      </p:to>
                                    </p:set>
                                    <p:animEffect transition="in" filter="wipe(left)">
                                      <p:cBhvr>
                                        <p:cTn id="16" dur="1000"/>
                                        <p:tgtEl>
                                          <p:spTgt spid="119815"/>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119812"/>
                                        </p:tgtEl>
                                        <p:attrNameLst>
                                          <p:attrName>style.visibility</p:attrName>
                                        </p:attrNameLst>
                                      </p:cBhvr>
                                      <p:to>
                                        <p:strVal val="visible"/>
                                      </p:to>
                                    </p:set>
                                    <p:animEffect transition="in" filter="wipe(left)">
                                      <p:cBhvr>
                                        <p:cTn id="21" dur="500"/>
                                        <p:tgtEl>
                                          <p:spTgt spid="119812"/>
                                        </p:tgtEl>
                                      </p:cBhvr>
                                    </p:animEffect>
                                  </p:childTnLst>
                                </p:cTn>
                              </p:par>
                            </p:childTnLst>
                          </p:cTn>
                        </p:par>
                        <p:par>
                          <p:cTn id="22" fill="hold" nodeType="afterGroup">
                            <p:stCondLst>
                              <p:cond delay="500"/>
                            </p:stCondLst>
                            <p:childTnLst>
                              <p:par>
                                <p:cTn id="23" presetID="2" presetClass="entr" presetSubtype="8" fill="hold" grpId="0" nodeType="afterEffect">
                                  <p:stCondLst>
                                    <p:cond delay="0"/>
                                  </p:stCondLst>
                                  <p:childTnLst>
                                    <p:set>
                                      <p:cBhvr>
                                        <p:cTn id="24" dur="1" fill="hold">
                                          <p:stCondLst>
                                            <p:cond delay="0"/>
                                          </p:stCondLst>
                                        </p:cTn>
                                        <p:tgtEl>
                                          <p:spTgt spid="119814"/>
                                        </p:tgtEl>
                                        <p:attrNameLst>
                                          <p:attrName>style.visibility</p:attrName>
                                        </p:attrNameLst>
                                      </p:cBhvr>
                                      <p:to>
                                        <p:strVal val="visible"/>
                                      </p:to>
                                    </p:set>
                                    <p:anim calcmode="lin" valueType="num">
                                      <p:cBhvr additive="base">
                                        <p:cTn id="25" dur="500" fill="hold"/>
                                        <p:tgtEl>
                                          <p:spTgt spid="119814"/>
                                        </p:tgtEl>
                                        <p:attrNameLst>
                                          <p:attrName>ppt_x</p:attrName>
                                        </p:attrNameLst>
                                      </p:cBhvr>
                                      <p:tavLst>
                                        <p:tav tm="0">
                                          <p:val>
                                            <p:strVal val="0-#ppt_w/2"/>
                                          </p:val>
                                        </p:tav>
                                        <p:tav tm="100000">
                                          <p:val>
                                            <p:strVal val="#ppt_x"/>
                                          </p:val>
                                        </p:tav>
                                      </p:tavLst>
                                    </p:anim>
                                    <p:anim calcmode="lin" valueType="num">
                                      <p:cBhvr additive="base">
                                        <p:cTn id="26" dur="500" fill="hold"/>
                                        <p:tgtEl>
                                          <p:spTgt spid="119814"/>
                                        </p:tgtEl>
                                        <p:attrNameLst>
                                          <p:attrName>ppt_y</p:attrName>
                                        </p:attrNameLst>
                                      </p:cBhvr>
                                      <p:tavLst>
                                        <p:tav tm="0">
                                          <p:val>
                                            <p:strVal val="#ppt_y"/>
                                          </p:val>
                                        </p:tav>
                                        <p:tav tm="100000">
                                          <p:val>
                                            <p:strVal val="#ppt_y"/>
                                          </p:val>
                                        </p:tav>
                                      </p:tavLst>
                                    </p:anim>
                                  </p:childTnLst>
                                </p:cTn>
                              </p:par>
                            </p:childTnLst>
                          </p:cTn>
                        </p:par>
                        <p:par>
                          <p:cTn id="27" fill="hold" nodeType="afterGroup">
                            <p:stCondLst>
                              <p:cond delay="1000"/>
                            </p:stCondLst>
                            <p:childTnLst>
                              <p:par>
                                <p:cTn id="28" presetID="22" presetClass="entr" presetSubtype="8" fill="hold" nodeType="afterEffect">
                                  <p:stCondLst>
                                    <p:cond delay="0"/>
                                  </p:stCondLst>
                                  <p:childTnLst>
                                    <p:set>
                                      <p:cBhvr>
                                        <p:cTn id="29" dur="1" fill="hold">
                                          <p:stCondLst>
                                            <p:cond delay="0"/>
                                          </p:stCondLst>
                                        </p:cTn>
                                        <p:tgtEl>
                                          <p:spTgt spid="119813"/>
                                        </p:tgtEl>
                                        <p:attrNameLst>
                                          <p:attrName>style.visibility</p:attrName>
                                        </p:attrNameLst>
                                      </p:cBhvr>
                                      <p:to>
                                        <p:strVal val="visible"/>
                                      </p:to>
                                    </p:set>
                                    <p:animEffect transition="in" filter="wipe(left)">
                                      <p:cBhvr>
                                        <p:cTn id="30" dur="500"/>
                                        <p:tgtEl>
                                          <p:spTgt spid="119813"/>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499"/>
                                          </p:stCondLst>
                                        </p:cTn>
                                        <p:tgtEl>
                                          <p:spTgt spid="119816"/>
                                        </p:tgtEl>
                                        <p:attrNameLst>
                                          <p:attrName>style.visibility</p:attrName>
                                        </p:attrNameLst>
                                      </p:cBhvr>
                                      <p:to>
                                        <p:strVal val="visible"/>
                                      </p:to>
                                    </p:set>
                                  </p:childTnLst>
                                </p:cTn>
                              </p:par>
                            </p:childTnLst>
                          </p:cTn>
                        </p:par>
                        <p:par>
                          <p:cTn id="35" fill="hold" nodeType="afterGroup">
                            <p:stCondLst>
                              <p:cond delay="500"/>
                            </p:stCondLst>
                            <p:childTnLst>
                              <p:par>
                                <p:cTn id="36" presetID="22" presetClass="entr" presetSubtype="8" fill="hold" nodeType="afterEffect">
                                  <p:stCondLst>
                                    <p:cond delay="0"/>
                                  </p:stCondLst>
                                  <p:childTnLst>
                                    <p:set>
                                      <p:cBhvr>
                                        <p:cTn id="37" dur="1" fill="hold">
                                          <p:stCondLst>
                                            <p:cond delay="0"/>
                                          </p:stCondLst>
                                        </p:cTn>
                                        <p:tgtEl>
                                          <p:spTgt spid="119823"/>
                                        </p:tgtEl>
                                        <p:attrNameLst>
                                          <p:attrName>style.visibility</p:attrName>
                                        </p:attrNameLst>
                                      </p:cBhvr>
                                      <p:to>
                                        <p:strVal val="visible"/>
                                      </p:to>
                                    </p:set>
                                    <p:animEffect transition="in" filter="wipe(left)">
                                      <p:cBhvr>
                                        <p:cTn id="38" dur="500"/>
                                        <p:tgtEl>
                                          <p:spTgt spid="119823"/>
                                        </p:tgtEl>
                                      </p:cBhvr>
                                    </p:animEffect>
                                  </p:childTnLst>
                                </p:cTn>
                              </p:par>
                            </p:childTnLst>
                          </p:cTn>
                        </p:par>
                        <p:par>
                          <p:cTn id="39" fill="hold" nodeType="afterGroup">
                            <p:stCondLst>
                              <p:cond delay="1000"/>
                            </p:stCondLst>
                            <p:childTnLst>
                              <p:par>
                                <p:cTn id="40" presetID="3" presetClass="entr" presetSubtype="10" fill="hold" grpId="0" nodeType="afterEffect">
                                  <p:stCondLst>
                                    <p:cond delay="0"/>
                                  </p:stCondLst>
                                  <p:childTnLst>
                                    <p:set>
                                      <p:cBhvr>
                                        <p:cTn id="41" dur="1" fill="hold">
                                          <p:stCondLst>
                                            <p:cond delay="0"/>
                                          </p:stCondLst>
                                        </p:cTn>
                                        <p:tgtEl>
                                          <p:spTgt spid="119826"/>
                                        </p:tgtEl>
                                        <p:attrNameLst>
                                          <p:attrName>style.visibility</p:attrName>
                                        </p:attrNameLst>
                                      </p:cBhvr>
                                      <p:to>
                                        <p:strVal val="visible"/>
                                      </p:to>
                                    </p:set>
                                    <p:animEffect transition="in" filter="blinds(horizontal)">
                                      <p:cBhvr>
                                        <p:cTn id="42" dur="500"/>
                                        <p:tgtEl>
                                          <p:spTgt spid="119826"/>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nodeType="clickEffect">
                                  <p:stCondLst>
                                    <p:cond delay="0"/>
                                  </p:stCondLst>
                                  <p:childTnLst>
                                    <p:set>
                                      <p:cBhvr>
                                        <p:cTn id="46" dur="1" fill="hold">
                                          <p:stCondLst>
                                            <p:cond delay="499"/>
                                          </p:stCondLst>
                                        </p:cTn>
                                        <p:tgtEl>
                                          <p:spTgt spid="119817"/>
                                        </p:tgtEl>
                                        <p:attrNameLst>
                                          <p:attrName>style.visibility</p:attrName>
                                        </p:attrNameLst>
                                      </p:cBhvr>
                                      <p:to>
                                        <p:strVal val="visible"/>
                                      </p:to>
                                    </p:set>
                                  </p:childTnLst>
                                </p:cTn>
                              </p:par>
                            </p:childTnLst>
                          </p:cTn>
                        </p:par>
                        <p:par>
                          <p:cTn id="47" fill="hold" nodeType="afterGroup">
                            <p:stCondLst>
                              <p:cond delay="500"/>
                            </p:stCondLst>
                            <p:childTnLst>
                              <p:par>
                                <p:cTn id="48" presetID="22" presetClass="entr" presetSubtype="8" fill="hold" nodeType="afterEffect">
                                  <p:stCondLst>
                                    <p:cond delay="0"/>
                                  </p:stCondLst>
                                  <p:childTnLst>
                                    <p:set>
                                      <p:cBhvr>
                                        <p:cTn id="49" dur="1" fill="hold">
                                          <p:stCondLst>
                                            <p:cond delay="0"/>
                                          </p:stCondLst>
                                        </p:cTn>
                                        <p:tgtEl>
                                          <p:spTgt spid="119825"/>
                                        </p:tgtEl>
                                        <p:attrNameLst>
                                          <p:attrName>style.visibility</p:attrName>
                                        </p:attrNameLst>
                                      </p:cBhvr>
                                      <p:to>
                                        <p:strVal val="visible"/>
                                      </p:to>
                                    </p:set>
                                    <p:animEffect transition="in" filter="wipe(left)">
                                      <p:cBhvr>
                                        <p:cTn id="50" dur="500"/>
                                        <p:tgtEl>
                                          <p:spTgt spid="119825"/>
                                        </p:tgtEl>
                                      </p:cBhvr>
                                    </p:animEffect>
                                  </p:childTnLst>
                                </p:cTn>
                              </p:par>
                            </p:childTnLst>
                          </p:cTn>
                        </p:par>
                        <p:par>
                          <p:cTn id="51" fill="hold" nodeType="afterGroup">
                            <p:stCondLst>
                              <p:cond delay="1000"/>
                            </p:stCondLst>
                            <p:childTnLst>
                              <p:par>
                                <p:cTn id="52" presetID="5" presetClass="entr" presetSubtype="10" fill="hold" grpId="0" nodeType="afterEffect">
                                  <p:stCondLst>
                                    <p:cond delay="0"/>
                                  </p:stCondLst>
                                  <p:childTnLst>
                                    <p:set>
                                      <p:cBhvr>
                                        <p:cTn id="53" dur="1" fill="hold">
                                          <p:stCondLst>
                                            <p:cond delay="0"/>
                                          </p:stCondLst>
                                        </p:cTn>
                                        <p:tgtEl>
                                          <p:spTgt spid="119822"/>
                                        </p:tgtEl>
                                        <p:attrNameLst>
                                          <p:attrName>style.visibility</p:attrName>
                                        </p:attrNameLst>
                                      </p:cBhvr>
                                      <p:to>
                                        <p:strVal val="visible"/>
                                      </p:to>
                                    </p:set>
                                    <p:animEffect transition="in" filter="checkerboard(across)">
                                      <p:cBhvr>
                                        <p:cTn id="54" dur="500"/>
                                        <p:tgtEl>
                                          <p:spTgt spid="119822"/>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1" presetClass="entr" presetSubtype="0" fill="hold" nodeType="clickEffect">
                                  <p:stCondLst>
                                    <p:cond delay="0"/>
                                  </p:stCondLst>
                                  <p:childTnLst>
                                    <p:set>
                                      <p:cBhvr>
                                        <p:cTn id="58" dur="1" fill="hold">
                                          <p:stCondLst>
                                            <p:cond delay="499"/>
                                          </p:stCondLst>
                                        </p:cTn>
                                        <p:tgtEl>
                                          <p:spTgt spid="119818"/>
                                        </p:tgtEl>
                                        <p:attrNameLst>
                                          <p:attrName>style.visibility</p:attrName>
                                        </p:attrNameLst>
                                      </p:cBhvr>
                                      <p:to>
                                        <p:strVal val="visible"/>
                                      </p:to>
                                    </p:set>
                                  </p:childTnLst>
                                </p:cTn>
                              </p:par>
                            </p:childTnLst>
                          </p:cTn>
                        </p:par>
                        <p:par>
                          <p:cTn id="59" fill="hold" nodeType="afterGroup">
                            <p:stCondLst>
                              <p:cond delay="500"/>
                            </p:stCondLst>
                            <p:childTnLst>
                              <p:par>
                                <p:cTn id="60" presetID="22" presetClass="entr" presetSubtype="8" fill="hold" nodeType="afterEffect">
                                  <p:stCondLst>
                                    <p:cond delay="0"/>
                                  </p:stCondLst>
                                  <p:childTnLst>
                                    <p:set>
                                      <p:cBhvr>
                                        <p:cTn id="61" dur="1" fill="hold">
                                          <p:stCondLst>
                                            <p:cond delay="0"/>
                                          </p:stCondLst>
                                        </p:cTn>
                                        <p:tgtEl>
                                          <p:spTgt spid="119824"/>
                                        </p:tgtEl>
                                        <p:attrNameLst>
                                          <p:attrName>style.visibility</p:attrName>
                                        </p:attrNameLst>
                                      </p:cBhvr>
                                      <p:to>
                                        <p:strVal val="visible"/>
                                      </p:to>
                                    </p:set>
                                    <p:animEffect transition="in" filter="wipe(left)">
                                      <p:cBhvr>
                                        <p:cTn id="62" dur="500"/>
                                        <p:tgtEl>
                                          <p:spTgt spid="119824"/>
                                        </p:tgtEl>
                                      </p:cBhvr>
                                    </p:animEffect>
                                  </p:childTnLst>
                                </p:cTn>
                              </p:par>
                            </p:childTnLst>
                          </p:cTn>
                        </p:par>
                        <p:par>
                          <p:cTn id="63" fill="hold" nodeType="afterGroup">
                            <p:stCondLst>
                              <p:cond delay="1000"/>
                            </p:stCondLst>
                            <p:childTnLst>
                              <p:par>
                                <p:cTn id="64" presetID="22" presetClass="entr" presetSubtype="8" fill="hold" grpId="0" nodeType="afterEffect">
                                  <p:stCondLst>
                                    <p:cond delay="0"/>
                                  </p:stCondLst>
                                  <p:childTnLst>
                                    <p:set>
                                      <p:cBhvr>
                                        <p:cTn id="65" dur="1" fill="hold">
                                          <p:stCondLst>
                                            <p:cond delay="0"/>
                                          </p:stCondLst>
                                        </p:cTn>
                                        <p:tgtEl>
                                          <p:spTgt spid="119843"/>
                                        </p:tgtEl>
                                        <p:attrNameLst>
                                          <p:attrName>style.visibility</p:attrName>
                                        </p:attrNameLst>
                                      </p:cBhvr>
                                      <p:to>
                                        <p:strVal val="visible"/>
                                      </p:to>
                                    </p:set>
                                    <p:animEffect transition="in" filter="wipe(left)">
                                      <p:cBhvr>
                                        <p:cTn id="66" dur="1000"/>
                                        <p:tgtEl>
                                          <p:spTgt spid="119843"/>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8" fill="hold" grpId="0" nodeType="clickEffect">
                                  <p:stCondLst>
                                    <p:cond delay="0"/>
                                  </p:stCondLst>
                                  <p:childTnLst>
                                    <p:set>
                                      <p:cBhvr>
                                        <p:cTn id="70" dur="1" fill="hold">
                                          <p:stCondLst>
                                            <p:cond delay="0"/>
                                          </p:stCondLst>
                                        </p:cTn>
                                        <p:tgtEl>
                                          <p:spTgt spid="119820"/>
                                        </p:tgtEl>
                                        <p:attrNameLst>
                                          <p:attrName>style.visibility</p:attrName>
                                        </p:attrNameLst>
                                      </p:cBhvr>
                                      <p:to>
                                        <p:strVal val="visible"/>
                                      </p:to>
                                    </p:set>
                                    <p:animEffect transition="in" filter="wipe(left)">
                                      <p:cBhvr>
                                        <p:cTn id="71" dur="500"/>
                                        <p:tgtEl>
                                          <p:spTgt spid="119820"/>
                                        </p:tgtEl>
                                      </p:cBhvr>
                                    </p:animEffect>
                                  </p:childTnLst>
                                </p:cTn>
                              </p:par>
                            </p:childTnLst>
                          </p:cTn>
                        </p:par>
                        <p:par>
                          <p:cTn id="72" fill="hold" nodeType="afterGroup">
                            <p:stCondLst>
                              <p:cond delay="500"/>
                            </p:stCondLst>
                            <p:childTnLst>
                              <p:par>
                                <p:cTn id="73" presetID="1" presetClass="entr" presetSubtype="0" fill="hold" grpId="0" nodeType="afterEffect">
                                  <p:stCondLst>
                                    <p:cond delay="0"/>
                                  </p:stCondLst>
                                  <p:childTnLst>
                                    <p:set>
                                      <p:cBhvr>
                                        <p:cTn id="74" dur="1" fill="hold">
                                          <p:stCondLst>
                                            <p:cond delay="499"/>
                                          </p:stCondLst>
                                        </p:cTn>
                                        <p:tgtEl>
                                          <p:spTgt spid="119821"/>
                                        </p:tgtEl>
                                        <p:attrNameLst>
                                          <p:attrName>style.visibility</p:attrName>
                                        </p:attrNameLst>
                                      </p:cBhvr>
                                      <p:to>
                                        <p:strVal val="visible"/>
                                      </p:to>
                                    </p:set>
                                  </p:childTnLst>
                                </p:cTn>
                              </p:par>
                            </p:childTnLst>
                          </p:cTn>
                        </p:par>
                      </p:childTnLst>
                    </p:cTn>
                  </p:par>
                  <p:par>
                    <p:cTn id="75" fill="hold" nodeType="clickPar">
                      <p:stCondLst>
                        <p:cond delay="indefinite"/>
                      </p:stCondLst>
                      <p:childTnLst>
                        <p:par>
                          <p:cTn id="76" fill="hold" nodeType="withGroup">
                            <p:stCondLst>
                              <p:cond delay="0"/>
                            </p:stCondLst>
                            <p:childTnLst>
                              <p:par>
                                <p:cTn id="77" presetID="12" presetClass="entr" presetSubtype="4" fill="hold" nodeType="clickEffect">
                                  <p:stCondLst>
                                    <p:cond delay="0"/>
                                  </p:stCondLst>
                                  <p:childTnLst>
                                    <p:set>
                                      <p:cBhvr>
                                        <p:cTn id="78" dur="1" fill="hold">
                                          <p:stCondLst>
                                            <p:cond delay="0"/>
                                          </p:stCondLst>
                                        </p:cTn>
                                        <p:tgtEl>
                                          <p:spTgt spid="119819"/>
                                        </p:tgtEl>
                                        <p:attrNameLst>
                                          <p:attrName>style.visibility</p:attrName>
                                        </p:attrNameLst>
                                      </p:cBhvr>
                                      <p:to>
                                        <p:strVal val="visible"/>
                                      </p:to>
                                    </p:set>
                                    <p:animEffect transition="in" filter="slide(fromBottom)">
                                      <p:cBhvr>
                                        <p:cTn id="79" dur="500"/>
                                        <p:tgtEl>
                                          <p:spTgt spid="119819"/>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22" presetClass="entr" presetSubtype="8" fill="hold" nodeType="clickEffect">
                                  <p:stCondLst>
                                    <p:cond delay="0"/>
                                  </p:stCondLst>
                                  <p:childTnLst>
                                    <p:set>
                                      <p:cBhvr>
                                        <p:cTn id="83" dur="1" fill="hold">
                                          <p:stCondLst>
                                            <p:cond delay="0"/>
                                          </p:stCondLst>
                                        </p:cTn>
                                        <p:tgtEl>
                                          <p:spTgt spid="119827"/>
                                        </p:tgtEl>
                                        <p:attrNameLst>
                                          <p:attrName>style.visibility</p:attrName>
                                        </p:attrNameLst>
                                      </p:cBhvr>
                                      <p:to>
                                        <p:strVal val="visible"/>
                                      </p:to>
                                    </p:set>
                                    <p:animEffect transition="in" filter="wipe(left)">
                                      <p:cBhvr>
                                        <p:cTn id="84" dur="500"/>
                                        <p:tgtEl>
                                          <p:spTgt spid="119827"/>
                                        </p:tgtEl>
                                      </p:cBhvr>
                                    </p:animEffect>
                                  </p:childTnLst>
                                </p:cTn>
                              </p:par>
                            </p:childTnLst>
                          </p:cTn>
                        </p:par>
                      </p:childTnLst>
                    </p:cTn>
                  </p:par>
                  <p:par>
                    <p:cTn id="85" fill="hold" nodeType="clickPar">
                      <p:stCondLst>
                        <p:cond delay="indefinite"/>
                      </p:stCondLst>
                      <p:childTnLst>
                        <p:par>
                          <p:cTn id="86" fill="hold" nodeType="withGroup">
                            <p:stCondLst>
                              <p:cond delay="0"/>
                            </p:stCondLst>
                            <p:childTnLst>
                              <p:par>
                                <p:cTn id="87" presetID="22" presetClass="entr" presetSubtype="2" fill="hold" nodeType="clickEffect">
                                  <p:stCondLst>
                                    <p:cond delay="0"/>
                                  </p:stCondLst>
                                  <p:childTnLst>
                                    <p:set>
                                      <p:cBhvr>
                                        <p:cTn id="88" dur="1" fill="hold">
                                          <p:stCondLst>
                                            <p:cond delay="0"/>
                                          </p:stCondLst>
                                        </p:cTn>
                                        <p:tgtEl>
                                          <p:spTgt spid="119828"/>
                                        </p:tgtEl>
                                        <p:attrNameLst>
                                          <p:attrName>style.visibility</p:attrName>
                                        </p:attrNameLst>
                                      </p:cBhvr>
                                      <p:to>
                                        <p:strVal val="visible"/>
                                      </p:to>
                                    </p:set>
                                    <p:animEffect transition="in" filter="wipe(right)">
                                      <p:cBhvr>
                                        <p:cTn id="89" dur="500"/>
                                        <p:tgtEl>
                                          <p:spTgt spid="119828"/>
                                        </p:tgtEl>
                                      </p:cBhvr>
                                    </p:animEffect>
                                  </p:childTnLst>
                                </p:cTn>
                              </p:par>
                            </p:childTnLst>
                          </p:cTn>
                        </p:par>
                        <p:par>
                          <p:cTn id="90" fill="hold" nodeType="afterGroup">
                            <p:stCondLst>
                              <p:cond delay="500"/>
                            </p:stCondLst>
                            <p:childTnLst>
                              <p:par>
                                <p:cTn id="91" presetID="22" presetClass="entr" presetSubtype="8" fill="hold" nodeType="afterEffect">
                                  <p:stCondLst>
                                    <p:cond delay="0"/>
                                  </p:stCondLst>
                                  <p:childTnLst>
                                    <p:set>
                                      <p:cBhvr>
                                        <p:cTn id="92" dur="1" fill="hold">
                                          <p:stCondLst>
                                            <p:cond delay="0"/>
                                          </p:stCondLst>
                                        </p:cTn>
                                        <p:tgtEl>
                                          <p:spTgt spid="2"/>
                                        </p:tgtEl>
                                        <p:attrNameLst>
                                          <p:attrName>style.visibility</p:attrName>
                                        </p:attrNameLst>
                                      </p:cBhvr>
                                      <p:to>
                                        <p:strVal val="visible"/>
                                      </p:to>
                                    </p:set>
                                    <p:animEffect transition="in" filter="wipe(left)">
                                      <p:cBhvr>
                                        <p:cTn id="93" dur="500"/>
                                        <p:tgtEl>
                                          <p:spTgt spid="2"/>
                                        </p:tgtEl>
                                      </p:cBhvr>
                                    </p:animEffect>
                                  </p:childTnLst>
                                </p:cTn>
                              </p:par>
                            </p:childTnLst>
                          </p:cTn>
                        </p:par>
                      </p:childTnLst>
                    </p:cTn>
                  </p:par>
                  <p:par>
                    <p:cTn id="94" fill="hold" nodeType="clickPar">
                      <p:stCondLst>
                        <p:cond delay="indefinite"/>
                      </p:stCondLst>
                      <p:childTnLst>
                        <p:par>
                          <p:cTn id="95" fill="hold" nodeType="withGroup">
                            <p:stCondLst>
                              <p:cond delay="0"/>
                            </p:stCondLst>
                            <p:childTnLst>
                              <p:par>
                                <p:cTn id="96" presetID="22" presetClass="entr" presetSubtype="8" fill="hold" grpId="0" nodeType="clickEffect">
                                  <p:stCondLst>
                                    <p:cond delay="0"/>
                                  </p:stCondLst>
                                  <p:childTnLst>
                                    <p:set>
                                      <p:cBhvr>
                                        <p:cTn id="97" dur="1" fill="hold">
                                          <p:stCondLst>
                                            <p:cond delay="0"/>
                                          </p:stCondLst>
                                        </p:cTn>
                                        <p:tgtEl>
                                          <p:spTgt spid="119842"/>
                                        </p:tgtEl>
                                        <p:attrNameLst>
                                          <p:attrName>style.visibility</p:attrName>
                                        </p:attrNameLst>
                                      </p:cBhvr>
                                      <p:to>
                                        <p:strVal val="visible"/>
                                      </p:to>
                                    </p:set>
                                    <p:animEffect transition="in" filter="wipe(left)">
                                      <p:cBhvr>
                                        <p:cTn id="98" dur="1000"/>
                                        <p:tgtEl>
                                          <p:spTgt spid="119842"/>
                                        </p:tgtEl>
                                      </p:cBhvr>
                                    </p:animEffect>
                                  </p:childTnLst>
                                </p:cTn>
                              </p:par>
                            </p:childTnLst>
                          </p:cTn>
                        </p:par>
                      </p:childTnLst>
                    </p:cTn>
                  </p:par>
                  <p:par>
                    <p:cTn id="99" fill="hold" nodeType="clickPar">
                      <p:stCondLst>
                        <p:cond delay="indefinite"/>
                      </p:stCondLst>
                      <p:childTnLst>
                        <p:par>
                          <p:cTn id="100" fill="hold" nodeType="withGroup">
                            <p:stCondLst>
                              <p:cond delay="0"/>
                            </p:stCondLst>
                            <p:childTnLst>
                              <p:par>
                                <p:cTn id="101" presetID="1" presetClass="entr" presetSubtype="0" fill="hold" nodeType="clickEffect">
                                  <p:stCondLst>
                                    <p:cond delay="0"/>
                                  </p:stCondLst>
                                  <p:childTnLst>
                                    <p:set>
                                      <p:cBhvr>
                                        <p:cTn id="102" dur="1" fill="hold">
                                          <p:stCondLst>
                                            <p:cond delay="499"/>
                                          </p:stCondLst>
                                        </p:cTn>
                                        <p:tgtEl>
                                          <p:spTgt spid="119844"/>
                                        </p:tgtEl>
                                        <p:attrNameLst>
                                          <p:attrName>style.visibility</p:attrName>
                                        </p:attrNameLst>
                                      </p:cBhvr>
                                      <p:to>
                                        <p:strVal val="visible"/>
                                      </p:to>
                                    </p:set>
                                  </p:childTnLst>
                                </p:cTn>
                              </p:par>
                            </p:childTnLst>
                          </p:cTn>
                        </p:par>
                        <p:par>
                          <p:cTn id="103" fill="hold" nodeType="afterGroup">
                            <p:stCondLst>
                              <p:cond delay="500"/>
                            </p:stCondLst>
                            <p:childTnLst>
                              <p:par>
                                <p:cTn id="104" presetID="22" presetClass="entr" presetSubtype="8" fill="hold" nodeType="afterEffect">
                                  <p:stCondLst>
                                    <p:cond delay="0"/>
                                  </p:stCondLst>
                                  <p:childTnLst>
                                    <p:set>
                                      <p:cBhvr>
                                        <p:cTn id="105" dur="1" fill="hold">
                                          <p:stCondLst>
                                            <p:cond delay="0"/>
                                          </p:stCondLst>
                                        </p:cTn>
                                        <p:tgtEl>
                                          <p:spTgt spid="119851"/>
                                        </p:tgtEl>
                                        <p:attrNameLst>
                                          <p:attrName>style.visibility</p:attrName>
                                        </p:attrNameLst>
                                      </p:cBhvr>
                                      <p:to>
                                        <p:strVal val="visible"/>
                                      </p:to>
                                    </p:set>
                                    <p:animEffect transition="in" filter="wipe(left)">
                                      <p:cBhvr>
                                        <p:cTn id="106" dur="500"/>
                                        <p:tgtEl>
                                          <p:spTgt spid="119851"/>
                                        </p:tgtEl>
                                      </p:cBhvr>
                                    </p:animEffect>
                                  </p:childTnLst>
                                </p:cTn>
                              </p:par>
                            </p:childTnLst>
                          </p:cTn>
                        </p:par>
                        <p:par>
                          <p:cTn id="107" fill="hold" nodeType="afterGroup">
                            <p:stCondLst>
                              <p:cond delay="1000"/>
                            </p:stCondLst>
                            <p:childTnLst>
                              <p:par>
                                <p:cTn id="108" presetID="2" presetClass="entr" presetSubtype="2" fill="hold" grpId="0" nodeType="afterEffect">
                                  <p:stCondLst>
                                    <p:cond delay="0"/>
                                  </p:stCondLst>
                                  <p:iterate type="wd">
                                    <p:tmPct val="100000"/>
                                  </p:iterate>
                                  <p:childTnLst>
                                    <p:set>
                                      <p:cBhvr>
                                        <p:cTn id="109" dur="1" fill="hold">
                                          <p:stCondLst>
                                            <p:cond delay="0"/>
                                          </p:stCondLst>
                                        </p:cTn>
                                        <p:tgtEl>
                                          <p:spTgt spid="119854"/>
                                        </p:tgtEl>
                                        <p:attrNameLst>
                                          <p:attrName>style.visibility</p:attrName>
                                        </p:attrNameLst>
                                      </p:cBhvr>
                                      <p:to>
                                        <p:strVal val="visible"/>
                                      </p:to>
                                    </p:set>
                                    <p:anim calcmode="lin" valueType="num">
                                      <p:cBhvr additive="base">
                                        <p:cTn id="110" dur="300" fill="hold"/>
                                        <p:tgtEl>
                                          <p:spTgt spid="119854"/>
                                        </p:tgtEl>
                                        <p:attrNameLst>
                                          <p:attrName>ppt_x</p:attrName>
                                        </p:attrNameLst>
                                      </p:cBhvr>
                                      <p:tavLst>
                                        <p:tav tm="0">
                                          <p:val>
                                            <p:strVal val="1+#ppt_w/2"/>
                                          </p:val>
                                        </p:tav>
                                        <p:tav tm="100000">
                                          <p:val>
                                            <p:strVal val="#ppt_x"/>
                                          </p:val>
                                        </p:tav>
                                      </p:tavLst>
                                    </p:anim>
                                    <p:anim calcmode="lin" valueType="num">
                                      <p:cBhvr additive="base">
                                        <p:cTn id="111" dur="300" fill="hold"/>
                                        <p:tgtEl>
                                          <p:spTgt spid="119854"/>
                                        </p:tgtEl>
                                        <p:attrNameLst>
                                          <p:attrName>ppt_y</p:attrName>
                                        </p:attrNameLst>
                                      </p:cBhvr>
                                      <p:tavLst>
                                        <p:tav tm="0">
                                          <p:val>
                                            <p:strVal val="#ppt_y"/>
                                          </p:val>
                                        </p:tav>
                                        <p:tav tm="100000">
                                          <p:val>
                                            <p:strVal val="#ppt_y"/>
                                          </p:val>
                                        </p:tav>
                                      </p:tavLst>
                                    </p:anim>
                                  </p:childTnLst>
                                </p:cTn>
                              </p:par>
                            </p:childTnLst>
                          </p:cTn>
                        </p:par>
                      </p:childTnLst>
                    </p:cTn>
                  </p:par>
                  <p:par>
                    <p:cTn id="112" fill="hold" nodeType="clickPar">
                      <p:stCondLst>
                        <p:cond delay="indefinite"/>
                      </p:stCondLst>
                      <p:childTnLst>
                        <p:par>
                          <p:cTn id="113" fill="hold" nodeType="withGroup">
                            <p:stCondLst>
                              <p:cond delay="0"/>
                            </p:stCondLst>
                            <p:childTnLst>
                              <p:par>
                                <p:cTn id="114" presetID="1" presetClass="entr" presetSubtype="0" fill="hold" nodeType="clickEffect">
                                  <p:stCondLst>
                                    <p:cond delay="0"/>
                                  </p:stCondLst>
                                  <p:childTnLst>
                                    <p:set>
                                      <p:cBhvr>
                                        <p:cTn id="115" dur="1" fill="hold">
                                          <p:stCondLst>
                                            <p:cond delay="499"/>
                                          </p:stCondLst>
                                        </p:cTn>
                                        <p:tgtEl>
                                          <p:spTgt spid="119845"/>
                                        </p:tgtEl>
                                        <p:attrNameLst>
                                          <p:attrName>style.visibility</p:attrName>
                                        </p:attrNameLst>
                                      </p:cBhvr>
                                      <p:to>
                                        <p:strVal val="visible"/>
                                      </p:to>
                                    </p:set>
                                  </p:childTnLst>
                                </p:cTn>
                              </p:par>
                            </p:childTnLst>
                          </p:cTn>
                        </p:par>
                        <p:par>
                          <p:cTn id="116" fill="hold" nodeType="afterGroup">
                            <p:stCondLst>
                              <p:cond delay="500"/>
                            </p:stCondLst>
                            <p:childTnLst>
                              <p:par>
                                <p:cTn id="117" presetID="22" presetClass="entr" presetSubtype="8" fill="hold" nodeType="afterEffect">
                                  <p:stCondLst>
                                    <p:cond delay="0"/>
                                  </p:stCondLst>
                                  <p:childTnLst>
                                    <p:set>
                                      <p:cBhvr>
                                        <p:cTn id="118" dur="1" fill="hold">
                                          <p:stCondLst>
                                            <p:cond delay="0"/>
                                          </p:stCondLst>
                                        </p:cTn>
                                        <p:tgtEl>
                                          <p:spTgt spid="119853"/>
                                        </p:tgtEl>
                                        <p:attrNameLst>
                                          <p:attrName>style.visibility</p:attrName>
                                        </p:attrNameLst>
                                      </p:cBhvr>
                                      <p:to>
                                        <p:strVal val="visible"/>
                                      </p:to>
                                    </p:set>
                                    <p:animEffect transition="in" filter="wipe(left)">
                                      <p:cBhvr>
                                        <p:cTn id="119" dur="500"/>
                                        <p:tgtEl>
                                          <p:spTgt spid="119853"/>
                                        </p:tgtEl>
                                      </p:cBhvr>
                                    </p:animEffect>
                                  </p:childTnLst>
                                </p:cTn>
                              </p:par>
                            </p:childTnLst>
                          </p:cTn>
                        </p:par>
                        <p:par>
                          <p:cTn id="120" fill="hold" nodeType="afterGroup">
                            <p:stCondLst>
                              <p:cond delay="1000"/>
                            </p:stCondLst>
                            <p:childTnLst>
                              <p:par>
                                <p:cTn id="121" presetID="9" presetClass="entr" presetSubtype="0" fill="hold" grpId="0" nodeType="afterEffect">
                                  <p:stCondLst>
                                    <p:cond delay="0"/>
                                  </p:stCondLst>
                                  <p:iterate type="wd">
                                    <p:tmPct val="100000"/>
                                  </p:iterate>
                                  <p:childTnLst>
                                    <p:set>
                                      <p:cBhvr>
                                        <p:cTn id="122" dur="1" fill="hold">
                                          <p:stCondLst>
                                            <p:cond delay="0"/>
                                          </p:stCondLst>
                                        </p:cTn>
                                        <p:tgtEl>
                                          <p:spTgt spid="119850"/>
                                        </p:tgtEl>
                                        <p:attrNameLst>
                                          <p:attrName>style.visibility</p:attrName>
                                        </p:attrNameLst>
                                      </p:cBhvr>
                                      <p:to>
                                        <p:strVal val="visible"/>
                                      </p:to>
                                    </p:set>
                                    <p:animEffect transition="in" filter="dissolve">
                                      <p:cBhvr>
                                        <p:cTn id="123" dur="300"/>
                                        <p:tgtEl>
                                          <p:spTgt spid="119850"/>
                                        </p:tgtEl>
                                      </p:cBhvr>
                                    </p:animEffect>
                                  </p:childTnLst>
                                </p:cTn>
                              </p:par>
                            </p:childTnLst>
                          </p:cTn>
                        </p:par>
                      </p:childTnLst>
                    </p:cTn>
                  </p:par>
                  <p:par>
                    <p:cTn id="124" fill="hold" nodeType="clickPar">
                      <p:stCondLst>
                        <p:cond delay="indefinite"/>
                      </p:stCondLst>
                      <p:childTnLst>
                        <p:par>
                          <p:cTn id="125" fill="hold" nodeType="withGroup">
                            <p:stCondLst>
                              <p:cond delay="0"/>
                            </p:stCondLst>
                            <p:childTnLst>
                              <p:par>
                                <p:cTn id="126" presetID="9" presetClass="entr" presetSubtype="0" fill="hold" nodeType="clickEffect">
                                  <p:stCondLst>
                                    <p:cond delay="0"/>
                                  </p:stCondLst>
                                  <p:childTnLst>
                                    <p:set>
                                      <p:cBhvr>
                                        <p:cTn id="127" dur="1" fill="hold">
                                          <p:stCondLst>
                                            <p:cond delay="0"/>
                                          </p:stCondLst>
                                        </p:cTn>
                                        <p:tgtEl>
                                          <p:spTgt spid="119846"/>
                                        </p:tgtEl>
                                        <p:attrNameLst>
                                          <p:attrName>style.visibility</p:attrName>
                                        </p:attrNameLst>
                                      </p:cBhvr>
                                      <p:to>
                                        <p:strVal val="visible"/>
                                      </p:to>
                                    </p:set>
                                    <p:animEffect transition="in" filter="dissolve">
                                      <p:cBhvr>
                                        <p:cTn id="128" dur="500"/>
                                        <p:tgtEl>
                                          <p:spTgt spid="119846"/>
                                        </p:tgtEl>
                                      </p:cBhvr>
                                    </p:animEffect>
                                  </p:childTnLst>
                                </p:cTn>
                              </p:par>
                            </p:childTnLst>
                          </p:cTn>
                        </p:par>
                        <p:par>
                          <p:cTn id="129" fill="hold" nodeType="afterGroup">
                            <p:stCondLst>
                              <p:cond delay="500"/>
                            </p:stCondLst>
                            <p:childTnLst>
                              <p:par>
                                <p:cTn id="130" presetID="22" presetClass="entr" presetSubtype="8" fill="hold" nodeType="afterEffect">
                                  <p:stCondLst>
                                    <p:cond delay="0"/>
                                  </p:stCondLst>
                                  <p:childTnLst>
                                    <p:set>
                                      <p:cBhvr>
                                        <p:cTn id="131" dur="1" fill="hold">
                                          <p:stCondLst>
                                            <p:cond delay="0"/>
                                          </p:stCondLst>
                                        </p:cTn>
                                        <p:tgtEl>
                                          <p:spTgt spid="119858"/>
                                        </p:tgtEl>
                                        <p:attrNameLst>
                                          <p:attrName>style.visibility</p:attrName>
                                        </p:attrNameLst>
                                      </p:cBhvr>
                                      <p:to>
                                        <p:strVal val="visible"/>
                                      </p:to>
                                    </p:set>
                                    <p:animEffect transition="in" filter="wipe(left)">
                                      <p:cBhvr>
                                        <p:cTn id="132" dur="500"/>
                                        <p:tgtEl>
                                          <p:spTgt spid="119858"/>
                                        </p:tgtEl>
                                      </p:cBhvr>
                                    </p:animEffect>
                                  </p:childTnLst>
                                </p:cTn>
                              </p:par>
                            </p:childTnLst>
                          </p:cTn>
                        </p:par>
                        <p:par>
                          <p:cTn id="133" fill="hold" nodeType="afterGroup">
                            <p:stCondLst>
                              <p:cond delay="1000"/>
                            </p:stCondLst>
                            <p:childTnLst>
                              <p:par>
                                <p:cTn id="134" presetID="3" presetClass="entr" presetSubtype="10" fill="hold" grpId="0" nodeType="afterEffect">
                                  <p:stCondLst>
                                    <p:cond delay="0"/>
                                  </p:stCondLst>
                                  <p:childTnLst>
                                    <p:set>
                                      <p:cBhvr>
                                        <p:cTn id="135" dur="1" fill="hold">
                                          <p:stCondLst>
                                            <p:cond delay="0"/>
                                          </p:stCondLst>
                                        </p:cTn>
                                        <p:tgtEl>
                                          <p:spTgt spid="119859"/>
                                        </p:tgtEl>
                                        <p:attrNameLst>
                                          <p:attrName>style.visibility</p:attrName>
                                        </p:attrNameLst>
                                      </p:cBhvr>
                                      <p:to>
                                        <p:strVal val="visible"/>
                                      </p:to>
                                    </p:set>
                                    <p:animEffect transition="in" filter="blinds(horizontal)">
                                      <p:cBhvr>
                                        <p:cTn id="136" dur="500"/>
                                        <p:tgtEl>
                                          <p:spTgt spid="119859"/>
                                        </p:tgtEl>
                                      </p:cBhvr>
                                    </p:animEffect>
                                  </p:childTnLst>
                                </p:cTn>
                              </p:par>
                            </p:childTnLst>
                          </p:cTn>
                        </p:par>
                      </p:childTnLst>
                    </p:cTn>
                  </p:par>
                  <p:par>
                    <p:cTn id="137" fill="hold" nodeType="clickPar">
                      <p:stCondLst>
                        <p:cond delay="indefinite"/>
                      </p:stCondLst>
                      <p:childTnLst>
                        <p:par>
                          <p:cTn id="138" fill="hold" nodeType="withGroup">
                            <p:stCondLst>
                              <p:cond delay="0"/>
                            </p:stCondLst>
                            <p:childTnLst>
                              <p:par>
                                <p:cTn id="139" presetID="1" presetClass="entr" presetSubtype="0" fill="hold" nodeType="clickEffect">
                                  <p:stCondLst>
                                    <p:cond delay="0"/>
                                  </p:stCondLst>
                                  <p:childTnLst>
                                    <p:set>
                                      <p:cBhvr>
                                        <p:cTn id="140" dur="1" fill="hold">
                                          <p:stCondLst>
                                            <p:cond delay="499"/>
                                          </p:stCondLst>
                                        </p:cTn>
                                        <p:tgtEl>
                                          <p:spTgt spid="119857"/>
                                        </p:tgtEl>
                                        <p:attrNameLst>
                                          <p:attrName>style.visibility</p:attrName>
                                        </p:attrNameLst>
                                      </p:cBhvr>
                                      <p:to>
                                        <p:strVal val="visible"/>
                                      </p:to>
                                    </p:set>
                                  </p:childTnLst>
                                </p:cTn>
                              </p:par>
                            </p:childTnLst>
                          </p:cTn>
                        </p:par>
                        <p:par>
                          <p:cTn id="141" fill="hold" nodeType="afterGroup">
                            <p:stCondLst>
                              <p:cond delay="500"/>
                            </p:stCondLst>
                            <p:childTnLst>
                              <p:par>
                                <p:cTn id="142" presetID="22" presetClass="entr" presetSubtype="8" fill="hold" nodeType="afterEffect">
                                  <p:stCondLst>
                                    <p:cond delay="0"/>
                                  </p:stCondLst>
                                  <p:childTnLst>
                                    <p:set>
                                      <p:cBhvr>
                                        <p:cTn id="143" dur="1" fill="hold">
                                          <p:stCondLst>
                                            <p:cond delay="0"/>
                                          </p:stCondLst>
                                        </p:cTn>
                                        <p:tgtEl>
                                          <p:spTgt spid="119852"/>
                                        </p:tgtEl>
                                        <p:attrNameLst>
                                          <p:attrName>style.visibility</p:attrName>
                                        </p:attrNameLst>
                                      </p:cBhvr>
                                      <p:to>
                                        <p:strVal val="visible"/>
                                      </p:to>
                                    </p:set>
                                    <p:animEffect transition="in" filter="wipe(left)">
                                      <p:cBhvr>
                                        <p:cTn id="144" dur="500"/>
                                        <p:tgtEl>
                                          <p:spTgt spid="119852"/>
                                        </p:tgtEl>
                                      </p:cBhvr>
                                    </p:animEffect>
                                  </p:childTnLst>
                                </p:cTn>
                              </p:par>
                            </p:childTnLst>
                          </p:cTn>
                        </p:par>
                        <p:par>
                          <p:cTn id="145" fill="hold" nodeType="afterGroup">
                            <p:stCondLst>
                              <p:cond delay="1000"/>
                            </p:stCondLst>
                            <p:childTnLst>
                              <p:par>
                                <p:cTn id="146" presetID="5" presetClass="entr" presetSubtype="10" fill="hold" grpId="0" nodeType="afterEffect">
                                  <p:stCondLst>
                                    <p:cond delay="0"/>
                                  </p:stCondLst>
                                  <p:iterate type="wd">
                                    <p:tmPct val="100000"/>
                                  </p:iterate>
                                  <p:childTnLst>
                                    <p:set>
                                      <p:cBhvr>
                                        <p:cTn id="147" dur="1" fill="hold">
                                          <p:stCondLst>
                                            <p:cond delay="0"/>
                                          </p:stCondLst>
                                        </p:cTn>
                                        <p:tgtEl>
                                          <p:spTgt spid="119875"/>
                                        </p:tgtEl>
                                        <p:attrNameLst>
                                          <p:attrName>style.visibility</p:attrName>
                                        </p:attrNameLst>
                                      </p:cBhvr>
                                      <p:to>
                                        <p:strVal val="visible"/>
                                      </p:to>
                                    </p:set>
                                    <p:animEffect transition="in" filter="checkerboard(across)">
                                      <p:cBhvr>
                                        <p:cTn id="148" dur="300"/>
                                        <p:tgtEl>
                                          <p:spTgt spid="119875"/>
                                        </p:tgtEl>
                                      </p:cBhvr>
                                    </p:animEffect>
                                  </p:childTnLst>
                                </p:cTn>
                              </p:par>
                            </p:childTnLst>
                          </p:cTn>
                        </p:par>
                      </p:childTnLst>
                    </p:cTn>
                  </p:par>
                  <p:par>
                    <p:cTn id="149" fill="hold" nodeType="clickPar">
                      <p:stCondLst>
                        <p:cond delay="indefinite"/>
                      </p:stCondLst>
                      <p:childTnLst>
                        <p:par>
                          <p:cTn id="150" fill="hold" nodeType="withGroup">
                            <p:stCondLst>
                              <p:cond delay="0"/>
                            </p:stCondLst>
                            <p:childTnLst>
                              <p:par>
                                <p:cTn id="151" presetID="22" presetClass="entr" presetSubtype="8" fill="hold" grpId="0" nodeType="clickEffect">
                                  <p:stCondLst>
                                    <p:cond delay="0"/>
                                  </p:stCondLst>
                                  <p:childTnLst>
                                    <p:set>
                                      <p:cBhvr>
                                        <p:cTn id="152" dur="1" fill="hold">
                                          <p:stCondLst>
                                            <p:cond delay="0"/>
                                          </p:stCondLst>
                                        </p:cTn>
                                        <p:tgtEl>
                                          <p:spTgt spid="119848"/>
                                        </p:tgtEl>
                                        <p:attrNameLst>
                                          <p:attrName>style.visibility</p:attrName>
                                        </p:attrNameLst>
                                      </p:cBhvr>
                                      <p:to>
                                        <p:strVal val="visible"/>
                                      </p:to>
                                    </p:set>
                                    <p:animEffect transition="in" filter="wipe(left)">
                                      <p:cBhvr>
                                        <p:cTn id="153" dur="500"/>
                                        <p:tgtEl>
                                          <p:spTgt spid="119848"/>
                                        </p:tgtEl>
                                      </p:cBhvr>
                                    </p:animEffect>
                                  </p:childTnLst>
                                </p:cTn>
                              </p:par>
                            </p:childTnLst>
                          </p:cTn>
                        </p:par>
                        <p:par>
                          <p:cTn id="154" fill="hold" nodeType="afterGroup">
                            <p:stCondLst>
                              <p:cond delay="500"/>
                            </p:stCondLst>
                            <p:childTnLst>
                              <p:par>
                                <p:cTn id="155" presetID="1" presetClass="entr" presetSubtype="0" fill="hold" grpId="0" nodeType="afterEffect">
                                  <p:stCondLst>
                                    <p:cond delay="0"/>
                                  </p:stCondLst>
                                  <p:childTnLst>
                                    <p:set>
                                      <p:cBhvr>
                                        <p:cTn id="156" dur="1" fill="hold">
                                          <p:stCondLst>
                                            <p:cond delay="499"/>
                                          </p:stCondLst>
                                        </p:cTn>
                                        <p:tgtEl>
                                          <p:spTgt spid="119849"/>
                                        </p:tgtEl>
                                        <p:attrNameLst>
                                          <p:attrName>style.visibility</p:attrName>
                                        </p:attrNameLst>
                                      </p:cBhvr>
                                      <p:to>
                                        <p:strVal val="visible"/>
                                      </p:to>
                                    </p:set>
                                  </p:childTnLst>
                                </p:cTn>
                              </p:par>
                            </p:childTnLst>
                          </p:cTn>
                        </p:par>
                      </p:childTnLst>
                    </p:cTn>
                  </p:par>
                  <p:par>
                    <p:cTn id="157" fill="hold" nodeType="clickPar">
                      <p:stCondLst>
                        <p:cond delay="indefinite"/>
                      </p:stCondLst>
                      <p:childTnLst>
                        <p:par>
                          <p:cTn id="158" fill="hold" nodeType="withGroup">
                            <p:stCondLst>
                              <p:cond delay="0"/>
                            </p:stCondLst>
                            <p:childTnLst>
                              <p:par>
                                <p:cTn id="159" presetID="12" presetClass="entr" presetSubtype="4" fill="hold" nodeType="clickEffect">
                                  <p:stCondLst>
                                    <p:cond delay="0"/>
                                  </p:stCondLst>
                                  <p:childTnLst>
                                    <p:set>
                                      <p:cBhvr>
                                        <p:cTn id="160" dur="1" fill="hold">
                                          <p:stCondLst>
                                            <p:cond delay="0"/>
                                          </p:stCondLst>
                                        </p:cTn>
                                        <p:tgtEl>
                                          <p:spTgt spid="119847"/>
                                        </p:tgtEl>
                                        <p:attrNameLst>
                                          <p:attrName>style.visibility</p:attrName>
                                        </p:attrNameLst>
                                      </p:cBhvr>
                                      <p:to>
                                        <p:strVal val="visible"/>
                                      </p:to>
                                    </p:set>
                                    <p:animEffect transition="in" filter="slide(fromBottom)">
                                      <p:cBhvr>
                                        <p:cTn id="161" dur="500"/>
                                        <p:tgtEl>
                                          <p:spTgt spid="119847"/>
                                        </p:tgtEl>
                                      </p:cBhvr>
                                    </p:animEffect>
                                  </p:childTnLst>
                                </p:cTn>
                              </p:par>
                            </p:childTnLst>
                          </p:cTn>
                        </p:par>
                      </p:childTnLst>
                    </p:cTn>
                  </p:par>
                  <p:par>
                    <p:cTn id="162" fill="hold" nodeType="clickPar">
                      <p:stCondLst>
                        <p:cond delay="indefinite"/>
                      </p:stCondLst>
                      <p:childTnLst>
                        <p:par>
                          <p:cTn id="163" fill="hold" nodeType="withGroup">
                            <p:stCondLst>
                              <p:cond delay="0"/>
                            </p:stCondLst>
                            <p:childTnLst>
                              <p:par>
                                <p:cTn id="164" presetID="22" presetClass="entr" presetSubtype="8" fill="hold" nodeType="clickEffect">
                                  <p:stCondLst>
                                    <p:cond delay="0"/>
                                  </p:stCondLst>
                                  <p:childTnLst>
                                    <p:set>
                                      <p:cBhvr>
                                        <p:cTn id="165" dur="1" fill="hold">
                                          <p:stCondLst>
                                            <p:cond delay="0"/>
                                          </p:stCondLst>
                                        </p:cTn>
                                        <p:tgtEl>
                                          <p:spTgt spid="119855"/>
                                        </p:tgtEl>
                                        <p:attrNameLst>
                                          <p:attrName>style.visibility</p:attrName>
                                        </p:attrNameLst>
                                      </p:cBhvr>
                                      <p:to>
                                        <p:strVal val="visible"/>
                                      </p:to>
                                    </p:set>
                                    <p:animEffect transition="in" filter="wipe(left)">
                                      <p:cBhvr>
                                        <p:cTn id="166" dur="500"/>
                                        <p:tgtEl>
                                          <p:spTgt spid="119855"/>
                                        </p:tgtEl>
                                      </p:cBhvr>
                                    </p:animEffect>
                                  </p:childTnLst>
                                </p:cTn>
                              </p:par>
                            </p:childTnLst>
                          </p:cTn>
                        </p:par>
                      </p:childTnLst>
                    </p:cTn>
                  </p:par>
                  <p:par>
                    <p:cTn id="167" fill="hold" nodeType="clickPar">
                      <p:stCondLst>
                        <p:cond delay="indefinite"/>
                      </p:stCondLst>
                      <p:childTnLst>
                        <p:par>
                          <p:cTn id="168" fill="hold" nodeType="withGroup">
                            <p:stCondLst>
                              <p:cond delay="0"/>
                            </p:stCondLst>
                            <p:childTnLst>
                              <p:par>
                                <p:cTn id="169" presetID="12" presetClass="entr" presetSubtype="1" fill="hold" nodeType="clickEffect">
                                  <p:stCondLst>
                                    <p:cond delay="0"/>
                                  </p:stCondLst>
                                  <p:childTnLst>
                                    <p:set>
                                      <p:cBhvr>
                                        <p:cTn id="170" dur="1" fill="hold">
                                          <p:stCondLst>
                                            <p:cond delay="0"/>
                                          </p:stCondLst>
                                        </p:cTn>
                                        <p:tgtEl>
                                          <p:spTgt spid="119873"/>
                                        </p:tgtEl>
                                        <p:attrNameLst>
                                          <p:attrName>style.visibility</p:attrName>
                                        </p:attrNameLst>
                                      </p:cBhvr>
                                      <p:to>
                                        <p:strVal val="visible"/>
                                      </p:to>
                                    </p:set>
                                    <p:animEffect transition="in" filter="slide(fromTop)">
                                      <p:cBhvr>
                                        <p:cTn id="171" dur="500"/>
                                        <p:tgtEl>
                                          <p:spTgt spid="119873"/>
                                        </p:tgtEl>
                                      </p:cBhvr>
                                    </p:animEffect>
                                  </p:childTnLst>
                                </p:cTn>
                              </p:par>
                            </p:childTnLst>
                          </p:cTn>
                        </p:par>
                        <p:par>
                          <p:cTn id="172" fill="hold" nodeType="afterGroup">
                            <p:stCondLst>
                              <p:cond delay="500"/>
                            </p:stCondLst>
                            <p:childTnLst>
                              <p:par>
                                <p:cTn id="173" presetID="22" presetClass="entr" presetSubtype="8" fill="hold" nodeType="afterEffect">
                                  <p:stCondLst>
                                    <p:cond delay="0"/>
                                  </p:stCondLst>
                                  <p:childTnLst>
                                    <p:set>
                                      <p:cBhvr>
                                        <p:cTn id="174" dur="1" fill="hold">
                                          <p:stCondLst>
                                            <p:cond delay="0"/>
                                          </p:stCondLst>
                                        </p:cTn>
                                        <p:tgtEl>
                                          <p:spTgt spid="6"/>
                                        </p:tgtEl>
                                        <p:attrNameLst>
                                          <p:attrName>style.visibility</p:attrName>
                                        </p:attrNameLst>
                                      </p:cBhvr>
                                      <p:to>
                                        <p:strVal val="visible"/>
                                      </p:to>
                                    </p:set>
                                    <p:animEffect transition="in" filter="wipe(left)">
                                      <p:cBhvr>
                                        <p:cTn id="175" dur="500"/>
                                        <p:tgtEl>
                                          <p:spTgt spid="6"/>
                                        </p:tgtEl>
                                      </p:cBhvr>
                                    </p:animEffect>
                                  </p:childTnLst>
                                </p:cTn>
                              </p:par>
                            </p:childTnLst>
                          </p:cTn>
                        </p:par>
                      </p:childTnLst>
                    </p:cTn>
                  </p:par>
                  <p:par>
                    <p:cTn id="176" fill="hold" nodeType="clickPar">
                      <p:stCondLst>
                        <p:cond delay="indefinite"/>
                      </p:stCondLst>
                      <p:childTnLst>
                        <p:par>
                          <p:cTn id="177" fill="hold" nodeType="withGroup">
                            <p:stCondLst>
                              <p:cond delay="0"/>
                            </p:stCondLst>
                            <p:childTnLst>
                              <p:par>
                                <p:cTn id="178" presetID="22" presetClass="entr" presetSubtype="2" fill="hold" nodeType="clickEffect">
                                  <p:stCondLst>
                                    <p:cond delay="0"/>
                                  </p:stCondLst>
                                  <p:childTnLst>
                                    <p:set>
                                      <p:cBhvr>
                                        <p:cTn id="179" dur="1" fill="hold">
                                          <p:stCondLst>
                                            <p:cond delay="0"/>
                                          </p:stCondLst>
                                        </p:cTn>
                                        <p:tgtEl>
                                          <p:spTgt spid="119856"/>
                                        </p:tgtEl>
                                        <p:attrNameLst>
                                          <p:attrName>style.visibility</p:attrName>
                                        </p:attrNameLst>
                                      </p:cBhvr>
                                      <p:to>
                                        <p:strVal val="visible"/>
                                      </p:to>
                                    </p:set>
                                    <p:animEffect transition="in" filter="wipe(right)">
                                      <p:cBhvr>
                                        <p:cTn id="180" dur="500"/>
                                        <p:tgtEl>
                                          <p:spTgt spid="119856"/>
                                        </p:tgtEl>
                                      </p:cBhvr>
                                    </p:animEffect>
                                  </p:childTnLst>
                                </p:cTn>
                              </p:par>
                            </p:childTnLst>
                          </p:cTn>
                        </p:par>
                      </p:childTnLst>
                    </p:cTn>
                  </p:par>
                  <p:par>
                    <p:cTn id="181" fill="hold" nodeType="clickPar">
                      <p:stCondLst>
                        <p:cond delay="indefinite"/>
                      </p:stCondLst>
                      <p:childTnLst>
                        <p:par>
                          <p:cTn id="182" fill="hold" nodeType="withGroup">
                            <p:stCondLst>
                              <p:cond delay="0"/>
                            </p:stCondLst>
                            <p:childTnLst>
                              <p:par>
                                <p:cTn id="183" presetID="22" presetClass="entr" presetSubtype="8" fill="hold" grpId="0" nodeType="clickEffect">
                                  <p:stCondLst>
                                    <p:cond delay="0"/>
                                  </p:stCondLst>
                                  <p:childTnLst>
                                    <p:set>
                                      <p:cBhvr>
                                        <p:cTn id="184" dur="1" fill="hold">
                                          <p:stCondLst>
                                            <p:cond delay="0"/>
                                          </p:stCondLst>
                                        </p:cTn>
                                        <p:tgtEl>
                                          <p:spTgt spid="119874"/>
                                        </p:tgtEl>
                                        <p:attrNameLst>
                                          <p:attrName>style.visibility</p:attrName>
                                        </p:attrNameLst>
                                      </p:cBhvr>
                                      <p:to>
                                        <p:strVal val="visible"/>
                                      </p:to>
                                    </p:set>
                                    <p:animEffect transition="in" filter="wipe(left)">
                                      <p:cBhvr>
                                        <p:cTn id="185" dur="1000"/>
                                        <p:tgtEl>
                                          <p:spTgt spid="119874"/>
                                        </p:tgtEl>
                                      </p:cBhvr>
                                    </p:animEffect>
                                  </p:childTnLst>
                                </p:cTn>
                              </p:par>
                            </p:childTnLst>
                          </p:cTn>
                        </p:par>
                      </p:childTnLst>
                    </p:cTn>
                  </p:par>
                  <p:par>
                    <p:cTn id="186" fill="hold" nodeType="clickPar">
                      <p:stCondLst>
                        <p:cond delay="indefinite"/>
                      </p:stCondLst>
                      <p:childTnLst>
                        <p:par>
                          <p:cTn id="187" fill="hold" nodeType="withGroup">
                            <p:stCondLst>
                              <p:cond delay="0"/>
                            </p:stCondLst>
                            <p:childTnLst>
                              <p:par>
                                <p:cTn id="188" presetID="22" presetClass="entr" presetSubtype="8" fill="hold" grpId="0" nodeType="clickEffect">
                                  <p:stCondLst>
                                    <p:cond delay="0"/>
                                  </p:stCondLst>
                                  <p:childTnLst>
                                    <p:set>
                                      <p:cBhvr>
                                        <p:cTn id="189" dur="1" fill="hold">
                                          <p:stCondLst>
                                            <p:cond delay="0"/>
                                          </p:stCondLst>
                                        </p:cTn>
                                        <p:tgtEl>
                                          <p:spTgt spid="119876"/>
                                        </p:tgtEl>
                                        <p:attrNameLst>
                                          <p:attrName>style.visibility</p:attrName>
                                        </p:attrNameLst>
                                      </p:cBhvr>
                                      <p:to>
                                        <p:strVal val="visible"/>
                                      </p:to>
                                    </p:set>
                                    <p:animEffect transition="in" filter="wipe(left)">
                                      <p:cBhvr>
                                        <p:cTn id="190" dur="1000"/>
                                        <p:tgtEl>
                                          <p:spTgt spid="119876"/>
                                        </p:tgtEl>
                                      </p:cBhvr>
                                    </p:animEffect>
                                  </p:childTnLst>
                                </p:cTn>
                              </p:par>
                            </p:childTnLst>
                          </p:cTn>
                        </p:par>
                        <p:par>
                          <p:cTn id="191" fill="hold" nodeType="afterGroup">
                            <p:stCondLst>
                              <p:cond delay="1000"/>
                            </p:stCondLst>
                            <p:childTnLst>
                              <p:par>
                                <p:cTn id="192" presetID="22" presetClass="entr" presetSubtype="8" fill="hold" grpId="0" nodeType="afterEffect">
                                  <p:stCondLst>
                                    <p:cond delay="0"/>
                                  </p:stCondLst>
                                  <p:childTnLst>
                                    <p:set>
                                      <p:cBhvr>
                                        <p:cTn id="193" dur="1" fill="hold">
                                          <p:stCondLst>
                                            <p:cond delay="0"/>
                                          </p:stCondLst>
                                        </p:cTn>
                                        <p:tgtEl>
                                          <p:spTgt spid="119877"/>
                                        </p:tgtEl>
                                        <p:attrNameLst>
                                          <p:attrName>style.visibility</p:attrName>
                                        </p:attrNameLst>
                                      </p:cBhvr>
                                      <p:to>
                                        <p:strVal val="visible"/>
                                      </p:to>
                                    </p:set>
                                    <p:animEffect transition="in" filter="wipe(left)">
                                      <p:cBhvr>
                                        <p:cTn id="194" dur="1000"/>
                                        <p:tgtEl>
                                          <p:spTgt spid="119877"/>
                                        </p:tgtEl>
                                      </p:cBhvr>
                                    </p:animEffect>
                                  </p:childTnLst>
                                </p:cTn>
                              </p:par>
                            </p:childTnLst>
                          </p:cTn>
                        </p:par>
                      </p:childTnLst>
                    </p:cTn>
                  </p:par>
                  <p:par>
                    <p:cTn id="195" fill="hold" nodeType="clickPar">
                      <p:stCondLst>
                        <p:cond delay="indefinite"/>
                      </p:stCondLst>
                      <p:childTnLst>
                        <p:par>
                          <p:cTn id="196" fill="hold" nodeType="withGroup">
                            <p:stCondLst>
                              <p:cond delay="0"/>
                            </p:stCondLst>
                            <p:childTnLst>
                              <p:par>
                                <p:cTn id="197" presetID="22" presetClass="entr" presetSubtype="8" fill="hold" grpId="0" nodeType="clickEffect">
                                  <p:stCondLst>
                                    <p:cond delay="0"/>
                                  </p:stCondLst>
                                  <p:childTnLst>
                                    <p:set>
                                      <p:cBhvr>
                                        <p:cTn id="198" dur="1" fill="hold">
                                          <p:stCondLst>
                                            <p:cond delay="0"/>
                                          </p:stCondLst>
                                        </p:cTn>
                                        <p:tgtEl>
                                          <p:spTgt spid="119878"/>
                                        </p:tgtEl>
                                        <p:attrNameLst>
                                          <p:attrName>style.visibility</p:attrName>
                                        </p:attrNameLst>
                                      </p:cBhvr>
                                      <p:to>
                                        <p:strVal val="visible"/>
                                      </p:to>
                                    </p:set>
                                    <p:animEffect transition="in" filter="wipe(left)">
                                      <p:cBhvr>
                                        <p:cTn id="199" dur="1000"/>
                                        <p:tgtEl>
                                          <p:spTgt spid="119878"/>
                                        </p:tgtEl>
                                      </p:cBhvr>
                                    </p:animEffect>
                                  </p:childTnLst>
                                </p:cTn>
                              </p:par>
                            </p:childTnLst>
                          </p:cTn>
                        </p:par>
                      </p:childTnLst>
                    </p:cTn>
                  </p:par>
                  <p:par>
                    <p:cTn id="200" fill="hold" nodeType="clickPar">
                      <p:stCondLst>
                        <p:cond delay="indefinite"/>
                      </p:stCondLst>
                      <p:childTnLst>
                        <p:par>
                          <p:cTn id="201" fill="hold" nodeType="withGroup">
                            <p:stCondLst>
                              <p:cond delay="0"/>
                            </p:stCondLst>
                            <p:childTnLst>
                              <p:par>
                                <p:cTn id="202" presetID="22" presetClass="entr" presetSubtype="8" fill="hold" grpId="0" nodeType="clickEffect">
                                  <p:stCondLst>
                                    <p:cond delay="0"/>
                                  </p:stCondLst>
                                  <p:childTnLst>
                                    <p:set>
                                      <p:cBhvr>
                                        <p:cTn id="203" dur="1" fill="hold">
                                          <p:stCondLst>
                                            <p:cond delay="0"/>
                                          </p:stCondLst>
                                        </p:cTn>
                                        <p:tgtEl>
                                          <p:spTgt spid="119879"/>
                                        </p:tgtEl>
                                        <p:attrNameLst>
                                          <p:attrName>style.visibility</p:attrName>
                                        </p:attrNameLst>
                                      </p:cBhvr>
                                      <p:to>
                                        <p:strVal val="visible"/>
                                      </p:to>
                                    </p:set>
                                    <p:animEffect transition="in" filter="wipe(left)">
                                      <p:cBhvr>
                                        <p:cTn id="204" dur="500"/>
                                        <p:tgtEl>
                                          <p:spTgt spid="1198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810" grpId="0" autoUpdateAnimBg="0"/>
      <p:bldP spid="119811" grpId="0" autoUpdateAnimBg="0"/>
      <p:bldP spid="119814" grpId="0" animBg="1"/>
      <p:bldP spid="119815" grpId="0" autoUpdateAnimBg="0"/>
      <p:bldP spid="119820" grpId="0" animBg="1"/>
      <p:bldP spid="119821" grpId="0" autoUpdateAnimBg="0"/>
      <p:bldP spid="119822" grpId="0" autoUpdateAnimBg="0"/>
      <p:bldP spid="119826" grpId="0" autoUpdateAnimBg="0"/>
      <p:bldP spid="119842" grpId="0" autoUpdateAnimBg="0"/>
      <p:bldP spid="119843" grpId="0" autoUpdateAnimBg="0"/>
      <p:bldP spid="119848" grpId="0" animBg="1"/>
      <p:bldP spid="119849" grpId="0" autoUpdateAnimBg="0"/>
      <p:bldP spid="119850" grpId="0" autoUpdateAnimBg="0"/>
      <p:bldP spid="119854" grpId="0" autoUpdateAnimBg="0"/>
      <p:bldP spid="119859" grpId="0" autoUpdateAnimBg="0"/>
      <p:bldP spid="119874" grpId="0" autoUpdateAnimBg="0"/>
      <p:bldP spid="119875" grpId="0" autoUpdateAnimBg="0"/>
      <p:bldP spid="119876" grpId="0" autoUpdateAnimBg="0"/>
      <p:bldP spid="119877" grpId="0" autoUpdateAnimBg="0"/>
      <p:bldP spid="119878" grpId="0" autoUpdateAnimBg="0"/>
      <p:bldP spid="119879"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0834" name="Picture 2" descr="增益曲线">
            <a:extLst>
              <a:ext uri="{FF2B5EF4-FFF2-40B4-BE49-F238E27FC236}">
                <a16:creationId xmlns:a16="http://schemas.microsoft.com/office/drawing/2014/main" id="{E7545D62-0896-4C79-B480-6AB878F9144F}"/>
              </a:ext>
            </a:extLst>
          </p:cNvPr>
          <p:cNvPicPr>
            <a:picLocks noChangeAspect="1" noChangeArrowheads="1"/>
          </p:cNvPicPr>
          <p:nvPr/>
        </p:nvPicPr>
        <p:blipFill>
          <a:blip r:embed="rId3">
            <a:clrChange>
              <a:clrFrom>
                <a:srgbClr val="006599"/>
              </a:clrFrom>
              <a:clrTo>
                <a:srgbClr val="006599">
                  <a:alpha val="0"/>
                </a:srgbClr>
              </a:clrTo>
            </a:clrChange>
            <a:extLst>
              <a:ext uri="{28A0092B-C50C-407E-A947-70E740481C1C}">
                <a14:useLocalDpi xmlns:a14="http://schemas.microsoft.com/office/drawing/2010/main" val="0"/>
              </a:ext>
            </a:extLst>
          </a:blip>
          <a:srcRect t="1593" r="4083"/>
          <a:stretch>
            <a:fillRect/>
          </a:stretch>
        </p:blipFill>
        <p:spPr bwMode="auto">
          <a:xfrm>
            <a:off x="5214938" y="2000250"/>
            <a:ext cx="3286125" cy="127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20835" name="Object 3">
            <a:extLst>
              <a:ext uri="{FF2B5EF4-FFF2-40B4-BE49-F238E27FC236}">
                <a16:creationId xmlns:a16="http://schemas.microsoft.com/office/drawing/2014/main" id="{D51A3177-F77A-4FED-B994-0E50860D1D3A}"/>
              </a:ext>
            </a:extLst>
          </p:cNvPr>
          <p:cNvGraphicFramePr>
            <a:graphicFrameLocks noChangeAspect="1"/>
          </p:cNvGraphicFramePr>
          <p:nvPr>
            <p:extLst>
              <p:ext uri="{D42A27DB-BD31-4B8C-83A1-F6EECF244321}">
                <p14:modId xmlns:p14="http://schemas.microsoft.com/office/powerpoint/2010/main" val="1375820259"/>
              </p:ext>
            </p:extLst>
          </p:nvPr>
        </p:nvGraphicFramePr>
        <p:xfrm>
          <a:off x="857250" y="322808"/>
          <a:ext cx="1289050" cy="357188"/>
        </p:xfrm>
        <a:graphic>
          <a:graphicData uri="http://schemas.openxmlformats.org/presentationml/2006/ole">
            <mc:AlternateContent xmlns:mc="http://schemas.openxmlformats.org/markup-compatibility/2006">
              <mc:Choice xmlns:v="urn:schemas-microsoft-com:vml" Requires="v">
                <p:oleObj spid="_x0000_s567418" name="公式" r:id="rId4" imgW="601803" imgH="144654" progId="Equation.3">
                  <p:embed/>
                </p:oleObj>
              </mc:Choice>
              <mc:Fallback>
                <p:oleObj name="公式" r:id="rId4" imgW="601803" imgH="144654" progId="Equation.3">
                  <p:embed/>
                  <p:pic>
                    <p:nvPicPr>
                      <p:cNvPr id="120835" name="Object 3">
                        <a:extLst>
                          <a:ext uri="{FF2B5EF4-FFF2-40B4-BE49-F238E27FC236}">
                            <a16:creationId xmlns:a16="http://schemas.microsoft.com/office/drawing/2014/main" id="{D51A3177-F77A-4FED-B994-0E50860D1D3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57250" y="322808"/>
                        <a:ext cx="1289050"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0836" name="Rectangle 4">
            <a:extLst>
              <a:ext uri="{FF2B5EF4-FFF2-40B4-BE49-F238E27FC236}">
                <a16:creationId xmlns:a16="http://schemas.microsoft.com/office/drawing/2014/main" id="{04C793D8-0AA2-403C-A577-D4668B54005D}"/>
              </a:ext>
            </a:extLst>
          </p:cNvPr>
          <p:cNvSpPr>
            <a:spLocks noChangeArrowheads="1"/>
          </p:cNvSpPr>
          <p:nvPr/>
        </p:nvSpPr>
        <p:spPr bwMode="auto">
          <a:xfrm>
            <a:off x="2357438" y="260648"/>
            <a:ext cx="2403475" cy="457200"/>
          </a:xfrm>
          <a:prstGeom prst="rect">
            <a:avLst/>
          </a:prstGeom>
          <a:noFill/>
          <a:ln w="9525">
            <a:noFill/>
            <a:miter lim="800000"/>
            <a:headEnd/>
            <a:tailEnd/>
          </a:ln>
        </p:spPr>
        <p:txBody>
          <a:bodyPr>
            <a:spAutoFit/>
          </a:bodyPr>
          <a:lstStyle/>
          <a:p>
            <a:pPr eaLnBrk="1" hangingPunct="1">
              <a:defRPr/>
            </a:pPr>
            <a:r>
              <a:rPr lang="en-US" altLang="zh-CN" i="1" dirty="0">
                <a:solidFill>
                  <a:srgbClr val="00FFFF"/>
                </a:solidFill>
                <a:latin typeface="+mn-lt"/>
                <a:ea typeface="+mn-ea"/>
              </a:rPr>
              <a:t>G</a:t>
            </a:r>
            <a:r>
              <a:rPr lang="en-US" altLang="zh-CN" i="1" dirty="0">
                <a:solidFill>
                  <a:schemeClr val="bg1"/>
                </a:solidFill>
                <a:latin typeface="+mn-lt"/>
                <a:ea typeface="+mn-ea"/>
              </a:rPr>
              <a:t> </a:t>
            </a:r>
            <a:r>
              <a:rPr lang="en-US" altLang="zh-CN" dirty="0">
                <a:solidFill>
                  <a:schemeClr val="bg1"/>
                </a:solidFill>
                <a:latin typeface="+mn-ea"/>
                <a:ea typeface="+mn-ea"/>
              </a:rPr>
              <a:t>--</a:t>
            </a:r>
            <a:r>
              <a:rPr lang="zh-CN" altLang="en-US" dirty="0">
                <a:solidFill>
                  <a:schemeClr val="bg1"/>
                </a:solidFill>
                <a:latin typeface="+mn-ea"/>
                <a:ea typeface="+mn-ea"/>
              </a:rPr>
              <a:t>增益系数 </a:t>
            </a:r>
          </a:p>
        </p:txBody>
      </p:sp>
      <p:sp>
        <p:nvSpPr>
          <p:cNvPr id="31749" name="Rectangle 5">
            <a:extLst>
              <a:ext uri="{FF2B5EF4-FFF2-40B4-BE49-F238E27FC236}">
                <a16:creationId xmlns:a16="http://schemas.microsoft.com/office/drawing/2014/main" id="{0571A509-652D-483C-8A59-8AF1EF2D597C}"/>
              </a:ext>
            </a:extLst>
          </p:cNvPr>
          <p:cNvSpPr>
            <a:spLocks noChangeArrowheads="1"/>
          </p:cNvSpPr>
          <p:nvPr/>
        </p:nvSpPr>
        <p:spPr bwMode="auto">
          <a:xfrm>
            <a:off x="6934200" y="120650"/>
            <a:ext cx="1752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a:solidFill>
                <a:srgbClr val="FFCC66"/>
              </a:solidFill>
              <a:ea typeface="仿宋_GB2312" pitchFamily="49" charset="-122"/>
            </a:endParaRPr>
          </a:p>
        </p:txBody>
      </p:sp>
      <p:sp>
        <p:nvSpPr>
          <p:cNvPr id="120838" name="Rectangle 6">
            <a:extLst>
              <a:ext uri="{FF2B5EF4-FFF2-40B4-BE49-F238E27FC236}">
                <a16:creationId xmlns:a16="http://schemas.microsoft.com/office/drawing/2014/main" id="{0D5AA16F-1A54-4AF4-8FF8-9657E60B373F}"/>
              </a:ext>
            </a:extLst>
          </p:cNvPr>
          <p:cNvSpPr>
            <a:spLocks noChangeArrowheads="1"/>
          </p:cNvSpPr>
          <p:nvPr/>
        </p:nvSpPr>
        <p:spPr bwMode="auto">
          <a:xfrm>
            <a:off x="4953000" y="44450"/>
            <a:ext cx="1828800"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52352" bIns="76176">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zh-CN">
              <a:solidFill>
                <a:srgbClr val="FFCC66"/>
              </a:solidFill>
              <a:latin typeface="仿宋_GB2312" pitchFamily="49" charset="-122"/>
              <a:ea typeface="仿宋_GB2312" pitchFamily="49" charset="-122"/>
            </a:endParaRPr>
          </a:p>
        </p:txBody>
      </p:sp>
      <p:sp>
        <p:nvSpPr>
          <p:cNvPr id="120839" name="Text Box 7">
            <a:extLst>
              <a:ext uri="{FF2B5EF4-FFF2-40B4-BE49-F238E27FC236}">
                <a16:creationId xmlns:a16="http://schemas.microsoft.com/office/drawing/2014/main" id="{8FA25CC1-6071-49A7-918B-93A21339F983}"/>
              </a:ext>
            </a:extLst>
          </p:cNvPr>
          <p:cNvSpPr txBox="1">
            <a:spLocks noChangeArrowheads="1"/>
          </p:cNvSpPr>
          <p:nvPr/>
        </p:nvSpPr>
        <p:spPr bwMode="auto">
          <a:xfrm>
            <a:off x="8307388" y="317500"/>
            <a:ext cx="455612"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a:solidFill>
                  <a:srgbClr val="FFFF66"/>
                </a:solidFill>
                <a:ea typeface="仿宋_GB2312" pitchFamily="49" charset="-122"/>
              </a:rPr>
              <a:t>增益介质</a:t>
            </a:r>
          </a:p>
        </p:txBody>
      </p:sp>
      <p:sp>
        <p:nvSpPr>
          <p:cNvPr id="120840" name="Rectangle 8">
            <a:extLst>
              <a:ext uri="{FF2B5EF4-FFF2-40B4-BE49-F238E27FC236}">
                <a16:creationId xmlns:a16="http://schemas.microsoft.com/office/drawing/2014/main" id="{E0F6C7D8-6EE3-4C9B-B03B-9834A046D8B3}"/>
              </a:ext>
            </a:extLst>
          </p:cNvPr>
          <p:cNvSpPr>
            <a:spLocks noChangeArrowheads="1"/>
          </p:cNvSpPr>
          <p:nvPr/>
        </p:nvSpPr>
        <p:spPr bwMode="auto">
          <a:xfrm>
            <a:off x="4648200" y="349250"/>
            <a:ext cx="3673475" cy="1295400"/>
          </a:xfrm>
          <a:prstGeom prst="rect">
            <a:avLst/>
          </a:prstGeom>
          <a:solidFill>
            <a:srgbClr val="339966">
              <a:alpha val="50195"/>
            </a:srgbClr>
          </a:solidFill>
          <a:ln w="9525">
            <a:solidFill>
              <a:schemeClr val="tx1"/>
            </a:solidFill>
            <a:miter lim="800000"/>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grpSp>
        <p:nvGrpSpPr>
          <p:cNvPr id="2" name="Group 9">
            <a:extLst>
              <a:ext uri="{FF2B5EF4-FFF2-40B4-BE49-F238E27FC236}">
                <a16:creationId xmlns:a16="http://schemas.microsoft.com/office/drawing/2014/main" id="{CEE0E301-2F50-4BE4-A7A3-9384A3047B4F}"/>
              </a:ext>
            </a:extLst>
          </p:cNvPr>
          <p:cNvGrpSpPr>
            <a:grpSpLocks/>
          </p:cNvGrpSpPr>
          <p:nvPr/>
        </p:nvGrpSpPr>
        <p:grpSpPr bwMode="auto">
          <a:xfrm>
            <a:off x="6072188" y="542925"/>
            <a:ext cx="1700212" cy="477838"/>
            <a:chOff x="3921" y="332"/>
            <a:chExt cx="1071" cy="301"/>
          </a:xfrm>
        </p:grpSpPr>
        <p:sp>
          <p:nvSpPr>
            <p:cNvPr id="31810" name="Text Box 10">
              <a:extLst>
                <a:ext uri="{FF2B5EF4-FFF2-40B4-BE49-F238E27FC236}">
                  <a16:creationId xmlns:a16="http://schemas.microsoft.com/office/drawing/2014/main" id="{0E14DE04-6D36-4E53-86EE-EB42E1626B25}"/>
                </a:ext>
              </a:extLst>
            </p:cNvPr>
            <p:cNvSpPr txBox="1">
              <a:spLocks noChangeArrowheads="1"/>
            </p:cNvSpPr>
            <p:nvPr/>
          </p:nvSpPr>
          <p:spPr bwMode="auto">
            <a:xfrm>
              <a:off x="3921" y="332"/>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i="1">
                  <a:solidFill>
                    <a:schemeClr val="bg1"/>
                  </a:solidFill>
                  <a:ea typeface="仿宋_GB2312" pitchFamily="49" charset="-122"/>
                </a:rPr>
                <a:t>I</a:t>
              </a:r>
            </a:p>
          </p:txBody>
        </p:sp>
        <p:sp>
          <p:nvSpPr>
            <p:cNvPr id="31811" name="Text Box 11">
              <a:extLst>
                <a:ext uri="{FF2B5EF4-FFF2-40B4-BE49-F238E27FC236}">
                  <a16:creationId xmlns:a16="http://schemas.microsoft.com/office/drawing/2014/main" id="{6770AEB9-3AB6-46EC-A9A9-7EC258E168A7}"/>
                </a:ext>
              </a:extLst>
            </p:cNvPr>
            <p:cNvSpPr txBox="1">
              <a:spLocks noChangeArrowheads="1"/>
            </p:cNvSpPr>
            <p:nvPr/>
          </p:nvSpPr>
          <p:spPr bwMode="auto">
            <a:xfrm>
              <a:off x="4320" y="345"/>
              <a:ext cx="6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i="1">
                  <a:solidFill>
                    <a:schemeClr val="bg1"/>
                  </a:solidFill>
                  <a:ea typeface="仿宋_GB2312" pitchFamily="49" charset="-122"/>
                </a:rPr>
                <a:t>I</a:t>
              </a:r>
              <a:r>
                <a:rPr lang="en-US" altLang="zh-CN">
                  <a:solidFill>
                    <a:schemeClr val="bg1"/>
                  </a:solidFill>
                  <a:ea typeface="仿宋_GB2312" pitchFamily="49" charset="-122"/>
                </a:rPr>
                <a:t>+d</a:t>
              </a:r>
              <a:r>
                <a:rPr lang="en-US" altLang="zh-CN" i="1">
                  <a:solidFill>
                    <a:schemeClr val="bg1"/>
                  </a:solidFill>
                  <a:ea typeface="仿宋_GB2312" pitchFamily="49" charset="-122"/>
                </a:rPr>
                <a:t>I</a:t>
              </a:r>
            </a:p>
          </p:txBody>
        </p:sp>
      </p:grpSp>
      <p:sp>
        <p:nvSpPr>
          <p:cNvPr id="120844" name="AutoShape 12">
            <a:extLst>
              <a:ext uri="{FF2B5EF4-FFF2-40B4-BE49-F238E27FC236}">
                <a16:creationId xmlns:a16="http://schemas.microsoft.com/office/drawing/2014/main" id="{F16AC7A1-855A-433F-B226-AE4FA9199DED}"/>
              </a:ext>
            </a:extLst>
          </p:cNvPr>
          <p:cNvSpPr>
            <a:spLocks noChangeArrowheads="1"/>
          </p:cNvSpPr>
          <p:nvPr/>
        </p:nvSpPr>
        <p:spPr bwMode="auto">
          <a:xfrm>
            <a:off x="4800600" y="958850"/>
            <a:ext cx="3352800" cy="304800"/>
          </a:xfrm>
          <a:prstGeom prst="rightArrow">
            <a:avLst>
              <a:gd name="adj1" fmla="val 50694"/>
              <a:gd name="adj2" fmla="val 118912"/>
            </a:avLst>
          </a:prstGeom>
          <a:gradFill rotWithShape="0">
            <a:gsLst>
              <a:gs pos="0">
                <a:srgbClr val="999900"/>
              </a:gs>
              <a:gs pos="100000">
                <a:srgbClr val="FFFF0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grpSp>
        <p:nvGrpSpPr>
          <p:cNvPr id="3" name="Group 13">
            <a:extLst>
              <a:ext uri="{FF2B5EF4-FFF2-40B4-BE49-F238E27FC236}">
                <a16:creationId xmlns:a16="http://schemas.microsoft.com/office/drawing/2014/main" id="{1DA36204-2855-4515-8BDF-E1E34CFC7A70}"/>
              </a:ext>
            </a:extLst>
          </p:cNvPr>
          <p:cNvGrpSpPr>
            <a:grpSpLocks/>
          </p:cNvGrpSpPr>
          <p:nvPr/>
        </p:nvGrpSpPr>
        <p:grpSpPr bwMode="auto">
          <a:xfrm>
            <a:off x="6172200" y="1428750"/>
            <a:ext cx="1328738" cy="2500313"/>
            <a:chOff x="3984" y="1056"/>
            <a:chExt cx="837" cy="1575"/>
          </a:xfrm>
        </p:grpSpPr>
        <p:sp>
          <p:nvSpPr>
            <p:cNvPr id="31803" name="Text Box 14">
              <a:extLst>
                <a:ext uri="{FF2B5EF4-FFF2-40B4-BE49-F238E27FC236}">
                  <a16:creationId xmlns:a16="http://schemas.microsoft.com/office/drawing/2014/main" id="{82962846-CD0C-4C1A-9050-056D624CE982}"/>
                </a:ext>
              </a:extLst>
            </p:cNvPr>
            <p:cNvSpPr txBox="1">
              <a:spLocks noChangeArrowheads="1"/>
            </p:cNvSpPr>
            <p:nvPr/>
          </p:nvSpPr>
          <p:spPr bwMode="auto">
            <a:xfrm>
              <a:off x="4032" y="2343"/>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i="1">
                  <a:solidFill>
                    <a:schemeClr val="bg1"/>
                  </a:solidFill>
                  <a:ea typeface="仿宋_GB2312" pitchFamily="49" charset="-122"/>
                </a:rPr>
                <a:t>z</a:t>
              </a:r>
            </a:p>
          </p:txBody>
        </p:sp>
        <p:sp>
          <p:nvSpPr>
            <p:cNvPr id="31804" name="Line 15">
              <a:extLst>
                <a:ext uri="{FF2B5EF4-FFF2-40B4-BE49-F238E27FC236}">
                  <a16:creationId xmlns:a16="http://schemas.microsoft.com/office/drawing/2014/main" id="{ABF0E0D3-7392-4CB8-91FF-0D0A6323E645}"/>
                </a:ext>
              </a:extLst>
            </p:cNvPr>
            <p:cNvSpPr>
              <a:spLocks noChangeShapeType="1"/>
            </p:cNvSpPr>
            <p:nvPr/>
          </p:nvSpPr>
          <p:spPr bwMode="auto">
            <a:xfrm>
              <a:off x="4176" y="1056"/>
              <a:ext cx="0" cy="1335"/>
            </a:xfrm>
            <a:prstGeom prst="line">
              <a:avLst/>
            </a:prstGeom>
            <a:noFill/>
            <a:ln w="317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805" name="Line 16">
              <a:extLst>
                <a:ext uri="{FF2B5EF4-FFF2-40B4-BE49-F238E27FC236}">
                  <a16:creationId xmlns:a16="http://schemas.microsoft.com/office/drawing/2014/main" id="{7855C4FD-F80F-4726-A352-1E76D51F470F}"/>
                </a:ext>
              </a:extLst>
            </p:cNvPr>
            <p:cNvSpPr>
              <a:spLocks noChangeShapeType="1"/>
            </p:cNvSpPr>
            <p:nvPr/>
          </p:nvSpPr>
          <p:spPr bwMode="auto">
            <a:xfrm>
              <a:off x="4368" y="1056"/>
              <a:ext cx="0" cy="1335"/>
            </a:xfrm>
            <a:prstGeom prst="line">
              <a:avLst/>
            </a:prstGeom>
            <a:noFill/>
            <a:ln w="317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31806" name="Group 17">
              <a:extLst>
                <a:ext uri="{FF2B5EF4-FFF2-40B4-BE49-F238E27FC236}">
                  <a16:creationId xmlns:a16="http://schemas.microsoft.com/office/drawing/2014/main" id="{3381805D-A3B1-48D5-BB88-E0B1AA62F25A}"/>
                </a:ext>
              </a:extLst>
            </p:cNvPr>
            <p:cNvGrpSpPr>
              <a:grpSpLocks/>
            </p:cNvGrpSpPr>
            <p:nvPr/>
          </p:nvGrpSpPr>
          <p:grpSpPr bwMode="auto">
            <a:xfrm>
              <a:off x="3984" y="2090"/>
              <a:ext cx="837" cy="288"/>
              <a:chOff x="3984" y="2090"/>
              <a:chExt cx="837" cy="288"/>
            </a:xfrm>
          </p:grpSpPr>
          <p:sp>
            <p:nvSpPr>
              <p:cNvPr id="31807" name="Line 18">
                <a:extLst>
                  <a:ext uri="{FF2B5EF4-FFF2-40B4-BE49-F238E27FC236}">
                    <a16:creationId xmlns:a16="http://schemas.microsoft.com/office/drawing/2014/main" id="{29FD044B-B2BC-478F-9C46-120320E7110C}"/>
                  </a:ext>
                </a:extLst>
              </p:cNvPr>
              <p:cNvSpPr>
                <a:spLocks noChangeShapeType="1"/>
              </p:cNvSpPr>
              <p:nvPr/>
            </p:nvSpPr>
            <p:spPr bwMode="auto">
              <a:xfrm>
                <a:off x="3984" y="2247"/>
                <a:ext cx="192" cy="0"/>
              </a:xfrm>
              <a:prstGeom prst="line">
                <a:avLst/>
              </a:prstGeom>
              <a:noFill/>
              <a:ln w="9525">
                <a:solidFill>
                  <a:schemeClr val="folHlink"/>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808" name="Line 19">
                <a:extLst>
                  <a:ext uri="{FF2B5EF4-FFF2-40B4-BE49-F238E27FC236}">
                    <a16:creationId xmlns:a16="http://schemas.microsoft.com/office/drawing/2014/main" id="{259A3AC7-7066-448E-AA41-C66590B08EF8}"/>
                  </a:ext>
                </a:extLst>
              </p:cNvPr>
              <p:cNvSpPr>
                <a:spLocks noChangeShapeType="1"/>
              </p:cNvSpPr>
              <p:nvPr/>
            </p:nvSpPr>
            <p:spPr bwMode="auto">
              <a:xfrm>
                <a:off x="4368" y="2247"/>
                <a:ext cx="144" cy="0"/>
              </a:xfrm>
              <a:prstGeom prst="line">
                <a:avLst/>
              </a:prstGeom>
              <a:noFill/>
              <a:ln w="9525">
                <a:solidFill>
                  <a:schemeClr val="folHlink"/>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31809" name="Text Box 20">
                <a:extLst>
                  <a:ext uri="{FF2B5EF4-FFF2-40B4-BE49-F238E27FC236}">
                    <a16:creationId xmlns:a16="http://schemas.microsoft.com/office/drawing/2014/main" id="{181776AF-EF87-4D96-9696-1FDB3F707187}"/>
                  </a:ext>
                </a:extLst>
              </p:cNvPr>
              <p:cNvSpPr txBox="1">
                <a:spLocks noChangeArrowheads="1"/>
              </p:cNvSpPr>
              <p:nvPr/>
            </p:nvSpPr>
            <p:spPr bwMode="auto">
              <a:xfrm>
                <a:off x="4437" y="2090"/>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a:solidFill>
                      <a:schemeClr val="bg1"/>
                    </a:solidFill>
                    <a:latin typeface="仿宋_GB2312" pitchFamily="49" charset="-122"/>
                    <a:ea typeface="仿宋_GB2312" pitchFamily="49" charset="-122"/>
                  </a:rPr>
                  <a:t>d</a:t>
                </a:r>
                <a:r>
                  <a:rPr lang="en-US" altLang="zh-CN" i="1">
                    <a:solidFill>
                      <a:schemeClr val="bg1"/>
                    </a:solidFill>
                    <a:ea typeface="仿宋_GB2312" pitchFamily="49" charset="-122"/>
                  </a:rPr>
                  <a:t>z</a:t>
                </a:r>
              </a:p>
            </p:txBody>
          </p:sp>
        </p:grpSp>
      </p:grpSp>
      <p:sp>
        <p:nvSpPr>
          <p:cNvPr id="120853" name="Text Box 21">
            <a:extLst>
              <a:ext uri="{FF2B5EF4-FFF2-40B4-BE49-F238E27FC236}">
                <a16:creationId xmlns:a16="http://schemas.microsoft.com/office/drawing/2014/main" id="{9B43559F-FD53-47F4-8918-838AE1560F80}"/>
              </a:ext>
            </a:extLst>
          </p:cNvPr>
          <p:cNvSpPr txBox="1">
            <a:spLocks noChangeArrowheads="1"/>
          </p:cNvSpPr>
          <p:nvPr/>
        </p:nvSpPr>
        <p:spPr bwMode="auto">
          <a:xfrm>
            <a:off x="642938" y="764704"/>
            <a:ext cx="38989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dirty="0">
                <a:solidFill>
                  <a:schemeClr val="bg1"/>
                </a:solidFill>
                <a:latin typeface="宋体" panose="02010600030101010101" pitchFamily="2" charset="-122"/>
              </a:rPr>
              <a:t>经过增益介质</a:t>
            </a:r>
            <a:r>
              <a:rPr lang="en-US" altLang="zh-CN" dirty="0">
                <a:solidFill>
                  <a:schemeClr val="bg1"/>
                </a:solidFill>
                <a:latin typeface="宋体" panose="02010600030101010101" pitchFamily="2" charset="-122"/>
              </a:rPr>
              <a:t>, </a:t>
            </a:r>
            <a:r>
              <a:rPr lang="zh-CN" altLang="en-US" dirty="0">
                <a:solidFill>
                  <a:schemeClr val="bg1"/>
                </a:solidFill>
                <a:latin typeface="宋体" panose="02010600030101010101" pitchFamily="2" charset="-122"/>
              </a:rPr>
              <a:t>光强增量为</a:t>
            </a:r>
          </a:p>
        </p:txBody>
      </p:sp>
      <p:graphicFrame>
        <p:nvGraphicFramePr>
          <p:cNvPr id="120854" name="Object 22">
            <a:extLst>
              <a:ext uri="{FF2B5EF4-FFF2-40B4-BE49-F238E27FC236}">
                <a16:creationId xmlns:a16="http://schemas.microsoft.com/office/drawing/2014/main" id="{D604CC1F-0C83-484E-9AC8-66CF7F4B4255}"/>
              </a:ext>
            </a:extLst>
          </p:cNvPr>
          <p:cNvGraphicFramePr>
            <a:graphicFrameLocks noChangeAspect="1"/>
          </p:cNvGraphicFramePr>
          <p:nvPr/>
        </p:nvGraphicFramePr>
        <p:xfrm>
          <a:off x="1592263" y="2232025"/>
          <a:ext cx="1265237" cy="482600"/>
        </p:xfrm>
        <a:graphic>
          <a:graphicData uri="http://schemas.openxmlformats.org/presentationml/2006/ole">
            <mc:AlternateContent xmlns:mc="http://schemas.openxmlformats.org/markup-compatibility/2006">
              <mc:Choice xmlns:v="urn:schemas-microsoft-com:vml" Requires="v">
                <p:oleObj spid="_x0000_s567419" name="Equation" r:id="rId6" imgW="1226997" imgH="449659" progId="Equation.3">
                  <p:embed/>
                </p:oleObj>
              </mc:Choice>
              <mc:Fallback>
                <p:oleObj name="Equation" r:id="rId6" imgW="1226997" imgH="449659" progId="Equation.3">
                  <p:embed/>
                  <p:pic>
                    <p:nvPicPr>
                      <p:cNvPr id="120854" name="Object 22">
                        <a:extLst>
                          <a:ext uri="{FF2B5EF4-FFF2-40B4-BE49-F238E27FC236}">
                            <a16:creationId xmlns:a16="http://schemas.microsoft.com/office/drawing/2014/main" id="{D604CC1F-0C83-484E-9AC8-66CF7F4B425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92263" y="2232025"/>
                        <a:ext cx="1265237" cy="482600"/>
                      </a:xfrm>
                      <a:prstGeom prst="rect">
                        <a:avLst/>
                      </a:prstGeom>
                      <a:gradFill rotWithShape="1">
                        <a:gsLst>
                          <a:gs pos="0">
                            <a:srgbClr val="006600"/>
                          </a:gs>
                          <a:gs pos="100000">
                            <a:schemeClr val="tx1"/>
                          </a:gs>
                        </a:gsLst>
                        <a:lin ang="5400000" scaled="1"/>
                      </a:gradFill>
                      <a:ln w="19050">
                        <a:solidFill>
                          <a:srgbClr val="00FF00"/>
                        </a:solidFill>
                        <a:miter lim="800000"/>
                        <a:headEnd/>
                        <a:tailEnd/>
                      </a:ln>
                    </p:spPr>
                  </p:pic>
                </p:oleObj>
              </mc:Fallback>
            </mc:AlternateContent>
          </a:graphicData>
        </a:graphic>
      </p:graphicFrame>
      <p:graphicFrame>
        <p:nvGraphicFramePr>
          <p:cNvPr id="120855" name="Object 23">
            <a:extLst>
              <a:ext uri="{FF2B5EF4-FFF2-40B4-BE49-F238E27FC236}">
                <a16:creationId xmlns:a16="http://schemas.microsoft.com/office/drawing/2014/main" id="{BFF8B591-DDFC-4226-9181-5B9C8F8FEFA1}"/>
              </a:ext>
            </a:extLst>
          </p:cNvPr>
          <p:cNvGraphicFramePr>
            <a:graphicFrameLocks noChangeAspect="1"/>
          </p:cNvGraphicFramePr>
          <p:nvPr/>
        </p:nvGraphicFramePr>
        <p:xfrm>
          <a:off x="1357313" y="1306513"/>
          <a:ext cx="1843087" cy="792162"/>
        </p:xfrm>
        <a:graphic>
          <a:graphicData uri="http://schemas.openxmlformats.org/presentationml/2006/ole">
            <mc:AlternateContent xmlns:mc="http://schemas.openxmlformats.org/markup-compatibility/2006">
              <mc:Choice xmlns:v="urn:schemas-microsoft-com:vml" Requires="v">
                <p:oleObj spid="_x0000_s567420" name="公式" r:id="rId8" imgW="868893" imgH="365666" progId="Equation.3">
                  <p:embed/>
                </p:oleObj>
              </mc:Choice>
              <mc:Fallback>
                <p:oleObj name="公式" r:id="rId8" imgW="868893" imgH="365666" progId="Equation.3">
                  <p:embed/>
                  <p:pic>
                    <p:nvPicPr>
                      <p:cNvPr id="120855" name="Object 23">
                        <a:extLst>
                          <a:ext uri="{FF2B5EF4-FFF2-40B4-BE49-F238E27FC236}">
                            <a16:creationId xmlns:a16="http://schemas.microsoft.com/office/drawing/2014/main" id="{BFF8B591-DDFC-4226-9181-5B9C8F8FEFA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357313" y="1306513"/>
                        <a:ext cx="1843087"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0856" name="Text Box 24">
            <a:extLst>
              <a:ext uri="{FF2B5EF4-FFF2-40B4-BE49-F238E27FC236}">
                <a16:creationId xmlns:a16="http://schemas.microsoft.com/office/drawing/2014/main" id="{01BFD426-8395-4B59-961D-B69D417D5F50}"/>
              </a:ext>
            </a:extLst>
          </p:cNvPr>
          <p:cNvSpPr txBox="1">
            <a:spLocks noChangeArrowheads="1"/>
          </p:cNvSpPr>
          <p:nvPr/>
        </p:nvSpPr>
        <p:spPr bwMode="auto">
          <a:xfrm>
            <a:off x="4800600" y="2900363"/>
            <a:ext cx="7159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i="1">
                <a:solidFill>
                  <a:schemeClr val="bg1"/>
                </a:solidFill>
                <a:latin typeface="仿宋_GB2312" pitchFamily="49" charset="-122"/>
                <a:ea typeface="仿宋_GB2312" pitchFamily="49" charset="-122"/>
              </a:rPr>
              <a:t>I</a:t>
            </a:r>
            <a:r>
              <a:rPr lang="en-US" altLang="zh-CN" baseline="-20000">
                <a:solidFill>
                  <a:schemeClr val="bg1"/>
                </a:solidFill>
                <a:latin typeface="仿宋_GB2312" pitchFamily="49" charset="-122"/>
                <a:ea typeface="仿宋_GB2312" pitchFamily="49" charset="-122"/>
              </a:rPr>
              <a:t>0</a:t>
            </a:r>
            <a:endParaRPr lang="en-US" altLang="zh-CN">
              <a:solidFill>
                <a:schemeClr val="bg1"/>
              </a:solidFill>
              <a:latin typeface="仿宋_GB2312" pitchFamily="49" charset="-122"/>
              <a:ea typeface="仿宋_GB2312" pitchFamily="49" charset="-122"/>
            </a:endParaRPr>
          </a:p>
        </p:txBody>
      </p:sp>
      <p:grpSp>
        <p:nvGrpSpPr>
          <p:cNvPr id="5" name="Group 25">
            <a:extLst>
              <a:ext uri="{FF2B5EF4-FFF2-40B4-BE49-F238E27FC236}">
                <a16:creationId xmlns:a16="http://schemas.microsoft.com/office/drawing/2014/main" id="{864D2DCB-4C56-4D68-A6B2-35B1569C81B0}"/>
              </a:ext>
            </a:extLst>
          </p:cNvPr>
          <p:cNvGrpSpPr>
            <a:grpSpLocks/>
          </p:cNvGrpSpPr>
          <p:nvPr/>
        </p:nvGrpSpPr>
        <p:grpSpPr bwMode="auto">
          <a:xfrm>
            <a:off x="4786313" y="331788"/>
            <a:ext cx="3929062" cy="3597275"/>
            <a:chOff x="3015" y="1182"/>
            <a:chExt cx="2475" cy="2266"/>
          </a:xfrm>
        </p:grpSpPr>
        <p:grpSp>
          <p:nvGrpSpPr>
            <p:cNvPr id="31796" name="Group 26">
              <a:extLst>
                <a:ext uri="{FF2B5EF4-FFF2-40B4-BE49-F238E27FC236}">
                  <a16:creationId xmlns:a16="http://schemas.microsoft.com/office/drawing/2014/main" id="{40F6DEA6-AB63-4884-8BC0-379274DC146E}"/>
                </a:ext>
              </a:extLst>
            </p:cNvPr>
            <p:cNvGrpSpPr>
              <a:grpSpLocks/>
            </p:cNvGrpSpPr>
            <p:nvPr/>
          </p:nvGrpSpPr>
          <p:grpSpPr bwMode="auto">
            <a:xfrm>
              <a:off x="3015" y="1182"/>
              <a:ext cx="2475" cy="2266"/>
              <a:chOff x="3015" y="1182"/>
              <a:chExt cx="2475" cy="2266"/>
            </a:xfrm>
          </p:grpSpPr>
          <p:grpSp>
            <p:nvGrpSpPr>
              <p:cNvPr id="31798" name="Group 27">
                <a:extLst>
                  <a:ext uri="{FF2B5EF4-FFF2-40B4-BE49-F238E27FC236}">
                    <a16:creationId xmlns:a16="http://schemas.microsoft.com/office/drawing/2014/main" id="{75B38562-E749-4806-BAAD-453A6F61A3BE}"/>
                  </a:ext>
                </a:extLst>
              </p:cNvPr>
              <p:cNvGrpSpPr>
                <a:grpSpLocks/>
              </p:cNvGrpSpPr>
              <p:nvPr/>
            </p:nvGrpSpPr>
            <p:grpSpPr bwMode="auto">
              <a:xfrm>
                <a:off x="3015" y="1182"/>
                <a:ext cx="442" cy="2041"/>
                <a:chOff x="3111" y="229"/>
                <a:chExt cx="442" cy="2041"/>
              </a:xfrm>
            </p:grpSpPr>
            <p:sp>
              <p:nvSpPr>
                <p:cNvPr id="31801" name="Text Box 28">
                  <a:extLst>
                    <a:ext uri="{FF2B5EF4-FFF2-40B4-BE49-F238E27FC236}">
                      <a16:creationId xmlns:a16="http://schemas.microsoft.com/office/drawing/2014/main" id="{ED4C507D-2798-4CC6-B633-E54E49EAC83B}"/>
                    </a:ext>
                  </a:extLst>
                </p:cNvPr>
                <p:cNvSpPr txBox="1">
                  <a:spLocks noChangeArrowheads="1"/>
                </p:cNvSpPr>
                <p:nvPr/>
              </p:nvSpPr>
              <p:spPr bwMode="auto">
                <a:xfrm>
                  <a:off x="3111" y="362"/>
                  <a:ext cx="44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i="1">
                      <a:solidFill>
                        <a:schemeClr val="bg1"/>
                      </a:solidFill>
                      <a:ea typeface="仿宋_GB2312" pitchFamily="49" charset="-122"/>
                    </a:rPr>
                    <a:t>I</a:t>
                  </a:r>
                  <a:r>
                    <a:rPr lang="en-US" altLang="zh-CN" baseline="-20000">
                      <a:solidFill>
                        <a:schemeClr val="bg1"/>
                      </a:solidFill>
                      <a:ea typeface="仿宋_GB2312" pitchFamily="49" charset="-122"/>
                    </a:rPr>
                    <a:t>0</a:t>
                  </a:r>
                  <a:endParaRPr lang="en-US" altLang="zh-CN">
                    <a:solidFill>
                      <a:schemeClr val="bg1"/>
                    </a:solidFill>
                    <a:ea typeface="仿宋_GB2312" pitchFamily="49" charset="-122"/>
                  </a:endParaRPr>
                </a:p>
              </p:txBody>
            </p:sp>
            <p:sp>
              <p:nvSpPr>
                <p:cNvPr id="31802" name="Line 29">
                  <a:extLst>
                    <a:ext uri="{FF2B5EF4-FFF2-40B4-BE49-F238E27FC236}">
                      <a16:creationId xmlns:a16="http://schemas.microsoft.com/office/drawing/2014/main" id="{D03F0011-7E24-472D-BDB6-EF1B5984F3FD}"/>
                    </a:ext>
                  </a:extLst>
                </p:cNvPr>
                <p:cNvSpPr>
                  <a:spLocks noChangeShapeType="1"/>
                </p:cNvSpPr>
                <p:nvPr/>
              </p:nvSpPr>
              <p:spPr bwMode="auto">
                <a:xfrm>
                  <a:off x="3456" y="229"/>
                  <a:ext cx="0" cy="2041"/>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31799" name="Line 30">
                <a:extLst>
                  <a:ext uri="{FF2B5EF4-FFF2-40B4-BE49-F238E27FC236}">
                    <a16:creationId xmlns:a16="http://schemas.microsoft.com/office/drawing/2014/main" id="{4D5AAC8E-5987-473F-9164-1EE77CD390B5}"/>
                  </a:ext>
                </a:extLst>
              </p:cNvPr>
              <p:cNvSpPr>
                <a:spLocks noChangeShapeType="1"/>
              </p:cNvSpPr>
              <p:nvPr/>
            </p:nvSpPr>
            <p:spPr bwMode="auto">
              <a:xfrm>
                <a:off x="3175" y="3223"/>
                <a:ext cx="2112" cy="0"/>
              </a:xfrm>
              <a:prstGeom prst="line">
                <a:avLst/>
              </a:prstGeom>
              <a:noFill/>
              <a:ln w="19050">
                <a:solidFill>
                  <a:srgbClr val="66CC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800" name="Text Box 31">
                <a:extLst>
                  <a:ext uri="{FF2B5EF4-FFF2-40B4-BE49-F238E27FC236}">
                    <a16:creationId xmlns:a16="http://schemas.microsoft.com/office/drawing/2014/main" id="{D10A3C0B-50E7-4F1F-9DB7-5CFD80AFDFF1}"/>
                  </a:ext>
                </a:extLst>
              </p:cNvPr>
              <p:cNvSpPr txBox="1">
                <a:spLocks noChangeArrowheads="1"/>
              </p:cNvSpPr>
              <p:nvPr/>
            </p:nvSpPr>
            <p:spPr bwMode="auto">
              <a:xfrm>
                <a:off x="5202" y="3160"/>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i="1">
                    <a:solidFill>
                      <a:srgbClr val="66CCFF"/>
                    </a:solidFill>
                    <a:ea typeface="仿宋_GB2312" pitchFamily="49" charset="-122"/>
                  </a:rPr>
                  <a:t>z</a:t>
                </a:r>
              </a:p>
            </p:txBody>
          </p:sp>
        </p:grpSp>
        <p:sp>
          <p:nvSpPr>
            <p:cNvPr id="31797" name="Text Box 32">
              <a:extLst>
                <a:ext uri="{FF2B5EF4-FFF2-40B4-BE49-F238E27FC236}">
                  <a16:creationId xmlns:a16="http://schemas.microsoft.com/office/drawing/2014/main" id="{85B774CD-55C0-4613-ADAD-D9862FA57E07}"/>
                </a:ext>
              </a:extLst>
            </p:cNvPr>
            <p:cNvSpPr txBox="1">
              <a:spLocks noChangeArrowheads="1"/>
            </p:cNvSpPr>
            <p:nvPr/>
          </p:nvSpPr>
          <p:spPr bwMode="auto">
            <a:xfrm>
              <a:off x="3150" y="3115"/>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i="1">
                  <a:solidFill>
                    <a:srgbClr val="66CCFF"/>
                  </a:solidFill>
                  <a:ea typeface="仿宋_GB2312" pitchFamily="49" charset="-122"/>
                </a:rPr>
                <a:t>o</a:t>
              </a:r>
            </a:p>
          </p:txBody>
        </p:sp>
      </p:grpSp>
      <p:grpSp>
        <p:nvGrpSpPr>
          <p:cNvPr id="8" name="Group 33">
            <a:extLst>
              <a:ext uri="{FF2B5EF4-FFF2-40B4-BE49-F238E27FC236}">
                <a16:creationId xmlns:a16="http://schemas.microsoft.com/office/drawing/2014/main" id="{5553D616-FE15-4438-8697-BAB7B37551AF}"/>
              </a:ext>
            </a:extLst>
          </p:cNvPr>
          <p:cNvGrpSpPr>
            <a:grpSpLocks/>
          </p:cNvGrpSpPr>
          <p:nvPr/>
        </p:nvGrpSpPr>
        <p:grpSpPr bwMode="auto">
          <a:xfrm>
            <a:off x="4900613" y="1614488"/>
            <a:ext cx="457200" cy="1957387"/>
            <a:chOff x="3090" y="1359"/>
            <a:chExt cx="288" cy="1233"/>
          </a:xfrm>
        </p:grpSpPr>
        <p:sp>
          <p:nvSpPr>
            <p:cNvPr id="31794" name="Line 34">
              <a:extLst>
                <a:ext uri="{FF2B5EF4-FFF2-40B4-BE49-F238E27FC236}">
                  <a16:creationId xmlns:a16="http://schemas.microsoft.com/office/drawing/2014/main" id="{06CEDA56-4BC5-428A-A2FC-5FC0A105F943}"/>
                </a:ext>
              </a:extLst>
            </p:cNvPr>
            <p:cNvSpPr>
              <a:spLocks noChangeShapeType="1"/>
            </p:cNvSpPr>
            <p:nvPr/>
          </p:nvSpPr>
          <p:spPr bwMode="auto">
            <a:xfrm flipV="1">
              <a:off x="3360" y="1449"/>
              <a:ext cx="0" cy="1143"/>
            </a:xfrm>
            <a:prstGeom prst="line">
              <a:avLst/>
            </a:prstGeom>
            <a:noFill/>
            <a:ln w="19050">
              <a:solidFill>
                <a:srgbClr val="66CC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95" name="Text Box 35">
              <a:extLst>
                <a:ext uri="{FF2B5EF4-FFF2-40B4-BE49-F238E27FC236}">
                  <a16:creationId xmlns:a16="http://schemas.microsoft.com/office/drawing/2014/main" id="{D04BDE4C-D196-4566-BE7D-D0305CB7068B}"/>
                </a:ext>
              </a:extLst>
            </p:cNvPr>
            <p:cNvSpPr txBox="1">
              <a:spLocks noChangeArrowheads="1"/>
            </p:cNvSpPr>
            <p:nvPr/>
          </p:nvSpPr>
          <p:spPr bwMode="auto">
            <a:xfrm>
              <a:off x="3090" y="1359"/>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i="1">
                  <a:solidFill>
                    <a:srgbClr val="66CCFF"/>
                  </a:solidFill>
                  <a:ea typeface="仿宋_GB2312" pitchFamily="49" charset="-122"/>
                </a:rPr>
                <a:t>I</a:t>
              </a:r>
            </a:p>
          </p:txBody>
        </p:sp>
      </p:grpSp>
      <p:sp>
        <p:nvSpPr>
          <p:cNvPr id="120868" name="Rectangle 36">
            <a:extLst>
              <a:ext uri="{FF2B5EF4-FFF2-40B4-BE49-F238E27FC236}">
                <a16:creationId xmlns:a16="http://schemas.microsoft.com/office/drawing/2014/main" id="{13B7CA01-43E7-4260-A63C-121FB5D36EEA}"/>
              </a:ext>
            </a:extLst>
          </p:cNvPr>
          <p:cNvSpPr>
            <a:spLocks noChangeArrowheads="1"/>
          </p:cNvSpPr>
          <p:nvPr/>
        </p:nvSpPr>
        <p:spPr bwMode="auto">
          <a:xfrm>
            <a:off x="6477000" y="349250"/>
            <a:ext cx="304800" cy="1295400"/>
          </a:xfrm>
          <a:prstGeom prst="rect">
            <a:avLst/>
          </a:prstGeom>
          <a:solidFill>
            <a:srgbClr val="00FF99">
              <a:alpha val="16862"/>
            </a:srgbClr>
          </a:solidFill>
          <a:ln w="9525">
            <a:solidFill>
              <a:schemeClr val="tx1"/>
            </a:solidFill>
            <a:miter lim="800000"/>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20869" name="Text Box 37">
            <a:extLst>
              <a:ext uri="{FF2B5EF4-FFF2-40B4-BE49-F238E27FC236}">
                <a16:creationId xmlns:a16="http://schemas.microsoft.com/office/drawing/2014/main" id="{B3BE3040-6F74-46BD-BEDA-3DE23A7E5EE8}"/>
              </a:ext>
            </a:extLst>
          </p:cNvPr>
          <p:cNvSpPr txBox="1">
            <a:spLocks noChangeArrowheads="1"/>
          </p:cNvSpPr>
          <p:nvPr/>
        </p:nvSpPr>
        <p:spPr bwMode="auto">
          <a:xfrm>
            <a:off x="714375" y="2774950"/>
            <a:ext cx="7969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rgbClr val="FFFF00"/>
                </a:solidFill>
              </a:rPr>
              <a:t>结论</a:t>
            </a:r>
          </a:p>
        </p:txBody>
      </p:sp>
      <p:sp>
        <p:nvSpPr>
          <p:cNvPr id="120870" name="Text Box 38">
            <a:extLst>
              <a:ext uri="{FF2B5EF4-FFF2-40B4-BE49-F238E27FC236}">
                <a16:creationId xmlns:a16="http://schemas.microsoft.com/office/drawing/2014/main" id="{0ABB384B-5C46-4CA8-98EA-B5FF3ED801B0}"/>
              </a:ext>
            </a:extLst>
          </p:cNvPr>
          <p:cNvSpPr txBox="1">
            <a:spLocks noChangeArrowheads="1"/>
          </p:cNvSpPr>
          <p:nvPr/>
        </p:nvSpPr>
        <p:spPr bwMode="auto">
          <a:xfrm>
            <a:off x="642938" y="3162300"/>
            <a:ext cx="4244975" cy="1052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pPr>
            <a:r>
              <a:rPr lang="zh-CN" altLang="en-US">
                <a:solidFill>
                  <a:schemeClr val="bg1"/>
                </a:solidFill>
                <a:ea typeface="楷体_GB2312" pitchFamily="49" charset="-122"/>
              </a:rPr>
              <a:t>在增益介质内，光强 </a:t>
            </a:r>
            <a:r>
              <a:rPr lang="en-US" altLang="zh-CN" i="1">
                <a:solidFill>
                  <a:srgbClr val="66FFFF"/>
                </a:solidFill>
                <a:ea typeface="楷体_GB2312" pitchFamily="49" charset="-122"/>
              </a:rPr>
              <a:t>I  </a:t>
            </a:r>
            <a:r>
              <a:rPr lang="zh-CN" altLang="en-US">
                <a:solidFill>
                  <a:schemeClr val="bg1"/>
                </a:solidFill>
                <a:ea typeface="楷体_GB2312" pitchFamily="49" charset="-122"/>
              </a:rPr>
              <a:t>随传播距离按指数增加</a:t>
            </a:r>
          </a:p>
        </p:txBody>
      </p:sp>
      <p:sp>
        <p:nvSpPr>
          <p:cNvPr id="120871" name="AutoShape 39">
            <a:extLst>
              <a:ext uri="{FF2B5EF4-FFF2-40B4-BE49-F238E27FC236}">
                <a16:creationId xmlns:a16="http://schemas.microsoft.com/office/drawing/2014/main" id="{14F2B9A9-5CA9-4E5B-8DEC-199817FB7DD6}"/>
              </a:ext>
            </a:extLst>
          </p:cNvPr>
          <p:cNvSpPr>
            <a:spLocks noChangeArrowheads="1"/>
          </p:cNvSpPr>
          <p:nvPr/>
        </p:nvSpPr>
        <p:spPr bwMode="auto">
          <a:xfrm>
            <a:off x="395288" y="2711450"/>
            <a:ext cx="360362" cy="576263"/>
          </a:xfrm>
          <a:prstGeom prst="star4">
            <a:avLst>
              <a:gd name="adj" fmla="val 18519"/>
            </a:avLst>
          </a:prstGeom>
          <a:gradFill rotWithShape="0">
            <a:gsLst>
              <a:gs pos="0">
                <a:srgbClr val="99FF99"/>
              </a:gs>
              <a:gs pos="100000">
                <a:srgbClr val="477647"/>
              </a:gs>
            </a:gsLst>
            <a:path path="shape">
              <a:fillToRect l="50000" t="50000" r="50000" b="50000"/>
            </a:path>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20872" name="Rectangle 40">
            <a:extLst>
              <a:ext uri="{FF2B5EF4-FFF2-40B4-BE49-F238E27FC236}">
                <a16:creationId xmlns:a16="http://schemas.microsoft.com/office/drawing/2014/main" id="{F678575B-400C-4182-9BC2-E2A7FE5DA2A0}"/>
              </a:ext>
            </a:extLst>
          </p:cNvPr>
          <p:cNvSpPr>
            <a:spLocks noChangeArrowheads="1"/>
          </p:cNvSpPr>
          <p:nvPr/>
        </p:nvSpPr>
        <p:spPr bwMode="auto">
          <a:xfrm>
            <a:off x="214313" y="4108450"/>
            <a:ext cx="4065587"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52352" bIns="76176">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500">
                <a:solidFill>
                  <a:srgbClr val="FFFF00"/>
                </a:solidFill>
                <a:latin typeface="宋体" panose="02010600030101010101" pitchFamily="2" charset="-122"/>
              </a:rPr>
              <a:t>三</a:t>
            </a:r>
            <a:r>
              <a:rPr lang="en-US" altLang="zh-CN" sz="2500">
                <a:solidFill>
                  <a:srgbClr val="FFFF00"/>
                </a:solidFill>
              </a:rPr>
              <a:t>. </a:t>
            </a:r>
            <a:r>
              <a:rPr lang="zh-CN" altLang="en-US" sz="2500">
                <a:solidFill>
                  <a:srgbClr val="FFFF00"/>
                </a:solidFill>
                <a:latin typeface="宋体" panose="02010600030101010101" pitchFamily="2" charset="-122"/>
              </a:rPr>
              <a:t>激光器的基本构成</a:t>
            </a:r>
            <a:endParaRPr lang="zh-CN" altLang="en-US" sz="2500">
              <a:solidFill>
                <a:srgbClr val="FFFF00"/>
              </a:solidFill>
            </a:endParaRPr>
          </a:p>
        </p:txBody>
      </p:sp>
      <p:sp>
        <p:nvSpPr>
          <p:cNvPr id="120873" name="Rectangle 41">
            <a:extLst>
              <a:ext uri="{FF2B5EF4-FFF2-40B4-BE49-F238E27FC236}">
                <a16:creationId xmlns:a16="http://schemas.microsoft.com/office/drawing/2014/main" id="{30AED57E-8EF5-4169-9467-0A925B631AD6}"/>
              </a:ext>
            </a:extLst>
          </p:cNvPr>
          <p:cNvSpPr>
            <a:spLocks noChangeArrowheads="1"/>
          </p:cNvSpPr>
          <p:nvPr/>
        </p:nvSpPr>
        <p:spPr bwMode="auto">
          <a:xfrm>
            <a:off x="3865563" y="4200525"/>
            <a:ext cx="144462" cy="1584325"/>
          </a:xfrm>
          <a:prstGeom prst="rect">
            <a:avLst/>
          </a:prstGeom>
          <a:gradFill rotWithShape="1">
            <a:gsLst>
              <a:gs pos="0">
                <a:schemeClr val="hlink">
                  <a:gamma/>
                  <a:shade val="46275"/>
                  <a:invGamma/>
                </a:schemeClr>
              </a:gs>
              <a:gs pos="50000">
                <a:schemeClr val="hlink">
                  <a:alpha val="89999"/>
                </a:schemeClr>
              </a:gs>
              <a:gs pos="100000">
                <a:schemeClr val="hlink">
                  <a:gamma/>
                  <a:shade val="46275"/>
                  <a:invGamma/>
                </a:schemeClr>
              </a:gs>
            </a:gsLst>
            <a:lin ang="0" scaled="1"/>
          </a:gradFill>
          <a:ln w="9525">
            <a:noFill/>
            <a:miter lim="800000"/>
            <a:headEnd/>
            <a:tailEnd/>
          </a:ln>
          <a:effectLst/>
        </p:spPr>
        <p:txBody>
          <a:bodyPr wrap="none" anchor="ctr"/>
          <a:lstStyle/>
          <a:p>
            <a:pPr algn="ctr" eaLnBrk="1" hangingPunct="1">
              <a:defRPr/>
            </a:pPr>
            <a:endParaRPr lang="zh-CN" altLang="en-US">
              <a:solidFill>
                <a:schemeClr val="bg1"/>
              </a:solidFill>
            </a:endParaRPr>
          </a:p>
        </p:txBody>
      </p:sp>
      <p:sp>
        <p:nvSpPr>
          <p:cNvPr id="120874" name="Rectangle 42">
            <a:extLst>
              <a:ext uri="{FF2B5EF4-FFF2-40B4-BE49-F238E27FC236}">
                <a16:creationId xmlns:a16="http://schemas.microsoft.com/office/drawing/2014/main" id="{42561531-CA14-4F71-B694-0BD7A522A2BA}"/>
              </a:ext>
            </a:extLst>
          </p:cNvPr>
          <p:cNvSpPr>
            <a:spLocks noChangeArrowheads="1"/>
          </p:cNvSpPr>
          <p:nvPr/>
        </p:nvSpPr>
        <p:spPr bwMode="auto">
          <a:xfrm>
            <a:off x="5002213" y="5857875"/>
            <a:ext cx="2378075" cy="576263"/>
          </a:xfrm>
          <a:prstGeom prst="rect">
            <a:avLst/>
          </a:prstGeom>
          <a:gradFill rotWithShape="1">
            <a:gsLst>
              <a:gs pos="0">
                <a:schemeClr val="accent1">
                  <a:gamma/>
                  <a:shade val="46275"/>
                  <a:invGamma/>
                </a:schemeClr>
              </a:gs>
              <a:gs pos="50000">
                <a:schemeClr val="accent1"/>
              </a:gs>
              <a:gs pos="100000">
                <a:schemeClr val="accent1">
                  <a:gamma/>
                  <a:shade val="46275"/>
                  <a:invGamma/>
                </a:schemeClr>
              </a:gs>
            </a:gsLst>
            <a:lin ang="5400000" scaled="1"/>
          </a:gradFill>
          <a:ln w="9525">
            <a:solidFill>
              <a:schemeClr val="tx1"/>
            </a:solidFill>
            <a:miter lim="800000"/>
            <a:headEnd/>
            <a:tailEnd/>
          </a:ln>
          <a:effectLst/>
        </p:spPr>
        <p:txBody>
          <a:bodyPr wrap="none" anchor="ctr"/>
          <a:lstStyle/>
          <a:p>
            <a:pPr algn="ctr" eaLnBrk="1" hangingPunct="1">
              <a:defRPr/>
            </a:pPr>
            <a:r>
              <a:rPr lang="zh-CN" altLang="en-US">
                <a:solidFill>
                  <a:schemeClr val="bg1"/>
                </a:solidFill>
                <a:ea typeface="楷体_GB2312" pitchFamily="49" charset="-122"/>
              </a:rPr>
              <a:t>激励能源</a:t>
            </a:r>
          </a:p>
        </p:txBody>
      </p:sp>
      <p:sp>
        <p:nvSpPr>
          <p:cNvPr id="120875" name="AutoShape 43">
            <a:extLst>
              <a:ext uri="{FF2B5EF4-FFF2-40B4-BE49-F238E27FC236}">
                <a16:creationId xmlns:a16="http://schemas.microsoft.com/office/drawing/2014/main" id="{4B0E4168-B792-49D1-B59B-FE75E3D3D8D1}"/>
              </a:ext>
            </a:extLst>
          </p:cNvPr>
          <p:cNvSpPr>
            <a:spLocks noChangeArrowheads="1"/>
          </p:cNvSpPr>
          <p:nvPr/>
        </p:nvSpPr>
        <p:spPr bwMode="auto">
          <a:xfrm>
            <a:off x="5980113" y="5499100"/>
            <a:ext cx="360362" cy="431800"/>
          </a:xfrm>
          <a:prstGeom prst="upArrow">
            <a:avLst>
              <a:gd name="adj1" fmla="val 50000"/>
              <a:gd name="adj2" fmla="val 29956"/>
            </a:avLst>
          </a:prstGeom>
          <a:solidFill>
            <a:srgbClr val="FF6600"/>
          </a:solidFill>
          <a:ln w="9525">
            <a:solidFill>
              <a:schemeClr val="tx1"/>
            </a:solidFill>
            <a:miter lim="800000"/>
            <a:headEnd/>
            <a:tailEnd/>
          </a:ln>
        </p:spPr>
        <p:txBody>
          <a:bodyPr vert="eaVert"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20876" name="Rectangle 44">
            <a:extLst>
              <a:ext uri="{FF2B5EF4-FFF2-40B4-BE49-F238E27FC236}">
                <a16:creationId xmlns:a16="http://schemas.microsoft.com/office/drawing/2014/main" id="{2B3BF74D-12DE-4DBB-ABDF-D20ECD12CC37}"/>
              </a:ext>
            </a:extLst>
          </p:cNvPr>
          <p:cNvSpPr>
            <a:spLocks noChangeArrowheads="1"/>
          </p:cNvSpPr>
          <p:nvPr/>
        </p:nvSpPr>
        <p:spPr bwMode="auto">
          <a:xfrm>
            <a:off x="4038626" y="4416429"/>
            <a:ext cx="4248150" cy="1152525"/>
          </a:xfrm>
          <a:prstGeom prst="rect">
            <a:avLst/>
          </a:prstGeom>
          <a:gradFill rotWithShape="1">
            <a:gsLst>
              <a:gs pos="0">
                <a:srgbClr val="339966">
                  <a:gamma/>
                  <a:shade val="46275"/>
                  <a:invGamma/>
                  <a:alpha val="58000"/>
                </a:srgbClr>
              </a:gs>
              <a:gs pos="50000">
                <a:srgbClr val="339966">
                  <a:alpha val="61000"/>
                </a:srgbClr>
              </a:gs>
              <a:gs pos="100000">
                <a:srgbClr val="339966">
                  <a:gamma/>
                  <a:shade val="46275"/>
                  <a:invGamma/>
                  <a:alpha val="58000"/>
                </a:srgbClr>
              </a:gs>
            </a:gsLst>
            <a:lin ang="5400000" scaled="1"/>
          </a:gradFill>
          <a:ln w="9525">
            <a:solidFill>
              <a:schemeClr val="tx1"/>
            </a:solidFill>
            <a:miter lim="800000"/>
            <a:headEnd/>
            <a:tailEnd/>
          </a:ln>
          <a:effectLst/>
        </p:spPr>
        <p:txBody>
          <a:bodyPr wrap="none" anchor="ctr"/>
          <a:lstStyle/>
          <a:p>
            <a:pPr algn="ctr" eaLnBrk="1" hangingPunct="1">
              <a:defRPr/>
            </a:pPr>
            <a:endParaRPr lang="zh-CN" altLang="en-US">
              <a:solidFill>
                <a:schemeClr val="bg1"/>
              </a:solidFill>
            </a:endParaRPr>
          </a:p>
        </p:txBody>
      </p:sp>
      <p:sp>
        <p:nvSpPr>
          <p:cNvPr id="120877" name="Text Box 45">
            <a:extLst>
              <a:ext uri="{FF2B5EF4-FFF2-40B4-BE49-F238E27FC236}">
                <a16:creationId xmlns:a16="http://schemas.microsoft.com/office/drawing/2014/main" id="{D204FEDE-5A84-4E46-BF62-60B548B1AB55}"/>
              </a:ext>
            </a:extLst>
          </p:cNvPr>
          <p:cNvSpPr txBox="1">
            <a:spLocks noChangeArrowheads="1"/>
          </p:cNvSpPr>
          <p:nvPr/>
        </p:nvSpPr>
        <p:spPr bwMode="auto">
          <a:xfrm>
            <a:off x="5292725" y="4786313"/>
            <a:ext cx="17303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a:solidFill>
                  <a:schemeClr val="bg1"/>
                </a:solidFill>
                <a:ea typeface="楷体_GB2312" pitchFamily="49" charset="-122"/>
              </a:rPr>
              <a:t>增益介质</a:t>
            </a:r>
          </a:p>
        </p:txBody>
      </p:sp>
      <p:sp>
        <p:nvSpPr>
          <p:cNvPr id="120878" name="Text Box 46">
            <a:extLst>
              <a:ext uri="{FF2B5EF4-FFF2-40B4-BE49-F238E27FC236}">
                <a16:creationId xmlns:a16="http://schemas.microsoft.com/office/drawing/2014/main" id="{0ED75832-8BDB-46FA-9A86-B04CB81CD56E}"/>
              </a:ext>
            </a:extLst>
          </p:cNvPr>
          <p:cNvSpPr txBox="1">
            <a:spLocks noChangeArrowheads="1"/>
          </p:cNvSpPr>
          <p:nvPr/>
        </p:nvSpPr>
        <p:spPr bwMode="auto">
          <a:xfrm>
            <a:off x="5578475" y="3929063"/>
            <a:ext cx="13700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a:solidFill>
                  <a:schemeClr val="bg1"/>
                </a:solidFill>
                <a:ea typeface="楷体_GB2312" pitchFamily="49" charset="-122"/>
              </a:rPr>
              <a:t>谐振腔</a:t>
            </a:r>
          </a:p>
        </p:txBody>
      </p:sp>
      <p:grpSp>
        <p:nvGrpSpPr>
          <p:cNvPr id="9" name="Group 47">
            <a:extLst>
              <a:ext uri="{FF2B5EF4-FFF2-40B4-BE49-F238E27FC236}">
                <a16:creationId xmlns:a16="http://schemas.microsoft.com/office/drawing/2014/main" id="{063F5C4D-0501-43A1-811F-89442FF2F482}"/>
              </a:ext>
            </a:extLst>
          </p:cNvPr>
          <p:cNvGrpSpPr>
            <a:grpSpLocks/>
          </p:cNvGrpSpPr>
          <p:nvPr/>
        </p:nvGrpSpPr>
        <p:grpSpPr bwMode="auto">
          <a:xfrm>
            <a:off x="8388350" y="4778375"/>
            <a:ext cx="504825" cy="196850"/>
            <a:chOff x="3567" y="2297"/>
            <a:chExt cx="628" cy="182"/>
          </a:xfrm>
        </p:grpSpPr>
        <p:sp>
          <p:nvSpPr>
            <p:cNvPr id="31792" name="AutoShape 48">
              <a:extLst>
                <a:ext uri="{FF2B5EF4-FFF2-40B4-BE49-F238E27FC236}">
                  <a16:creationId xmlns:a16="http://schemas.microsoft.com/office/drawing/2014/main" id="{22FF979B-EF69-42E4-9B1A-C887DF688472}"/>
                </a:ext>
              </a:extLst>
            </p:cNvPr>
            <p:cNvSpPr>
              <a:spLocks noChangeArrowheads="1"/>
            </p:cNvSpPr>
            <p:nvPr/>
          </p:nvSpPr>
          <p:spPr bwMode="auto">
            <a:xfrm>
              <a:off x="3923" y="2297"/>
              <a:ext cx="272" cy="182"/>
            </a:xfrm>
            <a:prstGeom prst="rightArrow">
              <a:avLst>
                <a:gd name="adj1" fmla="val 19824"/>
                <a:gd name="adj2" fmla="val 149451"/>
              </a:avLst>
            </a:prstGeom>
            <a:gradFill rotWithShape="1">
              <a:gsLst>
                <a:gs pos="0">
                  <a:srgbClr val="FF9933"/>
                </a:gs>
                <a:gs pos="50000">
                  <a:srgbClr val="FFFF00"/>
                </a:gs>
                <a:gs pos="100000">
                  <a:srgbClr val="FF9933"/>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a:solidFill>
                  <a:schemeClr val="bg1"/>
                </a:solidFill>
              </a:endParaRPr>
            </a:p>
          </p:txBody>
        </p:sp>
        <p:sp>
          <p:nvSpPr>
            <p:cNvPr id="31793" name="Rectangle 49">
              <a:extLst>
                <a:ext uri="{FF2B5EF4-FFF2-40B4-BE49-F238E27FC236}">
                  <a16:creationId xmlns:a16="http://schemas.microsoft.com/office/drawing/2014/main" id="{44DDB561-F051-4D49-AC49-137DA3A71EB2}"/>
                </a:ext>
              </a:extLst>
            </p:cNvPr>
            <p:cNvSpPr>
              <a:spLocks noChangeArrowheads="1"/>
            </p:cNvSpPr>
            <p:nvPr/>
          </p:nvSpPr>
          <p:spPr bwMode="auto">
            <a:xfrm>
              <a:off x="3567" y="2343"/>
              <a:ext cx="364" cy="90"/>
            </a:xfrm>
            <a:prstGeom prst="rect">
              <a:avLst/>
            </a:prstGeom>
            <a:gradFill rotWithShape="1">
              <a:gsLst>
                <a:gs pos="0">
                  <a:srgbClr val="FF9933"/>
                </a:gs>
                <a:gs pos="50000">
                  <a:srgbClr val="FFFF00"/>
                </a:gs>
                <a:gs pos="100000">
                  <a:srgbClr val="FF9933"/>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grpSp>
      <p:sp>
        <p:nvSpPr>
          <p:cNvPr id="120882" name="Text Box 50">
            <a:extLst>
              <a:ext uri="{FF2B5EF4-FFF2-40B4-BE49-F238E27FC236}">
                <a16:creationId xmlns:a16="http://schemas.microsoft.com/office/drawing/2014/main" id="{2FDBC840-E281-45A1-ACD6-6EF9E1C8ABC8}"/>
              </a:ext>
            </a:extLst>
          </p:cNvPr>
          <p:cNvSpPr txBox="1">
            <a:spLocks noChangeArrowheads="1"/>
          </p:cNvSpPr>
          <p:nvPr/>
        </p:nvSpPr>
        <p:spPr bwMode="auto">
          <a:xfrm>
            <a:off x="7500938" y="5786438"/>
            <a:ext cx="157162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a:solidFill>
                  <a:srgbClr val="FFCC66"/>
                </a:solidFill>
                <a:latin typeface="楷体_GB2312" pitchFamily="49" charset="-122"/>
                <a:ea typeface="楷体_GB2312" pitchFamily="49" charset="-122"/>
              </a:rPr>
              <a:t>部分反射镜</a:t>
            </a:r>
          </a:p>
          <a:p>
            <a:pPr algn="ctr" eaLnBrk="1" hangingPunct="1"/>
            <a:r>
              <a:rPr lang="en-US" altLang="zh-CN" sz="2000">
                <a:solidFill>
                  <a:srgbClr val="FFCC66"/>
                </a:solidFill>
                <a:ea typeface="楷体_GB2312" pitchFamily="49" charset="-122"/>
              </a:rPr>
              <a:t>(99</a:t>
            </a:r>
            <a:r>
              <a:rPr lang="en-US" altLang="zh-CN" sz="2000">
                <a:solidFill>
                  <a:srgbClr val="FFCC66"/>
                </a:solidFill>
                <a:ea typeface="楷体_GB2312" pitchFamily="49" charset="-122"/>
                <a:sym typeface="Symbol" panose="05050102010706020507" pitchFamily="18" charset="2"/>
              </a:rPr>
              <a:t>)</a:t>
            </a:r>
          </a:p>
        </p:txBody>
      </p:sp>
      <p:sp>
        <p:nvSpPr>
          <p:cNvPr id="120883" name="Line 51">
            <a:extLst>
              <a:ext uri="{FF2B5EF4-FFF2-40B4-BE49-F238E27FC236}">
                <a16:creationId xmlns:a16="http://schemas.microsoft.com/office/drawing/2014/main" id="{C8F87ADB-FCE7-4F02-AD3B-0C7CC7BD00C8}"/>
              </a:ext>
            </a:extLst>
          </p:cNvPr>
          <p:cNvSpPr>
            <a:spLocks noChangeShapeType="1"/>
          </p:cNvSpPr>
          <p:nvPr/>
        </p:nvSpPr>
        <p:spPr bwMode="auto">
          <a:xfrm flipH="1">
            <a:off x="3995738" y="4183063"/>
            <a:ext cx="1657350" cy="19050"/>
          </a:xfrm>
          <a:prstGeom prst="line">
            <a:avLst/>
          </a:prstGeom>
          <a:noFill/>
          <a:ln w="3175">
            <a:solidFill>
              <a:srgbClr val="00FF99"/>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0884" name="Line 52">
            <a:extLst>
              <a:ext uri="{FF2B5EF4-FFF2-40B4-BE49-F238E27FC236}">
                <a16:creationId xmlns:a16="http://schemas.microsoft.com/office/drawing/2014/main" id="{662ECC64-3888-44AD-ADE2-C057557557D9}"/>
              </a:ext>
            </a:extLst>
          </p:cNvPr>
          <p:cNvSpPr>
            <a:spLocks noChangeShapeType="1"/>
          </p:cNvSpPr>
          <p:nvPr/>
        </p:nvSpPr>
        <p:spPr bwMode="auto">
          <a:xfrm>
            <a:off x="6445250" y="4183063"/>
            <a:ext cx="1839913" cy="19050"/>
          </a:xfrm>
          <a:prstGeom prst="line">
            <a:avLst/>
          </a:prstGeom>
          <a:noFill/>
          <a:ln w="3175">
            <a:solidFill>
              <a:srgbClr val="00FF99"/>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0885" name="Rectangle 53">
            <a:extLst>
              <a:ext uri="{FF2B5EF4-FFF2-40B4-BE49-F238E27FC236}">
                <a16:creationId xmlns:a16="http://schemas.microsoft.com/office/drawing/2014/main" id="{5537DDE4-B47A-4146-8C69-CB95CAA7B1B2}"/>
              </a:ext>
            </a:extLst>
          </p:cNvPr>
          <p:cNvSpPr>
            <a:spLocks noChangeArrowheads="1"/>
          </p:cNvSpPr>
          <p:nvPr/>
        </p:nvSpPr>
        <p:spPr bwMode="auto">
          <a:xfrm>
            <a:off x="8294688" y="4200529"/>
            <a:ext cx="215900" cy="1584325"/>
          </a:xfrm>
          <a:prstGeom prst="rect">
            <a:avLst/>
          </a:prstGeom>
          <a:gradFill rotWithShape="1">
            <a:gsLst>
              <a:gs pos="0">
                <a:srgbClr val="CCCCFF">
                  <a:gamma/>
                  <a:shade val="46275"/>
                  <a:invGamma/>
                  <a:alpha val="30000"/>
                </a:srgbClr>
              </a:gs>
              <a:gs pos="50000">
                <a:srgbClr val="CCCCFF">
                  <a:alpha val="78000"/>
                </a:srgbClr>
              </a:gs>
              <a:gs pos="100000">
                <a:srgbClr val="CCCCFF">
                  <a:gamma/>
                  <a:shade val="46275"/>
                  <a:invGamma/>
                  <a:alpha val="30000"/>
                </a:srgbClr>
              </a:gs>
            </a:gsLst>
            <a:lin ang="0" scaled="1"/>
          </a:gradFill>
          <a:ln w="9525">
            <a:noFill/>
            <a:miter lim="800000"/>
            <a:headEnd/>
            <a:tailEnd/>
          </a:ln>
          <a:effectLst/>
        </p:spPr>
        <p:txBody>
          <a:bodyPr wrap="none" anchor="ctr"/>
          <a:lstStyle/>
          <a:p>
            <a:pPr algn="ctr" eaLnBrk="1" hangingPunct="1">
              <a:defRPr/>
            </a:pPr>
            <a:endParaRPr lang="zh-CN" altLang="en-US">
              <a:solidFill>
                <a:schemeClr val="bg1"/>
              </a:solidFill>
            </a:endParaRPr>
          </a:p>
        </p:txBody>
      </p:sp>
      <p:sp>
        <p:nvSpPr>
          <p:cNvPr id="120886" name="AutoShape 54">
            <a:extLst>
              <a:ext uri="{FF2B5EF4-FFF2-40B4-BE49-F238E27FC236}">
                <a16:creationId xmlns:a16="http://schemas.microsoft.com/office/drawing/2014/main" id="{6FC9E177-4997-403D-94A0-AD9D5FDADEE6}"/>
              </a:ext>
            </a:extLst>
          </p:cNvPr>
          <p:cNvSpPr>
            <a:spLocks noChangeArrowheads="1"/>
          </p:cNvSpPr>
          <p:nvPr/>
        </p:nvSpPr>
        <p:spPr bwMode="auto">
          <a:xfrm>
            <a:off x="4037013" y="4633913"/>
            <a:ext cx="4248150" cy="217487"/>
          </a:xfrm>
          <a:prstGeom prst="leftArrow">
            <a:avLst>
              <a:gd name="adj1" fmla="val 58407"/>
              <a:gd name="adj2" fmla="val 153641"/>
            </a:avLst>
          </a:prstGeom>
          <a:gradFill rotWithShape="1">
            <a:gsLst>
              <a:gs pos="0">
                <a:srgbClr val="FFFF00">
                  <a:alpha val="79999"/>
                </a:srgbClr>
              </a:gs>
              <a:gs pos="100000">
                <a:srgbClr val="FFFF00">
                  <a:alpha val="51999"/>
                </a:srgbClr>
              </a:gs>
            </a:gsLst>
            <a:lin ang="0" scaled="1"/>
          </a:gradFill>
          <a:ln w="3175">
            <a:solidFill>
              <a:schemeClr val="tx1"/>
            </a:solidFill>
            <a:miter lim="800000"/>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20887" name="AutoShape 55">
            <a:extLst>
              <a:ext uri="{FF2B5EF4-FFF2-40B4-BE49-F238E27FC236}">
                <a16:creationId xmlns:a16="http://schemas.microsoft.com/office/drawing/2014/main" id="{FDEF83B6-8CBF-4D65-A646-FC650AF98150}"/>
              </a:ext>
            </a:extLst>
          </p:cNvPr>
          <p:cNvSpPr>
            <a:spLocks noChangeArrowheads="1"/>
          </p:cNvSpPr>
          <p:nvPr/>
        </p:nvSpPr>
        <p:spPr bwMode="auto">
          <a:xfrm rot="10800000">
            <a:off x="4037013" y="5138738"/>
            <a:ext cx="4248150" cy="217487"/>
          </a:xfrm>
          <a:prstGeom prst="leftArrow">
            <a:avLst>
              <a:gd name="adj1" fmla="val 58407"/>
              <a:gd name="adj2" fmla="val 153641"/>
            </a:avLst>
          </a:prstGeom>
          <a:gradFill rotWithShape="1">
            <a:gsLst>
              <a:gs pos="0">
                <a:srgbClr val="FFFF00"/>
              </a:gs>
              <a:gs pos="100000">
                <a:srgbClr val="FFFF00">
                  <a:alpha val="79999"/>
                </a:srgbClr>
              </a:gs>
            </a:gsLst>
            <a:lin ang="0" scaled="1"/>
          </a:gradFill>
          <a:ln w="3175">
            <a:solidFill>
              <a:schemeClr val="tx1"/>
            </a:solidFill>
            <a:miter lim="800000"/>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20888" name="Rectangle 56">
            <a:extLst>
              <a:ext uri="{FF2B5EF4-FFF2-40B4-BE49-F238E27FC236}">
                <a16:creationId xmlns:a16="http://schemas.microsoft.com/office/drawing/2014/main" id="{2EA30313-3002-4862-AA68-A0C5CB268F9C}"/>
              </a:ext>
            </a:extLst>
          </p:cNvPr>
          <p:cNvSpPr>
            <a:spLocks noChangeArrowheads="1"/>
          </p:cNvSpPr>
          <p:nvPr/>
        </p:nvSpPr>
        <p:spPr bwMode="auto">
          <a:xfrm>
            <a:off x="714375" y="5373688"/>
            <a:ext cx="23749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pPr>
            <a:r>
              <a:rPr lang="zh-CN" altLang="en-US">
                <a:solidFill>
                  <a:schemeClr val="bg1"/>
                </a:solidFill>
                <a:latin typeface="宋体" panose="02010600030101010101" pitchFamily="2" charset="-122"/>
              </a:rPr>
              <a:t>谐振腔，增益介质，激励能源。</a:t>
            </a:r>
          </a:p>
        </p:txBody>
      </p:sp>
      <p:sp>
        <p:nvSpPr>
          <p:cNvPr id="120889" name="Rectangle 57">
            <a:extLst>
              <a:ext uri="{FF2B5EF4-FFF2-40B4-BE49-F238E27FC236}">
                <a16:creationId xmlns:a16="http://schemas.microsoft.com/office/drawing/2014/main" id="{C175A8A3-674A-4D71-BC2B-CF499988677D}"/>
              </a:ext>
            </a:extLst>
          </p:cNvPr>
          <p:cNvSpPr>
            <a:spLocks noChangeArrowheads="1"/>
          </p:cNvSpPr>
          <p:nvPr/>
        </p:nvSpPr>
        <p:spPr bwMode="auto">
          <a:xfrm>
            <a:off x="468313" y="4703763"/>
            <a:ext cx="3103562"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pPr>
            <a:r>
              <a:rPr lang="en-US" altLang="zh-CN">
                <a:solidFill>
                  <a:srgbClr val="00FFFF"/>
                </a:solidFill>
                <a:ea typeface="华文中宋" panose="02010600040101010101" pitchFamily="2" charset="-122"/>
              </a:rPr>
              <a:t>1. </a:t>
            </a:r>
            <a:r>
              <a:rPr lang="zh-CN" altLang="en-US">
                <a:solidFill>
                  <a:srgbClr val="00FFFF"/>
                </a:solidFill>
                <a:ea typeface="华文中宋" panose="02010600040101010101" pitchFamily="2" charset="-122"/>
              </a:rPr>
              <a:t>基本构成部分</a:t>
            </a:r>
          </a:p>
        </p:txBody>
      </p:sp>
      <p:sp>
        <p:nvSpPr>
          <p:cNvPr id="120890" name="Rectangle 58">
            <a:extLst>
              <a:ext uri="{FF2B5EF4-FFF2-40B4-BE49-F238E27FC236}">
                <a16:creationId xmlns:a16="http://schemas.microsoft.com/office/drawing/2014/main" id="{89B56ACB-C4E7-4EFD-A2EF-C8F6F84763AC}"/>
              </a:ext>
            </a:extLst>
          </p:cNvPr>
          <p:cNvSpPr>
            <a:spLocks noChangeArrowheads="1"/>
          </p:cNvSpPr>
          <p:nvPr/>
        </p:nvSpPr>
        <p:spPr bwMode="auto">
          <a:xfrm>
            <a:off x="3857625" y="4202113"/>
            <a:ext cx="144463" cy="1584325"/>
          </a:xfrm>
          <a:prstGeom prst="rect">
            <a:avLst/>
          </a:prstGeom>
          <a:gradFill rotWithShape="1">
            <a:gsLst>
              <a:gs pos="0">
                <a:schemeClr val="hlink">
                  <a:gamma/>
                  <a:shade val="46275"/>
                  <a:invGamma/>
                  <a:alpha val="32001"/>
                </a:schemeClr>
              </a:gs>
              <a:gs pos="50000">
                <a:schemeClr val="hlink">
                  <a:alpha val="0"/>
                </a:schemeClr>
              </a:gs>
              <a:gs pos="100000">
                <a:schemeClr val="hlink">
                  <a:gamma/>
                  <a:shade val="46275"/>
                  <a:invGamma/>
                  <a:alpha val="32001"/>
                </a:schemeClr>
              </a:gs>
            </a:gsLst>
            <a:lin ang="5400000" scaled="1"/>
          </a:gradFill>
          <a:ln w="9525">
            <a:noFill/>
            <a:miter lim="800000"/>
            <a:headEnd/>
            <a:tailEnd/>
          </a:ln>
          <a:effectLst/>
        </p:spPr>
        <p:txBody>
          <a:bodyPr wrap="none" anchor="ctr"/>
          <a:lstStyle/>
          <a:p>
            <a:pPr algn="ctr" eaLnBrk="1" hangingPunct="1">
              <a:defRPr/>
            </a:pPr>
            <a:endParaRPr lang="zh-CN" altLang="en-US">
              <a:solidFill>
                <a:schemeClr val="bg1"/>
              </a:solidFill>
            </a:endParaRPr>
          </a:p>
        </p:txBody>
      </p:sp>
      <p:sp>
        <p:nvSpPr>
          <p:cNvPr id="120891" name="Rectangle 59">
            <a:extLst>
              <a:ext uri="{FF2B5EF4-FFF2-40B4-BE49-F238E27FC236}">
                <a16:creationId xmlns:a16="http://schemas.microsoft.com/office/drawing/2014/main" id="{A0417FE9-16A9-4E53-9D49-D02B6758524E}"/>
              </a:ext>
            </a:extLst>
          </p:cNvPr>
          <p:cNvSpPr>
            <a:spLocks noChangeArrowheads="1"/>
          </p:cNvSpPr>
          <p:nvPr/>
        </p:nvSpPr>
        <p:spPr bwMode="auto">
          <a:xfrm>
            <a:off x="8316913" y="4202116"/>
            <a:ext cx="215900" cy="1584325"/>
          </a:xfrm>
          <a:prstGeom prst="rect">
            <a:avLst/>
          </a:prstGeom>
          <a:gradFill rotWithShape="1">
            <a:gsLst>
              <a:gs pos="0">
                <a:srgbClr val="CCCCFF">
                  <a:gamma/>
                  <a:shade val="46275"/>
                  <a:invGamma/>
                  <a:alpha val="23000"/>
                </a:srgbClr>
              </a:gs>
              <a:gs pos="50000">
                <a:srgbClr val="CCCCFF">
                  <a:alpha val="0"/>
                </a:srgbClr>
              </a:gs>
              <a:gs pos="100000">
                <a:srgbClr val="CCCCFF">
                  <a:gamma/>
                  <a:shade val="46275"/>
                  <a:invGamma/>
                  <a:alpha val="23000"/>
                </a:srgbClr>
              </a:gs>
            </a:gsLst>
            <a:lin ang="5400000" scaled="1"/>
          </a:gradFill>
          <a:ln w="9525">
            <a:noFill/>
            <a:miter lim="800000"/>
            <a:headEnd/>
            <a:tailEnd/>
          </a:ln>
          <a:effectLst/>
        </p:spPr>
        <p:txBody>
          <a:bodyPr wrap="none" anchor="ctr"/>
          <a:lstStyle/>
          <a:p>
            <a:pPr algn="ctr" eaLnBrk="1" hangingPunct="1">
              <a:defRPr/>
            </a:pPr>
            <a:endParaRPr lang="zh-CN" altLang="en-US">
              <a:solidFill>
                <a:schemeClr val="bg1"/>
              </a:solidFill>
            </a:endParaRPr>
          </a:p>
        </p:txBody>
      </p:sp>
      <p:sp>
        <p:nvSpPr>
          <p:cNvPr id="120892" name="Text Box 60">
            <a:extLst>
              <a:ext uri="{FF2B5EF4-FFF2-40B4-BE49-F238E27FC236}">
                <a16:creationId xmlns:a16="http://schemas.microsoft.com/office/drawing/2014/main" id="{06184AE9-1B45-42BF-9D72-52FB443AC1E8}"/>
              </a:ext>
            </a:extLst>
          </p:cNvPr>
          <p:cNvSpPr txBox="1">
            <a:spLocks noChangeArrowheads="1"/>
          </p:cNvSpPr>
          <p:nvPr/>
        </p:nvSpPr>
        <p:spPr bwMode="auto">
          <a:xfrm>
            <a:off x="3286125" y="5803900"/>
            <a:ext cx="13684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a:solidFill>
                  <a:srgbClr val="FFCC66"/>
                </a:solidFill>
                <a:ea typeface="楷体_GB2312" pitchFamily="49" charset="-122"/>
              </a:rPr>
              <a:t>全反射镜</a:t>
            </a:r>
          </a:p>
        </p:txBody>
      </p:sp>
      <p:sp>
        <p:nvSpPr>
          <p:cNvPr id="31791" name="灯片编号占位符 1">
            <a:extLst>
              <a:ext uri="{FF2B5EF4-FFF2-40B4-BE49-F238E27FC236}">
                <a16:creationId xmlns:a16="http://schemas.microsoft.com/office/drawing/2014/main" id="{812243B9-7C76-4330-888B-73CF2B202160}"/>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8CC70C49-36E1-444F-95F8-3D585542B587}" type="slidenum">
              <a:rPr lang="en-US" altLang="zh-CN" b="0">
                <a:solidFill>
                  <a:srgbClr val="FF00FF"/>
                </a:solidFill>
              </a:rPr>
              <a:pPr eaLnBrk="1" hangingPunct="1"/>
              <a:t>20</a:t>
            </a:fld>
            <a:r>
              <a:rPr lang="en-US" altLang="zh-CN" b="0">
                <a:solidFill>
                  <a:srgbClr val="FF00FF"/>
                </a:solidFill>
              </a:rPr>
              <a:t>/28</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20840"/>
                                        </p:tgtEl>
                                        <p:attrNameLst>
                                          <p:attrName>style.visibility</p:attrName>
                                        </p:attrNameLst>
                                      </p:cBhvr>
                                      <p:to>
                                        <p:strVal val="visible"/>
                                      </p:to>
                                    </p:set>
                                    <p:animEffect transition="in" filter="dissolve">
                                      <p:cBhvr>
                                        <p:cTn id="7" dur="500"/>
                                        <p:tgtEl>
                                          <p:spTgt spid="120840"/>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20839"/>
                                        </p:tgtEl>
                                        <p:attrNameLst>
                                          <p:attrName>style.visibility</p:attrName>
                                        </p:attrNameLst>
                                      </p:cBhvr>
                                      <p:to>
                                        <p:strVal val="visible"/>
                                      </p:to>
                                    </p:set>
                                    <p:animEffect transition="in" filter="dissolve">
                                      <p:cBhvr>
                                        <p:cTn id="10" dur="500"/>
                                        <p:tgtEl>
                                          <p:spTgt spid="120839"/>
                                        </p:tgtEl>
                                      </p:cBhvr>
                                    </p:animEffect>
                                  </p:childTnLst>
                                </p:cTn>
                              </p:par>
                            </p:childTnLst>
                          </p:cTn>
                        </p:par>
                        <p:par>
                          <p:cTn id="11" fill="hold" nodeType="afterGroup">
                            <p:stCondLst>
                              <p:cond delay="500"/>
                            </p:stCondLst>
                            <p:childTnLst>
                              <p:par>
                                <p:cTn id="12" presetID="22" presetClass="entr" presetSubtype="8" fill="hold" grpId="0" nodeType="afterEffect">
                                  <p:stCondLst>
                                    <p:cond delay="0"/>
                                  </p:stCondLst>
                                  <p:childTnLst>
                                    <p:set>
                                      <p:cBhvr>
                                        <p:cTn id="13" dur="1" fill="hold">
                                          <p:stCondLst>
                                            <p:cond delay="0"/>
                                          </p:stCondLst>
                                        </p:cTn>
                                        <p:tgtEl>
                                          <p:spTgt spid="120844"/>
                                        </p:tgtEl>
                                        <p:attrNameLst>
                                          <p:attrName>style.visibility</p:attrName>
                                        </p:attrNameLst>
                                      </p:cBhvr>
                                      <p:to>
                                        <p:strVal val="visible"/>
                                      </p:to>
                                    </p:set>
                                    <p:animEffect transition="in" filter="wipe(left)">
                                      <p:cBhvr>
                                        <p:cTn id="14" dur="500"/>
                                        <p:tgtEl>
                                          <p:spTgt spid="120844"/>
                                        </p:tgtEl>
                                      </p:cBhvr>
                                    </p:animEffect>
                                  </p:childTnLst>
                                </p:cTn>
                              </p:par>
                            </p:childTnLst>
                          </p:cTn>
                        </p:par>
                        <p:par>
                          <p:cTn id="15" fill="hold">
                            <p:stCondLst>
                              <p:cond delay="1000"/>
                            </p:stCondLst>
                            <p:childTnLst>
                              <p:par>
                                <p:cTn id="16" presetID="22" presetClass="entr" presetSubtype="8" fill="hold" grpId="0" nodeType="afterEffect">
                                  <p:stCondLst>
                                    <p:cond delay="0"/>
                                  </p:stCondLst>
                                  <p:childTnLst>
                                    <p:set>
                                      <p:cBhvr>
                                        <p:cTn id="17" dur="1" fill="hold">
                                          <p:stCondLst>
                                            <p:cond delay="0"/>
                                          </p:stCondLst>
                                        </p:cTn>
                                        <p:tgtEl>
                                          <p:spTgt spid="120836"/>
                                        </p:tgtEl>
                                        <p:attrNameLst>
                                          <p:attrName>style.visibility</p:attrName>
                                        </p:attrNameLst>
                                      </p:cBhvr>
                                      <p:to>
                                        <p:strVal val="visible"/>
                                      </p:to>
                                    </p:set>
                                    <p:animEffect transition="in" filter="wipe(left)">
                                      <p:cBhvr>
                                        <p:cTn id="18" dur="500"/>
                                        <p:tgtEl>
                                          <p:spTgt spid="120836"/>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1"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wipe(up)">
                                      <p:cBhvr>
                                        <p:cTn id="23" dur="500"/>
                                        <p:tgtEl>
                                          <p:spTgt spid="5"/>
                                        </p:tgtEl>
                                      </p:cBhvr>
                                    </p:animEffect>
                                  </p:childTnLst>
                                </p:cTn>
                              </p:par>
                            </p:childTnLst>
                          </p:cTn>
                        </p:par>
                        <p:par>
                          <p:cTn id="24" fill="hold" nodeType="afterGroup">
                            <p:stCondLst>
                              <p:cond delay="500"/>
                            </p:stCondLst>
                            <p:childTnLst>
                              <p:par>
                                <p:cTn id="25" presetID="1" presetClass="entr" presetSubtype="0" fill="hold" grpId="0" nodeType="afterEffect" nodePh="1">
                                  <p:stCondLst>
                                    <p:cond delay="0"/>
                                  </p:stCondLst>
                                  <p:endCondLst>
                                    <p:cond evt="begin" delay="0">
                                      <p:tn val="25"/>
                                    </p:cond>
                                  </p:endCondLst>
                                  <p:childTnLst>
                                    <p:set>
                                      <p:cBhvr>
                                        <p:cTn id="26" dur="1" fill="hold">
                                          <p:stCondLst>
                                            <p:cond delay="499"/>
                                          </p:stCondLst>
                                        </p:cTn>
                                        <p:tgtEl>
                                          <p:spTgt spid="120838"/>
                                        </p:tgtEl>
                                        <p:attrNameLst>
                                          <p:attrName>style.visibility</p:attrName>
                                        </p:attrNameLst>
                                      </p:cBhvr>
                                      <p:to>
                                        <p:strVal val="visible"/>
                                      </p:to>
                                    </p:set>
                                  </p:childTnLst>
                                </p:cTn>
                              </p:par>
                            </p:childTnLst>
                          </p:cTn>
                        </p:par>
                        <p:par>
                          <p:cTn id="27" fill="hold" nodeType="afterGroup">
                            <p:stCondLst>
                              <p:cond delay="1000"/>
                            </p:stCondLst>
                            <p:childTnLst>
                              <p:par>
                                <p:cTn id="28" presetID="12" presetClass="entr" presetSubtype="1" fill="hold" grpId="0" nodeType="afterEffect">
                                  <p:stCondLst>
                                    <p:cond delay="0"/>
                                  </p:stCondLst>
                                  <p:childTnLst>
                                    <p:set>
                                      <p:cBhvr>
                                        <p:cTn id="29" dur="1" fill="hold">
                                          <p:stCondLst>
                                            <p:cond delay="0"/>
                                          </p:stCondLst>
                                        </p:cTn>
                                        <p:tgtEl>
                                          <p:spTgt spid="120868"/>
                                        </p:tgtEl>
                                        <p:attrNameLst>
                                          <p:attrName>style.visibility</p:attrName>
                                        </p:attrNameLst>
                                      </p:cBhvr>
                                      <p:to>
                                        <p:strVal val="visible"/>
                                      </p:to>
                                    </p:set>
                                    <p:animEffect transition="in" filter="slide(fromTop)">
                                      <p:cBhvr>
                                        <p:cTn id="30" dur="500"/>
                                        <p:tgtEl>
                                          <p:spTgt spid="120868"/>
                                        </p:tgtEl>
                                      </p:cBhvr>
                                    </p:animEffect>
                                  </p:childTnLst>
                                </p:cTn>
                              </p:par>
                            </p:childTnLst>
                          </p:cTn>
                        </p:par>
                        <p:par>
                          <p:cTn id="31" fill="hold" nodeType="afterGroup">
                            <p:stCondLst>
                              <p:cond delay="1500"/>
                            </p:stCondLst>
                            <p:childTnLst>
                              <p:par>
                                <p:cTn id="32" presetID="22" presetClass="entr" presetSubtype="1" fill="hold" nodeType="afterEffect">
                                  <p:stCondLst>
                                    <p:cond delay="0"/>
                                  </p:stCondLst>
                                  <p:childTnLst>
                                    <p:set>
                                      <p:cBhvr>
                                        <p:cTn id="33" dur="1" fill="hold">
                                          <p:stCondLst>
                                            <p:cond delay="0"/>
                                          </p:stCondLst>
                                        </p:cTn>
                                        <p:tgtEl>
                                          <p:spTgt spid="3"/>
                                        </p:tgtEl>
                                        <p:attrNameLst>
                                          <p:attrName>style.visibility</p:attrName>
                                        </p:attrNameLst>
                                      </p:cBhvr>
                                      <p:to>
                                        <p:strVal val="visible"/>
                                      </p:to>
                                    </p:set>
                                    <p:animEffect transition="in" filter="wipe(up)">
                                      <p:cBhvr>
                                        <p:cTn id="34" dur="500"/>
                                        <p:tgtEl>
                                          <p:spTgt spid="3"/>
                                        </p:tgtEl>
                                      </p:cBhvr>
                                    </p:animEffect>
                                  </p:childTnLst>
                                </p:cTn>
                              </p:par>
                            </p:childTnLst>
                          </p:cTn>
                        </p:par>
                        <p:par>
                          <p:cTn id="35" fill="hold" nodeType="afterGroup">
                            <p:stCondLst>
                              <p:cond delay="2000"/>
                            </p:stCondLst>
                            <p:childTnLst>
                              <p:par>
                                <p:cTn id="36" presetID="22" presetClass="entr" presetSubtype="8" fill="hold" nodeType="afterEffect">
                                  <p:stCondLst>
                                    <p:cond delay="0"/>
                                  </p:stCondLst>
                                  <p:childTnLst>
                                    <p:set>
                                      <p:cBhvr>
                                        <p:cTn id="37" dur="1" fill="hold">
                                          <p:stCondLst>
                                            <p:cond delay="0"/>
                                          </p:stCondLst>
                                        </p:cTn>
                                        <p:tgtEl>
                                          <p:spTgt spid="2"/>
                                        </p:tgtEl>
                                        <p:attrNameLst>
                                          <p:attrName>style.visibility</p:attrName>
                                        </p:attrNameLst>
                                      </p:cBhvr>
                                      <p:to>
                                        <p:strVal val="visible"/>
                                      </p:to>
                                    </p:set>
                                    <p:animEffect transition="in" filter="wipe(left)">
                                      <p:cBhvr>
                                        <p:cTn id="38" dur="500"/>
                                        <p:tgtEl>
                                          <p:spTgt spid="2"/>
                                        </p:tgtEl>
                                      </p:cBhvr>
                                    </p:animEffect>
                                  </p:childTnLst>
                                </p:cTn>
                              </p:par>
                            </p:childTnLst>
                          </p:cTn>
                        </p:par>
                        <p:par>
                          <p:cTn id="39" fill="hold" nodeType="afterGroup">
                            <p:stCondLst>
                              <p:cond delay="2500"/>
                            </p:stCondLst>
                            <p:childTnLst>
                              <p:par>
                                <p:cTn id="40" presetID="9" presetClass="entr" presetSubtype="0" fill="hold" nodeType="afterEffect">
                                  <p:stCondLst>
                                    <p:cond delay="1000"/>
                                  </p:stCondLst>
                                  <p:childTnLst>
                                    <p:set>
                                      <p:cBhvr>
                                        <p:cTn id="41" dur="1" fill="hold">
                                          <p:stCondLst>
                                            <p:cond delay="0"/>
                                          </p:stCondLst>
                                        </p:cTn>
                                        <p:tgtEl>
                                          <p:spTgt spid="120835"/>
                                        </p:tgtEl>
                                        <p:attrNameLst>
                                          <p:attrName>style.visibility</p:attrName>
                                        </p:attrNameLst>
                                      </p:cBhvr>
                                      <p:to>
                                        <p:strVal val="visible"/>
                                      </p:to>
                                    </p:set>
                                    <p:animEffect transition="in" filter="dissolve">
                                      <p:cBhvr>
                                        <p:cTn id="42" dur="500"/>
                                        <p:tgtEl>
                                          <p:spTgt spid="120835"/>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20853"/>
                                        </p:tgtEl>
                                        <p:attrNameLst>
                                          <p:attrName>style.visibility</p:attrName>
                                        </p:attrNameLst>
                                      </p:cBhvr>
                                      <p:to>
                                        <p:strVal val="visible"/>
                                      </p:to>
                                    </p:set>
                                    <p:animEffect transition="in" filter="wipe(left)">
                                      <p:cBhvr>
                                        <p:cTn id="47" dur="500"/>
                                        <p:tgtEl>
                                          <p:spTgt spid="120853"/>
                                        </p:tgtEl>
                                      </p:cBhvr>
                                    </p:animEffect>
                                  </p:childTnLst>
                                </p:cTn>
                              </p:par>
                            </p:childTnLst>
                          </p:cTn>
                        </p:par>
                        <p:par>
                          <p:cTn id="48" fill="hold" nodeType="afterGroup">
                            <p:stCondLst>
                              <p:cond delay="500"/>
                            </p:stCondLst>
                            <p:childTnLst>
                              <p:par>
                                <p:cTn id="49" presetID="22" presetClass="entr" presetSubtype="8" fill="hold" nodeType="afterEffect">
                                  <p:stCondLst>
                                    <p:cond delay="0"/>
                                  </p:stCondLst>
                                  <p:childTnLst>
                                    <p:set>
                                      <p:cBhvr>
                                        <p:cTn id="50" dur="1" fill="hold">
                                          <p:stCondLst>
                                            <p:cond delay="0"/>
                                          </p:stCondLst>
                                        </p:cTn>
                                        <p:tgtEl>
                                          <p:spTgt spid="120855"/>
                                        </p:tgtEl>
                                        <p:attrNameLst>
                                          <p:attrName>style.visibility</p:attrName>
                                        </p:attrNameLst>
                                      </p:cBhvr>
                                      <p:to>
                                        <p:strVal val="visible"/>
                                      </p:to>
                                    </p:set>
                                    <p:animEffect transition="in" filter="wipe(left)">
                                      <p:cBhvr>
                                        <p:cTn id="51" dur="500"/>
                                        <p:tgtEl>
                                          <p:spTgt spid="120855"/>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9" presetClass="entr" presetSubtype="0" fill="hold" nodeType="clickEffect">
                                  <p:stCondLst>
                                    <p:cond delay="0"/>
                                  </p:stCondLst>
                                  <p:childTnLst>
                                    <p:set>
                                      <p:cBhvr>
                                        <p:cTn id="55" dur="1" fill="hold">
                                          <p:stCondLst>
                                            <p:cond delay="0"/>
                                          </p:stCondLst>
                                        </p:cTn>
                                        <p:tgtEl>
                                          <p:spTgt spid="120854"/>
                                        </p:tgtEl>
                                        <p:attrNameLst>
                                          <p:attrName>style.visibility</p:attrName>
                                        </p:attrNameLst>
                                      </p:cBhvr>
                                      <p:to>
                                        <p:strVal val="visible"/>
                                      </p:to>
                                    </p:set>
                                    <p:animEffect transition="in" filter="dissolve">
                                      <p:cBhvr>
                                        <p:cTn id="56" dur="500"/>
                                        <p:tgtEl>
                                          <p:spTgt spid="120854"/>
                                        </p:tgtEl>
                                      </p:cBhvr>
                                    </p:animEffect>
                                  </p:childTnLst>
                                </p:cTn>
                              </p:par>
                            </p:childTnLst>
                          </p:cTn>
                        </p:par>
                        <p:par>
                          <p:cTn id="57" fill="hold" nodeType="afterGroup">
                            <p:stCondLst>
                              <p:cond delay="500"/>
                            </p:stCondLst>
                            <p:childTnLst>
                              <p:par>
                                <p:cTn id="58" presetID="9" presetClass="entr" presetSubtype="0" fill="hold" nodeType="afterEffect">
                                  <p:stCondLst>
                                    <p:cond delay="0"/>
                                  </p:stCondLst>
                                  <p:childTnLst>
                                    <p:set>
                                      <p:cBhvr>
                                        <p:cTn id="59" dur="1" fill="hold">
                                          <p:stCondLst>
                                            <p:cond delay="0"/>
                                          </p:stCondLst>
                                        </p:cTn>
                                        <p:tgtEl>
                                          <p:spTgt spid="8"/>
                                        </p:tgtEl>
                                        <p:attrNameLst>
                                          <p:attrName>style.visibility</p:attrName>
                                        </p:attrNameLst>
                                      </p:cBhvr>
                                      <p:to>
                                        <p:strVal val="visible"/>
                                      </p:to>
                                    </p:set>
                                    <p:animEffect transition="in" filter="dissolve">
                                      <p:cBhvr>
                                        <p:cTn id="60" dur="500"/>
                                        <p:tgtEl>
                                          <p:spTgt spid="8"/>
                                        </p:tgtEl>
                                      </p:cBhvr>
                                    </p:animEffect>
                                  </p:childTnLst>
                                </p:cTn>
                              </p:par>
                              <p:par>
                                <p:cTn id="61" presetID="9" presetClass="entr" presetSubtype="0" fill="hold" grpId="0" nodeType="withEffect">
                                  <p:stCondLst>
                                    <p:cond delay="0"/>
                                  </p:stCondLst>
                                  <p:childTnLst>
                                    <p:set>
                                      <p:cBhvr>
                                        <p:cTn id="62" dur="1" fill="hold">
                                          <p:stCondLst>
                                            <p:cond delay="0"/>
                                          </p:stCondLst>
                                        </p:cTn>
                                        <p:tgtEl>
                                          <p:spTgt spid="120856"/>
                                        </p:tgtEl>
                                        <p:attrNameLst>
                                          <p:attrName>style.visibility</p:attrName>
                                        </p:attrNameLst>
                                      </p:cBhvr>
                                      <p:to>
                                        <p:strVal val="visible"/>
                                      </p:to>
                                    </p:set>
                                    <p:animEffect transition="in" filter="dissolve">
                                      <p:cBhvr>
                                        <p:cTn id="63" dur="500"/>
                                        <p:tgtEl>
                                          <p:spTgt spid="120856"/>
                                        </p:tgtEl>
                                      </p:cBhvr>
                                    </p:animEffect>
                                  </p:childTnLst>
                                </p:cTn>
                              </p:par>
                            </p:childTnLst>
                          </p:cTn>
                        </p:par>
                        <p:par>
                          <p:cTn id="64" fill="hold" nodeType="afterGroup">
                            <p:stCondLst>
                              <p:cond delay="1000"/>
                            </p:stCondLst>
                            <p:childTnLst>
                              <p:par>
                                <p:cTn id="65" presetID="22" presetClass="entr" presetSubtype="8" fill="hold" nodeType="afterEffect">
                                  <p:stCondLst>
                                    <p:cond delay="0"/>
                                  </p:stCondLst>
                                  <p:childTnLst>
                                    <p:set>
                                      <p:cBhvr>
                                        <p:cTn id="66" dur="1" fill="hold">
                                          <p:stCondLst>
                                            <p:cond delay="0"/>
                                          </p:stCondLst>
                                        </p:cTn>
                                        <p:tgtEl>
                                          <p:spTgt spid="120834"/>
                                        </p:tgtEl>
                                        <p:attrNameLst>
                                          <p:attrName>style.visibility</p:attrName>
                                        </p:attrNameLst>
                                      </p:cBhvr>
                                      <p:to>
                                        <p:strVal val="visible"/>
                                      </p:to>
                                    </p:set>
                                    <p:animEffect transition="in" filter="wipe(left)">
                                      <p:cBhvr>
                                        <p:cTn id="67" dur="1000"/>
                                        <p:tgtEl>
                                          <p:spTgt spid="120834"/>
                                        </p:tgtEl>
                                      </p:cBhvr>
                                    </p:animEffect>
                                  </p:childTnLst>
                                </p:cTn>
                              </p:par>
                            </p:childTnLst>
                          </p:cTn>
                        </p:par>
                        <p:par>
                          <p:cTn id="68" fill="hold" nodeType="withGroup">
                            <p:stCondLst>
                              <p:cond delay="2000"/>
                            </p:stCondLst>
                            <p:childTnLst>
                              <p:par>
                                <p:cTn id="69" presetID="9" presetClass="entr" presetSubtype="0" fill="hold" grpId="0" nodeType="afterEffect">
                                  <p:stCondLst>
                                    <p:cond delay="0"/>
                                  </p:stCondLst>
                                  <p:childTnLst>
                                    <p:set>
                                      <p:cBhvr>
                                        <p:cTn id="70" dur="1" fill="hold">
                                          <p:stCondLst>
                                            <p:cond delay="0"/>
                                          </p:stCondLst>
                                        </p:cTn>
                                        <p:tgtEl>
                                          <p:spTgt spid="120871"/>
                                        </p:tgtEl>
                                        <p:attrNameLst>
                                          <p:attrName>style.visibility</p:attrName>
                                        </p:attrNameLst>
                                      </p:cBhvr>
                                      <p:to>
                                        <p:strVal val="visible"/>
                                      </p:to>
                                    </p:set>
                                    <p:animEffect transition="in" filter="dissolve">
                                      <p:cBhvr>
                                        <p:cTn id="71" dur="500"/>
                                        <p:tgtEl>
                                          <p:spTgt spid="120871"/>
                                        </p:tgtEl>
                                      </p:cBhvr>
                                    </p:animEffect>
                                  </p:childTnLst>
                                </p:cTn>
                              </p:par>
                              <p:par>
                                <p:cTn id="72" presetID="9" presetClass="entr" presetSubtype="0" fill="hold" grpId="0" nodeType="withEffect">
                                  <p:stCondLst>
                                    <p:cond delay="0"/>
                                  </p:stCondLst>
                                  <p:childTnLst>
                                    <p:set>
                                      <p:cBhvr>
                                        <p:cTn id="73" dur="1" fill="hold">
                                          <p:stCondLst>
                                            <p:cond delay="0"/>
                                          </p:stCondLst>
                                        </p:cTn>
                                        <p:tgtEl>
                                          <p:spTgt spid="120869"/>
                                        </p:tgtEl>
                                        <p:attrNameLst>
                                          <p:attrName>style.visibility</p:attrName>
                                        </p:attrNameLst>
                                      </p:cBhvr>
                                      <p:to>
                                        <p:strVal val="visible"/>
                                      </p:to>
                                    </p:set>
                                    <p:animEffect transition="in" filter="dissolve">
                                      <p:cBhvr>
                                        <p:cTn id="74" dur="500"/>
                                        <p:tgtEl>
                                          <p:spTgt spid="120869"/>
                                        </p:tgtEl>
                                      </p:cBhvr>
                                    </p:animEffect>
                                  </p:childTnLst>
                                </p:cTn>
                              </p:par>
                            </p:childTnLst>
                          </p:cTn>
                        </p:par>
                        <p:par>
                          <p:cTn id="75" fill="hold" nodeType="afterGroup">
                            <p:stCondLst>
                              <p:cond delay="2500"/>
                            </p:stCondLst>
                            <p:childTnLst>
                              <p:par>
                                <p:cTn id="76" presetID="9" presetClass="entr" presetSubtype="0" fill="hold" grpId="0" nodeType="afterEffect">
                                  <p:stCondLst>
                                    <p:cond delay="0"/>
                                  </p:stCondLst>
                                  <p:childTnLst>
                                    <p:set>
                                      <p:cBhvr>
                                        <p:cTn id="77" dur="1" fill="hold">
                                          <p:stCondLst>
                                            <p:cond delay="0"/>
                                          </p:stCondLst>
                                        </p:cTn>
                                        <p:tgtEl>
                                          <p:spTgt spid="120870"/>
                                        </p:tgtEl>
                                        <p:attrNameLst>
                                          <p:attrName>style.visibility</p:attrName>
                                        </p:attrNameLst>
                                      </p:cBhvr>
                                      <p:to>
                                        <p:strVal val="visible"/>
                                      </p:to>
                                    </p:set>
                                    <p:animEffect transition="in" filter="dissolve">
                                      <p:cBhvr>
                                        <p:cTn id="78" dur="500"/>
                                        <p:tgtEl>
                                          <p:spTgt spid="120870"/>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22" presetClass="entr" presetSubtype="8" fill="hold" grpId="0" nodeType="clickEffect">
                                  <p:stCondLst>
                                    <p:cond delay="0"/>
                                  </p:stCondLst>
                                  <p:childTnLst>
                                    <p:set>
                                      <p:cBhvr>
                                        <p:cTn id="82" dur="1" fill="hold">
                                          <p:stCondLst>
                                            <p:cond delay="0"/>
                                          </p:stCondLst>
                                        </p:cTn>
                                        <p:tgtEl>
                                          <p:spTgt spid="120872"/>
                                        </p:tgtEl>
                                        <p:attrNameLst>
                                          <p:attrName>style.visibility</p:attrName>
                                        </p:attrNameLst>
                                      </p:cBhvr>
                                      <p:to>
                                        <p:strVal val="visible"/>
                                      </p:to>
                                    </p:set>
                                    <p:animEffect transition="in" filter="wipe(left)">
                                      <p:cBhvr>
                                        <p:cTn id="83" dur="1000"/>
                                        <p:tgtEl>
                                          <p:spTgt spid="120872"/>
                                        </p:tgtEl>
                                      </p:cBhvr>
                                    </p:animEffect>
                                  </p:childTnLst>
                                </p:cTn>
                              </p:par>
                            </p:childTnLst>
                          </p:cTn>
                        </p:par>
                        <p:par>
                          <p:cTn id="84" fill="hold" nodeType="afterGroup">
                            <p:stCondLst>
                              <p:cond delay="1000"/>
                            </p:stCondLst>
                            <p:childTnLst>
                              <p:par>
                                <p:cTn id="85" presetID="22" presetClass="entr" presetSubtype="8" fill="hold" grpId="0" nodeType="afterEffect">
                                  <p:stCondLst>
                                    <p:cond delay="0"/>
                                  </p:stCondLst>
                                  <p:childTnLst>
                                    <p:set>
                                      <p:cBhvr>
                                        <p:cTn id="86" dur="1" fill="hold">
                                          <p:stCondLst>
                                            <p:cond delay="0"/>
                                          </p:stCondLst>
                                        </p:cTn>
                                        <p:tgtEl>
                                          <p:spTgt spid="120889"/>
                                        </p:tgtEl>
                                        <p:attrNameLst>
                                          <p:attrName>style.visibility</p:attrName>
                                        </p:attrNameLst>
                                      </p:cBhvr>
                                      <p:to>
                                        <p:strVal val="visible"/>
                                      </p:to>
                                    </p:set>
                                    <p:animEffect transition="in" filter="wipe(left)">
                                      <p:cBhvr>
                                        <p:cTn id="87" dur="500"/>
                                        <p:tgtEl>
                                          <p:spTgt spid="120889"/>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9" presetClass="entr" presetSubtype="0" fill="hold" nodeType="clickEffect">
                                  <p:stCondLst>
                                    <p:cond delay="0"/>
                                  </p:stCondLst>
                                  <p:childTnLst>
                                    <p:set>
                                      <p:cBhvr>
                                        <p:cTn id="91" dur="1" fill="hold">
                                          <p:stCondLst>
                                            <p:cond delay="0"/>
                                          </p:stCondLst>
                                        </p:cTn>
                                        <p:tgtEl>
                                          <p:spTgt spid="120876"/>
                                        </p:tgtEl>
                                        <p:attrNameLst>
                                          <p:attrName>style.visibility</p:attrName>
                                        </p:attrNameLst>
                                      </p:cBhvr>
                                      <p:to>
                                        <p:strVal val="visible"/>
                                      </p:to>
                                    </p:set>
                                    <p:animEffect transition="in" filter="dissolve">
                                      <p:cBhvr>
                                        <p:cTn id="92" dur="500"/>
                                        <p:tgtEl>
                                          <p:spTgt spid="120876"/>
                                        </p:tgtEl>
                                      </p:cBhvr>
                                    </p:animEffect>
                                  </p:childTnLst>
                                </p:cTn>
                              </p:par>
                              <p:par>
                                <p:cTn id="93" presetID="9" presetClass="entr" presetSubtype="0" fill="hold" grpId="0" nodeType="withEffect">
                                  <p:stCondLst>
                                    <p:cond delay="0"/>
                                  </p:stCondLst>
                                  <p:childTnLst>
                                    <p:set>
                                      <p:cBhvr>
                                        <p:cTn id="94" dur="1" fill="hold">
                                          <p:stCondLst>
                                            <p:cond delay="0"/>
                                          </p:stCondLst>
                                        </p:cTn>
                                        <p:tgtEl>
                                          <p:spTgt spid="120877"/>
                                        </p:tgtEl>
                                        <p:attrNameLst>
                                          <p:attrName>style.visibility</p:attrName>
                                        </p:attrNameLst>
                                      </p:cBhvr>
                                      <p:to>
                                        <p:strVal val="visible"/>
                                      </p:to>
                                    </p:set>
                                    <p:animEffect transition="in" filter="dissolve">
                                      <p:cBhvr>
                                        <p:cTn id="95" dur="500"/>
                                        <p:tgtEl>
                                          <p:spTgt spid="120877"/>
                                        </p:tgtEl>
                                      </p:cBhvr>
                                    </p:animEffect>
                                  </p:childTnLst>
                                </p:cTn>
                              </p:par>
                            </p:childTnLst>
                          </p:cTn>
                        </p:par>
                      </p:childTnLst>
                    </p:cTn>
                  </p:par>
                  <p:par>
                    <p:cTn id="96" fill="hold" nodeType="clickPar">
                      <p:stCondLst>
                        <p:cond delay="indefinite"/>
                      </p:stCondLst>
                      <p:childTnLst>
                        <p:par>
                          <p:cTn id="97" fill="hold" nodeType="withGroup">
                            <p:stCondLst>
                              <p:cond delay="0"/>
                            </p:stCondLst>
                            <p:childTnLst>
                              <p:par>
                                <p:cTn id="98" presetID="2" presetClass="entr" presetSubtype="8" fill="hold" grpId="0" nodeType="clickEffect">
                                  <p:stCondLst>
                                    <p:cond delay="0"/>
                                  </p:stCondLst>
                                  <p:childTnLst>
                                    <p:set>
                                      <p:cBhvr>
                                        <p:cTn id="99" dur="1" fill="hold">
                                          <p:stCondLst>
                                            <p:cond delay="0"/>
                                          </p:stCondLst>
                                        </p:cTn>
                                        <p:tgtEl>
                                          <p:spTgt spid="120873"/>
                                        </p:tgtEl>
                                        <p:attrNameLst>
                                          <p:attrName>style.visibility</p:attrName>
                                        </p:attrNameLst>
                                      </p:cBhvr>
                                      <p:to>
                                        <p:strVal val="visible"/>
                                      </p:to>
                                    </p:set>
                                    <p:anim calcmode="lin" valueType="num">
                                      <p:cBhvr additive="base">
                                        <p:cTn id="100" dur="500" fill="hold"/>
                                        <p:tgtEl>
                                          <p:spTgt spid="120873"/>
                                        </p:tgtEl>
                                        <p:attrNameLst>
                                          <p:attrName>ppt_x</p:attrName>
                                        </p:attrNameLst>
                                      </p:cBhvr>
                                      <p:tavLst>
                                        <p:tav tm="0">
                                          <p:val>
                                            <p:strVal val="0-#ppt_w/2"/>
                                          </p:val>
                                        </p:tav>
                                        <p:tav tm="100000">
                                          <p:val>
                                            <p:strVal val="#ppt_x"/>
                                          </p:val>
                                        </p:tav>
                                      </p:tavLst>
                                    </p:anim>
                                    <p:anim calcmode="lin" valueType="num">
                                      <p:cBhvr additive="base">
                                        <p:cTn id="101" dur="500" fill="hold"/>
                                        <p:tgtEl>
                                          <p:spTgt spid="120873"/>
                                        </p:tgtEl>
                                        <p:attrNameLst>
                                          <p:attrName>ppt_y</p:attrName>
                                        </p:attrNameLst>
                                      </p:cBhvr>
                                      <p:tavLst>
                                        <p:tav tm="0">
                                          <p:val>
                                            <p:strVal val="#ppt_y"/>
                                          </p:val>
                                        </p:tav>
                                        <p:tav tm="100000">
                                          <p:val>
                                            <p:strVal val="#ppt_y"/>
                                          </p:val>
                                        </p:tav>
                                      </p:tavLst>
                                    </p:anim>
                                  </p:childTnLst>
                                </p:cTn>
                              </p:par>
                              <p:par>
                                <p:cTn id="102" presetID="2" presetClass="entr" presetSubtype="8" fill="hold" grpId="0" nodeType="withEffect">
                                  <p:stCondLst>
                                    <p:cond delay="0"/>
                                  </p:stCondLst>
                                  <p:childTnLst>
                                    <p:set>
                                      <p:cBhvr>
                                        <p:cTn id="103" dur="1" fill="hold">
                                          <p:stCondLst>
                                            <p:cond delay="0"/>
                                          </p:stCondLst>
                                        </p:cTn>
                                        <p:tgtEl>
                                          <p:spTgt spid="120890"/>
                                        </p:tgtEl>
                                        <p:attrNameLst>
                                          <p:attrName>style.visibility</p:attrName>
                                        </p:attrNameLst>
                                      </p:cBhvr>
                                      <p:to>
                                        <p:strVal val="visible"/>
                                      </p:to>
                                    </p:set>
                                    <p:anim calcmode="lin" valueType="num">
                                      <p:cBhvr additive="base">
                                        <p:cTn id="104" dur="500" fill="hold"/>
                                        <p:tgtEl>
                                          <p:spTgt spid="120890"/>
                                        </p:tgtEl>
                                        <p:attrNameLst>
                                          <p:attrName>ppt_x</p:attrName>
                                        </p:attrNameLst>
                                      </p:cBhvr>
                                      <p:tavLst>
                                        <p:tav tm="0">
                                          <p:val>
                                            <p:strVal val="0-#ppt_w/2"/>
                                          </p:val>
                                        </p:tav>
                                        <p:tav tm="100000">
                                          <p:val>
                                            <p:strVal val="#ppt_x"/>
                                          </p:val>
                                        </p:tav>
                                      </p:tavLst>
                                    </p:anim>
                                    <p:anim calcmode="lin" valueType="num">
                                      <p:cBhvr additive="base">
                                        <p:cTn id="105" dur="500" fill="hold"/>
                                        <p:tgtEl>
                                          <p:spTgt spid="120890"/>
                                        </p:tgtEl>
                                        <p:attrNameLst>
                                          <p:attrName>ppt_y</p:attrName>
                                        </p:attrNameLst>
                                      </p:cBhvr>
                                      <p:tavLst>
                                        <p:tav tm="0">
                                          <p:val>
                                            <p:strVal val="#ppt_y"/>
                                          </p:val>
                                        </p:tav>
                                        <p:tav tm="100000">
                                          <p:val>
                                            <p:strVal val="#ppt_y"/>
                                          </p:val>
                                        </p:tav>
                                      </p:tavLst>
                                    </p:anim>
                                  </p:childTnLst>
                                </p:cTn>
                              </p:par>
                            </p:childTnLst>
                          </p:cTn>
                        </p:par>
                        <p:par>
                          <p:cTn id="106" fill="hold" nodeType="afterGroup">
                            <p:stCondLst>
                              <p:cond delay="500"/>
                            </p:stCondLst>
                            <p:childTnLst>
                              <p:par>
                                <p:cTn id="107" presetID="9" presetClass="entr" presetSubtype="0" fill="hold" grpId="0" nodeType="afterEffect">
                                  <p:stCondLst>
                                    <p:cond delay="0"/>
                                  </p:stCondLst>
                                  <p:childTnLst>
                                    <p:set>
                                      <p:cBhvr>
                                        <p:cTn id="108" dur="1" fill="hold">
                                          <p:stCondLst>
                                            <p:cond delay="0"/>
                                          </p:stCondLst>
                                        </p:cTn>
                                        <p:tgtEl>
                                          <p:spTgt spid="120892"/>
                                        </p:tgtEl>
                                        <p:attrNameLst>
                                          <p:attrName>style.visibility</p:attrName>
                                        </p:attrNameLst>
                                      </p:cBhvr>
                                      <p:to>
                                        <p:strVal val="visible"/>
                                      </p:to>
                                    </p:set>
                                    <p:animEffect transition="in" filter="dissolve">
                                      <p:cBhvr>
                                        <p:cTn id="109" dur="500"/>
                                        <p:tgtEl>
                                          <p:spTgt spid="120892"/>
                                        </p:tgtEl>
                                      </p:cBhvr>
                                    </p:animEffect>
                                  </p:childTnLst>
                                </p:cTn>
                              </p:par>
                              <p:par>
                                <p:cTn id="110" presetID="2" presetClass="entr" presetSubtype="2" fill="hold" nodeType="withEffect">
                                  <p:stCondLst>
                                    <p:cond delay="0"/>
                                  </p:stCondLst>
                                  <p:childTnLst>
                                    <p:set>
                                      <p:cBhvr>
                                        <p:cTn id="111" dur="1" fill="hold">
                                          <p:stCondLst>
                                            <p:cond delay="0"/>
                                          </p:stCondLst>
                                        </p:cTn>
                                        <p:tgtEl>
                                          <p:spTgt spid="120885"/>
                                        </p:tgtEl>
                                        <p:attrNameLst>
                                          <p:attrName>style.visibility</p:attrName>
                                        </p:attrNameLst>
                                      </p:cBhvr>
                                      <p:to>
                                        <p:strVal val="visible"/>
                                      </p:to>
                                    </p:set>
                                    <p:anim calcmode="lin" valueType="num">
                                      <p:cBhvr additive="base">
                                        <p:cTn id="112" dur="500" fill="hold"/>
                                        <p:tgtEl>
                                          <p:spTgt spid="120885"/>
                                        </p:tgtEl>
                                        <p:attrNameLst>
                                          <p:attrName>ppt_x</p:attrName>
                                        </p:attrNameLst>
                                      </p:cBhvr>
                                      <p:tavLst>
                                        <p:tav tm="0">
                                          <p:val>
                                            <p:strVal val="1+#ppt_w/2"/>
                                          </p:val>
                                        </p:tav>
                                        <p:tav tm="100000">
                                          <p:val>
                                            <p:strVal val="#ppt_x"/>
                                          </p:val>
                                        </p:tav>
                                      </p:tavLst>
                                    </p:anim>
                                    <p:anim calcmode="lin" valueType="num">
                                      <p:cBhvr additive="base">
                                        <p:cTn id="113" dur="500" fill="hold"/>
                                        <p:tgtEl>
                                          <p:spTgt spid="120885"/>
                                        </p:tgtEl>
                                        <p:attrNameLst>
                                          <p:attrName>ppt_y</p:attrName>
                                        </p:attrNameLst>
                                      </p:cBhvr>
                                      <p:tavLst>
                                        <p:tav tm="0">
                                          <p:val>
                                            <p:strVal val="#ppt_y"/>
                                          </p:val>
                                        </p:tav>
                                        <p:tav tm="100000">
                                          <p:val>
                                            <p:strVal val="#ppt_y"/>
                                          </p:val>
                                        </p:tav>
                                      </p:tavLst>
                                    </p:anim>
                                  </p:childTnLst>
                                </p:cTn>
                              </p:par>
                              <p:par>
                                <p:cTn id="114" presetID="2" presetClass="entr" presetSubtype="2" fill="hold" nodeType="withEffect">
                                  <p:stCondLst>
                                    <p:cond delay="0"/>
                                  </p:stCondLst>
                                  <p:childTnLst>
                                    <p:set>
                                      <p:cBhvr>
                                        <p:cTn id="115" dur="1" fill="hold">
                                          <p:stCondLst>
                                            <p:cond delay="0"/>
                                          </p:stCondLst>
                                        </p:cTn>
                                        <p:tgtEl>
                                          <p:spTgt spid="120891"/>
                                        </p:tgtEl>
                                        <p:attrNameLst>
                                          <p:attrName>style.visibility</p:attrName>
                                        </p:attrNameLst>
                                      </p:cBhvr>
                                      <p:to>
                                        <p:strVal val="visible"/>
                                      </p:to>
                                    </p:set>
                                    <p:anim calcmode="lin" valueType="num">
                                      <p:cBhvr additive="base">
                                        <p:cTn id="116" dur="500" fill="hold"/>
                                        <p:tgtEl>
                                          <p:spTgt spid="120891"/>
                                        </p:tgtEl>
                                        <p:attrNameLst>
                                          <p:attrName>ppt_x</p:attrName>
                                        </p:attrNameLst>
                                      </p:cBhvr>
                                      <p:tavLst>
                                        <p:tav tm="0">
                                          <p:val>
                                            <p:strVal val="1+#ppt_w/2"/>
                                          </p:val>
                                        </p:tav>
                                        <p:tav tm="100000">
                                          <p:val>
                                            <p:strVal val="#ppt_x"/>
                                          </p:val>
                                        </p:tav>
                                      </p:tavLst>
                                    </p:anim>
                                    <p:anim calcmode="lin" valueType="num">
                                      <p:cBhvr additive="base">
                                        <p:cTn id="117" dur="500" fill="hold"/>
                                        <p:tgtEl>
                                          <p:spTgt spid="120891"/>
                                        </p:tgtEl>
                                        <p:attrNameLst>
                                          <p:attrName>ppt_y</p:attrName>
                                        </p:attrNameLst>
                                      </p:cBhvr>
                                      <p:tavLst>
                                        <p:tav tm="0">
                                          <p:val>
                                            <p:strVal val="#ppt_y"/>
                                          </p:val>
                                        </p:tav>
                                        <p:tav tm="100000">
                                          <p:val>
                                            <p:strVal val="#ppt_y"/>
                                          </p:val>
                                        </p:tav>
                                      </p:tavLst>
                                    </p:anim>
                                  </p:childTnLst>
                                </p:cTn>
                              </p:par>
                              <p:par>
                                <p:cTn id="118" presetID="9" presetClass="entr" presetSubtype="0" fill="hold" grpId="0" nodeType="withEffect">
                                  <p:stCondLst>
                                    <p:cond delay="0"/>
                                  </p:stCondLst>
                                  <p:childTnLst>
                                    <p:set>
                                      <p:cBhvr>
                                        <p:cTn id="119" dur="1" fill="hold">
                                          <p:stCondLst>
                                            <p:cond delay="0"/>
                                          </p:stCondLst>
                                        </p:cTn>
                                        <p:tgtEl>
                                          <p:spTgt spid="120882"/>
                                        </p:tgtEl>
                                        <p:attrNameLst>
                                          <p:attrName>style.visibility</p:attrName>
                                        </p:attrNameLst>
                                      </p:cBhvr>
                                      <p:to>
                                        <p:strVal val="visible"/>
                                      </p:to>
                                    </p:set>
                                    <p:animEffect transition="in" filter="dissolve">
                                      <p:cBhvr>
                                        <p:cTn id="120" dur="500"/>
                                        <p:tgtEl>
                                          <p:spTgt spid="120882"/>
                                        </p:tgtEl>
                                      </p:cBhvr>
                                    </p:animEffect>
                                  </p:childTnLst>
                                </p:cTn>
                              </p:par>
                            </p:childTnLst>
                          </p:cTn>
                        </p:par>
                        <p:par>
                          <p:cTn id="121" fill="hold" nodeType="afterGroup">
                            <p:stCondLst>
                              <p:cond delay="1000"/>
                            </p:stCondLst>
                            <p:childTnLst>
                              <p:par>
                                <p:cTn id="122" presetID="18" presetClass="entr" presetSubtype="3" fill="hold" nodeType="afterEffect">
                                  <p:stCondLst>
                                    <p:cond delay="0"/>
                                  </p:stCondLst>
                                  <p:childTnLst>
                                    <p:set>
                                      <p:cBhvr>
                                        <p:cTn id="123" dur="1" fill="hold">
                                          <p:stCondLst>
                                            <p:cond delay="0"/>
                                          </p:stCondLst>
                                        </p:cTn>
                                        <p:tgtEl>
                                          <p:spTgt spid="120883"/>
                                        </p:tgtEl>
                                        <p:attrNameLst>
                                          <p:attrName>style.visibility</p:attrName>
                                        </p:attrNameLst>
                                      </p:cBhvr>
                                      <p:to>
                                        <p:strVal val="visible"/>
                                      </p:to>
                                    </p:set>
                                    <p:animEffect transition="in" filter="strips(upRight)">
                                      <p:cBhvr>
                                        <p:cTn id="124" dur="500"/>
                                        <p:tgtEl>
                                          <p:spTgt spid="120883"/>
                                        </p:tgtEl>
                                      </p:cBhvr>
                                    </p:animEffect>
                                  </p:childTnLst>
                                </p:cTn>
                              </p:par>
                              <p:par>
                                <p:cTn id="125" presetID="18" presetClass="entr" presetSubtype="9" fill="hold" nodeType="withEffect">
                                  <p:stCondLst>
                                    <p:cond delay="0"/>
                                  </p:stCondLst>
                                  <p:childTnLst>
                                    <p:set>
                                      <p:cBhvr>
                                        <p:cTn id="126" dur="1" fill="hold">
                                          <p:stCondLst>
                                            <p:cond delay="0"/>
                                          </p:stCondLst>
                                        </p:cTn>
                                        <p:tgtEl>
                                          <p:spTgt spid="120884"/>
                                        </p:tgtEl>
                                        <p:attrNameLst>
                                          <p:attrName>style.visibility</p:attrName>
                                        </p:attrNameLst>
                                      </p:cBhvr>
                                      <p:to>
                                        <p:strVal val="visible"/>
                                      </p:to>
                                    </p:set>
                                    <p:animEffect transition="in" filter="strips(upLeft)">
                                      <p:cBhvr>
                                        <p:cTn id="127" dur="500"/>
                                        <p:tgtEl>
                                          <p:spTgt spid="120884"/>
                                        </p:tgtEl>
                                      </p:cBhvr>
                                    </p:animEffect>
                                  </p:childTnLst>
                                </p:cTn>
                              </p:par>
                            </p:childTnLst>
                          </p:cTn>
                        </p:par>
                        <p:par>
                          <p:cTn id="128" fill="hold" nodeType="afterGroup">
                            <p:stCondLst>
                              <p:cond delay="1500"/>
                            </p:stCondLst>
                            <p:childTnLst>
                              <p:par>
                                <p:cTn id="129" presetID="9" presetClass="entr" presetSubtype="0" fill="hold" grpId="0" nodeType="afterEffect">
                                  <p:stCondLst>
                                    <p:cond delay="0"/>
                                  </p:stCondLst>
                                  <p:childTnLst>
                                    <p:set>
                                      <p:cBhvr>
                                        <p:cTn id="130" dur="1" fill="hold">
                                          <p:stCondLst>
                                            <p:cond delay="0"/>
                                          </p:stCondLst>
                                        </p:cTn>
                                        <p:tgtEl>
                                          <p:spTgt spid="120878"/>
                                        </p:tgtEl>
                                        <p:attrNameLst>
                                          <p:attrName>style.visibility</p:attrName>
                                        </p:attrNameLst>
                                      </p:cBhvr>
                                      <p:to>
                                        <p:strVal val="visible"/>
                                      </p:to>
                                    </p:set>
                                    <p:animEffect transition="in" filter="dissolve">
                                      <p:cBhvr>
                                        <p:cTn id="131" dur="500"/>
                                        <p:tgtEl>
                                          <p:spTgt spid="120878"/>
                                        </p:tgtEl>
                                      </p:cBhvr>
                                    </p:animEffect>
                                  </p:childTnLst>
                                </p:cTn>
                              </p:par>
                            </p:childTnLst>
                          </p:cTn>
                        </p:par>
                      </p:childTnLst>
                    </p:cTn>
                  </p:par>
                  <p:par>
                    <p:cTn id="132" fill="hold" nodeType="clickPar">
                      <p:stCondLst>
                        <p:cond delay="indefinite"/>
                      </p:stCondLst>
                      <p:childTnLst>
                        <p:par>
                          <p:cTn id="133" fill="hold" nodeType="withGroup">
                            <p:stCondLst>
                              <p:cond delay="0"/>
                            </p:stCondLst>
                            <p:childTnLst>
                              <p:par>
                                <p:cTn id="134" presetID="2" presetClass="entr" presetSubtype="4" fill="hold" grpId="0" nodeType="clickEffect">
                                  <p:stCondLst>
                                    <p:cond delay="0"/>
                                  </p:stCondLst>
                                  <p:childTnLst>
                                    <p:set>
                                      <p:cBhvr>
                                        <p:cTn id="135" dur="1" fill="hold">
                                          <p:stCondLst>
                                            <p:cond delay="0"/>
                                          </p:stCondLst>
                                        </p:cTn>
                                        <p:tgtEl>
                                          <p:spTgt spid="120874"/>
                                        </p:tgtEl>
                                        <p:attrNameLst>
                                          <p:attrName>style.visibility</p:attrName>
                                        </p:attrNameLst>
                                      </p:cBhvr>
                                      <p:to>
                                        <p:strVal val="visible"/>
                                      </p:to>
                                    </p:set>
                                    <p:anim calcmode="lin" valueType="num">
                                      <p:cBhvr additive="base">
                                        <p:cTn id="136" dur="500" fill="hold"/>
                                        <p:tgtEl>
                                          <p:spTgt spid="120874"/>
                                        </p:tgtEl>
                                        <p:attrNameLst>
                                          <p:attrName>ppt_x</p:attrName>
                                        </p:attrNameLst>
                                      </p:cBhvr>
                                      <p:tavLst>
                                        <p:tav tm="0">
                                          <p:val>
                                            <p:strVal val="#ppt_x"/>
                                          </p:val>
                                        </p:tav>
                                        <p:tav tm="100000">
                                          <p:val>
                                            <p:strVal val="#ppt_x"/>
                                          </p:val>
                                        </p:tav>
                                      </p:tavLst>
                                    </p:anim>
                                    <p:anim calcmode="lin" valueType="num">
                                      <p:cBhvr additive="base">
                                        <p:cTn id="137" dur="500" fill="hold"/>
                                        <p:tgtEl>
                                          <p:spTgt spid="120874"/>
                                        </p:tgtEl>
                                        <p:attrNameLst>
                                          <p:attrName>ppt_y</p:attrName>
                                        </p:attrNameLst>
                                      </p:cBhvr>
                                      <p:tavLst>
                                        <p:tav tm="0">
                                          <p:val>
                                            <p:strVal val="1+#ppt_h/2"/>
                                          </p:val>
                                        </p:tav>
                                        <p:tav tm="100000">
                                          <p:val>
                                            <p:strVal val="#ppt_y"/>
                                          </p:val>
                                        </p:tav>
                                      </p:tavLst>
                                    </p:anim>
                                  </p:childTnLst>
                                </p:cTn>
                              </p:par>
                            </p:childTnLst>
                          </p:cTn>
                        </p:par>
                        <p:par>
                          <p:cTn id="138" fill="hold" nodeType="afterGroup">
                            <p:stCondLst>
                              <p:cond delay="500"/>
                            </p:stCondLst>
                            <p:childTnLst>
                              <p:par>
                                <p:cTn id="139" presetID="9" presetClass="entr" presetSubtype="0" fill="hold" grpId="0" nodeType="afterEffect">
                                  <p:stCondLst>
                                    <p:cond delay="0"/>
                                  </p:stCondLst>
                                  <p:childTnLst>
                                    <p:set>
                                      <p:cBhvr>
                                        <p:cTn id="140" dur="1" fill="hold">
                                          <p:stCondLst>
                                            <p:cond delay="0"/>
                                          </p:stCondLst>
                                        </p:cTn>
                                        <p:tgtEl>
                                          <p:spTgt spid="120888"/>
                                        </p:tgtEl>
                                        <p:attrNameLst>
                                          <p:attrName>style.visibility</p:attrName>
                                        </p:attrNameLst>
                                      </p:cBhvr>
                                      <p:to>
                                        <p:strVal val="visible"/>
                                      </p:to>
                                    </p:set>
                                    <p:animEffect transition="in" filter="dissolve">
                                      <p:cBhvr>
                                        <p:cTn id="141" dur="500"/>
                                        <p:tgtEl>
                                          <p:spTgt spid="120888"/>
                                        </p:tgtEl>
                                      </p:cBhvr>
                                    </p:animEffect>
                                  </p:childTnLst>
                                </p:cTn>
                              </p:par>
                            </p:childTnLst>
                          </p:cTn>
                        </p:par>
                        <p:par>
                          <p:cTn id="142" fill="hold" nodeType="afterGroup">
                            <p:stCondLst>
                              <p:cond delay="1000"/>
                            </p:stCondLst>
                            <p:childTnLst>
                              <p:par>
                                <p:cTn id="143" presetID="12" presetClass="entr" presetSubtype="4" fill="hold" grpId="0" nodeType="afterEffect">
                                  <p:stCondLst>
                                    <p:cond delay="600"/>
                                  </p:stCondLst>
                                  <p:childTnLst>
                                    <p:set>
                                      <p:cBhvr>
                                        <p:cTn id="144" dur="1" fill="hold">
                                          <p:stCondLst>
                                            <p:cond delay="0"/>
                                          </p:stCondLst>
                                        </p:cTn>
                                        <p:tgtEl>
                                          <p:spTgt spid="120875"/>
                                        </p:tgtEl>
                                        <p:attrNameLst>
                                          <p:attrName>style.visibility</p:attrName>
                                        </p:attrNameLst>
                                      </p:cBhvr>
                                      <p:to>
                                        <p:strVal val="visible"/>
                                      </p:to>
                                    </p:set>
                                    <p:animEffect transition="in" filter="slide(fromBottom)">
                                      <p:cBhvr>
                                        <p:cTn id="145" dur="500"/>
                                        <p:tgtEl>
                                          <p:spTgt spid="120875"/>
                                        </p:tgtEl>
                                      </p:cBhvr>
                                    </p:animEffect>
                                  </p:childTnLst>
                                </p:cTn>
                              </p:par>
                            </p:childTnLst>
                          </p:cTn>
                        </p:par>
                      </p:childTnLst>
                    </p:cTn>
                  </p:par>
                  <p:par>
                    <p:cTn id="146" fill="hold" nodeType="clickPar">
                      <p:stCondLst>
                        <p:cond delay="indefinite"/>
                      </p:stCondLst>
                      <p:childTnLst>
                        <p:par>
                          <p:cTn id="147" fill="hold" nodeType="withGroup">
                            <p:stCondLst>
                              <p:cond delay="0"/>
                            </p:stCondLst>
                            <p:childTnLst>
                              <p:par>
                                <p:cTn id="148" presetID="12" presetClass="entr" presetSubtype="2" fill="hold" grpId="0" nodeType="clickEffect">
                                  <p:stCondLst>
                                    <p:cond delay="0"/>
                                  </p:stCondLst>
                                  <p:childTnLst>
                                    <p:set>
                                      <p:cBhvr>
                                        <p:cTn id="149" dur="1" fill="hold">
                                          <p:stCondLst>
                                            <p:cond delay="0"/>
                                          </p:stCondLst>
                                        </p:cTn>
                                        <p:tgtEl>
                                          <p:spTgt spid="120886"/>
                                        </p:tgtEl>
                                        <p:attrNameLst>
                                          <p:attrName>style.visibility</p:attrName>
                                        </p:attrNameLst>
                                      </p:cBhvr>
                                      <p:to>
                                        <p:strVal val="visible"/>
                                      </p:to>
                                    </p:set>
                                    <p:animEffect transition="in" filter="slide(fromRight)">
                                      <p:cBhvr>
                                        <p:cTn id="150" dur="500"/>
                                        <p:tgtEl>
                                          <p:spTgt spid="120886"/>
                                        </p:tgtEl>
                                      </p:cBhvr>
                                    </p:animEffect>
                                  </p:childTnLst>
                                </p:cTn>
                              </p:par>
                            </p:childTnLst>
                          </p:cTn>
                        </p:par>
                        <p:par>
                          <p:cTn id="151" fill="hold" nodeType="afterGroup">
                            <p:stCondLst>
                              <p:cond delay="500"/>
                            </p:stCondLst>
                            <p:childTnLst>
                              <p:par>
                                <p:cTn id="152" presetID="12" presetClass="entr" presetSubtype="8" fill="hold" grpId="0" nodeType="afterEffect">
                                  <p:stCondLst>
                                    <p:cond delay="0"/>
                                  </p:stCondLst>
                                  <p:childTnLst>
                                    <p:set>
                                      <p:cBhvr>
                                        <p:cTn id="153" dur="1" fill="hold">
                                          <p:stCondLst>
                                            <p:cond delay="0"/>
                                          </p:stCondLst>
                                        </p:cTn>
                                        <p:tgtEl>
                                          <p:spTgt spid="120887"/>
                                        </p:tgtEl>
                                        <p:attrNameLst>
                                          <p:attrName>style.visibility</p:attrName>
                                        </p:attrNameLst>
                                      </p:cBhvr>
                                      <p:to>
                                        <p:strVal val="visible"/>
                                      </p:to>
                                    </p:set>
                                    <p:animEffect transition="in" filter="slide(fromLeft)">
                                      <p:cBhvr>
                                        <p:cTn id="154" dur="500"/>
                                        <p:tgtEl>
                                          <p:spTgt spid="120887"/>
                                        </p:tgtEl>
                                      </p:cBhvr>
                                    </p:animEffect>
                                  </p:childTnLst>
                                </p:cTn>
                              </p:par>
                            </p:childTnLst>
                          </p:cTn>
                        </p:par>
                      </p:childTnLst>
                    </p:cTn>
                  </p:par>
                  <p:par>
                    <p:cTn id="155" fill="hold" nodeType="clickPar">
                      <p:stCondLst>
                        <p:cond delay="indefinite"/>
                      </p:stCondLst>
                      <p:childTnLst>
                        <p:par>
                          <p:cTn id="156" fill="hold" nodeType="withGroup">
                            <p:stCondLst>
                              <p:cond delay="0"/>
                            </p:stCondLst>
                            <p:childTnLst>
                              <p:par>
                                <p:cTn id="157" presetID="12" presetClass="entr" presetSubtype="8" fill="hold" nodeType="clickEffect">
                                  <p:stCondLst>
                                    <p:cond delay="0"/>
                                  </p:stCondLst>
                                  <p:childTnLst>
                                    <p:set>
                                      <p:cBhvr>
                                        <p:cTn id="158" dur="1" fill="hold">
                                          <p:stCondLst>
                                            <p:cond delay="0"/>
                                          </p:stCondLst>
                                        </p:cTn>
                                        <p:tgtEl>
                                          <p:spTgt spid="9"/>
                                        </p:tgtEl>
                                        <p:attrNameLst>
                                          <p:attrName>style.visibility</p:attrName>
                                        </p:attrNameLst>
                                      </p:cBhvr>
                                      <p:to>
                                        <p:strVal val="visible"/>
                                      </p:to>
                                    </p:set>
                                    <p:animEffect transition="in" filter="slide(fromLeft)">
                                      <p:cBhvr>
                                        <p:cTn id="15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836" grpId="0" autoUpdateAnimBg="0"/>
      <p:bldP spid="120838" grpId="0" autoUpdateAnimBg="0"/>
      <p:bldP spid="120839" grpId="0"/>
      <p:bldP spid="120840" grpId="0" animBg="1"/>
      <p:bldP spid="120844" grpId="0" animBg="1"/>
      <p:bldP spid="120853" grpId="0" autoUpdateAnimBg="0"/>
      <p:bldP spid="120856" grpId="0" autoUpdateAnimBg="0"/>
      <p:bldP spid="120868" grpId="0" animBg="1"/>
      <p:bldP spid="120869" grpId="0"/>
      <p:bldP spid="120870" grpId="0"/>
      <p:bldP spid="120871" grpId="0" animBg="1"/>
      <p:bldP spid="120872" grpId="0"/>
      <p:bldP spid="120873" grpId="0" animBg="1"/>
      <p:bldP spid="120874" grpId="0" animBg="1"/>
      <p:bldP spid="120875" grpId="0" animBg="1"/>
      <p:bldP spid="120877" grpId="0"/>
      <p:bldP spid="120878" grpId="0"/>
      <p:bldP spid="120882" grpId="0"/>
      <p:bldP spid="120886" grpId="0" animBg="1"/>
      <p:bldP spid="120887" grpId="0" animBg="1"/>
      <p:bldP spid="120888" grpId="0"/>
      <p:bldP spid="120889" grpId="0"/>
      <p:bldP spid="120890" grpId="0" animBg="1"/>
      <p:bldP spid="12089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C3D43C8E-0177-495B-A783-B83E1C5E9CBB}"/>
              </a:ext>
            </a:extLst>
          </p:cNvPr>
          <p:cNvSpPr>
            <a:spLocks noChangeArrowheads="1"/>
          </p:cNvSpPr>
          <p:nvPr/>
        </p:nvSpPr>
        <p:spPr bwMode="auto">
          <a:xfrm>
            <a:off x="323850" y="244475"/>
            <a:ext cx="244792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pPr>
            <a:r>
              <a:rPr lang="en-US" altLang="zh-CN">
                <a:solidFill>
                  <a:srgbClr val="00FFFF"/>
                </a:solidFill>
                <a:ea typeface="华文中宋" panose="02010600040101010101" pitchFamily="2" charset="-122"/>
              </a:rPr>
              <a:t>2.</a:t>
            </a:r>
            <a:r>
              <a:rPr lang="zh-CN" altLang="en-US">
                <a:solidFill>
                  <a:srgbClr val="00FFFF"/>
                </a:solidFill>
                <a:ea typeface="华文中宋" panose="02010600040101010101" pitchFamily="2" charset="-122"/>
              </a:rPr>
              <a:t>谐振腔的作用</a:t>
            </a:r>
          </a:p>
        </p:txBody>
      </p:sp>
      <p:sp>
        <p:nvSpPr>
          <p:cNvPr id="32771" name="Rectangle 3">
            <a:extLst>
              <a:ext uri="{FF2B5EF4-FFF2-40B4-BE49-F238E27FC236}">
                <a16:creationId xmlns:a16="http://schemas.microsoft.com/office/drawing/2014/main" id="{C95FDDF7-71AF-4463-BAF9-08E999D2C570}"/>
              </a:ext>
            </a:extLst>
          </p:cNvPr>
          <p:cNvSpPr>
            <a:spLocks noChangeArrowheads="1"/>
          </p:cNvSpPr>
          <p:nvPr/>
        </p:nvSpPr>
        <p:spPr bwMode="auto">
          <a:xfrm>
            <a:off x="4538663" y="601663"/>
            <a:ext cx="3817937" cy="1368425"/>
          </a:xfrm>
          <a:prstGeom prst="rect">
            <a:avLst/>
          </a:prstGeom>
          <a:solidFill>
            <a:srgbClr val="0066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21860" name="Line 4">
            <a:extLst>
              <a:ext uri="{FF2B5EF4-FFF2-40B4-BE49-F238E27FC236}">
                <a16:creationId xmlns:a16="http://schemas.microsoft.com/office/drawing/2014/main" id="{98F66438-998E-4A6C-8748-044435DFCC57}"/>
              </a:ext>
            </a:extLst>
          </p:cNvPr>
          <p:cNvSpPr>
            <a:spLocks noChangeShapeType="1"/>
          </p:cNvSpPr>
          <p:nvPr/>
        </p:nvSpPr>
        <p:spPr bwMode="auto">
          <a:xfrm flipH="1">
            <a:off x="7564438" y="1214438"/>
            <a:ext cx="649287" cy="0"/>
          </a:xfrm>
          <a:prstGeom prst="line">
            <a:avLst/>
          </a:prstGeom>
          <a:noFill/>
          <a:ln w="38100">
            <a:solidFill>
              <a:srgbClr val="00FF99"/>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2" name="Group 5">
            <a:extLst>
              <a:ext uri="{FF2B5EF4-FFF2-40B4-BE49-F238E27FC236}">
                <a16:creationId xmlns:a16="http://schemas.microsoft.com/office/drawing/2014/main" id="{28BF1AB2-7A97-42C9-B291-7F74B867CEFD}"/>
              </a:ext>
            </a:extLst>
          </p:cNvPr>
          <p:cNvGrpSpPr>
            <a:grpSpLocks/>
          </p:cNvGrpSpPr>
          <p:nvPr/>
        </p:nvGrpSpPr>
        <p:grpSpPr bwMode="auto">
          <a:xfrm>
            <a:off x="6699250" y="1106488"/>
            <a:ext cx="579438" cy="215900"/>
            <a:chOff x="3288" y="1298"/>
            <a:chExt cx="365" cy="136"/>
          </a:xfrm>
        </p:grpSpPr>
        <p:sp>
          <p:nvSpPr>
            <p:cNvPr id="32848" name="Line 6">
              <a:extLst>
                <a:ext uri="{FF2B5EF4-FFF2-40B4-BE49-F238E27FC236}">
                  <a16:creationId xmlns:a16="http://schemas.microsoft.com/office/drawing/2014/main" id="{E6C6A09B-9782-4071-B9C0-2924F5AD41F9}"/>
                </a:ext>
              </a:extLst>
            </p:cNvPr>
            <p:cNvSpPr>
              <a:spLocks noChangeShapeType="1"/>
            </p:cNvSpPr>
            <p:nvPr/>
          </p:nvSpPr>
          <p:spPr bwMode="auto">
            <a:xfrm flipH="1">
              <a:off x="3288" y="1298"/>
              <a:ext cx="364" cy="0"/>
            </a:xfrm>
            <a:prstGeom prst="line">
              <a:avLst/>
            </a:prstGeom>
            <a:noFill/>
            <a:ln w="38100">
              <a:solidFill>
                <a:srgbClr val="00FF99"/>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2849" name="Line 7">
              <a:extLst>
                <a:ext uri="{FF2B5EF4-FFF2-40B4-BE49-F238E27FC236}">
                  <a16:creationId xmlns:a16="http://schemas.microsoft.com/office/drawing/2014/main" id="{F905A33C-0BB9-4A7F-A1C7-214390179097}"/>
                </a:ext>
              </a:extLst>
            </p:cNvPr>
            <p:cNvSpPr>
              <a:spLocks noChangeShapeType="1"/>
            </p:cNvSpPr>
            <p:nvPr/>
          </p:nvSpPr>
          <p:spPr bwMode="auto">
            <a:xfrm flipH="1">
              <a:off x="3288" y="1434"/>
              <a:ext cx="365" cy="0"/>
            </a:xfrm>
            <a:prstGeom prst="line">
              <a:avLst/>
            </a:prstGeom>
            <a:noFill/>
            <a:ln w="38100">
              <a:solidFill>
                <a:srgbClr val="00FF99"/>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3" name="Group 8">
            <a:extLst>
              <a:ext uri="{FF2B5EF4-FFF2-40B4-BE49-F238E27FC236}">
                <a16:creationId xmlns:a16="http://schemas.microsoft.com/office/drawing/2014/main" id="{5557F246-0621-4116-A1BF-1D679A0E7B04}"/>
              </a:ext>
            </a:extLst>
          </p:cNvPr>
          <p:cNvGrpSpPr>
            <a:grpSpLocks/>
          </p:cNvGrpSpPr>
          <p:nvPr/>
        </p:nvGrpSpPr>
        <p:grpSpPr bwMode="auto">
          <a:xfrm>
            <a:off x="5691188" y="1035050"/>
            <a:ext cx="652462" cy="431800"/>
            <a:chOff x="3651" y="890"/>
            <a:chExt cx="411" cy="272"/>
          </a:xfrm>
        </p:grpSpPr>
        <p:sp>
          <p:nvSpPr>
            <p:cNvPr id="32845" name="Line 9">
              <a:extLst>
                <a:ext uri="{FF2B5EF4-FFF2-40B4-BE49-F238E27FC236}">
                  <a16:creationId xmlns:a16="http://schemas.microsoft.com/office/drawing/2014/main" id="{57FCCC45-9CA4-4B4F-8AAD-B1FA056EE6FF}"/>
                </a:ext>
              </a:extLst>
            </p:cNvPr>
            <p:cNvSpPr>
              <a:spLocks noChangeShapeType="1"/>
            </p:cNvSpPr>
            <p:nvPr/>
          </p:nvSpPr>
          <p:spPr bwMode="auto">
            <a:xfrm flipH="1">
              <a:off x="3652" y="890"/>
              <a:ext cx="410" cy="0"/>
            </a:xfrm>
            <a:prstGeom prst="line">
              <a:avLst/>
            </a:prstGeom>
            <a:noFill/>
            <a:ln w="38100">
              <a:solidFill>
                <a:srgbClr val="00FF99"/>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2846" name="Line 10">
              <a:extLst>
                <a:ext uri="{FF2B5EF4-FFF2-40B4-BE49-F238E27FC236}">
                  <a16:creationId xmlns:a16="http://schemas.microsoft.com/office/drawing/2014/main" id="{5D696B37-4325-4859-BFDE-A06F9EB7311B}"/>
                </a:ext>
              </a:extLst>
            </p:cNvPr>
            <p:cNvSpPr>
              <a:spLocks noChangeShapeType="1"/>
            </p:cNvSpPr>
            <p:nvPr/>
          </p:nvSpPr>
          <p:spPr bwMode="auto">
            <a:xfrm flipH="1">
              <a:off x="3651" y="1026"/>
              <a:ext cx="410" cy="0"/>
            </a:xfrm>
            <a:prstGeom prst="line">
              <a:avLst/>
            </a:prstGeom>
            <a:noFill/>
            <a:ln w="38100">
              <a:solidFill>
                <a:srgbClr val="00FF99"/>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2847" name="Line 11">
              <a:extLst>
                <a:ext uri="{FF2B5EF4-FFF2-40B4-BE49-F238E27FC236}">
                  <a16:creationId xmlns:a16="http://schemas.microsoft.com/office/drawing/2014/main" id="{6604E0BC-C3AB-4B36-A245-54CF73783A75}"/>
                </a:ext>
              </a:extLst>
            </p:cNvPr>
            <p:cNvSpPr>
              <a:spLocks noChangeShapeType="1"/>
            </p:cNvSpPr>
            <p:nvPr/>
          </p:nvSpPr>
          <p:spPr bwMode="auto">
            <a:xfrm flipH="1">
              <a:off x="3652" y="1162"/>
              <a:ext cx="410" cy="0"/>
            </a:xfrm>
            <a:prstGeom prst="line">
              <a:avLst/>
            </a:prstGeom>
            <a:noFill/>
            <a:ln w="38100">
              <a:solidFill>
                <a:srgbClr val="00FF99"/>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21868" name="Line 12">
            <a:extLst>
              <a:ext uri="{FF2B5EF4-FFF2-40B4-BE49-F238E27FC236}">
                <a16:creationId xmlns:a16="http://schemas.microsoft.com/office/drawing/2014/main" id="{BDA878F8-BE8F-4B53-8125-DBC61138D33B}"/>
              </a:ext>
            </a:extLst>
          </p:cNvPr>
          <p:cNvSpPr>
            <a:spLocks noChangeShapeType="1"/>
          </p:cNvSpPr>
          <p:nvPr/>
        </p:nvSpPr>
        <p:spPr bwMode="auto">
          <a:xfrm rot="14930756" flipH="1">
            <a:off x="5521325" y="1720850"/>
            <a:ext cx="635000" cy="6350"/>
          </a:xfrm>
          <a:prstGeom prst="line">
            <a:avLst/>
          </a:prstGeom>
          <a:noFill/>
          <a:ln w="38100">
            <a:solidFill>
              <a:srgbClr val="FF33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21869" name="Line 13">
            <a:extLst>
              <a:ext uri="{FF2B5EF4-FFF2-40B4-BE49-F238E27FC236}">
                <a16:creationId xmlns:a16="http://schemas.microsoft.com/office/drawing/2014/main" id="{B7BC55BC-AE3A-4AE7-8A39-1FFA9CC405D1}"/>
              </a:ext>
            </a:extLst>
          </p:cNvPr>
          <p:cNvSpPr>
            <a:spLocks noChangeShapeType="1"/>
          </p:cNvSpPr>
          <p:nvPr/>
        </p:nvSpPr>
        <p:spPr bwMode="auto">
          <a:xfrm rot="1892849" flipH="1" flipV="1">
            <a:off x="6194425" y="817563"/>
            <a:ext cx="719138" cy="71437"/>
          </a:xfrm>
          <a:prstGeom prst="line">
            <a:avLst/>
          </a:prstGeom>
          <a:noFill/>
          <a:ln w="38100">
            <a:solidFill>
              <a:srgbClr val="FFCC66"/>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21870" name="Rectangle 14">
            <a:extLst>
              <a:ext uri="{FF2B5EF4-FFF2-40B4-BE49-F238E27FC236}">
                <a16:creationId xmlns:a16="http://schemas.microsoft.com/office/drawing/2014/main" id="{AAE06B45-F822-44CC-9481-E7927C607F08}"/>
              </a:ext>
            </a:extLst>
          </p:cNvPr>
          <p:cNvSpPr>
            <a:spLocks noChangeArrowheads="1"/>
          </p:cNvSpPr>
          <p:nvPr/>
        </p:nvSpPr>
        <p:spPr bwMode="auto">
          <a:xfrm>
            <a:off x="4394228" y="817174"/>
            <a:ext cx="144462" cy="936625"/>
          </a:xfrm>
          <a:prstGeom prst="rect">
            <a:avLst/>
          </a:prstGeom>
          <a:gradFill rotWithShape="1">
            <a:gsLst>
              <a:gs pos="0">
                <a:srgbClr val="00CCFF">
                  <a:gamma/>
                  <a:shade val="46275"/>
                  <a:invGamma/>
                </a:srgbClr>
              </a:gs>
              <a:gs pos="50000">
                <a:srgbClr val="00CCFF">
                  <a:alpha val="97000"/>
                </a:srgbClr>
              </a:gs>
              <a:gs pos="100000">
                <a:srgbClr val="00CCFF">
                  <a:gamma/>
                  <a:shade val="46275"/>
                  <a:invGamma/>
                </a:srgbClr>
              </a:gs>
            </a:gsLst>
            <a:lin ang="0" scaled="1"/>
          </a:gradFill>
          <a:ln w="9525">
            <a:noFill/>
            <a:miter lim="800000"/>
            <a:headEnd/>
            <a:tailEnd/>
          </a:ln>
          <a:effectLst/>
        </p:spPr>
        <p:txBody>
          <a:bodyPr wrap="none" anchor="ctr"/>
          <a:lstStyle/>
          <a:p>
            <a:pPr algn="ctr" eaLnBrk="1" hangingPunct="1">
              <a:defRPr/>
            </a:pPr>
            <a:endParaRPr lang="zh-CN" altLang="en-US">
              <a:solidFill>
                <a:schemeClr val="bg1"/>
              </a:solidFill>
            </a:endParaRPr>
          </a:p>
        </p:txBody>
      </p:sp>
      <p:sp>
        <p:nvSpPr>
          <p:cNvPr id="121871" name="Rectangle 15">
            <a:extLst>
              <a:ext uri="{FF2B5EF4-FFF2-40B4-BE49-F238E27FC236}">
                <a16:creationId xmlns:a16="http://schemas.microsoft.com/office/drawing/2014/main" id="{8FC5BEDE-B8AE-4A0F-899B-5B8857430F40}"/>
              </a:ext>
            </a:extLst>
          </p:cNvPr>
          <p:cNvSpPr>
            <a:spLocks noChangeArrowheads="1"/>
          </p:cNvSpPr>
          <p:nvPr/>
        </p:nvSpPr>
        <p:spPr bwMode="auto">
          <a:xfrm>
            <a:off x="8356628" y="745737"/>
            <a:ext cx="144462" cy="936625"/>
          </a:xfrm>
          <a:prstGeom prst="rect">
            <a:avLst/>
          </a:prstGeom>
          <a:gradFill rotWithShape="1">
            <a:gsLst>
              <a:gs pos="0">
                <a:srgbClr val="00CCFF">
                  <a:gamma/>
                  <a:shade val="46275"/>
                  <a:invGamma/>
                </a:srgbClr>
              </a:gs>
              <a:gs pos="50000">
                <a:srgbClr val="00CCFF">
                  <a:alpha val="95000"/>
                </a:srgbClr>
              </a:gs>
              <a:gs pos="100000">
                <a:srgbClr val="00CCFF">
                  <a:gamma/>
                  <a:shade val="46275"/>
                  <a:invGamma/>
                </a:srgbClr>
              </a:gs>
            </a:gsLst>
            <a:lin ang="0" scaled="1"/>
          </a:gradFill>
          <a:ln w="9525">
            <a:noFill/>
            <a:miter lim="800000"/>
            <a:headEnd/>
            <a:tailEnd/>
          </a:ln>
          <a:effectLst/>
        </p:spPr>
        <p:txBody>
          <a:bodyPr wrap="none" anchor="ctr"/>
          <a:lstStyle/>
          <a:p>
            <a:pPr algn="ctr" eaLnBrk="1" hangingPunct="1">
              <a:defRPr/>
            </a:pPr>
            <a:endParaRPr lang="zh-CN" altLang="en-US">
              <a:solidFill>
                <a:schemeClr val="bg1"/>
              </a:solidFill>
            </a:endParaRPr>
          </a:p>
        </p:txBody>
      </p:sp>
      <p:grpSp>
        <p:nvGrpSpPr>
          <p:cNvPr id="4" name="Group 16">
            <a:extLst>
              <a:ext uri="{FF2B5EF4-FFF2-40B4-BE49-F238E27FC236}">
                <a16:creationId xmlns:a16="http://schemas.microsoft.com/office/drawing/2014/main" id="{F5557589-BF3B-4483-AAA9-6247303D2A9F}"/>
              </a:ext>
            </a:extLst>
          </p:cNvPr>
          <p:cNvGrpSpPr>
            <a:grpSpLocks/>
          </p:cNvGrpSpPr>
          <p:nvPr/>
        </p:nvGrpSpPr>
        <p:grpSpPr bwMode="auto">
          <a:xfrm>
            <a:off x="4683125" y="890588"/>
            <a:ext cx="652463" cy="647700"/>
            <a:chOff x="2064" y="1162"/>
            <a:chExt cx="637" cy="408"/>
          </a:xfrm>
        </p:grpSpPr>
        <p:sp>
          <p:nvSpPr>
            <p:cNvPr id="32841" name="Line 17">
              <a:extLst>
                <a:ext uri="{FF2B5EF4-FFF2-40B4-BE49-F238E27FC236}">
                  <a16:creationId xmlns:a16="http://schemas.microsoft.com/office/drawing/2014/main" id="{BD3D3138-9C52-4B7B-BBD1-B2AECDC947C1}"/>
                </a:ext>
              </a:extLst>
            </p:cNvPr>
            <p:cNvSpPr>
              <a:spLocks noChangeShapeType="1"/>
            </p:cNvSpPr>
            <p:nvPr/>
          </p:nvSpPr>
          <p:spPr bwMode="auto">
            <a:xfrm flipH="1">
              <a:off x="2064" y="1162"/>
              <a:ext cx="636" cy="0"/>
            </a:xfrm>
            <a:prstGeom prst="line">
              <a:avLst/>
            </a:prstGeom>
            <a:noFill/>
            <a:ln w="38100">
              <a:solidFill>
                <a:srgbClr val="00FF99"/>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2842" name="Line 18">
              <a:extLst>
                <a:ext uri="{FF2B5EF4-FFF2-40B4-BE49-F238E27FC236}">
                  <a16:creationId xmlns:a16="http://schemas.microsoft.com/office/drawing/2014/main" id="{4254C581-5D36-442F-A31E-9CB9651D50F7}"/>
                </a:ext>
              </a:extLst>
            </p:cNvPr>
            <p:cNvSpPr>
              <a:spLocks noChangeShapeType="1"/>
            </p:cNvSpPr>
            <p:nvPr/>
          </p:nvSpPr>
          <p:spPr bwMode="auto">
            <a:xfrm flipH="1">
              <a:off x="2065" y="1298"/>
              <a:ext cx="636" cy="0"/>
            </a:xfrm>
            <a:prstGeom prst="line">
              <a:avLst/>
            </a:prstGeom>
            <a:noFill/>
            <a:ln w="38100">
              <a:solidFill>
                <a:srgbClr val="00FF99"/>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2843" name="Line 19">
              <a:extLst>
                <a:ext uri="{FF2B5EF4-FFF2-40B4-BE49-F238E27FC236}">
                  <a16:creationId xmlns:a16="http://schemas.microsoft.com/office/drawing/2014/main" id="{BFB4493A-13C6-4E44-A15E-A1D92A1666B9}"/>
                </a:ext>
              </a:extLst>
            </p:cNvPr>
            <p:cNvSpPr>
              <a:spLocks noChangeShapeType="1"/>
            </p:cNvSpPr>
            <p:nvPr/>
          </p:nvSpPr>
          <p:spPr bwMode="auto">
            <a:xfrm flipH="1">
              <a:off x="2064" y="1434"/>
              <a:ext cx="636" cy="0"/>
            </a:xfrm>
            <a:prstGeom prst="line">
              <a:avLst/>
            </a:prstGeom>
            <a:noFill/>
            <a:ln w="38100">
              <a:solidFill>
                <a:srgbClr val="00FF99"/>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2844" name="Line 20">
              <a:extLst>
                <a:ext uri="{FF2B5EF4-FFF2-40B4-BE49-F238E27FC236}">
                  <a16:creationId xmlns:a16="http://schemas.microsoft.com/office/drawing/2014/main" id="{AF897C53-F4AA-463F-A676-812A09A2EE37}"/>
                </a:ext>
              </a:extLst>
            </p:cNvPr>
            <p:cNvSpPr>
              <a:spLocks noChangeShapeType="1"/>
            </p:cNvSpPr>
            <p:nvPr/>
          </p:nvSpPr>
          <p:spPr bwMode="auto">
            <a:xfrm flipH="1">
              <a:off x="2065" y="1570"/>
              <a:ext cx="636" cy="0"/>
            </a:xfrm>
            <a:prstGeom prst="line">
              <a:avLst/>
            </a:prstGeom>
            <a:noFill/>
            <a:ln w="38100">
              <a:solidFill>
                <a:srgbClr val="00FF99"/>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5" name="Group 21">
            <a:extLst>
              <a:ext uri="{FF2B5EF4-FFF2-40B4-BE49-F238E27FC236}">
                <a16:creationId xmlns:a16="http://schemas.microsoft.com/office/drawing/2014/main" id="{70A90012-3EB3-452B-A9F0-E06CD33273B5}"/>
              </a:ext>
            </a:extLst>
          </p:cNvPr>
          <p:cNvGrpSpPr>
            <a:grpSpLocks/>
          </p:cNvGrpSpPr>
          <p:nvPr/>
        </p:nvGrpSpPr>
        <p:grpSpPr bwMode="auto">
          <a:xfrm>
            <a:off x="5475288" y="746125"/>
            <a:ext cx="222250" cy="708025"/>
            <a:chOff x="2608" y="1253"/>
            <a:chExt cx="140" cy="446"/>
          </a:xfrm>
        </p:grpSpPr>
        <p:sp>
          <p:nvSpPr>
            <p:cNvPr id="32839" name="Line 22">
              <a:extLst>
                <a:ext uri="{FF2B5EF4-FFF2-40B4-BE49-F238E27FC236}">
                  <a16:creationId xmlns:a16="http://schemas.microsoft.com/office/drawing/2014/main" id="{4DAED053-6D68-403D-A3D3-E9F680970E1C}"/>
                </a:ext>
              </a:extLst>
            </p:cNvPr>
            <p:cNvSpPr>
              <a:spLocks noChangeShapeType="1"/>
            </p:cNvSpPr>
            <p:nvPr/>
          </p:nvSpPr>
          <p:spPr bwMode="auto">
            <a:xfrm rot="14930756" flipH="1">
              <a:off x="2546" y="1451"/>
              <a:ext cx="400" cy="4"/>
            </a:xfrm>
            <a:prstGeom prst="line">
              <a:avLst/>
            </a:prstGeom>
            <a:noFill/>
            <a:ln w="38100">
              <a:solidFill>
                <a:srgbClr val="FF33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32840" name="Line 23">
              <a:extLst>
                <a:ext uri="{FF2B5EF4-FFF2-40B4-BE49-F238E27FC236}">
                  <a16:creationId xmlns:a16="http://schemas.microsoft.com/office/drawing/2014/main" id="{1E82A94F-1A4E-4EA1-A4E5-A17485F7896C}"/>
                </a:ext>
              </a:extLst>
            </p:cNvPr>
            <p:cNvSpPr>
              <a:spLocks noChangeShapeType="1"/>
            </p:cNvSpPr>
            <p:nvPr/>
          </p:nvSpPr>
          <p:spPr bwMode="auto">
            <a:xfrm rot="14930756" flipH="1">
              <a:off x="2410" y="1497"/>
              <a:ext cx="400" cy="4"/>
            </a:xfrm>
            <a:prstGeom prst="line">
              <a:avLst/>
            </a:prstGeom>
            <a:noFill/>
            <a:ln w="38100">
              <a:solidFill>
                <a:srgbClr val="FF33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6" name="Group 24">
            <a:extLst>
              <a:ext uri="{FF2B5EF4-FFF2-40B4-BE49-F238E27FC236}">
                <a16:creationId xmlns:a16="http://schemas.microsoft.com/office/drawing/2014/main" id="{657C45FC-007D-4F4A-BE27-69F68F5E75ED}"/>
              </a:ext>
            </a:extLst>
          </p:cNvPr>
          <p:cNvGrpSpPr>
            <a:grpSpLocks/>
          </p:cNvGrpSpPr>
          <p:nvPr/>
        </p:nvGrpSpPr>
        <p:grpSpPr bwMode="auto">
          <a:xfrm rot="-7107103">
            <a:off x="6769893" y="1250157"/>
            <a:ext cx="792163" cy="215900"/>
            <a:chOff x="3424" y="1253"/>
            <a:chExt cx="499" cy="136"/>
          </a:xfrm>
        </p:grpSpPr>
        <p:sp>
          <p:nvSpPr>
            <p:cNvPr id="32837" name="Line 25">
              <a:extLst>
                <a:ext uri="{FF2B5EF4-FFF2-40B4-BE49-F238E27FC236}">
                  <a16:creationId xmlns:a16="http://schemas.microsoft.com/office/drawing/2014/main" id="{BEA72D71-5F2B-4B40-89EC-3EBDBD2DEA6C}"/>
                </a:ext>
              </a:extLst>
            </p:cNvPr>
            <p:cNvSpPr>
              <a:spLocks noChangeShapeType="1"/>
            </p:cNvSpPr>
            <p:nvPr/>
          </p:nvSpPr>
          <p:spPr bwMode="auto">
            <a:xfrm rot="9004512" flipH="1" flipV="1">
              <a:off x="3424" y="1253"/>
              <a:ext cx="453" cy="45"/>
            </a:xfrm>
            <a:prstGeom prst="line">
              <a:avLst/>
            </a:prstGeom>
            <a:noFill/>
            <a:ln w="38100">
              <a:solidFill>
                <a:srgbClr val="FFCC66"/>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32838" name="Line 26">
              <a:extLst>
                <a:ext uri="{FF2B5EF4-FFF2-40B4-BE49-F238E27FC236}">
                  <a16:creationId xmlns:a16="http://schemas.microsoft.com/office/drawing/2014/main" id="{3B17D602-D5CB-48BD-B999-A78E2B3E1046}"/>
                </a:ext>
              </a:extLst>
            </p:cNvPr>
            <p:cNvSpPr>
              <a:spLocks noChangeShapeType="1"/>
            </p:cNvSpPr>
            <p:nvPr/>
          </p:nvSpPr>
          <p:spPr bwMode="auto">
            <a:xfrm rot="9004512" flipH="1" flipV="1">
              <a:off x="3470" y="1344"/>
              <a:ext cx="453" cy="45"/>
            </a:xfrm>
            <a:prstGeom prst="line">
              <a:avLst/>
            </a:prstGeom>
            <a:noFill/>
            <a:ln w="38100">
              <a:solidFill>
                <a:srgbClr val="FFCC66"/>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7" name="Group 27">
            <a:extLst>
              <a:ext uri="{FF2B5EF4-FFF2-40B4-BE49-F238E27FC236}">
                <a16:creationId xmlns:a16="http://schemas.microsoft.com/office/drawing/2014/main" id="{1E8F49E3-FCD2-4498-9595-8EBF61507327}"/>
              </a:ext>
            </a:extLst>
          </p:cNvPr>
          <p:cNvGrpSpPr>
            <a:grpSpLocks/>
          </p:cNvGrpSpPr>
          <p:nvPr/>
        </p:nvGrpSpPr>
        <p:grpSpPr bwMode="auto">
          <a:xfrm rot="-7109229">
            <a:off x="7419182" y="1681956"/>
            <a:ext cx="935038" cy="358775"/>
            <a:chOff x="3969" y="936"/>
            <a:chExt cx="589" cy="226"/>
          </a:xfrm>
        </p:grpSpPr>
        <p:sp>
          <p:nvSpPr>
            <p:cNvPr id="32834" name="Line 28">
              <a:extLst>
                <a:ext uri="{FF2B5EF4-FFF2-40B4-BE49-F238E27FC236}">
                  <a16:creationId xmlns:a16="http://schemas.microsoft.com/office/drawing/2014/main" id="{D91645D2-A813-4D20-9B73-D7714412A685}"/>
                </a:ext>
              </a:extLst>
            </p:cNvPr>
            <p:cNvSpPr>
              <a:spLocks noChangeShapeType="1"/>
            </p:cNvSpPr>
            <p:nvPr/>
          </p:nvSpPr>
          <p:spPr bwMode="auto">
            <a:xfrm rot="9004512" flipH="1" flipV="1">
              <a:off x="3969" y="936"/>
              <a:ext cx="453" cy="45"/>
            </a:xfrm>
            <a:prstGeom prst="line">
              <a:avLst/>
            </a:prstGeom>
            <a:noFill/>
            <a:ln w="38100">
              <a:solidFill>
                <a:srgbClr val="FFCC66"/>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32835" name="Line 29">
              <a:extLst>
                <a:ext uri="{FF2B5EF4-FFF2-40B4-BE49-F238E27FC236}">
                  <a16:creationId xmlns:a16="http://schemas.microsoft.com/office/drawing/2014/main" id="{35106098-00DC-46B5-8835-CAC16379CF2A}"/>
                </a:ext>
              </a:extLst>
            </p:cNvPr>
            <p:cNvSpPr>
              <a:spLocks noChangeShapeType="1"/>
            </p:cNvSpPr>
            <p:nvPr/>
          </p:nvSpPr>
          <p:spPr bwMode="auto">
            <a:xfrm rot="9004512" flipH="1" flipV="1">
              <a:off x="4052" y="1026"/>
              <a:ext cx="453" cy="45"/>
            </a:xfrm>
            <a:prstGeom prst="line">
              <a:avLst/>
            </a:prstGeom>
            <a:noFill/>
            <a:ln w="38100">
              <a:solidFill>
                <a:srgbClr val="FFCC66"/>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32836" name="Line 30">
              <a:extLst>
                <a:ext uri="{FF2B5EF4-FFF2-40B4-BE49-F238E27FC236}">
                  <a16:creationId xmlns:a16="http://schemas.microsoft.com/office/drawing/2014/main" id="{7CFC67E9-DD39-40E1-81EF-8A769BE5E0A7}"/>
                </a:ext>
              </a:extLst>
            </p:cNvPr>
            <p:cNvSpPr>
              <a:spLocks noChangeShapeType="1"/>
            </p:cNvSpPr>
            <p:nvPr/>
          </p:nvSpPr>
          <p:spPr bwMode="auto">
            <a:xfrm rot="9004512" flipH="1" flipV="1">
              <a:off x="4105" y="1117"/>
              <a:ext cx="453" cy="45"/>
            </a:xfrm>
            <a:prstGeom prst="line">
              <a:avLst/>
            </a:prstGeom>
            <a:noFill/>
            <a:ln w="38100">
              <a:solidFill>
                <a:srgbClr val="FFCC66"/>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8" name="Group 31">
            <a:extLst>
              <a:ext uri="{FF2B5EF4-FFF2-40B4-BE49-F238E27FC236}">
                <a16:creationId xmlns:a16="http://schemas.microsoft.com/office/drawing/2014/main" id="{D4F26640-B014-49C6-ABD1-ABF357FAC7B5}"/>
              </a:ext>
            </a:extLst>
          </p:cNvPr>
          <p:cNvGrpSpPr>
            <a:grpSpLocks/>
          </p:cNvGrpSpPr>
          <p:nvPr/>
        </p:nvGrpSpPr>
        <p:grpSpPr bwMode="auto">
          <a:xfrm>
            <a:off x="5187950" y="96838"/>
            <a:ext cx="431800" cy="781050"/>
            <a:chOff x="2699" y="1661"/>
            <a:chExt cx="272" cy="492"/>
          </a:xfrm>
        </p:grpSpPr>
        <p:sp>
          <p:nvSpPr>
            <p:cNvPr id="32831" name="Line 32">
              <a:extLst>
                <a:ext uri="{FF2B5EF4-FFF2-40B4-BE49-F238E27FC236}">
                  <a16:creationId xmlns:a16="http://schemas.microsoft.com/office/drawing/2014/main" id="{ABEAD848-F5D2-422D-98A6-97E0FA304004}"/>
                </a:ext>
              </a:extLst>
            </p:cNvPr>
            <p:cNvSpPr>
              <a:spLocks noChangeShapeType="1"/>
            </p:cNvSpPr>
            <p:nvPr/>
          </p:nvSpPr>
          <p:spPr bwMode="auto">
            <a:xfrm rot="14930756" flipH="1">
              <a:off x="2637" y="1905"/>
              <a:ext cx="400" cy="4"/>
            </a:xfrm>
            <a:prstGeom prst="line">
              <a:avLst/>
            </a:prstGeom>
            <a:noFill/>
            <a:ln w="38100">
              <a:solidFill>
                <a:srgbClr val="FF33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32832" name="Line 33">
              <a:extLst>
                <a:ext uri="{FF2B5EF4-FFF2-40B4-BE49-F238E27FC236}">
                  <a16:creationId xmlns:a16="http://schemas.microsoft.com/office/drawing/2014/main" id="{49CEAD18-F897-4481-8FE6-F32459DE9C9A}"/>
                </a:ext>
              </a:extLst>
            </p:cNvPr>
            <p:cNvSpPr>
              <a:spLocks noChangeShapeType="1"/>
            </p:cNvSpPr>
            <p:nvPr/>
          </p:nvSpPr>
          <p:spPr bwMode="auto">
            <a:xfrm rot="14930756" flipH="1">
              <a:off x="2501" y="1951"/>
              <a:ext cx="400" cy="4"/>
            </a:xfrm>
            <a:prstGeom prst="line">
              <a:avLst/>
            </a:prstGeom>
            <a:noFill/>
            <a:ln w="38100">
              <a:solidFill>
                <a:srgbClr val="FF33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32833" name="Line 34">
              <a:extLst>
                <a:ext uri="{FF2B5EF4-FFF2-40B4-BE49-F238E27FC236}">
                  <a16:creationId xmlns:a16="http://schemas.microsoft.com/office/drawing/2014/main" id="{4EF4F30A-2A39-4B0F-9DE4-CCDD5C873CA8}"/>
                </a:ext>
              </a:extLst>
            </p:cNvPr>
            <p:cNvSpPr>
              <a:spLocks noChangeShapeType="1"/>
            </p:cNvSpPr>
            <p:nvPr/>
          </p:nvSpPr>
          <p:spPr bwMode="auto">
            <a:xfrm rot="14930756" flipH="1">
              <a:off x="2769" y="1859"/>
              <a:ext cx="400" cy="4"/>
            </a:xfrm>
            <a:prstGeom prst="line">
              <a:avLst/>
            </a:prstGeom>
            <a:noFill/>
            <a:ln w="38100">
              <a:solidFill>
                <a:srgbClr val="FF33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grpSp>
      <p:sp>
        <p:nvSpPr>
          <p:cNvPr id="32788" name="Rectangle 35">
            <a:extLst>
              <a:ext uri="{FF2B5EF4-FFF2-40B4-BE49-F238E27FC236}">
                <a16:creationId xmlns:a16="http://schemas.microsoft.com/office/drawing/2014/main" id="{D90CA8EB-1459-4D97-B1C7-DDEEEBF35FAD}"/>
              </a:ext>
            </a:extLst>
          </p:cNvPr>
          <p:cNvSpPr>
            <a:spLocks noChangeArrowheads="1"/>
          </p:cNvSpPr>
          <p:nvPr/>
        </p:nvSpPr>
        <p:spPr bwMode="auto">
          <a:xfrm>
            <a:off x="5691188" y="204788"/>
            <a:ext cx="1727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a:solidFill>
                  <a:schemeClr val="bg1"/>
                </a:solidFill>
                <a:ea typeface="楷体_GB2312" pitchFamily="49" charset="-122"/>
              </a:rPr>
              <a:t>增益介质</a:t>
            </a:r>
          </a:p>
        </p:txBody>
      </p:sp>
      <p:sp>
        <p:nvSpPr>
          <p:cNvPr id="121892" name="Text Box 36">
            <a:extLst>
              <a:ext uri="{FF2B5EF4-FFF2-40B4-BE49-F238E27FC236}">
                <a16:creationId xmlns:a16="http://schemas.microsoft.com/office/drawing/2014/main" id="{7F794F48-80C6-4E6E-B3F4-294AB359BA48}"/>
              </a:ext>
            </a:extLst>
          </p:cNvPr>
          <p:cNvSpPr txBox="1">
            <a:spLocks noChangeArrowheads="1"/>
          </p:cNvSpPr>
          <p:nvPr/>
        </p:nvSpPr>
        <p:spPr bwMode="auto">
          <a:xfrm>
            <a:off x="428625" y="757238"/>
            <a:ext cx="27193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rgbClr val="FFFF00"/>
                </a:solidFill>
                <a:ea typeface="华文中宋" panose="02010600040101010101" pitchFamily="2" charset="-122"/>
              </a:rPr>
              <a:t>1) </a:t>
            </a:r>
            <a:r>
              <a:rPr lang="zh-CN" altLang="en-US">
                <a:solidFill>
                  <a:srgbClr val="FFFF00"/>
                </a:solidFill>
                <a:ea typeface="华文中宋" panose="02010600040101010101" pitchFamily="2" charset="-122"/>
              </a:rPr>
              <a:t>限定光的方向</a:t>
            </a:r>
          </a:p>
        </p:txBody>
      </p:sp>
      <p:sp>
        <p:nvSpPr>
          <p:cNvPr id="121893" name="Text Box 37">
            <a:extLst>
              <a:ext uri="{FF2B5EF4-FFF2-40B4-BE49-F238E27FC236}">
                <a16:creationId xmlns:a16="http://schemas.microsoft.com/office/drawing/2014/main" id="{29D096E4-4923-40AC-8DB2-7EE23E8A2FBF}"/>
              </a:ext>
            </a:extLst>
          </p:cNvPr>
          <p:cNvSpPr txBox="1">
            <a:spLocks noChangeArrowheads="1"/>
          </p:cNvSpPr>
          <p:nvPr/>
        </p:nvSpPr>
        <p:spPr bwMode="auto">
          <a:xfrm>
            <a:off x="428625" y="1214438"/>
            <a:ext cx="4500563" cy="136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ts val="3300"/>
              </a:lnSpc>
            </a:pPr>
            <a:r>
              <a:rPr lang="zh-CN" altLang="en-US" sz="2000" dirty="0">
                <a:solidFill>
                  <a:schemeClr val="bg1"/>
                </a:solidFill>
              </a:rPr>
              <a:t>     沿轴线的光在增益介质内来回</a:t>
            </a:r>
            <a:endParaRPr lang="en-US" altLang="zh-CN" sz="2000" dirty="0">
              <a:solidFill>
                <a:schemeClr val="bg1"/>
              </a:solidFill>
            </a:endParaRPr>
          </a:p>
          <a:p>
            <a:pPr eaLnBrk="1" hangingPunct="1">
              <a:lnSpc>
                <a:spcPts val="3300"/>
              </a:lnSpc>
            </a:pPr>
            <a:r>
              <a:rPr lang="zh-CN" altLang="en-US" sz="2000" dirty="0">
                <a:solidFill>
                  <a:schemeClr val="bg1"/>
                </a:solidFill>
              </a:rPr>
              <a:t>反射，连锁放大，输出形成激光。</a:t>
            </a:r>
            <a:endParaRPr lang="en-US" altLang="zh-CN" sz="2000" dirty="0">
              <a:solidFill>
                <a:schemeClr val="bg1"/>
              </a:solidFill>
            </a:endParaRPr>
          </a:p>
          <a:p>
            <a:pPr eaLnBrk="1" hangingPunct="1">
              <a:lnSpc>
                <a:spcPts val="3300"/>
              </a:lnSpc>
            </a:pPr>
            <a:r>
              <a:rPr lang="zh-CN" altLang="en-US" sz="2000" dirty="0">
                <a:solidFill>
                  <a:schemeClr val="bg1"/>
                </a:solidFill>
              </a:rPr>
              <a:t>其它方向的光很快逸出谐振腔</a:t>
            </a:r>
          </a:p>
        </p:txBody>
      </p:sp>
      <p:sp>
        <p:nvSpPr>
          <p:cNvPr id="121894" name="Text Box 38">
            <a:extLst>
              <a:ext uri="{FF2B5EF4-FFF2-40B4-BE49-F238E27FC236}">
                <a16:creationId xmlns:a16="http://schemas.microsoft.com/office/drawing/2014/main" id="{FDB02B73-32DB-43FB-9873-32F3B195A594}"/>
              </a:ext>
            </a:extLst>
          </p:cNvPr>
          <p:cNvSpPr txBox="1">
            <a:spLocks noChangeArrowheads="1"/>
          </p:cNvSpPr>
          <p:nvPr/>
        </p:nvSpPr>
        <p:spPr bwMode="auto">
          <a:xfrm>
            <a:off x="473075" y="2565400"/>
            <a:ext cx="35988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dirty="0">
                <a:solidFill>
                  <a:srgbClr val="FFFF00"/>
                </a:solidFill>
                <a:ea typeface="华文中宋" panose="02010600040101010101" pitchFamily="2" charset="-122"/>
              </a:rPr>
              <a:t>2) </a:t>
            </a:r>
            <a:r>
              <a:rPr lang="zh-CN" altLang="en-US" dirty="0">
                <a:solidFill>
                  <a:srgbClr val="FFFF00"/>
                </a:solidFill>
                <a:ea typeface="华文中宋" panose="02010600040101010101" pitchFamily="2" charset="-122"/>
              </a:rPr>
              <a:t>延长增益介质</a:t>
            </a:r>
          </a:p>
        </p:txBody>
      </p:sp>
      <p:grpSp>
        <p:nvGrpSpPr>
          <p:cNvPr id="9" name="Group 39">
            <a:extLst>
              <a:ext uri="{FF2B5EF4-FFF2-40B4-BE49-F238E27FC236}">
                <a16:creationId xmlns:a16="http://schemas.microsoft.com/office/drawing/2014/main" id="{5368A8BD-71F6-4C83-B9FD-B02A011B35CE}"/>
              </a:ext>
            </a:extLst>
          </p:cNvPr>
          <p:cNvGrpSpPr>
            <a:grpSpLocks/>
          </p:cNvGrpSpPr>
          <p:nvPr/>
        </p:nvGrpSpPr>
        <p:grpSpPr bwMode="auto">
          <a:xfrm>
            <a:off x="8143875" y="3224213"/>
            <a:ext cx="682625" cy="263525"/>
            <a:chOff x="4513" y="1343"/>
            <a:chExt cx="634" cy="182"/>
          </a:xfrm>
        </p:grpSpPr>
        <p:sp>
          <p:nvSpPr>
            <p:cNvPr id="32829" name="AutoShape 40">
              <a:extLst>
                <a:ext uri="{FF2B5EF4-FFF2-40B4-BE49-F238E27FC236}">
                  <a16:creationId xmlns:a16="http://schemas.microsoft.com/office/drawing/2014/main" id="{C0C6608D-6149-4219-A264-3C2AF291D0B4}"/>
                </a:ext>
              </a:extLst>
            </p:cNvPr>
            <p:cNvSpPr>
              <a:spLocks noChangeArrowheads="1"/>
            </p:cNvSpPr>
            <p:nvPr/>
          </p:nvSpPr>
          <p:spPr bwMode="auto">
            <a:xfrm rot="5400000">
              <a:off x="4740" y="1162"/>
              <a:ext cx="91" cy="545"/>
            </a:xfrm>
            <a:prstGeom prst="can">
              <a:avLst>
                <a:gd name="adj" fmla="val 54539"/>
              </a:avLst>
            </a:prstGeom>
            <a:gradFill rotWithShape="1">
              <a:gsLst>
                <a:gs pos="0">
                  <a:srgbClr val="FF9933"/>
                </a:gs>
                <a:gs pos="50000">
                  <a:srgbClr val="FFFF00"/>
                </a:gs>
                <a:gs pos="100000">
                  <a:srgbClr val="FF9933"/>
                </a:gs>
              </a:gsLst>
              <a:lin ang="0" scaled="1"/>
            </a:gradFill>
            <a:ln>
              <a:noFill/>
            </a:ln>
            <a:extLst>
              <a:ext uri="{91240B29-F687-4F45-9708-019B960494DF}">
                <a14:hiddenLine xmlns:a14="http://schemas.microsoft.com/office/drawing/2010/main" w="3175">
                  <a:solidFill>
                    <a:srgbClr val="000000"/>
                  </a:solidFill>
                  <a:round/>
                  <a:headEnd/>
                  <a:tailEnd/>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32830" name="AutoShape 41">
              <a:extLst>
                <a:ext uri="{FF2B5EF4-FFF2-40B4-BE49-F238E27FC236}">
                  <a16:creationId xmlns:a16="http://schemas.microsoft.com/office/drawing/2014/main" id="{BDB57EA3-D9E0-4567-8EC9-3CB8077534E9}"/>
                </a:ext>
              </a:extLst>
            </p:cNvPr>
            <p:cNvSpPr>
              <a:spLocks noChangeArrowheads="1"/>
            </p:cNvSpPr>
            <p:nvPr/>
          </p:nvSpPr>
          <p:spPr bwMode="auto">
            <a:xfrm>
              <a:off x="4921" y="1343"/>
              <a:ext cx="226" cy="182"/>
            </a:xfrm>
            <a:prstGeom prst="rightArrow">
              <a:avLst>
                <a:gd name="adj1" fmla="val 49685"/>
                <a:gd name="adj2" fmla="val 122808"/>
              </a:avLst>
            </a:prstGeom>
            <a:gradFill rotWithShape="1">
              <a:gsLst>
                <a:gs pos="0">
                  <a:srgbClr val="FF9933"/>
                </a:gs>
                <a:gs pos="50000">
                  <a:srgbClr val="FFFF00"/>
                </a:gs>
                <a:gs pos="100000">
                  <a:srgbClr val="FF9933"/>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grpSp>
      <p:sp>
        <p:nvSpPr>
          <p:cNvPr id="121898" name="Rectangle 42">
            <a:extLst>
              <a:ext uri="{FF2B5EF4-FFF2-40B4-BE49-F238E27FC236}">
                <a16:creationId xmlns:a16="http://schemas.microsoft.com/office/drawing/2014/main" id="{680540D0-3CEB-4632-90FC-12C509481760}"/>
              </a:ext>
            </a:extLst>
          </p:cNvPr>
          <p:cNvSpPr>
            <a:spLocks noChangeArrowheads="1"/>
          </p:cNvSpPr>
          <p:nvPr/>
        </p:nvSpPr>
        <p:spPr bwMode="auto">
          <a:xfrm>
            <a:off x="4481513" y="2720975"/>
            <a:ext cx="3929062" cy="1368425"/>
          </a:xfrm>
          <a:prstGeom prst="rect">
            <a:avLst/>
          </a:prstGeom>
          <a:solidFill>
            <a:srgbClr val="0066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21899" name="AutoShape 43">
            <a:extLst>
              <a:ext uri="{FF2B5EF4-FFF2-40B4-BE49-F238E27FC236}">
                <a16:creationId xmlns:a16="http://schemas.microsoft.com/office/drawing/2014/main" id="{F4125BF8-0A02-4B88-93D4-60895583A9E8}"/>
              </a:ext>
            </a:extLst>
          </p:cNvPr>
          <p:cNvSpPr>
            <a:spLocks noChangeArrowheads="1"/>
          </p:cNvSpPr>
          <p:nvPr/>
        </p:nvSpPr>
        <p:spPr bwMode="auto">
          <a:xfrm>
            <a:off x="4573588" y="2840038"/>
            <a:ext cx="533400" cy="279400"/>
          </a:xfrm>
          <a:prstGeom prst="rightArrow">
            <a:avLst>
              <a:gd name="adj1" fmla="val 50000"/>
              <a:gd name="adj2" fmla="val 47727"/>
            </a:avLst>
          </a:prstGeom>
          <a:solidFill>
            <a:srgbClr val="CCCC00"/>
          </a:solidFill>
          <a:ln w="9525">
            <a:solidFill>
              <a:schemeClr val="tx1"/>
            </a:solidFill>
            <a:miter lim="800000"/>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21900" name="AutoShape 44">
            <a:extLst>
              <a:ext uri="{FF2B5EF4-FFF2-40B4-BE49-F238E27FC236}">
                <a16:creationId xmlns:a16="http://schemas.microsoft.com/office/drawing/2014/main" id="{A0678E1E-70C3-46AA-B8A9-485117FF5375}"/>
              </a:ext>
            </a:extLst>
          </p:cNvPr>
          <p:cNvSpPr>
            <a:spLocks noChangeArrowheads="1"/>
          </p:cNvSpPr>
          <p:nvPr/>
        </p:nvSpPr>
        <p:spPr bwMode="auto">
          <a:xfrm>
            <a:off x="4573588" y="2876550"/>
            <a:ext cx="3836987" cy="249238"/>
          </a:xfrm>
          <a:prstGeom prst="rightArrow">
            <a:avLst>
              <a:gd name="adj1" fmla="val 50694"/>
              <a:gd name="adj2" fmla="val 166421"/>
            </a:avLst>
          </a:prstGeom>
          <a:gradFill rotWithShape="0">
            <a:gsLst>
              <a:gs pos="0">
                <a:srgbClr val="C3C300"/>
              </a:gs>
              <a:gs pos="100000">
                <a:srgbClr val="FFFF0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21901" name="AutoShape 45">
            <a:extLst>
              <a:ext uri="{FF2B5EF4-FFF2-40B4-BE49-F238E27FC236}">
                <a16:creationId xmlns:a16="http://schemas.microsoft.com/office/drawing/2014/main" id="{EA6710B1-9153-40C5-9A65-978E7E57ED70}"/>
              </a:ext>
            </a:extLst>
          </p:cNvPr>
          <p:cNvSpPr>
            <a:spLocks noChangeArrowheads="1"/>
          </p:cNvSpPr>
          <p:nvPr/>
        </p:nvSpPr>
        <p:spPr bwMode="auto">
          <a:xfrm flipH="1">
            <a:off x="4537075" y="3592513"/>
            <a:ext cx="3729038" cy="255587"/>
          </a:xfrm>
          <a:prstGeom prst="rightArrow">
            <a:avLst>
              <a:gd name="adj1" fmla="val 50694"/>
              <a:gd name="adj2" fmla="val 157722"/>
            </a:avLst>
          </a:prstGeom>
          <a:gradFill rotWithShape="0">
            <a:gsLst>
              <a:gs pos="0">
                <a:srgbClr val="FFFF00"/>
              </a:gs>
              <a:gs pos="100000">
                <a:srgbClr val="88880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21902" name="Text Box 46">
            <a:extLst>
              <a:ext uri="{FF2B5EF4-FFF2-40B4-BE49-F238E27FC236}">
                <a16:creationId xmlns:a16="http://schemas.microsoft.com/office/drawing/2014/main" id="{C976EC0F-8D7A-412B-AA70-FB6CD71BC7DD}"/>
              </a:ext>
            </a:extLst>
          </p:cNvPr>
          <p:cNvSpPr txBox="1">
            <a:spLocks noChangeArrowheads="1"/>
          </p:cNvSpPr>
          <p:nvPr/>
        </p:nvSpPr>
        <p:spPr bwMode="auto">
          <a:xfrm>
            <a:off x="7874646" y="2378961"/>
            <a:ext cx="749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i="1" dirty="0">
                <a:solidFill>
                  <a:schemeClr val="bg1"/>
                </a:solidFill>
              </a:rPr>
              <a:t>I</a:t>
            </a:r>
            <a:r>
              <a:rPr lang="en-US" altLang="zh-CN" sz="2000" i="1" baseline="-20000" dirty="0">
                <a:solidFill>
                  <a:schemeClr val="bg1"/>
                </a:solidFill>
              </a:rPr>
              <a:t>0 </a:t>
            </a:r>
            <a:r>
              <a:rPr lang="en-US" altLang="zh-CN" sz="2000" dirty="0" err="1">
                <a:solidFill>
                  <a:schemeClr val="bg1"/>
                </a:solidFill>
              </a:rPr>
              <a:t>e</a:t>
            </a:r>
            <a:r>
              <a:rPr lang="en-US" altLang="zh-CN" sz="2000" baseline="30000" dirty="0" err="1">
                <a:solidFill>
                  <a:schemeClr val="bg1"/>
                </a:solidFill>
              </a:rPr>
              <a:t>G</a:t>
            </a:r>
            <a:r>
              <a:rPr lang="en-US" altLang="zh-CN" sz="2000" i="1" baseline="30000" dirty="0" err="1">
                <a:solidFill>
                  <a:schemeClr val="bg1"/>
                </a:solidFill>
              </a:rPr>
              <a:t>L</a:t>
            </a:r>
            <a:endParaRPr lang="en-US" altLang="zh-CN" sz="2000" i="1" dirty="0">
              <a:solidFill>
                <a:schemeClr val="bg1"/>
              </a:solidFill>
            </a:endParaRPr>
          </a:p>
        </p:txBody>
      </p:sp>
      <p:sp>
        <p:nvSpPr>
          <p:cNvPr id="121903" name="Text Box 47">
            <a:extLst>
              <a:ext uri="{FF2B5EF4-FFF2-40B4-BE49-F238E27FC236}">
                <a16:creationId xmlns:a16="http://schemas.microsoft.com/office/drawing/2014/main" id="{5EDD1FA1-502C-4437-9B8C-3F0A74AB867A}"/>
              </a:ext>
            </a:extLst>
          </p:cNvPr>
          <p:cNvSpPr txBox="1">
            <a:spLocks noChangeArrowheads="1"/>
          </p:cNvSpPr>
          <p:nvPr/>
        </p:nvSpPr>
        <p:spPr bwMode="auto">
          <a:xfrm>
            <a:off x="7285038" y="3857625"/>
            <a:ext cx="9302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i="1">
                <a:solidFill>
                  <a:schemeClr val="bg1"/>
                </a:solidFill>
              </a:rPr>
              <a:t>r</a:t>
            </a:r>
            <a:r>
              <a:rPr lang="en-US" altLang="zh-CN" sz="2000" baseline="-20000">
                <a:solidFill>
                  <a:schemeClr val="bg1"/>
                </a:solidFill>
              </a:rPr>
              <a:t>1</a:t>
            </a:r>
            <a:r>
              <a:rPr lang="en-US" altLang="zh-CN" sz="2000" i="1">
                <a:solidFill>
                  <a:schemeClr val="bg1"/>
                </a:solidFill>
              </a:rPr>
              <a:t>I</a:t>
            </a:r>
            <a:r>
              <a:rPr lang="en-US" altLang="zh-CN" sz="2000" i="1" baseline="-20000">
                <a:solidFill>
                  <a:schemeClr val="bg1"/>
                </a:solidFill>
              </a:rPr>
              <a:t>0 </a:t>
            </a:r>
            <a:r>
              <a:rPr lang="en-US" altLang="zh-CN" sz="2000">
                <a:solidFill>
                  <a:schemeClr val="bg1"/>
                </a:solidFill>
              </a:rPr>
              <a:t>e</a:t>
            </a:r>
            <a:r>
              <a:rPr lang="en-US" altLang="zh-CN" sz="2000" baseline="30000">
                <a:solidFill>
                  <a:schemeClr val="bg1"/>
                </a:solidFill>
              </a:rPr>
              <a:t>G</a:t>
            </a:r>
            <a:r>
              <a:rPr lang="en-US" altLang="zh-CN" sz="2000" i="1" baseline="30000">
                <a:solidFill>
                  <a:schemeClr val="bg1"/>
                </a:solidFill>
              </a:rPr>
              <a:t>L</a:t>
            </a:r>
            <a:endParaRPr lang="en-US" altLang="zh-CN" sz="2000" i="1">
              <a:solidFill>
                <a:schemeClr val="bg1"/>
              </a:solidFill>
            </a:endParaRPr>
          </a:p>
        </p:txBody>
      </p:sp>
      <p:sp>
        <p:nvSpPr>
          <p:cNvPr id="121904" name="Text Box 48">
            <a:extLst>
              <a:ext uri="{FF2B5EF4-FFF2-40B4-BE49-F238E27FC236}">
                <a16:creationId xmlns:a16="http://schemas.microsoft.com/office/drawing/2014/main" id="{2AEC7213-3EE6-4968-BCF0-4AB9B121EB88}"/>
              </a:ext>
            </a:extLst>
          </p:cNvPr>
          <p:cNvSpPr txBox="1">
            <a:spLocks noChangeArrowheads="1"/>
          </p:cNvSpPr>
          <p:nvPr/>
        </p:nvSpPr>
        <p:spPr bwMode="auto">
          <a:xfrm>
            <a:off x="4786313" y="3857625"/>
            <a:ext cx="10128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i="1">
                <a:solidFill>
                  <a:schemeClr val="bg1"/>
                </a:solidFill>
              </a:rPr>
              <a:t>r</a:t>
            </a:r>
            <a:r>
              <a:rPr lang="en-US" altLang="zh-CN" sz="2000" baseline="-20000">
                <a:solidFill>
                  <a:schemeClr val="bg1"/>
                </a:solidFill>
              </a:rPr>
              <a:t>1</a:t>
            </a:r>
            <a:r>
              <a:rPr lang="en-US" altLang="zh-CN" sz="2000" i="1">
                <a:solidFill>
                  <a:schemeClr val="bg1"/>
                </a:solidFill>
              </a:rPr>
              <a:t>I</a:t>
            </a:r>
            <a:r>
              <a:rPr lang="en-US" altLang="zh-CN" sz="2000" i="1" baseline="-20000">
                <a:solidFill>
                  <a:schemeClr val="bg1"/>
                </a:solidFill>
              </a:rPr>
              <a:t>0 </a:t>
            </a:r>
            <a:r>
              <a:rPr lang="en-US" altLang="zh-CN" sz="2000">
                <a:solidFill>
                  <a:schemeClr val="bg1"/>
                </a:solidFill>
              </a:rPr>
              <a:t>e</a:t>
            </a:r>
            <a:r>
              <a:rPr lang="en-US" altLang="zh-CN" sz="2000" baseline="30000">
                <a:solidFill>
                  <a:schemeClr val="bg1"/>
                </a:solidFill>
              </a:rPr>
              <a:t>2G</a:t>
            </a:r>
            <a:r>
              <a:rPr lang="en-US" altLang="zh-CN" sz="2000" i="1" baseline="30000">
                <a:solidFill>
                  <a:schemeClr val="bg1"/>
                </a:solidFill>
              </a:rPr>
              <a:t>L</a:t>
            </a:r>
          </a:p>
        </p:txBody>
      </p:sp>
      <p:sp>
        <p:nvSpPr>
          <p:cNvPr id="121905" name="AutoShape 49">
            <a:extLst>
              <a:ext uri="{FF2B5EF4-FFF2-40B4-BE49-F238E27FC236}">
                <a16:creationId xmlns:a16="http://schemas.microsoft.com/office/drawing/2014/main" id="{40537759-3508-43BF-900B-1EC5C1D6669C}"/>
              </a:ext>
            </a:extLst>
          </p:cNvPr>
          <p:cNvSpPr>
            <a:spLocks noChangeArrowheads="1"/>
          </p:cNvSpPr>
          <p:nvPr/>
        </p:nvSpPr>
        <p:spPr bwMode="auto">
          <a:xfrm flipH="1">
            <a:off x="7880350" y="3584575"/>
            <a:ext cx="457200" cy="304800"/>
          </a:xfrm>
          <a:prstGeom prst="rightArrow">
            <a:avLst>
              <a:gd name="adj1" fmla="val 50000"/>
              <a:gd name="adj2" fmla="val 37500"/>
            </a:avLst>
          </a:prstGeom>
          <a:gradFill rotWithShape="0">
            <a:gsLst>
              <a:gs pos="0">
                <a:srgbClr val="CCCC00"/>
              </a:gs>
              <a:gs pos="100000">
                <a:srgbClr val="73730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21906" name="Text Box 50">
            <a:extLst>
              <a:ext uri="{FF2B5EF4-FFF2-40B4-BE49-F238E27FC236}">
                <a16:creationId xmlns:a16="http://schemas.microsoft.com/office/drawing/2014/main" id="{ADB212BA-F234-4560-90F5-FAAA4F9D04E1}"/>
              </a:ext>
            </a:extLst>
          </p:cNvPr>
          <p:cNvSpPr txBox="1">
            <a:spLocks noChangeArrowheads="1"/>
          </p:cNvSpPr>
          <p:nvPr/>
        </p:nvSpPr>
        <p:spPr bwMode="auto">
          <a:xfrm>
            <a:off x="4359275" y="3960813"/>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i="1">
                <a:solidFill>
                  <a:srgbClr val="00FF99"/>
                </a:solidFill>
              </a:rPr>
              <a:t>r</a:t>
            </a:r>
            <a:r>
              <a:rPr lang="en-US" altLang="zh-CN" baseline="-20000">
                <a:solidFill>
                  <a:srgbClr val="00FF99"/>
                </a:solidFill>
              </a:rPr>
              <a:t>2</a:t>
            </a:r>
          </a:p>
        </p:txBody>
      </p:sp>
      <p:sp>
        <p:nvSpPr>
          <p:cNvPr id="121907" name="Rectangle 51">
            <a:extLst>
              <a:ext uri="{FF2B5EF4-FFF2-40B4-BE49-F238E27FC236}">
                <a16:creationId xmlns:a16="http://schemas.microsoft.com/office/drawing/2014/main" id="{B028608F-1BD8-4DC5-977D-DF2FC2090F75}"/>
              </a:ext>
            </a:extLst>
          </p:cNvPr>
          <p:cNvSpPr>
            <a:spLocks noChangeArrowheads="1"/>
          </p:cNvSpPr>
          <p:nvPr/>
        </p:nvSpPr>
        <p:spPr bwMode="auto">
          <a:xfrm>
            <a:off x="8169275" y="3960813"/>
            <a:ext cx="40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i="1">
                <a:solidFill>
                  <a:srgbClr val="00FF99"/>
                </a:solidFill>
              </a:rPr>
              <a:t>r</a:t>
            </a:r>
            <a:r>
              <a:rPr lang="en-US" altLang="zh-CN" baseline="-20000">
                <a:solidFill>
                  <a:srgbClr val="00FF99"/>
                </a:solidFill>
              </a:rPr>
              <a:t>1</a:t>
            </a:r>
          </a:p>
        </p:txBody>
      </p:sp>
      <p:sp>
        <p:nvSpPr>
          <p:cNvPr id="121908" name="Text Box 52">
            <a:extLst>
              <a:ext uri="{FF2B5EF4-FFF2-40B4-BE49-F238E27FC236}">
                <a16:creationId xmlns:a16="http://schemas.microsoft.com/office/drawing/2014/main" id="{18FC34C3-0069-4F2B-A17B-7A3ACB1ADCF6}"/>
              </a:ext>
            </a:extLst>
          </p:cNvPr>
          <p:cNvSpPr txBox="1">
            <a:spLocks noChangeArrowheads="1"/>
          </p:cNvSpPr>
          <p:nvPr/>
        </p:nvSpPr>
        <p:spPr bwMode="auto">
          <a:xfrm rot="5400000">
            <a:off x="5154613" y="2846387"/>
            <a:ext cx="4397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a:solidFill>
                  <a:srgbClr val="00FFFF"/>
                </a:solidFill>
              </a:rPr>
              <a:t>≤</a:t>
            </a:r>
          </a:p>
        </p:txBody>
      </p:sp>
      <p:sp>
        <p:nvSpPr>
          <p:cNvPr id="121909" name="Text Box 53">
            <a:extLst>
              <a:ext uri="{FF2B5EF4-FFF2-40B4-BE49-F238E27FC236}">
                <a16:creationId xmlns:a16="http://schemas.microsoft.com/office/drawing/2014/main" id="{4CE08E5A-549B-4016-860C-E8B79F5DD88F}"/>
              </a:ext>
            </a:extLst>
          </p:cNvPr>
          <p:cNvSpPr txBox="1">
            <a:spLocks noChangeArrowheads="1"/>
          </p:cNvSpPr>
          <p:nvPr/>
        </p:nvSpPr>
        <p:spPr bwMode="auto">
          <a:xfrm>
            <a:off x="5058650" y="2489703"/>
            <a:ext cx="533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i="1" dirty="0">
                <a:solidFill>
                  <a:schemeClr val="bg1"/>
                </a:solidFill>
              </a:rPr>
              <a:t>I</a:t>
            </a:r>
            <a:r>
              <a:rPr lang="en-US" altLang="zh-CN" sz="2000" i="1" baseline="-20000" dirty="0">
                <a:solidFill>
                  <a:schemeClr val="bg1"/>
                </a:solidFill>
              </a:rPr>
              <a:t>0</a:t>
            </a:r>
            <a:endParaRPr lang="en-US" altLang="zh-CN" sz="2000" i="1" dirty="0">
              <a:solidFill>
                <a:schemeClr val="bg1"/>
              </a:solidFill>
            </a:endParaRPr>
          </a:p>
        </p:txBody>
      </p:sp>
      <p:sp>
        <p:nvSpPr>
          <p:cNvPr id="121910" name="Rectangle 54">
            <a:extLst>
              <a:ext uri="{FF2B5EF4-FFF2-40B4-BE49-F238E27FC236}">
                <a16:creationId xmlns:a16="http://schemas.microsoft.com/office/drawing/2014/main" id="{FF3F76FC-B2C7-47EA-A241-89FD5DE290A1}"/>
              </a:ext>
            </a:extLst>
          </p:cNvPr>
          <p:cNvSpPr>
            <a:spLocks noChangeArrowheads="1"/>
          </p:cNvSpPr>
          <p:nvPr/>
        </p:nvSpPr>
        <p:spPr bwMode="auto">
          <a:xfrm>
            <a:off x="5865813" y="2286000"/>
            <a:ext cx="12065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a:solidFill>
                  <a:schemeClr val="bg1"/>
                </a:solidFill>
                <a:ea typeface="楷体_GB2312" pitchFamily="49" charset="-122"/>
              </a:rPr>
              <a:t>增益介质</a:t>
            </a:r>
          </a:p>
        </p:txBody>
      </p:sp>
      <p:sp>
        <p:nvSpPr>
          <p:cNvPr id="121911" name="Rectangle 55">
            <a:extLst>
              <a:ext uri="{FF2B5EF4-FFF2-40B4-BE49-F238E27FC236}">
                <a16:creationId xmlns:a16="http://schemas.microsoft.com/office/drawing/2014/main" id="{1AC39CCB-D03F-4271-8544-0F744E132D2C}"/>
              </a:ext>
            </a:extLst>
          </p:cNvPr>
          <p:cNvSpPr>
            <a:spLocks noChangeArrowheads="1"/>
          </p:cNvSpPr>
          <p:nvPr/>
        </p:nvSpPr>
        <p:spPr bwMode="auto">
          <a:xfrm>
            <a:off x="4454525" y="2792413"/>
            <a:ext cx="146050" cy="1296987"/>
          </a:xfrm>
          <a:prstGeom prst="rect">
            <a:avLst/>
          </a:prstGeom>
          <a:gradFill rotWithShape="1">
            <a:gsLst>
              <a:gs pos="0">
                <a:schemeClr val="bg1">
                  <a:gamma/>
                  <a:shade val="50196"/>
                  <a:invGamma/>
                </a:schemeClr>
              </a:gs>
              <a:gs pos="100000">
                <a:schemeClr val="bg1">
                  <a:alpha val="64999"/>
                </a:schemeClr>
              </a:gs>
            </a:gsLst>
            <a:lin ang="0" scaled="1"/>
          </a:gradFill>
          <a:ln w="9525">
            <a:noFill/>
            <a:miter lim="800000"/>
            <a:headEnd/>
            <a:tailEnd/>
          </a:ln>
          <a:effectLst/>
        </p:spPr>
        <p:txBody>
          <a:bodyPr wrap="none" anchor="ctr"/>
          <a:lstStyle/>
          <a:p>
            <a:pPr algn="ctr" eaLnBrk="1" hangingPunct="1">
              <a:defRPr/>
            </a:pPr>
            <a:endParaRPr lang="zh-CN" altLang="en-US">
              <a:solidFill>
                <a:schemeClr val="bg1"/>
              </a:solidFill>
            </a:endParaRPr>
          </a:p>
        </p:txBody>
      </p:sp>
      <p:sp>
        <p:nvSpPr>
          <p:cNvPr id="121912" name="Rectangle 56">
            <a:extLst>
              <a:ext uri="{FF2B5EF4-FFF2-40B4-BE49-F238E27FC236}">
                <a16:creationId xmlns:a16="http://schemas.microsoft.com/office/drawing/2014/main" id="{6E68BF0F-0AC9-4546-AAEE-87E67E7746F2}"/>
              </a:ext>
            </a:extLst>
          </p:cNvPr>
          <p:cNvSpPr>
            <a:spLocks noChangeArrowheads="1"/>
          </p:cNvSpPr>
          <p:nvPr/>
        </p:nvSpPr>
        <p:spPr bwMode="auto">
          <a:xfrm>
            <a:off x="8337550" y="2792413"/>
            <a:ext cx="144463" cy="1296987"/>
          </a:xfrm>
          <a:prstGeom prst="rect">
            <a:avLst/>
          </a:prstGeom>
          <a:gradFill rotWithShape="1">
            <a:gsLst>
              <a:gs pos="0">
                <a:schemeClr val="hlink">
                  <a:alpha val="50000"/>
                </a:schemeClr>
              </a:gs>
              <a:gs pos="50000">
                <a:schemeClr val="bg1">
                  <a:alpha val="63000"/>
                </a:schemeClr>
              </a:gs>
              <a:gs pos="100000">
                <a:schemeClr val="hlink">
                  <a:alpha val="50000"/>
                </a:schemeClr>
              </a:gs>
            </a:gsLst>
            <a:lin ang="0" scaled="1"/>
          </a:gradFill>
          <a:ln w="9525">
            <a:noFill/>
            <a:miter lim="800000"/>
            <a:headEnd/>
            <a:tailEnd/>
          </a:ln>
          <a:effectLst/>
        </p:spPr>
        <p:txBody>
          <a:bodyPr wrap="none" anchor="ctr"/>
          <a:lstStyle/>
          <a:p>
            <a:pPr algn="ctr" eaLnBrk="1" hangingPunct="1">
              <a:defRPr/>
            </a:pPr>
            <a:endParaRPr lang="zh-CN" altLang="en-US">
              <a:solidFill>
                <a:schemeClr val="bg1"/>
              </a:solidFill>
            </a:endParaRPr>
          </a:p>
        </p:txBody>
      </p:sp>
      <p:sp>
        <p:nvSpPr>
          <p:cNvPr id="121913" name="AutoShape 57">
            <a:extLst>
              <a:ext uri="{FF2B5EF4-FFF2-40B4-BE49-F238E27FC236}">
                <a16:creationId xmlns:a16="http://schemas.microsoft.com/office/drawing/2014/main" id="{526E8CBA-EA0C-42AF-BCA7-CE2510BF2B0E}"/>
              </a:ext>
            </a:extLst>
          </p:cNvPr>
          <p:cNvSpPr>
            <a:spLocks noChangeArrowheads="1"/>
          </p:cNvSpPr>
          <p:nvPr/>
        </p:nvSpPr>
        <p:spPr bwMode="auto">
          <a:xfrm>
            <a:off x="4598988" y="3225800"/>
            <a:ext cx="576262" cy="287338"/>
          </a:xfrm>
          <a:prstGeom prst="rightArrow">
            <a:avLst>
              <a:gd name="adj1" fmla="val 50000"/>
              <a:gd name="adj2" fmla="val 50138"/>
            </a:avLst>
          </a:prstGeom>
          <a:solidFill>
            <a:srgbClr val="FFFF66">
              <a:alpha val="87057"/>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21914" name="Text Box 58">
            <a:extLst>
              <a:ext uri="{FF2B5EF4-FFF2-40B4-BE49-F238E27FC236}">
                <a16:creationId xmlns:a16="http://schemas.microsoft.com/office/drawing/2014/main" id="{986A40D2-73CD-44D2-ADE9-5982D134E239}"/>
              </a:ext>
            </a:extLst>
          </p:cNvPr>
          <p:cNvSpPr txBox="1">
            <a:spLocks noChangeArrowheads="1"/>
          </p:cNvSpPr>
          <p:nvPr/>
        </p:nvSpPr>
        <p:spPr bwMode="auto">
          <a:xfrm>
            <a:off x="5143500" y="3143250"/>
            <a:ext cx="1193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i="1" dirty="0">
                <a:solidFill>
                  <a:schemeClr val="bg1"/>
                </a:solidFill>
              </a:rPr>
              <a:t>r</a:t>
            </a:r>
            <a:r>
              <a:rPr lang="en-US" altLang="zh-CN" sz="2000" baseline="-20000" dirty="0">
                <a:solidFill>
                  <a:schemeClr val="bg1"/>
                </a:solidFill>
              </a:rPr>
              <a:t>1</a:t>
            </a:r>
            <a:r>
              <a:rPr lang="en-US" altLang="zh-CN" sz="2000" i="1" dirty="0">
                <a:solidFill>
                  <a:schemeClr val="bg1"/>
                </a:solidFill>
              </a:rPr>
              <a:t>r</a:t>
            </a:r>
            <a:r>
              <a:rPr lang="en-US" altLang="zh-CN" sz="2000" baseline="-20000" dirty="0">
                <a:solidFill>
                  <a:schemeClr val="bg1"/>
                </a:solidFill>
              </a:rPr>
              <a:t>2</a:t>
            </a:r>
            <a:r>
              <a:rPr lang="en-US" altLang="zh-CN" sz="2000" i="1" dirty="0">
                <a:solidFill>
                  <a:schemeClr val="bg1"/>
                </a:solidFill>
              </a:rPr>
              <a:t>I</a:t>
            </a:r>
            <a:r>
              <a:rPr lang="en-US" altLang="zh-CN" sz="2000" i="1" baseline="-20000" dirty="0">
                <a:solidFill>
                  <a:schemeClr val="bg1"/>
                </a:solidFill>
              </a:rPr>
              <a:t>0 </a:t>
            </a:r>
            <a:r>
              <a:rPr lang="en-US" altLang="zh-CN" sz="2000" dirty="0">
                <a:solidFill>
                  <a:schemeClr val="bg1"/>
                </a:solidFill>
              </a:rPr>
              <a:t>e</a:t>
            </a:r>
            <a:r>
              <a:rPr lang="en-US" altLang="zh-CN" sz="2000" baseline="30000" dirty="0">
                <a:solidFill>
                  <a:schemeClr val="bg1"/>
                </a:solidFill>
              </a:rPr>
              <a:t>2G</a:t>
            </a:r>
            <a:r>
              <a:rPr lang="en-US" altLang="zh-CN" sz="2000" i="1" baseline="30000" dirty="0">
                <a:solidFill>
                  <a:schemeClr val="bg1"/>
                </a:solidFill>
              </a:rPr>
              <a:t>L</a:t>
            </a:r>
          </a:p>
        </p:txBody>
      </p:sp>
      <p:grpSp>
        <p:nvGrpSpPr>
          <p:cNvPr id="10" name="Group 59">
            <a:extLst>
              <a:ext uri="{FF2B5EF4-FFF2-40B4-BE49-F238E27FC236}">
                <a16:creationId xmlns:a16="http://schemas.microsoft.com/office/drawing/2014/main" id="{6787DF84-3F33-4122-B614-3E7055CE1E44}"/>
              </a:ext>
            </a:extLst>
          </p:cNvPr>
          <p:cNvGrpSpPr>
            <a:grpSpLocks/>
          </p:cNvGrpSpPr>
          <p:nvPr/>
        </p:nvGrpSpPr>
        <p:grpSpPr bwMode="auto">
          <a:xfrm>
            <a:off x="4573588" y="4286250"/>
            <a:ext cx="3776662" cy="523875"/>
            <a:chOff x="3264" y="1382"/>
            <a:chExt cx="2016" cy="330"/>
          </a:xfrm>
        </p:grpSpPr>
        <p:sp>
          <p:nvSpPr>
            <p:cNvPr id="32825" name="Line 60">
              <a:extLst>
                <a:ext uri="{FF2B5EF4-FFF2-40B4-BE49-F238E27FC236}">
                  <a16:creationId xmlns:a16="http://schemas.microsoft.com/office/drawing/2014/main" id="{FB15D780-9982-4591-BEDE-09CB18FAEFD5}"/>
                </a:ext>
              </a:extLst>
            </p:cNvPr>
            <p:cNvSpPr>
              <a:spLocks noChangeShapeType="1"/>
            </p:cNvSpPr>
            <p:nvPr/>
          </p:nvSpPr>
          <p:spPr bwMode="auto">
            <a:xfrm>
              <a:off x="3264" y="1440"/>
              <a:ext cx="0" cy="272"/>
            </a:xfrm>
            <a:prstGeom prst="line">
              <a:avLst/>
            </a:prstGeom>
            <a:noFill/>
            <a:ln w="2222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826" name="Line 61">
              <a:extLst>
                <a:ext uri="{FF2B5EF4-FFF2-40B4-BE49-F238E27FC236}">
                  <a16:creationId xmlns:a16="http://schemas.microsoft.com/office/drawing/2014/main" id="{0E17D85D-C831-4F34-90BC-89284B35D2FB}"/>
                </a:ext>
              </a:extLst>
            </p:cNvPr>
            <p:cNvSpPr>
              <a:spLocks noChangeShapeType="1"/>
            </p:cNvSpPr>
            <p:nvPr/>
          </p:nvSpPr>
          <p:spPr bwMode="auto">
            <a:xfrm>
              <a:off x="5280" y="1440"/>
              <a:ext cx="0" cy="272"/>
            </a:xfrm>
            <a:prstGeom prst="line">
              <a:avLst/>
            </a:prstGeom>
            <a:noFill/>
            <a:ln w="2222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827" name="Line 62">
              <a:extLst>
                <a:ext uri="{FF2B5EF4-FFF2-40B4-BE49-F238E27FC236}">
                  <a16:creationId xmlns:a16="http://schemas.microsoft.com/office/drawing/2014/main" id="{F76819DB-18F7-4B89-917D-CAEB515B0487}"/>
                </a:ext>
              </a:extLst>
            </p:cNvPr>
            <p:cNvSpPr>
              <a:spLocks noChangeShapeType="1"/>
            </p:cNvSpPr>
            <p:nvPr/>
          </p:nvSpPr>
          <p:spPr bwMode="auto">
            <a:xfrm flipV="1">
              <a:off x="3264" y="1652"/>
              <a:ext cx="2016" cy="0"/>
            </a:xfrm>
            <a:prstGeom prst="line">
              <a:avLst/>
            </a:prstGeom>
            <a:noFill/>
            <a:ln w="15875">
              <a:solidFill>
                <a:schemeClr val="bg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32828" name="Object 63">
              <a:extLst>
                <a:ext uri="{FF2B5EF4-FFF2-40B4-BE49-F238E27FC236}">
                  <a16:creationId xmlns:a16="http://schemas.microsoft.com/office/drawing/2014/main" id="{40160C35-C1D1-49D0-8726-B5B609CA9B9E}"/>
                </a:ext>
              </a:extLst>
            </p:cNvPr>
            <p:cNvGraphicFramePr>
              <a:graphicFrameLocks noChangeAspect="1"/>
            </p:cNvGraphicFramePr>
            <p:nvPr/>
          </p:nvGraphicFramePr>
          <p:xfrm>
            <a:off x="4128" y="1382"/>
            <a:ext cx="165" cy="225"/>
          </p:xfrm>
          <a:graphic>
            <a:graphicData uri="http://schemas.openxmlformats.org/presentationml/2006/ole">
              <mc:AlternateContent xmlns:mc="http://schemas.openxmlformats.org/markup-compatibility/2006">
                <mc:Choice xmlns:v="urn:schemas-microsoft-com:vml" Requires="v">
                  <p:oleObj spid="_x0000_s568562" name="Equation" r:id="rId4" imgW="106751" imgH="137019" progId="Equation.3">
                    <p:embed/>
                  </p:oleObj>
                </mc:Choice>
                <mc:Fallback>
                  <p:oleObj name="Equation" r:id="rId4" imgW="106751" imgH="137019" progId="Equation.3">
                    <p:embed/>
                    <p:pic>
                      <p:nvPicPr>
                        <p:cNvPr id="32828" name="Object 63">
                          <a:extLst>
                            <a:ext uri="{FF2B5EF4-FFF2-40B4-BE49-F238E27FC236}">
                              <a16:creationId xmlns:a16="http://schemas.microsoft.com/office/drawing/2014/main" id="{40160C35-C1D1-49D0-8726-B5B609CA9B9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28" y="1382"/>
                          <a:ext cx="165" cy="225"/>
                        </a:xfrm>
                        <a:prstGeom prst="rect">
                          <a:avLst/>
                        </a:prstGeom>
                        <a:noFill/>
                        <a:ln>
                          <a:noFill/>
                        </a:ln>
                        <a:extLst>
                          <a:ext uri="{909E8E84-426E-40DD-AFC4-6F175D3DCCD1}">
                            <a14:hiddenFill xmlns:a14="http://schemas.microsoft.com/office/drawing/2010/main">
                              <a:solidFill>
                                <a:srgbClr val="006699"/>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21920" name="Rectangle 64">
            <a:extLst>
              <a:ext uri="{FF2B5EF4-FFF2-40B4-BE49-F238E27FC236}">
                <a16:creationId xmlns:a16="http://schemas.microsoft.com/office/drawing/2014/main" id="{78029469-A041-454F-B271-2B4E47DBA25A}"/>
              </a:ext>
            </a:extLst>
          </p:cNvPr>
          <p:cNvSpPr>
            <a:spLocks noChangeArrowheads="1"/>
          </p:cNvSpPr>
          <p:nvPr/>
        </p:nvSpPr>
        <p:spPr bwMode="auto">
          <a:xfrm>
            <a:off x="571500" y="3032125"/>
            <a:ext cx="35655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latin typeface="宋体" panose="02010600030101010101" pitchFamily="2" charset="-122"/>
              </a:rPr>
              <a:t>介质增益←→光的损耗</a:t>
            </a:r>
          </a:p>
        </p:txBody>
      </p:sp>
      <p:sp>
        <p:nvSpPr>
          <p:cNvPr id="121921" name="Rectangle 65">
            <a:extLst>
              <a:ext uri="{FF2B5EF4-FFF2-40B4-BE49-F238E27FC236}">
                <a16:creationId xmlns:a16="http://schemas.microsoft.com/office/drawing/2014/main" id="{68747A0A-1503-4484-B8E9-9AE027EA4FB0}"/>
              </a:ext>
            </a:extLst>
          </p:cNvPr>
          <p:cNvSpPr>
            <a:spLocks noChangeArrowheads="1"/>
          </p:cNvSpPr>
          <p:nvPr/>
        </p:nvSpPr>
        <p:spPr bwMode="auto">
          <a:xfrm>
            <a:off x="571500" y="3543300"/>
            <a:ext cx="3292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rgbClr val="EDFE4A"/>
                </a:solidFill>
              </a:rPr>
              <a:t>激光：增益大于损耗</a:t>
            </a:r>
          </a:p>
        </p:txBody>
      </p:sp>
      <p:graphicFrame>
        <p:nvGraphicFramePr>
          <p:cNvPr id="121922" name="Object 66">
            <a:extLst>
              <a:ext uri="{FF2B5EF4-FFF2-40B4-BE49-F238E27FC236}">
                <a16:creationId xmlns:a16="http://schemas.microsoft.com/office/drawing/2014/main" id="{24B2AE1C-1459-4F94-AEFA-742550DA3285}"/>
              </a:ext>
            </a:extLst>
          </p:cNvPr>
          <p:cNvGraphicFramePr>
            <a:graphicFrameLocks noChangeAspect="1"/>
          </p:cNvGraphicFramePr>
          <p:nvPr/>
        </p:nvGraphicFramePr>
        <p:xfrm>
          <a:off x="889000" y="4071938"/>
          <a:ext cx="1539875" cy="455612"/>
        </p:xfrm>
        <a:graphic>
          <a:graphicData uri="http://schemas.openxmlformats.org/presentationml/2006/ole">
            <mc:AlternateContent xmlns:mc="http://schemas.openxmlformats.org/markup-compatibility/2006">
              <mc:Choice xmlns:v="urn:schemas-microsoft-com:vml" Requires="v">
                <p:oleObj spid="_x0000_s568563" name="公式" r:id="rId6" imgW="655391" imgH="198104" progId="Equation.3">
                  <p:embed/>
                </p:oleObj>
              </mc:Choice>
              <mc:Fallback>
                <p:oleObj name="公式" r:id="rId6" imgW="655391" imgH="198104" progId="Equation.3">
                  <p:embed/>
                  <p:pic>
                    <p:nvPicPr>
                      <p:cNvPr id="121922" name="Object 66">
                        <a:extLst>
                          <a:ext uri="{FF2B5EF4-FFF2-40B4-BE49-F238E27FC236}">
                            <a16:creationId xmlns:a16="http://schemas.microsoft.com/office/drawing/2014/main" id="{24B2AE1C-1459-4F94-AEFA-742550DA328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89000" y="4071938"/>
                        <a:ext cx="1539875" cy="455612"/>
                      </a:xfrm>
                      <a:prstGeom prst="rect">
                        <a:avLst/>
                      </a:prstGeom>
                      <a:noFill/>
                      <a:ln w="22225">
                        <a:solidFill>
                          <a:srgbClr val="FF6600"/>
                        </a:solidFill>
                        <a:miter lim="800000"/>
                        <a:headEnd/>
                        <a:tailEnd/>
                      </a:ln>
                      <a:extLst>
                        <a:ext uri="{909E8E84-426E-40DD-AFC4-6F175D3DCCD1}">
                          <a14:hiddenFill xmlns:a14="http://schemas.microsoft.com/office/drawing/2010/main">
                            <a:solidFill>
                              <a:srgbClr val="006699"/>
                            </a:solidFill>
                          </a14:hiddenFill>
                        </a:ext>
                      </a:extLst>
                    </p:spPr>
                  </p:pic>
                </p:oleObj>
              </mc:Fallback>
            </mc:AlternateContent>
          </a:graphicData>
        </a:graphic>
      </p:graphicFrame>
      <p:sp>
        <p:nvSpPr>
          <p:cNvPr id="121923" name="Rectangle 67">
            <a:extLst>
              <a:ext uri="{FF2B5EF4-FFF2-40B4-BE49-F238E27FC236}">
                <a16:creationId xmlns:a16="http://schemas.microsoft.com/office/drawing/2014/main" id="{9BEFF4DD-A814-418A-8D43-3DD33639B5C7}"/>
              </a:ext>
            </a:extLst>
          </p:cNvPr>
          <p:cNvSpPr>
            <a:spLocks noChangeArrowheads="1"/>
          </p:cNvSpPr>
          <p:nvPr/>
        </p:nvSpPr>
        <p:spPr bwMode="auto">
          <a:xfrm>
            <a:off x="1943100" y="4643438"/>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dirty="0">
                <a:solidFill>
                  <a:schemeClr val="bg1"/>
                </a:solidFill>
              </a:rPr>
              <a:t>可能使</a:t>
            </a:r>
          </a:p>
        </p:txBody>
      </p:sp>
      <p:graphicFrame>
        <p:nvGraphicFramePr>
          <p:cNvPr id="121924" name="Object 68">
            <a:extLst>
              <a:ext uri="{FF2B5EF4-FFF2-40B4-BE49-F238E27FC236}">
                <a16:creationId xmlns:a16="http://schemas.microsoft.com/office/drawing/2014/main" id="{55804BD7-C977-46CA-86E0-0C3397939E81}"/>
              </a:ext>
            </a:extLst>
          </p:cNvPr>
          <p:cNvGraphicFramePr>
            <a:graphicFrameLocks noChangeAspect="1"/>
          </p:cNvGraphicFramePr>
          <p:nvPr/>
        </p:nvGraphicFramePr>
        <p:xfrm>
          <a:off x="958850" y="4705350"/>
          <a:ext cx="1041400" cy="414338"/>
        </p:xfrm>
        <a:graphic>
          <a:graphicData uri="http://schemas.openxmlformats.org/presentationml/2006/ole">
            <mc:AlternateContent xmlns:mc="http://schemas.openxmlformats.org/markup-compatibility/2006">
              <mc:Choice xmlns:v="urn:schemas-microsoft-com:vml" Requires="v">
                <p:oleObj spid="_x0000_s568564" name="Equation" r:id="rId8" imgW="449545" imgH="198104" progId="Equation.3">
                  <p:embed/>
                </p:oleObj>
              </mc:Choice>
              <mc:Fallback>
                <p:oleObj name="Equation" r:id="rId8" imgW="449545" imgH="198104" progId="Equation.3">
                  <p:embed/>
                  <p:pic>
                    <p:nvPicPr>
                      <p:cNvPr id="121924" name="Object 68">
                        <a:extLst>
                          <a:ext uri="{FF2B5EF4-FFF2-40B4-BE49-F238E27FC236}">
                            <a16:creationId xmlns:a16="http://schemas.microsoft.com/office/drawing/2014/main" id="{55804BD7-C977-46CA-86E0-0C3397939E8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58850" y="4705350"/>
                        <a:ext cx="1041400" cy="414338"/>
                      </a:xfrm>
                      <a:prstGeom prst="rect">
                        <a:avLst/>
                      </a:prstGeom>
                      <a:noFill/>
                      <a:ln>
                        <a:noFill/>
                      </a:ln>
                      <a:extLst>
                        <a:ext uri="{909E8E84-426E-40DD-AFC4-6F175D3DCCD1}">
                          <a14:hiddenFill xmlns:a14="http://schemas.microsoft.com/office/drawing/2010/main">
                            <a:solidFill>
                              <a:srgbClr val="006699"/>
                            </a:solidFill>
                          </a14:hiddenFill>
                        </a:ext>
                        <a:ext uri="{91240B29-F687-4F45-9708-019B960494DF}">
                          <a14:hiddenLine xmlns:a14="http://schemas.microsoft.com/office/drawing/2010/main" w="22225">
                            <a:solidFill>
                              <a:srgbClr val="FF6600"/>
                            </a:solidFill>
                            <a:miter lim="800000"/>
                            <a:headEnd/>
                            <a:tailEnd/>
                          </a14:hiddenLine>
                        </a:ext>
                      </a:extLst>
                    </p:spPr>
                  </p:pic>
                </p:oleObj>
              </mc:Fallback>
            </mc:AlternateContent>
          </a:graphicData>
        </a:graphic>
      </p:graphicFrame>
      <p:sp>
        <p:nvSpPr>
          <p:cNvPr id="121925" name="Rectangle 69">
            <a:extLst>
              <a:ext uri="{FF2B5EF4-FFF2-40B4-BE49-F238E27FC236}">
                <a16:creationId xmlns:a16="http://schemas.microsoft.com/office/drawing/2014/main" id="{ED70C46D-A1B4-46F1-BA64-72BE2DB163D3}"/>
              </a:ext>
            </a:extLst>
          </p:cNvPr>
          <p:cNvSpPr>
            <a:spLocks noChangeArrowheads="1"/>
          </p:cNvSpPr>
          <p:nvPr/>
        </p:nvSpPr>
        <p:spPr bwMode="auto">
          <a:xfrm>
            <a:off x="571500" y="4643438"/>
            <a:ext cx="5746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rPr>
              <a:t>若</a:t>
            </a:r>
          </a:p>
        </p:txBody>
      </p:sp>
      <p:graphicFrame>
        <p:nvGraphicFramePr>
          <p:cNvPr id="121926" name="Object 70">
            <a:extLst>
              <a:ext uri="{FF2B5EF4-FFF2-40B4-BE49-F238E27FC236}">
                <a16:creationId xmlns:a16="http://schemas.microsoft.com/office/drawing/2014/main" id="{1BD50C99-44D9-4A21-AFAB-17E9A346E6B3}"/>
              </a:ext>
            </a:extLst>
          </p:cNvPr>
          <p:cNvGraphicFramePr>
            <a:graphicFrameLocks noChangeAspect="1"/>
          </p:cNvGraphicFramePr>
          <p:nvPr/>
        </p:nvGraphicFramePr>
        <p:xfrm>
          <a:off x="714375" y="5286375"/>
          <a:ext cx="1504950" cy="457200"/>
        </p:xfrm>
        <a:graphic>
          <a:graphicData uri="http://schemas.openxmlformats.org/presentationml/2006/ole">
            <mc:AlternateContent xmlns:mc="http://schemas.openxmlformats.org/markup-compatibility/2006">
              <mc:Choice xmlns:v="urn:schemas-microsoft-com:vml" Requires="v">
                <p:oleObj spid="_x0000_s568565" name="公式" r:id="rId10" imgW="655391" imgH="198104" progId="Equation.3">
                  <p:embed/>
                </p:oleObj>
              </mc:Choice>
              <mc:Fallback>
                <p:oleObj name="公式" r:id="rId10" imgW="655391" imgH="198104" progId="Equation.3">
                  <p:embed/>
                  <p:pic>
                    <p:nvPicPr>
                      <p:cNvPr id="121926" name="Object 70">
                        <a:extLst>
                          <a:ext uri="{FF2B5EF4-FFF2-40B4-BE49-F238E27FC236}">
                            <a16:creationId xmlns:a16="http://schemas.microsoft.com/office/drawing/2014/main" id="{1BD50C99-44D9-4A21-AFAB-17E9A346E6B3}"/>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14375" y="5286375"/>
                        <a:ext cx="1504950" cy="457200"/>
                      </a:xfrm>
                      <a:prstGeom prst="rect">
                        <a:avLst/>
                      </a:prstGeom>
                      <a:noFill/>
                      <a:ln>
                        <a:noFill/>
                      </a:ln>
                      <a:extLst>
                        <a:ext uri="{909E8E84-426E-40DD-AFC4-6F175D3DCCD1}">
                          <a14:hiddenFill xmlns:a14="http://schemas.microsoft.com/office/drawing/2010/main">
                            <a:solidFill>
                              <a:srgbClr val="006699"/>
                            </a:solidFill>
                          </a14:hiddenFill>
                        </a:ext>
                        <a:ext uri="{91240B29-F687-4F45-9708-019B960494DF}">
                          <a14:hiddenLine xmlns:a14="http://schemas.microsoft.com/office/drawing/2010/main" w="22225">
                            <a:solidFill>
                              <a:srgbClr val="FF6600"/>
                            </a:solidFill>
                            <a:miter lim="800000"/>
                            <a:headEnd/>
                            <a:tailEnd/>
                          </a14:hiddenLine>
                        </a:ext>
                      </a:extLst>
                    </p:spPr>
                  </p:pic>
                </p:oleObj>
              </mc:Fallback>
            </mc:AlternateContent>
          </a:graphicData>
        </a:graphic>
      </p:graphicFrame>
      <p:sp>
        <p:nvSpPr>
          <p:cNvPr id="121927" name="AutoShape 71">
            <a:extLst>
              <a:ext uri="{FF2B5EF4-FFF2-40B4-BE49-F238E27FC236}">
                <a16:creationId xmlns:a16="http://schemas.microsoft.com/office/drawing/2014/main" id="{B5744C60-DBDB-4E58-92EB-6177802F38E4}"/>
              </a:ext>
            </a:extLst>
          </p:cNvPr>
          <p:cNvSpPr>
            <a:spLocks noChangeArrowheads="1"/>
          </p:cNvSpPr>
          <p:nvPr/>
        </p:nvSpPr>
        <p:spPr bwMode="auto">
          <a:xfrm>
            <a:off x="4767263" y="4906963"/>
            <a:ext cx="2233612" cy="450850"/>
          </a:xfrm>
          <a:prstGeom prst="wedgeRectCallout">
            <a:avLst>
              <a:gd name="adj1" fmla="val -58333"/>
              <a:gd name="adj2" fmla="val 78468"/>
            </a:avLst>
          </a:prstGeom>
          <a:noFill/>
          <a:ln w="19050">
            <a:solidFill>
              <a:srgbClr val="FFCCFF"/>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a:solidFill>
                  <a:schemeClr val="bg1"/>
                </a:solidFill>
                <a:latin typeface="宋体" panose="02010600030101010101" pitchFamily="2" charset="-122"/>
              </a:rPr>
              <a:t>阈值增益系数</a:t>
            </a:r>
          </a:p>
        </p:txBody>
      </p:sp>
      <p:graphicFrame>
        <p:nvGraphicFramePr>
          <p:cNvPr id="121928" name="Object 72">
            <a:extLst>
              <a:ext uri="{FF2B5EF4-FFF2-40B4-BE49-F238E27FC236}">
                <a16:creationId xmlns:a16="http://schemas.microsoft.com/office/drawing/2014/main" id="{9AC3851E-9B8A-4F2B-8FBB-6EBEE8BCB5DD}"/>
              </a:ext>
            </a:extLst>
          </p:cNvPr>
          <p:cNvGraphicFramePr>
            <a:graphicFrameLocks noChangeAspect="1"/>
          </p:cNvGraphicFramePr>
          <p:nvPr/>
        </p:nvGraphicFramePr>
        <p:xfrm>
          <a:off x="2527300" y="5126038"/>
          <a:ext cx="1954213" cy="803275"/>
        </p:xfrm>
        <a:graphic>
          <a:graphicData uri="http://schemas.openxmlformats.org/presentationml/2006/ole">
            <mc:AlternateContent xmlns:mc="http://schemas.openxmlformats.org/markup-compatibility/2006">
              <mc:Choice xmlns:v="urn:schemas-microsoft-com:vml" Requires="v">
                <p:oleObj spid="_x0000_s568566" name="公式" r:id="rId12" imgW="937366" imgH="403844" progId="Equation.3">
                  <p:embed/>
                </p:oleObj>
              </mc:Choice>
              <mc:Fallback>
                <p:oleObj name="公式" r:id="rId12" imgW="937366" imgH="403844" progId="Equation.3">
                  <p:embed/>
                  <p:pic>
                    <p:nvPicPr>
                      <p:cNvPr id="121928" name="Object 72">
                        <a:extLst>
                          <a:ext uri="{FF2B5EF4-FFF2-40B4-BE49-F238E27FC236}">
                            <a16:creationId xmlns:a16="http://schemas.microsoft.com/office/drawing/2014/main" id="{9AC3851E-9B8A-4F2B-8FBB-6EBEE8BCB5DD}"/>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527300" y="5126038"/>
                        <a:ext cx="1954213" cy="803275"/>
                      </a:xfrm>
                      <a:prstGeom prst="rect">
                        <a:avLst/>
                      </a:prstGeom>
                      <a:noFill/>
                      <a:ln>
                        <a:noFill/>
                      </a:ln>
                      <a:extLst>
                        <a:ext uri="{909E8E84-426E-40DD-AFC4-6F175D3DCCD1}">
                          <a14:hiddenFill xmlns:a14="http://schemas.microsoft.com/office/drawing/2010/main">
                            <a:solidFill>
                              <a:srgbClr val="006699"/>
                            </a:solidFill>
                          </a14:hiddenFill>
                        </a:ext>
                        <a:ext uri="{91240B29-F687-4F45-9708-019B960494DF}">
                          <a14:hiddenLine xmlns:a14="http://schemas.microsoft.com/office/drawing/2010/main" w="22225">
                            <a:solidFill>
                              <a:srgbClr val="FF6600"/>
                            </a:solidFill>
                            <a:miter lim="800000"/>
                            <a:headEnd/>
                            <a:tailEnd/>
                          </a14:hiddenLine>
                        </a:ext>
                      </a:extLst>
                    </p:spPr>
                  </p:pic>
                </p:oleObj>
              </mc:Fallback>
            </mc:AlternateContent>
          </a:graphicData>
        </a:graphic>
      </p:graphicFrame>
      <p:graphicFrame>
        <p:nvGraphicFramePr>
          <p:cNvPr id="121929" name="Object 73">
            <a:extLst>
              <a:ext uri="{FF2B5EF4-FFF2-40B4-BE49-F238E27FC236}">
                <a16:creationId xmlns:a16="http://schemas.microsoft.com/office/drawing/2014/main" id="{C9DB3286-D809-461C-A628-292A01E446CF}"/>
              </a:ext>
            </a:extLst>
          </p:cNvPr>
          <p:cNvGraphicFramePr>
            <a:graphicFrameLocks noChangeAspect="1"/>
          </p:cNvGraphicFramePr>
          <p:nvPr/>
        </p:nvGraphicFramePr>
        <p:xfrm>
          <a:off x="857250" y="5946775"/>
          <a:ext cx="1087438" cy="533400"/>
        </p:xfrm>
        <a:graphic>
          <a:graphicData uri="http://schemas.openxmlformats.org/presentationml/2006/ole">
            <mc:AlternateContent xmlns:mc="http://schemas.openxmlformats.org/markup-compatibility/2006">
              <mc:Choice xmlns:v="urn:schemas-microsoft-com:vml" Requires="v">
                <p:oleObj spid="_x0000_s568567" name="公式" r:id="rId14" imgW="449545" imgH="198104" progId="Equation.3">
                  <p:embed/>
                </p:oleObj>
              </mc:Choice>
              <mc:Fallback>
                <p:oleObj name="公式" r:id="rId14" imgW="449545" imgH="198104" progId="Equation.3">
                  <p:embed/>
                  <p:pic>
                    <p:nvPicPr>
                      <p:cNvPr id="121929" name="Object 73">
                        <a:extLst>
                          <a:ext uri="{FF2B5EF4-FFF2-40B4-BE49-F238E27FC236}">
                            <a16:creationId xmlns:a16="http://schemas.microsoft.com/office/drawing/2014/main" id="{C9DB3286-D809-461C-A628-292A01E446CF}"/>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857250" y="5946775"/>
                        <a:ext cx="1087438" cy="533400"/>
                      </a:xfrm>
                      <a:prstGeom prst="rect">
                        <a:avLst/>
                      </a:prstGeom>
                      <a:gradFill rotWithShape="1">
                        <a:gsLst>
                          <a:gs pos="0">
                            <a:srgbClr val="006600"/>
                          </a:gs>
                          <a:gs pos="100000">
                            <a:schemeClr val="tx1"/>
                          </a:gs>
                        </a:gsLst>
                        <a:lin ang="5400000" scaled="1"/>
                      </a:gradFill>
                      <a:ln w="19050">
                        <a:solidFill>
                          <a:srgbClr val="00FF00"/>
                        </a:solidFill>
                        <a:miter lim="800000"/>
                        <a:headEnd/>
                        <a:tailEnd/>
                      </a:ln>
                    </p:spPr>
                  </p:pic>
                </p:oleObj>
              </mc:Fallback>
            </mc:AlternateContent>
          </a:graphicData>
        </a:graphic>
      </p:graphicFrame>
      <p:sp>
        <p:nvSpPr>
          <p:cNvPr id="121930" name="Rectangle 74">
            <a:extLst>
              <a:ext uri="{FF2B5EF4-FFF2-40B4-BE49-F238E27FC236}">
                <a16:creationId xmlns:a16="http://schemas.microsoft.com/office/drawing/2014/main" id="{2C10200A-1FD3-4BE1-9603-26C87BB134A8}"/>
              </a:ext>
            </a:extLst>
          </p:cNvPr>
          <p:cNvSpPr>
            <a:spLocks noChangeArrowheads="1"/>
          </p:cNvSpPr>
          <p:nvPr/>
        </p:nvSpPr>
        <p:spPr bwMode="auto">
          <a:xfrm>
            <a:off x="2000250" y="5929313"/>
            <a:ext cx="42148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76176" bIns="76176">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a:solidFill>
                  <a:srgbClr val="EDFE4A"/>
                </a:solidFill>
              </a:rPr>
              <a:t>——</a:t>
            </a:r>
            <a:r>
              <a:rPr lang="zh-CN" altLang="en-US">
                <a:solidFill>
                  <a:srgbClr val="EDFE4A"/>
                </a:solidFill>
              </a:rPr>
              <a:t>产生激光的阈值条件</a:t>
            </a:r>
          </a:p>
        </p:txBody>
      </p:sp>
      <p:sp>
        <p:nvSpPr>
          <p:cNvPr id="32822" name="灯片编号占位符 1">
            <a:extLst>
              <a:ext uri="{FF2B5EF4-FFF2-40B4-BE49-F238E27FC236}">
                <a16:creationId xmlns:a16="http://schemas.microsoft.com/office/drawing/2014/main" id="{2C303AAB-DF7D-4173-ACC3-C95F046CD2E8}"/>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AC2B8CEB-8BAA-464F-BD3D-EA7A69469067}" type="slidenum">
              <a:rPr lang="en-US" altLang="zh-CN" b="0">
                <a:solidFill>
                  <a:srgbClr val="FF00FF"/>
                </a:solidFill>
              </a:rPr>
              <a:pPr eaLnBrk="1" hangingPunct="1"/>
              <a:t>21</a:t>
            </a:fld>
            <a:r>
              <a:rPr lang="en-US" altLang="zh-CN" b="0">
                <a:solidFill>
                  <a:srgbClr val="FF00FF"/>
                </a:solidFill>
              </a:rPr>
              <a:t>/28</a:t>
            </a:r>
          </a:p>
        </p:txBody>
      </p:sp>
      <p:sp>
        <p:nvSpPr>
          <p:cNvPr id="76" name="任意多边形 75">
            <a:extLst>
              <a:ext uri="{FF2B5EF4-FFF2-40B4-BE49-F238E27FC236}">
                <a16:creationId xmlns:a16="http://schemas.microsoft.com/office/drawing/2014/main" id="{EAD2CB7B-77D6-404C-BB68-A65A4F6D2D99}"/>
              </a:ext>
            </a:extLst>
          </p:cNvPr>
          <p:cNvSpPr>
            <a:spLocks noChangeArrowheads="1"/>
          </p:cNvSpPr>
          <p:nvPr/>
        </p:nvSpPr>
        <p:spPr bwMode="auto">
          <a:xfrm>
            <a:off x="2541588" y="4268788"/>
            <a:ext cx="1019175" cy="830262"/>
          </a:xfrm>
          <a:custGeom>
            <a:avLst/>
            <a:gdLst>
              <a:gd name="T0" fmla="*/ 0 w 1019908"/>
              <a:gd name="T1" fmla="*/ 4318 h 830872"/>
              <a:gd name="T2" fmla="*/ 612695 w 1019908"/>
              <a:gd name="T3" fmla="*/ 64694 h 830872"/>
              <a:gd name="T4" fmla="*/ 897468 w 1019908"/>
              <a:gd name="T5" fmla="*/ 392483 h 830872"/>
              <a:gd name="T6" fmla="*/ 1001021 w 1019908"/>
              <a:gd name="T7" fmla="*/ 815156 h 830872"/>
              <a:gd name="T8" fmla="*/ 0 60000 65536"/>
              <a:gd name="T9" fmla="*/ 0 60000 65536"/>
              <a:gd name="T10" fmla="*/ 0 60000 65536"/>
              <a:gd name="T11" fmla="*/ 0 60000 65536"/>
              <a:gd name="T12" fmla="*/ 0 w 1019908"/>
              <a:gd name="T13" fmla="*/ 0 h 830872"/>
              <a:gd name="T14" fmla="*/ 1019908 w 1019908"/>
              <a:gd name="T15" fmla="*/ 830872 h 830872"/>
            </a:gdLst>
            <a:ahLst/>
            <a:cxnLst>
              <a:cxn ang="T8">
                <a:pos x="T0" y="T1"/>
              </a:cxn>
              <a:cxn ang="T9">
                <a:pos x="T2" y="T3"/>
              </a:cxn>
              <a:cxn ang="T10">
                <a:pos x="T4" y="T5"/>
              </a:cxn>
              <a:cxn ang="T11">
                <a:pos x="T6" y="T7"/>
              </a:cxn>
            </a:cxnLst>
            <a:rect l="T12" t="T13" r="T14" b="T15"/>
            <a:pathLst>
              <a:path w="1019908" h="830872">
                <a:moveTo>
                  <a:pt x="0" y="4396"/>
                </a:moveTo>
                <a:cubicBezTo>
                  <a:pt x="235927" y="2198"/>
                  <a:pt x="471854" y="0"/>
                  <a:pt x="624254" y="65942"/>
                </a:cubicBezTo>
                <a:cubicBezTo>
                  <a:pt x="776654" y="131884"/>
                  <a:pt x="848458" y="272561"/>
                  <a:pt x="914400" y="400049"/>
                </a:cubicBezTo>
                <a:cubicBezTo>
                  <a:pt x="980342" y="527537"/>
                  <a:pt x="1000125" y="679204"/>
                  <a:pt x="1019908" y="830872"/>
                </a:cubicBezTo>
              </a:path>
            </a:pathLst>
          </a:custGeom>
          <a:noFill/>
          <a:ln w="25400" algn="ctr">
            <a:solidFill>
              <a:srgbClr val="FF0000"/>
            </a:solidFill>
            <a:round/>
            <a:headEnd/>
            <a:tailEnd type="triangle" w="med"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7" name="圆角矩形 76">
            <a:extLst>
              <a:ext uri="{FF2B5EF4-FFF2-40B4-BE49-F238E27FC236}">
                <a16:creationId xmlns:a16="http://schemas.microsoft.com/office/drawing/2014/main" id="{2B0DF072-957C-4227-93E6-A08C5FC76DC1}"/>
              </a:ext>
            </a:extLst>
          </p:cNvPr>
          <p:cNvSpPr>
            <a:spLocks noChangeArrowheads="1"/>
          </p:cNvSpPr>
          <p:nvPr/>
        </p:nvSpPr>
        <p:spPr bwMode="auto">
          <a:xfrm>
            <a:off x="5786438" y="5500688"/>
            <a:ext cx="2857500" cy="1071562"/>
          </a:xfrm>
          <a:prstGeom prst="roundRect">
            <a:avLst>
              <a:gd name="adj" fmla="val 16667"/>
            </a:avLst>
          </a:prstGeom>
          <a:solidFill>
            <a:schemeClr val="accent1"/>
          </a:solidFill>
          <a:ln w="9525" algn="ctr">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a:solidFill>
                  <a:srgbClr val="FF0000"/>
                </a:solidFill>
              </a:rPr>
              <a:t>条件：</a:t>
            </a:r>
            <a:r>
              <a:rPr lang="zh-CN" altLang="en-US"/>
              <a:t>粒子数反转</a:t>
            </a:r>
            <a:r>
              <a:rPr lang="en-US" altLang="zh-CN"/>
              <a:t>,</a:t>
            </a:r>
          </a:p>
          <a:p>
            <a:pPr algn="ctr" eaLnBrk="1" hangingPunct="1"/>
            <a:r>
              <a:rPr lang="zh-CN" altLang="en-US"/>
              <a:t>满足阈值条件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21892"/>
                                        </p:tgtEl>
                                        <p:attrNameLst>
                                          <p:attrName>style.visibility</p:attrName>
                                        </p:attrNameLst>
                                      </p:cBhvr>
                                      <p:to>
                                        <p:strVal val="visible"/>
                                      </p:to>
                                    </p:set>
                                    <p:animEffect transition="in" filter="dissolve">
                                      <p:cBhvr>
                                        <p:cTn id="7" dur="500"/>
                                        <p:tgtEl>
                                          <p:spTgt spid="12189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121860"/>
                                        </p:tgtEl>
                                        <p:attrNameLst>
                                          <p:attrName>style.visibility</p:attrName>
                                        </p:attrNameLst>
                                      </p:cBhvr>
                                      <p:to>
                                        <p:strVal val="visible"/>
                                      </p:to>
                                    </p:set>
                                    <p:animEffect transition="in" filter="dissolve">
                                      <p:cBhvr>
                                        <p:cTn id="12" dur="1000"/>
                                        <p:tgtEl>
                                          <p:spTgt spid="121860"/>
                                        </p:tgtEl>
                                      </p:cBhvr>
                                    </p:animEffect>
                                  </p:childTnLst>
                                </p:cTn>
                              </p:par>
                              <p:par>
                                <p:cTn id="13" presetID="9" presetClass="entr" presetSubtype="0" fill="hold" nodeType="withEffect">
                                  <p:stCondLst>
                                    <p:cond delay="0"/>
                                  </p:stCondLst>
                                  <p:childTnLst>
                                    <p:set>
                                      <p:cBhvr>
                                        <p:cTn id="14" dur="1" fill="hold">
                                          <p:stCondLst>
                                            <p:cond delay="0"/>
                                          </p:stCondLst>
                                        </p:cTn>
                                        <p:tgtEl>
                                          <p:spTgt spid="121869"/>
                                        </p:tgtEl>
                                        <p:attrNameLst>
                                          <p:attrName>style.visibility</p:attrName>
                                        </p:attrNameLst>
                                      </p:cBhvr>
                                      <p:to>
                                        <p:strVal val="visible"/>
                                      </p:to>
                                    </p:set>
                                    <p:animEffect transition="in" filter="dissolve">
                                      <p:cBhvr>
                                        <p:cTn id="15" dur="1000"/>
                                        <p:tgtEl>
                                          <p:spTgt spid="121869"/>
                                        </p:tgtEl>
                                      </p:cBhvr>
                                    </p:animEffect>
                                  </p:childTnLst>
                                </p:cTn>
                              </p:par>
                              <p:par>
                                <p:cTn id="16" presetID="9" presetClass="entr" presetSubtype="0" fill="hold" nodeType="withEffect">
                                  <p:stCondLst>
                                    <p:cond delay="0"/>
                                  </p:stCondLst>
                                  <p:childTnLst>
                                    <p:set>
                                      <p:cBhvr>
                                        <p:cTn id="17" dur="1" fill="hold">
                                          <p:stCondLst>
                                            <p:cond delay="0"/>
                                          </p:stCondLst>
                                        </p:cTn>
                                        <p:tgtEl>
                                          <p:spTgt spid="121868"/>
                                        </p:tgtEl>
                                        <p:attrNameLst>
                                          <p:attrName>style.visibility</p:attrName>
                                        </p:attrNameLst>
                                      </p:cBhvr>
                                      <p:to>
                                        <p:strVal val="visible"/>
                                      </p:to>
                                    </p:set>
                                    <p:animEffect transition="in" filter="dissolve">
                                      <p:cBhvr>
                                        <p:cTn id="18" dur="1000"/>
                                        <p:tgtEl>
                                          <p:spTgt spid="121868"/>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2"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wipe(right)">
                                      <p:cBhvr>
                                        <p:cTn id="23" dur="500"/>
                                        <p:tgtEl>
                                          <p:spTgt spid="2"/>
                                        </p:tgtEl>
                                      </p:cBhvr>
                                    </p:animEffect>
                                  </p:childTnLst>
                                </p:cTn>
                              </p:par>
                              <p:par>
                                <p:cTn id="24" presetID="18" presetClass="entr" presetSubtype="6" fill="hold" nodeType="with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strips(downRight)">
                                      <p:cBhvr>
                                        <p:cTn id="26" dur="500"/>
                                        <p:tgtEl>
                                          <p:spTgt spid="6"/>
                                        </p:tgtEl>
                                      </p:cBhvr>
                                    </p:animEffect>
                                  </p:childTnLst>
                                </p:cTn>
                              </p:par>
                              <p:par>
                                <p:cTn id="27" presetID="22" presetClass="entr" presetSubtype="1" fill="hold" nodeType="withEffect">
                                  <p:stCondLst>
                                    <p:cond delay="0"/>
                                  </p:stCondLst>
                                  <p:childTnLst>
                                    <p:set>
                                      <p:cBhvr>
                                        <p:cTn id="28" dur="1" fill="hold">
                                          <p:stCondLst>
                                            <p:cond delay="0"/>
                                          </p:stCondLst>
                                        </p:cTn>
                                        <p:tgtEl>
                                          <p:spTgt spid="5"/>
                                        </p:tgtEl>
                                        <p:attrNameLst>
                                          <p:attrName>style.visibility</p:attrName>
                                        </p:attrNameLst>
                                      </p:cBhvr>
                                      <p:to>
                                        <p:strVal val="visible"/>
                                      </p:to>
                                    </p:set>
                                    <p:animEffect transition="in" filter="wipe(up)">
                                      <p:cBhvr>
                                        <p:cTn id="29" dur="500"/>
                                        <p:tgtEl>
                                          <p:spTgt spid="5"/>
                                        </p:tgtEl>
                                      </p:cBhvr>
                                    </p:animEffect>
                                  </p:childTnLst>
                                </p:cTn>
                              </p:par>
                            </p:childTnLst>
                          </p:cTn>
                        </p:par>
                        <p:par>
                          <p:cTn id="30" fill="hold" nodeType="afterGroup">
                            <p:stCondLst>
                              <p:cond delay="500"/>
                            </p:stCondLst>
                            <p:childTnLst>
                              <p:par>
                                <p:cTn id="31" presetID="22" presetClass="entr" presetSubtype="8" fill="hold" nodeType="after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wipe(left)">
                                      <p:cBhvr>
                                        <p:cTn id="33" dur="500"/>
                                        <p:tgtEl>
                                          <p:spTgt spid="7"/>
                                        </p:tgtEl>
                                      </p:cBhvr>
                                    </p:animEffect>
                                  </p:childTnLst>
                                </p:cTn>
                              </p:par>
                              <p:par>
                                <p:cTn id="34" presetID="22" presetClass="entr" presetSubtype="4" fill="hold" nodeType="withEffect">
                                  <p:stCondLst>
                                    <p:cond delay="0"/>
                                  </p:stCondLst>
                                  <p:childTnLst>
                                    <p:set>
                                      <p:cBhvr>
                                        <p:cTn id="35" dur="1" fill="hold">
                                          <p:stCondLst>
                                            <p:cond delay="0"/>
                                          </p:stCondLst>
                                        </p:cTn>
                                        <p:tgtEl>
                                          <p:spTgt spid="8"/>
                                        </p:tgtEl>
                                        <p:attrNameLst>
                                          <p:attrName>style.visibility</p:attrName>
                                        </p:attrNameLst>
                                      </p:cBhvr>
                                      <p:to>
                                        <p:strVal val="visible"/>
                                      </p:to>
                                    </p:set>
                                    <p:animEffect transition="in" filter="wipe(down)">
                                      <p:cBhvr>
                                        <p:cTn id="36" dur="500"/>
                                        <p:tgtEl>
                                          <p:spTgt spid="8"/>
                                        </p:tgtEl>
                                      </p:cBhvr>
                                    </p:animEffect>
                                  </p:childTnLst>
                                </p:cTn>
                              </p:par>
                              <p:par>
                                <p:cTn id="37" presetID="22" presetClass="entr" presetSubtype="2" fill="hold" nodeType="withEffect">
                                  <p:stCondLst>
                                    <p:cond delay="0"/>
                                  </p:stCondLst>
                                  <p:childTnLst>
                                    <p:set>
                                      <p:cBhvr>
                                        <p:cTn id="38" dur="1" fill="hold">
                                          <p:stCondLst>
                                            <p:cond delay="0"/>
                                          </p:stCondLst>
                                        </p:cTn>
                                        <p:tgtEl>
                                          <p:spTgt spid="3"/>
                                        </p:tgtEl>
                                        <p:attrNameLst>
                                          <p:attrName>style.visibility</p:attrName>
                                        </p:attrNameLst>
                                      </p:cBhvr>
                                      <p:to>
                                        <p:strVal val="visible"/>
                                      </p:to>
                                    </p:set>
                                    <p:animEffect transition="in" filter="wipe(right)">
                                      <p:cBhvr>
                                        <p:cTn id="39" dur="500"/>
                                        <p:tgtEl>
                                          <p:spTgt spid="3"/>
                                        </p:tgtEl>
                                      </p:cBhvr>
                                    </p:animEffect>
                                  </p:childTnLst>
                                </p:cTn>
                              </p:par>
                            </p:childTnLst>
                          </p:cTn>
                        </p:par>
                        <p:par>
                          <p:cTn id="40" fill="hold" nodeType="afterGroup">
                            <p:stCondLst>
                              <p:cond delay="1000"/>
                            </p:stCondLst>
                            <p:childTnLst>
                              <p:par>
                                <p:cTn id="41" presetID="22" presetClass="entr" presetSubtype="2" fill="hold" nodeType="afterEffect">
                                  <p:stCondLst>
                                    <p:cond delay="0"/>
                                  </p:stCondLst>
                                  <p:childTnLst>
                                    <p:set>
                                      <p:cBhvr>
                                        <p:cTn id="42" dur="1" fill="hold">
                                          <p:stCondLst>
                                            <p:cond delay="0"/>
                                          </p:stCondLst>
                                        </p:cTn>
                                        <p:tgtEl>
                                          <p:spTgt spid="4"/>
                                        </p:tgtEl>
                                        <p:attrNameLst>
                                          <p:attrName>style.visibility</p:attrName>
                                        </p:attrNameLst>
                                      </p:cBhvr>
                                      <p:to>
                                        <p:strVal val="visible"/>
                                      </p:to>
                                    </p:set>
                                    <p:animEffect transition="in" filter="wipe(right)">
                                      <p:cBhvr>
                                        <p:cTn id="43" dur="500"/>
                                        <p:tgtEl>
                                          <p:spTgt spid="4"/>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 presetClass="entr" presetSubtype="1" fill="hold" nodeType="clickEffect">
                                  <p:stCondLst>
                                    <p:cond delay="0"/>
                                  </p:stCondLst>
                                  <p:childTnLst>
                                    <p:set>
                                      <p:cBhvr>
                                        <p:cTn id="47" dur="1" fill="hold">
                                          <p:stCondLst>
                                            <p:cond delay="0"/>
                                          </p:stCondLst>
                                        </p:cTn>
                                        <p:tgtEl>
                                          <p:spTgt spid="121870"/>
                                        </p:tgtEl>
                                        <p:attrNameLst>
                                          <p:attrName>style.visibility</p:attrName>
                                        </p:attrNameLst>
                                      </p:cBhvr>
                                      <p:to>
                                        <p:strVal val="visible"/>
                                      </p:to>
                                    </p:set>
                                    <p:anim calcmode="lin" valueType="num">
                                      <p:cBhvr additive="base">
                                        <p:cTn id="48" dur="500" fill="hold"/>
                                        <p:tgtEl>
                                          <p:spTgt spid="121870"/>
                                        </p:tgtEl>
                                        <p:attrNameLst>
                                          <p:attrName>ppt_x</p:attrName>
                                        </p:attrNameLst>
                                      </p:cBhvr>
                                      <p:tavLst>
                                        <p:tav tm="0">
                                          <p:val>
                                            <p:strVal val="#ppt_x"/>
                                          </p:val>
                                        </p:tav>
                                        <p:tav tm="100000">
                                          <p:val>
                                            <p:strVal val="#ppt_x"/>
                                          </p:val>
                                        </p:tav>
                                      </p:tavLst>
                                    </p:anim>
                                    <p:anim calcmode="lin" valueType="num">
                                      <p:cBhvr additive="base">
                                        <p:cTn id="49" dur="500" fill="hold"/>
                                        <p:tgtEl>
                                          <p:spTgt spid="121870"/>
                                        </p:tgtEl>
                                        <p:attrNameLst>
                                          <p:attrName>ppt_y</p:attrName>
                                        </p:attrNameLst>
                                      </p:cBhvr>
                                      <p:tavLst>
                                        <p:tav tm="0">
                                          <p:val>
                                            <p:strVal val="0-#ppt_h/2"/>
                                          </p:val>
                                        </p:tav>
                                        <p:tav tm="100000">
                                          <p:val>
                                            <p:strVal val="#ppt_y"/>
                                          </p:val>
                                        </p:tav>
                                      </p:tavLst>
                                    </p:anim>
                                  </p:childTnLst>
                                </p:cTn>
                              </p:par>
                              <p:par>
                                <p:cTn id="50" presetID="2" presetClass="entr" presetSubtype="1" fill="hold" nodeType="withEffect">
                                  <p:stCondLst>
                                    <p:cond delay="0"/>
                                  </p:stCondLst>
                                  <p:childTnLst>
                                    <p:set>
                                      <p:cBhvr>
                                        <p:cTn id="51" dur="1" fill="hold">
                                          <p:stCondLst>
                                            <p:cond delay="0"/>
                                          </p:stCondLst>
                                        </p:cTn>
                                        <p:tgtEl>
                                          <p:spTgt spid="121871"/>
                                        </p:tgtEl>
                                        <p:attrNameLst>
                                          <p:attrName>style.visibility</p:attrName>
                                        </p:attrNameLst>
                                      </p:cBhvr>
                                      <p:to>
                                        <p:strVal val="visible"/>
                                      </p:to>
                                    </p:set>
                                    <p:anim calcmode="lin" valueType="num">
                                      <p:cBhvr additive="base">
                                        <p:cTn id="52" dur="500" fill="hold"/>
                                        <p:tgtEl>
                                          <p:spTgt spid="121871"/>
                                        </p:tgtEl>
                                        <p:attrNameLst>
                                          <p:attrName>ppt_x</p:attrName>
                                        </p:attrNameLst>
                                      </p:cBhvr>
                                      <p:tavLst>
                                        <p:tav tm="0">
                                          <p:val>
                                            <p:strVal val="#ppt_x"/>
                                          </p:val>
                                        </p:tav>
                                        <p:tav tm="100000">
                                          <p:val>
                                            <p:strVal val="#ppt_x"/>
                                          </p:val>
                                        </p:tav>
                                      </p:tavLst>
                                    </p:anim>
                                    <p:anim calcmode="lin" valueType="num">
                                      <p:cBhvr additive="base">
                                        <p:cTn id="53" dur="500" fill="hold"/>
                                        <p:tgtEl>
                                          <p:spTgt spid="121871"/>
                                        </p:tgtEl>
                                        <p:attrNameLst>
                                          <p:attrName>ppt_y</p:attrName>
                                        </p:attrNameLst>
                                      </p:cBhvr>
                                      <p:tavLst>
                                        <p:tav tm="0">
                                          <p:val>
                                            <p:strVal val="0-#ppt_h/2"/>
                                          </p:val>
                                        </p:tav>
                                        <p:tav tm="100000">
                                          <p:val>
                                            <p:strVal val="#ppt_y"/>
                                          </p:val>
                                        </p:tav>
                                      </p:tavLst>
                                    </p:anim>
                                  </p:childTnLst>
                                </p:cTn>
                              </p:par>
                            </p:childTnLst>
                          </p:cTn>
                        </p:par>
                        <p:par>
                          <p:cTn id="54" fill="hold" nodeType="withGroup">
                            <p:stCondLst>
                              <p:cond delay="500"/>
                            </p:stCondLst>
                            <p:childTnLst>
                              <p:par>
                                <p:cTn id="55" presetID="22" presetClass="entr" presetSubtype="8" fill="hold" grpId="0" nodeType="afterEffect">
                                  <p:stCondLst>
                                    <p:cond delay="0"/>
                                  </p:stCondLst>
                                  <p:childTnLst>
                                    <p:set>
                                      <p:cBhvr>
                                        <p:cTn id="56" dur="1" fill="hold">
                                          <p:stCondLst>
                                            <p:cond delay="0"/>
                                          </p:stCondLst>
                                        </p:cTn>
                                        <p:tgtEl>
                                          <p:spTgt spid="121893"/>
                                        </p:tgtEl>
                                        <p:attrNameLst>
                                          <p:attrName>style.visibility</p:attrName>
                                        </p:attrNameLst>
                                      </p:cBhvr>
                                      <p:to>
                                        <p:strVal val="visible"/>
                                      </p:to>
                                    </p:set>
                                    <p:animEffect transition="in" filter="wipe(left)">
                                      <p:cBhvr>
                                        <p:cTn id="57" dur="500"/>
                                        <p:tgtEl>
                                          <p:spTgt spid="121893"/>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121894"/>
                                        </p:tgtEl>
                                        <p:attrNameLst>
                                          <p:attrName>style.visibility</p:attrName>
                                        </p:attrNameLst>
                                      </p:cBhvr>
                                      <p:to>
                                        <p:strVal val="visible"/>
                                      </p:to>
                                    </p:set>
                                    <p:animEffect transition="in" filter="wipe(left)">
                                      <p:cBhvr>
                                        <p:cTn id="62" dur="500"/>
                                        <p:tgtEl>
                                          <p:spTgt spid="121894"/>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9" presetClass="entr" presetSubtype="0" fill="hold" grpId="0" nodeType="clickEffect">
                                  <p:stCondLst>
                                    <p:cond delay="0"/>
                                  </p:stCondLst>
                                  <p:childTnLst>
                                    <p:set>
                                      <p:cBhvr>
                                        <p:cTn id="66" dur="1" fill="hold">
                                          <p:stCondLst>
                                            <p:cond delay="0"/>
                                          </p:stCondLst>
                                        </p:cTn>
                                        <p:tgtEl>
                                          <p:spTgt spid="121910"/>
                                        </p:tgtEl>
                                        <p:attrNameLst>
                                          <p:attrName>style.visibility</p:attrName>
                                        </p:attrNameLst>
                                      </p:cBhvr>
                                      <p:to>
                                        <p:strVal val="visible"/>
                                      </p:to>
                                    </p:set>
                                    <p:animEffect transition="in" filter="dissolve">
                                      <p:cBhvr>
                                        <p:cTn id="67" dur="500"/>
                                        <p:tgtEl>
                                          <p:spTgt spid="121910"/>
                                        </p:tgtEl>
                                      </p:cBhvr>
                                    </p:animEffect>
                                  </p:childTnLst>
                                </p:cTn>
                              </p:par>
                              <p:par>
                                <p:cTn id="68" presetID="9" presetClass="entr" presetSubtype="0" fill="hold" grpId="0" nodeType="withEffect">
                                  <p:stCondLst>
                                    <p:cond delay="0"/>
                                  </p:stCondLst>
                                  <p:childTnLst>
                                    <p:set>
                                      <p:cBhvr>
                                        <p:cTn id="69" dur="1" fill="hold">
                                          <p:stCondLst>
                                            <p:cond delay="0"/>
                                          </p:stCondLst>
                                        </p:cTn>
                                        <p:tgtEl>
                                          <p:spTgt spid="121898"/>
                                        </p:tgtEl>
                                        <p:attrNameLst>
                                          <p:attrName>style.visibility</p:attrName>
                                        </p:attrNameLst>
                                      </p:cBhvr>
                                      <p:to>
                                        <p:strVal val="visible"/>
                                      </p:to>
                                    </p:set>
                                    <p:animEffect transition="in" filter="dissolve">
                                      <p:cBhvr>
                                        <p:cTn id="70" dur="500"/>
                                        <p:tgtEl>
                                          <p:spTgt spid="121898"/>
                                        </p:tgtEl>
                                      </p:cBhvr>
                                    </p:animEffect>
                                  </p:childTnLst>
                                </p:cTn>
                              </p:par>
                              <p:par>
                                <p:cTn id="71" presetID="9" presetClass="entr" presetSubtype="0" fill="hold" grpId="0" nodeType="withEffect">
                                  <p:stCondLst>
                                    <p:cond delay="0"/>
                                  </p:stCondLst>
                                  <p:childTnLst>
                                    <p:set>
                                      <p:cBhvr>
                                        <p:cTn id="72" dur="1" fill="hold">
                                          <p:stCondLst>
                                            <p:cond delay="0"/>
                                          </p:stCondLst>
                                        </p:cTn>
                                        <p:tgtEl>
                                          <p:spTgt spid="121911"/>
                                        </p:tgtEl>
                                        <p:attrNameLst>
                                          <p:attrName>style.visibility</p:attrName>
                                        </p:attrNameLst>
                                      </p:cBhvr>
                                      <p:to>
                                        <p:strVal val="visible"/>
                                      </p:to>
                                    </p:set>
                                    <p:animEffect transition="in" filter="dissolve">
                                      <p:cBhvr>
                                        <p:cTn id="73" dur="500"/>
                                        <p:tgtEl>
                                          <p:spTgt spid="121911"/>
                                        </p:tgtEl>
                                      </p:cBhvr>
                                    </p:animEffect>
                                  </p:childTnLst>
                                </p:cTn>
                              </p:par>
                              <p:par>
                                <p:cTn id="74" presetID="9" presetClass="entr" presetSubtype="0" fill="hold" grpId="0" nodeType="withEffect">
                                  <p:stCondLst>
                                    <p:cond delay="0"/>
                                  </p:stCondLst>
                                  <p:childTnLst>
                                    <p:set>
                                      <p:cBhvr>
                                        <p:cTn id="75" dur="1" fill="hold">
                                          <p:stCondLst>
                                            <p:cond delay="0"/>
                                          </p:stCondLst>
                                        </p:cTn>
                                        <p:tgtEl>
                                          <p:spTgt spid="121912"/>
                                        </p:tgtEl>
                                        <p:attrNameLst>
                                          <p:attrName>style.visibility</p:attrName>
                                        </p:attrNameLst>
                                      </p:cBhvr>
                                      <p:to>
                                        <p:strVal val="visible"/>
                                      </p:to>
                                    </p:set>
                                    <p:animEffect transition="in" filter="dissolve">
                                      <p:cBhvr>
                                        <p:cTn id="76" dur="500"/>
                                        <p:tgtEl>
                                          <p:spTgt spid="121912"/>
                                        </p:tgtEl>
                                      </p:cBhvr>
                                    </p:animEffect>
                                  </p:childTnLst>
                                </p:cTn>
                              </p:par>
                              <p:par>
                                <p:cTn id="77" presetID="1" presetClass="entr" presetSubtype="0" fill="hold" grpId="0" nodeType="withEffect">
                                  <p:stCondLst>
                                    <p:cond delay="0"/>
                                  </p:stCondLst>
                                  <p:childTnLst>
                                    <p:set>
                                      <p:cBhvr>
                                        <p:cTn id="78" dur="1" fill="hold">
                                          <p:stCondLst>
                                            <p:cond delay="0"/>
                                          </p:stCondLst>
                                        </p:cTn>
                                        <p:tgtEl>
                                          <p:spTgt spid="121907"/>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121906"/>
                                        </p:tgtEl>
                                        <p:attrNameLst>
                                          <p:attrName>style.visibility</p:attrName>
                                        </p:attrNameLst>
                                      </p:cBhvr>
                                      <p:to>
                                        <p:strVal val="visible"/>
                                      </p:to>
                                    </p:set>
                                  </p:childTnLst>
                                </p:cTn>
                              </p:par>
                            </p:childTnLst>
                          </p:cTn>
                        </p:par>
                        <p:par>
                          <p:cTn id="81" fill="hold" nodeType="afterGroup">
                            <p:stCondLst>
                              <p:cond delay="500"/>
                            </p:stCondLst>
                            <p:childTnLst>
                              <p:par>
                                <p:cTn id="82" presetID="9" presetClass="entr" presetSubtype="0" fill="hold" nodeType="afterEffect">
                                  <p:stCondLst>
                                    <p:cond delay="0"/>
                                  </p:stCondLst>
                                  <p:childTnLst>
                                    <p:set>
                                      <p:cBhvr>
                                        <p:cTn id="83" dur="1" fill="hold">
                                          <p:stCondLst>
                                            <p:cond delay="0"/>
                                          </p:stCondLst>
                                        </p:cTn>
                                        <p:tgtEl>
                                          <p:spTgt spid="10"/>
                                        </p:tgtEl>
                                        <p:attrNameLst>
                                          <p:attrName>style.visibility</p:attrName>
                                        </p:attrNameLst>
                                      </p:cBhvr>
                                      <p:to>
                                        <p:strVal val="visible"/>
                                      </p:to>
                                    </p:set>
                                    <p:animEffect transition="in" filter="dissolve">
                                      <p:cBhvr>
                                        <p:cTn id="84" dur="500"/>
                                        <p:tgtEl>
                                          <p:spTgt spid="10"/>
                                        </p:tgtEl>
                                      </p:cBhvr>
                                    </p:animEffect>
                                  </p:childTnLst>
                                </p:cTn>
                              </p:par>
                            </p:childTnLst>
                          </p:cTn>
                        </p:par>
                      </p:childTnLst>
                    </p:cTn>
                  </p:par>
                  <p:par>
                    <p:cTn id="85" fill="hold" nodeType="clickPar">
                      <p:stCondLst>
                        <p:cond delay="indefinite"/>
                      </p:stCondLst>
                      <p:childTnLst>
                        <p:par>
                          <p:cTn id="86" fill="hold" nodeType="withGroup">
                            <p:stCondLst>
                              <p:cond delay="0"/>
                            </p:stCondLst>
                            <p:childTnLst>
                              <p:par>
                                <p:cTn id="87" presetID="1" presetClass="entr" presetSubtype="0" fill="hold" grpId="0" nodeType="clickEffect">
                                  <p:stCondLst>
                                    <p:cond delay="0"/>
                                  </p:stCondLst>
                                  <p:childTnLst>
                                    <p:set>
                                      <p:cBhvr>
                                        <p:cTn id="88" dur="1" fill="hold">
                                          <p:stCondLst>
                                            <p:cond delay="499"/>
                                          </p:stCondLst>
                                        </p:cTn>
                                        <p:tgtEl>
                                          <p:spTgt spid="121909"/>
                                        </p:tgtEl>
                                        <p:attrNameLst>
                                          <p:attrName>style.visibility</p:attrName>
                                        </p:attrNameLst>
                                      </p:cBhvr>
                                      <p:to>
                                        <p:strVal val="visible"/>
                                      </p:to>
                                    </p:set>
                                  </p:childTnLst>
                                </p:cTn>
                              </p:par>
                              <p:par>
                                <p:cTn id="89" presetID="9" presetClass="entr" presetSubtype="0" fill="hold" grpId="0" nodeType="withEffect">
                                  <p:stCondLst>
                                    <p:cond delay="0"/>
                                  </p:stCondLst>
                                  <p:childTnLst>
                                    <p:set>
                                      <p:cBhvr>
                                        <p:cTn id="90" dur="1" fill="hold">
                                          <p:stCondLst>
                                            <p:cond delay="0"/>
                                          </p:stCondLst>
                                        </p:cTn>
                                        <p:tgtEl>
                                          <p:spTgt spid="121899"/>
                                        </p:tgtEl>
                                        <p:attrNameLst>
                                          <p:attrName>style.visibility</p:attrName>
                                        </p:attrNameLst>
                                      </p:cBhvr>
                                      <p:to>
                                        <p:strVal val="visible"/>
                                      </p:to>
                                    </p:set>
                                    <p:animEffect transition="in" filter="dissolve">
                                      <p:cBhvr>
                                        <p:cTn id="91" dur="500"/>
                                        <p:tgtEl>
                                          <p:spTgt spid="121899"/>
                                        </p:tgtEl>
                                      </p:cBhvr>
                                    </p:animEffect>
                                  </p:childTnLst>
                                  <p:subTnLst>
                                    <p:set>
                                      <p:cBhvr override="childStyle">
                                        <p:cTn dur="1" fill="hold" display="0" masterRel="nextClick" afterEffect="1"/>
                                        <p:tgtEl>
                                          <p:spTgt spid="121899"/>
                                        </p:tgtEl>
                                        <p:attrNameLst>
                                          <p:attrName>style.visibility</p:attrName>
                                        </p:attrNameLst>
                                      </p:cBhvr>
                                      <p:to>
                                        <p:strVal val="hidden"/>
                                      </p:to>
                                    </p:set>
                                  </p:subTnLst>
                                </p:cTn>
                              </p:par>
                            </p:childTnLst>
                          </p:cTn>
                        </p:par>
                      </p:childTnLst>
                    </p:cTn>
                  </p:par>
                  <p:par>
                    <p:cTn id="92" fill="hold" nodeType="clickPar">
                      <p:stCondLst>
                        <p:cond delay="indefinite"/>
                      </p:stCondLst>
                      <p:childTnLst>
                        <p:par>
                          <p:cTn id="93" fill="hold" nodeType="withGroup">
                            <p:stCondLst>
                              <p:cond delay="0"/>
                            </p:stCondLst>
                            <p:childTnLst>
                              <p:par>
                                <p:cTn id="94" presetID="22" presetClass="entr" presetSubtype="8" fill="hold" grpId="0" nodeType="clickEffect">
                                  <p:stCondLst>
                                    <p:cond delay="0"/>
                                  </p:stCondLst>
                                  <p:childTnLst>
                                    <p:set>
                                      <p:cBhvr>
                                        <p:cTn id="95" dur="1" fill="hold">
                                          <p:stCondLst>
                                            <p:cond delay="0"/>
                                          </p:stCondLst>
                                        </p:cTn>
                                        <p:tgtEl>
                                          <p:spTgt spid="121900"/>
                                        </p:tgtEl>
                                        <p:attrNameLst>
                                          <p:attrName>style.visibility</p:attrName>
                                        </p:attrNameLst>
                                      </p:cBhvr>
                                      <p:to>
                                        <p:strVal val="visible"/>
                                      </p:to>
                                    </p:set>
                                    <p:animEffect transition="in" filter="wipe(left)">
                                      <p:cBhvr>
                                        <p:cTn id="96" dur="500"/>
                                        <p:tgtEl>
                                          <p:spTgt spid="121900"/>
                                        </p:tgtEl>
                                      </p:cBhvr>
                                    </p:animEffect>
                                  </p:childTnLst>
                                </p:cTn>
                              </p:par>
                            </p:childTnLst>
                          </p:cTn>
                        </p:par>
                        <p:par>
                          <p:cTn id="97" fill="hold" nodeType="afterGroup">
                            <p:stCondLst>
                              <p:cond delay="500"/>
                            </p:stCondLst>
                            <p:childTnLst>
                              <p:par>
                                <p:cTn id="98" presetID="1" presetClass="entr" presetSubtype="0" fill="hold" grpId="0" nodeType="afterEffect">
                                  <p:stCondLst>
                                    <p:cond delay="0"/>
                                  </p:stCondLst>
                                  <p:childTnLst>
                                    <p:set>
                                      <p:cBhvr>
                                        <p:cTn id="99" dur="1" fill="hold">
                                          <p:stCondLst>
                                            <p:cond delay="499"/>
                                          </p:stCondLst>
                                        </p:cTn>
                                        <p:tgtEl>
                                          <p:spTgt spid="121902"/>
                                        </p:tgtEl>
                                        <p:attrNameLst>
                                          <p:attrName>style.visibility</p:attrName>
                                        </p:attrNameLst>
                                      </p:cBhvr>
                                      <p:to>
                                        <p:strVal val="visible"/>
                                      </p:to>
                                    </p:set>
                                  </p:childTnLst>
                                </p:cTn>
                              </p:par>
                            </p:childTnLst>
                          </p:cTn>
                        </p:par>
                      </p:childTnLst>
                    </p:cTn>
                  </p:par>
                  <p:par>
                    <p:cTn id="100" fill="hold" nodeType="clickPar">
                      <p:stCondLst>
                        <p:cond delay="indefinite"/>
                      </p:stCondLst>
                      <p:childTnLst>
                        <p:par>
                          <p:cTn id="101" fill="hold" nodeType="withGroup">
                            <p:stCondLst>
                              <p:cond delay="0"/>
                            </p:stCondLst>
                            <p:childTnLst>
                              <p:par>
                                <p:cTn id="102" presetID="12" presetClass="entr" presetSubtype="8" fill="hold" nodeType="clickEffect">
                                  <p:stCondLst>
                                    <p:cond delay="0"/>
                                  </p:stCondLst>
                                  <p:childTnLst>
                                    <p:set>
                                      <p:cBhvr>
                                        <p:cTn id="103" dur="1" fill="hold">
                                          <p:stCondLst>
                                            <p:cond delay="0"/>
                                          </p:stCondLst>
                                        </p:cTn>
                                        <p:tgtEl>
                                          <p:spTgt spid="9"/>
                                        </p:tgtEl>
                                        <p:attrNameLst>
                                          <p:attrName>style.visibility</p:attrName>
                                        </p:attrNameLst>
                                      </p:cBhvr>
                                      <p:to>
                                        <p:strVal val="visible"/>
                                      </p:to>
                                    </p:set>
                                    <p:animEffect transition="in" filter="slide(fromLeft)">
                                      <p:cBhvr>
                                        <p:cTn id="104" dur="500"/>
                                        <p:tgtEl>
                                          <p:spTgt spid="9"/>
                                        </p:tgtEl>
                                      </p:cBhvr>
                                    </p:animEffect>
                                  </p:childTnLst>
                                </p:cTn>
                              </p:par>
                              <p:par>
                                <p:cTn id="105" presetID="12" presetClass="entr" presetSubtype="2" fill="hold" grpId="0" nodeType="withEffect">
                                  <p:stCondLst>
                                    <p:cond delay="0"/>
                                  </p:stCondLst>
                                  <p:childTnLst>
                                    <p:set>
                                      <p:cBhvr>
                                        <p:cTn id="106" dur="1" fill="hold">
                                          <p:stCondLst>
                                            <p:cond delay="0"/>
                                          </p:stCondLst>
                                        </p:cTn>
                                        <p:tgtEl>
                                          <p:spTgt spid="121905"/>
                                        </p:tgtEl>
                                        <p:attrNameLst>
                                          <p:attrName>style.visibility</p:attrName>
                                        </p:attrNameLst>
                                      </p:cBhvr>
                                      <p:to>
                                        <p:strVal val="visible"/>
                                      </p:to>
                                    </p:set>
                                    <p:animEffect transition="in" filter="slide(fromRight)">
                                      <p:cBhvr>
                                        <p:cTn id="107" dur="500"/>
                                        <p:tgtEl>
                                          <p:spTgt spid="121905"/>
                                        </p:tgtEl>
                                      </p:cBhvr>
                                    </p:animEffect>
                                  </p:childTnLst>
                                </p:cTn>
                              </p:par>
                            </p:childTnLst>
                          </p:cTn>
                        </p:par>
                        <p:par>
                          <p:cTn id="108" fill="hold" nodeType="afterGroup">
                            <p:stCondLst>
                              <p:cond delay="500"/>
                            </p:stCondLst>
                            <p:childTnLst>
                              <p:par>
                                <p:cTn id="109" presetID="9" presetClass="entr" presetSubtype="0" fill="hold" grpId="0" nodeType="afterEffect">
                                  <p:stCondLst>
                                    <p:cond delay="0"/>
                                  </p:stCondLst>
                                  <p:childTnLst>
                                    <p:set>
                                      <p:cBhvr>
                                        <p:cTn id="110" dur="1" fill="hold">
                                          <p:stCondLst>
                                            <p:cond delay="0"/>
                                          </p:stCondLst>
                                        </p:cTn>
                                        <p:tgtEl>
                                          <p:spTgt spid="121903"/>
                                        </p:tgtEl>
                                        <p:attrNameLst>
                                          <p:attrName>style.visibility</p:attrName>
                                        </p:attrNameLst>
                                      </p:cBhvr>
                                      <p:to>
                                        <p:strVal val="visible"/>
                                      </p:to>
                                    </p:set>
                                    <p:animEffect transition="in" filter="dissolve">
                                      <p:cBhvr>
                                        <p:cTn id="111" dur="500"/>
                                        <p:tgtEl>
                                          <p:spTgt spid="121903"/>
                                        </p:tgtEl>
                                      </p:cBhvr>
                                    </p:animEffect>
                                  </p:childTnLst>
                                </p:cTn>
                              </p:par>
                            </p:childTnLst>
                          </p:cTn>
                        </p:par>
                      </p:childTnLst>
                    </p:cTn>
                  </p:par>
                  <p:par>
                    <p:cTn id="112" fill="hold" nodeType="clickPar">
                      <p:stCondLst>
                        <p:cond delay="indefinite"/>
                      </p:stCondLst>
                      <p:childTnLst>
                        <p:par>
                          <p:cTn id="113" fill="hold" nodeType="withGroup">
                            <p:stCondLst>
                              <p:cond delay="0"/>
                            </p:stCondLst>
                            <p:childTnLst>
                              <p:par>
                                <p:cTn id="114" presetID="1" presetClass="exit" presetSubtype="0" fill="hold" grpId="1" nodeType="clickEffect">
                                  <p:stCondLst>
                                    <p:cond delay="0"/>
                                  </p:stCondLst>
                                  <p:childTnLst>
                                    <p:set>
                                      <p:cBhvr>
                                        <p:cTn id="115" dur="1" fill="hold">
                                          <p:stCondLst>
                                            <p:cond delay="0"/>
                                          </p:stCondLst>
                                        </p:cTn>
                                        <p:tgtEl>
                                          <p:spTgt spid="121905"/>
                                        </p:tgtEl>
                                        <p:attrNameLst>
                                          <p:attrName>style.visibility</p:attrName>
                                        </p:attrNameLst>
                                      </p:cBhvr>
                                      <p:to>
                                        <p:strVal val="hidden"/>
                                      </p:to>
                                    </p:set>
                                  </p:childTnLst>
                                </p:cTn>
                              </p:par>
                            </p:childTnLst>
                          </p:cTn>
                        </p:par>
                        <p:par>
                          <p:cTn id="116" fill="hold" nodeType="afterGroup">
                            <p:stCondLst>
                              <p:cond delay="0"/>
                            </p:stCondLst>
                            <p:childTnLst>
                              <p:par>
                                <p:cTn id="117" presetID="12" presetClass="entr" presetSubtype="2" fill="hold" grpId="0" nodeType="afterEffect">
                                  <p:stCondLst>
                                    <p:cond delay="0"/>
                                  </p:stCondLst>
                                  <p:childTnLst>
                                    <p:set>
                                      <p:cBhvr>
                                        <p:cTn id="118" dur="1" fill="hold">
                                          <p:stCondLst>
                                            <p:cond delay="0"/>
                                          </p:stCondLst>
                                        </p:cTn>
                                        <p:tgtEl>
                                          <p:spTgt spid="121901"/>
                                        </p:tgtEl>
                                        <p:attrNameLst>
                                          <p:attrName>style.visibility</p:attrName>
                                        </p:attrNameLst>
                                      </p:cBhvr>
                                      <p:to>
                                        <p:strVal val="visible"/>
                                      </p:to>
                                    </p:set>
                                    <p:animEffect transition="in" filter="slide(fromRight)">
                                      <p:cBhvr>
                                        <p:cTn id="119" dur="500"/>
                                        <p:tgtEl>
                                          <p:spTgt spid="121901"/>
                                        </p:tgtEl>
                                      </p:cBhvr>
                                    </p:animEffect>
                                  </p:childTnLst>
                                </p:cTn>
                              </p:par>
                            </p:childTnLst>
                          </p:cTn>
                        </p:par>
                        <p:par>
                          <p:cTn id="120" fill="hold" nodeType="afterGroup">
                            <p:stCondLst>
                              <p:cond delay="500"/>
                            </p:stCondLst>
                            <p:childTnLst>
                              <p:par>
                                <p:cTn id="121" presetID="1" presetClass="entr" presetSubtype="0" fill="hold" grpId="0" nodeType="afterEffect">
                                  <p:stCondLst>
                                    <p:cond delay="0"/>
                                  </p:stCondLst>
                                  <p:childTnLst>
                                    <p:set>
                                      <p:cBhvr>
                                        <p:cTn id="122" dur="1" fill="hold">
                                          <p:stCondLst>
                                            <p:cond delay="499"/>
                                          </p:stCondLst>
                                        </p:cTn>
                                        <p:tgtEl>
                                          <p:spTgt spid="121904"/>
                                        </p:tgtEl>
                                        <p:attrNameLst>
                                          <p:attrName>style.visibility</p:attrName>
                                        </p:attrNameLst>
                                      </p:cBhvr>
                                      <p:to>
                                        <p:strVal val="visible"/>
                                      </p:to>
                                    </p:set>
                                  </p:childTnLst>
                                </p:cTn>
                              </p:par>
                            </p:childTnLst>
                          </p:cTn>
                        </p:par>
                      </p:childTnLst>
                    </p:cTn>
                  </p:par>
                  <p:par>
                    <p:cTn id="123" fill="hold" nodeType="clickPar">
                      <p:stCondLst>
                        <p:cond delay="indefinite"/>
                      </p:stCondLst>
                      <p:childTnLst>
                        <p:par>
                          <p:cTn id="124" fill="hold" nodeType="withGroup">
                            <p:stCondLst>
                              <p:cond delay="0"/>
                            </p:stCondLst>
                            <p:childTnLst>
                              <p:par>
                                <p:cTn id="125" presetID="12" presetClass="entr" presetSubtype="8" fill="hold" grpId="0" nodeType="clickEffect">
                                  <p:stCondLst>
                                    <p:cond delay="0"/>
                                  </p:stCondLst>
                                  <p:childTnLst>
                                    <p:set>
                                      <p:cBhvr>
                                        <p:cTn id="126" dur="1" fill="hold">
                                          <p:stCondLst>
                                            <p:cond delay="0"/>
                                          </p:stCondLst>
                                        </p:cTn>
                                        <p:tgtEl>
                                          <p:spTgt spid="121913"/>
                                        </p:tgtEl>
                                        <p:attrNameLst>
                                          <p:attrName>style.visibility</p:attrName>
                                        </p:attrNameLst>
                                      </p:cBhvr>
                                      <p:to>
                                        <p:strVal val="visible"/>
                                      </p:to>
                                    </p:set>
                                    <p:animEffect transition="in" filter="slide(fromLeft)">
                                      <p:cBhvr>
                                        <p:cTn id="127" dur="500"/>
                                        <p:tgtEl>
                                          <p:spTgt spid="121913"/>
                                        </p:tgtEl>
                                      </p:cBhvr>
                                    </p:animEffect>
                                  </p:childTnLst>
                                </p:cTn>
                              </p:par>
                            </p:childTnLst>
                          </p:cTn>
                        </p:par>
                        <p:par>
                          <p:cTn id="128" fill="hold" nodeType="afterGroup">
                            <p:stCondLst>
                              <p:cond delay="500"/>
                            </p:stCondLst>
                            <p:childTnLst>
                              <p:par>
                                <p:cTn id="129" presetID="9" presetClass="entr" presetSubtype="0" fill="hold" grpId="0" nodeType="afterEffect">
                                  <p:stCondLst>
                                    <p:cond delay="0"/>
                                  </p:stCondLst>
                                  <p:childTnLst>
                                    <p:set>
                                      <p:cBhvr>
                                        <p:cTn id="130" dur="1" fill="hold">
                                          <p:stCondLst>
                                            <p:cond delay="0"/>
                                          </p:stCondLst>
                                        </p:cTn>
                                        <p:tgtEl>
                                          <p:spTgt spid="121914"/>
                                        </p:tgtEl>
                                        <p:attrNameLst>
                                          <p:attrName>style.visibility</p:attrName>
                                        </p:attrNameLst>
                                      </p:cBhvr>
                                      <p:to>
                                        <p:strVal val="visible"/>
                                      </p:to>
                                    </p:set>
                                    <p:animEffect transition="in" filter="dissolve">
                                      <p:cBhvr>
                                        <p:cTn id="131" dur="1000"/>
                                        <p:tgtEl>
                                          <p:spTgt spid="121914"/>
                                        </p:tgtEl>
                                      </p:cBhvr>
                                    </p:animEffect>
                                  </p:childTnLst>
                                </p:cTn>
                              </p:par>
                            </p:childTnLst>
                          </p:cTn>
                        </p:par>
                        <p:par>
                          <p:cTn id="132" fill="hold" nodeType="withGroup">
                            <p:stCondLst>
                              <p:cond delay="1500"/>
                            </p:stCondLst>
                            <p:childTnLst>
                              <p:par>
                                <p:cTn id="133" presetID="22" presetClass="entr" presetSubtype="8" fill="hold" grpId="0" nodeType="afterEffect">
                                  <p:stCondLst>
                                    <p:cond delay="0"/>
                                  </p:stCondLst>
                                  <p:childTnLst>
                                    <p:set>
                                      <p:cBhvr>
                                        <p:cTn id="134" dur="1" fill="hold">
                                          <p:stCondLst>
                                            <p:cond delay="0"/>
                                          </p:stCondLst>
                                        </p:cTn>
                                        <p:tgtEl>
                                          <p:spTgt spid="121920"/>
                                        </p:tgtEl>
                                        <p:attrNameLst>
                                          <p:attrName>style.visibility</p:attrName>
                                        </p:attrNameLst>
                                      </p:cBhvr>
                                      <p:to>
                                        <p:strVal val="visible"/>
                                      </p:to>
                                    </p:set>
                                    <p:animEffect transition="in" filter="wipe(left)">
                                      <p:cBhvr>
                                        <p:cTn id="135" dur="500"/>
                                        <p:tgtEl>
                                          <p:spTgt spid="121920"/>
                                        </p:tgtEl>
                                      </p:cBhvr>
                                    </p:animEffect>
                                  </p:childTnLst>
                                </p:cTn>
                              </p:par>
                            </p:childTnLst>
                          </p:cTn>
                        </p:par>
                      </p:childTnLst>
                    </p:cTn>
                  </p:par>
                  <p:par>
                    <p:cTn id="136" fill="hold">
                      <p:stCondLst>
                        <p:cond delay="indefinite"/>
                      </p:stCondLst>
                      <p:childTnLst>
                        <p:par>
                          <p:cTn id="137" fill="hold">
                            <p:stCondLst>
                              <p:cond delay="0"/>
                            </p:stCondLst>
                            <p:childTnLst>
                              <p:par>
                                <p:cTn id="138" presetID="23" presetClass="entr" presetSubtype="32" fill="hold" grpId="0" nodeType="clickEffect">
                                  <p:stCondLst>
                                    <p:cond delay="0"/>
                                  </p:stCondLst>
                                  <p:childTnLst>
                                    <p:set>
                                      <p:cBhvr>
                                        <p:cTn id="139" dur="1" fill="hold">
                                          <p:stCondLst>
                                            <p:cond delay="0"/>
                                          </p:stCondLst>
                                        </p:cTn>
                                        <p:tgtEl>
                                          <p:spTgt spid="121908"/>
                                        </p:tgtEl>
                                        <p:attrNameLst>
                                          <p:attrName>style.visibility</p:attrName>
                                        </p:attrNameLst>
                                      </p:cBhvr>
                                      <p:to>
                                        <p:strVal val="visible"/>
                                      </p:to>
                                    </p:set>
                                    <p:anim calcmode="lin" valueType="num">
                                      <p:cBhvr>
                                        <p:cTn id="140" dur="500" fill="hold"/>
                                        <p:tgtEl>
                                          <p:spTgt spid="121908"/>
                                        </p:tgtEl>
                                        <p:attrNameLst>
                                          <p:attrName>ppt_w</p:attrName>
                                        </p:attrNameLst>
                                      </p:cBhvr>
                                      <p:tavLst>
                                        <p:tav tm="0">
                                          <p:val>
                                            <p:strVal val="4*#ppt_w"/>
                                          </p:val>
                                        </p:tav>
                                        <p:tav tm="100000">
                                          <p:val>
                                            <p:strVal val="#ppt_w"/>
                                          </p:val>
                                        </p:tav>
                                      </p:tavLst>
                                    </p:anim>
                                    <p:anim calcmode="lin" valueType="num">
                                      <p:cBhvr>
                                        <p:cTn id="141" dur="500" fill="hold"/>
                                        <p:tgtEl>
                                          <p:spTgt spid="121908"/>
                                        </p:tgtEl>
                                        <p:attrNameLst>
                                          <p:attrName>ppt_h</p:attrName>
                                        </p:attrNameLst>
                                      </p:cBhvr>
                                      <p:tavLst>
                                        <p:tav tm="0">
                                          <p:val>
                                            <p:strVal val="4*#ppt_h"/>
                                          </p:val>
                                        </p:tav>
                                        <p:tav tm="100000">
                                          <p:val>
                                            <p:strVal val="#ppt_h"/>
                                          </p:val>
                                        </p:tav>
                                      </p:tavLst>
                                    </p:anim>
                                  </p:childTnLst>
                                  <p:subTnLst>
                                    <p:audio>
                                      <p:cMediaNode>
                                        <p:cTn display="0" masterRel="sameClick">
                                          <p:stCondLst>
                                            <p:cond evt="begin" delay="0">
                                              <p:tn val="138"/>
                                            </p:cond>
                                          </p:stCondLst>
                                          <p:endCondLst>
                                            <p:cond evt="onStopAudio" delay="0">
                                              <p:tgtEl>
                                                <p:sldTgt/>
                                              </p:tgtEl>
                                            </p:cond>
                                          </p:endCondLst>
                                        </p:cTn>
                                        <p:tgtEl>
                                          <p:sndTgt r:embed="rId3" name="chimes.wav"/>
                                        </p:tgtEl>
                                      </p:cMediaNode>
                                    </p:audio>
                                  </p:subTnLst>
                                </p:cTn>
                              </p:par>
                            </p:childTnLst>
                          </p:cTn>
                        </p:par>
                      </p:childTnLst>
                    </p:cTn>
                  </p:par>
                  <p:par>
                    <p:cTn id="142" fill="hold" nodeType="clickPar">
                      <p:stCondLst>
                        <p:cond delay="indefinite"/>
                      </p:stCondLst>
                      <p:childTnLst>
                        <p:par>
                          <p:cTn id="143" fill="hold" nodeType="withGroup">
                            <p:stCondLst>
                              <p:cond delay="0"/>
                            </p:stCondLst>
                            <p:childTnLst>
                              <p:par>
                                <p:cTn id="144" presetID="3" presetClass="entr" presetSubtype="10" fill="hold" grpId="0" nodeType="clickEffect">
                                  <p:stCondLst>
                                    <p:cond delay="0"/>
                                  </p:stCondLst>
                                  <p:childTnLst>
                                    <p:set>
                                      <p:cBhvr>
                                        <p:cTn id="145" dur="1" fill="hold">
                                          <p:stCondLst>
                                            <p:cond delay="0"/>
                                          </p:stCondLst>
                                        </p:cTn>
                                        <p:tgtEl>
                                          <p:spTgt spid="121921"/>
                                        </p:tgtEl>
                                        <p:attrNameLst>
                                          <p:attrName>style.visibility</p:attrName>
                                        </p:attrNameLst>
                                      </p:cBhvr>
                                      <p:to>
                                        <p:strVal val="visible"/>
                                      </p:to>
                                    </p:set>
                                    <p:animEffect transition="in" filter="blinds(horizontal)">
                                      <p:cBhvr>
                                        <p:cTn id="146" dur="500"/>
                                        <p:tgtEl>
                                          <p:spTgt spid="121921"/>
                                        </p:tgtEl>
                                      </p:cBhvr>
                                    </p:animEffect>
                                  </p:childTnLst>
                                </p:cTn>
                              </p:par>
                            </p:childTnLst>
                          </p:cTn>
                        </p:par>
                        <p:par>
                          <p:cTn id="147" fill="hold" nodeType="afterGroup">
                            <p:stCondLst>
                              <p:cond delay="500"/>
                            </p:stCondLst>
                            <p:childTnLst>
                              <p:par>
                                <p:cTn id="148" presetID="23" presetClass="entr" presetSubtype="272" fill="hold" nodeType="afterEffect">
                                  <p:stCondLst>
                                    <p:cond delay="0"/>
                                  </p:stCondLst>
                                  <p:childTnLst>
                                    <p:set>
                                      <p:cBhvr>
                                        <p:cTn id="149" dur="1" fill="hold">
                                          <p:stCondLst>
                                            <p:cond delay="0"/>
                                          </p:stCondLst>
                                        </p:cTn>
                                        <p:tgtEl>
                                          <p:spTgt spid="121922"/>
                                        </p:tgtEl>
                                        <p:attrNameLst>
                                          <p:attrName>style.visibility</p:attrName>
                                        </p:attrNameLst>
                                      </p:cBhvr>
                                      <p:to>
                                        <p:strVal val="visible"/>
                                      </p:to>
                                    </p:set>
                                    <p:anim calcmode="lin" valueType="num">
                                      <p:cBhvr>
                                        <p:cTn id="150" dur="500" fill="hold"/>
                                        <p:tgtEl>
                                          <p:spTgt spid="121922"/>
                                        </p:tgtEl>
                                        <p:attrNameLst>
                                          <p:attrName>ppt_w</p:attrName>
                                        </p:attrNameLst>
                                      </p:cBhvr>
                                      <p:tavLst>
                                        <p:tav tm="0">
                                          <p:val>
                                            <p:strVal val="2/3*#ppt_w"/>
                                          </p:val>
                                        </p:tav>
                                        <p:tav tm="100000">
                                          <p:val>
                                            <p:strVal val="#ppt_w"/>
                                          </p:val>
                                        </p:tav>
                                      </p:tavLst>
                                    </p:anim>
                                    <p:anim calcmode="lin" valueType="num">
                                      <p:cBhvr>
                                        <p:cTn id="151" dur="500" fill="hold"/>
                                        <p:tgtEl>
                                          <p:spTgt spid="121922"/>
                                        </p:tgtEl>
                                        <p:attrNameLst>
                                          <p:attrName>ppt_h</p:attrName>
                                        </p:attrNameLst>
                                      </p:cBhvr>
                                      <p:tavLst>
                                        <p:tav tm="0">
                                          <p:val>
                                            <p:strVal val="2/3*#ppt_h"/>
                                          </p:val>
                                        </p:tav>
                                        <p:tav tm="100000">
                                          <p:val>
                                            <p:strVal val="#ppt_h"/>
                                          </p:val>
                                        </p:tav>
                                      </p:tavLst>
                                    </p:anim>
                                  </p:childTnLst>
                                </p:cTn>
                              </p:par>
                            </p:childTnLst>
                          </p:cTn>
                        </p:par>
                      </p:childTnLst>
                    </p:cTn>
                  </p:par>
                  <p:par>
                    <p:cTn id="152" fill="hold">
                      <p:stCondLst>
                        <p:cond delay="indefinite"/>
                      </p:stCondLst>
                      <p:childTnLst>
                        <p:par>
                          <p:cTn id="153" fill="hold" nodeType="withGroup">
                            <p:stCondLst>
                              <p:cond delay="0"/>
                            </p:stCondLst>
                            <p:childTnLst>
                              <p:par>
                                <p:cTn id="154" presetID="22" presetClass="entr" presetSubtype="8" fill="hold" nodeType="clickEffect">
                                  <p:stCondLst>
                                    <p:cond delay="0"/>
                                  </p:stCondLst>
                                  <p:childTnLst>
                                    <p:set>
                                      <p:cBhvr>
                                        <p:cTn id="155" dur="1" fill="hold">
                                          <p:stCondLst>
                                            <p:cond delay="0"/>
                                          </p:stCondLst>
                                        </p:cTn>
                                        <p:tgtEl>
                                          <p:spTgt spid="76"/>
                                        </p:tgtEl>
                                        <p:attrNameLst>
                                          <p:attrName>style.visibility</p:attrName>
                                        </p:attrNameLst>
                                      </p:cBhvr>
                                      <p:to>
                                        <p:strVal val="visible"/>
                                      </p:to>
                                    </p:set>
                                    <p:animEffect transition="in" filter="wipe(left)">
                                      <p:cBhvr>
                                        <p:cTn id="156" dur="500"/>
                                        <p:tgtEl>
                                          <p:spTgt spid="76"/>
                                        </p:tgtEl>
                                      </p:cBhvr>
                                    </p:animEffect>
                                  </p:childTnLst>
                                </p:cTn>
                              </p:par>
                            </p:childTnLst>
                          </p:cTn>
                        </p:par>
                        <p:par>
                          <p:cTn id="157" fill="hold">
                            <p:stCondLst>
                              <p:cond delay="500"/>
                            </p:stCondLst>
                            <p:childTnLst>
                              <p:par>
                                <p:cTn id="158" presetID="22" presetClass="entr" presetSubtype="8" fill="hold" nodeType="afterEffect">
                                  <p:stCondLst>
                                    <p:cond delay="0"/>
                                  </p:stCondLst>
                                  <p:childTnLst>
                                    <p:set>
                                      <p:cBhvr>
                                        <p:cTn id="159" dur="1" fill="hold">
                                          <p:stCondLst>
                                            <p:cond delay="0"/>
                                          </p:stCondLst>
                                        </p:cTn>
                                        <p:tgtEl>
                                          <p:spTgt spid="121928"/>
                                        </p:tgtEl>
                                        <p:attrNameLst>
                                          <p:attrName>style.visibility</p:attrName>
                                        </p:attrNameLst>
                                      </p:cBhvr>
                                      <p:to>
                                        <p:strVal val="visible"/>
                                      </p:to>
                                    </p:set>
                                    <p:animEffect transition="in" filter="wipe(left)">
                                      <p:cBhvr>
                                        <p:cTn id="160" dur="500"/>
                                        <p:tgtEl>
                                          <p:spTgt spid="121928"/>
                                        </p:tgtEl>
                                      </p:cBhvr>
                                    </p:animEffect>
                                  </p:childTnLst>
                                </p:cTn>
                              </p:par>
                            </p:childTnLst>
                          </p:cTn>
                        </p:par>
                        <p:par>
                          <p:cTn id="161" fill="hold">
                            <p:stCondLst>
                              <p:cond delay="1000"/>
                            </p:stCondLst>
                            <p:childTnLst>
                              <p:par>
                                <p:cTn id="162" presetID="22" presetClass="entr" presetSubtype="2" fill="hold" grpId="0" nodeType="afterEffect">
                                  <p:stCondLst>
                                    <p:cond delay="0"/>
                                  </p:stCondLst>
                                  <p:childTnLst>
                                    <p:set>
                                      <p:cBhvr>
                                        <p:cTn id="163" dur="1" fill="hold">
                                          <p:stCondLst>
                                            <p:cond delay="0"/>
                                          </p:stCondLst>
                                        </p:cTn>
                                        <p:tgtEl>
                                          <p:spTgt spid="121927"/>
                                        </p:tgtEl>
                                        <p:attrNameLst>
                                          <p:attrName>style.visibility</p:attrName>
                                        </p:attrNameLst>
                                      </p:cBhvr>
                                      <p:to>
                                        <p:strVal val="visible"/>
                                      </p:to>
                                    </p:set>
                                    <p:animEffect transition="in" filter="wipe(right)">
                                      <p:cBhvr>
                                        <p:cTn id="164" dur="500"/>
                                        <p:tgtEl>
                                          <p:spTgt spid="121927"/>
                                        </p:tgtEl>
                                      </p:cBhvr>
                                    </p:animEffect>
                                  </p:childTnLst>
                                </p:cTn>
                              </p:par>
                            </p:childTnLst>
                          </p:cTn>
                        </p:par>
                      </p:childTnLst>
                    </p:cTn>
                  </p:par>
                  <p:par>
                    <p:cTn id="165" fill="hold">
                      <p:stCondLst>
                        <p:cond delay="indefinite"/>
                      </p:stCondLst>
                      <p:childTnLst>
                        <p:par>
                          <p:cTn id="166" fill="hold">
                            <p:stCondLst>
                              <p:cond delay="0"/>
                            </p:stCondLst>
                            <p:childTnLst>
                              <p:par>
                                <p:cTn id="167" presetID="9" presetClass="entr" presetSubtype="0" fill="hold" grpId="0" nodeType="clickEffect">
                                  <p:stCondLst>
                                    <p:cond delay="0"/>
                                  </p:stCondLst>
                                  <p:childTnLst>
                                    <p:set>
                                      <p:cBhvr>
                                        <p:cTn id="168" dur="1" fill="hold">
                                          <p:stCondLst>
                                            <p:cond delay="0"/>
                                          </p:stCondLst>
                                        </p:cTn>
                                        <p:tgtEl>
                                          <p:spTgt spid="121925"/>
                                        </p:tgtEl>
                                        <p:attrNameLst>
                                          <p:attrName>style.visibility</p:attrName>
                                        </p:attrNameLst>
                                      </p:cBhvr>
                                      <p:to>
                                        <p:strVal val="visible"/>
                                      </p:to>
                                    </p:set>
                                    <p:animEffect transition="in" filter="dissolve">
                                      <p:cBhvr>
                                        <p:cTn id="169" dur="500"/>
                                        <p:tgtEl>
                                          <p:spTgt spid="121925"/>
                                        </p:tgtEl>
                                      </p:cBhvr>
                                    </p:animEffect>
                                  </p:childTnLst>
                                </p:cTn>
                              </p:par>
                              <p:par>
                                <p:cTn id="170" presetID="9" presetClass="entr" presetSubtype="0" fill="hold" nodeType="withEffect">
                                  <p:stCondLst>
                                    <p:cond delay="0"/>
                                  </p:stCondLst>
                                  <p:childTnLst>
                                    <p:set>
                                      <p:cBhvr>
                                        <p:cTn id="171" dur="1" fill="hold">
                                          <p:stCondLst>
                                            <p:cond delay="0"/>
                                          </p:stCondLst>
                                        </p:cTn>
                                        <p:tgtEl>
                                          <p:spTgt spid="121924"/>
                                        </p:tgtEl>
                                        <p:attrNameLst>
                                          <p:attrName>style.visibility</p:attrName>
                                        </p:attrNameLst>
                                      </p:cBhvr>
                                      <p:to>
                                        <p:strVal val="visible"/>
                                      </p:to>
                                    </p:set>
                                    <p:animEffect transition="in" filter="dissolve">
                                      <p:cBhvr>
                                        <p:cTn id="172" dur="500"/>
                                        <p:tgtEl>
                                          <p:spTgt spid="121924"/>
                                        </p:tgtEl>
                                      </p:cBhvr>
                                    </p:animEffect>
                                  </p:childTnLst>
                                </p:cTn>
                              </p:par>
                              <p:par>
                                <p:cTn id="173" presetID="9" presetClass="entr" presetSubtype="0" fill="hold" grpId="0" nodeType="withEffect">
                                  <p:stCondLst>
                                    <p:cond delay="0"/>
                                  </p:stCondLst>
                                  <p:childTnLst>
                                    <p:set>
                                      <p:cBhvr>
                                        <p:cTn id="174" dur="1" fill="hold">
                                          <p:stCondLst>
                                            <p:cond delay="0"/>
                                          </p:stCondLst>
                                        </p:cTn>
                                        <p:tgtEl>
                                          <p:spTgt spid="121923"/>
                                        </p:tgtEl>
                                        <p:attrNameLst>
                                          <p:attrName>style.visibility</p:attrName>
                                        </p:attrNameLst>
                                      </p:cBhvr>
                                      <p:to>
                                        <p:strVal val="visible"/>
                                      </p:to>
                                    </p:set>
                                    <p:animEffect transition="in" filter="dissolve">
                                      <p:cBhvr>
                                        <p:cTn id="175" dur="500"/>
                                        <p:tgtEl>
                                          <p:spTgt spid="121923"/>
                                        </p:tgtEl>
                                      </p:cBhvr>
                                    </p:animEffect>
                                  </p:childTnLst>
                                </p:cTn>
                              </p:par>
                            </p:childTnLst>
                          </p:cTn>
                        </p:par>
                      </p:childTnLst>
                    </p:cTn>
                  </p:par>
                  <p:par>
                    <p:cTn id="176" fill="hold">
                      <p:stCondLst>
                        <p:cond delay="indefinite"/>
                      </p:stCondLst>
                      <p:childTnLst>
                        <p:par>
                          <p:cTn id="177" fill="hold">
                            <p:stCondLst>
                              <p:cond delay="0"/>
                            </p:stCondLst>
                            <p:childTnLst>
                              <p:par>
                                <p:cTn id="178" presetID="22" presetClass="entr" presetSubtype="8" fill="hold" nodeType="clickEffect">
                                  <p:stCondLst>
                                    <p:cond delay="0"/>
                                  </p:stCondLst>
                                  <p:childTnLst>
                                    <p:set>
                                      <p:cBhvr>
                                        <p:cTn id="179" dur="1" fill="hold">
                                          <p:stCondLst>
                                            <p:cond delay="0"/>
                                          </p:stCondLst>
                                        </p:cTn>
                                        <p:tgtEl>
                                          <p:spTgt spid="121926"/>
                                        </p:tgtEl>
                                        <p:attrNameLst>
                                          <p:attrName>style.visibility</p:attrName>
                                        </p:attrNameLst>
                                      </p:cBhvr>
                                      <p:to>
                                        <p:strVal val="visible"/>
                                      </p:to>
                                    </p:set>
                                    <p:animEffect transition="in" filter="wipe(left)">
                                      <p:cBhvr>
                                        <p:cTn id="180" dur="500"/>
                                        <p:tgtEl>
                                          <p:spTgt spid="121926"/>
                                        </p:tgtEl>
                                      </p:cBhvr>
                                    </p:animEffect>
                                  </p:childTnLst>
                                </p:cTn>
                              </p:par>
                            </p:childTnLst>
                          </p:cTn>
                        </p:par>
                      </p:childTnLst>
                    </p:cTn>
                  </p:par>
                  <p:par>
                    <p:cTn id="181" fill="hold" nodeType="clickPar">
                      <p:stCondLst>
                        <p:cond delay="indefinite"/>
                      </p:stCondLst>
                      <p:childTnLst>
                        <p:par>
                          <p:cTn id="182" fill="hold" nodeType="withGroup">
                            <p:stCondLst>
                              <p:cond delay="0"/>
                            </p:stCondLst>
                            <p:childTnLst>
                              <p:par>
                                <p:cTn id="183" presetID="22" presetClass="entr" presetSubtype="8" fill="hold" nodeType="clickEffect">
                                  <p:stCondLst>
                                    <p:cond delay="0"/>
                                  </p:stCondLst>
                                  <p:childTnLst>
                                    <p:set>
                                      <p:cBhvr>
                                        <p:cTn id="184" dur="1" fill="hold">
                                          <p:stCondLst>
                                            <p:cond delay="0"/>
                                          </p:stCondLst>
                                        </p:cTn>
                                        <p:tgtEl>
                                          <p:spTgt spid="121929"/>
                                        </p:tgtEl>
                                        <p:attrNameLst>
                                          <p:attrName>style.visibility</p:attrName>
                                        </p:attrNameLst>
                                      </p:cBhvr>
                                      <p:to>
                                        <p:strVal val="visible"/>
                                      </p:to>
                                    </p:set>
                                    <p:animEffect transition="in" filter="wipe(left)">
                                      <p:cBhvr>
                                        <p:cTn id="185" dur="500"/>
                                        <p:tgtEl>
                                          <p:spTgt spid="121929"/>
                                        </p:tgtEl>
                                      </p:cBhvr>
                                    </p:animEffect>
                                  </p:childTnLst>
                                </p:cTn>
                              </p:par>
                            </p:childTnLst>
                          </p:cTn>
                        </p:par>
                        <p:par>
                          <p:cTn id="186" fill="hold" nodeType="afterGroup">
                            <p:stCondLst>
                              <p:cond delay="500"/>
                            </p:stCondLst>
                            <p:childTnLst>
                              <p:par>
                                <p:cTn id="187" presetID="12" presetClass="entr" presetSubtype="8" fill="hold" grpId="0" nodeType="afterEffect">
                                  <p:stCondLst>
                                    <p:cond delay="0"/>
                                  </p:stCondLst>
                                  <p:childTnLst>
                                    <p:set>
                                      <p:cBhvr>
                                        <p:cTn id="188" dur="1" fill="hold">
                                          <p:stCondLst>
                                            <p:cond delay="0"/>
                                          </p:stCondLst>
                                        </p:cTn>
                                        <p:tgtEl>
                                          <p:spTgt spid="121930"/>
                                        </p:tgtEl>
                                        <p:attrNameLst>
                                          <p:attrName>style.visibility</p:attrName>
                                        </p:attrNameLst>
                                      </p:cBhvr>
                                      <p:to>
                                        <p:strVal val="visible"/>
                                      </p:to>
                                    </p:set>
                                    <p:animEffect transition="in" filter="slide(fromLeft)">
                                      <p:cBhvr>
                                        <p:cTn id="189" dur="500"/>
                                        <p:tgtEl>
                                          <p:spTgt spid="121930"/>
                                        </p:tgtEl>
                                      </p:cBhvr>
                                    </p:animEffect>
                                  </p:childTnLst>
                                </p:cTn>
                              </p:par>
                            </p:childTnLst>
                          </p:cTn>
                        </p:par>
                      </p:childTnLst>
                    </p:cTn>
                  </p:par>
                  <p:par>
                    <p:cTn id="190" fill="hold" nodeType="clickPar">
                      <p:stCondLst>
                        <p:cond delay="indefinite"/>
                      </p:stCondLst>
                      <p:childTnLst>
                        <p:par>
                          <p:cTn id="191" fill="hold" nodeType="withGroup">
                            <p:stCondLst>
                              <p:cond delay="0"/>
                            </p:stCondLst>
                            <p:childTnLst>
                              <p:par>
                                <p:cTn id="192" presetID="23" presetClass="entr" presetSubtype="272" fill="hold" grpId="0" nodeType="clickEffect">
                                  <p:stCondLst>
                                    <p:cond delay="0"/>
                                  </p:stCondLst>
                                  <p:childTnLst>
                                    <p:set>
                                      <p:cBhvr>
                                        <p:cTn id="193" dur="1" fill="hold">
                                          <p:stCondLst>
                                            <p:cond delay="0"/>
                                          </p:stCondLst>
                                        </p:cTn>
                                        <p:tgtEl>
                                          <p:spTgt spid="77"/>
                                        </p:tgtEl>
                                        <p:attrNameLst>
                                          <p:attrName>style.visibility</p:attrName>
                                        </p:attrNameLst>
                                      </p:cBhvr>
                                      <p:to>
                                        <p:strVal val="visible"/>
                                      </p:to>
                                    </p:set>
                                    <p:anim calcmode="lin" valueType="num">
                                      <p:cBhvr>
                                        <p:cTn id="194" dur="500" fill="hold"/>
                                        <p:tgtEl>
                                          <p:spTgt spid="77"/>
                                        </p:tgtEl>
                                        <p:attrNameLst>
                                          <p:attrName>ppt_w</p:attrName>
                                        </p:attrNameLst>
                                      </p:cBhvr>
                                      <p:tavLst>
                                        <p:tav tm="0">
                                          <p:val>
                                            <p:strVal val="2/3*#ppt_w"/>
                                          </p:val>
                                        </p:tav>
                                        <p:tav tm="100000">
                                          <p:val>
                                            <p:strVal val="#ppt_w"/>
                                          </p:val>
                                        </p:tav>
                                      </p:tavLst>
                                    </p:anim>
                                    <p:anim calcmode="lin" valueType="num">
                                      <p:cBhvr>
                                        <p:cTn id="195" dur="500" fill="hold"/>
                                        <p:tgtEl>
                                          <p:spTgt spid="77"/>
                                        </p:tgtEl>
                                        <p:attrNameLst>
                                          <p:attrName>ppt_h</p:attrName>
                                        </p:attrNameLst>
                                      </p:cBhvr>
                                      <p:tavLst>
                                        <p:tav tm="0">
                                          <p:val>
                                            <p:strVal val="2/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892" grpId="0" autoUpdateAnimBg="0"/>
      <p:bldP spid="121893" grpId="0"/>
      <p:bldP spid="121894" grpId="0"/>
      <p:bldP spid="121898" grpId="0" animBg="1"/>
      <p:bldP spid="121899" grpId="0" animBg="1"/>
      <p:bldP spid="121900" grpId="0" animBg="1"/>
      <p:bldP spid="121901" grpId="0" animBg="1"/>
      <p:bldP spid="121902" grpId="0"/>
      <p:bldP spid="121903" grpId="0"/>
      <p:bldP spid="121904" grpId="0"/>
      <p:bldP spid="121905" grpId="0" animBg="1"/>
      <p:bldP spid="121905" grpId="1" animBg="1"/>
      <p:bldP spid="121906" grpId="0"/>
      <p:bldP spid="121907" grpId="0"/>
      <p:bldP spid="121908" grpId="0"/>
      <p:bldP spid="121909" grpId="0"/>
      <p:bldP spid="121910" grpId="0"/>
      <p:bldP spid="121911" grpId="0" animBg="1"/>
      <p:bldP spid="121912" grpId="0" animBg="1"/>
      <p:bldP spid="121913" grpId="0" animBg="1"/>
      <p:bldP spid="121914" grpId="0"/>
      <p:bldP spid="121920" grpId="0" autoUpdateAnimBg="0"/>
      <p:bldP spid="121921" grpId="0" autoUpdateAnimBg="0"/>
      <p:bldP spid="121923" grpId="0" autoUpdateAnimBg="0"/>
      <p:bldP spid="121925" grpId="0" autoUpdateAnimBg="0"/>
      <p:bldP spid="121927" grpId="0" animBg="1" autoUpdateAnimBg="0"/>
      <p:bldP spid="121930" grpId="0" autoUpdateAnimBg="0"/>
      <p:bldP spid="7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Text Box 2">
            <a:extLst>
              <a:ext uri="{FF2B5EF4-FFF2-40B4-BE49-F238E27FC236}">
                <a16:creationId xmlns:a16="http://schemas.microsoft.com/office/drawing/2014/main" id="{5602EAD0-4C41-44E7-ACFE-7EB0E9761540}"/>
              </a:ext>
            </a:extLst>
          </p:cNvPr>
          <p:cNvSpPr txBox="1">
            <a:spLocks noChangeArrowheads="1"/>
          </p:cNvSpPr>
          <p:nvPr/>
        </p:nvSpPr>
        <p:spPr bwMode="auto">
          <a:xfrm>
            <a:off x="323850" y="619125"/>
            <a:ext cx="69627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rgbClr val="FFFF00"/>
                </a:solidFill>
                <a:ea typeface="华文中宋" panose="02010600040101010101" pitchFamily="2" charset="-122"/>
              </a:rPr>
              <a:t>3) </a:t>
            </a:r>
            <a:r>
              <a:rPr lang="zh-CN" altLang="en-US">
                <a:solidFill>
                  <a:srgbClr val="FFFF00"/>
                </a:solidFill>
                <a:ea typeface="华文中宋" panose="02010600040101010101" pitchFamily="2" charset="-122"/>
              </a:rPr>
              <a:t>选择光振荡的频率 （驻波条件，谐振条件）</a:t>
            </a:r>
          </a:p>
        </p:txBody>
      </p:sp>
      <p:sp>
        <p:nvSpPr>
          <p:cNvPr id="122883" name="Line 3">
            <a:extLst>
              <a:ext uri="{FF2B5EF4-FFF2-40B4-BE49-F238E27FC236}">
                <a16:creationId xmlns:a16="http://schemas.microsoft.com/office/drawing/2014/main" id="{B1D11378-AD7C-44B9-83BB-0C8A95767FAF}"/>
              </a:ext>
            </a:extLst>
          </p:cNvPr>
          <p:cNvSpPr>
            <a:spLocks noChangeShapeType="1"/>
          </p:cNvSpPr>
          <p:nvPr/>
        </p:nvSpPr>
        <p:spPr bwMode="auto">
          <a:xfrm>
            <a:off x="4370388" y="1279525"/>
            <a:ext cx="4343400" cy="0"/>
          </a:xfrm>
          <a:prstGeom prst="line">
            <a:avLst/>
          </a:prstGeom>
          <a:noFill/>
          <a:ln w="9525">
            <a:solidFill>
              <a:srgbClr val="FF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2884" name="Line 4">
            <a:extLst>
              <a:ext uri="{FF2B5EF4-FFF2-40B4-BE49-F238E27FC236}">
                <a16:creationId xmlns:a16="http://schemas.microsoft.com/office/drawing/2014/main" id="{34FBF7B4-8549-4B57-9759-D7ED35804097}"/>
              </a:ext>
            </a:extLst>
          </p:cNvPr>
          <p:cNvSpPr>
            <a:spLocks noChangeShapeType="1"/>
          </p:cNvSpPr>
          <p:nvPr/>
        </p:nvSpPr>
        <p:spPr bwMode="auto">
          <a:xfrm>
            <a:off x="4370388" y="1584325"/>
            <a:ext cx="1524000" cy="0"/>
          </a:xfrm>
          <a:prstGeom prst="line">
            <a:avLst/>
          </a:prstGeom>
          <a:noFill/>
          <a:ln w="9525">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2" name="Group 5">
            <a:extLst>
              <a:ext uri="{FF2B5EF4-FFF2-40B4-BE49-F238E27FC236}">
                <a16:creationId xmlns:a16="http://schemas.microsoft.com/office/drawing/2014/main" id="{7A55F8C7-51AD-4EEF-A517-EA609B4585AD}"/>
              </a:ext>
            </a:extLst>
          </p:cNvPr>
          <p:cNvGrpSpPr>
            <a:grpSpLocks/>
          </p:cNvGrpSpPr>
          <p:nvPr/>
        </p:nvGrpSpPr>
        <p:grpSpPr bwMode="auto">
          <a:xfrm>
            <a:off x="4357688" y="1571625"/>
            <a:ext cx="4343400" cy="285750"/>
            <a:chOff x="528" y="2016"/>
            <a:chExt cx="2736" cy="96"/>
          </a:xfrm>
        </p:grpSpPr>
        <p:sp>
          <p:nvSpPr>
            <p:cNvPr id="33828" name="Line 6">
              <a:extLst>
                <a:ext uri="{FF2B5EF4-FFF2-40B4-BE49-F238E27FC236}">
                  <a16:creationId xmlns:a16="http://schemas.microsoft.com/office/drawing/2014/main" id="{22A0ECE2-D731-40DE-AE9B-F867C760B4A8}"/>
                </a:ext>
              </a:extLst>
            </p:cNvPr>
            <p:cNvSpPr>
              <a:spLocks noChangeShapeType="1"/>
            </p:cNvSpPr>
            <p:nvPr/>
          </p:nvSpPr>
          <p:spPr bwMode="auto">
            <a:xfrm>
              <a:off x="1498" y="2016"/>
              <a:ext cx="1497" cy="0"/>
            </a:xfrm>
            <a:prstGeom prst="line">
              <a:avLst/>
            </a:prstGeom>
            <a:noFill/>
            <a:ln w="952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29" name="Line 7">
              <a:extLst>
                <a:ext uri="{FF2B5EF4-FFF2-40B4-BE49-F238E27FC236}">
                  <a16:creationId xmlns:a16="http://schemas.microsoft.com/office/drawing/2014/main" id="{0C74DA7A-33BE-4BBE-8DC2-C8363B43190C}"/>
                </a:ext>
              </a:extLst>
            </p:cNvPr>
            <p:cNvSpPr>
              <a:spLocks noChangeShapeType="1"/>
            </p:cNvSpPr>
            <p:nvPr/>
          </p:nvSpPr>
          <p:spPr bwMode="auto">
            <a:xfrm>
              <a:off x="624" y="2112"/>
              <a:ext cx="864" cy="0"/>
            </a:xfrm>
            <a:prstGeom prst="line">
              <a:avLst/>
            </a:prstGeom>
            <a:noFill/>
            <a:ln w="9525">
              <a:solidFill>
                <a:srgbClr val="00FF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3830" name="Line 8">
              <a:extLst>
                <a:ext uri="{FF2B5EF4-FFF2-40B4-BE49-F238E27FC236}">
                  <a16:creationId xmlns:a16="http://schemas.microsoft.com/office/drawing/2014/main" id="{B22F0EE2-A6B6-458A-878C-F6F4C961C929}"/>
                </a:ext>
              </a:extLst>
            </p:cNvPr>
            <p:cNvSpPr>
              <a:spLocks noChangeShapeType="1"/>
            </p:cNvSpPr>
            <p:nvPr/>
          </p:nvSpPr>
          <p:spPr bwMode="auto">
            <a:xfrm>
              <a:off x="2304" y="2016"/>
              <a:ext cx="864" cy="0"/>
            </a:xfrm>
            <a:prstGeom prst="line">
              <a:avLst/>
            </a:prstGeom>
            <a:noFill/>
            <a:ln w="9525">
              <a:solidFill>
                <a:srgbClr val="00FF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3831" name="Line 9">
              <a:extLst>
                <a:ext uri="{FF2B5EF4-FFF2-40B4-BE49-F238E27FC236}">
                  <a16:creationId xmlns:a16="http://schemas.microsoft.com/office/drawing/2014/main" id="{535A1FDD-54BC-45E8-944B-26A7D8AD9F8D}"/>
                </a:ext>
              </a:extLst>
            </p:cNvPr>
            <p:cNvSpPr>
              <a:spLocks noChangeShapeType="1"/>
            </p:cNvSpPr>
            <p:nvPr/>
          </p:nvSpPr>
          <p:spPr bwMode="auto">
            <a:xfrm flipH="1">
              <a:off x="576" y="2064"/>
              <a:ext cx="2592" cy="0"/>
            </a:xfrm>
            <a:prstGeom prst="line">
              <a:avLst/>
            </a:prstGeom>
            <a:noFill/>
            <a:ln w="9525">
              <a:solidFill>
                <a:srgbClr val="00FF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3832" name="Arc 10">
              <a:extLst>
                <a:ext uri="{FF2B5EF4-FFF2-40B4-BE49-F238E27FC236}">
                  <a16:creationId xmlns:a16="http://schemas.microsoft.com/office/drawing/2014/main" id="{509E3D8F-2C26-4482-8F8A-BF9FD74061B4}"/>
                </a:ext>
              </a:extLst>
            </p:cNvPr>
            <p:cNvSpPr>
              <a:spLocks/>
            </p:cNvSpPr>
            <p:nvPr/>
          </p:nvSpPr>
          <p:spPr bwMode="auto">
            <a:xfrm>
              <a:off x="3168" y="2016"/>
              <a:ext cx="96" cy="48"/>
            </a:xfrm>
            <a:custGeom>
              <a:avLst/>
              <a:gdLst>
                <a:gd name="T0" fmla="*/ 0 w 21600"/>
                <a:gd name="T1" fmla="*/ 0 h 43127"/>
                <a:gd name="T2" fmla="*/ 0 w 21600"/>
                <a:gd name="T3" fmla="*/ 0 h 43127"/>
                <a:gd name="T4" fmla="*/ 0 w 21600"/>
                <a:gd name="T5" fmla="*/ 0 h 43127"/>
                <a:gd name="T6" fmla="*/ 0 60000 65536"/>
                <a:gd name="T7" fmla="*/ 0 60000 65536"/>
                <a:gd name="T8" fmla="*/ 0 60000 65536"/>
                <a:gd name="T9" fmla="*/ 0 w 21600"/>
                <a:gd name="T10" fmla="*/ 0 h 43127"/>
                <a:gd name="T11" fmla="*/ 21600 w 21600"/>
                <a:gd name="T12" fmla="*/ 43127 h 43127"/>
              </a:gdLst>
              <a:ahLst/>
              <a:cxnLst>
                <a:cxn ang="T6">
                  <a:pos x="T0" y="T1"/>
                </a:cxn>
                <a:cxn ang="T7">
                  <a:pos x="T2" y="T3"/>
                </a:cxn>
                <a:cxn ang="T8">
                  <a:pos x="T4" y="T5"/>
                </a:cxn>
              </a:cxnLst>
              <a:rect l="T9" t="T10" r="T11" b="T12"/>
              <a:pathLst>
                <a:path w="21600" h="43127" fill="none" extrusionOk="0">
                  <a:moveTo>
                    <a:pt x="-1" y="0"/>
                  </a:moveTo>
                  <a:cubicBezTo>
                    <a:pt x="11929" y="0"/>
                    <a:pt x="21600" y="9670"/>
                    <a:pt x="21600" y="21600"/>
                  </a:cubicBezTo>
                  <a:cubicBezTo>
                    <a:pt x="21600" y="32842"/>
                    <a:pt x="12975" y="42205"/>
                    <a:pt x="1771" y="43127"/>
                  </a:cubicBezTo>
                </a:path>
                <a:path w="21600" h="43127" stroke="0" extrusionOk="0">
                  <a:moveTo>
                    <a:pt x="-1" y="0"/>
                  </a:moveTo>
                  <a:cubicBezTo>
                    <a:pt x="11929" y="0"/>
                    <a:pt x="21600" y="9670"/>
                    <a:pt x="21600" y="21600"/>
                  </a:cubicBezTo>
                  <a:cubicBezTo>
                    <a:pt x="21600" y="32842"/>
                    <a:pt x="12975" y="42205"/>
                    <a:pt x="1771" y="43127"/>
                  </a:cubicBezTo>
                  <a:lnTo>
                    <a:pt x="0" y="21600"/>
                  </a:lnTo>
                  <a:lnTo>
                    <a:pt x="-1" y="0"/>
                  </a:lnTo>
                  <a:close/>
                </a:path>
              </a:pathLst>
            </a:custGeom>
            <a:noFill/>
            <a:ln w="9525">
              <a:solidFill>
                <a:srgbClr val="00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3833" name="Arc 11">
              <a:extLst>
                <a:ext uri="{FF2B5EF4-FFF2-40B4-BE49-F238E27FC236}">
                  <a16:creationId xmlns:a16="http://schemas.microsoft.com/office/drawing/2014/main" id="{99104CB1-4A4D-4B7A-AE1E-B3E2A59B7B81}"/>
                </a:ext>
              </a:extLst>
            </p:cNvPr>
            <p:cNvSpPr>
              <a:spLocks/>
            </p:cNvSpPr>
            <p:nvPr/>
          </p:nvSpPr>
          <p:spPr bwMode="auto">
            <a:xfrm flipH="1">
              <a:off x="528" y="2064"/>
              <a:ext cx="96" cy="48"/>
            </a:xfrm>
            <a:custGeom>
              <a:avLst/>
              <a:gdLst>
                <a:gd name="T0" fmla="*/ 0 w 21600"/>
                <a:gd name="T1" fmla="*/ 0 h 43127"/>
                <a:gd name="T2" fmla="*/ 0 w 21600"/>
                <a:gd name="T3" fmla="*/ 0 h 43127"/>
                <a:gd name="T4" fmla="*/ 0 w 21600"/>
                <a:gd name="T5" fmla="*/ 0 h 43127"/>
                <a:gd name="T6" fmla="*/ 0 60000 65536"/>
                <a:gd name="T7" fmla="*/ 0 60000 65536"/>
                <a:gd name="T8" fmla="*/ 0 60000 65536"/>
                <a:gd name="T9" fmla="*/ 0 w 21600"/>
                <a:gd name="T10" fmla="*/ 0 h 43127"/>
                <a:gd name="T11" fmla="*/ 21600 w 21600"/>
                <a:gd name="T12" fmla="*/ 43127 h 43127"/>
              </a:gdLst>
              <a:ahLst/>
              <a:cxnLst>
                <a:cxn ang="T6">
                  <a:pos x="T0" y="T1"/>
                </a:cxn>
                <a:cxn ang="T7">
                  <a:pos x="T2" y="T3"/>
                </a:cxn>
                <a:cxn ang="T8">
                  <a:pos x="T4" y="T5"/>
                </a:cxn>
              </a:cxnLst>
              <a:rect l="T9" t="T10" r="T11" b="T12"/>
              <a:pathLst>
                <a:path w="21600" h="43127" fill="none" extrusionOk="0">
                  <a:moveTo>
                    <a:pt x="-1" y="0"/>
                  </a:moveTo>
                  <a:cubicBezTo>
                    <a:pt x="11929" y="0"/>
                    <a:pt x="21600" y="9670"/>
                    <a:pt x="21600" y="21600"/>
                  </a:cubicBezTo>
                  <a:cubicBezTo>
                    <a:pt x="21600" y="32842"/>
                    <a:pt x="12975" y="42205"/>
                    <a:pt x="1771" y="43127"/>
                  </a:cubicBezTo>
                </a:path>
                <a:path w="21600" h="43127" stroke="0" extrusionOk="0">
                  <a:moveTo>
                    <a:pt x="-1" y="0"/>
                  </a:moveTo>
                  <a:cubicBezTo>
                    <a:pt x="11929" y="0"/>
                    <a:pt x="21600" y="9670"/>
                    <a:pt x="21600" y="21600"/>
                  </a:cubicBezTo>
                  <a:cubicBezTo>
                    <a:pt x="21600" y="32842"/>
                    <a:pt x="12975" y="42205"/>
                    <a:pt x="1771" y="43127"/>
                  </a:cubicBezTo>
                  <a:lnTo>
                    <a:pt x="0" y="21600"/>
                  </a:lnTo>
                  <a:lnTo>
                    <a:pt x="-1" y="0"/>
                  </a:lnTo>
                  <a:close/>
                </a:path>
              </a:pathLst>
            </a:custGeom>
            <a:noFill/>
            <a:ln w="9525">
              <a:solidFill>
                <a:srgbClr val="00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3" name="Group 12">
            <a:extLst>
              <a:ext uri="{FF2B5EF4-FFF2-40B4-BE49-F238E27FC236}">
                <a16:creationId xmlns:a16="http://schemas.microsoft.com/office/drawing/2014/main" id="{38B520C4-18DD-4032-A6AF-117798E949AC}"/>
              </a:ext>
            </a:extLst>
          </p:cNvPr>
          <p:cNvGrpSpPr>
            <a:grpSpLocks/>
          </p:cNvGrpSpPr>
          <p:nvPr/>
        </p:nvGrpSpPr>
        <p:grpSpPr bwMode="auto">
          <a:xfrm>
            <a:off x="4370388" y="1857375"/>
            <a:ext cx="4343400" cy="714375"/>
            <a:chOff x="528" y="2016"/>
            <a:chExt cx="2736" cy="288"/>
          </a:xfrm>
        </p:grpSpPr>
        <p:sp>
          <p:nvSpPr>
            <p:cNvPr id="33812" name="Line 13">
              <a:extLst>
                <a:ext uri="{FF2B5EF4-FFF2-40B4-BE49-F238E27FC236}">
                  <a16:creationId xmlns:a16="http://schemas.microsoft.com/office/drawing/2014/main" id="{043DDBA6-52DA-4E7A-8649-023A3CB597C3}"/>
                </a:ext>
              </a:extLst>
            </p:cNvPr>
            <p:cNvSpPr>
              <a:spLocks noChangeShapeType="1"/>
            </p:cNvSpPr>
            <p:nvPr/>
          </p:nvSpPr>
          <p:spPr bwMode="auto">
            <a:xfrm>
              <a:off x="624" y="2304"/>
              <a:ext cx="864" cy="0"/>
            </a:xfrm>
            <a:prstGeom prst="line">
              <a:avLst/>
            </a:prstGeom>
            <a:noFill/>
            <a:ln w="9525">
              <a:solidFill>
                <a:schemeClr val="bg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33813" name="Group 14">
              <a:extLst>
                <a:ext uri="{FF2B5EF4-FFF2-40B4-BE49-F238E27FC236}">
                  <a16:creationId xmlns:a16="http://schemas.microsoft.com/office/drawing/2014/main" id="{6BE00BDA-7016-431B-830B-EBCE6A0C0BB9}"/>
                </a:ext>
              </a:extLst>
            </p:cNvPr>
            <p:cNvGrpSpPr>
              <a:grpSpLocks/>
            </p:cNvGrpSpPr>
            <p:nvPr/>
          </p:nvGrpSpPr>
          <p:grpSpPr bwMode="auto">
            <a:xfrm>
              <a:off x="528" y="2016"/>
              <a:ext cx="2736" cy="96"/>
              <a:chOff x="528" y="2016"/>
              <a:chExt cx="2736" cy="96"/>
            </a:xfrm>
          </p:grpSpPr>
          <p:sp>
            <p:nvSpPr>
              <p:cNvPr id="33822" name="Line 15">
                <a:extLst>
                  <a:ext uri="{FF2B5EF4-FFF2-40B4-BE49-F238E27FC236}">
                    <a16:creationId xmlns:a16="http://schemas.microsoft.com/office/drawing/2014/main" id="{F4FAC896-C679-47F8-BBE0-7587E6C4C019}"/>
                  </a:ext>
                </a:extLst>
              </p:cNvPr>
              <p:cNvSpPr>
                <a:spLocks noChangeShapeType="1"/>
              </p:cNvSpPr>
              <p:nvPr/>
            </p:nvSpPr>
            <p:spPr bwMode="auto">
              <a:xfrm>
                <a:off x="1499" y="2016"/>
                <a:ext cx="1361" cy="0"/>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23" name="Line 16">
                <a:extLst>
                  <a:ext uri="{FF2B5EF4-FFF2-40B4-BE49-F238E27FC236}">
                    <a16:creationId xmlns:a16="http://schemas.microsoft.com/office/drawing/2014/main" id="{F4DCEAE6-4811-4273-8DCC-FA2ABB853F40}"/>
                  </a:ext>
                </a:extLst>
              </p:cNvPr>
              <p:cNvSpPr>
                <a:spLocks noChangeShapeType="1"/>
              </p:cNvSpPr>
              <p:nvPr/>
            </p:nvSpPr>
            <p:spPr bwMode="auto">
              <a:xfrm>
                <a:off x="624" y="2112"/>
                <a:ext cx="864" cy="0"/>
              </a:xfrm>
              <a:prstGeom prst="line">
                <a:avLst/>
              </a:prstGeom>
              <a:noFill/>
              <a:ln w="9525">
                <a:solidFill>
                  <a:schemeClr val="bg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3824" name="Line 17">
                <a:extLst>
                  <a:ext uri="{FF2B5EF4-FFF2-40B4-BE49-F238E27FC236}">
                    <a16:creationId xmlns:a16="http://schemas.microsoft.com/office/drawing/2014/main" id="{C9891EB0-2CD0-427B-94EA-9077EF1378D7}"/>
                  </a:ext>
                </a:extLst>
              </p:cNvPr>
              <p:cNvSpPr>
                <a:spLocks noChangeShapeType="1"/>
              </p:cNvSpPr>
              <p:nvPr/>
            </p:nvSpPr>
            <p:spPr bwMode="auto">
              <a:xfrm>
                <a:off x="2304" y="2016"/>
                <a:ext cx="864" cy="0"/>
              </a:xfrm>
              <a:prstGeom prst="line">
                <a:avLst/>
              </a:prstGeom>
              <a:noFill/>
              <a:ln w="9525">
                <a:solidFill>
                  <a:schemeClr val="bg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3825" name="Line 18">
                <a:extLst>
                  <a:ext uri="{FF2B5EF4-FFF2-40B4-BE49-F238E27FC236}">
                    <a16:creationId xmlns:a16="http://schemas.microsoft.com/office/drawing/2014/main" id="{F97A7AC5-7FFE-42DA-9E70-674A8C2C1BC0}"/>
                  </a:ext>
                </a:extLst>
              </p:cNvPr>
              <p:cNvSpPr>
                <a:spLocks noChangeShapeType="1"/>
              </p:cNvSpPr>
              <p:nvPr/>
            </p:nvSpPr>
            <p:spPr bwMode="auto">
              <a:xfrm flipH="1">
                <a:off x="576" y="2064"/>
                <a:ext cx="2592" cy="0"/>
              </a:xfrm>
              <a:prstGeom prst="line">
                <a:avLst/>
              </a:prstGeom>
              <a:noFill/>
              <a:ln w="9525">
                <a:solidFill>
                  <a:schemeClr val="bg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3826" name="Arc 19">
                <a:extLst>
                  <a:ext uri="{FF2B5EF4-FFF2-40B4-BE49-F238E27FC236}">
                    <a16:creationId xmlns:a16="http://schemas.microsoft.com/office/drawing/2014/main" id="{C99C764A-B938-4AE7-AEFB-139524FBF55A}"/>
                  </a:ext>
                </a:extLst>
              </p:cNvPr>
              <p:cNvSpPr>
                <a:spLocks/>
              </p:cNvSpPr>
              <p:nvPr/>
            </p:nvSpPr>
            <p:spPr bwMode="auto">
              <a:xfrm>
                <a:off x="3168" y="2016"/>
                <a:ext cx="96" cy="48"/>
              </a:xfrm>
              <a:custGeom>
                <a:avLst/>
                <a:gdLst>
                  <a:gd name="T0" fmla="*/ 0 w 21600"/>
                  <a:gd name="T1" fmla="*/ 0 h 43127"/>
                  <a:gd name="T2" fmla="*/ 0 w 21600"/>
                  <a:gd name="T3" fmla="*/ 0 h 43127"/>
                  <a:gd name="T4" fmla="*/ 0 w 21600"/>
                  <a:gd name="T5" fmla="*/ 0 h 43127"/>
                  <a:gd name="T6" fmla="*/ 0 60000 65536"/>
                  <a:gd name="T7" fmla="*/ 0 60000 65536"/>
                  <a:gd name="T8" fmla="*/ 0 60000 65536"/>
                  <a:gd name="T9" fmla="*/ 0 w 21600"/>
                  <a:gd name="T10" fmla="*/ 0 h 43127"/>
                  <a:gd name="T11" fmla="*/ 21600 w 21600"/>
                  <a:gd name="T12" fmla="*/ 43127 h 43127"/>
                </a:gdLst>
                <a:ahLst/>
                <a:cxnLst>
                  <a:cxn ang="T6">
                    <a:pos x="T0" y="T1"/>
                  </a:cxn>
                  <a:cxn ang="T7">
                    <a:pos x="T2" y="T3"/>
                  </a:cxn>
                  <a:cxn ang="T8">
                    <a:pos x="T4" y="T5"/>
                  </a:cxn>
                </a:cxnLst>
                <a:rect l="T9" t="T10" r="T11" b="T12"/>
                <a:pathLst>
                  <a:path w="21600" h="43127" fill="none" extrusionOk="0">
                    <a:moveTo>
                      <a:pt x="-1" y="0"/>
                    </a:moveTo>
                    <a:cubicBezTo>
                      <a:pt x="11929" y="0"/>
                      <a:pt x="21600" y="9670"/>
                      <a:pt x="21600" y="21600"/>
                    </a:cubicBezTo>
                    <a:cubicBezTo>
                      <a:pt x="21600" y="32842"/>
                      <a:pt x="12975" y="42205"/>
                      <a:pt x="1771" y="43127"/>
                    </a:cubicBezTo>
                  </a:path>
                  <a:path w="21600" h="43127" stroke="0" extrusionOk="0">
                    <a:moveTo>
                      <a:pt x="-1" y="0"/>
                    </a:moveTo>
                    <a:cubicBezTo>
                      <a:pt x="11929" y="0"/>
                      <a:pt x="21600" y="9670"/>
                      <a:pt x="21600" y="21600"/>
                    </a:cubicBezTo>
                    <a:cubicBezTo>
                      <a:pt x="21600" y="32842"/>
                      <a:pt x="12975" y="42205"/>
                      <a:pt x="1771" y="43127"/>
                    </a:cubicBezTo>
                    <a:lnTo>
                      <a:pt x="0" y="21600"/>
                    </a:lnTo>
                    <a:lnTo>
                      <a:pt x="-1" y="0"/>
                    </a:lnTo>
                    <a:close/>
                  </a:path>
                </a:pathLst>
              </a:custGeom>
              <a:noFill/>
              <a:ln w="9525">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3827" name="Arc 20">
                <a:extLst>
                  <a:ext uri="{FF2B5EF4-FFF2-40B4-BE49-F238E27FC236}">
                    <a16:creationId xmlns:a16="http://schemas.microsoft.com/office/drawing/2014/main" id="{F126CA3E-6687-47FE-832A-85736E635EBD}"/>
                  </a:ext>
                </a:extLst>
              </p:cNvPr>
              <p:cNvSpPr>
                <a:spLocks/>
              </p:cNvSpPr>
              <p:nvPr/>
            </p:nvSpPr>
            <p:spPr bwMode="auto">
              <a:xfrm flipH="1">
                <a:off x="528" y="2064"/>
                <a:ext cx="96" cy="48"/>
              </a:xfrm>
              <a:custGeom>
                <a:avLst/>
                <a:gdLst>
                  <a:gd name="T0" fmla="*/ 0 w 21600"/>
                  <a:gd name="T1" fmla="*/ 0 h 43127"/>
                  <a:gd name="T2" fmla="*/ 0 w 21600"/>
                  <a:gd name="T3" fmla="*/ 0 h 43127"/>
                  <a:gd name="T4" fmla="*/ 0 w 21600"/>
                  <a:gd name="T5" fmla="*/ 0 h 43127"/>
                  <a:gd name="T6" fmla="*/ 0 60000 65536"/>
                  <a:gd name="T7" fmla="*/ 0 60000 65536"/>
                  <a:gd name="T8" fmla="*/ 0 60000 65536"/>
                  <a:gd name="T9" fmla="*/ 0 w 21600"/>
                  <a:gd name="T10" fmla="*/ 0 h 43127"/>
                  <a:gd name="T11" fmla="*/ 21600 w 21600"/>
                  <a:gd name="T12" fmla="*/ 43127 h 43127"/>
                </a:gdLst>
                <a:ahLst/>
                <a:cxnLst>
                  <a:cxn ang="T6">
                    <a:pos x="T0" y="T1"/>
                  </a:cxn>
                  <a:cxn ang="T7">
                    <a:pos x="T2" y="T3"/>
                  </a:cxn>
                  <a:cxn ang="T8">
                    <a:pos x="T4" y="T5"/>
                  </a:cxn>
                </a:cxnLst>
                <a:rect l="T9" t="T10" r="T11" b="T12"/>
                <a:pathLst>
                  <a:path w="21600" h="43127" fill="none" extrusionOk="0">
                    <a:moveTo>
                      <a:pt x="-1" y="0"/>
                    </a:moveTo>
                    <a:cubicBezTo>
                      <a:pt x="11929" y="0"/>
                      <a:pt x="21600" y="9670"/>
                      <a:pt x="21600" y="21600"/>
                    </a:cubicBezTo>
                    <a:cubicBezTo>
                      <a:pt x="21600" y="32842"/>
                      <a:pt x="12975" y="42205"/>
                      <a:pt x="1771" y="43127"/>
                    </a:cubicBezTo>
                  </a:path>
                  <a:path w="21600" h="43127" stroke="0" extrusionOk="0">
                    <a:moveTo>
                      <a:pt x="-1" y="0"/>
                    </a:moveTo>
                    <a:cubicBezTo>
                      <a:pt x="11929" y="0"/>
                      <a:pt x="21600" y="9670"/>
                      <a:pt x="21600" y="21600"/>
                    </a:cubicBezTo>
                    <a:cubicBezTo>
                      <a:pt x="21600" y="32842"/>
                      <a:pt x="12975" y="42205"/>
                      <a:pt x="1771" y="43127"/>
                    </a:cubicBezTo>
                    <a:lnTo>
                      <a:pt x="0" y="21600"/>
                    </a:lnTo>
                    <a:lnTo>
                      <a:pt x="-1" y="0"/>
                    </a:lnTo>
                    <a:close/>
                  </a:path>
                </a:pathLst>
              </a:custGeom>
              <a:noFill/>
              <a:ln w="9525">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33814" name="Line 21">
              <a:extLst>
                <a:ext uri="{FF2B5EF4-FFF2-40B4-BE49-F238E27FC236}">
                  <a16:creationId xmlns:a16="http://schemas.microsoft.com/office/drawing/2014/main" id="{103E4670-FE2F-4A08-BAA2-903D3601AD71}"/>
                </a:ext>
              </a:extLst>
            </p:cNvPr>
            <p:cNvSpPr>
              <a:spLocks noChangeShapeType="1"/>
            </p:cNvSpPr>
            <p:nvPr/>
          </p:nvSpPr>
          <p:spPr bwMode="auto">
            <a:xfrm>
              <a:off x="1392" y="2112"/>
              <a:ext cx="1776" cy="0"/>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15" name="Line 22">
              <a:extLst>
                <a:ext uri="{FF2B5EF4-FFF2-40B4-BE49-F238E27FC236}">
                  <a16:creationId xmlns:a16="http://schemas.microsoft.com/office/drawing/2014/main" id="{2CB02343-6A82-4AD7-98E6-1D68D5C5017A}"/>
                </a:ext>
              </a:extLst>
            </p:cNvPr>
            <p:cNvSpPr>
              <a:spLocks noChangeShapeType="1"/>
            </p:cNvSpPr>
            <p:nvPr/>
          </p:nvSpPr>
          <p:spPr bwMode="auto">
            <a:xfrm flipH="1">
              <a:off x="576" y="2160"/>
              <a:ext cx="2592" cy="0"/>
            </a:xfrm>
            <a:prstGeom prst="line">
              <a:avLst/>
            </a:prstGeom>
            <a:noFill/>
            <a:ln w="9525">
              <a:solidFill>
                <a:schemeClr val="bg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3816" name="Arc 23">
              <a:extLst>
                <a:ext uri="{FF2B5EF4-FFF2-40B4-BE49-F238E27FC236}">
                  <a16:creationId xmlns:a16="http://schemas.microsoft.com/office/drawing/2014/main" id="{4A7DF5FD-EE3E-48E6-9B91-B25B33161EA6}"/>
                </a:ext>
              </a:extLst>
            </p:cNvPr>
            <p:cNvSpPr>
              <a:spLocks/>
            </p:cNvSpPr>
            <p:nvPr/>
          </p:nvSpPr>
          <p:spPr bwMode="auto">
            <a:xfrm>
              <a:off x="3168" y="2112"/>
              <a:ext cx="96" cy="48"/>
            </a:xfrm>
            <a:custGeom>
              <a:avLst/>
              <a:gdLst>
                <a:gd name="T0" fmla="*/ 0 w 21600"/>
                <a:gd name="T1" fmla="*/ 0 h 43127"/>
                <a:gd name="T2" fmla="*/ 0 w 21600"/>
                <a:gd name="T3" fmla="*/ 0 h 43127"/>
                <a:gd name="T4" fmla="*/ 0 w 21600"/>
                <a:gd name="T5" fmla="*/ 0 h 43127"/>
                <a:gd name="T6" fmla="*/ 0 60000 65536"/>
                <a:gd name="T7" fmla="*/ 0 60000 65536"/>
                <a:gd name="T8" fmla="*/ 0 60000 65536"/>
                <a:gd name="T9" fmla="*/ 0 w 21600"/>
                <a:gd name="T10" fmla="*/ 0 h 43127"/>
                <a:gd name="T11" fmla="*/ 21600 w 21600"/>
                <a:gd name="T12" fmla="*/ 43127 h 43127"/>
              </a:gdLst>
              <a:ahLst/>
              <a:cxnLst>
                <a:cxn ang="T6">
                  <a:pos x="T0" y="T1"/>
                </a:cxn>
                <a:cxn ang="T7">
                  <a:pos x="T2" y="T3"/>
                </a:cxn>
                <a:cxn ang="T8">
                  <a:pos x="T4" y="T5"/>
                </a:cxn>
              </a:cxnLst>
              <a:rect l="T9" t="T10" r="T11" b="T12"/>
              <a:pathLst>
                <a:path w="21600" h="43127" fill="none" extrusionOk="0">
                  <a:moveTo>
                    <a:pt x="-1" y="0"/>
                  </a:moveTo>
                  <a:cubicBezTo>
                    <a:pt x="11929" y="0"/>
                    <a:pt x="21600" y="9670"/>
                    <a:pt x="21600" y="21600"/>
                  </a:cubicBezTo>
                  <a:cubicBezTo>
                    <a:pt x="21600" y="32842"/>
                    <a:pt x="12975" y="42205"/>
                    <a:pt x="1771" y="43127"/>
                  </a:cubicBezTo>
                </a:path>
                <a:path w="21600" h="43127" stroke="0" extrusionOk="0">
                  <a:moveTo>
                    <a:pt x="-1" y="0"/>
                  </a:moveTo>
                  <a:cubicBezTo>
                    <a:pt x="11929" y="0"/>
                    <a:pt x="21600" y="9670"/>
                    <a:pt x="21600" y="21600"/>
                  </a:cubicBezTo>
                  <a:cubicBezTo>
                    <a:pt x="21600" y="32842"/>
                    <a:pt x="12975" y="42205"/>
                    <a:pt x="1771" y="43127"/>
                  </a:cubicBezTo>
                  <a:lnTo>
                    <a:pt x="0" y="21600"/>
                  </a:lnTo>
                  <a:lnTo>
                    <a:pt x="-1" y="0"/>
                  </a:lnTo>
                  <a:close/>
                </a:path>
              </a:pathLst>
            </a:custGeom>
            <a:noFill/>
            <a:ln w="9525">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3817" name="Arc 24">
              <a:extLst>
                <a:ext uri="{FF2B5EF4-FFF2-40B4-BE49-F238E27FC236}">
                  <a16:creationId xmlns:a16="http://schemas.microsoft.com/office/drawing/2014/main" id="{2FD6ECFD-0B05-46C2-927A-6F4242850DD4}"/>
                </a:ext>
              </a:extLst>
            </p:cNvPr>
            <p:cNvSpPr>
              <a:spLocks/>
            </p:cNvSpPr>
            <p:nvPr/>
          </p:nvSpPr>
          <p:spPr bwMode="auto">
            <a:xfrm flipH="1">
              <a:off x="528" y="2160"/>
              <a:ext cx="96" cy="48"/>
            </a:xfrm>
            <a:custGeom>
              <a:avLst/>
              <a:gdLst>
                <a:gd name="T0" fmla="*/ 0 w 21600"/>
                <a:gd name="T1" fmla="*/ 0 h 43127"/>
                <a:gd name="T2" fmla="*/ 0 w 21600"/>
                <a:gd name="T3" fmla="*/ 0 h 43127"/>
                <a:gd name="T4" fmla="*/ 0 w 21600"/>
                <a:gd name="T5" fmla="*/ 0 h 43127"/>
                <a:gd name="T6" fmla="*/ 0 60000 65536"/>
                <a:gd name="T7" fmla="*/ 0 60000 65536"/>
                <a:gd name="T8" fmla="*/ 0 60000 65536"/>
                <a:gd name="T9" fmla="*/ 0 w 21600"/>
                <a:gd name="T10" fmla="*/ 0 h 43127"/>
                <a:gd name="T11" fmla="*/ 21600 w 21600"/>
                <a:gd name="T12" fmla="*/ 43127 h 43127"/>
              </a:gdLst>
              <a:ahLst/>
              <a:cxnLst>
                <a:cxn ang="T6">
                  <a:pos x="T0" y="T1"/>
                </a:cxn>
                <a:cxn ang="T7">
                  <a:pos x="T2" y="T3"/>
                </a:cxn>
                <a:cxn ang="T8">
                  <a:pos x="T4" y="T5"/>
                </a:cxn>
              </a:cxnLst>
              <a:rect l="T9" t="T10" r="T11" b="T12"/>
              <a:pathLst>
                <a:path w="21600" h="43127" fill="none" extrusionOk="0">
                  <a:moveTo>
                    <a:pt x="-1" y="0"/>
                  </a:moveTo>
                  <a:cubicBezTo>
                    <a:pt x="11929" y="0"/>
                    <a:pt x="21600" y="9670"/>
                    <a:pt x="21600" y="21600"/>
                  </a:cubicBezTo>
                  <a:cubicBezTo>
                    <a:pt x="21600" y="32842"/>
                    <a:pt x="12975" y="42205"/>
                    <a:pt x="1771" y="43127"/>
                  </a:cubicBezTo>
                </a:path>
                <a:path w="21600" h="43127" stroke="0" extrusionOk="0">
                  <a:moveTo>
                    <a:pt x="-1" y="0"/>
                  </a:moveTo>
                  <a:cubicBezTo>
                    <a:pt x="11929" y="0"/>
                    <a:pt x="21600" y="9670"/>
                    <a:pt x="21600" y="21600"/>
                  </a:cubicBezTo>
                  <a:cubicBezTo>
                    <a:pt x="21600" y="32842"/>
                    <a:pt x="12975" y="42205"/>
                    <a:pt x="1771" y="43127"/>
                  </a:cubicBezTo>
                  <a:lnTo>
                    <a:pt x="0" y="21600"/>
                  </a:lnTo>
                  <a:lnTo>
                    <a:pt x="-1" y="0"/>
                  </a:lnTo>
                  <a:close/>
                </a:path>
              </a:pathLst>
            </a:custGeom>
            <a:noFill/>
            <a:ln w="9525">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3818" name="Line 25">
              <a:extLst>
                <a:ext uri="{FF2B5EF4-FFF2-40B4-BE49-F238E27FC236}">
                  <a16:creationId xmlns:a16="http://schemas.microsoft.com/office/drawing/2014/main" id="{717F59AA-5F21-4E81-AA66-B4464D5340FF}"/>
                </a:ext>
              </a:extLst>
            </p:cNvPr>
            <p:cNvSpPr>
              <a:spLocks noChangeShapeType="1"/>
            </p:cNvSpPr>
            <p:nvPr/>
          </p:nvSpPr>
          <p:spPr bwMode="auto">
            <a:xfrm>
              <a:off x="624" y="2208"/>
              <a:ext cx="2544" cy="0"/>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19" name="Line 26">
              <a:extLst>
                <a:ext uri="{FF2B5EF4-FFF2-40B4-BE49-F238E27FC236}">
                  <a16:creationId xmlns:a16="http://schemas.microsoft.com/office/drawing/2014/main" id="{FC4E9DC9-C1B8-48F6-AEF0-E7675B63C927}"/>
                </a:ext>
              </a:extLst>
            </p:cNvPr>
            <p:cNvSpPr>
              <a:spLocks noChangeShapeType="1"/>
            </p:cNvSpPr>
            <p:nvPr/>
          </p:nvSpPr>
          <p:spPr bwMode="auto">
            <a:xfrm flipH="1">
              <a:off x="624" y="2256"/>
              <a:ext cx="2592" cy="0"/>
            </a:xfrm>
            <a:prstGeom prst="line">
              <a:avLst/>
            </a:prstGeom>
            <a:noFill/>
            <a:ln w="9525">
              <a:solidFill>
                <a:schemeClr val="bg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3820" name="Arc 27">
              <a:extLst>
                <a:ext uri="{FF2B5EF4-FFF2-40B4-BE49-F238E27FC236}">
                  <a16:creationId xmlns:a16="http://schemas.microsoft.com/office/drawing/2014/main" id="{4A70D368-443E-4FD7-B69B-D0C44B159289}"/>
                </a:ext>
              </a:extLst>
            </p:cNvPr>
            <p:cNvSpPr>
              <a:spLocks/>
            </p:cNvSpPr>
            <p:nvPr/>
          </p:nvSpPr>
          <p:spPr bwMode="auto">
            <a:xfrm>
              <a:off x="3168" y="2208"/>
              <a:ext cx="96" cy="48"/>
            </a:xfrm>
            <a:custGeom>
              <a:avLst/>
              <a:gdLst>
                <a:gd name="T0" fmla="*/ 0 w 21600"/>
                <a:gd name="T1" fmla="*/ 0 h 43127"/>
                <a:gd name="T2" fmla="*/ 0 w 21600"/>
                <a:gd name="T3" fmla="*/ 0 h 43127"/>
                <a:gd name="T4" fmla="*/ 0 w 21600"/>
                <a:gd name="T5" fmla="*/ 0 h 43127"/>
                <a:gd name="T6" fmla="*/ 0 60000 65536"/>
                <a:gd name="T7" fmla="*/ 0 60000 65536"/>
                <a:gd name="T8" fmla="*/ 0 60000 65536"/>
                <a:gd name="T9" fmla="*/ 0 w 21600"/>
                <a:gd name="T10" fmla="*/ 0 h 43127"/>
                <a:gd name="T11" fmla="*/ 21600 w 21600"/>
                <a:gd name="T12" fmla="*/ 43127 h 43127"/>
              </a:gdLst>
              <a:ahLst/>
              <a:cxnLst>
                <a:cxn ang="T6">
                  <a:pos x="T0" y="T1"/>
                </a:cxn>
                <a:cxn ang="T7">
                  <a:pos x="T2" y="T3"/>
                </a:cxn>
                <a:cxn ang="T8">
                  <a:pos x="T4" y="T5"/>
                </a:cxn>
              </a:cxnLst>
              <a:rect l="T9" t="T10" r="T11" b="T12"/>
              <a:pathLst>
                <a:path w="21600" h="43127" fill="none" extrusionOk="0">
                  <a:moveTo>
                    <a:pt x="-1" y="0"/>
                  </a:moveTo>
                  <a:cubicBezTo>
                    <a:pt x="11929" y="0"/>
                    <a:pt x="21600" y="9670"/>
                    <a:pt x="21600" y="21600"/>
                  </a:cubicBezTo>
                  <a:cubicBezTo>
                    <a:pt x="21600" y="32842"/>
                    <a:pt x="12975" y="42205"/>
                    <a:pt x="1771" y="43127"/>
                  </a:cubicBezTo>
                </a:path>
                <a:path w="21600" h="43127" stroke="0" extrusionOk="0">
                  <a:moveTo>
                    <a:pt x="-1" y="0"/>
                  </a:moveTo>
                  <a:cubicBezTo>
                    <a:pt x="11929" y="0"/>
                    <a:pt x="21600" y="9670"/>
                    <a:pt x="21600" y="21600"/>
                  </a:cubicBezTo>
                  <a:cubicBezTo>
                    <a:pt x="21600" y="32842"/>
                    <a:pt x="12975" y="42205"/>
                    <a:pt x="1771" y="43127"/>
                  </a:cubicBezTo>
                  <a:lnTo>
                    <a:pt x="0" y="21600"/>
                  </a:lnTo>
                  <a:lnTo>
                    <a:pt x="-1" y="0"/>
                  </a:lnTo>
                  <a:close/>
                </a:path>
              </a:pathLst>
            </a:custGeom>
            <a:noFill/>
            <a:ln w="9525">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3821" name="Arc 28">
              <a:extLst>
                <a:ext uri="{FF2B5EF4-FFF2-40B4-BE49-F238E27FC236}">
                  <a16:creationId xmlns:a16="http://schemas.microsoft.com/office/drawing/2014/main" id="{F7DDE7F3-A960-40AF-A584-F64887BE83F7}"/>
                </a:ext>
              </a:extLst>
            </p:cNvPr>
            <p:cNvSpPr>
              <a:spLocks/>
            </p:cNvSpPr>
            <p:nvPr/>
          </p:nvSpPr>
          <p:spPr bwMode="auto">
            <a:xfrm flipH="1">
              <a:off x="528" y="2256"/>
              <a:ext cx="96" cy="48"/>
            </a:xfrm>
            <a:custGeom>
              <a:avLst/>
              <a:gdLst>
                <a:gd name="T0" fmla="*/ 0 w 21600"/>
                <a:gd name="T1" fmla="*/ 0 h 43127"/>
                <a:gd name="T2" fmla="*/ 0 w 21600"/>
                <a:gd name="T3" fmla="*/ 0 h 43127"/>
                <a:gd name="T4" fmla="*/ 0 w 21600"/>
                <a:gd name="T5" fmla="*/ 0 h 43127"/>
                <a:gd name="T6" fmla="*/ 0 60000 65536"/>
                <a:gd name="T7" fmla="*/ 0 60000 65536"/>
                <a:gd name="T8" fmla="*/ 0 60000 65536"/>
                <a:gd name="T9" fmla="*/ 0 w 21600"/>
                <a:gd name="T10" fmla="*/ 0 h 43127"/>
                <a:gd name="T11" fmla="*/ 21600 w 21600"/>
                <a:gd name="T12" fmla="*/ 43127 h 43127"/>
              </a:gdLst>
              <a:ahLst/>
              <a:cxnLst>
                <a:cxn ang="T6">
                  <a:pos x="T0" y="T1"/>
                </a:cxn>
                <a:cxn ang="T7">
                  <a:pos x="T2" y="T3"/>
                </a:cxn>
                <a:cxn ang="T8">
                  <a:pos x="T4" y="T5"/>
                </a:cxn>
              </a:cxnLst>
              <a:rect l="T9" t="T10" r="T11" b="T12"/>
              <a:pathLst>
                <a:path w="21600" h="43127" fill="none" extrusionOk="0">
                  <a:moveTo>
                    <a:pt x="-1" y="0"/>
                  </a:moveTo>
                  <a:cubicBezTo>
                    <a:pt x="11929" y="0"/>
                    <a:pt x="21600" y="9670"/>
                    <a:pt x="21600" y="21600"/>
                  </a:cubicBezTo>
                  <a:cubicBezTo>
                    <a:pt x="21600" y="32842"/>
                    <a:pt x="12975" y="42205"/>
                    <a:pt x="1771" y="43127"/>
                  </a:cubicBezTo>
                </a:path>
                <a:path w="21600" h="43127" stroke="0" extrusionOk="0">
                  <a:moveTo>
                    <a:pt x="-1" y="0"/>
                  </a:moveTo>
                  <a:cubicBezTo>
                    <a:pt x="11929" y="0"/>
                    <a:pt x="21600" y="9670"/>
                    <a:pt x="21600" y="21600"/>
                  </a:cubicBezTo>
                  <a:cubicBezTo>
                    <a:pt x="21600" y="32842"/>
                    <a:pt x="12975" y="42205"/>
                    <a:pt x="1771" y="43127"/>
                  </a:cubicBezTo>
                  <a:lnTo>
                    <a:pt x="0" y="21600"/>
                  </a:lnTo>
                  <a:lnTo>
                    <a:pt x="-1" y="0"/>
                  </a:lnTo>
                  <a:close/>
                </a:path>
              </a:pathLst>
            </a:custGeom>
            <a:noFill/>
            <a:ln w="9525">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122909" name="Line 29">
            <a:extLst>
              <a:ext uri="{FF2B5EF4-FFF2-40B4-BE49-F238E27FC236}">
                <a16:creationId xmlns:a16="http://schemas.microsoft.com/office/drawing/2014/main" id="{2D3897D1-89A9-448A-99CA-6943E4A8D009}"/>
              </a:ext>
            </a:extLst>
          </p:cNvPr>
          <p:cNvSpPr>
            <a:spLocks noChangeShapeType="1"/>
          </p:cNvSpPr>
          <p:nvPr/>
        </p:nvSpPr>
        <p:spPr bwMode="auto">
          <a:xfrm>
            <a:off x="4370388" y="2803525"/>
            <a:ext cx="4343400" cy="0"/>
          </a:xfrm>
          <a:prstGeom prst="line">
            <a:avLst/>
          </a:prstGeom>
          <a:noFill/>
          <a:ln w="9525">
            <a:solidFill>
              <a:srgbClr val="FF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2910" name="Line 30">
            <a:extLst>
              <a:ext uri="{FF2B5EF4-FFF2-40B4-BE49-F238E27FC236}">
                <a16:creationId xmlns:a16="http://schemas.microsoft.com/office/drawing/2014/main" id="{64D03A11-934A-4889-AF6F-F374E9EACFE4}"/>
              </a:ext>
            </a:extLst>
          </p:cNvPr>
          <p:cNvSpPr>
            <a:spLocks noChangeShapeType="1"/>
          </p:cNvSpPr>
          <p:nvPr/>
        </p:nvSpPr>
        <p:spPr bwMode="auto">
          <a:xfrm>
            <a:off x="5894388" y="1050925"/>
            <a:ext cx="0" cy="1981200"/>
          </a:xfrm>
          <a:prstGeom prst="line">
            <a:avLst/>
          </a:prstGeom>
          <a:noFill/>
          <a:ln w="9525">
            <a:solidFill>
              <a:schemeClr val="bg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22911" name="Object 31">
            <a:extLst>
              <a:ext uri="{FF2B5EF4-FFF2-40B4-BE49-F238E27FC236}">
                <a16:creationId xmlns:a16="http://schemas.microsoft.com/office/drawing/2014/main" id="{657E69FC-BBA4-4EB9-A6CE-C9C412666AB1}"/>
              </a:ext>
            </a:extLst>
          </p:cNvPr>
          <p:cNvGraphicFramePr>
            <a:graphicFrameLocks noChangeAspect="1"/>
          </p:cNvGraphicFramePr>
          <p:nvPr/>
        </p:nvGraphicFramePr>
        <p:xfrm>
          <a:off x="4217988" y="2879725"/>
          <a:ext cx="284162" cy="395288"/>
        </p:xfrm>
        <a:graphic>
          <a:graphicData uri="http://schemas.openxmlformats.org/presentationml/2006/ole">
            <mc:AlternateContent xmlns:mc="http://schemas.openxmlformats.org/markup-compatibility/2006">
              <mc:Choice xmlns:v="urn:schemas-microsoft-com:vml" Requires="v">
                <p:oleObj spid="_x0000_s569536" name="Equation" r:id="rId3" imgW="99095" imgH="144654" progId="Equation.3">
                  <p:embed/>
                </p:oleObj>
              </mc:Choice>
              <mc:Fallback>
                <p:oleObj name="Equation" r:id="rId3" imgW="99095" imgH="144654" progId="Equation.3">
                  <p:embed/>
                  <p:pic>
                    <p:nvPicPr>
                      <p:cNvPr id="122911" name="Object 31">
                        <a:extLst>
                          <a:ext uri="{FF2B5EF4-FFF2-40B4-BE49-F238E27FC236}">
                            <a16:creationId xmlns:a16="http://schemas.microsoft.com/office/drawing/2014/main" id="{657E69FC-BBA4-4EB9-A6CE-C9C412666AB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17988" y="2879725"/>
                        <a:ext cx="284162" cy="395288"/>
                      </a:xfrm>
                      <a:prstGeom prst="rect">
                        <a:avLst/>
                      </a:prstGeom>
                      <a:noFill/>
                      <a:ln>
                        <a:noFill/>
                      </a:ln>
                      <a:extLst>
                        <a:ext uri="{909E8E84-426E-40DD-AFC4-6F175D3DCCD1}">
                          <a14:hiddenFill xmlns:a14="http://schemas.microsoft.com/office/drawing/2010/main">
                            <a:solidFill>
                              <a:srgbClr val="006699"/>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2912" name="Object 32">
            <a:extLst>
              <a:ext uri="{FF2B5EF4-FFF2-40B4-BE49-F238E27FC236}">
                <a16:creationId xmlns:a16="http://schemas.microsoft.com/office/drawing/2014/main" id="{A3B34D1D-0766-4352-947A-20EC9BC2BA13}"/>
              </a:ext>
            </a:extLst>
          </p:cNvPr>
          <p:cNvGraphicFramePr>
            <a:graphicFrameLocks noChangeAspect="1"/>
          </p:cNvGraphicFramePr>
          <p:nvPr/>
        </p:nvGraphicFramePr>
        <p:xfrm>
          <a:off x="5915025" y="2955925"/>
          <a:ext cx="284163" cy="282575"/>
        </p:xfrm>
        <a:graphic>
          <a:graphicData uri="http://schemas.openxmlformats.org/presentationml/2006/ole">
            <mc:AlternateContent xmlns:mc="http://schemas.openxmlformats.org/markup-compatibility/2006">
              <mc:Choice xmlns:v="urn:schemas-microsoft-com:vml" Requires="v">
                <p:oleObj spid="_x0000_s569537" name="Equation" r:id="rId5" imgW="99095" imgH="99264" progId="Equation.3">
                  <p:embed/>
                </p:oleObj>
              </mc:Choice>
              <mc:Fallback>
                <p:oleObj name="Equation" r:id="rId5" imgW="99095" imgH="99264" progId="Equation.3">
                  <p:embed/>
                  <p:pic>
                    <p:nvPicPr>
                      <p:cNvPr id="122912" name="Object 32">
                        <a:extLst>
                          <a:ext uri="{FF2B5EF4-FFF2-40B4-BE49-F238E27FC236}">
                            <a16:creationId xmlns:a16="http://schemas.microsoft.com/office/drawing/2014/main" id="{A3B34D1D-0766-4352-947A-20EC9BC2BA1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15025" y="2955925"/>
                        <a:ext cx="284163" cy="282575"/>
                      </a:xfrm>
                      <a:prstGeom prst="rect">
                        <a:avLst/>
                      </a:prstGeom>
                      <a:noFill/>
                      <a:ln>
                        <a:noFill/>
                      </a:ln>
                      <a:extLst>
                        <a:ext uri="{909E8E84-426E-40DD-AFC4-6F175D3DCCD1}">
                          <a14:hiddenFill xmlns:a14="http://schemas.microsoft.com/office/drawing/2010/main">
                            <a:solidFill>
                              <a:srgbClr val="006699"/>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2913" name="Object 33">
            <a:extLst>
              <a:ext uri="{FF2B5EF4-FFF2-40B4-BE49-F238E27FC236}">
                <a16:creationId xmlns:a16="http://schemas.microsoft.com/office/drawing/2014/main" id="{9980203B-6699-4086-B561-270306B608D0}"/>
              </a:ext>
            </a:extLst>
          </p:cNvPr>
          <p:cNvGraphicFramePr>
            <a:graphicFrameLocks noChangeAspect="1"/>
          </p:cNvGraphicFramePr>
          <p:nvPr/>
        </p:nvGraphicFramePr>
        <p:xfrm>
          <a:off x="8547100" y="2894013"/>
          <a:ext cx="312738" cy="366712"/>
        </p:xfrm>
        <a:graphic>
          <a:graphicData uri="http://schemas.openxmlformats.org/presentationml/2006/ole">
            <mc:AlternateContent xmlns:mc="http://schemas.openxmlformats.org/markup-compatibility/2006">
              <mc:Choice xmlns:v="urn:schemas-microsoft-com:vml" Requires="v">
                <p:oleObj spid="_x0000_s569538" name="Equation" r:id="rId7" imgW="106751" imgH="137019" progId="Equation.3">
                  <p:embed/>
                </p:oleObj>
              </mc:Choice>
              <mc:Fallback>
                <p:oleObj name="Equation" r:id="rId7" imgW="106751" imgH="137019" progId="Equation.3">
                  <p:embed/>
                  <p:pic>
                    <p:nvPicPr>
                      <p:cNvPr id="122913" name="Object 33">
                        <a:extLst>
                          <a:ext uri="{FF2B5EF4-FFF2-40B4-BE49-F238E27FC236}">
                            <a16:creationId xmlns:a16="http://schemas.microsoft.com/office/drawing/2014/main" id="{9980203B-6699-4086-B561-270306B608D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547100" y="2894013"/>
                        <a:ext cx="312738" cy="366712"/>
                      </a:xfrm>
                      <a:prstGeom prst="rect">
                        <a:avLst/>
                      </a:prstGeom>
                      <a:noFill/>
                      <a:ln>
                        <a:noFill/>
                      </a:ln>
                      <a:extLst>
                        <a:ext uri="{909E8E84-426E-40DD-AFC4-6F175D3DCCD1}">
                          <a14:hiddenFill xmlns:a14="http://schemas.microsoft.com/office/drawing/2010/main">
                            <a:solidFill>
                              <a:srgbClr val="006699"/>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2914" name="Rectangle 34">
            <a:extLst>
              <a:ext uri="{FF2B5EF4-FFF2-40B4-BE49-F238E27FC236}">
                <a16:creationId xmlns:a16="http://schemas.microsoft.com/office/drawing/2014/main" id="{8FF6353F-B231-4F45-8AED-CD78C57E42D8}"/>
              </a:ext>
            </a:extLst>
          </p:cNvPr>
          <p:cNvSpPr>
            <a:spLocks noChangeArrowheads="1"/>
          </p:cNvSpPr>
          <p:nvPr/>
        </p:nvSpPr>
        <p:spPr bwMode="auto">
          <a:xfrm>
            <a:off x="611188" y="1111250"/>
            <a:ext cx="3600450" cy="1235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pPr>
            <a:r>
              <a:rPr lang="zh-CN" altLang="en-US" sz="2000">
                <a:solidFill>
                  <a:schemeClr val="bg1"/>
                </a:solidFill>
              </a:rPr>
              <a:t>光在谐振腔内来回反射，相干叠加，只有形成驻波的光才能振荡</a:t>
            </a:r>
          </a:p>
        </p:txBody>
      </p:sp>
      <p:graphicFrame>
        <p:nvGraphicFramePr>
          <p:cNvPr id="122915" name="Object 35">
            <a:extLst>
              <a:ext uri="{FF2B5EF4-FFF2-40B4-BE49-F238E27FC236}">
                <a16:creationId xmlns:a16="http://schemas.microsoft.com/office/drawing/2014/main" id="{5C1D5D20-2530-4345-804D-AABF678C9448}"/>
              </a:ext>
            </a:extLst>
          </p:cNvPr>
          <p:cNvGraphicFramePr>
            <a:graphicFrameLocks noChangeAspect="1"/>
          </p:cNvGraphicFramePr>
          <p:nvPr/>
        </p:nvGraphicFramePr>
        <p:xfrm>
          <a:off x="666750" y="2274888"/>
          <a:ext cx="1241425" cy="785812"/>
        </p:xfrm>
        <a:graphic>
          <a:graphicData uri="http://schemas.openxmlformats.org/presentationml/2006/ole">
            <mc:AlternateContent xmlns:mc="http://schemas.openxmlformats.org/markup-compatibility/2006">
              <mc:Choice xmlns:v="urn:schemas-microsoft-com:vml" Requires="v">
                <p:oleObj spid="_x0000_s569539" name="公式" r:id="rId9" imgW="594573" imgH="365666" progId="Equation.3">
                  <p:embed/>
                </p:oleObj>
              </mc:Choice>
              <mc:Fallback>
                <p:oleObj name="公式" r:id="rId9" imgW="594573" imgH="365666" progId="Equation.3">
                  <p:embed/>
                  <p:pic>
                    <p:nvPicPr>
                      <p:cNvPr id="122915" name="Object 35">
                        <a:extLst>
                          <a:ext uri="{FF2B5EF4-FFF2-40B4-BE49-F238E27FC236}">
                            <a16:creationId xmlns:a16="http://schemas.microsoft.com/office/drawing/2014/main" id="{5C1D5D20-2530-4345-804D-AABF678C9448}"/>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66750" y="2274888"/>
                        <a:ext cx="1241425" cy="785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2916" name="Text Box 36">
            <a:extLst>
              <a:ext uri="{FF2B5EF4-FFF2-40B4-BE49-F238E27FC236}">
                <a16:creationId xmlns:a16="http://schemas.microsoft.com/office/drawing/2014/main" id="{5E37317D-3FC9-4C5B-865D-24B94EBFF0D6}"/>
              </a:ext>
            </a:extLst>
          </p:cNvPr>
          <p:cNvSpPr txBox="1">
            <a:spLocks noChangeArrowheads="1"/>
          </p:cNvSpPr>
          <p:nvPr/>
        </p:nvSpPr>
        <p:spPr bwMode="auto">
          <a:xfrm>
            <a:off x="2255838" y="2479675"/>
            <a:ext cx="1811337"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300" i="1">
                <a:solidFill>
                  <a:srgbClr val="FFFF99"/>
                </a:solidFill>
              </a:rPr>
              <a:t>k </a:t>
            </a:r>
            <a:r>
              <a:rPr lang="en-US" altLang="zh-CN" sz="2300">
                <a:solidFill>
                  <a:srgbClr val="FFFF99"/>
                </a:solidFill>
              </a:rPr>
              <a:t>= 1, 2, 3, …</a:t>
            </a:r>
          </a:p>
        </p:txBody>
      </p:sp>
      <p:sp>
        <p:nvSpPr>
          <p:cNvPr id="33807" name="灯片编号占位符 1">
            <a:extLst>
              <a:ext uri="{FF2B5EF4-FFF2-40B4-BE49-F238E27FC236}">
                <a16:creationId xmlns:a16="http://schemas.microsoft.com/office/drawing/2014/main" id="{44129275-B97C-4EF7-95C2-2690413EEC0C}"/>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94838801-F509-4DEC-AAE9-D3D39856678A}" type="slidenum">
              <a:rPr lang="en-US" altLang="zh-CN" b="0">
                <a:solidFill>
                  <a:srgbClr val="FF00FF"/>
                </a:solidFill>
              </a:rPr>
              <a:pPr eaLnBrk="1" hangingPunct="1"/>
              <a:t>22</a:t>
            </a:fld>
            <a:r>
              <a:rPr lang="en-US" altLang="zh-CN" b="0">
                <a:solidFill>
                  <a:srgbClr val="FF00FF"/>
                </a:solidFill>
              </a:rPr>
              <a:t>/28</a:t>
            </a:r>
          </a:p>
        </p:txBody>
      </p:sp>
      <p:graphicFrame>
        <p:nvGraphicFramePr>
          <p:cNvPr id="4" name="Object 59">
            <a:extLst>
              <a:ext uri="{FF2B5EF4-FFF2-40B4-BE49-F238E27FC236}">
                <a16:creationId xmlns:a16="http://schemas.microsoft.com/office/drawing/2014/main" id="{E7B955AC-1F93-42F4-8455-F7585F4269DD}"/>
              </a:ext>
            </a:extLst>
          </p:cNvPr>
          <p:cNvGraphicFramePr>
            <a:graphicFrameLocks noChangeAspect="1"/>
          </p:cNvGraphicFramePr>
          <p:nvPr/>
        </p:nvGraphicFramePr>
        <p:xfrm>
          <a:off x="1276350" y="3138488"/>
          <a:ext cx="1495425" cy="455612"/>
        </p:xfrm>
        <a:graphic>
          <a:graphicData uri="http://schemas.openxmlformats.org/presentationml/2006/ole">
            <mc:AlternateContent xmlns:mc="http://schemas.openxmlformats.org/markup-compatibility/2006">
              <mc:Choice xmlns:v="urn:schemas-microsoft-com:vml" Requires="v">
                <p:oleObj spid="_x0000_s569540" name="公式" r:id="rId11" imgW="716209" imgH="198104" progId="Equation.3">
                  <p:embed/>
                </p:oleObj>
              </mc:Choice>
              <mc:Fallback>
                <p:oleObj name="公式" r:id="rId11" imgW="716209" imgH="198104" progId="Equation.3">
                  <p:embed/>
                  <p:pic>
                    <p:nvPicPr>
                      <p:cNvPr id="4" name="Object 59">
                        <a:extLst>
                          <a:ext uri="{FF2B5EF4-FFF2-40B4-BE49-F238E27FC236}">
                            <a16:creationId xmlns:a16="http://schemas.microsoft.com/office/drawing/2014/main" id="{E7B955AC-1F93-42F4-8455-F7585F4269DD}"/>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276350" y="3138488"/>
                        <a:ext cx="1495425"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9" name="Text Box 2">
            <a:extLst>
              <a:ext uri="{FF2B5EF4-FFF2-40B4-BE49-F238E27FC236}">
                <a16:creationId xmlns:a16="http://schemas.microsoft.com/office/drawing/2014/main" id="{9609ED35-E020-4E99-B2E3-B51D2DCC5A1C}"/>
              </a:ext>
            </a:extLst>
          </p:cNvPr>
          <p:cNvSpPr txBox="1">
            <a:spLocks noChangeArrowheads="1"/>
          </p:cNvSpPr>
          <p:nvPr/>
        </p:nvSpPr>
        <p:spPr bwMode="auto">
          <a:xfrm>
            <a:off x="571500" y="3900488"/>
            <a:ext cx="69627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rgbClr val="FFFF00"/>
                </a:solidFill>
                <a:ea typeface="华文中宋" panose="02010600040101010101" pitchFamily="2" charset="-122"/>
              </a:rPr>
              <a:t>小结：激光产生的条件</a:t>
            </a:r>
          </a:p>
        </p:txBody>
      </p:sp>
      <p:sp>
        <p:nvSpPr>
          <p:cNvPr id="40" name="Rectangle 34">
            <a:extLst>
              <a:ext uri="{FF2B5EF4-FFF2-40B4-BE49-F238E27FC236}">
                <a16:creationId xmlns:a16="http://schemas.microsoft.com/office/drawing/2014/main" id="{65ED35DA-0E8C-4416-BF47-010690C16194}"/>
              </a:ext>
            </a:extLst>
          </p:cNvPr>
          <p:cNvSpPr>
            <a:spLocks noChangeArrowheads="1"/>
          </p:cNvSpPr>
          <p:nvPr/>
        </p:nvSpPr>
        <p:spPr bwMode="auto">
          <a:xfrm>
            <a:off x="890588" y="4408488"/>
            <a:ext cx="7786687"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pPr>
            <a:r>
              <a:rPr lang="en-US" altLang="zh-CN" dirty="0">
                <a:solidFill>
                  <a:schemeClr val="bg1"/>
                </a:solidFill>
              </a:rPr>
              <a:t>1. </a:t>
            </a:r>
            <a:r>
              <a:rPr lang="zh-CN" altLang="en-US" dirty="0">
                <a:solidFill>
                  <a:schemeClr val="bg1"/>
                </a:solidFill>
              </a:rPr>
              <a:t>介质内部能实现粒子数反转；</a:t>
            </a:r>
          </a:p>
        </p:txBody>
      </p:sp>
      <p:sp>
        <p:nvSpPr>
          <p:cNvPr id="41" name="Rectangle 34">
            <a:extLst>
              <a:ext uri="{FF2B5EF4-FFF2-40B4-BE49-F238E27FC236}">
                <a16:creationId xmlns:a16="http://schemas.microsoft.com/office/drawing/2014/main" id="{A5730B77-D936-4B1D-ACB1-B76A5444FC3D}"/>
              </a:ext>
            </a:extLst>
          </p:cNvPr>
          <p:cNvSpPr>
            <a:spLocks noChangeArrowheads="1"/>
          </p:cNvSpPr>
          <p:nvPr/>
        </p:nvSpPr>
        <p:spPr bwMode="auto">
          <a:xfrm>
            <a:off x="890588" y="5000625"/>
            <a:ext cx="7786687" cy="50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pPr>
            <a:r>
              <a:rPr lang="en-US" altLang="zh-CN">
                <a:solidFill>
                  <a:schemeClr val="bg1"/>
                </a:solidFill>
              </a:rPr>
              <a:t>2. </a:t>
            </a:r>
            <a:r>
              <a:rPr lang="zh-CN" altLang="en-US">
                <a:solidFill>
                  <a:schemeClr val="bg1"/>
                </a:solidFill>
              </a:rPr>
              <a:t>满足阈值条件，介质增益大于介质损耗。</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22882"/>
                                        </p:tgtEl>
                                        <p:attrNameLst>
                                          <p:attrName>style.visibility</p:attrName>
                                        </p:attrNameLst>
                                      </p:cBhvr>
                                      <p:to>
                                        <p:strVal val="visible"/>
                                      </p:to>
                                    </p:set>
                                    <p:animEffect transition="in" filter="dissolve">
                                      <p:cBhvr>
                                        <p:cTn id="7" dur="500"/>
                                        <p:tgtEl>
                                          <p:spTgt spid="122882"/>
                                        </p:tgtEl>
                                      </p:cBhvr>
                                    </p:animEffect>
                                  </p:childTnLst>
                                </p:cTn>
                              </p:par>
                            </p:childTnLst>
                          </p:cTn>
                        </p:par>
                        <p:par>
                          <p:cTn id="8" fill="hold" nodeType="afterGroup">
                            <p:stCondLst>
                              <p:cond delay="500"/>
                            </p:stCondLst>
                            <p:childTnLst>
                              <p:par>
                                <p:cTn id="9" presetID="9" presetClass="entr" presetSubtype="0" fill="hold" nodeType="afterEffect">
                                  <p:stCondLst>
                                    <p:cond delay="0"/>
                                  </p:stCondLst>
                                  <p:childTnLst>
                                    <p:set>
                                      <p:cBhvr>
                                        <p:cTn id="10" dur="1" fill="hold">
                                          <p:stCondLst>
                                            <p:cond delay="0"/>
                                          </p:stCondLst>
                                        </p:cTn>
                                        <p:tgtEl>
                                          <p:spTgt spid="122883"/>
                                        </p:tgtEl>
                                        <p:attrNameLst>
                                          <p:attrName>style.visibility</p:attrName>
                                        </p:attrNameLst>
                                      </p:cBhvr>
                                      <p:to>
                                        <p:strVal val="visible"/>
                                      </p:to>
                                    </p:set>
                                    <p:animEffect transition="in" filter="dissolve">
                                      <p:cBhvr>
                                        <p:cTn id="11" dur="500"/>
                                        <p:tgtEl>
                                          <p:spTgt spid="122883"/>
                                        </p:tgtEl>
                                      </p:cBhvr>
                                    </p:animEffect>
                                  </p:childTnLst>
                                </p:cTn>
                              </p:par>
                              <p:par>
                                <p:cTn id="12" presetID="9" presetClass="entr" presetSubtype="0" fill="hold" nodeType="withEffect">
                                  <p:stCondLst>
                                    <p:cond delay="0"/>
                                  </p:stCondLst>
                                  <p:childTnLst>
                                    <p:set>
                                      <p:cBhvr>
                                        <p:cTn id="13" dur="1" fill="hold">
                                          <p:stCondLst>
                                            <p:cond delay="0"/>
                                          </p:stCondLst>
                                        </p:cTn>
                                        <p:tgtEl>
                                          <p:spTgt spid="122909"/>
                                        </p:tgtEl>
                                        <p:attrNameLst>
                                          <p:attrName>style.visibility</p:attrName>
                                        </p:attrNameLst>
                                      </p:cBhvr>
                                      <p:to>
                                        <p:strVal val="visible"/>
                                      </p:to>
                                    </p:set>
                                    <p:animEffect transition="in" filter="dissolve">
                                      <p:cBhvr>
                                        <p:cTn id="14" dur="500"/>
                                        <p:tgtEl>
                                          <p:spTgt spid="122909"/>
                                        </p:tgtEl>
                                      </p:cBhvr>
                                    </p:animEffect>
                                  </p:childTnLst>
                                </p:cTn>
                              </p:par>
                              <p:par>
                                <p:cTn id="15" presetID="9" presetClass="entr" presetSubtype="0" fill="hold" nodeType="withEffect">
                                  <p:stCondLst>
                                    <p:cond delay="0"/>
                                  </p:stCondLst>
                                  <p:childTnLst>
                                    <p:set>
                                      <p:cBhvr>
                                        <p:cTn id="16" dur="1" fill="hold">
                                          <p:stCondLst>
                                            <p:cond delay="0"/>
                                          </p:stCondLst>
                                        </p:cTn>
                                        <p:tgtEl>
                                          <p:spTgt spid="122911"/>
                                        </p:tgtEl>
                                        <p:attrNameLst>
                                          <p:attrName>style.visibility</p:attrName>
                                        </p:attrNameLst>
                                      </p:cBhvr>
                                      <p:to>
                                        <p:strVal val="visible"/>
                                      </p:to>
                                    </p:set>
                                    <p:animEffect transition="in" filter="dissolve">
                                      <p:cBhvr>
                                        <p:cTn id="17" dur="500"/>
                                        <p:tgtEl>
                                          <p:spTgt spid="122911"/>
                                        </p:tgtEl>
                                      </p:cBhvr>
                                    </p:animEffect>
                                  </p:childTnLst>
                                </p:cTn>
                              </p:par>
                              <p:par>
                                <p:cTn id="18" presetID="9" presetClass="entr" presetSubtype="0" fill="hold" nodeType="withEffect">
                                  <p:stCondLst>
                                    <p:cond delay="0"/>
                                  </p:stCondLst>
                                  <p:childTnLst>
                                    <p:set>
                                      <p:cBhvr>
                                        <p:cTn id="19" dur="1" fill="hold">
                                          <p:stCondLst>
                                            <p:cond delay="0"/>
                                          </p:stCondLst>
                                        </p:cTn>
                                        <p:tgtEl>
                                          <p:spTgt spid="122913"/>
                                        </p:tgtEl>
                                        <p:attrNameLst>
                                          <p:attrName>style.visibility</p:attrName>
                                        </p:attrNameLst>
                                      </p:cBhvr>
                                      <p:to>
                                        <p:strVal val="visible"/>
                                      </p:to>
                                    </p:set>
                                    <p:animEffect transition="in" filter="dissolve">
                                      <p:cBhvr>
                                        <p:cTn id="20" dur="500"/>
                                        <p:tgtEl>
                                          <p:spTgt spid="122913"/>
                                        </p:tgtEl>
                                      </p:cBhvr>
                                    </p:animEffect>
                                  </p:childTnLst>
                                </p:cTn>
                              </p:par>
                              <p:par>
                                <p:cTn id="21" presetID="9" presetClass="entr" presetSubtype="0" fill="hold" nodeType="withEffect">
                                  <p:stCondLst>
                                    <p:cond delay="0"/>
                                  </p:stCondLst>
                                  <p:childTnLst>
                                    <p:set>
                                      <p:cBhvr>
                                        <p:cTn id="22" dur="1" fill="hold">
                                          <p:stCondLst>
                                            <p:cond delay="0"/>
                                          </p:stCondLst>
                                        </p:cTn>
                                        <p:tgtEl>
                                          <p:spTgt spid="122910"/>
                                        </p:tgtEl>
                                        <p:attrNameLst>
                                          <p:attrName>style.visibility</p:attrName>
                                        </p:attrNameLst>
                                      </p:cBhvr>
                                      <p:to>
                                        <p:strVal val="visible"/>
                                      </p:to>
                                    </p:set>
                                    <p:animEffect transition="in" filter="dissolve">
                                      <p:cBhvr>
                                        <p:cTn id="23" dur="500"/>
                                        <p:tgtEl>
                                          <p:spTgt spid="122910"/>
                                        </p:tgtEl>
                                      </p:cBhvr>
                                    </p:animEffect>
                                  </p:childTnLst>
                                </p:cTn>
                              </p:par>
                              <p:par>
                                <p:cTn id="24" presetID="9" presetClass="entr" presetSubtype="0" fill="hold" nodeType="withEffect">
                                  <p:stCondLst>
                                    <p:cond delay="0"/>
                                  </p:stCondLst>
                                  <p:childTnLst>
                                    <p:set>
                                      <p:cBhvr>
                                        <p:cTn id="25" dur="1" fill="hold">
                                          <p:stCondLst>
                                            <p:cond delay="0"/>
                                          </p:stCondLst>
                                        </p:cTn>
                                        <p:tgtEl>
                                          <p:spTgt spid="122912"/>
                                        </p:tgtEl>
                                        <p:attrNameLst>
                                          <p:attrName>style.visibility</p:attrName>
                                        </p:attrNameLst>
                                      </p:cBhvr>
                                      <p:to>
                                        <p:strVal val="visible"/>
                                      </p:to>
                                    </p:set>
                                    <p:animEffect transition="in" filter="dissolve">
                                      <p:cBhvr>
                                        <p:cTn id="26" dur="500"/>
                                        <p:tgtEl>
                                          <p:spTgt spid="122912"/>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122884"/>
                                        </p:tgtEl>
                                        <p:attrNameLst>
                                          <p:attrName>style.visibility</p:attrName>
                                        </p:attrNameLst>
                                      </p:cBhvr>
                                      <p:to>
                                        <p:strVal val="visible"/>
                                      </p:to>
                                    </p:set>
                                    <p:animEffect transition="in" filter="wipe(left)">
                                      <p:cBhvr>
                                        <p:cTn id="31" dur="500"/>
                                        <p:tgtEl>
                                          <p:spTgt spid="122884"/>
                                        </p:tgtEl>
                                      </p:cBhvr>
                                    </p:animEffect>
                                  </p:childTnLst>
                                </p:cTn>
                              </p:par>
                            </p:childTnLst>
                          </p:cTn>
                        </p:par>
                        <p:par>
                          <p:cTn id="32" fill="hold" nodeType="afterGroup">
                            <p:stCondLst>
                              <p:cond delay="500"/>
                            </p:stCondLst>
                            <p:childTnLst>
                              <p:par>
                                <p:cTn id="33" presetID="22" presetClass="entr" presetSubtype="8" fill="hold" nodeType="afterEffect">
                                  <p:stCondLst>
                                    <p:cond delay="300"/>
                                  </p:stCondLst>
                                  <p:childTnLst>
                                    <p:set>
                                      <p:cBhvr>
                                        <p:cTn id="34" dur="1" fill="hold">
                                          <p:stCondLst>
                                            <p:cond delay="0"/>
                                          </p:stCondLst>
                                        </p:cTn>
                                        <p:tgtEl>
                                          <p:spTgt spid="2"/>
                                        </p:tgtEl>
                                        <p:attrNameLst>
                                          <p:attrName>style.visibility</p:attrName>
                                        </p:attrNameLst>
                                      </p:cBhvr>
                                      <p:to>
                                        <p:strVal val="visible"/>
                                      </p:to>
                                    </p:set>
                                    <p:animEffect transition="in" filter="wipe(left)">
                                      <p:cBhvr>
                                        <p:cTn id="35" dur="500"/>
                                        <p:tgtEl>
                                          <p:spTgt spid="2"/>
                                        </p:tgtEl>
                                      </p:cBhvr>
                                    </p:animEffect>
                                  </p:childTnLst>
                                </p:cTn>
                              </p:par>
                            </p:childTnLst>
                          </p:cTn>
                        </p:par>
                        <p:par>
                          <p:cTn id="36" fill="hold" nodeType="afterGroup">
                            <p:stCondLst>
                              <p:cond delay="1300"/>
                            </p:stCondLst>
                            <p:childTnLst>
                              <p:par>
                                <p:cTn id="37" presetID="22" presetClass="entr" presetSubtype="8" fill="hold" nodeType="afterEffect">
                                  <p:stCondLst>
                                    <p:cond delay="300"/>
                                  </p:stCondLst>
                                  <p:childTnLst>
                                    <p:set>
                                      <p:cBhvr>
                                        <p:cTn id="38" dur="1" fill="hold">
                                          <p:stCondLst>
                                            <p:cond delay="0"/>
                                          </p:stCondLst>
                                        </p:cTn>
                                        <p:tgtEl>
                                          <p:spTgt spid="3"/>
                                        </p:tgtEl>
                                        <p:attrNameLst>
                                          <p:attrName>style.visibility</p:attrName>
                                        </p:attrNameLst>
                                      </p:cBhvr>
                                      <p:to>
                                        <p:strVal val="visible"/>
                                      </p:to>
                                    </p:set>
                                    <p:animEffect transition="in" filter="wipe(left)">
                                      <p:cBhvr>
                                        <p:cTn id="39" dur="500"/>
                                        <p:tgtEl>
                                          <p:spTgt spid="3"/>
                                        </p:tgtEl>
                                      </p:cBhvr>
                                    </p:animEffect>
                                  </p:childTnLst>
                                </p:cTn>
                              </p:par>
                            </p:childTnLst>
                          </p:cTn>
                        </p:par>
                        <p:par>
                          <p:cTn id="40" fill="hold" nodeType="withGroup">
                            <p:stCondLst>
                              <p:cond delay="2100"/>
                            </p:stCondLst>
                            <p:childTnLst>
                              <p:par>
                                <p:cTn id="41" presetID="22" presetClass="entr" presetSubtype="8" fill="hold" nodeType="afterEffect">
                                  <p:stCondLst>
                                    <p:cond delay="0"/>
                                  </p:stCondLst>
                                  <p:childTnLst>
                                    <p:set>
                                      <p:cBhvr>
                                        <p:cTn id="42" dur="1" fill="hold">
                                          <p:stCondLst>
                                            <p:cond delay="0"/>
                                          </p:stCondLst>
                                        </p:cTn>
                                        <p:tgtEl>
                                          <p:spTgt spid="122914">
                                            <p:txEl>
                                              <p:pRg st="0" end="0"/>
                                            </p:txEl>
                                          </p:spTgt>
                                        </p:tgtEl>
                                        <p:attrNameLst>
                                          <p:attrName>style.visibility</p:attrName>
                                        </p:attrNameLst>
                                      </p:cBhvr>
                                      <p:to>
                                        <p:strVal val="visible"/>
                                      </p:to>
                                    </p:set>
                                    <p:animEffect transition="in" filter="wipe(left)">
                                      <p:cBhvr>
                                        <p:cTn id="43" dur="500"/>
                                        <p:tgtEl>
                                          <p:spTgt spid="122914">
                                            <p:txEl>
                                              <p:pRg st="0" end="0"/>
                                            </p:txEl>
                                          </p:spTgt>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9" presetClass="entr" presetSubtype="0" fill="hold" nodeType="clickEffect">
                                  <p:stCondLst>
                                    <p:cond delay="0"/>
                                  </p:stCondLst>
                                  <p:childTnLst>
                                    <p:set>
                                      <p:cBhvr>
                                        <p:cTn id="47" dur="1" fill="hold">
                                          <p:stCondLst>
                                            <p:cond delay="0"/>
                                          </p:stCondLst>
                                        </p:cTn>
                                        <p:tgtEl>
                                          <p:spTgt spid="122915"/>
                                        </p:tgtEl>
                                        <p:attrNameLst>
                                          <p:attrName>style.visibility</p:attrName>
                                        </p:attrNameLst>
                                      </p:cBhvr>
                                      <p:to>
                                        <p:strVal val="visible"/>
                                      </p:to>
                                    </p:set>
                                    <p:animEffect transition="in" filter="dissolve">
                                      <p:cBhvr>
                                        <p:cTn id="48" dur="500"/>
                                        <p:tgtEl>
                                          <p:spTgt spid="122915"/>
                                        </p:tgtEl>
                                      </p:cBhvr>
                                    </p:animEffect>
                                  </p:childTnLst>
                                </p:cTn>
                              </p:par>
                            </p:childTnLst>
                          </p:cTn>
                        </p:par>
                        <p:par>
                          <p:cTn id="49" fill="hold" nodeType="afterGroup">
                            <p:stCondLst>
                              <p:cond delay="500"/>
                            </p:stCondLst>
                            <p:childTnLst>
                              <p:par>
                                <p:cTn id="50" presetID="1" presetClass="entr" presetSubtype="0" fill="hold" grpId="0" nodeType="afterEffect">
                                  <p:stCondLst>
                                    <p:cond delay="0"/>
                                  </p:stCondLst>
                                  <p:childTnLst>
                                    <p:set>
                                      <p:cBhvr>
                                        <p:cTn id="51" dur="1" fill="hold">
                                          <p:stCondLst>
                                            <p:cond delay="0"/>
                                          </p:stCondLst>
                                        </p:cTn>
                                        <p:tgtEl>
                                          <p:spTgt spid="122916"/>
                                        </p:tgtEl>
                                        <p:attrNameLst>
                                          <p:attrName>style.visibility</p:attrName>
                                        </p:attrNameLst>
                                      </p:cBhvr>
                                      <p:to>
                                        <p:strVal val="visible"/>
                                      </p:to>
                                    </p:set>
                                  </p:childTnLst>
                                </p:cTn>
                              </p:par>
                            </p:childTnLst>
                          </p:cTn>
                        </p:par>
                      </p:childTnLst>
                    </p:cTn>
                  </p:par>
                  <p:par>
                    <p:cTn id="52" fill="hold" nodeType="clickPar">
                      <p:stCondLst>
                        <p:cond delay="indefinite"/>
                      </p:stCondLst>
                      <p:childTnLst>
                        <p:par>
                          <p:cTn id="53" fill="hold" nodeType="withGroup">
                            <p:stCondLst>
                              <p:cond delay="0"/>
                            </p:stCondLst>
                            <p:childTnLst>
                              <p:par>
                                <p:cTn id="54" presetID="9" presetClass="entr" presetSubtype="0" fill="hold" nodeType="clickEffect">
                                  <p:stCondLst>
                                    <p:cond delay="0"/>
                                  </p:stCondLst>
                                  <p:childTnLst>
                                    <p:set>
                                      <p:cBhvr>
                                        <p:cTn id="55" dur="1" fill="hold">
                                          <p:stCondLst>
                                            <p:cond delay="0"/>
                                          </p:stCondLst>
                                        </p:cTn>
                                        <p:tgtEl>
                                          <p:spTgt spid="4"/>
                                        </p:tgtEl>
                                        <p:attrNameLst>
                                          <p:attrName>style.visibility</p:attrName>
                                        </p:attrNameLst>
                                      </p:cBhvr>
                                      <p:to>
                                        <p:strVal val="visible"/>
                                      </p:to>
                                    </p:set>
                                    <p:animEffect transition="in" filter="dissolve">
                                      <p:cBhvr>
                                        <p:cTn id="56" dur="500"/>
                                        <p:tgtEl>
                                          <p:spTgt spid="4"/>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9" presetClass="entr" presetSubtype="0" fill="hold" grpId="0" nodeType="clickEffect">
                                  <p:stCondLst>
                                    <p:cond delay="0"/>
                                  </p:stCondLst>
                                  <p:childTnLst>
                                    <p:set>
                                      <p:cBhvr>
                                        <p:cTn id="60" dur="1" fill="hold">
                                          <p:stCondLst>
                                            <p:cond delay="0"/>
                                          </p:stCondLst>
                                        </p:cTn>
                                        <p:tgtEl>
                                          <p:spTgt spid="39"/>
                                        </p:tgtEl>
                                        <p:attrNameLst>
                                          <p:attrName>style.visibility</p:attrName>
                                        </p:attrNameLst>
                                      </p:cBhvr>
                                      <p:to>
                                        <p:strVal val="visible"/>
                                      </p:to>
                                    </p:set>
                                    <p:animEffect transition="in" filter="dissolve">
                                      <p:cBhvr>
                                        <p:cTn id="61" dur="500"/>
                                        <p:tgtEl>
                                          <p:spTgt spid="39"/>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8" fill="hold" nodeType="clickEffect">
                                  <p:stCondLst>
                                    <p:cond delay="0"/>
                                  </p:stCondLst>
                                  <p:childTnLst>
                                    <p:set>
                                      <p:cBhvr>
                                        <p:cTn id="65" dur="1" fill="hold">
                                          <p:stCondLst>
                                            <p:cond delay="0"/>
                                          </p:stCondLst>
                                        </p:cTn>
                                        <p:tgtEl>
                                          <p:spTgt spid="40">
                                            <p:txEl>
                                              <p:pRg st="0" end="0"/>
                                            </p:txEl>
                                          </p:spTgt>
                                        </p:tgtEl>
                                        <p:attrNameLst>
                                          <p:attrName>style.visibility</p:attrName>
                                        </p:attrNameLst>
                                      </p:cBhvr>
                                      <p:to>
                                        <p:strVal val="visible"/>
                                      </p:to>
                                    </p:set>
                                    <p:animEffect transition="in" filter="wipe(left)">
                                      <p:cBhvr>
                                        <p:cTn id="66" dur="500"/>
                                        <p:tgtEl>
                                          <p:spTgt spid="40">
                                            <p:txEl>
                                              <p:pRg st="0" end="0"/>
                                            </p:txEl>
                                          </p:spTgt>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8" fill="hold" nodeType="clickEffect">
                                  <p:stCondLst>
                                    <p:cond delay="0"/>
                                  </p:stCondLst>
                                  <p:childTnLst>
                                    <p:set>
                                      <p:cBhvr>
                                        <p:cTn id="70" dur="1" fill="hold">
                                          <p:stCondLst>
                                            <p:cond delay="0"/>
                                          </p:stCondLst>
                                        </p:cTn>
                                        <p:tgtEl>
                                          <p:spTgt spid="41">
                                            <p:txEl>
                                              <p:pRg st="0" end="0"/>
                                            </p:txEl>
                                          </p:spTgt>
                                        </p:tgtEl>
                                        <p:attrNameLst>
                                          <p:attrName>style.visibility</p:attrName>
                                        </p:attrNameLst>
                                      </p:cBhvr>
                                      <p:to>
                                        <p:strVal val="visible"/>
                                      </p:to>
                                    </p:set>
                                    <p:animEffect transition="in" filter="wipe(left)">
                                      <p:cBhvr>
                                        <p:cTn id="71" dur="500"/>
                                        <p:tgtEl>
                                          <p:spTgt spid="4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882" grpId="0" autoUpdateAnimBg="0"/>
      <p:bldP spid="122916" grpId="0"/>
      <p:bldP spid="39" grpId="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8" name="Picture 2" descr="氦氖激光器">
            <a:extLst>
              <a:ext uri="{FF2B5EF4-FFF2-40B4-BE49-F238E27FC236}">
                <a16:creationId xmlns:a16="http://schemas.microsoft.com/office/drawing/2014/main" id="{D20BAF1E-DBC2-42F7-A2CD-A1A845263AB6}"/>
              </a:ext>
            </a:extLst>
          </p:cNvPr>
          <p:cNvPicPr>
            <a:picLocks noChangeAspect="1" noChangeArrowheads="1"/>
          </p:cNvPicPr>
          <p:nvPr/>
        </p:nvPicPr>
        <p:blipFill>
          <a:blip r:embed="rId3">
            <a:clrChange>
              <a:clrFrom>
                <a:srgbClr val="006599"/>
              </a:clrFrom>
              <a:clrTo>
                <a:srgbClr val="006599">
                  <a:alpha val="0"/>
                </a:srgbClr>
              </a:clrTo>
            </a:clrChange>
            <a:extLst>
              <a:ext uri="{28A0092B-C50C-407E-A947-70E740481C1C}">
                <a14:useLocalDpi xmlns:a14="http://schemas.microsoft.com/office/drawing/2010/main" val="0"/>
              </a:ext>
            </a:extLst>
          </a:blip>
          <a:srcRect/>
          <a:stretch>
            <a:fillRect/>
          </a:stretch>
        </p:blipFill>
        <p:spPr bwMode="auto">
          <a:xfrm>
            <a:off x="1071563" y="1196975"/>
            <a:ext cx="7199312" cy="3375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19" name="Text Box 3">
            <a:extLst>
              <a:ext uri="{FF2B5EF4-FFF2-40B4-BE49-F238E27FC236}">
                <a16:creationId xmlns:a16="http://schemas.microsoft.com/office/drawing/2014/main" id="{FAD660CF-6D26-4ACE-A502-B36EC053B7B5}"/>
              </a:ext>
            </a:extLst>
          </p:cNvPr>
          <p:cNvSpPr txBox="1">
            <a:spLocks noChangeArrowheads="1"/>
          </p:cNvSpPr>
          <p:nvPr/>
        </p:nvSpPr>
        <p:spPr bwMode="auto">
          <a:xfrm>
            <a:off x="3319463" y="3090863"/>
            <a:ext cx="2179637"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1600">
                <a:solidFill>
                  <a:srgbClr val="FFFF66"/>
                </a:solidFill>
              </a:rPr>
              <a:t>高压</a:t>
            </a:r>
          </a:p>
          <a:p>
            <a:pPr algn="ctr" eaLnBrk="1" hangingPunct="1"/>
            <a:r>
              <a:rPr lang="zh-CN" altLang="en-US" sz="1600">
                <a:solidFill>
                  <a:srgbClr val="FFFF66"/>
                </a:solidFill>
              </a:rPr>
              <a:t>直流电源</a:t>
            </a:r>
          </a:p>
        </p:txBody>
      </p:sp>
      <p:grpSp>
        <p:nvGrpSpPr>
          <p:cNvPr id="34820" name="Group 4">
            <a:extLst>
              <a:ext uri="{FF2B5EF4-FFF2-40B4-BE49-F238E27FC236}">
                <a16:creationId xmlns:a16="http://schemas.microsoft.com/office/drawing/2014/main" id="{F8D567E0-A439-4CCB-B348-D2DF9006DF0D}"/>
              </a:ext>
            </a:extLst>
          </p:cNvPr>
          <p:cNvGrpSpPr>
            <a:grpSpLocks/>
          </p:cNvGrpSpPr>
          <p:nvPr/>
        </p:nvGrpSpPr>
        <p:grpSpPr bwMode="auto">
          <a:xfrm>
            <a:off x="714375" y="4308475"/>
            <a:ext cx="7056438" cy="477838"/>
            <a:chOff x="720" y="3456"/>
            <a:chExt cx="4244" cy="301"/>
          </a:xfrm>
        </p:grpSpPr>
        <p:sp>
          <p:nvSpPr>
            <p:cNvPr id="34825" name="Text Box 5">
              <a:extLst>
                <a:ext uri="{FF2B5EF4-FFF2-40B4-BE49-F238E27FC236}">
                  <a16:creationId xmlns:a16="http://schemas.microsoft.com/office/drawing/2014/main" id="{7C53B5CD-6456-43A1-9332-5287F35DD399}"/>
                </a:ext>
              </a:extLst>
            </p:cNvPr>
            <p:cNvSpPr txBox="1">
              <a:spLocks noChangeArrowheads="1"/>
            </p:cNvSpPr>
            <p:nvPr/>
          </p:nvSpPr>
          <p:spPr bwMode="auto">
            <a:xfrm>
              <a:off x="720" y="3469"/>
              <a:ext cx="139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hlink"/>
                  </a:solidFill>
                </a:rPr>
                <a:t>工作物质：</a:t>
              </a:r>
              <a:r>
                <a:rPr lang="zh-CN" altLang="en-US">
                  <a:solidFill>
                    <a:srgbClr val="00FFFF"/>
                  </a:solidFill>
                </a:rPr>
                <a:t>氖气</a:t>
              </a:r>
            </a:p>
          </p:txBody>
        </p:sp>
        <p:sp>
          <p:nvSpPr>
            <p:cNvPr id="34826" name="Text Box 6">
              <a:extLst>
                <a:ext uri="{FF2B5EF4-FFF2-40B4-BE49-F238E27FC236}">
                  <a16:creationId xmlns:a16="http://schemas.microsoft.com/office/drawing/2014/main" id="{283858DA-372C-4AD8-A845-D2F59225A55D}"/>
                </a:ext>
              </a:extLst>
            </p:cNvPr>
            <p:cNvSpPr txBox="1">
              <a:spLocks noChangeArrowheads="1"/>
            </p:cNvSpPr>
            <p:nvPr/>
          </p:nvSpPr>
          <p:spPr bwMode="auto">
            <a:xfrm>
              <a:off x="2736" y="3456"/>
              <a:ext cx="22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hlink"/>
                  </a:solidFill>
                </a:rPr>
                <a:t>激励方式：</a:t>
              </a:r>
              <a:r>
                <a:rPr lang="zh-CN" altLang="en-US">
                  <a:solidFill>
                    <a:srgbClr val="00FFFF"/>
                  </a:solidFill>
                </a:rPr>
                <a:t>直流气体放电</a:t>
              </a:r>
            </a:p>
          </p:txBody>
        </p:sp>
      </p:grpSp>
      <p:sp>
        <p:nvSpPr>
          <p:cNvPr id="34821" name="Text Box 7">
            <a:extLst>
              <a:ext uri="{FF2B5EF4-FFF2-40B4-BE49-F238E27FC236}">
                <a16:creationId xmlns:a16="http://schemas.microsoft.com/office/drawing/2014/main" id="{AC496CE9-292F-4A33-A082-606BD468574E}"/>
              </a:ext>
            </a:extLst>
          </p:cNvPr>
          <p:cNvSpPr txBox="1">
            <a:spLocks noChangeArrowheads="1"/>
          </p:cNvSpPr>
          <p:nvPr/>
        </p:nvSpPr>
        <p:spPr bwMode="auto">
          <a:xfrm>
            <a:off x="714375" y="971550"/>
            <a:ext cx="4392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kumimoji="0" lang="en-US" altLang="zh-CN" dirty="0">
                <a:solidFill>
                  <a:srgbClr val="66FFFF"/>
                </a:solidFill>
              </a:rPr>
              <a:t>1. </a:t>
            </a:r>
            <a:r>
              <a:rPr kumimoji="0" lang="zh-CN" altLang="en-US" dirty="0">
                <a:solidFill>
                  <a:srgbClr val="66FFFF"/>
                </a:solidFill>
              </a:rPr>
              <a:t>氦氖激</a:t>
            </a:r>
            <a:r>
              <a:rPr lang="zh-CN" altLang="en-US" dirty="0">
                <a:solidFill>
                  <a:srgbClr val="66FFFF"/>
                </a:solidFill>
              </a:rPr>
              <a:t>光器</a:t>
            </a:r>
          </a:p>
        </p:txBody>
      </p:sp>
      <p:sp>
        <p:nvSpPr>
          <p:cNvPr id="34822" name="Text Box 8">
            <a:extLst>
              <a:ext uri="{FF2B5EF4-FFF2-40B4-BE49-F238E27FC236}">
                <a16:creationId xmlns:a16="http://schemas.microsoft.com/office/drawing/2014/main" id="{848BEA1B-D279-41CD-AB4B-5F70C9D1FB54}"/>
              </a:ext>
            </a:extLst>
          </p:cNvPr>
          <p:cNvSpPr txBox="1">
            <a:spLocks noChangeArrowheads="1"/>
          </p:cNvSpPr>
          <p:nvPr/>
        </p:nvSpPr>
        <p:spPr bwMode="auto">
          <a:xfrm>
            <a:off x="684213" y="4929188"/>
            <a:ext cx="7816850" cy="968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pPr>
            <a:r>
              <a:rPr lang="zh-CN" altLang="en-US" dirty="0">
                <a:solidFill>
                  <a:schemeClr val="hlink"/>
                </a:solidFill>
              </a:rPr>
              <a:t>电子经电场加速后，与</a:t>
            </a:r>
            <a:r>
              <a:rPr lang="zh-CN" altLang="en-US" dirty="0">
                <a:solidFill>
                  <a:schemeClr val="bg1"/>
                </a:solidFill>
              </a:rPr>
              <a:t> </a:t>
            </a:r>
            <a:r>
              <a:rPr lang="en-US" altLang="zh-CN" dirty="0">
                <a:solidFill>
                  <a:srgbClr val="00FFFF"/>
                </a:solidFill>
              </a:rPr>
              <a:t>He</a:t>
            </a:r>
            <a:r>
              <a:rPr lang="en-US" altLang="zh-CN" dirty="0">
                <a:solidFill>
                  <a:schemeClr val="bg1"/>
                </a:solidFill>
              </a:rPr>
              <a:t> </a:t>
            </a:r>
            <a:r>
              <a:rPr lang="zh-CN" altLang="en-US" dirty="0">
                <a:solidFill>
                  <a:schemeClr val="hlink"/>
                </a:solidFill>
              </a:rPr>
              <a:t>碰撞。处于激发态的</a:t>
            </a:r>
            <a:r>
              <a:rPr lang="zh-CN" altLang="en-US" dirty="0">
                <a:solidFill>
                  <a:schemeClr val="bg1"/>
                </a:solidFill>
              </a:rPr>
              <a:t> </a:t>
            </a:r>
            <a:r>
              <a:rPr lang="en-US" altLang="zh-CN" dirty="0">
                <a:solidFill>
                  <a:srgbClr val="00FFFF"/>
                </a:solidFill>
              </a:rPr>
              <a:t>He </a:t>
            </a:r>
            <a:r>
              <a:rPr lang="zh-CN" altLang="en-US" dirty="0">
                <a:solidFill>
                  <a:schemeClr val="hlink"/>
                </a:solidFill>
              </a:rPr>
              <a:t>与</a:t>
            </a:r>
            <a:r>
              <a:rPr lang="zh-CN" altLang="en-US" dirty="0">
                <a:solidFill>
                  <a:schemeClr val="bg1"/>
                </a:solidFill>
              </a:rPr>
              <a:t> </a:t>
            </a:r>
            <a:r>
              <a:rPr lang="en-US" altLang="zh-CN" dirty="0">
                <a:solidFill>
                  <a:srgbClr val="00FFFF"/>
                </a:solidFill>
              </a:rPr>
              <a:t>Ne</a:t>
            </a:r>
            <a:r>
              <a:rPr lang="zh-CN" altLang="en-US" dirty="0">
                <a:solidFill>
                  <a:schemeClr val="hlink"/>
                </a:solidFill>
              </a:rPr>
              <a:t>碰撞，把能量传递给</a:t>
            </a:r>
            <a:r>
              <a:rPr lang="zh-CN" altLang="en-US" dirty="0">
                <a:solidFill>
                  <a:schemeClr val="bg1"/>
                </a:solidFill>
              </a:rPr>
              <a:t> </a:t>
            </a:r>
            <a:r>
              <a:rPr lang="en-US" altLang="zh-CN" dirty="0">
                <a:solidFill>
                  <a:srgbClr val="00FFFF"/>
                </a:solidFill>
              </a:rPr>
              <a:t>Ne</a:t>
            </a:r>
            <a:r>
              <a:rPr lang="zh-CN" altLang="en-US" dirty="0">
                <a:solidFill>
                  <a:schemeClr val="hlink"/>
                </a:solidFill>
              </a:rPr>
              <a:t>，使它实现粒子数反转分布。</a:t>
            </a:r>
          </a:p>
        </p:txBody>
      </p:sp>
      <p:sp>
        <p:nvSpPr>
          <p:cNvPr id="34823" name="Text Box 9">
            <a:extLst>
              <a:ext uri="{FF2B5EF4-FFF2-40B4-BE49-F238E27FC236}">
                <a16:creationId xmlns:a16="http://schemas.microsoft.com/office/drawing/2014/main" id="{5A71B4D9-7D6D-48E1-AC75-4D92D6283603}"/>
              </a:ext>
            </a:extLst>
          </p:cNvPr>
          <p:cNvSpPr txBox="1">
            <a:spLocks noChangeArrowheads="1"/>
          </p:cNvSpPr>
          <p:nvPr/>
        </p:nvSpPr>
        <p:spPr bwMode="auto">
          <a:xfrm>
            <a:off x="520700" y="377825"/>
            <a:ext cx="3408363" cy="47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500">
                <a:solidFill>
                  <a:srgbClr val="FFFF00"/>
                </a:solidFill>
                <a:latin typeface="宋体" panose="02010600030101010101" pitchFamily="2" charset="-122"/>
              </a:rPr>
              <a:t>四</a:t>
            </a:r>
            <a:r>
              <a:rPr lang="en-US" altLang="zh-CN" sz="2500">
                <a:solidFill>
                  <a:srgbClr val="FFFF00"/>
                </a:solidFill>
                <a:latin typeface="宋体" panose="02010600030101010101" pitchFamily="2" charset="-122"/>
              </a:rPr>
              <a:t>. </a:t>
            </a:r>
            <a:r>
              <a:rPr lang="zh-CN" altLang="en-US" sz="2500">
                <a:solidFill>
                  <a:srgbClr val="FFFF00"/>
                </a:solidFill>
                <a:latin typeface="宋体" panose="02010600030101010101" pitchFamily="2" charset="-122"/>
              </a:rPr>
              <a:t>几种常见的激光器</a:t>
            </a:r>
          </a:p>
        </p:txBody>
      </p:sp>
      <p:sp>
        <p:nvSpPr>
          <p:cNvPr id="34824" name="灯片编号占位符 1">
            <a:extLst>
              <a:ext uri="{FF2B5EF4-FFF2-40B4-BE49-F238E27FC236}">
                <a16:creationId xmlns:a16="http://schemas.microsoft.com/office/drawing/2014/main" id="{2634EFE6-23E9-419B-AA1F-422911AB7996}"/>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A116A0FB-1A9E-4A29-8B89-4E0DB65D90A6}" type="slidenum">
              <a:rPr lang="en-US" altLang="zh-CN" b="0">
                <a:solidFill>
                  <a:srgbClr val="FF00FF"/>
                </a:solidFill>
              </a:rPr>
              <a:pPr eaLnBrk="1" hangingPunct="1"/>
              <a:t>23</a:t>
            </a:fld>
            <a:r>
              <a:rPr lang="en-US" altLang="zh-CN" b="0">
                <a:solidFill>
                  <a:srgbClr val="FF00FF"/>
                </a:solidFill>
              </a:rPr>
              <a:t>/25</a:t>
            </a: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6866" name="Group 2">
            <a:extLst>
              <a:ext uri="{FF2B5EF4-FFF2-40B4-BE49-F238E27FC236}">
                <a16:creationId xmlns:a16="http://schemas.microsoft.com/office/drawing/2014/main" id="{9E5A5698-C675-460D-BF52-2F7803D63BD1}"/>
              </a:ext>
            </a:extLst>
          </p:cNvPr>
          <p:cNvGrpSpPr>
            <a:grpSpLocks/>
          </p:cNvGrpSpPr>
          <p:nvPr/>
        </p:nvGrpSpPr>
        <p:grpSpPr bwMode="auto">
          <a:xfrm>
            <a:off x="827088" y="1054100"/>
            <a:ext cx="1260475" cy="1873250"/>
            <a:chOff x="567" y="483"/>
            <a:chExt cx="794" cy="1180"/>
          </a:xfrm>
        </p:grpSpPr>
        <p:sp>
          <p:nvSpPr>
            <p:cNvPr id="36952" name="Oval 3">
              <a:extLst>
                <a:ext uri="{FF2B5EF4-FFF2-40B4-BE49-F238E27FC236}">
                  <a16:creationId xmlns:a16="http://schemas.microsoft.com/office/drawing/2014/main" id="{C8BBD71D-B536-437B-91A9-D97C74097712}"/>
                </a:ext>
              </a:extLst>
            </p:cNvPr>
            <p:cNvSpPr>
              <a:spLocks noChangeArrowheads="1"/>
            </p:cNvSpPr>
            <p:nvPr/>
          </p:nvSpPr>
          <p:spPr bwMode="auto">
            <a:xfrm>
              <a:off x="567" y="483"/>
              <a:ext cx="794" cy="1180"/>
            </a:xfrm>
            <a:prstGeom prst="ellipse">
              <a:avLst/>
            </a:prstGeom>
            <a:solidFill>
              <a:schemeClr val="tx1"/>
            </a:solidFill>
            <a:ln w="57150">
              <a:solidFill>
                <a:schemeClr val="folHlink"/>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b="0">
                <a:solidFill>
                  <a:srgbClr val="000000"/>
                </a:solidFill>
              </a:endParaRPr>
            </a:p>
          </p:txBody>
        </p:sp>
        <p:sp>
          <p:nvSpPr>
            <p:cNvPr id="36953" name="Oval 4">
              <a:extLst>
                <a:ext uri="{FF2B5EF4-FFF2-40B4-BE49-F238E27FC236}">
                  <a16:creationId xmlns:a16="http://schemas.microsoft.com/office/drawing/2014/main" id="{EB311C8A-EAF8-4300-8460-832AEB68674A}"/>
                </a:ext>
              </a:extLst>
            </p:cNvPr>
            <p:cNvSpPr>
              <a:spLocks noChangeArrowheads="1"/>
            </p:cNvSpPr>
            <p:nvPr/>
          </p:nvSpPr>
          <p:spPr bwMode="auto">
            <a:xfrm>
              <a:off x="850" y="1207"/>
              <a:ext cx="226" cy="226"/>
            </a:xfrm>
            <a:prstGeom prst="ellipse">
              <a:avLst/>
            </a:prstGeom>
            <a:gradFill rotWithShape="1">
              <a:gsLst>
                <a:gs pos="0">
                  <a:schemeClr val="accent1"/>
                </a:gs>
                <a:gs pos="100000">
                  <a:srgbClr val="99FF33"/>
                </a:gs>
              </a:gsLst>
              <a:path path="shape">
                <a:fillToRect l="50000" t="50000" r="50000" b="50000"/>
              </a:path>
            </a:gradFill>
            <a:ln w="9525">
              <a:solidFill>
                <a:schemeClr val="folHlink"/>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2000">
                <a:solidFill>
                  <a:srgbClr val="CCCCFF"/>
                </a:solidFill>
                <a:latin typeface="Arial" panose="020B0604020202020204" pitchFamily="34" charset="0"/>
                <a:ea typeface="STXingkai" panose="02010800040101010101" pitchFamily="2" charset="-122"/>
              </a:endParaRPr>
            </a:p>
          </p:txBody>
        </p:sp>
        <p:sp>
          <p:nvSpPr>
            <p:cNvPr id="36954" name="Oval 5">
              <a:extLst>
                <a:ext uri="{FF2B5EF4-FFF2-40B4-BE49-F238E27FC236}">
                  <a16:creationId xmlns:a16="http://schemas.microsoft.com/office/drawing/2014/main" id="{34FC046F-044C-48C6-A94F-8CD0225A5BDC}"/>
                </a:ext>
              </a:extLst>
            </p:cNvPr>
            <p:cNvSpPr>
              <a:spLocks noChangeArrowheads="1"/>
            </p:cNvSpPr>
            <p:nvPr/>
          </p:nvSpPr>
          <p:spPr bwMode="auto">
            <a:xfrm>
              <a:off x="861" y="708"/>
              <a:ext cx="227" cy="227"/>
            </a:xfrm>
            <a:prstGeom prst="ellipse">
              <a:avLst/>
            </a:prstGeom>
            <a:solidFill>
              <a:srgbClr val="FF3300">
                <a:alpha val="87842"/>
              </a:srgbClr>
            </a:solidFill>
            <a:ln w="9525">
              <a:solidFill>
                <a:schemeClr val="folHlink"/>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2000">
                <a:solidFill>
                  <a:srgbClr val="CCCCFF"/>
                </a:solidFill>
                <a:latin typeface="Arial" panose="020B0604020202020204" pitchFamily="34" charset="0"/>
                <a:ea typeface="STXingkai" panose="02010800040101010101" pitchFamily="2" charset="-122"/>
              </a:endParaRPr>
            </a:p>
          </p:txBody>
        </p:sp>
      </p:grpSp>
      <p:grpSp>
        <p:nvGrpSpPr>
          <p:cNvPr id="36867" name="Group 6">
            <a:extLst>
              <a:ext uri="{FF2B5EF4-FFF2-40B4-BE49-F238E27FC236}">
                <a16:creationId xmlns:a16="http://schemas.microsoft.com/office/drawing/2014/main" id="{CDF9DF77-6306-4C7A-942A-069EF133758F}"/>
              </a:ext>
            </a:extLst>
          </p:cNvPr>
          <p:cNvGrpSpPr>
            <a:grpSpLocks/>
          </p:cNvGrpSpPr>
          <p:nvPr/>
        </p:nvGrpSpPr>
        <p:grpSpPr bwMode="auto">
          <a:xfrm>
            <a:off x="2628900" y="1196975"/>
            <a:ext cx="358775" cy="790575"/>
            <a:chOff x="1702" y="573"/>
            <a:chExt cx="226" cy="498"/>
          </a:xfrm>
        </p:grpSpPr>
        <p:sp>
          <p:nvSpPr>
            <p:cNvPr id="36946" name="Oval 7">
              <a:extLst>
                <a:ext uri="{FF2B5EF4-FFF2-40B4-BE49-F238E27FC236}">
                  <a16:creationId xmlns:a16="http://schemas.microsoft.com/office/drawing/2014/main" id="{58BFDC8E-BA14-4A0D-BCF2-08621DD0E37C}"/>
                </a:ext>
              </a:extLst>
            </p:cNvPr>
            <p:cNvSpPr>
              <a:spLocks noChangeArrowheads="1"/>
            </p:cNvSpPr>
            <p:nvPr/>
          </p:nvSpPr>
          <p:spPr bwMode="auto">
            <a:xfrm>
              <a:off x="1702" y="573"/>
              <a:ext cx="194" cy="498"/>
            </a:xfrm>
            <a:prstGeom prst="ellipse">
              <a:avLst/>
            </a:prstGeom>
            <a:solidFill>
              <a:srgbClr val="FF9999"/>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2000">
                <a:solidFill>
                  <a:srgbClr val="CCCCFF"/>
                </a:solidFill>
                <a:latin typeface="Arial" panose="020B0604020202020204" pitchFamily="34" charset="0"/>
                <a:ea typeface="STXingkai" panose="02010800040101010101" pitchFamily="2" charset="-122"/>
              </a:endParaRPr>
            </a:p>
          </p:txBody>
        </p:sp>
        <p:sp>
          <p:nvSpPr>
            <p:cNvPr id="36947" name="Oval 8">
              <a:extLst>
                <a:ext uri="{FF2B5EF4-FFF2-40B4-BE49-F238E27FC236}">
                  <a16:creationId xmlns:a16="http://schemas.microsoft.com/office/drawing/2014/main" id="{A57A802A-A731-4F1B-9333-FB143C79E323}"/>
                </a:ext>
              </a:extLst>
            </p:cNvPr>
            <p:cNvSpPr>
              <a:spLocks noChangeArrowheads="1"/>
            </p:cNvSpPr>
            <p:nvPr/>
          </p:nvSpPr>
          <p:spPr bwMode="auto">
            <a:xfrm>
              <a:off x="1734" y="573"/>
              <a:ext cx="194" cy="498"/>
            </a:xfrm>
            <a:prstGeom prst="ellipse">
              <a:avLst/>
            </a:prstGeom>
            <a:solidFill>
              <a:srgbClr val="6699FF">
                <a:alpha val="87842"/>
              </a:srgbClr>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2000">
                <a:solidFill>
                  <a:srgbClr val="CCCCFF"/>
                </a:solidFill>
                <a:latin typeface="Arial" panose="020B0604020202020204" pitchFamily="34" charset="0"/>
                <a:ea typeface="STXingkai" panose="02010800040101010101" pitchFamily="2" charset="-122"/>
              </a:endParaRPr>
            </a:p>
          </p:txBody>
        </p:sp>
        <p:grpSp>
          <p:nvGrpSpPr>
            <p:cNvPr id="36948" name="Group 9">
              <a:extLst>
                <a:ext uri="{FF2B5EF4-FFF2-40B4-BE49-F238E27FC236}">
                  <a16:creationId xmlns:a16="http://schemas.microsoft.com/office/drawing/2014/main" id="{4F3EF0EF-8BAC-4B34-B4FA-4AF4299547B8}"/>
                </a:ext>
              </a:extLst>
            </p:cNvPr>
            <p:cNvGrpSpPr>
              <a:grpSpLocks/>
            </p:cNvGrpSpPr>
            <p:nvPr/>
          </p:nvGrpSpPr>
          <p:grpSpPr bwMode="auto">
            <a:xfrm rot="-1041357">
              <a:off x="1750" y="772"/>
              <a:ext cx="162" cy="133"/>
              <a:chOff x="3289" y="2160"/>
              <a:chExt cx="226" cy="182"/>
            </a:xfrm>
          </p:grpSpPr>
          <p:sp>
            <p:nvSpPr>
              <p:cNvPr id="36949" name="Line 10">
                <a:extLst>
                  <a:ext uri="{FF2B5EF4-FFF2-40B4-BE49-F238E27FC236}">
                    <a16:creationId xmlns:a16="http://schemas.microsoft.com/office/drawing/2014/main" id="{FD48ADE3-0F2C-4830-BEA3-6F518792E1A8}"/>
                  </a:ext>
                </a:extLst>
              </p:cNvPr>
              <p:cNvSpPr>
                <a:spLocks noChangeShapeType="1"/>
              </p:cNvSpPr>
              <p:nvPr/>
            </p:nvSpPr>
            <p:spPr bwMode="auto">
              <a:xfrm rot="-2085028">
                <a:off x="3334" y="2160"/>
                <a:ext cx="13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950" name="Line 11">
                <a:extLst>
                  <a:ext uri="{FF2B5EF4-FFF2-40B4-BE49-F238E27FC236}">
                    <a16:creationId xmlns:a16="http://schemas.microsoft.com/office/drawing/2014/main" id="{2540D2F8-8098-45EE-B276-5B7134B00C16}"/>
                  </a:ext>
                </a:extLst>
              </p:cNvPr>
              <p:cNvSpPr>
                <a:spLocks noChangeShapeType="1"/>
              </p:cNvSpPr>
              <p:nvPr/>
            </p:nvSpPr>
            <p:spPr bwMode="auto">
              <a:xfrm rot="-2037032">
                <a:off x="3289" y="2251"/>
                <a:ext cx="22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951" name="Line 12">
                <a:extLst>
                  <a:ext uri="{FF2B5EF4-FFF2-40B4-BE49-F238E27FC236}">
                    <a16:creationId xmlns:a16="http://schemas.microsoft.com/office/drawing/2014/main" id="{60F25275-5CDD-41B0-8A23-E208C5F01717}"/>
                  </a:ext>
                </a:extLst>
              </p:cNvPr>
              <p:cNvSpPr>
                <a:spLocks noChangeShapeType="1"/>
              </p:cNvSpPr>
              <p:nvPr/>
            </p:nvSpPr>
            <p:spPr bwMode="auto">
              <a:xfrm rot="-2085028">
                <a:off x="3334" y="2342"/>
                <a:ext cx="13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36868" name="Group 13">
            <a:extLst>
              <a:ext uri="{FF2B5EF4-FFF2-40B4-BE49-F238E27FC236}">
                <a16:creationId xmlns:a16="http://schemas.microsoft.com/office/drawing/2014/main" id="{A8E4E961-3383-4FBF-873D-C3E73007DCC3}"/>
              </a:ext>
            </a:extLst>
          </p:cNvPr>
          <p:cNvGrpSpPr>
            <a:grpSpLocks/>
          </p:cNvGrpSpPr>
          <p:nvPr/>
        </p:nvGrpSpPr>
        <p:grpSpPr bwMode="auto">
          <a:xfrm>
            <a:off x="3132138" y="836613"/>
            <a:ext cx="4103687" cy="1873250"/>
            <a:chOff x="2020" y="482"/>
            <a:chExt cx="2585" cy="1180"/>
          </a:xfrm>
        </p:grpSpPr>
        <p:sp>
          <p:nvSpPr>
            <p:cNvPr id="36941" name="Rectangle 14">
              <a:extLst>
                <a:ext uri="{FF2B5EF4-FFF2-40B4-BE49-F238E27FC236}">
                  <a16:creationId xmlns:a16="http://schemas.microsoft.com/office/drawing/2014/main" id="{AFE81243-3445-49F8-B318-F1D1B88DC565}"/>
                </a:ext>
              </a:extLst>
            </p:cNvPr>
            <p:cNvSpPr>
              <a:spLocks noChangeArrowheads="1"/>
            </p:cNvSpPr>
            <p:nvPr/>
          </p:nvSpPr>
          <p:spPr bwMode="auto">
            <a:xfrm>
              <a:off x="2267" y="482"/>
              <a:ext cx="2109" cy="118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2000">
                <a:solidFill>
                  <a:srgbClr val="CCCCFF"/>
                </a:solidFill>
                <a:latin typeface="Arial" panose="020B0604020202020204" pitchFamily="34" charset="0"/>
                <a:ea typeface="STXingkai" panose="02010800040101010101" pitchFamily="2" charset="-122"/>
              </a:endParaRPr>
            </a:p>
          </p:txBody>
        </p:sp>
        <p:sp>
          <p:nvSpPr>
            <p:cNvPr id="36942" name="Arc 15">
              <a:extLst>
                <a:ext uri="{FF2B5EF4-FFF2-40B4-BE49-F238E27FC236}">
                  <a16:creationId xmlns:a16="http://schemas.microsoft.com/office/drawing/2014/main" id="{4689AD60-70E6-420C-9550-3BA888F24B35}"/>
                </a:ext>
              </a:extLst>
            </p:cNvPr>
            <p:cNvSpPr>
              <a:spLocks/>
            </p:cNvSpPr>
            <p:nvPr/>
          </p:nvSpPr>
          <p:spPr bwMode="auto">
            <a:xfrm flipH="1">
              <a:off x="2020" y="482"/>
              <a:ext cx="272" cy="1180"/>
            </a:xfrm>
            <a:custGeom>
              <a:avLst/>
              <a:gdLst>
                <a:gd name="T0" fmla="*/ 0 w 22539"/>
                <a:gd name="T1" fmla="*/ 0 h 43200"/>
                <a:gd name="T2" fmla="*/ 0 w 22539"/>
                <a:gd name="T3" fmla="*/ 0 h 43200"/>
                <a:gd name="T4" fmla="*/ 0 w 22539"/>
                <a:gd name="T5" fmla="*/ 0 h 43200"/>
                <a:gd name="T6" fmla="*/ 0 60000 65536"/>
                <a:gd name="T7" fmla="*/ 0 60000 65536"/>
                <a:gd name="T8" fmla="*/ 0 60000 65536"/>
                <a:gd name="T9" fmla="*/ 0 w 22539"/>
                <a:gd name="T10" fmla="*/ 0 h 43200"/>
                <a:gd name="T11" fmla="*/ 22539 w 22539"/>
                <a:gd name="T12" fmla="*/ 43200 h 43200"/>
              </a:gdLst>
              <a:ahLst/>
              <a:cxnLst>
                <a:cxn ang="T6">
                  <a:pos x="T0" y="T1"/>
                </a:cxn>
                <a:cxn ang="T7">
                  <a:pos x="T2" y="T3"/>
                </a:cxn>
                <a:cxn ang="T8">
                  <a:pos x="T4" y="T5"/>
                </a:cxn>
              </a:cxnLst>
              <a:rect l="T9" t="T10" r="T11" b="T12"/>
              <a:pathLst>
                <a:path w="22539" h="43200" fill="none" extrusionOk="0">
                  <a:moveTo>
                    <a:pt x="939" y="0"/>
                  </a:moveTo>
                  <a:cubicBezTo>
                    <a:pt x="12868" y="0"/>
                    <a:pt x="22539" y="9670"/>
                    <a:pt x="22539" y="21600"/>
                  </a:cubicBezTo>
                  <a:cubicBezTo>
                    <a:pt x="22539" y="33529"/>
                    <a:pt x="12868" y="43200"/>
                    <a:pt x="939" y="43200"/>
                  </a:cubicBezTo>
                  <a:cubicBezTo>
                    <a:pt x="625" y="43199"/>
                    <a:pt x="312" y="43193"/>
                    <a:pt x="0" y="43179"/>
                  </a:cubicBezTo>
                </a:path>
                <a:path w="22539" h="43200" stroke="0" extrusionOk="0">
                  <a:moveTo>
                    <a:pt x="939" y="0"/>
                  </a:moveTo>
                  <a:cubicBezTo>
                    <a:pt x="12868" y="0"/>
                    <a:pt x="22539" y="9670"/>
                    <a:pt x="22539" y="21600"/>
                  </a:cubicBezTo>
                  <a:cubicBezTo>
                    <a:pt x="22539" y="33529"/>
                    <a:pt x="12868" y="43200"/>
                    <a:pt x="939" y="43200"/>
                  </a:cubicBezTo>
                  <a:cubicBezTo>
                    <a:pt x="625" y="43199"/>
                    <a:pt x="312" y="43193"/>
                    <a:pt x="0" y="43179"/>
                  </a:cubicBezTo>
                  <a:lnTo>
                    <a:pt x="939" y="21600"/>
                  </a:lnTo>
                  <a:lnTo>
                    <a:pt x="939" y="0"/>
                  </a:lnTo>
                  <a:close/>
                </a:path>
              </a:pathLst>
            </a:custGeom>
            <a:solidFill>
              <a:schemeClr val="tx1"/>
            </a:solidFill>
            <a:ln w="57150">
              <a:solidFill>
                <a:schemeClr val="folHlink"/>
              </a:solidFill>
              <a:round/>
              <a:headEnd/>
              <a:tailEnd/>
            </a:ln>
          </p:spPr>
          <p:txBody>
            <a:bodyPr wrap="none" anchor="ctr"/>
            <a:lstStyle/>
            <a:p>
              <a:endParaRPr lang="zh-CN" altLang="en-US"/>
            </a:p>
          </p:txBody>
        </p:sp>
        <p:sp>
          <p:nvSpPr>
            <p:cNvPr id="36943" name="Arc 16">
              <a:extLst>
                <a:ext uri="{FF2B5EF4-FFF2-40B4-BE49-F238E27FC236}">
                  <a16:creationId xmlns:a16="http://schemas.microsoft.com/office/drawing/2014/main" id="{37A03F83-9593-4638-A7EF-45571FC35549}"/>
                </a:ext>
              </a:extLst>
            </p:cNvPr>
            <p:cNvSpPr>
              <a:spLocks/>
            </p:cNvSpPr>
            <p:nvPr/>
          </p:nvSpPr>
          <p:spPr bwMode="auto">
            <a:xfrm>
              <a:off x="4333" y="482"/>
              <a:ext cx="272" cy="1180"/>
            </a:xfrm>
            <a:custGeom>
              <a:avLst/>
              <a:gdLst>
                <a:gd name="T0" fmla="*/ 0 w 22539"/>
                <a:gd name="T1" fmla="*/ 0 h 43200"/>
                <a:gd name="T2" fmla="*/ 0 w 22539"/>
                <a:gd name="T3" fmla="*/ 0 h 43200"/>
                <a:gd name="T4" fmla="*/ 0 w 22539"/>
                <a:gd name="T5" fmla="*/ 0 h 43200"/>
                <a:gd name="T6" fmla="*/ 0 60000 65536"/>
                <a:gd name="T7" fmla="*/ 0 60000 65536"/>
                <a:gd name="T8" fmla="*/ 0 60000 65536"/>
                <a:gd name="T9" fmla="*/ 0 w 22539"/>
                <a:gd name="T10" fmla="*/ 0 h 43200"/>
                <a:gd name="T11" fmla="*/ 22539 w 22539"/>
                <a:gd name="T12" fmla="*/ 43200 h 43200"/>
              </a:gdLst>
              <a:ahLst/>
              <a:cxnLst>
                <a:cxn ang="T6">
                  <a:pos x="T0" y="T1"/>
                </a:cxn>
                <a:cxn ang="T7">
                  <a:pos x="T2" y="T3"/>
                </a:cxn>
                <a:cxn ang="T8">
                  <a:pos x="T4" y="T5"/>
                </a:cxn>
              </a:cxnLst>
              <a:rect l="T9" t="T10" r="T11" b="T12"/>
              <a:pathLst>
                <a:path w="22539" h="43200" fill="none" extrusionOk="0">
                  <a:moveTo>
                    <a:pt x="939" y="0"/>
                  </a:moveTo>
                  <a:cubicBezTo>
                    <a:pt x="12868" y="0"/>
                    <a:pt x="22539" y="9670"/>
                    <a:pt x="22539" y="21600"/>
                  </a:cubicBezTo>
                  <a:cubicBezTo>
                    <a:pt x="22539" y="33529"/>
                    <a:pt x="12868" y="43200"/>
                    <a:pt x="939" y="43200"/>
                  </a:cubicBezTo>
                  <a:cubicBezTo>
                    <a:pt x="625" y="43199"/>
                    <a:pt x="312" y="43193"/>
                    <a:pt x="0" y="43179"/>
                  </a:cubicBezTo>
                </a:path>
                <a:path w="22539" h="43200" stroke="0" extrusionOk="0">
                  <a:moveTo>
                    <a:pt x="939" y="0"/>
                  </a:moveTo>
                  <a:cubicBezTo>
                    <a:pt x="12868" y="0"/>
                    <a:pt x="22539" y="9670"/>
                    <a:pt x="22539" y="21600"/>
                  </a:cubicBezTo>
                  <a:cubicBezTo>
                    <a:pt x="22539" y="33529"/>
                    <a:pt x="12868" y="43200"/>
                    <a:pt x="939" y="43200"/>
                  </a:cubicBezTo>
                  <a:cubicBezTo>
                    <a:pt x="625" y="43199"/>
                    <a:pt x="312" y="43193"/>
                    <a:pt x="0" y="43179"/>
                  </a:cubicBezTo>
                  <a:lnTo>
                    <a:pt x="939" y="21600"/>
                  </a:lnTo>
                  <a:lnTo>
                    <a:pt x="939" y="0"/>
                  </a:lnTo>
                  <a:close/>
                </a:path>
              </a:pathLst>
            </a:custGeom>
            <a:solidFill>
              <a:schemeClr val="tx1"/>
            </a:solidFill>
            <a:ln w="57150">
              <a:solidFill>
                <a:schemeClr val="folHlink"/>
              </a:solidFill>
              <a:round/>
              <a:headEnd/>
              <a:tailEnd/>
            </a:ln>
          </p:spPr>
          <p:txBody>
            <a:bodyPr wrap="none" anchor="ctr"/>
            <a:lstStyle/>
            <a:p>
              <a:endParaRPr lang="zh-CN" altLang="en-US"/>
            </a:p>
          </p:txBody>
        </p:sp>
        <p:sp>
          <p:nvSpPr>
            <p:cNvPr id="36944" name="Line 17">
              <a:extLst>
                <a:ext uri="{FF2B5EF4-FFF2-40B4-BE49-F238E27FC236}">
                  <a16:creationId xmlns:a16="http://schemas.microsoft.com/office/drawing/2014/main" id="{60AB9FF1-0BC3-4232-80F0-DB12C0BBC4CC}"/>
                </a:ext>
              </a:extLst>
            </p:cNvPr>
            <p:cNvSpPr>
              <a:spLocks noChangeShapeType="1"/>
            </p:cNvSpPr>
            <p:nvPr/>
          </p:nvSpPr>
          <p:spPr bwMode="auto">
            <a:xfrm>
              <a:off x="2247" y="482"/>
              <a:ext cx="2132" cy="0"/>
            </a:xfrm>
            <a:prstGeom prst="line">
              <a:avLst/>
            </a:prstGeom>
            <a:noFill/>
            <a:ln w="57150">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945" name="Line 18">
              <a:extLst>
                <a:ext uri="{FF2B5EF4-FFF2-40B4-BE49-F238E27FC236}">
                  <a16:creationId xmlns:a16="http://schemas.microsoft.com/office/drawing/2014/main" id="{FBB8E1DE-67A6-4DCC-81DB-AFDA7B1B8187}"/>
                </a:ext>
              </a:extLst>
            </p:cNvPr>
            <p:cNvSpPr>
              <a:spLocks noChangeShapeType="1"/>
            </p:cNvSpPr>
            <p:nvPr/>
          </p:nvSpPr>
          <p:spPr bwMode="auto">
            <a:xfrm>
              <a:off x="2247" y="1662"/>
              <a:ext cx="2132" cy="0"/>
            </a:xfrm>
            <a:prstGeom prst="line">
              <a:avLst/>
            </a:prstGeom>
            <a:noFill/>
            <a:ln w="57150">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477651" name="AutoShape 19">
            <a:extLst>
              <a:ext uri="{FF2B5EF4-FFF2-40B4-BE49-F238E27FC236}">
                <a16:creationId xmlns:a16="http://schemas.microsoft.com/office/drawing/2014/main" id="{6645F93C-11E9-48F3-8506-9D09DC9CAABF}"/>
              </a:ext>
            </a:extLst>
          </p:cNvPr>
          <p:cNvSpPr>
            <a:spLocks noChangeArrowheads="1"/>
          </p:cNvSpPr>
          <p:nvPr/>
        </p:nvSpPr>
        <p:spPr bwMode="auto">
          <a:xfrm rot="5400000">
            <a:off x="4787107" y="-440531"/>
            <a:ext cx="144462" cy="4032250"/>
          </a:xfrm>
          <a:prstGeom prst="can">
            <a:avLst>
              <a:gd name="adj" fmla="val 41351"/>
            </a:avLst>
          </a:prstGeom>
          <a:gradFill rotWithShape="1">
            <a:gsLst>
              <a:gs pos="0">
                <a:srgbClr val="FF9933"/>
              </a:gs>
              <a:gs pos="50000">
                <a:srgbClr val="FFFF00"/>
              </a:gs>
              <a:gs pos="100000">
                <a:srgbClr val="FF99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2000">
              <a:solidFill>
                <a:srgbClr val="CCCCFF"/>
              </a:solidFill>
              <a:latin typeface="Arial" panose="020B0604020202020204" pitchFamily="34" charset="0"/>
              <a:ea typeface="STXingkai" panose="02010800040101010101" pitchFamily="2" charset="-122"/>
            </a:endParaRPr>
          </a:p>
        </p:txBody>
      </p:sp>
      <p:sp>
        <p:nvSpPr>
          <p:cNvPr id="1477652" name="AutoShape 20">
            <a:extLst>
              <a:ext uri="{FF2B5EF4-FFF2-40B4-BE49-F238E27FC236}">
                <a16:creationId xmlns:a16="http://schemas.microsoft.com/office/drawing/2014/main" id="{4C888E17-B4C4-409B-AB57-7883FB3D1D65}"/>
              </a:ext>
            </a:extLst>
          </p:cNvPr>
          <p:cNvSpPr>
            <a:spLocks noChangeArrowheads="1"/>
          </p:cNvSpPr>
          <p:nvPr/>
        </p:nvSpPr>
        <p:spPr bwMode="auto">
          <a:xfrm rot="5400000">
            <a:off x="5002213" y="-80962"/>
            <a:ext cx="288925" cy="3311525"/>
          </a:xfrm>
          <a:prstGeom prst="can">
            <a:avLst>
              <a:gd name="adj" fmla="val 26531"/>
            </a:avLst>
          </a:prstGeom>
          <a:solidFill>
            <a:srgbClr val="FF3300">
              <a:alpha val="65881"/>
            </a:srgbClr>
          </a:solidFill>
          <a:ln w="317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2000">
              <a:solidFill>
                <a:srgbClr val="CCCCFF"/>
              </a:solidFill>
              <a:latin typeface="Arial" panose="020B0604020202020204" pitchFamily="34" charset="0"/>
              <a:ea typeface="STXingkai" panose="02010800040101010101" pitchFamily="2" charset="-122"/>
            </a:endParaRPr>
          </a:p>
        </p:txBody>
      </p:sp>
      <p:sp>
        <p:nvSpPr>
          <p:cNvPr id="1477653" name="AutoShape 21">
            <a:extLst>
              <a:ext uri="{FF2B5EF4-FFF2-40B4-BE49-F238E27FC236}">
                <a16:creationId xmlns:a16="http://schemas.microsoft.com/office/drawing/2014/main" id="{7D3FF49A-C98A-419E-9E6C-547F54D854FC}"/>
              </a:ext>
            </a:extLst>
          </p:cNvPr>
          <p:cNvSpPr>
            <a:spLocks noChangeArrowheads="1"/>
          </p:cNvSpPr>
          <p:nvPr/>
        </p:nvSpPr>
        <p:spPr bwMode="auto">
          <a:xfrm rot="5400000">
            <a:off x="7200107" y="1035844"/>
            <a:ext cx="144462" cy="1079500"/>
          </a:xfrm>
          <a:prstGeom prst="can">
            <a:avLst>
              <a:gd name="adj" fmla="val 11070"/>
            </a:avLst>
          </a:prstGeom>
          <a:gradFill rotWithShape="1">
            <a:gsLst>
              <a:gs pos="0">
                <a:srgbClr val="FF9933"/>
              </a:gs>
              <a:gs pos="50000">
                <a:srgbClr val="FFFF00"/>
              </a:gs>
              <a:gs pos="100000">
                <a:srgbClr val="FF99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2000">
              <a:solidFill>
                <a:srgbClr val="CCCCFF"/>
              </a:solidFill>
              <a:latin typeface="Arial" panose="020B0604020202020204" pitchFamily="34" charset="0"/>
              <a:ea typeface="STXingkai" panose="02010800040101010101" pitchFamily="2" charset="-122"/>
            </a:endParaRPr>
          </a:p>
        </p:txBody>
      </p:sp>
      <p:grpSp>
        <p:nvGrpSpPr>
          <p:cNvPr id="36872" name="Group 22">
            <a:extLst>
              <a:ext uri="{FF2B5EF4-FFF2-40B4-BE49-F238E27FC236}">
                <a16:creationId xmlns:a16="http://schemas.microsoft.com/office/drawing/2014/main" id="{826913DD-7D4D-415B-9E0C-520469477EB1}"/>
              </a:ext>
            </a:extLst>
          </p:cNvPr>
          <p:cNvGrpSpPr>
            <a:grpSpLocks/>
          </p:cNvGrpSpPr>
          <p:nvPr/>
        </p:nvGrpSpPr>
        <p:grpSpPr bwMode="auto">
          <a:xfrm>
            <a:off x="7526338" y="1196975"/>
            <a:ext cx="358775" cy="790575"/>
            <a:chOff x="3470" y="618"/>
            <a:chExt cx="317" cy="680"/>
          </a:xfrm>
        </p:grpSpPr>
        <p:grpSp>
          <p:nvGrpSpPr>
            <p:cNvPr id="36935" name="Group 23">
              <a:extLst>
                <a:ext uri="{FF2B5EF4-FFF2-40B4-BE49-F238E27FC236}">
                  <a16:creationId xmlns:a16="http://schemas.microsoft.com/office/drawing/2014/main" id="{52E73A24-7506-450B-A38B-39AF8494F0DE}"/>
                </a:ext>
              </a:extLst>
            </p:cNvPr>
            <p:cNvGrpSpPr>
              <a:grpSpLocks/>
            </p:cNvGrpSpPr>
            <p:nvPr/>
          </p:nvGrpSpPr>
          <p:grpSpPr bwMode="auto">
            <a:xfrm rot="-1041357">
              <a:off x="3537" y="890"/>
              <a:ext cx="226" cy="182"/>
              <a:chOff x="3289" y="2160"/>
              <a:chExt cx="226" cy="182"/>
            </a:xfrm>
          </p:grpSpPr>
          <p:sp>
            <p:nvSpPr>
              <p:cNvPr id="36938" name="Line 24">
                <a:extLst>
                  <a:ext uri="{FF2B5EF4-FFF2-40B4-BE49-F238E27FC236}">
                    <a16:creationId xmlns:a16="http://schemas.microsoft.com/office/drawing/2014/main" id="{C00D99EE-316D-4CDA-8A1C-36E170250F42}"/>
                  </a:ext>
                </a:extLst>
              </p:cNvPr>
              <p:cNvSpPr>
                <a:spLocks noChangeShapeType="1"/>
              </p:cNvSpPr>
              <p:nvPr/>
            </p:nvSpPr>
            <p:spPr bwMode="auto">
              <a:xfrm rot="-2085028">
                <a:off x="3334" y="2160"/>
                <a:ext cx="13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939" name="Line 25">
                <a:extLst>
                  <a:ext uri="{FF2B5EF4-FFF2-40B4-BE49-F238E27FC236}">
                    <a16:creationId xmlns:a16="http://schemas.microsoft.com/office/drawing/2014/main" id="{4EED926C-AB15-4850-85E6-A10D90280577}"/>
                  </a:ext>
                </a:extLst>
              </p:cNvPr>
              <p:cNvSpPr>
                <a:spLocks noChangeShapeType="1"/>
              </p:cNvSpPr>
              <p:nvPr/>
            </p:nvSpPr>
            <p:spPr bwMode="auto">
              <a:xfrm rot="-2037032">
                <a:off x="3289" y="2251"/>
                <a:ext cx="22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940" name="Line 26">
                <a:extLst>
                  <a:ext uri="{FF2B5EF4-FFF2-40B4-BE49-F238E27FC236}">
                    <a16:creationId xmlns:a16="http://schemas.microsoft.com/office/drawing/2014/main" id="{01EC61C3-0007-45C3-85ED-35297A34F462}"/>
                  </a:ext>
                </a:extLst>
              </p:cNvPr>
              <p:cNvSpPr>
                <a:spLocks noChangeShapeType="1"/>
              </p:cNvSpPr>
              <p:nvPr/>
            </p:nvSpPr>
            <p:spPr bwMode="auto">
              <a:xfrm rot="-2085028">
                <a:off x="3334" y="2342"/>
                <a:ext cx="13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36936" name="AutoShape 27">
              <a:extLst>
                <a:ext uri="{FF2B5EF4-FFF2-40B4-BE49-F238E27FC236}">
                  <a16:creationId xmlns:a16="http://schemas.microsoft.com/office/drawing/2014/main" id="{52D06EC0-225B-4C6F-98F6-F3D9A1552FEB}"/>
                </a:ext>
              </a:extLst>
            </p:cNvPr>
            <p:cNvSpPr>
              <a:spLocks noChangeArrowheads="1"/>
            </p:cNvSpPr>
            <p:nvPr/>
          </p:nvSpPr>
          <p:spPr bwMode="auto">
            <a:xfrm>
              <a:off x="3470" y="618"/>
              <a:ext cx="136" cy="680"/>
            </a:xfrm>
            <a:prstGeom prst="moon">
              <a:avLst>
                <a:gd name="adj" fmla="val 40088"/>
              </a:avLst>
            </a:prstGeom>
            <a:solidFill>
              <a:srgbClr val="FF9999"/>
            </a:solidFill>
            <a:ln w="9525">
              <a:solidFill>
                <a:schemeClr val="tx1"/>
              </a:solidFill>
              <a:miter lim="800000"/>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2000">
                <a:solidFill>
                  <a:srgbClr val="CCCCFF"/>
                </a:solidFill>
                <a:latin typeface="Arial" panose="020B0604020202020204" pitchFamily="34" charset="0"/>
                <a:ea typeface="STXingkai" panose="02010800040101010101" pitchFamily="2" charset="-122"/>
              </a:endParaRPr>
            </a:p>
          </p:txBody>
        </p:sp>
        <p:sp>
          <p:nvSpPr>
            <p:cNvPr id="36937" name="Oval 28">
              <a:extLst>
                <a:ext uri="{FF2B5EF4-FFF2-40B4-BE49-F238E27FC236}">
                  <a16:creationId xmlns:a16="http://schemas.microsoft.com/office/drawing/2014/main" id="{8375E0F6-DCB8-46EF-85E6-36C7F0813196}"/>
                </a:ext>
              </a:extLst>
            </p:cNvPr>
            <p:cNvSpPr>
              <a:spLocks noChangeArrowheads="1"/>
            </p:cNvSpPr>
            <p:nvPr/>
          </p:nvSpPr>
          <p:spPr bwMode="auto">
            <a:xfrm>
              <a:off x="3515" y="618"/>
              <a:ext cx="272" cy="680"/>
            </a:xfrm>
            <a:prstGeom prst="ellipse">
              <a:avLst/>
            </a:prstGeom>
            <a:solidFill>
              <a:srgbClr val="6699FF">
                <a:alpha val="38823"/>
              </a:srgbClr>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2000">
                <a:solidFill>
                  <a:srgbClr val="CCCCFF"/>
                </a:solidFill>
                <a:latin typeface="Arial" panose="020B0604020202020204" pitchFamily="34" charset="0"/>
                <a:ea typeface="STXingkai" panose="02010800040101010101" pitchFamily="2" charset="-122"/>
              </a:endParaRPr>
            </a:p>
          </p:txBody>
        </p:sp>
      </p:grpSp>
      <p:sp>
        <p:nvSpPr>
          <p:cNvPr id="1477661" name="AutoShape 29">
            <a:extLst>
              <a:ext uri="{FF2B5EF4-FFF2-40B4-BE49-F238E27FC236}">
                <a16:creationId xmlns:a16="http://schemas.microsoft.com/office/drawing/2014/main" id="{E3A89A24-5C9B-4F4A-A388-2A228C85022C}"/>
              </a:ext>
            </a:extLst>
          </p:cNvPr>
          <p:cNvSpPr>
            <a:spLocks noChangeArrowheads="1"/>
          </p:cNvSpPr>
          <p:nvPr/>
        </p:nvSpPr>
        <p:spPr bwMode="auto">
          <a:xfrm rot="5400000">
            <a:off x="8101013" y="1143000"/>
            <a:ext cx="144462" cy="865188"/>
          </a:xfrm>
          <a:prstGeom prst="can">
            <a:avLst>
              <a:gd name="adj" fmla="val 54539"/>
            </a:avLst>
          </a:prstGeom>
          <a:gradFill rotWithShape="1">
            <a:gsLst>
              <a:gs pos="0">
                <a:srgbClr val="FF9933"/>
              </a:gs>
              <a:gs pos="50000">
                <a:srgbClr val="FFFF00"/>
              </a:gs>
              <a:gs pos="100000">
                <a:srgbClr val="FF99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2000">
              <a:solidFill>
                <a:srgbClr val="CCCCFF"/>
              </a:solidFill>
              <a:latin typeface="Arial" panose="020B0604020202020204" pitchFamily="34" charset="0"/>
              <a:ea typeface="STXingkai" panose="02010800040101010101" pitchFamily="2" charset="-122"/>
            </a:endParaRPr>
          </a:p>
        </p:txBody>
      </p:sp>
      <p:sp>
        <p:nvSpPr>
          <p:cNvPr id="1477662" name="AutoShape 30">
            <a:extLst>
              <a:ext uri="{FF2B5EF4-FFF2-40B4-BE49-F238E27FC236}">
                <a16:creationId xmlns:a16="http://schemas.microsoft.com/office/drawing/2014/main" id="{5581F86C-65C5-4B53-9B49-E5DDD86CD591}"/>
              </a:ext>
            </a:extLst>
          </p:cNvPr>
          <p:cNvSpPr>
            <a:spLocks noChangeArrowheads="1"/>
          </p:cNvSpPr>
          <p:nvPr/>
        </p:nvSpPr>
        <p:spPr bwMode="auto">
          <a:xfrm>
            <a:off x="3635375" y="2287588"/>
            <a:ext cx="3168650" cy="288925"/>
          </a:xfrm>
          <a:prstGeom prst="roundRect">
            <a:avLst>
              <a:gd name="adj" fmla="val 40528"/>
            </a:avLst>
          </a:prstGeom>
          <a:gradFill rotWithShape="1">
            <a:gsLst>
              <a:gs pos="0">
                <a:schemeClr val="accent1">
                  <a:gamma/>
                  <a:shade val="46275"/>
                  <a:invGamma/>
                </a:schemeClr>
              </a:gs>
              <a:gs pos="50000">
                <a:schemeClr val="accent1"/>
              </a:gs>
              <a:gs pos="100000">
                <a:schemeClr val="accent1">
                  <a:gamma/>
                  <a:shade val="46275"/>
                  <a:invGamma/>
                </a:schemeClr>
              </a:gs>
            </a:gsLst>
            <a:lin ang="5400000" scaled="1"/>
          </a:gradFill>
          <a:ln w="9525">
            <a:solidFill>
              <a:schemeClr val="tx1"/>
            </a:solidFill>
            <a:round/>
            <a:headEnd/>
            <a:tailEnd/>
          </a:ln>
          <a:effectLs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defRPr/>
            </a:pPr>
            <a:endParaRPr lang="zh-CN" altLang="en-US" sz="2000">
              <a:solidFill>
                <a:srgbClr val="CCCCFF"/>
              </a:solidFill>
              <a:latin typeface="Arial" panose="020B0604020202020204" pitchFamily="34" charset="0"/>
              <a:ea typeface="STXingkai" panose="02010800040101010101" pitchFamily="2" charset="-122"/>
            </a:endParaRPr>
          </a:p>
        </p:txBody>
      </p:sp>
      <p:sp>
        <p:nvSpPr>
          <p:cNvPr id="1477663" name="Rectangle 31">
            <a:extLst>
              <a:ext uri="{FF2B5EF4-FFF2-40B4-BE49-F238E27FC236}">
                <a16:creationId xmlns:a16="http://schemas.microsoft.com/office/drawing/2014/main" id="{EAA9A7D5-399E-439A-AE98-849892AB483C}"/>
              </a:ext>
            </a:extLst>
          </p:cNvPr>
          <p:cNvSpPr>
            <a:spLocks noChangeArrowheads="1"/>
          </p:cNvSpPr>
          <p:nvPr/>
        </p:nvSpPr>
        <p:spPr bwMode="auto">
          <a:xfrm>
            <a:off x="6084888" y="3068638"/>
            <a:ext cx="863600" cy="360362"/>
          </a:xfrm>
          <a:prstGeom prst="rect">
            <a:avLst/>
          </a:prstGeom>
          <a:solidFill>
            <a:srgbClr val="003366"/>
          </a:solidFill>
          <a:ln w="9525">
            <a:solidFill>
              <a:schemeClr val="accent1"/>
            </a:solidFill>
            <a:miter lim="800000"/>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a:solidFill>
                  <a:srgbClr val="FFFFFF"/>
                </a:solidFill>
                <a:latin typeface="华文中宋" panose="02010600040101010101" pitchFamily="2" charset="-122"/>
                <a:ea typeface="华文中宋" panose="02010600040101010101" pitchFamily="2" charset="-122"/>
              </a:rPr>
              <a:t>触 发</a:t>
            </a:r>
          </a:p>
        </p:txBody>
      </p:sp>
      <p:grpSp>
        <p:nvGrpSpPr>
          <p:cNvPr id="36876" name="Group 32">
            <a:extLst>
              <a:ext uri="{FF2B5EF4-FFF2-40B4-BE49-F238E27FC236}">
                <a16:creationId xmlns:a16="http://schemas.microsoft.com/office/drawing/2014/main" id="{27271CEC-F512-4B3D-AA62-5F9634E5561E}"/>
              </a:ext>
            </a:extLst>
          </p:cNvPr>
          <p:cNvGrpSpPr>
            <a:grpSpLocks/>
          </p:cNvGrpSpPr>
          <p:nvPr/>
        </p:nvGrpSpPr>
        <p:grpSpPr bwMode="auto">
          <a:xfrm>
            <a:off x="2916238" y="2460625"/>
            <a:ext cx="4681537" cy="2592388"/>
            <a:chOff x="1882" y="1345"/>
            <a:chExt cx="2949" cy="1633"/>
          </a:xfrm>
        </p:grpSpPr>
        <p:grpSp>
          <p:nvGrpSpPr>
            <p:cNvPr id="36913" name="Group 33">
              <a:extLst>
                <a:ext uri="{FF2B5EF4-FFF2-40B4-BE49-F238E27FC236}">
                  <a16:creationId xmlns:a16="http://schemas.microsoft.com/office/drawing/2014/main" id="{7F81ED78-7B56-42B4-A815-D72FDCB1D54A}"/>
                </a:ext>
              </a:extLst>
            </p:cNvPr>
            <p:cNvGrpSpPr>
              <a:grpSpLocks/>
            </p:cNvGrpSpPr>
            <p:nvPr/>
          </p:nvGrpSpPr>
          <p:grpSpPr bwMode="auto">
            <a:xfrm>
              <a:off x="3243" y="2207"/>
              <a:ext cx="907" cy="227"/>
              <a:chOff x="2200" y="2341"/>
              <a:chExt cx="907" cy="227"/>
            </a:xfrm>
          </p:grpSpPr>
          <p:sp>
            <p:nvSpPr>
              <p:cNvPr id="36924" name="Line 34">
                <a:extLst>
                  <a:ext uri="{FF2B5EF4-FFF2-40B4-BE49-F238E27FC236}">
                    <a16:creationId xmlns:a16="http://schemas.microsoft.com/office/drawing/2014/main" id="{2F84DA1B-415C-4EE8-80AF-A548FCFDBE77}"/>
                  </a:ext>
                </a:extLst>
              </p:cNvPr>
              <p:cNvSpPr>
                <a:spLocks noChangeShapeType="1"/>
              </p:cNvSpPr>
              <p:nvPr/>
            </p:nvSpPr>
            <p:spPr bwMode="auto">
              <a:xfrm>
                <a:off x="2290" y="2454"/>
                <a:ext cx="182" cy="0"/>
              </a:xfrm>
              <a:prstGeom prst="line">
                <a:avLst/>
              </a:prstGeom>
              <a:noFill/>
              <a:ln w="25400">
                <a:solidFill>
                  <a:srgbClr val="FFC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925" name="Line 35">
                <a:extLst>
                  <a:ext uri="{FF2B5EF4-FFF2-40B4-BE49-F238E27FC236}">
                    <a16:creationId xmlns:a16="http://schemas.microsoft.com/office/drawing/2014/main" id="{30E601E6-82AB-4B6D-BCFF-BFFBA3364D97}"/>
                  </a:ext>
                </a:extLst>
              </p:cNvPr>
              <p:cNvSpPr>
                <a:spLocks noChangeShapeType="1"/>
              </p:cNvSpPr>
              <p:nvPr/>
            </p:nvSpPr>
            <p:spPr bwMode="auto">
              <a:xfrm>
                <a:off x="2835" y="2454"/>
                <a:ext cx="181" cy="0"/>
              </a:xfrm>
              <a:prstGeom prst="line">
                <a:avLst/>
              </a:prstGeom>
              <a:noFill/>
              <a:ln w="25400">
                <a:solidFill>
                  <a:srgbClr val="FFC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926" name="Line 36">
                <a:extLst>
                  <a:ext uri="{FF2B5EF4-FFF2-40B4-BE49-F238E27FC236}">
                    <a16:creationId xmlns:a16="http://schemas.microsoft.com/office/drawing/2014/main" id="{C37DC751-48E7-43D3-814C-CCCC9753665C}"/>
                  </a:ext>
                </a:extLst>
              </p:cNvPr>
              <p:cNvSpPr>
                <a:spLocks noChangeShapeType="1"/>
              </p:cNvSpPr>
              <p:nvPr/>
            </p:nvSpPr>
            <p:spPr bwMode="auto">
              <a:xfrm>
                <a:off x="2562" y="2454"/>
                <a:ext cx="182" cy="0"/>
              </a:xfrm>
              <a:prstGeom prst="line">
                <a:avLst/>
              </a:prstGeom>
              <a:noFill/>
              <a:ln w="25400">
                <a:solidFill>
                  <a:srgbClr val="FFC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927" name="Line 37">
                <a:extLst>
                  <a:ext uri="{FF2B5EF4-FFF2-40B4-BE49-F238E27FC236}">
                    <a16:creationId xmlns:a16="http://schemas.microsoft.com/office/drawing/2014/main" id="{1DDD09EC-19D9-4B65-B6D1-CB7EC5487BCC}"/>
                  </a:ext>
                </a:extLst>
              </p:cNvPr>
              <p:cNvSpPr>
                <a:spLocks noChangeShapeType="1"/>
              </p:cNvSpPr>
              <p:nvPr/>
            </p:nvSpPr>
            <p:spPr bwMode="auto">
              <a:xfrm>
                <a:off x="2200" y="2341"/>
                <a:ext cx="0" cy="227"/>
              </a:xfrm>
              <a:prstGeom prst="line">
                <a:avLst/>
              </a:prstGeom>
              <a:noFill/>
              <a:ln w="25400">
                <a:solidFill>
                  <a:srgbClr val="00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928" name="Line 38">
                <a:extLst>
                  <a:ext uri="{FF2B5EF4-FFF2-40B4-BE49-F238E27FC236}">
                    <a16:creationId xmlns:a16="http://schemas.microsoft.com/office/drawing/2014/main" id="{6D734B4C-4887-49F1-86D4-63B4AC32D494}"/>
                  </a:ext>
                </a:extLst>
              </p:cNvPr>
              <p:cNvSpPr>
                <a:spLocks noChangeShapeType="1"/>
              </p:cNvSpPr>
              <p:nvPr/>
            </p:nvSpPr>
            <p:spPr bwMode="auto">
              <a:xfrm>
                <a:off x="2291" y="2341"/>
                <a:ext cx="0" cy="227"/>
              </a:xfrm>
              <a:prstGeom prst="line">
                <a:avLst/>
              </a:prstGeom>
              <a:noFill/>
              <a:ln w="25400">
                <a:solidFill>
                  <a:srgbClr val="00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929" name="Line 39">
                <a:extLst>
                  <a:ext uri="{FF2B5EF4-FFF2-40B4-BE49-F238E27FC236}">
                    <a16:creationId xmlns:a16="http://schemas.microsoft.com/office/drawing/2014/main" id="{5693C2D2-7C43-41D2-8F88-3F87FA3D7A8E}"/>
                  </a:ext>
                </a:extLst>
              </p:cNvPr>
              <p:cNvSpPr>
                <a:spLocks noChangeShapeType="1"/>
              </p:cNvSpPr>
              <p:nvPr/>
            </p:nvSpPr>
            <p:spPr bwMode="auto">
              <a:xfrm>
                <a:off x="2472" y="2341"/>
                <a:ext cx="0" cy="227"/>
              </a:xfrm>
              <a:prstGeom prst="line">
                <a:avLst/>
              </a:prstGeom>
              <a:noFill/>
              <a:ln w="25400">
                <a:solidFill>
                  <a:srgbClr val="00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930" name="Line 40">
                <a:extLst>
                  <a:ext uri="{FF2B5EF4-FFF2-40B4-BE49-F238E27FC236}">
                    <a16:creationId xmlns:a16="http://schemas.microsoft.com/office/drawing/2014/main" id="{73F02271-2A2F-434D-8901-F23FF522647D}"/>
                  </a:ext>
                </a:extLst>
              </p:cNvPr>
              <p:cNvSpPr>
                <a:spLocks noChangeShapeType="1"/>
              </p:cNvSpPr>
              <p:nvPr/>
            </p:nvSpPr>
            <p:spPr bwMode="auto">
              <a:xfrm>
                <a:off x="2563" y="2341"/>
                <a:ext cx="0" cy="227"/>
              </a:xfrm>
              <a:prstGeom prst="line">
                <a:avLst/>
              </a:prstGeom>
              <a:noFill/>
              <a:ln w="25400">
                <a:solidFill>
                  <a:srgbClr val="00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931" name="Line 41">
                <a:extLst>
                  <a:ext uri="{FF2B5EF4-FFF2-40B4-BE49-F238E27FC236}">
                    <a16:creationId xmlns:a16="http://schemas.microsoft.com/office/drawing/2014/main" id="{E59B3BF5-186B-442A-8146-120A3C1D2DCD}"/>
                  </a:ext>
                </a:extLst>
              </p:cNvPr>
              <p:cNvSpPr>
                <a:spLocks noChangeShapeType="1"/>
              </p:cNvSpPr>
              <p:nvPr/>
            </p:nvSpPr>
            <p:spPr bwMode="auto">
              <a:xfrm>
                <a:off x="2744" y="2341"/>
                <a:ext cx="0" cy="227"/>
              </a:xfrm>
              <a:prstGeom prst="line">
                <a:avLst/>
              </a:prstGeom>
              <a:noFill/>
              <a:ln w="25400">
                <a:solidFill>
                  <a:srgbClr val="00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932" name="Line 42">
                <a:extLst>
                  <a:ext uri="{FF2B5EF4-FFF2-40B4-BE49-F238E27FC236}">
                    <a16:creationId xmlns:a16="http://schemas.microsoft.com/office/drawing/2014/main" id="{7BAD3C45-CACD-4056-839D-DB26FAD648DD}"/>
                  </a:ext>
                </a:extLst>
              </p:cNvPr>
              <p:cNvSpPr>
                <a:spLocks noChangeShapeType="1"/>
              </p:cNvSpPr>
              <p:nvPr/>
            </p:nvSpPr>
            <p:spPr bwMode="auto">
              <a:xfrm>
                <a:off x="2835" y="2341"/>
                <a:ext cx="0" cy="227"/>
              </a:xfrm>
              <a:prstGeom prst="line">
                <a:avLst/>
              </a:prstGeom>
              <a:noFill/>
              <a:ln w="25400">
                <a:solidFill>
                  <a:srgbClr val="00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933" name="Line 43">
                <a:extLst>
                  <a:ext uri="{FF2B5EF4-FFF2-40B4-BE49-F238E27FC236}">
                    <a16:creationId xmlns:a16="http://schemas.microsoft.com/office/drawing/2014/main" id="{58AEBA48-31C6-49CD-BD13-50857791D09B}"/>
                  </a:ext>
                </a:extLst>
              </p:cNvPr>
              <p:cNvSpPr>
                <a:spLocks noChangeShapeType="1"/>
              </p:cNvSpPr>
              <p:nvPr/>
            </p:nvSpPr>
            <p:spPr bwMode="auto">
              <a:xfrm>
                <a:off x="3016" y="2341"/>
                <a:ext cx="0" cy="227"/>
              </a:xfrm>
              <a:prstGeom prst="line">
                <a:avLst/>
              </a:prstGeom>
              <a:noFill/>
              <a:ln w="25400">
                <a:solidFill>
                  <a:srgbClr val="00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934" name="Line 44">
                <a:extLst>
                  <a:ext uri="{FF2B5EF4-FFF2-40B4-BE49-F238E27FC236}">
                    <a16:creationId xmlns:a16="http://schemas.microsoft.com/office/drawing/2014/main" id="{DAF03E11-133C-4CC2-80FA-1B1876BA2D58}"/>
                  </a:ext>
                </a:extLst>
              </p:cNvPr>
              <p:cNvSpPr>
                <a:spLocks noChangeShapeType="1"/>
              </p:cNvSpPr>
              <p:nvPr/>
            </p:nvSpPr>
            <p:spPr bwMode="auto">
              <a:xfrm>
                <a:off x="3107" y="2341"/>
                <a:ext cx="0" cy="227"/>
              </a:xfrm>
              <a:prstGeom prst="line">
                <a:avLst/>
              </a:prstGeom>
              <a:noFill/>
              <a:ln w="25400">
                <a:solidFill>
                  <a:srgbClr val="00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6914" name="Group 45">
              <a:extLst>
                <a:ext uri="{FF2B5EF4-FFF2-40B4-BE49-F238E27FC236}">
                  <a16:creationId xmlns:a16="http://schemas.microsoft.com/office/drawing/2014/main" id="{ECE33B3E-B727-4A03-969D-381139A946BF}"/>
                </a:ext>
              </a:extLst>
            </p:cNvPr>
            <p:cNvGrpSpPr>
              <a:grpSpLocks/>
            </p:cNvGrpSpPr>
            <p:nvPr/>
          </p:nvGrpSpPr>
          <p:grpSpPr bwMode="auto">
            <a:xfrm>
              <a:off x="1882" y="1345"/>
              <a:ext cx="2949" cy="1452"/>
              <a:chOff x="1882" y="1345"/>
              <a:chExt cx="2949" cy="1452"/>
            </a:xfrm>
          </p:grpSpPr>
          <p:sp>
            <p:nvSpPr>
              <p:cNvPr id="36917" name="Line 46">
                <a:extLst>
                  <a:ext uri="{FF2B5EF4-FFF2-40B4-BE49-F238E27FC236}">
                    <a16:creationId xmlns:a16="http://schemas.microsoft.com/office/drawing/2014/main" id="{81E34EBF-3301-43E7-BE00-51949FFDC787}"/>
                  </a:ext>
                </a:extLst>
              </p:cNvPr>
              <p:cNvSpPr>
                <a:spLocks noChangeShapeType="1"/>
              </p:cNvSpPr>
              <p:nvPr/>
            </p:nvSpPr>
            <p:spPr bwMode="auto">
              <a:xfrm>
                <a:off x="1882" y="1351"/>
                <a:ext cx="409" cy="0"/>
              </a:xfrm>
              <a:prstGeom prst="line">
                <a:avLst/>
              </a:prstGeom>
              <a:noFill/>
              <a:ln w="25400">
                <a:solidFill>
                  <a:srgbClr val="CC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918" name="Line 47">
                <a:extLst>
                  <a:ext uri="{FF2B5EF4-FFF2-40B4-BE49-F238E27FC236}">
                    <a16:creationId xmlns:a16="http://schemas.microsoft.com/office/drawing/2014/main" id="{61A73163-7405-4125-838E-8D425310A5EB}"/>
                  </a:ext>
                </a:extLst>
              </p:cNvPr>
              <p:cNvSpPr>
                <a:spLocks noChangeShapeType="1"/>
              </p:cNvSpPr>
              <p:nvPr/>
            </p:nvSpPr>
            <p:spPr bwMode="auto">
              <a:xfrm>
                <a:off x="4377" y="1351"/>
                <a:ext cx="454" cy="0"/>
              </a:xfrm>
              <a:prstGeom prst="line">
                <a:avLst/>
              </a:prstGeom>
              <a:noFill/>
              <a:ln w="25400">
                <a:solidFill>
                  <a:srgbClr val="CC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919" name="Line 48">
                <a:extLst>
                  <a:ext uri="{FF2B5EF4-FFF2-40B4-BE49-F238E27FC236}">
                    <a16:creationId xmlns:a16="http://schemas.microsoft.com/office/drawing/2014/main" id="{0A29254E-6A20-4DD5-A907-A3E684301F5B}"/>
                  </a:ext>
                </a:extLst>
              </p:cNvPr>
              <p:cNvSpPr>
                <a:spLocks noChangeShapeType="1"/>
              </p:cNvSpPr>
              <p:nvPr/>
            </p:nvSpPr>
            <p:spPr bwMode="auto">
              <a:xfrm>
                <a:off x="4831" y="1345"/>
                <a:ext cx="0" cy="1452"/>
              </a:xfrm>
              <a:prstGeom prst="line">
                <a:avLst/>
              </a:prstGeom>
              <a:noFill/>
              <a:ln w="25400">
                <a:solidFill>
                  <a:srgbClr val="CC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920" name="Line 49">
                <a:extLst>
                  <a:ext uri="{FF2B5EF4-FFF2-40B4-BE49-F238E27FC236}">
                    <a16:creationId xmlns:a16="http://schemas.microsoft.com/office/drawing/2014/main" id="{A4769E9D-1615-4A4C-B33D-D5AF1A3D7C06}"/>
                  </a:ext>
                </a:extLst>
              </p:cNvPr>
              <p:cNvSpPr>
                <a:spLocks noChangeShapeType="1"/>
              </p:cNvSpPr>
              <p:nvPr/>
            </p:nvSpPr>
            <p:spPr bwMode="auto">
              <a:xfrm>
                <a:off x="1882" y="1345"/>
                <a:ext cx="0" cy="1452"/>
              </a:xfrm>
              <a:prstGeom prst="line">
                <a:avLst/>
              </a:prstGeom>
              <a:noFill/>
              <a:ln w="25400">
                <a:solidFill>
                  <a:srgbClr val="CC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921" name="Line 50">
                <a:extLst>
                  <a:ext uri="{FF2B5EF4-FFF2-40B4-BE49-F238E27FC236}">
                    <a16:creationId xmlns:a16="http://schemas.microsoft.com/office/drawing/2014/main" id="{42BF9507-EF5D-4111-8848-5A3666548E03}"/>
                  </a:ext>
                </a:extLst>
              </p:cNvPr>
              <p:cNvSpPr>
                <a:spLocks noChangeShapeType="1"/>
              </p:cNvSpPr>
              <p:nvPr/>
            </p:nvSpPr>
            <p:spPr bwMode="auto">
              <a:xfrm flipH="1">
                <a:off x="1882" y="2797"/>
                <a:ext cx="2949" cy="0"/>
              </a:xfrm>
              <a:prstGeom prst="line">
                <a:avLst/>
              </a:prstGeom>
              <a:noFill/>
              <a:ln w="25400">
                <a:solidFill>
                  <a:srgbClr val="CC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922" name="Line 51">
                <a:extLst>
                  <a:ext uri="{FF2B5EF4-FFF2-40B4-BE49-F238E27FC236}">
                    <a16:creationId xmlns:a16="http://schemas.microsoft.com/office/drawing/2014/main" id="{F884284B-AE70-4802-BF79-5BCA920E141A}"/>
                  </a:ext>
                </a:extLst>
              </p:cNvPr>
              <p:cNvSpPr>
                <a:spLocks noChangeShapeType="1"/>
              </p:cNvSpPr>
              <p:nvPr/>
            </p:nvSpPr>
            <p:spPr bwMode="auto">
              <a:xfrm flipH="1">
                <a:off x="1882" y="2321"/>
                <a:ext cx="1361" cy="0"/>
              </a:xfrm>
              <a:prstGeom prst="line">
                <a:avLst/>
              </a:prstGeom>
              <a:noFill/>
              <a:ln w="25400">
                <a:solidFill>
                  <a:srgbClr val="FFC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923" name="Line 52">
                <a:extLst>
                  <a:ext uri="{FF2B5EF4-FFF2-40B4-BE49-F238E27FC236}">
                    <a16:creationId xmlns:a16="http://schemas.microsoft.com/office/drawing/2014/main" id="{673B362F-B199-4905-B61B-27612F01985E}"/>
                  </a:ext>
                </a:extLst>
              </p:cNvPr>
              <p:cNvSpPr>
                <a:spLocks noChangeShapeType="1"/>
              </p:cNvSpPr>
              <p:nvPr/>
            </p:nvSpPr>
            <p:spPr bwMode="auto">
              <a:xfrm flipH="1">
                <a:off x="4150" y="2321"/>
                <a:ext cx="681" cy="0"/>
              </a:xfrm>
              <a:prstGeom prst="line">
                <a:avLst/>
              </a:prstGeom>
              <a:noFill/>
              <a:ln w="25400">
                <a:solidFill>
                  <a:srgbClr val="FFC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36915" name="Rectangle 53">
              <a:extLst>
                <a:ext uri="{FF2B5EF4-FFF2-40B4-BE49-F238E27FC236}">
                  <a16:creationId xmlns:a16="http://schemas.microsoft.com/office/drawing/2014/main" id="{92CD5182-387E-42BC-9278-A12848E7E578}"/>
                </a:ext>
              </a:extLst>
            </p:cNvPr>
            <p:cNvSpPr>
              <a:spLocks noChangeArrowheads="1"/>
            </p:cNvSpPr>
            <p:nvPr/>
          </p:nvSpPr>
          <p:spPr bwMode="auto">
            <a:xfrm>
              <a:off x="2245" y="2569"/>
              <a:ext cx="816" cy="409"/>
            </a:xfrm>
            <a:prstGeom prst="rect">
              <a:avLst/>
            </a:prstGeom>
            <a:solidFill>
              <a:srgbClr val="003366"/>
            </a:solidFill>
            <a:ln w="25400">
              <a:solidFill>
                <a:schemeClr val="accent1"/>
              </a:solidFill>
              <a:miter lim="800000"/>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90000"/>
                </a:lnSpc>
              </a:pPr>
              <a:r>
                <a:rPr lang="zh-CN" altLang="en-US" sz="2000">
                  <a:solidFill>
                    <a:srgbClr val="FFFFFF"/>
                  </a:solidFill>
                  <a:ea typeface="华文中宋" panose="02010600040101010101" pitchFamily="2" charset="-122"/>
                </a:rPr>
                <a:t>高压</a:t>
              </a:r>
            </a:p>
            <a:p>
              <a:pPr algn="ctr" eaLnBrk="1" hangingPunct="1">
                <a:lnSpc>
                  <a:spcPct val="90000"/>
                </a:lnSpc>
              </a:pPr>
              <a:r>
                <a:rPr lang="zh-CN" altLang="en-US" sz="2000">
                  <a:solidFill>
                    <a:srgbClr val="FFFFFF"/>
                  </a:solidFill>
                  <a:ea typeface="华文中宋" panose="02010600040101010101" pitchFamily="2" charset="-122"/>
                </a:rPr>
                <a:t>直流电源</a:t>
              </a:r>
            </a:p>
          </p:txBody>
        </p:sp>
        <p:sp>
          <p:nvSpPr>
            <p:cNvPr id="36916" name="Rectangle 54">
              <a:extLst>
                <a:ext uri="{FF2B5EF4-FFF2-40B4-BE49-F238E27FC236}">
                  <a16:creationId xmlns:a16="http://schemas.microsoft.com/office/drawing/2014/main" id="{9F2FB385-C9F8-4652-BE6E-F096DD53400F}"/>
                </a:ext>
              </a:extLst>
            </p:cNvPr>
            <p:cNvSpPr>
              <a:spLocks noChangeArrowheads="1"/>
            </p:cNvSpPr>
            <p:nvPr/>
          </p:nvSpPr>
          <p:spPr bwMode="auto">
            <a:xfrm>
              <a:off x="3515" y="2661"/>
              <a:ext cx="817" cy="272"/>
            </a:xfrm>
            <a:prstGeom prst="rect">
              <a:avLst/>
            </a:prstGeom>
            <a:solidFill>
              <a:srgbClr val="003366"/>
            </a:solidFill>
            <a:ln w="25400">
              <a:solidFill>
                <a:schemeClr val="accent1"/>
              </a:solidFill>
              <a:miter lim="800000"/>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a:solidFill>
                    <a:srgbClr val="FFFFFF"/>
                  </a:solidFill>
                  <a:ea typeface="华文中宋" panose="02010600040101010101" pitchFamily="2" charset="-122"/>
                </a:rPr>
                <a:t>限流电阻</a:t>
              </a:r>
            </a:p>
          </p:txBody>
        </p:sp>
      </p:grpSp>
      <p:sp>
        <p:nvSpPr>
          <p:cNvPr id="1477687" name="AutoShape 55">
            <a:extLst>
              <a:ext uri="{FF2B5EF4-FFF2-40B4-BE49-F238E27FC236}">
                <a16:creationId xmlns:a16="http://schemas.microsoft.com/office/drawing/2014/main" id="{8524C6E7-8E77-4035-ABA3-1F56BDB685BA}"/>
              </a:ext>
            </a:extLst>
          </p:cNvPr>
          <p:cNvSpPr>
            <a:spLocks noChangeArrowheads="1"/>
          </p:cNvSpPr>
          <p:nvPr/>
        </p:nvSpPr>
        <p:spPr bwMode="auto">
          <a:xfrm>
            <a:off x="8388350" y="1430338"/>
            <a:ext cx="358775" cy="288925"/>
          </a:xfrm>
          <a:prstGeom prst="rightArrow">
            <a:avLst>
              <a:gd name="adj1" fmla="val 49685"/>
              <a:gd name="adj2" fmla="val 122808"/>
            </a:avLst>
          </a:prstGeom>
          <a:gradFill rotWithShape="1">
            <a:gsLst>
              <a:gs pos="0">
                <a:srgbClr val="FF9933"/>
              </a:gs>
              <a:gs pos="50000">
                <a:srgbClr val="FFFF00"/>
              </a:gs>
              <a:gs pos="100000">
                <a:srgbClr val="FF9933"/>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2000">
              <a:solidFill>
                <a:srgbClr val="CCCCFF"/>
              </a:solidFill>
              <a:latin typeface="Arial" panose="020B0604020202020204" pitchFamily="34" charset="0"/>
              <a:ea typeface="STXingkai" panose="02010800040101010101" pitchFamily="2" charset="-122"/>
            </a:endParaRPr>
          </a:p>
        </p:txBody>
      </p:sp>
      <p:sp>
        <p:nvSpPr>
          <p:cNvPr id="1477688" name="AutoShape 56">
            <a:extLst>
              <a:ext uri="{FF2B5EF4-FFF2-40B4-BE49-F238E27FC236}">
                <a16:creationId xmlns:a16="http://schemas.microsoft.com/office/drawing/2014/main" id="{F3990C37-0FAD-4309-81E8-95FD11EB4D78}"/>
              </a:ext>
            </a:extLst>
          </p:cNvPr>
          <p:cNvSpPr>
            <a:spLocks noChangeArrowheads="1"/>
          </p:cNvSpPr>
          <p:nvPr/>
        </p:nvSpPr>
        <p:spPr bwMode="auto">
          <a:xfrm>
            <a:off x="3635375" y="2274888"/>
            <a:ext cx="3168650" cy="288925"/>
          </a:xfrm>
          <a:prstGeom prst="roundRect">
            <a:avLst>
              <a:gd name="adj" fmla="val 40528"/>
            </a:avLst>
          </a:prstGeom>
          <a:gradFill rotWithShape="1">
            <a:gsLst>
              <a:gs pos="0">
                <a:srgbClr val="99CC00"/>
              </a:gs>
              <a:gs pos="100000">
                <a:schemeClr val="accent1">
                  <a:alpha val="89998"/>
                </a:schemeClr>
              </a:gs>
            </a:gsLst>
            <a:lin ang="5400000" scaled="1"/>
          </a:gra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2000">
              <a:solidFill>
                <a:srgbClr val="CCCCFF"/>
              </a:solidFill>
              <a:latin typeface="Arial" panose="020B0604020202020204" pitchFamily="34" charset="0"/>
              <a:ea typeface="STXingkai" panose="02010800040101010101" pitchFamily="2" charset="-122"/>
            </a:endParaRPr>
          </a:p>
        </p:txBody>
      </p:sp>
      <p:grpSp>
        <p:nvGrpSpPr>
          <p:cNvPr id="11" name="Group 57">
            <a:extLst>
              <a:ext uri="{FF2B5EF4-FFF2-40B4-BE49-F238E27FC236}">
                <a16:creationId xmlns:a16="http://schemas.microsoft.com/office/drawing/2014/main" id="{079A31EE-3517-462E-8908-8FBACED4E67C}"/>
              </a:ext>
            </a:extLst>
          </p:cNvPr>
          <p:cNvGrpSpPr>
            <a:grpSpLocks/>
          </p:cNvGrpSpPr>
          <p:nvPr/>
        </p:nvGrpSpPr>
        <p:grpSpPr bwMode="auto">
          <a:xfrm>
            <a:off x="863600" y="1630363"/>
            <a:ext cx="539750" cy="717550"/>
            <a:chOff x="590" y="846"/>
            <a:chExt cx="340" cy="452"/>
          </a:xfrm>
        </p:grpSpPr>
        <p:sp>
          <p:nvSpPr>
            <p:cNvPr id="36911" name="Line 58">
              <a:extLst>
                <a:ext uri="{FF2B5EF4-FFF2-40B4-BE49-F238E27FC236}">
                  <a16:creationId xmlns:a16="http://schemas.microsoft.com/office/drawing/2014/main" id="{4CC3D3D3-B394-4FF0-B246-5D4981E8605B}"/>
                </a:ext>
              </a:extLst>
            </p:cNvPr>
            <p:cNvSpPr>
              <a:spLocks noChangeShapeType="1"/>
            </p:cNvSpPr>
            <p:nvPr/>
          </p:nvSpPr>
          <p:spPr bwMode="auto">
            <a:xfrm flipH="1" flipV="1">
              <a:off x="590" y="982"/>
              <a:ext cx="340" cy="316"/>
            </a:xfrm>
            <a:prstGeom prst="line">
              <a:avLst/>
            </a:prstGeom>
            <a:noFill/>
            <a:ln w="38100">
              <a:solidFill>
                <a:srgbClr val="FF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912" name="Line 59">
              <a:extLst>
                <a:ext uri="{FF2B5EF4-FFF2-40B4-BE49-F238E27FC236}">
                  <a16:creationId xmlns:a16="http://schemas.microsoft.com/office/drawing/2014/main" id="{64461E40-B096-4BEF-B8C9-A844244F54C2}"/>
                </a:ext>
              </a:extLst>
            </p:cNvPr>
            <p:cNvSpPr>
              <a:spLocks noChangeShapeType="1"/>
            </p:cNvSpPr>
            <p:nvPr/>
          </p:nvSpPr>
          <p:spPr bwMode="auto">
            <a:xfrm flipH="1">
              <a:off x="590" y="846"/>
              <a:ext cx="318" cy="136"/>
            </a:xfrm>
            <a:prstGeom prst="line">
              <a:avLst/>
            </a:prstGeom>
            <a:noFill/>
            <a:ln w="38100">
              <a:solidFill>
                <a:srgbClr val="FF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2" name="Group 60">
            <a:extLst>
              <a:ext uri="{FF2B5EF4-FFF2-40B4-BE49-F238E27FC236}">
                <a16:creationId xmlns:a16="http://schemas.microsoft.com/office/drawing/2014/main" id="{A7EA022D-CA5F-4AC3-81E5-80CA0EB6E8C3}"/>
              </a:ext>
            </a:extLst>
          </p:cNvPr>
          <p:cNvGrpSpPr>
            <a:grpSpLocks/>
          </p:cNvGrpSpPr>
          <p:nvPr/>
        </p:nvGrpSpPr>
        <p:grpSpPr bwMode="auto">
          <a:xfrm>
            <a:off x="863600" y="1555750"/>
            <a:ext cx="611188" cy="865188"/>
            <a:chOff x="590" y="846"/>
            <a:chExt cx="363" cy="498"/>
          </a:xfrm>
        </p:grpSpPr>
        <p:sp>
          <p:nvSpPr>
            <p:cNvPr id="36909" name="Line 61">
              <a:extLst>
                <a:ext uri="{FF2B5EF4-FFF2-40B4-BE49-F238E27FC236}">
                  <a16:creationId xmlns:a16="http://schemas.microsoft.com/office/drawing/2014/main" id="{52BDF196-20BA-4EB5-B554-AA9A6DF5E0ED}"/>
                </a:ext>
              </a:extLst>
            </p:cNvPr>
            <p:cNvSpPr>
              <a:spLocks noChangeShapeType="1"/>
            </p:cNvSpPr>
            <p:nvPr/>
          </p:nvSpPr>
          <p:spPr bwMode="auto">
            <a:xfrm flipH="1" flipV="1">
              <a:off x="590" y="1209"/>
              <a:ext cx="340" cy="135"/>
            </a:xfrm>
            <a:prstGeom prst="line">
              <a:avLst/>
            </a:prstGeom>
            <a:noFill/>
            <a:ln w="38100">
              <a:solidFill>
                <a:srgbClr val="FF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910" name="Line 62">
              <a:extLst>
                <a:ext uri="{FF2B5EF4-FFF2-40B4-BE49-F238E27FC236}">
                  <a16:creationId xmlns:a16="http://schemas.microsoft.com/office/drawing/2014/main" id="{2F66E0F2-361E-4F24-AF2A-148C374566DD}"/>
                </a:ext>
              </a:extLst>
            </p:cNvPr>
            <p:cNvSpPr>
              <a:spLocks noChangeShapeType="1"/>
            </p:cNvSpPr>
            <p:nvPr/>
          </p:nvSpPr>
          <p:spPr bwMode="auto">
            <a:xfrm flipH="1">
              <a:off x="590" y="846"/>
              <a:ext cx="363" cy="363"/>
            </a:xfrm>
            <a:prstGeom prst="line">
              <a:avLst/>
            </a:prstGeom>
            <a:noFill/>
            <a:ln w="38100">
              <a:solidFill>
                <a:srgbClr val="FF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 name="Group 63">
            <a:extLst>
              <a:ext uri="{FF2B5EF4-FFF2-40B4-BE49-F238E27FC236}">
                <a16:creationId xmlns:a16="http://schemas.microsoft.com/office/drawing/2014/main" id="{138B282C-0BBB-496A-B492-9B189F9F889E}"/>
              </a:ext>
            </a:extLst>
          </p:cNvPr>
          <p:cNvGrpSpPr>
            <a:grpSpLocks/>
          </p:cNvGrpSpPr>
          <p:nvPr/>
        </p:nvGrpSpPr>
        <p:grpSpPr bwMode="auto">
          <a:xfrm>
            <a:off x="6226175" y="2565400"/>
            <a:ext cx="1081088" cy="720725"/>
            <a:chOff x="3968" y="1435"/>
            <a:chExt cx="681" cy="454"/>
          </a:xfrm>
        </p:grpSpPr>
        <p:sp>
          <p:nvSpPr>
            <p:cNvPr id="36905" name="Line 64">
              <a:extLst>
                <a:ext uri="{FF2B5EF4-FFF2-40B4-BE49-F238E27FC236}">
                  <a16:creationId xmlns:a16="http://schemas.microsoft.com/office/drawing/2014/main" id="{F8221460-8574-40E8-879B-CC9A22680395}"/>
                </a:ext>
              </a:extLst>
            </p:cNvPr>
            <p:cNvSpPr>
              <a:spLocks noChangeShapeType="1"/>
            </p:cNvSpPr>
            <p:nvPr/>
          </p:nvSpPr>
          <p:spPr bwMode="auto">
            <a:xfrm>
              <a:off x="3969" y="1572"/>
              <a:ext cx="680" cy="0"/>
            </a:xfrm>
            <a:prstGeom prst="line">
              <a:avLst/>
            </a:prstGeom>
            <a:noFill/>
            <a:ln w="28575">
              <a:solidFill>
                <a:srgbClr val="99CC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906" name="Line 65">
              <a:extLst>
                <a:ext uri="{FF2B5EF4-FFF2-40B4-BE49-F238E27FC236}">
                  <a16:creationId xmlns:a16="http://schemas.microsoft.com/office/drawing/2014/main" id="{8230C5F3-75B9-45DF-A291-FC6C66D68CBE}"/>
                </a:ext>
              </a:extLst>
            </p:cNvPr>
            <p:cNvSpPr>
              <a:spLocks noChangeShapeType="1"/>
            </p:cNvSpPr>
            <p:nvPr/>
          </p:nvSpPr>
          <p:spPr bwMode="auto">
            <a:xfrm>
              <a:off x="4649" y="1572"/>
              <a:ext cx="0" cy="317"/>
            </a:xfrm>
            <a:prstGeom prst="line">
              <a:avLst/>
            </a:prstGeom>
            <a:noFill/>
            <a:ln w="28575">
              <a:solidFill>
                <a:srgbClr val="99CC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907" name="Line 66">
              <a:extLst>
                <a:ext uri="{FF2B5EF4-FFF2-40B4-BE49-F238E27FC236}">
                  <a16:creationId xmlns:a16="http://schemas.microsoft.com/office/drawing/2014/main" id="{E8E8D9E4-E9A4-4A15-88F8-E01E4FB54287}"/>
                </a:ext>
              </a:extLst>
            </p:cNvPr>
            <p:cNvSpPr>
              <a:spLocks noChangeShapeType="1"/>
            </p:cNvSpPr>
            <p:nvPr/>
          </p:nvSpPr>
          <p:spPr bwMode="auto">
            <a:xfrm flipH="1">
              <a:off x="4422" y="1889"/>
              <a:ext cx="227" cy="0"/>
            </a:xfrm>
            <a:prstGeom prst="line">
              <a:avLst/>
            </a:prstGeom>
            <a:noFill/>
            <a:ln w="28575">
              <a:solidFill>
                <a:srgbClr val="99CC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908" name="Line 67">
              <a:extLst>
                <a:ext uri="{FF2B5EF4-FFF2-40B4-BE49-F238E27FC236}">
                  <a16:creationId xmlns:a16="http://schemas.microsoft.com/office/drawing/2014/main" id="{71FE5F68-BCD3-4D15-B851-539AABEC2781}"/>
                </a:ext>
              </a:extLst>
            </p:cNvPr>
            <p:cNvSpPr>
              <a:spLocks noChangeShapeType="1"/>
            </p:cNvSpPr>
            <p:nvPr/>
          </p:nvSpPr>
          <p:spPr bwMode="auto">
            <a:xfrm>
              <a:off x="3968" y="1435"/>
              <a:ext cx="0" cy="136"/>
            </a:xfrm>
            <a:prstGeom prst="line">
              <a:avLst/>
            </a:prstGeom>
            <a:noFill/>
            <a:ln w="38100">
              <a:solidFill>
                <a:srgbClr val="99CC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36882" name="Text Box 68">
            <a:extLst>
              <a:ext uri="{FF2B5EF4-FFF2-40B4-BE49-F238E27FC236}">
                <a16:creationId xmlns:a16="http://schemas.microsoft.com/office/drawing/2014/main" id="{740601F6-7E56-40DC-83BD-381323854D24}"/>
              </a:ext>
            </a:extLst>
          </p:cNvPr>
          <p:cNvSpPr txBox="1">
            <a:spLocks noChangeArrowheads="1"/>
          </p:cNvSpPr>
          <p:nvPr/>
        </p:nvSpPr>
        <p:spPr bwMode="auto">
          <a:xfrm>
            <a:off x="395288" y="450850"/>
            <a:ext cx="32400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rgbClr val="00FFFF"/>
                </a:solidFill>
              </a:rPr>
              <a:t>2. </a:t>
            </a:r>
            <a:r>
              <a:rPr lang="zh-CN" altLang="en-US">
                <a:solidFill>
                  <a:srgbClr val="00FFFF"/>
                </a:solidFill>
                <a:ea typeface="华文中宋" panose="02010600040101010101" pitchFamily="2" charset="-122"/>
              </a:rPr>
              <a:t>红宝石激光器</a:t>
            </a:r>
          </a:p>
        </p:txBody>
      </p:sp>
      <p:sp>
        <p:nvSpPr>
          <p:cNvPr id="36883" name="Text Box 69">
            <a:extLst>
              <a:ext uri="{FF2B5EF4-FFF2-40B4-BE49-F238E27FC236}">
                <a16:creationId xmlns:a16="http://schemas.microsoft.com/office/drawing/2014/main" id="{98AEB0C0-8E52-4D4E-85C1-35ED145B81B1}"/>
              </a:ext>
            </a:extLst>
          </p:cNvPr>
          <p:cNvSpPr txBox="1">
            <a:spLocks noChangeArrowheads="1"/>
          </p:cNvSpPr>
          <p:nvPr/>
        </p:nvSpPr>
        <p:spPr bwMode="auto">
          <a:xfrm>
            <a:off x="4687888" y="5138738"/>
            <a:ext cx="4132262"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pPr>
            <a:r>
              <a:rPr lang="zh-CN" altLang="en-US">
                <a:solidFill>
                  <a:srgbClr val="CCCCFF"/>
                </a:solidFill>
              </a:rPr>
              <a:t>工作物质：</a:t>
            </a:r>
            <a:r>
              <a:rPr lang="zh-CN" altLang="en-US">
                <a:solidFill>
                  <a:srgbClr val="00FFFF"/>
                </a:solidFill>
              </a:rPr>
              <a:t>红宝石中的</a:t>
            </a:r>
            <a:r>
              <a:rPr lang="en-US" altLang="zh-CN">
                <a:solidFill>
                  <a:srgbClr val="00FFFF"/>
                </a:solidFill>
              </a:rPr>
              <a:t>Cr</a:t>
            </a:r>
            <a:r>
              <a:rPr lang="en-US" altLang="zh-CN" baseline="30000">
                <a:solidFill>
                  <a:srgbClr val="00FFFF"/>
                </a:solidFill>
              </a:rPr>
              <a:t>+3</a:t>
            </a:r>
          </a:p>
        </p:txBody>
      </p:sp>
      <p:sp>
        <p:nvSpPr>
          <p:cNvPr id="36884" name="Text Box 70">
            <a:extLst>
              <a:ext uri="{FF2B5EF4-FFF2-40B4-BE49-F238E27FC236}">
                <a16:creationId xmlns:a16="http://schemas.microsoft.com/office/drawing/2014/main" id="{880FA70C-6D41-4B14-B789-405279C728B2}"/>
              </a:ext>
            </a:extLst>
          </p:cNvPr>
          <p:cNvSpPr txBox="1">
            <a:spLocks noChangeArrowheads="1"/>
          </p:cNvSpPr>
          <p:nvPr/>
        </p:nvSpPr>
        <p:spPr bwMode="auto">
          <a:xfrm>
            <a:off x="728663" y="5203825"/>
            <a:ext cx="33115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rgbClr val="CCCCFF"/>
                </a:solidFill>
                <a:ea typeface="华文中宋" panose="02010600040101010101" pitchFamily="2" charset="-122"/>
              </a:rPr>
              <a:t>激励能源：</a:t>
            </a:r>
            <a:r>
              <a:rPr lang="zh-CN" altLang="en-US">
                <a:solidFill>
                  <a:srgbClr val="00FFFF"/>
                </a:solidFill>
                <a:ea typeface="华文中宋" panose="02010600040101010101" pitchFamily="2" charset="-122"/>
              </a:rPr>
              <a:t>脉冲氙灯</a:t>
            </a:r>
          </a:p>
        </p:txBody>
      </p:sp>
      <p:sp>
        <p:nvSpPr>
          <p:cNvPr id="1477703" name="Rectangle 71">
            <a:extLst>
              <a:ext uri="{FF2B5EF4-FFF2-40B4-BE49-F238E27FC236}">
                <a16:creationId xmlns:a16="http://schemas.microsoft.com/office/drawing/2014/main" id="{298D629B-4CAC-4993-B144-C69E67E77BAB}"/>
              </a:ext>
            </a:extLst>
          </p:cNvPr>
          <p:cNvSpPr>
            <a:spLocks noChangeArrowheads="1"/>
          </p:cNvSpPr>
          <p:nvPr/>
        </p:nvSpPr>
        <p:spPr bwMode="auto">
          <a:xfrm>
            <a:off x="728663" y="5591175"/>
            <a:ext cx="7947025"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pPr>
            <a:r>
              <a:rPr lang="zh-CN" altLang="en-US">
                <a:solidFill>
                  <a:srgbClr val="CCCCFF"/>
                </a:solidFill>
                <a:latin typeface="华文中宋" panose="02010600040101010101" pitchFamily="2" charset="-122"/>
                <a:ea typeface="华文中宋" panose="02010600040101010101" pitchFamily="2" charset="-122"/>
              </a:rPr>
              <a:t>脉冲氙灯发出的光照射红宝石，使得</a:t>
            </a:r>
            <a:r>
              <a:rPr lang="en-US" altLang="zh-CN">
                <a:solidFill>
                  <a:srgbClr val="00FFFF"/>
                </a:solidFill>
                <a:ea typeface="华文中宋" panose="02010600040101010101" pitchFamily="2" charset="-122"/>
              </a:rPr>
              <a:t>Cr</a:t>
            </a:r>
            <a:r>
              <a:rPr lang="en-US" altLang="zh-CN" baseline="30000">
                <a:solidFill>
                  <a:srgbClr val="00FFFF"/>
                </a:solidFill>
                <a:ea typeface="华文中宋" panose="02010600040101010101" pitchFamily="2" charset="-122"/>
              </a:rPr>
              <a:t>+3 </a:t>
            </a:r>
            <a:r>
              <a:rPr lang="zh-CN" altLang="en-US">
                <a:solidFill>
                  <a:srgbClr val="CCCCFF"/>
                </a:solidFill>
                <a:latin typeface="华文中宋" panose="02010600040101010101" pitchFamily="2" charset="-122"/>
                <a:ea typeface="华文中宋" panose="02010600040101010101" pitchFamily="2" charset="-122"/>
              </a:rPr>
              <a:t>在亚稳态和基态之间形成反转分布。</a:t>
            </a:r>
          </a:p>
        </p:txBody>
      </p:sp>
      <p:sp>
        <p:nvSpPr>
          <p:cNvPr id="36886" name="Text Box 72">
            <a:extLst>
              <a:ext uri="{FF2B5EF4-FFF2-40B4-BE49-F238E27FC236}">
                <a16:creationId xmlns:a16="http://schemas.microsoft.com/office/drawing/2014/main" id="{128EC145-780A-440E-8D44-E1F7F3700295}"/>
              </a:ext>
            </a:extLst>
          </p:cNvPr>
          <p:cNvSpPr txBox="1">
            <a:spLocks noChangeArrowheads="1"/>
          </p:cNvSpPr>
          <p:nvPr/>
        </p:nvSpPr>
        <p:spPr bwMode="auto">
          <a:xfrm>
            <a:off x="827088" y="2995613"/>
            <a:ext cx="18002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rgbClr val="CCCCFF"/>
                </a:solidFill>
                <a:latin typeface="华文中宋" panose="02010600040101010101" pitchFamily="2" charset="-122"/>
              </a:rPr>
              <a:t>椭圆柱面</a:t>
            </a:r>
          </a:p>
        </p:txBody>
      </p:sp>
      <p:grpSp>
        <p:nvGrpSpPr>
          <p:cNvPr id="14" name="Group 73">
            <a:extLst>
              <a:ext uri="{FF2B5EF4-FFF2-40B4-BE49-F238E27FC236}">
                <a16:creationId xmlns:a16="http://schemas.microsoft.com/office/drawing/2014/main" id="{77728B99-6989-4B13-97F5-1B146E7A1E64}"/>
              </a:ext>
            </a:extLst>
          </p:cNvPr>
          <p:cNvGrpSpPr>
            <a:grpSpLocks/>
          </p:cNvGrpSpPr>
          <p:nvPr/>
        </p:nvGrpSpPr>
        <p:grpSpPr bwMode="auto">
          <a:xfrm>
            <a:off x="3995738" y="2278063"/>
            <a:ext cx="2232025" cy="503237"/>
            <a:chOff x="2563" y="1254"/>
            <a:chExt cx="1406" cy="317"/>
          </a:xfrm>
        </p:grpSpPr>
        <p:sp>
          <p:nvSpPr>
            <p:cNvPr id="36897" name="Freeform 74">
              <a:extLst>
                <a:ext uri="{FF2B5EF4-FFF2-40B4-BE49-F238E27FC236}">
                  <a16:creationId xmlns:a16="http://schemas.microsoft.com/office/drawing/2014/main" id="{D9E031B8-A870-42C7-A033-A1DE87697AF1}"/>
                </a:ext>
              </a:extLst>
            </p:cNvPr>
            <p:cNvSpPr>
              <a:spLocks/>
            </p:cNvSpPr>
            <p:nvPr/>
          </p:nvSpPr>
          <p:spPr bwMode="auto">
            <a:xfrm>
              <a:off x="3470" y="1260"/>
              <a:ext cx="181" cy="182"/>
            </a:xfrm>
            <a:custGeom>
              <a:avLst/>
              <a:gdLst>
                <a:gd name="T0" fmla="*/ 0 w 771"/>
                <a:gd name="T1" fmla="*/ 0 h 907"/>
                <a:gd name="T2" fmla="*/ 0 w 771"/>
                <a:gd name="T3" fmla="*/ 0 h 907"/>
                <a:gd name="T4" fmla="*/ 0 w 771"/>
                <a:gd name="T5" fmla="*/ 0 h 907"/>
                <a:gd name="T6" fmla="*/ 0 w 771"/>
                <a:gd name="T7" fmla="*/ 0 h 907"/>
                <a:gd name="T8" fmla="*/ 0 w 771"/>
                <a:gd name="T9" fmla="*/ 0 h 907"/>
                <a:gd name="T10" fmla="*/ 0 w 771"/>
                <a:gd name="T11" fmla="*/ 0 h 907"/>
                <a:gd name="T12" fmla="*/ 0 60000 65536"/>
                <a:gd name="T13" fmla="*/ 0 60000 65536"/>
                <a:gd name="T14" fmla="*/ 0 60000 65536"/>
                <a:gd name="T15" fmla="*/ 0 60000 65536"/>
                <a:gd name="T16" fmla="*/ 0 60000 65536"/>
                <a:gd name="T17" fmla="*/ 0 60000 65536"/>
                <a:gd name="T18" fmla="*/ 0 w 771"/>
                <a:gd name="T19" fmla="*/ 0 h 907"/>
                <a:gd name="T20" fmla="*/ 771 w 771"/>
                <a:gd name="T21" fmla="*/ 907 h 907"/>
              </a:gdLst>
              <a:ahLst/>
              <a:cxnLst>
                <a:cxn ang="T12">
                  <a:pos x="T0" y="T1"/>
                </a:cxn>
                <a:cxn ang="T13">
                  <a:pos x="T2" y="T3"/>
                </a:cxn>
                <a:cxn ang="T14">
                  <a:pos x="T4" y="T5"/>
                </a:cxn>
                <a:cxn ang="T15">
                  <a:pos x="T6" y="T7"/>
                </a:cxn>
                <a:cxn ang="T16">
                  <a:pos x="T8" y="T9"/>
                </a:cxn>
                <a:cxn ang="T17">
                  <a:pos x="T10" y="T11"/>
                </a:cxn>
              </a:cxnLst>
              <a:rect l="T18" t="T19" r="T20" b="T21"/>
              <a:pathLst>
                <a:path w="771" h="907">
                  <a:moveTo>
                    <a:pt x="0" y="0"/>
                  </a:moveTo>
                  <a:cubicBezTo>
                    <a:pt x="60" y="4"/>
                    <a:pt x="121" y="8"/>
                    <a:pt x="181" y="46"/>
                  </a:cubicBezTo>
                  <a:cubicBezTo>
                    <a:pt x="241" y="84"/>
                    <a:pt x="302" y="121"/>
                    <a:pt x="363" y="227"/>
                  </a:cubicBezTo>
                  <a:cubicBezTo>
                    <a:pt x="424" y="333"/>
                    <a:pt x="499" y="575"/>
                    <a:pt x="544" y="681"/>
                  </a:cubicBezTo>
                  <a:cubicBezTo>
                    <a:pt x="589" y="787"/>
                    <a:pt x="597" y="824"/>
                    <a:pt x="635" y="862"/>
                  </a:cubicBezTo>
                  <a:cubicBezTo>
                    <a:pt x="673" y="900"/>
                    <a:pt x="748" y="900"/>
                    <a:pt x="771" y="907"/>
                  </a:cubicBezTo>
                </a:path>
              </a:pathLst>
            </a:custGeom>
            <a:noFill/>
            <a:ln w="31750">
              <a:solidFill>
                <a:srgbClr val="660033"/>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6898" name="Freeform 75">
              <a:extLst>
                <a:ext uri="{FF2B5EF4-FFF2-40B4-BE49-F238E27FC236}">
                  <a16:creationId xmlns:a16="http://schemas.microsoft.com/office/drawing/2014/main" id="{EE72B990-9675-4745-A71A-CBB541DD50E4}"/>
                </a:ext>
              </a:extLst>
            </p:cNvPr>
            <p:cNvSpPr>
              <a:spLocks/>
            </p:cNvSpPr>
            <p:nvPr/>
          </p:nvSpPr>
          <p:spPr bwMode="auto">
            <a:xfrm>
              <a:off x="3651" y="1260"/>
              <a:ext cx="181" cy="182"/>
            </a:xfrm>
            <a:custGeom>
              <a:avLst/>
              <a:gdLst>
                <a:gd name="T0" fmla="*/ 0 w 771"/>
                <a:gd name="T1" fmla="*/ 0 h 907"/>
                <a:gd name="T2" fmla="*/ 0 w 771"/>
                <a:gd name="T3" fmla="*/ 0 h 907"/>
                <a:gd name="T4" fmla="*/ 0 w 771"/>
                <a:gd name="T5" fmla="*/ 0 h 907"/>
                <a:gd name="T6" fmla="*/ 0 w 771"/>
                <a:gd name="T7" fmla="*/ 0 h 907"/>
                <a:gd name="T8" fmla="*/ 0 w 771"/>
                <a:gd name="T9" fmla="*/ 0 h 907"/>
                <a:gd name="T10" fmla="*/ 0 w 771"/>
                <a:gd name="T11" fmla="*/ 0 h 907"/>
                <a:gd name="T12" fmla="*/ 0 60000 65536"/>
                <a:gd name="T13" fmla="*/ 0 60000 65536"/>
                <a:gd name="T14" fmla="*/ 0 60000 65536"/>
                <a:gd name="T15" fmla="*/ 0 60000 65536"/>
                <a:gd name="T16" fmla="*/ 0 60000 65536"/>
                <a:gd name="T17" fmla="*/ 0 60000 65536"/>
                <a:gd name="T18" fmla="*/ 0 w 771"/>
                <a:gd name="T19" fmla="*/ 0 h 907"/>
                <a:gd name="T20" fmla="*/ 771 w 771"/>
                <a:gd name="T21" fmla="*/ 907 h 907"/>
              </a:gdLst>
              <a:ahLst/>
              <a:cxnLst>
                <a:cxn ang="T12">
                  <a:pos x="T0" y="T1"/>
                </a:cxn>
                <a:cxn ang="T13">
                  <a:pos x="T2" y="T3"/>
                </a:cxn>
                <a:cxn ang="T14">
                  <a:pos x="T4" y="T5"/>
                </a:cxn>
                <a:cxn ang="T15">
                  <a:pos x="T6" y="T7"/>
                </a:cxn>
                <a:cxn ang="T16">
                  <a:pos x="T8" y="T9"/>
                </a:cxn>
                <a:cxn ang="T17">
                  <a:pos x="T10" y="T11"/>
                </a:cxn>
              </a:cxnLst>
              <a:rect l="T18" t="T19" r="T20" b="T21"/>
              <a:pathLst>
                <a:path w="771" h="907">
                  <a:moveTo>
                    <a:pt x="0" y="0"/>
                  </a:moveTo>
                  <a:cubicBezTo>
                    <a:pt x="60" y="4"/>
                    <a:pt x="121" y="8"/>
                    <a:pt x="181" y="46"/>
                  </a:cubicBezTo>
                  <a:cubicBezTo>
                    <a:pt x="241" y="84"/>
                    <a:pt x="302" y="121"/>
                    <a:pt x="363" y="227"/>
                  </a:cubicBezTo>
                  <a:cubicBezTo>
                    <a:pt x="424" y="333"/>
                    <a:pt x="499" y="575"/>
                    <a:pt x="544" y="681"/>
                  </a:cubicBezTo>
                  <a:cubicBezTo>
                    <a:pt x="589" y="787"/>
                    <a:pt x="597" y="824"/>
                    <a:pt x="635" y="862"/>
                  </a:cubicBezTo>
                  <a:cubicBezTo>
                    <a:pt x="673" y="900"/>
                    <a:pt x="748" y="900"/>
                    <a:pt x="771" y="907"/>
                  </a:cubicBezTo>
                </a:path>
              </a:pathLst>
            </a:custGeom>
            <a:noFill/>
            <a:ln w="31750">
              <a:solidFill>
                <a:srgbClr val="660033"/>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6899" name="Freeform 76">
              <a:extLst>
                <a:ext uri="{FF2B5EF4-FFF2-40B4-BE49-F238E27FC236}">
                  <a16:creationId xmlns:a16="http://schemas.microsoft.com/office/drawing/2014/main" id="{F417AEBF-D387-4E3D-95CA-EFD8461C9962}"/>
                </a:ext>
              </a:extLst>
            </p:cNvPr>
            <p:cNvSpPr>
              <a:spLocks/>
            </p:cNvSpPr>
            <p:nvPr/>
          </p:nvSpPr>
          <p:spPr bwMode="auto">
            <a:xfrm>
              <a:off x="3107" y="1260"/>
              <a:ext cx="181" cy="182"/>
            </a:xfrm>
            <a:custGeom>
              <a:avLst/>
              <a:gdLst>
                <a:gd name="T0" fmla="*/ 0 w 771"/>
                <a:gd name="T1" fmla="*/ 0 h 907"/>
                <a:gd name="T2" fmla="*/ 0 w 771"/>
                <a:gd name="T3" fmla="*/ 0 h 907"/>
                <a:gd name="T4" fmla="*/ 0 w 771"/>
                <a:gd name="T5" fmla="*/ 0 h 907"/>
                <a:gd name="T6" fmla="*/ 0 w 771"/>
                <a:gd name="T7" fmla="*/ 0 h 907"/>
                <a:gd name="T8" fmla="*/ 0 w 771"/>
                <a:gd name="T9" fmla="*/ 0 h 907"/>
                <a:gd name="T10" fmla="*/ 0 w 771"/>
                <a:gd name="T11" fmla="*/ 0 h 907"/>
                <a:gd name="T12" fmla="*/ 0 60000 65536"/>
                <a:gd name="T13" fmla="*/ 0 60000 65536"/>
                <a:gd name="T14" fmla="*/ 0 60000 65536"/>
                <a:gd name="T15" fmla="*/ 0 60000 65536"/>
                <a:gd name="T16" fmla="*/ 0 60000 65536"/>
                <a:gd name="T17" fmla="*/ 0 60000 65536"/>
                <a:gd name="T18" fmla="*/ 0 w 771"/>
                <a:gd name="T19" fmla="*/ 0 h 907"/>
                <a:gd name="T20" fmla="*/ 771 w 771"/>
                <a:gd name="T21" fmla="*/ 907 h 907"/>
              </a:gdLst>
              <a:ahLst/>
              <a:cxnLst>
                <a:cxn ang="T12">
                  <a:pos x="T0" y="T1"/>
                </a:cxn>
                <a:cxn ang="T13">
                  <a:pos x="T2" y="T3"/>
                </a:cxn>
                <a:cxn ang="T14">
                  <a:pos x="T4" y="T5"/>
                </a:cxn>
                <a:cxn ang="T15">
                  <a:pos x="T6" y="T7"/>
                </a:cxn>
                <a:cxn ang="T16">
                  <a:pos x="T8" y="T9"/>
                </a:cxn>
                <a:cxn ang="T17">
                  <a:pos x="T10" y="T11"/>
                </a:cxn>
              </a:cxnLst>
              <a:rect l="T18" t="T19" r="T20" b="T21"/>
              <a:pathLst>
                <a:path w="771" h="907">
                  <a:moveTo>
                    <a:pt x="0" y="0"/>
                  </a:moveTo>
                  <a:cubicBezTo>
                    <a:pt x="60" y="4"/>
                    <a:pt x="121" y="8"/>
                    <a:pt x="181" y="46"/>
                  </a:cubicBezTo>
                  <a:cubicBezTo>
                    <a:pt x="241" y="84"/>
                    <a:pt x="302" y="121"/>
                    <a:pt x="363" y="227"/>
                  </a:cubicBezTo>
                  <a:cubicBezTo>
                    <a:pt x="424" y="333"/>
                    <a:pt x="499" y="575"/>
                    <a:pt x="544" y="681"/>
                  </a:cubicBezTo>
                  <a:cubicBezTo>
                    <a:pt x="589" y="787"/>
                    <a:pt x="597" y="824"/>
                    <a:pt x="635" y="862"/>
                  </a:cubicBezTo>
                  <a:cubicBezTo>
                    <a:pt x="673" y="900"/>
                    <a:pt x="748" y="900"/>
                    <a:pt x="771" y="907"/>
                  </a:cubicBezTo>
                </a:path>
              </a:pathLst>
            </a:custGeom>
            <a:noFill/>
            <a:ln w="31750">
              <a:solidFill>
                <a:srgbClr val="660033"/>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6900" name="Freeform 77">
              <a:extLst>
                <a:ext uri="{FF2B5EF4-FFF2-40B4-BE49-F238E27FC236}">
                  <a16:creationId xmlns:a16="http://schemas.microsoft.com/office/drawing/2014/main" id="{E447A2A6-7C86-4A4A-99F9-0EBFE65CA40F}"/>
                </a:ext>
              </a:extLst>
            </p:cNvPr>
            <p:cNvSpPr>
              <a:spLocks/>
            </p:cNvSpPr>
            <p:nvPr/>
          </p:nvSpPr>
          <p:spPr bwMode="auto">
            <a:xfrm>
              <a:off x="3288" y="1260"/>
              <a:ext cx="181" cy="182"/>
            </a:xfrm>
            <a:custGeom>
              <a:avLst/>
              <a:gdLst>
                <a:gd name="T0" fmla="*/ 0 w 771"/>
                <a:gd name="T1" fmla="*/ 0 h 907"/>
                <a:gd name="T2" fmla="*/ 0 w 771"/>
                <a:gd name="T3" fmla="*/ 0 h 907"/>
                <a:gd name="T4" fmla="*/ 0 w 771"/>
                <a:gd name="T5" fmla="*/ 0 h 907"/>
                <a:gd name="T6" fmla="*/ 0 w 771"/>
                <a:gd name="T7" fmla="*/ 0 h 907"/>
                <a:gd name="T8" fmla="*/ 0 w 771"/>
                <a:gd name="T9" fmla="*/ 0 h 907"/>
                <a:gd name="T10" fmla="*/ 0 w 771"/>
                <a:gd name="T11" fmla="*/ 0 h 907"/>
                <a:gd name="T12" fmla="*/ 0 60000 65536"/>
                <a:gd name="T13" fmla="*/ 0 60000 65536"/>
                <a:gd name="T14" fmla="*/ 0 60000 65536"/>
                <a:gd name="T15" fmla="*/ 0 60000 65536"/>
                <a:gd name="T16" fmla="*/ 0 60000 65536"/>
                <a:gd name="T17" fmla="*/ 0 60000 65536"/>
                <a:gd name="T18" fmla="*/ 0 w 771"/>
                <a:gd name="T19" fmla="*/ 0 h 907"/>
                <a:gd name="T20" fmla="*/ 771 w 771"/>
                <a:gd name="T21" fmla="*/ 907 h 907"/>
              </a:gdLst>
              <a:ahLst/>
              <a:cxnLst>
                <a:cxn ang="T12">
                  <a:pos x="T0" y="T1"/>
                </a:cxn>
                <a:cxn ang="T13">
                  <a:pos x="T2" y="T3"/>
                </a:cxn>
                <a:cxn ang="T14">
                  <a:pos x="T4" y="T5"/>
                </a:cxn>
                <a:cxn ang="T15">
                  <a:pos x="T6" y="T7"/>
                </a:cxn>
                <a:cxn ang="T16">
                  <a:pos x="T8" y="T9"/>
                </a:cxn>
                <a:cxn ang="T17">
                  <a:pos x="T10" y="T11"/>
                </a:cxn>
              </a:cxnLst>
              <a:rect l="T18" t="T19" r="T20" b="T21"/>
              <a:pathLst>
                <a:path w="771" h="907">
                  <a:moveTo>
                    <a:pt x="0" y="0"/>
                  </a:moveTo>
                  <a:cubicBezTo>
                    <a:pt x="60" y="4"/>
                    <a:pt x="121" y="8"/>
                    <a:pt x="181" y="46"/>
                  </a:cubicBezTo>
                  <a:cubicBezTo>
                    <a:pt x="241" y="84"/>
                    <a:pt x="302" y="121"/>
                    <a:pt x="363" y="227"/>
                  </a:cubicBezTo>
                  <a:cubicBezTo>
                    <a:pt x="424" y="333"/>
                    <a:pt x="499" y="575"/>
                    <a:pt x="544" y="681"/>
                  </a:cubicBezTo>
                  <a:cubicBezTo>
                    <a:pt x="589" y="787"/>
                    <a:pt x="597" y="824"/>
                    <a:pt x="635" y="862"/>
                  </a:cubicBezTo>
                  <a:cubicBezTo>
                    <a:pt x="673" y="900"/>
                    <a:pt x="748" y="900"/>
                    <a:pt x="771" y="907"/>
                  </a:cubicBezTo>
                </a:path>
              </a:pathLst>
            </a:custGeom>
            <a:noFill/>
            <a:ln w="31750">
              <a:solidFill>
                <a:srgbClr val="660033"/>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6901" name="Freeform 78">
              <a:extLst>
                <a:ext uri="{FF2B5EF4-FFF2-40B4-BE49-F238E27FC236}">
                  <a16:creationId xmlns:a16="http://schemas.microsoft.com/office/drawing/2014/main" id="{199B0563-655F-4782-87E1-705C9DC72AFF}"/>
                </a:ext>
              </a:extLst>
            </p:cNvPr>
            <p:cNvSpPr>
              <a:spLocks/>
            </p:cNvSpPr>
            <p:nvPr/>
          </p:nvSpPr>
          <p:spPr bwMode="auto">
            <a:xfrm>
              <a:off x="2926" y="1260"/>
              <a:ext cx="181" cy="182"/>
            </a:xfrm>
            <a:custGeom>
              <a:avLst/>
              <a:gdLst>
                <a:gd name="T0" fmla="*/ 0 w 771"/>
                <a:gd name="T1" fmla="*/ 0 h 907"/>
                <a:gd name="T2" fmla="*/ 0 w 771"/>
                <a:gd name="T3" fmla="*/ 0 h 907"/>
                <a:gd name="T4" fmla="*/ 0 w 771"/>
                <a:gd name="T5" fmla="*/ 0 h 907"/>
                <a:gd name="T6" fmla="*/ 0 w 771"/>
                <a:gd name="T7" fmla="*/ 0 h 907"/>
                <a:gd name="T8" fmla="*/ 0 w 771"/>
                <a:gd name="T9" fmla="*/ 0 h 907"/>
                <a:gd name="T10" fmla="*/ 0 w 771"/>
                <a:gd name="T11" fmla="*/ 0 h 907"/>
                <a:gd name="T12" fmla="*/ 0 60000 65536"/>
                <a:gd name="T13" fmla="*/ 0 60000 65536"/>
                <a:gd name="T14" fmla="*/ 0 60000 65536"/>
                <a:gd name="T15" fmla="*/ 0 60000 65536"/>
                <a:gd name="T16" fmla="*/ 0 60000 65536"/>
                <a:gd name="T17" fmla="*/ 0 60000 65536"/>
                <a:gd name="T18" fmla="*/ 0 w 771"/>
                <a:gd name="T19" fmla="*/ 0 h 907"/>
                <a:gd name="T20" fmla="*/ 771 w 771"/>
                <a:gd name="T21" fmla="*/ 907 h 907"/>
              </a:gdLst>
              <a:ahLst/>
              <a:cxnLst>
                <a:cxn ang="T12">
                  <a:pos x="T0" y="T1"/>
                </a:cxn>
                <a:cxn ang="T13">
                  <a:pos x="T2" y="T3"/>
                </a:cxn>
                <a:cxn ang="T14">
                  <a:pos x="T4" y="T5"/>
                </a:cxn>
                <a:cxn ang="T15">
                  <a:pos x="T6" y="T7"/>
                </a:cxn>
                <a:cxn ang="T16">
                  <a:pos x="T8" y="T9"/>
                </a:cxn>
                <a:cxn ang="T17">
                  <a:pos x="T10" y="T11"/>
                </a:cxn>
              </a:cxnLst>
              <a:rect l="T18" t="T19" r="T20" b="T21"/>
              <a:pathLst>
                <a:path w="771" h="907">
                  <a:moveTo>
                    <a:pt x="0" y="0"/>
                  </a:moveTo>
                  <a:cubicBezTo>
                    <a:pt x="60" y="4"/>
                    <a:pt x="121" y="8"/>
                    <a:pt x="181" y="46"/>
                  </a:cubicBezTo>
                  <a:cubicBezTo>
                    <a:pt x="241" y="84"/>
                    <a:pt x="302" y="121"/>
                    <a:pt x="363" y="227"/>
                  </a:cubicBezTo>
                  <a:cubicBezTo>
                    <a:pt x="424" y="333"/>
                    <a:pt x="499" y="575"/>
                    <a:pt x="544" y="681"/>
                  </a:cubicBezTo>
                  <a:cubicBezTo>
                    <a:pt x="589" y="787"/>
                    <a:pt x="597" y="824"/>
                    <a:pt x="635" y="862"/>
                  </a:cubicBezTo>
                  <a:cubicBezTo>
                    <a:pt x="673" y="900"/>
                    <a:pt x="748" y="900"/>
                    <a:pt x="771" y="907"/>
                  </a:cubicBezTo>
                </a:path>
              </a:pathLst>
            </a:custGeom>
            <a:noFill/>
            <a:ln w="31750">
              <a:solidFill>
                <a:srgbClr val="660033"/>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6902" name="Freeform 79">
              <a:extLst>
                <a:ext uri="{FF2B5EF4-FFF2-40B4-BE49-F238E27FC236}">
                  <a16:creationId xmlns:a16="http://schemas.microsoft.com/office/drawing/2014/main" id="{F047E7AA-7CD6-4380-8671-1D388F5C959C}"/>
                </a:ext>
              </a:extLst>
            </p:cNvPr>
            <p:cNvSpPr>
              <a:spLocks/>
            </p:cNvSpPr>
            <p:nvPr/>
          </p:nvSpPr>
          <p:spPr bwMode="auto">
            <a:xfrm>
              <a:off x="2563" y="1260"/>
              <a:ext cx="181" cy="182"/>
            </a:xfrm>
            <a:custGeom>
              <a:avLst/>
              <a:gdLst>
                <a:gd name="T0" fmla="*/ 0 w 771"/>
                <a:gd name="T1" fmla="*/ 0 h 907"/>
                <a:gd name="T2" fmla="*/ 0 w 771"/>
                <a:gd name="T3" fmla="*/ 0 h 907"/>
                <a:gd name="T4" fmla="*/ 0 w 771"/>
                <a:gd name="T5" fmla="*/ 0 h 907"/>
                <a:gd name="T6" fmla="*/ 0 w 771"/>
                <a:gd name="T7" fmla="*/ 0 h 907"/>
                <a:gd name="T8" fmla="*/ 0 w 771"/>
                <a:gd name="T9" fmla="*/ 0 h 907"/>
                <a:gd name="T10" fmla="*/ 0 w 771"/>
                <a:gd name="T11" fmla="*/ 0 h 907"/>
                <a:gd name="T12" fmla="*/ 0 60000 65536"/>
                <a:gd name="T13" fmla="*/ 0 60000 65536"/>
                <a:gd name="T14" fmla="*/ 0 60000 65536"/>
                <a:gd name="T15" fmla="*/ 0 60000 65536"/>
                <a:gd name="T16" fmla="*/ 0 60000 65536"/>
                <a:gd name="T17" fmla="*/ 0 60000 65536"/>
                <a:gd name="T18" fmla="*/ 0 w 771"/>
                <a:gd name="T19" fmla="*/ 0 h 907"/>
                <a:gd name="T20" fmla="*/ 771 w 771"/>
                <a:gd name="T21" fmla="*/ 907 h 907"/>
              </a:gdLst>
              <a:ahLst/>
              <a:cxnLst>
                <a:cxn ang="T12">
                  <a:pos x="T0" y="T1"/>
                </a:cxn>
                <a:cxn ang="T13">
                  <a:pos x="T2" y="T3"/>
                </a:cxn>
                <a:cxn ang="T14">
                  <a:pos x="T4" y="T5"/>
                </a:cxn>
                <a:cxn ang="T15">
                  <a:pos x="T6" y="T7"/>
                </a:cxn>
                <a:cxn ang="T16">
                  <a:pos x="T8" y="T9"/>
                </a:cxn>
                <a:cxn ang="T17">
                  <a:pos x="T10" y="T11"/>
                </a:cxn>
              </a:cxnLst>
              <a:rect l="T18" t="T19" r="T20" b="T21"/>
              <a:pathLst>
                <a:path w="771" h="907">
                  <a:moveTo>
                    <a:pt x="0" y="0"/>
                  </a:moveTo>
                  <a:cubicBezTo>
                    <a:pt x="60" y="4"/>
                    <a:pt x="121" y="8"/>
                    <a:pt x="181" y="46"/>
                  </a:cubicBezTo>
                  <a:cubicBezTo>
                    <a:pt x="241" y="84"/>
                    <a:pt x="302" y="121"/>
                    <a:pt x="363" y="227"/>
                  </a:cubicBezTo>
                  <a:cubicBezTo>
                    <a:pt x="424" y="333"/>
                    <a:pt x="499" y="575"/>
                    <a:pt x="544" y="681"/>
                  </a:cubicBezTo>
                  <a:cubicBezTo>
                    <a:pt x="589" y="787"/>
                    <a:pt x="597" y="824"/>
                    <a:pt x="635" y="862"/>
                  </a:cubicBezTo>
                  <a:cubicBezTo>
                    <a:pt x="673" y="900"/>
                    <a:pt x="748" y="900"/>
                    <a:pt x="771" y="907"/>
                  </a:cubicBezTo>
                </a:path>
              </a:pathLst>
            </a:custGeom>
            <a:noFill/>
            <a:ln w="31750">
              <a:solidFill>
                <a:srgbClr val="660033"/>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6903" name="Freeform 80">
              <a:extLst>
                <a:ext uri="{FF2B5EF4-FFF2-40B4-BE49-F238E27FC236}">
                  <a16:creationId xmlns:a16="http://schemas.microsoft.com/office/drawing/2014/main" id="{95450A97-BEE0-4348-BC91-913CCC71C192}"/>
                </a:ext>
              </a:extLst>
            </p:cNvPr>
            <p:cNvSpPr>
              <a:spLocks/>
            </p:cNvSpPr>
            <p:nvPr/>
          </p:nvSpPr>
          <p:spPr bwMode="auto">
            <a:xfrm>
              <a:off x="2744" y="1260"/>
              <a:ext cx="181" cy="182"/>
            </a:xfrm>
            <a:custGeom>
              <a:avLst/>
              <a:gdLst>
                <a:gd name="T0" fmla="*/ 0 w 771"/>
                <a:gd name="T1" fmla="*/ 0 h 907"/>
                <a:gd name="T2" fmla="*/ 0 w 771"/>
                <a:gd name="T3" fmla="*/ 0 h 907"/>
                <a:gd name="T4" fmla="*/ 0 w 771"/>
                <a:gd name="T5" fmla="*/ 0 h 907"/>
                <a:gd name="T6" fmla="*/ 0 w 771"/>
                <a:gd name="T7" fmla="*/ 0 h 907"/>
                <a:gd name="T8" fmla="*/ 0 w 771"/>
                <a:gd name="T9" fmla="*/ 0 h 907"/>
                <a:gd name="T10" fmla="*/ 0 w 771"/>
                <a:gd name="T11" fmla="*/ 0 h 907"/>
                <a:gd name="T12" fmla="*/ 0 60000 65536"/>
                <a:gd name="T13" fmla="*/ 0 60000 65536"/>
                <a:gd name="T14" fmla="*/ 0 60000 65536"/>
                <a:gd name="T15" fmla="*/ 0 60000 65536"/>
                <a:gd name="T16" fmla="*/ 0 60000 65536"/>
                <a:gd name="T17" fmla="*/ 0 60000 65536"/>
                <a:gd name="T18" fmla="*/ 0 w 771"/>
                <a:gd name="T19" fmla="*/ 0 h 907"/>
                <a:gd name="T20" fmla="*/ 771 w 771"/>
                <a:gd name="T21" fmla="*/ 907 h 907"/>
              </a:gdLst>
              <a:ahLst/>
              <a:cxnLst>
                <a:cxn ang="T12">
                  <a:pos x="T0" y="T1"/>
                </a:cxn>
                <a:cxn ang="T13">
                  <a:pos x="T2" y="T3"/>
                </a:cxn>
                <a:cxn ang="T14">
                  <a:pos x="T4" y="T5"/>
                </a:cxn>
                <a:cxn ang="T15">
                  <a:pos x="T6" y="T7"/>
                </a:cxn>
                <a:cxn ang="T16">
                  <a:pos x="T8" y="T9"/>
                </a:cxn>
                <a:cxn ang="T17">
                  <a:pos x="T10" y="T11"/>
                </a:cxn>
              </a:cxnLst>
              <a:rect l="T18" t="T19" r="T20" b="T21"/>
              <a:pathLst>
                <a:path w="771" h="907">
                  <a:moveTo>
                    <a:pt x="0" y="0"/>
                  </a:moveTo>
                  <a:cubicBezTo>
                    <a:pt x="60" y="4"/>
                    <a:pt x="121" y="8"/>
                    <a:pt x="181" y="46"/>
                  </a:cubicBezTo>
                  <a:cubicBezTo>
                    <a:pt x="241" y="84"/>
                    <a:pt x="302" y="121"/>
                    <a:pt x="363" y="227"/>
                  </a:cubicBezTo>
                  <a:cubicBezTo>
                    <a:pt x="424" y="333"/>
                    <a:pt x="499" y="575"/>
                    <a:pt x="544" y="681"/>
                  </a:cubicBezTo>
                  <a:cubicBezTo>
                    <a:pt x="589" y="787"/>
                    <a:pt x="597" y="824"/>
                    <a:pt x="635" y="862"/>
                  </a:cubicBezTo>
                  <a:cubicBezTo>
                    <a:pt x="673" y="900"/>
                    <a:pt x="748" y="900"/>
                    <a:pt x="771" y="907"/>
                  </a:cubicBezTo>
                </a:path>
              </a:pathLst>
            </a:custGeom>
            <a:noFill/>
            <a:ln w="31750">
              <a:solidFill>
                <a:srgbClr val="660033"/>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6904" name="Freeform 81">
              <a:extLst>
                <a:ext uri="{FF2B5EF4-FFF2-40B4-BE49-F238E27FC236}">
                  <a16:creationId xmlns:a16="http://schemas.microsoft.com/office/drawing/2014/main" id="{4C72B9BD-0F98-4C0C-B7D6-EF52AC1287B9}"/>
                </a:ext>
              </a:extLst>
            </p:cNvPr>
            <p:cNvSpPr>
              <a:spLocks/>
            </p:cNvSpPr>
            <p:nvPr/>
          </p:nvSpPr>
          <p:spPr bwMode="auto">
            <a:xfrm>
              <a:off x="3924" y="1254"/>
              <a:ext cx="45" cy="317"/>
            </a:xfrm>
            <a:custGeom>
              <a:avLst/>
              <a:gdLst>
                <a:gd name="T0" fmla="*/ 0 w 166"/>
                <a:gd name="T1" fmla="*/ 0 h 576"/>
                <a:gd name="T2" fmla="*/ 0 w 166"/>
                <a:gd name="T3" fmla="*/ 1 h 576"/>
                <a:gd name="T4" fmla="*/ 0 w 166"/>
                <a:gd name="T5" fmla="*/ 1 h 576"/>
                <a:gd name="T6" fmla="*/ 0 w 166"/>
                <a:gd name="T7" fmla="*/ 1 h 576"/>
                <a:gd name="T8" fmla="*/ 0 60000 65536"/>
                <a:gd name="T9" fmla="*/ 0 60000 65536"/>
                <a:gd name="T10" fmla="*/ 0 60000 65536"/>
                <a:gd name="T11" fmla="*/ 0 60000 65536"/>
                <a:gd name="T12" fmla="*/ 0 w 166"/>
                <a:gd name="T13" fmla="*/ 0 h 576"/>
                <a:gd name="T14" fmla="*/ 166 w 166"/>
                <a:gd name="T15" fmla="*/ 576 h 576"/>
              </a:gdLst>
              <a:ahLst/>
              <a:cxnLst>
                <a:cxn ang="T8">
                  <a:pos x="T0" y="T1"/>
                </a:cxn>
                <a:cxn ang="T9">
                  <a:pos x="T2" y="T3"/>
                </a:cxn>
                <a:cxn ang="T10">
                  <a:pos x="T4" y="T5"/>
                </a:cxn>
                <a:cxn ang="T11">
                  <a:pos x="T6" y="T7"/>
                </a:cxn>
              </a:cxnLst>
              <a:rect l="T12" t="T13" r="T14" b="T15"/>
              <a:pathLst>
                <a:path w="166" h="576">
                  <a:moveTo>
                    <a:pt x="0" y="0"/>
                  </a:moveTo>
                  <a:cubicBezTo>
                    <a:pt x="30" y="4"/>
                    <a:pt x="60" y="3"/>
                    <a:pt x="89" y="12"/>
                  </a:cubicBezTo>
                  <a:cubicBezTo>
                    <a:pt x="135" y="26"/>
                    <a:pt x="142" y="79"/>
                    <a:pt x="166" y="115"/>
                  </a:cubicBezTo>
                  <a:cubicBezTo>
                    <a:pt x="152" y="516"/>
                    <a:pt x="153" y="362"/>
                    <a:pt x="153" y="576"/>
                  </a:cubicBezTo>
                </a:path>
              </a:pathLst>
            </a:custGeom>
            <a:noFill/>
            <a:ln w="31750">
              <a:solidFill>
                <a:srgbClr val="660033"/>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36888" name="Group 82">
            <a:extLst>
              <a:ext uri="{FF2B5EF4-FFF2-40B4-BE49-F238E27FC236}">
                <a16:creationId xmlns:a16="http://schemas.microsoft.com/office/drawing/2014/main" id="{04EB4341-7515-4688-8D0C-24385C9306E2}"/>
              </a:ext>
            </a:extLst>
          </p:cNvPr>
          <p:cNvGrpSpPr>
            <a:grpSpLocks/>
          </p:cNvGrpSpPr>
          <p:nvPr/>
        </p:nvGrpSpPr>
        <p:grpSpPr bwMode="auto">
          <a:xfrm>
            <a:off x="3492500" y="2420938"/>
            <a:ext cx="3457575" cy="69850"/>
            <a:chOff x="2245" y="1329"/>
            <a:chExt cx="2178" cy="44"/>
          </a:xfrm>
        </p:grpSpPr>
        <p:sp>
          <p:nvSpPr>
            <p:cNvPr id="36895" name="AutoShape 83">
              <a:extLst>
                <a:ext uri="{FF2B5EF4-FFF2-40B4-BE49-F238E27FC236}">
                  <a16:creationId xmlns:a16="http://schemas.microsoft.com/office/drawing/2014/main" id="{013250AD-5B3B-4DE4-AF33-D5322DD3C2FC}"/>
                </a:ext>
              </a:extLst>
            </p:cNvPr>
            <p:cNvSpPr>
              <a:spLocks noChangeArrowheads="1"/>
            </p:cNvSpPr>
            <p:nvPr/>
          </p:nvSpPr>
          <p:spPr bwMode="auto">
            <a:xfrm>
              <a:off x="4196" y="1329"/>
              <a:ext cx="227" cy="44"/>
            </a:xfrm>
            <a:prstGeom prst="roundRect">
              <a:avLst>
                <a:gd name="adj" fmla="val 16667"/>
              </a:avLst>
            </a:prstGeom>
            <a:solidFill>
              <a:srgbClr val="CC33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2000">
                <a:solidFill>
                  <a:srgbClr val="CCCCFF"/>
                </a:solidFill>
                <a:latin typeface="Arial" panose="020B0604020202020204" pitchFamily="34" charset="0"/>
                <a:ea typeface="STXingkai" panose="02010800040101010101" pitchFamily="2" charset="-122"/>
              </a:endParaRPr>
            </a:p>
          </p:txBody>
        </p:sp>
        <p:sp>
          <p:nvSpPr>
            <p:cNvPr id="36896" name="AutoShape 84">
              <a:extLst>
                <a:ext uri="{FF2B5EF4-FFF2-40B4-BE49-F238E27FC236}">
                  <a16:creationId xmlns:a16="http://schemas.microsoft.com/office/drawing/2014/main" id="{7469F242-B46B-4D9F-8049-98E737F2E930}"/>
                </a:ext>
              </a:extLst>
            </p:cNvPr>
            <p:cNvSpPr>
              <a:spLocks noChangeArrowheads="1"/>
            </p:cNvSpPr>
            <p:nvPr/>
          </p:nvSpPr>
          <p:spPr bwMode="auto">
            <a:xfrm>
              <a:off x="2245" y="1329"/>
              <a:ext cx="228" cy="44"/>
            </a:xfrm>
            <a:prstGeom prst="roundRect">
              <a:avLst>
                <a:gd name="adj" fmla="val 16667"/>
              </a:avLst>
            </a:prstGeom>
            <a:solidFill>
              <a:srgbClr val="CC33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2000">
                <a:solidFill>
                  <a:srgbClr val="CCCCFF"/>
                </a:solidFill>
                <a:latin typeface="Arial" panose="020B0604020202020204" pitchFamily="34" charset="0"/>
                <a:ea typeface="STXingkai" panose="02010800040101010101" pitchFamily="2" charset="-122"/>
              </a:endParaRPr>
            </a:p>
          </p:txBody>
        </p:sp>
      </p:grpSp>
      <p:sp>
        <p:nvSpPr>
          <p:cNvPr id="1477717" name="AutoShape 85">
            <a:extLst>
              <a:ext uri="{FF2B5EF4-FFF2-40B4-BE49-F238E27FC236}">
                <a16:creationId xmlns:a16="http://schemas.microsoft.com/office/drawing/2014/main" id="{0AACC0D3-4020-472C-8E9F-D20125209CE5}"/>
              </a:ext>
            </a:extLst>
          </p:cNvPr>
          <p:cNvSpPr>
            <a:spLocks noChangeArrowheads="1"/>
          </p:cNvSpPr>
          <p:nvPr/>
        </p:nvSpPr>
        <p:spPr bwMode="auto">
          <a:xfrm rot="5400000">
            <a:off x="5002213" y="-100012"/>
            <a:ext cx="288925" cy="3311525"/>
          </a:xfrm>
          <a:prstGeom prst="can">
            <a:avLst>
              <a:gd name="adj" fmla="val 26531"/>
            </a:avLst>
          </a:prstGeom>
          <a:gradFill rotWithShape="0">
            <a:gsLst>
              <a:gs pos="0">
                <a:srgbClr val="761800"/>
              </a:gs>
              <a:gs pos="50000">
                <a:srgbClr val="FF3300"/>
              </a:gs>
              <a:gs pos="100000">
                <a:srgbClr val="761800"/>
              </a:gs>
            </a:gsLst>
            <a:lin ang="5400000" scaled="1"/>
          </a:gradFill>
          <a:ln w="317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2000">
              <a:solidFill>
                <a:srgbClr val="CCCCFF"/>
              </a:solidFill>
              <a:latin typeface="Arial" panose="020B0604020202020204" pitchFamily="34" charset="0"/>
              <a:ea typeface="STXingkai" panose="02010800040101010101" pitchFamily="2" charset="-122"/>
            </a:endParaRPr>
          </a:p>
        </p:txBody>
      </p:sp>
      <p:sp>
        <p:nvSpPr>
          <p:cNvPr id="1477718" name="Oval 86">
            <a:extLst>
              <a:ext uri="{FF2B5EF4-FFF2-40B4-BE49-F238E27FC236}">
                <a16:creationId xmlns:a16="http://schemas.microsoft.com/office/drawing/2014/main" id="{58282C2E-EB32-45D8-B1D7-9947DCAACA8F}"/>
              </a:ext>
            </a:extLst>
          </p:cNvPr>
          <p:cNvSpPr>
            <a:spLocks noChangeArrowheads="1"/>
          </p:cNvSpPr>
          <p:nvPr/>
        </p:nvSpPr>
        <p:spPr bwMode="auto">
          <a:xfrm>
            <a:off x="1258888" y="2203450"/>
            <a:ext cx="360362" cy="360363"/>
          </a:xfrm>
          <a:prstGeom prst="ellipse">
            <a:avLst/>
          </a:prstGeom>
          <a:gradFill rotWithShape="1">
            <a:gsLst>
              <a:gs pos="0">
                <a:schemeClr val="accent1"/>
              </a:gs>
              <a:gs pos="100000">
                <a:srgbClr val="0099CC"/>
              </a:gs>
            </a:gsLst>
            <a:lin ang="5400000" scaled="1"/>
          </a:gra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2000">
              <a:solidFill>
                <a:srgbClr val="CCCCFF"/>
              </a:solidFill>
              <a:latin typeface="Arial" panose="020B0604020202020204" pitchFamily="34" charset="0"/>
              <a:ea typeface="STXingkai" panose="02010800040101010101" pitchFamily="2" charset="-122"/>
            </a:endParaRPr>
          </a:p>
        </p:txBody>
      </p:sp>
      <p:sp>
        <p:nvSpPr>
          <p:cNvPr id="1477719" name="Oval 87">
            <a:extLst>
              <a:ext uri="{FF2B5EF4-FFF2-40B4-BE49-F238E27FC236}">
                <a16:creationId xmlns:a16="http://schemas.microsoft.com/office/drawing/2014/main" id="{D309202C-130C-4E77-A574-13D20324DE40}"/>
              </a:ext>
            </a:extLst>
          </p:cNvPr>
          <p:cNvSpPr>
            <a:spLocks noChangeArrowheads="1"/>
          </p:cNvSpPr>
          <p:nvPr/>
        </p:nvSpPr>
        <p:spPr bwMode="auto">
          <a:xfrm>
            <a:off x="1290638" y="1409700"/>
            <a:ext cx="360362" cy="360363"/>
          </a:xfrm>
          <a:prstGeom prst="ellipse">
            <a:avLst/>
          </a:prstGeom>
          <a:gradFill rotWithShape="1">
            <a:gsLst>
              <a:gs pos="0">
                <a:srgbClr val="FF9933"/>
              </a:gs>
              <a:gs pos="100000">
                <a:srgbClr val="FF3300"/>
              </a:gs>
            </a:gsLst>
            <a:path path="shape">
              <a:fillToRect l="50000" t="50000" r="50000" b="50000"/>
            </a:path>
          </a:gra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2000">
              <a:solidFill>
                <a:srgbClr val="CCCCFF"/>
              </a:solidFill>
              <a:latin typeface="Arial" panose="020B0604020202020204" pitchFamily="34" charset="0"/>
              <a:ea typeface="STXingkai" panose="02010800040101010101" pitchFamily="2" charset="-122"/>
            </a:endParaRPr>
          </a:p>
        </p:txBody>
      </p:sp>
      <p:sp>
        <p:nvSpPr>
          <p:cNvPr id="36892" name="Rectangle 88">
            <a:extLst>
              <a:ext uri="{FF2B5EF4-FFF2-40B4-BE49-F238E27FC236}">
                <a16:creationId xmlns:a16="http://schemas.microsoft.com/office/drawing/2014/main" id="{CE9F5638-7492-45E7-B01A-3460A2529B93}"/>
              </a:ext>
            </a:extLst>
          </p:cNvPr>
          <p:cNvSpPr>
            <a:spLocks noChangeArrowheads="1"/>
          </p:cNvSpPr>
          <p:nvPr/>
        </p:nvSpPr>
        <p:spPr bwMode="auto">
          <a:xfrm>
            <a:off x="2122488" y="2203450"/>
            <a:ext cx="935037"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85000"/>
              </a:lnSpc>
            </a:pPr>
            <a:r>
              <a:rPr lang="zh-CN" altLang="en-US">
                <a:solidFill>
                  <a:srgbClr val="CCCCFF"/>
                </a:solidFill>
                <a:latin typeface="华文中宋" panose="02010600040101010101" pitchFamily="2" charset="-122"/>
              </a:rPr>
              <a:t>脉冲氙灯</a:t>
            </a:r>
          </a:p>
        </p:txBody>
      </p:sp>
      <p:sp>
        <p:nvSpPr>
          <p:cNvPr id="36893" name="Rectangle 89">
            <a:extLst>
              <a:ext uri="{FF2B5EF4-FFF2-40B4-BE49-F238E27FC236}">
                <a16:creationId xmlns:a16="http://schemas.microsoft.com/office/drawing/2014/main" id="{9ABFE4CF-A8ED-4841-9BED-5663229ED5F3}"/>
              </a:ext>
            </a:extLst>
          </p:cNvPr>
          <p:cNvSpPr>
            <a:spLocks noChangeArrowheads="1"/>
          </p:cNvSpPr>
          <p:nvPr/>
        </p:nvSpPr>
        <p:spPr bwMode="auto">
          <a:xfrm>
            <a:off x="4356100" y="981075"/>
            <a:ext cx="1295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a:solidFill>
                  <a:srgbClr val="00FFFF"/>
                </a:solidFill>
                <a:latin typeface="华文中宋" panose="02010600040101010101" pitchFamily="2" charset="-122"/>
              </a:rPr>
              <a:t>红宝石</a:t>
            </a:r>
          </a:p>
        </p:txBody>
      </p:sp>
      <p:sp>
        <p:nvSpPr>
          <p:cNvPr id="36894" name="灯片编号占位符 1">
            <a:extLst>
              <a:ext uri="{FF2B5EF4-FFF2-40B4-BE49-F238E27FC236}">
                <a16:creationId xmlns:a16="http://schemas.microsoft.com/office/drawing/2014/main" id="{F5F39897-BD24-46CD-B796-BBDFCFD609EA}"/>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423FD3F5-55CC-42A8-AE8A-90AEFA28A9C6}" type="slidenum">
              <a:rPr lang="en-US" altLang="zh-CN" b="0">
                <a:solidFill>
                  <a:srgbClr val="FF00FF"/>
                </a:solidFill>
              </a:rPr>
              <a:pPr eaLnBrk="1" hangingPunct="1"/>
              <a:t>24</a:t>
            </a:fld>
            <a:r>
              <a:rPr lang="en-US" altLang="zh-CN" b="0">
                <a:solidFill>
                  <a:srgbClr val="FF00FF"/>
                </a:solidFill>
              </a:rPr>
              <a:t>/25</a:t>
            </a: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a:extLst>
              <a:ext uri="{FF2B5EF4-FFF2-40B4-BE49-F238E27FC236}">
                <a16:creationId xmlns:a16="http://schemas.microsoft.com/office/drawing/2014/main" id="{A16B9494-0130-4B85-A12F-E4098CBCD9C8}"/>
              </a:ext>
            </a:extLst>
          </p:cNvPr>
          <p:cNvSpPr>
            <a:spLocks noChangeArrowheads="1"/>
          </p:cNvSpPr>
          <p:nvPr/>
        </p:nvSpPr>
        <p:spPr bwMode="auto">
          <a:xfrm>
            <a:off x="512763" y="188913"/>
            <a:ext cx="42037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76176" bIns="76176">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500">
                <a:solidFill>
                  <a:srgbClr val="EDFE4A"/>
                </a:solidFill>
              </a:rPr>
              <a:t>五</a:t>
            </a:r>
            <a:r>
              <a:rPr lang="en-US" altLang="zh-CN" sz="2500">
                <a:solidFill>
                  <a:srgbClr val="EDFE4A"/>
                </a:solidFill>
              </a:rPr>
              <a:t>.  </a:t>
            </a:r>
            <a:r>
              <a:rPr lang="zh-CN" altLang="en-US" sz="2500">
                <a:solidFill>
                  <a:srgbClr val="EDFE4A"/>
                </a:solidFill>
              </a:rPr>
              <a:t>激光的特性与应用</a:t>
            </a:r>
          </a:p>
        </p:txBody>
      </p:sp>
      <p:sp>
        <p:nvSpPr>
          <p:cNvPr id="125955" name="AutoShape 3">
            <a:extLst>
              <a:ext uri="{FF2B5EF4-FFF2-40B4-BE49-F238E27FC236}">
                <a16:creationId xmlns:a16="http://schemas.microsoft.com/office/drawing/2014/main" id="{2EB4A6EC-8DE0-400A-B6CC-F3412E0FCC93}"/>
              </a:ext>
            </a:extLst>
          </p:cNvPr>
          <p:cNvSpPr>
            <a:spLocks noChangeArrowheads="1"/>
          </p:cNvSpPr>
          <p:nvPr/>
        </p:nvSpPr>
        <p:spPr bwMode="auto">
          <a:xfrm>
            <a:off x="3924300" y="239713"/>
            <a:ext cx="381000" cy="381000"/>
          </a:xfrm>
          <a:custGeom>
            <a:avLst/>
            <a:gdLst>
              <a:gd name="T0" fmla="*/ 190500 w 381000"/>
              <a:gd name="T1" fmla="*/ 0 h 381000"/>
              <a:gd name="T2" fmla="*/ 0 w 381000"/>
              <a:gd name="T3" fmla="*/ 145529 h 381000"/>
              <a:gd name="T4" fmla="*/ 72764 w 381000"/>
              <a:gd name="T5" fmla="*/ 380999 h 381000"/>
              <a:gd name="T6" fmla="*/ 308236 w 381000"/>
              <a:gd name="T7" fmla="*/ 380999 h 381000"/>
              <a:gd name="T8" fmla="*/ 381000 w 381000"/>
              <a:gd name="T9" fmla="*/ 145529 h 381000"/>
              <a:gd name="T10" fmla="*/ 17694720 60000 65536"/>
              <a:gd name="T11" fmla="*/ 11796480 60000 65536"/>
              <a:gd name="T12" fmla="*/ 5898240 60000 65536"/>
              <a:gd name="T13" fmla="*/ 5898240 60000 65536"/>
              <a:gd name="T14" fmla="*/ 0 60000 65536"/>
              <a:gd name="T15" fmla="*/ 117737 w 381000"/>
              <a:gd name="T16" fmla="*/ 145530 h 381000"/>
              <a:gd name="T17" fmla="*/ 263263 w 381000"/>
              <a:gd name="T18" fmla="*/ 291056 h 381000"/>
            </a:gdLst>
            <a:ahLst/>
            <a:cxnLst>
              <a:cxn ang="T10">
                <a:pos x="T0" y="T1"/>
              </a:cxn>
              <a:cxn ang="T11">
                <a:pos x="T2" y="T3"/>
              </a:cxn>
              <a:cxn ang="T12">
                <a:pos x="T4" y="T5"/>
              </a:cxn>
              <a:cxn ang="T13">
                <a:pos x="T6" y="T7"/>
              </a:cxn>
              <a:cxn ang="T14">
                <a:pos x="T8" y="T9"/>
              </a:cxn>
            </a:cxnLst>
            <a:rect l="T15" t="T16" r="T17" b="T18"/>
            <a:pathLst>
              <a:path w="381000" h="381000">
                <a:moveTo>
                  <a:pt x="0" y="145529"/>
                </a:moveTo>
                <a:lnTo>
                  <a:pt x="145530" y="145530"/>
                </a:lnTo>
                <a:lnTo>
                  <a:pt x="190500" y="0"/>
                </a:lnTo>
                <a:lnTo>
                  <a:pt x="235470" y="145530"/>
                </a:lnTo>
                <a:lnTo>
                  <a:pt x="381000" y="145529"/>
                </a:lnTo>
                <a:lnTo>
                  <a:pt x="263263" y="235470"/>
                </a:lnTo>
                <a:lnTo>
                  <a:pt x="308236" y="380999"/>
                </a:lnTo>
                <a:lnTo>
                  <a:pt x="190500" y="291056"/>
                </a:lnTo>
                <a:lnTo>
                  <a:pt x="72764" y="380999"/>
                </a:lnTo>
                <a:lnTo>
                  <a:pt x="117737" y="235470"/>
                </a:lnTo>
                <a:lnTo>
                  <a:pt x="0" y="145529"/>
                </a:lnTo>
                <a:close/>
              </a:path>
            </a:pathLst>
          </a:custGeom>
          <a:solidFill>
            <a:srgbClr val="FF0000"/>
          </a:solidFill>
          <a:ln w="22225">
            <a:solidFill>
              <a:srgbClr val="FF0000"/>
            </a:solidFill>
            <a:miter lim="800000"/>
            <a:headEnd/>
            <a:tailEnd/>
          </a:ln>
        </p:spPr>
        <p:txBody>
          <a:bodyPr wrap="none" anchor="ctr"/>
          <a:lstStyle/>
          <a:p>
            <a:endParaRPr lang="zh-CN" altLang="en-US"/>
          </a:p>
        </p:txBody>
      </p:sp>
      <p:sp>
        <p:nvSpPr>
          <p:cNvPr id="125956" name="Rectangle 4">
            <a:extLst>
              <a:ext uri="{FF2B5EF4-FFF2-40B4-BE49-F238E27FC236}">
                <a16:creationId xmlns:a16="http://schemas.microsoft.com/office/drawing/2014/main" id="{5E140CBB-C843-4193-964F-3B5413F7D558}"/>
              </a:ext>
            </a:extLst>
          </p:cNvPr>
          <p:cNvSpPr>
            <a:spLocks noChangeArrowheads="1"/>
          </p:cNvSpPr>
          <p:nvPr/>
        </p:nvSpPr>
        <p:spPr bwMode="auto">
          <a:xfrm>
            <a:off x="665163" y="692150"/>
            <a:ext cx="21066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rgbClr val="00FFFF"/>
                </a:solidFill>
                <a:ea typeface="华文中宋" panose="02010600040101010101" pitchFamily="2" charset="-122"/>
              </a:rPr>
              <a:t>1. </a:t>
            </a:r>
            <a:r>
              <a:rPr lang="zh-CN" altLang="en-US">
                <a:solidFill>
                  <a:srgbClr val="00FFFF"/>
                </a:solidFill>
                <a:ea typeface="华文中宋" panose="02010600040101010101" pitchFamily="2" charset="-122"/>
              </a:rPr>
              <a:t>方向性好</a:t>
            </a:r>
          </a:p>
        </p:txBody>
      </p:sp>
      <p:sp>
        <p:nvSpPr>
          <p:cNvPr id="125957" name="Rectangle 5">
            <a:extLst>
              <a:ext uri="{FF2B5EF4-FFF2-40B4-BE49-F238E27FC236}">
                <a16:creationId xmlns:a16="http://schemas.microsoft.com/office/drawing/2014/main" id="{0722959D-18E4-4B8B-89DB-D8DB1B9C10FF}"/>
              </a:ext>
            </a:extLst>
          </p:cNvPr>
          <p:cNvSpPr>
            <a:spLocks noChangeArrowheads="1"/>
          </p:cNvSpPr>
          <p:nvPr/>
        </p:nvSpPr>
        <p:spPr bwMode="auto">
          <a:xfrm>
            <a:off x="900113" y="1143000"/>
            <a:ext cx="72723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a:solidFill>
                  <a:schemeClr val="bg1"/>
                </a:solidFill>
              </a:rPr>
              <a:t>与普通光源相比，发散角小于                  ，激光几乎是平行光束</a:t>
            </a:r>
          </a:p>
        </p:txBody>
      </p:sp>
      <p:graphicFrame>
        <p:nvGraphicFramePr>
          <p:cNvPr id="125959" name="Object 7">
            <a:extLst>
              <a:ext uri="{FF2B5EF4-FFF2-40B4-BE49-F238E27FC236}">
                <a16:creationId xmlns:a16="http://schemas.microsoft.com/office/drawing/2014/main" id="{E6A1BD87-EC3D-4623-B73B-7360F147034A}"/>
              </a:ext>
            </a:extLst>
          </p:cNvPr>
          <p:cNvGraphicFramePr>
            <a:graphicFrameLocks noChangeAspect="1"/>
          </p:cNvGraphicFramePr>
          <p:nvPr/>
        </p:nvGraphicFramePr>
        <p:xfrm>
          <a:off x="4418013" y="1136650"/>
          <a:ext cx="946150" cy="384175"/>
        </p:xfrm>
        <a:graphic>
          <a:graphicData uri="http://schemas.openxmlformats.org/presentationml/2006/ole">
            <mc:AlternateContent xmlns:mc="http://schemas.openxmlformats.org/markup-compatibility/2006">
              <mc:Choice xmlns:v="urn:schemas-microsoft-com:vml" Requires="v">
                <p:oleObj spid="_x0000_s570598" name="公式" r:id="rId3" imgW="464855" imgH="175197" progId="Equation.3">
                  <p:embed/>
                </p:oleObj>
              </mc:Choice>
              <mc:Fallback>
                <p:oleObj name="公式" r:id="rId3" imgW="464855" imgH="175197" progId="Equation.3">
                  <p:embed/>
                  <p:pic>
                    <p:nvPicPr>
                      <p:cNvPr id="125959" name="Object 7">
                        <a:extLst>
                          <a:ext uri="{FF2B5EF4-FFF2-40B4-BE49-F238E27FC236}">
                            <a16:creationId xmlns:a16="http://schemas.microsoft.com/office/drawing/2014/main" id="{E6A1BD87-EC3D-4623-B73B-7360F147034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18013" y="1136650"/>
                        <a:ext cx="946150" cy="384175"/>
                      </a:xfrm>
                      <a:prstGeom prst="rect">
                        <a:avLst/>
                      </a:prstGeom>
                      <a:noFill/>
                      <a:ln>
                        <a:noFill/>
                      </a:ln>
                      <a:extLst>
                        <a:ext uri="{909E8E84-426E-40DD-AFC4-6F175D3DCCD1}">
                          <a14:hiddenFill xmlns:a14="http://schemas.microsoft.com/office/drawing/2010/main">
                            <a:solidFill>
                              <a:srgbClr val="006699"/>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5960" name="Rectangle 8">
            <a:extLst>
              <a:ext uri="{FF2B5EF4-FFF2-40B4-BE49-F238E27FC236}">
                <a16:creationId xmlns:a16="http://schemas.microsoft.com/office/drawing/2014/main" id="{A666A114-96A7-403B-A49F-09E77499597F}"/>
              </a:ext>
            </a:extLst>
          </p:cNvPr>
          <p:cNvSpPr>
            <a:spLocks noChangeArrowheads="1"/>
          </p:cNvSpPr>
          <p:nvPr/>
        </p:nvSpPr>
        <p:spPr bwMode="auto">
          <a:xfrm>
            <a:off x="895350" y="1592263"/>
            <a:ext cx="58372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dirty="0">
                <a:solidFill>
                  <a:srgbClr val="00FFFF"/>
                </a:solidFill>
              </a:rPr>
              <a:t>可用于定位，准直，导向，测距、激光雷达等</a:t>
            </a:r>
          </a:p>
        </p:txBody>
      </p:sp>
      <p:grpSp>
        <p:nvGrpSpPr>
          <p:cNvPr id="2" name="Group 9">
            <a:extLst>
              <a:ext uri="{FF2B5EF4-FFF2-40B4-BE49-F238E27FC236}">
                <a16:creationId xmlns:a16="http://schemas.microsoft.com/office/drawing/2014/main" id="{6344745E-7D20-47E1-857F-0644A6D87D05}"/>
              </a:ext>
            </a:extLst>
          </p:cNvPr>
          <p:cNvGrpSpPr>
            <a:grpSpLocks/>
          </p:cNvGrpSpPr>
          <p:nvPr/>
        </p:nvGrpSpPr>
        <p:grpSpPr bwMode="auto">
          <a:xfrm>
            <a:off x="1122363" y="2060575"/>
            <a:ext cx="6934200" cy="1000125"/>
            <a:chOff x="624" y="1584"/>
            <a:chExt cx="4368" cy="630"/>
          </a:xfrm>
        </p:grpSpPr>
        <p:sp>
          <p:nvSpPr>
            <p:cNvPr id="38934" name="Line 10">
              <a:extLst>
                <a:ext uri="{FF2B5EF4-FFF2-40B4-BE49-F238E27FC236}">
                  <a16:creationId xmlns:a16="http://schemas.microsoft.com/office/drawing/2014/main" id="{25F5696C-0D4F-4B32-8700-991D131A7303}"/>
                </a:ext>
              </a:extLst>
            </p:cNvPr>
            <p:cNvSpPr>
              <a:spLocks noChangeShapeType="1"/>
            </p:cNvSpPr>
            <p:nvPr/>
          </p:nvSpPr>
          <p:spPr bwMode="auto">
            <a:xfrm>
              <a:off x="1200" y="1872"/>
              <a:ext cx="3360" cy="0"/>
            </a:xfrm>
            <a:prstGeom prst="line">
              <a:avLst/>
            </a:prstGeom>
            <a:noFill/>
            <a:ln w="9525">
              <a:solidFill>
                <a:srgbClr val="FFFF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35" name="Line 11">
              <a:extLst>
                <a:ext uri="{FF2B5EF4-FFF2-40B4-BE49-F238E27FC236}">
                  <a16:creationId xmlns:a16="http://schemas.microsoft.com/office/drawing/2014/main" id="{EFA84185-15D1-405C-B53D-586D475D9B40}"/>
                </a:ext>
              </a:extLst>
            </p:cNvPr>
            <p:cNvSpPr>
              <a:spLocks noChangeShapeType="1"/>
            </p:cNvSpPr>
            <p:nvPr/>
          </p:nvSpPr>
          <p:spPr bwMode="auto">
            <a:xfrm flipH="1">
              <a:off x="1248" y="1968"/>
              <a:ext cx="3312" cy="0"/>
            </a:xfrm>
            <a:prstGeom prst="line">
              <a:avLst/>
            </a:prstGeom>
            <a:noFill/>
            <a:ln w="9525">
              <a:solidFill>
                <a:srgbClr val="FFFF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36" name="Arc 12">
              <a:extLst>
                <a:ext uri="{FF2B5EF4-FFF2-40B4-BE49-F238E27FC236}">
                  <a16:creationId xmlns:a16="http://schemas.microsoft.com/office/drawing/2014/main" id="{3B9FD342-9416-4A4D-8059-A7D46DAFA336}"/>
                </a:ext>
              </a:extLst>
            </p:cNvPr>
            <p:cNvSpPr>
              <a:spLocks/>
            </p:cNvSpPr>
            <p:nvPr/>
          </p:nvSpPr>
          <p:spPr bwMode="auto">
            <a:xfrm flipV="1">
              <a:off x="4560" y="1872"/>
              <a:ext cx="192" cy="96"/>
            </a:xfrm>
            <a:custGeom>
              <a:avLst/>
              <a:gdLst>
                <a:gd name="T0" fmla="*/ 0 w 23026"/>
                <a:gd name="T1" fmla="*/ 0 h 43200"/>
                <a:gd name="T2" fmla="*/ 0 w 23026"/>
                <a:gd name="T3" fmla="*/ 0 h 43200"/>
                <a:gd name="T4" fmla="*/ 0 w 23026"/>
                <a:gd name="T5" fmla="*/ 0 h 43200"/>
                <a:gd name="T6" fmla="*/ 0 60000 65536"/>
                <a:gd name="T7" fmla="*/ 0 60000 65536"/>
                <a:gd name="T8" fmla="*/ 0 60000 65536"/>
                <a:gd name="T9" fmla="*/ 0 w 23026"/>
                <a:gd name="T10" fmla="*/ 0 h 43200"/>
                <a:gd name="T11" fmla="*/ 23026 w 23026"/>
                <a:gd name="T12" fmla="*/ 43200 h 43200"/>
              </a:gdLst>
              <a:ahLst/>
              <a:cxnLst>
                <a:cxn ang="T6">
                  <a:pos x="T0" y="T1"/>
                </a:cxn>
                <a:cxn ang="T7">
                  <a:pos x="T2" y="T3"/>
                </a:cxn>
                <a:cxn ang="T8">
                  <a:pos x="T4" y="T5"/>
                </a:cxn>
              </a:cxnLst>
              <a:rect l="T9" t="T10" r="T11" b="T12"/>
              <a:pathLst>
                <a:path w="23026" h="43200" fill="none" extrusionOk="0">
                  <a:moveTo>
                    <a:pt x="1425" y="0"/>
                  </a:moveTo>
                  <a:cubicBezTo>
                    <a:pt x="13355" y="0"/>
                    <a:pt x="23026" y="9670"/>
                    <a:pt x="23026" y="21600"/>
                  </a:cubicBezTo>
                  <a:cubicBezTo>
                    <a:pt x="23026" y="33529"/>
                    <a:pt x="13355" y="43200"/>
                    <a:pt x="1426" y="43200"/>
                  </a:cubicBezTo>
                  <a:cubicBezTo>
                    <a:pt x="950" y="43200"/>
                    <a:pt x="474" y="43184"/>
                    <a:pt x="0" y="43152"/>
                  </a:cubicBezTo>
                </a:path>
                <a:path w="23026" h="43200" stroke="0" extrusionOk="0">
                  <a:moveTo>
                    <a:pt x="1425" y="0"/>
                  </a:moveTo>
                  <a:cubicBezTo>
                    <a:pt x="13355" y="0"/>
                    <a:pt x="23026" y="9670"/>
                    <a:pt x="23026" y="21600"/>
                  </a:cubicBezTo>
                  <a:cubicBezTo>
                    <a:pt x="23026" y="33529"/>
                    <a:pt x="13355" y="43200"/>
                    <a:pt x="1426" y="43200"/>
                  </a:cubicBezTo>
                  <a:cubicBezTo>
                    <a:pt x="950" y="43200"/>
                    <a:pt x="474" y="43184"/>
                    <a:pt x="0" y="43152"/>
                  </a:cubicBezTo>
                  <a:lnTo>
                    <a:pt x="1426" y="21600"/>
                  </a:lnTo>
                  <a:lnTo>
                    <a:pt x="1425" y="0"/>
                  </a:lnTo>
                  <a:close/>
                </a:path>
              </a:pathLst>
            </a:custGeom>
            <a:noFill/>
            <a:ln w="9525">
              <a:solidFill>
                <a:srgbClr val="FFFF00"/>
              </a:solidFill>
              <a:round/>
              <a:headEnd/>
              <a:tailEnd/>
            </a:ln>
            <a:extLst>
              <a:ext uri="{909E8E84-426E-40DD-AFC4-6F175D3DCCD1}">
                <a14:hiddenFill xmlns:a14="http://schemas.microsoft.com/office/drawing/2010/main">
                  <a:solidFill>
                    <a:srgbClr val="FFFFFF"/>
                  </a:solidFill>
                </a14:hiddenFill>
              </a:ext>
            </a:extLst>
          </p:spPr>
          <p:txBody>
            <a:bodyPr rot="10800000" wrap="none" anchor="ctr"/>
            <a:lstStyle/>
            <a:p>
              <a:endParaRPr lang="zh-CN" altLang="en-US"/>
            </a:p>
          </p:txBody>
        </p:sp>
        <p:sp>
          <p:nvSpPr>
            <p:cNvPr id="38937" name="Oval 13">
              <a:extLst>
                <a:ext uri="{FF2B5EF4-FFF2-40B4-BE49-F238E27FC236}">
                  <a16:creationId xmlns:a16="http://schemas.microsoft.com/office/drawing/2014/main" id="{4AE3FE44-D51E-41B5-AC64-0DCEB966DB7D}"/>
                </a:ext>
              </a:extLst>
            </p:cNvPr>
            <p:cNvSpPr>
              <a:spLocks noChangeArrowheads="1"/>
            </p:cNvSpPr>
            <p:nvPr/>
          </p:nvSpPr>
          <p:spPr bwMode="auto">
            <a:xfrm>
              <a:off x="4752" y="1824"/>
              <a:ext cx="240" cy="240"/>
            </a:xfrm>
            <a:prstGeom prst="ellipse">
              <a:avLst/>
            </a:prstGeom>
            <a:solidFill>
              <a:srgbClr val="FF99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38938" name="Oval 14">
              <a:extLst>
                <a:ext uri="{FF2B5EF4-FFF2-40B4-BE49-F238E27FC236}">
                  <a16:creationId xmlns:a16="http://schemas.microsoft.com/office/drawing/2014/main" id="{0944C1E0-DA8D-472F-B997-0FD7B932CB42}"/>
                </a:ext>
              </a:extLst>
            </p:cNvPr>
            <p:cNvSpPr>
              <a:spLocks noChangeArrowheads="1"/>
            </p:cNvSpPr>
            <p:nvPr/>
          </p:nvSpPr>
          <p:spPr bwMode="auto">
            <a:xfrm>
              <a:off x="624" y="1584"/>
              <a:ext cx="624" cy="624"/>
            </a:xfrm>
            <a:prstGeom prst="ellipse">
              <a:avLst/>
            </a:prstGeom>
            <a:solidFill>
              <a:srgbClr val="33CCCC"/>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38939" name="AutoShape 15">
              <a:extLst>
                <a:ext uri="{FF2B5EF4-FFF2-40B4-BE49-F238E27FC236}">
                  <a16:creationId xmlns:a16="http://schemas.microsoft.com/office/drawing/2014/main" id="{03BB4E9E-E411-4C47-92BC-8056ECC2E3F9}"/>
                </a:ext>
              </a:extLst>
            </p:cNvPr>
            <p:cNvSpPr>
              <a:spLocks noChangeArrowheads="1"/>
            </p:cNvSpPr>
            <p:nvPr/>
          </p:nvSpPr>
          <p:spPr bwMode="auto">
            <a:xfrm>
              <a:off x="1104" y="1728"/>
              <a:ext cx="192" cy="240"/>
            </a:xfrm>
            <a:prstGeom prst="irregularSeal2">
              <a:avLst/>
            </a:prstGeom>
            <a:solidFill>
              <a:srgbClr val="FF66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graphicFrame>
          <p:nvGraphicFramePr>
            <p:cNvPr id="38940" name="Object 16">
              <a:extLst>
                <a:ext uri="{FF2B5EF4-FFF2-40B4-BE49-F238E27FC236}">
                  <a16:creationId xmlns:a16="http://schemas.microsoft.com/office/drawing/2014/main" id="{6C0C8117-7097-4AA1-A998-367166D6F248}"/>
                </a:ext>
              </a:extLst>
            </p:cNvPr>
            <p:cNvGraphicFramePr>
              <a:graphicFrameLocks noChangeAspect="1"/>
            </p:cNvGraphicFramePr>
            <p:nvPr/>
          </p:nvGraphicFramePr>
          <p:xfrm>
            <a:off x="2232" y="1596"/>
            <a:ext cx="960" cy="254"/>
          </p:xfrm>
          <a:graphic>
            <a:graphicData uri="http://schemas.openxmlformats.org/presentationml/2006/ole">
              <mc:AlternateContent xmlns:mc="http://schemas.openxmlformats.org/markup-compatibility/2006">
                <mc:Choice xmlns:v="urn:schemas-microsoft-com:vml" Requires="v">
                  <p:oleObj spid="_x0000_s570599" name="公式" r:id="rId5" imgW="731520" imgH="175197" progId="Equation.3">
                    <p:embed/>
                  </p:oleObj>
                </mc:Choice>
                <mc:Fallback>
                  <p:oleObj name="公式" r:id="rId5" imgW="731520" imgH="175197" progId="Equation.3">
                    <p:embed/>
                    <p:pic>
                      <p:nvPicPr>
                        <p:cNvPr id="38940" name="Object 16">
                          <a:extLst>
                            <a:ext uri="{FF2B5EF4-FFF2-40B4-BE49-F238E27FC236}">
                              <a16:creationId xmlns:a16="http://schemas.microsoft.com/office/drawing/2014/main" id="{6C0C8117-7097-4AA1-A998-367166D6F24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32" y="1596"/>
                          <a:ext cx="960" cy="254"/>
                        </a:xfrm>
                        <a:prstGeom prst="rect">
                          <a:avLst/>
                        </a:prstGeom>
                        <a:noFill/>
                        <a:ln>
                          <a:noFill/>
                        </a:ln>
                        <a:extLst>
                          <a:ext uri="{909E8E84-426E-40DD-AFC4-6F175D3DCCD1}">
                            <a14:hiddenFill xmlns:a14="http://schemas.microsoft.com/office/drawing/2010/main">
                              <a:solidFill>
                                <a:srgbClr val="006699"/>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8941" name="Object 17">
              <a:extLst>
                <a:ext uri="{FF2B5EF4-FFF2-40B4-BE49-F238E27FC236}">
                  <a16:creationId xmlns:a16="http://schemas.microsoft.com/office/drawing/2014/main" id="{5749DB69-CFF2-40ED-9F96-EC5DAFEFDE75}"/>
                </a:ext>
              </a:extLst>
            </p:cNvPr>
            <p:cNvGraphicFramePr>
              <a:graphicFrameLocks noChangeAspect="1"/>
            </p:cNvGraphicFramePr>
            <p:nvPr/>
          </p:nvGraphicFramePr>
          <p:xfrm>
            <a:off x="2272" y="1997"/>
            <a:ext cx="879" cy="217"/>
          </p:xfrm>
          <a:graphic>
            <a:graphicData uri="http://schemas.openxmlformats.org/presentationml/2006/ole">
              <mc:AlternateContent xmlns:mc="http://schemas.openxmlformats.org/markup-compatibility/2006">
                <mc:Choice xmlns:v="urn:schemas-microsoft-com:vml" Requires="v">
                  <p:oleObj spid="_x0000_s570600" name="公式" r:id="rId7" imgW="640080" imgH="159926" progId="Equation.3">
                    <p:embed/>
                  </p:oleObj>
                </mc:Choice>
                <mc:Fallback>
                  <p:oleObj name="公式" r:id="rId7" imgW="640080" imgH="159926" progId="Equation.3">
                    <p:embed/>
                    <p:pic>
                      <p:nvPicPr>
                        <p:cNvPr id="38941" name="Object 17">
                          <a:extLst>
                            <a:ext uri="{FF2B5EF4-FFF2-40B4-BE49-F238E27FC236}">
                              <a16:creationId xmlns:a16="http://schemas.microsoft.com/office/drawing/2014/main" id="{5749DB69-CFF2-40ED-9F96-EC5DAFEFDE7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72" y="1997"/>
                          <a:ext cx="879" cy="217"/>
                        </a:xfrm>
                        <a:prstGeom prst="rect">
                          <a:avLst/>
                        </a:prstGeom>
                        <a:noFill/>
                        <a:ln>
                          <a:noFill/>
                        </a:ln>
                        <a:extLst>
                          <a:ext uri="{909E8E84-426E-40DD-AFC4-6F175D3DCCD1}">
                            <a14:hiddenFill xmlns:a14="http://schemas.microsoft.com/office/drawing/2010/main">
                              <a:solidFill>
                                <a:srgbClr val="006699"/>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25970" name="Rectangle 18">
            <a:extLst>
              <a:ext uri="{FF2B5EF4-FFF2-40B4-BE49-F238E27FC236}">
                <a16:creationId xmlns:a16="http://schemas.microsoft.com/office/drawing/2014/main" id="{C487C78A-4163-4C94-A89E-0B79FBC4792E}"/>
              </a:ext>
            </a:extLst>
          </p:cNvPr>
          <p:cNvSpPr>
            <a:spLocks noChangeArrowheads="1"/>
          </p:cNvSpPr>
          <p:nvPr/>
        </p:nvSpPr>
        <p:spPr bwMode="auto">
          <a:xfrm>
            <a:off x="611188" y="3068638"/>
            <a:ext cx="37449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rgbClr val="00FFFF"/>
                </a:solidFill>
                <a:ea typeface="华文中宋" panose="02010600040101010101" pitchFamily="2" charset="-122"/>
              </a:rPr>
              <a:t>2. </a:t>
            </a:r>
            <a:r>
              <a:rPr lang="zh-CN" altLang="en-US">
                <a:solidFill>
                  <a:srgbClr val="00FFFF"/>
                </a:solidFill>
                <a:ea typeface="华文中宋" panose="02010600040101010101" pitchFamily="2" charset="-122"/>
              </a:rPr>
              <a:t>能量在空间高度集中</a:t>
            </a:r>
          </a:p>
        </p:txBody>
      </p:sp>
      <p:sp>
        <p:nvSpPr>
          <p:cNvPr id="125972" name="Rectangle 20">
            <a:extLst>
              <a:ext uri="{FF2B5EF4-FFF2-40B4-BE49-F238E27FC236}">
                <a16:creationId xmlns:a16="http://schemas.microsoft.com/office/drawing/2014/main" id="{DCC359F1-7DBC-4A87-83CE-E26527E6DB94}"/>
              </a:ext>
            </a:extLst>
          </p:cNvPr>
          <p:cNvSpPr>
            <a:spLocks noChangeArrowheads="1"/>
          </p:cNvSpPr>
          <p:nvPr/>
        </p:nvSpPr>
        <p:spPr bwMode="auto">
          <a:xfrm>
            <a:off x="884238" y="3573463"/>
            <a:ext cx="3327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a:solidFill>
                  <a:schemeClr val="bg1"/>
                </a:solidFill>
              </a:rPr>
              <a:t>激光器输出功率： </a:t>
            </a:r>
          </a:p>
        </p:txBody>
      </p:sp>
      <p:graphicFrame>
        <p:nvGraphicFramePr>
          <p:cNvPr id="125973" name="Object 21">
            <a:extLst>
              <a:ext uri="{FF2B5EF4-FFF2-40B4-BE49-F238E27FC236}">
                <a16:creationId xmlns:a16="http://schemas.microsoft.com/office/drawing/2014/main" id="{41335FD3-6CCD-4981-9D5E-CD1CCE30E8D5}"/>
              </a:ext>
            </a:extLst>
          </p:cNvPr>
          <p:cNvGraphicFramePr>
            <a:graphicFrameLocks noChangeAspect="1"/>
          </p:cNvGraphicFramePr>
          <p:nvPr/>
        </p:nvGraphicFramePr>
        <p:xfrm>
          <a:off x="3060700" y="3587750"/>
          <a:ext cx="1335088" cy="363538"/>
        </p:xfrm>
        <a:graphic>
          <a:graphicData uri="http://schemas.openxmlformats.org/presentationml/2006/ole">
            <mc:AlternateContent xmlns:mc="http://schemas.openxmlformats.org/markup-compatibility/2006">
              <mc:Choice xmlns:v="urn:schemas-microsoft-com:vml" Requires="v">
                <p:oleObj spid="_x0000_s570601" name="公式" r:id="rId9" imgW="708554" imgH="175197" progId="Equation.3">
                  <p:embed/>
                </p:oleObj>
              </mc:Choice>
              <mc:Fallback>
                <p:oleObj name="公式" r:id="rId9" imgW="708554" imgH="175197" progId="Equation.3">
                  <p:embed/>
                  <p:pic>
                    <p:nvPicPr>
                      <p:cNvPr id="125973" name="Object 21">
                        <a:extLst>
                          <a:ext uri="{FF2B5EF4-FFF2-40B4-BE49-F238E27FC236}">
                            <a16:creationId xmlns:a16="http://schemas.microsoft.com/office/drawing/2014/main" id="{41335FD3-6CCD-4981-9D5E-CD1CCE30E8D5}"/>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60700" y="3587750"/>
                        <a:ext cx="1335088" cy="363538"/>
                      </a:xfrm>
                      <a:prstGeom prst="rect">
                        <a:avLst/>
                      </a:prstGeom>
                      <a:noFill/>
                      <a:ln>
                        <a:noFill/>
                      </a:ln>
                      <a:extLst>
                        <a:ext uri="{909E8E84-426E-40DD-AFC4-6F175D3DCCD1}">
                          <a14:hiddenFill xmlns:a14="http://schemas.microsoft.com/office/drawing/2010/main">
                            <a:solidFill>
                              <a:srgbClr val="006699"/>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5974" name="Rectangle 22">
            <a:extLst>
              <a:ext uri="{FF2B5EF4-FFF2-40B4-BE49-F238E27FC236}">
                <a16:creationId xmlns:a16="http://schemas.microsoft.com/office/drawing/2014/main" id="{685E4F41-39FD-4F8A-92AB-FA674CD39FF5}"/>
              </a:ext>
            </a:extLst>
          </p:cNvPr>
          <p:cNvSpPr>
            <a:spLocks noChangeArrowheads="1"/>
          </p:cNvSpPr>
          <p:nvPr/>
        </p:nvSpPr>
        <p:spPr bwMode="auto">
          <a:xfrm>
            <a:off x="900113" y="4040188"/>
            <a:ext cx="3581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a:solidFill>
                  <a:schemeClr val="bg1"/>
                </a:solidFill>
              </a:rPr>
              <a:t>其功率是太阳亮度几百亿倍 </a:t>
            </a:r>
          </a:p>
        </p:txBody>
      </p:sp>
      <p:sp>
        <p:nvSpPr>
          <p:cNvPr id="125975" name="Rectangle 23">
            <a:extLst>
              <a:ext uri="{FF2B5EF4-FFF2-40B4-BE49-F238E27FC236}">
                <a16:creationId xmlns:a16="http://schemas.microsoft.com/office/drawing/2014/main" id="{B2E17329-2F85-4FA0-9769-C36A3F817920}"/>
              </a:ext>
            </a:extLst>
          </p:cNvPr>
          <p:cNvSpPr>
            <a:spLocks noChangeArrowheads="1"/>
          </p:cNvSpPr>
          <p:nvPr/>
        </p:nvSpPr>
        <p:spPr bwMode="auto">
          <a:xfrm>
            <a:off x="895350" y="4471988"/>
            <a:ext cx="56213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dirty="0">
                <a:solidFill>
                  <a:srgbClr val="00FFFF"/>
                </a:solidFill>
              </a:rPr>
              <a:t>可用于精密加工，医学治疗，核聚变控制等</a:t>
            </a:r>
          </a:p>
        </p:txBody>
      </p:sp>
      <p:sp>
        <p:nvSpPr>
          <p:cNvPr id="125976" name="Rectangle 24">
            <a:extLst>
              <a:ext uri="{FF2B5EF4-FFF2-40B4-BE49-F238E27FC236}">
                <a16:creationId xmlns:a16="http://schemas.microsoft.com/office/drawing/2014/main" id="{6DA4C8DB-98D2-4711-8ABB-50C329D8507E}"/>
              </a:ext>
            </a:extLst>
          </p:cNvPr>
          <p:cNvSpPr>
            <a:spLocks noChangeArrowheads="1"/>
          </p:cNvSpPr>
          <p:nvPr/>
        </p:nvSpPr>
        <p:spPr bwMode="auto">
          <a:xfrm>
            <a:off x="601663" y="4916488"/>
            <a:ext cx="21701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dirty="0">
                <a:solidFill>
                  <a:srgbClr val="00FFFF"/>
                </a:solidFill>
                <a:ea typeface="华文中宋" panose="02010600040101010101" pitchFamily="2" charset="-122"/>
              </a:rPr>
              <a:t>3. </a:t>
            </a:r>
            <a:r>
              <a:rPr lang="zh-CN" altLang="en-US" dirty="0">
                <a:solidFill>
                  <a:srgbClr val="00FFFF"/>
                </a:solidFill>
                <a:ea typeface="华文中宋" panose="02010600040101010101" pitchFamily="2" charset="-122"/>
              </a:rPr>
              <a:t>单色性好</a:t>
            </a:r>
          </a:p>
        </p:txBody>
      </p:sp>
      <p:sp>
        <p:nvSpPr>
          <p:cNvPr id="125977" name="Rectangle 25">
            <a:extLst>
              <a:ext uri="{FF2B5EF4-FFF2-40B4-BE49-F238E27FC236}">
                <a16:creationId xmlns:a16="http://schemas.microsoft.com/office/drawing/2014/main" id="{8FED7865-D50D-4479-80EF-E0397E812193}"/>
              </a:ext>
            </a:extLst>
          </p:cNvPr>
          <p:cNvSpPr>
            <a:spLocks noChangeArrowheads="1"/>
          </p:cNvSpPr>
          <p:nvPr/>
        </p:nvSpPr>
        <p:spPr bwMode="auto">
          <a:xfrm>
            <a:off x="827088" y="5386388"/>
            <a:ext cx="50419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a:solidFill>
                  <a:schemeClr val="bg1"/>
                </a:solidFill>
              </a:rPr>
              <a:t>普通光谱中氪同位素</a:t>
            </a:r>
            <a:r>
              <a:rPr lang="en-US" altLang="zh-CN" sz="2000">
                <a:solidFill>
                  <a:schemeClr val="bg1"/>
                </a:solidFill>
              </a:rPr>
              <a:t>86</a:t>
            </a:r>
            <a:r>
              <a:rPr lang="zh-CN" altLang="en-US" sz="2000">
                <a:solidFill>
                  <a:schemeClr val="bg1"/>
                </a:solidFill>
              </a:rPr>
              <a:t>灯的单色性最好，</a:t>
            </a:r>
          </a:p>
        </p:txBody>
      </p:sp>
      <p:graphicFrame>
        <p:nvGraphicFramePr>
          <p:cNvPr id="125978" name="Object 26">
            <a:extLst>
              <a:ext uri="{FF2B5EF4-FFF2-40B4-BE49-F238E27FC236}">
                <a16:creationId xmlns:a16="http://schemas.microsoft.com/office/drawing/2014/main" id="{20D03273-46BD-423A-A183-8A292CACB810}"/>
              </a:ext>
            </a:extLst>
          </p:cNvPr>
          <p:cNvGraphicFramePr>
            <a:graphicFrameLocks noChangeAspect="1"/>
          </p:cNvGraphicFramePr>
          <p:nvPr/>
        </p:nvGraphicFramePr>
        <p:xfrm>
          <a:off x="5499100" y="5373688"/>
          <a:ext cx="1973263" cy="366712"/>
        </p:xfrm>
        <a:graphic>
          <a:graphicData uri="http://schemas.openxmlformats.org/presentationml/2006/ole">
            <mc:AlternateContent xmlns:mc="http://schemas.openxmlformats.org/markup-compatibility/2006">
              <mc:Choice xmlns:v="urn:schemas-microsoft-com:vml" Requires="v">
                <p:oleObj spid="_x0000_s570602" name="公式" r:id="rId11" imgW="1089625" imgH="175197" progId="Equation.3">
                  <p:embed/>
                </p:oleObj>
              </mc:Choice>
              <mc:Fallback>
                <p:oleObj name="公式" r:id="rId11" imgW="1089625" imgH="175197" progId="Equation.3">
                  <p:embed/>
                  <p:pic>
                    <p:nvPicPr>
                      <p:cNvPr id="125978" name="Object 26">
                        <a:extLst>
                          <a:ext uri="{FF2B5EF4-FFF2-40B4-BE49-F238E27FC236}">
                            <a16:creationId xmlns:a16="http://schemas.microsoft.com/office/drawing/2014/main" id="{20D03273-46BD-423A-A183-8A292CACB810}"/>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499100" y="5373688"/>
                        <a:ext cx="1973263" cy="366712"/>
                      </a:xfrm>
                      <a:prstGeom prst="rect">
                        <a:avLst/>
                      </a:prstGeom>
                      <a:noFill/>
                      <a:ln>
                        <a:noFill/>
                      </a:ln>
                      <a:extLst>
                        <a:ext uri="{909E8E84-426E-40DD-AFC4-6F175D3DCCD1}">
                          <a14:hiddenFill xmlns:a14="http://schemas.microsoft.com/office/drawing/2010/main">
                            <a:solidFill>
                              <a:srgbClr val="006699"/>
                            </a:solidFill>
                          </a14:hiddenFill>
                        </a:ext>
                        <a:ext uri="{91240B29-F687-4F45-9708-019B960494DF}">
                          <a14:hiddenLine xmlns:a14="http://schemas.microsoft.com/office/drawing/2010/main" w="22225">
                            <a:solidFill>
                              <a:srgbClr val="FF6600"/>
                            </a:solidFill>
                            <a:miter lim="800000"/>
                            <a:headEnd/>
                            <a:tailEnd/>
                          </a14:hiddenLine>
                        </a:ext>
                      </a:extLst>
                    </p:spPr>
                  </p:pic>
                </p:oleObj>
              </mc:Fallback>
            </mc:AlternateContent>
          </a:graphicData>
        </a:graphic>
      </p:graphicFrame>
      <p:sp>
        <p:nvSpPr>
          <p:cNvPr id="125979" name="Rectangle 27">
            <a:extLst>
              <a:ext uri="{FF2B5EF4-FFF2-40B4-BE49-F238E27FC236}">
                <a16:creationId xmlns:a16="http://schemas.microsoft.com/office/drawing/2014/main" id="{10AC3320-FC41-44DE-B9ED-667E89656152}"/>
              </a:ext>
            </a:extLst>
          </p:cNvPr>
          <p:cNvSpPr>
            <a:spLocks noChangeArrowheads="1"/>
          </p:cNvSpPr>
          <p:nvPr/>
        </p:nvSpPr>
        <p:spPr bwMode="auto">
          <a:xfrm>
            <a:off x="827088" y="5816600"/>
            <a:ext cx="34575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a:solidFill>
                  <a:schemeClr val="bg1"/>
                </a:solidFill>
              </a:rPr>
              <a:t>氦－氖激光器的单色性为</a:t>
            </a:r>
          </a:p>
        </p:txBody>
      </p:sp>
      <p:graphicFrame>
        <p:nvGraphicFramePr>
          <p:cNvPr id="125980" name="Object 28">
            <a:extLst>
              <a:ext uri="{FF2B5EF4-FFF2-40B4-BE49-F238E27FC236}">
                <a16:creationId xmlns:a16="http://schemas.microsoft.com/office/drawing/2014/main" id="{CC5E88DD-58C3-4CE1-AB26-360EF410BF1E}"/>
              </a:ext>
            </a:extLst>
          </p:cNvPr>
          <p:cNvGraphicFramePr>
            <a:graphicFrameLocks noChangeAspect="1"/>
          </p:cNvGraphicFramePr>
          <p:nvPr/>
        </p:nvGraphicFramePr>
        <p:xfrm>
          <a:off x="3783013" y="5805488"/>
          <a:ext cx="1436687" cy="368300"/>
        </p:xfrm>
        <a:graphic>
          <a:graphicData uri="http://schemas.openxmlformats.org/presentationml/2006/ole">
            <mc:AlternateContent xmlns:mc="http://schemas.openxmlformats.org/markup-compatibility/2006">
              <mc:Choice xmlns:v="urn:schemas-microsoft-com:vml" Requires="v">
                <p:oleObj spid="_x0000_s570603" name="公式" r:id="rId13" imgW="784683" imgH="175197" progId="Equation.3">
                  <p:embed/>
                </p:oleObj>
              </mc:Choice>
              <mc:Fallback>
                <p:oleObj name="公式" r:id="rId13" imgW="784683" imgH="175197" progId="Equation.3">
                  <p:embed/>
                  <p:pic>
                    <p:nvPicPr>
                      <p:cNvPr id="125980" name="Object 28">
                        <a:extLst>
                          <a:ext uri="{FF2B5EF4-FFF2-40B4-BE49-F238E27FC236}">
                            <a16:creationId xmlns:a16="http://schemas.microsoft.com/office/drawing/2014/main" id="{CC5E88DD-58C3-4CE1-AB26-360EF410BF1E}"/>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783013" y="5805488"/>
                        <a:ext cx="1436687" cy="368300"/>
                      </a:xfrm>
                      <a:prstGeom prst="rect">
                        <a:avLst/>
                      </a:prstGeom>
                      <a:noFill/>
                      <a:ln>
                        <a:noFill/>
                      </a:ln>
                      <a:extLst>
                        <a:ext uri="{909E8E84-426E-40DD-AFC4-6F175D3DCCD1}">
                          <a14:hiddenFill xmlns:a14="http://schemas.microsoft.com/office/drawing/2010/main">
                            <a:solidFill>
                              <a:srgbClr val="006699"/>
                            </a:solidFill>
                          </a14:hiddenFill>
                        </a:ext>
                        <a:ext uri="{91240B29-F687-4F45-9708-019B960494DF}">
                          <a14:hiddenLine xmlns:a14="http://schemas.microsoft.com/office/drawing/2010/main" w="22225">
                            <a:solidFill>
                              <a:srgbClr val="FF6600"/>
                            </a:solidFill>
                            <a:miter lim="800000"/>
                            <a:headEnd/>
                            <a:tailEnd/>
                          </a14:hiddenLine>
                        </a:ext>
                      </a:extLst>
                    </p:spPr>
                  </p:pic>
                </p:oleObj>
              </mc:Fallback>
            </mc:AlternateContent>
          </a:graphicData>
        </a:graphic>
      </p:graphicFrame>
      <p:sp>
        <p:nvSpPr>
          <p:cNvPr id="38931" name="灯片编号占位符 1">
            <a:extLst>
              <a:ext uri="{FF2B5EF4-FFF2-40B4-BE49-F238E27FC236}">
                <a16:creationId xmlns:a16="http://schemas.microsoft.com/office/drawing/2014/main" id="{D9478430-18DA-4310-A83C-B383C1C411FD}"/>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CCF2C338-65F3-400D-A5C9-F30250ED3D77}" type="slidenum">
              <a:rPr lang="en-US" altLang="zh-CN" b="0">
                <a:solidFill>
                  <a:srgbClr val="FF00FF"/>
                </a:solidFill>
              </a:rPr>
              <a:pPr eaLnBrk="1" hangingPunct="1"/>
              <a:t>25</a:t>
            </a:fld>
            <a:r>
              <a:rPr lang="en-US" altLang="zh-CN" b="0">
                <a:solidFill>
                  <a:srgbClr val="FF00FF"/>
                </a:solidFill>
              </a:rPr>
              <a:t>/25</a:t>
            </a:r>
          </a:p>
        </p:txBody>
      </p:sp>
      <p:pic>
        <p:nvPicPr>
          <p:cNvPr id="13344" name="Picture 32" descr="章末)激光加工">
            <a:extLst>
              <a:ext uri="{FF2B5EF4-FFF2-40B4-BE49-F238E27FC236}">
                <a16:creationId xmlns:a16="http://schemas.microsoft.com/office/drawing/2014/main" id="{979AD996-0FB1-4D4F-BE7C-2F3F145B897C}"/>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227763" y="2924175"/>
            <a:ext cx="1871662" cy="242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6978" name="Rectangle 2">
            <a:extLst>
              <a:ext uri="{FF2B5EF4-FFF2-40B4-BE49-F238E27FC236}">
                <a16:creationId xmlns:a16="http://schemas.microsoft.com/office/drawing/2014/main" id="{EB959022-9D2F-49F0-A13A-6F431868FE95}"/>
              </a:ext>
            </a:extLst>
          </p:cNvPr>
          <p:cNvSpPr>
            <a:spLocks noChangeArrowheads="1"/>
          </p:cNvSpPr>
          <p:nvPr/>
        </p:nvSpPr>
        <p:spPr bwMode="auto">
          <a:xfrm>
            <a:off x="827088" y="5661025"/>
            <a:ext cx="78486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pPr>
            <a:r>
              <a:rPr lang="zh-CN" altLang="en-US" sz="2000">
                <a:solidFill>
                  <a:schemeClr val="bg1"/>
                </a:solidFill>
              </a:rPr>
              <a:t>                                                                    ，研究原子、分子光谱的精</a:t>
            </a:r>
          </a:p>
          <a:p>
            <a:pPr eaLnBrk="1" hangingPunct="1">
              <a:lnSpc>
                <a:spcPct val="150000"/>
              </a:lnSpc>
            </a:pPr>
            <a:r>
              <a:rPr lang="zh-CN" altLang="en-US" sz="2000">
                <a:solidFill>
                  <a:schemeClr val="bg1"/>
                </a:solidFill>
              </a:rPr>
              <a:t>细结构，超精细结构等</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25954"/>
                                        </p:tgtEl>
                                        <p:attrNameLst>
                                          <p:attrName>style.visibility</p:attrName>
                                        </p:attrNameLst>
                                      </p:cBhvr>
                                      <p:to>
                                        <p:strVal val="visible"/>
                                      </p:to>
                                    </p:set>
                                    <p:animEffect transition="in" filter="blinds(horizontal)">
                                      <p:cBhvr>
                                        <p:cTn id="7" dur="500"/>
                                        <p:tgtEl>
                                          <p:spTgt spid="125954"/>
                                        </p:tgtEl>
                                      </p:cBhvr>
                                    </p:animEffect>
                                  </p:childTnLst>
                                </p:cTn>
                              </p:par>
                            </p:childTnLst>
                          </p:cTn>
                        </p:par>
                        <p:par>
                          <p:cTn id="8" fill="hold" nodeType="afterGroup">
                            <p:stCondLst>
                              <p:cond delay="500"/>
                            </p:stCondLst>
                            <p:childTnLst>
                              <p:par>
                                <p:cTn id="9" presetID="23" presetClass="entr" presetSubtype="272" fill="hold" nodeType="afterEffect">
                                  <p:stCondLst>
                                    <p:cond delay="0"/>
                                  </p:stCondLst>
                                  <p:childTnLst>
                                    <p:set>
                                      <p:cBhvr>
                                        <p:cTn id="10" dur="1" fill="hold">
                                          <p:stCondLst>
                                            <p:cond delay="0"/>
                                          </p:stCondLst>
                                        </p:cTn>
                                        <p:tgtEl>
                                          <p:spTgt spid="125955"/>
                                        </p:tgtEl>
                                        <p:attrNameLst>
                                          <p:attrName>style.visibility</p:attrName>
                                        </p:attrNameLst>
                                      </p:cBhvr>
                                      <p:to>
                                        <p:strVal val="visible"/>
                                      </p:to>
                                    </p:set>
                                    <p:anim calcmode="lin" valueType="num">
                                      <p:cBhvr>
                                        <p:cTn id="11" dur="500" fill="hold"/>
                                        <p:tgtEl>
                                          <p:spTgt spid="125955"/>
                                        </p:tgtEl>
                                        <p:attrNameLst>
                                          <p:attrName>ppt_w</p:attrName>
                                        </p:attrNameLst>
                                      </p:cBhvr>
                                      <p:tavLst>
                                        <p:tav tm="0">
                                          <p:val>
                                            <p:strVal val="2/3*#ppt_w"/>
                                          </p:val>
                                        </p:tav>
                                        <p:tav tm="100000">
                                          <p:val>
                                            <p:strVal val="#ppt_w"/>
                                          </p:val>
                                        </p:tav>
                                      </p:tavLst>
                                    </p:anim>
                                    <p:anim calcmode="lin" valueType="num">
                                      <p:cBhvr>
                                        <p:cTn id="12" dur="500" fill="hold"/>
                                        <p:tgtEl>
                                          <p:spTgt spid="125955"/>
                                        </p:tgtEl>
                                        <p:attrNameLst>
                                          <p:attrName>ppt_h</p:attrName>
                                        </p:attrNameLst>
                                      </p:cBhvr>
                                      <p:tavLst>
                                        <p:tav tm="0">
                                          <p:val>
                                            <p:strVal val="2/3*#ppt_h"/>
                                          </p:val>
                                        </p:tav>
                                        <p:tav tm="100000">
                                          <p:val>
                                            <p:strVal val="#ppt_h"/>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25956"/>
                                        </p:tgtEl>
                                        <p:attrNameLst>
                                          <p:attrName>style.visibility</p:attrName>
                                        </p:attrNameLst>
                                      </p:cBhvr>
                                      <p:to>
                                        <p:strVal val="visible"/>
                                      </p:to>
                                    </p:set>
                                    <p:animEffect transition="in" filter="dissolve">
                                      <p:cBhvr>
                                        <p:cTn id="17" dur="500"/>
                                        <p:tgtEl>
                                          <p:spTgt spid="125956"/>
                                        </p:tgtEl>
                                      </p:cBhvr>
                                    </p:animEffect>
                                  </p:childTnLst>
                                </p:cTn>
                              </p:par>
                            </p:childTnLst>
                          </p:cTn>
                        </p:par>
                        <p:par>
                          <p:cTn id="18" fill="hold" nodeType="afterGroup">
                            <p:stCondLst>
                              <p:cond delay="500"/>
                            </p:stCondLst>
                            <p:childTnLst>
                              <p:par>
                                <p:cTn id="19" presetID="3" presetClass="entr" presetSubtype="10" fill="hold" grpId="0" nodeType="afterEffect">
                                  <p:stCondLst>
                                    <p:cond delay="0"/>
                                  </p:stCondLst>
                                  <p:childTnLst>
                                    <p:set>
                                      <p:cBhvr>
                                        <p:cTn id="20" dur="1" fill="hold">
                                          <p:stCondLst>
                                            <p:cond delay="0"/>
                                          </p:stCondLst>
                                        </p:cTn>
                                        <p:tgtEl>
                                          <p:spTgt spid="125957"/>
                                        </p:tgtEl>
                                        <p:attrNameLst>
                                          <p:attrName>style.visibility</p:attrName>
                                        </p:attrNameLst>
                                      </p:cBhvr>
                                      <p:to>
                                        <p:strVal val="visible"/>
                                      </p:to>
                                    </p:set>
                                    <p:animEffect transition="in" filter="blinds(horizontal)">
                                      <p:cBhvr>
                                        <p:cTn id="21" dur="500"/>
                                        <p:tgtEl>
                                          <p:spTgt spid="125957"/>
                                        </p:tgtEl>
                                      </p:cBhvr>
                                    </p:animEffect>
                                  </p:childTnLst>
                                </p:cTn>
                              </p:par>
                              <p:par>
                                <p:cTn id="22" presetID="3" presetClass="entr" presetSubtype="10" fill="hold" nodeType="withEffect">
                                  <p:stCondLst>
                                    <p:cond delay="0"/>
                                  </p:stCondLst>
                                  <p:childTnLst>
                                    <p:set>
                                      <p:cBhvr>
                                        <p:cTn id="23" dur="1" fill="hold">
                                          <p:stCondLst>
                                            <p:cond delay="0"/>
                                          </p:stCondLst>
                                        </p:cTn>
                                        <p:tgtEl>
                                          <p:spTgt spid="125959"/>
                                        </p:tgtEl>
                                        <p:attrNameLst>
                                          <p:attrName>style.visibility</p:attrName>
                                        </p:attrNameLst>
                                      </p:cBhvr>
                                      <p:to>
                                        <p:strVal val="visible"/>
                                      </p:to>
                                    </p:set>
                                    <p:animEffect transition="in" filter="blinds(horizontal)">
                                      <p:cBhvr>
                                        <p:cTn id="24" dur="500"/>
                                        <p:tgtEl>
                                          <p:spTgt spid="125959"/>
                                        </p:tgtEl>
                                      </p:cBhvr>
                                    </p:animEffect>
                                  </p:childTnLst>
                                </p:cTn>
                              </p:par>
                            </p:childTnLst>
                          </p:cTn>
                        </p:par>
                        <p:par>
                          <p:cTn id="25" fill="hold" nodeType="withGroup">
                            <p:stCondLst>
                              <p:cond delay="1000"/>
                            </p:stCondLst>
                            <p:childTnLst>
                              <p:par>
                                <p:cTn id="26" presetID="22" presetClass="entr" presetSubtype="8" fill="hold" grpId="0" nodeType="afterEffect">
                                  <p:stCondLst>
                                    <p:cond delay="0"/>
                                  </p:stCondLst>
                                  <p:childTnLst>
                                    <p:set>
                                      <p:cBhvr>
                                        <p:cTn id="27" dur="1" fill="hold">
                                          <p:stCondLst>
                                            <p:cond delay="0"/>
                                          </p:stCondLst>
                                        </p:cTn>
                                        <p:tgtEl>
                                          <p:spTgt spid="125960"/>
                                        </p:tgtEl>
                                        <p:attrNameLst>
                                          <p:attrName>style.visibility</p:attrName>
                                        </p:attrNameLst>
                                      </p:cBhvr>
                                      <p:to>
                                        <p:strVal val="visible"/>
                                      </p:to>
                                    </p:set>
                                    <p:animEffect transition="in" filter="wipe(left)">
                                      <p:cBhvr>
                                        <p:cTn id="28" dur="500"/>
                                        <p:tgtEl>
                                          <p:spTgt spid="125960"/>
                                        </p:tgtEl>
                                      </p:cBhvr>
                                    </p:animEffect>
                                  </p:childTnLst>
                                </p:cTn>
                              </p:par>
                            </p:childTnLst>
                          </p:cTn>
                        </p:par>
                        <p:par>
                          <p:cTn id="29" fill="hold" nodeType="afterGroup">
                            <p:stCondLst>
                              <p:cond delay="1500"/>
                            </p:stCondLst>
                            <p:childTnLst>
                              <p:par>
                                <p:cTn id="30" presetID="9" presetClass="entr" presetSubtype="0" fill="hold" nodeType="after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dissolve">
                                      <p:cBhvr>
                                        <p:cTn id="32" dur="500"/>
                                        <p:tgtEl>
                                          <p:spTgt spid="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25970"/>
                                        </p:tgtEl>
                                        <p:attrNameLst>
                                          <p:attrName>style.visibility</p:attrName>
                                        </p:attrNameLst>
                                      </p:cBhvr>
                                      <p:to>
                                        <p:strVal val="visible"/>
                                      </p:to>
                                    </p:set>
                                    <p:animEffect transition="in" filter="dissolve">
                                      <p:cBhvr>
                                        <p:cTn id="37" dur="500"/>
                                        <p:tgtEl>
                                          <p:spTgt spid="125970"/>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25972"/>
                                        </p:tgtEl>
                                        <p:attrNameLst>
                                          <p:attrName>style.visibility</p:attrName>
                                        </p:attrNameLst>
                                      </p:cBhvr>
                                      <p:to>
                                        <p:strVal val="visible"/>
                                      </p:to>
                                    </p:set>
                                    <p:animEffect transition="in" filter="blinds(horizontal)">
                                      <p:cBhvr>
                                        <p:cTn id="42" dur="500"/>
                                        <p:tgtEl>
                                          <p:spTgt spid="125972"/>
                                        </p:tgtEl>
                                      </p:cBhvr>
                                    </p:animEffect>
                                  </p:childTnLst>
                                </p:cTn>
                              </p:par>
                              <p:par>
                                <p:cTn id="43" presetID="3" presetClass="entr" presetSubtype="10" fill="hold" nodeType="withEffect">
                                  <p:stCondLst>
                                    <p:cond delay="0"/>
                                  </p:stCondLst>
                                  <p:childTnLst>
                                    <p:set>
                                      <p:cBhvr>
                                        <p:cTn id="44" dur="1" fill="hold">
                                          <p:stCondLst>
                                            <p:cond delay="0"/>
                                          </p:stCondLst>
                                        </p:cTn>
                                        <p:tgtEl>
                                          <p:spTgt spid="125973"/>
                                        </p:tgtEl>
                                        <p:attrNameLst>
                                          <p:attrName>style.visibility</p:attrName>
                                        </p:attrNameLst>
                                      </p:cBhvr>
                                      <p:to>
                                        <p:strVal val="visible"/>
                                      </p:to>
                                    </p:set>
                                    <p:animEffect transition="in" filter="blinds(horizontal)">
                                      <p:cBhvr>
                                        <p:cTn id="45" dur="500"/>
                                        <p:tgtEl>
                                          <p:spTgt spid="125973"/>
                                        </p:tgtEl>
                                      </p:cBhvr>
                                    </p:animEffect>
                                  </p:childTnLst>
                                </p:cTn>
                              </p:par>
                            </p:childTnLst>
                          </p:cTn>
                        </p:par>
                        <p:par>
                          <p:cTn id="46" fill="hold" nodeType="afterGroup">
                            <p:stCondLst>
                              <p:cond delay="500"/>
                            </p:stCondLst>
                            <p:childTnLst>
                              <p:par>
                                <p:cTn id="47" presetID="3" presetClass="entr" presetSubtype="10" fill="hold" grpId="0" nodeType="afterEffect">
                                  <p:stCondLst>
                                    <p:cond delay="0"/>
                                  </p:stCondLst>
                                  <p:childTnLst>
                                    <p:set>
                                      <p:cBhvr>
                                        <p:cTn id="48" dur="1" fill="hold">
                                          <p:stCondLst>
                                            <p:cond delay="0"/>
                                          </p:stCondLst>
                                        </p:cTn>
                                        <p:tgtEl>
                                          <p:spTgt spid="125974"/>
                                        </p:tgtEl>
                                        <p:attrNameLst>
                                          <p:attrName>style.visibility</p:attrName>
                                        </p:attrNameLst>
                                      </p:cBhvr>
                                      <p:to>
                                        <p:strVal val="visible"/>
                                      </p:to>
                                    </p:set>
                                    <p:animEffect transition="in" filter="blinds(horizontal)">
                                      <p:cBhvr>
                                        <p:cTn id="49" dur="500"/>
                                        <p:tgtEl>
                                          <p:spTgt spid="125974"/>
                                        </p:tgtEl>
                                      </p:cBhvr>
                                    </p:animEffect>
                                  </p:childTnLst>
                                </p:cTn>
                              </p:par>
                            </p:childTnLst>
                          </p:cTn>
                        </p:par>
                        <p:par>
                          <p:cTn id="50" fill="hold" nodeType="withGroup">
                            <p:stCondLst>
                              <p:cond delay="1000"/>
                            </p:stCondLst>
                            <p:childTnLst>
                              <p:par>
                                <p:cTn id="51" presetID="22" presetClass="entr" presetSubtype="8" fill="hold" grpId="0" nodeType="afterEffect">
                                  <p:stCondLst>
                                    <p:cond delay="0"/>
                                  </p:stCondLst>
                                  <p:childTnLst>
                                    <p:set>
                                      <p:cBhvr>
                                        <p:cTn id="52" dur="1" fill="hold">
                                          <p:stCondLst>
                                            <p:cond delay="0"/>
                                          </p:stCondLst>
                                        </p:cTn>
                                        <p:tgtEl>
                                          <p:spTgt spid="125975"/>
                                        </p:tgtEl>
                                        <p:attrNameLst>
                                          <p:attrName>style.visibility</p:attrName>
                                        </p:attrNameLst>
                                      </p:cBhvr>
                                      <p:to>
                                        <p:strVal val="visible"/>
                                      </p:to>
                                    </p:set>
                                    <p:animEffect transition="in" filter="wipe(left)">
                                      <p:cBhvr>
                                        <p:cTn id="53" dur="500"/>
                                        <p:tgtEl>
                                          <p:spTgt spid="125975"/>
                                        </p:tgtEl>
                                      </p:cBhvr>
                                    </p:animEffect>
                                  </p:childTnLst>
                                </p:cTn>
                              </p:par>
                            </p:childTnLst>
                          </p:cTn>
                        </p:par>
                        <p:par>
                          <p:cTn id="54" fill="hold" nodeType="afterGroup">
                            <p:stCondLst>
                              <p:cond delay="1500"/>
                            </p:stCondLst>
                            <p:childTnLst>
                              <p:par>
                                <p:cTn id="55" presetID="9" presetClass="entr" presetSubtype="0" fill="hold" nodeType="afterEffect">
                                  <p:stCondLst>
                                    <p:cond delay="0"/>
                                  </p:stCondLst>
                                  <p:childTnLst>
                                    <p:set>
                                      <p:cBhvr>
                                        <p:cTn id="56" dur="1" fill="hold">
                                          <p:stCondLst>
                                            <p:cond delay="0"/>
                                          </p:stCondLst>
                                        </p:cTn>
                                        <p:tgtEl>
                                          <p:spTgt spid="13344"/>
                                        </p:tgtEl>
                                        <p:attrNameLst>
                                          <p:attrName>style.visibility</p:attrName>
                                        </p:attrNameLst>
                                      </p:cBhvr>
                                      <p:to>
                                        <p:strVal val="visible"/>
                                      </p:to>
                                    </p:set>
                                    <p:animEffect transition="in" filter="dissolve">
                                      <p:cBhvr>
                                        <p:cTn id="57" dur="500"/>
                                        <p:tgtEl>
                                          <p:spTgt spid="13344"/>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9" presetClass="entr" presetSubtype="0" fill="hold" grpId="0" nodeType="clickEffect">
                                  <p:stCondLst>
                                    <p:cond delay="0"/>
                                  </p:stCondLst>
                                  <p:childTnLst>
                                    <p:set>
                                      <p:cBhvr>
                                        <p:cTn id="61" dur="1" fill="hold">
                                          <p:stCondLst>
                                            <p:cond delay="0"/>
                                          </p:stCondLst>
                                        </p:cTn>
                                        <p:tgtEl>
                                          <p:spTgt spid="125976"/>
                                        </p:tgtEl>
                                        <p:attrNameLst>
                                          <p:attrName>style.visibility</p:attrName>
                                        </p:attrNameLst>
                                      </p:cBhvr>
                                      <p:to>
                                        <p:strVal val="visible"/>
                                      </p:to>
                                    </p:set>
                                    <p:animEffect transition="in" filter="dissolve">
                                      <p:cBhvr>
                                        <p:cTn id="62" dur="500"/>
                                        <p:tgtEl>
                                          <p:spTgt spid="125976"/>
                                        </p:tgtEl>
                                      </p:cBhvr>
                                    </p:animEffect>
                                  </p:childTnLst>
                                </p:cTn>
                              </p:par>
                            </p:childTnLst>
                          </p:cTn>
                        </p:par>
                        <p:par>
                          <p:cTn id="63" fill="hold" nodeType="withGroup">
                            <p:stCondLst>
                              <p:cond delay="500"/>
                            </p:stCondLst>
                            <p:childTnLst>
                              <p:par>
                                <p:cTn id="64" presetID="3" presetClass="entr" presetSubtype="10" fill="hold" grpId="0" nodeType="afterEffect">
                                  <p:stCondLst>
                                    <p:cond delay="0"/>
                                  </p:stCondLst>
                                  <p:childTnLst>
                                    <p:set>
                                      <p:cBhvr>
                                        <p:cTn id="65" dur="1" fill="hold">
                                          <p:stCondLst>
                                            <p:cond delay="0"/>
                                          </p:stCondLst>
                                        </p:cTn>
                                        <p:tgtEl>
                                          <p:spTgt spid="125977"/>
                                        </p:tgtEl>
                                        <p:attrNameLst>
                                          <p:attrName>style.visibility</p:attrName>
                                        </p:attrNameLst>
                                      </p:cBhvr>
                                      <p:to>
                                        <p:strVal val="visible"/>
                                      </p:to>
                                    </p:set>
                                    <p:animEffect transition="in" filter="blinds(horizontal)">
                                      <p:cBhvr>
                                        <p:cTn id="66" dur="500"/>
                                        <p:tgtEl>
                                          <p:spTgt spid="125977"/>
                                        </p:tgtEl>
                                      </p:cBhvr>
                                    </p:animEffect>
                                  </p:childTnLst>
                                </p:cTn>
                              </p:par>
                              <p:par>
                                <p:cTn id="67" presetID="3" presetClass="entr" presetSubtype="10" fill="hold" nodeType="withEffect">
                                  <p:stCondLst>
                                    <p:cond delay="0"/>
                                  </p:stCondLst>
                                  <p:childTnLst>
                                    <p:set>
                                      <p:cBhvr>
                                        <p:cTn id="68" dur="1" fill="hold">
                                          <p:stCondLst>
                                            <p:cond delay="0"/>
                                          </p:stCondLst>
                                        </p:cTn>
                                        <p:tgtEl>
                                          <p:spTgt spid="125978"/>
                                        </p:tgtEl>
                                        <p:attrNameLst>
                                          <p:attrName>style.visibility</p:attrName>
                                        </p:attrNameLst>
                                      </p:cBhvr>
                                      <p:to>
                                        <p:strVal val="visible"/>
                                      </p:to>
                                    </p:set>
                                    <p:animEffect transition="in" filter="blinds(horizontal)">
                                      <p:cBhvr>
                                        <p:cTn id="69" dur="500"/>
                                        <p:tgtEl>
                                          <p:spTgt spid="125978"/>
                                        </p:tgtEl>
                                      </p:cBhvr>
                                    </p:animEffect>
                                  </p:childTnLst>
                                </p:cTn>
                              </p:par>
                            </p:childTnLst>
                          </p:cTn>
                        </p:par>
                        <p:par>
                          <p:cTn id="70" fill="hold" nodeType="afterGroup">
                            <p:stCondLst>
                              <p:cond delay="1000"/>
                            </p:stCondLst>
                            <p:childTnLst>
                              <p:par>
                                <p:cTn id="71" presetID="3" presetClass="entr" presetSubtype="10" fill="hold" grpId="0" nodeType="afterEffect">
                                  <p:stCondLst>
                                    <p:cond delay="0"/>
                                  </p:stCondLst>
                                  <p:childTnLst>
                                    <p:set>
                                      <p:cBhvr>
                                        <p:cTn id="72" dur="1" fill="hold">
                                          <p:stCondLst>
                                            <p:cond delay="0"/>
                                          </p:stCondLst>
                                        </p:cTn>
                                        <p:tgtEl>
                                          <p:spTgt spid="125979"/>
                                        </p:tgtEl>
                                        <p:attrNameLst>
                                          <p:attrName>style.visibility</p:attrName>
                                        </p:attrNameLst>
                                      </p:cBhvr>
                                      <p:to>
                                        <p:strVal val="visible"/>
                                      </p:to>
                                    </p:set>
                                    <p:animEffect transition="in" filter="blinds(horizontal)">
                                      <p:cBhvr>
                                        <p:cTn id="73" dur="500"/>
                                        <p:tgtEl>
                                          <p:spTgt spid="125979"/>
                                        </p:tgtEl>
                                      </p:cBhvr>
                                    </p:animEffect>
                                  </p:childTnLst>
                                </p:cTn>
                              </p:par>
                              <p:par>
                                <p:cTn id="74" presetID="3" presetClass="entr" presetSubtype="10" fill="hold" nodeType="withEffect">
                                  <p:stCondLst>
                                    <p:cond delay="0"/>
                                  </p:stCondLst>
                                  <p:childTnLst>
                                    <p:set>
                                      <p:cBhvr>
                                        <p:cTn id="75" dur="1" fill="hold">
                                          <p:stCondLst>
                                            <p:cond delay="0"/>
                                          </p:stCondLst>
                                        </p:cTn>
                                        <p:tgtEl>
                                          <p:spTgt spid="125980"/>
                                        </p:tgtEl>
                                        <p:attrNameLst>
                                          <p:attrName>style.visibility</p:attrName>
                                        </p:attrNameLst>
                                      </p:cBhvr>
                                      <p:to>
                                        <p:strVal val="visible"/>
                                      </p:to>
                                    </p:set>
                                    <p:animEffect transition="in" filter="blinds(horizontal)">
                                      <p:cBhvr>
                                        <p:cTn id="76" dur="500"/>
                                        <p:tgtEl>
                                          <p:spTgt spid="125980"/>
                                        </p:tgtEl>
                                      </p:cBhvr>
                                    </p:animEffect>
                                  </p:childTnLst>
                                </p:cTn>
                              </p:par>
                            </p:childTnLst>
                          </p:cTn>
                        </p:par>
                        <p:par>
                          <p:cTn id="77" fill="hold" nodeType="afterGroup">
                            <p:stCondLst>
                              <p:cond delay="1500"/>
                            </p:stCondLst>
                            <p:childTnLst>
                              <p:par>
                                <p:cTn id="78" presetID="9" presetClass="entr" presetSubtype="0" fill="hold" grpId="0" nodeType="afterEffect">
                                  <p:stCondLst>
                                    <p:cond delay="600"/>
                                  </p:stCondLst>
                                  <p:childTnLst>
                                    <p:set>
                                      <p:cBhvr>
                                        <p:cTn id="79" dur="1" fill="hold">
                                          <p:stCondLst>
                                            <p:cond delay="0"/>
                                          </p:stCondLst>
                                        </p:cTn>
                                        <p:tgtEl>
                                          <p:spTgt spid="126978"/>
                                        </p:tgtEl>
                                        <p:attrNameLst>
                                          <p:attrName>style.visibility</p:attrName>
                                        </p:attrNameLst>
                                      </p:cBhvr>
                                      <p:to>
                                        <p:strVal val="visible"/>
                                      </p:to>
                                    </p:set>
                                    <p:animEffect transition="in" filter="dissolve">
                                      <p:cBhvr>
                                        <p:cTn id="80" dur="500"/>
                                        <p:tgtEl>
                                          <p:spTgt spid="1269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954" grpId="0" autoUpdateAnimBg="0"/>
      <p:bldP spid="125956" grpId="0" autoUpdateAnimBg="0"/>
      <p:bldP spid="125957" grpId="0" autoUpdateAnimBg="0"/>
      <p:bldP spid="125960" grpId="0" autoUpdateAnimBg="0"/>
      <p:bldP spid="125970" grpId="0" autoUpdateAnimBg="0"/>
      <p:bldP spid="125972" grpId="0" autoUpdateAnimBg="0"/>
      <p:bldP spid="125974" grpId="0" autoUpdateAnimBg="0"/>
      <p:bldP spid="125975" grpId="0" autoUpdateAnimBg="0"/>
      <p:bldP spid="125976" grpId="0" autoUpdateAnimBg="0"/>
      <p:bldP spid="125977" grpId="0" autoUpdateAnimBg="0"/>
      <p:bldP spid="125979" grpId="0" autoUpdateAnimBg="0"/>
      <p:bldP spid="126978" grpId="0"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9" name="Rectangle 3">
            <a:extLst>
              <a:ext uri="{FF2B5EF4-FFF2-40B4-BE49-F238E27FC236}">
                <a16:creationId xmlns:a16="http://schemas.microsoft.com/office/drawing/2014/main" id="{3FDCACC1-F861-461B-956A-F8CF2DE646AC}"/>
              </a:ext>
            </a:extLst>
          </p:cNvPr>
          <p:cNvSpPr>
            <a:spLocks noChangeArrowheads="1"/>
          </p:cNvSpPr>
          <p:nvPr/>
        </p:nvSpPr>
        <p:spPr bwMode="auto">
          <a:xfrm>
            <a:off x="592138" y="595313"/>
            <a:ext cx="20351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rgbClr val="00FFFF"/>
                </a:solidFill>
                <a:ea typeface="华文中宋" panose="02010600040101010101" pitchFamily="2" charset="-122"/>
              </a:rPr>
              <a:t>4. </a:t>
            </a:r>
            <a:r>
              <a:rPr lang="zh-CN" altLang="en-US">
                <a:solidFill>
                  <a:srgbClr val="00FFFF"/>
                </a:solidFill>
                <a:ea typeface="华文中宋" panose="02010600040101010101" pitchFamily="2" charset="-122"/>
              </a:rPr>
              <a:t>相干性好</a:t>
            </a:r>
          </a:p>
        </p:txBody>
      </p:sp>
      <p:sp>
        <p:nvSpPr>
          <p:cNvPr id="126980" name="Rectangle 4">
            <a:extLst>
              <a:ext uri="{FF2B5EF4-FFF2-40B4-BE49-F238E27FC236}">
                <a16:creationId xmlns:a16="http://schemas.microsoft.com/office/drawing/2014/main" id="{CE791310-927A-4082-AA04-42FDBA99F92E}"/>
              </a:ext>
            </a:extLst>
          </p:cNvPr>
          <p:cNvSpPr>
            <a:spLocks noChangeArrowheads="1"/>
          </p:cNvSpPr>
          <p:nvPr/>
        </p:nvSpPr>
        <p:spPr bwMode="auto">
          <a:xfrm>
            <a:off x="677863" y="1103313"/>
            <a:ext cx="7926387" cy="88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pPr>
            <a:r>
              <a:rPr lang="zh-CN" altLang="en-US" sz="2000">
                <a:solidFill>
                  <a:schemeClr val="bg1"/>
                </a:solidFill>
              </a:rPr>
              <a:t>受激辐射所输出的是</a:t>
            </a:r>
            <a:r>
              <a:rPr lang="zh-CN" altLang="en-US" sz="2000">
                <a:solidFill>
                  <a:srgbClr val="00FFFF"/>
                </a:solidFill>
              </a:rPr>
              <a:t>频率、偏振和传播方向都相同</a:t>
            </a:r>
            <a:r>
              <a:rPr lang="zh-CN" altLang="en-US" sz="2000">
                <a:solidFill>
                  <a:schemeClr val="bg1"/>
                </a:solidFill>
              </a:rPr>
              <a:t>的全同光子。当全同光束相遇时，就有很好的相干性，所产生的干涉条纹非常清晰。</a:t>
            </a:r>
          </a:p>
        </p:txBody>
      </p:sp>
      <p:sp>
        <p:nvSpPr>
          <p:cNvPr id="126981" name="Rectangle 5">
            <a:extLst>
              <a:ext uri="{FF2B5EF4-FFF2-40B4-BE49-F238E27FC236}">
                <a16:creationId xmlns:a16="http://schemas.microsoft.com/office/drawing/2014/main" id="{29A75650-D022-42F9-8A82-914AEA06DD26}"/>
              </a:ext>
            </a:extLst>
          </p:cNvPr>
          <p:cNvSpPr>
            <a:spLocks noChangeArrowheads="1"/>
          </p:cNvSpPr>
          <p:nvPr/>
        </p:nvSpPr>
        <p:spPr bwMode="auto">
          <a:xfrm>
            <a:off x="755650" y="2133600"/>
            <a:ext cx="22320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a:solidFill>
                  <a:srgbClr val="00FFFF"/>
                </a:solidFill>
              </a:rPr>
              <a:t>全息照片的拍摄：</a:t>
            </a:r>
          </a:p>
        </p:txBody>
      </p:sp>
      <p:sp>
        <p:nvSpPr>
          <p:cNvPr id="126982" name="Rectangle 6">
            <a:extLst>
              <a:ext uri="{FF2B5EF4-FFF2-40B4-BE49-F238E27FC236}">
                <a16:creationId xmlns:a16="http://schemas.microsoft.com/office/drawing/2014/main" id="{CE7E4830-695F-4AB6-8613-EC30BD8D6638}"/>
              </a:ext>
            </a:extLst>
          </p:cNvPr>
          <p:cNvSpPr>
            <a:spLocks noChangeArrowheads="1"/>
          </p:cNvSpPr>
          <p:nvPr/>
        </p:nvSpPr>
        <p:spPr bwMode="auto">
          <a:xfrm>
            <a:off x="3344863" y="3270250"/>
            <a:ext cx="76200" cy="1066800"/>
          </a:xfrm>
          <a:prstGeom prst="rect">
            <a:avLst/>
          </a:prstGeom>
          <a:solidFill>
            <a:srgbClr val="FFCCFF"/>
          </a:solidFill>
          <a:ln w="9525">
            <a:solidFill>
              <a:srgbClr val="FFCCFF"/>
            </a:solidFill>
            <a:miter lim="800000"/>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grpSp>
        <p:nvGrpSpPr>
          <p:cNvPr id="2" name="Group 7">
            <a:extLst>
              <a:ext uri="{FF2B5EF4-FFF2-40B4-BE49-F238E27FC236}">
                <a16:creationId xmlns:a16="http://schemas.microsoft.com/office/drawing/2014/main" id="{A387AA57-091C-47C3-9F6A-13D8925749F0}"/>
              </a:ext>
            </a:extLst>
          </p:cNvPr>
          <p:cNvGrpSpPr>
            <a:grpSpLocks/>
          </p:cNvGrpSpPr>
          <p:nvPr/>
        </p:nvGrpSpPr>
        <p:grpSpPr bwMode="auto">
          <a:xfrm>
            <a:off x="982663" y="4413250"/>
            <a:ext cx="2971800" cy="609600"/>
            <a:chOff x="528" y="3168"/>
            <a:chExt cx="1872" cy="384"/>
          </a:xfrm>
        </p:grpSpPr>
        <p:sp>
          <p:nvSpPr>
            <p:cNvPr id="39989" name="Line 8">
              <a:extLst>
                <a:ext uri="{FF2B5EF4-FFF2-40B4-BE49-F238E27FC236}">
                  <a16:creationId xmlns:a16="http://schemas.microsoft.com/office/drawing/2014/main" id="{7E4902C5-4E6B-4E6C-9567-D3DB75DC2B79}"/>
                </a:ext>
              </a:extLst>
            </p:cNvPr>
            <p:cNvSpPr>
              <a:spLocks noChangeShapeType="1"/>
            </p:cNvSpPr>
            <p:nvPr/>
          </p:nvSpPr>
          <p:spPr bwMode="auto">
            <a:xfrm>
              <a:off x="528" y="3168"/>
              <a:ext cx="1728" cy="0"/>
            </a:xfrm>
            <a:prstGeom prst="line">
              <a:avLst/>
            </a:prstGeom>
            <a:noFill/>
            <a:ln w="9525">
              <a:solidFill>
                <a:schemeClr val="bg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9990" name="Line 9">
              <a:extLst>
                <a:ext uri="{FF2B5EF4-FFF2-40B4-BE49-F238E27FC236}">
                  <a16:creationId xmlns:a16="http://schemas.microsoft.com/office/drawing/2014/main" id="{E22070BC-1A12-42C6-84F5-CBF9F5CEDBDE}"/>
                </a:ext>
              </a:extLst>
            </p:cNvPr>
            <p:cNvSpPr>
              <a:spLocks noChangeShapeType="1"/>
            </p:cNvSpPr>
            <p:nvPr/>
          </p:nvSpPr>
          <p:spPr bwMode="auto">
            <a:xfrm>
              <a:off x="528" y="3360"/>
              <a:ext cx="1824" cy="0"/>
            </a:xfrm>
            <a:prstGeom prst="line">
              <a:avLst/>
            </a:prstGeom>
            <a:noFill/>
            <a:ln w="9525">
              <a:solidFill>
                <a:schemeClr val="bg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9991" name="Line 10">
              <a:extLst>
                <a:ext uri="{FF2B5EF4-FFF2-40B4-BE49-F238E27FC236}">
                  <a16:creationId xmlns:a16="http://schemas.microsoft.com/office/drawing/2014/main" id="{6E6692F0-DD14-4739-9DE4-843FA7710BD0}"/>
                </a:ext>
              </a:extLst>
            </p:cNvPr>
            <p:cNvSpPr>
              <a:spLocks noChangeShapeType="1"/>
            </p:cNvSpPr>
            <p:nvPr/>
          </p:nvSpPr>
          <p:spPr bwMode="auto">
            <a:xfrm>
              <a:off x="528" y="3552"/>
              <a:ext cx="1872" cy="0"/>
            </a:xfrm>
            <a:prstGeom prst="line">
              <a:avLst/>
            </a:prstGeom>
            <a:noFill/>
            <a:ln w="9525">
              <a:solidFill>
                <a:schemeClr val="bg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26987" name="Rectangle 11">
            <a:extLst>
              <a:ext uri="{FF2B5EF4-FFF2-40B4-BE49-F238E27FC236}">
                <a16:creationId xmlns:a16="http://schemas.microsoft.com/office/drawing/2014/main" id="{DDBE4C83-AB60-4C77-A73A-6D3405730E9A}"/>
              </a:ext>
            </a:extLst>
          </p:cNvPr>
          <p:cNvSpPr>
            <a:spLocks noChangeArrowheads="1"/>
          </p:cNvSpPr>
          <p:nvPr/>
        </p:nvSpPr>
        <p:spPr bwMode="auto">
          <a:xfrm rot="-1128078">
            <a:off x="3802063" y="4154488"/>
            <a:ext cx="76200" cy="1096962"/>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grpSp>
        <p:nvGrpSpPr>
          <p:cNvPr id="3" name="Group 12">
            <a:extLst>
              <a:ext uri="{FF2B5EF4-FFF2-40B4-BE49-F238E27FC236}">
                <a16:creationId xmlns:a16="http://schemas.microsoft.com/office/drawing/2014/main" id="{81595687-5887-4900-83C1-866460C7AEA6}"/>
              </a:ext>
            </a:extLst>
          </p:cNvPr>
          <p:cNvGrpSpPr>
            <a:grpSpLocks/>
          </p:cNvGrpSpPr>
          <p:nvPr/>
        </p:nvGrpSpPr>
        <p:grpSpPr bwMode="auto">
          <a:xfrm>
            <a:off x="906463" y="3498850"/>
            <a:ext cx="2438400" cy="609600"/>
            <a:chOff x="480" y="2544"/>
            <a:chExt cx="1536" cy="384"/>
          </a:xfrm>
        </p:grpSpPr>
        <p:sp>
          <p:nvSpPr>
            <p:cNvPr id="39986" name="Line 13">
              <a:extLst>
                <a:ext uri="{FF2B5EF4-FFF2-40B4-BE49-F238E27FC236}">
                  <a16:creationId xmlns:a16="http://schemas.microsoft.com/office/drawing/2014/main" id="{E55F5C1A-629A-4D60-8C22-A3DF954C580F}"/>
                </a:ext>
              </a:extLst>
            </p:cNvPr>
            <p:cNvSpPr>
              <a:spLocks noChangeShapeType="1"/>
            </p:cNvSpPr>
            <p:nvPr/>
          </p:nvSpPr>
          <p:spPr bwMode="auto">
            <a:xfrm>
              <a:off x="480" y="2544"/>
              <a:ext cx="1536" cy="0"/>
            </a:xfrm>
            <a:prstGeom prst="line">
              <a:avLst/>
            </a:prstGeom>
            <a:noFill/>
            <a:ln w="9525">
              <a:solidFill>
                <a:schemeClr val="bg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9987" name="Line 14">
              <a:extLst>
                <a:ext uri="{FF2B5EF4-FFF2-40B4-BE49-F238E27FC236}">
                  <a16:creationId xmlns:a16="http://schemas.microsoft.com/office/drawing/2014/main" id="{14A5CBDF-873C-42CB-B36A-0A684EBCB0C0}"/>
                </a:ext>
              </a:extLst>
            </p:cNvPr>
            <p:cNvSpPr>
              <a:spLocks noChangeShapeType="1"/>
            </p:cNvSpPr>
            <p:nvPr/>
          </p:nvSpPr>
          <p:spPr bwMode="auto">
            <a:xfrm>
              <a:off x="480" y="2736"/>
              <a:ext cx="1536" cy="0"/>
            </a:xfrm>
            <a:prstGeom prst="line">
              <a:avLst/>
            </a:prstGeom>
            <a:noFill/>
            <a:ln w="9525">
              <a:solidFill>
                <a:schemeClr val="bg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9988" name="Line 15">
              <a:extLst>
                <a:ext uri="{FF2B5EF4-FFF2-40B4-BE49-F238E27FC236}">
                  <a16:creationId xmlns:a16="http://schemas.microsoft.com/office/drawing/2014/main" id="{4451BB99-825D-4FA8-A753-17D963FD2EB5}"/>
                </a:ext>
              </a:extLst>
            </p:cNvPr>
            <p:cNvSpPr>
              <a:spLocks noChangeShapeType="1"/>
            </p:cNvSpPr>
            <p:nvPr/>
          </p:nvSpPr>
          <p:spPr bwMode="auto">
            <a:xfrm>
              <a:off x="480" y="2928"/>
              <a:ext cx="1536" cy="0"/>
            </a:xfrm>
            <a:prstGeom prst="line">
              <a:avLst/>
            </a:prstGeom>
            <a:noFill/>
            <a:ln w="9525">
              <a:solidFill>
                <a:schemeClr val="bg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26992" name="Line 16">
            <a:extLst>
              <a:ext uri="{FF2B5EF4-FFF2-40B4-BE49-F238E27FC236}">
                <a16:creationId xmlns:a16="http://schemas.microsoft.com/office/drawing/2014/main" id="{63E6971E-2732-4827-88EA-1CC366343BE4}"/>
              </a:ext>
            </a:extLst>
          </p:cNvPr>
          <p:cNvSpPr>
            <a:spLocks noChangeShapeType="1"/>
          </p:cNvSpPr>
          <p:nvPr/>
        </p:nvSpPr>
        <p:spPr bwMode="auto">
          <a:xfrm rot="8807424">
            <a:off x="1949450" y="5441950"/>
            <a:ext cx="2098675" cy="150813"/>
          </a:xfrm>
          <a:prstGeom prst="line">
            <a:avLst/>
          </a:prstGeom>
          <a:noFill/>
          <a:ln w="9525">
            <a:solidFill>
              <a:schemeClr val="bg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6993" name="Line 17">
            <a:extLst>
              <a:ext uri="{FF2B5EF4-FFF2-40B4-BE49-F238E27FC236}">
                <a16:creationId xmlns:a16="http://schemas.microsoft.com/office/drawing/2014/main" id="{C20F6752-1AD6-4BA7-A0E3-EEF9E3145075}"/>
              </a:ext>
            </a:extLst>
          </p:cNvPr>
          <p:cNvSpPr>
            <a:spLocks noChangeShapeType="1"/>
          </p:cNvSpPr>
          <p:nvPr/>
        </p:nvSpPr>
        <p:spPr bwMode="auto">
          <a:xfrm rot="8807424">
            <a:off x="1971675" y="5138738"/>
            <a:ext cx="1908175" cy="133350"/>
          </a:xfrm>
          <a:prstGeom prst="line">
            <a:avLst/>
          </a:prstGeom>
          <a:noFill/>
          <a:ln w="9525">
            <a:solidFill>
              <a:schemeClr val="bg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6994" name="Line 18">
            <a:extLst>
              <a:ext uri="{FF2B5EF4-FFF2-40B4-BE49-F238E27FC236}">
                <a16:creationId xmlns:a16="http://schemas.microsoft.com/office/drawing/2014/main" id="{222668A9-CA12-45F4-8357-A96A8DC60EAA}"/>
              </a:ext>
            </a:extLst>
          </p:cNvPr>
          <p:cNvSpPr>
            <a:spLocks noChangeShapeType="1"/>
          </p:cNvSpPr>
          <p:nvPr/>
        </p:nvSpPr>
        <p:spPr bwMode="auto">
          <a:xfrm rot="8807424">
            <a:off x="1890713" y="4813300"/>
            <a:ext cx="1843087" cy="136525"/>
          </a:xfrm>
          <a:prstGeom prst="line">
            <a:avLst/>
          </a:prstGeom>
          <a:noFill/>
          <a:ln w="9525">
            <a:solidFill>
              <a:schemeClr val="bg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4" name="Group 19">
            <a:extLst>
              <a:ext uri="{FF2B5EF4-FFF2-40B4-BE49-F238E27FC236}">
                <a16:creationId xmlns:a16="http://schemas.microsoft.com/office/drawing/2014/main" id="{CAC0EA9B-5F5A-48DB-B9F7-63AA74254B11}"/>
              </a:ext>
            </a:extLst>
          </p:cNvPr>
          <p:cNvGrpSpPr>
            <a:grpSpLocks/>
          </p:cNvGrpSpPr>
          <p:nvPr/>
        </p:nvGrpSpPr>
        <p:grpSpPr bwMode="auto">
          <a:xfrm>
            <a:off x="1236663" y="5265738"/>
            <a:ext cx="1041400" cy="900112"/>
            <a:chOff x="864" y="3648"/>
            <a:chExt cx="560" cy="567"/>
          </a:xfrm>
        </p:grpSpPr>
        <p:sp>
          <p:nvSpPr>
            <p:cNvPr id="39982" name="Freeform 20">
              <a:extLst>
                <a:ext uri="{FF2B5EF4-FFF2-40B4-BE49-F238E27FC236}">
                  <a16:creationId xmlns:a16="http://schemas.microsoft.com/office/drawing/2014/main" id="{9A3C30B0-F287-4214-9EC7-BAFC107CCB0B}"/>
                </a:ext>
              </a:extLst>
            </p:cNvPr>
            <p:cNvSpPr>
              <a:spLocks/>
            </p:cNvSpPr>
            <p:nvPr/>
          </p:nvSpPr>
          <p:spPr bwMode="auto">
            <a:xfrm>
              <a:off x="1138" y="3856"/>
              <a:ext cx="57" cy="359"/>
            </a:xfrm>
            <a:custGeom>
              <a:avLst/>
              <a:gdLst>
                <a:gd name="T0" fmla="*/ 1 w 96"/>
                <a:gd name="T1" fmla="*/ 0 h 480"/>
                <a:gd name="T2" fmla="*/ 1 w 96"/>
                <a:gd name="T3" fmla="*/ 1 h 480"/>
                <a:gd name="T4" fmla="*/ 0 w 96"/>
                <a:gd name="T5" fmla="*/ 1 h 480"/>
                <a:gd name="T6" fmla="*/ 1 w 96"/>
                <a:gd name="T7" fmla="*/ 1 h 480"/>
                <a:gd name="T8" fmla="*/ 0 60000 65536"/>
                <a:gd name="T9" fmla="*/ 0 60000 65536"/>
                <a:gd name="T10" fmla="*/ 0 60000 65536"/>
                <a:gd name="T11" fmla="*/ 0 60000 65536"/>
                <a:gd name="T12" fmla="*/ 0 w 96"/>
                <a:gd name="T13" fmla="*/ 0 h 480"/>
                <a:gd name="T14" fmla="*/ 96 w 96"/>
                <a:gd name="T15" fmla="*/ 480 h 480"/>
              </a:gdLst>
              <a:ahLst/>
              <a:cxnLst>
                <a:cxn ang="T8">
                  <a:pos x="T0" y="T1"/>
                </a:cxn>
                <a:cxn ang="T9">
                  <a:pos x="T2" y="T3"/>
                </a:cxn>
                <a:cxn ang="T10">
                  <a:pos x="T4" y="T5"/>
                </a:cxn>
                <a:cxn ang="T11">
                  <a:pos x="T6" y="T7"/>
                </a:cxn>
              </a:cxnLst>
              <a:rect l="T12" t="T13" r="T14" b="T15"/>
              <a:pathLst>
                <a:path w="96" h="480">
                  <a:moveTo>
                    <a:pt x="96" y="0"/>
                  </a:moveTo>
                  <a:cubicBezTo>
                    <a:pt x="80" y="24"/>
                    <a:pt x="64" y="48"/>
                    <a:pt x="48" y="96"/>
                  </a:cubicBezTo>
                  <a:cubicBezTo>
                    <a:pt x="32" y="144"/>
                    <a:pt x="0" y="224"/>
                    <a:pt x="0" y="288"/>
                  </a:cubicBezTo>
                  <a:cubicBezTo>
                    <a:pt x="0" y="352"/>
                    <a:pt x="24" y="416"/>
                    <a:pt x="48" y="480"/>
                  </a:cubicBezTo>
                </a:path>
              </a:pathLst>
            </a:custGeom>
            <a:noFill/>
            <a:ln w="60325">
              <a:solidFill>
                <a:srgbClr val="99CC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9983" name="Freeform 21">
              <a:extLst>
                <a:ext uri="{FF2B5EF4-FFF2-40B4-BE49-F238E27FC236}">
                  <a16:creationId xmlns:a16="http://schemas.microsoft.com/office/drawing/2014/main" id="{13A2507F-EFC9-471B-A040-8785828736BC}"/>
                </a:ext>
              </a:extLst>
            </p:cNvPr>
            <p:cNvSpPr>
              <a:spLocks/>
            </p:cNvSpPr>
            <p:nvPr/>
          </p:nvSpPr>
          <p:spPr bwMode="auto">
            <a:xfrm>
              <a:off x="864" y="3868"/>
              <a:ext cx="274" cy="204"/>
            </a:xfrm>
            <a:custGeom>
              <a:avLst/>
              <a:gdLst>
                <a:gd name="T0" fmla="*/ 1 w 464"/>
                <a:gd name="T1" fmla="*/ 2 h 272"/>
                <a:gd name="T2" fmla="*/ 1 w 464"/>
                <a:gd name="T3" fmla="*/ 2 h 272"/>
                <a:gd name="T4" fmla="*/ 1 w 464"/>
                <a:gd name="T5" fmla="*/ 2 h 272"/>
                <a:gd name="T6" fmla="*/ 1 w 464"/>
                <a:gd name="T7" fmla="*/ 2 h 272"/>
                <a:gd name="T8" fmla="*/ 1 w 464"/>
                <a:gd name="T9" fmla="*/ 2 h 272"/>
                <a:gd name="T10" fmla="*/ 1 w 464"/>
                <a:gd name="T11" fmla="*/ 2 h 272"/>
                <a:gd name="T12" fmla="*/ 0 60000 65536"/>
                <a:gd name="T13" fmla="*/ 0 60000 65536"/>
                <a:gd name="T14" fmla="*/ 0 60000 65536"/>
                <a:gd name="T15" fmla="*/ 0 60000 65536"/>
                <a:gd name="T16" fmla="*/ 0 60000 65536"/>
                <a:gd name="T17" fmla="*/ 0 60000 65536"/>
                <a:gd name="T18" fmla="*/ 0 w 464"/>
                <a:gd name="T19" fmla="*/ 0 h 272"/>
                <a:gd name="T20" fmla="*/ 464 w 464"/>
                <a:gd name="T21" fmla="*/ 272 h 272"/>
              </a:gdLst>
              <a:ahLst/>
              <a:cxnLst>
                <a:cxn ang="T12">
                  <a:pos x="T0" y="T1"/>
                </a:cxn>
                <a:cxn ang="T13">
                  <a:pos x="T2" y="T3"/>
                </a:cxn>
                <a:cxn ang="T14">
                  <a:pos x="T4" y="T5"/>
                </a:cxn>
                <a:cxn ang="T15">
                  <a:pos x="T6" y="T7"/>
                </a:cxn>
                <a:cxn ang="T16">
                  <a:pos x="T8" y="T9"/>
                </a:cxn>
                <a:cxn ang="T17">
                  <a:pos x="T10" y="T11"/>
                </a:cxn>
              </a:cxnLst>
              <a:rect l="T18" t="T19" r="T20" b="T21"/>
              <a:pathLst>
                <a:path w="464" h="272">
                  <a:moveTo>
                    <a:pt x="448" y="208"/>
                  </a:moveTo>
                  <a:cubicBezTo>
                    <a:pt x="432" y="176"/>
                    <a:pt x="328" y="32"/>
                    <a:pt x="256" y="16"/>
                  </a:cubicBezTo>
                  <a:cubicBezTo>
                    <a:pt x="184" y="0"/>
                    <a:pt x="32" y="72"/>
                    <a:pt x="16" y="112"/>
                  </a:cubicBezTo>
                  <a:cubicBezTo>
                    <a:pt x="0" y="152"/>
                    <a:pt x="104" y="240"/>
                    <a:pt x="160" y="256"/>
                  </a:cubicBezTo>
                  <a:cubicBezTo>
                    <a:pt x="216" y="272"/>
                    <a:pt x="304" y="216"/>
                    <a:pt x="352" y="208"/>
                  </a:cubicBezTo>
                  <a:cubicBezTo>
                    <a:pt x="400" y="200"/>
                    <a:pt x="464" y="240"/>
                    <a:pt x="448" y="208"/>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984" name="Freeform 22">
              <a:extLst>
                <a:ext uri="{FF2B5EF4-FFF2-40B4-BE49-F238E27FC236}">
                  <a16:creationId xmlns:a16="http://schemas.microsoft.com/office/drawing/2014/main" id="{7842B7BB-21B1-4DE5-8231-719D9EEFD807}"/>
                </a:ext>
              </a:extLst>
            </p:cNvPr>
            <p:cNvSpPr>
              <a:spLocks/>
            </p:cNvSpPr>
            <p:nvPr/>
          </p:nvSpPr>
          <p:spPr bwMode="auto">
            <a:xfrm rot="9553372">
              <a:off x="1138" y="3928"/>
              <a:ext cx="274" cy="203"/>
            </a:xfrm>
            <a:custGeom>
              <a:avLst/>
              <a:gdLst>
                <a:gd name="T0" fmla="*/ 1 w 464"/>
                <a:gd name="T1" fmla="*/ 1 h 272"/>
                <a:gd name="T2" fmla="*/ 1 w 464"/>
                <a:gd name="T3" fmla="*/ 1 h 272"/>
                <a:gd name="T4" fmla="*/ 1 w 464"/>
                <a:gd name="T5" fmla="*/ 1 h 272"/>
                <a:gd name="T6" fmla="*/ 1 w 464"/>
                <a:gd name="T7" fmla="*/ 1 h 272"/>
                <a:gd name="T8" fmla="*/ 1 w 464"/>
                <a:gd name="T9" fmla="*/ 1 h 272"/>
                <a:gd name="T10" fmla="*/ 1 w 464"/>
                <a:gd name="T11" fmla="*/ 1 h 272"/>
                <a:gd name="T12" fmla="*/ 0 60000 65536"/>
                <a:gd name="T13" fmla="*/ 0 60000 65536"/>
                <a:gd name="T14" fmla="*/ 0 60000 65536"/>
                <a:gd name="T15" fmla="*/ 0 60000 65536"/>
                <a:gd name="T16" fmla="*/ 0 60000 65536"/>
                <a:gd name="T17" fmla="*/ 0 60000 65536"/>
                <a:gd name="T18" fmla="*/ 0 w 464"/>
                <a:gd name="T19" fmla="*/ 0 h 272"/>
                <a:gd name="T20" fmla="*/ 464 w 464"/>
                <a:gd name="T21" fmla="*/ 272 h 272"/>
              </a:gdLst>
              <a:ahLst/>
              <a:cxnLst>
                <a:cxn ang="T12">
                  <a:pos x="T0" y="T1"/>
                </a:cxn>
                <a:cxn ang="T13">
                  <a:pos x="T2" y="T3"/>
                </a:cxn>
                <a:cxn ang="T14">
                  <a:pos x="T4" y="T5"/>
                </a:cxn>
                <a:cxn ang="T15">
                  <a:pos x="T6" y="T7"/>
                </a:cxn>
                <a:cxn ang="T16">
                  <a:pos x="T8" y="T9"/>
                </a:cxn>
                <a:cxn ang="T17">
                  <a:pos x="T10" y="T11"/>
                </a:cxn>
              </a:cxnLst>
              <a:rect l="T18" t="T19" r="T20" b="T21"/>
              <a:pathLst>
                <a:path w="464" h="272">
                  <a:moveTo>
                    <a:pt x="448" y="208"/>
                  </a:moveTo>
                  <a:cubicBezTo>
                    <a:pt x="432" y="176"/>
                    <a:pt x="328" y="32"/>
                    <a:pt x="256" y="16"/>
                  </a:cubicBezTo>
                  <a:cubicBezTo>
                    <a:pt x="184" y="0"/>
                    <a:pt x="32" y="72"/>
                    <a:pt x="16" y="112"/>
                  </a:cubicBezTo>
                  <a:cubicBezTo>
                    <a:pt x="0" y="152"/>
                    <a:pt x="104" y="240"/>
                    <a:pt x="160" y="256"/>
                  </a:cubicBezTo>
                  <a:cubicBezTo>
                    <a:pt x="216" y="272"/>
                    <a:pt x="304" y="216"/>
                    <a:pt x="352" y="208"/>
                  </a:cubicBezTo>
                  <a:cubicBezTo>
                    <a:pt x="400" y="200"/>
                    <a:pt x="464" y="240"/>
                    <a:pt x="448" y="208"/>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rot="10800000"/>
            <a:lstStyle/>
            <a:p>
              <a:endParaRPr lang="zh-CN" altLang="en-US"/>
            </a:p>
          </p:txBody>
        </p:sp>
        <p:sp>
          <p:nvSpPr>
            <p:cNvPr id="39985" name="Freeform 23">
              <a:extLst>
                <a:ext uri="{FF2B5EF4-FFF2-40B4-BE49-F238E27FC236}">
                  <a16:creationId xmlns:a16="http://schemas.microsoft.com/office/drawing/2014/main" id="{D5555E7C-4BE6-4E72-ACC0-2CF3F886864B}"/>
                </a:ext>
              </a:extLst>
            </p:cNvPr>
            <p:cNvSpPr>
              <a:spLocks/>
            </p:cNvSpPr>
            <p:nvPr/>
          </p:nvSpPr>
          <p:spPr bwMode="auto">
            <a:xfrm>
              <a:off x="1080" y="3648"/>
              <a:ext cx="344" cy="383"/>
            </a:xfrm>
            <a:custGeom>
              <a:avLst/>
              <a:gdLst>
                <a:gd name="T0" fmla="*/ 1 w 582"/>
                <a:gd name="T1" fmla="*/ 1 h 513"/>
                <a:gd name="T2" fmla="*/ 1 w 582"/>
                <a:gd name="T3" fmla="*/ 1 h 513"/>
                <a:gd name="T4" fmla="*/ 1 w 582"/>
                <a:gd name="T5" fmla="*/ 1 h 513"/>
                <a:gd name="T6" fmla="*/ 1 w 582"/>
                <a:gd name="T7" fmla="*/ 1 h 513"/>
                <a:gd name="T8" fmla="*/ 1 w 582"/>
                <a:gd name="T9" fmla="*/ 1 h 513"/>
                <a:gd name="T10" fmla="*/ 1 w 582"/>
                <a:gd name="T11" fmla="*/ 1 h 513"/>
                <a:gd name="T12" fmla="*/ 1 w 582"/>
                <a:gd name="T13" fmla="*/ 1 h 513"/>
                <a:gd name="T14" fmla="*/ 1 w 582"/>
                <a:gd name="T15" fmla="*/ 1 h 513"/>
                <a:gd name="T16" fmla="*/ 1 w 582"/>
                <a:gd name="T17" fmla="*/ 0 h 513"/>
                <a:gd name="T18" fmla="*/ 1 w 582"/>
                <a:gd name="T19" fmla="*/ 1 h 513"/>
                <a:gd name="T20" fmla="*/ 1 w 582"/>
                <a:gd name="T21" fmla="*/ 1 h 513"/>
                <a:gd name="T22" fmla="*/ 1 w 582"/>
                <a:gd name="T23" fmla="*/ 1 h 513"/>
                <a:gd name="T24" fmla="*/ 1 w 582"/>
                <a:gd name="T25" fmla="*/ 1 h 513"/>
                <a:gd name="T26" fmla="*/ 1 w 582"/>
                <a:gd name="T27" fmla="*/ 1 h 513"/>
                <a:gd name="T28" fmla="*/ 1 w 582"/>
                <a:gd name="T29" fmla="*/ 1 h 513"/>
                <a:gd name="T30" fmla="*/ 1 w 582"/>
                <a:gd name="T31" fmla="*/ 1 h 513"/>
                <a:gd name="T32" fmla="*/ 1 w 582"/>
                <a:gd name="T33" fmla="*/ 1 h 513"/>
                <a:gd name="T34" fmla="*/ 1 w 582"/>
                <a:gd name="T35" fmla="*/ 1 h 513"/>
                <a:gd name="T36" fmla="*/ 1 w 582"/>
                <a:gd name="T37" fmla="*/ 1 h 513"/>
                <a:gd name="T38" fmla="*/ 1 w 582"/>
                <a:gd name="T39" fmla="*/ 1 h 513"/>
                <a:gd name="T40" fmla="*/ 1 w 582"/>
                <a:gd name="T41" fmla="*/ 1 h 513"/>
                <a:gd name="T42" fmla="*/ 1 w 582"/>
                <a:gd name="T43" fmla="*/ 1 h 513"/>
                <a:gd name="T44" fmla="*/ 1 w 582"/>
                <a:gd name="T45" fmla="*/ 1 h 513"/>
                <a:gd name="T46" fmla="*/ 1 w 582"/>
                <a:gd name="T47" fmla="*/ 1 h 513"/>
                <a:gd name="T48" fmla="*/ 1 w 582"/>
                <a:gd name="T49" fmla="*/ 1 h 513"/>
                <a:gd name="T50" fmla="*/ 1 w 582"/>
                <a:gd name="T51" fmla="*/ 1 h 513"/>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582"/>
                <a:gd name="T79" fmla="*/ 0 h 513"/>
                <a:gd name="T80" fmla="*/ 582 w 582"/>
                <a:gd name="T81" fmla="*/ 513 h 513"/>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582" h="513">
                  <a:moveTo>
                    <a:pt x="258" y="324"/>
                  </a:moveTo>
                  <a:cubicBezTo>
                    <a:pt x="190" y="277"/>
                    <a:pt x="107" y="261"/>
                    <a:pt x="38" y="213"/>
                  </a:cubicBezTo>
                  <a:cubicBezTo>
                    <a:pt x="0" y="158"/>
                    <a:pt x="2" y="62"/>
                    <a:pt x="69" y="40"/>
                  </a:cubicBezTo>
                  <a:cubicBezTo>
                    <a:pt x="83" y="42"/>
                    <a:pt x="128" y="44"/>
                    <a:pt x="140" y="63"/>
                  </a:cubicBezTo>
                  <a:cubicBezTo>
                    <a:pt x="149" y="77"/>
                    <a:pt x="151" y="95"/>
                    <a:pt x="156" y="111"/>
                  </a:cubicBezTo>
                  <a:cubicBezTo>
                    <a:pt x="159" y="119"/>
                    <a:pt x="164" y="134"/>
                    <a:pt x="164" y="134"/>
                  </a:cubicBezTo>
                  <a:cubicBezTo>
                    <a:pt x="199" y="99"/>
                    <a:pt x="184" y="121"/>
                    <a:pt x="203" y="63"/>
                  </a:cubicBezTo>
                  <a:cubicBezTo>
                    <a:pt x="210" y="42"/>
                    <a:pt x="235" y="32"/>
                    <a:pt x="251" y="16"/>
                  </a:cubicBezTo>
                  <a:cubicBezTo>
                    <a:pt x="263" y="4"/>
                    <a:pt x="298" y="0"/>
                    <a:pt x="298" y="0"/>
                  </a:cubicBezTo>
                  <a:cubicBezTo>
                    <a:pt x="362" y="7"/>
                    <a:pt x="397" y="14"/>
                    <a:pt x="448" y="48"/>
                  </a:cubicBezTo>
                  <a:cubicBezTo>
                    <a:pt x="492" y="174"/>
                    <a:pt x="356" y="170"/>
                    <a:pt x="274" y="190"/>
                  </a:cubicBezTo>
                  <a:cubicBezTo>
                    <a:pt x="472" y="197"/>
                    <a:pt x="418" y="185"/>
                    <a:pt x="527" y="221"/>
                  </a:cubicBezTo>
                  <a:cubicBezTo>
                    <a:pt x="548" y="236"/>
                    <a:pt x="555" y="236"/>
                    <a:pt x="566" y="261"/>
                  </a:cubicBezTo>
                  <a:cubicBezTo>
                    <a:pt x="573" y="276"/>
                    <a:pt x="582" y="308"/>
                    <a:pt x="582" y="308"/>
                  </a:cubicBezTo>
                  <a:cubicBezTo>
                    <a:pt x="563" y="383"/>
                    <a:pt x="520" y="353"/>
                    <a:pt x="440" y="347"/>
                  </a:cubicBezTo>
                  <a:cubicBezTo>
                    <a:pt x="396" y="319"/>
                    <a:pt x="426" y="341"/>
                    <a:pt x="369" y="284"/>
                  </a:cubicBezTo>
                  <a:cubicBezTo>
                    <a:pt x="361" y="276"/>
                    <a:pt x="345" y="261"/>
                    <a:pt x="345" y="261"/>
                  </a:cubicBezTo>
                  <a:cubicBezTo>
                    <a:pt x="345" y="261"/>
                    <a:pt x="361" y="276"/>
                    <a:pt x="369" y="284"/>
                  </a:cubicBezTo>
                  <a:cubicBezTo>
                    <a:pt x="377" y="292"/>
                    <a:pt x="385" y="300"/>
                    <a:pt x="393" y="308"/>
                  </a:cubicBezTo>
                  <a:cubicBezTo>
                    <a:pt x="423" y="338"/>
                    <a:pt x="450" y="385"/>
                    <a:pt x="464" y="426"/>
                  </a:cubicBezTo>
                  <a:cubicBezTo>
                    <a:pt x="461" y="450"/>
                    <a:pt x="469" y="477"/>
                    <a:pt x="456" y="497"/>
                  </a:cubicBezTo>
                  <a:cubicBezTo>
                    <a:pt x="447" y="511"/>
                    <a:pt x="408" y="513"/>
                    <a:pt x="408" y="513"/>
                  </a:cubicBezTo>
                  <a:cubicBezTo>
                    <a:pt x="382" y="510"/>
                    <a:pt x="355" y="511"/>
                    <a:pt x="329" y="505"/>
                  </a:cubicBezTo>
                  <a:cubicBezTo>
                    <a:pt x="301" y="498"/>
                    <a:pt x="282" y="462"/>
                    <a:pt x="266" y="442"/>
                  </a:cubicBezTo>
                  <a:cubicBezTo>
                    <a:pt x="201" y="363"/>
                    <a:pt x="298" y="499"/>
                    <a:pt x="211" y="371"/>
                  </a:cubicBezTo>
                  <a:cubicBezTo>
                    <a:pt x="196" y="349"/>
                    <a:pt x="199" y="317"/>
                    <a:pt x="187" y="292"/>
                  </a:cubicBezTo>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27000" name="Line 24">
            <a:extLst>
              <a:ext uri="{FF2B5EF4-FFF2-40B4-BE49-F238E27FC236}">
                <a16:creationId xmlns:a16="http://schemas.microsoft.com/office/drawing/2014/main" id="{BE2CFA05-B27A-46FC-9881-35D26012E5BE}"/>
              </a:ext>
            </a:extLst>
          </p:cNvPr>
          <p:cNvSpPr>
            <a:spLocks noChangeShapeType="1"/>
          </p:cNvSpPr>
          <p:nvPr/>
        </p:nvSpPr>
        <p:spPr bwMode="auto">
          <a:xfrm flipV="1">
            <a:off x="1973263" y="3498850"/>
            <a:ext cx="1371600" cy="1828800"/>
          </a:xfrm>
          <a:prstGeom prst="line">
            <a:avLst/>
          </a:prstGeom>
          <a:noFill/>
          <a:ln w="9525">
            <a:solidFill>
              <a:srgbClr val="FF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7001" name="Line 25">
            <a:extLst>
              <a:ext uri="{FF2B5EF4-FFF2-40B4-BE49-F238E27FC236}">
                <a16:creationId xmlns:a16="http://schemas.microsoft.com/office/drawing/2014/main" id="{AB633DDD-21AD-46FC-9F77-F4C8C7DF1F53}"/>
              </a:ext>
            </a:extLst>
          </p:cNvPr>
          <p:cNvSpPr>
            <a:spLocks noChangeShapeType="1"/>
          </p:cNvSpPr>
          <p:nvPr/>
        </p:nvSpPr>
        <p:spPr bwMode="auto">
          <a:xfrm flipV="1">
            <a:off x="2049463" y="4108450"/>
            <a:ext cx="1295400" cy="1143000"/>
          </a:xfrm>
          <a:prstGeom prst="line">
            <a:avLst/>
          </a:prstGeom>
          <a:noFill/>
          <a:ln w="9525">
            <a:solidFill>
              <a:srgbClr val="FF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7002" name="Line 26">
            <a:extLst>
              <a:ext uri="{FF2B5EF4-FFF2-40B4-BE49-F238E27FC236}">
                <a16:creationId xmlns:a16="http://schemas.microsoft.com/office/drawing/2014/main" id="{4C84F0ED-078F-4A28-8316-25EF12E9BFF1}"/>
              </a:ext>
            </a:extLst>
          </p:cNvPr>
          <p:cNvSpPr>
            <a:spLocks noChangeShapeType="1"/>
          </p:cNvSpPr>
          <p:nvPr/>
        </p:nvSpPr>
        <p:spPr bwMode="auto">
          <a:xfrm flipV="1">
            <a:off x="2201863" y="3498850"/>
            <a:ext cx="1143000" cy="2286000"/>
          </a:xfrm>
          <a:prstGeom prst="line">
            <a:avLst/>
          </a:prstGeom>
          <a:noFill/>
          <a:ln w="9525">
            <a:solidFill>
              <a:srgbClr val="FF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7003" name="Line 27">
            <a:extLst>
              <a:ext uri="{FF2B5EF4-FFF2-40B4-BE49-F238E27FC236}">
                <a16:creationId xmlns:a16="http://schemas.microsoft.com/office/drawing/2014/main" id="{E5CC889D-49F6-44D7-98DE-D5184A1A8F23}"/>
              </a:ext>
            </a:extLst>
          </p:cNvPr>
          <p:cNvSpPr>
            <a:spLocks noChangeShapeType="1"/>
          </p:cNvSpPr>
          <p:nvPr/>
        </p:nvSpPr>
        <p:spPr bwMode="auto">
          <a:xfrm flipV="1">
            <a:off x="2201863" y="4108450"/>
            <a:ext cx="1143000" cy="1676400"/>
          </a:xfrm>
          <a:prstGeom prst="line">
            <a:avLst/>
          </a:prstGeom>
          <a:noFill/>
          <a:ln w="9525">
            <a:solidFill>
              <a:srgbClr val="FF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7004" name="AutoShape 28">
            <a:extLst>
              <a:ext uri="{FF2B5EF4-FFF2-40B4-BE49-F238E27FC236}">
                <a16:creationId xmlns:a16="http://schemas.microsoft.com/office/drawing/2014/main" id="{CC48F8EC-74F0-4A9C-A8F5-F5F50A14CA74}"/>
              </a:ext>
            </a:extLst>
          </p:cNvPr>
          <p:cNvSpPr>
            <a:spLocks noChangeArrowheads="1"/>
          </p:cNvSpPr>
          <p:nvPr/>
        </p:nvSpPr>
        <p:spPr bwMode="auto">
          <a:xfrm>
            <a:off x="2700338" y="2673350"/>
            <a:ext cx="1295400" cy="415925"/>
          </a:xfrm>
          <a:prstGeom prst="wedgeRectCallout">
            <a:avLst>
              <a:gd name="adj1" fmla="val 981"/>
              <a:gd name="adj2" fmla="val 110306"/>
            </a:avLst>
          </a:prstGeom>
          <a:noFill/>
          <a:ln w="19050">
            <a:solidFill>
              <a:srgbClr val="FFCC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a:solidFill>
                  <a:srgbClr val="FFCCFF"/>
                </a:solidFill>
              </a:rPr>
              <a:t>照相底片</a:t>
            </a:r>
          </a:p>
        </p:txBody>
      </p:sp>
      <p:sp>
        <p:nvSpPr>
          <p:cNvPr id="127005" name="AutoShape 29">
            <a:extLst>
              <a:ext uri="{FF2B5EF4-FFF2-40B4-BE49-F238E27FC236}">
                <a16:creationId xmlns:a16="http://schemas.microsoft.com/office/drawing/2014/main" id="{65C97C87-0032-4857-8DE1-BBD81D5A47BF}"/>
              </a:ext>
            </a:extLst>
          </p:cNvPr>
          <p:cNvSpPr>
            <a:spLocks noChangeArrowheads="1"/>
          </p:cNvSpPr>
          <p:nvPr/>
        </p:nvSpPr>
        <p:spPr bwMode="auto">
          <a:xfrm>
            <a:off x="3203575" y="5553075"/>
            <a:ext cx="1152525" cy="415925"/>
          </a:xfrm>
          <a:prstGeom prst="wedgeRectCallout">
            <a:avLst>
              <a:gd name="adj1" fmla="val 17079"/>
              <a:gd name="adj2" fmla="val -156801"/>
            </a:avLst>
          </a:prstGeom>
          <a:noFill/>
          <a:ln w="19050">
            <a:solidFill>
              <a:srgbClr val="FFCC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a:solidFill>
                  <a:srgbClr val="00FFFF"/>
                </a:solidFill>
              </a:rPr>
              <a:t>反射镜</a:t>
            </a:r>
          </a:p>
        </p:txBody>
      </p:sp>
      <p:sp>
        <p:nvSpPr>
          <p:cNvPr id="127006" name="Rectangle 30">
            <a:extLst>
              <a:ext uri="{FF2B5EF4-FFF2-40B4-BE49-F238E27FC236}">
                <a16:creationId xmlns:a16="http://schemas.microsoft.com/office/drawing/2014/main" id="{132670CC-8D43-48F5-95A3-1E8FB61DF71C}"/>
              </a:ext>
            </a:extLst>
          </p:cNvPr>
          <p:cNvSpPr>
            <a:spLocks noChangeArrowheads="1"/>
          </p:cNvSpPr>
          <p:nvPr/>
        </p:nvSpPr>
        <p:spPr bwMode="auto">
          <a:xfrm>
            <a:off x="1135063" y="5175250"/>
            <a:ext cx="6286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a:solidFill>
                  <a:srgbClr val="EDFE4A"/>
                </a:solidFill>
              </a:rPr>
              <a:t>物</a:t>
            </a:r>
          </a:p>
        </p:txBody>
      </p:sp>
      <p:sp>
        <p:nvSpPr>
          <p:cNvPr id="127007" name="AutoShape 31">
            <a:extLst>
              <a:ext uri="{FF2B5EF4-FFF2-40B4-BE49-F238E27FC236}">
                <a16:creationId xmlns:a16="http://schemas.microsoft.com/office/drawing/2014/main" id="{3F91DBB0-EE24-411A-A34C-EFBC84C73563}"/>
              </a:ext>
            </a:extLst>
          </p:cNvPr>
          <p:cNvSpPr>
            <a:spLocks noChangeArrowheads="1"/>
          </p:cNvSpPr>
          <p:nvPr/>
        </p:nvSpPr>
        <p:spPr bwMode="auto">
          <a:xfrm>
            <a:off x="828675" y="2744788"/>
            <a:ext cx="1079500" cy="415925"/>
          </a:xfrm>
          <a:prstGeom prst="wedgeRectCallout">
            <a:avLst>
              <a:gd name="adj1" fmla="val 22648"/>
              <a:gd name="adj2" fmla="val 136259"/>
            </a:avLst>
          </a:prstGeom>
          <a:noFill/>
          <a:ln w="19050">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a:solidFill>
                  <a:schemeClr val="bg1"/>
                </a:solidFill>
              </a:rPr>
              <a:t>参考光</a:t>
            </a:r>
          </a:p>
        </p:txBody>
      </p:sp>
      <p:sp>
        <p:nvSpPr>
          <p:cNvPr id="127008" name="Rectangle 32">
            <a:extLst>
              <a:ext uri="{FF2B5EF4-FFF2-40B4-BE49-F238E27FC236}">
                <a16:creationId xmlns:a16="http://schemas.microsoft.com/office/drawing/2014/main" id="{363CADEF-085B-4801-85ED-6E53CE690E50}"/>
              </a:ext>
            </a:extLst>
          </p:cNvPr>
          <p:cNvSpPr>
            <a:spLocks noChangeArrowheads="1"/>
          </p:cNvSpPr>
          <p:nvPr/>
        </p:nvSpPr>
        <p:spPr bwMode="auto">
          <a:xfrm>
            <a:off x="1692275" y="4365625"/>
            <a:ext cx="9509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a:solidFill>
                  <a:srgbClr val="EDFE4A"/>
                </a:solidFill>
              </a:rPr>
              <a:t>物光</a:t>
            </a:r>
          </a:p>
        </p:txBody>
      </p:sp>
      <p:sp>
        <p:nvSpPr>
          <p:cNvPr id="127009" name="Rectangle 33">
            <a:extLst>
              <a:ext uri="{FF2B5EF4-FFF2-40B4-BE49-F238E27FC236}">
                <a16:creationId xmlns:a16="http://schemas.microsoft.com/office/drawing/2014/main" id="{8D7B726A-2EC6-4697-95D5-EF5616503FEA}"/>
              </a:ext>
            </a:extLst>
          </p:cNvPr>
          <p:cNvSpPr>
            <a:spLocks noChangeArrowheads="1"/>
          </p:cNvSpPr>
          <p:nvPr/>
        </p:nvSpPr>
        <p:spPr bwMode="auto">
          <a:xfrm>
            <a:off x="4714875" y="2133600"/>
            <a:ext cx="23764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a:solidFill>
                  <a:srgbClr val="00FFFF"/>
                </a:solidFill>
              </a:rPr>
              <a:t>全息图象的观察：</a:t>
            </a:r>
          </a:p>
        </p:txBody>
      </p:sp>
      <p:grpSp>
        <p:nvGrpSpPr>
          <p:cNvPr id="5" name="Group 34">
            <a:extLst>
              <a:ext uri="{FF2B5EF4-FFF2-40B4-BE49-F238E27FC236}">
                <a16:creationId xmlns:a16="http://schemas.microsoft.com/office/drawing/2014/main" id="{E20F6D52-0A1C-4007-8900-64DE83228D5C}"/>
              </a:ext>
            </a:extLst>
          </p:cNvPr>
          <p:cNvGrpSpPr>
            <a:grpSpLocks/>
          </p:cNvGrpSpPr>
          <p:nvPr/>
        </p:nvGrpSpPr>
        <p:grpSpPr bwMode="auto">
          <a:xfrm>
            <a:off x="5176838" y="3521075"/>
            <a:ext cx="2133600" cy="609600"/>
            <a:chOff x="480" y="2544"/>
            <a:chExt cx="1536" cy="384"/>
          </a:xfrm>
        </p:grpSpPr>
        <p:sp>
          <p:nvSpPr>
            <p:cNvPr id="39979" name="Line 35">
              <a:extLst>
                <a:ext uri="{FF2B5EF4-FFF2-40B4-BE49-F238E27FC236}">
                  <a16:creationId xmlns:a16="http://schemas.microsoft.com/office/drawing/2014/main" id="{6A3F3A06-59BC-49D7-80DC-F9A24EDE35C0}"/>
                </a:ext>
              </a:extLst>
            </p:cNvPr>
            <p:cNvSpPr>
              <a:spLocks noChangeShapeType="1"/>
            </p:cNvSpPr>
            <p:nvPr/>
          </p:nvSpPr>
          <p:spPr bwMode="auto">
            <a:xfrm>
              <a:off x="480" y="2544"/>
              <a:ext cx="1536" cy="0"/>
            </a:xfrm>
            <a:prstGeom prst="line">
              <a:avLst/>
            </a:prstGeom>
            <a:noFill/>
            <a:ln w="9525">
              <a:solidFill>
                <a:schemeClr val="bg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9980" name="Line 36">
              <a:extLst>
                <a:ext uri="{FF2B5EF4-FFF2-40B4-BE49-F238E27FC236}">
                  <a16:creationId xmlns:a16="http://schemas.microsoft.com/office/drawing/2014/main" id="{FDF7831E-F6A9-41AE-96C0-4FB7D00FDD71}"/>
                </a:ext>
              </a:extLst>
            </p:cNvPr>
            <p:cNvSpPr>
              <a:spLocks noChangeShapeType="1"/>
            </p:cNvSpPr>
            <p:nvPr/>
          </p:nvSpPr>
          <p:spPr bwMode="auto">
            <a:xfrm>
              <a:off x="480" y="2736"/>
              <a:ext cx="1536" cy="0"/>
            </a:xfrm>
            <a:prstGeom prst="line">
              <a:avLst/>
            </a:prstGeom>
            <a:noFill/>
            <a:ln w="9525">
              <a:solidFill>
                <a:schemeClr val="bg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9981" name="Line 37">
              <a:extLst>
                <a:ext uri="{FF2B5EF4-FFF2-40B4-BE49-F238E27FC236}">
                  <a16:creationId xmlns:a16="http://schemas.microsoft.com/office/drawing/2014/main" id="{BF9C7B3B-2D88-45ED-9EBE-7234504EBC31}"/>
                </a:ext>
              </a:extLst>
            </p:cNvPr>
            <p:cNvSpPr>
              <a:spLocks noChangeShapeType="1"/>
            </p:cNvSpPr>
            <p:nvPr/>
          </p:nvSpPr>
          <p:spPr bwMode="auto">
            <a:xfrm>
              <a:off x="480" y="2928"/>
              <a:ext cx="1536" cy="0"/>
            </a:xfrm>
            <a:prstGeom prst="line">
              <a:avLst/>
            </a:prstGeom>
            <a:noFill/>
            <a:ln w="9525">
              <a:solidFill>
                <a:schemeClr val="bg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27014" name="Rectangle 38">
            <a:extLst>
              <a:ext uri="{FF2B5EF4-FFF2-40B4-BE49-F238E27FC236}">
                <a16:creationId xmlns:a16="http://schemas.microsoft.com/office/drawing/2014/main" id="{87FDEA89-A822-4DC0-99E7-E968AF0E6B5F}"/>
              </a:ext>
            </a:extLst>
          </p:cNvPr>
          <p:cNvSpPr>
            <a:spLocks noChangeArrowheads="1"/>
          </p:cNvSpPr>
          <p:nvPr/>
        </p:nvSpPr>
        <p:spPr bwMode="auto">
          <a:xfrm>
            <a:off x="7310438" y="3292475"/>
            <a:ext cx="76200" cy="1066800"/>
          </a:xfrm>
          <a:prstGeom prst="rect">
            <a:avLst/>
          </a:prstGeom>
          <a:solidFill>
            <a:srgbClr val="FFCCFF"/>
          </a:solidFill>
          <a:ln w="9525">
            <a:solidFill>
              <a:srgbClr val="FFCCFF"/>
            </a:solidFill>
            <a:miter lim="800000"/>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27015" name="Line 39">
            <a:extLst>
              <a:ext uri="{FF2B5EF4-FFF2-40B4-BE49-F238E27FC236}">
                <a16:creationId xmlns:a16="http://schemas.microsoft.com/office/drawing/2014/main" id="{DC179041-30CA-4AAE-BD4D-9082596D5430}"/>
              </a:ext>
            </a:extLst>
          </p:cNvPr>
          <p:cNvSpPr>
            <a:spLocks noChangeShapeType="1"/>
          </p:cNvSpPr>
          <p:nvPr/>
        </p:nvSpPr>
        <p:spPr bwMode="auto">
          <a:xfrm flipH="1">
            <a:off x="6015038" y="3444875"/>
            <a:ext cx="1371600" cy="1447800"/>
          </a:xfrm>
          <a:prstGeom prst="line">
            <a:avLst/>
          </a:prstGeom>
          <a:noFill/>
          <a:ln w="9525">
            <a:solidFill>
              <a:schemeClr val="bg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6" name="Group 40">
            <a:extLst>
              <a:ext uri="{FF2B5EF4-FFF2-40B4-BE49-F238E27FC236}">
                <a16:creationId xmlns:a16="http://schemas.microsoft.com/office/drawing/2014/main" id="{02708EB9-E641-4C82-B6F0-FFD8EEA209CA}"/>
              </a:ext>
            </a:extLst>
          </p:cNvPr>
          <p:cNvGrpSpPr>
            <a:grpSpLocks/>
          </p:cNvGrpSpPr>
          <p:nvPr/>
        </p:nvGrpSpPr>
        <p:grpSpPr bwMode="auto">
          <a:xfrm>
            <a:off x="5100638" y="4892675"/>
            <a:ext cx="1041400" cy="900113"/>
            <a:chOff x="864" y="3648"/>
            <a:chExt cx="560" cy="567"/>
          </a:xfrm>
        </p:grpSpPr>
        <p:sp>
          <p:nvSpPr>
            <p:cNvPr id="39975" name="Freeform 41">
              <a:extLst>
                <a:ext uri="{FF2B5EF4-FFF2-40B4-BE49-F238E27FC236}">
                  <a16:creationId xmlns:a16="http://schemas.microsoft.com/office/drawing/2014/main" id="{A21CD6F2-5FBC-4DCE-B387-FB592FDFF56B}"/>
                </a:ext>
              </a:extLst>
            </p:cNvPr>
            <p:cNvSpPr>
              <a:spLocks/>
            </p:cNvSpPr>
            <p:nvPr/>
          </p:nvSpPr>
          <p:spPr bwMode="auto">
            <a:xfrm>
              <a:off x="1138" y="3856"/>
              <a:ext cx="57" cy="359"/>
            </a:xfrm>
            <a:custGeom>
              <a:avLst/>
              <a:gdLst>
                <a:gd name="T0" fmla="*/ 1 w 96"/>
                <a:gd name="T1" fmla="*/ 0 h 480"/>
                <a:gd name="T2" fmla="*/ 1 w 96"/>
                <a:gd name="T3" fmla="*/ 1 h 480"/>
                <a:gd name="T4" fmla="*/ 0 w 96"/>
                <a:gd name="T5" fmla="*/ 1 h 480"/>
                <a:gd name="T6" fmla="*/ 1 w 96"/>
                <a:gd name="T7" fmla="*/ 1 h 480"/>
                <a:gd name="T8" fmla="*/ 0 60000 65536"/>
                <a:gd name="T9" fmla="*/ 0 60000 65536"/>
                <a:gd name="T10" fmla="*/ 0 60000 65536"/>
                <a:gd name="T11" fmla="*/ 0 60000 65536"/>
                <a:gd name="T12" fmla="*/ 0 w 96"/>
                <a:gd name="T13" fmla="*/ 0 h 480"/>
                <a:gd name="T14" fmla="*/ 96 w 96"/>
                <a:gd name="T15" fmla="*/ 480 h 480"/>
              </a:gdLst>
              <a:ahLst/>
              <a:cxnLst>
                <a:cxn ang="T8">
                  <a:pos x="T0" y="T1"/>
                </a:cxn>
                <a:cxn ang="T9">
                  <a:pos x="T2" y="T3"/>
                </a:cxn>
                <a:cxn ang="T10">
                  <a:pos x="T4" y="T5"/>
                </a:cxn>
                <a:cxn ang="T11">
                  <a:pos x="T6" y="T7"/>
                </a:cxn>
              </a:cxnLst>
              <a:rect l="T12" t="T13" r="T14" b="T15"/>
              <a:pathLst>
                <a:path w="96" h="480">
                  <a:moveTo>
                    <a:pt x="96" y="0"/>
                  </a:moveTo>
                  <a:cubicBezTo>
                    <a:pt x="80" y="24"/>
                    <a:pt x="64" y="48"/>
                    <a:pt x="48" y="96"/>
                  </a:cubicBezTo>
                  <a:cubicBezTo>
                    <a:pt x="32" y="144"/>
                    <a:pt x="0" y="224"/>
                    <a:pt x="0" y="288"/>
                  </a:cubicBezTo>
                  <a:cubicBezTo>
                    <a:pt x="0" y="352"/>
                    <a:pt x="24" y="416"/>
                    <a:pt x="48" y="480"/>
                  </a:cubicBezTo>
                </a:path>
              </a:pathLst>
            </a:custGeom>
            <a:noFill/>
            <a:ln w="60325">
              <a:solidFill>
                <a:srgbClr val="99CC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9976" name="Freeform 42">
              <a:extLst>
                <a:ext uri="{FF2B5EF4-FFF2-40B4-BE49-F238E27FC236}">
                  <a16:creationId xmlns:a16="http://schemas.microsoft.com/office/drawing/2014/main" id="{77FB2F76-EBB7-4840-B9BA-59ADE1B23FA1}"/>
                </a:ext>
              </a:extLst>
            </p:cNvPr>
            <p:cNvSpPr>
              <a:spLocks/>
            </p:cNvSpPr>
            <p:nvPr/>
          </p:nvSpPr>
          <p:spPr bwMode="auto">
            <a:xfrm>
              <a:off x="864" y="3868"/>
              <a:ext cx="274" cy="204"/>
            </a:xfrm>
            <a:custGeom>
              <a:avLst/>
              <a:gdLst>
                <a:gd name="T0" fmla="*/ 1 w 464"/>
                <a:gd name="T1" fmla="*/ 2 h 272"/>
                <a:gd name="T2" fmla="*/ 1 w 464"/>
                <a:gd name="T3" fmla="*/ 2 h 272"/>
                <a:gd name="T4" fmla="*/ 1 w 464"/>
                <a:gd name="T5" fmla="*/ 2 h 272"/>
                <a:gd name="T6" fmla="*/ 1 w 464"/>
                <a:gd name="T7" fmla="*/ 2 h 272"/>
                <a:gd name="T8" fmla="*/ 1 w 464"/>
                <a:gd name="T9" fmla="*/ 2 h 272"/>
                <a:gd name="T10" fmla="*/ 1 w 464"/>
                <a:gd name="T11" fmla="*/ 2 h 272"/>
                <a:gd name="T12" fmla="*/ 0 60000 65536"/>
                <a:gd name="T13" fmla="*/ 0 60000 65536"/>
                <a:gd name="T14" fmla="*/ 0 60000 65536"/>
                <a:gd name="T15" fmla="*/ 0 60000 65536"/>
                <a:gd name="T16" fmla="*/ 0 60000 65536"/>
                <a:gd name="T17" fmla="*/ 0 60000 65536"/>
                <a:gd name="T18" fmla="*/ 0 w 464"/>
                <a:gd name="T19" fmla="*/ 0 h 272"/>
                <a:gd name="T20" fmla="*/ 464 w 464"/>
                <a:gd name="T21" fmla="*/ 272 h 272"/>
              </a:gdLst>
              <a:ahLst/>
              <a:cxnLst>
                <a:cxn ang="T12">
                  <a:pos x="T0" y="T1"/>
                </a:cxn>
                <a:cxn ang="T13">
                  <a:pos x="T2" y="T3"/>
                </a:cxn>
                <a:cxn ang="T14">
                  <a:pos x="T4" y="T5"/>
                </a:cxn>
                <a:cxn ang="T15">
                  <a:pos x="T6" y="T7"/>
                </a:cxn>
                <a:cxn ang="T16">
                  <a:pos x="T8" y="T9"/>
                </a:cxn>
                <a:cxn ang="T17">
                  <a:pos x="T10" y="T11"/>
                </a:cxn>
              </a:cxnLst>
              <a:rect l="T18" t="T19" r="T20" b="T21"/>
              <a:pathLst>
                <a:path w="464" h="272">
                  <a:moveTo>
                    <a:pt x="448" y="208"/>
                  </a:moveTo>
                  <a:cubicBezTo>
                    <a:pt x="432" y="176"/>
                    <a:pt x="328" y="32"/>
                    <a:pt x="256" y="16"/>
                  </a:cubicBezTo>
                  <a:cubicBezTo>
                    <a:pt x="184" y="0"/>
                    <a:pt x="32" y="72"/>
                    <a:pt x="16" y="112"/>
                  </a:cubicBezTo>
                  <a:cubicBezTo>
                    <a:pt x="0" y="152"/>
                    <a:pt x="104" y="240"/>
                    <a:pt x="160" y="256"/>
                  </a:cubicBezTo>
                  <a:cubicBezTo>
                    <a:pt x="216" y="272"/>
                    <a:pt x="304" y="216"/>
                    <a:pt x="352" y="208"/>
                  </a:cubicBezTo>
                  <a:cubicBezTo>
                    <a:pt x="400" y="200"/>
                    <a:pt x="464" y="240"/>
                    <a:pt x="448" y="208"/>
                  </a:cubicBezTo>
                  <a:close/>
                </a:path>
              </a:pathLst>
            </a:custGeom>
            <a:solidFill>
              <a:schemeClr val="accent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977" name="Freeform 43">
              <a:extLst>
                <a:ext uri="{FF2B5EF4-FFF2-40B4-BE49-F238E27FC236}">
                  <a16:creationId xmlns:a16="http://schemas.microsoft.com/office/drawing/2014/main" id="{E08F24E0-3B12-4E05-8D8E-3B92E5929F53}"/>
                </a:ext>
              </a:extLst>
            </p:cNvPr>
            <p:cNvSpPr>
              <a:spLocks/>
            </p:cNvSpPr>
            <p:nvPr/>
          </p:nvSpPr>
          <p:spPr bwMode="auto">
            <a:xfrm rot="9553372">
              <a:off x="1138" y="3928"/>
              <a:ext cx="274" cy="203"/>
            </a:xfrm>
            <a:custGeom>
              <a:avLst/>
              <a:gdLst>
                <a:gd name="T0" fmla="*/ 1 w 464"/>
                <a:gd name="T1" fmla="*/ 1 h 272"/>
                <a:gd name="T2" fmla="*/ 1 w 464"/>
                <a:gd name="T3" fmla="*/ 1 h 272"/>
                <a:gd name="T4" fmla="*/ 1 w 464"/>
                <a:gd name="T5" fmla="*/ 1 h 272"/>
                <a:gd name="T6" fmla="*/ 1 w 464"/>
                <a:gd name="T7" fmla="*/ 1 h 272"/>
                <a:gd name="T8" fmla="*/ 1 w 464"/>
                <a:gd name="T9" fmla="*/ 1 h 272"/>
                <a:gd name="T10" fmla="*/ 1 w 464"/>
                <a:gd name="T11" fmla="*/ 1 h 272"/>
                <a:gd name="T12" fmla="*/ 0 60000 65536"/>
                <a:gd name="T13" fmla="*/ 0 60000 65536"/>
                <a:gd name="T14" fmla="*/ 0 60000 65536"/>
                <a:gd name="T15" fmla="*/ 0 60000 65536"/>
                <a:gd name="T16" fmla="*/ 0 60000 65536"/>
                <a:gd name="T17" fmla="*/ 0 60000 65536"/>
                <a:gd name="T18" fmla="*/ 0 w 464"/>
                <a:gd name="T19" fmla="*/ 0 h 272"/>
                <a:gd name="T20" fmla="*/ 464 w 464"/>
                <a:gd name="T21" fmla="*/ 272 h 272"/>
              </a:gdLst>
              <a:ahLst/>
              <a:cxnLst>
                <a:cxn ang="T12">
                  <a:pos x="T0" y="T1"/>
                </a:cxn>
                <a:cxn ang="T13">
                  <a:pos x="T2" y="T3"/>
                </a:cxn>
                <a:cxn ang="T14">
                  <a:pos x="T4" y="T5"/>
                </a:cxn>
                <a:cxn ang="T15">
                  <a:pos x="T6" y="T7"/>
                </a:cxn>
                <a:cxn ang="T16">
                  <a:pos x="T8" y="T9"/>
                </a:cxn>
                <a:cxn ang="T17">
                  <a:pos x="T10" y="T11"/>
                </a:cxn>
              </a:cxnLst>
              <a:rect l="T18" t="T19" r="T20" b="T21"/>
              <a:pathLst>
                <a:path w="464" h="272">
                  <a:moveTo>
                    <a:pt x="448" y="208"/>
                  </a:moveTo>
                  <a:cubicBezTo>
                    <a:pt x="432" y="176"/>
                    <a:pt x="328" y="32"/>
                    <a:pt x="256" y="16"/>
                  </a:cubicBezTo>
                  <a:cubicBezTo>
                    <a:pt x="184" y="0"/>
                    <a:pt x="32" y="72"/>
                    <a:pt x="16" y="112"/>
                  </a:cubicBezTo>
                  <a:cubicBezTo>
                    <a:pt x="0" y="152"/>
                    <a:pt x="104" y="240"/>
                    <a:pt x="160" y="256"/>
                  </a:cubicBezTo>
                  <a:cubicBezTo>
                    <a:pt x="216" y="272"/>
                    <a:pt x="304" y="216"/>
                    <a:pt x="352" y="208"/>
                  </a:cubicBezTo>
                  <a:cubicBezTo>
                    <a:pt x="400" y="200"/>
                    <a:pt x="464" y="240"/>
                    <a:pt x="448" y="208"/>
                  </a:cubicBezTo>
                  <a:close/>
                </a:path>
              </a:pathLst>
            </a:custGeom>
            <a:solidFill>
              <a:schemeClr val="accent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rot="10800000"/>
            <a:lstStyle/>
            <a:p>
              <a:endParaRPr lang="zh-CN" altLang="en-US"/>
            </a:p>
          </p:txBody>
        </p:sp>
        <p:sp>
          <p:nvSpPr>
            <p:cNvPr id="39978" name="Freeform 44">
              <a:extLst>
                <a:ext uri="{FF2B5EF4-FFF2-40B4-BE49-F238E27FC236}">
                  <a16:creationId xmlns:a16="http://schemas.microsoft.com/office/drawing/2014/main" id="{4B61694A-B8FE-438C-92C6-9062718C351A}"/>
                </a:ext>
              </a:extLst>
            </p:cNvPr>
            <p:cNvSpPr>
              <a:spLocks/>
            </p:cNvSpPr>
            <p:nvPr/>
          </p:nvSpPr>
          <p:spPr bwMode="auto">
            <a:xfrm>
              <a:off x="1080" y="3648"/>
              <a:ext cx="344" cy="383"/>
            </a:xfrm>
            <a:custGeom>
              <a:avLst/>
              <a:gdLst>
                <a:gd name="T0" fmla="*/ 1 w 582"/>
                <a:gd name="T1" fmla="*/ 1 h 513"/>
                <a:gd name="T2" fmla="*/ 1 w 582"/>
                <a:gd name="T3" fmla="*/ 1 h 513"/>
                <a:gd name="T4" fmla="*/ 1 w 582"/>
                <a:gd name="T5" fmla="*/ 1 h 513"/>
                <a:gd name="T6" fmla="*/ 1 w 582"/>
                <a:gd name="T7" fmla="*/ 1 h 513"/>
                <a:gd name="T8" fmla="*/ 1 w 582"/>
                <a:gd name="T9" fmla="*/ 1 h 513"/>
                <a:gd name="T10" fmla="*/ 1 w 582"/>
                <a:gd name="T11" fmla="*/ 1 h 513"/>
                <a:gd name="T12" fmla="*/ 1 w 582"/>
                <a:gd name="T13" fmla="*/ 1 h 513"/>
                <a:gd name="T14" fmla="*/ 1 w 582"/>
                <a:gd name="T15" fmla="*/ 1 h 513"/>
                <a:gd name="T16" fmla="*/ 1 w 582"/>
                <a:gd name="T17" fmla="*/ 0 h 513"/>
                <a:gd name="T18" fmla="*/ 1 w 582"/>
                <a:gd name="T19" fmla="*/ 1 h 513"/>
                <a:gd name="T20" fmla="*/ 1 w 582"/>
                <a:gd name="T21" fmla="*/ 1 h 513"/>
                <a:gd name="T22" fmla="*/ 1 w 582"/>
                <a:gd name="T23" fmla="*/ 1 h 513"/>
                <a:gd name="T24" fmla="*/ 1 w 582"/>
                <a:gd name="T25" fmla="*/ 1 h 513"/>
                <a:gd name="T26" fmla="*/ 1 w 582"/>
                <a:gd name="T27" fmla="*/ 1 h 513"/>
                <a:gd name="T28" fmla="*/ 1 w 582"/>
                <a:gd name="T29" fmla="*/ 1 h 513"/>
                <a:gd name="T30" fmla="*/ 1 w 582"/>
                <a:gd name="T31" fmla="*/ 1 h 513"/>
                <a:gd name="T32" fmla="*/ 1 w 582"/>
                <a:gd name="T33" fmla="*/ 1 h 513"/>
                <a:gd name="T34" fmla="*/ 1 w 582"/>
                <a:gd name="T35" fmla="*/ 1 h 513"/>
                <a:gd name="T36" fmla="*/ 1 w 582"/>
                <a:gd name="T37" fmla="*/ 1 h 513"/>
                <a:gd name="T38" fmla="*/ 1 w 582"/>
                <a:gd name="T39" fmla="*/ 1 h 513"/>
                <a:gd name="T40" fmla="*/ 1 w 582"/>
                <a:gd name="T41" fmla="*/ 1 h 513"/>
                <a:gd name="T42" fmla="*/ 1 w 582"/>
                <a:gd name="T43" fmla="*/ 1 h 513"/>
                <a:gd name="T44" fmla="*/ 1 w 582"/>
                <a:gd name="T45" fmla="*/ 1 h 513"/>
                <a:gd name="T46" fmla="*/ 1 w 582"/>
                <a:gd name="T47" fmla="*/ 1 h 513"/>
                <a:gd name="T48" fmla="*/ 1 w 582"/>
                <a:gd name="T49" fmla="*/ 1 h 513"/>
                <a:gd name="T50" fmla="*/ 1 w 582"/>
                <a:gd name="T51" fmla="*/ 1 h 513"/>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582"/>
                <a:gd name="T79" fmla="*/ 0 h 513"/>
                <a:gd name="T80" fmla="*/ 582 w 582"/>
                <a:gd name="T81" fmla="*/ 513 h 513"/>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582" h="513">
                  <a:moveTo>
                    <a:pt x="258" y="324"/>
                  </a:moveTo>
                  <a:cubicBezTo>
                    <a:pt x="190" y="277"/>
                    <a:pt x="107" y="261"/>
                    <a:pt x="38" y="213"/>
                  </a:cubicBezTo>
                  <a:cubicBezTo>
                    <a:pt x="0" y="158"/>
                    <a:pt x="2" y="62"/>
                    <a:pt x="69" y="40"/>
                  </a:cubicBezTo>
                  <a:cubicBezTo>
                    <a:pt x="83" y="42"/>
                    <a:pt x="128" y="44"/>
                    <a:pt x="140" y="63"/>
                  </a:cubicBezTo>
                  <a:cubicBezTo>
                    <a:pt x="149" y="77"/>
                    <a:pt x="151" y="95"/>
                    <a:pt x="156" y="111"/>
                  </a:cubicBezTo>
                  <a:cubicBezTo>
                    <a:pt x="159" y="119"/>
                    <a:pt x="164" y="134"/>
                    <a:pt x="164" y="134"/>
                  </a:cubicBezTo>
                  <a:cubicBezTo>
                    <a:pt x="199" y="99"/>
                    <a:pt x="184" y="121"/>
                    <a:pt x="203" y="63"/>
                  </a:cubicBezTo>
                  <a:cubicBezTo>
                    <a:pt x="210" y="42"/>
                    <a:pt x="235" y="32"/>
                    <a:pt x="251" y="16"/>
                  </a:cubicBezTo>
                  <a:cubicBezTo>
                    <a:pt x="263" y="4"/>
                    <a:pt x="298" y="0"/>
                    <a:pt x="298" y="0"/>
                  </a:cubicBezTo>
                  <a:cubicBezTo>
                    <a:pt x="362" y="7"/>
                    <a:pt x="397" y="14"/>
                    <a:pt x="448" y="48"/>
                  </a:cubicBezTo>
                  <a:cubicBezTo>
                    <a:pt x="492" y="174"/>
                    <a:pt x="356" y="170"/>
                    <a:pt x="274" y="190"/>
                  </a:cubicBezTo>
                  <a:cubicBezTo>
                    <a:pt x="472" y="197"/>
                    <a:pt x="418" y="185"/>
                    <a:pt x="527" y="221"/>
                  </a:cubicBezTo>
                  <a:cubicBezTo>
                    <a:pt x="548" y="236"/>
                    <a:pt x="555" y="236"/>
                    <a:pt x="566" y="261"/>
                  </a:cubicBezTo>
                  <a:cubicBezTo>
                    <a:pt x="573" y="276"/>
                    <a:pt x="582" y="308"/>
                    <a:pt x="582" y="308"/>
                  </a:cubicBezTo>
                  <a:cubicBezTo>
                    <a:pt x="563" y="383"/>
                    <a:pt x="520" y="353"/>
                    <a:pt x="440" y="347"/>
                  </a:cubicBezTo>
                  <a:cubicBezTo>
                    <a:pt x="396" y="319"/>
                    <a:pt x="426" y="341"/>
                    <a:pt x="369" y="284"/>
                  </a:cubicBezTo>
                  <a:cubicBezTo>
                    <a:pt x="361" y="276"/>
                    <a:pt x="345" y="261"/>
                    <a:pt x="345" y="261"/>
                  </a:cubicBezTo>
                  <a:cubicBezTo>
                    <a:pt x="345" y="261"/>
                    <a:pt x="361" y="276"/>
                    <a:pt x="369" y="284"/>
                  </a:cubicBezTo>
                  <a:cubicBezTo>
                    <a:pt x="377" y="292"/>
                    <a:pt x="385" y="300"/>
                    <a:pt x="393" y="308"/>
                  </a:cubicBezTo>
                  <a:cubicBezTo>
                    <a:pt x="423" y="338"/>
                    <a:pt x="450" y="385"/>
                    <a:pt x="464" y="426"/>
                  </a:cubicBezTo>
                  <a:cubicBezTo>
                    <a:pt x="461" y="450"/>
                    <a:pt x="469" y="477"/>
                    <a:pt x="456" y="497"/>
                  </a:cubicBezTo>
                  <a:cubicBezTo>
                    <a:pt x="447" y="511"/>
                    <a:pt x="408" y="513"/>
                    <a:pt x="408" y="513"/>
                  </a:cubicBezTo>
                  <a:cubicBezTo>
                    <a:pt x="382" y="510"/>
                    <a:pt x="355" y="511"/>
                    <a:pt x="329" y="505"/>
                  </a:cubicBezTo>
                  <a:cubicBezTo>
                    <a:pt x="301" y="498"/>
                    <a:pt x="282" y="462"/>
                    <a:pt x="266" y="442"/>
                  </a:cubicBezTo>
                  <a:cubicBezTo>
                    <a:pt x="201" y="363"/>
                    <a:pt x="298" y="499"/>
                    <a:pt x="211" y="371"/>
                  </a:cubicBezTo>
                  <a:cubicBezTo>
                    <a:pt x="196" y="349"/>
                    <a:pt x="199" y="317"/>
                    <a:pt x="187" y="292"/>
                  </a:cubicBezTo>
                </a:path>
              </a:pathLst>
            </a:custGeom>
            <a:solidFill>
              <a:srgbClr val="FF0000">
                <a:alpha val="50195"/>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27021" name="Line 45">
            <a:extLst>
              <a:ext uri="{FF2B5EF4-FFF2-40B4-BE49-F238E27FC236}">
                <a16:creationId xmlns:a16="http://schemas.microsoft.com/office/drawing/2014/main" id="{048D236C-FACE-4B2D-8345-781F00E1D22D}"/>
              </a:ext>
            </a:extLst>
          </p:cNvPr>
          <p:cNvSpPr>
            <a:spLocks noChangeShapeType="1"/>
          </p:cNvSpPr>
          <p:nvPr/>
        </p:nvSpPr>
        <p:spPr bwMode="auto">
          <a:xfrm flipV="1">
            <a:off x="6015038" y="3749675"/>
            <a:ext cx="1371600" cy="1143000"/>
          </a:xfrm>
          <a:prstGeom prst="line">
            <a:avLst/>
          </a:prstGeom>
          <a:noFill/>
          <a:ln w="9525">
            <a:solidFill>
              <a:schemeClr val="bg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7022" name="Line 46">
            <a:extLst>
              <a:ext uri="{FF2B5EF4-FFF2-40B4-BE49-F238E27FC236}">
                <a16:creationId xmlns:a16="http://schemas.microsoft.com/office/drawing/2014/main" id="{1EE403E3-7C20-4047-8167-4E856479E847}"/>
              </a:ext>
            </a:extLst>
          </p:cNvPr>
          <p:cNvSpPr>
            <a:spLocks noChangeShapeType="1"/>
          </p:cNvSpPr>
          <p:nvPr/>
        </p:nvSpPr>
        <p:spPr bwMode="auto">
          <a:xfrm flipV="1">
            <a:off x="6015038" y="4054475"/>
            <a:ext cx="1371600" cy="838200"/>
          </a:xfrm>
          <a:prstGeom prst="line">
            <a:avLst/>
          </a:prstGeom>
          <a:noFill/>
          <a:ln w="9525">
            <a:solidFill>
              <a:schemeClr val="bg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7023" name="Line 47">
            <a:extLst>
              <a:ext uri="{FF2B5EF4-FFF2-40B4-BE49-F238E27FC236}">
                <a16:creationId xmlns:a16="http://schemas.microsoft.com/office/drawing/2014/main" id="{17ACDF0D-22AB-4C8A-8BF0-189322264DA1}"/>
              </a:ext>
            </a:extLst>
          </p:cNvPr>
          <p:cNvSpPr>
            <a:spLocks noChangeShapeType="1"/>
          </p:cNvSpPr>
          <p:nvPr/>
        </p:nvSpPr>
        <p:spPr bwMode="auto">
          <a:xfrm flipV="1">
            <a:off x="7386638" y="3140075"/>
            <a:ext cx="762000" cy="609600"/>
          </a:xfrm>
          <a:prstGeom prst="line">
            <a:avLst/>
          </a:prstGeom>
          <a:noFill/>
          <a:ln w="9525">
            <a:solidFill>
              <a:schemeClr val="bg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7024" name="Line 48">
            <a:extLst>
              <a:ext uri="{FF2B5EF4-FFF2-40B4-BE49-F238E27FC236}">
                <a16:creationId xmlns:a16="http://schemas.microsoft.com/office/drawing/2014/main" id="{AB54B2E6-5199-403E-83E9-801E75857478}"/>
              </a:ext>
            </a:extLst>
          </p:cNvPr>
          <p:cNvSpPr>
            <a:spLocks noChangeShapeType="1"/>
          </p:cNvSpPr>
          <p:nvPr/>
        </p:nvSpPr>
        <p:spPr bwMode="auto">
          <a:xfrm flipV="1">
            <a:off x="7310438" y="2987675"/>
            <a:ext cx="533400" cy="533400"/>
          </a:xfrm>
          <a:prstGeom prst="line">
            <a:avLst/>
          </a:prstGeom>
          <a:noFill/>
          <a:ln w="9525">
            <a:solidFill>
              <a:schemeClr val="bg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7025" name="Line 49">
            <a:extLst>
              <a:ext uri="{FF2B5EF4-FFF2-40B4-BE49-F238E27FC236}">
                <a16:creationId xmlns:a16="http://schemas.microsoft.com/office/drawing/2014/main" id="{6055BB19-6FA1-43B4-A86B-D80445642CBC}"/>
              </a:ext>
            </a:extLst>
          </p:cNvPr>
          <p:cNvSpPr>
            <a:spLocks noChangeShapeType="1"/>
          </p:cNvSpPr>
          <p:nvPr/>
        </p:nvSpPr>
        <p:spPr bwMode="auto">
          <a:xfrm flipV="1">
            <a:off x="7310438" y="3292475"/>
            <a:ext cx="1295400" cy="838200"/>
          </a:xfrm>
          <a:prstGeom prst="line">
            <a:avLst/>
          </a:prstGeom>
          <a:noFill/>
          <a:ln w="9525">
            <a:solidFill>
              <a:schemeClr val="bg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7026" name="AutoShape 50">
            <a:extLst>
              <a:ext uri="{FF2B5EF4-FFF2-40B4-BE49-F238E27FC236}">
                <a16:creationId xmlns:a16="http://schemas.microsoft.com/office/drawing/2014/main" id="{4BB4AA63-C2C5-453D-8FE2-123AAFB77606}"/>
              </a:ext>
            </a:extLst>
          </p:cNvPr>
          <p:cNvSpPr>
            <a:spLocks noChangeArrowheads="1"/>
          </p:cNvSpPr>
          <p:nvPr/>
        </p:nvSpPr>
        <p:spPr bwMode="auto">
          <a:xfrm>
            <a:off x="6750050" y="4584700"/>
            <a:ext cx="1250950" cy="415925"/>
          </a:xfrm>
          <a:prstGeom prst="wedgeRectCallout">
            <a:avLst>
              <a:gd name="adj1" fmla="val -1648"/>
              <a:gd name="adj2" fmla="val -102671"/>
            </a:avLst>
          </a:prstGeom>
          <a:noFill/>
          <a:ln w="19050">
            <a:solidFill>
              <a:srgbClr val="FFCC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a:solidFill>
                  <a:srgbClr val="FFCCFF"/>
                </a:solidFill>
              </a:rPr>
              <a:t>全息照片</a:t>
            </a:r>
          </a:p>
        </p:txBody>
      </p:sp>
      <p:sp>
        <p:nvSpPr>
          <p:cNvPr id="127027" name="AutoShape 51">
            <a:extLst>
              <a:ext uri="{FF2B5EF4-FFF2-40B4-BE49-F238E27FC236}">
                <a16:creationId xmlns:a16="http://schemas.microsoft.com/office/drawing/2014/main" id="{94584A7F-0092-4796-8E2A-82CB76C306E5}"/>
              </a:ext>
            </a:extLst>
          </p:cNvPr>
          <p:cNvSpPr>
            <a:spLocks noChangeArrowheads="1"/>
          </p:cNvSpPr>
          <p:nvPr/>
        </p:nvSpPr>
        <p:spPr bwMode="auto">
          <a:xfrm>
            <a:off x="5219700" y="2884488"/>
            <a:ext cx="1079500" cy="406400"/>
          </a:xfrm>
          <a:prstGeom prst="wedgeRectCallout">
            <a:avLst>
              <a:gd name="adj1" fmla="val 48088"/>
              <a:gd name="adj2" fmla="val 116000"/>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a:solidFill>
                  <a:schemeClr val="bg1"/>
                </a:solidFill>
              </a:rPr>
              <a:t>照明光</a:t>
            </a:r>
          </a:p>
        </p:txBody>
      </p:sp>
      <p:grpSp>
        <p:nvGrpSpPr>
          <p:cNvPr id="7" name="Group 52">
            <a:extLst>
              <a:ext uri="{FF2B5EF4-FFF2-40B4-BE49-F238E27FC236}">
                <a16:creationId xmlns:a16="http://schemas.microsoft.com/office/drawing/2014/main" id="{1C1BD327-FC32-4A32-9835-D1051B6ABE72}"/>
              </a:ext>
            </a:extLst>
          </p:cNvPr>
          <p:cNvGrpSpPr>
            <a:grpSpLocks/>
          </p:cNvGrpSpPr>
          <p:nvPr/>
        </p:nvGrpSpPr>
        <p:grpSpPr bwMode="auto">
          <a:xfrm>
            <a:off x="8072438" y="2744788"/>
            <a:ext cx="533400" cy="457200"/>
            <a:chOff x="4992" y="2112"/>
            <a:chExt cx="440" cy="432"/>
          </a:xfrm>
        </p:grpSpPr>
        <p:sp>
          <p:nvSpPr>
            <p:cNvPr id="39972" name="Oval 53">
              <a:extLst>
                <a:ext uri="{FF2B5EF4-FFF2-40B4-BE49-F238E27FC236}">
                  <a16:creationId xmlns:a16="http://schemas.microsoft.com/office/drawing/2014/main" id="{C494D3BE-F9E7-4E10-8B53-17BCBB0B468C}"/>
                </a:ext>
              </a:extLst>
            </p:cNvPr>
            <p:cNvSpPr>
              <a:spLocks noChangeArrowheads="1"/>
            </p:cNvSpPr>
            <p:nvPr/>
          </p:nvSpPr>
          <p:spPr bwMode="auto">
            <a:xfrm rot="2250603">
              <a:off x="5073" y="2256"/>
              <a:ext cx="288" cy="96"/>
            </a:xfrm>
            <a:prstGeom prst="ellipse">
              <a:avLst/>
            </a:prstGeom>
            <a:solidFill>
              <a:srgbClr val="666699"/>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39973" name="Freeform 54">
              <a:extLst>
                <a:ext uri="{FF2B5EF4-FFF2-40B4-BE49-F238E27FC236}">
                  <a16:creationId xmlns:a16="http://schemas.microsoft.com/office/drawing/2014/main" id="{59AC2F92-272D-4B18-8CE7-5192FAC7E383}"/>
                </a:ext>
              </a:extLst>
            </p:cNvPr>
            <p:cNvSpPr>
              <a:spLocks/>
            </p:cNvSpPr>
            <p:nvPr/>
          </p:nvSpPr>
          <p:spPr bwMode="auto">
            <a:xfrm>
              <a:off x="4992" y="2112"/>
              <a:ext cx="432" cy="104"/>
            </a:xfrm>
            <a:custGeom>
              <a:avLst/>
              <a:gdLst>
                <a:gd name="T0" fmla="*/ 0 w 432"/>
                <a:gd name="T1" fmla="*/ 96 h 104"/>
                <a:gd name="T2" fmla="*/ 144 w 432"/>
                <a:gd name="T3" fmla="*/ 96 h 104"/>
                <a:gd name="T4" fmla="*/ 336 w 432"/>
                <a:gd name="T5" fmla="*/ 48 h 104"/>
                <a:gd name="T6" fmla="*/ 432 w 432"/>
                <a:gd name="T7" fmla="*/ 0 h 104"/>
                <a:gd name="T8" fmla="*/ 0 60000 65536"/>
                <a:gd name="T9" fmla="*/ 0 60000 65536"/>
                <a:gd name="T10" fmla="*/ 0 60000 65536"/>
                <a:gd name="T11" fmla="*/ 0 60000 65536"/>
                <a:gd name="T12" fmla="*/ 0 w 432"/>
                <a:gd name="T13" fmla="*/ 0 h 104"/>
                <a:gd name="T14" fmla="*/ 432 w 432"/>
                <a:gd name="T15" fmla="*/ 104 h 104"/>
              </a:gdLst>
              <a:ahLst/>
              <a:cxnLst>
                <a:cxn ang="T8">
                  <a:pos x="T0" y="T1"/>
                </a:cxn>
                <a:cxn ang="T9">
                  <a:pos x="T2" y="T3"/>
                </a:cxn>
                <a:cxn ang="T10">
                  <a:pos x="T4" y="T5"/>
                </a:cxn>
                <a:cxn ang="T11">
                  <a:pos x="T6" y="T7"/>
                </a:cxn>
              </a:cxnLst>
              <a:rect l="T12" t="T13" r="T14" b="T15"/>
              <a:pathLst>
                <a:path w="432" h="104">
                  <a:moveTo>
                    <a:pt x="0" y="96"/>
                  </a:moveTo>
                  <a:cubicBezTo>
                    <a:pt x="44" y="100"/>
                    <a:pt x="88" y="104"/>
                    <a:pt x="144" y="96"/>
                  </a:cubicBezTo>
                  <a:cubicBezTo>
                    <a:pt x="200" y="88"/>
                    <a:pt x="288" y="64"/>
                    <a:pt x="336" y="48"/>
                  </a:cubicBezTo>
                  <a:cubicBezTo>
                    <a:pt x="384" y="32"/>
                    <a:pt x="416" y="8"/>
                    <a:pt x="432" y="0"/>
                  </a:cubicBezTo>
                </a:path>
              </a:pathLst>
            </a:custGeom>
            <a:noFill/>
            <a:ln w="9525">
              <a:solidFill>
                <a:schemeClr val="bg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9974" name="Freeform 55">
              <a:extLst>
                <a:ext uri="{FF2B5EF4-FFF2-40B4-BE49-F238E27FC236}">
                  <a16:creationId xmlns:a16="http://schemas.microsoft.com/office/drawing/2014/main" id="{61BFF7DD-8CE9-471F-A8D7-5C3B7E4FE87F}"/>
                </a:ext>
              </a:extLst>
            </p:cNvPr>
            <p:cNvSpPr>
              <a:spLocks/>
            </p:cNvSpPr>
            <p:nvPr/>
          </p:nvSpPr>
          <p:spPr bwMode="auto">
            <a:xfrm rot="-3467040" flipH="1" flipV="1">
              <a:off x="5164" y="2276"/>
              <a:ext cx="432" cy="104"/>
            </a:xfrm>
            <a:custGeom>
              <a:avLst/>
              <a:gdLst>
                <a:gd name="T0" fmla="*/ 0 w 432"/>
                <a:gd name="T1" fmla="*/ 96 h 104"/>
                <a:gd name="T2" fmla="*/ 144 w 432"/>
                <a:gd name="T3" fmla="*/ 96 h 104"/>
                <a:gd name="T4" fmla="*/ 336 w 432"/>
                <a:gd name="T5" fmla="*/ 48 h 104"/>
                <a:gd name="T6" fmla="*/ 432 w 432"/>
                <a:gd name="T7" fmla="*/ 0 h 104"/>
                <a:gd name="T8" fmla="*/ 0 60000 65536"/>
                <a:gd name="T9" fmla="*/ 0 60000 65536"/>
                <a:gd name="T10" fmla="*/ 0 60000 65536"/>
                <a:gd name="T11" fmla="*/ 0 60000 65536"/>
                <a:gd name="T12" fmla="*/ 0 w 432"/>
                <a:gd name="T13" fmla="*/ 0 h 104"/>
                <a:gd name="T14" fmla="*/ 432 w 432"/>
                <a:gd name="T15" fmla="*/ 104 h 104"/>
              </a:gdLst>
              <a:ahLst/>
              <a:cxnLst>
                <a:cxn ang="T8">
                  <a:pos x="T0" y="T1"/>
                </a:cxn>
                <a:cxn ang="T9">
                  <a:pos x="T2" y="T3"/>
                </a:cxn>
                <a:cxn ang="T10">
                  <a:pos x="T4" y="T5"/>
                </a:cxn>
                <a:cxn ang="T11">
                  <a:pos x="T6" y="T7"/>
                </a:cxn>
              </a:cxnLst>
              <a:rect l="T12" t="T13" r="T14" b="T15"/>
              <a:pathLst>
                <a:path w="432" h="104">
                  <a:moveTo>
                    <a:pt x="0" y="96"/>
                  </a:moveTo>
                  <a:cubicBezTo>
                    <a:pt x="44" y="100"/>
                    <a:pt x="88" y="104"/>
                    <a:pt x="144" y="96"/>
                  </a:cubicBezTo>
                  <a:cubicBezTo>
                    <a:pt x="200" y="88"/>
                    <a:pt x="288" y="64"/>
                    <a:pt x="336" y="48"/>
                  </a:cubicBezTo>
                  <a:cubicBezTo>
                    <a:pt x="384" y="32"/>
                    <a:pt x="416" y="8"/>
                    <a:pt x="432" y="0"/>
                  </a:cubicBezTo>
                </a:path>
              </a:pathLst>
            </a:custGeom>
            <a:noFill/>
            <a:ln w="9525">
              <a:solidFill>
                <a:schemeClr val="bg1"/>
              </a:solidFill>
              <a:round/>
              <a:headEnd/>
              <a:tailEnd/>
            </a:ln>
            <a:extLst>
              <a:ext uri="{909E8E84-426E-40DD-AFC4-6F175D3DCCD1}">
                <a14:hiddenFill xmlns:a14="http://schemas.microsoft.com/office/drawing/2010/main">
                  <a:solidFill>
                    <a:srgbClr val="FFFFFF"/>
                  </a:solidFill>
                </a14:hiddenFill>
              </a:ext>
            </a:extLst>
          </p:spPr>
          <p:txBody>
            <a:bodyPr rot="10800000" vert="eaVert"/>
            <a:lstStyle/>
            <a:p>
              <a:endParaRPr lang="zh-CN" altLang="en-US"/>
            </a:p>
          </p:txBody>
        </p:sp>
      </p:grpSp>
      <p:sp>
        <p:nvSpPr>
          <p:cNvPr id="39971" name="灯片编号占位符 1">
            <a:extLst>
              <a:ext uri="{FF2B5EF4-FFF2-40B4-BE49-F238E27FC236}">
                <a16:creationId xmlns:a16="http://schemas.microsoft.com/office/drawing/2014/main" id="{2920009B-B753-446F-950C-B7B4F57B749D}"/>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0BBF3643-2C4B-4027-B576-B86D9A884B95}" type="slidenum">
              <a:rPr lang="en-US" altLang="zh-CN" b="0">
                <a:solidFill>
                  <a:srgbClr val="FF00FF"/>
                </a:solidFill>
              </a:rPr>
              <a:pPr eaLnBrk="1" hangingPunct="1"/>
              <a:t>26</a:t>
            </a:fld>
            <a:r>
              <a:rPr lang="en-US" altLang="zh-CN" b="0">
                <a:solidFill>
                  <a:srgbClr val="FF00FF"/>
                </a:solidFill>
              </a:rPr>
              <a:t>/25</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26979"/>
                                        </p:tgtEl>
                                        <p:attrNameLst>
                                          <p:attrName>style.visibility</p:attrName>
                                        </p:attrNameLst>
                                      </p:cBhvr>
                                      <p:to>
                                        <p:strVal val="visible"/>
                                      </p:to>
                                    </p:set>
                                    <p:animEffect transition="in" filter="dissolve">
                                      <p:cBhvr>
                                        <p:cTn id="7" dur="500"/>
                                        <p:tgtEl>
                                          <p:spTgt spid="126979"/>
                                        </p:tgtEl>
                                      </p:cBhvr>
                                    </p:animEffect>
                                  </p:childTnLst>
                                </p:cTn>
                              </p:par>
                            </p:childTnLst>
                          </p:cTn>
                        </p:par>
                        <p:par>
                          <p:cTn id="8" fill="hold" nodeType="afterGroup">
                            <p:stCondLst>
                              <p:cond delay="500"/>
                            </p:stCondLst>
                            <p:childTnLst>
                              <p:par>
                                <p:cTn id="9" presetID="3" presetClass="entr" presetSubtype="10" fill="hold" grpId="0" nodeType="afterEffect">
                                  <p:stCondLst>
                                    <p:cond delay="500"/>
                                  </p:stCondLst>
                                  <p:childTnLst>
                                    <p:set>
                                      <p:cBhvr>
                                        <p:cTn id="10" dur="1" fill="hold">
                                          <p:stCondLst>
                                            <p:cond delay="0"/>
                                          </p:stCondLst>
                                        </p:cTn>
                                        <p:tgtEl>
                                          <p:spTgt spid="126980"/>
                                        </p:tgtEl>
                                        <p:attrNameLst>
                                          <p:attrName>style.visibility</p:attrName>
                                        </p:attrNameLst>
                                      </p:cBhvr>
                                      <p:to>
                                        <p:strVal val="visible"/>
                                      </p:to>
                                    </p:set>
                                    <p:animEffect transition="in" filter="blinds(horizontal)">
                                      <p:cBhvr>
                                        <p:cTn id="11" dur="500"/>
                                        <p:tgtEl>
                                          <p:spTgt spid="126980"/>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126981"/>
                                        </p:tgtEl>
                                        <p:attrNameLst>
                                          <p:attrName>style.visibility</p:attrName>
                                        </p:attrNameLst>
                                      </p:cBhvr>
                                      <p:to>
                                        <p:strVal val="visible"/>
                                      </p:to>
                                    </p:set>
                                    <p:animEffect transition="in" filter="dissolve">
                                      <p:cBhvr>
                                        <p:cTn id="16" dur="500"/>
                                        <p:tgtEl>
                                          <p:spTgt spid="126981"/>
                                        </p:tgtEl>
                                      </p:cBhvr>
                                    </p:animEffect>
                                  </p:childTnLst>
                                </p:cTn>
                              </p:par>
                            </p:childTnLst>
                          </p:cTn>
                        </p:par>
                        <p:par>
                          <p:cTn id="17" fill="hold" nodeType="afterGroup">
                            <p:stCondLst>
                              <p:cond delay="500"/>
                            </p:stCondLst>
                            <p:childTnLst>
                              <p:par>
                                <p:cTn id="18" presetID="9" presetClass="entr" presetSubtype="0" fill="hold" grpId="0" nodeType="afterEffect">
                                  <p:stCondLst>
                                    <p:cond delay="0"/>
                                  </p:stCondLst>
                                  <p:childTnLst>
                                    <p:set>
                                      <p:cBhvr>
                                        <p:cTn id="19" dur="1" fill="hold">
                                          <p:stCondLst>
                                            <p:cond delay="0"/>
                                          </p:stCondLst>
                                        </p:cTn>
                                        <p:tgtEl>
                                          <p:spTgt spid="126982"/>
                                        </p:tgtEl>
                                        <p:attrNameLst>
                                          <p:attrName>style.visibility</p:attrName>
                                        </p:attrNameLst>
                                      </p:cBhvr>
                                      <p:to>
                                        <p:strVal val="visible"/>
                                      </p:to>
                                    </p:set>
                                    <p:animEffect transition="in" filter="dissolve">
                                      <p:cBhvr>
                                        <p:cTn id="20" dur="500"/>
                                        <p:tgtEl>
                                          <p:spTgt spid="126982"/>
                                        </p:tgtEl>
                                      </p:cBhvr>
                                    </p:animEffect>
                                  </p:childTnLst>
                                </p:cTn>
                              </p:par>
                              <p:par>
                                <p:cTn id="21" presetID="9" presetClass="entr" presetSubtype="0" fill="hold" grpId="0" nodeType="withEffect">
                                  <p:stCondLst>
                                    <p:cond delay="0"/>
                                  </p:stCondLst>
                                  <p:childTnLst>
                                    <p:set>
                                      <p:cBhvr>
                                        <p:cTn id="22" dur="1" fill="hold">
                                          <p:stCondLst>
                                            <p:cond delay="0"/>
                                          </p:stCondLst>
                                        </p:cTn>
                                        <p:tgtEl>
                                          <p:spTgt spid="127004"/>
                                        </p:tgtEl>
                                        <p:attrNameLst>
                                          <p:attrName>style.visibility</p:attrName>
                                        </p:attrNameLst>
                                      </p:cBhvr>
                                      <p:to>
                                        <p:strVal val="visible"/>
                                      </p:to>
                                    </p:set>
                                    <p:animEffect transition="in" filter="dissolve">
                                      <p:cBhvr>
                                        <p:cTn id="23" dur="500"/>
                                        <p:tgtEl>
                                          <p:spTgt spid="127004"/>
                                        </p:tgtEl>
                                      </p:cBhvr>
                                    </p:animEffect>
                                  </p:childTnLst>
                                </p:cTn>
                              </p:par>
                            </p:childTnLst>
                          </p:cTn>
                        </p:par>
                        <p:par>
                          <p:cTn id="24" fill="hold" nodeType="afterGroup">
                            <p:stCondLst>
                              <p:cond delay="1000"/>
                            </p:stCondLst>
                            <p:childTnLst>
                              <p:par>
                                <p:cTn id="25" presetID="9" presetClass="entr" presetSubtype="0" fill="hold" grpId="0" nodeType="afterEffect">
                                  <p:stCondLst>
                                    <p:cond delay="0"/>
                                  </p:stCondLst>
                                  <p:childTnLst>
                                    <p:set>
                                      <p:cBhvr>
                                        <p:cTn id="26" dur="1" fill="hold">
                                          <p:stCondLst>
                                            <p:cond delay="0"/>
                                          </p:stCondLst>
                                        </p:cTn>
                                        <p:tgtEl>
                                          <p:spTgt spid="126987"/>
                                        </p:tgtEl>
                                        <p:attrNameLst>
                                          <p:attrName>style.visibility</p:attrName>
                                        </p:attrNameLst>
                                      </p:cBhvr>
                                      <p:to>
                                        <p:strVal val="visible"/>
                                      </p:to>
                                    </p:set>
                                    <p:animEffect transition="in" filter="dissolve">
                                      <p:cBhvr>
                                        <p:cTn id="27" dur="500"/>
                                        <p:tgtEl>
                                          <p:spTgt spid="126987"/>
                                        </p:tgtEl>
                                      </p:cBhvr>
                                    </p:animEffect>
                                  </p:childTnLst>
                                </p:cTn>
                              </p:par>
                              <p:par>
                                <p:cTn id="28" presetID="9" presetClass="entr" presetSubtype="0" fill="hold" grpId="0" nodeType="withEffect">
                                  <p:stCondLst>
                                    <p:cond delay="0"/>
                                  </p:stCondLst>
                                  <p:childTnLst>
                                    <p:set>
                                      <p:cBhvr>
                                        <p:cTn id="29" dur="1" fill="hold">
                                          <p:stCondLst>
                                            <p:cond delay="0"/>
                                          </p:stCondLst>
                                        </p:cTn>
                                        <p:tgtEl>
                                          <p:spTgt spid="127005"/>
                                        </p:tgtEl>
                                        <p:attrNameLst>
                                          <p:attrName>style.visibility</p:attrName>
                                        </p:attrNameLst>
                                      </p:cBhvr>
                                      <p:to>
                                        <p:strVal val="visible"/>
                                      </p:to>
                                    </p:set>
                                    <p:animEffect transition="in" filter="dissolve">
                                      <p:cBhvr>
                                        <p:cTn id="30" dur="500"/>
                                        <p:tgtEl>
                                          <p:spTgt spid="127005"/>
                                        </p:tgtEl>
                                      </p:cBhvr>
                                    </p:animEffect>
                                  </p:childTnLst>
                                </p:cTn>
                              </p:par>
                            </p:childTnLst>
                          </p:cTn>
                        </p:par>
                        <p:par>
                          <p:cTn id="31" fill="hold" nodeType="afterGroup">
                            <p:stCondLst>
                              <p:cond delay="1500"/>
                            </p:stCondLst>
                            <p:childTnLst>
                              <p:par>
                                <p:cTn id="32" presetID="9" presetClass="entr" presetSubtype="0" fill="hold" nodeType="afterEffect">
                                  <p:stCondLst>
                                    <p:cond delay="0"/>
                                  </p:stCondLst>
                                  <p:childTnLst>
                                    <p:set>
                                      <p:cBhvr>
                                        <p:cTn id="33" dur="1" fill="hold">
                                          <p:stCondLst>
                                            <p:cond delay="0"/>
                                          </p:stCondLst>
                                        </p:cTn>
                                        <p:tgtEl>
                                          <p:spTgt spid="4"/>
                                        </p:tgtEl>
                                        <p:attrNameLst>
                                          <p:attrName>style.visibility</p:attrName>
                                        </p:attrNameLst>
                                      </p:cBhvr>
                                      <p:to>
                                        <p:strVal val="visible"/>
                                      </p:to>
                                    </p:set>
                                    <p:animEffect transition="in" filter="dissolve">
                                      <p:cBhvr>
                                        <p:cTn id="34" dur="500"/>
                                        <p:tgtEl>
                                          <p:spTgt spid="4"/>
                                        </p:tgtEl>
                                      </p:cBhvr>
                                    </p:animEffect>
                                  </p:childTnLst>
                                </p:cTn>
                              </p:par>
                              <p:par>
                                <p:cTn id="35" presetID="9" presetClass="entr" presetSubtype="0" fill="hold" grpId="0" nodeType="withEffect">
                                  <p:stCondLst>
                                    <p:cond delay="0"/>
                                  </p:stCondLst>
                                  <p:childTnLst>
                                    <p:set>
                                      <p:cBhvr>
                                        <p:cTn id="36" dur="1" fill="hold">
                                          <p:stCondLst>
                                            <p:cond delay="0"/>
                                          </p:stCondLst>
                                        </p:cTn>
                                        <p:tgtEl>
                                          <p:spTgt spid="127006"/>
                                        </p:tgtEl>
                                        <p:attrNameLst>
                                          <p:attrName>style.visibility</p:attrName>
                                        </p:attrNameLst>
                                      </p:cBhvr>
                                      <p:to>
                                        <p:strVal val="visible"/>
                                      </p:to>
                                    </p:set>
                                    <p:animEffect transition="in" filter="dissolve">
                                      <p:cBhvr>
                                        <p:cTn id="37" dur="500"/>
                                        <p:tgtEl>
                                          <p:spTgt spid="127006"/>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2"/>
                                        </p:tgtEl>
                                        <p:attrNameLst>
                                          <p:attrName>style.visibility</p:attrName>
                                        </p:attrNameLst>
                                      </p:cBhvr>
                                      <p:to>
                                        <p:strVal val="visible"/>
                                      </p:to>
                                    </p:set>
                                    <p:animEffect transition="in" filter="wipe(left)">
                                      <p:cBhvr>
                                        <p:cTn id="42" dur="500"/>
                                        <p:tgtEl>
                                          <p:spTgt spid="2"/>
                                        </p:tgtEl>
                                      </p:cBhvr>
                                    </p:animEffect>
                                  </p:childTnLst>
                                </p:cTn>
                              </p:par>
                              <p:par>
                                <p:cTn id="43" presetID="22" presetClass="entr" presetSubtype="8" fill="hold" nodeType="withEffect">
                                  <p:stCondLst>
                                    <p:cond delay="0"/>
                                  </p:stCondLst>
                                  <p:childTnLst>
                                    <p:set>
                                      <p:cBhvr>
                                        <p:cTn id="44" dur="1" fill="hold">
                                          <p:stCondLst>
                                            <p:cond delay="0"/>
                                          </p:stCondLst>
                                        </p:cTn>
                                        <p:tgtEl>
                                          <p:spTgt spid="3"/>
                                        </p:tgtEl>
                                        <p:attrNameLst>
                                          <p:attrName>style.visibility</p:attrName>
                                        </p:attrNameLst>
                                      </p:cBhvr>
                                      <p:to>
                                        <p:strVal val="visible"/>
                                      </p:to>
                                    </p:set>
                                    <p:animEffect transition="in" filter="wipe(left)">
                                      <p:cBhvr>
                                        <p:cTn id="45" dur="500"/>
                                        <p:tgtEl>
                                          <p:spTgt spid="3"/>
                                        </p:tgtEl>
                                      </p:cBhvr>
                                    </p:animEffect>
                                  </p:childTnLst>
                                </p:cTn>
                              </p:par>
                            </p:childTnLst>
                          </p:cTn>
                        </p:par>
                        <p:par>
                          <p:cTn id="46" fill="hold" nodeType="afterGroup">
                            <p:stCondLst>
                              <p:cond delay="500"/>
                            </p:stCondLst>
                            <p:childTnLst>
                              <p:par>
                                <p:cTn id="47" presetID="9" presetClass="entr" presetSubtype="0" fill="hold" grpId="0" nodeType="afterEffect">
                                  <p:stCondLst>
                                    <p:cond delay="0"/>
                                  </p:stCondLst>
                                  <p:childTnLst>
                                    <p:set>
                                      <p:cBhvr>
                                        <p:cTn id="48" dur="1" fill="hold">
                                          <p:stCondLst>
                                            <p:cond delay="0"/>
                                          </p:stCondLst>
                                        </p:cTn>
                                        <p:tgtEl>
                                          <p:spTgt spid="127007"/>
                                        </p:tgtEl>
                                        <p:attrNameLst>
                                          <p:attrName>style.visibility</p:attrName>
                                        </p:attrNameLst>
                                      </p:cBhvr>
                                      <p:to>
                                        <p:strVal val="visible"/>
                                      </p:to>
                                    </p:set>
                                    <p:animEffect transition="in" filter="dissolve">
                                      <p:cBhvr>
                                        <p:cTn id="49" dur="500"/>
                                        <p:tgtEl>
                                          <p:spTgt spid="127007"/>
                                        </p:tgtEl>
                                      </p:cBhvr>
                                    </p:animEffect>
                                  </p:childTnLst>
                                </p:cTn>
                              </p:par>
                              <p:par>
                                <p:cTn id="50" presetID="22" presetClass="entr" presetSubtype="2" fill="hold" nodeType="withEffect">
                                  <p:stCondLst>
                                    <p:cond delay="0"/>
                                  </p:stCondLst>
                                  <p:childTnLst>
                                    <p:set>
                                      <p:cBhvr>
                                        <p:cTn id="51" dur="1" fill="hold">
                                          <p:stCondLst>
                                            <p:cond delay="0"/>
                                          </p:stCondLst>
                                        </p:cTn>
                                        <p:tgtEl>
                                          <p:spTgt spid="126994"/>
                                        </p:tgtEl>
                                        <p:attrNameLst>
                                          <p:attrName>style.visibility</p:attrName>
                                        </p:attrNameLst>
                                      </p:cBhvr>
                                      <p:to>
                                        <p:strVal val="visible"/>
                                      </p:to>
                                    </p:set>
                                    <p:animEffect transition="in" filter="wipe(right)">
                                      <p:cBhvr>
                                        <p:cTn id="52" dur="500"/>
                                        <p:tgtEl>
                                          <p:spTgt spid="126994"/>
                                        </p:tgtEl>
                                      </p:cBhvr>
                                    </p:animEffect>
                                  </p:childTnLst>
                                </p:cTn>
                              </p:par>
                              <p:par>
                                <p:cTn id="53" presetID="22" presetClass="entr" presetSubtype="2" fill="hold" nodeType="withEffect">
                                  <p:stCondLst>
                                    <p:cond delay="0"/>
                                  </p:stCondLst>
                                  <p:childTnLst>
                                    <p:set>
                                      <p:cBhvr>
                                        <p:cTn id="54" dur="1" fill="hold">
                                          <p:stCondLst>
                                            <p:cond delay="0"/>
                                          </p:stCondLst>
                                        </p:cTn>
                                        <p:tgtEl>
                                          <p:spTgt spid="126993"/>
                                        </p:tgtEl>
                                        <p:attrNameLst>
                                          <p:attrName>style.visibility</p:attrName>
                                        </p:attrNameLst>
                                      </p:cBhvr>
                                      <p:to>
                                        <p:strVal val="visible"/>
                                      </p:to>
                                    </p:set>
                                    <p:animEffect transition="in" filter="wipe(right)">
                                      <p:cBhvr>
                                        <p:cTn id="55" dur="500"/>
                                        <p:tgtEl>
                                          <p:spTgt spid="126993"/>
                                        </p:tgtEl>
                                      </p:cBhvr>
                                    </p:animEffect>
                                  </p:childTnLst>
                                </p:cTn>
                              </p:par>
                              <p:par>
                                <p:cTn id="56" presetID="22" presetClass="entr" presetSubtype="2" fill="hold" nodeType="withEffect">
                                  <p:stCondLst>
                                    <p:cond delay="0"/>
                                  </p:stCondLst>
                                  <p:childTnLst>
                                    <p:set>
                                      <p:cBhvr>
                                        <p:cTn id="57" dur="1" fill="hold">
                                          <p:stCondLst>
                                            <p:cond delay="0"/>
                                          </p:stCondLst>
                                        </p:cTn>
                                        <p:tgtEl>
                                          <p:spTgt spid="126992"/>
                                        </p:tgtEl>
                                        <p:attrNameLst>
                                          <p:attrName>style.visibility</p:attrName>
                                        </p:attrNameLst>
                                      </p:cBhvr>
                                      <p:to>
                                        <p:strVal val="visible"/>
                                      </p:to>
                                    </p:set>
                                    <p:animEffect transition="in" filter="wipe(right)">
                                      <p:cBhvr>
                                        <p:cTn id="58" dur="500"/>
                                        <p:tgtEl>
                                          <p:spTgt spid="126992"/>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8" fill="hold" nodeType="clickEffect">
                                  <p:stCondLst>
                                    <p:cond delay="0"/>
                                  </p:stCondLst>
                                  <p:childTnLst>
                                    <p:set>
                                      <p:cBhvr>
                                        <p:cTn id="62" dur="1" fill="hold">
                                          <p:stCondLst>
                                            <p:cond delay="0"/>
                                          </p:stCondLst>
                                        </p:cTn>
                                        <p:tgtEl>
                                          <p:spTgt spid="127000"/>
                                        </p:tgtEl>
                                        <p:attrNameLst>
                                          <p:attrName>style.visibility</p:attrName>
                                        </p:attrNameLst>
                                      </p:cBhvr>
                                      <p:to>
                                        <p:strVal val="visible"/>
                                      </p:to>
                                    </p:set>
                                    <p:animEffect transition="in" filter="wipe(left)">
                                      <p:cBhvr>
                                        <p:cTn id="63" dur="500"/>
                                        <p:tgtEl>
                                          <p:spTgt spid="127000"/>
                                        </p:tgtEl>
                                      </p:cBhvr>
                                    </p:animEffect>
                                  </p:childTnLst>
                                </p:cTn>
                              </p:par>
                              <p:par>
                                <p:cTn id="64" presetID="22" presetClass="entr" presetSubtype="8" fill="hold" nodeType="withEffect">
                                  <p:stCondLst>
                                    <p:cond delay="0"/>
                                  </p:stCondLst>
                                  <p:childTnLst>
                                    <p:set>
                                      <p:cBhvr>
                                        <p:cTn id="65" dur="1" fill="hold">
                                          <p:stCondLst>
                                            <p:cond delay="0"/>
                                          </p:stCondLst>
                                        </p:cTn>
                                        <p:tgtEl>
                                          <p:spTgt spid="127002"/>
                                        </p:tgtEl>
                                        <p:attrNameLst>
                                          <p:attrName>style.visibility</p:attrName>
                                        </p:attrNameLst>
                                      </p:cBhvr>
                                      <p:to>
                                        <p:strVal val="visible"/>
                                      </p:to>
                                    </p:set>
                                    <p:animEffect transition="in" filter="wipe(left)">
                                      <p:cBhvr>
                                        <p:cTn id="66" dur="500"/>
                                        <p:tgtEl>
                                          <p:spTgt spid="127002"/>
                                        </p:tgtEl>
                                      </p:cBhvr>
                                    </p:animEffect>
                                  </p:childTnLst>
                                </p:cTn>
                              </p:par>
                            </p:childTnLst>
                          </p:cTn>
                        </p:par>
                        <p:par>
                          <p:cTn id="67" fill="hold" nodeType="afterGroup">
                            <p:stCondLst>
                              <p:cond delay="500"/>
                            </p:stCondLst>
                            <p:childTnLst>
                              <p:par>
                                <p:cTn id="68" presetID="22" presetClass="entr" presetSubtype="8" fill="hold" nodeType="afterEffect">
                                  <p:stCondLst>
                                    <p:cond delay="0"/>
                                  </p:stCondLst>
                                  <p:childTnLst>
                                    <p:set>
                                      <p:cBhvr>
                                        <p:cTn id="69" dur="1" fill="hold">
                                          <p:stCondLst>
                                            <p:cond delay="0"/>
                                          </p:stCondLst>
                                        </p:cTn>
                                        <p:tgtEl>
                                          <p:spTgt spid="127003"/>
                                        </p:tgtEl>
                                        <p:attrNameLst>
                                          <p:attrName>style.visibility</p:attrName>
                                        </p:attrNameLst>
                                      </p:cBhvr>
                                      <p:to>
                                        <p:strVal val="visible"/>
                                      </p:to>
                                    </p:set>
                                    <p:animEffect transition="in" filter="wipe(left)">
                                      <p:cBhvr>
                                        <p:cTn id="70" dur="500"/>
                                        <p:tgtEl>
                                          <p:spTgt spid="127003"/>
                                        </p:tgtEl>
                                      </p:cBhvr>
                                    </p:animEffect>
                                  </p:childTnLst>
                                </p:cTn>
                              </p:par>
                              <p:par>
                                <p:cTn id="71" presetID="22" presetClass="entr" presetSubtype="8" fill="hold" nodeType="withEffect">
                                  <p:stCondLst>
                                    <p:cond delay="0"/>
                                  </p:stCondLst>
                                  <p:childTnLst>
                                    <p:set>
                                      <p:cBhvr>
                                        <p:cTn id="72" dur="1" fill="hold">
                                          <p:stCondLst>
                                            <p:cond delay="0"/>
                                          </p:stCondLst>
                                        </p:cTn>
                                        <p:tgtEl>
                                          <p:spTgt spid="127001"/>
                                        </p:tgtEl>
                                        <p:attrNameLst>
                                          <p:attrName>style.visibility</p:attrName>
                                        </p:attrNameLst>
                                      </p:cBhvr>
                                      <p:to>
                                        <p:strVal val="visible"/>
                                      </p:to>
                                    </p:set>
                                    <p:animEffect transition="in" filter="wipe(left)">
                                      <p:cBhvr>
                                        <p:cTn id="73" dur="500"/>
                                        <p:tgtEl>
                                          <p:spTgt spid="127001"/>
                                        </p:tgtEl>
                                      </p:cBhvr>
                                    </p:animEffect>
                                  </p:childTnLst>
                                </p:cTn>
                              </p:par>
                            </p:childTnLst>
                          </p:cTn>
                        </p:par>
                        <p:par>
                          <p:cTn id="74" fill="hold" nodeType="afterGroup">
                            <p:stCondLst>
                              <p:cond delay="1000"/>
                            </p:stCondLst>
                            <p:childTnLst>
                              <p:par>
                                <p:cTn id="75" presetID="9" presetClass="entr" presetSubtype="0" fill="hold" grpId="0" nodeType="afterEffect">
                                  <p:stCondLst>
                                    <p:cond delay="0"/>
                                  </p:stCondLst>
                                  <p:childTnLst>
                                    <p:set>
                                      <p:cBhvr>
                                        <p:cTn id="76" dur="1" fill="hold">
                                          <p:stCondLst>
                                            <p:cond delay="0"/>
                                          </p:stCondLst>
                                        </p:cTn>
                                        <p:tgtEl>
                                          <p:spTgt spid="127008"/>
                                        </p:tgtEl>
                                        <p:attrNameLst>
                                          <p:attrName>style.visibility</p:attrName>
                                        </p:attrNameLst>
                                      </p:cBhvr>
                                      <p:to>
                                        <p:strVal val="visible"/>
                                      </p:to>
                                    </p:set>
                                    <p:animEffect transition="in" filter="dissolve">
                                      <p:cBhvr>
                                        <p:cTn id="77" dur="500"/>
                                        <p:tgtEl>
                                          <p:spTgt spid="127008"/>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9" presetClass="entr" presetSubtype="0" fill="hold" grpId="0" nodeType="clickEffect">
                                  <p:stCondLst>
                                    <p:cond delay="0"/>
                                  </p:stCondLst>
                                  <p:childTnLst>
                                    <p:set>
                                      <p:cBhvr>
                                        <p:cTn id="81" dur="1" fill="hold">
                                          <p:stCondLst>
                                            <p:cond delay="0"/>
                                          </p:stCondLst>
                                        </p:cTn>
                                        <p:tgtEl>
                                          <p:spTgt spid="127009"/>
                                        </p:tgtEl>
                                        <p:attrNameLst>
                                          <p:attrName>style.visibility</p:attrName>
                                        </p:attrNameLst>
                                      </p:cBhvr>
                                      <p:to>
                                        <p:strVal val="visible"/>
                                      </p:to>
                                    </p:set>
                                    <p:animEffect transition="in" filter="dissolve">
                                      <p:cBhvr>
                                        <p:cTn id="82" dur="500"/>
                                        <p:tgtEl>
                                          <p:spTgt spid="127009"/>
                                        </p:tgtEl>
                                      </p:cBhvr>
                                    </p:animEffect>
                                  </p:childTnLst>
                                </p:cTn>
                              </p:par>
                            </p:childTnLst>
                          </p:cTn>
                        </p:par>
                        <p:par>
                          <p:cTn id="83" fill="hold" nodeType="afterGroup">
                            <p:stCondLst>
                              <p:cond delay="500"/>
                            </p:stCondLst>
                            <p:childTnLst>
                              <p:par>
                                <p:cTn id="84" presetID="9" presetClass="entr" presetSubtype="0" fill="hold" grpId="0" nodeType="afterEffect">
                                  <p:stCondLst>
                                    <p:cond delay="0"/>
                                  </p:stCondLst>
                                  <p:childTnLst>
                                    <p:set>
                                      <p:cBhvr>
                                        <p:cTn id="85" dur="1" fill="hold">
                                          <p:stCondLst>
                                            <p:cond delay="0"/>
                                          </p:stCondLst>
                                        </p:cTn>
                                        <p:tgtEl>
                                          <p:spTgt spid="127014"/>
                                        </p:tgtEl>
                                        <p:attrNameLst>
                                          <p:attrName>style.visibility</p:attrName>
                                        </p:attrNameLst>
                                      </p:cBhvr>
                                      <p:to>
                                        <p:strVal val="visible"/>
                                      </p:to>
                                    </p:set>
                                    <p:animEffect transition="in" filter="dissolve">
                                      <p:cBhvr>
                                        <p:cTn id="86" dur="500"/>
                                        <p:tgtEl>
                                          <p:spTgt spid="127014"/>
                                        </p:tgtEl>
                                      </p:cBhvr>
                                    </p:animEffect>
                                  </p:childTnLst>
                                </p:cTn>
                              </p:par>
                              <p:par>
                                <p:cTn id="87" presetID="9" presetClass="entr" presetSubtype="0" fill="hold" grpId="0" nodeType="withEffect">
                                  <p:stCondLst>
                                    <p:cond delay="0"/>
                                  </p:stCondLst>
                                  <p:childTnLst>
                                    <p:set>
                                      <p:cBhvr>
                                        <p:cTn id="88" dur="1" fill="hold">
                                          <p:stCondLst>
                                            <p:cond delay="0"/>
                                          </p:stCondLst>
                                        </p:cTn>
                                        <p:tgtEl>
                                          <p:spTgt spid="127026"/>
                                        </p:tgtEl>
                                        <p:attrNameLst>
                                          <p:attrName>style.visibility</p:attrName>
                                        </p:attrNameLst>
                                      </p:cBhvr>
                                      <p:to>
                                        <p:strVal val="visible"/>
                                      </p:to>
                                    </p:set>
                                    <p:animEffect transition="in" filter="dissolve">
                                      <p:cBhvr>
                                        <p:cTn id="89" dur="500"/>
                                        <p:tgtEl>
                                          <p:spTgt spid="127026"/>
                                        </p:tgtEl>
                                      </p:cBhvr>
                                    </p:animEffect>
                                  </p:childTnLst>
                                </p:cTn>
                              </p:par>
                            </p:childTnLst>
                          </p:cTn>
                        </p:par>
                      </p:childTnLst>
                    </p:cTn>
                  </p:par>
                  <p:par>
                    <p:cTn id="90" fill="hold" nodeType="clickPar">
                      <p:stCondLst>
                        <p:cond delay="indefinite"/>
                      </p:stCondLst>
                      <p:childTnLst>
                        <p:par>
                          <p:cTn id="91" fill="hold" nodeType="withGroup">
                            <p:stCondLst>
                              <p:cond delay="0"/>
                            </p:stCondLst>
                            <p:childTnLst>
                              <p:par>
                                <p:cTn id="92" presetID="22" presetClass="entr" presetSubtype="8" fill="hold" nodeType="clickEffect">
                                  <p:stCondLst>
                                    <p:cond delay="0"/>
                                  </p:stCondLst>
                                  <p:childTnLst>
                                    <p:set>
                                      <p:cBhvr>
                                        <p:cTn id="93" dur="1" fill="hold">
                                          <p:stCondLst>
                                            <p:cond delay="0"/>
                                          </p:stCondLst>
                                        </p:cTn>
                                        <p:tgtEl>
                                          <p:spTgt spid="5"/>
                                        </p:tgtEl>
                                        <p:attrNameLst>
                                          <p:attrName>style.visibility</p:attrName>
                                        </p:attrNameLst>
                                      </p:cBhvr>
                                      <p:to>
                                        <p:strVal val="visible"/>
                                      </p:to>
                                    </p:set>
                                    <p:animEffect transition="in" filter="wipe(left)">
                                      <p:cBhvr>
                                        <p:cTn id="94" dur="500"/>
                                        <p:tgtEl>
                                          <p:spTgt spid="5"/>
                                        </p:tgtEl>
                                      </p:cBhvr>
                                    </p:animEffect>
                                  </p:childTnLst>
                                </p:cTn>
                              </p:par>
                            </p:childTnLst>
                          </p:cTn>
                        </p:par>
                        <p:par>
                          <p:cTn id="95" fill="hold" nodeType="afterGroup">
                            <p:stCondLst>
                              <p:cond delay="500"/>
                            </p:stCondLst>
                            <p:childTnLst>
                              <p:par>
                                <p:cTn id="96" presetID="9" presetClass="entr" presetSubtype="0" fill="hold" grpId="0" nodeType="afterEffect">
                                  <p:stCondLst>
                                    <p:cond delay="0"/>
                                  </p:stCondLst>
                                  <p:childTnLst>
                                    <p:set>
                                      <p:cBhvr>
                                        <p:cTn id="97" dur="1" fill="hold">
                                          <p:stCondLst>
                                            <p:cond delay="0"/>
                                          </p:stCondLst>
                                        </p:cTn>
                                        <p:tgtEl>
                                          <p:spTgt spid="127027"/>
                                        </p:tgtEl>
                                        <p:attrNameLst>
                                          <p:attrName>style.visibility</p:attrName>
                                        </p:attrNameLst>
                                      </p:cBhvr>
                                      <p:to>
                                        <p:strVal val="visible"/>
                                      </p:to>
                                    </p:set>
                                    <p:animEffect transition="in" filter="dissolve">
                                      <p:cBhvr>
                                        <p:cTn id="98" dur="500"/>
                                        <p:tgtEl>
                                          <p:spTgt spid="127027"/>
                                        </p:tgtEl>
                                      </p:cBhvr>
                                    </p:animEffect>
                                  </p:childTnLst>
                                </p:cTn>
                              </p:par>
                            </p:childTnLst>
                          </p:cTn>
                        </p:par>
                      </p:childTnLst>
                    </p:cTn>
                  </p:par>
                  <p:par>
                    <p:cTn id="99" fill="hold" nodeType="clickPar">
                      <p:stCondLst>
                        <p:cond delay="indefinite"/>
                      </p:stCondLst>
                      <p:childTnLst>
                        <p:par>
                          <p:cTn id="100" fill="hold" nodeType="withGroup">
                            <p:stCondLst>
                              <p:cond delay="0"/>
                            </p:stCondLst>
                            <p:childTnLst>
                              <p:par>
                                <p:cTn id="101" presetID="9" presetClass="entr" presetSubtype="0" fill="hold" nodeType="clickEffect">
                                  <p:stCondLst>
                                    <p:cond delay="0"/>
                                  </p:stCondLst>
                                  <p:childTnLst>
                                    <p:set>
                                      <p:cBhvr>
                                        <p:cTn id="102" dur="1" fill="hold">
                                          <p:stCondLst>
                                            <p:cond delay="0"/>
                                          </p:stCondLst>
                                        </p:cTn>
                                        <p:tgtEl>
                                          <p:spTgt spid="7"/>
                                        </p:tgtEl>
                                        <p:attrNameLst>
                                          <p:attrName>style.visibility</p:attrName>
                                        </p:attrNameLst>
                                      </p:cBhvr>
                                      <p:to>
                                        <p:strVal val="visible"/>
                                      </p:to>
                                    </p:set>
                                    <p:animEffect transition="in" filter="dissolve">
                                      <p:cBhvr>
                                        <p:cTn id="103" dur="500"/>
                                        <p:tgtEl>
                                          <p:spTgt spid="7"/>
                                        </p:tgtEl>
                                      </p:cBhvr>
                                    </p:animEffect>
                                  </p:childTnLst>
                                </p:cTn>
                              </p:par>
                            </p:childTnLst>
                          </p:cTn>
                        </p:par>
                        <p:par>
                          <p:cTn id="104" fill="hold" nodeType="afterGroup">
                            <p:stCondLst>
                              <p:cond delay="500"/>
                            </p:stCondLst>
                            <p:childTnLst>
                              <p:par>
                                <p:cTn id="105" presetID="22" presetClass="entr" presetSubtype="8" fill="hold" nodeType="afterEffect">
                                  <p:stCondLst>
                                    <p:cond delay="0"/>
                                  </p:stCondLst>
                                  <p:childTnLst>
                                    <p:set>
                                      <p:cBhvr>
                                        <p:cTn id="106" dur="1" fill="hold">
                                          <p:stCondLst>
                                            <p:cond delay="0"/>
                                          </p:stCondLst>
                                        </p:cTn>
                                        <p:tgtEl>
                                          <p:spTgt spid="127024"/>
                                        </p:tgtEl>
                                        <p:attrNameLst>
                                          <p:attrName>style.visibility</p:attrName>
                                        </p:attrNameLst>
                                      </p:cBhvr>
                                      <p:to>
                                        <p:strVal val="visible"/>
                                      </p:to>
                                    </p:set>
                                    <p:animEffect transition="in" filter="wipe(left)">
                                      <p:cBhvr>
                                        <p:cTn id="107" dur="500"/>
                                        <p:tgtEl>
                                          <p:spTgt spid="127024"/>
                                        </p:tgtEl>
                                      </p:cBhvr>
                                    </p:animEffect>
                                  </p:childTnLst>
                                </p:cTn>
                              </p:par>
                              <p:par>
                                <p:cTn id="108" presetID="22" presetClass="entr" presetSubtype="8" fill="hold" nodeType="withEffect">
                                  <p:stCondLst>
                                    <p:cond delay="0"/>
                                  </p:stCondLst>
                                  <p:childTnLst>
                                    <p:set>
                                      <p:cBhvr>
                                        <p:cTn id="109" dur="1" fill="hold">
                                          <p:stCondLst>
                                            <p:cond delay="0"/>
                                          </p:stCondLst>
                                        </p:cTn>
                                        <p:tgtEl>
                                          <p:spTgt spid="127023"/>
                                        </p:tgtEl>
                                        <p:attrNameLst>
                                          <p:attrName>style.visibility</p:attrName>
                                        </p:attrNameLst>
                                      </p:cBhvr>
                                      <p:to>
                                        <p:strVal val="visible"/>
                                      </p:to>
                                    </p:set>
                                    <p:animEffect transition="in" filter="wipe(left)">
                                      <p:cBhvr>
                                        <p:cTn id="110" dur="500"/>
                                        <p:tgtEl>
                                          <p:spTgt spid="127023"/>
                                        </p:tgtEl>
                                      </p:cBhvr>
                                    </p:animEffect>
                                  </p:childTnLst>
                                </p:cTn>
                              </p:par>
                              <p:par>
                                <p:cTn id="111" presetID="22" presetClass="entr" presetSubtype="8" fill="hold" nodeType="withEffect">
                                  <p:stCondLst>
                                    <p:cond delay="0"/>
                                  </p:stCondLst>
                                  <p:childTnLst>
                                    <p:set>
                                      <p:cBhvr>
                                        <p:cTn id="112" dur="1" fill="hold">
                                          <p:stCondLst>
                                            <p:cond delay="0"/>
                                          </p:stCondLst>
                                        </p:cTn>
                                        <p:tgtEl>
                                          <p:spTgt spid="127025"/>
                                        </p:tgtEl>
                                        <p:attrNameLst>
                                          <p:attrName>style.visibility</p:attrName>
                                        </p:attrNameLst>
                                      </p:cBhvr>
                                      <p:to>
                                        <p:strVal val="visible"/>
                                      </p:to>
                                    </p:set>
                                    <p:animEffect transition="in" filter="wipe(left)">
                                      <p:cBhvr>
                                        <p:cTn id="113" dur="500"/>
                                        <p:tgtEl>
                                          <p:spTgt spid="127025"/>
                                        </p:tgtEl>
                                      </p:cBhvr>
                                    </p:animEffect>
                                  </p:childTnLst>
                                </p:cTn>
                              </p:par>
                            </p:childTnLst>
                          </p:cTn>
                        </p:par>
                        <p:par>
                          <p:cTn id="114" fill="hold" nodeType="withGroup">
                            <p:stCondLst>
                              <p:cond delay="1000"/>
                            </p:stCondLst>
                            <p:childTnLst>
                              <p:par>
                                <p:cTn id="115" presetID="22" presetClass="entr" presetSubtype="2" fill="hold" nodeType="afterEffect">
                                  <p:stCondLst>
                                    <p:cond delay="0"/>
                                  </p:stCondLst>
                                  <p:childTnLst>
                                    <p:set>
                                      <p:cBhvr>
                                        <p:cTn id="116" dur="1" fill="hold">
                                          <p:stCondLst>
                                            <p:cond delay="0"/>
                                          </p:stCondLst>
                                        </p:cTn>
                                        <p:tgtEl>
                                          <p:spTgt spid="127015"/>
                                        </p:tgtEl>
                                        <p:attrNameLst>
                                          <p:attrName>style.visibility</p:attrName>
                                        </p:attrNameLst>
                                      </p:cBhvr>
                                      <p:to>
                                        <p:strVal val="visible"/>
                                      </p:to>
                                    </p:set>
                                    <p:animEffect transition="in" filter="wipe(right)">
                                      <p:cBhvr>
                                        <p:cTn id="117" dur="500"/>
                                        <p:tgtEl>
                                          <p:spTgt spid="127015"/>
                                        </p:tgtEl>
                                      </p:cBhvr>
                                    </p:animEffect>
                                  </p:childTnLst>
                                </p:cTn>
                              </p:par>
                              <p:par>
                                <p:cTn id="118" presetID="22" presetClass="entr" presetSubtype="2" fill="hold" nodeType="withEffect">
                                  <p:stCondLst>
                                    <p:cond delay="0"/>
                                  </p:stCondLst>
                                  <p:childTnLst>
                                    <p:set>
                                      <p:cBhvr>
                                        <p:cTn id="119" dur="1" fill="hold">
                                          <p:stCondLst>
                                            <p:cond delay="0"/>
                                          </p:stCondLst>
                                        </p:cTn>
                                        <p:tgtEl>
                                          <p:spTgt spid="127021"/>
                                        </p:tgtEl>
                                        <p:attrNameLst>
                                          <p:attrName>style.visibility</p:attrName>
                                        </p:attrNameLst>
                                      </p:cBhvr>
                                      <p:to>
                                        <p:strVal val="visible"/>
                                      </p:to>
                                    </p:set>
                                    <p:animEffect transition="in" filter="wipe(right)">
                                      <p:cBhvr>
                                        <p:cTn id="120" dur="500"/>
                                        <p:tgtEl>
                                          <p:spTgt spid="127021"/>
                                        </p:tgtEl>
                                      </p:cBhvr>
                                    </p:animEffect>
                                  </p:childTnLst>
                                </p:cTn>
                              </p:par>
                              <p:par>
                                <p:cTn id="121" presetID="22" presetClass="entr" presetSubtype="2" fill="hold" nodeType="withEffect">
                                  <p:stCondLst>
                                    <p:cond delay="0"/>
                                  </p:stCondLst>
                                  <p:childTnLst>
                                    <p:set>
                                      <p:cBhvr>
                                        <p:cTn id="122" dur="1" fill="hold">
                                          <p:stCondLst>
                                            <p:cond delay="0"/>
                                          </p:stCondLst>
                                        </p:cTn>
                                        <p:tgtEl>
                                          <p:spTgt spid="127022"/>
                                        </p:tgtEl>
                                        <p:attrNameLst>
                                          <p:attrName>style.visibility</p:attrName>
                                        </p:attrNameLst>
                                      </p:cBhvr>
                                      <p:to>
                                        <p:strVal val="visible"/>
                                      </p:to>
                                    </p:set>
                                    <p:animEffect transition="in" filter="wipe(right)">
                                      <p:cBhvr>
                                        <p:cTn id="123" dur="500"/>
                                        <p:tgtEl>
                                          <p:spTgt spid="127022"/>
                                        </p:tgtEl>
                                      </p:cBhvr>
                                    </p:animEffect>
                                  </p:childTnLst>
                                </p:cTn>
                              </p:par>
                            </p:childTnLst>
                          </p:cTn>
                        </p:par>
                        <p:par>
                          <p:cTn id="124" fill="hold" nodeType="afterGroup">
                            <p:stCondLst>
                              <p:cond delay="1500"/>
                            </p:stCondLst>
                            <p:childTnLst>
                              <p:par>
                                <p:cTn id="125" presetID="9" presetClass="entr" presetSubtype="0" fill="hold" nodeType="afterEffect">
                                  <p:stCondLst>
                                    <p:cond delay="0"/>
                                  </p:stCondLst>
                                  <p:childTnLst>
                                    <p:set>
                                      <p:cBhvr>
                                        <p:cTn id="126" dur="1" fill="hold">
                                          <p:stCondLst>
                                            <p:cond delay="0"/>
                                          </p:stCondLst>
                                        </p:cTn>
                                        <p:tgtEl>
                                          <p:spTgt spid="6"/>
                                        </p:tgtEl>
                                        <p:attrNameLst>
                                          <p:attrName>style.visibility</p:attrName>
                                        </p:attrNameLst>
                                      </p:cBhvr>
                                      <p:to>
                                        <p:strVal val="visible"/>
                                      </p:to>
                                    </p:set>
                                    <p:animEffect transition="in" filter="dissolve">
                                      <p:cBhvr>
                                        <p:cTn id="12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979" grpId="0" autoUpdateAnimBg="0"/>
      <p:bldP spid="126980" grpId="0" autoUpdateAnimBg="0"/>
      <p:bldP spid="126981" grpId="0" autoUpdateAnimBg="0"/>
      <p:bldP spid="126982" grpId="0" animBg="1"/>
      <p:bldP spid="126987" grpId="0" animBg="1"/>
      <p:bldP spid="127004" grpId="0" animBg="1" autoUpdateAnimBg="0"/>
      <p:bldP spid="127005" grpId="0" animBg="1" autoUpdateAnimBg="0"/>
      <p:bldP spid="127006" grpId="0" autoUpdateAnimBg="0"/>
      <p:bldP spid="127007" grpId="0" animBg="1" autoUpdateAnimBg="0"/>
      <p:bldP spid="127008" grpId="0" autoUpdateAnimBg="0"/>
      <p:bldP spid="127009" grpId="0" autoUpdateAnimBg="0"/>
      <p:bldP spid="127014" grpId="0" animBg="1"/>
      <p:bldP spid="127026" grpId="0" animBg="1" autoUpdateAnimBg="0"/>
      <p:bldP spid="127027" grpId="0" animBg="1"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255" name="Picture 7" descr="图片1">
            <a:extLst>
              <a:ext uri="{FF2B5EF4-FFF2-40B4-BE49-F238E27FC236}">
                <a16:creationId xmlns:a16="http://schemas.microsoft.com/office/drawing/2014/main" id="{FD4214A5-EF9F-469A-A5A2-9923F43B6C91}"/>
              </a:ext>
            </a:extLst>
          </p:cNvPr>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bwMode="auto">
          <a:xfrm>
            <a:off x="762000" y="511175"/>
            <a:ext cx="2266950" cy="30956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250" name="Rectangle 2">
            <a:extLst>
              <a:ext uri="{FF2B5EF4-FFF2-40B4-BE49-F238E27FC236}">
                <a16:creationId xmlns:a16="http://schemas.microsoft.com/office/drawing/2014/main" id="{12E013CB-CFC9-48B0-B59C-DA06B3F6FBA3}"/>
              </a:ext>
            </a:extLst>
          </p:cNvPr>
          <p:cNvSpPr>
            <a:spLocks noChangeArrowheads="1"/>
          </p:cNvSpPr>
          <p:nvPr/>
        </p:nvSpPr>
        <p:spPr bwMode="auto">
          <a:xfrm>
            <a:off x="609600" y="3648075"/>
            <a:ext cx="25908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kumimoji="0" lang="en-US" altLang="zh-CN" b="0">
                <a:solidFill>
                  <a:schemeClr val="bg1"/>
                </a:solidFill>
              </a:rPr>
              <a:t>C.H. Townes</a:t>
            </a:r>
          </a:p>
        </p:txBody>
      </p:sp>
      <p:sp>
        <p:nvSpPr>
          <p:cNvPr id="53251" name="Rectangle 3">
            <a:extLst>
              <a:ext uri="{FF2B5EF4-FFF2-40B4-BE49-F238E27FC236}">
                <a16:creationId xmlns:a16="http://schemas.microsoft.com/office/drawing/2014/main" id="{B66B8869-38C4-45FA-85AB-2C13AE53C600}"/>
              </a:ext>
            </a:extLst>
          </p:cNvPr>
          <p:cNvSpPr>
            <a:spLocks noChangeArrowheads="1"/>
          </p:cNvSpPr>
          <p:nvPr/>
        </p:nvSpPr>
        <p:spPr bwMode="auto">
          <a:xfrm>
            <a:off x="2857500" y="3643313"/>
            <a:ext cx="34290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accent1"/>
              </a:buClr>
              <a:buSzPct val="90000"/>
              <a:buFont typeface="Monotype Sorts"/>
              <a:buNone/>
            </a:pPr>
            <a:r>
              <a:rPr kumimoji="0" lang="en-US" altLang="zh-CN" b="0">
                <a:solidFill>
                  <a:schemeClr val="bg1"/>
                </a:solidFill>
              </a:rPr>
              <a:t>A.M. Prokhorov </a:t>
            </a:r>
          </a:p>
        </p:txBody>
      </p:sp>
      <p:sp>
        <p:nvSpPr>
          <p:cNvPr id="53252" name="Rectangle 4">
            <a:extLst>
              <a:ext uri="{FF2B5EF4-FFF2-40B4-BE49-F238E27FC236}">
                <a16:creationId xmlns:a16="http://schemas.microsoft.com/office/drawing/2014/main" id="{5D91EC0C-DF03-4D22-996B-064407C449E2}"/>
              </a:ext>
            </a:extLst>
          </p:cNvPr>
          <p:cNvSpPr>
            <a:spLocks noChangeArrowheads="1"/>
          </p:cNvSpPr>
          <p:nvPr/>
        </p:nvSpPr>
        <p:spPr bwMode="auto">
          <a:xfrm>
            <a:off x="6072188" y="3643313"/>
            <a:ext cx="2514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kumimoji="0" lang="en-US" altLang="zh-CN" b="0">
                <a:solidFill>
                  <a:srgbClr val="FFFFFF"/>
                </a:solidFill>
              </a:rPr>
              <a:t>N.G. Basov</a:t>
            </a:r>
          </a:p>
        </p:txBody>
      </p:sp>
      <p:sp>
        <p:nvSpPr>
          <p:cNvPr id="53253" name="Rectangle 5">
            <a:extLst>
              <a:ext uri="{FF2B5EF4-FFF2-40B4-BE49-F238E27FC236}">
                <a16:creationId xmlns:a16="http://schemas.microsoft.com/office/drawing/2014/main" id="{06B9557A-B7B6-4C74-BB6F-3091C2FE42C8}"/>
              </a:ext>
            </a:extLst>
          </p:cNvPr>
          <p:cNvSpPr>
            <a:spLocks noChangeArrowheads="1"/>
          </p:cNvSpPr>
          <p:nvPr/>
        </p:nvSpPr>
        <p:spPr bwMode="auto">
          <a:xfrm>
            <a:off x="304800" y="4725988"/>
            <a:ext cx="8534400" cy="177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just" eaLnBrk="1" hangingPunct="1">
              <a:lnSpc>
                <a:spcPts val="3400"/>
              </a:lnSpc>
            </a:pPr>
            <a:r>
              <a:rPr kumimoji="0" lang="en-US" altLang="zh-CN" sz="2200">
                <a:solidFill>
                  <a:schemeClr val="hlink"/>
                </a:solidFill>
                <a:latin typeface="宋体" panose="02010600030101010101" pitchFamily="2" charset="-122"/>
              </a:rPr>
              <a:t>    </a:t>
            </a:r>
            <a:r>
              <a:rPr kumimoji="0" lang="zh-CN" altLang="en-US" sz="2200">
                <a:solidFill>
                  <a:srgbClr val="FFFF00"/>
                </a:solidFill>
                <a:latin typeface="宋体" panose="02010600030101010101" pitchFamily="2" charset="-122"/>
              </a:rPr>
              <a:t>汤斯</a:t>
            </a:r>
            <a:r>
              <a:rPr kumimoji="0" lang="en-US" altLang="zh-CN" sz="2200">
                <a:solidFill>
                  <a:schemeClr val="hlink"/>
                </a:solidFill>
                <a:latin typeface="宋体" panose="02010600030101010101" pitchFamily="2" charset="-122"/>
              </a:rPr>
              <a:t>1954</a:t>
            </a:r>
            <a:r>
              <a:rPr kumimoji="0" lang="zh-CN" altLang="en-US" sz="2200">
                <a:solidFill>
                  <a:schemeClr val="hlink"/>
                </a:solidFill>
                <a:latin typeface="宋体" panose="02010600030101010101" pitchFamily="2" charset="-122"/>
              </a:rPr>
              <a:t>年在量子电子学研究中实现了氨分子的粒子数反转，研制了微波激射器和激光器；</a:t>
            </a:r>
            <a:r>
              <a:rPr kumimoji="0" lang="zh-CN" altLang="en-US" sz="2200">
                <a:solidFill>
                  <a:srgbClr val="FFFF00"/>
                </a:solidFill>
                <a:latin typeface="宋体" panose="02010600030101010101" pitchFamily="2" charset="-122"/>
              </a:rPr>
              <a:t>普罗霍洛夫</a:t>
            </a:r>
            <a:r>
              <a:rPr kumimoji="0" lang="zh-CN" altLang="en-US" sz="2200">
                <a:solidFill>
                  <a:schemeClr val="hlink"/>
                </a:solidFill>
                <a:latin typeface="宋体" panose="02010600030101010101" pitchFamily="2" charset="-122"/>
              </a:rPr>
              <a:t>和</a:t>
            </a:r>
            <a:r>
              <a:rPr kumimoji="0" lang="zh-CN" altLang="en-US" sz="2200">
                <a:solidFill>
                  <a:srgbClr val="FFFF00"/>
                </a:solidFill>
                <a:latin typeface="宋体" panose="02010600030101010101" pitchFamily="2" charset="-122"/>
              </a:rPr>
              <a:t>巴索夫</a:t>
            </a:r>
            <a:r>
              <a:rPr kumimoji="0" lang="en-US" altLang="zh-CN" sz="2200">
                <a:solidFill>
                  <a:schemeClr val="hlink"/>
                </a:solidFill>
                <a:latin typeface="宋体" panose="02010600030101010101" pitchFamily="2" charset="-122"/>
              </a:rPr>
              <a:t>1958</a:t>
            </a:r>
            <a:r>
              <a:rPr kumimoji="0" lang="zh-CN" altLang="en-US" sz="2200">
                <a:solidFill>
                  <a:schemeClr val="hlink"/>
                </a:solidFill>
                <a:latin typeface="宋体" panose="02010600030101010101" pitchFamily="2" charset="-122"/>
              </a:rPr>
              <a:t>年几乎同时在量子电子学的基础研究中，根据微波激射器和激光器原理研制了振荡器和放大器。以上工作导致了激光器的发明。</a:t>
            </a:r>
          </a:p>
        </p:txBody>
      </p:sp>
      <p:sp>
        <p:nvSpPr>
          <p:cNvPr id="53254" name="Rectangle 6">
            <a:extLst>
              <a:ext uri="{FF2B5EF4-FFF2-40B4-BE49-F238E27FC236}">
                <a16:creationId xmlns:a16="http://schemas.microsoft.com/office/drawing/2014/main" id="{4C59D9E2-766E-4401-A2D1-EA1BE3DAE825}"/>
              </a:ext>
            </a:extLst>
          </p:cNvPr>
          <p:cNvSpPr>
            <a:spLocks noChangeArrowheads="1"/>
          </p:cNvSpPr>
          <p:nvPr/>
        </p:nvSpPr>
        <p:spPr bwMode="auto">
          <a:xfrm>
            <a:off x="981075" y="4202113"/>
            <a:ext cx="71628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kumimoji="0" lang="en-US" altLang="zh-CN" sz="2800" b="0">
                <a:solidFill>
                  <a:srgbClr val="FF7C80"/>
                </a:solidFill>
              </a:rPr>
              <a:t>The Nobel Prize in Physics 1964</a:t>
            </a:r>
          </a:p>
        </p:txBody>
      </p:sp>
      <p:pic>
        <p:nvPicPr>
          <p:cNvPr id="53256" name="Picture 8" descr="图片1">
            <a:extLst>
              <a:ext uri="{FF2B5EF4-FFF2-40B4-BE49-F238E27FC236}">
                <a16:creationId xmlns:a16="http://schemas.microsoft.com/office/drawing/2014/main" id="{1B6ACA8C-AC17-4680-92AF-9A0AA97525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00438" y="500063"/>
            <a:ext cx="2133600" cy="309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57" name="Picture 9" descr="图片1">
            <a:extLst>
              <a:ext uri="{FF2B5EF4-FFF2-40B4-BE49-F238E27FC236}">
                <a16:creationId xmlns:a16="http://schemas.microsoft.com/office/drawing/2014/main" id="{65B13FE9-303E-4854-9A7F-CEB772B3BB2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43625" y="500063"/>
            <a:ext cx="2266950" cy="309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70" name="灯片编号占位符 1">
            <a:extLst>
              <a:ext uri="{FF2B5EF4-FFF2-40B4-BE49-F238E27FC236}">
                <a16:creationId xmlns:a16="http://schemas.microsoft.com/office/drawing/2014/main" id="{484574DF-4978-4DB2-B8E2-3E167318E2A5}"/>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2D63CC59-7F23-42BD-A8F6-CE632D2556E3}" type="slidenum">
              <a:rPr lang="en-US" altLang="zh-CN" b="0">
                <a:solidFill>
                  <a:srgbClr val="FF00FF"/>
                </a:solidFill>
              </a:rPr>
              <a:pPr eaLnBrk="1" hangingPunct="1"/>
              <a:t>27</a:t>
            </a:fld>
            <a:r>
              <a:rPr lang="en-US" altLang="zh-CN" b="0">
                <a:solidFill>
                  <a:srgbClr val="FF00FF"/>
                </a:solidFill>
              </a:rPr>
              <a:t>/25</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afterEffect">
                                  <p:stCondLst>
                                    <p:cond delay="0"/>
                                  </p:stCondLst>
                                  <p:childTnLst>
                                    <p:set>
                                      <p:cBhvr>
                                        <p:cTn id="6" dur="1" fill="hold">
                                          <p:stCondLst>
                                            <p:cond delay="0"/>
                                          </p:stCondLst>
                                        </p:cTn>
                                        <p:tgtEl>
                                          <p:spTgt spid="53255"/>
                                        </p:tgtEl>
                                        <p:attrNameLst>
                                          <p:attrName>style.visibility</p:attrName>
                                        </p:attrNameLst>
                                      </p:cBhvr>
                                      <p:to>
                                        <p:strVal val="visible"/>
                                      </p:to>
                                    </p:set>
                                    <p:animEffect transition="in" filter="dissolve">
                                      <p:cBhvr>
                                        <p:cTn id="7" dur="500"/>
                                        <p:tgtEl>
                                          <p:spTgt spid="53255"/>
                                        </p:tgtEl>
                                      </p:cBhvr>
                                    </p:animEffect>
                                  </p:childTnLst>
                                </p:cTn>
                              </p:par>
                              <p:par>
                                <p:cTn id="8" presetID="9" presetClass="entr" presetSubtype="0" fill="hold" grpId="0" nodeType="withEffect">
                                  <p:stCondLst>
                                    <p:cond delay="0"/>
                                  </p:stCondLst>
                                  <p:childTnLst>
                                    <p:set>
                                      <p:cBhvr>
                                        <p:cTn id="9" dur="1" fill="hold">
                                          <p:stCondLst>
                                            <p:cond delay="0"/>
                                          </p:stCondLst>
                                        </p:cTn>
                                        <p:tgtEl>
                                          <p:spTgt spid="53250"/>
                                        </p:tgtEl>
                                        <p:attrNameLst>
                                          <p:attrName>style.visibility</p:attrName>
                                        </p:attrNameLst>
                                      </p:cBhvr>
                                      <p:to>
                                        <p:strVal val="visible"/>
                                      </p:to>
                                    </p:set>
                                    <p:animEffect transition="in" filter="dissolve">
                                      <p:cBhvr>
                                        <p:cTn id="10" dur="500"/>
                                        <p:tgtEl>
                                          <p:spTgt spid="53250"/>
                                        </p:tgtEl>
                                      </p:cBhvr>
                                    </p:animEffect>
                                  </p:childTnLst>
                                </p:cTn>
                              </p:par>
                              <p:par>
                                <p:cTn id="11" presetID="9" presetClass="entr" presetSubtype="0" fill="hold" nodeType="withEffect">
                                  <p:stCondLst>
                                    <p:cond delay="0"/>
                                  </p:stCondLst>
                                  <p:childTnLst>
                                    <p:set>
                                      <p:cBhvr>
                                        <p:cTn id="12" dur="1" fill="hold">
                                          <p:stCondLst>
                                            <p:cond delay="0"/>
                                          </p:stCondLst>
                                        </p:cTn>
                                        <p:tgtEl>
                                          <p:spTgt spid="53256"/>
                                        </p:tgtEl>
                                        <p:attrNameLst>
                                          <p:attrName>style.visibility</p:attrName>
                                        </p:attrNameLst>
                                      </p:cBhvr>
                                      <p:to>
                                        <p:strVal val="visible"/>
                                      </p:to>
                                    </p:set>
                                    <p:animEffect transition="in" filter="dissolve">
                                      <p:cBhvr>
                                        <p:cTn id="13" dur="500"/>
                                        <p:tgtEl>
                                          <p:spTgt spid="53256"/>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53251"/>
                                        </p:tgtEl>
                                        <p:attrNameLst>
                                          <p:attrName>style.visibility</p:attrName>
                                        </p:attrNameLst>
                                      </p:cBhvr>
                                      <p:to>
                                        <p:strVal val="visible"/>
                                      </p:to>
                                    </p:set>
                                    <p:animEffect transition="in" filter="dissolve">
                                      <p:cBhvr>
                                        <p:cTn id="16" dur="500"/>
                                        <p:tgtEl>
                                          <p:spTgt spid="53251"/>
                                        </p:tgtEl>
                                      </p:cBhvr>
                                    </p:animEffect>
                                  </p:childTnLst>
                                </p:cTn>
                              </p:par>
                              <p:par>
                                <p:cTn id="17" presetID="9" presetClass="entr" presetSubtype="0" fill="hold" nodeType="withEffect">
                                  <p:stCondLst>
                                    <p:cond delay="0"/>
                                  </p:stCondLst>
                                  <p:childTnLst>
                                    <p:set>
                                      <p:cBhvr>
                                        <p:cTn id="18" dur="1" fill="hold">
                                          <p:stCondLst>
                                            <p:cond delay="0"/>
                                          </p:stCondLst>
                                        </p:cTn>
                                        <p:tgtEl>
                                          <p:spTgt spid="53257"/>
                                        </p:tgtEl>
                                        <p:attrNameLst>
                                          <p:attrName>style.visibility</p:attrName>
                                        </p:attrNameLst>
                                      </p:cBhvr>
                                      <p:to>
                                        <p:strVal val="visible"/>
                                      </p:to>
                                    </p:set>
                                    <p:animEffect transition="in" filter="dissolve">
                                      <p:cBhvr>
                                        <p:cTn id="19" dur="500"/>
                                        <p:tgtEl>
                                          <p:spTgt spid="53257"/>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53252"/>
                                        </p:tgtEl>
                                        <p:attrNameLst>
                                          <p:attrName>style.visibility</p:attrName>
                                        </p:attrNameLst>
                                      </p:cBhvr>
                                      <p:to>
                                        <p:strVal val="visible"/>
                                      </p:to>
                                    </p:set>
                                    <p:animEffect transition="in" filter="dissolve">
                                      <p:cBhvr>
                                        <p:cTn id="22" dur="500"/>
                                        <p:tgtEl>
                                          <p:spTgt spid="53252"/>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53253"/>
                                        </p:tgtEl>
                                        <p:attrNameLst>
                                          <p:attrName>style.visibility</p:attrName>
                                        </p:attrNameLst>
                                      </p:cBhvr>
                                      <p:to>
                                        <p:strVal val="visible"/>
                                      </p:to>
                                    </p:set>
                                    <p:animEffect transition="in" filter="dissolve">
                                      <p:cBhvr>
                                        <p:cTn id="25" dur="500"/>
                                        <p:tgtEl>
                                          <p:spTgt spid="53253"/>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53254"/>
                                        </p:tgtEl>
                                        <p:attrNameLst>
                                          <p:attrName>style.visibility</p:attrName>
                                        </p:attrNameLst>
                                      </p:cBhvr>
                                      <p:to>
                                        <p:strVal val="visible"/>
                                      </p:to>
                                    </p:set>
                                    <p:animEffect transition="in" filter="dissolve">
                                      <p:cBhvr>
                                        <p:cTn id="28" dur="500"/>
                                        <p:tgtEl>
                                          <p:spTgt spid="532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0" grpId="0" autoUpdateAnimBg="0"/>
      <p:bldP spid="53251" grpId="0" autoUpdateAnimBg="0"/>
      <p:bldP spid="53252" grpId="0" autoUpdateAnimBg="0"/>
      <p:bldP spid="53253" grpId="0" autoUpdateAnimBg="0"/>
      <p:bldP spid="53254" grpId="0"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0" name="Picture 2" descr="https://timgsa.baidu.com/timg?image&amp;quality=80&amp;size=b9999_10000&amp;sec=1576559794584&amp;di=b22adab892e41377a2bb75fcf308fca9&amp;imgtype=0&amp;src=http%3A%2F%2Fp2.so.qhimgs1.com%2Fbdr%2F1080__%2Ft01d3179a992878af3e.jpg">
            <a:extLst>
              <a:ext uri="{FF2B5EF4-FFF2-40B4-BE49-F238E27FC236}">
                <a16:creationId xmlns:a16="http://schemas.microsoft.com/office/drawing/2014/main" id="{781F5E27-A2F3-4B30-83B8-CF55252184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2525" y="412594"/>
            <a:ext cx="8538949" cy="60328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11" name="Picture 4" descr="https://timgsa.baidu.com/timg?image&amp;quality=80&amp;size=b9999_10000&amp;sec=1576559794582&amp;di=e699fc4bfb3c8a46676d8549c0fb4ea2&amp;imgtype=0&amp;src=http%3A%2F%2F5b0988e595225.cdn.sohucs.com%2Fq_70%2Cc_zoom%2Cw_640%2Fimages%2F20180907%2F1186d1f9f1cc47fa8aec70dcb6025d79.gif">
            <a:extLst>
              <a:ext uri="{FF2B5EF4-FFF2-40B4-BE49-F238E27FC236}">
                <a16:creationId xmlns:a16="http://schemas.microsoft.com/office/drawing/2014/main" id="{9BFDCE0A-0AFC-48A4-99D7-1F6976717790}"/>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6660232" y="4293096"/>
            <a:ext cx="2043402" cy="2041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ZjkxMDYxZGYxZGIxNjIyZTIxODM5NTE1YTAzNTVjNjIifQ=="/>
</p:tagLst>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26062</TotalTime>
  <Words>1639</Words>
  <Application>Microsoft Office PowerPoint</Application>
  <PresentationFormat>全屏显示(4:3)</PresentationFormat>
  <Paragraphs>372</Paragraphs>
  <Slides>28</Slides>
  <Notes>12</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2</vt:i4>
      </vt:variant>
      <vt:variant>
        <vt:lpstr>幻灯片标题</vt:lpstr>
      </vt:variant>
      <vt:variant>
        <vt:i4>28</vt:i4>
      </vt:variant>
    </vt:vector>
  </HeadingPairs>
  <TitlesOfParts>
    <vt:vector size="43" baseType="lpstr">
      <vt:lpstr>Monotype Sorts</vt:lpstr>
      <vt:lpstr>仿宋_GB2312</vt:lpstr>
      <vt:lpstr>SimHei</vt:lpstr>
      <vt:lpstr>华文仿宋</vt:lpstr>
      <vt:lpstr>STXingkai</vt:lpstr>
      <vt:lpstr>华文中宋</vt:lpstr>
      <vt:lpstr>楷体_GB2312</vt:lpstr>
      <vt:lpstr>宋体</vt:lpstr>
      <vt:lpstr>Arial</vt:lpstr>
      <vt:lpstr>Symbol</vt:lpstr>
      <vt:lpstr>Times New Roman</vt:lpstr>
      <vt:lpstr>Wingdings</vt:lpstr>
      <vt:lpstr>默认设计模板</vt:lpstr>
      <vt:lpstr>公式</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xian jiaotong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下册-大学物理</dc:title>
  <dc:creator>yzhang</dc:creator>
  <cp:lastModifiedBy>yzhang</cp:lastModifiedBy>
  <cp:revision>1571</cp:revision>
  <cp:lastPrinted>2025-12-22T12:05:44Z</cp:lastPrinted>
  <dcterms:created xsi:type="dcterms:W3CDTF">1998-11-21T01:35:00Z</dcterms:created>
  <dcterms:modified xsi:type="dcterms:W3CDTF">2025-12-25T04:37:25Z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E360166CB073428B8BCB01AE86F8CFCF_12</vt:lpwstr>
  </property>
  <property fmtid="{D5CDD505-2E9C-101B-9397-08002B2CF9AE}" pid="3" name="KSOProductBuildVer">
    <vt:lpwstr>2052-12.1.0.15358</vt:lpwstr>
  </property>
</Properties>
</file>