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39" r:id="rId2"/>
    <p:sldId id="507" r:id="rId3"/>
    <p:sldId id="603" r:id="rId4"/>
    <p:sldId id="604" r:id="rId5"/>
    <p:sldId id="514" r:id="rId6"/>
    <p:sldId id="524" r:id="rId7"/>
    <p:sldId id="526" r:id="rId8"/>
    <p:sldId id="525" r:id="rId9"/>
    <p:sldId id="551" r:id="rId10"/>
    <p:sldId id="552" r:id="rId11"/>
    <p:sldId id="527" r:id="rId12"/>
    <p:sldId id="528" r:id="rId13"/>
    <p:sldId id="556" r:id="rId14"/>
    <p:sldId id="541" r:id="rId15"/>
    <p:sldId id="542" r:id="rId16"/>
    <p:sldId id="529" r:id="rId17"/>
    <p:sldId id="530" r:id="rId18"/>
  </p:sldIdLst>
  <p:sldSz cx="9144000" cy="6858000" type="screen4x3"/>
  <p:notesSz cx="6797675" cy="9928225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emf"/><Relationship Id="rId18" Type="http://schemas.openxmlformats.org/officeDocument/2006/relationships/image" Target="../media/image43.emf"/><Relationship Id="rId26" Type="http://schemas.openxmlformats.org/officeDocument/2006/relationships/image" Target="../media/image51.emf"/><Relationship Id="rId3" Type="http://schemas.openxmlformats.org/officeDocument/2006/relationships/image" Target="../media/image28.emf"/><Relationship Id="rId21" Type="http://schemas.openxmlformats.org/officeDocument/2006/relationships/image" Target="../media/image46.emf"/><Relationship Id="rId34" Type="http://schemas.openxmlformats.org/officeDocument/2006/relationships/image" Target="../media/image59.emf"/><Relationship Id="rId7" Type="http://schemas.openxmlformats.org/officeDocument/2006/relationships/image" Target="../media/image32.emf"/><Relationship Id="rId12" Type="http://schemas.openxmlformats.org/officeDocument/2006/relationships/image" Target="../media/image37.emf"/><Relationship Id="rId17" Type="http://schemas.openxmlformats.org/officeDocument/2006/relationships/image" Target="../media/image42.emf"/><Relationship Id="rId25" Type="http://schemas.openxmlformats.org/officeDocument/2006/relationships/image" Target="../media/image50.emf"/><Relationship Id="rId33" Type="http://schemas.openxmlformats.org/officeDocument/2006/relationships/image" Target="../media/image58.emf"/><Relationship Id="rId2" Type="http://schemas.openxmlformats.org/officeDocument/2006/relationships/image" Target="../media/image27.emf"/><Relationship Id="rId16" Type="http://schemas.openxmlformats.org/officeDocument/2006/relationships/image" Target="../media/image41.emf"/><Relationship Id="rId20" Type="http://schemas.openxmlformats.org/officeDocument/2006/relationships/image" Target="../media/image45.emf"/><Relationship Id="rId29" Type="http://schemas.openxmlformats.org/officeDocument/2006/relationships/image" Target="../media/image54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24" Type="http://schemas.openxmlformats.org/officeDocument/2006/relationships/image" Target="../media/image49.emf"/><Relationship Id="rId32" Type="http://schemas.openxmlformats.org/officeDocument/2006/relationships/image" Target="../media/image57.emf"/><Relationship Id="rId5" Type="http://schemas.openxmlformats.org/officeDocument/2006/relationships/image" Target="../media/image30.emf"/><Relationship Id="rId15" Type="http://schemas.openxmlformats.org/officeDocument/2006/relationships/image" Target="../media/image40.emf"/><Relationship Id="rId23" Type="http://schemas.openxmlformats.org/officeDocument/2006/relationships/image" Target="../media/image48.emf"/><Relationship Id="rId28" Type="http://schemas.openxmlformats.org/officeDocument/2006/relationships/image" Target="../media/image53.emf"/><Relationship Id="rId10" Type="http://schemas.openxmlformats.org/officeDocument/2006/relationships/image" Target="../media/image35.emf"/><Relationship Id="rId19" Type="http://schemas.openxmlformats.org/officeDocument/2006/relationships/image" Target="../media/image44.emf"/><Relationship Id="rId31" Type="http://schemas.openxmlformats.org/officeDocument/2006/relationships/image" Target="../media/image56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Relationship Id="rId14" Type="http://schemas.openxmlformats.org/officeDocument/2006/relationships/image" Target="../media/image39.emf"/><Relationship Id="rId22" Type="http://schemas.openxmlformats.org/officeDocument/2006/relationships/image" Target="../media/image47.emf"/><Relationship Id="rId27" Type="http://schemas.openxmlformats.org/officeDocument/2006/relationships/image" Target="../media/image52.emf"/><Relationship Id="rId30" Type="http://schemas.openxmlformats.org/officeDocument/2006/relationships/image" Target="../media/image55.emf"/><Relationship Id="rId8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image" Target="../media/image75.emf"/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12" Type="http://schemas.openxmlformats.org/officeDocument/2006/relationships/image" Target="../media/image74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11" Type="http://schemas.openxmlformats.org/officeDocument/2006/relationships/image" Target="../media/image73.emf"/><Relationship Id="rId5" Type="http://schemas.openxmlformats.org/officeDocument/2006/relationships/image" Target="../media/image67.emf"/><Relationship Id="rId10" Type="http://schemas.openxmlformats.org/officeDocument/2006/relationships/image" Target="../media/image72.emf"/><Relationship Id="rId4" Type="http://schemas.openxmlformats.org/officeDocument/2006/relationships/image" Target="../media/image66.emf"/><Relationship Id="rId9" Type="http://schemas.openxmlformats.org/officeDocument/2006/relationships/image" Target="../media/image7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7" Type="http://schemas.openxmlformats.org/officeDocument/2006/relationships/image" Target="../media/image82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6" Type="http://schemas.openxmlformats.org/officeDocument/2006/relationships/image" Target="../media/image81.emf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Relationship Id="rId6" Type="http://schemas.openxmlformats.org/officeDocument/2006/relationships/image" Target="../media/image88.emf"/><Relationship Id="rId5" Type="http://schemas.openxmlformats.org/officeDocument/2006/relationships/image" Target="../media/image87.emf"/><Relationship Id="rId4" Type="http://schemas.openxmlformats.org/officeDocument/2006/relationships/image" Target="../media/image8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3" Type="http://schemas.openxmlformats.org/officeDocument/2006/relationships/image" Target="../media/image97.emf"/><Relationship Id="rId7" Type="http://schemas.openxmlformats.org/officeDocument/2006/relationships/image" Target="../media/image101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10" Type="http://schemas.openxmlformats.org/officeDocument/2006/relationships/image" Target="../media/image104.emf"/><Relationship Id="rId4" Type="http://schemas.openxmlformats.org/officeDocument/2006/relationships/image" Target="../media/image98.emf"/><Relationship Id="rId9" Type="http://schemas.openxmlformats.org/officeDocument/2006/relationships/image" Target="../media/image103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7.emf"/><Relationship Id="rId7" Type="http://schemas.openxmlformats.org/officeDocument/2006/relationships/image" Target="../media/image111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Relationship Id="rId6" Type="http://schemas.openxmlformats.org/officeDocument/2006/relationships/image" Target="../media/image110.emf"/><Relationship Id="rId11" Type="http://schemas.openxmlformats.org/officeDocument/2006/relationships/image" Target="../media/image115.emf"/><Relationship Id="rId5" Type="http://schemas.openxmlformats.org/officeDocument/2006/relationships/image" Target="../media/image109.emf"/><Relationship Id="rId10" Type="http://schemas.openxmlformats.org/officeDocument/2006/relationships/image" Target="../media/image114.emf"/><Relationship Id="rId4" Type="http://schemas.openxmlformats.org/officeDocument/2006/relationships/image" Target="../media/image108.emf"/><Relationship Id="rId9" Type="http://schemas.openxmlformats.org/officeDocument/2006/relationships/image" Target="../media/image113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13" Type="http://schemas.openxmlformats.org/officeDocument/2006/relationships/image" Target="../media/image128.emf"/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12" Type="http://schemas.openxmlformats.org/officeDocument/2006/relationships/image" Target="../media/image127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1.emf"/><Relationship Id="rId11" Type="http://schemas.openxmlformats.org/officeDocument/2006/relationships/image" Target="../media/image126.emf"/><Relationship Id="rId5" Type="http://schemas.openxmlformats.org/officeDocument/2006/relationships/image" Target="../media/image120.emf"/><Relationship Id="rId10" Type="http://schemas.openxmlformats.org/officeDocument/2006/relationships/image" Target="../media/image125.emf"/><Relationship Id="rId4" Type="http://schemas.openxmlformats.org/officeDocument/2006/relationships/image" Target="../media/image119.emf"/><Relationship Id="rId9" Type="http://schemas.openxmlformats.org/officeDocument/2006/relationships/image" Target="../media/image124.emf"/><Relationship Id="rId14" Type="http://schemas.openxmlformats.org/officeDocument/2006/relationships/image" Target="../media/image129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image" Target="../media/image13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9F096E87-B94E-4412-BDFC-A7F4F6B8796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2FFE67-E715-4084-BF43-DD9F7DB78C0A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C6BA3C3-F8A8-4B69-8F70-B6B83DF0EB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FE227DA-8BF2-4759-BD10-FBC187F54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7D9E3CA-CF44-4F19-B8B8-345FBAF79B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2E93471-E969-4014-BB79-D3E94C56D807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B355701-956D-473F-BC60-7A3146C99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CD877EC-1548-4A44-9626-0E2F2C499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18772454-13D5-46BA-8EF0-E31730FED38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0BA054F-5B48-4423-8675-EE7C6FC260E2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C658C93-FD88-4242-9344-0D40B2EFF0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B047A05E-9A2D-43C5-8861-876A474C6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3.emf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6.png"/><Relationship Id="rId10" Type="http://schemas.openxmlformats.org/officeDocument/2006/relationships/image" Target="../media/image4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0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e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emf"/><Relationship Id="rId5" Type="http://schemas.openxmlformats.org/officeDocument/2006/relationships/image" Target="../media/image6.emf"/><Relationship Id="rId15" Type="http://schemas.openxmlformats.org/officeDocument/2006/relationships/image" Target="../media/image11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e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emf"/><Relationship Id="rId18" Type="http://schemas.openxmlformats.org/officeDocument/2006/relationships/oleObject" Target="../embeddings/oleObject1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1.e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5" Type="http://schemas.openxmlformats.org/officeDocument/2006/relationships/image" Target="../media/image18.e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0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5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.emf"/><Relationship Id="rId21" Type="http://schemas.openxmlformats.org/officeDocument/2006/relationships/oleObject" Target="../embeddings/oleObject34.bin"/><Relationship Id="rId42" Type="http://schemas.openxmlformats.org/officeDocument/2006/relationships/image" Target="../media/image45.emf"/><Relationship Id="rId47" Type="http://schemas.openxmlformats.org/officeDocument/2006/relationships/oleObject" Target="../embeddings/oleObject47.bin"/><Relationship Id="rId63" Type="http://schemas.openxmlformats.org/officeDocument/2006/relationships/oleObject" Target="../embeddings/oleObject55.bin"/><Relationship Id="rId68" Type="http://schemas.openxmlformats.org/officeDocument/2006/relationships/image" Target="../media/image58.emf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emf"/><Relationship Id="rId29" Type="http://schemas.openxmlformats.org/officeDocument/2006/relationships/oleObject" Target="../embeddings/oleObject38.bin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6.emf"/><Relationship Id="rId32" Type="http://schemas.openxmlformats.org/officeDocument/2006/relationships/image" Target="../media/image40.emf"/><Relationship Id="rId37" Type="http://schemas.openxmlformats.org/officeDocument/2006/relationships/oleObject" Target="../embeddings/oleObject42.bin"/><Relationship Id="rId40" Type="http://schemas.openxmlformats.org/officeDocument/2006/relationships/image" Target="../media/image44.emf"/><Relationship Id="rId45" Type="http://schemas.openxmlformats.org/officeDocument/2006/relationships/oleObject" Target="../embeddings/oleObject46.bin"/><Relationship Id="rId53" Type="http://schemas.openxmlformats.org/officeDocument/2006/relationships/oleObject" Target="../embeddings/oleObject50.bin"/><Relationship Id="rId58" Type="http://schemas.openxmlformats.org/officeDocument/2006/relationships/image" Target="../media/image53.emf"/><Relationship Id="rId66" Type="http://schemas.openxmlformats.org/officeDocument/2006/relationships/image" Target="../media/image57.emf"/><Relationship Id="rId5" Type="http://schemas.openxmlformats.org/officeDocument/2006/relationships/oleObject" Target="../embeddings/oleObject26.bin"/><Relationship Id="rId61" Type="http://schemas.openxmlformats.org/officeDocument/2006/relationships/oleObject" Target="../embeddings/oleObject54.bin"/><Relationship Id="rId19" Type="http://schemas.openxmlformats.org/officeDocument/2006/relationships/oleObject" Target="../embeddings/oleObject33.bin"/><Relationship Id="rId14" Type="http://schemas.openxmlformats.org/officeDocument/2006/relationships/image" Target="../media/image31.emf"/><Relationship Id="rId22" Type="http://schemas.openxmlformats.org/officeDocument/2006/relationships/image" Target="../media/image35.emf"/><Relationship Id="rId27" Type="http://schemas.openxmlformats.org/officeDocument/2006/relationships/oleObject" Target="../embeddings/oleObject37.bin"/><Relationship Id="rId30" Type="http://schemas.openxmlformats.org/officeDocument/2006/relationships/image" Target="../media/image39.emf"/><Relationship Id="rId35" Type="http://schemas.openxmlformats.org/officeDocument/2006/relationships/oleObject" Target="../embeddings/oleObject41.bin"/><Relationship Id="rId43" Type="http://schemas.openxmlformats.org/officeDocument/2006/relationships/oleObject" Target="../embeddings/oleObject45.bin"/><Relationship Id="rId48" Type="http://schemas.openxmlformats.org/officeDocument/2006/relationships/image" Target="../media/image48.emf"/><Relationship Id="rId56" Type="http://schemas.openxmlformats.org/officeDocument/2006/relationships/image" Target="../media/image52.emf"/><Relationship Id="rId64" Type="http://schemas.openxmlformats.org/officeDocument/2006/relationships/image" Target="../media/image56.emf"/><Relationship Id="rId69" Type="http://schemas.openxmlformats.org/officeDocument/2006/relationships/oleObject" Target="../embeddings/oleObject58.bin"/><Relationship Id="rId8" Type="http://schemas.openxmlformats.org/officeDocument/2006/relationships/image" Target="../media/image28.emf"/><Relationship Id="rId51" Type="http://schemas.openxmlformats.org/officeDocument/2006/relationships/oleObject" Target="../embeddings/oleObject49.bin"/><Relationship Id="rId3" Type="http://schemas.openxmlformats.org/officeDocument/2006/relationships/oleObject" Target="../embeddings/oleObject25.bin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33" Type="http://schemas.openxmlformats.org/officeDocument/2006/relationships/oleObject" Target="../embeddings/oleObject40.bin"/><Relationship Id="rId38" Type="http://schemas.openxmlformats.org/officeDocument/2006/relationships/image" Target="../media/image43.emf"/><Relationship Id="rId46" Type="http://schemas.openxmlformats.org/officeDocument/2006/relationships/image" Target="../media/image47.emf"/><Relationship Id="rId59" Type="http://schemas.openxmlformats.org/officeDocument/2006/relationships/oleObject" Target="../embeddings/oleObject53.bin"/><Relationship Id="rId67" Type="http://schemas.openxmlformats.org/officeDocument/2006/relationships/oleObject" Target="../embeddings/oleObject57.bin"/><Relationship Id="rId20" Type="http://schemas.openxmlformats.org/officeDocument/2006/relationships/image" Target="../media/image34.emf"/><Relationship Id="rId41" Type="http://schemas.openxmlformats.org/officeDocument/2006/relationships/oleObject" Target="../embeddings/oleObject44.bin"/><Relationship Id="rId54" Type="http://schemas.openxmlformats.org/officeDocument/2006/relationships/image" Target="../media/image51.emf"/><Relationship Id="rId62" Type="http://schemas.openxmlformats.org/officeDocument/2006/relationships/image" Target="../media/image55.emf"/><Relationship Id="rId70" Type="http://schemas.openxmlformats.org/officeDocument/2006/relationships/image" Target="../media/image59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emf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38.emf"/><Relationship Id="rId36" Type="http://schemas.openxmlformats.org/officeDocument/2006/relationships/image" Target="../media/image42.emf"/><Relationship Id="rId49" Type="http://schemas.openxmlformats.org/officeDocument/2006/relationships/oleObject" Target="../embeddings/oleObject48.bin"/><Relationship Id="rId57" Type="http://schemas.openxmlformats.org/officeDocument/2006/relationships/oleObject" Target="../embeddings/oleObject52.bin"/><Relationship Id="rId10" Type="http://schemas.openxmlformats.org/officeDocument/2006/relationships/image" Target="../media/image29.emf"/><Relationship Id="rId31" Type="http://schemas.openxmlformats.org/officeDocument/2006/relationships/oleObject" Target="../embeddings/oleObject39.bin"/><Relationship Id="rId44" Type="http://schemas.openxmlformats.org/officeDocument/2006/relationships/image" Target="../media/image46.emf"/><Relationship Id="rId52" Type="http://schemas.openxmlformats.org/officeDocument/2006/relationships/image" Target="../media/image50.emf"/><Relationship Id="rId60" Type="http://schemas.openxmlformats.org/officeDocument/2006/relationships/image" Target="../media/image54.emf"/><Relationship Id="rId65" Type="http://schemas.openxmlformats.org/officeDocument/2006/relationships/oleObject" Target="../embeddings/oleObject56.bin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8.bin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3.emf"/><Relationship Id="rId39" Type="http://schemas.openxmlformats.org/officeDocument/2006/relationships/oleObject" Target="../embeddings/oleObject43.bin"/><Relationship Id="rId34" Type="http://schemas.openxmlformats.org/officeDocument/2006/relationships/image" Target="../media/image41.emf"/><Relationship Id="rId50" Type="http://schemas.openxmlformats.org/officeDocument/2006/relationships/image" Target="../media/image49.emf"/><Relationship Id="rId55" Type="http://schemas.openxmlformats.org/officeDocument/2006/relationships/oleObject" Target="../embeddings/oleObject5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70.emf"/><Relationship Id="rId26" Type="http://schemas.openxmlformats.org/officeDocument/2006/relationships/image" Target="../media/image74.e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7.e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emf"/><Relationship Id="rId20" Type="http://schemas.openxmlformats.org/officeDocument/2006/relationships/image" Target="../media/image71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73.e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75.emf"/><Relationship Id="rId10" Type="http://schemas.openxmlformats.org/officeDocument/2006/relationships/image" Target="../media/image66.emf"/><Relationship Id="rId19" Type="http://schemas.openxmlformats.org/officeDocument/2006/relationships/oleObject" Target="../embeddings/oleObject70.bin"/><Relationship Id="rId4" Type="http://schemas.openxmlformats.org/officeDocument/2006/relationships/image" Target="../media/image63.e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8.emf"/><Relationship Id="rId22" Type="http://schemas.openxmlformats.org/officeDocument/2006/relationships/image" Target="../media/image72.emf"/><Relationship Id="rId27" Type="http://schemas.openxmlformats.org/officeDocument/2006/relationships/oleObject" Target="../embeddings/oleObject7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7.e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10" Type="http://schemas.openxmlformats.org/officeDocument/2006/relationships/image" Target="../media/image79.emf"/><Relationship Id="rId4" Type="http://schemas.openxmlformats.org/officeDocument/2006/relationships/image" Target="../media/image76.e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6.e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92.e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99.emf"/><Relationship Id="rId18" Type="http://schemas.openxmlformats.org/officeDocument/2006/relationships/oleObject" Target="../embeddings/oleObject101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03.emf"/><Relationship Id="rId7" Type="http://schemas.openxmlformats.org/officeDocument/2006/relationships/image" Target="../media/image96.e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0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8.emf"/><Relationship Id="rId5" Type="http://schemas.openxmlformats.org/officeDocument/2006/relationships/image" Target="../media/image95.emf"/><Relationship Id="rId15" Type="http://schemas.openxmlformats.org/officeDocument/2006/relationships/image" Target="../media/image100.emf"/><Relationship Id="rId23" Type="http://schemas.openxmlformats.org/officeDocument/2006/relationships/image" Target="../media/image104.emf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02.e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7.e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112.emf"/><Relationship Id="rId3" Type="http://schemas.openxmlformats.org/officeDocument/2006/relationships/oleObject" Target="../embeddings/oleObject104.bin"/><Relationship Id="rId21" Type="http://schemas.openxmlformats.org/officeDocument/2006/relationships/image" Target="../media/image113.emf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9.emf"/><Relationship Id="rId17" Type="http://schemas.openxmlformats.org/officeDocument/2006/relationships/oleObject" Target="../embeddings/oleObject111.bin"/><Relationship Id="rId25" Type="http://schemas.openxmlformats.org/officeDocument/2006/relationships/image" Target="../media/image11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emf"/><Relationship Id="rId20" Type="http://schemas.openxmlformats.org/officeDocument/2006/relationships/oleObject" Target="../embeddings/oleObject112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6.emf"/><Relationship Id="rId11" Type="http://schemas.openxmlformats.org/officeDocument/2006/relationships/oleObject" Target="../embeddings/oleObject108.bin"/><Relationship Id="rId24" Type="http://schemas.openxmlformats.org/officeDocument/2006/relationships/oleObject" Target="../embeddings/oleObject114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image" Target="../media/image114.emf"/><Relationship Id="rId10" Type="http://schemas.openxmlformats.org/officeDocument/2006/relationships/image" Target="../media/image108.emf"/><Relationship Id="rId19" Type="http://schemas.openxmlformats.org/officeDocument/2006/relationships/image" Target="../media/image94.png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10.emf"/><Relationship Id="rId22" Type="http://schemas.openxmlformats.org/officeDocument/2006/relationships/oleObject" Target="../embeddings/oleObject11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23.emf"/><Relationship Id="rId26" Type="http://schemas.openxmlformats.org/officeDocument/2006/relationships/oleObject" Target="../embeddings/oleObject126.bin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22.bin"/><Relationship Id="rId25" Type="http://schemas.openxmlformats.org/officeDocument/2006/relationships/image" Target="../media/image130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29" Type="http://schemas.openxmlformats.org/officeDocument/2006/relationships/image" Target="../media/image128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26.e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28" Type="http://schemas.openxmlformats.org/officeDocument/2006/relationships/oleObject" Target="../embeddings/oleObject127.bin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23.bin"/><Relationship Id="rId31" Type="http://schemas.openxmlformats.org/officeDocument/2006/relationships/image" Target="../media/image129.emf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21.emf"/><Relationship Id="rId22" Type="http://schemas.openxmlformats.org/officeDocument/2006/relationships/image" Target="../media/image125.emf"/><Relationship Id="rId27" Type="http://schemas.openxmlformats.org/officeDocument/2006/relationships/image" Target="../media/image127.emf"/><Relationship Id="rId30" Type="http://schemas.openxmlformats.org/officeDocument/2006/relationships/oleObject" Target="../embeddings/oleObject12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Nov. 13,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8090C745-C328-43A4-B5E1-3D5432ECA4A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E055F9-309F-4D3A-9EA2-FDAA55FC4071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7B209576-927F-4E44-8917-EB5EF90E3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93716"/>
            <a:ext cx="1722437" cy="4619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285750" indent="-28575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楷体_GB2312" pitchFamily="49" charset="-122"/>
              </a:rPr>
              <a:t>回顾：</a:t>
            </a:r>
            <a:endParaRPr lang="zh-CN" altLang="en-US" dirty="0">
              <a:solidFill>
                <a:srgbClr val="FFFF00"/>
              </a:solidFill>
              <a:latin typeface="Arial" charset="0"/>
              <a:ea typeface="楷体_GB2312" pitchFamily="49" charset="-122"/>
            </a:endParaRPr>
          </a:p>
        </p:txBody>
      </p:sp>
      <p:graphicFrame>
        <p:nvGraphicFramePr>
          <p:cNvPr id="50" name="Object 3">
            <a:extLst>
              <a:ext uri="{FF2B5EF4-FFF2-40B4-BE49-F238E27FC236}">
                <a16:creationId xmlns:a16="http://schemas.microsoft.com/office/drawing/2014/main" id="{20316BED-5F83-4BF9-943E-663D944D5AE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30429" y="1778675"/>
          <a:ext cx="1609725" cy="675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62" name="公式" r:id="rId3" imgW="1695463" imgH="704782" progId="Equation.3">
                  <p:embed/>
                </p:oleObj>
              </mc:Choice>
              <mc:Fallback>
                <p:oleObj name="公式" r:id="rId3" imgW="1695463" imgH="704782" progId="Equation.3">
                  <p:embed/>
                  <p:pic>
                    <p:nvPicPr>
                      <p:cNvPr id="50" name="Object 3">
                        <a:extLst>
                          <a:ext uri="{FF2B5EF4-FFF2-40B4-BE49-F238E27FC236}">
                            <a16:creationId xmlns:a16="http://schemas.microsoft.com/office/drawing/2014/main" id="{20316BED-5F83-4BF9-943E-663D944D5A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429" y="1778675"/>
                        <a:ext cx="1609725" cy="675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33">
            <a:extLst>
              <a:ext uri="{FF2B5EF4-FFF2-40B4-BE49-F238E27FC236}">
                <a16:creationId xmlns:a16="http://schemas.microsoft.com/office/drawing/2014/main" id="{D5454FF0-A8CF-4499-9ECB-08DFC81EA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548680"/>
            <a:ext cx="6840760" cy="50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准静态过程中功、热量以及内能增量的计算  </a:t>
            </a:r>
            <a:endParaRPr kumimoji="0" lang="zh-CN" altLang="en-US" baseline="-25000" dirty="0">
              <a:solidFill>
                <a:schemeClr val="bg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2">
                <a:extLst>
                  <a:ext uri="{FF2B5EF4-FFF2-40B4-BE49-F238E27FC236}">
                    <a16:creationId xmlns:a16="http://schemas.microsoft.com/office/drawing/2014/main" id="{0E07BF28-AFC4-478C-8496-A114360E33E5}"/>
                  </a:ext>
                </a:extLst>
              </p:cNvPr>
              <p:cNvSpPr txBox="1"/>
              <p:nvPr/>
            </p:nvSpPr>
            <p:spPr bwMode="auto">
              <a:xfrm>
                <a:off x="1331642" y="1851303"/>
                <a:ext cx="2635198" cy="5302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2" name="Object 2">
                <a:extLst>
                  <a:ext uri="{FF2B5EF4-FFF2-40B4-BE49-F238E27FC236}">
                    <a16:creationId xmlns:a16="http://schemas.microsoft.com/office/drawing/2014/main" id="{0E07BF28-AFC4-478C-8496-A114360E3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2" y="1851303"/>
                <a:ext cx="2635198" cy="530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箭头: 右 2">
            <a:extLst>
              <a:ext uri="{FF2B5EF4-FFF2-40B4-BE49-F238E27FC236}">
                <a16:creationId xmlns:a16="http://schemas.microsoft.com/office/drawing/2014/main" id="{E96AEEB1-128D-4D09-9684-91C853CA3699}"/>
              </a:ext>
            </a:extLst>
          </p:cNvPr>
          <p:cNvSpPr/>
          <p:nvPr/>
        </p:nvSpPr>
        <p:spPr bwMode="auto">
          <a:xfrm>
            <a:off x="3347865" y="1960842"/>
            <a:ext cx="785812" cy="285750"/>
          </a:xfrm>
          <a:prstGeom prst="rightArrow">
            <a:avLst>
              <a:gd name="adj1" fmla="val 50000"/>
              <a:gd name="adj2" fmla="val 8299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" name="Object 10">
            <a:extLst>
              <a:ext uri="{FF2B5EF4-FFF2-40B4-BE49-F238E27FC236}">
                <a16:creationId xmlns:a16="http://schemas.microsoft.com/office/drawing/2014/main" id="{DEAC3352-4C8F-413E-BE33-473D596D989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31641" y="3166030"/>
          <a:ext cx="19256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63" name="公式" r:id="rId6" imgW="838251" imgH="361882" progId="Equation.3">
                  <p:embed/>
                </p:oleObj>
              </mc:Choice>
              <mc:Fallback>
                <p:oleObj name="公式" r:id="rId6" imgW="838251" imgH="361882" progId="Equation.3">
                  <p:embed/>
                  <p:pic>
                    <p:nvPicPr>
                      <p:cNvPr id="21" name="Object 10">
                        <a:extLst>
                          <a:ext uri="{FF2B5EF4-FFF2-40B4-BE49-F238E27FC236}">
                            <a16:creationId xmlns:a16="http://schemas.microsoft.com/office/drawing/2014/main" id="{DEAC3352-4C8F-413E-BE33-473D596D9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1" y="3166030"/>
                        <a:ext cx="19256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">
                <a:extLst>
                  <a:ext uri="{FF2B5EF4-FFF2-40B4-BE49-F238E27FC236}">
                    <a16:creationId xmlns:a16="http://schemas.microsoft.com/office/drawing/2014/main" id="{767BC89F-3BCD-492C-A487-153B763D9FB9}"/>
                  </a:ext>
                </a:extLst>
              </p:cNvPr>
              <p:cNvSpPr txBox="1"/>
              <p:nvPr/>
            </p:nvSpPr>
            <p:spPr bwMode="auto">
              <a:xfrm>
                <a:off x="4211961" y="3200276"/>
                <a:ext cx="4327847" cy="755911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sz="26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6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nary>
                      <m:naryPr>
                        <m:ctrlP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</m:m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</m:mr>
                        </m:m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altLang="en-US" sz="2600" i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nary>
                  </m:oMath>
                </a14:m>
                <a:r>
                  <a:rPr lang="en-US" altLang="zh-CN" sz="2600" dirty="0">
                    <a:solidFill>
                      <a:srgbClr val="FFC000"/>
                    </a:solidFill>
                    <a:latin typeface="+mn-lt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600" b="1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sSub>
                      <m:sSubPr>
                        <m:ctrlP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l-GR" altLang="zh-CN" sz="2600" dirty="0">
                    <a:solidFill>
                      <a:srgbClr val="FFC000"/>
                    </a:solidFill>
                    <a:latin typeface="+mn-lt"/>
                    <a:ea typeface="等线" panose="02010600030101010101" pitchFamily="2" charset="-122"/>
                  </a:rPr>
                  <a:t>Δ</a:t>
                </a:r>
                <a:r>
                  <a:rPr lang="en-US" altLang="zh-CN" sz="2600" i="1" dirty="0">
                    <a:solidFill>
                      <a:srgbClr val="FFC000"/>
                    </a:solidFill>
                    <a:latin typeface="+mn-lt"/>
                    <a:ea typeface="等线" panose="02010600030101010101" pitchFamily="2" charset="-122"/>
                  </a:rPr>
                  <a:t>T</a:t>
                </a:r>
                <a:endParaRPr lang="zh-CN" altLang="en-US" sz="2600" i="1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2" name="Object 5">
                <a:extLst>
                  <a:ext uri="{FF2B5EF4-FFF2-40B4-BE49-F238E27FC236}">
                    <a16:creationId xmlns:a16="http://schemas.microsoft.com/office/drawing/2014/main" id="{767BC89F-3BCD-492C-A487-153B763D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1961" y="3200276"/>
                <a:ext cx="4327847" cy="7559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右箭头 14">
            <a:extLst>
              <a:ext uri="{FF2B5EF4-FFF2-40B4-BE49-F238E27FC236}">
                <a16:creationId xmlns:a16="http://schemas.microsoft.com/office/drawing/2014/main" id="{F58F0C15-172C-4E9B-85F6-134C387CB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5" y="3429000"/>
            <a:ext cx="785812" cy="285750"/>
          </a:xfrm>
          <a:prstGeom prst="rightArrow">
            <a:avLst>
              <a:gd name="adj1" fmla="val 50000"/>
              <a:gd name="adj2" fmla="val 7742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4C95EC99-581C-45AE-909E-C37B59D7C0C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30429" y="5331544"/>
          <a:ext cx="26273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64" name="公式" r:id="rId9" imgW="1219302" imgH="533332" progId="Equation.3">
                  <p:embed/>
                </p:oleObj>
              </mc:Choice>
              <mc:Fallback>
                <p:oleObj name="公式" r:id="rId9" imgW="1219302" imgH="533332" progId="Equation.3">
                  <p:embed/>
                  <p:pic>
                    <p:nvPicPr>
                      <p:cNvPr id="24" name="Object 6">
                        <a:extLst>
                          <a:ext uri="{FF2B5EF4-FFF2-40B4-BE49-F238E27FC236}">
                            <a16:creationId xmlns:a16="http://schemas.microsoft.com/office/drawing/2014/main" id="{4C95EC99-581C-45AE-909E-C37B59D7C0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429" y="5331544"/>
                        <a:ext cx="2627312" cy="11938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右箭头 14">
            <a:extLst>
              <a:ext uri="{FF2B5EF4-FFF2-40B4-BE49-F238E27FC236}">
                <a16:creationId xmlns:a16="http://schemas.microsoft.com/office/drawing/2014/main" id="{AB0301F4-BBB4-40B0-9112-E99EFE66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18" y="5525953"/>
            <a:ext cx="785811" cy="285750"/>
          </a:xfrm>
          <a:prstGeom prst="rightArrow">
            <a:avLst>
              <a:gd name="adj1" fmla="val 50000"/>
              <a:gd name="adj2" fmla="val 8352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" name="Object 27">
            <a:extLst>
              <a:ext uri="{FF2B5EF4-FFF2-40B4-BE49-F238E27FC236}">
                <a16:creationId xmlns:a16="http://schemas.microsoft.com/office/drawing/2014/main" id="{18D4F48B-75E0-4A1F-9B03-BCC28711E3C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41117" y="5256810"/>
          <a:ext cx="14414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65" name="公式" r:id="rId11" imgW="666686" imgH="342900" progId="Equation.3">
                  <p:embed/>
                </p:oleObj>
              </mc:Choice>
              <mc:Fallback>
                <p:oleObj name="公式" r:id="rId11" imgW="666686" imgH="342900" progId="Equation.3">
                  <p:embed/>
                  <p:pic>
                    <p:nvPicPr>
                      <p:cNvPr id="26" name="Object 27">
                        <a:extLst>
                          <a:ext uri="{FF2B5EF4-FFF2-40B4-BE49-F238E27FC236}">
                            <a16:creationId xmlns:a16="http://schemas.microsoft.com/office/drawing/2014/main" id="{18D4F48B-75E0-4A1F-9B03-BCC28711E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117" y="5256810"/>
                        <a:ext cx="144145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3">
            <a:extLst>
              <a:ext uri="{FF2B5EF4-FFF2-40B4-BE49-F238E27FC236}">
                <a16:creationId xmlns:a16="http://schemas.microsoft.com/office/drawing/2014/main" id="{F1EED456-8C75-4BAF-8A2B-66746CF4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4" y="1202611"/>
            <a:ext cx="2232248" cy="50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功的计算  </a:t>
            </a:r>
            <a:endParaRPr kumimoji="0" lang="zh-CN" altLang="en-US" baseline="-25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Text Box 33">
            <a:extLst>
              <a:ext uri="{FF2B5EF4-FFF2-40B4-BE49-F238E27FC236}">
                <a16:creationId xmlns:a16="http://schemas.microsoft.com/office/drawing/2014/main" id="{BF92539B-D3D9-4C51-956D-7B24AD516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2593814"/>
            <a:ext cx="2532649" cy="50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热量的计算  </a:t>
            </a:r>
            <a:endParaRPr kumimoji="0" lang="zh-CN" altLang="en-US" baseline="-25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 Box 33">
            <a:extLst>
              <a:ext uri="{FF2B5EF4-FFF2-40B4-BE49-F238E27FC236}">
                <a16:creationId xmlns:a16="http://schemas.microsoft.com/office/drawing/2014/main" id="{A35A6A8D-5C7F-4D42-AE93-9C6C19CDB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114380"/>
            <a:ext cx="7408116" cy="96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内能改变量的计算</a:t>
            </a:r>
            <a:r>
              <a:rPr kumimoji="0" lang="zh-CN" altLang="en-US" dirty="0">
                <a:solidFill>
                  <a:srgbClr val="FF0000"/>
                </a:solidFill>
                <a:latin typeface="+mn-lt"/>
              </a:rPr>
              <a:t>（与相同</a:t>
            </a:r>
            <a:r>
              <a:rPr kumimoji="0" lang="zh-CN" altLang="en-US" dirty="0">
                <a:solidFill>
                  <a:srgbClr val="FF0000"/>
                </a:solidFill>
              </a:rPr>
              <a:t>温度变化</a:t>
            </a:r>
            <a:r>
              <a:rPr kumimoji="0" lang="en-US" altLang="zh-CN" dirty="0">
                <a:solidFill>
                  <a:srgbClr val="FF0000"/>
                </a:solidFill>
              </a:rPr>
              <a:t>T</a:t>
            </a:r>
            <a:r>
              <a:rPr kumimoji="0" lang="en-US" altLang="zh-CN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dirty="0">
                <a:solidFill>
                  <a:srgbClr val="FF0000"/>
                </a:solidFill>
              </a:rPr>
              <a:t>-T</a:t>
            </a:r>
            <a:r>
              <a:rPr kumimoji="0" lang="en-US" altLang="zh-CN" baseline="-25000" dirty="0">
                <a:solidFill>
                  <a:srgbClr val="FF0000"/>
                </a:solidFill>
              </a:rPr>
              <a:t>2</a:t>
            </a:r>
            <a:r>
              <a:rPr kumimoji="0" lang="zh-CN" altLang="en-US" dirty="0">
                <a:solidFill>
                  <a:srgbClr val="FF0000"/>
                </a:solidFill>
                <a:latin typeface="+mn-lt"/>
              </a:rPr>
              <a:t>的等体过程中的吸热是相同的）  </a:t>
            </a:r>
            <a:endParaRPr kumimoji="0" lang="zh-CN" altLang="en-US" baseline="-250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51" grpId="0"/>
      <p:bldP spid="62" grpId="0"/>
      <p:bldP spid="3" grpId="0" animBg="1"/>
      <p:bldP spid="22" grpId="0"/>
      <p:bldP spid="23" grpId="0" animBg="1"/>
      <p:bldP spid="25" grpId="0" animBg="1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extLst>
              <a:ext uri="{FF2B5EF4-FFF2-40B4-BE49-F238E27FC236}">
                <a16:creationId xmlns:a16="http://schemas.microsoft.com/office/drawing/2014/main" id="{E9180A81-83E2-4BBE-8C7C-FD0E94A59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663" y="285750"/>
            <a:ext cx="393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11.7   </a:t>
            </a:r>
            <a:r>
              <a:rPr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绝热过程</a:t>
            </a:r>
            <a:endParaRPr lang="zh-CN" altLang="en-US" sz="2800">
              <a:solidFill>
                <a:srgbClr val="FFCC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2CA01BD-CBCA-4DA3-872E-427497905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928688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绝热过程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23141D9C-5996-4587-9775-D00AC8D00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500188"/>
            <a:ext cx="806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系统在绝热过程中始终不与外界交换热量</a:t>
            </a:r>
            <a:r>
              <a:rPr lang="zh-CN" altLang="en-US">
                <a:solidFill>
                  <a:schemeClr val="bg1"/>
                </a:solidFill>
              </a:rPr>
              <a:t>（理想过程）</a:t>
            </a: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0B3F9E4F-D84F-442F-8E7D-D87C705C9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2098675"/>
            <a:ext cx="6656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良好绝热材料包围的系统发生的过程</a:t>
            </a:r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B18FD42C-15D5-4BD3-B54A-2A46D040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2655888"/>
            <a:ext cx="763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进行得较快，系统来不及和外界交换热量的过程</a:t>
            </a:r>
          </a:p>
        </p:txBody>
      </p:sp>
      <p:sp>
        <p:nvSpPr>
          <p:cNvPr id="64519" name="Text Box 7">
            <a:extLst>
              <a:ext uri="{FF2B5EF4-FFF2-40B4-BE49-F238E27FC236}">
                <a16:creationId xmlns:a16="http://schemas.microsoft.com/office/drawing/2014/main" id="{4C29F812-DCFA-43C8-B129-849238364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257550"/>
            <a:ext cx="4711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00FFFF"/>
                </a:solidFill>
              </a:rPr>
              <a:t>准静态绝热过程方程</a:t>
            </a:r>
            <a:endParaRPr lang="zh-CN" altLang="en-US" b="0">
              <a:solidFill>
                <a:srgbClr val="66FFFF"/>
              </a:solidFill>
            </a:endParaRPr>
          </a:p>
        </p:txBody>
      </p:sp>
      <p:sp>
        <p:nvSpPr>
          <p:cNvPr id="64520" name="Text Box 8">
            <a:extLst>
              <a:ext uri="{FF2B5EF4-FFF2-40B4-BE49-F238E27FC236}">
                <a16:creationId xmlns:a16="http://schemas.microsoft.com/office/drawing/2014/main" id="{DAA9E384-71C4-4C61-BD05-1107B6AFA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3829050"/>
            <a:ext cx="5256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对无限小的准静态绝热过程，有</a:t>
            </a:r>
          </a:p>
        </p:txBody>
      </p:sp>
      <p:sp>
        <p:nvSpPr>
          <p:cNvPr id="64521" name="Rectangle 9">
            <a:extLst>
              <a:ext uri="{FF2B5EF4-FFF2-40B4-BE49-F238E27FC236}">
                <a16:creationId xmlns:a16="http://schemas.microsoft.com/office/drawing/2014/main" id="{4E0226FD-BFF8-42BF-9C46-71F8CA394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1857375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64522" name="Rectangle 10">
            <a:extLst>
              <a:ext uri="{FF2B5EF4-FFF2-40B4-BE49-F238E27FC236}">
                <a16:creationId xmlns:a16="http://schemas.microsoft.com/office/drawing/2014/main" id="{C422FF9D-B394-4322-AD04-BF1BAF76F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2389188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  <a:cs typeface="Times New Roman" panose="02020603050405020304" pitchFamily="18" charset="0"/>
              </a:rPr>
              <a:t>·</a:t>
            </a:r>
          </a:p>
        </p:txBody>
      </p:sp>
      <p:graphicFrame>
        <p:nvGraphicFramePr>
          <p:cNvPr id="64523" name="Object 2">
            <a:extLst>
              <a:ext uri="{FF2B5EF4-FFF2-40B4-BE49-F238E27FC236}">
                <a16:creationId xmlns:a16="http://schemas.microsoft.com/office/drawing/2014/main" id="{72FB29F4-FC15-4339-BEFD-18E6A48CD9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511675"/>
          <a:ext cx="16859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1" name="公式" r:id="rId4" imgW="1676502" imgH="285648" progId="Equation.3">
                  <p:embed/>
                </p:oleObj>
              </mc:Choice>
              <mc:Fallback>
                <p:oleObj name="公式" r:id="rId4" imgW="1676502" imgH="285648" progId="Equation.3">
                  <p:embed/>
                  <p:pic>
                    <p:nvPicPr>
                      <p:cNvPr id="64523" name="Object 2">
                        <a:extLst>
                          <a:ext uri="{FF2B5EF4-FFF2-40B4-BE49-F238E27FC236}">
                            <a16:creationId xmlns:a16="http://schemas.microsoft.com/office/drawing/2014/main" id="{72FB29F4-FC15-4339-BEFD-18E6A48CD9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511675"/>
                        <a:ext cx="16859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4" name="Object 3">
            <a:extLst>
              <a:ext uri="{FF2B5EF4-FFF2-40B4-BE49-F238E27FC236}">
                <a16:creationId xmlns:a16="http://schemas.microsoft.com/office/drawing/2014/main" id="{16710B51-D3E7-40CD-A387-D4CCF884D0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4443413"/>
          <a:ext cx="23574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2" name="公式" r:id="rId6" imgW="2304961" imgH="400152" progId="Equation.3">
                  <p:embed/>
                </p:oleObj>
              </mc:Choice>
              <mc:Fallback>
                <p:oleObj name="公式" r:id="rId6" imgW="2304961" imgH="400152" progId="Equation.3">
                  <p:embed/>
                  <p:pic>
                    <p:nvPicPr>
                      <p:cNvPr id="64524" name="Object 3">
                        <a:extLst>
                          <a:ext uri="{FF2B5EF4-FFF2-40B4-BE49-F238E27FC236}">
                            <a16:creationId xmlns:a16="http://schemas.microsoft.com/office/drawing/2014/main" id="{16710B51-D3E7-40CD-A387-D4CCF884D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4443413"/>
                        <a:ext cx="23574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4">
            <a:extLst>
              <a:ext uri="{FF2B5EF4-FFF2-40B4-BE49-F238E27FC236}">
                <a16:creationId xmlns:a16="http://schemas.microsoft.com/office/drawing/2014/main" id="{49A3191E-2893-4DA5-839E-3A9DB14AE9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5259388"/>
          <a:ext cx="2886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3" name="公式" r:id="rId8" imgW="2828829" imgH="361882" progId="Equation.3">
                  <p:embed/>
                </p:oleObj>
              </mc:Choice>
              <mc:Fallback>
                <p:oleObj name="公式" r:id="rId8" imgW="2828829" imgH="361882" progId="Equation.3">
                  <p:embed/>
                  <p:pic>
                    <p:nvPicPr>
                      <p:cNvPr id="64525" name="Object 4">
                        <a:extLst>
                          <a:ext uri="{FF2B5EF4-FFF2-40B4-BE49-F238E27FC236}">
                            <a16:creationId xmlns:a16="http://schemas.microsoft.com/office/drawing/2014/main" id="{49A3191E-2893-4DA5-839E-3A9DB14AE9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5259388"/>
                        <a:ext cx="28860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6" name="Object 5">
            <a:extLst>
              <a:ext uri="{FF2B5EF4-FFF2-40B4-BE49-F238E27FC236}">
                <a16:creationId xmlns:a16="http://schemas.microsoft.com/office/drawing/2014/main" id="{A908B444-1447-4405-86DF-CEAB49A44B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5316538"/>
          <a:ext cx="16367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4" name="公式" r:id="rId10" imgW="1600353" imgH="352391" progId="Equation.3">
                  <p:embed/>
                </p:oleObj>
              </mc:Choice>
              <mc:Fallback>
                <p:oleObj name="公式" r:id="rId10" imgW="1600353" imgH="352391" progId="Equation.3">
                  <p:embed/>
                  <p:pic>
                    <p:nvPicPr>
                      <p:cNvPr id="64526" name="Object 5">
                        <a:extLst>
                          <a:ext uri="{FF2B5EF4-FFF2-40B4-BE49-F238E27FC236}">
                            <a16:creationId xmlns:a16="http://schemas.microsoft.com/office/drawing/2014/main" id="{A908B444-1447-4405-86DF-CEAB49A44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316538"/>
                        <a:ext cx="16367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7" name="Line 15">
            <a:extLst>
              <a:ext uri="{FF2B5EF4-FFF2-40B4-BE49-F238E27FC236}">
                <a16:creationId xmlns:a16="http://schemas.microsoft.com/office/drawing/2014/main" id="{22180076-6FDE-4586-8DF2-8E819BB5D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1063" y="4654550"/>
            <a:ext cx="533400" cy="0"/>
          </a:xfrm>
          <a:prstGeom prst="line">
            <a:avLst/>
          </a:prstGeom>
          <a:noFill/>
          <a:ln w="7620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8" name="Line 16">
            <a:extLst>
              <a:ext uri="{FF2B5EF4-FFF2-40B4-BE49-F238E27FC236}">
                <a16:creationId xmlns:a16="http://schemas.microsoft.com/office/drawing/2014/main" id="{B75C2B10-8A59-4F83-85DB-40A2C391DD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94075" y="5475288"/>
            <a:ext cx="530225" cy="0"/>
          </a:xfrm>
          <a:prstGeom prst="line">
            <a:avLst/>
          </a:prstGeom>
          <a:noFill/>
          <a:ln w="76200">
            <a:solidFill>
              <a:srgbClr val="FFCC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9" name="Object 6">
            <a:extLst>
              <a:ext uri="{FF2B5EF4-FFF2-40B4-BE49-F238E27FC236}">
                <a16:creationId xmlns:a16="http://schemas.microsoft.com/office/drawing/2014/main" id="{45EB6B3B-D3F1-4967-AEDF-C16F5AD87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625" y="5994400"/>
          <a:ext cx="37830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5" name="公式" r:id="rId12" imgW="3714788" imgH="400152" progId="Equation.3">
                  <p:embed/>
                </p:oleObj>
              </mc:Choice>
              <mc:Fallback>
                <p:oleObj name="公式" r:id="rId12" imgW="3714788" imgH="400152" progId="Equation.3">
                  <p:embed/>
                  <p:pic>
                    <p:nvPicPr>
                      <p:cNvPr id="64529" name="Object 6">
                        <a:extLst>
                          <a:ext uri="{FF2B5EF4-FFF2-40B4-BE49-F238E27FC236}">
                            <a16:creationId xmlns:a16="http://schemas.microsoft.com/office/drawing/2014/main" id="{45EB6B3B-D3F1-4967-AEDF-C16F5AD876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5994400"/>
                        <a:ext cx="378301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0" name="AutoShape 18">
            <a:extLst>
              <a:ext uri="{FF2B5EF4-FFF2-40B4-BE49-F238E27FC236}">
                <a16:creationId xmlns:a16="http://schemas.microsoft.com/office/drawing/2014/main" id="{4C4E4E76-D1C6-454D-BCE9-EACEC3A41D9D}"/>
              </a:ext>
            </a:extLst>
          </p:cNvPr>
          <p:cNvSpPr>
            <a:spLocks/>
          </p:cNvSpPr>
          <p:nvPr/>
        </p:nvSpPr>
        <p:spPr bwMode="auto">
          <a:xfrm>
            <a:off x="7097713" y="4510088"/>
            <a:ext cx="331787" cy="955675"/>
          </a:xfrm>
          <a:prstGeom prst="rightBrace">
            <a:avLst>
              <a:gd name="adj1" fmla="val 4345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31" name="AutoShape 19">
            <a:extLst>
              <a:ext uri="{FF2B5EF4-FFF2-40B4-BE49-F238E27FC236}">
                <a16:creationId xmlns:a16="http://schemas.microsoft.com/office/drawing/2014/main" id="{B4FF572D-DADF-4B46-8957-1D2C60EE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638" y="4878388"/>
            <a:ext cx="733425" cy="1550987"/>
          </a:xfrm>
          <a:prstGeom prst="curvedLeftArrow">
            <a:avLst>
              <a:gd name="adj1" fmla="val 22205"/>
              <a:gd name="adj2" fmla="val 59310"/>
              <a:gd name="adj3" fmla="val 33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消去</a:t>
            </a:r>
            <a:r>
              <a:rPr lang="en-US" altLang="zh-CN" i="1">
                <a:solidFill>
                  <a:srgbClr val="FFFF00"/>
                </a:solidFill>
              </a:rPr>
              <a:t>dT</a:t>
            </a:r>
            <a:endParaRPr lang="zh-CN" altLang="en-US" i="1">
              <a:solidFill>
                <a:srgbClr val="FFFF00"/>
              </a:solidFill>
            </a:endParaRPr>
          </a:p>
        </p:txBody>
      </p:sp>
      <p:sp>
        <p:nvSpPr>
          <p:cNvPr id="19476" name="灯片编号占位符 1">
            <a:extLst>
              <a:ext uri="{FF2B5EF4-FFF2-40B4-BE49-F238E27FC236}">
                <a16:creationId xmlns:a16="http://schemas.microsoft.com/office/drawing/2014/main" id="{AC155355-57EF-49DE-B65A-225D1CF8A2A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1BC378-804D-4562-8413-3E8BB96A9EB4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graphicFrame>
        <p:nvGraphicFramePr>
          <p:cNvPr id="8" name="Object 21">
            <a:extLst>
              <a:ext uri="{FF2B5EF4-FFF2-40B4-BE49-F238E27FC236}">
                <a16:creationId xmlns:a16="http://schemas.microsoft.com/office/drawing/2014/main" id="{2124FE29-C7D8-4807-BC4F-626EB15D9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3286125"/>
          <a:ext cx="7350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6" name="公式" r:id="rId14" imgW="352304" imgH="171450" progId="Equation.3">
                  <p:embed/>
                </p:oleObj>
              </mc:Choice>
              <mc:Fallback>
                <p:oleObj name="公式" r:id="rId14" imgW="352304" imgH="171450" progId="Equation.3">
                  <p:embed/>
                  <p:pic>
                    <p:nvPicPr>
                      <p:cNvPr id="8" name="Object 21">
                        <a:extLst>
                          <a:ext uri="{FF2B5EF4-FFF2-40B4-BE49-F238E27FC236}">
                            <a16:creationId xmlns:a16="http://schemas.microsoft.com/office/drawing/2014/main" id="{2124FE29-C7D8-4807-BC4F-626EB15D9C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3286125"/>
                        <a:ext cx="7350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2">
            <a:extLst>
              <a:ext uri="{FF2B5EF4-FFF2-40B4-BE49-F238E27FC236}">
                <a16:creationId xmlns:a16="http://schemas.microsoft.com/office/drawing/2014/main" id="{89DA8E5A-83A5-4CDD-883D-35F76EB22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5857875"/>
          <a:ext cx="22701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07" name="公式" r:id="rId16" imgW="1162114" imgH="390661" progId="Equation.3">
                  <p:embed/>
                </p:oleObj>
              </mc:Choice>
              <mc:Fallback>
                <p:oleObj name="公式" r:id="rId16" imgW="1162114" imgH="390661" progId="Equation.3">
                  <p:embed/>
                  <p:pic>
                    <p:nvPicPr>
                      <p:cNvPr id="2" name="Object 22">
                        <a:extLst>
                          <a:ext uri="{FF2B5EF4-FFF2-40B4-BE49-F238E27FC236}">
                            <a16:creationId xmlns:a16="http://schemas.microsoft.com/office/drawing/2014/main" id="{89DA8E5A-83A5-4CDD-883D-35F76EB22D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5857875"/>
                        <a:ext cx="22701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16">
            <a:extLst>
              <a:ext uri="{FF2B5EF4-FFF2-40B4-BE49-F238E27FC236}">
                <a16:creationId xmlns:a16="http://schemas.microsoft.com/office/drawing/2014/main" id="{0B19C5C3-91AC-4DF0-B455-5BE4917FE1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5963" y="6215063"/>
            <a:ext cx="530225" cy="0"/>
          </a:xfrm>
          <a:prstGeom prst="line">
            <a:avLst/>
          </a:prstGeom>
          <a:noFill/>
          <a:ln w="7620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5" grpId="0"/>
      <p:bldP spid="64516" grpId="0" autoUpdateAnimBg="0"/>
      <p:bldP spid="64517" grpId="0"/>
      <p:bldP spid="64518" grpId="0"/>
      <p:bldP spid="64519" grpId="0" autoUpdateAnimBg="0"/>
      <p:bldP spid="64520" grpId="0" autoUpdateAnimBg="0"/>
      <p:bldP spid="64521" grpId="0"/>
      <p:bldP spid="64522" grpId="0"/>
      <p:bldP spid="64530" grpId="0" animBg="1"/>
      <p:bldP spid="645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>
            <a:extLst>
              <a:ext uri="{FF2B5EF4-FFF2-40B4-BE49-F238E27FC236}">
                <a16:creationId xmlns:a16="http://schemas.microsoft.com/office/drawing/2014/main" id="{3A260A3E-1705-4EDD-9781-AEA982678D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384175"/>
          <a:ext cx="19843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1" name="公式" r:id="rId4" imgW="1962137" imgH="876232" progId="Equation.3">
                  <p:embed/>
                </p:oleObj>
              </mc:Choice>
              <mc:Fallback>
                <p:oleObj name="公式" r:id="rId4" imgW="1962137" imgH="876232" progId="Equation.3">
                  <p:embed/>
                  <p:pic>
                    <p:nvPicPr>
                      <p:cNvPr id="66562" name="Object 2">
                        <a:extLst>
                          <a:ext uri="{FF2B5EF4-FFF2-40B4-BE49-F238E27FC236}">
                            <a16:creationId xmlns:a16="http://schemas.microsoft.com/office/drawing/2014/main" id="{3A260A3E-1705-4EDD-9781-AEA982678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84175"/>
                        <a:ext cx="19843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>
            <a:extLst>
              <a:ext uri="{FF2B5EF4-FFF2-40B4-BE49-F238E27FC236}">
                <a16:creationId xmlns:a16="http://schemas.microsoft.com/office/drawing/2014/main" id="{8BDA88A1-19E6-43F5-8D40-8A866A7783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544513"/>
          <a:ext cx="1371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2" name="公式" r:id="rId6" imgW="1333373" imgH="438116" progId="Equation.3">
                  <p:embed/>
                </p:oleObj>
              </mc:Choice>
              <mc:Fallback>
                <p:oleObj name="公式" r:id="rId6" imgW="1333373" imgH="438116" progId="Equation.3">
                  <p:embed/>
                  <p:pic>
                    <p:nvPicPr>
                      <p:cNvPr id="66563" name="Object 3">
                        <a:extLst>
                          <a:ext uri="{FF2B5EF4-FFF2-40B4-BE49-F238E27FC236}">
                            <a16:creationId xmlns:a16="http://schemas.microsoft.com/office/drawing/2014/main" id="{8BDA88A1-19E6-43F5-8D40-8A866A7783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544513"/>
                        <a:ext cx="1371600" cy="473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035AFF9D-5700-4A9F-B978-318889350C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9438" y="544513"/>
          <a:ext cx="15652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3" name="公式" r:id="rId8" imgW="1523898" imgH="438116" progId="Equation.3">
                  <p:embed/>
                </p:oleObj>
              </mc:Choice>
              <mc:Fallback>
                <p:oleObj name="公式" r:id="rId8" imgW="1523898" imgH="438116" progId="Equation.3">
                  <p:embed/>
                  <p:pic>
                    <p:nvPicPr>
                      <p:cNvPr id="66564" name="Object 4">
                        <a:extLst>
                          <a:ext uri="{FF2B5EF4-FFF2-40B4-BE49-F238E27FC236}">
                            <a16:creationId xmlns:a16="http://schemas.microsoft.com/office/drawing/2014/main" id="{035AFF9D-5700-4A9F-B978-318889350C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544513"/>
                        <a:ext cx="1565275" cy="473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>
            <a:extLst>
              <a:ext uri="{FF2B5EF4-FFF2-40B4-BE49-F238E27FC236}">
                <a16:creationId xmlns:a16="http://schemas.microsoft.com/office/drawing/2014/main" id="{7577795F-B38F-476E-8685-CAA3CECEA9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538163"/>
          <a:ext cx="1828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4" name="公式" r:id="rId10" imgW="1790573" imgH="457098" progId="Equation.3">
                  <p:embed/>
                </p:oleObj>
              </mc:Choice>
              <mc:Fallback>
                <p:oleObj name="公式" r:id="rId10" imgW="1790573" imgH="457098" progId="Equation.3">
                  <p:embed/>
                  <p:pic>
                    <p:nvPicPr>
                      <p:cNvPr id="66565" name="Object 5">
                        <a:extLst>
                          <a:ext uri="{FF2B5EF4-FFF2-40B4-BE49-F238E27FC236}">
                            <a16:creationId xmlns:a16="http://schemas.microsoft.com/office/drawing/2014/main" id="{7577795F-B38F-476E-8685-CAA3CECEA9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538163"/>
                        <a:ext cx="1828800" cy="479425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6">
            <a:extLst>
              <a:ext uri="{FF2B5EF4-FFF2-40B4-BE49-F238E27FC236}">
                <a16:creationId xmlns:a16="http://schemas.microsoft.com/office/drawing/2014/main" id="{79B83828-E8DD-45DE-92B4-4F28AE35E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1395413"/>
            <a:ext cx="7435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结合状态方程可得绝热过程方程（又称</a:t>
            </a:r>
            <a:r>
              <a:rPr lang="zh-CN" altLang="en-US">
                <a:solidFill>
                  <a:srgbClr val="FFFF00"/>
                </a:solidFill>
              </a:rPr>
              <a:t>泊松方程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66567" name="Text Box 7">
            <a:extLst>
              <a:ext uri="{FF2B5EF4-FFF2-40B4-BE49-F238E27FC236}">
                <a16:creationId xmlns:a16="http://schemas.microsoft.com/office/drawing/2014/main" id="{5E9058C4-6670-4CD7-862A-6B841A96A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000250"/>
            <a:ext cx="403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</a:rPr>
              <a:t>准静态绝热</a:t>
            </a:r>
            <a:r>
              <a:rPr lang="zh-CN" altLang="en-US">
                <a:solidFill>
                  <a:srgbClr val="66FFFF"/>
                </a:solidFill>
              </a:rPr>
              <a:t>过程曲线</a:t>
            </a:r>
          </a:p>
        </p:txBody>
      </p:sp>
      <p:sp>
        <p:nvSpPr>
          <p:cNvPr id="66568" name="AutoShape 8">
            <a:extLst>
              <a:ext uri="{FF2B5EF4-FFF2-40B4-BE49-F238E27FC236}">
                <a16:creationId xmlns:a16="http://schemas.microsoft.com/office/drawing/2014/main" id="{0E74A741-92EA-4921-BF72-39203796B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4437063"/>
            <a:ext cx="919163" cy="838200"/>
          </a:xfrm>
          <a:prstGeom prst="rightArrow">
            <a:avLst>
              <a:gd name="adj1" fmla="val 50000"/>
              <a:gd name="adj2" fmla="val 2741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6569" name="Object 6">
            <a:extLst>
              <a:ext uri="{FF2B5EF4-FFF2-40B4-BE49-F238E27FC236}">
                <a16:creationId xmlns:a16="http://schemas.microsoft.com/office/drawing/2014/main" id="{46669E46-7316-4533-A397-D4EC80D8D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950" y="3429000"/>
          <a:ext cx="15589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5" name="公式" r:id="rId12" imgW="1533378" imgH="799998" progId="Equation.3">
                  <p:embed/>
                </p:oleObj>
              </mc:Choice>
              <mc:Fallback>
                <p:oleObj name="公式" r:id="rId12" imgW="1533378" imgH="799998" progId="Equation.3">
                  <p:embed/>
                  <p:pic>
                    <p:nvPicPr>
                      <p:cNvPr id="66569" name="Object 6">
                        <a:extLst>
                          <a:ext uri="{FF2B5EF4-FFF2-40B4-BE49-F238E27FC236}">
                            <a16:creationId xmlns:a16="http://schemas.microsoft.com/office/drawing/2014/main" id="{46669E46-7316-4533-A397-D4EC80D8D8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3429000"/>
                        <a:ext cx="15589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0" name="Object 7">
            <a:extLst>
              <a:ext uri="{FF2B5EF4-FFF2-40B4-BE49-F238E27FC236}">
                <a16:creationId xmlns:a16="http://schemas.microsoft.com/office/drawing/2014/main" id="{DAD42B3C-45C2-41F2-8BC9-9321172370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724400"/>
          <a:ext cx="1238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6" name="公式" r:id="rId14" imgW="1200035" imgH="390661" progId="Equation.3">
                  <p:embed/>
                </p:oleObj>
              </mc:Choice>
              <mc:Fallback>
                <p:oleObj name="公式" r:id="rId14" imgW="1200035" imgH="390661" progId="Equation.3">
                  <p:embed/>
                  <p:pic>
                    <p:nvPicPr>
                      <p:cNvPr id="66570" name="Object 7">
                        <a:extLst>
                          <a:ext uri="{FF2B5EF4-FFF2-40B4-BE49-F238E27FC236}">
                            <a16:creationId xmlns:a16="http://schemas.microsoft.com/office/drawing/2014/main" id="{DAD42B3C-45C2-41F2-8BC9-932117237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24400"/>
                        <a:ext cx="1238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1" name="Object 8">
            <a:extLst>
              <a:ext uri="{FF2B5EF4-FFF2-40B4-BE49-F238E27FC236}">
                <a16:creationId xmlns:a16="http://schemas.microsoft.com/office/drawing/2014/main" id="{396C68E1-5B6C-4006-9FD3-CC8142898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338" y="3562350"/>
          <a:ext cx="1371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7" name="公式" r:id="rId16" imgW="1333373" imgH="438116" progId="Equation.3">
                  <p:embed/>
                </p:oleObj>
              </mc:Choice>
              <mc:Fallback>
                <p:oleObj name="公式" r:id="rId16" imgW="1333373" imgH="438116" progId="Equation.3">
                  <p:embed/>
                  <p:pic>
                    <p:nvPicPr>
                      <p:cNvPr id="66571" name="Object 8">
                        <a:extLst>
                          <a:ext uri="{FF2B5EF4-FFF2-40B4-BE49-F238E27FC236}">
                            <a16:creationId xmlns:a16="http://schemas.microsoft.com/office/drawing/2014/main" id="{396C68E1-5B6C-4006-9FD3-CC8142898F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3562350"/>
                        <a:ext cx="13716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2" name="Object 9">
            <a:extLst>
              <a:ext uri="{FF2B5EF4-FFF2-40B4-BE49-F238E27FC236}">
                <a16:creationId xmlns:a16="http://schemas.microsoft.com/office/drawing/2014/main" id="{D4A3B77A-94C1-4E51-8B50-06EBD0EC9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508500"/>
          <a:ext cx="1355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8" name="公式" r:id="rId18" imgW="1333373" imgH="799998" progId="Equation.3">
                  <p:embed/>
                </p:oleObj>
              </mc:Choice>
              <mc:Fallback>
                <p:oleObj name="公式" r:id="rId18" imgW="1333373" imgH="799998" progId="Equation.3">
                  <p:embed/>
                  <p:pic>
                    <p:nvPicPr>
                      <p:cNvPr id="66572" name="Object 9">
                        <a:extLst>
                          <a:ext uri="{FF2B5EF4-FFF2-40B4-BE49-F238E27FC236}">
                            <a16:creationId xmlns:a16="http://schemas.microsoft.com/office/drawing/2014/main" id="{D4A3B77A-94C1-4E51-8B50-06EBD0EC9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508500"/>
                        <a:ext cx="13557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AutoShape 14">
            <a:extLst>
              <a:ext uri="{FF2B5EF4-FFF2-40B4-BE49-F238E27FC236}">
                <a16:creationId xmlns:a16="http://schemas.microsoft.com/office/drawing/2014/main" id="{217EFF0D-4BE2-464B-B6CC-20BFC57A0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4110038"/>
            <a:ext cx="1008062" cy="604837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003366">
              <a:alpha val="14117"/>
            </a:srgbClr>
          </a:solidFill>
          <a:ln w="19050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ea typeface="楷体_GB2312" pitchFamily="49" charset="-122"/>
              </a:rPr>
              <a:t>求导</a:t>
            </a:r>
            <a:endParaRPr lang="zh-CN" altLang="zh-CN" sz="2000" dirty="0">
              <a:solidFill>
                <a:schemeClr val="accent1">
                  <a:lumMod val="60000"/>
                  <a:lumOff val="40000"/>
                </a:schemeClr>
              </a:solidFill>
              <a:ea typeface="楷体_GB2312" pitchFamily="49" charset="-122"/>
            </a:endParaRPr>
          </a:p>
        </p:txBody>
      </p:sp>
      <p:sp>
        <p:nvSpPr>
          <p:cNvPr id="66575" name="Text Box 15">
            <a:extLst>
              <a:ext uri="{FF2B5EF4-FFF2-40B4-BE49-F238E27FC236}">
                <a16:creationId xmlns:a16="http://schemas.microsoft.com/office/drawing/2014/main" id="{0218AA80-70DC-4D09-A25C-A78F5404E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462915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FFFF"/>
                </a:solidFill>
              </a:rPr>
              <a:t>A</a:t>
            </a:r>
          </a:p>
        </p:txBody>
      </p:sp>
      <p:sp>
        <p:nvSpPr>
          <p:cNvPr id="66576" name="AutoShape 16">
            <a:extLst>
              <a:ext uri="{FF2B5EF4-FFF2-40B4-BE49-F238E27FC236}">
                <a16:creationId xmlns:a16="http://schemas.microsoft.com/office/drawing/2014/main" id="{EC37B054-B51F-4B48-8B5D-CC3F15A29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3211513"/>
            <a:ext cx="1068387" cy="431800"/>
          </a:xfrm>
          <a:prstGeom prst="wedgeRectCallout">
            <a:avLst>
              <a:gd name="adj1" fmla="val -73921"/>
              <a:gd name="adj2" fmla="val 166176"/>
            </a:avLst>
          </a:prstGeom>
          <a:solidFill>
            <a:srgbClr val="003366">
              <a:alpha val="21960"/>
            </a:srgbClr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绝热线</a:t>
            </a:r>
          </a:p>
        </p:txBody>
      </p:sp>
      <p:sp>
        <p:nvSpPr>
          <p:cNvPr id="66577" name="AutoShape 17">
            <a:extLst>
              <a:ext uri="{FF2B5EF4-FFF2-40B4-BE49-F238E27FC236}">
                <a16:creationId xmlns:a16="http://schemas.microsoft.com/office/drawing/2014/main" id="{572E051E-C3EB-4DBE-98EC-4B89A037B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4364038"/>
            <a:ext cx="1120775" cy="431800"/>
          </a:xfrm>
          <a:prstGeom prst="wedgeRectCallout">
            <a:avLst>
              <a:gd name="adj1" fmla="val 23231"/>
              <a:gd name="adj2" fmla="val 145222"/>
            </a:avLst>
          </a:prstGeom>
          <a:solidFill>
            <a:srgbClr val="003366">
              <a:alpha val="21960"/>
            </a:srgbClr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等温线</a:t>
            </a:r>
          </a:p>
        </p:txBody>
      </p:sp>
      <p:sp>
        <p:nvSpPr>
          <p:cNvPr id="66578" name="Arc 18">
            <a:extLst>
              <a:ext uri="{FF2B5EF4-FFF2-40B4-BE49-F238E27FC236}">
                <a16:creationId xmlns:a16="http://schemas.microsoft.com/office/drawing/2014/main" id="{16169058-E26A-4774-AB46-E8B2353ADEF4}"/>
              </a:ext>
            </a:extLst>
          </p:cNvPr>
          <p:cNvSpPr>
            <a:spLocks/>
          </p:cNvSpPr>
          <p:nvPr/>
        </p:nvSpPr>
        <p:spPr bwMode="auto">
          <a:xfrm rot="-871638">
            <a:off x="6643688" y="3230563"/>
            <a:ext cx="2119312" cy="2671762"/>
          </a:xfrm>
          <a:custGeom>
            <a:avLst/>
            <a:gdLst>
              <a:gd name="T0" fmla="*/ 2147483646 w 21600"/>
              <a:gd name="T1" fmla="*/ 2147483646 h 20693"/>
              <a:gd name="T2" fmla="*/ 0 w 21600"/>
              <a:gd name="T3" fmla="*/ 0 h 20693"/>
              <a:gd name="T4" fmla="*/ 2147483646 w 21600"/>
              <a:gd name="T5" fmla="*/ 2147483646 h 20693"/>
              <a:gd name="T6" fmla="*/ 0 60000 65536"/>
              <a:gd name="T7" fmla="*/ 0 60000 65536"/>
              <a:gd name="T8" fmla="*/ 0 60000 65536"/>
              <a:gd name="T9" fmla="*/ 0 w 21600"/>
              <a:gd name="T10" fmla="*/ 0 h 20693"/>
              <a:gd name="T11" fmla="*/ 21600 w 21600"/>
              <a:gd name="T12" fmla="*/ 20693 h 206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93" fill="none" extrusionOk="0">
                <a:moveTo>
                  <a:pt x="15368" y="20692"/>
                </a:moveTo>
                <a:cubicBezTo>
                  <a:pt x="6244" y="17943"/>
                  <a:pt x="0" y="9540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20693" stroke="0" extrusionOk="0">
                <a:moveTo>
                  <a:pt x="15368" y="20692"/>
                </a:moveTo>
                <a:cubicBezTo>
                  <a:pt x="6244" y="17943"/>
                  <a:pt x="0" y="9540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15368" y="20692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9" name="Arc 19">
            <a:extLst>
              <a:ext uri="{FF2B5EF4-FFF2-40B4-BE49-F238E27FC236}">
                <a16:creationId xmlns:a16="http://schemas.microsoft.com/office/drawing/2014/main" id="{9827F0DA-B5CB-4269-811A-E2692FC24DA6}"/>
              </a:ext>
            </a:extLst>
          </p:cNvPr>
          <p:cNvSpPr>
            <a:spLocks/>
          </p:cNvSpPr>
          <p:nvPr/>
        </p:nvSpPr>
        <p:spPr bwMode="auto">
          <a:xfrm>
            <a:off x="6037263" y="2468563"/>
            <a:ext cx="2236787" cy="2770187"/>
          </a:xfrm>
          <a:custGeom>
            <a:avLst/>
            <a:gdLst>
              <a:gd name="T0" fmla="*/ 2147483646 w 20524"/>
              <a:gd name="T1" fmla="*/ 2147483646 h 21600"/>
              <a:gd name="T2" fmla="*/ 0 w 20524"/>
              <a:gd name="T3" fmla="*/ 2147483646 h 21600"/>
              <a:gd name="T4" fmla="*/ 2147483646 w 20524"/>
              <a:gd name="T5" fmla="*/ 0 h 21600"/>
              <a:gd name="T6" fmla="*/ 0 60000 65536"/>
              <a:gd name="T7" fmla="*/ 0 60000 65536"/>
              <a:gd name="T8" fmla="*/ 0 60000 65536"/>
              <a:gd name="T9" fmla="*/ 0 w 20524"/>
              <a:gd name="T10" fmla="*/ 0 h 21600"/>
              <a:gd name="T11" fmla="*/ 20524 w 205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24" h="21600" fill="none" extrusionOk="0">
                <a:moveTo>
                  <a:pt x="20523" y="21597"/>
                </a:moveTo>
                <a:cubicBezTo>
                  <a:pt x="20422" y="21599"/>
                  <a:pt x="20320" y="21599"/>
                  <a:pt x="20218" y="21600"/>
                </a:cubicBezTo>
                <a:cubicBezTo>
                  <a:pt x="11221" y="21600"/>
                  <a:pt x="3166" y="16023"/>
                  <a:pt x="0" y="7602"/>
                </a:cubicBezTo>
              </a:path>
              <a:path w="20524" h="21600" stroke="0" extrusionOk="0">
                <a:moveTo>
                  <a:pt x="20523" y="21597"/>
                </a:moveTo>
                <a:cubicBezTo>
                  <a:pt x="20422" y="21599"/>
                  <a:pt x="20320" y="21599"/>
                  <a:pt x="20218" y="21600"/>
                </a:cubicBezTo>
                <a:cubicBezTo>
                  <a:pt x="11221" y="21600"/>
                  <a:pt x="3166" y="16023"/>
                  <a:pt x="0" y="7602"/>
                </a:cubicBezTo>
                <a:lnTo>
                  <a:pt x="20218" y="0"/>
                </a:lnTo>
                <a:lnTo>
                  <a:pt x="20523" y="21597"/>
                </a:lnTo>
                <a:close/>
              </a:path>
            </a:pathLst>
          </a:custGeom>
          <a:noFill/>
          <a:ln w="38100">
            <a:solidFill>
              <a:srgbClr val="FC505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0" name="Text Box 20">
            <a:extLst>
              <a:ext uri="{FF2B5EF4-FFF2-40B4-BE49-F238E27FC236}">
                <a16:creationId xmlns:a16="http://schemas.microsoft.com/office/drawing/2014/main" id="{6147CDA0-8525-41F2-B079-60BEF58BC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484813"/>
            <a:ext cx="44592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由于 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 </a:t>
            </a:r>
            <a:r>
              <a:rPr lang="zh-CN" altLang="en-US">
                <a:solidFill>
                  <a:srgbClr val="FFFF00"/>
                </a:solidFill>
              </a:rPr>
              <a:t>＞</a:t>
            </a:r>
            <a:r>
              <a:rPr lang="en-US" altLang="zh-CN">
                <a:solidFill>
                  <a:srgbClr val="FFFF00"/>
                </a:solidFill>
              </a:rPr>
              <a:t>1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所以绝热线要比等温线陡一些。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               </a:t>
            </a:r>
          </a:p>
        </p:txBody>
      </p:sp>
      <p:graphicFrame>
        <p:nvGraphicFramePr>
          <p:cNvPr id="66581" name="Object 10">
            <a:extLst>
              <a:ext uri="{FF2B5EF4-FFF2-40B4-BE49-F238E27FC236}">
                <a16:creationId xmlns:a16="http://schemas.microsoft.com/office/drawing/2014/main" id="{87A4D5B0-7AE6-4355-B89B-1D1EA10DF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6250" y="4640263"/>
          <a:ext cx="193675" cy="19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59" name="公式" r:id="rId20" imgW="161778" imgH="161959" progId="Equation.3">
                  <p:embed/>
                </p:oleObj>
              </mc:Choice>
              <mc:Fallback>
                <p:oleObj name="公式" r:id="rId20" imgW="161778" imgH="161959" progId="Equation.3">
                  <p:embed/>
                  <p:pic>
                    <p:nvPicPr>
                      <p:cNvPr id="66581" name="Object 10">
                        <a:extLst>
                          <a:ext uri="{FF2B5EF4-FFF2-40B4-BE49-F238E27FC236}">
                            <a16:creationId xmlns:a16="http://schemas.microsoft.com/office/drawing/2014/main" id="{87A4D5B0-7AE6-4355-B89B-1D1EA10DF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0" y="4640263"/>
                        <a:ext cx="193675" cy="19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>
            <a:extLst>
              <a:ext uri="{FF2B5EF4-FFF2-40B4-BE49-F238E27FC236}">
                <a16:creationId xmlns:a16="http://schemas.microsoft.com/office/drawing/2014/main" id="{5ACC5AF3-4D1F-4DFF-A805-2950B5E92E25}"/>
              </a:ext>
            </a:extLst>
          </p:cNvPr>
          <p:cNvGrpSpPr>
            <a:grpSpLocks/>
          </p:cNvGrpSpPr>
          <p:nvPr/>
        </p:nvGrpSpPr>
        <p:grpSpPr bwMode="auto">
          <a:xfrm>
            <a:off x="5495925" y="3009900"/>
            <a:ext cx="3195638" cy="3471863"/>
            <a:chOff x="3334" y="1697"/>
            <a:chExt cx="2013" cy="2187"/>
          </a:xfrm>
        </p:grpSpPr>
        <p:sp>
          <p:nvSpPr>
            <p:cNvPr id="21528" name="Line 23">
              <a:extLst>
                <a:ext uri="{FF2B5EF4-FFF2-40B4-BE49-F238E27FC236}">
                  <a16:creationId xmlns:a16="http://schemas.microsoft.com/office/drawing/2014/main" id="{728FF813-B73F-41FC-9B0B-ECD445734A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0" y="3596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" name="Line 24">
              <a:extLst>
                <a:ext uri="{FF2B5EF4-FFF2-40B4-BE49-F238E27FC236}">
                  <a16:creationId xmlns:a16="http://schemas.microsoft.com/office/drawing/2014/main" id="{52D50065-2395-4FC8-8B90-2BCEA6C91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0" y="1828"/>
              <a:ext cx="0" cy="178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0" name="Text Box 25">
              <a:extLst>
                <a:ext uri="{FF2B5EF4-FFF2-40B4-BE49-F238E27FC236}">
                  <a16:creationId xmlns:a16="http://schemas.microsoft.com/office/drawing/2014/main" id="{04841F83-954E-44F5-960A-2C9A14367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" y="35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1531" name="Text Box 26">
              <a:extLst>
                <a:ext uri="{FF2B5EF4-FFF2-40B4-BE49-F238E27FC236}">
                  <a16:creationId xmlns:a16="http://schemas.microsoft.com/office/drawing/2014/main" id="{C770164F-FDCE-4AA8-8E01-4D6B2A592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9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1532" name="Text Box 27">
              <a:extLst>
                <a:ext uri="{FF2B5EF4-FFF2-40B4-BE49-F238E27FC236}">
                  <a16:creationId xmlns:a16="http://schemas.microsoft.com/office/drawing/2014/main" id="{FA4F5039-58CD-45CB-8A1E-E8AD6F939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55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1526" name="灯片编号占位符 1">
            <a:extLst>
              <a:ext uri="{FF2B5EF4-FFF2-40B4-BE49-F238E27FC236}">
                <a16:creationId xmlns:a16="http://schemas.microsoft.com/office/drawing/2014/main" id="{B1DB997A-10FF-4A10-8257-FF550AC9795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97DBC3-47C5-4CAA-96E0-99C4187894E7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E242911D-DA3D-4544-A742-A9CC5B67F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614613"/>
            <a:ext cx="6643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问题：</a:t>
            </a:r>
            <a:r>
              <a:rPr lang="zh-CN" altLang="en-US">
                <a:solidFill>
                  <a:schemeClr val="bg1"/>
                </a:solidFill>
              </a:rPr>
              <a:t>哪条是等温线？哪条是绝热线？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67" grpId="0" autoUpdateAnimBg="0"/>
      <p:bldP spid="66568" grpId="0" animBg="1"/>
      <p:bldP spid="13327" grpId="0" animBg="1"/>
      <p:bldP spid="66575" grpId="0"/>
      <p:bldP spid="66576" grpId="0" animBg="1" autoUpdateAnimBg="0"/>
      <p:bldP spid="66577" grpId="0" animBg="1"/>
      <p:bldP spid="66580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610" name="Rectangle 2">
            <a:extLst>
              <a:ext uri="{FF2B5EF4-FFF2-40B4-BE49-F238E27FC236}">
                <a16:creationId xmlns:a16="http://schemas.microsoft.com/office/drawing/2014/main" id="{C4B3F4FF-F125-49AF-9EEF-511A10900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071938"/>
            <a:ext cx="8064500" cy="966787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结论：</a:t>
            </a:r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绝热过程中 ，理想气体不吸收热量，系统减少的内能，等于其对外作功  </a:t>
            </a:r>
          </a:p>
        </p:txBody>
      </p:sp>
      <p:graphicFrame>
        <p:nvGraphicFramePr>
          <p:cNvPr id="68611" name="Object 2">
            <a:extLst>
              <a:ext uri="{FF2B5EF4-FFF2-40B4-BE49-F238E27FC236}">
                <a16:creationId xmlns:a16="http://schemas.microsoft.com/office/drawing/2014/main" id="{CA4AA488-A7E9-4DF7-8A1D-B59D324F18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4463" y="3030538"/>
          <a:ext cx="38385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10" name="公式" r:id="rId3" imgW="3809898" imgH="799998" progId="Equation.3">
                  <p:embed/>
                </p:oleObj>
              </mc:Choice>
              <mc:Fallback>
                <p:oleObj name="公式" r:id="rId3" imgW="3809898" imgH="799998" progId="Equation.3">
                  <p:embed/>
                  <p:pic>
                    <p:nvPicPr>
                      <p:cNvPr id="68611" name="Object 2">
                        <a:extLst>
                          <a:ext uri="{FF2B5EF4-FFF2-40B4-BE49-F238E27FC236}">
                            <a16:creationId xmlns:a16="http://schemas.microsoft.com/office/drawing/2014/main" id="{CA4AA488-A7E9-4DF7-8A1D-B59D324F18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3030538"/>
                        <a:ext cx="38385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3">
            <a:extLst>
              <a:ext uri="{FF2B5EF4-FFF2-40B4-BE49-F238E27FC236}">
                <a16:creationId xmlns:a16="http://schemas.microsoft.com/office/drawing/2014/main" id="{7B6BB967-D410-4890-9766-BA92D4372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7175" y="2992438"/>
          <a:ext cx="2794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11" name="公式" r:id="rId5" imgW="2762161" imgH="876232" progId="Equation.3">
                  <p:embed/>
                </p:oleObj>
              </mc:Choice>
              <mc:Fallback>
                <p:oleObj name="公式" r:id="rId5" imgW="2762161" imgH="876232" progId="Equation.3">
                  <p:embed/>
                  <p:pic>
                    <p:nvPicPr>
                      <p:cNvPr id="68612" name="Object 3">
                        <a:extLst>
                          <a:ext uri="{FF2B5EF4-FFF2-40B4-BE49-F238E27FC236}">
                            <a16:creationId xmlns:a16="http://schemas.microsoft.com/office/drawing/2014/main" id="{7B6BB967-D410-4890-9766-BA92D43723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2992438"/>
                        <a:ext cx="2794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Text Box 5">
            <a:extLst>
              <a:ext uri="{FF2B5EF4-FFF2-40B4-BE49-F238E27FC236}">
                <a16:creationId xmlns:a16="http://schemas.microsoft.com/office/drawing/2014/main" id="{A6C02C37-CC5A-485D-947D-B30D8F124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476250"/>
            <a:ext cx="576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66FFFF"/>
                </a:solidFill>
              </a:rPr>
              <a:t>3. </a:t>
            </a:r>
            <a:r>
              <a:rPr lang="zh-CN" altLang="en-US" dirty="0">
                <a:solidFill>
                  <a:srgbClr val="66FFFF"/>
                </a:solidFill>
              </a:rPr>
              <a:t>绝热过程中功、内能增量的计算</a:t>
            </a:r>
          </a:p>
        </p:txBody>
      </p:sp>
      <p:graphicFrame>
        <p:nvGraphicFramePr>
          <p:cNvPr id="68614" name="Object 4">
            <a:extLst>
              <a:ext uri="{FF2B5EF4-FFF2-40B4-BE49-F238E27FC236}">
                <a16:creationId xmlns:a16="http://schemas.microsoft.com/office/drawing/2014/main" id="{094DA9CB-9115-431B-AA61-71C816B61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1563" y="2344738"/>
          <a:ext cx="209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12" name="公式" r:id="rId7" imgW="2095475" imgH="390661" progId="Equation.3">
                  <p:embed/>
                </p:oleObj>
              </mc:Choice>
              <mc:Fallback>
                <p:oleObj name="公式" r:id="rId7" imgW="2095475" imgH="390661" progId="Equation.3">
                  <p:embed/>
                  <p:pic>
                    <p:nvPicPr>
                      <p:cNvPr id="68614" name="Object 4">
                        <a:extLst>
                          <a:ext uri="{FF2B5EF4-FFF2-40B4-BE49-F238E27FC236}">
                            <a16:creationId xmlns:a16="http://schemas.microsoft.com/office/drawing/2014/main" id="{094DA9CB-9115-431B-AA61-71C816B613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2344738"/>
                        <a:ext cx="2095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5">
            <a:extLst>
              <a:ext uri="{FF2B5EF4-FFF2-40B4-BE49-F238E27FC236}">
                <a16:creationId xmlns:a16="http://schemas.microsoft.com/office/drawing/2014/main" id="{E3E90C1D-4F9F-4DE3-BB7F-28AAAFF84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2150" y="2273300"/>
          <a:ext cx="24050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13" name="公式" r:id="rId9" imgW="2333708" imgH="495368" progId="Equation.3">
                  <p:embed/>
                </p:oleObj>
              </mc:Choice>
              <mc:Fallback>
                <p:oleObj name="公式" r:id="rId9" imgW="2333708" imgH="495368" progId="Equation.3">
                  <p:embed/>
                  <p:pic>
                    <p:nvPicPr>
                      <p:cNvPr id="68615" name="Object 5">
                        <a:extLst>
                          <a:ext uri="{FF2B5EF4-FFF2-40B4-BE49-F238E27FC236}">
                            <a16:creationId xmlns:a16="http://schemas.microsoft.com/office/drawing/2014/main" id="{E3E90C1D-4F9F-4DE3-BB7F-28AAAFF847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2273300"/>
                        <a:ext cx="24050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AFFAC009-7165-4C54-B28D-6CCF40519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143000"/>
            <a:ext cx="3309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在绝热过程中       </a:t>
            </a:r>
            <a:r>
              <a:rPr lang="en-US" altLang="zh-CN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 </a:t>
            </a: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</a:t>
            </a:r>
            <a:r>
              <a:rPr lang="en-US" altLang="zh-CN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endParaRPr lang="en-US" altLang="zh-CN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59953489-F15C-4C1D-8E10-A369884DF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00213"/>
            <a:ext cx="20875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系统对外作功</a:t>
            </a:r>
          </a:p>
        </p:txBody>
      </p:sp>
      <p:sp>
        <p:nvSpPr>
          <p:cNvPr id="23562" name="灯片编号占位符 1">
            <a:extLst>
              <a:ext uri="{FF2B5EF4-FFF2-40B4-BE49-F238E27FC236}">
                <a16:creationId xmlns:a16="http://schemas.microsoft.com/office/drawing/2014/main" id="{FA93E68A-A72B-46AF-917E-3B99E6D629A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FC9E18-2CFE-4CF9-B4D3-17F58055AB9A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animBg="1"/>
      <p:bldP spid="68613" grpId="0" autoUpdateAnimBg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72" name="Group 1008">
            <a:extLst>
              <a:ext uri="{FF2B5EF4-FFF2-40B4-BE49-F238E27FC236}">
                <a16:creationId xmlns:a16="http://schemas.microsoft.com/office/drawing/2014/main" id="{3BC7315C-2625-4200-BDE9-1DB7ABC1FB7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23850" y="1052736"/>
          <a:ext cx="8569325" cy="5184777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8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90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过程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特征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过程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方程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能量转换方式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内能增量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Δ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对外作功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吸收热量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摩尔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热容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等体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等压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等温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9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绝热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BDFD6F7B-3755-4107-BBA3-7AE35AE42D1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5813" y="2498949"/>
          <a:ext cx="723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4" name="公式" r:id="rId3" imgW="1390561" imgH="400152" progId="Equation.3">
                  <p:embed/>
                </p:oleObj>
              </mc:Choice>
              <mc:Fallback>
                <p:oleObj name="公式" r:id="rId3" imgW="1390561" imgH="400152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BDFD6F7B-3755-4107-BBA3-7AE35AE42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498949"/>
                        <a:ext cx="723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DEFAE5C2-EFBE-4E12-8970-2EC95C0E86A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0413" y="3422874"/>
          <a:ext cx="717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5" name="公式" r:id="rId5" imgW="1381080" imgH="428625" progId="Equation.3">
                  <p:embed/>
                </p:oleObj>
              </mc:Choice>
              <mc:Fallback>
                <p:oleObj name="公式" r:id="rId5" imgW="1381080" imgH="428625" progId="Equation.3">
                  <p:embed/>
                  <p:pic>
                    <p:nvPicPr>
                      <p:cNvPr id="1027" name="Object 3">
                        <a:extLst>
                          <a:ext uri="{FF2B5EF4-FFF2-40B4-BE49-F238E27FC236}">
                            <a16:creationId xmlns:a16="http://schemas.microsoft.com/office/drawing/2014/main" id="{DEFAE5C2-EFBE-4E12-8970-2EC95C0E86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3422874"/>
                        <a:ext cx="717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>
            <a:extLst>
              <a:ext uri="{FF2B5EF4-FFF2-40B4-BE49-F238E27FC236}">
                <a16:creationId xmlns:a16="http://schemas.microsoft.com/office/drawing/2014/main" id="{F70C1B11-9FE8-4561-9A86-7D9EAEB3F35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57238" y="4508724"/>
          <a:ext cx="71913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6" name="公式" r:id="rId7" imgW="1381080" imgH="400152" progId="Equation.3">
                  <p:embed/>
                </p:oleObj>
              </mc:Choice>
              <mc:Fallback>
                <p:oleObj name="公式" r:id="rId7" imgW="1381080" imgH="400152" progId="Equation.3">
                  <p:embed/>
                  <p:pic>
                    <p:nvPicPr>
                      <p:cNvPr id="1028" name="Object 4">
                        <a:extLst>
                          <a:ext uri="{FF2B5EF4-FFF2-40B4-BE49-F238E27FC236}">
                            <a16:creationId xmlns:a16="http://schemas.microsoft.com/office/drawing/2014/main" id="{F70C1B11-9FE8-4561-9A86-7D9EAEB3F3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4508724"/>
                        <a:ext cx="71913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>
            <a:extLst>
              <a:ext uri="{FF2B5EF4-FFF2-40B4-BE49-F238E27FC236}">
                <a16:creationId xmlns:a16="http://schemas.microsoft.com/office/drawing/2014/main" id="{20CB7596-2D13-4177-8459-0A16355245C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57250" y="5572349"/>
          <a:ext cx="53975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7" name="公式" r:id="rId9" imgW="352304" imgH="171450" progId="Equation.3">
                  <p:embed/>
                </p:oleObj>
              </mc:Choice>
              <mc:Fallback>
                <p:oleObj name="公式" r:id="rId9" imgW="352304" imgH="171450" progId="Equation.3">
                  <p:embed/>
                  <p:pic>
                    <p:nvPicPr>
                      <p:cNvPr id="1029" name="Object 5">
                        <a:extLst>
                          <a:ext uri="{FF2B5EF4-FFF2-40B4-BE49-F238E27FC236}">
                            <a16:creationId xmlns:a16="http://schemas.microsoft.com/office/drawing/2014/main" id="{20CB7596-2D13-4177-8459-0A16355245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5572349"/>
                        <a:ext cx="53975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>
            <a:extLst>
              <a:ext uri="{FF2B5EF4-FFF2-40B4-BE49-F238E27FC236}">
                <a16:creationId xmlns:a16="http://schemas.microsoft.com/office/drawing/2014/main" id="{001B484C-BEDD-4DE3-BCC5-CE167766ED9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1800" y="2348136"/>
          <a:ext cx="7270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8" name="公式" r:id="rId11" imgW="1409827" imgH="847759" progId="Equation.3">
                  <p:embed/>
                </p:oleObj>
              </mc:Choice>
              <mc:Fallback>
                <p:oleObj name="公式" r:id="rId11" imgW="1409827" imgH="847759" progId="Equation.3">
                  <p:embed/>
                  <p:pic>
                    <p:nvPicPr>
                      <p:cNvPr id="1030" name="Object 6">
                        <a:extLst>
                          <a:ext uri="{FF2B5EF4-FFF2-40B4-BE49-F238E27FC236}">
                            <a16:creationId xmlns:a16="http://schemas.microsoft.com/office/drawing/2014/main" id="{001B484C-BEDD-4DE3-BCC5-CE167766E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2348136"/>
                        <a:ext cx="7270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>
            <a:extLst>
              <a:ext uri="{FF2B5EF4-FFF2-40B4-BE49-F238E27FC236}">
                <a16:creationId xmlns:a16="http://schemas.microsoft.com/office/drawing/2014/main" id="{B2D506A1-048E-4251-A300-A5B3EB8BF22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33538" y="3356199"/>
          <a:ext cx="7334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9" name="公式" r:id="rId13" imgW="1419308" imgH="847759" progId="Equation.3">
                  <p:embed/>
                </p:oleObj>
              </mc:Choice>
              <mc:Fallback>
                <p:oleObj name="公式" r:id="rId13" imgW="1419308" imgH="847759" progId="Equation.3">
                  <p:embed/>
                  <p:pic>
                    <p:nvPicPr>
                      <p:cNvPr id="1031" name="Object 7">
                        <a:extLst>
                          <a:ext uri="{FF2B5EF4-FFF2-40B4-BE49-F238E27FC236}">
                            <a16:creationId xmlns:a16="http://schemas.microsoft.com/office/drawing/2014/main" id="{B2D506A1-048E-4251-A300-A5B3EB8BF2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3356199"/>
                        <a:ext cx="7334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>
            <a:extLst>
              <a:ext uri="{FF2B5EF4-FFF2-40B4-BE49-F238E27FC236}">
                <a16:creationId xmlns:a16="http://schemas.microsoft.com/office/drawing/2014/main" id="{C6FE83D2-14B8-4E54-98B3-92FD1E05662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65275" y="4505549"/>
          <a:ext cx="8604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0" name="公式" r:id="rId15" imgW="1657235" imgH="419134" progId="Equation.3">
                  <p:embed/>
                </p:oleObj>
              </mc:Choice>
              <mc:Fallback>
                <p:oleObj name="公式" r:id="rId15" imgW="1657235" imgH="419134" progId="Equation.3">
                  <p:embed/>
                  <p:pic>
                    <p:nvPicPr>
                      <p:cNvPr id="1032" name="Object 8">
                        <a:extLst>
                          <a:ext uri="{FF2B5EF4-FFF2-40B4-BE49-F238E27FC236}">
                            <a16:creationId xmlns:a16="http://schemas.microsoft.com/office/drawing/2014/main" id="{C6FE83D2-14B8-4E54-98B3-92FD1E056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505549"/>
                        <a:ext cx="8604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>
            <a:extLst>
              <a:ext uri="{FF2B5EF4-FFF2-40B4-BE49-F238E27FC236}">
                <a16:creationId xmlns:a16="http://schemas.microsoft.com/office/drawing/2014/main" id="{2DADB050-9654-4560-8E4A-66011FF8F0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14625" y="2510061"/>
          <a:ext cx="7477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1" name="公式" r:id="rId17" imgW="1143153" imgH="380864" progId="Equation.3">
                  <p:embed/>
                </p:oleObj>
              </mc:Choice>
              <mc:Fallback>
                <p:oleObj name="公式" r:id="rId17" imgW="1143153" imgH="380864" progId="Equation.3">
                  <p:embed/>
                  <p:pic>
                    <p:nvPicPr>
                      <p:cNvPr id="1033" name="Object 9">
                        <a:extLst>
                          <a:ext uri="{FF2B5EF4-FFF2-40B4-BE49-F238E27FC236}">
                            <a16:creationId xmlns:a16="http://schemas.microsoft.com/office/drawing/2014/main" id="{2DADB050-9654-4560-8E4A-66011FF8F0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510061"/>
                        <a:ext cx="7477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0">
            <a:extLst>
              <a:ext uri="{FF2B5EF4-FFF2-40B4-BE49-F238E27FC236}">
                <a16:creationId xmlns:a16="http://schemas.microsoft.com/office/drawing/2014/main" id="{220C9256-63CE-4697-9542-17E11AA746A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71750" y="3500661"/>
          <a:ext cx="10001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2" name="公式" r:id="rId19" imgW="1733690" imgH="380864" progId="Equation.3">
                  <p:embed/>
                </p:oleObj>
              </mc:Choice>
              <mc:Fallback>
                <p:oleObj name="公式" r:id="rId19" imgW="1733690" imgH="380864" progId="Equation.3">
                  <p:embed/>
                  <p:pic>
                    <p:nvPicPr>
                      <p:cNvPr id="1034" name="Object 10">
                        <a:extLst>
                          <a:ext uri="{FF2B5EF4-FFF2-40B4-BE49-F238E27FC236}">
                            <a16:creationId xmlns:a16="http://schemas.microsoft.com/office/drawing/2014/main" id="{220C9256-63CE-4697-9542-17E11AA746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3500661"/>
                        <a:ext cx="10001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1">
            <a:extLst>
              <a:ext uri="{FF2B5EF4-FFF2-40B4-BE49-F238E27FC236}">
                <a16:creationId xmlns:a16="http://schemas.microsoft.com/office/drawing/2014/main" id="{BE65FF62-F3D8-4133-873C-C7991FEC98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95588" y="4508724"/>
          <a:ext cx="5619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3" name="公式" r:id="rId21" imgW="914400" imgH="380864" progId="Equation.3">
                  <p:embed/>
                </p:oleObj>
              </mc:Choice>
              <mc:Fallback>
                <p:oleObj name="公式" r:id="rId21" imgW="914400" imgH="380864" progId="Equation.3">
                  <p:embed/>
                  <p:pic>
                    <p:nvPicPr>
                      <p:cNvPr id="1035" name="Object 11">
                        <a:extLst>
                          <a:ext uri="{FF2B5EF4-FFF2-40B4-BE49-F238E27FC236}">
                            <a16:creationId xmlns:a16="http://schemas.microsoft.com/office/drawing/2014/main" id="{BE65FF62-F3D8-4133-873C-C7991FEC98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4508724"/>
                        <a:ext cx="5619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>
            <a:extLst>
              <a:ext uri="{FF2B5EF4-FFF2-40B4-BE49-F238E27FC236}">
                <a16:creationId xmlns:a16="http://schemas.microsoft.com/office/drawing/2014/main" id="{CA622F0D-011A-43C5-A189-D4ECB3E2D53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43188" y="5575524"/>
          <a:ext cx="844550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4" name="公式" r:id="rId23" imgW="1343159" imgH="285648" progId="Equation.3">
                  <p:embed/>
                </p:oleObj>
              </mc:Choice>
              <mc:Fallback>
                <p:oleObj name="公式" r:id="rId23" imgW="1343159" imgH="285648" progId="Equation.3">
                  <p:embed/>
                  <p:pic>
                    <p:nvPicPr>
                      <p:cNvPr id="1036" name="Object 12">
                        <a:extLst>
                          <a:ext uri="{FF2B5EF4-FFF2-40B4-BE49-F238E27FC236}">
                            <a16:creationId xmlns:a16="http://schemas.microsoft.com/office/drawing/2014/main" id="{CA622F0D-011A-43C5-A189-D4ECB3E2D5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575524"/>
                        <a:ext cx="844550" cy="21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>
            <a:extLst>
              <a:ext uri="{FF2B5EF4-FFF2-40B4-BE49-F238E27FC236}">
                <a16:creationId xmlns:a16="http://schemas.microsoft.com/office/drawing/2014/main" id="{B1D1361B-0341-4416-96D0-345EF5C08BB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14750" y="5534249"/>
          <a:ext cx="10795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5" name="公式" r:id="rId25" imgW="733355" imgH="199923" progId="Equation.3">
                  <p:embed/>
                </p:oleObj>
              </mc:Choice>
              <mc:Fallback>
                <p:oleObj name="公式" r:id="rId25" imgW="733355" imgH="199923" progId="Equation.3">
                  <p:embed/>
                  <p:pic>
                    <p:nvPicPr>
                      <p:cNvPr id="1037" name="Object 13">
                        <a:extLst>
                          <a:ext uri="{FF2B5EF4-FFF2-40B4-BE49-F238E27FC236}">
                            <a16:creationId xmlns:a16="http://schemas.microsoft.com/office/drawing/2014/main" id="{B1D1361B-0341-4416-96D0-345EF5C08B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534249"/>
                        <a:ext cx="10795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14">
            <a:extLst>
              <a:ext uri="{FF2B5EF4-FFF2-40B4-BE49-F238E27FC236}">
                <a16:creationId xmlns:a16="http://schemas.microsoft.com/office/drawing/2014/main" id="{05D20902-DBDD-4B9D-A953-B0CA9F468A4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21100" y="3446686"/>
          <a:ext cx="11366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6" name="公式" r:id="rId27" imgW="733355" imgH="199923" progId="Equation.3">
                  <p:embed/>
                </p:oleObj>
              </mc:Choice>
              <mc:Fallback>
                <p:oleObj name="公式" r:id="rId27" imgW="733355" imgH="199923" progId="Equation.3">
                  <p:embed/>
                  <p:pic>
                    <p:nvPicPr>
                      <p:cNvPr id="1038" name="Object 14">
                        <a:extLst>
                          <a:ext uri="{FF2B5EF4-FFF2-40B4-BE49-F238E27FC236}">
                            <a16:creationId xmlns:a16="http://schemas.microsoft.com/office/drawing/2014/main" id="{05D20902-DBDD-4B9D-A953-B0CA9F468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3446686"/>
                        <a:ext cx="11366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15">
            <a:extLst>
              <a:ext uri="{FF2B5EF4-FFF2-40B4-BE49-F238E27FC236}">
                <a16:creationId xmlns:a16="http://schemas.microsoft.com/office/drawing/2014/main" id="{99CABF44-4D8B-42B9-81BF-A3614AA27B0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41900" y="5245324"/>
          <a:ext cx="95885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7" name="公式" r:id="rId29" imgW="838251" imgH="199923" progId="Equation.3">
                  <p:embed/>
                </p:oleObj>
              </mc:Choice>
              <mc:Fallback>
                <p:oleObj name="公式" r:id="rId29" imgW="838251" imgH="199923" progId="Equation.3">
                  <p:embed/>
                  <p:pic>
                    <p:nvPicPr>
                      <p:cNvPr id="1039" name="Object 15">
                        <a:extLst>
                          <a:ext uri="{FF2B5EF4-FFF2-40B4-BE49-F238E27FC236}">
                            <a16:creationId xmlns:a16="http://schemas.microsoft.com/office/drawing/2014/main" id="{99CABF44-4D8B-42B9-81BF-A3614AA27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5245324"/>
                        <a:ext cx="95885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" name="Object 16">
            <a:extLst>
              <a:ext uri="{FF2B5EF4-FFF2-40B4-BE49-F238E27FC236}">
                <a16:creationId xmlns:a16="http://schemas.microsoft.com/office/drawing/2014/main" id="{AFE98F2F-6823-4929-8C65-09D7A3E3FF7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76825" y="3213324"/>
          <a:ext cx="766763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8" name="公式" r:id="rId31" imgW="1495457" imgH="419134" progId="Equation.3">
                  <p:embed/>
                </p:oleObj>
              </mc:Choice>
              <mc:Fallback>
                <p:oleObj name="公式" r:id="rId31" imgW="1495457" imgH="419134" progId="Equation.3">
                  <p:embed/>
                  <p:pic>
                    <p:nvPicPr>
                      <p:cNvPr id="1040" name="Object 16">
                        <a:extLst>
                          <a:ext uri="{FF2B5EF4-FFF2-40B4-BE49-F238E27FC236}">
                            <a16:creationId xmlns:a16="http://schemas.microsoft.com/office/drawing/2014/main" id="{AFE98F2F-6823-4929-8C65-09D7A3E3F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213324"/>
                        <a:ext cx="766763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" name="Object 17">
            <a:extLst>
              <a:ext uri="{FF2B5EF4-FFF2-40B4-BE49-F238E27FC236}">
                <a16:creationId xmlns:a16="http://schemas.microsoft.com/office/drawing/2014/main" id="{ED217865-2BBE-4A97-B8EB-CB2B1C6EB98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72063" y="3643536"/>
          <a:ext cx="79851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9" name="公式" r:id="rId33" imgW="657206" imgH="190432" progId="Equation.3">
                  <p:embed/>
                </p:oleObj>
              </mc:Choice>
              <mc:Fallback>
                <p:oleObj name="公式" r:id="rId33" imgW="657206" imgH="190432" progId="Equation.3">
                  <p:embed/>
                  <p:pic>
                    <p:nvPicPr>
                      <p:cNvPr id="1041" name="Object 17">
                        <a:extLst>
                          <a:ext uri="{FF2B5EF4-FFF2-40B4-BE49-F238E27FC236}">
                            <a16:creationId xmlns:a16="http://schemas.microsoft.com/office/drawing/2014/main" id="{ED217865-2BBE-4A97-B8EB-CB2B1C6EB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3643536"/>
                        <a:ext cx="79851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" name="Object 18">
            <a:extLst>
              <a:ext uri="{FF2B5EF4-FFF2-40B4-BE49-F238E27FC236}">
                <a16:creationId xmlns:a16="http://schemas.microsoft.com/office/drawing/2014/main" id="{805AD544-E2B6-4B6F-B242-D0C8B6B4E3E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00625" y="4062636"/>
          <a:ext cx="9286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0" name="公式" r:id="rId35" imgW="590537" imgH="400152" progId="Equation.3">
                  <p:embed/>
                </p:oleObj>
              </mc:Choice>
              <mc:Fallback>
                <p:oleObj name="公式" r:id="rId35" imgW="590537" imgH="400152" progId="Equation.3">
                  <p:embed/>
                  <p:pic>
                    <p:nvPicPr>
                      <p:cNvPr id="1042" name="Object 18">
                        <a:extLst>
                          <a:ext uri="{FF2B5EF4-FFF2-40B4-BE49-F238E27FC236}">
                            <a16:creationId xmlns:a16="http://schemas.microsoft.com/office/drawing/2014/main" id="{805AD544-E2B6-4B6F-B242-D0C8B6B4E3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4062636"/>
                        <a:ext cx="9286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" name="Object 19">
            <a:extLst>
              <a:ext uri="{FF2B5EF4-FFF2-40B4-BE49-F238E27FC236}">
                <a16:creationId xmlns:a16="http://schemas.microsoft.com/office/drawing/2014/main" id="{0A2E9CC7-2BFE-4FDA-AD40-84801128512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26025" y="4572224"/>
          <a:ext cx="9032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1" name="公式" r:id="rId37" imgW="618978" imgH="400152" progId="Equation.3">
                  <p:embed/>
                </p:oleObj>
              </mc:Choice>
              <mc:Fallback>
                <p:oleObj name="公式" r:id="rId37" imgW="618978" imgH="400152" progId="Equation.3">
                  <p:embed/>
                  <p:pic>
                    <p:nvPicPr>
                      <p:cNvPr id="1043" name="Object 19">
                        <a:extLst>
                          <a:ext uri="{FF2B5EF4-FFF2-40B4-BE49-F238E27FC236}">
                            <a16:creationId xmlns:a16="http://schemas.microsoft.com/office/drawing/2014/main" id="{0A2E9CC7-2BFE-4FDA-AD40-848011285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4572224"/>
                        <a:ext cx="9032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" name="Object 20">
            <a:extLst>
              <a:ext uri="{FF2B5EF4-FFF2-40B4-BE49-F238E27FC236}">
                <a16:creationId xmlns:a16="http://schemas.microsoft.com/office/drawing/2014/main" id="{5E0645D7-723E-40E4-82AD-0081A841045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286500" y="3418111"/>
          <a:ext cx="11779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2" name="公式" r:id="rId39" imgW="742835" imgH="209414" progId="Equation.3">
                  <p:embed/>
                </p:oleObj>
              </mc:Choice>
              <mc:Fallback>
                <p:oleObj name="公式" r:id="rId39" imgW="742835" imgH="209414" progId="Equation.3">
                  <p:embed/>
                  <p:pic>
                    <p:nvPicPr>
                      <p:cNvPr id="1044" name="Object 20">
                        <a:extLst>
                          <a:ext uri="{FF2B5EF4-FFF2-40B4-BE49-F238E27FC236}">
                            <a16:creationId xmlns:a16="http://schemas.microsoft.com/office/drawing/2014/main" id="{5E0645D7-723E-40E4-82AD-0081A8410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3418111"/>
                        <a:ext cx="11779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5" name="Object 21">
            <a:extLst>
              <a:ext uri="{FF2B5EF4-FFF2-40B4-BE49-F238E27FC236}">
                <a16:creationId xmlns:a16="http://schemas.microsoft.com/office/drawing/2014/main" id="{719FDDD5-743F-43B8-B183-1C8EDB75815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57938" y="4026124"/>
          <a:ext cx="9588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3" name="公式" r:id="rId41" imgW="590537" imgH="400152" progId="Equation.3">
                  <p:embed/>
                </p:oleObj>
              </mc:Choice>
              <mc:Fallback>
                <p:oleObj name="公式" r:id="rId41" imgW="590537" imgH="400152" progId="Equation.3">
                  <p:embed/>
                  <p:pic>
                    <p:nvPicPr>
                      <p:cNvPr id="1045" name="Object 21">
                        <a:extLst>
                          <a:ext uri="{FF2B5EF4-FFF2-40B4-BE49-F238E27FC236}">
                            <a16:creationId xmlns:a16="http://schemas.microsoft.com/office/drawing/2014/main" id="{719FDDD5-743F-43B8-B183-1C8EDB7581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4026124"/>
                        <a:ext cx="9588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>
            <a:extLst>
              <a:ext uri="{FF2B5EF4-FFF2-40B4-BE49-F238E27FC236}">
                <a16:creationId xmlns:a16="http://schemas.microsoft.com/office/drawing/2014/main" id="{84DCC370-104C-444A-9993-E61A3038EB1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29375" y="4572224"/>
          <a:ext cx="9286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4" name="公式" r:id="rId43" imgW="618978" imgH="400152" progId="Equation.3">
                  <p:embed/>
                </p:oleObj>
              </mc:Choice>
              <mc:Fallback>
                <p:oleObj name="公式" r:id="rId43" imgW="618978" imgH="400152" progId="Equation.3">
                  <p:embed/>
                  <p:pic>
                    <p:nvPicPr>
                      <p:cNvPr id="1046" name="Object 22">
                        <a:extLst>
                          <a:ext uri="{FF2B5EF4-FFF2-40B4-BE49-F238E27FC236}">
                            <a16:creationId xmlns:a16="http://schemas.microsoft.com/office/drawing/2014/main" id="{84DCC370-104C-444A-9993-E61A3038EB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572224"/>
                        <a:ext cx="9286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>
            <a:extLst>
              <a:ext uri="{FF2B5EF4-FFF2-40B4-BE49-F238E27FC236}">
                <a16:creationId xmlns:a16="http://schemas.microsoft.com/office/drawing/2014/main" id="{030FF2E0-5F29-48D1-8567-25D800D4CBE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10313" y="2435449"/>
          <a:ext cx="11906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5" name="公式" r:id="rId45" imgW="742835" imgH="199923" progId="Equation.3">
                  <p:embed/>
                </p:oleObj>
              </mc:Choice>
              <mc:Fallback>
                <p:oleObj name="公式" r:id="rId45" imgW="742835" imgH="199923" progId="Equation.3">
                  <p:embed/>
                  <p:pic>
                    <p:nvPicPr>
                      <p:cNvPr id="1047" name="Object 23">
                        <a:extLst>
                          <a:ext uri="{FF2B5EF4-FFF2-40B4-BE49-F238E27FC236}">
                            <a16:creationId xmlns:a16="http://schemas.microsoft.com/office/drawing/2014/main" id="{030FF2E0-5F29-48D1-8567-25D800D4C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3" y="2435449"/>
                        <a:ext cx="11906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>
            <a:extLst>
              <a:ext uri="{FF2B5EF4-FFF2-40B4-BE49-F238E27FC236}">
                <a16:creationId xmlns:a16="http://schemas.microsoft.com/office/drawing/2014/main" id="{5112D6DA-D4DC-4486-8D50-E156F21139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081963" y="2417986"/>
          <a:ext cx="3476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6" name="公式" r:id="rId47" imgW="190525" imgH="199923" progId="Equation.3">
                  <p:embed/>
                </p:oleObj>
              </mc:Choice>
              <mc:Fallback>
                <p:oleObj name="公式" r:id="rId47" imgW="190525" imgH="199923" progId="Equation.3">
                  <p:embed/>
                  <p:pic>
                    <p:nvPicPr>
                      <p:cNvPr id="1048" name="Object 24">
                        <a:extLst>
                          <a:ext uri="{FF2B5EF4-FFF2-40B4-BE49-F238E27FC236}">
                            <a16:creationId xmlns:a16="http://schemas.microsoft.com/office/drawing/2014/main" id="{5112D6DA-D4DC-4486-8D50-E156F2113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1963" y="2417986"/>
                        <a:ext cx="34766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" name="Object 25">
            <a:extLst>
              <a:ext uri="{FF2B5EF4-FFF2-40B4-BE49-F238E27FC236}">
                <a16:creationId xmlns:a16="http://schemas.microsoft.com/office/drawing/2014/main" id="{6FD02EC0-7754-488B-B21F-7050B2B376E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7715250" y="3429224"/>
          <a:ext cx="11430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7" name="公式" r:id="rId49" imgW="762102" imgH="209414" progId="Equation.3">
                  <p:embed/>
                </p:oleObj>
              </mc:Choice>
              <mc:Fallback>
                <p:oleObj name="公式" r:id="rId49" imgW="762102" imgH="209414" progId="Equation.3">
                  <p:embed/>
                  <p:pic>
                    <p:nvPicPr>
                      <p:cNvPr id="1049" name="Object 25">
                        <a:extLst>
                          <a:ext uri="{FF2B5EF4-FFF2-40B4-BE49-F238E27FC236}">
                            <a16:creationId xmlns:a16="http://schemas.microsoft.com/office/drawing/2014/main" id="{6FD02EC0-7754-488B-B21F-7050B2B376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3429224"/>
                        <a:ext cx="11430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Object 26">
            <a:extLst>
              <a:ext uri="{FF2B5EF4-FFF2-40B4-BE49-F238E27FC236}">
                <a16:creationId xmlns:a16="http://schemas.microsoft.com/office/drawing/2014/main" id="{F819A578-B1C0-4620-B4B1-FA185170F3F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11325" y="5235799"/>
          <a:ext cx="70167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8" name="公式" r:id="rId51" imgW="1371600" imgH="466589" progId="Equation.3">
                  <p:embed/>
                </p:oleObj>
              </mc:Choice>
              <mc:Fallback>
                <p:oleObj name="公式" r:id="rId51" imgW="1371600" imgH="466589" progId="Equation.3">
                  <p:embed/>
                  <p:pic>
                    <p:nvPicPr>
                      <p:cNvPr id="1050" name="Object 26">
                        <a:extLst>
                          <a:ext uri="{FF2B5EF4-FFF2-40B4-BE49-F238E27FC236}">
                            <a16:creationId xmlns:a16="http://schemas.microsoft.com/office/drawing/2014/main" id="{F819A578-B1C0-4620-B4B1-FA185170F3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5235799"/>
                        <a:ext cx="70167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Object 27">
            <a:extLst>
              <a:ext uri="{FF2B5EF4-FFF2-40B4-BE49-F238E27FC236}">
                <a16:creationId xmlns:a16="http://schemas.microsoft.com/office/drawing/2014/main" id="{2AD26CA1-CF8E-4AE2-AA35-7C996EE4301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43063" y="5516786"/>
          <a:ext cx="87471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49" name="公式" r:id="rId53" imgW="666686" imgH="199923" progId="Equation.3">
                  <p:embed/>
                </p:oleObj>
              </mc:Choice>
              <mc:Fallback>
                <p:oleObj name="公式" r:id="rId53" imgW="666686" imgH="199923" progId="Equation.3">
                  <p:embed/>
                  <p:pic>
                    <p:nvPicPr>
                      <p:cNvPr id="1051" name="Object 27">
                        <a:extLst>
                          <a:ext uri="{FF2B5EF4-FFF2-40B4-BE49-F238E27FC236}">
                            <a16:creationId xmlns:a16="http://schemas.microsoft.com/office/drawing/2014/main" id="{2AD26CA1-CF8E-4AE2-AA35-7C996EE430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516786"/>
                        <a:ext cx="874712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Object 28">
            <a:extLst>
              <a:ext uri="{FF2B5EF4-FFF2-40B4-BE49-F238E27FC236}">
                <a16:creationId xmlns:a16="http://schemas.microsoft.com/office/drawing/2014/main" id="{A0912E1A-040A-41C8-B854-42D71318159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92263" y="5845399"/>
          <a:ext cx="94932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0" name="公式" r:id="rId55" imgW="1867027" imgH="466589" progId="Equation.3">
                  <p:embed/>
                </p:oleObj>
              </mc:Choice>
              <mc:Fallback>
                <p:oleObj name="公式" r:id="rId55" imgW="1867027" imgH="466589" progId="Equation.3">
                  <p:embed/>
                  <p:pic>
                    <p:nvPicPr>
                      <p:cNvPr id="1052" name="Object 28">
                        <a:extLst>
                          <a:ext uri="{FF2B5EF4-FFF2-40B4-BE49-F238E27FC236}">
                            <a16:creationId xmlns:a16="http://schemas.microsoft.com/office/drawing/2014/main" id="{A0912E1A-040A-41C8-B854-42D7131815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5845399"/>
                        <a:ext cx="94932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1" name="Rectangle 507">
            <a:extLst>
              <a:ext uri="{FF2B5EF4-FFF2-40B4-BE49-F238E27FC236}">
                <a16:creationId xmlns:a16="http://schemas.microsoft.com/office/drawing/2014/main" id="{FC03F5AC-88CA-48A9-B41A-11CB64A21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74749"/>
            <a:ext cx="8358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66"/>
                </a:solidFill>
                <a:latin typeface="Arial" panose="020B0604020202020204" pitchFamily="34" charset="0"/>
              </a:rPr>
              <a:t>理想气体热力学过程有关公式小结</a:t>
            </a:r>
            <a:r>
              <a:rPr lang="zh-CN" altLang="en-US" b="0" dirty="0">
                <a:solidFill>
                  <a:srgbClr val="FFFF66"/>
                </a:solidFill>
                <a:latin typeface="Arial" panose="020B0604020202020204" pitchFamily="34" charset="0"/>
              </a:rPr>
              <a:t>  </a:t>
            </a:r>
          </a:p>
        </p:txBody>
      </p:sp>
      <p:graphicFrame>
        <p:nvGraphicFramePr>
          <p:cNvPr id="1053" name="Object 29">
            <a:extLst>
              <a:ext uri="{FF2B5EF4-FFF2-40B4-BE49-F238E27FC236}">
                <a16:creationId xmlns:a16="http://schemas.microsoft.com/office/drawing/2014/main" id="{033F20D3-F00F-4AFA-919A-D6A6EC4F9F6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14750" y="2448149"/>
          <a:ext cx="11271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1" name="公式" r:id="rId57" imgW="733355" imgH="199923" progId="Equation.3">
                  <p:embed/>
                </p:oleObj>
              </mc:Choice>
              <mc:Fallback>
                <p:oleObj name="公式" r:id="rId57" imgW="733355" imgH="199923" progId="Equation.3">
                  <p:embed/>
                  <p:pic>
                    <p:nvPicPr>
                      <p:cNvPr id="1053" name="Object 29">
                        <a:extLst>
                          <a:ext uri="{FF2B5EF4-FFF2-40B4-BE49-F238E27FC236}">
                            <a16:creationId xmlns:a16="http://schemas.microsoft.com/office/drawing/2014/main" id="{033F20D3-F00F-4AFA-919A-D6A6EC4F9F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2448149"/>
                        <a:ext cx="11271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63" name="灯片编号占位符 1">
            <a:extLst>
              <a:ext uri="{FF2B5EF4-FFF2-40B4-BE49-F238E27FC236}">
                <a16:creationId xmlns:a16="http://schemas.microsoft.com/office/drawing/2014/main" id="{A602D6AC-472E-4CB2-9DC3-9D21AE08A0A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2DBDDF-F67D-4D36-AD31-FCF0C344DE89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graphicFrame>
        <p:nvGraphicFramePr>
          <p:cNvPr id="1054" name="Object 88">
            <a:extLst>
              <a:ext uri="{FF2B5EF4-FFF2-40B4-BE49-F238E27FC236}">
                <a16:creationId xmlns:a16="http://schemas.microsoft.com/office/drawing/2014/main" id="{8444BCA7-3FDD-4CFC-A102-7DB8ADD6136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29188" y="5643786"/>
          <a:ext cx="11541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2" name="公式" r:id="rId59" imgW="1104925" imgH="390661" progId="Equation.3">
                  <p:embed/>
                </p:oleObj>
              </mc:Choice>
              <mc:Fallback>
                <p:oleObj name="公式" r:id="rId59" imgW="1104925" imgH="390661" progId="Equation.3">
                  <p:embed/>
                  <p:pic>
                    <p:nvPicPr>
                      <p:cNvPr id="1054" name="Object 88">
                        <a:extLst>
                          <a:ext uri="{FF2B5EF4-FFF2-40B4-BE49-F238E27FC236}">
                            <a16:creationId xmlns:a16="http://schemas.microsoft.com/office/drawing/2014/main" id="{8444BCA7-3FDD-4CFC-A102-7DB8ADD61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5643786"/>
                        <a:ext cx="11541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" name="Object 89">
            <a:extLst>
              <a:ext uri="{FF2B5EF4-FFF2-40B4-BE49-F238E27FC236}">
                <a16:creationId xmlns:a16="http://schemas.microsoft.com/office/drawing/2014/main" id="{2E29A291-3896-4B0A-AB86-E5C8B395DBC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29250" y="2470374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3" name="公式" r:id="rId61" imgW="95110" imgH="152468" progId="Equation.3">
                  <p:embed/>
                </p:oleObj>
              </mc:Choice>
              <mc:Fallback>
                <p:oleObj name="公式" r:id="rId61" imgW="95110" imgH="152468" progId="Equation.3">
                  <p:embed/>
                  <p:pic>
                    <p:nvPicPr>
                      <p:cNvPr id="1113" name="Object 89">
                        <a:extLst>
                          <a:ext uri="{FF2B5EF4-FFF2-40B4-BE49-F238E27FC236}">
                            <a16:creationId xmlns:a16="http://schemas.microsoft.com/office/drawing/2014/main" id="{2E29A291-3896-4B0A-AB86-E5C8B395D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2470374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" name="Object 90">
            <a:extLst>
              <a:ext uri="{FF2B5EF4-FFF2-40B4-BE49-F238E27FC236}">
                <a16:creationId xmlns:a16="http://schemas.microsoft.com/office/drawing/2014/main" id="{E163A32F-3AD0-4298-A1E7-D4F05351847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143375" y="4429349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4" name="公式" r:id="rId63" imgW="95110" imgH="152468" progId="Equation.3">
                  <p:embed/>
                </p:oleObj>
              </mc:Choice>
              <mc:Fallback>
                <p:oleObj name="公式" r:id="rId63" imgW="95110" imgH="152468" progId="Equation.3">
                  <p:embed/>
                  <p:pic>
                    <p:nvPicPr>
                      <p:cNvPr id="1114" name="Object 90">
                        <a:extLst>
                          <a:ext uri="{FF2B5EF4-FFF2-40B4-BE49-F238E27FC236}">
                            <a16:creationId xmlns:a16="http://schemas.microsoft.com/office/drawing/2014/main" id="{E163A32F-3AD0-4298-A1E7-D4F0535184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4429349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" name="Object 91">
            <a:extLst>
              <a:ext uri="{FF2B5EF4-FFF2-40B4-BE49-F238E27FC236}">
                <a16:creationId xmlns:a16="http://schemas.microsoft.com/office/drawing/2014/main" id="{35DB623F-A038-49CD-AA56-52C0EBD5E85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86563" y="5572349"/>
          <a:ext cx="20478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5" name="公式" r:id="rId65" imgW="95110" imgH="152468" progId="Equation.3">
                  <p:embed/>
                </p:oleObj>
              </mc:Choice>
              <mc:Fallback>
                <p:oleObj name="公式" r:id="rId65" imgW="95110" imgH="152468" progId="Equation.3">
                  <p:embed/>
                  <p:pic>
                    <p:nvPicPr>
                      <p:cNvPr id="1115" name="Object 91">
                        <a:extLst>
                          <a:ext uri="{FF2B5EF4-FFF2-40B4-BE49-F238E27FC236}">
                            <a16:creationId xmlns:a16="http://schemas.microsoft.com/office/drawing/2014/main" id="{35DB623F-A038-49CD-AA56-52C0EBD5E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5572349"/>
                        <a:ext cx="204787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" name="Object 92">
            <a:extLst>
              <a:ext uri="{FF2B5EF4-FFF2-40B4-BE49-F238E27FC236}">
                <a16:creationId xmlns:a16="http://schemas.microsoft.com/office/drawing/2014/main" id="{90335CC2-E3A5-4B9E-97A7-68C1A640192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215313" y="5572349"/>
          <a:ext cx="20478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6" name="公式" r:id="rId67" imgW="95110" imgH="152468" progId="Equation.3">
                  <p:embed/>
                </p:oleObj>
              </mc:Choice>
              <mc:Fallback>
                <p:oleObj name="公式" r:id="rId67" imgW="95110" imgH="152468" progId="Equation.3">
                  <p:embed/>
                  <p:pic>
                    <p:nvPicPr>
                      <p:cNvPr id="1116" name="Object 92">
                        <a:extLst>
                          <a:ext uri="{FF2B5EF4-FFF2-40B4-BE49-F238E27FC236}">
                            <a16:creationId xmlns:a16="http://schemas.microsoft.com/office/drawing/2014/main" id="{90335CC2-E3A5-4B9E-97A7-68C1A6401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5313" y="5572349"/>
                        <a:ext cx="204787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3">
            <a:extLst>
              <a:ext uri="{FF2B5EF4-FFF2-40B4-BE49-F238E27FC236}">
                <a16:creationId xmlns:a16="http://schemas.microsoft.com/office/drawing/2014/main" id="{BE767450-BF05-42CF-BB78-0B032FB9B10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143875" y="4510311"/>
          <a:ext cx="246063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57" name="公式" r:id="rId69" imgW="123857" imgH="95216" progId="Equation.3">
                  <p:embed/>
                </p:oleObj>
              </mc:Choice>
              <mc:Fallback>
                <p:oleObj name="公式" r:id="rId69" imgW="123857" imgH="95216" progId="Equation.3">
                  <p:embed/>
                  <p:pic>
                    <p:nvPicPr>
                      <p:cNvPr id="2" name="Object 93">
                        <a:extLst>
                          <a:ext uri="{FF2B5EF4-FFF2-40B4-BE49-F238E27FC236}">
                            <a16:creationId xmlns:a16="http://schemas.microsoft.com/office/drawing/2014/main" id="{BE767450-BF05-42CF-BB78-0B032FB9B1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75" y="4510311"/>
                        <a:ext cx="246063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>
            <a:extLst>
              <a:ext uri="{FF2B5EF4-FFF2-40B4-BE49-F238E27FC236}">
                <a16:creationId xmlns:a16="http://schemas.microsoft.com/office/drawing/2014/main" id="{5CD149EC-9AF4-4667-A109-F597CDD14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511175"/>
            <a:ext cx="3090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CC"/>
              </a:buClr>
              <a:buFont typeface="Wingdings" panose="05000000000000000000" pitchFamily="2" charset="2"/>
              <a:buChar char="&amp;"/>
            </a:pPr>
            <a:r>
              <a:rPr kumimoji="0"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解题思路与方法：</a:t>
            </a:r>
          </a:p>
        </p:txBody>
      </p:sp>
      <p:sp>
        <p:nvSpPr>
          <p:cNvPr id="140293" name="Rectangle 5">
            <a:extLst>
              <a:ext uri="{FF2B5EF4-FFF2-40B4-BE49-F238E27FC236}">
                <a16:creationId xmlns:a16="http://schemas.microsoft.com/office/drawing/2014/main" id="{4BC3E423-5367-4E05-9B69-EF3B84536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980728"/>
            <a:ext cx="7848600" cy="1128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zh-CN" altLang="en-US" u="sng" dirty="0">
                <a:solidFill>
                  <a:schemeClr val="bg1"/>
                </a:solidFill>
                <a:latin typeface="Arial" panose="020B0604020202020204" pitchFamily="34" charset="0"/>
              </a:rPr>
              <a:t>热力学第一定律在几种典型的准静态过程中的应用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，注意以下几点：</a:t>
            </a:r>
          </a:p>
        </p:txBody>
      </p:sp>
      <p:sp>
        <p:nvSpPr>
          <p:cNvPr id="140294" name="Text Box 6">
            <a:extLst>
              <a:ext uri="{FF2B5EF4-FFF2-40B4-BE49-F238E27FC236}">
                <a16:creationId xmlns:a16="http://schemas.microsoft.com/office/drawing/2014/main" id="{DEBE46BE-9176-4D88-A63B-5C61BD2FA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7" y="2292250"/>
            <a:ext cx="7848600" cy="1001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41325" indent="-441325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0" lang="en-US" altLang="zh-CN" dirty="0">
                <a:solidFill>
                  <a:schemeClr val="bg1"/>
                </a:solidFill>
              </a:rPr>
              <a:t>(1)</a:t>
            </a:r>
            <a:r>
              <a:rPr kumimoji="0" lang="en-US" altLang="zh-CN" dirty="0">
                <a:solidFill>
                  <a:schemeClr val="bg1"/>
                </a:solidFill>
                <a:latin typeface="Arial" pitchFamily="34" charset="0"/>
              </a:rPr>
              <a:t> </a:t>
            </a:r>
            <a:r>
              <a:rPr kumimoji="0" lang="zh-CN" altLang="en-US" dirty="0">
                <a:solidFill>
                  <a:srgbClr val="FFFF00"/>
                </a:solidFill>
                <a:latin typeface="Arial" pitchFamily="34" charset="0"/>
              </a:rPr>
              <a:t>明确准静态过程及其始末状态</a:t>
            </a:r>
            <a:r>
              <a:rPr kumimoji="0" lang="zh-CN" altLang="en-US" dirty="0">
                <a:solidFill>
                  <a:schemeClr val="bg1"/>
                </a:solidFill>
                <a:latin typeface="Arial" pitchFamily="34" charset="0"/>
              </a:rPr>
              <a:t>，根据题设条件及过程方程或状态方程，求出始末状态的</a:t>
            </a:r>
            <a:r>
              <a:rPr kumimoji="0" lang="zh-CN" altLang="en-US" dirty="0">
                <a:solidFill>
                  <a:srgbClr val="FFFF00"/>
                </a:solidFill>
                <a:latin typeface="Arial" pitchFamily="34" charset="0"/>
              </a:rPr>
              <a:t>状态参量 </a:t>
            </a:r>
            <a:r>
              <a:rPr kumimoji="0" lang="en-US" altLang="zh-CN" b="0" i="1" dirty="0">
                <a:solidFill>
                  <a:srgbClr val="FFFF00"/>
                </a:solidFill>
                <a:ea typeface="黑体" pitchFamily="49" charset="-122"/>
              </a:rPr>
              <a:t>p</a:t>
            </a:r>
            <a:r>
              <a:rPr kumimoji="0" lang="zh-CN" altLang="en-US" b="0" i="1" dirty="0">
                <a:solidFill>
                  <a:srgbClr val="FFFF00"/>
                </a:solidFill>
                <a:latin typeface="+mn-ea"/>
                <a:ea typeface="+mn-ea"/>
              </a:rPr>
              <a:t>、</a:t>
            </a:r>
            <a:r>
              <a:rPr kumimoji="0" lang="en-US" altLang="zh-CN" b="0" i="1" dirty="0">
                <a:solidFill>
                  <a:srgbClr val="FFFF00"/>
                </a:solidFill>
                <a:ea typeface="黑体" pitchFamily="49" charset="-122"/>
              </a:rPr>
              <a:t>V</a:t>
            </a:r>
            <a:r>
              <a:rPr kumimoji="0" lang="zh-CN" altLang="en-US" b="0" i="1" dirty="0">
                <a:solidFill>
                  <a:srgbClr val="FFFF00"/>
                </a:solidFill>
                <a:latin typeface="+mn-ea"/>
                <a:ea typeface="+mn-ea"/>
              </a:rPr>
              <a:t>、</a:t>
            </a:r>
            <a:r>
              <a:rPr kumimoji="0" lang="en-US" altLang="zh-CN" b="0" i="1" dirty="0">
                <a:solidFill>
                  <a:srgbClr val="FFFF00"/>
                </a:solidFill>
                <a:ea typeface="黑体" pitchFamily="49" charset="-122"/>
              </a:rPr>
              <a:t>T</a:t>
            </a:r>
            <a:endParaRPr kumimoji="0" lang="en-US" altLang="zh-CN" b="0" dirty="0">
              <a:solidFill>
                <a:srgbClr val="FFFF00"/>
              </a:solidFill>
              <a:latin typeface="Arial" pitchFamily="34" charset="0"/>
            </a:endParaRPr>
          </a:p>
        </p:txBody>
      </p:sp>
      <p:sp>
        <p:nvSpPr>
          <p:cNvPr id="140295" name="Rectangle 7">
            <a:extLst>
              <a:ext uri="{FF2B5EF4-FFF2-40B4-BE49-F238E27FC236}">
                <a16:creationId xmlns:a16="http://schemas.microsoft.com/office/drawing/2014/main" id="{58563457-BEB9-42B7-AA3A-90188B6B0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7" y="3498750"/>
            <a:ext cx="7777163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42913" indent="-442913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zh-CN" dirty="0">
                <a:solidFill>
                  <a:schemeClr val="bg1"/>
                </a:solidFill>
              </a:rPr>
              <a:t>(2)</a:t>
            </a:r>
            <a:r>
              <a:rPr kumimoji="0"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应用</a:t>
            </a:r>
            <a:r>
              <a:rPr kumimoji="0"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热量</a:t>
            </a:r>
            <a:r>
              <a:rPr kumimoji="0"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﹑</a:t>
            </a:r>
            <a:r>
              <a:rPr kumimoji="0"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功</a:t>
            </a:r>
            <a:r>
              <a:rPr kumimoji="0"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﹑</a:t>
            </a:r>
            <a:r>
              <a:rPr kumimoji="0"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内能的定义式和热力学第一定律，求解待求量</a:t>
            </a:r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特别注意，</a:t>
            </a:r>
            <a:r>
              <a:rPr kumimoji="0" lang="zh-CN" altLang="en-US" i="1" dirty="0">
                <a:solidFill>
                  <a:schemeClr val="bg1"/>
                </a:solidFill>
                <a:latin typeface="Arial" panose="020B0604020202020204" pitchFamily="34" charset="0"/>
              </a:rPr>
              <a:t>功与热量与过程有关，内能与过程无关</a:t>
            </a:r>
            <a:endParaRPr kumimoji="0" lang="en-US" altLang="zh-CN" b="0" i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0296" name="Rectangle 8">
            <a:extLst>
              <a:ext uri="{FF2B5EF4-FFF2-40B4-BE49-F238E27FC236}">
                <a16:creationId xmlns:a16="http://schemas.microsoft.com/office/drawing/2014/main" id="{798897DD-441C-4428-98F6-C2FD11A94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37" y="4968775"/>
            <a:ext cx="7815263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41325" indent="-4413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en-US" altLang="zh-CN" dirty="0">
                <a:solidFill>
                  <a:schemeClr val="bg1"/>
                </a:solidFill>
              </a:rPr>
              <a:t>(3)</a:t>
            </a:r>
            <a:r>
              <a:rPr kumimoji="0"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理想气体在几个</a:t>
            </a:r>
            <a:r>
              <a:rPr kumimoji="0"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等值过程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及</a:t>
            </a:r>
            <a:r>
              <a:rPr kumimoji="0"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绝热过程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中的有关公式经常用到，</a:t>
            </a:r>
            <a:r>
              <a:rPr kumimoji="0" lang="zh-CN" altLang="en-US" dirty="0">
                <a:solidFill>
                  <a:srgbClr val="FFFF00"/>
                </a:solidFill>
                <a:latin typeface="Arial" panose="020B0604020202020204" pitchFamily="34" charset="0"/>
              </a:rPr>
              <a:t>熟练掌握</a:t>
            </a:r>
            <a:r>
              <a:rPr kumimoji="0"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这些公式会给计算带来许多方便</a:t>
            </a:r>
            <a:endParaRPr kumimoji="0"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7" name="灯片编号占位符 1">
            <a:extLst>
              <a:ext uri="{FF2B5EF4-FFF2-40B4-BE49-F238E27FC236}">
                <a16:creationId xmlns:a16="http://schemas.microsoft.com/office/drawing/2014/main" id="{FE772129-48A5-4D6A-B948-E74E145D67B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97F8E3-0A86-4285-B133-186DE57AD648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8" name="五角星 7">
            <a:extLst>
              <a:ext uri="{FF2B5EF4-FFF2-40B4-BE49-F238E27FC236}">
                <a16:creationId xmlns:a16="http://schemas.microsoft.com/office/drawing/2014/main" id="{F540DEFB-647A-48BE-A60A-2CF0D0D2881F}"/>
              </a:ext>
            </a:extLst>
          </p:cNvPr>
          <p:cNvSpPr/>
          <p:nvPr/>
        </p:nvSpPr>
        <p:spPr bwMode="auto">
          <a:xfrm>
            <a:off x="179512" y="4968775"/>
            <a:ext cx="642938" cy="642938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32486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9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  <p:bldP spid="140293" grpId="0"/>
      <p:bldP spid="140294" grpId="0"/>
      <p:bldP spid="140295" grpId="0"/>
      <p:bldP spid="14029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1">
            <a:extLst>
              <a:ext uri="{FF2B5EF4-FFF2-40B4-BE49-F238E27FC236}">
                <a16:creationId xmlns:a16="http://schemas.microsoft.com/office/drawing/2014/main" id="{6559CAB6-5D14-4935-953B-D4EC9E1EA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47461" name="Text Box 1029">
            <a:extLst>
              <a:ext uri="{FF2B5EF4-FFF2-40B4-BE49-F238E27FC236}">
                <a16:creationId xmlns:a16="http://schemas.microsoft.com/office/drawing/2014/main" id="{DD839D63-2D96-40E0-9ACB-6A8CFB547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08050"/>
            <a:ext cx="7848227" cy="10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0850" indent="-4508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0" lang="en-US" altLang="zh-CN" dirty="0">
                <a:solidFill>
                  <a:schemeClr val="bg1"/>
                </a:solidFill>
              </a:rPr>
              <a:t>(1) </a:t>
            </a:r>
            <a:r>
              <a:rPr kumimoji="0" lang="zh-CN" altLang="en-US" dirty="0">
                <a:solidFill>
                  <a:schemeClr val="bg1"/>
                </a:solidFill>
              </a:rPr>
              <a:t>理想气体</a:t>
            </a:r>
            <a:r>
              <a:rPr kumimoji="0" lang="zh-CN" altLang="en-US" dirty="0">
                <a:solidFill>
                  <a:srgbClr val="FF0000"/>
                </a:solidFill>
              </a:rPr>
              <a:t>内能</a:t>
            </a:r>
            <a:r>
              <a:rPr kumimoji="0" lang="zh-CN" altLang="en-US" dirty="0">
                <a:solidFill>
                  <a:schemeClr val="bg1"/>
                </a:solidFill>
              </a:rPr>
              <a:t>是温度的单值函数 </a:t>
            </a:r>
            <a:r>
              <a:rPr kumimoji="0" lang="en-US" altLang="zh-CN" dirty="0">
                <a:solidFill>
                  <a:schemeClr val="bg1"/>
                </a:solidFill>
              </a:rPr>
              <a:t>(</a:t>
            </a:r>
            <a:r>
              <a:rPr kumimoji="0" lang="zh-CN" altLang="en-US" dirty="0">
                <a:solidFill>
                  <a:srgbClr val="FF0000"/>
                </a:solidFill>
              </a:rPr>
              <a:t>状态量</a:t>
            </a:r>
            <a:r>
              <a:rPr kumimoji="0" lang="en-US" altLang="zh-CN" dirty="0">
                <a:solidFill>
                  <a:schemeClr val="bg1"/>
                </a:solidFill>
              </a:rPr>
              <a:t>)</a:t>
            </a:r>
            <a:r>
              <a:rPr kumimoji="0" lang="zh-CN" altLang="en-US" dirty="0">
                <a:solidFill>
                  <a:schemeClr val="bg1"/>
                </a:solidFill>
              </a:rPr>
              <a:t>，</a:t>
            </a:r>
            <a:r>
              <a:rPr kumimoji="0" lang="zh-CN" altLang="en-US" i="1" dirty="0">
                <a:solidFill>
                  <a:srgbClr val="FFC000"/>
                </a:solidFill>
              </a:rPr>
              <a:t>任何过程只要始、末状态确定，内能变化确定，与过程无关</a:t>
            </a:r>
            <a:endParaRPr kumimoji="0" lang="en-US" altLang="zh-CN" i="1" dirty="0">
              <a:solidFill>
                <a:srgbClr val="FFC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7465" name="Text Box 1033">
            <a:extLst>
              <a:ext uri="{FF2B5EF4-FFF2-40B4-BE49-F238E27FC236}">
                <a16:creationId xmlns:a16="http://schemas.microsoft.com/office/drawing/2014/main" id="{DDF3B323-2703-436D-98F3-9A5C19905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755901"/>
            <a:ext cx="8351837" cy="4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0" lang="en-US" altLang="zh-CN" dirty="0">
                <a:solidFill>
                  <a:schemeClr val="bg1"/>
                </a:solidFill>
              </a:rPr>
              <a:t>(2) </a:t>
            </a:r>
            <a:r>
              <a:rPr kumimoji="0" lang="zh-CN" altLang="en-US" dirty="0">
                <a:solidFill>
                  <a:srgbClr val="FF0000"/>
                </a:solidFill>
              </a:rPr>
              <a:t>功</a:t>
            </a:r>
            <a:r>
              <a:rPr kumimoji="0" lang="zh-CN" altLang="en-US" dirty="0">
                <a:solidFill>
                  <a:schemeClr val="bg1"/>
                </a:solidFill>
              </a:rPr>
              <a:t>和</a:t>
            </a:r>
            <a:r>
              <a:rPr kumimoji="0" lang="zh-CN" altLang="en-US" dirty="0">
                <a:solidFill>
                  <a:srgbClr val="FF0000"/>
                </a:solidFill>
              </a:rPr>
              <a:t>热量</a:t>
            </a:r>
            <a:r>
              <a:rPr kumimoji="0" lang="zh-CN" altLang="en-US" dirty="0">
                <a:solidFill>
                  <a:schemeClr val="bg1"/>
                </a:solidFill>
              </a:rPr>
              <a:t>是</a:t>
            </a:r>
            <a:r>
              <a:rPr kumimoji="0" lang="zh-CN" altLang="en-US" dirty="0">
                <a:solidFill>
                  <a:srgbClr val="FF0000"/>
                </a:solidFill>
              </a:rPr>
              <a:t>过程量</a:t>
            </a:r>
            <a:r>
              <a:rPr kumimoji="0" lang="zh-CN" altLang="en-US" dirty="0">
                <a:solidFill>
                  <a:schemeClr val="bg1"/>
                </a:solidFill>
              </a:rPr>
              <a:t>，讲某一状态的功、热量没有意义</a:t>
            </a:r>
            <a:endParaRPr kumimoji="0"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341" name="Rectangle 1036">
            <a:extLst>
              <a:ext uri="{FF2B5EF4-FFF2-40B4-BE49-F238E27FC236}">
                <a16:creationId xmlns:a16="http://schemas.microsoft.com/office/drawing/2014/main" id="{A96AF9EE-86CD-454F-AD44-42116FB5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4342" name="Rectangle 1039">
            <a:extLst>
              <a:ext uri="{FF2B5EF4-FFF2-40B4-BE49-F238E27FC236}">
                <a16:creationId xmlns:a16="http://schemas.microsoft.com/office/drawing/2014/main" id="{50CBD7C1-9480-4E78-A3D4-1D50C69B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47469" name="Text Box 1037">
            <a:extLst>
              <a:ext uri="{FF2B5EF4-FFF2-40B4-BE49-F238E27FC236}">
                <a16:creationId xmlns:a16="http://schemas.microsoft.com/office/drawing/2014/main" id="{7B2C2545-A4C7-4702-AFB9-0BC0EAD10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57563"/>
            <a:ext cx="8137525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0850" indent="-4508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0" lang="zh-CN" altLang="en-US" dirty="0">
                <a:solidFill>
                  <a:srgbClr val="FF0000"/>
                </a:solidFill>
                <a:latin typeface="仿宋_GB2312"/>
              </a:rPr>
              <a:t>功的</a:t>
            </a:r>
            <a:r>
              <a:rPr kumimoji="0" lang="zh-CN" altLang="en-US" dirty="0">
                <a:solidFill>
                  <a:srgbClr val="FF0000"/>
                </a:solidFill>
              </a:rPr>
              <a:t>计算</a:t>
            </a:r>
            <a:r>
              <a:rPr kumimoji="0" lang="zh-CN" altLang="en-US" dirty="0">
                <a:solidFill>
                  <a:schemeClr val="bg1"/>
                </a:solidFill>
                <a:latin typeface="仿宋_GB2312"/>
              </a:rPr>
              <a:t>：由                            出发，由过程方程找到</a:t>
            </a:r>
            <a:r>
              <a:rPr kumimoji="0" lang="zh-CN" altLang="en-US" dirty="0">
                <a:solidFill>
                  <a:schemeClr val="bg1"/>
                </a:solidFill>
              </a:rPr>
              <a:t>  </a:t>
            </a:r>
            <a:r>
              <a:rPr kumimoji="0" lang="en-US" altLang="zh-CN" i="1" dirty="0">
                <a:solidFill>
                  <a:srgbClr val="FFCC66"/>
                </a:solidFill>
              </a:rPr>
              <a:t>p</a:t>
            </a:r>
            <a:r>
              <a:rPr kumimoji="0" lang="en-US" altLang="zh-CN" dirty="0">
                <a:solidFill>
                  <a:srgbClr val="FFCC66"/>
                </a:solidFill>
              </a:rPr>
              <a:t>–</a:t>
            </a:r>
            <a:r>
              <a:rPr kumimoji="0" lang="en-US" altLang="zh-CN" i="1" dirty="0">
                <a:solidFill>
                  <a:srgbClr val="FFCC66"/>
                </a:solidFill>
              </a:rPr>
              <a:t>V</a:t>
            </a:r>
            <a:endParaRPr kumimoji="0" lang="en-US" altLang="zh-CN" dirty="0">
              <a:solidFill>
                <a:srgbClr val="FFCC66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zh-CN" altLang="en-US" dirty="0">
                <a:solidFill>
                  <a:schemeClr val="bg1"/>
                </a:solidFill>
                <a:latin typeface="仿宋_GB2312"/>
              </a:rPr>
              <a:t>关系，代入积分求解</a:t>
            </a:r>
            <a:endParaRPr kumimoji="0" lang="en-US" altLang="zh-CN" dirty="0">
              <a:solidFill>
                <a:schemeClr val="bg1"/>
              </a:solidFill>
              <a:latin typeface="仿宋_GB2312"/>
            </a:endParaRPr>
          </a:p>
        </p:txBody>
      </p:sp>
      <p:sp>
        <p:nvSpPr>
          <p:cNvPr id="147474" name="Text Box 1042">
            <a:extLst>
              <a:ext uri="{FF2B5EF4-FFF2-40B4-BE49-F238E27FC236}">
                <a16:creationId xmlns:a16="http://schemas.microsoft.com/office/drawing/2014/main" id="{7091D8D9-E033-4E8D-B95A-29386E906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70412"/>
            <a:ext cx="7890643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zh-CN" altLang="en-US" dirty="0">
                <a:solidFill>
                  <a:srgbClr val="FF0000"/>
                </a:solidFill>
              </a:rPr>
              <a:t>热量的计算</a:t>
            </a:r>
            <a:r>
              <a:rPr kumimoji="0" lang="zh-CN" altLang="en-US" dirty="0">
                <a:solidFill>
                  <a:schemeClr val="bg1"/>
                </a:solidFill>
              </a:rPr>
              <a:t>：</a:t>
            </a:r>
            <a:r>
              <a:rPr kumimoji="0" lang="zh-CN" altLang="en-US" dirty="0">
                <a:solidFill>
                  <a:schemeClr val="bg1"/>
                </a:solidFill>
                <a:latin typeface="仿宋_GB2312"/>
              </a:rPr>
              <a:t>由                                    出发，</a:t>
            </a:r>
            <a:r>
              <a:rPr kumimoji="0" lang="zh-CN" altLang="en-US" dirty="0">
                <a:solidFill>
                  <a:schemeClr val="bg1"/>
                </a:solidFill>
              </a:rPr>
              <a:t>摩尔热容 </a:t>
            </a:r>
            <a:r>
              <a:rPr kumimoji="0" lang="en-US" altLang="zh-CN" i="1" dirty="0" err="1">
                <a:solidFill>
                  <a:srgbClr val="FFCC66"/>
                </a:solidFill>
              </a:rPr>
              <a:t>C</a:t>
            </a:r>
            <a:r>
              <a:rPr kumimoji="0" lang="en-US" altLang="zh-CN" i="1" baseline="-25000" dirty="0" err="1">
                <a:solidFill>
                  <a:srgbClr val="FFCC66"/>
                </a:solidFill>
              </a:rPr>
              <a:t>x</a:t>
            </a:r>
            <a:r>
              <a:rPr kumimoji="0" lang="en-US" altLang="zh-CN" i="1" baseline="-25000" dirty="0">
                <a:solidFill>
                  <a:srgbClr val="FFCC66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是过程量，等体过程 </a:t>
            </a:r>
            <a:r>
              <a:rPr kumimoji="0" lang="en-US" altLang="zh-CN" i="1" dirty="0" err="1">
                <a:solidFill>
                  <a:srgbClr val="FFCC66"/>
                </a:solidFill>
              </a:rPr>
              <a:t>C</a:t>
            </a:r>
            <a:r>
              <a:rPr kumimoji="0" lang="en-US" altLang="zh-CN" i="1" baseline="-25000" dirty="0" err="1">
                <a:solidFill>
                  <a:srgbClr val="FFCC66"/>
                </a:solidFill>
              </a:rPr>
              <a:t>x</a:t>
            </a:r>
            <a:r>
              <a:rPr kumimoji="0" lang="en-US" altLang="zh-CN" i="1" dirty="0">
                <a:solidFill>
                  <a:srgbClr val="FFCC66"/>
                </a:solidFill>
              </a:rPr>
              <a:t>= C</a:t>
            </a:r>
            <a:r>
              <a:rPr kumimoji="0" lang="en-US" altLang="zh-CN" i="1" baseline="-25000" dirty="0">
                <a:solidFill>
                  <a:srgbClr val="FFCC66"/>
                </a:solidFill>
              </a:rPr>
              <a:t>V </a:t>
            </a:r>
            <a:r>
              <a:rPr kumimoji="0" lang="zh-CN" altLang="en-US" dirty="0">
                <a:solidFill>
                  <a:schemeClr val="bg1"/>
                </a:solidFill>
              </a:rPr>
              <a:t>；等压过程 </a:t>
            </a:r>
            <a:r>
              <a:rPr kumimoji="0" lang="en-US" altLang="zh-CN" i="1" dirty="0" err="1">
                <a:solidFill>
                  <a:srgbClr val="FFCC66"/>
                </a:solidFill>
              </a:rPr>
              <a:t>C</a:t>
            </a:r>
            <a:r>
              <a:rPr kumimoji="0" lang="en-US" altLang="zh-CN" i="1" baseline="-25000" dirty="0" err="1">
                <a:solidFill>
                  <a:srgbClr val="FFCC66"/>
                </a:solidFill>
              </a:rPr>
              <a:t>x</a:t>
            </a:r>
            <a:r>
              <a:rPr kumimoji="0" lang="en-US" altLang="zh-CN" i="1" dirty="0">
                <a:solidFill>
                  <a:srgbClr val="FFCC66"/>
                </a:solidFill>
              </a:rPr>
              <a:t>= C</a:t>
            </a:r>
            <a:r>
              <a:rPr kumimoji="0" lang="en-US" altLang="zh-CN" i="1" baseline="-25000" dirty="0">
                <a:solidFill>
                  <a:srgbClr val="FFCC66"/>
                </a:solidFill>
              </a:rPr>
              <a:t>p </a:t>
            </a:r>
            <a:r>
              <a:rPr kumimoji="0" lang="zh-CN" altLang="en-US" dirty="0">
                <a:solidFill>
                  <a:schemeClr val="bg1"/>
                </a:solidFill>
              </a:rPr>
              <a:t>；绝热过程</a:t>
            </a:r>
            <a:r>
              <a:rPr kumimoji="0" lang="en-US" altLang="zh-CN" i="1" dirty="0" err="1">
                <a:solidFill>
                  <a:srgbClr val="FFCC66"/>
                </a:solidFill>
              </a:rPr>
              <a:t>C</a:t>
            </a:r>
            <a:r>
              <a:rPr kumimoji="0" lang="en-US" altLang="zh-CN" i="1" baseline="-25000" dirty="0" err="1">
                <a:solidFill>
                  <a:srgbClr val="FFCC66"/>
                </a:solidFill>
              </a:rPr>
              <a:t>x</a:t>
            </a:r>
            <a:r>
              <a:rPr kumimoji="0" lang="en-US" altLang="zh-CN" i="1" dirty="0">
                <a:solidFill>
                  <a:srgbClr val="FFCC66"/>
                </a:solidFill>
              </a:rPr>
              <a:t> = </a:t>
            </a:r>
            <a:r>
              <a:rPr kumimoji="0" lang="en-US" altLang="zh-CN" dirty="0">
                <a:solidFill>
                  <a:srgbClr val="FFCC66"/>
                </a:solidFill>
              </a:rPr>
              <a:t>0</a:t>
            </a:r>
            <a:r>
              <a:rPr kumimoji="0" lang="zh-CN" altLang="en-US" dirty="0">
                <a:solidFill>
                  <a:schemeClr val="bg1"/>
                </a:solidFill>
              </a:rPr>
              <a:t>；等温过程（ </a:t>
            </a:r>
            <a:r>
              <a:rPr kumimoji="0" lang="en-US" altLang="zh-CN" i="1" dirty="0" err="1">
                <a:solidFill>
                  <a:srgbClr val="FFCC66"/>
                </a:solidFill>
              </a:rPr>
              <a:t>C</a:t>
            </a:r>
            <a:r>
              <a:rPr kumimoji="0" lang="en-US" altLang="zh-CN" i="1" baseline="-25000" dirty="0" err="1">
                <a:solidFill>
                  <a:srgbClr val="FFCC66"/>
                </a:solidFill>
              </a:rPr>
              <a:t>x</a:t>
            </a:r>
            <a:r>
              <a:rPr kumimoji="0" lang="en-US" altLang="zh-CN" i="1" dirty="0">
                <a:solidFill>
                  <a:srgbClr val="FFCC66"/>
                </a:solidFill>
              </a:rPr>
              <a:t> =</a:t>
            </a:r>
            <a:r>
              <a:rPr kumimoji="0" lang="en-US" altLang="zh-CN" i="1" dirty="0">
                <a:solidFill>
                  <a:srgbClr val="FFCC99"/>
                </a:solidFill>
              </a:rPr>
              <a:t> </a:t>
            </a:r>
            <a:r>
              <a:rPr kumimoji="0" lang="en-US" altLang="zh-CN" dirty="0">
                <a:solidFill>
                  <a:srgbClr val="FFCC99"/>
                </a:solidFill>
              </a:rPr>
              <a:t>∞</a:t>
            </a:r>
            <a:r>
              <a:rPr kumimoji="0" lang="zh-CN" altLang="en-US" dirty="0">
                <a:solidFill>
                  <a:srgbClr val="FFCC99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）的热量按照 </a:t>
            </a:r>
            <a:r>
              <a:rPr kumimoji="0" lang="en-US" altLang="zh-CN" i="1" dirty="0">
                <a:solidFill>
                  <a:srgbClr val="FFCC66"/>
                </a:solidFill>
              </a:rPr>
              <a:t>Q = A </a:t>
            </a:r>
            <a:r>
              <a:rPr kumimoji="0" lang="zh-CN" altLang="en-US" dirty="0">
                <a:solidFill>
                  <a:schemeClr val="bg1"/>
                </a:solidFill>
              </a:rPr>
              <a:t>计算</a:t>
            </a:r>
            <a:endParaRPr kumimoji="0" lang="en-US" altLang="zh-CN" dirty="0">
              <a:solidFill>
                <a:schemeClr val="bg1"/>
              </a:solidFill>
            </a:endParaRPr>
          </a:p>
        </p:txBody>
      </p:sp>
      <p:sp>
        <p:nvSpPr>
          <p:cNvPr id="147481" name="Text Box 1049">
            <a:extLst>
              <a:ext uri="{FF2B5EF4-FFF2-40B4-BE49-F238E27FC236}">
                <a16:creationId xmlns:a16="http://schemas.microsoft.com/office/drawing/2014/main" id="{9D639EBA-09AF-4156-8FA1-D5DC7BE6A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96" y="404813"/>
            <a:ext cx="856907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b="0" dirty="0">
                <a:solidFill>
                  <a:srgbClr val="00FF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  </a:t>
            </a:r>
            <a:r>
              <a:rPr kumimoji="0" lang="zh-CN" altLang="en-US" u="sng" dirty="0">
                <a:solidFill>
                  <a:schemeClr val="bg1"/>
                </a:solidFill>
                <a:latin typeface="Arial" panose="020B0604020202020204" pitchFamily="34" charset="0"/>
              </a:rPr>
              <a:t>准静态过程中的功、热量和内能改变量的计算：</a:t>
            </a:r>
          </a:p>
        </p:txBody>
      </p:sp>
      <p:graphicFrame>
        <p:nvGraphicFramePr>
          <p:cNvPr id="5" name="Object 1045">
            <a:extLst>
              <a:ext uri="{FF2B5EF4-FFF2-40B4-BE49-F238E27FC236}">
                <a16:creationId xmlns:a16="http://schemas.microsoft.com/office/drawing/2014/main" id="{3537127B-C0A2-494F-A5C7-E7A3DFF26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626682"/>
              </p:ext>
            </p:extLst>
          </p:nvPr>
        </p:nvGraphicFramePr>
        <p:xfrm>
          <a:off x="2288381" y="2037451"/>
          <a:ext cx="4278313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5" name="公式" r:id="rId3" imgW="1733690" imgH="180941" progId="Equation.3">
                  <p:embed/>
                </p:oleObj>
              </mc:Choice>
              <mc:Fallback>
                <p:oleObj name="公式" r:id="rId3" imgW="1733690" imgH="180941" progId="Equation.3">
                  <p:embed/>
                  <p:pic>
                    <p:nvPicPr>
                      <p:cNvPr id="5" name="Object 1045">
                        <a:extLst>
                          <a:ext uri="{FF2B5EF4-FFF2-40B4-BE49-F238E27FC236}">
                            <a16:creationId xmlns:a16="http://schemas.microsoft.com/office/drawing/2014/main" id="{3537127B-C0A2-494F-A5C7-E7A3DFF26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381" y="2037451"/>
                        <a:ext cx="4278313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47">
            <a:extLst>
              <a:ext uri="{FF2B5EF4-FFF2-40B4-BE49-F238E27FC236}">
                <a16:creationId xmlns:a16="http://schemas.microsoft.com/office/drawing/2014/main" id="{A061A542-4EC0-44AD-96DB-D1E8D521FF5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32100" y="3389313"/>
          <a:ext cx="1595438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6" name="公式" r:id="rId5" imgW="1438269" imgH="590584" progId="Equation.3">
                  <p:embed/>
                </p:oleObj>
              </mc:Choice>
              <mc:Fallback>
                <p:oleObj name="公式" r:id="rId5" imgW="1438269" imgH="590584" progId="Equation.3">
                  <p:embed/>
                  <p:pic>
                    <p:nvPicPr>
                      <p:cNvPr id="6" name="Object 1047">
                        <a:extLst>
                          <a:ext uri="{FF2B5EF4-FFF2-40B4-BE49-F238E27FC236}">
                            <a16:creationId xmlns:a16="http://schemas.microsoft.com/office/drawing/2014/main" id="{A061A542-4EC0-44AD-96DB-D1E8D521F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389313"/>
                        <a:ext cx="1595438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extLst>
              <a:ext uri="{FF2B5EF4-FFF2-40B4-BE49-F238E27FC236}">
                <a16:creationId xmlns:a16="http://schemas.microsoft.com/office/drawing/2014/main" id="{C4E75A2E-5178-4267-9D79-8D6C9AD833C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31840" y="4698000"/>
          <a:ext cx="22987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7" name="公式" r:id="rId7" imgW="1009510" imgH="180941" progId="Equation.3">
                  <p:embed/>
                </p:oleObj>
              </mc:Choice>
              <mc:Fallback>
                <p:oleObj name="公式" r:id="rId7" imgW="1009510" imgH="180941" progId="Equation.3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C4E75A2E-5178-4267-9D79-8D6C9AD83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698000"/>
                        <a:ext cx="22987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灯片编号占位符 1">
            <a:extLst>
              <a:ext uri="{FF2B5EF4-FFF2-40B4-BE49-F238E27FC236}">
                <a16:creationId xmlns:a16="http://schemas.microsoft.com/office/drawing/2014/main" id="{2B9FF0E4-87FE-4E9B-9F32-EF7B695F709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D14C36-AB95-4B67-A4AF-D90DC9CC6BD8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41828236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20773C53-A1D3-4DB1-8437-15E7AC87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430213"/>
            <a:ext cx="80914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</a:rPr>
              <a:t>一定量的单原子分子理想气体，从</a:t>
            </a:r>
            <a:r>
              <a:rPr lang="en-US" altLang="zh-CN" i="1">
                <a:solidFill>
                  <a:srgbClr val="00FFFF"/>
                </a:solidFill>
              </a:rPr>
              <a:t>A</a:t>
            </a:r>
            <a:r>
              <a:rPr lang="zh-CN" altLang="en-US">
                <a:solidFill>
                  <a:srgbClr val="FFFFFF"/>
                </a:solidFill>
              </a:rPr>
              <a:t>态出发经等压过程膨胀到</a:t>
            </a:r>
            <a:r>
              <a:rPr lang="en-US" altLang="zh-CN" i="1">
                <a:solidFill>
                  <a:srgbClr val="00FFFF"/>
                </a:solidFill>
              </a:rPr>
              <a:t>B</a:t>
            </a:r>
            <a:r>
              <a:rPr lang="zh-CN" altLang="en-US">
                <a:solidFill>
                  <a:srgbClr val="FFFFFF"/>
                </a:solidFill>
              </a:rPr>
              <a:t>态，又经绝热过程膨胀到</a:t>
            </a:r>
            <a:r>
              <a:rPr lang="en-US" altLang="zh-CN" i="1">
                <a:solidFill>
                  <a:srgbClr val="00FFFF"/>
                </a:solidFill>
              </a:rPr>
              <a:t>C</a:t>
            </a:r>
            <a:r>
              <a:rPr lang="zh-CN" altLang="en-US">
                <a:solidFill>
                  <a:srgbClr val="FFFFFF"/>
                </a:solidFill>
              </a:rPr>
              <a:t>态，如图。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38D65111-8362-499A-A1C1-28AEDE075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108200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endParaRPr lang="zh-CN" altLang="en-US" sz="2800" i="1">
              <a:solidFill>
                <a:srgbClr val="FFFF00"/>
              </a:solidFill>
            </a:endParaRP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C6FF26AB-0FB7-4A98-BC46-792637591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238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9EB5C704-EDF8-4CB6-9D7E-F9C0EE68D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843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B8A34A8-B346-474B-A174-41285BC64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1484313"/>
            <a:ext cx="825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</a:rPr>
              <a:t>这全过程中气体所作的功，内能的增量以及吸收的热量。</a:t>
            </a:r>
          </a:p>
        </p:txBody>
      </p:sp>
      <p:graphicFrame>
        <p:nvGraphicFramePr>
          <p:cNvPr id="43029" name="Object 2">
            <a:extLst>
              <a:ext uri="{FF2B5EF4-FFF2-40B4-BE49-F238E27FC236}">
                <a16:creationId xmlns:a16="http://schemas.microsoft.com/office/drawing/2014/main" id="{D8D4C0E8-BE08-4503-9F2C-3C43BEB7C0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0238" y="6094413"/>
          <a:ext cx="252412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99" name="公式" r:id="rId3" imgW="57188" imgH="95216" progId="Equation.3">
                  <p:embed/>
                </p:oleObj>
              </mc:Choice>
              <mc:Fallback>
                <p:oleObj name="公式" r:id="rId3" imgW="57188" imgH="95216" progId="Equation.3">
                  <p:embed/>
                  <p:pic>
                    <p:nvPicPr>
                      <p:cNvPr id="43029" name="Object 2">
                        <a:extLst>
                          <a:ext uri="{FF2B5EF4-FFF2-40B4-BE49-F238E27FC236}">
                            <a16:creationId xmlns:a16="http://schemas.microsoft.com/office/drawing/2014/main" id="{D8D4C0E8-BE08-4503-9F2C-3C43BEB7C0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0238" y="6094413"/>
                        <a:ext cx="252412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0" name="Line 22">
            <a:extLst>
              <a:ext uri="{FF2B5EF4-FFF2-40B4-BE49-F238E27FC236}">
                <a16:creationId xmlns:a16="http://schemas.microsoft.com/office/drawing/2014/main" id="{C1256C05-F0ED-4A48-9AE6-0AE784DAC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8663" y="4748213"/>
            <a:ext cx="0" cy="129540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30BCEAF0-B522-475B-9D01-321EE4CFDEDF}"/>
              </a:ext>
            </a:extLst>
          </p:cNvPr>
          <p:cNvGrpSpPr>
            <a:grpSpLocks/>
          </p:cNvGrpSpPr>
          <p:nvPr/>
        </p:nvGrpSpPr>
        <p:grpSpPr bwMode="auto">
          <a:xfrm>
            <a:off x="4727575" y="3487738"/>
            <a:ext cx="4381500" cy="3036887"/>
            <a:chOff x="2978" y="2197"/>
            <a:chExt cx="2760" cy="1913"/>
          </a:xfrm>
        </p:grpSpPr>
        <p:sp>
          <p:nvSpPr>
            <p:cNvPr id="8233" name="Text Box 18">
              <a:extLst>
                <a:ext uri="{FF2B5EF4-FFF2-40B4-BE49-F238E27FC236}">
                  <a16:creationId xmlns:a16="http://schemas.microsoft.com/office/drawing/2014/main" id="{ECE682DE-F328-4BAB-9FCB-FE477D67D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5" y="382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</a:p>
          </p:txBody>
        </p:sp>
        <p:grpSp>
          <p:nvGrpSpPr>
            <p:cNvPr id="8234" name="Group 49">
              <a:extLst>
                <a:ext uri="{FF2B5EF4-FFF2-40B4-BE49-F238E27FC236}">
                  <a16:creationId xmlns:a16="http://schemas.microsoft.com/office/drawing/2014/main" id="{5CEB4E10-237B-4EE8-8953-77CE9C1241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8" y="2197"/>
              <a:ext cx="2760" cy="1907"/>
              <a:chOff x="3425" y="1833"/>
              <a:chExt cx="2760" cy="1907"/>
            </a:xfrm>
          </p:grpSpPr>
          <p:sp>
            <p:nvSpPr>
              <p:cNvPr id="8235" name="Line 16">
                <a:extLst>
                  <a:ext uri="{FF2B5EF4-FFF2-40B4-BE49-F238E27FC236}">
                    <a16:creationId xmlns:a16="http://schemas.microsoft.com/office/drawing/2014/main" id="{59F0CA6F-B94C-4849-98B0-99C97E0CF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51" y="3458"/>
                <a:ext cx="249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6" name="Line 17">
                <a:extLst>
                  <a:ext uri="{FF2B5EF4-FFF2-40B4-BE49-F238E27FC236}">
                    <a16:creationId xmlns:a16="http://schemas.microsoft.com/office/drawing/2014/main" id="{CC5D49F9-32EF-4DA4-94B1-9AB5D9576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1" y="2002"/>
                <a:ext cx="11" cy="1458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7" name="Text Box 19">
                <a:extLst>
                  <a:ext uri="{FF2B5EF4-FFF2-40B4-BE49-F238E27FC236}">
                    <a16:creationId xmlns:a16="http://schemas.microsoft.com/office/drawing/2014/main" id="{02D71B11-902C-4A16-8501-8CD65EE274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833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8238" name="Text Box 20">
                <a:extLst>
                  <a:ext uri="{FF2B5EF4-FFF2-40B4-BE49-F238E27FC236}">
                    <a16:creationId xmlns:a16="http://schemas.microsoft.com/office/drawing/2014/main" id="{CF50F7B9-A76B-4C60-ACA1-E8469028B1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5" y="341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O</a:t>
                </a:r>
              </a:p>
            </p:txBody>
          </p:sp>
          <p:graphicFrame>
            <p:nvGraphicFramePr>
              <p:cNvPr id="8239" name="Object 13">
                <a:extLst>
                  <a:ext uri="{FF2B5EF4-FFF2-40B4-BE49-F238E27FC236}">
                    <a16:creationId xmlns:a16="http://schemas.microsoft.com/office/drawing/2014/main" id="{D6B26843-22EA-4EC2-AABA-BDECA0BB27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75" y="3455"/>
              <a:ext cx="410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900" name="公式" r:id="rId5" imgW="266675" imgH="161959" progId="Equation.3">
                      <p:embed/>
                    </p:oleObj>
                  </mc:Choice>
                  <mc:Fallback>
                    <p:oleObj name="公式" r:id="rId5" imgW="266675" imgH="161959" progId="Equation.3">
                      <p:embed/>
                      <p:pic>
                        <p:nvPicPr>
                          <p:cNvPr id="8239" name="Object 13">
                            <a:extLst>
                              <a:ext uri="{FF2B5EF4-FFF2-40B4-BE49-F238E27FC236}">
                                <a16:creationId xmlns:a16="http://schemas.microsoft.com/office/drawing/2014/main" id="{D6B26843-22EA-4EC2-AABA-BDECA0BB27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75" y="3455"/>
                            <a:ext cx="410" cy="2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40" name="Object 14">
                <a:extLst>
                  <a:ext uri="{FF2B5EF4-FFF2-40B4-BE49-F238E27FC236}">
                    <a16:creationId xmlns:a16="http://schemas.microsoft.com/office/drawing/2014/main" id="{5A97C14F-4C97-4432-A133-B773530140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8" y="1895"/>
              <a:ext cx="363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901" name="公式" r:id="rId7" imgW="228753" imgH="161959" progId="Equation.3">
                      <p:embed/>
                    </p:oleObj>
                  </mc:Choice>
                  <mc:Fallback>
                    <p:oleObj name="公式" r:id="rId7" imgW="228753" imgH="161959" progId="Equation.3">
                      <p:embed/>
                      <p:pic>
                        <p:nvPicPr>
                          <p:cNvPr id="8240" name="Object 14">
                            <a:extLst>
                              <a:ext uri="{FF2B5EF4-FFF2-40B4-BE49-F238E27FC236}">
                                <a16:creationId xmlns:a16="http://schemas.microsoft.com/office/drawing/2014/main" id="{5A97C14F-4C97-4432-A133-B7735301403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1895"/>
                            <a:ext cx="363" cy="2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3042" name="Line 34">
            <a:extLst>
              <a:ext uri="{FF2B5EF4-FFF2-40B4-BE49-F238E27FC236}">
                <a16:creationId xmlns:a16="http://schemas.microsoft.com/office/drawing/2014/main" id="{024B6E77-E822-451D-8AFA-CCD045ECA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713" y="4749800"/>
            <a:ext cx="0" cy="129540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199D7ECC-507B-422D-9B82-14EAC0ABE1EA}"/>
              </a:ext>
            </a:extLst>
          </p:cNvPr>
          <p:cNvGrpSpPr>
            <a:grpSpLocks/>
          </p:cNvGrpSpPr>
          <p:nvPr/>
        </p:nvGrpSpPr>
        <p:grpSpPr bwMode="auto">
          <a:xfrm>
            <a:off x="5797550" y="4760913"/>
            <a:ext cx="539750" cy="0"/>
            <a:chOff x="4099" y="2523"/>
            <a:chExt cx="340" cy="0"/>
          </a:xfrm>
        </p:grpSpPr>
        <p:sp>
          <p:nvSpPr>
            <p:cNvPr id="8231" name="Line 35">
              <a:extLst>
                <a:ext uri="{FF2B5EF4-FFF2-40B4-BE49-F238E27FC236}">
                  <a16:creationId xmlns:a16="http://schemas.microsoft.com/office/drawing/2014/main" id="{8787D691-E581-4AF6-ACF1-3324B2B55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9" y="2523"/>
              <a:ext cx="340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37">
              <a:extLst>
                <a:ext uri="{FF2B5EF4-FFF2-40B4-BE49-F238E27FC236}">
                  <a16:creationId xmlns:a16="http://schemas.microsoft.com/office/drawing/2014/main" id="{FE34D76B-C2AA-484E-91D8-9FBA958B1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2523"/>
              <a:ext cx="137" cy="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48">
            <a:extLst>
              <a:ext uri="{FF2B5EF4-FFF2-40B4-BE49-F238E27FC236}">
                <a16:creationId xmlns:a16="http://schemas.microsoft.com/office/drawing/2014/main" id="{E58101EA-7C9C-4D13-97A3-94A1AA1D4F0E}"/>
              </a:ext>
            </a:extLst>
          </p:cNvPr>
          <p:cNvGrpSpPr>
            <a:grpSpLocks/>
          </p:cNvGrpSpPr>
          <p:nvPr/>
        </p:nvGrpSpPr>
        <p:grpSpPr bwMode="auto">
          <a:xfrm>
            <a:off x="6334125" y="4200525"/>
            <a:ext cx="1497013" cy="1582738"/>
            <a:chOff x="4437" y="2277"/>
            <a:chExt cx="943" cy="997"/>
          </a:xfrm>
        </p:grpSpPr>
        <p:sp>
          <p:nvSpPr>
            <p:cNvPr id="8229" name="Arc 36">
              <a:extLst>
                <a:ext uri="{FF2B5EF4-FFF2-40B4-BE49-F238E27FC236}">
                  <a16:creationId xmlns:a16="http://schemas.microsoft.com/office/drawing/2014/main" id="{3D6E1F3D-192C-4526-8540-C0B6BABE77E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37" y="2277"/>
              <a:ext cx="943" cy="997"/>
            </a:xfrm>
            <a:custGeom>
              <a:avLst/>
              <a:gdLst>
                <a:gd name="T0" fmla="*/ 0 w 20789"/>
                <a:gd name="T1" fmla="*/ 0 h 21600"/>
                <a:gd name="T2" fmla="*/ 0 w 20789"/>
                <a:gd name="T3" fmla="*/ 0 h 21600"/>
                <a:gd name="T4" fmla="*/ 0 w 207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0789"/>
                <a:gd name="T10" fmla="*/ 0 h 21600"/>
                <a:gd name="T11" fmla="*/ 20789 w 207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89" h="21600" fill="none" extrusionOk="0">
                  <a:moveTo>
                    <a:pt x="20789" y="21592"/>
                  </a:moveTo>
                  <a:cubicBezTo>
                    <a:pt x="20598" y="21597"/>
                    <a:pt x="20408" y="21599"/>
                    <a:pt x="20218" y="21600"/>
                  </a:cubicBezTo>
                  <a:cubicBezTo>
                    <a:pt x="11221" y="21600"/>
                    <a:pt x="3166" y="16023"/>
                    <a:pt x="0" y="7602"/>
                  </a:cubicBezTo>
                </a:path>
                <a:path w="20789" h="21600" stroke="0" extrusionOk="0">
                  <a:moveTo>
                    <a:pt x="20789" y="21592"/>
                  </a:moveTo>
                  <a:cubicBezTo>
                    <a:pt x="20598" y="21597"/>
                    <a:pt x="20408" y="21599"/>
                    <a:pt x="20218" y="21600"/>
                  </a:cubicBezTo>
                  <a:cubicBezTo>
                    <a:pt x="11221" y="21600"/>
                    <a:pt x="3166" y="16023"/>
                    <a:pt x="0" y="7602"/>
                  </a:cubicBezTo>
                  <a:lnTo>
                    <a:pt x="20218" y="0"/>
                  </a:lnTo>
                  <a:lnTo>
                    <a:pt x="20789" y="21592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Arc 38">
              <a:extLst>
                <a:ext uri="{FF2B5EF4-FFF2-40B4-BE49-F238E27FC236}">
                  <a16:creationId xmlns:a16="http://schemas.microsoft.com/office/drawing/2014/main" id="{5E407EA5-F248-470C-BACB-D4B158B659F7}"/>
                </a:ext>
              </a:extLst>
            </p:cNvPr>
            <p:cNvSpPr>
              <a:spLocks/>
            </p:cNvSpPr>
            <p:nvPr/>
          </p:nvSpPr>
          <p:spPr bwMode="auto">
            <a:xfrm rot="9752164">
              <a:off x="4698" y="2782"/>
              <a:ext cx="594" cy="314"/>
            </a:xfrm>
            <a:custGeom>
              <a:avLst/>
              <a:gdLst>
                <a:gd name="T0" fmla="*/ 0 w 20556"/>
                <a:gd name="T1" fmla="*/ 0 h 14003"/>
                <a:gd name="T2" fmla="*/ 0 w 20556"/>
                <a:gd name="T3" fmla="*/ 0 h 14003"/>
                <a:gd name="T4" fmla="*/ 0 w 20556"/>
                <a:gd name="T5" fmla="*/ 0 h 14003"/>
                <a:gd name="T6" fmla="*/ 0 60000 65536"/>
                <a:gd name="T7" fmla="*/ 0 60000 65536"/>
                <a:gd name="T8" fmla="*/ 0 60000 65536"/>
                <a:gd name="T9" fmla="*/ 0 w 20556"/>
                <a:gd name="T10" fmla="*/ 0 h 14003"/>
                <a:gd name="T11" fmla="*/ 20556 w 20556"/>
                <a:gd name="T12" fmla="*/ 14003 h 140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56" h="14003" fill="none" extrusionOk="0">
                  <a:moveTo>
                    <a:pt x="16446" y="-1"/>
                  </a:moveTo>
                  <a:cubicBezTo>
                    <a:pt x="18286" y="2161"/>
                    <a:pt x="19683" y="4665"/>
                    <a:pt x="20555" y="7368"/>
                  </a:cubicBezTo>
                </a:path>
                <a:path w="20556" h="14003" stroke="0" extrusionOk="0">
                  <a:moveTo>
                    <a:pt x="16446" y="-1"/>
                  </a:moveTo>
                  <a:cubicBezTo>
                    <a:pt x="18286" y="2161"/>
                    <a:pt x="19683" y="4665"/>
                    <a:pt x="20555" y="7368"/>
                  </a:cubicBezTo>
                  <a:lnTo>
                    <a:pt x="0" y="14003"/>
                  </a:lnTo>
                  <a:lnTo>
                    <a:pt x="16446" y="-1"/>
                  </a:lnTo>
                  <a:close/>
                </a:path>
              </a:pathLst>
            </a:custGeom>
            <a:noFill/>
            <a:ln w="9525">
              <a:solidFill>
                <a:srgbClr val="00FF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49" name="Object 3">
            <a:extLst>
              <a:ext uri="{FF2B5EF4-FFF2-40B4-BE49-F238E27FC236}">
                <a16:creationId xmlns:a16="http://schemas.microsoft.com/office/drawing/2014/main" id="{3314B403-8F43-4738-A723-4A0542702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7438" y="6094413"/>
          <a:ext cx="606425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2" name="公式" r:id="rId9" imgW="238233" imgH="114198" progId="Equation.3">
                  <p:embed/>
                </p:oleObj>
              </mc:Choice>
              <mc:Fallback>
                <p:oleObj name="公式" r:id="rId9" imgW="238233" imgH="114198" progId="Equation.3">
                  <p:embed/>
                  <p:pic>
                    <p:nvPicPr>
                      <p:cNvPr id="43049" name="Object 3">
                        <a:extLst>
                          <a:ext uri="{FF2B5EF4-FFF2-40B4-BE49-F238E27FC236}">
                            <a16:creationId xmlns:a16="http://schemas.microsoft.com/office/drawing/2014/main" id="{3314B403-8F43-4738-A723-4A0542702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6094413"/>
                        <a:ext cx="606425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0" name="Line 42">
            <a:extLst>
              <a:ext uri="{FF2B5EF4-FFF2-40B4-BE49-F238E27FC236}">
                <a16:creationId xmlns:a16="http://schemas.microsoft.com/office/drawing/2014/main" id="{FCEC8174-2378-4746-BAC2-C11C5C86F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5263" y="5775325"/>
            <a:ext cx="0" cy="287338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51" name="Object 4">
            <a:extLst>
              <a:ext uri="{FF2B5EF4-FFF2-40B4-BE49-F238E27FC236}">
                <a16:creationId xmlns:a16="http://schemas.microsoft.com/office/drawing/2014/main" id="{17C871D2-FB95-4BF6-9046-DC5B61FC4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4613" y="6078538"/>
          <a:ext cx="2270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3" name="公式" r:id="rId11" imgW="47708" imgH="114198" progId="Equation.3">
                  <p:embed/>
                </p:oleObj>
              </mc:Choice>
              <mc:Fallback>
                <p:oleObj name="公式" r:id="rId11" imgW="47708" imgH="114198" progId="Equation.3">
                  <p:embed/>
                  <p:pic>
                    <p:nvPicPr>
                      <p:cNvPr id="43051" name="Object 4">
                        <a:extLst>
                          <a:ext uri="{FF2B5EF4-FFF2-40B4-BE49-F238E27FC236}">
                            <a16:creationId xmlns:a16="http://schemas.microsoft.com/office/drawing/2014/main" id="{17C871D2-FB95-4BF6-9046-DC5B61FC43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4613" y="6078538"/>
                        <a:ext cx="2270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2" name="Line 44">
            <a:extLst>
              <a:ext uri="{FF2B5EF4-FFF2-40B4-BE49-F238E27FC236}">
                <a16:creationId xmlns:a16="http://schemas.microsoft.com/office/drawing/2014/main" id="{5FA0BE39-41DD-475E-AEE2-1BD4815DF0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767263"/>
            <a:ext cx="720725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3" name="Line 45">
            <a:extLst>
              <a:ext uri="{FF2B5EF4-FFF2-40B4-BE49-F238E27FC236}">
                <a16:creationId xmlns:a16="http://schemas.microsoft.com/office/drawing/2014/main" id="{6965737F-9D23-4559-930D-2510445066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10163" y="5791200"/>
            <a:ext cx="269875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54" name="Object 5">
            <a:extLst>
              <a:ext uri="{FF2B5EF4-FFF2-40B4-BE49-F238E27FC236}">
                <a16:creationId xmlns:a16="http://schemas.microsoft.com/office/drawing/2014/main" id="{6D9A12A8-1962-4C1A-86B6-29ED4C159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2750" y="4521200"/>
          <a:ext cx="8588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4" name="公式" r:id="rId13" imgW="362090" imgH="133486" progId="Equation.3">
                  <p:embed/>
                </p:oleObj>
              </mc:Choice>
              <mc:Fallback>
                <p:oleObj name="公式" r:id="rId13" imgW="362090" imgH="133486" progId="Equation.3">
                  <p:embed/>
                  <p:pic>
                    <p:nvPicPr>
                      <p:cNvPr id="43054" name="Object 5">
                        <a:extLst>
                          <a:ext uri="{FF2B5EF4-FFF2-40B4-BE49-F238E27FC236}">
                            <a16:creationId xmlns:a16="http://schemas.microsoft.com/office/drawing/2014/main" id="{6D9A12A8-1962-4C1A-86B6-29ED4C159D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521200"/>
                        <a:ext cx="85883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5" name="Object 6">
            <a:extLst>
              <a:ext uri="{FF2B5EF4-FFF2-40B4-BE49-F238E27FC236}">
                <a16:creationId xmlns:a16="http://schemas.microsoft.com/office/drawing/2014/main" id="{7DA747DD-A60F-4538-8F02-C5ED1599A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4188" y="5534025"/>
          <a:ext cx="78263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5" name="公式" r:id="rId15" imgW="323863" imgH="133486" progId="Equation.3">
                  <p:embed/>
                </p:oleObj>
              </mc:Choice>
              <mc:Fallback>
                <p:oleObj name="公式" r:id="rId15" imgW="323863" imgH="133486" progId="Equation.3">
                  <p:embed/>
                  <p:pic>
                    <p:nvPicPr>
                      <p:cNvPr id="43055" name="Object 6">
                        <a:extLst>
                          <a:ext uri="{FF2B5EF4-FFF2-40B4-BE49-F238E27FC236}">
                            <a16:creationId xmlns:a16="http://schemas.microsoft.com/office/drawing/2014/main" id="{7DA747DD-A60F-4538-8F02-C5ED1599A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5534025"/>
                        <a:ext cx="78263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58" name="Text Box 50">
            <a:extLst>
              <a:ext uri="{FF2B5EF4-FFF2-40B4-BE49-F238E27FC236}">
                <a16:creationId xmlns:a16="http://schemas.microsoft.com/office/drawing/2014/main" id="{328B2F4C-AA7F-4F21-81ED-70FE0CC42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4116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i="1">
                <a:solidFill>
                  <a:srgbClr val="00CCFF"/>
                </a:solidFill>
              </a:rPr>
              <a:t>A</a:t>
            </a:r>
          </a:p>
        </p:txBody>
      </p:sp>
      <p:sp>
        <p:nvSpPr>
          <p:cNvPr id="43059" name="Rectangle 51">
            <a:extLst>
              <a:ext uri="{FF2B5EF4-FFF2-40B4-BE49-F238E27FC236}">
                <a16:creationId xmlns:a16="http://schemas.microsoft.com/office/drawing/2014/main" id="{25E9EE66-9448-4005-B23E-74A950D00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44069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0">
                <a:solidFill>
                  <a:srgbClr val="00CCFF"/>
                </a:solidFill>
              </a:rPr>
              <a:t>B</a:t>
            </a:r>
          </a:p>
        </p:txBody>
      </p:sp>
      <p:sp>
        <p:nvSpPr>
          <p:cNvPr id="43061" name="Rectangle 53">
            <a:extLst>
              <a:ext uri="{FF2B5EF4-FFF2-40B4-BE49-F238E27FC236}">
                <a16:creationId xmlns:a16="http://schemas.microsoft.com/office/drawing/2014/main" id="{D537B9A5-3293-4D42-A783-351B9549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3175" y="545465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0" i="1">
                <a:solidFill>
                  <a:srgbClr val="00CCFF"/>
                </a:solidFill>
              </a:rPr>
              <a:t>C</a:t>
            </a:r>
          </a:p>
        </p:txBody>
      </p:sp>
      <p:sp>
        <p:nvSpPr>
          <p:cNvPr id="43069" name="Text Box 61">
            <a:extLst>
              <a:ext uri="{FF2B5EF4-FFF2-40B4-BE49-F238E27FC236}">
                <a16:creationId xmlns:a16="http://schemas.microsoft.com/office/drawing/2014/main" id="{3564A1BD-53BB-4DD2-B136-5A211D290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2892425"/>
            <a:ext cx="376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>
                <a:solidFill>
                  <a:schemeClr val="bg1"/>
                </a:solidFill>
              </a:rPr>
              <a:t>等压过程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3070" name="Object 7">
            <a:extLst>
              <a:ext uri="{FF2B5EF4-FFF2-40B4-BE49-F238E27FC236}">
                <a16:creationId xmlns:a16="http://schemas.microsoft.com/office/drawing/2014/main" id="{01AE9FEA-E4DB-43D8-BCD6-121CE4AC0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133600"/>
          <a:ext cx="1597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6" name="公式" r:id="rId17" imgW="590537" imgH="133486" progId="Equation.3">
                  <p:embed/>
                </p:oleObj>
              </mc:Choice>
              <mc:Fallback>
                <p:oleObj name="公式" r:id="rId17" imgW="590537" imgH="133486" progId="Equation.3">
                  <p:embed/>
                  <p:pic>
                    <p:nvPicPr>
                      <p:cNvPr id="43070" name="Object 7">
                        <a:extLst>
                          <a:ext uri="{FF2B5EF4-FFF2-40B4-BE49-F238E27FC236}">
                            <a16:creationId xmlns:a16="http://schemas.microsoft.com/office/drawing/2014/main" id="{01AE9FEA-E4DB-43D8-BCD6-121CE4AC0C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133600"/>
                        <a:ext cx="1597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1" name="Object 8">
            <a:extLst>
              <a:ext uri="{FF2B5EF4-FFF2-40B4-BE49-F238E27FC236}">
                <a16:creationId xmlns:a16="http://schemas.microsoft.com/office/drawing/2014/main" id="{4ED0BF1A-FA7A-4F5B-9E18-EE127B5BF5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676525"/>
          <a:ext cx="153511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7" name="公式" r:id="rId19" imgW="571576" imgH="323918" progId="Equation.3">
                  <p:embed/>
                </p:oleObj>
              </mc:Choice>
              <mc:Fallback>
                <p:oleObj name="公式" r:id="rId19" imgW="571576" imgH="323918" progId="Equation.3">
                  <p:embed/>
                  <p:pic>
                    <p:nvPicPr>
                      <p:cNvPr id="43071" name="Object 8">
                        <a:extLst>
                          <a:ext uri="{FF2B5EF4-FFF2-40B4-BE49-F238E27FC236}">
                            <a16:creationId xmlns:a16="http://schemas.microsoft.com/office/drawing/2014/main" id="{4ED0BF1A-FA7A-4F5B-9E18-EE127B5BF5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676525"/>
                        <a:ext cx="153511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2" name="Object 9">
            <a:extLst>
              <a:ext uri="{FF2B5EF4-FFF2-40B4-BE49-F238E27FC236}">
                <a16:creationId xmlns:a16="http://schemas.microsoft.com/office/drawing/2014/main" id="{E6D54C97-A1C9-40FF-A605-89598CA99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2671763"/>
          <a:ext cx="1535113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8" name="公式" r:id="rId21" imgW="571576" imgH="323918" progId="Equation.3">
                  <p:embed/>
                </p:oleObj>
              </mc:Choice>
              <mc:Fallback>
                <p:oleObj name="公式" r:id="rId21" imgW="571576" imgH="323918" progId="Equation.3">
                  <p:embed/>
                  <p:pic>
                    <p:nvPicPr>
                      <p:cNvPr id="43072" name="Object 9">
                        <a:extLst>
                          <a:ext uri="{FF2B5EF4-FFF2-40B4-BE49-F238E27FC236}">
                            <a16:creationId xmlns:a16="http://schemas.microsoft.com/office/drawing/2014/main" id="{E6D54C97-A1C9-40FF-A605-89598CA99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671763"/>
                        <a:ext cx="1535113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73" name="Object 10">
            <a:extLst>
              <a:ext uri="{FF2B5EF4-FFF2-40B4-BE49-F238E27FC236}">
                <a16:creationId xmlns:a16="http://schemas.microsoft.com/office/drawing/2014/main" id="{6FE2665E-1472-45D5-86E8-8A89202BF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549775"/>
          <a:ext cx="253365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9" name="公式" r:id="rId23" imgW="990549" imgH="190432" progId="Equation.3">
                  <p:embed/>
                </p:oleObj>
              </mc:Choice>
              <mc:Fallback>
                <p:oleObj name="公式" r:id="rId23" imgW="990549" imgH="190432" progId="Equation.3">
                  <p:embed/>
                  <p:pic>
                    <p:nvPicPr>
                      <p:cNvPr id="43073" name="Object 10">
                        <a:extLst>
                          <a:ext uri="{FF2B5EF4-FFF2-40B4-BE49-F238E27FC236}">
                            <a16:creationId xmlns:a16="http://schemas.microsoft.com/office/drawing/2014/main" id="{6FE2665E-1472-45D5-86E8-8A89202BF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49775"/>
                        <a:ext cx="253365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74" name="Text Box 66">
            <a:extLst>
              <a:ext uri="{FF2B5EF4-FFF2-40B4-BE49-F238E27FC236}">
                <a16:creationId xmlns:a16="http://schemas.microsoft.com/office/drawing/2014/main" id="{762597DC-1642-4A67-BE19-4D2AD09F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00" y="2101850"/>
            <a:ext cx="390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理想气体的状态方程</a:t>
            </a:r>
          </a:p>
        </p:txBody>
      </p:sp>
      <p:sp>
        <p:nvSpPr>
          <p:cNvPr id="43075" name="Text Box 67">
            <a:extLst>
              <a:ext uri="{FF2B5EF4-FFF2-40B4-BE49-F238E27FC236}">
                <a16:creationId xmlns:a16="http://schemas.microsoft.com/office/drawing/2014/main" id="{B3A7CA8B-D091-4BA3-B4B1-E2BC7998E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979863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绝热过程</a:t>
            </a:r>
          </a:p>
        </p:txBody>
      </p:sp>
      <p:graphicFrame>
        <p:nvGraphicFramePr>
          <p:cNvPr id="43077" name="Object 11">
            <a:extLst>
              <a:ext uri="{FF2B5EF4-FFF2-40B4-BE49-F238E27FC236}">
                <a16:creationId xmlns:a16="http://schemas.microsoft.com/office/drawing/2014/main" id="{4967643B-8919-4E5B-B512-102F02703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516563"/>
          <a:ext cx="9223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0" name="公式" r:id="rId25" imgW="314382" imgH="323918" progId="Equation.3">
                  <p:embed/>
                </p:oleObj>
              </mc:Choice>
              <mc:Fallback>
                <p:oleObj name="公式" r:id="rId25" imgW="314382" imgH="323918" progId="Equation.3">
                  <p:embed/>
                  <p:pic>
                    <p:nvPicPr>
                      <p:cNvPr id="43077" name="Object 11">
                        <a:extLst>
                          <a:ext uri="{FF2B5EF4-FFF2-40B4-BE49-F238E27FC236}">
                            <a16:creationId xmlns:a16="http://schemas.microsoft.com/office/drawing/2014/main" id="{4967643B-8919-4E5B-B512-102F02703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516563"/>
                        <a:ext cx="92233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78" name="AutoShape 70">
            <a:extLst>
              <a:ext uri="{FF2B5EF4-FFF2-40B4-BE49-F238E27FC236}">
                <a16:creationId xmlns:a16="http://schemas.microsoft.com/office/drawing/2014/main" id="{43DAC54D-077C-4E71-A1F6-44D557C60FF6}"/>
              </a:ext>
            </a:extLst>
          </p:cNvPr>
          <p:cNvSpPr>
            <a:spLocks/>
          </p:cNvSpPr>
          <p:nvPr/>
        </p:nvSpPr>
        <p:spPr bwMode="auto">
          <a:xfrm flipH="1">
            <a:off x="3348038" y="4724400"/>
            <a:ext cx="152400" cy="1657350"/>
          </a:xfrm>
          <a:prstGeom prst="leftBrace">
            <a:avLst>
              <a:gd name="adj1" fmla="val 90625"/>
              <a:gd name="adj2" fmla="val 50000"/>
            </a:avLst>
          </a:prstGeom>
          <a:noFill/>
          <a:ln w="9525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79" name="AutoShape 71">
            <a:extLst>
              <a:ext uri="{FF2B5EF4-FFF2-40B4-BE49-F238E27FC236}">
                <a16:creationId xmlns:a16="http://schemas.microsoft.com/office/drawing/2014/main" id="{E0D7BF5F-CFA9-40F4-AF22-06A389064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0125" y="5491163"/>
            <a:ext cx="295275" cy="147637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3080" name="Object 12">
            <a:extLst>
              <a:ext uri="{FF2B5EF4-FFF2-40B4-BE49-F238E27FC236}">
                <a16:creationId xmlns:a16="http://schemas.microsoft.com/office/drawing/2014/main" id="{5A5CF1A9-302E-4393-AEB4-AFCBF433A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300663"/>
          <a:ext cx="4270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1" name="公式" r:id="rId27" imgW="114376" imgH="161959" progId="Equation.3">
                  <p:embed/>
                </p:oleObj>
              </mc:Choice>
              <mc:Fallback>
                <p:oleObj name="公式" r:id="rId27" imgW="114376" imgH="161959" progId="Equation.3">
                  <p:embed/>
                  <p:pic>
                    <p:nvPicPr>
                      <p:cNvPr id="43080" name="Object 12">
                        <a:extLst>
                          <a:ext uri="{FF2B5EF4-FFF2-40B4-BE49-F238E27FC236}">
                            <a16:creationId xmlns:a16="http://schemas.microsoft.com/office/drawing/2014/main" id="{5A5CF1A9-302E-4393-AEB4-AFCBF433AA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300663"/>
                        <a:ext cx="42703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灯片编号占位符 1">
            <a:extLst>
              <a:ext uri="{FF2B5EF4-FFF2-40B4-BE49-F238E27FC236}">
                <a16:creationId xmlns:a16="http://schemas.microsoft.com/office/drawing/2014/main" id="{A59041FA-9D31-41A9-8655-3C401642902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E3049B-C742-4BCD-98D7-313BBA5166E5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4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/>
      <p:bldP spid="43012" grpId="0"/>
      <p:bldP spid="43013" grpId="0"/>
      <p:bldP spid="43014" grpId="0"/>
      <p:bldP spid="43058" grpId="0"/>
      <p:bldP spid="43059" grpId="0"/>
      <p:bldP spid="43061" grpId="0"/>
      <p:bldP spid="43069" grpId="0"/>
      <p:bldP spid="43074" grpId="0"/>
      <p:bldP spid="43075" grpId="0"/>
      <p:bldP spid="4307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66" name="Object 2">
            <a:extLst>
              <a:ext uri="{FF2B5EF4-FFF2-40B4-BE49-F238E27FC236}">
                <a16:creationId xmlns:a16="http://schemas.microsoft.com/office/drawing/2014/main" id="{89D5D753-A347-4211-B034-AA1E8B4C9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338" y="1484313"/>
          <a:ext cx="42497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45" name="公式" r:id="rId3" imgW="1695463" imgH="323918" progId="Equation.3">
                  <p:embed/>
                </p:oleObj>
              </mc:Choice>
              <mc:Fallback>
                <p:oleObj name="公式" r:id="rId3" imgW="1695463" imgH="323918" progId="Equation.3">
                  <p:embed/>
                  <p:pic>
                    <p:nvPicPr>
                      <p:cNvPr id="44066" name="Object 2">
                        <a:extLst>
                          <a:ext uri="{FF2B5EF4-FFF2-40B4-BE49-F238E27FC236}">
                            <a16:creationId xmlns:a16="http://schemas.microsoft.com/office/drawing/2014/main" id="{89D5D753-A347-4211-B034-AA1E8B4C96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1484313"/>
                        <a:ext cx="424973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7" name="Object 3">
            <a:extLst>
              <a:ext uri="{FF2B5EF4-FFF2-40B4-BE49-F238E27FC236}">
                <a16:creationId xmlns:a16="http://schemas.microsoft.com/office/drawing/2014/main" id="{8F058A89-EDD7-462C-BFA0-F8B90099E9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484313"/>
          <a:ext cx="32639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46" name="公式" r:id="rId5" imgW="1295451" imgH="352391" progId="Equation.3">
                  <p:embed/>
                </p:oleObj>
              </mc:Choice>
              <mc:Fallback>
                <p:oleObj name="公式" r:id="rId5" imgW="1295451" imgH="352391" progId="Equation.3">
                  <p:embed/>
                  <p:pic>
                    <p:nvPicPr>
                      <p:cNvPr id="44067" name="Object 3">
                        <a:extLst>
                          <a:ext uri="{FF2B5EF4-FFF2-40B4-BE49-F238E27FC236}">
                            <a16:creationId xmlns:a16="http://schemas.microsoft.com/office/drawing/2014/main" id="{8F058A89-EDD7-462C-BFA0-F8B90099E9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484313"/>
                        <a:ext cx="32639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8" name="Object 4">
            <a:extLst>
              <a:ext uri="{FF2B5EF4-FFF2-40B4-BE49-F238E27FC236}">
                <a16:creationId xmlns:a16="http://schemas.microsoft.com/office/drawing/2014/main" id="{3E5DEB15-579E-4618-B3B8-7BEA2B105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338" y="608013"/>
          <a:ext cx="34734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47" name="公式" r:id="rId7" imgW="1381080" imgH="152468" progId="Equation.3">
                  <p:embed/>
                </p:oleObj>
              </mc:Choice>
              <mc:Fallback>
                <p:oleObj name="公式" r:id="rId7" imgW="1381080" imgH="152468" progId="Equation.3">
                  <p:embed/>
                  <p:pic>
                    <p:nvPicPr>
                      <p:cNvPr id="44068" name="Object 4">
                        <a:extLst>
                          <a:ext uri="{FF2B5EF4-FFF2-40B4-BE49-F238E27FC236}">
                            <a16:creationId xmlns:a16="http://schemas.microsoft.com/office/drawing/2014/main" id="{3E5DEB15-579E-4618-B3B8-7BEA2B1051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608013"/>
                        <a:ext cx="34734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9" name="Text Box 37">
            <a:extLst>
              <a:ext uri="{FF2B5EF4-FFF2-40B4-BE49-F238E27FC236}">
                <a16:creationId xmlns:a16="http://schemas.microsoft.com/office/drawing/2014/main" id="{5C0B1AB5-966E-4191-B8E1-4508DFA1B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3536950"/>
            <a:ext cx="376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>
                <a:solidFill>
                  <a:schemeClr val="bg1"/>
                </a:solidFill>
              </a:rPr>
              <a:t>热量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4070" name="Object 5">
            <a:extLst>
              <a:ext uri="{FF2B5EF4-FFF2-40B4-BE49-F238E27FC236}">
                <a16:creationId xmlns:a16="http://schemas.microsoft.com/office/drawing/2014/main" id="{E493420E-FE2A-499F-BD16-EC57521605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229100"/>
          <a:ext cx="22066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48" name="公式" r:id="rId9" imgW="2133702" imgH="400152" progId="Equation.3">
                  <p:embed/>
                </p:oleObj>
              </mc:Choice>
              <mc:Fallback>
                <p:oleObj name="公式" r:id="rId9" imgW="2133702" imgH="400152" progId="Equation.3">
                  <p:embed/>
                  <p:pic>
                    <p:nvPicPr>
                      <p:cNvPr id="44070" name="Object 5">
                        <a:extLst>
                          <a:ext uri="{FF2B5EF4-FFF2-40B4-BE49-F238E27FC236}">
                            <a16:creationId xmlns:a16="http://schemas.microsoft.com/office/drawing/2014/main" id="{E493420E-FE2A-499F-BD16-EC57521605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229100"/>
                        <a:ext cx="22066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1" name="Object 6">
            <a:extLst>
              <a:ext uri="{FF2B5EF4-FFF2-40B4-BE49-F238E27FC236}">
                <a16:creationId xmlns:a16="http://schemas.microsoft.com/office/drawing/2014/main" id="{66388FE2-15B2-4029-A43C-CA08DAFE59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076700"/>
          <a:ext cx="2300287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49" name="公式" r:id="rId11" imgW="1952657" imgH="666818" progId="Equation.3">
                  <p:embed/>
                </p:oleObj>
              </mc:Choice>
              <mc:Fallback>
                <p:oleObj name="公式" r:id="rId11" imgW="1952657" imgH="666818" progId="Equation.3">
                  <p:embed/>
                  <p:pic>
                    <p:nvPicPr>
                      <p:cNvPr id="44071" name="Object 6">
                        <a:extLst>
                          <a:ext uri="{FF2B5EF4-FFF2-40B4-BE49-F238E27FC236}">
                            <a16:creationId xmlns:a16="http://schemas.microsoft.com/office/drawing/2014/main" id="{66388FE2-15B2-4029-A43C-CA08DAFE59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76700"/>
                        <a:ext cx="2300287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75" name="Rectangle 43">
            <a:extLst>
              <a:ext uri="{FF2B5EF4-FFF2-40B4-BE49-F238E27FC236}">
                <a16:creationId xmlns:a16="http://schemas.microsoft.com/office/drawing/2014/main" id="{B1062BAE-0BB2-4D46-BB41-6CC9D72A5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4989513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GB" dirty="0">
                <a:solidFill>
                  <a:schemeClr val="bg1"/>
                </a:solidFill>
              </a:rPr>
              <a:t>内能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4076" name="Object 7">
            <a:extLst>
              <a:ext uri="{FF2B5EF4-FFF2-40B4-BE49-F238E27FC236}">
                <a16:creationId xmlns:a16="http://schemas.microsoft.com/office/drawing/2014/main" id="{CBE685FD-FC15-419E-8040-B1EB57711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988" y="5686425"/>
          <a:ext cx="281463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50" name="公式" r:id="rId13" imgW="1104925" imgH="161959" progId="Equation.3">
                  <p:embed/>
                </p:oleObj>
              </mc:Choice>
              <mc:Fallback>
                <p:oleObj name="公式" r:id="rId13" imgW="1104925" imgH="161959" progId="Equation.3">
                  <p:embed/>
                  <p:pic>
                    <p:nvPicPr>
                      <p:cNvPr id="44076" name="Object 7">
                        <a:extLst>
                          <a:ext uri="{FF2B5EF4-FFF2-40B4-BE49-F238E27FC236}">
                            <a16:creationId xmlns:a16="http://schemas.microsoft.com/office/drawing/2014/main" id="{CBE685FD-FC15-419E-8040-B1EB577112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5686425"/>
                        <a:ext cx="281463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9" name="Object 8">
            <a:extLst>
              <a:ext uri="{FF2B5EF4-FFF2-40B4-BE49-F238E27FC236}">
                <a16:creationId xmlns:a16="http://schemas.microsoft.com/office/drawing/2014/main" id="{21580185-95D4-4EC7-A4D3-55D94F3B7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275" y="2735263"/>
          <a:ext cx="38385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51" name="公式" r:id="rId15" imgW="1533378" imgH="161959" progId="Equation.3">
                  <p:embed/>
                </p:oleObj>
              </mc:Choice>
              <mc:Fallback>
                <p:oleObj name="公式" r:id="rId15" imgW="1533378" imgH="161959" progId="Equation.3">
                  <p:embed/>
                  <p:pic>
                    <p:nvPicPr>
                      <p:cNvPr id="44079" name="Object 8">
                        <a:extLst>
                          <a:ext uri="{FF2B5EF4-FFF2-40B4-BE49-F238E27FC236}">
                            <a16:creationId xmlns:a16="http://schemas.microsoft.com/office/drawing/2014/main" id="{21580185-95D4-4EC7-A4D3-55D94F3B70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2735263"/>
                        <a:ext cx="38385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灯片编号占位符 1">
            <a:extLst>
              <a:ext uri="{FF2B5EF4-FFF2-40B4-BE49-F238E27FC236}">
                <a16:creationId xmlns:a16="http://schemas.microsoft.com/office/drawing/2014/main" id="{3B8E2E2D-43BF-418C-BE12-1B4C136F4B3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D367B3-8278-435B-A9EE-84E8AF732604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9" grpId="0"/>
      <p:bldP spid="440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3AAB876-D16A-4457-B0E5-3ACE96C17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117475"/>
            <a:ext cx="8183562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>
                <a:solidFill>
                  <a:srgbClr val="FFFFFF"/>
                </a:solidFill>
              </a:rPr>
              <a:t>如图， 一容器被一可移动、无摩擦且</a:t>
            </a:r>
            <a:r>
              <a:rPr lang="zh-CN" altLang="en-US" sz="2200">
                <a:solidFill>
                  <a:schemeClr val="bg1"/>
                </a:solidFill>
              </a:rPr>
              <a:t>绝热的</a:t>
            </a:r>
            <a:r>
              <a:rPr lang="zh-CN" altLang="en-US" sz="2200">
                <a:solidFill>
                  <a:srgbClr val="FFFFFF"/>
                </a:solidFill>
              </a:rPr>
              <a:t>活塞分割成</a:t>
            </a:r>
            <a:r>
              <a:rPr lang="en-US" altLang="zh-CN" sz="2200">
                <a:solidFill>
                  <a:srgbClr val="66FFFF"/>
                </a:solidFill>
                <a:latin typeface="宋体" panose="02010600030101010101" pitchFamily="2" charset="-122"/>
              </a:rPr>
              <a:t>Ⅰ</a:t>
            </a:r>
            <a:r>
              <a:rPr lang="en-US" altLang="zh-CN" sz="2200">
                <a:solidFill>
                  <a:srgbClr val="FFFFFF"/>
                </a:solidFill>
              </a:rPr>
              <a:t>, </a:t>
            </a:r>
            <a:r>
              <a:rPr lang="en-US" altLang="zh-CN" sz="2200">
                <a:solidFill>
                  <a:srgbClr val="66FFFF"/>
                </a:solidFill>
              </a:rPr>
              <a:t>Ⅱ</a:t>
            </a:r>
            <a:r>
              <a:rPr lang="en-US" altLang="zh-CN" sz="2200">
                <a:solidFill>
                  <a:srgbClr val="FFFFFF"/>
                </a:solidFill>
              </a:rPr>
              <a:t> </a:t>
            </a:r>
            <a:r>
              <a:rPr lang="zh-CN" altLang="en-US" sz="2200">
                <a:solidFill>
                  <a:srgbClr val="FFFFFF"/>
                </a:solidFill>
              </a:rPr>
              <a:t>两部分。容器左端封闭且</a:t>
            </a:r>
            <a:r>
              <a:rPr lang="zh-CN" altLang="en-US" sz="2200">
                <a:solidFill>
                  <a:schemeClr val="bg1"/>
                </a:solidFill>
              </a:rPr>
              <a:t>导热</a:t>
            </a:r>
            <a:r>
              <a:rPr lang="zh-CN" altLang="en-US" sz="2200">
                <a:solidFill>
                  <a:srgbClr val="FFFFFF"/>
                </a:solidFill>
              </a:rPr>
              <a:t>，其他部分绝热。开始时在</a:t>
            </a:r>
            <a:r>
              <a:rPr lang="en-US" altLang="zh-CN" sz="2200">
                <a:solidFill>
                  <a:srgbClr val="66FFFF"/>
                </a:solidFill>
              </a:rPr>
              <a:t>Ⅰ</a:t>
            </a:r>
            <a:r>
              <a:rPr lang="zh-CN" altLang="en-US" sz="2200">
                <a:solidFill>
                  <a:schemeClr val="bg1"/>
                </a:solidFill>
              </a:rPr>
              <a:t>，</a:t>
            </a:r>
            <a:r>
              <a:rPr lang="en-US" altLang="zh-CN" sz="2200">
                <a:solidFill>
                  <a:srgbClr val="66FFFF"/>
                </a:solidFill>
              </a:rPr>
              <a:t>Ⅱ</a:t>
            </a:r>
            <a:r>
              <a:rPr lang="zh-CN" altLang="en-US" sz="2200">
                <a:solidFill>
                  <a:srgbClr val="FFFFFF"/>
                </a:solidFill>
              </a:rPr>
              <a:t>中各有温度为 </a:t>
            </a:r>
            <a:r>
              <a:rPr lang="en-US" altLang="zh-CN" sz="2200">
                <a:solidFill>
                  <a:srgbClr val="66FFFF"/>
                </a:solidFill>
              </a:rPr>
              <a:t>0 ℃</a:t>
            </a:r>
            <a:r>
              <a:rPr lang="zh-CN" altLang="en-US" sz="2200">
                <a:solidFill>
                  <a:srgbClr val="66FFFF"/>
                </a:solidFill>
              </a:rPr>
              <a:t>，</a:t>
            </a:r>
            <a:r>
              <a:rPr lang="zh-CN" altLang="en-US" sz="2200">
                <a:solidFill>
                  <a:srgbClr val="FFFFFF"/>
                </a:solidFill>
              </a:rPr>
              <a:t>压强</a:t>
            </a:r>
            <a:r>
              <a:rPr lang="en-US" altLang="zh-CN" sz="2200">
                <a:solidFill>
                  <a:srgbClr val="66FFFF"/>
                </a:solidFill>
              </a:rPr>
              <a:t>1.013×10</a:t>
            </a:r>
            <a:r>
              <a:rPr lang="en-US" altLang="zh-CN" sz="2200" baseline="30000">
                <a:solidFill>
                  <a:srgbClr val="66FFFF"/>
                </a:solidFill>
              </a:rPr>
              <a:t>5 </a:t>
            </a:r>
            <a:r>
              <a:rPr lang="en-US" altLang="zh-CN" sz="2200">
                <a:solidFill>
                  <a:srgbClr val="66FFFF"/>
                </a:solidFill>
              </a:rPr>
              <a:t>P</a:t>
            </a:r>
            <a:r>
              <a:rPr lang="en-US" altLang="zh-CN" sz="2200" baseline="-25000">
                <a:solidFill>
                  <a:srgbClr val="66FFFF"/>
                </a:solidFill>
              </a:rPr>
              <a:t>a</a:t>
            </a:r>
            <a:r>
              <a:rPr lang="en-US" altLang="zh-CN" sz="2200">
                <a:solidFill>
                  <a:srgbClr val="66FFFF"/>
                </a:solidFill>
              </a:rPr>
              <a:t> </a:t>
            </a:r>
            <a:r>
              <a:rPr lang="zh-CN" altLang="en-US" sz="2200">
                <a:solidFill>
                  <a:srgbClr val="FFFFFF"/>
                </a:solidFill>
              </a:rPr>
              <a:t>的刚性双原子分子的理想气体，两部分的容积均为</a:t>
            </a:r>
            <a:r>
              <a:rPr lang="en-US" altLang="zh-CN" sz="2200">
                <a:solidFill>
                  <a:srgbClr val="66FFFF"/>
                </a:solidFill>
              </a:rPr>
              <a:t>36</a:t>
            </a:r>
            <a:r>
              <a:rPr lang="zh-CN" altLang="en-US" sz="2200">
                <a:solidFill>
                  <a:srgbClr val="66FFFF"/>
                </a:solidFill>
              </a:rPr>
              <a:t>升</a:t>
            </a:r>
            <a:r>
              <a:rPr lang="zh-CN" altLang="en-US" sz="2200">
                <a:solidFill>
                  <a:srgbClr val="FFFFFF"/>
                </a:solidFill>
              </a:rPr>
              <a:t>。现从容器左端缓慢地对</a:t>
            </a:r>
            <a:r>
              <a:rPr lang="en-US" altLang="zh-CN" sz="2200">
                <a:solidFill>
                  <a:srgbClr val="66FFFF"/>
                </a:solidFill>
              </a:rPr>
              <a:t>Ⅰ</a:t>
            </a:r>
            <a:r>
              <a:rPr lang="zh-CN" altLang="en-US" sz="2200">
                <a:solidFill>
                  <a:srgbClr val="FFFFFF"/>
                </a:solidFill>
              </a:rPr>
              <a:t>中气体加热，使活塞缓慢地向右移动，直到</a:t>
            </a:r>
            <a:r>
              <a:rPr lang="en-US" altLang="zh-CN" sz="2200">
                <a:solidFill>
                  <a:srgbClr val="66FFFF"/>
                </a:solidFill>
              </a:rPr>
              <a:t>Ⅱ</a:t>
            </a:r>
            <a:r>
              <a:rPr lang="zh-CN" altLang="en-US" sz="2200">
                <a:solidFill>
                  <a:srgbClr val="FFFFFF"/>
                </a:solidFill>
              </a:rPr>
              <a:t>中气体的体积变为</a:t>
            </a:r>
            <a:r>
              <a:rPr lang="en-US" altLang="zh-CN" sz="2200">
                <a:solidFill>
                  <a:srgbClr val="66FFFF"/>
                </a:solidFill>
              </a:rPr>
              <a:t>18</a:t>
            </a:r>
            <a:r>
              <a:rPr lang="zh-CN" altLang="en-US" sz="2200">
                <a:solidFill>
                  <a:srgbClr val="66FFFF"/>
                </a:solidFill>
              </a:rPr>
              <a:t>升</a:t>
            </a:r>
            <a:r>
              <a:rPr lang="zh-CN" altLang="en-US" sz="2200">
                <a:solidFill>
                  <a:srgbClr val="FFFFFF"/>
                </a:solidFill>
              </a:rPr>
              <a:t>为止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39589BF-6FB9-40D3-99F4-136EBB0ED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2281238"/>
            <a:ext cx="45735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(1)</a:t>
            </a:r>
            <a:r>
              <a:rPr lang="en-US" altLang="zh-CN" sz="2200">
                <a:solidFill>
                  <a:srgbClr val="FFFF00"/>
                </a:solidFill>
              </a:rPr>
              <a:t> </a:t>
            </a:r>
            <a:r>
              <a:rPr lang="en-US" altLang="zh-CN" sz="2200">
                <a:solidFill>
                  <a:srgbClr val="66FFFF"/>
                </a:solidFill>
                <a:latin typeface="Arial" panose="020B0604020202020204" pitchFamily="34" charset="0"/>
              </a:rPr>
              <a:t>Ⅰ</a:t>
            </a:r>
            <a:r>
              <a:rPr lang="zh-CN" altLang="en-US" sz="2200">
                <a:solidFill>
                  <a:srgbClr val="FFFFFF"/>
                </a:solidFill>
                <a:latin typeface="Arial" panose="020B0604020202020204" pitchFamily="34" charset="0"/>
              </a:rPr>
              <a:t>中气体末态的压强和温度？</a:t>
            </a:r>
            <a:r>
              <a:rPr lang="zh-CN" altLang="en-US" sz="22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1DD28506-2B65-4C46-A775-C601ECA73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3286125"/>
            <a:ext cx="11049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解</a:t>
            </a:r>
            <a:endParaRPr lang="zh-CN" altLang="en-US" sz="2200" i="1">
              <a:solidFill>
                <a:srgbClr val="FFFF00"/>
              </a:solidFill>
            </a:endParaRP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FE447278-6A48-489C-9B14-37EE616A4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4651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BD0850F2-1DF4-420B-A425-79AF98A09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03463"/>
            <a:ext cx="4651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96025B8-D5D5-4A2B-A5D2-ED72A96DC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608263"/>
            <a:ext cx="304800" cy="762000"/>
          </a:xfrm>
          <a:prstGeom prst="rect">
            <a:avLst/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2FF68640-0F9F-4743-9752-EC3DE08D61F1}"/>
              </a:ext>
            </a:extLst>
          </p:cNvPr>
          <p:cNvGrpSpPr>
            <a:grpSpLocks/>
          </p:cNvGrpSpPr>
          <p:nvPr/>
        </p:nvGrpSpPr>
        <p:grpSpPr bwMode="auto">
          <a:xfrm>
            <a:off x="5969000" y="2533650"/>
            <a:ext cx="2441575" cy="914400"/>
            <a:chOff x="3987" y="2304"/>
            <a:chExt cx="1538" cy="576"/>
          </a:xfrm>
        </p:grpSpPr>
        <p:sp>
          <p:nvSpPr>
            <p:cNvPr id="16412" name="Line 9">
              <a:extLst>
                <a:ext uri="{FF2B5EF4-FFF2-40B4-BE49-F238E27FC236}">
                  <a16:creationId xmlns:a16="http://schemas.microsoft.com/office/drawing/2014/main" id="{E46AD3D5-A3EC-436C-9084-52E65E5A75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785357">
              <a:off x="3990" y="2880"/>
              <a:ext cx="1488" cy="0"/>
            </a:xfrm>
            <a:prstGeom prst="line">
              <a:avLst/>
            </a:prstGeom>
            <a:noFill/>
            <a:ln w="139700" cap="sq">
              <a:pattFill prst="wdUpDiag">
                <a:fgClr>
                  <a:srgbClr val="66FFFF"/>
                </a:fgClr>
                <a:bgClr>
                  <a:srgbClr val="FF0066"/>
                </a:bgClr>
              </a:patt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3" name="Line 10">
              <a:extLst>
                <a:ext uri="{FF2B5EF4-FFF2-40B4-BE49-F238E27FC236}">
                  <a16:creationId xmlns:a16="http://schemas.microsoft.com/office/drawing/2014/main" id="{3458540C-1AEB-473E-8784-35EDB71A72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785357">
              <a:off x="3987" y="2304"/>
              <a:ext cx="1488" cy="0"/>
            </a:xfrm>
            <a:prstGeom prst="line">
              <a:avLst/>
            </a:prstGeom>
            <a:noFill/>
            <a:ln w="139700" cap="sq">
              <a:pattFill prst="wdUpDiag">
                <a:fgClr>
                  <a:srgbClr val="66FFFF"/>
                </a:fgClr>
                <a:bgClr>
                  <a:srgbClr val="FF0066"/>
                </a:bgClr>
              </a:patt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4" name="Line 11">
              <a:extLst>
                <a:ext uri="{FF2B5EF4-FFF2-40B4-BE49-F238E27FC236}">
                  <a16:creationId xmlns:a16="http://schemas.microsoft.com/office/drawing/2014/main" id="{CF2DB7A8-FB72-4267-AF9C-33444D9D5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5" y="2304"/>
              <a:ext cx="0" cy="576"/>
            </a:xfrm>
            <a:prstGeom prst="line">
              <a:avLst/>
            </a:prstGeom>
            <a:noFill/>
            <a:ln w="139700" cap="sq">
              <a:pattFill prst="wdUpDiag">
                <a:fgClr>
                  <a:srgbClr val="66FFFF"/>
                </a:fgClr>
                <a:bgClr>
                  <a:srgbClr val="FF0066"/>
                </a:bgClr>
              </a:patt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7660" name="Line 12">
            <a:extLst>
              <a:ext uri="{FF2B5EF4-FFF2-40B4-BE49-F238E27FC236}">
                <a16:creationId xmlns:a16="http://schemas.microsoft.com/office/drawing/2014/main" id="{B00606BE-BCB2-4668-A8B6-87C6C940A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5975" y="2386013"/>
            <a:ext cx="1588" cy="1187450"/>
          </a:xfrm>
          <a:prstGeom prst="line">
            <a:avLst/>
          </a:prstGeom>
          <a:noFill/>
          <a:ln w="76200" cap="sq">
            <a:solidFill>
              <a:srgbClr val="FFCC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661" name="Text Box 13">
            <a:extLst>
              <a:ext uri="{FF2B5EF4-FFF2-40B4-BE49-F238E27FC236}">
                <a16:creationId xmlns:a16="http://schemas.microsoft.com/office/drawing/2014/main" id="{F010894D-778D-47F0-9CE3-ECAF70FB0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27622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</a:rPr>
              <a:t>Ⅰ</a:t>
            </a:r>
          </a:p>
        </p:txBody>
      </p:sp>
      <p:sp>
        <p:nvSpPr>
          <p:cNvPr id="27662" name="Text Box 14">
            <a:extLst>
              <a:ext uri="{FF2B5EF4-FFF2-40B4-BE49-F238E27FC236}">
                <a16:creationId xmlns:a16="http://schemas.microsoft.com/office/drawing/2014/main" id="{765E213C-0712-4977-B6A5-A08D05DFC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200" y="27622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FF"/>
                </a:solidFill>
              </a:rPr>
              <a:t>Ⅱ</a:t>
            </a:r>
          </a:p>
        </p:txBody>
      </p:sp>
      <p:sp>
        <p:nvSpPr>
          <p:cNvPr id="27663" name="Text Box 15">
            <a:extLst>
              <a:ext uri="{FF2B5EF4-FFF2-40B4-BE49-F238E27FC236}">
                <a16:creationId xmlns:a16="http://schemas.microsoft.com/office/drawing/2014/main" id="{CDA8382F-D4EF-4CA2-A979-36D8F15D1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3284538"/>
            <a:ext cx="56165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(1)</a:t>
            </a: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200">
                <a:solidFill>
                  <a:srgbClr val="66FFFF"/>
                </a:solidFill>
              </a:rPr>
              <a:t>Ⅱ</a:t>
            </a:r>
            <a:r>
              <a:rPr lang="zh-CN" altLang="en-US" sz="2200">
                <a:solidFill>
                  <a:schemeClr val="bg1"/>
                </a:solidFill>
              </a:rPr>
              <a:t>中气体经历的是绝热过程</a:t>
            </a:r>
          </a:p>
        </p:txBody>
      </p:sp>
      <p:graphicFrame>
        <p:nvGraphicFramePr>
          <p:cNvPr id="27664" name="Object 2">
            <a:extLst>
              <a:ext uri="{FF2B5EF4-FFF2-40B4-BE49-F238E27FC236}">
                <a16:creationId xmlns:a16="http://schemas.microsoft.com/office/drawing/2014/main" id="{61035F8F-7DFF-48D8-8C67-010D7B37B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421188"/>
          <a:ext cx="1800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56" name="公式" r:id="rId3" imgW="1809839" imgH="438116" progId="Equation.3">
                  <p:embed/>
                </p:oleObj>
              </mc:Choice>
              <mc:Fallback>
                <p:oleObj name="公式" r:id="rId3" imgW="1809839" imgH="438116" progId="Equation.3">
                  <p:embed/>
                  <p:pic>
                    <p:nvPicPr>
                      <p:cNvPr id="27664" name="Object 2">
                        <a:extLst>
                          <a:ext uri="{FF2B5EF4-FFF2-40B4-BE49-F238E27FC236}">
                            <a16:creationId xmlns:a16="http://schemas.microsoft.com/office/drawing/2014/main" id="{61035F8F-7DFF-48D8-8C67-010D7B37B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421188"/>
                        <a:ext cx="1800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Rectangle 19">
            <a:extLst>
              <a:ext uri="{FF2B5EF4-FFF2-40B4-BE49-F238E27FC236}">
                <a16:creationId xmlns:a16="http://schemas.microsoft.com/office/drawing/2014/main" id="{08905E39-BFC5-485E-822F-F858BBCBF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2714625"/>
            <a:ext cx="45005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(2)</a:t>
            </a:r>
            <a:r>
              <a:rPr lang="en-US" altLang="zh-CN" sz="2200">
                <a:solidFill>
                  <a:srgbClr val="FFFF00"/>
                </a:solidFill>
              </a:rPr>
              <a:t> </a:t>
            </a:r>
            <a:r>
              <a:rPr lang="zh-CN" altLang="en-US" sz="2200">
                <a:solidFill>
                  <a:srgbClr val="FFFFFF"/>
                </a:solidFill>
                <a:latin typeface="Arial" panose="020B0604020202020204" pitchFamily="34" charset="0"/>
              </a:rPr>
              <a:t>外界传给</a:t>
            </a:r>
            <a:r>
              <a:rPr lang="en-US" altLang="zh-CN" sz="2200">
                <a:solidFill>
                  <a:srgbClr val="66FFFF"/>
                </a:solidFill>
                <a:latin typeface="Arial" panose="020B0604020202020204" pitchFamily="34" charset="0"/>
              </a:rPr>
              <a:t>Ⅰ</a:t>
            </a:r>
            <a:r>
              <a:rPr lang="zh-CN" altLang="en-US" sz="2200">
                <a:solidFill>
                  <a:srgbClr val="FFFFFF"/>
                </a:solidFill>
                <a:latin typeface="Arial" panose="020B0604020202020204" pitchFamily="34" charset="0"/>
              </a:rPr>
              <a:t>中气体的热量？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62BF05E1-264C-40F7-9806-A862845C0CF3}"/>
              </a:ext>
            </a:extLst>
          </p:cNvPr>
          <p:cNvGrpSpPr>
            <a:grpSpLocks/>
          </p:cNvGrpSpPr>
          <p:nvPr/>
        </p:nvGrpSpPr>
        <p:grpSpPr bwMode="auto">
          <a:xfrm>
            <a:off x="5429250" y="2601913"/>
            <a:ext cx="438150" cy="792162"/>
            <a:chOff x="3466" y="1162"/>
            <a:chExt cx="276" cy="499"/>
          </a:xfrm>
        </p:grpSpPr>
        <p:sp>
          <p:nvSpPr>
            <p:cNvPr id="16410" name="Rectangle 21">
              <a:extLst>
                <a:ext uri="{FF2B5EF4-FFF2-40B4-BE49-F238E27FC236}">
                  <a16:creationId xmlns:a16="http://schemas.microsoft.com/office/drawing/2014/main" id="{48AC516E-260E-434E-A235-D912B9E5F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162"/>
              <a:ext cx="272" cy="499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AA5355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graphicFrame>
          <p:nvGraphicFramePr>
            <p:cNvPr id="16411" name="Object 22">
              <a:extLst>
                <a:ext uri="{FF2B5EF4-FFF2-40B4-BE49-F238E27FC236}">
                  <a16:creationId xmlns:a16="http://schemas.microsoft.com/office/drawing/2014/main" id="{31C02260-6058-4255-9AA1-54627C0B15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6" y="1233"/>
            <a:ext cx="27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857" name="公式" r:id="rId5" imgW="104896" imgH="152468" progId="Equation.3">
                    <p:embed/>
                  </p:oleObj>
                </mc:Choice>
                <mc:Fallback>
                  <p:oleObj name="公式" r:id="rId5" imgW="104896" imgH="152468" progId="Equation.3">
                    <p:embed/>
                    <p:pic>
                      <p:nvPicPr>
                        <p:cNvPr id="16411" name="Object 22">
                          <a:extLst>
                            <a:ext uri="{FF2B5EF4-FFF2-40B4-BE49-F238E27FC236}">
                              <a16:creationId xmlns:a16="http://schemas.microsoft.com/office/drawing/2014/main" id="{31C02260-6058-4255-9AA1-54627C0B15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6" y="1233"/>
                          <a:ext cx="27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5" name="Object 3">
            <a:extLst>
              <a:ext uri="{FF2B5EF4-FFF2-40B4-BE49-F238E27FC236}">
                <a16:creationId xmlns:a16="http://schemas.microsoft.com/office/drawing/2014/main" id="{CD5153F8-95D9-4690-9BDB-9245C8479C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8013" y="4252913"/>
          <a:ext cx="37544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58" name="公式" r:id="rId7" imgW="4114800" imgH="866741" progId="Equation.3">
                  <p:embed/>
                </p:oleObj>
              </mc:Choice>
              <mc:Fallback>
                <p:oleObj name="公式" r:id="rId7" imgW="4114800" imgH="866741" progId="Equation.3">
                  <p:embed/>
                  <p:pic>
                    <p:nvPicPr>
                      <p:cNvPr id="28675" name="Object 3">
                        <a:extLst>
                          <a:ext uri="{FF2B5EF4-FFF2-40B4-BE49-F238E27FC236}">
                            <a16:creationId xmlns:a16="http://schemas.microsoft.com/office/drawing/2014/main" id="{CD5153F8-95D9-4690-9BDB-9245C8479C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4252913"/>
                        <a:ext cx="375443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" name="AutoShape 25">
            <a:extLst>
              <a:ext uri="{FF2B5EF4-FFF2-40B4-BE49-F238E27FC236}">
                <a16:creationId xmlns:a16="http://schemas.microsoft.com/office/drawing/2014/main" id="{53042FD1-DAEF-43C7-AE29-DEC691DC6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581525"/>
            <a:ext cx="1008062" cy="142875"/>
          </a:xfrm>
          <a:prstGeom prst="rightArrow">
            <a:avLst>
              <a:gd name="adj1" fmla="val 50000"/>
              <a:gd name="adj2" fmla="val 176389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1C99E422-115B-4217-88FC-7E84CD560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162550"/>
            <a:ext cx="32400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>
                <a:solidFill>
                  <a:schemeClr val="bg1"/>
                </a:solidFill>
              </a:rPr>
              <a:t>末状态，</a:t>
            </a:r>
            <a:r>
              <a:rPr kumimoji="0" lang="en-US" altLang="zh-CN" sz="2200">
                <a:solidFill>
                  <a:srgbClr val="59E2FD"/>
                </a:solidFill>
              </a:rPr>
              <a:t>I</a:t>
            </a:r>
            <a:r>
              <a:rPr kumimoji="0" lang="zh-CN" altLang="en-US" sz="2200">
                <a:solidFill>
                  <a:schemeClr val="bg1"/>
                </a:solidFill>
              </a:rPr>
              <a:t>、</a:t>
            </a:r>
            <a:r>
              <a:rPr kumimoji="0" lang="en-US" altLang="zh-CN" sz="2200">
                <a:solidFill>
                  <a:srgbClr val="59E2FD"/>
                </a:solidFill>
              </a:rPr>
              <a:t>II</a:t>
            </a:r>
            <a:r>
              <a:rPr kumimoji="0" lang="zh-CN" altLang="en-US" sz="2200">
                <a:solidFill>
                  <a:schemeClr val="bg1"/>
                </a:solidFill>
              </a:rPr>
              <a:t>压强相同</a:t>
            </a:r>
          </a:p>
        </p:txBody>
      </p:sp>
      <p:graphicFrame>
        <p:nvGraphicFramePr>
          <p:cNvPr id="28677" name="Object 4">
            <a:extLst>
              <a:ext uri="{FF2B5EF4-FFF2-40B4-BE49-F238E27FC236}">
                <a16:creationId xmlns:a16="http://schemas.microsoft.com/office/drawing/2014/main" id="{380A55F3-7943-4CF5-992C-82688D594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9638" y="5089525"/>
          <a:ext cx="32369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59" name="公式" r:id="rId9" imgW="1447749" imgH="180941" progId="Equation.3">
                  <p:embed/>
                </p:oleObj>
              </mc:Choice>
              <mc:Fallback>
                <p:oleObj name="公式" r:id="rId9" imgW="1447749" imgH="180941" progId="Equation.3">
                  <p:embed/>
                  <p:pic>
                    <p:nvPicPr>
                      <p:cNvPr id="28677" name="Object 4">
                        <a:extLst>
                          <a:ext uri="{FF2B5EF4-FFF2-40B4-BE49-F238E27FC236}">
                            <a16:creationId xmlns:a16="http://schemas.microsoft.com/office/drawing/2014/main" id="{380A55F3-7943-4CF5-992C-82688D594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8" y="5089525"/>
                        <a:ext cx="323691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" name="Object 28">
            <a:extLst>
              <a:ext uri="{FF2B5EF4-FFF2-40B4-BE49-F238E27FC236}">
                <a16:creationId xmlns:a16="http://schemas.microsoft.com/office/drawing/2014/main" id="{60B71480-B54E-4ED8-9A25-5A920F3C2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5757863"/>
          <a:ext cx="35242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60" name="公式" r:id="rId11" imgW="3733749" imgH="866741" progId="Equation.3">
                  <p:embed/>
                </p:oleObj>
              </mc:Choice>
              <mc:Fallback>
                <p:oleObj name="公式" r:id="rId11" imgW="3733749" imgH="866741" progId="Equation.3">
                  <p:embed/>
                  <p:pic>
                    <p:nvPicPr>
                      <p:cNvPr id="28674" name="Object 28">
                        <a:extLst>
                          <a:ext uri="{FF2B5EF4-FFF2-40B4-BE49-F238E27FC236}">
                            <a16:creationId xmlns:a16="http://schemas.microsoft.com/office/drawing/2014/main" id="{60B71480-B54E-4ED8-9A25-5A920F3C21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5757863"/>
                        <a:ext cx="35242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6">
            <a:extLst>
              <a:ext uri="{FF2B5EF4-FFF2-40B4-BE49-F238E27FC236}">
                <a16:creationId xmlns:a16="http://schemas.microsoft.com/office/drawing/2014/main" id="{E4356123-DF41-4FF9-BD1F-2AFE25CC5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238" y="5972175"/>
            <a:ext cx="30051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>
                <a:solidFill>
                  <a:schemeClr val="bg1"/>
                </a:solidFill>
              </a:rPr>
              <a:t>由理想气体状态方程</a:t>
            </a:r>
          </a:p>
        </p:txBody>
      </p:sp>
      <p:graphicFrame>
        <p:nvGraphicFramePr>
          <p:cNvPr id="27665" name="Object 30">
            <a:extLst>
              <a:ext uri="{FF2B5EF4-FFF2-40B4-BE49-F238E27FC236}">
                <a16:creationId xmlns:a16="http://schemas.microsoft.com/office/drawing/2014/main" id="{7A08FBE7-D270-44FB-B207-D2A98EA69D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6338" y="3644900"/>
          <a:ext cx="6207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61" name="公式" r:id="rId13" imgW="752622" imgH="781016" progId="Equation.3">
                  <p:embed/>
                </p:oleObj>
              </mc:Choice>
              <mc:Fallback>
                <p:oleObj name="公式" r:id="rId13" imgW="752622" imgH="781016" progId="Equation.3">
                  <p:embed/>
                  <p:pic>
                    <p:nvPicPr>
                      <p:cNvPr id="27665" name="Object 30">
                        <a:extLst>
                          <a:ext uri="{FF2B5EF4-FFF2-40B4-BE49-F238E27FC236}">
                            <a16:creationId xmlns:a16="http://schemas.microsoft.com/office/drawing/2014/main" id="{7A08FBE7-D270-44FB-B207-D2A98EA69D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3644900"/>
                        <a:ext cx="6207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Text Box 23">
            <a:extLst>
              <a:ext uri="{FF2B5EF4-FFF2-40B4-BE49-F238E27FC236}">
                <a16:creationId xmlns:a16="http://schemas.microsoft.com/office/drawing/2014/main" id="{93A89049-0A17-4DC2-8BC8-69A33CACA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3789363"/>
            <a:ext cx="2422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>
                <a:solidFill>
                  <a:schemeClr val="bg1"/>
                </a:solidFill>
              </a:rPr>
              <a:t>刚性双原子分子</a:t>
            </a:r>
          </a:p>
        </p:txBody>
      </p:sp>
      <p:sp>
        <p:nvSpPr>
          <p:cNvPr id="10265" name="Freeform 32">
            <a:extLst>
              <a:ext uri="{FF2B5EF4-FFF2-40B4-BE49-F238E27FC236}">
                <a16:creationId xmlns:a16="http://schemas.microsoft.com/office/drawing/2014/main" id="{22E8C6CB-FC10-4452-8FD7-631F0F3EBB1B}"/>
              </a:ext>
            </a:extLst>
          </p:cNvPr>
          <p:cNvSpPr>
            <a:spLocks/>
          </p:cNvSpPr>
          <p:nvPr/>
        </p:nvSpPr>
        <p:spPr bwMode="auto">
          <a:xfrm>
            <a:off x="2916238" y="4005263"/>
            <a:ext cx="1008062" cy="431800"/>
          </a:xfrm>
          <a:custGeom>
            <a:avLst/>
            <a:gdLst>
              <a:gd name="T0" fmla="*/ 2147483646 w 635"/>
              <a:gd name="T1" fmla="*/ 0 h 272"/>
              <a:gd name="T2" fmla="*/ 2147483646 w 635"/>
              <a:gd name="T3" fmla="*/ 2147483646 h 272"/>
              <a:gd name="T4" fmla="*/ 0 w 635"/>
              <a:gd name="T5" fmla="*/ 2147483646 h 272"/>
              <a:gd name="T6" fmla="*/ 0 60000 65536"/>
              <a:gd name="T7" fmla="*/ 0 60000 65536"/>
              <a:gd name="T8" fmla="*/ 0 60000 65536"/>
              <a:gd name="T9" fmla="*/ 0 w 635"/>
              <a:gd name="T10" fmla="*/ 0 h 272"/>
              <a:gd name="T11" fmla="*/ 635 w 635"/>
              <a:gd name="T12" fmla="*/ 272 h 2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272">
                <a:moveTo>
                  <a:pt x="635" y="0"/>
                </a:moveTo>
                <a:cubicBezTo>
                  <a:pt x="438" y="0"/>
                  <a:pt x="242" y="0"/>
                  <a:pt x="136" y="45"/>
                </a:cubicBezTo>
                <a:cubicBezTo>
                  <a:pt x="30" y="90"/>
                  <a:pt x="15" y="181"/>
                  <a:pt x="0" y="272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09" name="灯片编号占位符 1">
            <a:extLst>
              <a:ext uri="{FF2B5EF4-FFF2-40B4-BE49-F238E27FC236}">
                <a16:creationId xmlns:a16="http://schemas.microsoft.com/office/drawing/2014/main" id="{7FC18A53-94C5-448A-970C-34BD021BAA7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DA7EB7-46B7-4B5E-BB36-A43179E627DB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87055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/>
      <p:bldP spid="27652" grpId="0" autoUpdateAnimBg="0"/>
      <p:bldP spid="27653" grpId="0"/>
      <p:bldP spid="27654" grpId="0"/>
      <p:bldP spid="27655" grpId="0" animBg="1"/>
      <p:bldP spid="27661" grpId="0" autoUpdateAnimBg="0"/>
      <p:bldP spid="27662" grpId="0" autoUpdateAnimBg="0"/>
      <p:bldP spid="27663" grpId="0" autoUpdateAnimBg="0"/>
      <p:bldP spid="27667" grpId="0"/>
      <p:bldP spid="10261" grpId="0" animBg="1"/>
      <p:bldP spid="28676" grpId="0"/>
      <p:bldP spid="28678" grpId="0"/>
      <p:bldP spid="276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Text Box 7">
            <a:extLst>
              <a:ext uri="{FF2B5EF4-FFF2-40B4-BE49-F238E27FC236}">
                <a16:creationId xmlns:a16="http://schemas.microsoft.com/office/drawing/2014/main" id="{81A52DD9-D368-4523-88BB-CCEBD5088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49275"/>
            <a:ext cx="468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  <a:r>
              <a:rPr lang="en-US" altLang="zh-CN">
                <a:solidFill>
                  <a:srgbClr val="66FFFF"/>
                </a:solidFill>
              </a:rPr>
              <a:t>Ⅰ</a:t>
            </a:r>
            <a:r>
              <a:rPr lang="zh-CN" altLang="en-US">
                <a:solidFill>
                  <a:schemeClr val="bg1"/>
                </a:solidFill>
              </a:rPr>
              <a:t>中气体内能的增量为</a:t>
            </a:r>
          </a:p>
        </p:txBody>
      </p:sp>
      <p:graphicFrame>
        <p:nvGraphicFramePr>
          <p:cNvPr id="28680" name="Object 5">
            <a:extLst>
              <a:ext uri="{FF2B5EF4-FFF2-40B4-BE49-F238E27FC236}">
                <a16:creationId xmlns:a16="http://schemas.microsoft.com/office/drawing/2014/main" id="{360C48FB-1C4C-4D3F-8A2F-F9D2E90246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1174750"/>
          <a:ext cx="28495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0" name="公式" r:id="rId3" imgW="1162114" imgH="180941" progId="Equation.3">
                  <p:embed/>
                </p:oleObj>
              </mc:Choice>
              <mc:Fallback>
                <p:oleObj name="公式" r:id="rId3" imgW="1162114" imgH="180941" progId="Equation.3">
                  <p:embed/>
                  <p:pic>
                    <p:nvPicPr>
                      <p:cNvPr id="28680" name="Object 5">
                        <a:extLst>
                          <a:ext uri="{FF2B5EF4-FFF2-40B4-BE49-F238E27FC236}">
                            <a16:creationId xmlns:a16="http://schemas.microsoft.com/office/drawing/2014/main" id="{360C48FB-1C4C-4D3F-8A2F-F9D2E9024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1174750"/>
                        <a:ext cx="28495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6">
            <a:extLst>
              <a:ext uri="{FF2B5EF4-FFF2-40B4-BE49-F238E27FC236}">
                <a16:creationId xmlns:a16="http://schemas.microsoft.com/office/drawing/2014/main" id="{3EB9853D-F4DB-466E-B21D-F6764594E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1019175"/>
          <a:ext cx="21113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1" name="公式" r:id="rId5" imgW="2057553" imgH="781016" progId="Equation.3">
                  <p:embed/>
                </p:oleObj>
              </mc:Choice>
              <mc:Fallback>
                <p:oleObj name="公式" r:id="rId5" imgW="2057553" imgH="781016" progId="Equation.3">
                  <p:embed/>
                  <p:pic>
                    <p:nvPicPr>
                      <p:cNvPr id="28681" name="Object 6">
                        <a:extLst>
                          <a:ext uri="{FF2B5EF4-FFF2-40B4-BE49-F238E27FC236}">
                            <a16:creationId xmlns:a16="http://schemas.microsoft.com/office/drawing/2014/main" id="{3EB9853D-F4DB-466E-B21D-F6764594E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019175"/>
                        <a:ext cx="21113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7">
            <a:extLst>
              <a:ext uri="{FF2B5EF4-FFF2-40B4-BE49-F238E27FC236}">
                <a16:creationId xmlns:a16="http://schemas.microsoft.com/office/drawing/2014/main" id="{80C04101-1225-46B0-AF4D-9CC07B713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882775"/>
          <a:ext cx="42703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2" name="公式" r:id="rId7" imgW="4219696" imgH="781016" progId="Equation.3">
                  <p:embed/>
                </p:oleObj>
              </mc:Choice>
              <mc:Fallback>
                <p:oleObj name="公式" r:id="rId7" imgW="4219696" imgH="781016" progId="Equation.3">
                  <p:embed/>
                  <p:pic>
                    <p:nvPicPr>
                      <p:cNvPr id="28682" name="Object 7">
                        <a:extLst>
                          <a:ext uri="{FF2B5EF4-FFF2-40B4-BE49-F238E27FC236}">
                            <a16:creationId xmlns:a16="http://schemas.microsoft.com/office/drawing/2014/main" id="{80C04101-1225-46B0-AF4D-9CC07B7137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882775"/>
                        <a:ext cx="42703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Text Box 12">
            <a:extLst>
              <a:ext uri="{FF2B5EF4-FFF2-40B4-BE49-F238E27FC236}">
                <a16:creationId xmlns:a16="http://schemas.microsoft.com/office/drawing/2014/main" id="{1CCE0F0E-B335-4BA7-81C9-FF09E9C69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852738"/>
            <a:ext cx="425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Ⅰ</a:t>
            </a:r>
            <a:r>
              <a:rPr kumimoji="0" lang="zh-CN" altLang="en-US">
                <a:solidFill>
                  <a:schemeClr val="bg1"/>
                </a:solidFill>
              </a:rPr>
              <a:t>中气体对外作的功为</a:t>
            </a: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DF07155B-3526-4146-AA69-CAAF034728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5000625"/>
          <a:ext cx="191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3" name="公式" r:id="rId9" imgW="1847761" imgH="371373" progId="Equation.3">
                  <p:embed/>
                </p:oleObj>
              </mc:Choice>
              <mc:Fallback>
                <p:oleObj name="公式" r:id="rId9" imgW="1847761" imgH="371373" progId="Equation.3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DF07155B-3526-4146-AA69-CAAF034728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000625"/>
                        <a:ext cx="1917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1BCFE024-D455-4687-AFD0-F95E934D2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1375" y="4962525"/>
          <a:ext cx="18494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4" name="公式" r:id="rId11" imgW="1847761" imgH="419134" progId="Equation.3">
                  <p:embed/>
                </p:oleObj>
              </mc:Choice>
              <mc:Fallback>
                <p:oleObj name="公式" r:id="rId11" imgW="1847761" imgH="419134" progId="Equation.3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1BCFE024-D455-4687-AFD0-F95E934D2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75" y="4962525"/>
                        <a:ext cx="18494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9D1FBE99-2A98-4F58-9AE7-A8A6BC0E6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292600"/>
            <a:ext cx="702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根据热力学第一定律， </a:t>
            </a:r>
            <a:r>
              <a:rPr lang="en-US" altLang="zh-CN">
                <a:solidFill>
                  <a:srgbClr val="66FFFF"/>
                </a:solidFill>
              </a:rPr>
              <a:t>Ⅰ</a:t>
            </a:r>
            <a:r>
              <a:rPr kumimoji="0" lang="zh-CN" altLang="en-US">
                <a:solidFill>
                  <a:schemeClr val="bg1"/>
                </a:solidFill>
              </a:rPr>
              <a:t>中气体吸收的热量为</a:t>
            </a:r>
          </a:p>
        </p:txBody>
      </p:sp>
      <p:graphicFrame>
        <p:nvGraphicFramePr>
          <p:cNvPr id="28683" name="Object 8">
            <a:extLst>
              <a:ext uri="{FF2B5EF4-FFF2-40B4-BE49-F238E27FC236}">
                <a16:creationId xmlns:a16="http://schemas.microsoft.com/office/drawing/2014/main" id="{6259BE7A-8929-4572-BA83-40FBD432D9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5675" y="3500438"/>
          <a:ext cx="53467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5" name="公式" r:id="rId13" imgW="2343188" imgH="190432" progId="Equation.3">
                  <p:embed/>
                </p:oleObj>
              </mc:Choice>
              <mc:Fallback>
                <p:oleObj name="公式" r:id="rId13" imgW="2343188" imgH="190432" progId="Equation.3">
                  <p:embed/>
                  <p:pic>
                    <p:nvPicPr>
                      <p:cNvPr id="28683" name="Object 8">
                        <a:extLst>
                          <a:ext uri="{FF2B5EF4-FFF2-40B4-BE49-F238E27FC236}">
                            <a16:creationId xmlns:a16="http://schemas.microsoft.com/office/drawing/2014/main" id="{6259BE7A-8929-4572-BA83-40FBD432D9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3500438"/>
                        <a:ext cx="53467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灯片编号占位符 1">
            <a:extLst>
              <a:ext uri="{FF2B5EF4-FFF2-40B4-BE49-F238E27FC236}">
                <a16:creationId xmlns:a16="http://schemas.microsoft.com/office/drawing/2014/main" id="{2CA8827D-3931-4BBA-9CF1-328A350E2E3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71CFEE-9493-4CD2-95DF-EEE2BB70D914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816330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868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90AB6F31-BB49-4682-B53C-FD8326EA7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338138"/>
            <a:ext cx="3546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</a:rPr>
              <a:t>* 二</a:t>
            </a:r>
            <a:r>
              <a:rPr lang="en-US" altLang="zh-CN" sz="2800" dirty="0">
                <a:solidFill>
                  <a:srgbClr val="FFFF00"/>
                </a:solidFill>
              </a:rPr>
              <a:t>. </a:t>
            </a:r>
            <a:r>
              <a:rPr lang="zh-CN" altLang="en-US" sz="2800" dirty="0">
                <a:solidFill>
                  <a:srgbClr val="FFFF00"/>
                </a:solidFill>
              </a:rPr>
              <a:t>多方过程</a:t>
            </a:r>
          </a:p>
        </p:txBody>
      </p:sp>
      <p:graphicFrame>
        <p:nvGraphicFramePr>
          <p:cNvPr id="24579" name="Object 2">
            <a:extLst>
              <a:ext uri="{FF2B5EF4-FFF2-40B4-BE49-F238E27FC236}">
                <a16:creationId xmlns:a16="http://schemas.microsoft.com/office/drawing/2014/main" id="{5AD5383B-8BB3-4E02-A25A-CF71F34C2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9413" y="1587500"/>
          <a:ext cx="13096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0" name="公式" r:id="rId4" imgW="1247743" imgH="419134" progId="Equation.3">
                  <p:embed/>
                </p:oleObj>
              </mc:Choice>
              <mc:Fallback>
                <p:oleObj name="公式" r:id="rId4" imgW="1247743" imgH="419134" progId="Equation.3">
                  <p:embed/>
                  <p:pic>
                    <p:nvPicPr>
                      <p:cNvPr id="24579" name="Object 2">
                        <a:extLst>
                          <a:ext uri="{FF2B5EF4-FFF2-40B4-BE49-F238E27FC236}">
                            <a16:creationId xmlns:a16="http://schemas.microsoft.com/office/drawing/2014/main" id="{5AD5383B-8BB3-4E02-A25A-CF71F34C2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587500"/>
                        <a:ext cx="13096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>
            <a:extLst>
              <a:ext uri="{FF2B5EF4-FFF2-40B4-BE49-F238E27FC236}">
                <a16:creationId xmlns:a16="http://schemas.microsoft.com/office/drawing/2014/main" id="{4381690F-62AC-4611-9723-1E5B5F5F2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2324100"/>
            <a:ext cx="790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满足这一关系，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且指数为常数的过程称为多方过程 。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CEB576E0-10A7-4F16-9C50-998B57AB0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213" y="1484313"/>
            <a:ext cx="3451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bg1"/>
                </a:solidFill>
              </a:rPr>
              <a:t>( </a:t>
            </a:r>
            <a:r>
              <a:rPr lang="en-US" altLang="zh-CN" i="1" dirty="0">
                <a:solidFill>
                  <a:srgbClr val="FFFF00"/>
                </a:solidFill>
              </a:rPr>
              <a:t>n</a:t>
            </a:r>
            <a:r>
              <a:rPr lang="en-US" altLang="zh-CN" sz="3200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多方指数，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1&lt; </a:t>
            </a:r>
            <a:r>
              <a:rPr lang="en-US" altLang="zh-CN" i="1" dirty="0">
                <a:solidFill>
                  <a:srgbClr val="FFFF00"/>
                </a:solidFill>
                <a:latin typeface="+mn-lt"/>
              </a:rPr>
              <a:t>n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 &lt;</a:t>
            </a:r>
            <a:r>
              <a:rPr lang="zh-CN" altLang="en-US" i="1" dirty="0">
                <a:solidFill>
                  <a:srgbClr val="FFFF00"/>
                </a:solidFill>
                <a:latin typeface="+mn-lt"/>
                <a:sym typeface="Symbol" pitchFamily="18" charset="2"/>
              </a:rPr>
              <a:t></a:t>
            </a:r>
            <a:r>
              <a:rPr lang="zh-CN" altLang="en-US" i="1" dirty="0">
                <a:solidFill>
                  <a:srgbClr val="FFFF00"/>
                </a:solidFill>
                <a:sym typeface="Symbol" pitchFamily="18" charset="2"/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24582" name="Object 3">
            <a:extLst>
              <a:ext uri="{FF2B5EF4-FFF2-40B4-BE49-F238E27FC236}">
                <a16:creationId xmlns:a16="http://schemas.microsoft.com/office/drawing/2014/main" id="{A4C5BF76-50BD-4385-9094-A64605F44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25" y="4030663"/>
          <a:ext cx="7842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1" name="公式" r:id="rId6" imgW="723875" imgH="266666" progId="Equation.3">
                  <p:embed/>
                </p:oleObj>
              </mc:Choice>
              <mc:Fallback>
                <p:oleObj name="公式" r:id="rId6" imgW="723875" imgH="266666" progId="Equation.3">
                  <p:embed/>
                  <p:pic>
                    <p:nvPicPr>
                      <p:cNvPr id="24582" name="Object 3">
                        <a:extLst>
                          <a:ext uri="{FF2B5EF4-FFF2-40B4-BE49-F238E27FC236}">
                            <a16:creationId xmlns:a16="http://schemas.microsoft.com/office/drawing/2014/main" id="{A4C5BF76-50BD-4385-9094-A64605F446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4030663"/>
                        <a:ext cx="7842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4">
            <a:extLst>
              <a:ext uri="{FF2B5EF4-FFF2-40B4-BE49-F238E27FC236}">
                <a16:creationId xmlns:a16="http://schemas.microsoft.com/office/drawing/2014/main" id="{0B7A0868-E8C2-45E2-BF78-DFCB48711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5063" y="3482975"/>
          <a:ext cx="6873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2" name="公式" r:id="rId8" imgW="638245" imgH="266666" progId="Equation.3">
                  <p:embed/>
                </p:oleObj>
              </mc:Choice>
              <mc:Fallback>
                <p:oleObj name="公式" r:id="rId8" imgW="638245" imgH="266666" progId="Equation.3">
                  <p:embed/>
                  <p:pic>
                    <p:nvPicPr>
                      <p:cNvPr id="24583" name="Object 4">
                        <a:extLst>
                          <a:ext uri="{FF2B5EF4-FFF2-40B4-BE49-F238E27FC236}">
                            <a16:creationId xmlns:a16="http://schemas.microsoft.com/office/drawing/2014/main" id="{0B7A0868-E8C2-45E2-BF78-DFCB487118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3482975"/>
                        <a:ext cx="6873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5">
            <a:extLst>
              <a:ext uri="{FF2B5EF4-FFF2-40B4-BE49-F238E27FC236}">
                <a16:creationId xmlns:a16="http://schemas.microsoft.com/office/drawing/2014/main" id="{0B2CFBBA-8742-4445-9500-1C452C560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1225" y="3429000"/>
          <a:ext cx="111918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3" name="公式" r:id="rId10" imgW="1066698" imgH="342900" progId="Equation.3">
                  <p:embed/>
                </p:oleObj>
              </mc:Choice>
              <mc:Fallback>
                <p:oleObj name="公式" r:id="rId10" imgW="1066698" imgH="342900" progId="Equation.3">
                  <p:embed/>
                  <p:pic>
                    <p:nvPicPr>
                      <p:cNvPr id="24584" name="Object 5">
                        <a:extLst>
                          <a:ext uri="{FF2B5EF4-FFF2-40B4-BE49-F238E27FC236}">
                            <a16:creationId xmlns:a16="http://schemas.microsoft.com/office/drawing/2014/main" id="{0B2CFBBA-8742-4445-9500-1C452C560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1225" y="3429000"/>
                        <a:ext cx="1119188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6">
            <a:extLst>
              <a:ext uri="{FF2B5EF4-FFF2-40B4-BE49-F238E27FC236}">
                <a16:creationId xmlns:a16="http://schemas.microsoft.com/office/drawing/2014/main" id="{C5693A09-AF3D-4513-B939-CB2DC079D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9138" y="3879850"/>
          <a:ext cx="13604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4" name="公式" r:id="rId12" imgW="1295451" imgH="419134" progId="Equation.3">
                  <p:embed/>
                </p:oleObj>
              </mc:Choice>
              <mc:Fallback>
                <p:oleObj name="公式" r:id="rId12" imgW="1295451" imgH="419134" progId="Equation.3">
                  <p:embed/>
                  <p:pic>
                    <p:nvPicPr>
                      <p:cNvPr id="24585" name="Object 6">
                        <a:extLst>
                          <a:ext uri="{FF2B5EF4-FFF2-40B4-BE49-F238E27FC236}">
                            <a16:creationId xmlns:a16="http://schemas.microsoft.com/office/drawing/2014/main" id="{C5693A09-AF3D-4513-B939-CB2DC079D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138" y="3879850"/>
                        <a:ext cx="136048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7">
            <a:extLst>
              <a:ext uri="{FF2B5EF4-FFF2-40B4-BE49-F238E27FC236}">
                <a16:creationId xmlns:a16="http://schemas.microsoft.com/office/drawing/2014/main" id="{4C57FEBF-1029-4A79-A7D9-DDFDAAF3ED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2750" y="5357813"/>
          <a:ext cx="10223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5" name="公式" r:id="rId14" imgW="514388" imgH="152468" progId="Equation.3">
                  <p:embed/>
                </p:oleObj>
              </mc:Choice>
              <mc:Fallback>
                <p:oleObj name="公式" r:id="rId14" imgW="514388" imgH="152468" progId="Equation.3">
                  <p:embed/>
                  <p:pic>
                    <p:nvPicPr>
                      <p:cNvPr id="24586" name="Object 7">
                        <a:extLst>
                          <a:ext uri="{FF2B5EF4-FFF2-40B4-BE49-F238E27FC236}">
                            <a16:creationId xmlns:a16="http://schemas.microsoft.com/office/drawing/2014/main" id="{4C57FEBF-1029-4A79-A7D9-DDFDAAF3ED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0" y="5357813"/>
                        <a:ext cx="10223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8">
            <a:extLst>
              <a:ext uri="{FF2B5EF4-FFF2-40B4-BE49-F238E27FC236}">
                <a16:creationId xmlns:a16="http://schemas.microsoft.com/office/drawing/2014/main" id="{2CD8510F-BE79-4D6F-8643-DE58004D60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5875" y="5043488"/>
          <a:ext cx="6985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6" name="公式" r:id="rId16" imgW="647725" imgH="266666" progId="Equation.3">
                  <p:embed/>
                </p:oleObj>
              </mc:Choice>
              <mc:Fallback>
                <p:oleObj name="公式" r:id="rId16" imgW="647725" imgH="266666" progId="Equation.3">
                  <p:embed/>
                  <p:pic>
                    <p:nvPicPr>
                      <p:cNvPr id="24587" name="Object 8">
                        <a:extLst>
                          <a:ext uri="{FF2B5EF4-FFF2-40B4-BE49-F238E27FC236}">
                            <a16:creationId xmlns:a16="http://schemas.microsoft.com/office/drawing/2014/main" id="{2CD8510F-BE79-4D6F-8643-DE58004D60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5043488"/>
                        <a:ext cx="6985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9">
            <a:extLst>
              <a:ext uri="{FF2B5EF4-FFF2-40B4-BE49-F238E27FC236}">
                <a16:creationId xmlns:a16="http://schemas.microsoft.com/office/drawing/2014/main" id="{49A65D93-42DF-4703-9FA3-81D7BAABC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1588" y="5838825"/>
          <a:ext cx="7842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7" name="公式" r:id="rId18" imgW="723875" imgH="257175" progId="Equation.3">
                  <p:embed/>
                </p:oleObj>
              </mc:Choice>
              <mc:Fallback>
                <p:oleObj name="公式" r:id="rId18" imgW="723875" imgH="257175" progId="Equation.3">
                  <p:embed/>
                  <p:pic>
                    <p:nvPicPr>
                      <p:cNvPr id="24588" name="Object 9">
                        <a:extLst>
                          <a:ext uri="{FF2B5EF4-FFF2-40B4-BE49-F238E27FC236}">
                            <a16:creationId xmlns:a16="http://schemas.microsoft.com/office/drawing/2014/main" id="{49A65D93-42DF-4703-9FA3-81D7BAABC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1588" y="5838825"/>
                        <a:ext cx="7842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0">
            <a:extLst>
              <a:ext uri="{FF2B5EF4-FFF2-40B4-BE49-F238E27FC236}">
                <a16:creationId xmlns:a16="http://schemas.microsoft.com/office/drawing/2014/main" id="{4B8068C0-F977-472F-83D5-8338B99363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3563" y="5143500"/>
          <a:ext cx="14525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8" name="公式" r:id="rId20" imgW="676167" imgH="342900" progId="Equation.3">
                  <p:embed/>
                </p:oleObj>
              </mc:Choice>
              <mc:Fallback>
                <p:oleObj name="公式" r:id="rId20" imgW="676167" imgH="342900" progId="Equation.3">
                  <p:embed/>
                  <p:pic>
                    <p:nvPicPr>
                      <p:cNvPr id="24589" name="Object 10">
                        <a:extLst>
                          <a:ext uri="{FF2B5EF4-FFF2-40B4-BE49-F238E27FC236}">
                            <a16:creationId xmlns:a16="http://schemas.microsoft.com/office/drawing/2014/main" id="{4B8068C0-F977-472F-83D5-8338B99363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5143500"/>
                        <a:ext cx="14525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1">
            <a:extLst>
              <a:ext uri="{FF2B5EF4-FFF2-40B4-BE49-F238E27FC236}">
                <a16:creationId xmlns:a16="http://schemas.microsoft.com/office/drawing/2014/main" id="{0E6EC5CD-0DC1-43FE-9895-A824CB83B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286250"/>
          <a:ext cx="29241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949" name="公式" r:id="rId22" imgW="1285971" imgH="180941" progId="Equation.3">
                  <p:embed/>
                </p:oleObj>
              </mc:Choice>
              <mc:Fallback>
                <p:oleObj name="公式" r:id="rId22" imgW="1285971" imgH="180941" progId="Equation.3">
                  <p:embed/>
                  <p:pic>
                    <p:nvPicPr>
                      <p:cNvPr id="24590" name="Object 11">
                        <a:extLst>
                          <a:ext uri="{FF2B5EF4-FFF2-40B4-BE49-F238E27FC236}">
                            <a16:creationId xmlns:a16="http://schemas.microsoft.com/office/drawing/2014/main" id="{0E6EC5CD-0DC1-43FE-9895-A824CB83B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286250"/>
                        <a:ext cx="29241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Text Box 15">
            <a:extLst>
              <a:ext uri="{FF2B5EF4-FFF2-40B4-BE49-F238E27FC236}">
                <a16:creationId xmlns:a16="http://schemas.microsoft.com/office/drawing/2014/main" id="{2DDC1737-8EED-4FDD-8F8F-6361CCA3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5942013"/>
            <a:ext cx="4103687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可见</a:t>
            </a:r>
            <a:r>
              <a:rPr lang="en-US" altLang="zh-CN" sz="2800">
                <a:solidFill>
                  <a:schemeClr val="bg1"/>
                </a:solidFill>
              </a:rPr>
              <a:t>:  </a:t>
            </a:r>
            <a:r>
              <a:rPr lang="en-US" altLang="zh-CN" sz="2800" i="1">
                <a:solidFill>
                  <a:srgbClr val="FFFF00"/>
                </a:solidFill>
              </a:rPr>
              <a:t>n </a:t>
            </a:r>
            <a:r>
              <a:rPr lang="zh-CN" altLang="en-US">
                <a:solidFill>
                  <a:schemeClr val="bg1"/>
                </a:solidFill>
              </a:rPr>
              <a:t>越大， 曲线越陡</a:t>
            </a:r>
          </a:p>
        </p:txBody>
      </p:sp>
      <p:sp>
        <p:nvSpPr>
          <p:cNvPr id="24592" name="Text Box 16">
            <a:extLst>
              <a:ext uri="{FF2B5EF4-FFF2-40B4-BE49-F238E27FC236}">
                <a16:creationId xmlns:a16="http://schemas.microsoft.com/office/drawing/2014/main" id="{BB850E60-68E4-4E96-88ED-2A772DDE9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3660775"/>
            <a:ext cx="397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多方过程方程，微分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24594" name="Arc 18">
            <a:extLst>
              <a:ext uri="{FF2B5EF4-FFF2-40B4-BE49-F238E27FC236}">
                <a16:creationId xmlns:a16="http://schemas.microsoft.com/office/drawing/2014/main" id="{090BD372-CED8-4170-A57D-5DFE31A79027}"/>
              </a:ext>
            </a:extLst>
          </p:cNvPr>
          <p:cNvSpPr>
            <a:spLocks/>
          </p:cNvSpPr>
          <p:nvPr/>
        </p:nvSpPr>
        <p:spPr bwMode="auto">
          <a:xfrm>
            <a:off x="5548313" y="2911475"/>
            <a:ext cx="1928812" cy="3017838"/>
          </a:xfrm>
          <a:custGeom>
            <a:avLst/>
            <a:gdLst>
              <a:gd name="T0" fmla="*/ 2147483646 w 20524"/>
              <a:gd name="T1" fmla="*/ 2147483646 h 21600"/>
              <a:gd name="T2" fmla="*/ 0 w 20524"/>
              <a:gd name="T3" fmla="*/ 2147483646 h 21600"/>
              <a:gd name="T4" fmla="*/ 2147483646 w 20524"/>
              <a:gd name="T5" fmla="*/ 0 h 21600"/>
              <a:gd name="T6" fmla="*/ 0 60000 65536"/>
              <a:gd name="T7" fmla="*/ 0 60000 65536"/>
              <a:gd name="T8" fmla="*/ 0 60000 65536"/>
              <a:gd name="T9" fmla="*/ 0 w 20524"/>
              <a:gd name="T10" fmla="*/ 0 h 21600"/>
              <a:gd name="T11" fmla="*/ 20524 w 2052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24" h="21600" fill="none" extrusionOk="0">
                <a:moveTo>
                  <a:pt x="20523" y="21597"/>
                </a:moveTo>
                <a:cubicBezTo>
                  <a:pt x="20422" y="21599"/>
                  <a:pt x="20320" y="21599"/>
                  <a:pt x="20218" y="21600"/>
                </a:cubicBezTo>
                <a:cubicBezTo>
                  <a:pt x="11221" y="21600"/>
                  <a:pt x="3166" y="16023"/>
                  <a:pt x="0" y="7602"/>
                </a:cubicBezTo>
              </a:path>
              <a:path w="20524" h="21600" stroke="0" extrusionOk="0">
                <a:moveTo>
                  <a:pt x="20523" y="21597"/>
                </a:moveTo>
                <a:cubicBezTo>
                  <a:pt x="20422" y="21599"/>
                  <a:pt x="20320" y="21599"/>
                  <a:pt x="20218" y="21600"/>
                </a:cubicBezTo>
                <a:cubicBezTo>
                  <a:pt x="11221" y="21600"/>
                  <a:pt x="3166" y="16023"/>
                  <a:pt x="0" y="7602"/>
                </a:cubicBezTo>
                <a:lnTo>
                  <a:pt x="20218" y="0"/>
                </a:lnTo>
                <a:lnTo>
                  <a:pt x="20523" y="2159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5" name="Arc 19">
            <a:extLst>
              <a:ext uri="{FF2B5EF4-FFF2-40B4-BE49-F238E27FC236}">
                <a16:creationId xmlns:a16="http://schemas.microsoft.com/office/drawing/2014/main" id="{BF1369C5-7F5B-4E45-989E-03E1F84D4972}"/>
              </a:ext>
            </a:extLst>
          </p:cNvPr>
          <p:cNvSpPr>
            <a:spLocks/>
          </p:cNvSpPr>
          <p:nvPr/>
        </p:nvSpPr>
        <p:spPr bwMode="auto">
          <a:xfrm rot="-1473036">
            <a:off x="5851525" y="3406775"/>
            <a:ext cx="1847850" cy="2090738"/>
          </a:xfrm>
          <a:custGeom>
            <a:avLst/>
            <a:gdLst>
              <a:gd name="T0" fmla="*/ 2147483646 w 21600"/>
              <a:gd name="T1" fmla="*/ 2147483646 h 20693"/>
              <a:gd name="T2" fmla="*/ 0 w 21600"/>
              <a:gd name="T3" fmla="*/ 0 h 20693"/>
              <a:gd name="T4" fmla="*/ 2147483646 w 21600"/>
              <a:gd name="T5" fmla="*/ 2147483646 h 20693"/>
              <a:gd name="T6" fmla="*/ 0 60000 65536"/>
              <a:gd name="T7" fmla="*/ 0 60000 65536"/>
              <a:gd name="T8" fmla="*/ 0 60000 65536"/>
              <a:gd name="T9" fmla="*/ 0 w 21600"/>
              <a:gd name="T10" fmla="*/ 0 h 20693"/>
              <a:gd name="T11" fmla="*/ 21600 w 21600"/>
              <a:gd name="T12" fmla="*/ 20693 h 206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93" fill="none" extrusionOk="0">
                <a:moveTo>
                  <a:pt x="15368" y="20692"/>
                </a:moveTo>
                <a:cubicBezTo>
                  <a:pt x="6244" y="17943"/>
                  <a:pt x="0" y="9540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20693" stroke="0" extrusionOk="0">
                <a:moveTo>
                  <a:pt x="15368" y="20692"/>
                </a:moveTo>
                <a:cubicBezTo>
                  <a:pt x="6244" y="17943"/>
                  <a:pt x="0" y="9540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15368" y="20692"/>
                </a:lnTo>
                <a:close/>
              </a:path>
            </a:pathLst>
          </a:custGeom>
          <a:noFill/>
          <a:ln w="38100">
            <a:solidFill>
              <a:srgbClr val="66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BE1A06A0-D06A-48AF-AE11-61B81457FB9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141663"/>
            <a:ext cx="4032250" cy="3527425"/>
            <a:chOff x="2880" y="1979"/>
            <a:chExt cx="2540" cy="2222"/>
          </a:xfrm>
        </p:grpSpPr>
        <p:sp>
          <p:nvSpPr>
            <p:cNvPr id="10266" name="Line 21">
              <a:extLst>
                <a:ext uri="{FF2B5EF4-FFF2-40B4-BE49-F238E27FC236}">
                  <a16:creationId xmlns:a16="http://schemas.microsoft.com/office/drawing/2014/main" id="{EA88F60D-FD4E-435A-A471-7AE43DAEF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3" y="3924"/>
              <a:ext cx="2267" cy="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7" name="Line 22">
              <a:extLst>
                <a:ext uri="{FF2B5EF4-FFF2-40B4-BE49-F238E27FC236}">
                  <a16:creationId xmlns:a16="http://schemas.microsoft.com/office/drawing/2014/main" id="{FB9E296B-DAB2-4014-8960-A2935686C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2" y="2069"/>
              <a:ext cx="12" cy="186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Text Box 23">
              <a:extLst>
                <a:ext uri="{FF2B5EF4-FFF2-40B4-BE49-F238E27FC236}">
                  <a16:creationId xmlns:a16="http://schemas.microsoft.com/office/drawing/2014/main" id="{732CA607-AF1F-4E82-B0C9-C57C353BB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6" y="391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10269" name="Text Box 24">
              <a:extLst>
                <a:ext uri="{FF2B5EF4-FFF2-40B4-BE49-F238E27FC236}">
                  <a16:creationId xmlns:a16="http://schemas.microsoft.com/office/drawing/2014/main" id="{FCF5F177-23E3-4704-8663-6C80C6042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97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10270" name="Text Box 25">
              <a:extLst>
                <a:ext uri="{FF2B5EF4-FFF2-40B4-BE49-F238E27FC236}">
                  <a16:creationId xmlns:a16="http://schemas.microsoft.com/office/drawing/2014/main" id="{EFA4D535-D004-47B1-9199-EE4726EFD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7" y="386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02" name="Rectangle 26">
            <a:extLst>
              <a:ext uri="{FF2B5EF4-FFF2-40B4-BE49-F238E27FC236}">
                <a16:creationId xmlns:a16="http://schemas.microsoft.com/office/drawing/2014/main" id="{5EABEF94-9EDF-4BBE-AC17-AAE752BF2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794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4603" name="Text Box 27">
            <a:extLst>
              <a:ext uri="{FF2B5EF4-FFF2-40B4-BE49-F238E27FC236}">
                <a16:creationId xmlns:a16="http://schemas.microsoft.com/office/drawing/2014/main" id="{BCA82DFB-1049-4CF7-AEA8-43BBD2EDB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996950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多方过程方程</a:t>
            </a:r>
          </a:p>
        </p:txBody>
      </p:sp>
      <p:sp>
        <p:nvSpPr>
          <p:cNvPr id="24604" name="Rectangle 28">
            <a:extLst>
              <a:ext uri="{FF2B5EF4-FFF2-40B4-BE49-F238E27FC236}">
                <a16:creationId xmlns:a16="http://schemas.microsoft.com/office/drawing/2014/main" id="{72161AAF-A36E-407F-B765-70BC2DFFE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749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4605" name="Text Box 29">
            <a:extLst>
              <a:ext uri="{FF2B5EF4-FFF2-40B4-BE49-F238E27FC236}">
                <a16:creationId xmlns:a16="http://schemas.microsoft.com/office/drawing/2014/main" id="{DE8F00B9-7609-4D18-A161-CFF496B69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090863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多方过程曲线</a:t>
            </a:r>
          </a:p>
        </p:txBody>
      </p:sp>
      <p:sp>
        <p:nvSpPr>
          <p:cNvPr id="10264" name="灯片编号占位符 1">
            <a:extLst>
              <a:ext uri="{FF2B5EF4-FFF2-40B4-BE49-F238E27FC236}">
                <a16:creationId xmlns:a16="http://schemas.microsoft.com/office/drawing/2014/main" id="{7208934D-1995-451F-ADA1-750D4CB2F59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BD0F960-F0DF-46FA-968B-7C49B55C9829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32" name="任意多边形 31">
            <a:extLst>
              <a:ext uri="{FF2B5EF4-FFF2-40B4-BE49-F238E27FC236}">
                <a16:creationId xmlns:a16="http://schemas.microsoft.com/office/drawing/2014/main" id="{F3096806-0008-4907-8A11-2B35F94F5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786313"/>
            <a:ext cx="461963" cy="738187"/>
          </a:xfrm>
          <a:custGeom>
            <a:avLst/>
            <a:gdLst>
              <a:gd name="T0" fmla="*/ 476979 w 461395"/>
              <a:gd name="T1" fmla="*/ 0 h 738231"/>
              <a:gd name="T2" fmla="*/ 459633 w 461395"/>
              <a:gd name="T3" fmla="*/ 460646 h 738231"/>
              <a:gd name="T4" fmla="*/ 381583 w 461395"/>
              <a:gd name="T5" fmla="*/ 686790 h 738231"/>
              <a:gd name="T6" fmla="*/ 0 w 461395"/>
              <a:gd name="T7" fmla="*/ 737043 h 738231"/>
              <a:gd name="T8" fmla="*/ 0 60000 65536"/>
              <a:gd name="T9" fmla="*/ 0 60000 65536"/>
              <a:gd name="T10" fmla="*/ 0 60000 65536"/>
              <a:gd name="T11" fmla="*/ 0 60000 65536"/>
              <a:gd name="T12" fmla="*/ 0 w 461395"/>
              <a:gd name="T13" fmla="*/ 0 h 738231"/>
              <a:gd name="T14" fmla="*/ 461395 w 461395"/>
              <a:gd name="T15" fmla="*/ 738231 h 738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1395" h="738231">
                <a:moveTo>
                  <a:pt x="461395" y="0"/>
                </a:moveTo>
                <a:cubicBezTo>
                  <a:pt x="460696" y="173372"/>
                  <a:pt x="459997" y="346745"/>
                  <a:pt x="444617" y="461394"/>
                </a:cubicBezTo>
                <a:cubicBezTo>
                  <a:pt x="429237" y="576044"/>
                  <a:pt x="443219" y="641758"/>
                  <a:pt x="369116" y="687897"/>
                </a:cubicBezTo>
                <a:cubicBezTo>
                  <a:pt x="295013" y="734036"/>
                  <a:pt x="147506" y="736133"/>
                  <a:pt x="0" y="738231"/>
                </a:cubicBezTo>
              </a:path>
            </a:pathLst>
          </a:custGeom>
          <a:noFill/>
          <a:ln w="444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80" grpId="0" autoUpdateAnimBg="0"/>
      <p:bldP spid="24581" grpId="0"/>
      <p:bldP spid="24591" grpId="0" autoUpdateAnimBg="0"/>
      <p:bldP spid="24592" grpId="0"/>
      <p:bldP spid="24602" grpId="0"/>
      <p:bldP spid="24603" grpId="0"/>
      <p:bldP spid="24604" grpId="0"/>
      <p:bldP spid="246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3" name="Object 2">
            <a:extLst>
              <a:ext uri="{FF2B5EF4-FFF2-40B4-BE49-F238E27FC236}">
                <a16:creationId xmlns:a16="http://schemas.microsoft.com/office/drawing/2014/main" id="{C389CE8C-DB6C-4F7A-8D6B-7C11D6EF3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7350" y="1071563"/>
          <a:ext cx="16287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3" name="公式" r:id="rId3" imgW="762102" imgH="304936" progId="Equation.3">
                  <p:embed/>
                </p:oleObj>
              </mc:Choice>
              <mc:Fallback>
                <p:oleObj name="公式" r:id="rId3" imgW="762102" imgH="304936" progId="Equation.3">
                  <p:embed/>
                  <p:pic>
                    <p:nvPicPr>
                      <p:cNvPr id="25603" name="Object 2">
                        <a:extLst>
                          <a:ext uri="{FF2B5EF4-FFF2-40B4-BE49-F238E27FC236}">
                            <a16:creationId xmlns:a16="http://schemas.microsoft.com/office/drawing/2014/main" id="{C389CE8C-DB6C-4F7A-8D6B-7C11D6EF3E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071563"/>
                        <a:ext cx="162877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" name="Text Box 2">
            <a:extLst>
              <a:ext uri="{FF2B5EF4-FFF2-40B4-BE49-F238E27FC236}">
                <a16:creationId xmlns:a16="http://schemas.microsoft.com/office/drawing/2014/main" id="{0B12BA57-26A8-4195-B4DE-DB8C99172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1143000"/>
            <a:ext cx="3659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功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5604" name="Object 3">
            <a:extLst>
              <a:ext uri="{FF2B5EF4-FFF2-40B4-BE49-F238E27FC236}">
                <a16:creationId xmlns:a16="http://schemas.microsoft.com/office/drawing/2014/main" id="{4F58E27E-4BA2-4460-B7D1-6794F110F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0" y="1023938"/>
          <a:ext cx="250031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4" name="公式" r:id="rId5" imgW="2733720" imgH="781016" progId="Equation.3">
                  <p:embed/>
                </p:oleObj>
              </mc:Choice>
              <mc:Fallback>
                <p:oleObj name="公式" r:id="rId5" imgW="2733720" imgH="781016" progId="Equation.3">
                  <p:embed/>
                  <p:pic>
                    <p:nvPicPr>
                      <p:cNvPr id="25604" name="Object 3">
                        <a:extLst>
                          <a:ext uri="{FF2B5EF4-FFF2-40B4-BE49-F238E27FC236}">
                            <a16:creationId xmlns:a16="http://schemas.microsoft.com/office/drawing/2014/main" id="{4F58E27E-4BA2-4460-B7D1-6794F110F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1023938"/>
                        <a:ext cx="2500313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5E94111F-4475-4E5C-AC4C-E3C38EE04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1857375"/>
          <a:ext cx="219551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5" name="公式" r:id="rId7" imgW="1009510" imgH="342900" progId="Equation.3">
                  <p:embed/>
                </p:oleObj>
              </mc:Choice>
              <mc:Fallback>
                <p:oleObj name="公式" r:id="rId7" imgW="1009510" imgH="342900" progId="Equation.3">
                  <p:embed/>
                  <p:pic>
                    <p:nvPicPr>
                      <p:cNvPr id="25605" name="Object 4">
                        <a:extLst>
                          <a:ext uri="{FF2B5EF4-FFF2-40B4-BE49-F238E27FC236}">
                            <a16:creationId xmlns:a16="http://schemas.microsoft.com/office/drawing/2014/main" id="{5E94111F-4475-4E5C-AC4C-E3C38EE04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1857375"/>
                        <a:ext cx="2195513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5">
            <a:extLst>
              <a:ext uri="{FF2B5EF4-FFF2-40B4-BE49-F238E27FC236}">
                <a16:creationId xmlns:a16="http://schemas.microsoft.com/office/drawing/2014/main" id="{04DEF262-9B1A-4BC0-8174-818D7B8F3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1725" y="2786063"/>
          <a:ext cx="28432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6" name="公式" r:id="rId9" imgW="1123886" imgH="180941" progId="Equation.3">
                  <p:embed/>
                </p:oleObj>
              </mc:Choice>
              <mc:Fallback>
                <p:oleObj name="公式" r:id="rId9" imgW="1123886" imgH="180941" progId="Equation.3">
                  <p:embed/>
                  <p:pic>
                    <p:nvPicPr>
                      <p:cNvPr id="25606" name="Object 5">
                        <a:extLst>
                          <a:ext uri="{FF2B5EF4-FFF2-40B4-BE49-F238E27FC236}">
                            <a16:creationId xmlns:a16="http://schemas.microsoft.com/office/drawing/2014/main" id="{04DEF262-9B1A-4BC0-8174-818D7B8F3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2786063"/>
                        <a:ext cx="28432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7">
            <a:extLst>
              <a:ext uri="{FF2B5EF4-FFF2-40B4-BE49-F238E27FC236}">
                <a16:creationId xmlns:a16="http://schemas.microsoft.com/office/drawing/2014/main" id="{50E8116A-739A-4F93-A651-46D276299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2786063"/>
            <a:ext cx="209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内能增量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B0494CAF-F3C7-4B3F-9296-10B31806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3" y="3500438"/>
            <a:ext cx="1963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热量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5609" name="Object 6">
            <a:extLst>
              <a:ext uri="{FF2B5EF4-FFF2-40B4-BE49-F238E27FC236}">
                <a16:creationId xmlns:a16="http://schemas.microsoft.com/office/drawing/2014/main" id="{BAE5EE09-DD91-4DD0-8609-062E7AC52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3495675"/>
          <a:ext cx="2663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7" name="公式" r:id="rId11" imgW="1066698" imgH="180941" progId="Equation.3">
                  <p:embed/>
                </p:oleObj>
              </mc:Choice>
              <mc:Fallback>
                <p:oleObj name="公式" r:id="rId11" imgW="1066698" imgH="180941" progId="Equation.3">
                  <p:embed/>
                  <p:pic>
                    <p:nvPicPr>
                      <p:cNvPr id="25609" name="Object 6">
                        <a:extLst>
                          <a:ext uri="{FF2B5EF4-FFF2-40B4-BE49-F238E27FC236}">
                            <a16:creationId xmlns:a16="http://schemas.microsoft.com/office/drawing/2014/main" id="{BAE5EE09-DD91-4DD0-8609-062E7AC525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3495675"/>
                        <a:ext cx="26638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10">
            <a:extLst>
              <a:ext uri="{FF2B5EF4-FFF2-40B4-BE49-F238E27FC236}">
                <a16:creationId xmlns:a16="http://schemas.microsoft.com/office/drawing/2014/main" id="{3BE01C3E-20FF-4BE7-90C3-084512A13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214813"/>
            <a:ext cx="25275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多方摩尔热容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5611" name="Text Box 11">
            <a:extLst>
              <a:ext uri="{FF2B5EF4-FFF2-40B4-BE49-F238E27FC236}">
                <a16:creationId xmlns:a16="http://schemas.microsoft.com/office/drawing/2014/main" id="{ADA42881-5629-43FB-BE19-83650BFC9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333375"/>
            <a:ext cx="864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理想气体在多方过程中的功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﹑</a:t>
            </a:r>
            <a:r>
              <a:rPr lang="zh-CN" altLang="en-US">
                <a:solidFill>
                  <a:schemeClr val="bg1"/>
                </a:solidFill>
              </a:rPr>
              <a:t>内能</a:t>
            </a:r>
            <a:r>
              <a:rPr lang="en-US" altLang="zh-CN">
                <a:solidFill>
                  <a:schemeClr val="bg1"/>
                </a:solidFill>
              </a:rPr>
              <a:t>﹑</a:t>
            </a:r>
            <a:r>
              <a:rPr lang="zh-CN" altLang="en-US">
                <a:solidFill>
                  <a:schemeClr val="bg1"/>
                </a:solidFill>
              </a:rPr>
              <a:t>热量</a:t>
            </a:r>
            <a:r>
              <a:rPr lang="en-US" altLang="zh-CN">
                <a:solidFill>
                  <a:schemeClr val="bg1"/>
                </a:solidFill>
              </a:rPr>
              <a:t>﹑</a:t>
            </a:r>
            <a:r>
              <a:rPr lang="zh-CN" altLang="en-US">
                <a:solidFill>
                  <a:schemeClr val="bg1"/>
                </a:solidFill>
              </a:rPr>
              <a:t>摩尔热容的计算</a:t>
            </a:r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52C8ED4B-3386-46BE-97AB-F3B34CA16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15888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graphicFrame>
        <p:nvGraphicFramePr>
          <p:cNvPr id="25613" name="Object 7">
            <a:extLst>
              <a:ext uri="{FF2B5EF4-FFF2-40B4-BE49-F238E27FC236}">
                <a16:creationId xmlns:a16="http://schemas.microsoft.com/office/drawing/2014/main" id="{4B737342-BC6F-445F-B48A-F2324326DE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786438"/>
          <a:ext cx="221456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8" name="公式" r:id="rId13" imgW="914400" imgH="342900" progId="Equation.3">
                  <p:embed/>
                </p:oleObj>
              </mc:Choice>
              <mc:Fallback>
                <p:oleObj name="公式" r:id="rId13" imgW="914400" imgH="342900" progId="Equation.3">
                  <p:embed/>
                  <p:pic>
                    <p:nvPicPr>
                      <p:cNvPr id="25613" name="Object 7">
                        <a:extLst>
                          <a:ext uri="{FF2B5EF4-FFF2-40B4-BE49-F238E27FC236}">
                            <a16:creationId xmlns:a16="http://schemas.microsoft.com/office/drawing/2014/main" id="{4B737342-BC6F-445F-B48A-F2324326DE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786438"/>
                        <a:ext cx="221456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8">
            <a:extLst>
              <a:ext uri="{FF2B5EF4-FFF2-40B4-BE49-F238E27FC236}">
                <a16:creationId xmlns:a16="http://schemas.microsoft.com/office/drawing/2014/main" id="{D6170D57-F5E7-45D2-973C-A1088CD7A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9475" y="4887913"/>
          <a:ext cx="603885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79" name="公式" r:id="rId15" imgW="2609863" imgH="342900" progId="Equation.3">
                  <p:embed/>
                </p:oleObj>
              </mc:Choice>
              <mc:Fallback>
                <p:oleObj name="公式" r:id="rId15" imgW="2609863" imgH="342900" progId="Equation.3">
                  <p:embed/>
                  <p:pic>
                    <p:nvPicPr>
                      <p:cNvPr id="25614" name="Object 8">
                        <a:extLst>
                          <a:ext uri="{FF2B5EF4-FFF2-40B4-BE49-F238E27FC236}">
                            <a16:creationId xmlns:a16="http://schemas.microsoft.com/office/drawing/2014/main" id="{D6170D57-F5E7-45D2-973C-A1088CD7A8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4887913"/>
                        <a:ext cx="603885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9">
            <a:extLst>
              <a:ext uri="{FF2B5EF4-FFF2-40B4-BE49-F238E27FC236}">
                <a16:creationId xmlns:a16="http://schemas.microsoft.com/office/drawing/2014/main" id="{45D8B052-CB78-47EA-B2A7-3628642627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5125" y="5834063"/>
          <a:ext cx="15001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80" name="公式" r:id="rId17" imgW="628765" imgH="342900" progId="Equation.3">
                  <p:embed/>
                </p:oleObj>
              </mc:Choice>
              <mc:Fallback>
                <p:oleObj name="公式" r:id="rId17" imgW="628765" imgH="342900" progId="Equation.3">
                  <p:embed/>
                  <p:pic>
                    <p:nvPicPr>
                      <p:cNvPr id="25615" name="Object 9">
                        <a:extLst>
                          <a:ext uri="{FF2B5EF4-FFF2-40B4-BE49-F238E27FC236}">
                            <a16:creationId xmlns:a16="http://schemas.microsoft.com/office/drawing/2014/main" id="{45D8B052-CB78-47EA-B2A7-3628642627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5834063"/>
                        <a:ext cx="150018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616" name="Object 10">
                <a:extLst>
                  <a:ext uri="{FF2B5EF4-FFF2-40B4-BE49-F238E27FC236}">
                    <a16:creationId xmlns:a16="http://schemas.microsoft.com/office/drawing/2014/main" id="{6C2D95B8-4EC0-4EAD-A3E4-159EBB074BC6}"/>
                  </a:ext>
                </a:extLst>
              </p:cNvPr>
              <p:cNvSpPr txBox="1"/>
              <p:nvPr/>
            </p:nvSpPr>
            <p:spPr bwMode="auto">
              <a:xfrm>
                <a:off x="4498975" y="5778500"/>
                <a:ext cx="2216150" cy="8651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5616" name="Object 10">
                <a:extLst>
                  <a:ext uri="{FF2B5EF4-FFF2-40B4-BE49-F238E27FC236}">
                    <a16:creationId xmlns:a16="http://schemas.microsoft.com/office/drawing/2014/main" id="{6C2D95B8-4EC0-4EAD-A3E4-159EBB074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8975" y="5778500"/>
                <a:ext cx="2216150" cy="8651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5" name="灯片编号占位符 1">
            <a:extLst>
              <a:ext uri="{FF2B5EF4-FFF2-40B4-BE49-F238E27FC236}">
                <a16:creationId xmlns:a16="http://schemas.microsoft.com/office/drawing/2014/main" id="{75489429-A2F9-4383-8F9F-381DEAF325C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EE22A6A-7507-43DB-82EA-4B859E63EFAE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graphicFrame>
        <p:nvGraphicFramePr>
          <p:cNvPr id="2" name="Object 18">
            <a:extLst>
              <a:ext uri="{FF2B5EF4-FFF2-40B4-BE49-F238E27FC236}">
                <a16:creationId xmlns:a16="http://schemas.microsoft.com/office/drawing/2014/main" id="{02BE7144-517A-4564-9BD6-88D03178A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8513" y="1000125"/>
          <a:ext cx="194786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81" name="公式" r:id="rId20" imgW="876173" imgH="342900" progId="Equation.3">
                  <p:embed/>
                </p:oleObj>
              </mc:Choice>
              <mc:Fallback>
                <p:oleObj name="公式" r:id="rId20" imgW="876173" imgH="342900" progId="Equation.3">
                  <p:embed/>
                  <p:pic>
                    <p:nvPicPr>
                      <p:cNvPr id="2" name="Object 18">
                        <a:extLst>
                          <a:ext uri="{FF2B5EF4-FFF2-40B4-BE49-F238E27FC236}">
                            <a16:creationId xmlns:a16="http://schemas.microsoft.com/office/drawing/2014/main" id="{02BE7144-517A-4564-9BD6-88D03178A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1000125"/>
                        <a:ext cx="194786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9">
            <a:extLst>
              <a:ext uri="{FF2B5EF4-FFF2-40B4-BE49-F238E27FC236}">
                <a16:creationId xmlns:a16="http://schemas.microsoft.com/office/drawing/2014/main" id="{B59F601D-9920-445B-B22A-1070DB659A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2071688"/>
          <a:ext cx="17938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82" name="公式" r:id="rId22" imgW="723875" imgH="180941" progId="Equation.3">
                  <p:embed/>
                </p:oleObj>
              </mc:Choice>
              <mc:Fallback>
                <p:oleObj name="公式" r:id="rId22" imgW="723875" imgH="180941" progId="Equation.3">
                  <p:embed/>
                  <p:pic>
                    <p:nvPicPr>
                      <p:cNvPr id="3" name="Object 19">
                        <a:extLst>
                          <a:ext uri="{FF2B5EF4-FFF2-40B4-BE49-F238E27FC236}">
                            <a16:creationId xmlns:a16="http://schemas.microsoft.com/office/drawing/2014/main" id="{B59F601D-9920-445B-B22A-1070DB659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2071688"/>
                        <a:ext cx="17938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上箭头 19">
            <a:extLst>
              <a:ext uri="{FF2B5EF4-FFF2-40B4-BE49-F238E27FC236}">
                <a16:creationId xmlns:a16="http://schemas.microsoft.com/office/drawing/2014/main" id="{AA543743-1134-40C7-BC5F-B79242DAC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1714500"/>
            <a:ext cx="214313" cy="428625"/>
          </a:xfrm>
          <a:prstGeom prst="upArrow">
            <a:avLst>
              <a:gd name="adj1" fmla="val 50000"/>
              <a:gd name="adj2" fmla="val 7739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" name="Object 22">
            <a:extLst>
              <a:ext uri="{FF2B5EF4-FFF2-40B4-BE49-F238E27FC236}">
                <a16:creationId xmlns:a16="http://schemas.microsoft.com/office/drawing/2014/main" id="{923F1755-E26E-4380-A071-9FC7CC441D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07841" y="4214813"/>
          <a:ext cx="19081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83" name="公式" r:id="rId24" imgW="752622" imgH="180941" progId="Equation.3">
                  <p:embed/>
                </p:oleObj>
              </mc:Choice>
              <mc:Fallback>
                <p:oleObj name="公式" r:id="rId24" imgW="752622" imgH="180941" progId="Equation.3">
                  <p:embed/>
                  <p:pic>
                    <p:nvPicPr>
                      <p:cNvPr id="4" name="Object 22">
                        <a:extLst>
                          <a:ext uri="{FF2B5EF4-FFF2-40B4-BE49-F238E27FC236}">
                            <a16:creationId xmlns:a16="http://schemas.microsoft.com/office/drawing/2014/main" id="{923F1755-E26E-4380-A071-9FC7CC441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841" y="4214813"/>
                        <a:ext cx="19081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任意多边形 21">
            <a:extLst>
              <a:ext uri="{FF2B5EF4-FFF2-40B4-BE49-F238E27FC236}">
                <a16:creationId xmlns:a16="http://schemas.microsoft.com/office/drawing/2014/main" id="{1BB56392-48F3-492A-BAE5-CF92F84F0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2643188"/>
            <a:ext cx="1543050" cy="1216025"/>
          </a:xfrm>
          <a:custGeom>
            <a:avLst/>
            <a:gdLst>
              <a:gd name="T0" fmla="*/ 1530007 w 1543574"/>
              <a:gd name="T1" fmla="*/ 0 h 1174459"/>
              <a:gd name="T2" fmla="*/ 1463487 w 1543574"/>
              <a:gd name="T3" fmla="*/ 386109 h 1174459"/>
              <a:gd name="T4" fmla="*/ 1180770 w 1543574"/>
              <a:gd name="T5" fmla="*/ 750769 h 1174459"/>
              <a:gd name="T6" fmla="*/ 731743 w 1543574"/>
              <a:gd name="T7" fmla="*/ 900923 h 1174459"/>
              <a:gd name="T8" fmla="*/ 781633 w 1543574"/>
              <a:gd name="T9" fmla="*/ 986726 h 1174459"/>
              <a:gd name="T10" fmla="*/ 839842 w 1543574"/>
              <a:gd name="T11" fmla="*/ 1158328 h 1174459"/>
              <a:gd name="T12" fmla="*/ 831525 w 1543574"/>
              <a:gd name="T13" fmla="*/ 1651688 h 1174459"/>
              <a:gd name="T14" fmla="*/ 607015 w 1543574"/>
              <a:gd name="T15" fmla="*/ 2402459 h 1174459"/>
              <a:gd name="T16" fmla="*/ 282721 w 1543574"/>
              <a:gd name="T17" fmla="*/ 2938717 h 1174459"/>
              <a:gd name="T18" fmla="*/ 0 w 1543574"/>
              <a:gd name="T19" fmla="*/ 2788564 h 117445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43574"/>
              <a:gd name="T31" fmla="*/ 0 h 1174459"/>
              <a:gd name="T32" fmla="*/ 1543574 w 1543574"/>
              <a:gd name="T33" fmla="*/ 1174459 h 117445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43574" h="1174459">
                <a:moveTo>
                  <a:pt x="1543574" y="0"/>
                </a:moveTo>
                <a:cubicBezTo>
                  <a:pt x="1539379" y="51033"/>
                  <a:pt x="1535185" y="102066"/>
                  <a:pt x="1476462" y="151002"/>
                </a:cubicBezTo>
                <a:cubicBezTo>
                  <a:pt x="1417739" y="199938"/>
                  <a:pt x="1314275" y="260059"/>
                  <a:pt x="1191237" y="293615"/>
                </a:cubicBezTo>
                <a:cubicBezTo>
                  <a:pt x="1068199" y="327171"/>
                  <a:pt x="805343" y="336958"/>
                  <a:pt x="738231" y="352338"/>
                </a:cubicBezTo>
                <a:cubicBezTo>
                  <a:pt x="671119" y="367718"/>
                  <a:pt x="770389" y="369116"/>
                  <a:pt x="788565" y="385894"/>
                </a:cubicBezTo>
                <a:cubicBezTo>
                  <a:pt x="806741" y="402672"/>
                  <a:pt x="838899" y="409663"/>
                  <a:pt x="847288" y="453006"/>
                </a:cubicBezTo>
                <a:cubicBezTo>
                  <a:pt x="855677" y="496349"/>
                  <a:pt x="878048" y="564859"/>
                  <a:pt x="838899" y="645952"/>
                </a:cubicBezTo>
                <a:cubicBezTo>
                  <a:pt x="799750" y="727046"/>
                  <a:pt x="704675" y="855677"/>
                  <a:pt x="612396" y="939567"/>
                </a:cubicBezTo>
                <a:cubicBezTo>
                  <a:pt x="520117" y="1023457"/>
                  <a:pt x="387292" y="1124125"/>
                  <a:pt x="285226" y="1149292"/>
                </a:cubicBezTo>
                <a:cubicBezTo>
                  <a:pt x="183160" y="1174459"/>
                  <a:pt x="91580" y="1132514"/>
                  <a:pt x="0" y="1090569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C4EE8799-E71C-4E6A-B655-E038279F0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3571875"/>
            <a:ext cx="809625" cy="889000"/>
          </a:xfrm>
          <a:custGeom>
            <a:avLst/>
            <a:gdLst>
              <a:gd name="T0" fmla="*/ 27744686 w 658535"/>
              <a:gd name="T1" fmla="*/ 0 h 889233"/>
              <a:gd name="T2" fmla="*/ 39261361 w 658535"/>
              <a:gd name="T3" fmla="*/ 349946 h 889233"/>
              <a:gd name="T4" fmla="*/ 34549948 w 658535"/>
              <a:gd name="T5" fmla="*/ 733221 h 889233"/>
              <a:gd name="T6" fmla="*/ 0 w 658535"/>
              <a:gd name="T7" fmla="*/ 883193 h 889233"/>
              <a:gd name="T8" fmla="*/ 0 60000 65536"/>
              <a:gd name="T9" fmla="*/ 0 60000 65536"/>
              <a:gd name="T10" fmla="*/ 0 60000 65536"/>
              <a:gd name="T11" fmla="*/ 0 60000 65536"/>
              <a:gd name="T12" fmla="*/ 0 w 658535"/>
              <a:gd name="T13" fmla="*/ 0 h 889233"/>
              <a:gd name="T14" fmla="*/ 658535 w 658535"/>
              <a:gd name="T15" fmla="*/ 889233 h 8892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8535" h="889233">
                <a:moveTo>
                  <a:pt x="444616" y="0"/>
                </a:moveTo>
                <a:cubicBezTo>
                  <a:pt x="527807" y="114650"/>
                  <a:pt x="610998" y="229300"/>
                  <a:pt x="629174" y="352338"/>
                </a:cubicBezTo>
                <a:cubicBezTo>
                  <a:pt x="647350" y="475376"/>
                  <a:pt x="658535" y="648749"/>
                  <a:pt x="553673" y="738231"/>
                </a:cubicBezTo>
                <a:cubicBezTo>
                  <a:pt x="448811" y="827713"/>
                  <a:pt x="224405" y="858473"/>
                  <a:pt x="0" y="889233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1EB0EF3E-C88E-4E64-B393-9A93DECAF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4714875"/>
            <a:ext cx="142875" cy="428625"/>
          </a:xfrm>
          <a:prstGeom prst="downArrow">
            <a:avLst>
              <a:gd name="adj1" fmla="val 50000"/>
              <a:gd name="adj2" fmla="val 122806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7" grpId="0"/>
      <p:bldP spid="25608" grpId="0"/>
      <p:bldP spid="25610" grpId="0"/>
      <p:bldP spid="25611" grpId="0"/>
      <p:bldP spid="25612" grpId="0"/>
      <p:bldP spid="25616" grpId="0"/>
      <p:bldP spid="20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Text Box 6">
            <a:extLst>
              <a:ext uri="{FF2B5EF4-FFF2-40B4-BE49-F238E27FC236}">
                <a16:creationId xmlns:a16="http://schemas.microsoft.com/office/drawing/2014/main" id="{31AE9FEF-0B74-4E41-8303-D1C2F886E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279400"/>
            <a:ext cx="80660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多方过程方程                   与四个特殊过程间的转变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50181" name="Object 2">
            <a:extLst>
              <a:ext uri="{FF2B5EF4-FFF2-40B4-BE49-F238E27FC236}">
                <a16:creationId xmlns:a16="http://schemas.microsoft.com/office/drawing/2014/main" id="{38DD72D5-FB7D-408B-A811-5F0A8721AB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2250" y="285750"/>
          <a:ext cx="13096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38" name="公式" r:id="rId3" imgW="1247743" imgH="419134" progId="Equation.3">
                  <p:embed/>
                </p:oleObj>
              </mc:Choice>
              <mc:Fallback>
                <p:oleObj name="公式" r:id="rId3" imgW="1247743" imgH="419134" progId="Equation.3">
                  <p:embed/>
                  <p:pic>
                    <p:nvPicPr>
                      <p:cNvPr id="50181" name="Object 2">
                        <a:extLst>
                          <a:ext uri="{FF2B5EF4-FFF2-40B4-BE49-F238E27FC236}">
                            <a16:creationId xmlns:a16="http://schemas.microsoft.com/office/drawing/2014/main" id="{38DD72D5-FB7D-408B-A811-5F0A8721AB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285750"/>
                        <a:ext cx="13096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7">
            <a:extLst>
              <a:ext uri="{FF2B5EF4-FFF2-40B4-BE49-F238E27FC236}">
                <a16:creationId xmlns:a16="http://schemas.microsoft.com/office/drawing/2014/main" id="{FD64189C-E6F1-434C-A264-5F47C4B5F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1614488"/>
            <a:ext cx="203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等温过程</a:t>
            </a:r>
          </a:p>
        </p:txBody>
      </p:sp>
      <p:sp>
        <p:nvSpPr>
          <p:cNvPr id="50184" name="Text Box 8">
            <a:extLst>
              <a:ext uri="{FF2B5EF4-FFF2-40B4-BE49-F238E27FC236}">
                <a16:creationId xmlns:a16="http://schemas.microsoft.com/office/drawing/2014/main" id="{3BDB5B75-9971-446A-925C-1FBFFBE55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2252663"/>
            <a:ext cx="2179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绝热过程</a:t>
            </a:r>
          </a:p>
        </p:txBody>
      </p:sp>
      <p:sp>
        <p:nvSpPr>
          <p:cNvPr id="50185" name="Text Box 9">
            <a:extLst>
              <a:ext uri="{FF2B5EF4-FFF2-40B4-BE49-F238E27FC236}">
                <a16:creationId xmlns:a16="http://schemas.microsoft.com/office/drawing/2014/main" id="{FBE40B1D-5D53-4728-9D8E-CE72EAE1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933450"/>
            <a:ext cx="2036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等压过程</a:t>
            </a:r>
          </a:p>
        </p:txBody>
      </p:sp>
      <p:sp>
        <p:nvSpPr>
          <p:cNvPr id="50186" name="Text Box 10">
            <a:extLst>
              <a:ext uri="{FF2B5EF4-FFF2-40B4-BE49-F238E27FC236}">
                <a16:creationId xmlns:a16="http://schemas.microsoft.com/office/drawing/2014/main" id="{F4A98438-36D2-4843-94EE-2474B048C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2900363"/>
            <a:ext cx="1963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等体过程</a:t>
            </a:r>
          </a:p>
        </p:txBody>
      </p:sp>
      <p:graphicFrame>
        <p:nvGraphicFramePr>
          <p:cNvPr id="50187" name="Object 3">
            <a:extLst>
              <a:ext uri="{FF2B5EF4-FFF2-40B4-BE49-F238E27FC236}">
                <a16:creationId xmlns:a16="http://schemas.microsoft.com/office/drawing/2014/main" id="{FA3DB587-BF1E-4D62-9EA8-AF09EFCE93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9063" y="1676400"/>
          <a:ext cx="11557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39" name="公式" r:id="rId5" imgW="1095445" imgH="342900" progId="Equation.3">
                  <p:embed/>
                </p:oleObj>
              </mc:Choice>
              <mc:Fallback>
                <p:oleObj name="公式" r:id="rId5" imgW="1095445" imgH="342900" progId="Equation.3">
                  <p:embed/>
                  <p:pic>
                    <p:nvPicPr>
                      <p:cNvPr id="50187" name="Object 3">
                        <a:extLst>
                          <a:ext uri="{FF2B5EF4-FFF2-40B4-BE49-F238E27FC236}">
                            <a16:creationId xmlns:a16="http://schemas.microsoft.com/office/drawing/2014/main" id="{FA3DB587-BF1E-4D62-9EA8-AF09EFCE9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1676400"/>
                        <a:ext cx="11557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4">
            <a:extLst>
              <a:ext uri="{FF2B5EF4-FFF2-40B4-BE49-F238E27FC236}">
                <a16:creationId xmlns:a16="http://schemas.microsoft.com/office/drawing/2014/main" id="{4C66968A-BD71-4C6C-8E8A-F3E5DFECA5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1622425"/>
          <a:ext cx="706437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0" name="公式" r:id="rId7" imgW="647725" imgH="266666" progId="Equation.3">
                  <p:embed/>
                </p:oleObj>
              </mc:Choice>
              <mc:Fallback>
                <p:oleObj name="公式" r:id="rId7" imgW="647725" imgH="266666" progId="Equation.3">
                  <p:embed/>
                  <p:pic>
                    <p:nvPicPr>
                      <p:cNvPr id="50188" name="Object 4">
                        <a:extLst>
                          <a:ext uri="{FF2B5EF4-FFF2-40B4-BE49-F238E27FC236}">
                            <a16:creationId xmlns:a16="http://schemas.microsoft.com/office/drawing/2014/main" id="{4C66968A-BD71-4C6C-8E8A-F3E5DFECA5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1622425"/>
                        <a:ext cx="706437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0" name="Object 5">
            <a:extLst>
              <a:ext uri="{FF2B5EF4-FFF2-40B4-BE49-F238E27FC236}">
                <a16:creationId xmlns:a16="http://schemas.microsoft.com/office/drawing/2014/main" id="{CEE04943-FBED-4866-96A2-657C6F8689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2214563"/>
          <a:ext cx="132238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1" name="公式" r:id="rId9" imgW="1257224" imgH="419134" progId="Equation.3">
                  <p:embed/>
                </p:oleObj>
              </mc:Choice>
              <mc:Fallback>
                <p:oleObj name="公式" r:id="rId9" imgW="1257224" imgH="419134" progId="Equation.3">
                  <p:embed/>
                  <p:pic>
                    <p:nvPicPr>
                      <p:cNvPr id="50190" name="Object 5">
                        <a:extLst>
                          <a:ext uri="{FF2B5EF4-FFF2-40B4-BE49-F238E27FC236}">
                            <a16:creationId xmlns:a16="http://schemas.microsoft.com/office/drawing/2014/main" id="{CEE04943-FBED-4866-96A2-657C6F8689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214563"/>
                        <a:ext cx="132238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6">
            <a:extLst>
              <a:ext uri="{FF2B5EF4-FFF2-40B4-BE49-F238E27FC236}">
                <a16:creationId xmlns:a16="http://schemas.microsoft.com/office/drawing/2014/main" id="{D511762C-E89E-40EE-86A8-3DD7FEC39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2357438"/>
          <a:ext cx="7842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2" name="公式" r:id="rId11" imgW="723875" imgH="257175" progId="Equation.3">
                  <p:embed/>
                </p:oleObj>
              </mc:Choice>
              <mc:Fallback>
                <p:oleObj name="公式" r:id="rId11" imgW="723875" imgH="257175" progId="Equation.3">
                  <p:embed/>
                  <p:pic>
                    <p:nvPicPr>
                      <p:cNvPr id="50192" name="Object 6">
                        <a:extLst>
                          <a:ext uri="{FF2B5EF4-FFF2-40B4-BE49-F238E27FC236}">
                            <a16:creationId xmlns:a16="http://schemas.microsoft.com/office/drawing/2014/main" id="{D511762C-E89E-40EE-86A8-3DD7FEC39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357438"/>
                        <a:ext cx="7842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7">
            <a:extLst>
              <a:ext uri="{FF2B5EF4-FFF2-40B4-BE49-F238E27FC236}">
                <a16:creationId xmlns:a16="http://schemas.microsoft.com/office/drawing/2014/main" id="{DE46E95B-D69E-4166-BA60-7CC397C50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957263"/>
          <a:ext cx="130968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3" name="公式" r:id="rId13" imgW="1247743" imgH="419134" progId="Equation.3">
                  <p:embed/>
                </p:oleObj>
              </mc:Choice>
              <mc:Fallback>
                <p:oleObj name="公式" r:id="rId13" imgW="1247743" imgH="419134" progId="Equation.3">
                  <p:embed/>
                  <p:pic>
                    <p:nvPicPr>
                      <p:cNvPr id="50193" name="Object 7">
                        <a:extLst>
                          <a:ext uri="{FF2B5EF4-FFF2-40B4-BE49-F238E27FC236}">
                            <a16:creationId xmlns:a16="http://schemas.microsoft.com/office/drawing/2014/main" id="{DE46E95B-D69E-4166-BA60-7CC397C50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957263"/>
                        <a:ext cx="130968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4" name="Object 8">
            <a:extLst>
              <a:ext uri="{FF2B5EF4-FFF2-40B4-BE49-F238E27FC236}">
                <a16:creationId xmlns:a16="http://schemas.microsoft.com/office/drawing/2014/main" id="{1B7F6DCC-2AC6-428D-9AA5-069CE375A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0688" y="1006475"/>
          <a:ext cx="757237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4" name="公式" r:id="rId15" imgW="704914" imgH="266666" progId="Equation.3">
                  <p:embed/>
                </p:oleObj>
              </mc:Choice>
              <mc:Fallback>
                <p:oleObj name="公式" r:id="rId15" imgW="704914" imgH="266666" progId="Equation.3">
                  <p:embed/>
                  <p:pic>
                    <p:nvPicPr>
                      <p:cNvPr id="50194" name="Object 8">
                        <a:extLst>
                          <a:ext uri="{FF2B5EF4-FFF2-40B4-BE49-F238E27FC236}">
                            <a16:creationId xmlns:a16="http://schemas.microsoft.com/office/drawing/2014/main" id="{1B7F6DCC-2AC6-428D-9AA5-069CE375A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1006475"/>
                        <a:ext cx="757237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5" name="AutoShape 19">
            <a:extLst>
              <a:ext uri="{FF2B5EF4-FFF2-40B4-BE49-F238E27FC236}">
                <a16:creationId xmlns:a16="http://schemas.microsoft.com/office/drawing/2014/main" id="{F08F9249-716C-47F5-A852-DE069E2B058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81661" y="1101711"/>
            <a:ext cx="1047727" cy="188915"/>
          </a:xfrm>
          <a:prstGeom prst="rightArrow">
            <a:avLst>
              <a:gd name="adj1" fmla="val 50000"/>
              <a:gd name="adj2" fmla="val 170833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50196" name="Object 9">
            <a:extLst>
              <a:ext uri="{FF2B5EF4-FFF2-40B4-BE49-F238E27FC236}">
                <a16:creationId xmlns:a16="http://schemas.microsoft.com/office/drawing/2014/main" id="{93BA2B3A-7923-4407-B4B3-192019976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3671888"/>
          <a:ext cx="13096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5" name="公式" r:id="rId17" imgW="1247743" imgH="419134" progId="Equation.3">
                  <p:embed/>
                </p:oleObj>
              </mc:Choice>
              <mc:Fallback>
                <p:oleObj name="公式" r:id="rId17" imgW="1247743" imgH="419134" progId="Equation.3">
                  <p:embed/>
                  <p:pic>
                    <p:nvPicPr>
                      <p:cNvPr id="50196" name="Object 9">
                        <a:extLst>
                          <a:ext uri="{FF2B5EF4-FFF2-40B4-BE49-F238E27FC236}">
                            <a16:creationId xmlns:a16="http://schemas.microsoft.com/office/drawing/2014/main" id="{93BA2B3A-7923-4407-B4B3-192019976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671888"/>
                        <a:ext cx="1309688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7" name="Object 10">
            <a:extLst>
              <a:ext uri="{FF2B5EF4-FFF2-40B4-BE49-F238E27FC236}">
                <a16:creationId xmlns:a16="http://schemas.microsoft.com/office/drawing/2014/main" id="{F784DB78-16C3-4398-98B5-26CBD0C4D4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5125" y="3005138"/>
          <a:ext cx="885825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6" name="公式" r:id="rId19" imgW="828771" imgH="209414" progId="Equation.3">
                  <p:embed/>
                </p:oleObj>
              </mc:Choice>
              <mc:Fallback>
                <p:oleObj name="公式" r:id="rId19" imgW="828771" imgH="209414" progId="Equation.3">
                  <p:embed/>
                  <p:pic>
                    <p:nvPicPr>
                      <p:cNvPr id="50197" name="Object 10">
                        <a:extLst>
                          <a:ext uri="{FF2B5EF4-FFF2-40B4-BE49-F238E27FC236}">
                            <a16:creationId xmlns:a16="http://schemas.microsoft.com/office/drawing/2014/main" id="{F784DB78-16C3-4398-98B5-26CBD0C4D4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3005138"/>
                        <a:ext cx="885825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9" name="Object 11">
            <a:extLst>
              <a:ext uri="{FF2B5EF4-FFF2-40B4-BE49-F238E27FC236}">
                <a16:creationId xmlns:a16="http://schemas.microsoft.com/office/drawing/2014/main" id="{C1D533E0-0D3F-49DA-90F2-A9F8DDAC2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494088"/>
          <a:ext cx="164306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7" name="公式" r:id="rId21" imgW="1752651" imgH="676309" progId="Equation.3">
                  <p:embed/>
                </p:oleObj>
              </mc:Choice>
              <mc:Fallback>
                <p:oleObj name="公式" r:id="rId21" imgW="1752651" imgH="676309" progId="Equation.3">
                  <p:embed/>
                  <p:pic>
                    <p:nvPicPr>
                      <p:cNvPr id="50199" name="Object 11">
                        <a:extLst>
                          <a:ext uri="{FF2B5EF4-FFF2-40B4-BE49-F238E27FC236}">
                            <a16:creationId xmlns:a16="http://schemas.microsoft.com/office/drawing/2014/main" id="{C1D533E0-0D3F-49DA-90F2-A9F8DDAC2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494088"/>
                        <a:ext cx="1643063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0" name="Object 12">
            <a:extLst>
              <a:ext uri="{FF2B5EF4-FFF2-40B4-BE49-F238E27FC236}">
                <a16:creationId xmlns:a16="http://schemas.microsoft.com/office/drawing/2014/main" id="{AEC93A6F-0BFE-499C-8BCE-189372A43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4572000"/>
          <a:ext cx="13970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8" name="公式" r:id="rId23" imgW="590537" imgH="285648" progId="Equation.3">
                  <p:embed/>
                </p:oleObj>
              </mc:Choice>
              <mc:Fallback>
                <p:oleObj name="公式" r:id="rId23" imgW="590537" imgH="285648" progId="Equation.3">
                  <p:embed/>
                  <p:pic>
                    <p:nvPicPr>
                      <p:cNvPr id="50200" name="Object 12">
                        <a:extLst>
                          <a:ext uri="{FF2B5EF4-FFF2-40B4-BE49-F238E27FC236}">
                            <a16:creationId xmlns:a16="http://schemas.microsoft.com/office/drawing/2014/main" id="{AEC93A6F-0BFE-499C-8BCE-189372A43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4572000"/>
                        <a:ext cx="13970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AutoShape 25">
            <a:extLst>
              <a:ext uri="{FF2B5EF4-FFF2-40B4-BE49-F238E27FC236}">
                <a16:creationId xmlns:a16="http://schemas.microsoft.com/office/drawing/2014/main" id="{D48BF584-1755-44E6-BE57-A1876E653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60" y="3786190"/>
            <a:ext cx="666758" cy="214313"/>
          </a:xfrm>
          <a:prstGeom prst="rightArrow">
            <a:avLst>
              <a:gd name="adj1" fmla="val 50000"/>
              <a:gd name="adj2" fmla="val 170833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0202" name="Rectangle 26">
            <a:extLst>
              <a:ext uri="{FF2B5EF4-FFF2-40B4-BE49-F238E27FC236}">
                <a16:creationId xmlns:a16="http://schemas.microsoft.com/office/drawing/2014/main" id="{F6C1EBC5-704F-4F3B-BAFA-43E1D5A0A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2075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13337" name="灯片编号占位符 1">
            <a:extLst>
              <a:ext uri="{FF2B5EF4-FFF2-40B4-BE49-F238E27FC236}">
                <a16:creationId xmlns:a16="http://schemas.microsoft.com/office/drawing/2014/main" id="{6A44BC5E-9D28-4939-AE8A-F7CDCAAABCE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CFE8D7-DCD9-4D78-8DE9-639B02B04F05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25" name="AutoShape 19">
            <a:extLst>
              <a:ext uri="{FF2B5EF4-FFF2-40B4-BE49-F238E27FC236}">
                <a16:creationId xmlns:a16="http://schemas.microsoft.com/office/drawing/2014/main" id="{993966C9-E3F9-490C-81BD-BD956F90EC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57818" y="1730354"/>
            <a:ext cx="1047727" cy="188915"/>
          </a:xfrm>
          <a:prstGeom prst="rightArrow">
            <a:avLst>
              <a:gd name="adj1" fmla="val 50000"/>
              <a:gd name="adj2" fmla="val 170833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6" name="AutoShape 19">
            <a:extLst>
              <a:ext uri="{FF2B5EF4-FFF2-40B4-BE49-F238E27FC236}">
                <a16:creationId xmlns:a16="http://schemas.microsoft.com/office/drawing/2014/main" id="{49B26C0B-02EF-45FF-B8F3-7088D07F894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57818" y="2411398"/>
            <a:ext cx="1047727" cy="188915"/>
          </a:xfrm>
          <a:prstGeom prst="rightArrow">
            <a:avLst>
              <a:gd name="adj1" fmla="val 50000"/>
              <a:gd name="adj2" fmla="val 170833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0" dirty="0"/>
          </a:p>
        </p:txBody>
      </p:sp>
      <p:sp>
        <p:nvSpPr>
          <p:cNvPr id="27" name="AutoShape 19">
            <a:extLst>
              <a:ext uri="{FF2B5EF4-FFF2-40B4-BE49-F238E27FC236}">
                <a16:creationId xmlns:a16="http://schemas.microsoft.com/office/drawing/2014/main" id="{36FACAD5-752B-4FBF-8189-CC85F7FF5DC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357818" y="3030540"/>
            <a:ext cx="1047727" cy="188915"/>
          </a:xfrm>
          <a:prstGeom prst="rightArrow">
            <a:avLst>
              <a:gd name="adj1" fmla="val 50000"/>
              <a:gd name="adj2" fmla="val 170833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05028464-DCE1-4E8A-893A-F73EA2B48DC6}"/>
              </a:ext>
            </a:extLst>
          </p:cNvPr>
          <p:cNvSpPr txBox="1">
            <a:spLocks noChangeArrowheads="1"/>
          </p:cNvSpPr>
          <p:nvPr/>
        </p:nvSpPr>
        <p:spPr bwMode="auto">
          <a:xfrm rot="969387">
            <a:off x="4214813" y="2714625"/>
            <a:ext cx="571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800">
                <a:solidFill>
                  <a:srgbClr val="FF0000"/>
                </a:solidFill>
              </a:rPr>
              <a:t>？</a:t>
            </a:r>
          </a:p>
        </p:txBody>
      </p:sp>
      <p:pic>
        <p:nvPicPr>
          <p:cNvPr id="30" name="Picture 2" descr="多方过程">
            <a:extLst>
              <a:ext uri="{FF2B5EF4-FFF2-40B4-BE49-F238E27FC236}">
                <a16:creationId xmlns:a16="http://schemas.microsoft.com/office/drawing/2014/main" id="{CDD469AA-0A6C-4FD7-BCEC-7F3D9A5E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lum bright="24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0" t="8557" r="7446" b="5884"/>
          <a:stretch>
            <a:fillRect/>
          </a:stretch>
        </p:blipFill>
        <p:spPr bwMode="auto">
          <a:xfrm>
            <a:off x="5011738" y="3357563"/>
            <a:ext cx="3663950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任意多边形 30">
            <a:extLst>
              <a:ext uri="{FF2B5EF4-FFF2-40B4-BE49-F238E27FC236}">
                <a16:creationId xmlns:a16="http://schemas.microsoft.com/office/drawing/2014/main" id="{4BF0EC26-C098-49C1-AD44-B9D588469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4191000"/>
            <a:ext cx="461963" cy="738188"/>
          </a:xfrm>
          <a:custGeom>
            <a:avLst/>
            <a:gdLst>
              <a:gd name="T0" fmla="*/ 480513 w 461395"/>
              <a:gd name="T1" fmla="*/ 0 h 738231"/>
              <a:gd name="T2" fmla="*/ 463039 w 461395"/>
              <a:gd name="T3" fmla="*/ 460503 h 738231"/>
              <a:gd name="T4" fmla="*/ 384410 w 461395"/>
              <a:gd name="T5" fmla="*/ 686577 h 738231"/>
              <a:gd name="T6" fmla="*/ 0 w 461395"/>
              <a:gd name="T7" fmla="*/ 736812 h 738231"/>
              <a:gd name="T8" fmla="*/ 0 60000 65536"/>
              <a:gd name="T9" fmla="*/ 0 60000 65536"/>
              <a:gd name="T10" fmla="*/ 0 60000 65536"/>
              <a:gd name="T11" fmla="*/ 0 60000 65536"/>
              <a:gd name="T12" fmla="*/ 0 w 461395"/>
              <a:gd name="T13" fmla="*/ 0 h 738231"/>
              <a:gd name="T14" fmla="*/ 461395 w 461395"/>
              <a:gd name="T15" fmla="*/ 738231 h 73823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1395" h="738231">
                <a:moveTo>
                  <a:pt x="461395" y="0"/>
                </a:moveTo>
                <a:cubicBezTo>
                  <a:pt x="460696" y="173372"/>
                  <a:pt x="459997" y="346745"/>
                  <a:pt x="444617" y="461394"/>
                </a:cubicBezTo>
                <a:cubicBezTo>
                  <a:pt x="429237" y="576044"/>
                  <a:pt x="443219" y="641758"/>
                  <a:pt x="369116" y="687897"/>
                </a:cubicBezTo>
                <a:cubicBezTo>
                  <a:pt x="295013" y="734036"/>
                  <a:pt x="147506" y="736133"/>
                  <a:pt x="0" y="738231"/>
                </a:cubicBezTo>
              </a:path>
            </a:pathLst>
          </a:custGeom>
          <a:noFill/>
          <a:ln w="444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044D0B09-0A05-47FB-8AD9-9115EFF45D8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43108" y="4810134"/>
            <a:ext cx="642942" cy="214314"/>
          </a:xfrm>
          <a:prstGeom prst="rightArrow">
            <a:avLst>
              <a:gd name="adj1" fmla="val 50000"/>
              <a:gd name="adj2" fmla="val 170833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" name="Object 35">
            <a:extLst>
              <a:ext uri="{FF2B5EF4-FFF2-40B4-BE49-F238E27FC236}">
                <a16:creationId xmlns:a16="http://schemas.microsoft.com/office/drawing/2014/main" id="{2E9630CD-5041-4AE9-8E41-53532FAE5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4714875"/>
          <a:ext cx="11271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49" name="公式" r:id="rId26" imgW="552310" imgH="152468" progId="Equation.3">
                  <p:embed/>
                </p:oleObj>
              </mc:Choice>
              <mc:Fallback>
                <p:oleObj name="公式" r:id="rId26" imgW="552310" imgH="152468" progId="Equation.3">
                  <p:embed/>
                  <p:pic>
                    <p:nvPicPr>
                      <p:cNvPr id="2" name="Object 35">
                        <a:extLst>
                          <a:ext uri="{FF2B5EF4-FFF2-40B4-BE49-F238E27FC236}">
                            <a16:creationId xmlns:a16="http://schemas.microsoft.com/office/drawing/2014/main" id="{2E9630CD-5041-4AE9-8E41-53532FAE58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4714875"/>
                        <a:ext cx="11271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任意多边形 35">
            <a:extLst>
              <a:ext uri="{FF2B5EF4-FFF2-40B4-BE49-F238E27FC236}">
                <a16:creationId xmlns:a16="http://schemas.microsoft.com/office/drawing/2014/main" id="{BF0EAA44-5100-4716-824B-29A07783C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3162300"/>
            <a:ext cx="617538" cy="1744663"/>
          </a:xfrm>
          <a:custGeom>
            <a:avLst/>
            <a:gdLst>
              <a:gd name="T0" fmla="*/ 375052 w 616591"/>
              <a:gd name="T1" fmla="*/ 1736777 h 1744910"/>
              <a:gd name="T2" fmla="*/ 75012 w 616591"/>
              <a:gd name="T3" fmla="*/ 1502982 h 1744910"/>
              <a:gd name="T4" fmla="*/ 22062 w 616591"/>
              <a:gd name="T5" fmla="*/ 693051 h 1744910"/>
              <a:gd name="T6" fmla="*/ 207384 w 616591"/>
              <a:gd name="T7" fmla="*/ 225446 h 1744910"/>
              <a:gd name="T8" fmla="*/ 648626 w 616591"/>
              <a:gd name="T9" fmla="*/ 0 h 17449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6591"/>
              <a:gd name="T16" fmla="*/ 0 h 1744910"/>
              <a:gd name="T17" fmla="*/ 616591 w 616591"/>
              <a:gd name="T18" fmla="*/ 1744910 h 17449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6591" h="1744910">
                <a:moveTo>
                  <a:pt x="356532" y="1744910"/>
                </a:moveTo>
                <a:cubicBezTo>
                  <a:pt x="241882" y="1714849"/>
                  <a:pt x="127233" y="1684789"/>
                  <a:pt x="71306" y="1510018"/>
                </a:cubicBezTo>
                <a:cubicBezTo>
                  <a:pt x="15379" y="1335247"/>
                  <a:pt x="0" y="910205"/>
                  <a:pt x="20972" y="696286"/>
                </a:cubicBezTo>
                <a:cubicBezTo>
                  <a:pt x="41944" y="482367"/>
                  <a:pt x="97871" y="342550"/>
                  <a:pt x="197141" y="226502"/>
                </a:cubicBezTo>
                <a:cubicBezTo>
                  <a:pt x="296411" y="110454"/>
                  <a:pt x="456501" y="55227"/>
                  <a:pt x="616591" y="0"/>
                </a:cubicBezTo>
              </a:path>
            </a:pathLst>
          </a:custGeom>
          <a:noFill/>
          <a:ln w="412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15" name="Object 36">
            <a:extLst>
              <a:ext uri="{FF2B5EF4-FFF2-40B4-BE49-F238E27FC236}">
                <a16:creationId xmlns:a16="http://schemas.microsoft.com/office/drawing/2014/main" id="{F89EF0C3-C255-49CC-82BE-194826F0CF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1688" y="5500688"/>
          <a:ext cx="20367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50" name="公式" r:id="rId28" imgW="819290" imgH="342900" progId="Equation.3">
                  <p:embed/>
                </p:oleObj>
              </mc:Choice>
              <mc:Fallback>
                <p:oleObj name="公式" r:id="rId28" imgW="819290" imgH="342900" progId="Equation.3">
                  <p:embed/>
                  <p:pic>
                    <p:nvPicPr>
                      <p:cNvPr id="25615" name="Object 36">
                        <a:extLst>
                          <a:ext uri="{FF2B5EF4-FFF2-40B4-BE49-F238E27FC236}">
                            <a16:creationId xmlns:a16="http://schemas.microsoft.com/office/drawing/2014/main" id="{F89EF0C3-C255-49CC-82BE-194826F0CF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500688"/>
                        <a:ext cx="20367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0">
            <a:extLst>
              <a:ext uri="{FF2B5EF4-FFF2-40B4-BE49-F238E27FC236}">
                <a16:creationId xmlns:a16="http://schemas.microsoft.com/office/drawing/2014/main" id="{80BEFD62-2263-4962-B208-3BFD77EC7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5715000"/>
            <a:ext cx="1963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热容：</a:t>
            </a:r>
          </a:p>
        </p:txBody>
      </p:sp>
      <p:graphicFrame>
        <p:nvGraphicFramePr>
          <p:cNvPr id="3" name="Object 45">
            <a:extLst>
              <a:ext uri="{FF2B5EF4-FFF2-40B4-BE49-F238E27FC236}">
                <a16:creationId xmlns:a16="http://schemas.microsoft.com/office/drawing/2014/main" id="{0F589127-419E-4E68-802C-053281198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3763" y="4535488"/>
          <a:ext cx="622300" cy="17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051" name="公式" r:id="rId30" imgW="828771" imgH="209414" progId="Equation.3">
                  <p:embed/>
                </p:oleObj>
              </mc:Choice>
              <mc:Fallback>
                <p:oleObj name="公式" r:id="rId30" imgW="828771" imgH="209414" progId="Equation.3">
                  <p:embed/>
                  <p:pic>
                    <p:nvPicPr>
                      <p:cNvPr id="3" name="Object 45">
                        <a:extLst>
                          <a:ext uri="{FF2B5EF4-FFF2-40B4-BE49-F238E27FC236}">
                            <a16:creationId xmlns:a16="http://schemas.microsoft.com/office/drawing/2014/main" id="{0F589127-419E-4E68-802C-0532811980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63" y="4535488"/>
                        <a:ext cx="622300" cy="17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  <p:bldP spid="50183" grpId="0"/>
      <p:bldP spid="50184" grpId="0"/>
      <p:bldP spid="50185" grpId="0"/>
      <p:bldP spid="50186" grpId="0"/>
      <p:bldP spid="50202" grpId="0"/>
      <p:bldP spid="29" grpId="0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2FA231C-3B19-42CF-8F03-1A86217A4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77813"/>
            <a:ext cx="3357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§11.8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循环过程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85CC789-5789-4D8E-9ED3-ED8550D21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895350"/>
            <a:ext cx="318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800">
                <a:solidFill>
                  <a:srgbClr val="FFFF00"/>
                </a:solidFill>
              </a:rPr>
              <a:t>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循环过程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35A81662-9FE9-4803-BB0A-FDBEA2B04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187700"/>
            <a:ext cx="8221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1"/>
                </a:solidFill>
              </a:rPr>
              <a:t>如果</a:t>
            </a:r>
            <a:r>
              <a:rPr lang="zh-CN" altLang="en-US" dirty="0">
                <a:solidFill>
                  <a:schemeClr val="bg1"/>
                </a:solidFill>
                <a:latin typeface="Arial" pitchFamily="34" charset="0"/>
              </a:rPr>
              <a:t>循环是</a:t>
            </a:r>
            <a:r>
              <a:rPr lang="zh-CN" altLang="en-US" dirty="0">
                <a:solidFill>
                  <a:schemeClr val="bg1"/>
                </a:solidFill>
              </a:rPr>
              <a:t>准静态过程，在 </a:t>
            </a:r>
            <a:r>
              <a:rPr lang="en-US" altLang="zh-CN" i="1" dirty="0">
                <a:solidFill>
                  <a:srgbClr val="66FFFF"/>
                </a:solidFill>
                <a:latin typeface="+mn-lt"/>
              </a:rPr>
              <a:t>P–V </a:t>
            </a:r>
            <a:r>
              <a:rPr lang="zh-CN" altLang="en-US" dirty="0">
                <a:solidFill>
                  <a:schemeClr val="bg1"/>
                </a:solidFill>
              </a:rPr>
              <a:t>图上就构成一闭合曲线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C4A6425F-6329-47B4-97A1-9979F146C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2055813"/>
            <a:ext cx="79930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如果系统（</a:t>
            </a:r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工质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）的状态经历一系列的变化后，又回到了初始状态，就称系统经历了一个循环过程（简称循环）。</a:t>
            </a:r>
          </a:p>
        </p:txBody>
      </p:sp>
      <p:graphicFrame>
        <p:nvGraphicFramePr>
          <p:cNvPr id="32774" name="Object 2">
            <a:extLst>
              <a:ext uri="{FF2B5EF4-FFF2-40B4-BE49-F238E27FC236}">
                <a16:creationId xmlns:a16="http://schemas.microsoft.com/office/drawing/2014/main" id="{BC52AC96-9ED5-4147-9F55-26B0ADEFA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994150"/>
          <a:ext cx="10048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0" name="公式" r:id="rId3" imgW="971588" imgH="266666" progId="Equation.3">
                  <p:embed/>
                </p:oleObj>
              </mc:Choice>
              <mc:Fallback>
                <p:oleObj name="公式" r:id="rId3" imgW="971588" imgH="266666" progId="Equation.3">
                  <p:embed/>
                  <p:pic>
                    <p:nvPicPr>
                      <p:cNvPr id="32774" name="Object 2">
                        <a:extLst>
                          <a:ext uri="{FF2B5EF4-FFF2-40B4-BE49-F238E27FC236}">
                            <a16:creationId xmlns:a16="http://schemas.microsoft.com/office/drawing/2014/main" id="{BC52AC96-9ED5-4147-9F55-26B0ADEFA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994150"/>
                        <a:ext cx="100488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3">
            <a:extLst>
              <a:ext uri="{FF2B5EF4-FFF2-40B4-BE49-F238E27FC236}">
                <a16:creationId xmlns:a16="http://schemas.microsoft.com/office/drawing/2014/main" id="{C5C9EEC2-DBB8-4816-BFE7-CECBD4A3A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5273675"/>
          <a:ext cx="42576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1" name="公式" r:id="rId5" imgW="4257618" imgH="533332" progId="Equation.3">
                  <p:embed/>
                </p:oleObj>
              </mc:Choice>
              <mc:Fallback>
                <p:oleObj name="公式" r:id="rId5" imgW="4257618" imgH="533332" progId="Equation.3">
                  <p:embed/>
                  <p:pic>
                    <p:nvPicPr>
                      <p:cNvPr id="32775" name="Object 3">
                        <a:extLst>
                          <a:ext uri="{FF2B5EF4-FFF2-40B4-BE49-F238E27FC236}">
                            <a16:creationId xmlns:a16="http://schemas.microsoft.com/office/drawing/2014/main" id="{C5C9EEC2-DBB8-4816-BFE7-CECBD4A3A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5273675"/>
                        <a:ext cx="42576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Rectangle 8">
            <a:extLst>
              <a:ext uri="{FF2B5EF4-FFF2-40B4-BE49-F238E27FC236}">
                <a16:creationId xmlns:a16="http://schemas.microsoft.com/office/drawing/2014/main" id="{6B92B980-C4AA-461A-A95E-3DDE8A76D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572000"/>
            <a:ext cx="4929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系统（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工质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）对外所作的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净功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：</a:t>
            </a:r>
            <a:endParaRPr lang="zh-CN" altLang="en-US" sz="3600" b="0">
              <a:solidFill>
                <a:schemeClr val="bg1"/>
              </a:solidFill>
            </a:endParaRPr>
          </a:p>
        </p:txBody>
      </p:sp>
      <p:sp>
        <p:nvSpPr>
          <p:cNvPr id="32777" name="Oval 9">
            <a:extLst>
              <a:ext uri="{FF2B5EF4-FFF2-40B4-BE49-F238E27FC236}">
                <a16:creationId xmlns:a16="http://schemas.microsoft.com/office/drawing/2014/main" id="{C77D801B-309E-4E15-A8B9-5EEF690D9580}"/>
              </a:ext>
            </a:extLst>
          </p:cNvPr>
          <p:cNvSpPr>
            <a:spLocks noChangeArrowheads="1"/>
          </p:cNvSpPr>
          <p:nvPr/>
        </p:nvSpPr>
        <p:spPr bwMode="auto">
          <a:xfrm rot="1178403">
            <a:off x="5926180" y="4579937"/>
            <a:ext cx="2171700" cy="1219200"/>
          </a:xfrm>
          <a:prstGeom prst="ellipse">
            <a:avLst/>
          </a:prstGeom>
          <a:solidFill>
            <a:srgbClr val="009999">
              <a:alpha val="63136"/>
            </a:srgbClr>
          </a:solidFill>
          <a:ln w="38100">
            <a:solidFill>
              <a:srgbClr val="FFFF99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2778" name="Rectangle 10">
            <a:extLst>
              <a:ext uri="{FF2B5EF4-FFF2-40B4-BE49-F238E27FC236}">
                <a16:creationId xmlns:a16="http://schemas.microsoft.com/office/drawing/2014/main" id="{046011DB-2E7D-4259-8F8F-0CDFBDCC9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471613"/>
            <a:ext cx="206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Arial" panose="020B0604020202020204" pitchFamily="34" charset="0"/>
              </a:rPr>
              <a:t>循环过程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F106F3FA-39BA-42AC-A4FA-5871C29A0BC9}"/>
              </a:ext>
            </a:extLst>
          </p:cNvPr>
          <p:cNvGrpSpPr>
            <a:grpSpLocks/>
          </p:cNvGrpSpPr>
          <p:nvPr/>
        </p:nvGrpSpPr>
        <p:grpSpPr bwMode="auto">
          <a:xfrm>
            <a:off x="5186363" y="3690938"/>
            <a:ext cx="3314700" cy="2952750"/>
            <a:chOff x="3423" y="2024"/>
            <a:chExt cx="2088" cy="1860"/>
          </a:xfrm>
        </p:grpSpPr>
        <p:sp>
          <p:nvSpPr>
            <p:cNvPr id="20499" name="Line 12">
              <a:extLst>
                <a:ext uri="{FF2B5EF4-FFF2-40B4-BE49-F238E27FC236}">
                  <a16:creationId xmlns:a16="http://schemas.microsoft.com/office/drawing/2014/main" id="{9FE19719-9F6A-4069-87E7-18B8620E7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3596"/>
              <a:ext cx="1791" cy="1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0" name="Line 13">
              <a:extLst>
                <a:ext uri="{FF2B5EF4-FFF2-40B4-BE49-F238E27FC236}">
                  <a16:creationId xmlns:a16="http://schemas.microsoft.com/office/drawing/2014/main" id="{B1C36B85-5371-46BA-9272-1A5F560BB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51" y="2160"/>
              <a:ext cx="11" cy="1458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" name="Text Box 14">
              <a:extLst>
                <a:ext uri="{FF2B5EF4-FFF2-40B4-BE49-F238E27FC236}">
                  <a16:creationId xmlns:a16="http://schemas.microsoft.com/office/drawing/2014/main" id="{154E4EBE-8B7A-43C2-972A-144B0B5D9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" y="359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20502" name="Text Box 15">
              <a:extLst>
                <a:ext uri="{FF2B5EF4-FFF2-40B4-BE49-F238E27FC236}">
                  <a16:creationId xmlns:a16="http://schemas.microsoft.com/office/drawing/2014/main" id="{C82DB612-F424-4265-ADDD-636067231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" y="202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20503" name="Text Box 16">
              <a:extLst>
                <a:ext uri="{FF2B5EF4-FFF2-40B4-BE49-F238E27FC236}">
                  <a16:creationId xmlns:a16="http://schemas.microsoft.com/office/drawing/2014/main" id="{3B00FD95-4F4F-4038-8CCD-EF410BA53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355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32785" name="Rectangle 17">
            <a:extLst>
              <a:ext uri="{FF2B5EF4-FFF2-40B4-BE49-F238E27FC236}">
                <a16:creationId xmlns:a16="http://schemas.microsoft.com/office/drawing/2014/main" id="{474CB817-1A16-47F9-AFA1-AB99E470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392" y="5301208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66FFFF"/>
                </a:solidFill>
              </a:rPr>
              <a:t>Ⅱ</a:t>
            </a:r>
          </a:p>
        </p:txBody>
      </p:sp>
      <p:sp>
        <p:nvSpPr>
          <p:cNvPr id="32786" name="Rectangle 18">
            <a:extLst>
              <a:ext uri="{FF2B5EF4-FFF2-40B4-BE49-F238E27FC236}">
                <a16:creationId xmlns:a16="http://schemas.microsoft.com/office/drawing/2014/main" id="{74493EB6-9AA2-49CB-8DF6-118B73A1F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430" y="4653136"/>
            <a:ext cx="439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66FFFF"/>
                </a:solidFill>
              </a:rPr>
              <a:t>Ⅰ</a:t>
            </a:r>
          </a:p>
        </p:txBody>
      </p:sp>
      <p:sp>
        <p:nvSpPr>
          <p:cNvPr id="32787" name="Rectangle 19">
            <a:extLst>
              <a:ext uri="{FF2B5EF4-FFF2-40B4-BE49-F238E27FC236}">
                <a16:creationId xmlns:a16="http://schemas.microsoft.com/office/drawing/2014/main" id="{DAE7C4B3-405D-439C-9BDC-4EA8555DB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5" y="5013176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 dirty="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32788" name="Rectangle 20">
            <a:extLst>
              <a:ext uri="{FF2B5EF4-FFF2-40B4-BE49-F238E27FC236}">
                <a16:creationId xmlns:a16="http://schemas.microsoft.com/office/drawing/2014/main" id="{1E60654B-2D20-41C3-966B-D7C6E1AC7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000" y="4437112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 dirty="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E7F48EB1-D992-43A7-9515-DB9DCFA2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3929063"/>
            <a:ext cx="2571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内能的变化：</a:t>
            </a:r>
            <a:endParaRPr lang="zh-CN" altLang="en-US" sz="3600" b="0">
              <a:solidFill>
                <a:srgbClr val="66FFFF"/>
              </a:solidFill>
            </a:endParaRPr>
          </a:p>
        </p:txBody>
      </p:sp>
      <p:sp>
        <p:nvSpPr>
          <p:cNvPr id="20497" name="灯片编号占位符 1">
            <a:extLst>
              <a:ext uri="{FF2B5EF4-FFF2-40B4-BE49-F238E27FC236}">
                <a16:creationId xmlns:a16="http://schemas.microsoft.com/office/drawing/2014/main" id="{08475C7C-6CCC-496F-BB4C-9C238D5DB2F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6E6BA4-8461-4EC4-8F74-B3DDB1BF8713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  <p:sp>
        <p:nvSpPr>
          <p:cNvPr id="25" name="任意多边形 24">
            <a:extLst>
              <a:ext uri="{FF2B5EF4-FFF2-40B4-BE49-F238E27FC236}">
                <a16:creationId xmlns:a16="http://schemas.microsoft.com/office/drawing/2014/main" id="{4F533801-9DAC-4ABA-B566-45AF46301D40}"/>
              </a:ext>
            </a:extLst>
          </p:cNvPr>
          <p:cNvSpPr>
            <a:spLocks noChangeArrowheads="1"/>
          </p:cNvSpPr>
          <p:nvPr/>
        </p:nvSpPr>
        <p:spPr bwMode="auto">
          <a:xfrm rot="1768247">
            <a:off x="6469106" y="4403371"/>
            <a:ext cx="436562" cy="268288"/>
          </a:xfrm>
          <a:custGeom>
            <a:avLst/>
            <a:gdLst>
              <a:gd name="T0" fmla="*/ 0 w 436228"/>
              <a:gd name="T1" fmla="*/ 264634 h 268448"/>
              <a:gd name="T2" fmla="*/ 145257 w 436228"/>
              <a:gd name="T3" fmla="*/ 148856 h 268448"/>
              <a:gd name="T4" fmla="*/ 444316 w 436228"/>
              <a:gd name="T5" fmla="*/ 0 h 268448"/>
              <a:gd name="T6" fmla="*/ 0 60000 65536"/>
              <a:gd name="T7" fmla="*/ 0 60000 65536"/>
              <a:gd name="T8" fmla="*/ 0 60000 65536"/>
              <a:gd name="T9" fmla="*/ 0 w 436228"/>
              <a:gd name="T10" fmla="*/ 0 h 268448"/>
              <a:gd name="T11" fmla="*/ 436228 w 436228"/>
              <a:gd name="T12" fmla="*/ 268448 h 268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6228" h="268448">
                <a:moveTo>
                  <a:pt x="0" y="268448"/>
                </a:moveTo>
                <a:cubicBezTo>
                  <a:pt x="34954" y="232095"/>
                  <a:pt x="69908" y="195743"/>
                  <a:pt x="142613" y="151002"/>
                </a:cubicBezTo>
                <a:cubicBezTo>
                  <a:pt x="215318" y="106261"/>
                  <a:pt x="325773" y="53130"/>
                  <a:pt x="436228" y="0"/>
                </a:cubicBezTo>
              </a:path>
            </a:pathLst>
          </a:custGeom>
          <a:solidFill>
            <a:schemeClr val="accent1"/>
          </a:solidFill>
          <a:ln w="38100" algn="ctr">
            <a:solidFill>
              <a:srgbClr val="FFFF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4" name="任意多边形 24">
            <a:extLst>
              <a:ext uri="{FF2B5EF4-FFF2-40B4-BE49-F238E27FC236}">
                <a16:creationId xmlns:a16="http://schemas.microsoft.com/office/drawing/2014/main" id="{2DEDD836-BC60-46C8-8721-7C918429656B}"/>
              </a:ext>
            </a:extLst>
          </p:cNvPr>
          <p:cNvSpPr>
            <a:spLocks noChangeArrowheads="1"/>
          </p:cNvSpPr>
          <p:nvPr/>
        </p:nvSpPr>
        <p:spPr bwMode="auto">
          <a:xfrm rot="831567" flipH="1" flipV="1">
            <a:off x="7553762" y="5643367"/>
            <a:ext cx="368300" cy="290513"/>
          </a:xfrm>
          <a:custGeom>
            <a:avLst/>
            <a:gdLst>
              <a:gd name="T0" fmla="*/ 0 w 436228"/>
              <a:gd name="T1" fmla="*/ 264634 h 268448"/>
              <a:gd name="T2" fmla="*/ 145257 w 436228"/>
              <a:gd name="T3" fmla="*/ 148856 h 268448"/>
              <a:gd name="T4" fmla="*/ 444316 w 436228"/>
              <a:gd name="T5" fmla="*/ 0 h 268448"/>
              <a:gd name="T6" fmla="*/ 0 60000 65536"/>
              <a:gd name="T7" fmla="*/ 0 60000 65536"/>
              <a:gd name="T8" fmla="*/ 0 60000 65536"/>
              <a:gd name="T9" fmla="*/ 0 w 436228"/>
              <a:gd name="T10" fmla="*/ 0 h 268448"/>
              <a:gd name="T11" fmla="*/ 436228 w 436228"/>
              <a:gd name="T12" fmla="*/ 268448 h 268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6228" h="268448">
                <a:moveTo>
                  <a:pt x="0" y="268448"/>
                </a:moveTo>
                <a:cubicBezTo>
                  <a:pt x="34954" y="232095"/>
                  <a:pt x="69908" y="195743"/>
                  <a:pt x="142613" y="151002"/>
                </a:cubicBezTo>
                <a:cubicBezTo>
                  <a:pt x="215318" y="106261"/>
                  <a:pt x="325773" y="53130"/>
                  <a:pt x="436228" y="0"/>
                </a:cubicBezTo>
              </a:path>
            </a:pathLst>
          </a:custGeom>
          <a:solidFill>
            <a:schemeClr val="accent1"/>
          </a:solidFill>
          <a:ln w="38100" algn="ctr">
            <a:solidFill>
              <a:srgbClr val="FFFF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/>
      <p:bldP spid="32772" grpId="0"/>
      <p:bldP spid="32773" grpId="0"/>
      <p:bldP spid="32776" grpId="0"/>
      <p:bldP spid="32777" grpId="0" animBg="1"/>
      <p:bldP spid="32778" grpId="0"/>
      <p:bldP spid="32785" grpId="0"/>
      <p:bldP spid="32786" grpId="0"/>
      <p:bldP spid="32787" grpId="0"/>
      <p:bldP spid="32788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Object 2">
                <a:extLst>
                  <a:ext uri="{FF2B5EF4-FFF2-40B4-BE49-F238E27FC236}">
                    <a16:creationId xmlns:a16="http://schemas.microsoft.com/office/drawing/2014/main" id="{BA13C233-1AA5-4BFD-B9D0-98C53F8EA471}"/>
                  </a:ext>
                </a:extLst>
              </p:cNvPr>
              <p:cNvSpPr txBox="1"/>
              <p:nvPr/>
            </p:nvSpPr>
            <p:spPr bwMode="auto">
              <a:xfrm>
                <a:off x="1475656" y="1481137"/>
                <a:ext cx="2564295" cy="4953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3794" name="Object 2">
                <a:extLst>
                  <a:ext uri="{FF2B5EF4-FFF2-40B4-BE49-F238E27FC236}">
                    <a16:creationId xmlns:a16="http://schemas.microsoft.com/office/drawing/2014/main" id="{BA13C233-1AA5-4BFD-B9D0-98C53F8EA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656" y="1481137"/>
                <a:ext cx="2564295" cy="495300"/>
              </a:xfrm>
              <a:prstGeom prst="rect">
                <a:avLst/>
              </a:prstGeom>
              <a:blipFill>
                <a:blip r:embed="rId2"/>
                <a:stretch>
                  <a:fillRect l="-475" r="-713" b="-11111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95" name="Object 3">
                <a:extLst>
                  <a:ext uri="{FF2B5EF4-FFF2-40B4-BE49-F238E27FC236}">
                    <a16:creationId xmlns:a16="http://schemas.microsoft.com/office/drawing/2014/main" id="{ACC26CED-CAF9-4FF4-93EE-18B694C41BA2}"/>
                  </a:ext>
                </a:extLst>
              </p:cNvPr>
              <p:cNvSpPr txBox="1"/>
              <p:nvPr/>
            </p:nvSpPr>
            <p:spPr bwMode="auto">
              <a:xfrm>
                <a:off x="1330325" y="3064886"/>
                <a:ext cx="2396887" cy="51593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3795" name="Object 3">
                <a:extLst>
                  <a:ext uri="{FF2B5EF4-FFF2-40B4-BE49-F238E27FC236}">
                    <a16:creationId xmlns:a16="http://schemas.microsoft.com/office/drawing/2014/main" id="{ACC26CED-CAF9-4FF4-93EE-18B694C41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0325" y="3064886"/>
                <a:ext cx="2396887" cy="515937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6" name="Text Box 4">
            <a:extLst>
              <a:ext uri="{FF2B5EF4-FFF2-40B4-BE49-F238E27FC236}">
                <a16:creationId xmlns:a16="http://schemas.microsoft.com/office/drawing/2014/main" id="{B6255BB2-6AB7-42B6-9AE3-A242827E9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379413"/>
            <a:ext cx="395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正循环、逆循环 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4A32E4EB-66B8-41EB-B15C-C28DA214D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981075"/>
            <a:ext cx="511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正循环（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循环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沿顺时针方向进行）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4C4FE5E0-B04F-464A-A321-A57EA5AB0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4124325"/>
            <a:ext cx="512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逆循环（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循环沿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逆时针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方向进行）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4E2A0D45-EEB5-45C5-9A04-1206C1E29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1971675"/>
            <a:ext cx="3313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66FFFF"/>
                </a:solidFill>
              </a:rPr>
              <a:t>（</a:t>
            </a:r>
            <a:r>
              <a:rPr lang="zh-CN" altLang="en-US" dirty="0">
                <a:solidFill>
                  <a:srgbClr val="66FFFF"/>
                </a:solidFill>
                <a:ea typeface="楷体_GB2312" pitchFamily="49" charset="-122"/>
              </a:rPr>
              <a:t>系统对外作正功</a:t>
            </a:r>
            <a:r>
              <a:rPr lang="zh-CN" altLang="en-US" dirty="0">
                <a:solidFill>
                  <a:srgbClr val="66FFFF"/>
                </a:solidFill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00" name="Object 4">
                <a:extLst>
                  <a:ext uri="{FF2B5EF4-FFF2-40B4-BE49-F238E27FC236}">
                    <a16:creationId xmlns:a16="http://schemas.microsoft.com/office/drawing/2014/main" id="{C003836F-0B50-4053-A854-8B66648AF0AA}"/>
                  </a:ext>
                </a:extLst>
              </p:cNvPr>
              <p:cNvSpPr txBox="1"/>
              <p:nvPr/>
            </p:nvSpPr>
            <p:spPr bwMode="auto">
              <a:xfrm>
                <a:off x="1359754" y="5556539"/>
                <a:ext cx="2338028" cy="5476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3800" name="Object 4">
                <a:extLst>
                  <a:ext uri="{FF2B5EF4-FFF2-40B4-BE49-F238E27FC236}">
                    <a16:creationId xmlns:a16="http://schemas.microsoft.com/office/drawing/2014/main" id="{C003836F-0B50-4053-A854-8B66648AF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9754" y="5556539"/>
                <a:ext cx="2338028" cy="547687"/>
              </a:xfrm>
              <a:prstGeom prst="rect">
                <a:avLst/>
              </a:prstGeom>
              <a:blipFill>
                <a:blip r:embed="rId4"/>
                <a:stretch>
                  <a:fillRect b="-1124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01" name="Arc 9">
            <a:extLst>
              <a:ext uri="{FF2B5EF4-FFF2-40B4-BE49-F238E27FC236}">
                <a16:creationId xmlns:a16="http://schemas.microsoft.com/office/drawing/2014/main" id="{EC054A89-FEFB-4EB7-8AFB-26A52BD70E74}"/>
              </a:ext>
            </a:extLst>
          </p:cNvPr>
          <p:cNvSpPr>
            <a:spLocks/>
          </p:cNvSpPr>
          <p:nvPr/>
        </p:nvSpPr>
        <p:spPr bwMode="auto">
          <a:xfrm rot="-806165" flipH="1" flipV="1">
            <a:off x="6000750" y="517525"/>
            <a:ext cx="2043113" cy="2765425"/>
          </a:xfrm>
          <a:custGeom>
            <a:avLst/>
            <a:gdLst>
              <a:gd name="T0" fmla="*/ 2147483646 w 20819"/>
              <a:gd name="T1" fmla="*/ 2147483646 h 21420"/>
              <a:gd name="T2" fmla="*/ 0 w 20819"/>
              <a:gd name="T3" fmla="*/ 2147483646 h 21420"/>
              <a:gd name="T4" fmla="*/ 2147483646 w 20819"/>
              <a:gd name="T5" fmla="*/ 0 h 21420"/>
              <a:gd name="T6" fmla="*/ 0 60000 65536"/>
              <a:gd name="T7" fmla="*/ 0 60000 65536"/>
              <a:gd name="T8" fmla="*/ 0 60000 65536"/>
              <a:gd name="T9" fmla="*/ 0 w 20819"/>
              <a:gd name="T10" fmla="*/ 0 h 21420"/>
              <a:gd name="T11" fmla="*/ 20819 w 20819"/>
              <a:gd name="T12" fmla="*/ 21420 h 21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19" h="21420" fill="none" extrusionOk="0">
                <a:moveTo>
                  <a:pt x="18034" y="21419"/>
                </a:moveTo>
                <a:cubicBezTo>
                  <a:pt x="9419" y="20299"/>
                  <a:pt x="2313" y="14127"/>
                  <a:pt x="-1" y="5754"/>
                </a:cubicBezTo>
              </a:path>
              <a:path w="20819" h="21420" stroke="0" extrusionOk="0">
                <a:moveTo>
                  <a:pt x="18034" y="21419"/>
                </a:moveTo>
                <a:cubicBezTo>
                  <a:pt x="9419" y="20299"/>
                  <a:pt x="2313" y="14127"/>
                  <a:pt x="-1" y="5754"/>
                </a:cubicBezTo>
                <a:lnTo>
                  <a:pt x="20819" y="0"/>
                </a:lnTo>
                <a:lnTo>
                  <a:pt x="18034" y="21419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2" name="Arc 10">
            <a:extLst>
              <a:ext uri="{FF2B5EF4-FFF2-40B4-BE49-F238E27FC236}">
                <a16:creationId xmlns:a16="http://schemas.microsoft.com/office/drawing/2014/main" id="{4D23577C-A512-41A5-9357-249AD7F4FDBC}"/>
              </a:ext>
            </a:extLst>
          </p:cNvPr>
          <p:cNvSpPr>
            <a:spLocks/>
          </p:cNvSpPr>
          <p:nvPr/>
        </p:nvSpPr>
        <p:spPr bwMode="auto">
          <a:xfrm rot="-824006">
            <a:off x="6103938" y="-268288"/>
            <a:ext cx="2284412" cy="2701926"/>
          </a:xfrm>
          <a:custGeom>
            <a:avLst/>
            <a:gdLst>
              <a:gd name="T0" fmla="*/ 2147483646 w 20967"/>
              <a:gd name="T1" fmla="*/ 2147483646 h 21074"/>
              <a:gd name="T2" fmla="*/ 0 w 20967"/>
              <a:gd name="T3" fmla="*/ 2147483646 h 21074"/>
              <a:gd name="T4" fmla="*/ 2147483646 w 20967"/>
              <a:gd name="T5" fmla="*/ 0 h 21074"/>
              <a:gd name="T6" fmla="*/ 0 60000 65536"/>
              <a:gd name="T7" fmla="*/ 0 60000 65536"/>
              <a:gd name="T8" fmla="*/ 0 60000 65536"/>
              <a:gd name="T9" fmla="*/ 0 w 20967"/>
              <a:gd name="T10" fmla="*/ 0 h 21074"/>
              <a:gd name="T11" fmla="*/ 20967 w 20967"/>
              <a:gd name="T12" fmla="*/ 21074 h 210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67" h="21074" fill="none" extrusionOk="0">
                <a:moveTo>
                  <a:pt x="16230" y="21074"/>
                </a:moveTo>
                <a:cubicBezTo>
                  <a:pt x="8249" y="19280"/>
                  <a:pt x="1966" y="13131"/>
                  <a:pt x="0" y="5190"/>
                </a:cubicBezTo>
              </a:path>
              <a:path w="20967" h="21074" stroke="0" extrusionOk="0">
                <a:moveTo>
                  <a:pt x="16230" y="21074"/>
                </a:moveTo>
                <a:cubicBezTo>
                  <a:pt x="8249" y="19280"/>
                  <a:pt x="1966" y="13131"/>
                  <a:pt x="0" y="5190"/>
                </a:cubicBezTo>
                <a:lnTo>
                  <a:pt x="20967" y="0"/>
                </a:lnTo>
                <a:lnTo>
                  <a:pt x="16230" y="21074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3" name="Freeform 11">
            <a:extLst>
              <a:ext uri="{FF2B5EF4-FFF2-40B4-BE49-F238E27FC236}">
                <a16:creationId xmlns:a16="http://schemas.microsoft.com/office/drawing/2014/main" id="{F1F855FE-630A-4BEB-84F6-81A3DFFF62DE}"/>
              </a:ext>
            </a:extLst>
          </p:cNvPr>
          <p:cNvSpPr>
            <a:spLocks/>
          </p:cNvSpPr>
          <p:nvPr/>
        </p:nvSpPr>
        <p:spPr bwMode="auto">
          <a:xfrm rot="10161194">
            <a:off x="6732588" y="619125"/>
            <a:ext cx="3048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4" name="Line 12">
            <a:extLst>
              <a:ext uri="{FF2B5EF4-FFF2-40B4-BE49-F238E27FC236}">
                <a16:creationId xmlns:a16="http://schemas.microsoft.com/office/drawing/2014/main" id="{577D7AD8-CBE5-4688-BD52-443FE54BC8B5}"/>
              </a:ext>
            </a:extLst>
          </p:cNvPr>
          <p:cNvSpPr>
            <a:spLocks noChangeShapeType="1"/>
          </p:cNvSpPr>
          <p:nvPr/>
        </p:nvSpPr>
        <p:spPr bwMode="auto">
          <a:xfrm rot="180000">
            <a:off x="7237413" y="1122363"/>
            <a:ext cx="287337" cy="2159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5" name="Line 13">
            <a:extLst>
              <a:ext uri="{FF2B5EF4-FFF2-40B4-BE49-F238E27FC236}">
                <a16:creationId xmlns:a16="http://schemas.microsoft.com/office/drawing/2014/main" id="{D83C8108-C4F8-433E-AF63-1776F3B01DFC}"/>
              </a:ext>
            </a:extLst>
          </p:cNvPr>
          <p:cNvSpPr>
            <a:spLocks noChangeShapeType="1"/>
          </p:cNvSpPr>
          <p:nvPr/>
        </p:nvSpPr>
        <p:spPr bwMode="auto">
          <a:xfrm rot="-10620000">
            <a:off x="6567488" y="1565275"/>
            <a:ext cx="287337" cy="2159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6" name="Text Box 14">
            <a:extLst>
              <a:ext uri="{FF2B5EF4-FFF2-40B4-BE49-F238E27FC236}">
                <a16:creationId xmlns:a16="http://schemas.microsoft.com/office/drawing/2014/main" id="{A2C9BBE9-43BD-4D3A-8E8E-3AB9DC6D0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016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Ⅰ</a:t>
            </a:r>
            <a:endParaRPr kumimoji="0" lang="en-US" altLang="zh-CN" sz="1800" b="0">
              <a:latin typeface="宋体" panose="02010600030101010101" pitchFamily="2" charset="-122"/>
            </a:endParaRPr>
          </a:p>
        </p:txBody>
      </p:sp>
      <p:sp>
        <p:nvSpPr>
          <p:cNvPr id="33807" name="Text Box 15">
            <a:extLst>
              <a:ext uri="{FF2B5EF4-FFF2-40B4-BE49-F238E27FC236}">
                <a16:creationId xmlns:a16="http://schemas.microsoft.com/office/drawing/2014/main" id="{C2C4082A-7381-47FE-BA5C-C3487BD19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2105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Ⅱ</a:t>
            </a:r>
          </a:p>
        </p:txBody>
      </p:sp>
      <p:sp>
        <p:nvSpPr>
          <p:cNvPr id="33808" name="Freeform 16">
            <a:extLst>
              <a:ext uri="{FF2B5EF4-FFF2-40B4-BE49-F238E27FC236}">
                <a16:creationId xmlns:a16="http://schemas.microsoft.com/office/drawing/2014/main" id="{248EFC7F-0117-4D3A-91AD-3160DB859B8D}"/>
              </a:ext>
            </a:extLst>
          </p:cNvPr>
          <p:cNvSpPr>
            <a:spLocks/>
          </p:cNvSpPr>
          <p:nvPr/>
        </p:nvSpPr>
        <p:spPr bwMode="auto">
          <a:xfrm rot="-10438251">
            <a:off x="6877050" y="1609725"/>
            <a:ext cx="3048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9" name="Text Box 17">
            <a:extLst>
              <a:ext uri="{FF2B5EF4-FFF2-40B4-BE49-F238E27FC236}">
                <a16:creationId xmlns:a16="http://schemas.microsoft.com/office/drawing/2014/main" id="{9202A428-44AC-4A7B-967D-AEBA78848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63513"/>
            <a:ext cx="1582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5050"/>
                </a:solidFill>
              </a:rPr>
              <a:t>Q</a:t>
            </a:r>
            <a:r>
              <a:rPr kumimoji="0" lang="en-US" altLang="zh-CN" baseline="-25000">
                <a:solidFill>
                  <a:srgbClr val="FF5050"/>
                </a:solidFill>
              </a:rPr>
              <a:t>1</a:t>
            </a:r>
            <a:r>
              <a:rPr kumimoji="0" lang="en-US" altLang="zh-CN">
                <a:solidFill>
                  <a:srgbClr val="FF5050"/>
                </a:solidFill>
              </a:rPr>
              <a:t> ,   </a:t>
            </a:r>
            <a:r>
              <a:rPr kumimoji="0" lang="en-US" altLang="zh-CN" i="1">
                <a:solidFill>
                  <a:srgbClr val="FF5050"/>
                </a:solidFill>
              </a:rPr>
              <a:t>A</a:t>
            </a:r>
            <a:r>
              <a:rPr kumimoji="0" lang="en-US" altLang="zh-CN" baseline="-25000">
                <a:solidFill>
                  <a:srgbClr val="FF5050"/>
                </a:solidFill>
              </a:rPr>
              <a:t>1</a:t>
            </a:r>
            <a:endParaRPr kumimoji="0" lang="en-US" altLang="zh-CN" baseline="-25000">
              <a:solidFill>
                <a:schemeClr val="bg1"/>
              </a:solidFill>
            </a:endParaRPr>
          </a:p>
        </p:txBody>
      </p:sp>
      <p:sp>
        <p:nvSpPr>
          <p:cNvPr id="33810" name="Rectangle 18">
            <a:extLst>
              <a:ext uri="{FF2B5EF4-FFF2-40B4-BE49-F238E27FC236}">
                <a16:creationId xmlns:a16="http://schemas.microsoft.com/office/drawing/2014/main" id="{7A58859F-DB36-4F4A-88A7-72109D49C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2133600"/>
            <a:ext cx="1385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5050"/>
                </a:solidFill>
              </a:rPr>
              <a:t>Q</a:t>
            </a:r>
            <a:r>
              <a:rPr kumimoji="0" lang="en-US" altLang="zh-CN" baseline="-25000">
                <a:solidFill>
                  <a:srgbClr val="FF5050"/>
                </a:solidFill>
              </a:rPr>
              <a:t>2 </a:t>
            </a:r>
            <a:r>
              <a:rPr kumimoji="0" lang="en-US" altLang="zh-CN">
                <a:solidFill>
                  <a:srgbClr val="FF5050"/>
                </a:solidFill>
              </a:rPr>
              <a:t>,</a:t>
            </a:r>
            <a:r>
              <a:rPr kumimoji="0" lang="en-US" altLang="zh-CN" baseline="-25000">
                <a:solidFill>
                  <a:srgbClr val="FF5050"/>
                </a:solidFill>
              </a:rPr>
              <a:t>    </a:t>
            </a:r>
            <a:r>
              <a:rPr kumimoji="0" lang="en-US" altLang="zh-CN" i="1">
                <a:solidFill>
                  <a:srgbClr val="FF5050"/>
                </a:solidFill>
              </a:rPr>
              <a:t>A</a:t>
            </a:r>
            <a:r>
              <a:rPr kumimoji="0" lang="en-US" altLang="zh-CN" baseline="-25000">
                <a:solidFill>
                  <a:srgbClr val="FF5050"/>
                </a:solidFill>
              </a:rPr>
              <a:t>2</a:t>
            </a:r>
          </a:p>
        </p:txBody>
      </p:sp>
      <p:sp>
        <p:nvSpPr>
          <p:cNvPr id="33811" name="Text Box 19">
            <a:extLst>
              <a:ext uri="{FF2B5EF4-FFF2-40B4-BE49-F238E27FC236}">
                <a16:creationId xmlns:a16="http://schemas.microsoft.com/office/drawing/2014/main" id="{1CB32D28-C013-441C-BB76-63BD77865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663" y="762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33812" name="Rectangle 20">
            <a:extLst>
              <a:ext uri="{FF2B5EF4-FFF2-40B4-BE49-F238E27FC236}">
                <a16:creationId xmlns:a16="http://schemas.microsoft.com/office/drawing/2014/main" id="{2B41696D-3FDF-4058-862B-CD7A1E3A6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601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b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0998927F-1C61-4348-8E6E-B1E6C1441168}"/>
              </a:ext>
            </a:extLst>
          </p:cNvPr>
          <p:cNvGrpSpPr>
            <a:grpSpLocks/>
          </p:cNvGrpSpPr>
          <p:nvPr/>
        </p:nvGrpSpPr>
        <p:grpSpPr bwMode="auto">
          <a:xfrm>
            <a:off x="5187950" y="142875"/>
            <a:ext cx="3455988" cy="3182938"/>
            <a:chOff x="3243" y="1062"/>
            <a:chExt cx="2177" cy="2005"/>
          </a:xfrm>
        </p:grpSpPr>
        <p:sp>
          <p:nvSpPr>
            <p:cNvPr id="21557" name="Line 22">
              <a:extLst>
                <a:ext uri="{FF2B5EF4-FFF2-40B4-BE49-F238E27FC236}">
                  <a16:creationId xmlns:a16="http://schemas.microsoft.com/office/drawing/2014/main" id="{AF444251-AC69-410B-9842-E12427973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" y="2790"/>
              <a:ext cx="1904" cy="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8" name="Line 23">
              <a:extLst>
                <a:ext uri="{FF2B5EF4-FFF2-40B4-BE49-F238E27FC236}">
                  <a16:creationId xmlns:a16="http://schemas.microsoft.com/office/drawing/2014/main" id="{0CEF7EA9-C226-4676-9446-1BDA074F62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5" y="1162"/>
              <a:ext cx="12" cy="163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9" name="Text Box 24">
              <a:extLst>
                <a:ext uri="{FF2B5EF4-FFF2-40B4-BE49-F238E27FC236}">
                  <a16:creationId xmlns:a16="http://schemas.microsoft.com/office/drawing/2014/main" id="{74A6B146-EA0B-4DFC-ACE8-A27031655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6" y="277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21560" name="Text Box 25">
              <a:extLst>
                <a:ext uri="{FF2B5EF4-FFF2-40B4-BE49-F238E27FC236}">
                  <a16:creationId xmlns:a16="http://schemas.microsoft.com/office/drawing/2014/main" id="{9869E283-9E31-4A9D-BA9A-5DA259B6A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06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21561" name="Text Box 26">
              <a:extLst>
                <a:ext uri="{FF2B5EF4-FFF2-40B4-BE49-F238E27FC236}">
                  <a16:creationId xmlns:a16="http://schemas.microsoft.com/office/drawing/2014/main" id="{FABB5C74-D411-4956-9439-4B7D9780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73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33819" name="Text Box 27">
            <a:extLst>
              <a:ext uri="{FF2B5EF4-FFF2-40B4-BE49-F238E27FC236}">
                <a16:creationId xmlns:a16="http://schemas.microsoft.com/office/drawing/2014/main" id="{46ED271E-86DA-4215-940A-716B4F772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552700"/>
            <a:ext cx="355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根据热力学第一定律，有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20" name="Object 5">
                <a:extLst>
                  <a:ext uri="{FF2B5EF4-FFF2-40B4-BE49-F238E27FC236}">
                    <a16:creationId xmlns:a16="http://schemas.microsoft.com/office/drawing/2014/main" id="{0234DF76-23B8-4B2A-9646-8275B3DAE394}"/>
                  </a:ext>
                </a:extLst>
              </p:cNvPr>
              <p:cNvSpPr txBox="1"/>
              <p:nvPr/>
            </p:nvSpPr>
            <p:spPr bwMode="auto">
              <a:xfrm>
                <a:off x="1467346" y="4591916"/>
                <a:ext cx="2757648" cy="59646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3820" name="Object 5">
                <a:extLst>
                  <a:ext uri="{FF2B5EF4-FFF2-40B4-BE49-F238E27FC236}">
                    <a16:creationId xmlns:a16="http://schemas.microsoft.com/office/drawing/2014/main" id="{0234DF76-23B8-4B2A-9646-8275B3DAE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7346" y="4591916"/>
                <a:ext cx="2757648" cy="596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21" name="Rectangle 29">
            <a:extLst>
              <a:ext uri="{FF2B5EF4-FFF2-40B4-BE49-F238E27FC236}">
                <a16:creationId xmlns:a16="http://schemas.microsoft.com/office/drawing/2014/main" id="{3CD22CD2-F810-4EBB-91F1-64780D39C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5084763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66FFFF"/>
                </a:solidFill>
              </a:rPr>
              <a:t>（</a:t>
            </a:r>
            <a:r>
              <a:rPr lang="zh-CN" altLang="en-US" dirty="0">
                <a:solidFill>
                  <a:srgbClr val="66FFFF"/>
                </a:solidFill>
                <a:ea typeface="楷体_GB2312" pitchFamily="49" charset="-122"/>
              </a:rPr>
              <a:t>系统对外作负功</a:t>
            </a:r>
            <a:r>
              <a:rPr lang="zh-CN" altLang="en-US" dirty="0">
                <a:solidFill>
                  <a:srgbClr val="66FFFF"/>
                </a:solidFill>
              </a:rPr>
              <a:t>）</a:t>
            </a:r>
          </a:p>
        </p:txBody>
      </p:sp>
      <p:sp>
        <p:nvSpPr>
          <p:cNvPr id="33822" name="Text Box 30">
            <a:extLst>
              <a:ext uri="{FF2B5EF4-FFF2-40B4-BE49-F238E27FC236}">
                <a16:creationId xmlns:a16="http://schemas.microsoft.com/office/drawing/2014/main" id="{898FEAD7-1921-4812-9198-A660A02A0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3619500"/>
            <a:ext cx="4262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正循环</a:t>
            </a:r>
            <a:r>
              <a:rPr kumimoji="0" lang="zh-CN" altLang="en-US" dirty="0">
                <a:solidFill>
                  <a:schemeClr val="bg1"/>
                </a:solidFill>
              </a:rPr>
              <a:t>也称为</a:t>
            </a:r>
            <a:r>
              <a:rPr kumimoji="0" lang="zh-CN" altLang="en-US" dirty="0">
                <a:solidFill>
                  <a:srgbClr val="FFFF00"/>
                </a:solidFill>
              </a:rPr>
              <a:t>热机</a:t>
            </a:r>
            <a:r>
              <a:rPr lang="zh-CN" altLang="en-US" dirty="0">
                <a:solidFill>
                  <a:srgbClr val="FFFF00"/>
                </a:solidFill>
              </a:rPr>
              <a:t>循环</a:t>
            </a:r>
            <a:r>
              <a:rPr lang="zh-CN" altLang="en-US" dirty="0">
                <a:solidFill>
                  <a:schemeClr val="bg1"/>
                </a:solidFill>
              </a:rPr>
              <a:t>；</a:t>
            </a:r>
          </a:p>
        </p:txBody>
      </p:sp>
      <p:sp>
        <p:nvSpPr>
          <p:cNvPr id="33823" name="Text Box 31">
            <a:extLst>
              <a:ext uri="{FF2B5EF4-FFF2-40B4-BE49-F238E27FC236}">
                <a16:creationId xmlns:a16="http://schemas.microsoft.com/office/drawing/2014/main" id="{F05FD7B9-5F7C-4410-A1B6-32D085739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43613"/>
            <a:ext cx="441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逆循环</a:t>
            </a:r>
            <a:r>
              <a:rPr kumimoji="0" lang="zh-CN" altLang="en-US">
                <a:solidFill>
                  <a:schemeClr val="bg1"/>
                </a:solidFill>
              </a:rPr>
              <a:t>也 称为</a:t>
            </a:r>
            <a:r>
              <a:rPr kumimoji="0" lang="zh-CN" altLang="en-US">
                <a:solidFill>
                  <a:srgbClr val="FFFF00"/>
                </a:solidFill>
              </a:rPr>
              <a:t>致冷</a:t>
            </a:r>
            <a:r>
              <a:rPr lang="zh-CN" altLang="en-US">
                <a:solidFill>
                  <a:srgbClr val="FFFF00"/>
                </a:solidFill>
              </a:rPr>
              <a:t>循环</a:t>
            </a:r>
          </a:p>
        </p:txBody>
      </p:sp>
      <p:sp>
        <p:nvSpPr>
          <p:cNvPr id="33824" name="Rectangle 32">
            <a:extLst>
              <a:ext uri="{FF2B5EF4-FFF2-40B4-BE49-F238E27FC236}">
                <a16:creationId xmlns:a16="http://schemas.microsoft.com/office/drawing/2014/main" id="{56BD7317-92E2-485B-AAA6-DF9D8E8B5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257175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33825" name="Rectangle 33">
            <a:extLst>
              <a:ext uri="{FF2B5EF4-FFF2-40B4-BE49-F238E27FC236}">
                <a16:creationId xmlns:a16="http://schemas.microsoft.com/office/drawing/2014/main" id="{E741AC67-AFCB-4B42-BAD2-6CBB27F69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313" y="17700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33826" name="Arc 34">
            <a:extLst>
              <a:ext uri="{FF2B5EF4-FFF2-40B4-BE49-F238E27FC236}">
                <a16:creationId xmlns:a16="http://schemas.microsoft.com/office/drawing/2014/main" id="{3D83D981-3B51-4724-B6C2-FD24D41614BF}"/>
              </a:ext>
            </a:extLst>
          </p:cNvPr>
          <p:cNvSpPr>
            <a:spLocks/>
          </p:cNvSpPr>
          <p:nvPr/>
        </p:nvSpPr>
        <p:spPr bwMode="auto">
          <a:xfrm rot="-806165" flipH="1" flipV="1">
            <a:off x="6072188" y="3832225"/>
            <a:ext cx="2043112" cy="2765425"/>
          </a:xfrm>
          <a:custGeom>
            <a:avLst/>
            <a:gdLst>
              <a:gd name="T0" fmla="*/ 2147483646 w 20819"/>
              <a:gd name="T1" fmla="*/ 2147483646 h 21420"/>
              <a:gd name="T2" fmla="*/ 0 w 20819"/>
              <a:gd name="T3" fmla="*/ 2147483646 h 21420"/>
              <a:gd name="T4" fmla="*/ 2147483646 w 20819"/>
              <a:gd name="T5" fmla="*/ 0 h 21420"/>
              <a:gd name="T6" fmla="*/ 0 60000 65536"/>
              <a:gd name="T7" fmla="*/ 0 60000 65536"/>
              <a:gd name="T8" fmla="*/ 0 60000 65536"/>
              <a:gd name="T9" fmla="*/ 0 w 20819"/>
              <a:gd name="T10" fmla="*/ 0 h 21420"/>
              <a:gd name="T11" fmla="*/ 20819 w 20819"/>
              <a:gd name="T12" fmla="*/ 21420 h 21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19" h="21420" fill="none" extrusionOk="0">
                <a:moveTo>
                  <a:pt x="18034" y="21419"/>
                </a:moveTo>
                <a:cubicBezTo>
                  <a:pt x="9419" y="20299"/>
                  <a:pt x="2313" y="14127"/>
                  <a:pt x="-1" y="5754"/>
                </a:cubicBezTo>
              </a:path>
              <a:path w="20819" h="21420" stroke="0" extrusionOk="0">
                <a:moveTo>
                  <a:pt x="18034" y="21419"/>
                </a:moveTo>
                <a:cubicBezTo>
                  <a:pt x="9419" y="20299"/>
                  <a:pt x="2313" y="14127"/>
                  <a:pt x="-1" y="5754"/>
                </a:cubicBezTo>
                <a:lnTo>
                  <a:pt x="20819" y="0"/>
                </a:lnTo>
                <a:lnTo>
                  <a:pt x="18034" y="21419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7" name="Arc 35">
            <a:extLst>
              <a:ext uri="{FF2B5EF4-FFF2-40B4-BE49-F238E27FC236}">
                <a16:creationId xmlns:a16="http://schemas.microsoft.com/office/drawing/2014/main" id="{711311A9-2842-437F-8F22-59963E5BB33D}"/>
              </a:ext>
            </a:extLst>
          </p:cNvPr>
          <p:cNvSpPr>
            <a:spLocks/>
          </p:cNvSpPr>
          <p:nvPr/>
        </p:nvSpPr>
        <p:spPr bwMode="auto">
          <a:xfrm rot="-824006">
            <a:off x="6175375" y="3071813"/>
            <a:ext cx="2284413" cy="2701925"/>
          </a:xfrm>
          <a:custGeom>
            <a:avLst/>
            <a:gdLst>
              <a:gd name="T0" fmla="*/ 2147483646 w 20967"/>
              <a:gd name="T1" fmla="*/ 2147483646 h 21074"/>
              <a:gd name="T2" fmla="*/ 0 w 20967"/>
              <a:gd name="T3" fmla="*/ 2147483646 h 21074"/>
              <a:gd name="T4" fmla="*/ 2147483646 w 20967"/>
              <a:gd name="T5" fmla="*/ 0 h 21074"/>
              <a:gd name="T6" fmla="*/ 0 60000 65536"/>
              <a:gd name="T7" fmla="*/ 0 60000 65536"/>
              <a:gd name="T8" fmla="*/ 0 60000 65536"/>
              <a:gd name="T9" fmla="*/ 0 w 20967"/>
              <a:gd name="T10" fmla="*/ 0 h 21074"/>
              <a:gd name="T11" fmla="*/ 20967 w 20967"/>
              <a:gd name="T12" fmla="*/ 21074 h 210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67" h="21074" fill="none" extrusionOk="0">
                <a:moveTo>
                  <a:pt x="16230" y="21074"/>
                </a:moveTo>
                <a:cubicBezTo>
                  <a:pt x="8249" y="19280"/>
                  <a:pt x="1966" y="13131"/>
                  <a:pt x="0" y="5190"/>
                </a:cubicBezTo>
              </a:path>
              <a:path w="20967" h="21074" stroke="0" extrusionOk="0">
                <a:moveTo>
                  <a:pt x="16230" y="21074"/>
                </a:moveTo>
                <a:cubicBezTo>
                  <a:pt x="8249" y="19280"/>
                  <a:pt x="1966" y="13131"/>
                  <a:pt x="0" y="5190"/>
                </a:cubicBezTo>
                <a:lnTo>
                  <a:pt x="20967" y="0"/>
                </a:lnTo>
                <a:lnTo>
                  <a:pt x="16230" y="21074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8" name="Freeform 36">
            <a:extLst>
              <a:ext uri="{FF2B5EF4-FFF2-40B4-BE49-F238E27FC236}">
                <a16:creationId xmlns:a16="http://schemas.microsoft.com/office/drawing/2014/main" id="{AD4352B9-4816-4F0E-AAAA-9C72BEAF8F63}"/>
              </a:ext>
            </a:extLst>
          </p:cNvPr>
          <p:cNvSpPr>
            <a:spLocks/>
          </p:cNvSpPr>
          <p:nvPr/>
        </p:nvSpPr>
        <p:spPr bwMode="auto">
          <a:xfrm rot="10161194">
            <a:off x="6804025" y="3933825"/>
            <a:ext cx="3048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29" name="Line 37">
            <a:extLst>
              <a:ext uri="{FF2B5EF4-FFF2-40B4-BE49-F238E27FC236}">
                <a16:creationId xmlns:a16="http://schemas.microsoft.com/office/drawing/2014/main" id="{AFF1DBB5-0CCB-4176-AAC1-F79B0D9B1857}"/>
              </a:ext>
            </a:extLst>
          </p:cNvPr>
          <p:cNvSpPr>
            <a:spLocks noChangeShapeType="1"/>
          </p:cNvSpPr>
          <p:nvPr/>
        </p:nvSpPr>
        <p:spPr bwMode="auto">
          <a:xfrm rot="180000">
            <a:off x="7308850" y="4437063"/>
            <a:ext cx="287338" cy="2159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0" name="Line 38">
            <a:extLst>
              <a:ext uri="{FF2B5EF4-FFF2-40B4-BE49-F238E27FC236}">
                <a16:creationId xmlns:a16="http://schemas.microsoft.com/office/drawing/2014/main" id="{819672E0-7758-4855-BF28-0E42FDA867FB}"/>
              </a:ext>
            </a:extLst>
          </p:cNvPr>
          <p:cNvSpPr>
            <a:spLocks noChangeShapeType="1"/>
          </p:cNvSpPr>
          <p:nvPr/>
        </p:nvSpPr>
        <p:spPr bwMode="auto">
          <a:xfrm rot="-10620000">
            <a:off x="6638925" y="4879975"/>
            <a:ext cx="287338" cy="215900"/>
          </a:xfrm>
          <a:prstGeom prst="line">
            <a:avLst/>
          </a:prstGeom>
          <a:noFill/>
          <a:ln w="50800">
            <a:solidFill>
              <a:srgbClr val="FF99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1" name="Text Box 39">
            <a:extLst>
              <a:ext uri="{FF2B5EF4-FFF2-40B4-BE49-F238E27FC236}">
                <a16:creationId xmlns:a16="http://schemas.microsoft.com/office/drawing/2014/main" id="{958B3AA5-0CDE-4BA7-97A1-CC50C8607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7163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Ⅰ</a:t>
            </a:r>
            <a:endParaRPr kumimoji="0" lang="en-US" altLang="zh-CN" sz="1800" b="0">
              <a:latin typeface="宋体" panose="02010600030101010101" pitchFamily="2" charset="-122"/>
            </a:endParaRPr>
          </a:p>
        </p:txBody>
      </p:sp>
      <p:sp>
        <p:nvSpPr>
          <p:cNvPr id="33832" name="Text Box 40">
            <a:extLst>
              <a:ext uri="{FF2B5EF4-FFF2-40B4-BE49-F238E27FC236}">
                <a16:creationId xmlns:a16="http://schemas.microsoft.com/office/drawing/2014/main" id="{18A0E3A9-370C-4428-A00E-6805B27A1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3" y="54197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Ⅱ</a:t>
            </a:r>
          </a:p>
        </p:txBody>
      </p:sp>
      <p:sp>
        <p:nvSpPr>
          <p:cNvPr id="33833" name="Freeform 41">
            <a:extLst>
              <a:ext uri="{FF2B5EF4-FFF2-40B4-BE49-F238E27FC236}">
                <a16:creationId xmlns:a16="http://schemas.microsoft.com/office/drawing/2014/main" id="{36B8E013-6CDA-4454-BA86-2773C83FBC57}"/>
              </a:ext>
            </a:extLst>
          </p:cNvPr>
          <p:cNvSpPr>
            <a:spLocks/>
          </p:cNvSpPr>
          <p:nvPr/>
        </p:nvSpPr>
        <p:spPr bwMode="auto">
          <a:xfrm rot="-10438251">
            <a:off x="6948488" y="4924425"/>
            <a:ext cx="304800" cy="609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34" name="Text Box 42">
            <a:extLst>
              <a:ext uri="{FF2B5EF4-FFF2-40B4-BE49-F238E27FC236}">
                <a16:creationId xmlns:a16="http://schemas.microsoft.com/office/drawing/2014/main" id="{4AA63665-0063-4259-9A32-C9604B299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3500438"/>
            <a:ext cx="143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5050"/>
                </a:solidFill>
              </a:rPr>
              <a:t>Q</a:t>
            </a:r>
            <a:r>
              <a:rPr kumimoji="0" lang="en-US" altLang="zh-CN" baseline="-25000">
                <a:solidFill>
                  <a:srgbClr val="FF5050"/>
                </a:solidFill>
              </a:rPr>
              <a:t>1 </a:t>
            </a:r>
            <a:r>
              <a:rPr kumimoji="0" lang="en-US" altLang="zh-CN">
                <a:solidFill>
                  <a:srgbClr val="FF5050"/>
                </a:solidFill>
              </a:rPr>
              <a:t>,   </a:t>
            </a:r>
            <a:r>
              <a:rPr kumimoji="0" lang="en-US" altLang="zh-CN" i="1">
                <a:solidFill>
                  <a:srgbClr val="FF5050"/>
                </a:solidFill>
              </a:rPr>
              <a:t>A</a:t>
            </a:r>
            <a:r>
              <a:rPr kumimoji="0" lang="en-US" altLang="zh-CN" baseline="-25000">
                <a:solidFill>
                  <a:srgbClr val="FF5050"/>
                </a:solidFill>
              </a:rPr>
              <a:t>1</a:t>
            </a:r>
          </a:p>
        </p:txBody>
      </p:sp>
      <p:sp>
        <p:nvSpPr>
          <p:cNvPr id="33835" name="Rectangle 43">
            <a:extLst>
              <a:ext uri="{FF2B5EF4-FFF2-40B4-BE49-F238E27FC236}">
                <a16:creationId xmlns:a16="http://schemas.microsoft.com/office/drawing/2014/main" id="{7FD173B0-70B3-4F25-870D-EBF9E7453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445125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5050"/>
                </a:solidFill>
              </a:rPr>
              <a:t>Q</a:t>
            </a:r>
            <a:r>
              <a:rPr kumimoji="0" lang="en-US" altLang="zh-CN" baseline="-25000">
                <a:solidFill>
                  <a:srgbClr val="FF5050"/>
                </a:solidFill>
              </a:rPr>
              <a:t>2 </a:t>
            </a:r>
            <a:r>
              <a:rPr kumimoji="0" lang="en-US" altLang="zh-CN">
                <a:solidFill>
                  <a:srgbClr val="FF5050"/>
                </a:solidFill>
              </a:rPr>
              <a:t>,   </a:t>
            </a:r>
            <a:r>
              <a:rPr kumimoji="0" lang="en-US" altLang="zh-CN" i="1">
                <a:solidFill>
                  <a:srgbClr val="FF5050"/>
                </a:solidFill>
              </a:rPr>
              <a:t>A</a:t>
            </a:r>
            <a:r>
              <a:rPr kumimoji="0" lang="en-US" altLang="zh-CN" baseline="-25000">
                <a:solidFill>
                  <a:srgbClr val="FF5050"/>
                </a:solidFill>
              </a:rPr>
              <a:t>2</a:t>
            </a:r>
          </a:p>
        </p:txBody>
      </p:sp>
      <p:sp>
        <p:nvSpPr>
          <p:cNvPr id="33836" name="Text Box 44">
            <a:extLst>
              <a:ext uri="{FF2B5EF4-FFF2-40B4-BE49-F238E27FC236}">
                <a16:creationId xmlns:a16="http://schemas.microsoft.com/office/drawing/2014/main" id="{E04BA5CC-20E5-42AF-845D-F85191BC0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00" y="40767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33837" name="Rectangle 45">
            <a:extLst>
              <a:ext uri="{FF2B5EF4-FFF2-40B4-BE49-F238E27FC236}">
                <a16:creationId xmlns:a16="http://schemas.microsoft.com/office/drawing/2014/main" id="{E7895B5E-4D59-4FC8-A454-3714CFA5E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9164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00"/>
                </a:solidFill>
              </a:rPr>
              <a:t>b</a:t>
            </a:r>
          </a:p>
        </p:txBody>
      </p:sp>
      <p:grpSp>
        <p:nvGrpSpPr>
          <p:cNvPr id="3" name="Group 46">
            <a:extLst>
              <a:ext uri="{FF2B5EF4-FFF2-40B4-BE49-F238E27FC236}">
                <a16:creationId xmlns:a16="http://schemas.microsoft.com/office/drawing/2014/main" id="{A1601D07-CEA6-4AE8-9B9B-69AE716E972E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3486150"/>
            <a:ext cx="3455988" cy="3182938"/>
            <a:chOff x="3243" y="1062"/>
            <a:chExt cx="2177" cy="2005"/>
          </a:xfrm>
        </p:grpSpPr>
        <p:sp>
          <p:nvSpPr>
            <p:cNvPr id="21552" name="Line 47">
              <a:extLst>
                <a:ext uri="{FF2B5EF4-FFF2-40B4-BE49-F238E27FC236}">
                  <a16:creationId xmlns:a16="http://schemas.microsoft.com/office/drawing/2014/main" id="{38B4E661-7911-4C35-8C48-5DE87859F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" y="2790"/>
              <a:ext cx="1904" cy="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3" name="Line 48">
              <a:extLst>
                <a:ext uri="{FF2B5EF4-FFF2-40B4-BE49-F238E27FC236}">
                  <a16:creationId xmlns:a16="http://schemas.microsoft.com/office/drawing/2014/main" id="{76D07B85-846A-4488-81EB-4FD150F1B3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5" y="1162"/>
              <a:ext cx="12" cy="163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4" name="Text Box 49">
              <a:extLst>
                <a:ext uri="{FF2B5EF4-FFF2-40B4-BE49-F238E27FC236}">
                  <a16:creationId xmlns:a16="http://schemas.microsoft.com/office/drawing/2014/main" id="{EAA57D51-3DD7-4952-A91B-6C504BCF0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6" y="277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21555" name="Text Box 50">
              <a:extLst>
                <a:ext uri="{FF2B5EF4-FFF2-40B4-BE49-F238E27FC236}">
                  <a16:creationId xmlns:a16="http://schemas.microsoft.com/office/drawing/2014/main" id="{F9ED4154-8702-437D-A509-6F0EEF542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06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800" i="1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21556" name="Text Box 51">
              <a:extLst>
                <a:ext uri="{FF2B5EF4-FFF2-40B4-BE49-F238E27FC236}">
                  <a16:creationId xmlns:a16="http://schemas.microsoft.com/office/drawing/2014/main" id="{0DAA69D7-B5D6-4E85-9D2C-1C4C80D18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73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33844" name="Rectangle 52">
            <a:extLst>
              <a:ext uri="{FF2B5EF4-FFF2-40B4-BE49-F238E27FC236}">
                <a16:creationId xmlns:a16="http://schemas.microsoft.com/office/drawing/2014/main" id="{45CCEB58-A022-4332-B33C-F2DF5C76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3571875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33845" name="Rectangle 53">
            <a:extLst>
              <a:ext uri="{FF2B5EF4-FFF2-40B4-BE49-F238E27FC236}">
                <a16:creationId xmlns:a16="http://schemas.microsoft.com/office/drawing/2014/main" id="{0F775881-DE7A-4994-B1DA-B96ADF184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0" y="50847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66FFFF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1548" name="Rectangle 54">
            <a:extLst>
              <a:ext uri="{FF2B5EF4-FFF2-40B4-BE49-F238E27FC236}">
                <a16:creationId xmlns:a16="http://schemas.microsoft.com/office/drawing/2014/main" id="{0F574EB6-816F-4EB4-B8CB-E3ED8B0FE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284538"/>
            <a:ext cx="4356100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3847" name="Rectangle 55">
            <a:extLst>
              <a:ext uri="{FF2B5EF4-FFF2-40B4-BE49-F238E27FC236}">
                <a16:creationId xmlns:a16="http://schemas.microsoft.com/office/drawing/2014/main" id="{16E828E6-66A2-4916-BDD9-363990B19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7286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33848" name="Rectangle 56">
            <a:extLst>
              <a:ext uri="{FF2B5EF4-FFF2-40B4-BE49-F238E27FC236}">
                <a16:creationId xmlns:a16="http://schemas.microsoft.com/office/drawing/2014/main" id="{EAD23268-F8F2-4E43-8657-A79405BF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9290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  <a:cs typeface="Times New Roman" panose="02020603050405020304" pitchFamily="18" charset="0"/>
              </a:rPr>
              <a:t>·</a:t>
            </a:r>
          </a:p>
        </p:txBody>
      </p:sp>
      <p:sp>
        <p:nvSpPr>
          <p:cNvPr id="21551" name="灯片编号占位符 1">
            <a:extLst>
              <a:ext uri="{FF2B5EF4-FFF2-40B4-BE49-F238E27FC236}">
                <a16:creationId xmlns:a16="http://schemas.microsoft.com/office/drawing/2014/main" id="{97F51B48-6674-4CC9-9737-A30F08B52BD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F69DE0-AEC7-4630-8651-631E87374D42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0"/>
                                        <p:tgtEl>
                                          <p:spTgt spid="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10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/>
      <p:bldP spid="33796" grpId="0" autoUpdateAnimBg="0"/>
      <p:bldP spid="33797" grpId="0" autoUpdateAnimBg="0"/>
      <p:bldP spid="33798" grpId="0" autoUpdateAnimBg="0"/>
      <p:bldP spid="33799" grpId="0" autoUpdateAnimBg="0"/>
      <p:bldP spid="33800" grpId="0"/>
      <p:bldP spid="33806" grpId="0"/>
      <p:bldP spid="33807" grpId="0"/>
      <p:bldP spid="33809" grpId="0"/>
      <p:bldP spid="33810" grpId="0"/>
      <p:bldP spid="33811" grpId="0"/>
      <p:bldP spid="33812" grpId="0"/>
      <p:bldP spid="33819" grpId="0"/>
      <p:bldP spid="33820" grpId="0"/>
      <p:bldP spid="33821" grpId="0"/>
      <p:bldP spid="33822" grpId="0"/>
      <p:bldP spid="33823" grpId="0"/>
      <p:bldP spid="33824" grpId="0"/>
      <p:bldP spid="33825" grpId="0"/>
      <p:bldP spid="33831" grpId="0"/>
      <p:bldP spid="33832" grpId="0"/>
      <p:bldP spid="33834" grpId="0"/>
      <p:bldP spid="33835" grpId="0"/>
      <p:bldP spid="33836" grpId="0"/>
      <p:bldP spid="33837" grpId="0"/>
      <p:bldP spid="33844" grpId="0"/>
      <p:bldP spid="33845" grpId="0"/>
      <p:bldP spid="33847" grpId="0"/>
      <p:bldP spid="3384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15164</TotalTime>
  <Words>1030</Words>
  <Application>Microsoft Office PowerPoint</Application>
  <PresentationFormat>全屏显示(4:3)</PresentationFormat>
  <Paragraphs>193</Paragraphs>
  <Slides>17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Monotype Sorts</vt:lpstr>
      <vt:lpstr>等线</vt:lpstr>
      <vt:lpstr>仿宋_GB2312</vt:lpstr>
      <vt:lpstr>黑体</vt:lpstr>
      <vt:lpstr>华文仿宋</vt:lpstr>
      <vt:lpstr>楷体_GB2312</vt:lpstr>
      <vt:lpstr>宋体</vt:lpstr>
      <vt:lpstr>Arial</vt:lpstr>
      <vt:lpstr>Cambria Math</vt:lpstr>
      <vt:lpstr>Symbol</vt:lpstr>
      <vt:lpstr>Times New Roman</vt:lpstr>
      <vt:lpstr>Wingdings</vt:lpstr>
      <vt:lpstr>默认设计模板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1445</cp:revision>
  <cp:lastPrinted>2025-11-11T09:14:59Z</cp:lastPrinted>
  <dcterms:created xsi:type="dcterms:W3CDTF">1998-11-21T01:35:00Z</dcterms:created>
  <dcterms:modified xsi:type="dcterms:W3CDTF">2025-11-13T08:08:23Z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