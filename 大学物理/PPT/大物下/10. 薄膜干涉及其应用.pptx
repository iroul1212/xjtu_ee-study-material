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ctiveX/activeX1.xml" ContentType="application/vnd.ms-office.activeX+xml"/>
  <Override PartName="/ppt/activeX/activeX1.bin" ContentType="application/vnd.ms-office.activeX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439" r:id="rId2"/>
    <p:sldId id="484" r:id="rId3"/>
    <p:sldId id="441" r:id="rId4"/>
    <p:sldId id="442" r:id="rId5"/>
    <p:sldId id="443" r:id="rId6"/>
    <p:sldId id="444" r:id="rId7"/>
    <p:sldId id="708" r:id="rId8"/>
    <p:sldId id="446" r:id="rId9"/>
    <p:sldId id="447" r:id="rId10"/>
    <p:sldId id="448" r:id="rId11"/>
    <p:sldId id="472" r:id="rId12"/>
    <p:sldId id="478" r:id="rId13"/>
    <p:sldId id="707" r:id="rId14"/>
    <p:sldId id="485" r:id="rId15"/>
    <p:sldId id="470" r:id="rId16"/>
    <p:sldId id="471" r:id="rId17"/>
    <p:sldId id="479" r:id="rId18"/>
    <p:sldId id="473" r:id="rId19"/>
  </p:sldIdLst>
  <p:sldSz cx="9144000" cy="6858000" type="screen4x3"/>
  <p:notesSz cx="6797675" cy="9928225"/>
  <p:custDataLst>
    <p:tags r:id="rId2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23.emf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12" Type="http://schemas.openxmlformats.org/officeDocument/2006/relationships/image" Target="../media/image22.emf"/><Relationship Id="rId2" Type="http://schemas.openxmlformats.org/officeDocument/2006/relationships/image" Target="../media/image12.emf"/><Relationship Id="rId16" Type="http://schemas.openxmlformats.org/officeDocument/2006/relationships/image" Target="../media/image26.emf"/><Relationship Id="rId1" Type="http://schemas.openxmlformats.org/officeDocument/2006/relationships/image" Target="../media/image11.emf"/><Relationship Id="rId6" Type="http://schemas.openxmlformats.org/officeDocument/2006/relationships/image" Target="../media/image16.emf"/><Relationship Id="rId11" Type="http://schemas.openxmlformats.org/officeDocument/2006/relationships/image" Target="../media/image21.emf"/><Relationship Id="rId5" Type="http://schemas.openxmlformats.org/officeDocument/2006/relationships/image" Target="../media/image15.emf"/><Relationship Id="rId15" Type="http://schemas.openxmlformats.org/officeDocument/2006/relationships/image" Target="../media/image25.emf"/><Relationship Id="rId10" Type="http://schemas.openxmlformats.org/officeDocument/2006/relationships/image" Target="../media/image20.emf"/><Relationship Id="rId4" Type="http://schemas.openxmlformats.org/officeDocument/2006/relationships/image" Target="../media/image14.emf"/><Relationship Id="rId9" Type="http://schemas.openxmlformats.org/officeDocument/2006/relationships/image" Target="../media/image19.emf"/><Relationship Id="rId14" Type="http://schemas.openxmlformats.org/officeDocument/2006/relationships/image" Target="../media/image2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image" Target="../media/image37.emf"/><Relationship Id="rId7" Type="http://schemas.openxmlformats.org/officeDocument/2006/relationships/image" Target="../media/image41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Relationship Id="rId9" Type="http://schemas.openxmlformats.org/officeDocument/2006/relationships/image" Target="../media/image4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w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7" Type="http://schemas.openxmlformats.org/officeDocument/2006/relationships/image" Target="../media/image58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Relationship Id="rId6" Type="http://schemas.openxmlformats.org/officeDocument/2006/relationships/image" Target="../media/image57.emf"/><Relationship Id="rId5" Type="http://schemas.openxmlformats.org/officeDocument/2006/relationships/image" Target="../media/image56.emf"/><Relationship Id="rId4" Type="http://schemas.openxmlformats.org/officeDocument/2006/relationships/image" Target="../media/image55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image" Target="../media/image61.emf"/><Relationship Id="rId7" Type="http://schemas.openxmlformats.org/officeDocument/2006/relationships/image" Target="../media/image65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Relationship Id="rId6" Type="http://schemas.openxmlformats.org/officeDocument/2006/relationships/image" Target="../media/image64.emf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image" Target="../media/image70.emf"/><Relationship Id="rId7" Type="http://schemas.openxmlformats.org/officeDocument/2006/relationships/image" Target="../media/image74.emf"/><Relationship Id="rId2" Type="http://schemas.openxmlformats.org/officeDocument/2006/relationships/image" Target="../media/image69.emf"/><Relationship Id="rId1" Type="http://schemas.openxmlformats.org/officeDocument/2006/relationships/image" Target="../media/image68.emf"/><Relationship Id="rId6" Type="http://schemas.openxmlformats.org/officeDocument/2006/relationships/image" Target="../media/image73.emf"/><Relationship Id="rId5" Type="http://schemas.openxmlformats.org/officeDocument/2006/relationships/image" Target="../media/image72.emf"/><Relationship Id="rId4" Type="http://schemas.openxmlformats.org/officeDocument/2006/relationships/image" Target="../media/image71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5" Type="http://schemas.openxmlformats.org/officeDocument/2006/relationships/image" Target="../media/image93.emf"/><Relationship Id="rId4" Type="http://schemas.openxmlformats.org/officeDocument/2006/relationships/image" Target="../media/image92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image" Target="../media/image9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69229E0C-FB58-4741-987F-F643DE46B77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721C6FC-5726-4A42-B9C8-187E6E61AFB7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9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74396E0A-1E42-418A-86DA-8B5266EAA0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9975" y="744538"/>
            <a:ext cx="4654550" cy="3490912"/>
          </a:xfrm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D0D83692-032C-460E-8206-BB09449633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6.jpeg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jpeg"/><Relationship Id="rId5" Type="http://schemas.openxmlformats.org/officeDocument/2006/relationships/image" Target="../media/image7.png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8.emf"/><Relationship Id="rId26" Type="http://schemas.openxmlformats.org/officeDocument/2006/relationships/image" Target="../media/image22.emf"/><Relationship Id="rId3" Type="http://schemas.openxmlformats.org/officeDocument/2006/relationships/oleObject" Target="../embeddings/oleObject6.bin"/><Relationship Id="rId21" Type="http://schemas.openxmlformats.org/officeDocument/2006/relationships/oleObject" Target="../embeddings/oleObject15.bin"/><Relationship Id="rId34" Type="http://schemas.openxmlformats.org/officeDocument/2006/relationships/image" Target="../media/image26.emf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5.emf"/><Relationship Id="rId17" Type="http://schemas.openxmlformats.org/officeDocument/2006/relationships/oleObject" Target="../embeddings/oleObject13.bin"/><Relationship Id="rId25" Type="http://schemas.openxmlformats.org/officeDocument/2006/relationships/oleObject" Target="../embeddings/oleObject17.bin"/><Relationship Id="rId3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emf"/><Relationship Id="rId20" Type="http://schemas.openxmlformats.org/officeDocument/2006/relationships/image" Target="../media/image19.emf"/><Relationship Id="rId29" Type="http://schemas.openxmlformats.org/officeDocument/2006/relationships/oleObject" Target="../embeddings/oleObject19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21.emf"/><Relationship Id="rId32" Type="http://schemas.openxmlformats.org/officeDocument/2006/relationships/image" Target="../media/image25.emf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23.emf"/><Relationship Id="rId10" Type="http://schemas.openxmlformats.org/officeDocument/2006/relationships/image" Target="../media/image14.emf"/><Relationship Id="rId19" Type="http://schemas.openxmlformats.org/officeDocument/2006/relationships/oleObject" Target="../embeddings/oleObject14.bin"/><Relationship Id="rId31" Type="http://schemas.openxmlformats.org/officeDocument/2006/relationships/oleObject" Target="../embeddings/oleObject20.bin"/><Relationship Id="rId4" Type="http://schemas.openxmlformats.org/officeDocument/2006/relationships/image" Target="../media/image11.e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6.emf"/><Relationship Id="rId22" Type="http://schemas.openxmlformats.org/officeDocument/2006/relationships/image" Target="../media/image20.emf"/><Relationship Id="rId27" Type="http://schemas.openxmlformats.org/officeDocument/2006/relationships/oleObject" Target="../embeddings/oleObject18.bin"/><Relationship Id="rId30" Type="http://schemas.openxmlformats.org/officeDocument/2006/relationships/image" Target="../media/image24.emf"/><Relationship Id="rId8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0.emf"/><Relationship Id="rId4" Type="http://schemas.openxmlformats.org/officeDocument/2006/relationships/image" Target="../media/image27.emf"/><Relationship Id="rId9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3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8.emf"/><Relationship Id="rId18" Type="http://schemas.openxmlformats.org/officeDocument/2006/relationships/oleObject" Target="../embeddings/oleObject34.bin"/><Relationship Id="rId26" Type="http://schemas.openxmlformats.org/officeDocument/2006/relationships/image" Target="../media/image45.png"/><Relationship Id="rId3" Type="http://schemas.openxmlformats.org/officeDocument/2006/relationships/oleObject" Target="../embeddings/oleObject30.bin"/><Relationship Id="rId21" Type="http://schemas.openxmlformats.org/officeDocument/2006/relationships/image" Target="../media/image40.emf"/><Relationship Id="rId7" Type="http://schemas.openxmlformats.org/officeDocument/2006/relationships/image" Target="../media/image62.png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9.emf"/><Relationship Id="rId25" Type="http://schemas.openxmlformats.org/officeDocument/2006/relationships/image" Target="../media/image44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5.bin"/><Relationship Id="rId29" Type="http://schemas.openxmlformats.org/officeDocument/2006/relationships/oleObject" Target="../embeddings/oleObject39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emf"/><Relationship Id="rId11" Type="http://schemas.openxmlformats.org/officeDocument/2006/relationships/image" Target="../media/image37.emf"/><Relationship Id="rId24" Type="http://schemas.openxmlformats.org/officeDocument/2006/relationships/oleObject" Target="../embeddings/oleObject37.bin"/><Relationship Id="rId5" Type="http://schemas.openxmlformats.org/officeDocument/2006/relationships/oleObject" Target="../embeddings/oleObject31.bin"/><Relationship Id="rId15" Type="http://schemas.openxmlformats.org/officeDocument/2006/relationships/image" Target="../media/image38.emf"/><Relationship Id="rId23" Type="http://schemas.openxmlformats.org/officeDocument/2006/relationships/image" Target="../media/image41.emf"/><Relationship Id="rId28" Type="http://schemas.openxmlformats.org/officeDocument/2006/relationships/image" Target="../media/image42.e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39.emf"/><Relationship Id="rId4" Type="http://schemas.openxmlformats.org/officeDocument/2006/relationships/image" Target="../media/image35.emf"/><Relationship Id="rId9" Type="http://schemas.openxmlformats.org/officeDocument/2006/relationships/image" Target="../media/image37.e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6.bin"/><Relationship Id="rId27" Type="http://schemas.openxmlformats.org/officeDocument/2006/relationships/oleObject" Target="../embeddings/oleObject38.bin"/><Relationship Id="rId30" Type="http://schemas.openxmlformats.org/officeDocument/2006/relationships/image" Target="../media/image4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4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9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6.emf"/><Relationship Id="rId12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8.emf"/><Relationship Id="rId5" Type="http://schemas.openxmlformats.org/officeDocument/2006/relationships/image" Target="../media/image45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7.emf"/><Relationship Id="rId1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51.wmf"/><Relationship Id="rId4" Type="http://schemas.openxmlformats.org/officeDocument/2006/relationships/hyperlink" Target="file:///H:\2017&#22823;&#23398;&#29289;&#29702;\&#19979;&#20876;\14%20&#21128;&#23574;&#24178;&#28041;.swf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3.e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55.emf"/><Relationship Id="rId4" Type="http://schemas.openxmlformats.org/officeDocument/2006/relationships/image" Target="../media/image52.e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63.emf"/><Relationship Id="rId18" Type="http://schemas.openxmlformats.org/officeDocument/2006/relationships/oleObject" Target="../embeddings/oleObject60.bin"/><Relationship Id="rId3" Type="http://schemas.openxmlformats.org/officeDocument/2006/relationships/image" Target="../media/image67.png"/><Relationship Id="rId7" Type="http://schemas.openxmlformats.org/officeDocument/2006/relationships/image" Target="../media/image60.e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6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9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62.emf"/><Relationship Id="rId5" Type="http://schemas.openxmlformats.org/officeDocument/2006/relationships/image" Target="../media/image59.emf"/><Relationship Id="rId15" Type="http://schemas.openxmlformats.org/officeDocument/2006/relationships/image" Target="../media/image64.emf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66.e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61.emf"/><Relationship Id="rId14" Type="http://schemas.openxmlformats.org/officeDocument/2006/relationships/oleObject" Target="../embeddings/oleObject5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74.emf"/><Relationship Id="rId3" Type="http://schemas.openxmlformats.org/officeDocument/2006/relationships/image" Target="../media/image76.png"/><Relationship Id="rId7" Type="http://schemas.openxmlformats.org/officeDocument/2006/relationships/image" Target="../media/image69.emf"/><Relationship Id="rId12" Type="http://schemas.openxmlformats.org/officeDocument/2006/relationships/image" Target="../media/image77.jpeg"/><Relationship Id="rId17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emf"/><Relationship Id="rId20" Type="http://schemas.openxmlformats.org/officeDocument/2006/relationships/image" Target="../media/image75.e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71.emf"/><Relationship Id="rId5" Type="http://schemas.openxmlformats.org/officeDocument/2006/relationships/image" Target="../media/image68.emf"/><Relationship Id="rId15" Type="http://schemas.openxmlformats.org/officeDocument/2006/relationships/oleObject" Target="../embeddings/oleObject66.bin"/><Relationship Id="rId10" Type="http://schemas.openxmlformats.org/officeDocument/2006/relationships/oleObject" Target="../embeddings/oleObject64.bin"/><Relationship Id="rId19" Type="http://schemas.openxmlformats.org/officeDocument/2006/relationships/oleObject" Target="../embeddings/oleObject68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70.emf"/><Relationship Id="rId14" Type="http://schemas.openxmlformats.org/officeDocument/2006/relationships/image" Target="../media/image7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9.e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8.emf"/><Relationship Id="rId9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87.wmf"/><Relationship Id="rId3" Type="http://schemas.openxmlformats.org/officeDocument/2006/relationships/image" Target="../media/image88.png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86.wmf"/><Relationship Id="rId5" Type="http://schemas.openxmlformats.org/officeDocument/2006/relationships/image" Target="../media/image83.w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7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9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0.e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92.emf"/><Relationship Id="rId4" Type="http://schemas.openxmlformats.org/officeDocument/2006/relationships/image" Target="../media/image89.emf"/><Relationship Id="rId9" Type="http://schemas.openxmlformats.org/officeDocument/2006/relationships/oleObject" Target="../embeddings/oleObject8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5.e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9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Oct. 14,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2C82B58B-852D-45F3-A0E3-941B1F068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064" y="4975921"/>
            <a:ext cx="757535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zh-CN" dirty="0">
                <a:solidFill>
                  <a:srgbClr val="FFFF00"/>
                </a:solidFill>
                <a:latin typeface="宋体" panose="02010600030101010101" pitchFamily="2" charset="-122"/>
              </a:rPr>
              <a:t>2.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光程：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介质中传播路程等效为真空中的传播路程</a:t>
            </a:r>
          </a:p>
        </p:txBody>
      </p:sp>
      <p:sp>
        <p:nvSpPr>
          <p:cNvPr id="5123" name="灯片编号占位符 1">
            <a:extLst>
              <a:ext uri="{FF2B5EF4-FFF2-40B4-BE49-F238E27FC236}">
                <a16:creationId xmlns:a16="http://schemas.microsoft.com/office/drawing/2014/main" id="{06088503-1977-4072-A254-CA099A6AF3F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626D3E-577E-43E1-839D-85E993084B9F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pic>
        <p:nvPicPr>
          <p:cNvPr id="1047" name="Picture 23" descr="C:\Users\dell\Desktop\9950167897_TIME_1351477039675.jpg">
            <a:extLst>
              <a:ext uri="{FF2B5EF4-FFF2-40B4-BE49-F238E27FC236}">
                <a16:creationId xmlns:a16="http://schemas.microsoft.com/office/drawing/2014/main" id="{6D5EC8BB-10A2-4F83-9D96-004D55DD4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070" y="558676"/>
            <a:ext cx="3281362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42045" name="Object 13">
            <a:extLst>
              <a:ext uri="{FF2B5EF4-FFF2-40B4-BE49-F238E27FC236}">
                <a16:creationId xmlns:a16="http://schemas.microsoft.com/office/drawing/2014/main" id="{3C1B55BA-D8A4-44D0-927E-043C9310E4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188884"/>
              </p:ext>
            </p:extLst>
          </p:nvPr>
        </p:nvGraphicFramePr>
        <p:xfrm>
          <a:off x="2282329" y="1809254"/>
          <a:ext cx="9255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94" name="公式" r:id="rId4" imgW="466680" imgH="371373" progId="Equation.3">
                  <p:embed/>
                </p:oleObj>
              </mc:Choice>
              <mc:Fallback>
                <p:oleObj name="公式" r:id="rId4" imgW="466680" imgH="371373" progId="Equation.3">
                  <p:embed/>
                  <p:pic>
                    <p:nvPicPr>
                      <p:cNvPr id="342045" name="Object 13">
                        <a:extLst>
                          <a:ext uri="{FF2B5EF4-FFF2-40B4-BE49-F238E27FC236}">
                            <a16:creationId xmlns:a16="http://schemas.microsoft.com/office/drawing/2014/main" id="{3C1B55BA-D8A4-44D0-927E-043C9310E4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329" y="1809254"/>
                        <a:ext cx="9255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">
            <a:extLst>
              <a:ext uri="{FF2B5EF4-FFF2-40B4-BE49-F238E27FC236}">
                <a16:creationId xmlns:a16="http://schemas.microsoft.com/office/drawing/2014/main" id="{2FA9EA29-A965-4DEE-AA1C-378BA48B0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404" y="1921966"/>
            <a:ext cx="285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波程差：</a:t>
            </a:r>
          </a:p>
        </p:txBody>
      </p:sp>
      <p:graphicFrame>
        <p:nvGraphicFramePr>
          <p:cNvPr id="29" name="Object 11">
            <a:extLst>
              <a:ext uri="{FF2B5EF4-FFF2-40B4-BE49-F238E27FC236}">
                <a16:creationId xmlns:a16="http://schemas.microsoft.com/office/drawing/2014/main" id="{ADEA0BFC-510F-4357-BC0B-99BF412F42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127574"/>
              </p:ext>
            </p:extLst>
          </p:nvPr>
        </p:nvGraphicFramePr>
        <p:xfrm>
          <a:off x="1105991" y="2644502"/>
          <a:ext cx="20304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95" name="公式" r:id="rId6" imgW="2009845" imgH="704782" progId="Equation.3">
                  <p:embed/>
                </p:oleObj>
              </mc:Choice>
              <mc:Fallback>
                <p:oleObj name="公式" r:id="rId6" imgW="2009845" imgH="704782" progId="Equation.3">
                  <p:embed/>
                  <p:pic>
                    <p:nvPicPr>
                      <p:cNvPr id="29" name="Object 11">
                        <a:extLst>
                          <a:ext uri="{FF2B5EF4-FFF2-40B4-BE49-F238E27FC236}">
                            <a16:creationId xmlns:a16="http://schemas.microsoft.com/office/drawing/2014/main" id="{ADEA0BFC-510F-4357-BC0B-99BF412F42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991" y="2644502"/>
                        <a:ext cx="20304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2">
            <a:extLst>
              <a:ext uri="{FF2B5EF4-FFF2-40B4-BE49-F238E27FC236}">
                <a16:creationId xmlns:a16="http://schemas.microsoft.com/office/drawing/2014/main" id="{0A4FC0FC-D28F-47D0-AA99-2F33BA6E78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788076"/>
              </p:ext>
            </p:extLst>
          </p:nvPr>
        </p:nvGraphicFramePr>
        <p:xfrm>
          <a:off x="1128216" y="4073252"/>
          <a:ext cx="41513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96" name="公式" r:id="rId8" imgW="4133761" imgH="704782" progId="Equation.3">
                  <p:embed/>
                </p:oleObj>
              </mc:Choice>
              <mc:Fallback>
                <p:oleObj name="公式" r:id="rId8" imgW="4133761" imgH="704782" progId="Equation.3">
                  <p:embed/>
                  <p:pic>
                    <p:nvPicPr>
                      <p:cNvPr id="30" name="Object 12">
                        <a:extLst>
                          <a:ext uri="{FF2B5EF4-FFF2-40B4-BE49-F238E27FC236}">
                            <a16:creationId xmlns:a16="http://schemas.microsoft.com/office/drawing/2014/main" id="{0A4FC0FC-D28F-47D0-AA99-2F33BA6E78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216" y="4073252"/>
                        <a:ext cx="41513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28">
            <a:extLst>
              <a:ext uri="{FF2B5EF4-FFF2-40B4-BE49-F238E27FC236}">
                <a16:creationId xmlns:a16="http://schemas.microsoft.com/office/drawing/2014/main" id="{D871BA96-1CDE-479E-9C39-7735D4A66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6716" y="4197077"/>
            <a:ext cx="28957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光强极小   暗纹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434EFBED-FC2A-41B7-8E95-4AD9488A0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678" y="3482702"/>
            <a:ext cx="26812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光强极大   明纹</a:t>
            </a:r>
          </a:p>
        </p:txBody>
      </p:sp>
      <p:graphicFrame>
        <p:nvGraphicFramePr>
          <p:cNvPr id="41" name="Object 14">
            <a:extLst>
              <a:ext uri="{FF2B5EF4-FFF2-40B4-BE49-F238E27FC236}">
                <a16:creationId xmlns:a16="http://schemas.microsoft.com/office/drawing/2014/main" id="{61D9EB74-A89D-4452-8133-75C1560BAC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01959"/>
              </p:ext>
            </p:extLst>
          </p:nvPr>
        </p:nvGraphicFramePr>
        <p:xfrm>
          <a:off x="1142503" y="3609702"/>
          <a:ext cx="1422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97" name="公式" r:id="rId10" imgW="1400041" imgH="314427" progId="Equation.3">
                  <p:embed/>
                </p:oleObj>
              </mc:Choice>
              <mc:Fallback>
                <p:oleObj name="公式" r:id="rId10" imgW="1400041" imgH="314427" progId="Equation.3">
                  <p:embed/>
                  <p:pic>
                    <p:nvPicPr>
                      <p:cNvPr id="41" name="Object 14">
                        <a:extLst>
                          <a:ext uri="{FF2B5EF4-FFF2-40B4-BE49-F238E27FC236}">
                            <a16:creationId xmlns:a16="http://schemas.microsoft.com/office/drawing/2014/main" id="{61D9EB74-A89D-4452-8133-75C1560BAC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503" y="3609702"/>
                        <a:ext cx="1422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AutoShape 30">
            <a:extLst>
              <a:ext uri="{FF2B5EF4-FFF2-40B4-BE49-F238E27FC236}">
                <a16:creationId xmlns:a16="http://schemas.microsoft.com/office/drawing/2014/main" id="{8AA5AFAC-1272-4054-95DC-0C02ABD0E0C9}"/>
              </a:ext>
            </a:extLst>
          </p:cNvPr>
          <p:cNvSpPr>
            <a:spLocks/>
          </p:cNvSpPr>
          <p:nvPr/>
        </p:nvSpPr>
        <p:spPr bwMode="auto">
          <a:xfrm>
            <a:off x="778966" y="2796902"/>
            <a:ext cx="214312" cy="1785938"/>
          </a:xfrm>
          <a:prstGeom prst="leftBrace">
            <a:avLst>
              <a:gd name="adj1" fmla="val 113426"/>
              <a:gd name="adj2" fmla="val 50000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2C559EB-E7AD-49D4-95C2-8DBDA3124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303039"/>
            <a:ext cx="37839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回顾：</a:t>
            </a:r>
            <a:r>
              <a:rPr lang="en-US" altLang="zh-CN" dirty="0">
                <a:solidFill>
                  <a:srgbClr val="FFFF00"/>
                </a:solidFill>
                <a:latin typeface="宋体" panose="02010600030101010101" pitchFamily="2" charset="-122"/>
              </a:rPr>
              <a:t>1.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杨氏双缝实验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A604BA58-5AB0-4822-90DC-546B3FED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92" y="831020"/>
            <a:ext cx="4826496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干涉图样：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明暗相间、互相平行、</a:t>
            </a:r>
            <a:endParaRPr lang="en-US" altLang="zh-CN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等间距的干涉条纹</a:t>
            </a:r>
          </a:p>
        </p:txBody>
      </p:sp>
      <p:sp>
        <p:nvSpPr>
          <p:cNvPr id="23" name="Text Box 41">
            <a:extLst>
              <a:ext uri="{FF2B5EF4-FFF2-40B4-BE49-F238E27FC236}">
                <a16:creationId xmlns:a16="http://schemas.microsoft.com/office/drawing/2014/main" id="{0108234F-56FB-4AF9-88E1-23F6101C9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364" y="5556681"/>
            <a:ext cx="7924800" cy="96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    意义：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光波在介质中传播的路程为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latin typeface="+mn-lt"/>
                <a:ea typeface="+mj-ea"/>
              </a:rPr>
              <a:t>r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相当于光在真空中传播的路程为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latin typeface="+mn-lt"/>
                <a:ea typeface="+mj-ea"/>
              </a:rPr>
              <a:t>nr 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引起的相位变化相同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utoUpdateAnimBg="0"/>
      <p:bldP spid="28" grpId="0" autoUpdateAnimBg="0"/>
      <p:bldP spid="31" grpId="0" autoUpdateAnimBg="0"/>
      <p:bldP spid="32" grpId="0" autoUpdateAnimBg="0"/>
      <p:bldP spid="45" grpId="0" animBg="1"/>
      <p:bldP spid="13" grpId="0" autoUpdateAnimBg="0"/>
      <p:bldP spid="22" grpId="0" autoUpdateAnimBg="0"/>
      <p:bldP spid="2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162671FF-9F21-450E-8306-F2683A9F3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438" y="328613"/>
            <a:ext cx="53911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66FF33"/>
                </a:solidFill>
                <a:ea typeface="黑体" panose="02010609060101010101" pitchFamily="49" charset="-122"/>
              </a:rPr>
              <a:t>§14.5</a:t>
            </a:r>
            <a:r>
              <a:rPr lang="en-US" altLang="zh-CN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薄膜干涉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（分振幅法）</a:t>
            </a:r>
            <a:r>
              <a:rPr lang="zh-CN" altLang="en-US">
                <a:solidFill>
                  <a:srgbClr val="66FF33"/>
                </a:solidFill>
                <a:latin typeface="宋体" panose="02010600030101010101" pitchFamily="2" charset="-122"/>
              </a:rPr>
              <a:t> </a:t>
            </a:r>
          </a:p>
        </p:txBody>
      </p:sp>
      <p:grpSp>
        <p:nvGrpSpPr>
          <p:cNvPr id="3" name="组合 8">
            <a:extLst>
              <a:ext uri="{FF2B5EF4-FFF2-40B4-BE49-F238E27FC236}">
                <a16:creationId xmlns:a16="http://schemas.microsoft.com/office/drawing/2014/main" id="{DE19CE9D-74A7-46D8-A542-D3903E2914F8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981075"/>
            <a:ext cx="5365750" cy="3168650"/>
            <a:chOff x="1134980" y="1142984"/>
            <a:chExt cx="5365846" cy="3168561"/>
          </a:xfrm>
        </p:grpSpPr>
        <p:pic>
          <p:nvPicPr>
            <p:cNvPr id="5130" name="Picture 2" descr="C:\Users\dell\Desktop\Img265733851.jpg">
              <a:extLst>
                <a:ext uri="{FF2B5EF4-FFF2-40B4-BE49-F238E27FC236}">
                  <a16:creationId xmlns:a16="http://schemas.microsoft.com/office/drawing/2014/main" id="{59FACA75-E177-4710-BDFB-AB6D3125AE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4480" y="1142984"/>
              <a:ext cx="4786346" cy="3168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1" name="矩形 5">
              <a:extLst>
                <a:ext uri="{FF2B5EF4-FFF2-40B4-BE49-F238E27FC236}">
                  <a16:creationId xmlns:a16="http://schemas.microsoft.com/office/drawing/2014/main" id="{8E3C947B-ADD2-486B-B64C-76E6097D3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80" y="1428712"/>
              <a:ext cx="492443" cy="1071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肥皂泡</a:t>
              </a:r>
            </a:p>
          </p:txBody>
        </p:sp>
      </p:grpSp>
      <p:grpSp>
        <p:nvGrpSpPr>
          <p:cNvPr id="4" name="组合 10">
            <a:extLst>
              <a:ext uri="{FF2B5EF4-FFF2-40B4-BE49-F238E27FC236}">
                <a16:creationId xmlns:a16="http://schemas.microsoft.com/office/drawing/2014/main" id="{89DE6E7D-D561-473F-9983-2E62C55552B0}"/>
              </a:ext>
            </a:extLst>
          </p:cNvPr>
          <p:cNvGrpSpPr>
            <a:grpSpLocks/>
          </p:cNvGrpSpPr>
          <p:nvPr/>
        </p:nvGrpSpPr>
        <p:grpSpPr bwMode="auto">
          <a:xfrm>
            <a:off x="5429250" y="3429000"/>
            <a:ext cx="3143250" cy="3000375"/>
            <a:chOff x="5500718" y="3443291"/>
            <a:chExt cx="3143248" cy="3000373"/>
          </a:xfrm>
        </p:grpSpPr>
        <p:graphicFrame>
          <p:nvGraphicFramePr>
            <p:cNvPr id="5128" name="Object 4">
              <a:extLst>
                <a:ext uri="{FF2B5EF4-FFF2-40B4-BE49-F238E27FC236}">
                  <a16:creationId xmlns:a16="http://schemas.microsoft.com/office/drawing/2014/main" id="{5F2FBA84-3354-4C7C-A7EA-29220C9067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00718" y="3929066"/>
            <a:ext cx="3143248" cy="2514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994" name="位图图像" r:id="rId4" imgW="3352381" imgH="2742857" progId="Paint.Picture">
                    <p:embed/>
                  </p:oleObj>
                </mc:Choice>
                <mc:Fallback>
                  <p:oleObj name="位图图像" r:id="rId4" imgW="3352381" imgH="2742857" progId="Paint.Picture">
                    <p:embed/>
                    <p:pic>
                      <p:nvPicPr>
                        <p:cNvPr id="5128" name="Object 4">
                          <a:extLst>
                            <a:ext uri="{FF2B5EF4-FFF2-40B4-BE49-F238E27FC236}">
                              <a16:creationId xmlns:a16="http://schemas.microsoft.com/office/drawing/2014/main" id="{5F2FBA84-3354-4C7C-A7EA-29220C9067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0718" y="3929066"/>
                          <a:ext cx="3143248" cy="2514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80008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9" name="矩形 7">
              <a:extLst>
                <a:ext uri="{FF2B5EF4-FFF2-40B4-BE49-F238E27FC236}">
                  <a16:creationId xmlns:a16="http://schemas.microsoft.com/office/drawing/2014/main" id="{C8439789-C429-47FB-8716-554A33673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1888" y="3443291"/>
              <a:ext cx="10639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油膜</a:t>
              </a:r>
            </a:p>
          </p:txBody>
        </p:sp>
      </p:grpSp>
      <p:sp>
        <p:nvSpPr>
          <p:cNvPr id="5125" name="灯片编号占位符 1">
            <a:extLst>
              <a:ext uri="{FF2B5EF4-FFF2-40B4-BE49-F238E27FC236}">
                <a16:creationId xmlns:a16="http://schemas.microsoft.com/office/drawing/2014/main" id="{3F120156-FCF8-403A-A625-B107A2CF278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7D9F917-CB5C-41A4-886A-49005D1ADA08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pic>
        <p:nvPicPr>
          <p:cNvPr id="2060" name="Picture 12" descr="未标题-2">
            <a:extLst>
              <a:ext uri="{FF2B5EF4-FFF2-40B4-BE49-F238E27FC236}">
                <a16:creationId xmlns:a16="http://schemas.microsoft.com/office/drawing/2014/main" id="{A560521E-0CBC-444D-8D5A-9BFD69C97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38" y="4278313"/>
            <a:ext cx="4283075" cy="210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2" descr="https://timgsa.baidu.com/timg?image&amp;quality=80&amp;size=b9999_10000&amp;sec=1605496718936&amp;di=bcdb7a454e2d0bf1b38ee1bd8b251ad7&amp;imgtype=0&amp;src=http%3A%2F%2Fpic4.zhimg.com%2F50%2Fv2-ba695a8cebdf84c18eb5fd3ccb01e95c_hd.jpg">
            <a:extLst>
              <a:ext uri="{FF2B5EF4-FFF2-40B4-BE49-F238E27FC236}">
                <a16:creationId xmlns:a16="http://schemas.microsoft.com/office/drawing/2014/main" id="{9A3C45C8-CE4B-4648-8EFD-0B4322B70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1000125"/>
            <a:ext cx="2640013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Oval 2">
            <a:extLst>
              <a:ext uri="{FF2B5EF4-FFF2-40B4-BE49-F238E27FC236}">
                <a16:creationId xmlns:a16="http://schemas.microsoft.com/office/drawing/2014/main" id="{B92D2A9B-6CA7-426A-A16A-1C7838B31C74}"/>
              </a:ext>
            </a:extLst>
          </p:cNvPr>
          <p:cNvSpPr>
            <a:spLocks noChangeArrowheads="1"/>
          </p:cNvSpPr>
          <p:nvPr/>
        </p:nvSpPr>
        <p:spPr bwMode="auto">
          <a:xfrm rot="20146147">
            <a:off x="5281613" y="2051398"/>
            <a:ext cx="1266825" cy="193675"/>
          </a:xfrm>
          <a:prstGeom prst="ellipse">
            <a:avLst/>
          </a:prstGeom>
          <a:solidFill>
            <a:srgbClr val="FFFF00">
              <a:alpha val="39999"/>
            </a:srgbClr>
          </a:solidFill>
          <a:ln w="9525">
            <a:solidFill>
              <a:srgbClr val="00CC99">
                <a:alpha val="50195"/>
              </a:srgbClr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72707" name="AutoShape 3">
            <a:extLst>
              <a:ext uri="{FF2B5EF4-FFF2-40B4-BE49-F238E27FC236}">
                <a16:creationId xmlns:a16="http://schemas.microsoft.com/office/drawing/2014/main" id="{DF4B0E3F-E316-4906-8CBC-50D79EECD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3597623"/>
            <a:ext cx="3240088" cy="865187"/>
          </a:xfrm>
          <a:prstGeom prst="flowChartManualInput">
            <a:avLst/>
          </a:prstGeom>
          <a:solidFill>
            <a:srgbClr val="00CC99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72708" name="Text Box 4">
            <a:extLst>
              <a:ext uri="{FF2B5EF4-FFF2-40B4-BE49-F238E27FC236}">
                <a16:creationId xmlns:a16="http://schemas.microsoft.com/office/drawing/2014/main" id="{50B1C8ED-E519-4616-B49C-A5032141B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57188"/>
            <a:ext cx="4464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一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</a:rPr>
              <a:t>等厚干涉</a:t>
            </a:r>
          </a:p>
        </p:txBody>
      </p:sp>
      <p:sp>
        <p:nvSpPr>
          <p:cNvPr id="72709" name="Line 5">
            <a:extLst>
              <a:ext uri="{FF2B5EF4-FFF2-40B4-BE49-F238E27FC236}">
                <a16:creationId xmlns:a16="http://schemas.microsoft.com/office/drawing/2014/main" id="{FDFC1EF5-AAE2-467A-8B39-6F91899035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2588" y="3691285"/>
            <a:ext cx="3175" cy="8080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0" name="Line 6">
            <a:extLst>
              <a:ext uri="{FF2B5EF4-FFF2-40B4-BE49-F238E27FC236}">
                <a16:creationId xmlns:a16="http://schemas.microsoft.com/office/drawing/2014/main" id="{B0B71EE5-AE5F-4BB1-9AE4-5E82BF8FD3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2613" y="2262535"/>
            <a:ext cx="674687" cy="14224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1" name="Line 7">
            <a:extLst>
              <a:ext uri="{FF2B5EF4-FFF2-40B4-BE49-F238E27FC236}">
                <a16:creationId xmlns:a16="http://schemas.microsoft.com/office/drawing/2014/main" id="{9C30439B-5253-415E-8E1A-C3887C7BA3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43725" y="2364135"/>
            <a:ext cx="984250" cy="130175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2" name="Line 8">
            <a:extLst>
              <a:ext uri="{FF2B5EF4-FFF2-40B4-BE49-F238E27FC236}">
                <a16:creationId xmlns:a16="http://schemas.microsoft.com/office/drawing/2014/main" id="{771326D8-238C-45D9-B830-A7B58D6A88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2275" y="3705573"/>
            <a:ext cx="1108075" cy="31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4" name="Rectangle 10">
            <a:extLst>
              <a:ext uri="{FF2B5EF4-FFF2-40B4-BE49-F238E27FC236}">
                <a16:creationId xmlns:a16="http://schemas.microsoft.com/office/drawing/2014/main" id="{C26806E1-C78F-4B54-8ABB-E34F9135E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88" y="1956148"/>
            <a:ext cx="13081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反射光</a:t>
            </a:r>
            <a:r>
              <a:rPr lang="en-US" altLang="zh-CN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endParaRPr lang="en-US" altLang="zh-CN" sz="20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2715" name="Rectangle 11">
            <a:extLst>
              <a:ext uri="{FF2B5EF4-FFF2-40B4-BE49-F238E27FC236}">
                <a16:creationId xmlns:a16="http://schemas.microsoft.com/office/drawing/2014/main" id="{2E75A047-F7A6-49F5-BDF3-ED1D0DB1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1450" y="1964085"/>
            <a:ext cx="12446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反射光</a:t>
            </a:r>
            <a:r>
              <a:rPr lang="en-US" altLang="zh-CN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endParaRPr lang="en-US" altLang="zh-CN" sz="20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2716" name="Line 12">
            <a:extLst>
              <a:ext uri="{FF2B5EF4-FFF2-40B4-BE49-F238E27FC236}">
                <a16:creationId xmlns:a16="http://schemas.microsoft.com/office/drawing/2014/main" id="{8D34DC2F-6FB3-4E3B-B032-1E6878108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7550" y="2365723"/>
            <a:ext cx="739775" cy="1389062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7" name="Line 13">
            <a:extLst>
              <a:ext uri="{FF2B5EF4-FFF2-40B4-BE49-F238E27FC236}">
                <a16:creationId xmlns:a16="http://schemas.microsoft.com/office/drawing/2014/main" id="{A0E55AC2-5477-4EB0-B81E-D199EF683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1450" y="3227735"/>
            <a:ext cx="0" cy="1127125"/>
          </a:xfrm>
          <a:prstGeom prst="line">
            <a:avLst/>
          </a:prstGeom>
          <a:noFill/>
          <a:ln w="22225">
            <a:solidFill>
              <a:srgbClr val="00FF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2718" name="Line 14">
            <a:extLst>
              <a:ext uri="{FF2B5EF4-FFF2-40B4-BE49-F238E27FC236}">
                <a16:creationId xmlns:a16="http://schemas.microsoft.com/office/drawing/2014/main" id="{BE78D470-576E-46F7-A07B-502EC6452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2121248"/>
            <a:ext cx="779463" cy="1554162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9" name="Text Box 15">
            <a:extLst>
              <a:ext uri="{FF2B5EF4-FFF2-40B4-BE49-F238E27FC236}">
                <a16:creationId xmlns:a16="http://schemas.microsoft.com/office/drawing/2014/main" id="{36557F92-4747-4D12-B557-629EFAF24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4813" y="1268760"/>
            <a:ext cx="6889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4800" b="0">
                <a:solidFill>
                  <a:srgbClr val="FFFF66"/>
                </a:solidFill>
              </a:rPr>
              <a:t>·</a:t>
            </a:r>
          </a:p>
        </p:txBody>
      </p:sp>
      <p:sp>
        <p:nvSpPr>
          <p:cNvPr id="72720" name="Line 16">
            <a:extLst>
              <a:ext uri="{FF2B5EF4-FFF2-40B4-BE49-F238E27FC236}">
                <a16:creationId xmlns:a16="http://schemas.microsoft.com/office/drawing/2014/main" id="{F7C09B0B-21A4-4162-B6C4-2BB9ECFC27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1695798"/>
            <a:ext cx="82550" cy="490537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1" name="Line 17">
            <a:extLst>
              <a:ext uri="{FF2B5EF4-FFF2-40B4-BE49-F238E27FC236}">
                <a16:creationId xmlns:a16="http://schemas.microsoft.com/office/drawing/2014/main" id="{8AD808A6-4CB9-40CE-A16C-68235423B3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1691035"/>
            <a:ext cx="419100" cy="312738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2" name="Line 18">
            <a:extLst>
              <a:ext uri="{FF2B5EF4-FFF2-40B4-BE49-F238E27FC236}">
                <a16:creationId xmlns:a16="http://schemas.microsoft.com/office/drawing/2014/main" id="{9A3C105A-BAFE-437B-8B4A-D30A29EF1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4050" y="2186335"/>
            <a:ext cx="65088" cy="179388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3" name="Line 19">
            <a:extLst>
              <a:ext uri="{FF2B5EF4-FFF2-40B4-BE49-F238E27FC236}">
                <a16:creationId xmlns:a16="http://schemas.microsoft.com/office/drawing/2014/main" id="{01A74241-0DBC-454D-81C4-B9D3116A0F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4250" y="2002185"/>
            <a:ext cx="96838" cy="131763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4" name="Line 20">
            <a:extLst>
              <a:ext uri="{FF2B5EF4-FFF2-40B4-BE49-F238E27FC236}">
                <a16:creationId xmlns:a16="http://schemas.microsoft.com/office/drawing/2014/main" id="{205BD7CF-50EE-4114-A7AF-2D5219A425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4413" y="2914998"/>
            <a:ext cx="142875" cy="288925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5" name="Line 21">
            <a:extLst>
              <a:ext uri="{FF2B5EF4-FFF2-40B4-BE49-F238E27FC236}">
                <a16:creationId xmlns:a16="http://schemas.microsoft.com/office/drawing/2014/main" id="{B8407FB5-78A5-42AD-8132-D4F223CB1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9375" y="2670523"/>
            <a:ext cx="163513" cy="317500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6" name="Text Box 22">
            <a:extLst>
              <a:ext uri="{FF2B5EF4-FFF2-40B4-BE49-F238E27FC236}">
                <a16:creationId xmlns:a16="http://schemas.microsoft.com/office/drawing/2014/main" id="{DCDA401A-88CD-4B86-A2D4-7EE33E884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338" y="1343373"/>
            <a:ext cx="769937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rgbClr val="FFFF66"/>
                </a:solidFill>
              </a:rPr>
              <a:t>S</a:t>
            </a:r>
          </a:p>
        </p:txBody>
      </p:sp>
      <p:sp>
        <p:nvSpPr>
          <p:cNvPr id="72727" name="Text Box 23">
            <a:extLst>
              <a:ext uri="{FF2B5EF4-FFF2-40B4-BE49-F238E27FC236}">
                <a16:creationId xmlns:a16="http://schemas.microsoft.com/office/drawing/2014/main" id="{4515D08F-191C-4824-A0B5-F180C5FF4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2965798"/>
            <a:ext cx="458788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FFFF66"/>
                </a:solidFill>
              </a:rPr>
              <a:t>1</a:t>
            </a:r>
          </a:p>
        </p:txBody>
      </p:sp>
      <p:sp>
        <p:nvSpPr>
          <p:cNvPr id="72728" name="Text Box 24">
            <a:extLst>
              <a:ext uri="{FF2B5EF4-FFF2-40B4-BE49-F238E27FC236}">
                <a16:creationId xmlns:a16="http://schemas.microsoft.com/office/drawing/2014/main" id="{F90D7F5B-AB87-4D25-9387-29EA2BACB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2670523"/>
            <a:ext cx="625475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FFFF66"/>
                </a:solidFill>
              </a:rPr>
              <a:t>2</a:t>
            </a:r>
          </a:p>
        </p:txBody>
      </p:sp>
      <p:graphicFrame>
        <p:nvGraphicFramePr>
          <p:cNvPr id="72729" name="Object 25">
            <a:extLst>
              <a:ext uri="{FF2B5EF4-FFF2-40B4-BE49-F238E27FC236}">
                <a16:creationId xmlns:a16="http://schemas.microsoft.com/office/drawing/2014/main" id="{F9C5B2A0-D83E-4E42-9E52-CEAE62FE0C7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580063" y="3284885"/>
          <a:ext cx="3016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38" name="公式" r:id="rId3" imgW="266675" imgH="380864" progId="Equation.3">
                  <p:embed/>
                </p:oleObj>
              </mc:Choice>
              <mc:Fallback>
                <p:oleObj name="公式" r:id="rId3" imgW="266675" imgH="380864" progId="Equation.3">
                  <p:embed/>
                  <p:pic>
                    <p:nvPicPr>
                      <p:cNvPr id="72729" name="Object 25">
                        <a:extLst>
                          <a:ext uri="{FF2B5EF4-FFF2-40B4-BE49-F238E27FC236}">
                            <a16:creationId xmlns:a16="http://schemas.microsoft.com/office/drawing/2014/main" id="{F9C5B2A0-D83E-4E42-9E52-CEAE62FE0C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284885"/>
                        <a:ext cx="301625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0" name="Object 26">
            <a:extLst>
              <a:ext uri="{FF2B5EF4-FFF2-40B4-BE49-F238E27FC236}">
                <a16:creationId xmlns:a16="http://schemas.microsoft.com/office/drawing/2014/main" id="{A3AE180A-03F3-4917-AD12-0105847C32E4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592763" y="3846860"/>
          <a:ext cx="31591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39" name="公式" r:id="rId5" imgW="276155" imgH="380864" progId="Equation.3">
                  <p:embed/>
                </p:oleObj>
              </mc:Choice>
              <mc:Fallback>
                <p:oleObj name="公式" r:id="rId5" imgW="276155" imgH="380864" progId="Equation.3">
                  <p:embed/>
                  <p:pic>
                    <p:nvPicPr>
                      <p:cNvPr id="72730" name="Object 26">
                        <a:extLst>
                          <a:ext uri="{FF2B5EF4-FFF2-40B4-BE49-F238E27FC236}">
                            <a16:creationId xmlns:a16="http://schemas.microsoft.com/office/drawing/2014/main" id="{A3AE180A-03F3-4917-AD12-0105847C32E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2763" y="3846860"/>
                        <a:ext cx="315912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1" name="Object 27">
            <a:extLst>
              <a:ext uri="{FF2B5EF4-FFF2-40B4-BE49-F238E27FC236}">
                <a16:creationId xmlns:a16="http://schemas.microsoft.com/office/drawing/2014/main" id="{EE08A0CA-F99B-492E-9B44-3E5B7B8FF76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7646988" y="3896073"/>
          <a:ext cx="25241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40" name="公式" r:id="rId7" imgW="218967" imgH="276157" progId="Equation.3">
                  <p:embed/>
                </p:oleObj>
              </mc:Choice>
              <mc:Fallback>
                <p:oleObj name="公式" r:id="rId7" imgW="218967" imgH="276157" progId="Equation.3">
                  <p:embed/>
                  <p:pic>
                    <p:nvPicPr>
                      <p:cNvPr id="72731" name="Object 27">
                        <a:extLst>
                          <a:ext uri="{FF2B5EF4-FFF2-40B4-BE49-F238E27FC236}">
                            <a16:creationId xmlns:a16="http://schemas.microsoft.com/office/drawing/2014/main" id="{EE08A0CA-F99B-492E-9B44-3E5B7B8FF7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6988" y="3896073"/>
                        <a:ext cx="25241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2" name="Object 28">
            <a:extLst>
              <a:ext uri="{FF2B5EF4-FFF2-40B4-BE49-F238E27FC236}">
                <a16:creationId xmlns:a16="http://schemas.microsoft.com/office/drawing/2014/main" id="{3EDC4405-4A8A-4FF2-8A47-6A3D954469D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376988" y="2988023"/>
          <a:ext cx="139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41" name="公式" r:id="rId9" imgW="104896" imgH="257175" progId="Equation.3">
                  <p:embed/>
                </p:oleObj>
              </mc:Choice>
              <mc:Fallback>
                <p:oleObj name="公式" r:id="rId9" imgW="104896" imgH="257175" progId="Equation.3">
                  <p:embed/>
                  <p:pic>
                    <p:nvPicPr>
                      <p:cNvPr id="72732" name="Object 28">
                        <a:extLst>
                          <a:ext uri="{FF2B5EF4-FFF2-40B4-BE49-F238E27FC236}">
                            <a16:creationId xmlns:a16="http://schemas.microsoft.com/office/drawing/2014/main" id="{3EDC4405-4A8A-4FF2-8A47-6A3D954469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6988" y="2988023"/>
                        <a:ext cx="1397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3" name="Object 29">
            <a:extLst>
              <a:ext uri="{FF2B5EF4-FFF2-40B4-BE49-F238E27FC236}">
                <a16:creationId xmlns:a16="http://schemas.microsoft.com/office/drawing/2014/main" id="{448C6C90-4B81-40D3-8BF1-3E40544C0A7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516688" y="4172298"/>
          <a:ext cx="18415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42" name="公式" r:id="rId11" imgW="190525" imgH="266666" progId="Equation.3">
                  <p:embed/>
                </p:oleObj>
              </mc:Choice>
              <mc:Fallback>
                <p:oleObj name="公式" r:id="rId11" imgW="190525" imgH="266666" progId="Equation.3">
                  <p:embed/>
                  <p:pic>
                    <p:nvPicPr>
                      <p:cNvPr id="72733" name="Object 29">
                        <a:extLst>
                          <a:ext uri="{FF2B5EF4-FFF2-40B4-BE49-F238E27FC236}">
                            <a16:creationId xmlns:a16="http://schemas.microsoft.com/office/drawing/2014/main" id="{448C6C90-4B81-40D3-8BF1-3E40544C0A7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172298"/>
                        <a:ext cx="18415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34" name="Line 30">
            <a:extLst>
              <a:ext uri="{FF2B5EF4-FFF2-40B4-BE49-F238E27FC236}">
                <a16:creationId xmlns:a16="http://schemas.microsoft.com/office/drawing/2014/main" id="{FCA4BB78-64AD-4221-B3EE-3CB07754D5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8275" y="3510310"/>
            <a:ext cx="339725" cy="192088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2735" name="Object 31">
            <a:extLst>
              <a:ext uri="{FF2B5EF4-FFF2-40B4-BE49-F238E27FC236}">
                <a16:creationId xmlns:a16="http://schemas.microsoft.com/office/drawing/2014/main" id="{36955007-1FCF-4318-8292-00616D66FC24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292850" y="3707160"/>
          <a:ext cx="22383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43" name="公式" r:id="rId13" imgW="238233" imgH="266666" progId="Equation.3">
                  <p:embed/>
                </p:oleObj>
              </mc:Choice>
              <mc:Fallback>
                <p:oleObj name="公式" r:id="rId13" imgW="238233" imgH="266666" progId="Equation.3">
                  <p:embed/>
                  <p:pic>
                    <p:nvPicPr>
                      <p:cNvPr id="72735" name="Object 31">
                        <a:extLst>
                          <a:ext uri="{FF2B5EF4-FFF2-40B4-BE49-F238E27FC236}">
                            <a16:creationId xmlns:a16="http://schemas.microsoft.com/office/drawing/2014/main" id="{36955007-1FCF-4318-8292-00616D66FC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850" y="3707160"/>
                        <a:ext cx="22383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6" name="Object 32">
            <a:extLst>
              <a:ext uri="{FF2B5EF4-FFF2-40B4-BE49-F238E27FC236}">
                <a16:creationId xmlns:a16="http://schemas.microsoft.com/office/drawing/2014/main" id="{10D6B410-7171-43A2-8C90-9DAA8E83738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619875" y="4540598"/>
          <a:ext cx="223838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44" name="公式" r:id="rId15" imgW="238233" imgH="257175" progId="Equation.3">
                  <p:embed/>
                </p:oleObj>
              </mc:Choice>
              <mc:Fallback>
                <p:oleObj name="公式" r:id="rId15" imgW="238233" imgH="257175" progId="Equation.3">
                  <p:embed/>
                  <p:pic>
                    <p:nvPicPr>
                      <p:cNvPr id="72736" name="Object 32">
                        <a:extLst>
                          <a:ext uri="{FF2B5EF4-FFF2-40B4-BE49-F238E27FC236}">
                            <a16:creationId xmlns:a16="http://schemas.microsoft.com/office/drawing/2014/main" id="{10D6B410-7171-43A2-8C90-9DAA8E8373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75" y="4540598"/>
                        <a:ext cx="223838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7" name="Object 33">
            <a:extLst>
              <a:ext uri="{FF2B5EF4-FFF2-40B4-BE49-F238E27FC236}">
                <a16:creationId xmlns:a16="http://schemas.microsoft.com/office/drawing/2014/main" id="{693A1B41-1107-4F83-AC5C-2C395EF2526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962775" y="3691285"/>
          <a:ext cx="2762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45" name="公式" r:id="rId17" imgW="238233" imgH="276157" progId="Equation.3">
                  <p:embed/>
                </p:oleObj>
              </mc:Choice>
              <mc:Fallback>
                <p:oleObj name="公式" r:id="rId17" imgW="238233" imgH="276157" progId="Equation.3">
                  <p:embed/>
                  <p:pic>
                    <p:nvPicPr>
                      <p:cNvPr id="72737" name="Object 33">
                        <a:extLst>
                          <a:ext uri="{FF2B5EF4-FFF2-40B4-BE49-F238E27FC236}">
                            <a16:creationId xmlns:a16="http://schemas.microsoft.com/office/drawing/2014/main" id="{693A1B41-1107-4F83-AC5C-2C395EF252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2775" y="3691285"/>
                        <a:ext cx="276225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8" name="Object 34">
            <a:extLst>
              <a:ext uri="{FF2B5EF4-FFF2-40B4-BE49-F238E27FC236}">
                <a16:creationId xmlns:a16="http://schemas.microsoft.com/office/drawing/2014/main" id="{EDF49F33-312D-409F-8FBB-6B157FDAE47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804025" y="3240435"/>
          <a:ext cx="25558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46" name="公式" r:id="rId19" imgW="276155" imgH="257175" progId="Equation.3">
                  <p:embed/>
                </p:oleObj>
              </mc:Choice>
              <mc:Fallback>
                <p:oleObj name="公式" r:id="rId19" imgW="276155" imgH="257175" progId="Equation.3">
                  <p:embed/>
                  <p:pic>
                    <p:nvPicPr>
                      <p:cNvPr id="72738" name="Object 34">
                        <a:extLst>
                          <a:ext uri="{FF2B5EF4-FFF2-40B4-BE49-F238E27FC236}">
                            <a16:creationId xmlns:a16="http://schemas.microsoft.com/office/drawing/2014/main" id="{EDF49F33-312D-409F-8FBB-6B157FDAE47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3240435"/>
                        <a:ext cx="25558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9" name="Object 35">
            <a:extLst>
              <a:ext uri="{FF2B5EF4-FFF2-40B4-BE49-F238E27FC236}">
                <a16:creationId xmlns:a16="http://schemas.microsoft.com/office/drawing/2014/main" id="{7B850923-2C24-4C43-A2CC-A40ED01DAE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5563" y="2928938"/>
          <a:ext cx="3317875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47" name="公式" r:id="rId21" imgW="1704943" imgH="619057" progId="Equation.3">
                  <p:embed/>
                </p:oleObj>
              </mc:Choice>
              <mc:Fallback>
                <p:oleObj name="公式" r:id="rId21" imgW="1704943" imgH="619057" progId="Equation.3">
                  <p:embed/>
                  <p:pic>
                    <p:nvPicPr>
                      <p:cNvPr id="72739" name="Object 35">
                        <a:extLst>
                          <a:ext uri="{FF2B5EF4-FFF2-40B4-BE49-F238E27FC236}">
                            <a16:creationId xmlns:a16="http://schemas.microsoft.com/office/drawing/2014/main" id="{7B850923-2C24-4C43-A2CC-A40ED01DAE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2928938"/>
                        <a:ext cx="3317875" cy="125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40" name="Object 36">
            <a:extLst>
              <a:ext uri="{FF2B5EF4-FFF2-40B4-BE49-F238E27FC236}">
                <a16:creationId xmlns:a16="http://schemas.microsoft.com/office/drawing/2014/main" id="{379BA96A-C71B-4786-9EAB-0A9454642D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6288" y="5286375"/>
          <a:ext cx="23431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48" name="公式" r:id="rId23" imgW="2562155" imgH="485877" progId="Equation.3">
                  <p:embed/>
                </p:oleObj>
              </mc:Choice>
              <mc:Fallback>
                <p:oleObj name="公式" r:id="rId23" imgW="2562155" imgH="485877" progId="Equation.3">
                  <p:embed/>
                  <p:pic>
                    <p:nvPicPr>
                      <p:cNvPr id="72740" name="Object 36">
                        <a:extLst>
                          <a:ext uri="{FF2B5EF4-FFF2-40B4-BE49-F238E27FC236}">
                            <a16:creationId xmlns:a16="http://schemas.microsoft.com/office/drawing/2014/main" id="{379BA96A-C71B-4786-9EAB-0A9454642D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288" y="5286375"/>
                        <a:ext cx="23431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42" name="Text Box 38">
            <a:extLst>
              <a:ext uri="{FF2B5EF4-FFF2-40B4-BE49-F238E27FC236}">
                <a16:creationId xmlns:a16="http://schemas.microsoft.com/office/drawing/2014/main" id="{FF7C32FF-39C6-4AEA-B843-A2684F370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857250"/>
            <a:ext cx="3357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两条光线的光程差 </a:t>
            </a:r>
          </a:p>
        </p:txBody>
      </p:sp>
      <p:sp>
        <p:nvSpPr>
          <p:cNvPr id="72743" name="Text Box 39">
            <a:extLst>
              <a:ext uri="{FF2B5EF4-FFF2-40B4-BE49-F238E27FC236}">
                <a16:creationId xmlns:a16="http://schemas.microsoft.com/office/drawing/2014/main" id="{D861F279-3CBC-4B2E-8AE3-BC92712BF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025" y="211455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因为</a:t>
            </a:r>
          </a:p>
        </p:txBody>
      </p:sp>
      <p:sp>
        <p:nvSpPr>
          <p:cNvPr id="72744" name="AutoShape 40">
            <a:extLst>
              <a:ext uri="{FF2B5EF4-FFF2-40B4-BE49-F238E27FC236}">
                <a16:creationId xmlns:a16="http://schemas.microsoft.com/office/drawing/2014/main" id="{FDFC6DFB-3ED2-42A4-B542-FBA1FFB28329}"/>
              </a:ext>
            </a:extLst>
          </p:cNvPr>
          <p:cNvSpPr>
            <a:spLocks/>
          </p:cNvSpPr>
          <p:nvPr/>
        </p:nvSpPr>
        <p:spPr bwMode="auto">
          <a:xfrm>
            <a:off x="981075" y="3209925"/>
            <a:ext cx="161925" cy="1719263"/>
          </a:xfrm>
          <a:prstGeom prst="leftBrace">
            <a:avLst>
              <a:gd name="adj1" fmla="val 147910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72745" name="Text Box 41">
            <a:extLst>
              <a:ext uri="{FF2B5EF4-FFF2-40B4-BE49-F238E27FC236}">
                <a16:creationId xmlns:a16="http://schemas.microsoft.com/office/drawing/2014/main" id="{F04F6A2A-75B2-4542-905E-03BE76BCE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5329238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光程差</a:t>
            </a:r>
          </a:p>
        </p:txBody>
      </p:sp>
      <p:graphicFrame>
        <p:nvGraphicFramePr>
          <p:cNvPr id="72746" name="Object 42">
            <a:extLst>
              <a:ext uri="{FF2B5EF4-FFF2-40B4-BE49-F238E27FC236}">
                <a16:creationId xmlns:a16="http://schemas.microsoft.com/office/drawing/2014/main" id="{98226A45-B4E2-4509-889F-B0929E74ECD0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1357313" y="4600575"/>
          <a:ext cx="183038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49" name="公式" r:id="rId25" imgW="2047767" imgH="380864" progId="Equation.3">
                  <p:embed/>
                </p:oleObj>
              </mc:Choice>
              <mc:Fallback>
                <p:oleObj name="公式" r:id="rId25" imgW="2047767" imgH="380864" progId="Equation.3">
                  <p:embed/>
                  <p:pic>
                    <p:nvPicPr>
                      <p:cNvPr id="72746" name="Object 42">
                        <a:extLst>
                          <a:ext uri="{FF2B5EF4-FFF2-40B4-BE49-F238E27FC236}">
                            <a16:creationId xmlns:a16="http://schemas.microsoft.com/office/drawing/2014/main" id="{98226A45-B4E2-4509-889F-B0929E74ECD0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4600575"/>
                        <a:ext cx="1830387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47" name="Object 43">
            <a:extLst>
              <a:ext uri="{FF2B5EF4-FFF2-40B4-BE49-F238E27FC236}">
                <a16:creationId xmlns:a16="http://schemas.microsoft.com/office/drawing/2014/main" id="{C0133B09-7313-4D89-B146-E19720998AE7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901700" y="1500188"/>
          <a:ext cx="31257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50" name="公式" r:id="rId27" imgW="3514782" imgH="380864" progId="Equation.3">
                  <p:embed/>
                </p:oleObj>
              </mc:Choice>
              <mc:Fallback>
                <p:oleObj name="公式" r:id="rId27" imgW="3514782" imgH="380864" progId="Equation.3">
                  <p:embed/>
                  <p:pic>
                    <p:nvPicPr>
                      <p:cNvPr id="72747" name="Object 43">
                        <a:extLst>
                          <a:ext uri="{FF2B5EF4-FFF2-40B4-BE49-F238E27FC236}">
                            <a16:creationId xmlns:a16="http://schemas.microsoft.com/office/drawing/2014/main" id="{C0133B09-7313-4D89-B146-E19720998AE7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1500188"/>
                        <a:ext cx="31257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48" name="Object 44">
            <a:extLst>
              <a:ext uri="{FF2B5EF4-FFF2-40B4-BE49-F238E27FC236}">
                <a16:creationId xmlns:a16="http://schemas.microsoft.com/office/drawing/2014/main" id="{E16C6064-0B32-4FC7-B06C-BE8183758BF8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982788" y="5391150"/>
          <a:ext cx="252253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51" name="公式" r:id="rId29" imgW="2628824" imgH="380864" progId="Equation.3">
                  <p:embed/>
                </p:oleObj>
              </mc:Choice>
              <mc:Fallback>
                <p:oleObj name="公式" r:id="rId29" imgW="2628824" imgH="380864" progId="Equation.3">
                  <p:embed/>
                  <p:pic>
                    <p:nvPicPr>
                      <p:cNvPr id="72748" name="Object 44">
                        <a:extLst>
                          <a:ext uri="{FF2B5EF4-FFF2-40B4-BE49-F238E27FC236}">
                            <a16:creationId xmlns:a16="http://schemas.microsoft.com/office/drawing/2014/main" id="{E16C6064-0B32-4FC7-B06C-BE8183758BF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788" y="5391150"/>
                        <a:ext cx="252253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49" name="Object 45">
            <a:extLst>
              <a:ext uri="{FF2B5EF4-FFF2-40B4-BE49-F238E27FC236}">
                <a16:creationId xmlns:a16="http://schemas.microsoft.com/office/drawing/2014/main" id="{321E8503-378A-4B12-BCE4-29378A5ED3EB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070725" y="5286375"/>
          <a:ext cx="157321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52" name="公式" r:id="rId31" imgW="1628794" imgH="380864" progId="Equation.3">
                  <p:embed/>
                </p:oleObj>
              </mc:Choice>
              <mc:Fallback>
                <p:oleObj name="公式" r:id="rId31" imgW="1628794" imgH="380864" progId="Equation.3">
                  <p:embed/>
                  <p:pic>
                    <p:nvPicPr>
                      <p:cNvPr id="72749" name="Object 45">
                        <a:extLst>
                          <a:ext uri="{FF2B5EF4-FFF2-40B4-BE49-F238E27FC236}">
                            <a16:creationId xmlns:a16="http://schemas.microsoft.com/office/drawing/2014/main" id="{321E8503-378A-4B12-BCE4-29378A5ED3E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0725" y="5286375"/>
                        <a:ext cx="157321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50" name="Line 46">
            <a:extLst>
              <a:ext uri="{FF2B5EF4-FFF2-40B4-BE49-F238E27FC236}">
                <a16:creationId xmlns:a16="http://schemas.microsoft.com/office/drawing/2014/main" id="{29147DC6-5AF4-487B-BEA4-89F7D34240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6688" y="3707160"/>
            <a:ext cx="215900" cy="720725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1" name="Line 47">
            <a:extLst>
              <a:ext uri="{FF2B5EF4-FFF2-40B4-BE49-F238E27FC236}">
                <a16:creationId xmlns:a16="http://schemas.microsoft.com/office/drawing/2014/main" id="{0498C6D5-FA44-4F8B-B56E-F6F30FC70D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92725" y="3616673"/>
            <a:ext cx="3240088" cy="144462"/>
          </a:xfrm>
          <a:prstGeom prst="line">
            <a:avLst/>
          </a:prstGeom>
          <a:noFill/>
          <a:ln w="38100">
            <a:solidFill>
              <a:srgbClr val="00CC99">
                <a:alpha val="5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2" name="Line 48">
            <a:extLst>
              <a:ext uri="{FF2B5EF4-FFF2-40B4-BE49-F238E27FC236}">
                <a16:creationId xmlns:a16="http://schemas.microsoft.com/office/drawing/2014/main" id="{1BD58545-03F8-421A-BDEA-ECFD8E8621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4427885"/>
            <a:ext cx="3240088" cy="0"/>
          </a:xfrm>
          <a:prstGeom prst="line">
            <a:avLst/>
          </a:prstGeom>
          <a:noFill/>
          <a:ln w="38100">
            <a:solidFill>
              <a:srgbClr val="00CC99">
                <a:alpha val="5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3" name="Line 49">
            <a:extLst>
              <a:ext uri="{FF2B5EF4-FFF2-40B4-BE49-F238E27FC236}">
                <a16:creationId xmlns:a16="http://schemas.microsoft.com/office/drawing/2014/main" id="{BFDCE309-AFCC-4AA9-B234-33EFB94B47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42113" y="3669060"/>
            <a:ext cx="187325" cy="758825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4" name="Freeform 50">
            <a:extLst>
              <a:ext uri="{FF2B5EF4-FFF2-40B4-BE49-F238E27FC236}">
                <a16:creationId xmlns:a16="http://schemas.microsoft.com/office/drawing/2014/main" id="{38D17F53-700C-4F01-8CF0-6123B432D2DE}"/>
              </a:ext>
            </a:extLst>
          </p:cNvPr>
          <p:cNvSpPr>
            <a:spLocks/>
          </p:cNvSpPr>
          <p:nvPr/>
        </p:nvSpPr>
        <p:spPr bwMode="auto">
          <a:xfrm rot="14338195">
            <a:off x="6646069" y="3380929"/>
            <a:ext cx="177800" cy="179388"/>
          </a:xfrm>
          <a:custGeom>
            <a:avLst/>
            <a:gdLst>
              <a:gd name="T0" fmla="*/ 0 w 232"/>
              <a:gd name="T1" fmla="*/ 2147483646 h 232"/>
              <a:gd name="T2" fmla="*/ 2147483646 w 232"/>
              <a:gd name="T3" fmla="*/ 2147483646 h 232"/>
              <a:gd name="T4" fmla="*/ 2147483646 w 232"/>
              <a:gd name="T5" fmla="*/ 2147483646 h 232"/>
              <a:gd name="T6" fmla="*/ 0 60000 65536"/>
              <a:gd name="T7" fmla="*/ 0 60000 65536"/>
              <a:gd name="T8" fmla="*/ 0 60000 65536"/>
              <a:gd name="T9" fmla="*/ 0 w 232"/>
              <a:gd name="T10" fmla="*/ 0 h 232"/>
              <a:gd name="T11" fmla="*/ 232 w 232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232">
                <a:moveTo>
                  <a:pt x="0" y="28"/>
                </a:moveTo>
                <a:cubicBezTo>
                  <a:pt x="14" y="27"/>
                  <a:pt x="191" y="0"/>
                  <a:pt x="216" y="28"/>
                </a:cubicBezTo>
                <a:cubicBezTo>
                  <a:pt x="232" y="45"/>
                  <a:pt x="228" y="208"/>
                  <a:pt x="228" y="232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55" name="Freeform 51">
            <a:extLst>
              <a:ext uri="{FF2B5EF4-FFF2-40B4-BE49-F238E27FC236}">
                <a16:creationId xmlns:a16="http://schemas.microsoft.com/office/drawing/2014/main" id="{73D82772-889A-4E8B-9003-619E07E34077}"/>
              </a:ext>
            </a:extLst>
          </p:cNvPr>
          <p:cNvSpPr>
            <a:spLocks/>
          </p:cNvSpPr>
          <p:nvPr/>
        </p:nvSpPr>
        <p:spPr bwMode="auto">
          <a:xfrm>
            <a:off x="6362700" y="3359498"/>
            <a:ext cx="144463" cy="20637"/>
          </a:xfrm>
          <a:custGeom>
            <a:avLst/>
            <a:gdLst>
              <a:gd name="T0" fmla="*/ 0 w 91"/>
              <a:gd name="T1" fmla="*/ 2147483646 h 13"/>
              <a:gd name="T2" fmla="*/ 2147483646 w 91"/>
              <a:gd name="T3" fmla="*/ 0 h 13"/>
              <a:gd name="T4" fmla="*/ 2147483646 w 91"/>
              <a:gd name="T5" fmla="*/ 2147483646 h 13"/>
              <a:gd name="T6" fmla="*/ 0 60000 65536"/>
              <a:gd name="T7" fmla="*/ 0 60000 65536"/>
              <a:gd name="T8" fmla="*/ 0 60000 65536"/>
              <a:gd name="T9" fmla="*/ 0 w 91"/>
              <a:gd name="T10" fmla="*/ 0 h 13"/>
              <a:gd name="T11" fmla="*/ 91 w 91"/>
              <a:gd name="T12" fmla="*/ 13 h 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" h="13">
                <a:moveTo>
                  <a:pt x="0" y="13"/>
                </a:moveTo>
                <a:cubicBezTo>
                  <a:pt x="7" y="11"/>
                  <a:pt x="27" y="0"/>
                  <a:pt x="42" y="0"/>
                </a:cubicBezTo>
                <a:cubicBezTo>
                  <a:pt x="57" y="0"/>
                  <a:pt x="81" y="10"/>
                  <a:pt x="91" y="13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56" name="Freeform 52">
            <a:extLst>
              <a:ext uri="{FF2B5EF4-FFF2-40B4-BE49-F238E27FC236}">
                <a16:creationId xmlns:a16="http://schemas.microsoft.com/office/drawing/2014/main" id="{D6887DF4-7454-4737-A9FD-AB98CDB2855F}"/>
              </a:ext>
            </a:extLst>
          </p:cNvPr>
          <p:cNvSpPr>
            <a:spLocks/>
          </p:cNvSpPr>
          <p:nvPr/>
        </p:nvSpPr>
        <p:spPr bwMode="auto">
          <a:xfrm>
            <a:off x="6529388" y="4102448"/>
            <a:ext cx="104775" cy="23812"/>
          </a:xfrm>
          <a:custGeom>
            <a:avLst/>
            <a:gdLst>
              <a:gd name="T0" fmla="*/ 0 w 66"/>
              <a:gd name="T1" fmla="*/ 2147483646 h 15"/>
              <a:gd name="T2" fmla="*/ 2147483646 w 66"/>
              <a:gd name="T3" fmla="*/ 2147483646 h 15"/>
              <a:gd name="T4" fmla="*/ 2147483646 w 66"/>
              <a:gd name="T5" fmla="*/ 0 h 15"/>
              <a:gd name="T6" fmla="*/ 0 60000 65536"/>
              <a:gd name="T7" fmla="*/ 0 60000 65536"/>
              <a:gd name="T8" fmla="*/ 0 60000 65536"/>
              <a:gd name="T9" fmla="*/ 0 w 66"/>
              <a:gd name="T10" fmla="*/ 0 h 15"/>
              <a:gd name="T11" fmla="*/ 66 w 66"/>
              <a:gd name="T12" fmla="*/ 15 h 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6" h="15">
                <a:moveTo>
                  <a:pt x="0" y="3"/>
                </a:moveTo>
                <a:cubicBezTo>
                  <a:pt x="5" y="5"/>
                  <a:pt x="19" y="15"/>
                  <a:pt x="30" y="15"/>
                </a:cubicBezTo>
                <a:cubicBezTo>
                  <a:pt x="41" y="15"/>
                  <a:pt x="59" y="3"/>
                  <a:pt x="66" y="0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2757" name="Object 53">
            <a:extLst>
              <a:ext uri="{FF2B5EF4-FFF2-40B4-BE49-F238E27FC236}">
                <a16:creationId xmlns:a16="http://schemas.microsoft.com/office/drawing/2014/main" id="{FFE70863-AC5D-4534-B3A2-A522DF3E517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626100" y="4416773"/>
          <a:ext cx="3016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53" name="公式" r:id="rId33" imgW="266675" imgH="380864" progId="Equation.3">
                  <p:embed/>
                </p:oleObj>
              </mc:Choice>
              <mc:Fallback>
                <p:oleObj name="公式" r:id="rId33" imgW="266675" imgH="380864" progId="Equation.3">
                  <p:embed/>
                  <p:pic>
                    <p:nvPicPr>
                      <p:cNvPr id="72757" name="Object 53">
                        <a:extLst>
                          <a:ext uri="{FF2B5EF4-FFF2-40B4-BE49-F238E27FC236}">
                            <a16:creationId xmlns:a16="http://schemas.microsoft.com/office/drawing/2014/main" id="{FFE70863-AC5D-4534-B3A2-A522DF3E517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4416773"/>
                        <a:ext cx="3016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6">
            <a:extLst>
              <a:ext uri="{FF2B5EF4-FFF2-40B4-BE49-F238E27FC236}">
                <a16:creationId xmlns:a16="http://schemas.microsoft.com/office/drawing/2014/main" id="{7EF8D3C7-F98A-4F6C-8CE0-692F88A8B830}"/>
              </a:ext>
            </a:extLst>
          </p:cNvPr>
          <p:cNvGrpSpPr>
            <a:grpSpLocks/>
          </p:cNvGrpSpPr>
          <p:nvPr/>
        </p:nvGrpSpPr>
        <p:grpSpPr bwMode="auto">
          <a:xfrm>
            <a:off x="1673225" y="2147888"/>
            <a:ext cx="2755900" cy="781050"/>
            <a:chOff x="1008" y="1920"/>
            <a:chExt cx="1736" cy="492"/>
          </a:xfrm>
        </p:grpSpPr>
        <p:sp>
          <p:nvSpPr>
            <p:cNvPr id="62521" name="Text Box 57">
              <a:extLst>
                <a:ext uri="{FF2B5EF4-FFF2-40B4-BE49-F238E27FC236}">
                  <a16:creationId xmlns:a16="http://schemas.microsoft.com/office/drawing/2014/main" id="{F5CBBB93-02FB-4F67-B438-D224B6F8A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920"/>
              <a:ext cx="1736" cy="252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kumimoji="0" lang="zh-CN" altLang="en-US" sz="2000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薄膜，</a:t>
              </a:r>
              <a:r>
                <a:rPr kumimoji="0" lang="en-US" altLang="zh-CN" sz="2000" dirty="0">
                  <a:solidFill>
                    <a:srgbClr val="FFFF00"/>
                  </a:solidFill>
                  <a:latin typeface="+mn-lt"/>
                  <a:ea typeface="楷体_GB2312" pitchFamily="49" charset="-122"/>
                </a:rPr>
                <a:t>A</a:t>
              </a:r>
              <a:r>
                <a:rPr kumimoji="0" lang="zh-CN" altLang="en-US" sz="2000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点和</a:t>
              </a:r>
              <a:r>
                <a:rPr kumimoji="0" lang="en-US" altLang="zh-CN" sz="2000" dirty="0">
                  <a:solidFill>
                    <a:srgbClr val="FFFF00"/>
                  </a:solidFill>
                  <a:latin typeface="+mn-lt"/>
                  <a:ea typeface="楷体_GB2312" pitchFamily="49" charset="-122"/>
                </a:rPr>
                <a:t>C</a:t>
              </a:r>
              <a:r>
                <a:rPr kumimoji="0" lang="zh-CN" altLang="en-US" sz="2000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点很近</a:t>
              </a:r>
            </a:p>
          </p:txBody>
        </p:sp>
        <p:sp>
          <p:nvSpPr>
            <p:cNvPr id="6205" name="Line 58">
              <a:extLst>
                <a:ext uri="{FF2B5EF4-FFF2-40B4-BE49-F238E27FC236}">
                  <a16:creationId xmlns:a16="http://schemas.microsoft.com/office/drawing/2014/main" id="{CA3C3D57-847A-4D7C-9DE0-9F55891212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14" y="2160"/>
              <a:ext cx="178" cy="252"/>
            </a:xfrm>
            <a:prstGeom prst="line">
              <a:avLst/>
            </a:prstGeom>
            <a:noFill/>
            <a:ln w="38100" cmpd="dbl">
              <a:solidFill>
                <a:srgbClr val="FF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763" name="Text Box 59">
            <a:extLst>
              <a:ext uri="{FF2B5EF4-FFF2-40B4-BE49-F238E27FC236}">
                <a16:creationId xmlns:a16="http://schemas.microsoft.com/office/drawing/2014/main" id="{CC808539-0DC1-4E27-B300-92CE51F3F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4600575"/>
            <a:ext cx="1285875" cy="40005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>
                <a:solidFill>
                  <a:schemeClr val="bg1"/>
                </a:solidFill>
              </a:rPr>
              <a:t>折射定律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DC72F941-2B1D-4368-89D6-2BE2D4DDC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6038850"/>
            <a:ext cx="3000375" cy="46196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不论</a:t>
            </a:r>
            <a:r>
              <a:rPr kumimoji="0" lang="zh-CN" altLang="en-US" i="1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kumimoji="0" lang="en-US" altLang="zh-CN" i="1">
                <a:solidFill>
                  <a:srgbClr val="FFFF00"/>
                </a:solidFill>
                <a:ea typeface="楷体_GB2312" pitchFamily="49" charset="-122"/>
              </a:rPr>
              <a:t>n</a:t>
            </a:r>
            <a:r>
              <a:rPr kumimoji="0" lang="en-US" altLang="zh-CN" baseline="-2500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kumimoji="0" lang="en-US" altLang="zh-CN" i="1" baseline="-25000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kumimoji="0" lang="zh-CN" altLang="en-US" i="1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kumimoji="0" lang="en-US" altLang="zh-CN" i="1">
                <a:solidFill>
                  <a:srgbClr val="FFFF00"/>
                </a:solidFill>
                <a:ea typeface="楷体_GB2312" pitchFamily="49" charset="-122"/>
              </a:rPr>
              <a:t>n</a:t>
            </a:r>
            <a:r>
              <a:rPr kumimoji="0" lang="en-US" altLang="zh-CN" baseline="-2500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的大小</a:t>
            </a:r>
          </a:p>
        </p:txBody>
      </p:sp>
      <p:sp>
        <p:nvSpPr>
          <p:cNvPr id="62" name="右箭头 61">
            <a:extLst>
              <a:ext uri="{FF2B5EF4-FFF2-40B4-BE49-F238E27FC236}">
                <a16:creationId xmlns:a16="http://schemas.microsoft.com/office/drawing/2014/main" id="{8FE9C66E-9BCE-4093-9E3A-C67DD6AE1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143625"/>
            <a:ext cx="1071563" cy="28575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D07616F-F24B-462E-84EC-DB8062784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6038850"/>
            <a:ext cx="1643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半波损失</a:t>
            </a:r>
          </a:p>
        </p:txBody>
      </p:sp>
      <p:sp>
        <p:nvSpPr>
          <p:cNvPr id="64" name="五角星 63">
            <a:extLst>
              <a:ext uri="{FF2B5EF4-FFF2-40B4-BE49-F238E27FC236}">
                <a16:creationId xmlns:a16="http://schemas.microsoft.com/office/drawing/2014/main" id="{DE7E6901-01B0-45C3-966C-037BE4E2F11C}"/>
              </a:ext>
            </a:extLst>
          </p:cNvPr>
          <p:cNvSpPr/>
          <p:nvPr/>
        </p:nvSpPr>
        <p:spPr bwMode="auto">
          <a:xfrm>
            <a:off x="7358063" y="5857875"/>
            <a:ext cx="571500" cy="571500"/>
          </a:xfrm>
          <a:prstGeom prst="star5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202" name="灯片编号占位符 1">
            <a:extLst>
              <a:ext uri="{FF2B5EF4-FFF2-40B4-BE49-F238E27FC236}">
                <a16:creationId xmlns:a16="http://schemas.microsoft.com/office/drawing/2014/main" id="{2D9B1521-DBEA-4CB6-A954-02194532400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F63F2B1-1A69-45DC-AA5F-39D7FCED28E6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72713" name="Line 9">
            <a:extLst>
              <a:ext uri="{FF2B5EF4-FFF2-40B4-BE49-F238E27FC236}">
                <a16:creationId xmlns:a16="http://schemas.microsoft.com/office/drawing/2014/main" id="{EA343863-4680-4214-BA89-AC3999C6F4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51725" y="3705573"/>
            <a:ext cx="17463" cy="7588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2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7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7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7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7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7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7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7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7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7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7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7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7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7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6" dur="500"/>
                                        <p:tgtEl>
                                          <p:spTgt spid="72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7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nimBg="1"/>
      <p:bldP spid="72707" grpId="0" animBg="1"/>
      <p:bldP spid="72708" grpId="0" autoUpdateAnimBg="0"/>
      <p:bldP spid="72714" grpId="0" autoUpdateAnimBg="0"/>
      <p:bldP spid="72715" grpId="0" autoUpdateAnimBg="0"/>
      <p:bldP spid="72719" grpId="0" autoUpdateAnimBg="0"/>
      <p:bldP spid="72726" grpId="0" autoUpdateAnimBg="0"/>
      <p:bldP spid="72727" grpId="0" autoUpdateAnimBg="0"/>
      <p:bldP spid="72728" grpId="0" autoUpdateAnimBg="0"/>
      <p:bldP spid="72742" grpId="0" autoUpdateAnimBg="0"/>
      <p:bldP spid="72744" grpId="0" animBg="1"/>
      <p:bldP spid="72745" grpId="0" autoUpdateAnimBg="0"/>
      <p:bldP spid="72763" grpId="0" animBg="1" autoUpdateAnimBg="0"/>
      <p:bldP spid="61" grpId="0" animBg="1"/>
      <p:bldP spid="62" grpId="0" animBg="1"/>
      <p:bldP spid="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3">
            <a:extLst>
              <a:ext uri="{FF2B5EF4-FFF2-40B4-BE49-F238E27FC236}">
                <a16:creationId xmlns:a16="http://schemas.microsoft.com/office/drawing/2014/main" id="{007A0FA2-0EC0-4A64-B0C9-B16AC1B70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188" y="5500688"/>
            <a:ext cx="3214687" cy="928687"/>
          </a:xfrm>
          <a:prstGeom prst="flowChartManualInput">
            <a:avLst/>
          </a:prstGeom>
          <a:solidFill>
            <a:srgbClr val="00CC99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358403" name="Object 2">
            <a:extLst>
              <a:ext uri="{FF2B5EF4-FFF2-40B4-BE49-F238E27FC236}">
                <a16:creationId xmlns:a16="http://schemas.microsoft.com/office/drawing/2014/main" id="{7A066DA9-68E8-4D42-8329-F581294063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2428875"/>
          <a:ext cx="6927850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74" name="公式" r:id="rId3" imgW="3467075" imgH="799998" progId="Equation.3">
                  <p:embed/>
                </p:oleObj>
              </mc:Choice>
              <mc:Fallback>
                <p:oleObj name="公式" r:id="rId3" imgW="3467075" imgH="799998" progId="Equation.3">
                  <p:embed/>
                  <p:pic>
                    <p:nvPicPr>
                      <p:cNvPr id="358403" name="Object 2">
                        <a:extLst>
                          <a:ext uri="{FF2B5EF4-FFF2-40B4-BE49-F238E27FC236}">
                            <a16:creationId xmlns:a16="http://schemas.microsoft.com/office/drawing/2014/main" id="{7A066DA9-68E8-4D42-8329-F581294063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428875"/>
                        <a:ext cx="6927850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4" name="Object 3">
            <a:extLst>
              <a:ext uri="{FF2B5EF4-FFF2-40B4-BE49-F238E27FC236}">
                <a16:creationId xmlns:a16="http://schemas.microsoft.com/office/drawing/2014/main" id="{FD0FD39D-15D2-43A9-83A4-52EAAFE9E1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643563"/>
          <a:ext cx="13525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75" name="公式" r:id="rId5" imgW="1190555" imgH="352391" progId="Equation.3">
                  <p:embed/>
                </p:oleObj>
              </mc:Choice>
              <mc:Fallback>
                <p:oleObj name="公式" r:id="rId5" imgW="1190555" imgH="352391" progId="Equation.3">
                  <p:embed/>
                  <p:pic>
                    <p:nvPicPr>
                      <p:cNvPr id="358404" name="Object 3">
                        <a:extLst>
                          <a:ext uri="{FF2B5EF4-FFF2-40B4-BE49-F238E27FC236}">
                            <a16:creationId xmlns:a16="http://schemas.microsoft.com/office/drawing/2014/main" id="{FD0FD39D-15D2-43A9-83A4-52EAAFE9E1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643563"/>
                        <a:ext cx="13525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05" name="Text Box 5">
            <a:extLst>
              <a:ext uri="{FF2B5EF4-FFF2-40B4-BE49-F238E27FC236}">
                <a16:creationId xmlns:a16="http://schemas.microsoft.com/office/drawing/2014/main" id="{4065C362-6B0F-462B-808B-2ADAD672C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" y="4286250"/>
            <a:ext cx="2274888" cy="457200"/>
          </a:xfrm>
          <a:prstGeom prst="rect">
            <a:avLst/>
          </a:prstGeom>
          <a:solidFill>
            <a:srgbClr val="0000CC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光线垂直入射 </a:t>
            </a:r>
          </a:p>
        </p:txBody>
      </p:sp>
      <p:sp>
        <p:nvSpPr>
          <p:cNvPr id="358406" name="Line 6">
            <a:extLst>
              <a:ext uri="{FF2B5EF4-FFF2-40B4-BE49-F238E27FC236}">
                <a16:creationId xmlns:a16="http://schemas.microsoft.com/office/drawing/2014/main" id="{A65D8D28-CF49-49DA-9446-9D319D972B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3313" y="5500688"/>
            <a:ext cx="3500437" cy="214312"/>
          </a:xfrm>
          <a:prstGeom prst="line">
            <a:avLst/>
          </a:prstGeom>
          <a:noFill/>
          <a:ln w="38100">
            <a:solidFill>
              <a:srgbClr val="00CC99">
                <a:alpha val="5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07" name="Line 7">
            <a:extLst>
              <a:ext uri="{FF2B5EF4-FFF2-40B4-BE49-F238E27FC236}">
                <a16:creationId xmlns:a16="http://schemas.microsoft.com/office/drawing/2014/main" id="{C7B32767-0142-466E-9482-2E30C3BE7A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6429375"/>
            <a:ext cx="3433763" cy="0"/>
          </a:xfrm>
          <a:prstGeom prst="line">
            <a:avLst/>
          </a:prstGeom>
          <a:noFill/>
          <a:ln w="38100">
            <a:solidFill>
              <a:srgbClr val="00CC99">
                <a:alpha val="50980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08" name="Line 8">
            <a:extLst>
              <a:ext uri="{FF2B5EF4-FFF2-40B4-BE49-F238E27FC236}">
                <a16:creationId xmlns:a16="http://schemas.microsoft.com/office/drawing/2014/main" id="{EDBA6458-7A1B-4804-B04B-AB4013F07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2863" y="4643438"/>
            <a:ext cx="0" cy="936625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09" name="Line 9">
            <a:extLst>
              <a:ext uri="{FF2B5EF4-FFF2-40B4-BE49-F238E27FC236}">
                <a16:creationId xmlns:a16="http://schemas.microsoft.com/office/drawing/2014/main" id="{02140771-393C-476F-99F5-1D92CD2007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8588" y="4643438"/>
            <a:ext cx="0" cy="936625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10" name="Line 10">
            <a:extLst>
              <a:ext uri="{FF2B5EF4-FFF2-40B4-BE49-F238E27FC236}">
                <a16:creationId xmlns:a16="http://schemas.microsoft.com/office/drawing/2014/main" id="{65696C9B-5330-41A9-BD03-283BFEAA4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9213" y="5643563"/>
            <a:ext cx="0" cy="75565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11" name="Line 11">
            <a:extLst>
              <a:ext uri="{FF2B5EF4-FFF2-40B4-BE49-F238E27FC236}">
                <a16:creationId xmlns:a16="http://schemas.microsoft.com/office/drawing/2014/main" id="{F14A3316-C4E7-444B-B6FE-6BC85ECAE7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3825" y="5643563"/>
            <a:ext cx="0" cy="75565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12" name="Line 12">
            <a:extLst>
              <a:ext uri="{FF2B5EF4-FFF2-40B4-BE49-F238E27FC236}">
                <a16:creationId xmlns:a16="http://schemas.microsoft.com/office/drawing/2014/main" id="{40B629F6-8A7B-45BB-BC3C-30C716A9D2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6375" y="4643438"/>
            <a:ext cx="0" cy="936625"/>
          </a:xfrm>
          <a:prstGeom prst="line">
            <a:avLst/>
          </a:prstGeom>
          <a:noFill/>
          <a:ln w="28575">
            <a:solidFill>
              <a:srgbClr val="FFCC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13" name="Line 13">
            <a:extLst>
              <a:ext uri="{FF2B5EF4-FFF2-40B4-BE49-F238E27FC236}">
                <a16:creationId xmlns:a16="http://schemas.microsoft.com/office/drawing/2014/main" id="{DF3970CB-B9B2-45D0-AB82-86EDE81B5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7788" y="5643563"/>
            <a:ext cx="12192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58414" name="Object 4">
            <a:extLst>
              <a:ext uri="{FF2B5EF4-FFF2-40B4-BE49-F238E27FC236}">
                <a16:creationId xmlns:a16="http://schemas.microsoft.com/office/drawing/2014/main" id="{CB46A845-7102-4CB7-B70B-AEE75D5C65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57863" y="5891213"/>
          <a:ext cx="28733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76" name="公式" r:id="rId7" imgW="218967" imgH="276157" progId="Equation.3">
                  <p:embed/>
                </p:oleObj>
              </mc:Choice>
              <mc:Fallback>
                <p:oleObj name="公式" r:id="rId7" imgW="218967" imgH="276157" progId="Equation.3">
                  <p:embed/>
                  <p:pic>
                    <p:nvPicPr>
                      <p:cNvPr id="358414" name="Object 4">
                        <a:extLst>
                          <a:ext uri="{FF2B5EF4-FFF2-40B4-BE49-F238E27FC236}">
                            <a16:creationId xmlns:a16="http://schemas.microsoft.com/office/drawing/2014/main" id="{CB46A845-7102-4CB7-B70B-AEE75D5C65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863" y="5891213"/>
                        <a:ext cx="28733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15" name="Rectangle 15">
            <a:extLst>
              <a:ext uri="{FF2B5EF4-FFF2-40B4-BE49-F238E27FC236}">
                <a16:creationId xmlns:a16="http://schemas.microsoft.com/office/drawing/2014/main" id="{D1657331-2550-44BF-9CAD-1878C406D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4286250"/>
            <a:ext cx="12858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反射光</a:t>
            </a:r>
            <a:r>
              <a:rPr lang="en-US" altLang="zh-CN" sz="20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</a:p>
        </p:txBody>
      </p:sp>
      <p:sp>
        <p:nvSpPr>
          <p:cNvPr id="358416" name="Rectangle 16">
            <a:extLst>
              <a:ext uri="{FF2B5EF4-FFF2-40B4-BE49-F238E27FC236}">
                <a16:creationId xmlns:a16="http://schemas.microsoft.com/office/drawing/2014/main" id="{2733331D-63D5-4FAE-9B93-2EA1D26FB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088" y="4864100"/>
            <a:ext cx="1273175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rgbClr val="FFCC99"/>
                </a:solidFill>
                <a:latin typeface="楷体_GB2312" pitchFamily="49" charset="-122"/>
                <a:ea typeface="楷体_GB2312" pitchFamily="49" charset="-122"/>
              </a:rPr>
              <a:t>反射光</a:t>
            </a:r>
            <a:r>
              <a:rPr lang="en-US" altLang="zh-CN" sz="2000">
                <a:solidFill>
                  <a:srgbClr val="FFCC99"/>
                </a:solidFill>
                <a:latin typeface="楷体_GB2312" pitchFamily="49" charset="-122"/>
                <a:ea typeface="楷体_GB2312" pitchFamily="49" charset="-122"/>
              </a:rPr>
              <a:t>2</a:t>
            </a:r>
          </a:p>
        </p:txBody>
      </p:sp>
      <p:sp>
        <p:nvSpPr>
          <p:cNvPr id="358417" name="Rectangle 17">
            <a:extLst>
              <a:ext uri="{FF2B5EF4-FFF2-40B4-BE49-F238E27FC236}">
                <a16:creationId xmlns:a16="http://schemas.microsoft.com/office/drawing/2014/main" id="{81C3A29C-1238-4F35-A3F9-DB203BF99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4508500"/>
            <a:ext cx="10112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rgbClr val="FFFF66"/>
                </a:solidFill>
                <a:ea typeface="楷体_GB2312" pitchFamily="49" charset="-122"/>
              </a:rPr>
              <a:t>入射光</a:t>
            </a:r>
          </a:p>
        </p:txBody>
      </p:sp>
      <p:graphicFrame>
        <p:nvGraphicFramePr>
          <p:cNvPr id="358418" name="Object 5">
            <a:extLst>
              <a:ext uri="{FF2B5EF4-FFF2-40B4-BE49-F238E27FC236}">
                <a16:creationId xmlns:a16="http://schemas.microsoft.com/office/drawing/2014/main" id="{CC133E57-A484-454B-910D-36C7AA67D6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438" y="1500188"/>
          <a:ext cx="22844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77" name="公式" r:id="rId9" imgW="2504967" imgH="657327" progId="Equation.3">
                  <p:embed/>
                </p:oleObj>
              </mc:Choice>
              <mc:Fallback>
                <p:oleObj name="公式" r:id="rId9" imgW="2504967" imgH="657327" progId="Equation.3">
                  <p:embed/>
                  <p:pic>
                    <p:nvPicPr>
                      <p:cNvPr id="358418" name="Object 5">
                        <a:extLst>
                          <a:ext uri="{FF2B5EF4-FFF2-40B4-BE49-F238E27FC236}">
                            <a16:creationId xmlns:a16="http://schemas.microsoft.com/office/drawing/2014/main" id="{CC133E57-A484-454B-910D-36C7AA67D6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1500188"/>
                        <a:ext cx="2284412" cy="6286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19" name="Text Box 19">
            <a:extLst>
              <a:ext uri="{FF2B5EF4-FFF2-40B4-BE49-F238E27FC236}">
                <a16:creationId xmlns:a16="http://schemas.microsoft.com/office/drawing/2014/main" id="{82D23557-75BE-4630-B21A-F3A3870DB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642938"/>
            <a:ext cx="2786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考虑半波损失 </a:t>
            </a:r>
          </a:p>
        </p:txBody>
      </p:sp>
      <p:sp>
        <p:nvSpPr>
          <p:cNvPr id="358421" name="Text Box 21">
            <a:extLst>
              <a:ext uri="{FF2B5EF4-FFF2-40B4-BE49-F238E27FC236}">
                <a16:creationId xmlns:a16="http://schemas.microsoft.com/office/drawing/2014/main" id="{EC18FC30-4739-4351-95A7-26E57D47C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1571625"/>
            <a:ext cx="154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光程差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358422" name="Object 7">
            <a:extLst>
              <a:ext uri="{FF2B5EF4-FFF2-40B4-BE49-F238E27FC236}">
                <a16:creationId xmlns:a16="http://schemas.microsoft.com/office/drawing/2014/main" id="{E1D6D86B-AE42-49F7-82FE-01D8993B6089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4016375" y="5865813"/>
          <a:ext cx="34131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78" name="公式" r:id="rId11" imgW="304902" imgH="380864" progId="Equation.3">
                  <p:embed/>
                </p:oleObj>
              </mc:Choice>
              <mc:Fallback>
                <p:oleObj name="公式" r:id="rId11" imgW="304902" imgH="380864" progId="Equation.3">
                  <p:embed/>
                  <p:pic>
                    <p:nvPicPr>
                      <p:cNvPr id="358422" name="Object 7">
                        <a:extLst>
                          <a:ext uri="{FF2B5EF4-FFF2-40B4-BE49-F238E27FC236}">
                            <a16:creationId xmlns:a16="http://schemas.microsoft.com/office/drawing/2014/main" id="{E1D6D86B-AE42-49F7-82FE-01D8993B6089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75" y="5865813"/>
                        <a:ext cx="341313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0" name="灯片编号占位符 1">
            <a:extLst>
              <a:ext uri="{FF2B5EF4-FFF2-40B4-BE49-F238E27FC236}">
                <a16:creationId xmlns:a16="http://schemas.microsoft.com/office/drawing/2014/main" id="{551F25EC-1A52-4201-9AC1-42E051CEB33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986759C-D2EC-47BF-8365-6B55F00CC9AE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8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5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5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5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5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5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58405" grpId="0" animBg="1" autoUpdateAnimBg="0"/>
      <p:bldP spid="358415" grpId="0" autoUpdateAnimBg="0"/>
      <p:bldP spid="358416" grpId="0" autoUpdateAnimBg="0"/>
      <p:bldP spid="358417" grpId="0" autoUpdateAnimBg="0"/>
      <p:bldP spid="358419" grpId="0" autoUpdateAnimBg="0"/>
      <p:bldP spid="35842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8502E1B5-03FA-4660-BEF3-CF503A811C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701675"/>
          <a:ext cx="6777038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82" name="公式" r:id="rId3" imgW="3390925" imgH="799998" progId="Equation.3">
                  <p:embed/>
                </p:oleObj>
              </mc:Choice>
              <mc:Fallback>
                <p:oleObj name="公式" r:id="rId3" imgW="3390925" imgH="799998" progId="Equation.3">
                  <p:embed/>
                  <p:pic>
                    <p:nvPicPr>
                      <p:cNvPr id="10242" name="Object 2">
                        <a:extLst>
                          <a:ext uri="{FF2B5EF4-FFF2-40B4-BE49-F238E27FC236}">
                            <a16:creationId xmlns:a16="http://schemas.microsoft.com/office/drawing/2014/main" id="{8502E1B5-03FA-4660-BEF3-CF503A811C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701675"/>
                        <a:ext cx="6777038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Text Box 3">
            <a:extLst>
              <a:ext uri="{FF2B5EF4-FFF2-40B4-BE49-F238E27FC236}">
                <a16:creationId xmlns:a16="http://schemas.microsoft.com/office/drawing/2014/main" id="{1507FE9C-2B34-420C-9869-AF292A0FA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3403600"/>
            <a:ext cx="769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同一级条纹对应相同的厚度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d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华文楷体" panose="02010600040101010101" pitchFamily="2" charset="-122"/>
                <a:ea typeface="楷体_GB2312" pitchFamily="49" charset="-122"/>
              </a:rPr>
              <a:t>—— </a:t>
            </a:r>
            <a:r>
              <a:rPr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等厚干涉条纹</a:t>
            </a: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2E993287-B14B-410C-B952-40EE8330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3979863"/>
            <a:ext cx="803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(3)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两相邻明条纹（或暗条纹）对应的</a:t>
            </a:r>
            <a:r>
              <a:rPr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薄膜厚度差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都等于 </a:t>
            </a:r>
          </a:p>
        </p:txBody>
      </p:sp>
      <p:graphicFrame>
        <p:nvGraphicFramePr>
          <p:cNvPr id="10245" name="Object 3">
            <a:extLst>
              <a:ext uri="{FF2B5EF4-FFF2-40B4-BE49-F238E27FC236}">
                <a16:creationId xmlns:a16="http://schemas.microsoft.com/office/drawing/2014/main" id="{F6456432-8A89-4DAA-B92B-A63D295DC9BF}"/>
              </a:ext>
            </a:extLst>
          </p:cNvPr>
          <p:cNvGraphicFramePr>
            <a:graphicFrameLocks/>
          </p:cNvGraphicFramePr>
          <p:nvPr/>
        </p:nvGraphicFramePr>
        <p:xfrm>
          <a:off x="3182938" y="4478338"/>
          <a:ext cx="19304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83" name="公式" r:id="rId5" imgW="2104955" imgH="876232" progId="Equation.3">
                  <p:embed/>
                </p:oleObj>
              </mc:Choice>
              <mc:Fallback>
                <p:oleObj name="公式" r:id="rId5" imgW="2104955" imgH="876232" progId="Equation.3">
                  <p:embed/>
                  <p:pic>
                    <p:nvPicPr>
                      <p:cNvPr id="10245" name="Object 3">
                        <a:extLst>
                          <a:ext uri="{FF2B5EF4-FFF2-40B4-BE49-F238E27FC236}">
                            <a16:creationId xmlns:a16="http://schemas.microsoft.com/office/drawing/2014/main" id="{F6456432-8A89-4DAA-B92B-A63D295DC9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938" y="4478338"/>
                        <a:ext cx="19304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4">
            <a:extLst>
              <a:ext uri="{FF2B5EF4-FFF2-40B4-BE49-F238E27FC236}">
                <a16:creationId xmlns:a16="http://schemas.microsoft.com/office/drawing/2014/main" id="{F2731469-BB05-4DCA-9DBF-3AA85A957C49}"/>
              </a:ext>
            </a:extLst>
          </p:cNvPr>
          <p:cNvGraphicFramePr>
            <a:graphicFrameLocks/>
          </p:cNvGraphicFramePr>
          <p:nvPr/>
        </p:nvGraphicFramePr>
        <p:xfrm>
          <a:off x="3244850" y="5781675"/>
          <a:ext cx="16684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84" name="公式" r:id="rId7" imgW="1819320" imgH="790507" progId="Equation.3">
                  <p:embed/>
                </p:oleObj>
              </mc:Choice>
              <mc:Fallback>
                <p:oleObj name="公式" r:id="rId7" imgW="1819320" imgH="790507" progId="Equation.3">
                  <p:embed/>
                  <p:pic>
                    <p:nvPicPr>
                      <p:cNvPr id="10246" name="Object 4">
                        <a:extLst>
                          <a:ext uri="{FF2B5EF4-FFF2-40B4-BE49-F238E27FC236}">
                            <a16:creationId xmlns:a16="http://schemas.microsoft.com/office/drawing/2014/main" id="{F2731469-BB05-4DCA-9DBF-3AA85A957C4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5781675"/>
                        <a:ext cx="16684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7">
            <a:extLst>
              <a:ext uri="{FF2B5EF4-FFF2-40B4-BE49-F238E27FC236}">
                <a16:creationId xmlns:a16="http://schemas.microsoft.com/office/drawing/2014/main" id="{AB2C66DF-4849-40D7-95CD-2737371CD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5301208"/>
            <a:ext cx="82501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若为空气层薄膜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，相邻明条纹（或暗条纹）对应的厚度差</a:t>
            </a:r>
          </a:p>
        </p:txBody>
      </p:sp>
      <p:sp>
        <p:nvSpPr>
          <p:cNvPr id="10248" name="Text Box 8">
            <a:extLst>
              <a:ext uri="{FF2B5EF4-FFF2-40B4-BE49-F238E27FC236}">
                <a16:creationId xmlns:a16="http://schemas.microsoft.com/office/drawing/2014/main" id="{2FDE4343-1D94-4CA0-8FBB-58EB4B74B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2257425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10249" name="AutoShape 9">
            <a:extLst>
              <a:ext uri="{FF2B5EF4-FFF2-40B4-BE49-F238E27FC236}">
                <a16:creationId xmlns:a16="http://schemas.microsoft.com/office/drawing/2014/main" id="{0B5D5D9D-260E-4F4C-B47E-A7C6EF3C7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2214563"/>
            <a:ext cx="360363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0A236B1E-40DF-4010-8062-6FB676DD7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3" y="2824163"/>
            <a:ext cx="750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注意干涉的两束光分别来自于哪里？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7FA360E8-1157-4E05-97CE-AB6F5CA9F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23850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垂直入射： </a:t>
            </a:r>
          </a:p>
        </p:txBody>
      </p:sp>
      <p:sp>
        <p:nvSpPr>
          <p:cNvPr id="8204" name="灯片编号占位符 1">
            <a:extLst>
              <a:ext uri="{FF2B5EF4-FFF2-40B4-BE49-F238E27FC236}">
                <a16:creationId xmlns:a16="http://schemas.microsoft.com/office/drawing/2014/main" id="{385E3E0B-FAEE-4A60-9B50-26733CF4857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8E8FBEC-7F77-4705-B391-14E1321C72ED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utoUpdateAnimBg="0"/>
      <p:bldP spid="10244" grpId="0" autoUpdateAnimBg="0"/>
      <p:bldP spid="10247" grpId="0"/>
      <p:bldP spid="10248" grpId="0"/>
      <p:bldP spid="10249" grpId="0" animBg="1"/>
      <p:bldP spid="10251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1" name="Text Box 83">
            <a:extLst>
              <a:ext uri="{FF2B5EF4-FFF2-40B4-BE49-F238E27FC236}">
                <a16:creationId xmlns:a16="http://schemas.microsoft.com/office/drawing/2014/main" id="{60AA6251-41A9-47A8-A209-F7EAE6221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428625"/>
            <a:ext cx="50720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0" lang="zh-CN" altLang="en-US" sz="2200">
                <a:solidFill>
                  <a:schemeClr val="bg1"/>
                </a:solidFill>
                <a:latin typeface="方正书宋简体"/>
              </a:rPr>
              <a:t>同一级条纹对应相同的薄膜厚度 </a:t>
            </a:r>
            <a:r>
              <a:rPr kumimoji="0" lang="en-US" altLang="zh-CN" sz="2200" i="1">
                <a:solidFill>
                  <a:srgbClr val="FFFF00"/>
                </a:solidFill>
              </a:rPr>
              <a:t>d</a:t>
            </a:r>
            <a:endParaRPr kumimoji="0" lang="zh-CN" altLang="en-US" sz="2200">
              <a:solidFill>
                <a:schemeClr val="bg1"/>
              </a:solidFill>
              <a:latin typeface="方正书宋简体"/>
            </a:endParaRPr>
          </a:p>
        </p:txBody>
      </p:sp>
      <p:sp>
        <p:nvSpPr>
          <p:cNvPr id="12407" name="Text Box 119">
            <a:extLst>
              <a:ext uri="{FF2B5EF4-FFF2-40B4-BE49-F238E27FC236}">
                <a16:creationId xmlns:a16="http://schemas.microsoft.com/office/drawing/2014/main" id="{3C3E04A6-98F1-4AA6-B592-14521B5B8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428625"/>
            <a:ext cx="357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>
                <a:solidFill>
                  <a:schemeClr val="bg1"/>
                </a:solidFill>
                <a:latin typeface="方正书宋简体"/>
              </a:rPr>
              <a:t>典型等厚干涉：</a:t>
            </a:r>
          </a:p>
        </p:txBody>
      </p:sp>
      <p:graphicFrame>
        <p:nvGraphicFramePr>
          <p:cNvPr id="12409" name="Object 2">
            <a:extLst>
              <a:ext uri="{FF2B5EF4-FFF2-40B4-BE49-F238E27FC236}">
                <a16:creationId xmlns:a16="http://schemas.microsoft.com/office/drawing/2014/main" id="{BF78548F-27DF-4350-B49B-E91E35EA84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363" y="2314575"/>
          <a:ext cx="29083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2" name="公式" r:id="rId3" imgW="1143153" imgH="352391" progId="Equation.3">
                  <p:embed/>
                </p:oleObj>
              </mc:Choice>
              <mc:Fallback>
                <p:oleObj name="公式" r:id="rId3" imgW="1143153" imgH="352391" progId="Equation.3">
                  <p:embed/>
                  <p:pic>
                    <p:nvPicPr>
                      <p:cNvPr id="12409" name="Object 2">
                        <a:extLst>
                          <a:ext uri="{FF2B5EF4-FFF2-40B4-BE49-F238E27FC236}">
                            <a16:creationId xmlns:a16="http://schemas.microsoft.com/office/drawing/2014/main" id="{BF78548F-27DF-4350-B49B-E91E35EA84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2314575"/>
                        <a:ext cx="2908300" cy="9001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10" name="Text Box 122">
            <a:extLst>
              <a:ext uri="{FF2B5EF4-FFF2-40B4-BE49-F238E27FC236}">
                <a16:creationId xmlns:a16="http://schemas.microsoft.com/office/drawing/2014/main" id="{369AFFFF-3BB7-4B06-A359-53BF92EEC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52600"/>
            <a:ext cx="6553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rgbClr val="EDFE4A"/>
                </a:solidFill>
              </a:rPr>
              <a:t>•  </a:t>
            </a:r>
            <a:r>
              <a:rPr kumimoji="0" lang="zh-CN" altLang="en-US">
                <a:solidFill>
                  <a:srgbClr val="EDFE4A"/>
                </a:solidFill>
              </a:rPr>
              <a:t>两相邻明（或暗）条纹对应的空气层厚度差 </a:t>
            </a:r>
          </a:p>
        </p:txBody>
      </p:sp>
      <p:sp>
        <p:nvSpPr>
          <p:cNvPr id="12413" name="Text Box 125">
            <a:extLst>
              <a:ext uri="{FF2B5EF4-FFF2-40B4-BE49-F238E27FC236}">
                <a16:creationId xmlns:a16="http://schemas.microsoft.com/office/drawing/2014/main" id="{3A01C0EB-102B-4CFE-AE12-A22B4072A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28988"/>
            <a:ext cx="6267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rgbClr val="EDFE4A"/>
                </a:solidFill>
              </a:rPr>
              <a:t>•  </a:t>
            </a:r>
            <a:r>
              <a:rPr kumimoji="0" lang="zh-CN" altLang="en-US">
                <a:solidFill>
                  <a:srgbClr val="EDFE4A"/>
                </a:solidFill>
              </a:rPr>
              <a:t>两相邻明（或暗）条纹对应的</a:t>
            </a:r>
            <a:r>
              <a:rPr kumimoji="0" lang="zh-CN" altLang="en-US">
                <a:solidFill>
                  <a:srgbClr val="FF0000"/>
                </a:solidFill>
              </a:rPr>
              <a:t>介质</a:t>
            </a:r>
            <a:r>
              <a:rPr kumimoji="0" lang="zh-CN" altLang="en-US">
                <a:solidFill>
                  <a:srgbClr val="EDFE4A"/>
                </a:solidFill>
              </a:rPr>
              <a:t>层厚度差 </a:t>
            </a:r>
          </a:p>
        </p:txBody>
      </p:sp>
      <p:graphicFrame>
        <p:nvGraphicFramePr>
          <p:cNvPr id="12414" name="Object 3">
            <a:extLst>
              <a:ext uri="{FF2B5EF4-FFF2-40B4-BE49-F238E27FC236}">
                <a16:creationId xmlns:a16="http://schemas.microsoft.com/office/drawing/2014/main" id="{A9C815E7-B1E4-4907-BCD5-3C3DEED476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851275"/>
          <a:ext cx="29718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3" name="公式" r:id="rId5" imgW="1257224" imgH="390661" progId="Equation.3">
                  <p:embed/>
                </p:oleObj>
              </mc:Choice>
              <mc:Fallback>
                <p:oleObj name="公式" r:id="rId5" imgW="1257224" imgH="390661" progId="Equation.3">
                  <p:embed/>
                  <p:pic>
                    <p:nvPicPr>
                      <p:cNvPr id="12414" name="Object 3">
                        <a:extLst>
                          <a:ext uri="{FF2B5EF4-FFF2-40B4-BE49-F238E27FC236}">
                            <a16:creationId xmlns:a16="http://schemas.microsoft.com/office/drawing/2014/main" id="{A9C815E7-B1E4-4907-BCD5-3C3DEED476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851275"/>
                        <a:ext cx="2971800" cy="10064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3">
            <a:extLst>
              <a:ext uri="{FF2B5EF4-FFF2-40B4-BE49-F238E27FC236}">
                <a16:creationId xmlns:a16="http://schemas.microsoft.com/office/drawing/2014/main" id="{998BC464-35B3-4A5B-9052-C2E28744AC79}"/>
              </a:ext>
            </a:extLst>
          </p:cNvPr>
          <p:cNvGrpSpPr>
            <a:grpSpLocks/>
          </p:cNvGrpSpPr>
          <p:nvPr/>
        </p:nvGrpSpPr>
        <p:grpSpPr bwMode="auto">
          <a:xfrm>
            <a:off x="5786438" y="3675063"/>
            <a:ext cx="3227387" cy="2968625"/>
            <a:chOff x="3639" y="1274"/>
            <a:chExt cx="2033" cy="1870"/>
          </a:xfrm>
        </p:grpSpPr>
        <p:sp>
          <p:nvSpPr>
            <p:cNvPr id="9249" name="Line 85">
              <a:extLst>
                <a:ext uri="{FF2B5EF4-FFF2-40B4-BE49-F238E27FC236}">
                  <a16:creationId xmlns:a16="http://schemas.microsoft.com/office/drawing/2014/main" id="{13D4F2C3-B16D-4318-B829-52E1E94BE6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0" y="1563"/>
              <a:ext cx="271" cy="668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0" name="Line 86">
              <a:extLst>
                <a:ext uri="{FF2B5EF4-FFF2-40B4-BE49-F238E27FC236}">
                  <a16:creationId xmlns:a16="http://schemas.microsoft.com/office/drawing/2014/main" id="{A5E49C36-1267-47F2-A432-2B59F417E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1975"/>
              <a:ext cx="271" cy="670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Line 87">
              <a:extLst>
                <a:ext uri="{FF2B5EF4-FFF2-40B4-BE49-F238E27FC236}">
                  <a16:creationId xmlns:a16="http://schemas.microsoft.com/office/drawing/2014/main" id="{E522894F-918F-492A-8634-16F75ACBEB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9" y="2215"/>
              <a:ext cx="1349" cy="430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Line 88">
              <a:extLst>
                <a:ext uri="{FF2B5EF4-FFF2-40B4-BE49-F238E27FC236}">
                  <a16:creationId xmlns:a16="http://schemas.microsoft.com/office/drawing/2014/main" id="{23B7AFF8-F420-4876-965E-8214AF3485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1547"/>
              <a:ext cx="1335" cy="429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3" name="Line 89">
              <a:extLst>
                <a:ext uri="{FF2B5EF4-FFF2-40B4-BE49-F238E27FC236}">
                  <a16:creationId xmlns:a16="http://schemas.microsoft.com/office/drawing/2014/main" id="{1C80690D-3806-4B80-A97B-AD4597B1D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2" y="2235"/>
              <a:ext cx="0" cy="449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Line 90">
              <a:extLst>
                <a:ext uri="{FF2B5EF4-FFF2-40B4-BE49-F238E27FC236}">
                  <a16:creationId xmlns:a16="http://schemas.microsoft.com/office/drawing/2014/main" id="{FF41B180-ED1F-4510-9425-8CA78900A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660"/>
              <a:ext cx="1335" cy="0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5" name="Line 91">
              <a:extLst>
                <a:ext uri="{FF2B5EF4-FFF2-40B4-BE49-F238E27FC236}">
                  <a16:creationId xmlns:a16="http://schemas.microsoft.com/office/drawing/2014/main" id="{8694D490-B7DA-4193-B603-8D76E0233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1894"/>
              <a:ext cx="262" cy="648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6" name="Line 92">
              <a:extLst>
                <a:ext uri="{FF2B5EF4-FFF2-40B4-BE49-F238E27FC236}">
                  <a16:creationId xmlns:a16="http://schemas.microsoft.com/office/drawing/2014/main" id="{F2FAB631-5874-4516-850B-7D752CAF0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6" y="1577"/>
              <a:ext cx="269" cy="658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7" name="Line 93">
              <a:extLst>
                <a:ext uri="{FF2B5EF4-FFF2-40B4-BE49-F238E27FC236}">
                  <a16:creationId xmlns:a16="http://schemas.microsoft.com/office/drawing/2014/main" id="{1247D37F-BBBA-464C-8423-2E4F63C14C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6" y="1736"/>
              <a:ext cx="269" cy="657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8" name="Line 94">
              <a:extLst>
                <a:ext uri="{FF2B5EF4-FFF2-40B4-BE49-F238E27FC236}">
                  <a16:creationId xmlns:a16="http://schemas.microsoft.com/office/drawing/2014/main" id="{87ED07BB-073C-4D37-9B6B-CDDF7F9CD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981"/>
              <a:ext cx="255" cy="634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9" name="Line 95">
              <a:extLst>
                <a:ext uri="{FF2B5EF4-FFF2-40B4-BE49-F238E27FC236}">
                  <a16:creationId xmlns:a16="http://schemas.microsoft.com/office/drawing/2014/main" id="{70641855-7EED-4062-B267-A5ABFD049E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680"/>
              <a:ext cx="276" cy="646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0" name="Line 96">
              <a:extLst>
                <a:ext uri="{FF2B5EF4-FFF2-40B4-BE49-F238E27FC236}">
                  <a16:creationId xmlns:a16="http://schemas.microsoft.com/office/drawing/2014/main" id="{0A366CE0-248B-47A8-B316-3BFE3BA6E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2" y="1832"/>
              <a:ext cx="262" cy="621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1" name="Arc 97">
              <a:extLst>
                <a:ext uri="{FF2B5EF4-FFF2-40B4-BE49-F238E27FC236}">
                  <a16:creationId xmlns:a16="http://schemas.microsoft.com/office/drawing/2014/main" id="{632C2738-7D55-4454-ADEC-7B7308BF6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514"/>
              <a:ext cx="37" cy="1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76FB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2" name="Rectangle 98">
              <a:extLst>
                <a:ext uri="{FF2B5EF4-FFF2-40B4-BE49-F238E27FC236}">
                  <a16:creationId xmlns:a16="http://schemas.microsoft.com/office/drawing/2014/main" id="{CB69A4F5-ACDE-4DCC-BC71-30B51A0A1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9" y="2453"/>
              <a:ext cx="16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en-US" altLang="zh-CN" sz="2000" i="1">
                  <a:solidFill>
                    <a:srgbClr val="F9C42D"/>
                  </a:solidFill>
                  <a:sym typeface="Symbol" panose="05050102010706020507" pitchFamily="18" charset="2"/>
                </a:rPr>
                <a:t></a:t>
              </a:r>
              <a:endParaRPr kumimoji="0" lang="en-US" altLang="zh-CN" sz="2000">
                <a:solidFill>
                  <a:srgbClr val="F9C42D"/>
                </a:solidFill>
              </a:endParaRPr>
            </a:p>
          </p:txBody>
        </p:sp>
        <p:sp>
          <p:nvSpPr>
            <p:cNvPr id="9263" name="Line 99">
              <a:extLst>
                <a:ext uri="{FF2B5EF4-FFF2-40B4-BE49-F238E27FC236}">
                  <a16:creationId xmlns:a16="http://schemas.microsoft.com/office/drawing/2014/main" id="{69AB220C-8429-4005-8352-3BF14F621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7" y="1449"/>
              <a:ext cx="127" cy="319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4" name="Line 100">
              <a:extLst>
                <a:ext uri="{FF2B5EF4-FFF2-40B4-BE49-F238E27FC236}">
                  <a16:creationId xmlns:a16="http://schemas.microsoft.com/office/drawing/2014/main" id="{CCFB07D9-EABA-4123-9089-8B5D06376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274"/>
              <a:ext cx="127" cy="318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5" name="Line 101">
              <a:extLst>
                <a:ext uri="{FF2B5EF4-FFF2-40B4-BE49-F238E27FC236}">
                  <a16:creationId xmlns:a16="http://schemas.microsoft.com/office/drawing/2014/main" id="{7D9E4C7E-DFCD-474B-88BC-4669E4716F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9" y="1383"/>
              <a:ext cx="446" cy="141"/>
            </a:xfrm>
            <a:prstGeom prst="line">
              <a:avLst/>
            </a:prstGeom>
            <a:noFill/>
            <a:ln w="9525">
              <a:solidFill>
                <a:srgbClr val="76FB4D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6" name="Line 103">
              <a:extLst>
                <a:ext uri="{FF2B5EF4-FFF2-40B4-BE49-F238E27FC236}">
                  <a16:creationId xmlns:a16="http://schemas.microsoft.com/office/drawing/2014/main" id="{85AB136F-DC05-498F-8FFF-15DD4D458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" y="2254"/>
              <a:ext cx="0" cy="41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7" name="Line 104">
              <a:extLst>
                <a:ext uri="{FF2B5EF4-FFF2-40B4-BE49-F238E27FC236}">
                  <a16:creationId xmlns:a16="http://schemas.microsoft.com/office/drawing/2014/main" id="{2298EEE8-B75F-4CFD-B9E7-C3B7BCD9E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5" y="2397"/>
              <a:ext cx="0" cy="27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8" name="Line 105">
              <a:extLst>
                <a:ext uri="{FF2B5EF4-FFF2-40B4-BE49-F238E27FC236}">
                  <a16:creationId xmlns:a16="http://schemas.microsoft.com/office/drawing/2014/main" id="{467E69AF-F11A-42AF-9660-E34B68113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9" y="2258"/>
              <a:ext cx="307" cy="0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9" name="Line 106">
              <a:extLst>
                <a:ext uri="{FF2B5EF4-FFF2-40B4-BE49-F238E27FC236}">
                  <a16:creationId xmlns:a16="http://schemas.microsoft.com/office/drawing/2014/main" id="{94DA1C91-F307-4754-B100-B91C4F6D0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8" y="2402"/>
              <a:ext cx="758" cy="0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0" name="Line 107">
              <a:extLst>
                <a:ext uri="{FF2B5EF4-FFF2-40B4-BE49-F238E27FC236}">
                  <a16:creationId xmlns:a16="http://schemas.microsoft.com/office/drawing/2014/main" id="{A544FEE6-D27C-41A9-BD77-DCBDA279D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1" y="2028"/>
              <a:ext cx="0" cy="239"/>
            </a:xfrm>
            <a:prstGeom prst="line">
              <a:avLst/>
            </a:prstGeom>
            <a:noFill/>
            <a:ln w="9525">
              <a:solidFill>
                <a:srgbClr val="76FB4D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1" name="Line 108">
              <a:extLst>
                <a:ext uri="{FF2B5EF4-FFF2-40B4-BE49-F238E27FC236}">
                  <a16:creationId xmlns:a16="http://schemas.microsoft.com/office/drawing/2014/main" id="{CC4547CE-C576-409D-8267-B231607CF0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1" y="2400"/>
              <a:ext cx="0" cy="240"/>
            </a:xfrm>
            <a:prstGeom prst="line">
              <a:avLst/>
            </a:prstGeom>
            <a:noFill/>
            <a:ln w="9525">
              <a:solidFill>
                <a:srgbClr val="76FB4D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2" name="Rectangle 111">
              <a:extLst>
                <a:ext uri="{FF2B5EF4-FFF2-40B4-BE49-F238E27FC236}">
                  <a16:creationId xmlns:a16="http://schemas.microsoft.com/office/drawing/2014/main" id="{EFB1463F-2A73-42ED-AD85-5A11B8F33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1670"/>
              <a:ext cx="345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zh-CN" altLang="en-US" sz="2000">
                  <a:solidFill>
                    <a:schemeClr val="bg1"/>
                  </a:solidFill>
                </a:rPr>
                <a:t>明纹</a:t>
              </a:r>
            </a:p>
          </p:txBody>
        </p:sp>
        <p:sp>
          <p:nvSpPr>
            <p:cNvPr id="9273" name="Rectangle 112">
              <a:extLst>
                <a:ext uri="{FF2B5EF4-FFF2-40B4-BE49-F238E27FC236}">
                  <a16:creationId xmlns:a16="http://schemas.microsoft.com/office/drawing/2014/main" id="{F795939B-6539-4556-AE0F-616BF4E88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9" y="1565"/>
              <a:ext cx="34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zh-CN" altLang="en-US" sz="2000">
                  <a:solidFill>
                    <a:schemeClr val="accent1"/>
                  </a:solidFill>
                </a:rPr>
                <a:t>暗纹</a:t>
              </a:r>
            </a:p>
          </p:txBody>
        </p:sp>
        <p:sp>
          <p:nvSpPr>
            <p:cNvPr id="9274" name="Line 113">
              <a:extLst>
                <a:ext uri="{FF2B5EF4-FFF2-40B4-BE49-F238E27FC236}">
                  <a16:creationId xmlns:a16="http://schemas.microsoft.com/office/drawing/2014/main" id="{DB233D63-D9A0-4070-B551-60AA3A9B44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4" y="2536"/>
              <a:ext cx="122" cy="216"/>
            </a:xfrm>
            <a:prstGeom prst="line">
              <a:avLst/>
            </a:prstGeom>
            <a:noFill/>
            <a:ln w="9525">
              <a:solidFill>
                <a:srgbClr val="F9C4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5" name="Line 114">
              <a:extLst>
                <a:ext uri="{FF2B5EF4-FFF2-40B4-BE49-F238E27FC236}">
                  <a16:creationId xmlns:a16="http://schemas.microsoft.com/office/drawing/2014/main" id="{257F4B7C-18C1-4F2A-931F-1227A16C77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1" y="2500"/>
              <a:ext cx="118" cy="348"/>
            </a:xfrm>
            <a:prstGeom prst="line">
              <a:avLst/>
            </a:prstGeom>
            <a:noFill/>
            <a:ln w="9525">
              <a:solidFill>
                <a:srgbClr val="F9C4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76" name="Object 10">
                  <a:extLst>
                    <a:ext uri="{FF2B5EF4-FFF2-40B4-BE49-F238E27FC236}">
                      <a16:creationId xmlns:a16="http://schemas.microsoft.com/office/drawing/2014/main" id="{97362569-01A9-4349-A5B5-0153D7D3F6CD}"/>
                    </a:ext>
                  </a:extLst>
                </p:cNvPr>
                <p:cNvSpPr txBox="1"/>
                <p:nvPr/>
              </p:nvSpPr>
              <p:spPr bwMode="auto">
                <a:xfrm>
                  <a:off x="5414" y="2165"/>
                  <a:ext cx="258" cy="36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b="1" i="1" baseline="-2500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zh-CN" altLang="en-US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9276" name="Object 10">
                  <a:extLst>
                    <a:ext uri="{FF2B5EF4-FFF2-40B4-BE49-F238E27FC236}">
                      <a16:creationId xmlns:a16="http://schemas.microsoft.com/office/drawing/2014/main" id="{97362569-01A9-4349-A5B5-0153D7D3F6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4" y="2165"/>
                  <a:ext cx="258" cy="360"/>
                </a:xfrm>
                <a:prstGeom prst="rect">
                  <a:avLst/>
                </a:prstGeom>
                <a:blipFill>
                  <a:blip r:embed="rId7"/>
                  <a:stretch>
                    <a:fillRect r="-2941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277" name="Object 11">
                  <a:extLst>
                    <a:ext uri="{FF2B5EF4-FFF2-40B4-BE49-F238E27FC236}">
                      <a16:creationId xmlns:a16="http://schemas.microsoft.com/office/drawing/2014/main" id="{E9AA3CC7-94F5-4EA7-A226-B3B3316E47B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07" y="2687"/>
                <a:ext cx="324" cy="45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74164" name="公式" r:id="rId8" imgW="142818" imgH="190432" progId="Equation.3">
                        <p:embed/>
                      </p:oleObj>
                    </mc:Choice>
                    <mc:Fallback>
                      <p:oleObj name="公式" r:id="rId8" imgW="142818" imgH="190432" progId="Equation.3">
                        <p:embed/>
                        <p:pic>
                          <p:nvPicPr>
                            <p:cNvPr id="9277" name="Object 11">
                              <a:extLst>
                                <a:ext uri="{FF2B5EF4-FFF2-40B4-BE49-F238E27FC236}">
                                  <a16:creationId xmlns:a16="http://schemas.microsoft.com/office/drawing/2014/main" id="{E9AA3CC7-94F5-4EA7-A226-B3B3316E47B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07" y="2687"/>
                              <a:ext cx="324" cy="45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FF33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9277" name="Object 11">
                  <a:extLst>
                    <a:ext uri="{FF2B5EF4-FFF2-40B4-BE49-F238E27FC236}">
                      <a16:creationId xmlns:a16="http://schemas.microsoft.com/office/drawing/2014/main" id="{E9AA3CC7-94F5-4EA7-A226-B3B3316E47B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07" y="2687"/>
                <a:ext cx="324" cy="45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70091" name="公式" r:id="rId10" imgW="142818" imgH="190432" progId="Equation.3">
                        <p:embed/>
                      </p:oleObj>
                    </mc:Choice>
                    <mc:Fallback>
                      <p:oleObj name="公式" r:id="rId10" imgW="142818" imgH="190432" progId="Equation.3">
                        <p:embed/>
                        <p:pic>
                          <p:nvPicPr>
                            <p:cNvPr id="9277" name="Object 11">
                              <a:extLst>
                                <a:ext uri="{FF2B5EF4-FFF2-40B4-BE49-F238E27FC236}">
                                  <a16:creationId xmlns:a16="http://schemas.microsoft.com/office/drawing/2014/main" id="{E9AA3CC7-94F5-4EA7-A226-B3B3316E47B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07" y="2687"/>
                              <a:ext cx="324" cy="45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FF33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278" name="Object 12">
                  <a:extLst>
                    <a:ext uri="{FF2B5EF4-FFF2-40B4-BE49-F238E27FC236}">
                      <a16:creationId xmlns:a16="http://schemas.microsoft.com/office/drawing/2014/main" id="{2D42FF84-AE56-4B6E-B0BC-7CC6F160F56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814" y="2687"/>
                <a:ext cx="486" cy="45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74165" name="公式" r:id="rId12" imgW="228753" imgH="190432" progId="Equation.3">
                        <p:embed/>
                      </p:oleObj>
                    </mc:Choice>
                    <mc:Fallback>
                      <p:oleObj name="公式" r:id="rId12" imgW="228753" imgH="190432" progId="Equation.3">
                        <p:embed/>
                        <p:pic>
                          <p:nvPicPr>
                            <p:cNvPr id="9278" name="Object 12">
                              <a:extLst>
                                <a:ext uri="{FF2B5EF4-FFF2-40B4-BE49-F238E27FC236}">
                                  <a16:creationId xmlns:a16="http://schemas.microsoft.com/office/drawing/2014/main" id="{2D42FF84-AE56-4B6E-B0BC-7CC6F160F56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14" y="2687"/>
                              <a:ext cx="486" cy="45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FF33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9278" name="Object 12">
                  <a:extLst>
                    <a:ext uri="{FF2B5EF4-FFF2-40B4-BE49-F238E27FC236}">
                      <a16:creationId xmlns:a16="http://schemas.microsoft.com/office/drawing/2014/main" id="{2D42FF84-AE56-4B6E-B0BC-7CC6F160F56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814" y="2687"/>
                <a:ext cx="486" cy="45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70092" name="公式" r:id="rId14" imgW="228753" imgH="190432" progId="Equation.3">
                        <p:embed/>
                      </p:oleObj>
                    </mc:Choice>
                    <mc:Fallback>
                      <p:oleObj name="公式" r:id="rId14" imgW="228753" imgH="190432" progId="Equation.3">
                        <p:embed/>
                        <p:pic>
                          <p:nvPicPr>
                            <p:cNvPr id="9278" name="Object 12">
                              <a:extLst>
                                <a:ext uri="{FF2B5EF4-FFF2-40B4-BE49-F238E27FC236}">
                                  <a16:creationId xmlns:a16="http://schemas.microsoft.com/office/drawing/2014/main" id="{2D42FF84-AE56-4B6E-B0BC-7CC6F160F56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14" y="2687"/>
                              <a:ext cx="486" cy="45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FF33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279" name="Object 13">
                  <a:extLst>
                    <a:ext uri="{FF2B5EF4-FFF2-40B4-BE49-F238E27FC236}">
                      <a16:creationId xmlns:a16="http://schemas.microsoft.com/office/drawing/2014/main" id="{6D440C8A-0A18-4C21-AC6A-CEA91CBC338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03" y="1416"/>
                <a:ext cx="232" cy="28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74166" name="Equation" r:id="rId16" imgW="85629" imgH="104707" progId="Equation.3">
                        <p:embed/>
                      </p:oleObj>
                    </mc:Choice>
                    <mc:Fallback>
                      <p:oleObj name="Equation" r:id="rId16" imgW="85629" imgH="104707" progId="Equation.3">
                        <p:embed/>
                        <p:pic>
                          <p:nvPicPr>
                            <p:cNvPr id="9279" name="Object 13">
                              <a:extLst>
                                <a:ext uri="{FF2B5EF4-FFF2-40B4-BE49-F238E27FC236}">
                                  <a16:creationId xmlns:a16="http://schemas.microsoft.com/office/drawing/2014/main" id="{6D440C8A-0A18-4C21-AC6A-CEA91CBC338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03" y="1416"/>
                              <a:ext cx="232" cy="2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FF33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9279" name="Object 13">
                  <a:extLst>
                    <a:ext uri="{FF2B5EF4-FFF2-40B4-BE49-F238E27FC236}">
                      <a16:creationId xmlns:a16="http://schemas.microsoft.com/office/drawing/2014/main" id="{6D440C8A-0A18-4C21-AC6A-CEA91CBC338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03" y="1416"/>
                <a:ext cx="232" cy="28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70093" name="Equation" r:id="rId18" imgW="85629" imgH="104707" progId="Equation.3">
                        <p:embed/>
                      </p:oleObj>
                    </mc:Choice>
                    <mc:Fallback>
                      <p:oleObj name="Equation" r:id="rId18" imgW="85629" imgH="104707" progId="Equation.3">
                        <p:embed/>
                        <p:pic>
                          <p:nvPicPr>
                            <p:cNvPr id="9279" name="Object 13">
                              <a:extLst>
                                <a:ext uri="{FF2B5EF4-FFF2-40B4-BE49-F238E27FC236}">
                                  <a16:creationId xmlns:a16="http://schemas.microsoft.com/office/drawing/2014/main" id="{6D440C8A-0A18-4C21-AC6A-CEA91CBC338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03" y="1416"/>
                              <a:ext cx="232" cy="2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FF33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3" name="Group 144">
            <a:extLst>
              <a:ext uri="{FF2B5EF4-FFF2-40B4-BE49-F238E27FC236}">
                <a16:creationId xmlns:a16="http://schemas.microsoft.com/office/drawing/2014/main" id="{4735E6C4-889D-4F2D-996F-146C5E1A25E4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557213"/>
            <a:ext cx="2416175" cy="1300162"/>
            <a:chOff x="2585" y="3162"/>
            <a:chExt cx="1522" cy="819"/>
          </a:xfrm>
        </p:grpSpPr>
        <p:sp>
          <p:nvSpPr>
            <p:cNvPr id="9243" name="Rectangle 127">
              <a:extLst>
                <a:ext uri="{FF2B5EF4-FFF2-40B4-BE49-F238E27FC236}">
                  <a16:creationId xmlns:a16="http://schemas.microsoft.com/office/drawing/2014/main" id="{4A1DF1BB-5F55-4424-9E4C-25F424D99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2" y="3729"/>
              <a:ext cx="1485" cy="240"/>
            </a:xfrm>
            <a:prstGeom prst="rect">
              <a:avLst/>
            </a:prstGeom>
            <a:solidFill>
              <a:srgbClr val="00FF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244" name="Rectangle 128">
              <a:extLst>
                <a:ext uri="{FF2B5EF4-FFF2-40B4-BE49-F238E27FC236}">
                  <a16:creationId xmlns:a16="http://schemas.microsoft.com/office/drawing/2014/main" id="{C5BA3B80-08F6-4900-AEB9-6AAF11BA94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59066">
              <a:off x="2585" y="3329"/>
              <a:ext cx="1509" cy="238"/>
            </a:xfrm>
            <a:prstGeom prst="rect">
              <a:avLst/>
            </a:prstGeom>
            <a:solidFill>
              <a:srgbClr val="00FF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aphicFrame>
          <p:nvGraphicFramePr>
            <p:cNvPr id="9245" name="Object 7">
              <a:extLst>
                <a:ext uri="{FF2B5EF4-FFF2-40B4-BE49-F238E27FC236}">
                  <a16:creationId xmlns:a16="http://schemas.microsoft.com/office/drawing/2014/main" id="{81AD74E0-239D-4DE1-9EB2-094C218F87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5" y="3162"/>
            <a:ext cx="292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67" name="Equation" r:id="rId20" imgW="123857" imgH="180941" progId="Equation.3">
                    <p:embed/>
                  </p:oleObj>
                </mc:Choice>
                <mc:Fallback>
                  <p:oleObj name="Equation" r:id="rId20" imgW="123857" imgH="180941" progId="Equation.3">
                    <p:embed/>
                    <p:pic>
                      <p:nvPicPr>
                        <p:cNvPr id="9245" name="Object 7">
                          <a:extLst>
                            <a:ext uri="{FF2B5EF4-FFF2-40B4-BE49-F238E27FC236}">
                              <a16:creationId xmlns:a16="http://schemas.microsoft.com/office/drawing/2014/main" id="{81AD74E0-239D-4DE1-9EB2-094C218F87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5" y="3162"/>
                          <a:ext cx="292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6" name="Object 8">
              <a:extLst>
                <a:ext uri="{FF2B5EF4-FFF2-40B4-BE49-F238E27FC236}">
                  <a16:creationId xmlns:a16="http://schemas.microsoft.com/office/drawing/2014/main" id="{B62BD141-05C4-45EC-97B7-3BD54E0E6B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3387"/>
            <a:ext cx="315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68" name="Equation" r:id="rId22" imgW="142818" imgH="180941" progId="Equation.3">
                    <p:embed/>
                  </p:oleObj>
                </mc:Choice>
                <mc:Fallback>
                  <p:oleObj name="Equation" r:id="rId22" imgW="142818" imgH="180941" progId="Equation.3">
                    <p:embed/>
                    <p:pic>
                      <p:nvPicPr>
                        <p:cNvPr id="9246" name="Object 8">
                          <a:extLst>
                            <a:ext uri="{FF2B5EF4-FFF2-40B4-BE49-F238E27FC236}">
                              <a16:creationId xmlns:a16="http://schemas.microsoft.com/office/drawing/2014/main" id="{B62BD141-05C4-45EC-97B7-3BD54E0E6B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387"/>
                          <a:ext cx="315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7" name="Object 9">
              <a:extLst>
                <a:ext uri="{FF2B5EF4-FFF2-40B4-BE49-F238E27FC236}">
                  <a16:creationId xmlns:a16="http://schemas.microsoft.com/office/drawing/2014/main" id="{651AABEC-F8F4-4A8D-AC60-96BD2F25F3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5" y="3639"/>
            <a:ext cx="292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69" name="Equation" r:id="rId24" imgW="123857" imgH="180941" progId="Equation.3">
                    <p:embed/>
                  </p:oleObj>
                </mc:Choice>
                <mc:Fallback>
                  <p:oleObj name="Equation" r:id="rId24" imgW="123857" imgH="180941" progId="Equation.3">
                    <p:embed/>
                    <p:pic>
                      <p:nvPicPr>
                        <p:cNvPr id="9247" name="Object 9">
                          <a:extLst>
                            <a:ext uri="{FF2B5EF4-FFF2-40B4-BE49-F238E27FC236}">
                              <a16:creationId xmlns:a16="http://schemas.microsoft.com/office/drawing/2014/main" id="{651AABEC-F8F4-4A8D-AC60-96BD2F25F3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5" y="3639"/>
                          <a:ext cx="292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8" name="Rectangle 137">
              <a:extLst>
                <a:ext uri="{FF2B5EF4-FFF2-40B4-BE49-F238E27FC236}">
                  <a16:creationId xmlns:a16="http://schemas.microsoft.com/office/drawing/2014/main" id="{916D078E-7523-417C-9A07-580D970C3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549"/>
              <a:ext cx="16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en-US" altLang="zh-CN" sz="2000" i="1">
                  <a:solidFill>
                    <a:srgbClr val="F9C42D"/>
                  </a:solidFill>
                  <a:sym typeface="Symbol" panose="05050102010706020507" pitchFamily="18" charset="2"/>
                </a:rPr>
                <a:t></a:t>
              </a:r>
              <a:endParaRPr kumimoji="0" lang="en-US" altLang="zh-CN" sz="2000">
                <a:solidFill>
                  <a:srgbClr val="F9C42D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27" name="Object 4">
                <a:extLst>
                  <a:ext uri="{FF2B5EF4-FFF2-40B4-BE49-F238E27FC236}">
                    <a16:creationId xmlns:a16="http://schemas.microsoft.com/office/drawing/2014/main" id="{68D2A3CE-E885-4517-A29F-040C21405EBB}"/>
                  </a:ext>
                </a:extLst>
              </p:cNvPr>
              <p:cNvSpPr txBox="1"/>
              <p:nvPr/>
            </p:nvSpPr>
            <p:spPr bwMode="auto">
              <a:xfrm>
                <a:off x="977900" y="5572126"/>
                <a:ext cx="2383236" cy="1042986"/>
              </a:xfrm>
              <a:prstGeom prst="rect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427" name="Object 4">
                <a:extLst>
                  <a:ext uri="{FF2B5EF4-FFF2-40B4-BE49-F238E27FC236}">
                    <a16:creationId xmlns:a16="http://schemas.microsoft.com/office/drawing/2014/main" id="{68D2A3CE-E885-4517-A29F-040C21405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7900" y="5572126"/>
                <a:ext cx="2383236" cy="104298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9525">
                <a:solidFill>
                  <a:srgbClr val="FF3300"/>
                </a:solidFill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28" name="Text Box 140">
            <a:extLst>
              <a:ext uri="{FF2B5EF4-FFF2-40B4-BE49-F238E27FC236}">
                <a16:creationId xmlns:a16="http://schemas.microsoft.com/office/drawing/2014/main" id="{8E66FC6C-5C4F-41F8-AADD-0C2228C81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972050"/>
            <a:ext cx="502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rgbClr val="EDFE4A"/>
                </a:solidFill>
              </a:rPr>
              <a:t>• </a:t>
            </a:r>
            <a:r>
              <a:rPr kumimoji="0" lang="zh-CN" altLang="en-US">
                <a:solidFill>
                  <a:srgbClr val="EDFE4A"/>
                </a:solidFill>
              </a:rPr>
              <a:t>相邻明（或暗）条纹间距 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0F83F19-0FD4-4F4F-994C-FBA3F0A1DD7D}"/>
              </a:ext>
            </a:extLst>
          </p:cNvPr>
          <p:cNvSpPr/>
          <p:nvPr/>
        </p:nvSpPr>
        <p:spPr>
          <a:xfrm>
            <a:off x="357188" y="1038225"/>
            <a:ext cx="3214687" cy="461963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FF00"/>
                </a:solidFill>
              </a:rPr>
              <a:t>1. </a:t>
            </a:r>
            <a:r>
              <a:rPr kumimoji="0"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劈尖干涉</a:t>
            </a:r>
            <a:r>
              <a:rPr kumimoji="0" lang="zh-CN" altLang="en-US" sz="2200">
                <a:solidFill>
                  <a:schemeClr val="bg1"/>
                </a:solidFill>
                <a:latin typeface="宋体" panose="02010600030101010101" pitchFamily="2" charset="-122"/>
              </a:rPr>
              <a:t>（空气层）</a:t>
            </a:r>
            <a:endParaRPr lang="zh-CN" altLang="en-US" sz="22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18" name="Object 55">
                <a:extLst>
                  <a:ext uri="{FF2B5EF4-FFF2-40B4-BE49-F238E27FC236}">
                    <a16:creationId xmlns:a16="http://schemas.microsoft.com/office/drawing/2014/main" id="{CBF9C170-C5BA-4EC4-BE1F-440544C78674}"/>
                  </a:ext>
                </a:extLst>
              </p:cNvPr>
              <p:cNvSpPr txBox="1"/>
              <p:nvPr/>
            </p:nvSpPr>
            <p:spPr bwMode="auto">
              <a:xfrm>
                <a:off x="3563888" y="836712"/>
                <a:ext cx="2268538" cy="7969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58418" name="Object 55">
                <a:extLst>
                  <a:ext uri="{FF2B5EF4-FFF2-40B4-BE49-F238E27FC236}">
                    <a16:creationId xmlns:a16="http://schemas.microsoft.com/office/drawing/2014/main" id="{CBF9C170-C5BA-4EC4-BE1F-440544C78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888" y="836712"/>
                <a:ext cx="2268538" cy="79692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0" name="灯片编号占位符 1">
            <a:extLst>
              <a:ext uri="{FF2B5EF4-FFF2-40B4-BE49-F238E27FC236}">
                <a16:creationId xmlns:a16="http://schemas.microsoft.com/office/drawing/2014/main" id="{727B4128-E20B-4655-82F8-1068CDF10A8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DFCF72-32EE-49C7-9F7A-27299DCACC03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D516D46-BC7D-4669-BFE5-2B1D94180F58}"/>
              </a:ext>
            </a:extLst>
          </p:cNvPr>
          <p:cNvGrpSpPr>
            <a:grpSpLocks/>
          </p:cNvGrpSpPr>
          <p:nvPr/>
        </p:nvGrpSpPr>
        <p:grpSpPr bwMode="auto">
          <a:xfrm>
            <a:off x="6215063" y="2027238"/>
            <a:ext cx="2324100" cy="1258887"/>
            <a:chOff x="6215063" y="2027240"/>
            <a:chExt cx="2324100" cy="1258888"/>
          </a:xfrm>
        </p:grpSpPr>
        <p:grpSp>
          <p:nvGrpSpPr>
            <p:cNvPr id="9232" name="Group 145">
              <a:extLst>
                <a:ext uri="{FF2B5EF4-FFF2-40B4-BE49-F238E27FC236}">
                  <a16:creationId xmlns:a16="http://schemas.microsoft.com/office/drawing/2014/main" id="{6C6756B7-A0A9-4D1B-9672-0327F17EEB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5063" y="2027240"/>
              <a:ext cx="2324100" cy="1258888"/>
              <a:chOff x="4272" y="3353"/>
              <a:chExt cx="1322" cy="793"/>
            </a:xfrm>
          </p:grpSpPr>
          <p:sp>
            <p:nvSpPr>
              <p:cNvPr id="9239" name="AutoShape 130">
                <a:extLst>
                  <a:ext uri="{FF2B5EF4-FFF2-40B4-BE49-F238E27FC236}">
                    <a16:creationId xmlns:a16="http://schemas.microsoft.com/office/drawing/2014/main" id="{8E9ADCA1-D13E-4B07-BD11-6C805148C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272" y="3696"/>
                <a:ext cx="1301" cy="336"/>
              </a:xfrm>
              <a:prstGeom prst="rtTriangle">
                <a:avLst/>
              </a:prstGeom>
              <a:solidFill>
                <a:srgbClr val="CCFFCC">
                  <a:alpha val="50195"/>
                </a:srgbClr>
              </a:solidFill>
              <a:ln w="12700">
                <a:solidFill>
                  <a:srgbClr val="33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graphicFrame>
            <p:nvGraphicFramePr>
              <p:cNvPr id="9240" name="Object 5">
                <a:extLst>
                  <a:ext uri="{FF2B5EF4-FFF2-40B4-BE49-F238E27FC236}">
                    <a16:creationId xmlns:a16="http://schemas.microsoft.com/office/drawing/2014/main" id="{61EEB0D8-AB84-4204-8FA5-661D9D80D48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79" y="3678"/>
              <a:ext cx="315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170" name="Equation" r:id="rId27" imgW="142818" imgH="180941" progId="Equation.3">
                      <p:embed/>
                    </p:oleObj>
                  </mc:Choice>
                  <mc:Fallback>
                    <p:oleObj name="Equation" r:id="rId27" imgW="142818" imgH="180941" progId="Equation.3">
                      <p:embed/>
                      <p:pic>
                        <p:nvPicPr>
                          <p:cNvPr id="9240" name="Object 5">
                            <a:extLst>
                              <a:ext uri="{FF2B5EF4-FFF2-40B4-BE49-F238E27FC236}">
                                <a16:creationId xmlns:a16="http://schemas.microsoft.com/office/drawing/2014/main" id="{61EEB0D8-AB84-4204-8FA5-661D9D80D48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79" y="3678"/>
                            <a:ext cx="315" cy="3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FF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1" name="Object 6">
                <a:extLst>
                  <a:ext uri="{FF2B5EF4-FFF2-40B4-BE49-F238E27FC236}">
                    <a16:creationId xmlns:a16="http://schemas.microsoft.com/office/drawing/2014/main" id="{6CC26AA5-39F8-4CA4-BF99-43ECA6C541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84" y="3353"/>
              <a:ext cx="292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171" name="Equation" r:id="rId29" imgW="123857" imgH="180941" progId="Equation.3">
                      <p:embed/>
                    </p:oleObj>
                  </mc:Choice>
                  <mc:Fallback>
                    <p:oleObj name="Equation" r:id="rId29" imgW="123857" imgH="180941" progId="Equation.3">
                      <p:embed/>
                      <p:pic>
                        <p:nvPicPr>
                          <p:cNvPr id="9241" name="Object 6">
                            <a:extLst>
                              <a:ext uri="{FF2B5EF4-FFF2-40B4-BE49-F238E27FC236}">
                                <a16:creationId xmlns:a16="http://schemas.microsoft.com/office/drawing/2014/main" id="{6CC26AA5-39F8-4CA4-BF99-43ECA6C5412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4" y="3353"/>
                            <a:ext cx="292" cy="3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FF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42" name="Rectangle 138">
                <a:extLst>
                  <a:ext uri="{FF2B5EF4-FFF2-40B4-BE49-F238E27FC236}">
                    <a16:creationId xmlns:a16="http://schemas.microsoft.com/office/drawing/2014/main" id="{2A0E491D-C81B-4D5B-8CE2-DF394B0FA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9" y="3860"/>
                <a:ext cx="163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kumimoji="0" lang="en-US" altLang="zh-CN" sz="2000" i="1">
                    <a:solidFill>
                      <a:srgbClr val="F9C42D"/>
                    </a:solidFill>
                    <a:sym typeface="Symbol" panose="05050102010706020507" pitchFamily="18" charset="2"/>
                  </a:rPr>
                  <a:t></a:t>
                </a:r>
                <a:endParaRPr kumimoji="0" lang="en-US" altLang="zh-CN" sz="2000">
                  <a:solidFill>
                    <a:srgbClr val="F9C42D"/>
                  </a:solidFill>
                </a:endParaRPr>
              </a:p>
            </p:txBody>
          </p:sp>
        </p:grpSp>
        <p:grpSp>
          <p:nvGrpSpPr>
            <p:cNvPr id="9233" name="组合 4">
              <a:extLst>
                <a:ext uri="{FF2B5EF4-FFF2-40B4-BE49-F238E27FC236}">
                  <a16:creationId xmlns:a16="http://schemas.microsoft.com/office/drawing/2014/main" id="{D9956FB9-3674-4001-8592-D52928D2C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52320" y="2240928"/>
              <a:ext cx="144016" cy="900040"/>
              <a:chOff x="7452320" y="2240928"/>
              <a:chExt cx="144016" cy="900040"/>
            </a:xfrm>
          </p:grpSpPr>
          <p:sp>
            <p:nvSpPr>
              <p:cNvPr id="9234" name="Line 8">
                <a:extLst>
                  <a:ext uri="{FF2B5EF4-FFF2-40B4-BE49-F238E27FC236}">
                    <a16:creationId xmlns:a16="http://schemas.microsoft.com/office/drawing/2014/main" id="{4EE11689-FBA9-43DD-A7A8-4423BA7952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52320" y="2276872"/>
                <a:ext cx="0" cy="540000"/>
              </a:xfrm>
              <a:prstGeom prst="line">
                <a:avLst/>
              </a:prstGeom>
              <a:noFill/>
              <a:ln w="28575">
                <a:solidFill>
                  <a:srgbClr val="FFFF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5" name="Line 9">
                <a:extLst>
                  <a:ext uri="{FF2B5EF4-FFF2-40B4-BE49-F238E27FC236}">
                    <a16:creationId xmlns:a16="http://schemas.microsoft.com/office/drawing/2014/main" id="{D18DB5E5-B7BA-422F-8E06-A56C765477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524328" y="2240928"/>
                <a:ext cx="0" cy="540000"/>
              </a:xfrm>
              <a:prstGeom prst="line">
                <a:avLst/>
              </a:prstGeom>
              <a:noFill/>
              <a:ln w="28575">
                <a:solidFill>
                  <a:srgbClr val="66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6" name="Line 10">
                <a:extLst>
                  <a:ext uri="{FF2B5EF4-FFF2-40B4-BE49-F238E27FC236}">
                    <a16:creationId xmlns:a16="http://schemas.microsoft.com/office/drawing/2014/main" id="{110EB61B-477F-4AD3-8A3F-E27ED59D94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52320" y="2780928"/>
                <a:ext cx="0" cy="360000"/>
              </a:xfrm>
              <a:prstGeom prst="line">
                <a:avLst/>
              </a:prstGeom>
              <a:noFill/>
              <a:ln w="28575">
                <a:solidFill>
                  <a:srgbClr val="66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7" name="Line 11">
                <a:extLst>
                  <a:ext uri="{FF2B5EF4-FFF2-40B4-BE49-F238E27FC236}">
                    <a16:creationId xmlns:a16="http://schemas.microsoft.com/office/drawing/2014/main" id="{FEE0BFF6-87F8-492D-A8F4-4382BBC011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524328" y="2780968"/>
                <a:ext cx="0" cy="360000"/>
              </a:xfrm>
              <a:prstGeom prst="line">
                <a:avLst/>
              </a:prstGeom>
              <a:noFill/>
              <a:ln w="28575">
                <a:solidFill>
                  <a:srgbClr val="66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8" name="Line 12">
                <a:extLst>
                  <a:ext uri="{FF2B5EF4-FFF2-40B4-BE49-F238E27FC236}">
                    <a16:creationId xmlns:a16="http://schemas.microsoft.com/office/drawing/2014/main" id="{3464E858-394B-4C26-A419-20B630800D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596336" y="2240928"/>
                <a:ext cx="0" cy="540000"/>
              </a:xfrm>
              <a:prstGeom prst="line">
                <a:avLst/>
              </a:prstGeom>
              <a:noFill/>
              <a:ln w="28575">
                <a:solidFill>
                  <a:srgbClr val="FFCC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11909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71" grpId="0" autoUpdateAnimBg="0"/>
      <p:bldP spid="12407" grpId="0" autoUpdateAnimBg="0"/>
      <p:bldP spid="12410" grpId="0" autoUpdateAnimBg="0"/>
      <p:bldP spid="12413" grpId="0" autoUpdateAnimBg="0"/>
      <p:bldP spid="12427" grpId="0" animBg="1"/>
      <p:bldP spid="12428" grpId="0" autoUpdateAnimBg="0"/>
      <p:bldP spid="55" grpId="0"/>
      <p:bldP spid="3584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4E1CA8F8-C8E5-4DEF-B753-F50CE3426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240088"/>
            <a:ext cx="3286125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kumimoji="0" lang="zh-CN" altLang="en-US" sz="2200" dirty="0">
                <a:solidFill>
                  <a:srgbClr val="FFFF00"/>
                </a:solidFill>
              </a:rPr>
              <a:t>利用劈尖干涉测量精密工件的微小缺陷：</a:t>
            </a:r>
            <a:r>
              <a:rPr kumimoji="0" lang="zh-CN" altLang="en-US" sz="2200" dirty="0">
                <a:solidFill>
                  <a:schemeClr val="bg1"/>
                </a:solidFill>
              </a:rPr>
              <a:t>在工件表面放一平板玻璃，构成空气劈尖。用单色光垂直照射后，玻璃面上的干涉条纹，如图，请根据条纹弯曲方向说明工件表面缺陷是凹还是凸？</a:t>
            </a:r>
          </a:p>
        </p:txBody>
      </p:sp>
      <p:sp>
        <p:nvSpPr>
          <p:cNvPr id="27651" name="Text Box 25">
            <a:extLst>
              <a:ext uri="{FF2B5EF4-FFF2-40B4-BE49-F238E27FC236}">
                <a16:creationId xmlns:a16="http://schemas.microsoft.com/office/drawing/2014/main" id="{6261AE1D-3E64-4165-9E71-AA378A670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686050"/>
            <a:ext cx="368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(3)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测表面不平整度</a:t>
            </a:r>
          </a:p>
        </p:txBody>
      </p:sp>
      <p:sp>
        <p:nvSpPr>
          <p:cNvPr id="7200" name="Rectangle 15">
            <a:extLst>
              <a:ext uri="{FF2B5EF4-FFF2-40B4-BE49-F238E27FC236}">
                <a16:creationId xmlns:a16="http://schemas.microsoft.com/office/drawing/2014/main" id="{F018B4D8-7F26-495E-937D-92AC0AFF2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000375"/>
            <a:ext cx="1595437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等厚条纹</a:t>
            </a:r>
          </a:p>
        </p:txBody>
      </p:sp>
      <p:sp>
        <p:nvSpPr>
          <p:cNvPr id="7207" name="AutoShape 22">
            <a:extLst>
              <a:ext uri="{FF2B5EF4-FFF2-40B4-BE49-F238E27FC236}">
                <a16:creationId xmlns:a16="http://schemas.microsoft.com/office/drawing/2014/main" id="{3C6721F4-BF08-419C-BF8D-5733F0B5BBA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619625" y="5349875"/>
            <a:ext cx="3781425" cy="879475"/>
          </a:xfrm>
          <a:prstGeom prst="cube">
            <a:avLst>
              <a:gd name="adj" fmla="val 76208"/>
            </a:avLst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pSp>
        <p:nvGrpSpPr>
          <p:cNvPr id="2" name="组合 72">
            <a:extLst>
              <a:ext uri="{FF2B5EF4-FFF2-40B4-BE49-F238E27FC236}">
                <a16:creationId xmlns:a16="http://schemas.microsoft.com/office/drawing/2014/main" id="{5AF036F6-C949-4FDC-952A-95808DC74EAC}"/>
              </a:ext>
            </a:extLst>
          </p:cNvPr>
          <p:cNvGrpSpPr>
            <a:grpSpLocks/>
          </p:cNvGrpSpPr>
          <p:nvPr/>
        </p:nvGrpSpPr>
        <p:grpSpPr bwMode="auto">
          <a:xfrm>
            <a:off x="4906963" y="5611813"/>
            <a:ext cx="3165475" cy="112712"/>
            <a:chOff x="4906261" y="5611253"/>
            <a:chExt cx="3166201" cy="113739"/>
          </a:xfrm>
        </p:grpSpPr>
        <p:grpSp>
          <p:nvGrpSpPr>
            <p:cNvPr id="10308" name="组合 71">
              <a:extLst>
                <a:ext uri="{FF2B5EF4-FFF2-40B4-BE49-F238E27FC236}">
                  <a16:creationId xmlns:a16="http://schemas.microsoft.com/office/drawing/2014/main" id="{B9195F41-3D6A-4613-8D88-C63CB6BDA6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6261" y="5611253"/>
              <a:ext cx="3094763" cy="113739"/>
              <a:chOff x="6210936" y="5611253"/>
              <a:chExt cx="3094763" cy="113739"/>
            </a:xfrm>
          </p:grpSpPr>
          <p:sp>
            <p:nvSpPr>
              <p:cNvPr id="10311" name="Rectangle 23">
                <a:extLst>
                  <a:ext uri="{FF2B5EF4-FFF2-40B4-BE49-F238E27FC236}">
                    <a16:creationId xmlns:a16="http://schemas.microsoft.com/office/drawing/2014/main" id="{839FF57F-98ED-4205-AC60-4DCD704CF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9475" y="5611253"/>
                <a:ext cx="2996224" cy="10454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12" name="Arc 24">
                <a:extLst>
                  <a:ext uri="{FF2B5EF4-FFF2-40B4-BE49-F238E27FC236}">
                    <a16:creationId xmlns:a16="http://schemas.microsoft.com/office/drawing/2014/main" id="{B1B9548D-D542-4C73-9041-7AA721C2231B}"/>
                  </a:ext>
                </a:extLst>
              </p:cNvPr>
              <p:cNvSpPr>
                <a:spLocks/>
              </p:cNvSpPr>
              <p:nvPr/>
            </p:nvSpPr>
            <p:spPr bwMode="auto">
              <a:xfrm rot="-9190083">
                <a:off x="6210936" y="5611253"/>
                <a:ext cx="127775" cy="113739"/>
              </a:xfrm>
              <a:custGeom>
                <a:avLst/>
                <a:gdLst>
                  <a:gd name="T0" fmla="*/ 0 w 42926"/>
                  <a:gd name="T1" fmla="*/ 2147483646 h 31354"/>
                  <a:gd name="T2" fmla="*/ 2147483646 w 42926"/>
                  <a:gd name="T3" fmla="*/ 2147483646 h 31354"/>
                  <a:gd name="T4" fmla="*/ 2147483646 w 42926"/>
                  <a:gd name="T5" fmla="*/ 2147483646 h 31354"/>
                  <a:gd name="T6" fmla="*/ 0 60000 65536"/>
                  <a:gd name="T7" fmla="*/ 0 60000 65536"/>
                  <a:gd name="T8" fmla="*/ 0 60000 65536"/>
                  <a:gd name="T9" fmla="*/ 0 w 42926"/>
                  <a:gd name="T10" fmla="*/ 0 h 31354"/>
                  <a:gd name="T11" fmla="*/ 42926 w 42926"/>
                  <a:gd name="T12" fmla="*/ 31354 h 313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926" h="31354" fill="none" extrusionOk="0">
                    <a:moveTo>
                      <a:pt x="-1" y="18171"/>
                    </a:moveTo>
                    <a:cubicBezTo>
                      <a:pt x="1683" y="7700"/>
                      <a:pt x="10719" y="-1"/>
                      <a:pt x="21326" y="0"/>
                    </a:cubicBezTo>
                    <a:cubicBezTo>
                      <a:pt x="33255" y="0"/>
                      <a:pt x="42926" y="9670"/>
                      <a:pt x="42926" y="21600"/>
                    </a:cubicBezTo>
                    <a:cubicBezTo>
                      <a:pt x="42926" y="24988"/>
                      <a:pt x="42128" y="28330"/>
                      <a:pt x="40598" y="31354"/>
                    </a:cubicBezTo>
                  </a:path>
                  <a:path w="42926" h="31354" stroke="0" extrusionOk="0">
                    <a:moveTo>
                      <a:pt x="-1" y="18171"/>
                    </a:moveTo>
                    <a:cubicBezTo>
                      <a:pt x="1683" y="7700"/>
                      <a:pt x="10719" y="-1"/>
                      <a:pt x="21326" y="0"/>
                    </a:cubicBezTo>
                    <a:cubicBezTo>
                      <a:pt x="33255" y="0"/>
                      <a:pt x="42926" y="9670"/>
                      <a:pt x="42926" y="21600"/>
                    </a:cubicBezTo>
                    <a:cubicBezTo>
                      <a:pt x="42926" y="24988"/>
                      <a:pt x="42128" y="28330"/>
                      <a:pt x="40598" y="31354"/>
                    </a:cubicBezTo>
                    <a:lnTo>
                      <a:pt x="21326" y="21600"/>
                    </a:lnTo>
                    <a:lnTo>
                      <a:pt x="-1" y="18171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309" name="Line 26">
              <a:extLst>
                <a:ext uri="{FF2B5EF4-FFF2-40B4-BE49-F238E27FC236}">
                  <a16:creationId xmlns:a16="http://schemas.microsoft.com/office/drawing/2014/main" id="{1E1BB807-D97B-4279-9BD9-F4C06EAF7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4389" y="5611253"/>
              <a:ext cx="3093679" cy="11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0" name="Freeform 27">
              <a:extLst>
                <a:ext uri="{FF2B5EF4-FFF2-40B4-BE49-F238E27FC236}">
                  <a16:creationId xmlns:a16="http://schemas.microsoft.com/office/drawing/2014/main" id="{2804E6E3-2411-4DF0-96E7-EA1AF020F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8972" y="5611253"/>
              <a:ext cx="3143490" cy="104548"/>
            </a:xfrm>
            <a:custGeom>
              <a:avLst/>
              <a:gdLst>
                <a:gd name="T0" fmla="*/ 0 w 2903"/>
                <a:gd name="T1" fmla="*/ 0 h 91"/>
                <a:gd name="T2" fmla="*/ 2147483646 w 2903"/>
                <a:gd name="T3" fmla="*/ 0 h 91"/>
                <a:gd name="T4" fmla="*/ 2147483646 w 2903"/>
                <a:gd name="T5" fmla="*/ 2147483646 h 91"/>
                <a:gd name="T6" fmla="*/ 2147483646 w 2903"/>
                <a:gd name="T7" fmla="*/ 2147483646 h 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03"/>
                <a:gd name="T13" fmla="*/ 0 h 91"/>
                <a:gd name="T14" fmla="*/ 2903 w 2903"/>
                <a:gd name="T15" fmla="*/ 91 h 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03" h="91">
                  <a:moveTo>
                    <a:pt x="0" y="0"/>
                  </a:moveTo>
                  <a:lnTo>
                    <a:pt x="2812" y="0"/>
                  </a:lnTo>
                  <a:lnTo>
                    <a:pt x="2903" y="91"/>
                  </a:lnTo>
                  <a:lnTo>
                    <a:pt x="45" y="91"/>
                  </a:ln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68">
            <a:extLst>
              <a:ext uri="{FF2B5EF4-FFF2-40B4-BE49-F238E27FC236}">
                <a16:creationId xmlns:a16="http://schemas.microsoft.com/office/drawing/2014/main" id="{C3356899-235C-4329-BBB3-430E374C97FE}"/>
              </a:ext>
            </a:extLst>
          </p:cNvPr>
          <p:cNvGrpSpPr>
            <a:grpSpLocks/>
          </p:cNvGrpSpPr>
          <p:nvPr/>
        </p:nvGrpSpPr>
        <p:grpSpPr bwMode="auto">
          <a:xfrm>
            <a:off x="4598988" y="3267075"/>
            <a:ext cx="3402012" cy="947738"/>
            <a:chOff x="4599282" y="3266392"/>
            <a:chExt cx="3402167" cy="948975"/>
          </a:xfrm>
        </p:grpSpPr>
        <p:grpSp>
          <p:nvGrpSpPr>
            <p:cNvPr id="10288" name="Group 28">
              <a:extLst>
                <a:ext uri="{FF2B5EF4-FFF2-40B4-BE49-F238E27FC236}">
                  <a16:creationId xmlns:a16="http://schemas.microsoft.com/office/drawing/2014/main" id="{5723ADBB-2D88-46DD-A70A-87D018D91B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9282" y="3721349"/>
              <a:ext cx="1165138" cy="494018"/>
              <a:chOff x="1410" y="1921"/>
              <a:chExt cx="1076" cy="430"/>
            </a:xfrm>
          </p:grpSpPr>
          <p:sp>
            <p:nvSpPr>
              <p:cNvPr id="10305" name="Line 29">
                <a:extLst>
                  <a:ext uri="{FF2B5EF4-FFF2-40B4-BE49-F238E27FC236}">
                    <a16:creationId xmlns:a16="http://schemas.microsoft.com/office/drawing/2014/main" id="{009B9C46-7F22-4D51-AEC8-238CBE3D92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" y="1921"/>
                <a:ext cx="406" cy="138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6" name="Line 30">
                <a:extLst>
                  <a:ext uri="{FF2B5EF4-FFF2-40B4-BE49-F238E27FC236}">
                    <a16:creationId xmlns:a16="http://schemas.microsoft.com/office/drawing/2014/main" id="{743EA1C7-36DE-4AC1-8DD3-DB5CFA8FA1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5" y="2173"/>
                <a:ext cx="441" cy="178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7" name="Arc 31">
                <a:extLst>
                  <a:ext uri="{FF2B5EF4-FFF2-40B4-BE49-F238E27FC236}">
                    <a16:creationId xmlns:a16="http://schemas.microsoft.com/office/drawing/2014/main" id="{D6DCB51F-6FB6-43DE-BD47-3875133C193B}"/>
                  </a:ext>
                </a:extLst>
              </p:cNvPr>
              <p:cNvSpPr>
                <a:spLocks/>
              </p:cNvSpPr>
              <p:nvPr/>
            </p:nvSpPr>
            <p:spPr bwMode="auto">
              <a:xfrm rot="-9092483">
                <a:off x="1805" y="2094"/>
                <a:ext cx="224" cy="115"/>
              </a:xfrm>
              <a:custGeom>
                <a:avLst/>
                <a:gdLst>
                  <a:gd name="T0" fmla="*/ 0 w 43200"/>
                  <a:gd name="T1" fmla="*/ 0 h 23317"/>
                  <a:gd name="T2" fmla="*/ 0 w 43200"/>
                  <a:gd name="T3" fmla="*/ 0 h 23317"/>
                  <a:gd name="T4" fmla="*/ 0 w 43200"/>
                  <a:gd name="T5" fmla="*/ 0 h 23317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3317"/>
                  <a:gd name="T11" fmla="*/ 43200 w 43200"/>
                  <a:gd name="T12" fmla="*/ 23317 h 233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3317" fill="none" extrusionOk="0">
                    <a:moveTo>
                      <a:pt x="68" y="23316"/>
                    </a:moveTo>
                    <a:cubicBezTo>
                      <a:pt x="22" y="22745"/>
                      <a:pt x="0" y="2217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317" stroke="0" extrusionOk="0">
                    <a:moveTo>
                      <a:pt x="68" y="23316"/>
                    </a:moveTo>
                    <a:cubicBezTo>
                      <a:pt x="22" y="22745"/>
                      <a:pt x="0" y="2217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68" y="23316"/>
                    </a:lnTo>
                    <a:close/>
                  </a:path>
                </a:pathLst>
              </a:cu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289" name="Group 32">
              <a:extLst>
                <a:ext uri="{FF2B5EF4-FFF2-40B4-BE49-F238E27FC236}">
                  <a16:creationId xmlns:a16="http://schemas.microsoft.com/office/drawing/2014/main" id="{A160DD33-799A-4374-A007-0BA6DD5F91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0125" y="3266392"/>
              <a:ext cx="1221324" cy="591274"/>
              <a:chOff x="1410" y="1921"/>
              <a:chExt cx="1078" cy="467"/>
            </a:xfrm>
          </p:grpSpPr>
          <p:sp>
            <p:nvSpPr>
              <p:cNvPr id="10302" name="Line 33">
                <a:extLst>
                  <a:ext uri="{FF2B5EF4-FFF2-40B4-BE49-F238E27FC236}">
                    <a16:creationId xmlns:a16="http://schemas.microsoft.com/office/drawing/2014/main" id="{699C539C-3F7A-4C6B-AD1C-C74DD3CFB5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" y="1921"/>
                <a:ext cx="447" cy="185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3" name="Line 34">
                <a:extLst>
                  <a:ext uri="{FF2B5EF4-FFF2-40B4-BE49-F238E27FC236}">
                    <a16:creationId xmlns:a16="http://schemas.microsoft.com/office/drawing/2014/main" id="{54BE2B95-27E3-474D-8BCE-ED8ECC1B3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9" y="2173"/>
                <a:ext cx="489" cy="215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4" name="Arc 35">
                <a:extLst>
                  <a:ext uri="{FF2B5EF4-FFF2-40B4-BE49-F238E27FC236}">
                    <a16:creationId xmlns:a16="http://schemas.microsoft.com/office/drawing/2014/main" id="{5ED6F2DB-4E4E-4939-B82A-9BA1A3CBD169}"/>
                  </a:ext>
                </a:extLst>
              </p:cNvPr>
              <p:cNvSpPr>
                <a:spLocks/>
              </p:cNvSpPr>
              <p:nvPr/>
            </p:nvSpPr>
            <p:spPr bwMode="auto">
              <a:xfrm rot="-9092483">
                <a:off x="1805" y="2119"/>
                <a:ext cx="224" cy="115"/>
              </a:xfrm>
              <a:custGeom>
                <a:avLst/>
                <a:gdLst>
                  <a:gd name="T0" fmla="*/ 0 w 43200"/>
                  <a:gd name="T1" fmla="*/ 0 h 23317"/>
                  <a:gd name="T2" fmla="*/ 0 w 43200"/>
                  <a:gd name="T3" fmla="*/ 0 h 23317"/>
                  <a:gd name="T4" fmla="*/ 0 w 43200"/>
                  <a:gd name="T5" fmla="*/ 0 h 23317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3317"/>
                  <a:gd name="T11" fmla="*/ 43200 w 43200"/>
                  <a:gd name="T12" fmla="*/ 23317 h 233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3317" fill="none" extrusionOk="0">
                    <a:moveTo>
                      <a:pt x="68" y="23316"/>
                    </a:moveTo>
                    <a:cubicBezTo>
                      <a:pt x="22" y="22745"/>
                      <a:pt x="0" y="2217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317" stroke="0" extrusionOk="0">
                    <a:moveTo>
                      <a:pt x="68" y="23316"/>
                    </a:moveTo>
                    <a:cubicBezTo>
                      <a:pt x="22" y="22745"/>
                      <a:pt x="0" y="2217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68" y="23316"/>
                    </a:lnTo>
                    <a:close/>
                  </a:path>
                </a:pathLst>
              </a:cu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290" name="Group 36">
              <a:extLst>
                <a:ext uri="{FF2B5EF4-FFF2-40B4-BE49-F238E27FC236}">
                  <a16:creationId xmlns:a16="http://schemas.microsoft.com/office/drawing/2014/main" id="{252AB984-3E4D-4BFD-839B-26ECF5AB26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8326" y="3370940"/>
              <a:ext cx="1101251" cy="558356"/>
              <a:chOff x="1410" y="1921"/>
              <a:chExt cx="1017" cy="486"/>
            </a:xfrm>
          </p:grpSpPr>
          <p:sp>
            <p:nvSpPr>
              <p:cNvPr id="10299" name="Line 37">
                <a:extLst>
                  <a:ext uri="{FF2B5EF4-FFF2-40B4-BE49-F238E27FC236}">
                    <a16:creationId xmlns:a16="http://schemas.microsoft.com/office/drawing/2014/main" id="{4B4ED600-564E-4D35-960D-CD9CAAC393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" y="1921"/>
                <a:ext cx="414" cy="175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0" name="Line 38">
                <a:extLst>
                  <a:ext uri="{FF2B5EF4-FFF2-40B4-BE49-F238E27FC236}">
                    <a16:creationId xmlns:a16="http://schemas.microsoft.com/office/drawing/2014/main" id="{77F4F3D0-0281-471D-BC3C-6FF71E450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2" y="2218"/>
                <a:ext cx="405" cy="189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1" name="Arc 39">
                <a:extLst>
                  <a:ext uri="{FF2B5EF4-FFF2-40B4-BE49-F238E27FC236}">
                    <a16:creationId xmlns:a16="http://schemas.microsoft.com/office/drawing/2014/main" id="{1F96A015-32E8-4A5E-A218-637AE5DA1A9A}"/>
                  </a:ext>
                </a:extLst>
              </p:cNvPr>
              <p:cNvSpPr>
                <a:spLocks/>
              </p:cNvSpPr>
              <p:nvPr/>
            </p:nvSpPr>
            <p:spPr bwMode="auto">
              <a:xfrm rot="-9092483">
                <a:off x="1770" y="2124"/>
                <a:ext cx="224" cy="115"/>
              </a:xfrm>
              <a:custGeom>
                <a:avLst/>
                <a:gdLst>
                  <a:gd name="T0" fmla="*/ 0 w 43200"/>
                  <a:gd name="T1" fmla="*/ 0 h 23317"/>
                  <a:gd name="T2" fmla="*/ 0 w 43200"/>
                  <a:gd name="T3" fmla="*/ 0 h 23317"/>
                  <a:gd name="T4" fmla="*/ 0 w 43200"/>
                  <a:gd name="T5" fmla="*/ 0 h 23317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3317"/>
                  <a:gd name="T11" fmla="*/ 43200 w 43200"/>
                  <a:gd name="T12" fmla="*/ 23317 h 233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3317" fill="none" extrusionOk="0">
                    <a:moveTo>
                      <a:pt x="68" y="23316"/>
                    </a:moveTo>
                    <a:cubicBezTo>
                      <a:pt x="22" y="22745"/>
                      <a:pt x="0" y="2217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317" stroke="0" extrusionOk="0">
                    <a:moveTo>
                      <a:pt x="68" y="23316"/>
                    </a:moveTo>
                    <a:cubicBezTo>
                      <a:pt x="22" y="22745"/>
                      <a:pt x="0" y="2217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68" y="23316"/>
                    </a:lnTo>
                    <a:close/>
                  </a:path>
                </a:pathLst>
              </a:cu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291" name="Group 40">
              <a:extLst>
                <a:ext uri="{FF2B5EF4-FFF2-40B4-BE49-F238E27FC236}">
                  <a16:creationId xmlns:a16="http://schemas.microsoft.com/office/drawing/2014/main" id="{690794F2-B62F-4C44-8346-63E0BABF52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49260" y="3527186"/>
              <a:ext cx="1108830" cy="506656"/>
              <a:chOff x="1410" y="1921"/>
              <a:chExt cx="1024" cy="441"/>
            </a:xfrm>
          </p:grpSpPr>
          <p:sp>
            <p:nvSpPr>
              <p:cNvPr id="10296" name="Line 41">
                <a:extLst>
                  <a:ext uri="{FF2B5EF4-FFF2-40B4-BE49-F238E27FC236}">
                    <a16:creationId xmlns:a16="http://schemas.microsoft.com/office/drawing/2014/main" id="{5767375F-E864-421E-9142-63ACE5E25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" y="1921"/>
                <a:ext cx="430" cy="163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7" name="Line 42">
                <a:extLst>
                  <a:ext uri="{FF2B5EF4-FFF2-40B4-BE49-F238E27FC236}">
                    <a16:creationId xmlns:a16="http://schemas.microsoft.com/office/drawing/2014/main" id="{F00066D4-CB37-4DB6-8623-800FC931A7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9" y="2173"/>
                <a:ext cx="405" cy="189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8" name="Arc 43">
                <a:extLst>
                  <a:ext uri="{FF2B5EF4-FFF2-40B4-BE49-F238E27FC236}">
                    <a16:creationId xmlns:a16="http://schemas.microsoft.com/office/drawing/2014/main" id="{1DEB5242-C48B-4A8A-9F8A-9BC5BE9F2403}"/>
                  </a:ext>
                </a:extLst>
              </p:cNvPr>
              <p:cNvSpPr>
                <a:spLocks/>
              </p:cNvSpPr>
              <p:nvPr/>
            </p:nvSpPr>
            <p:spPr bwMode="auto">
              <a:xfrm rot="-9092483">
                <a:off x="1799" y="2112"/>
                <a:ext cx="224" cy="115"/>
              </a:xfrm>
              <a:custGeom>
                <a:avLst/>
                <a:gdLst>
                  <a:gd name="T0" fmla="*/ 0 w 43200"/>
                  <a:gd name="T1" fmla="*/ 0 h 23317"/>
                  <a:gd name="T2" fmla="*/ 0 w 43200"/>
                  <a:gd name="T3" fmla="*/ 0 h 23317"/>
                  <a:gd name="T4" fmla="*/ 0 w 43200"/>
                  <a:gd name="T5" fmla="*/ 0 h 23317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3317"/>
                  <a:gd name="T11" fmla="*/ 43200 w 43200"/>
                  <a:gd name="T12" fmla="*/ 23317 h 233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3317" fill="none" extrusionOk="0">
                    <a:moveTo>
                      <a:pt x="68" y="23316"/>
                    </a:moveTo>
                    <a:cubicBezTo>
                      <a:pt x="22" y="22745"/>
                      <a:pt x="0" y="2217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317" stroke="0" extrusionOk="0">
                    <a:moveTo>
                      <a:pt x="68" y="23316"/>
                    </a:moveTo>
                    <a:cubicBezTo>
                      <a:pt x="22" y="22745"/>
                      <a:pt x="0" y="2217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68" y="23316"/>
                    </a:lnTo>
                    <a:close/>
                  </a:path>
                </a:pathLst>
              </a:cu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292" name="Group 44">
              <a:extLst>
                <a:ext uri="{FF2B5EF4-FFF2-40B4-BE49-F238E27FC236}">
                  <a16:creationId xmlns:a16="http://schemas.microsoft.com/office/drawing/2014/main" id="{667A7CD0-E4E7-4344-904A-D65B3955AC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9112" y="3630585"/>
              <a:ext cx="1127239" cy="506656"/>
              <a:chOff x="1410" y="1921"/>
              <a:chExt cx="1041" cy="441"/>
            </a:xfrm>
          </p:grpSpPr>
          <p:sp>
            <p:nvSpPr>
              <p:cNvPr id="10293" name="Line 45">
                <a:extLst>
                  <a:ext uri="{FF2B5EF4-FFF2-40B4-BE49-F238E27FC236}">
                    <a16:creationId xmlns:a16="http://schemas.microsoft.com/office/drawing/2014/main" id="{CB17EC20-3138-4D4E-9EA3-520491F00D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" y="1921"/>
                <a:ext cx="406" cy="138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4" name="Line 46">
                <a:extLst>
                  <a:ext uri="{FF2B5EF4-FFF2-40B4-BE49-F238E27FC236}">
                    <a16:creationId xmlns:a16="http://schemas.microsoft.com/office/drawing/2014/main" id="{2D94F035-14C2-4685-BD23-3619C88BF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6" y="2173"/>
                <a:ext cx="405" cy="189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5" name="Arc 47">
                <a:extLst>
                  <a:ext uri="{FF2B5EF4-FFF2-40B4-BE49-F238E27FC236}">
                    <a16:creationId xmlns:a16="http://schemas.microsoft.com/office/drawing/2014/main" id="{A0FBA9F3-4E18-46C1-8C9F-9E846375A1FC}"/>
                  </a:ext>
                </a:extLst>
              </p:cNvPr>
              <p:cNvSpPr>
                <a:spLocks/>
              </p:cNvSpPr>
              <p:nvPr/>
            </p:nvSpPr>
            <p:spPr bwMode="auto">
              <a:xfrm rot="-9092483">
                <a:off x="1807" y="2100"/>
                <a:ext cx="224" cy="115"/>
              </a:xfrm>
              <a:custGeom>
                <a:avLst/>
                <a:gdLst>
                  <a:gd name="T0" fmla="*/ 0 w 43200"/>
                  <a:gd name="T1" fmla="*/ 0 h 23317"/>
                  <a:gd name="T2" fmla="*/ 0 w 43200"/>
                  <a:gd name="T3" fmla="*/ 0 h 23317"/>
                  <a:gd name="T4" fmla="*/ 0 w 43200"/>
                  <a:gd name="T5" fmla="*/ 0 h 23317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3317"/>
                  <a:gd name="T11" fmla="*/ 43200 w 43200"/>
                  <a:gd name="T12" fmla="*/ 23317 h 233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3317" fill="none" extrusionOk="0">
                    <a:moveTo>
                      <a:pt x="68" y="23316"/>
                    </a:moveTo>
                    <a:cubicBezTo>
                      <a:pt x="22" y="22745"/>
                      <a:pt x="0" y="2217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317" stroke="0" extrusionOk="0">
                    <a:moveTo>
                      <a:pt x="68" y="23316"/>
                    </a:moveTo>
                    <a:cubicBezTo>
                      <a:pt x="22" y="22745"/>
                      <a:pt x="0" y="2217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68" y="23316"/>
                    </a:lnTo>
                    <a:close/>
                  </a:path>
                </a:pathLst>
              </a:cu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组合 69">
            <a:extLst>
              <a:ext uri="{FF2B5EF4-FFF2-40B4-BE49-F238E27FC236}">
                <a16:creationId xmlns:a16="http://schemas.microsoft.com/office/drawing/2014/main" id="{647A98E4-6CB6-4D0F-8830-3C6B3A4C1CE7}"/>
              </a:ext>
            </a:extLst>
          </p:cNvPr>
          <p:cNvGrpSpPr>
            <a:grpSpLocks/>
          </p:cNvGrpSpPr>
          <p:nvPr/>
        </p:nvGrpSpPr>
        <p:grpSpPr bwMode="auto">
          <a:xfrm>
            <a:off x="4071938" y="3235325"/>
            <a:ext cx="4572000" cy="1844675"/>
            <a:chOff x="4071938" y="3235371"/>
            <a:chExt cx="4572000" cy="1843951"/>
          </a:xfrm>
        </p:grpSpPr>
        <p:sp>
          <p:nvSpPr>
            <p:cNvPr id="10267" name="Line 3">
              <a:extLst>
                <a:ext uri="{FF2B5EF4-FFF2-40B4-BE49-F238E27FC236}">
                  <a16:creationId xmlns:a16="http://schemas.microsoft.com/office/drawing/2014/main" id="{E96FFD04-44C6-4FDD-82E9-32D772DFC7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86737" y="3790280"/>
              <a:ext cx="16242" cy="421638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8" name="Line 12">
              <a:extLst>
                <a:ext uri="{FF2B5EF4-FFF2-40B4-BE49-F238E27FC236}">
                  <a16:creationId xmlns:a16="http://schemas.microsoft.com/office/drawing/2014/main" id="{CA0C5E7C-6C52-4DD6-A31C-4F93590018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69033" y="4681810"/>
              <a:ext cx="16242" cy="394065"/>
            </a:xfrm>
            <a:prstGeom prst="line">
              <a:avLst/>
            </a:prstGeom>
            <a:noFill/>
            <a:ln w="28575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69" name="组合 67">
              <a:extLst>
                <a:ext uri="{FF2B5EF4-FFF2-40B4-BE49-F238E27FC236}">
                  <a16:creationId xmlns:a16="http://schemas.microsoft.com/office/drawing/2014/main" id="{38CB0884-0E38-4553-82B5-C20AA4EB86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1938" y="3235371"/>
              <a:ext cx="4572000" cy="1843951"/>
              <a:chOff x="4071938" y="3235371"/>
              <a:chExt cx="4572000" cy="1843951"/>
            </a:xfrm>
          </p:grpSpPr>
          <p:sp>
            <p:nvSpPr>
              <p:cNvPr id="10270" name="Text Box 17">
                <a:extLst>
                  <a:ext uri="{FF2B5EF4-FFF2-40B4-BE49-F238E27FC236}">
                    <a16:creationId xmlns:a16="http://schemas.microsoft.com/office/drawing/2014/main" id="{C8D44FE6-17D2-4315-B1F8-DAF641D3AB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00937" y="3857630"/>
                <a:ext cx="1143001" cy="3285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2000">
                    <a:solidFill>
                      <a:schemeClr val="accent1"/>
                    </a:solidFill>
                    <a:ea typeface="楷体_GB2312" pitchFamily="49" charset="-122"/>
                  </a:rPr>
                  <a:t>平晶</a:t>
                </a:r>
              </a:p>
            </p:txBody>
          </p:sp>
          <p:grpSp>
            <p:nvGrpSpPr>
              <p:cNvPr id="10271" name="组合 66">
                <a:extLst>
                  <a:ext uri="{FF2B5EF4-FFF2-40B4-BE49-F238E27FC236}">
                    <a16:creationId xmlns:a16="http://schemas.microsoft.com/office/drawing/2014/main" id="{1B955AC2-D651-4E72-B3B6-99460819AE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71938" y="3235371"/>
                <a:ext cx="4286276" cy="1843951"/>
                <a:chOff x="4071938" y="3235371"/>
                <a:chExt cx="4286276" cy="1843951"/>
              </a:xfrm>
            </p:grpSpPr>
            <p:sp>
              <p:nvSpPr>
                <p:cNvPr id="10272" name="Line 4">
                  <a:extLst>
                    <a:ext uri="{FF2B5EF4-FFF2-40B4-BE49-F238E27FC236}">
                      <a16:creationId xmlns:a16="http://schemas.microsoft.com/office/drawing/2014/main" id="{1FB90D11-89BA-454B-B7EA-0BD7521D5E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933889" y="3235371"/>
                  <a:ext cx="1219280" cy="552611"/>
                </a:xfrm>
                <a:prstGeom prst="line">
                  <a:avLst/>
                </a:prstGeom>
                <a:noFill/>
                <a:ln w="28575">
                  <a:solidFill>
                    <a:srgbClr val="76FB4D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3" name="Line 5">
                  <a:extLst>
                    <a:ext uri="{FF2B5EF4-FFF2-40B4-BE49-F238E27FC236}">
                      <a16:creationId xmlns:a16="http://schemas.microsoft.com/office/drawing/2014/main" id="{FAD33E40-C95D-4E87-BA3F-09D18D90A7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1938" y="3850022"/>
                  <a:ext cx="0" cy="805364"/>
                </a:xfrm>
                <a:prstGeom prst="line">
                  <a:avLst/>
                </a:prstGeom>
                <a:noFill/>
                <a:ln w="28575">
                  <a:solidFill>
                    <a:srgbClr val="76FB4D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4" name="Line 6">
                  <a:extLst>
                    <a:ext uri="{FF2B5EF4-FFF2-40B4-BE49-F238E27FC236}">
                      <a16:creationId xmlns:a16="http://schemas.microsoft.com/office/drawing/2014/main" id="{6D7A5EB1-FEBF-45A4-B8DF-0F403B604C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24786" y="4290042"/>
                  <a:ext cx="0" cy="766303"/>
                </a:xfrm>
                <a:prstGeom prst="line">
                  <a:avLst/>
                </a:prstGeom>
                <a:noFill/>
                <a:ln w="28575">
                  <a:solidFill>
                    <a:srgbClr val="76FB4D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5" name="Line 7">
                  <a:extLst>
                    <a:ext uri="{FF2B5EF4-FFF2-40B4-BE49-F238E27FC236}">
                      <a16:creationId xmlns:a16="http://schemas.microsoft.com/office/drawing/2014/main" id="{D12680AA-7339-4384-8481-6256BB0791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1938" y="3843128"/>
                  <a:ext cx="1252848" cy="476784"/>
                </a:xfrm>
                <a:prstGeom prst="line">
                  <a:avLst/>
                </a:prstGeom>
                <a:noFill/>
                <a:ln w="25400">
                  <a:solidFill>
                    <a:srgbClr val="76FB4D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6" name="Line 8">
                  <a:extLst>
                    <a:ext uri="{FF2B5EF4-FFF2-40B4-BE49-F238E27FC236}">
                      <a16:creationId xmlns:a16="http://schemas.microsoft.com/office/drawing/2014/main" id="{8E8FA1AD-7F05-4C92-BA22-AF18840325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1938" y="4238343"/>
                  <a:ext cx="1252848" cy="473338"/>
                </a:xfrm>
                <a:prstGeom prst="line">
                  <a:avLst/>
                </a:prstGeom>
                <a:noFill/>
                <a:ln w="28575">
                  <a:solidFill>
                    <a:srgbClr val="76FB4D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7" name="Line 9">
                  <a:extLst>
                    <a:ext uri="{FF2B5EF4-FFF2-40B4-BE49-F238E27FC236}">
                      <a16:creationId xmlns:a16="http://schemas.microsoft.com/office/drawing/2014/main" id="{203F21EF-AEA2-4A5F-908F-E6E2612885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1938" y="4605984"/>
                  <a:ext cx="1252848" cy="473338"/>
                </a:xfrm>
                <a:prstGeom prst="line">
                  <a:avLst/>
                </a:prstGeom>
                <a:noFill/>
                <a:ln w="28575">
                  <a:solidFill>
                    <a:srgbClr val="76FB4D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8" name="Line 10">
                  <a:extLst>
                    <a:ext uri="{FF2B5EF4-FFF2-40B4-BE49-F238E27FC236}">
                      <a16:creationId xmlns:a16="http://schemas.microsoft.com/office/drawing/2014/main" id="{EF8749F2-F3E3-416C-A5A4-010C2FD4BE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07460" y="4681808"/>
                  <a:ext cx="2979316" cy="45719"/>
                </a:xfrm>
                <a:prstGeom prst="line">
                  <a:avLst/>
                </a:prstGeom>
                <a:noFill/>
                <a:ln w="28575">
                  <a:solidFill>
                    <a:srgbClr val="76FB4D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9" name="Line 11">
                  <a:extLst>
                    <a:ext uri="{FF2B5EF4-FFF2-40B4-BE49-F238E27FC236}">
                      <a16:creationId xmlns:a16="http://schemas.microsoft.com/office/drawing/2014/main" id="{CC4B341C-90CA-47E9-91D6-E53EA763C0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02046" y="5075875"/>
                  <a:ext cx="3010301" cy="0"/>
                </a:xfrm>
                <a:prstGeom prst="line">
                  <a:avLst/>
                </a:prstGeom>
                <a:noFill/>
                <a:ln w="28575">
                  <a:solidFill>
                    <a:srgbClr val="76FB4D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80" name="Line 13">
                  <a:extLst>
                    <a:ext uri="{FF2B5EF4-FFF2-40B4-BE49-F238E27FC236}">
                      <a16:creationId xmlns:a16="http://schemas.microsoft.com/office/drawing/2014/main" id="{810E8A93-C656-4CD9-B163-E80CA5E9C8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93595" y="3242264"/>
                  <a:ext cx="2861951" cy="630735"/>
                </a:xfrm>
                <a:prstGeom prst="line">
                  <a:avLst/>
                </a:prstGeom>
                <a:noFill/>
                <a:ln w="28575">
                  <a:solidFill>
                    <a:srgbClr val="76FB4D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81" name="Line 14">
                  <a:extLst>
                    <a:ext uri="{FF2B5EF4-FFF2-40B4-BE49-F238E27FC236}">
                      <a16:creationId xmlns:a16="http://schemas.microsoft.com/office/drawing/2014/main" id="{142A2A16-D979-4360-8049-E068B9A6C8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07460" y="3787982"/>
                  <a:ext cx="2895519" cy="512400"/>
                </a:xfrm>
                <a:prstGeom prst="line">
                  <a:avLst/>
                </a:prstGeom>
                <a:noFill/>
                <a:ln w="28575">
                  <a:solidFill>
                    <a:srgbClr val="76FB4D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82" name="Text Box 16">
                  <a:extLst>
                    <a:ext uri="{FF2B5EF4-FFF2-40B4-BE49-F238E27FC236}">
                      <a16:creationId xmlns:a16="http://schemas.microsoft.com/office/drawing/2014/main" id="{B3299846-3AB7-4643-925C-18585A0E4E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38288" y="4714884"/>
                  <a:ext cx="2519926" cy="3216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000">
                      <a:solidFill>
                        <a:schemeClr val="accent1"/>
                      </a:solidFill>
                      <a:ea typeface="楷体_GB2312" pitchFamily="49" charset="-122"/>
                    </a:rPr>
                    <a:t>　　　　　待测工件</a:t>
                  </a:r>
                </a:p>
              </p:txBody>
            </p:sp>
            <p:sp>
              <p:nvSpPr>
                <p:cNvPr id="10283" name="Line 18">
                  <a:extLst>
                    <a:ext uri="{FF2B5EF4-FFF2-40B4-BE49-F238E27FC236}">
                      <a16:creationId xmlns:a16="http://schemas.microsoft.com/office/drawing/2014/main" id="{98C2810E-7227-4506-8A7C-40D00C203F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24786" y="4182047"/>
                  <a:ext cx="2878194" cy="473338"/>
                </a:xfrm>
                <a:prstGeom prst="line">
                  <a:avLst/>
                </a:prstGeom>
                <a:noFill/>
                <a:ln w="28575">
                  <a:solidFill>
                    <a:srgbClr val="76FB4D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84" name="AutoShape 19">
                  <a:extLst>
                    <a:ext uri="{FF2B5EF4-FFF2-40B4-BE49-F238E27FC236}">
                      <a16:creationId xmlns:a16="http://schemas.microsoft.com/office/drawing/2014/main" id="{18319636-2F99-4801-8A22-2B803AAC28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33026" y="4293489"/>
                  <a:ext cx="296699" cy="374535"/>
                </a:xfrm>
                <a:prstGeom prst="flowChartConnector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kumimoji="0"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285" name="Line 20">
                  <a:extLst>
                    <a:ext uri="{FF2B5EF4-FFF2-40B4-BE49-F238E27FC236}">
                      <a16:creationId xmlns:a16="http://schemas.microsoft.com/office/drawing/2014/main" id="{918196E1-319A-4B19-93D5-E63A4A3D86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39250" y="4365868"/>
                  <a:ext cx="559830" cy="276880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86" name="Line 21">
                  <a:extLst>
                    <a:ext uri="{FF2B5EF4-FFF2-40B4-BE49-F238E27FC236}">
                      <a16:creationId xmlns:a16="http://schemas.microsoft.com/office/drawing/2014/main" id="{84E59165-16FA-4BCB-B352-D9631304DC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029725" y="4524413"/>
                  <a:ext cx="247971" cy="157397"/>
                </a:xfrm>
                <a:prstGeom prst="line">
                  <a:avLst/>
                </a:prstGeom>
                <a:noFill/>
                <a:ln w="28575">
                  <a:solidFill>
                    <a:srgbClr val="76FB4D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87" name="Line 48">
                  <a:extLst>
                    <a:ext uri="{FF2B5EF4-FFF2-40B4-BE49-F238E27FC236}">
                      <a16:creationId xmlns:a16="http://schemas.microsoft.com/office/drawing/2014/main" id="{52BB526B-FE19-4AB0-AA98-F240BE826A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763346" y="4256725"/>
                  <a:ext cx="147266" cy="51699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18" name="Line 49">
            <a:extLst>
              <a:ext uri="{FF2B5EF4-FFF2-40B4-BE49-F238E27FC236}">
                <a16:creationId xmlns:a16="http://schemas.microsoft.com/office/drawing/2014/main" id="{D0970C1D-2A72-4AE8-8A75-4837C9BF11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73913" y="3787775"/>
            <a:ext cx="47625" cy="2032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19" name="Line 50">
            <a:extLst>
              <a:ext uri="{FF2B5EF4-FFF2-40B4-BE49-F238E27FC236}">
                <a16:creationId xmlns:a16="http://schemas.microsoft.com/office/drawing/2014/main" id="{870FEDC5-9810-4A2D-AF11-0C6614FD63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0213" y="3683000"/>
            <a:ext cx="49212" cy="1981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Group 50">
            <a:extLst>
              <a:ext uri="{FF2B5EF4-FFF2-40B4-BE49-F238E27FC236}">
                <a16:creationId xmlns:a16="http://schemas.microsoft.com/office/drawing/2014/main" id="{432EEDF5-2F39-4362-AC85-52E1C7EFB060}"/>
              </a:ext>
            </a:extLst>
          </p:cNvPr>
          <p:cNvGrpSpPr>
            <a:grpSpLocks/>
          </p:cNvGrpSpPr>
          <p:nvPr/>
        </p:nvGrpSpPr>
        <p:grpSpPr bwMode="auto">
          <a:xfrm>
            <a:off x="4460875" y="1643063"/>
            <a:ext cx="2182813" cy="990600"/>
            <a:chOff x="1005" y="3441"/>
            <a:chExt cx="1375" cy="624"/>
          </a:xfrm>
        </p:grpSpPr>
        <p:sp>
          <p:nvSpPr>
            <p:cNvPr id="10259" name="Rectangle 51">
              <a:extLst>
                <a:ext uri="{FF2B5EF4-FFF2-40B4-BE49-F238E27FC236}">
                  <a16:creationId xmlns:a16="http://schemas.microsoft.com/office/drawing/2014/main" id="{13B59091-2261-4F88-9C6F-C191C7F8A1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15807">
              <a:off x="1005" y="3647"/>
              <a:ext cx="1005" cy="121"/>
            </a:xfrm>
            <a:prstGeom prst="rect">
              <a:avLst/>
            </a:prstGeom>
            <a:solidFill>
              <a:srgbClr val="00CC99">
                <a:alpha val="50195"/>
              </a:srgbClr>
            </a:solidFill>
            <a:ln w="9525">
              <a:solidFill>
                <a:srgbClr val="00CC99">
                  <a:alpha val="61176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260" name="Rectangle 52">
              <a:extLst>
                <a:ext uri="{FF2B5EF4-FFF2-40B4-BE49-F238E27FC236}">
                  <a16:creationId xmlns:a16="http://schemas.microsoft.com/office/drawing/2014/main" id="{C922F2F7-64FF-499F-832B-57CD9AB94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" y="3876"/>
              <a:ext cx="987" cy="144"/>
            </a:xfrm>
            <a:prstGeom prst="rect">
              <a:avLst/>
            </a:prstGeom>
            <a:solidFill>
              <a:srgbClr val="00CC99">
                <a:alpha val="50195"/>
              </a:srgbClr>
            </a:solidFill>
            <a:ln w="9525">
              <a:solidFill>
                <a:srgbClr val="00CC99">
                  <a:alpha val="61960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261" name="Oval 53">
              <a:extLst>
                <a:ext uri="{FF2B5EF4-FFF2-40B4-BE49-F238E27FC236}">
                  <a16:creationId xmlns:a16="http://schemas.microsoft.com/office/drawing/2014/main" id="{DB6D6CF1-22F9-4082-9725-BE04F12EB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7" y="3668"/>
              <a:ext cx="212" cy="205"/>
            </a:xfrm>
            <a:prstGeom prst="ellipse">
              <a:avLst/>
            </a:prstGeom>
            <a:gradFill rotWithShape="1">
              <a:gsLst>
                <a:gs pos="0">
                  <a:srgbClr val="765E00">
                    <a:alpha val="71999"/>
                  </a:srgbClr>
                </a:gs>
                <a:gs pos="100000">
                  <a:srgbClr val="FFCC00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262" name="Line 54">
              <a:extLst>
                <a:ext uri="{FF2B5EF4-FFF2-40B4-BE49-F238E27FC236}">
                  <a16:creationId xmlns:a16="http://schemas.microsoft.com/office/drawing/2014/main" id="{98C8C522-8AFA-4B20-B38A-96F73230A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3644"/>
              <a:ext cx="329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3" name="Line 55">
              <a:extLst>
                <a:ext uri="{FF2B5EF4-FFF2-40B4-BE49-F238E27FC236}">
                  <a16:creationId xmlns:a16="http://schemas.microsoft.com/office/drawing/2014/main" id="{0A594B4B-2F15-4A6A-AD7A-21906E147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6" y="3873"/>
              <a:ext cx="329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4" name="Line 56">
              <a:extLst>
                <a:ext uri="{FF2B5EF4-FFF2-40B4-BE49-F238E27FC236}">
                  <a16:creationId xmlns:a16="http://schemas.microsoft.com/office/drawing/2014/main" id="{CC3B2EB9-792A-45E4-B543-28746BA09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5" y="3441"/>
              <a:ext cx="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5" name="Line 57">
              <a:extLst>
                <a:ext uri="{FF2B5EF4-FFF2-40B4-BE49-F238E27FC236}">
                  <a16:creationId xmlns:a16="http://schemas.microsoft.com/office/drawing/2014/main" id="{771906BB-FDDA-4953-ADF2-35DC963FBA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5" y="3873"/>
              <a:ext cx="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6" name="Text Box 58">
              <a:extLst>
                <a:ext uri="{FF2B5EF4-FFF2-40B4-BE49-F238E27FC236}">
                  <a16:creationId xmlns:a16="http://schemas.microsoft.com/office/drawing/2014/main" id="{7E5C7B70-AEC0-4807-9BC3-BB3F7E982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" y="3604"/>
              <a:ext cx="2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 dirty="0">
                  <a:solidFill>
                    <a:srgbClr val="FFFFFF"/>
                  </a:solidFill>
                </a:rPr>
                <a:t>D</a:t>
              </a:r>
            </a:p>
          </p:txBody>
        </p:sp>
      </p:grpSp>
      <p:sp>
        <p:nvSpPr>
          <p:cNvPr id="61" name="Text Box 89">
            <a:extLst>
              <a:ext uri="{FF2B5EF4-FFF2-40B4-BE49-F238E27FC236}">
                <a16:creationId xmlns:a16="http://schemas.microsoft.com/office/drawing/2014/main" id="{4F541C65-D1D1-4B0C-AC87-B52B2949B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85738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62" name="Rectangle 90">
            <a:extLst>
              <a:ext uri="{FF2B5EF4-FFF2-40B4-BE49-F238E27FC236}">
                <a16:creationId xmlns:a16="http://schemas.microsoft.com/office/drawing/2014/main" id="{504C279C-3A7B-44A6-A325-AEC8E6570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700088"/>
            <a:ext cx="5121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空气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劈尖，顶点处是一暗纹</a:t>
            </a:r>
          </a:p>
        </p:txBody>
      </p:sp>
      <p:sp>
        <p:nvSpPr>
          <p:cNvPr id="63" name="Text Box 91">
            <a:extLst>
              <a:ext uri="{FF2B5EF4-FFF2-40B4-BE49-F238E27FC236}">
                <a16:creationId xmlns:a16="http://schemas.microsoft.com/office/drawing/2014/main" id="{87794616-5721-4466-ABFD-9942BA9B9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1260475"/>
            <a:ext cx="79422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可测量小角度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θ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、微位移 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x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、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微小直径</a:t>
            </a:r>
            <a:r>
              <a:rPr lang="zh-CN" altLang="en-US" sz="1800" i="1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i="1">
                <a:solidFill>
                  <a:srgbClr val="66FFFF"/>
                </a:solidFill>
                <a:latin typeface="Arial" panose="020B0604020202020204" pitchFamily="34" charset="0"/>
              </a:rPr>
              <a:t>D</a:t>
            </a:r>
            <a:r>
              <a:rPr lang="zh-CN" altLang="en-US" sz="1800" i="1">
                <a:solidFill>
                  <a:srgbClr val="66FFFF"/>
                </a:solidFill>
                <a:latin typeface="Arial" panose="020B0604020202020204" pitchFamily="34" charset="0"/>
              </a:rPr>
              <a:t>、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波长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λ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等</a:t>
            </a:r>
          </a:p>
        </p:txBody>
      </p:sp>
      <p:sp>
        <p:nvSpPr>
          <p:cNvPr id="64" name="AutoShape 92">
            <a:extLst>
              <a:ext uri="{FF2B5EF4-FFF2-40B4-BE49-F238E27FC236}">
                <a16:creationId xmlns:a16="http://schemas.microsoft.com/office/drawing/2014/main" id="{14DE7489-1793-4B43-861D-F4CBCE49F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142875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2427" name="Object 4">
            <a:extLst>
              <a:ext uri="{FF2B5EF4-FFF2-40B4-BE49-F238E27FC236}">
                <a16:creationId xmlns:a16="http://schemas.microsoft.com/office/drawing/2014/main" id="{D21ECF23-EA5E-410E-9A29-6015860B5E0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14563" y="1809825"/>
          <a:ext cx="17780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15" name="Equation" r:id="rId3" imgW="809504" imgH="390661" progId="Equation.3">
                  <p:embed/>
                </p:oleObj>
              </mc:Choice>
              <mc:Fallback>
                <p:oleObj name="Equation" r:id="rId3" imgW="809504" imgH="390661" progId="Equation.3">
                  <p:embed/>
                  <p:pic>
                    <p:nvPicPr>
                      <p:cNvPr id="12427" name="Object 4">
                        <a:extLst>
                          <a:ext uri="{FF2B5EF4-FFF2-40B4-BE49-F238E27FC236}">
                            <a16:creationId xmlns:a16="http://schemas.microsoft.com/office/drawing/2014/main" id="{D21ECF23-EA5E-410E-9A29-6015860B5E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1809825"/>
                        <a:ext cx="17780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灯片编号占位符 1">
            <a:extLst>
              <a:ext uri="{FF2B5EF4-FFF2-40B4-BE49-F238E27FC236}">
                <a16:creationId xmlns:a16="http://schemas.microsoft.com/office/drawing/2014/main" id="{66E641B1-5418-45D6-A8AF-1E79F617890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900946-BB8D-4216-AE1D-991920EC11DE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74" name="Text Box 89">
            <a:extLst>
              <a:ext uri="{FF2B5EF4-FFF2-40B4-BE49-F238E27FC236}">
                <a16:creationId xmlns:a16="http://schemas.microsoft.com/office/drawing/2014/main" id="{D4498406-8688-4808-AEAE-F0DD81A1E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5614988"/>
            <a:ext cx="928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凹陷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/>
      <p:bldP spid="7200" grpId="0"/>
      <p:bldP spid="7207" grpId="0" animBg="1"/>
      <p:bldP spid="61" grpId="0"/>
      <p:bldP spid="62" grpId="0" autoUpdateAnimBg="0"/>
      <p:bldP spid="63" grpId="0" autoUpdateAnimBg="0"/>
      <p:bldP spid="64" grpId="0" animBg="1"/>
      <p:bldP spid="7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522" name="Object 2">
            <a:extLst>
              <a:ext uri="{FF2B5EF4-FFF2-40B4-BE49-F238E27FC236}">
                <a16:creationId xmlns:a16="http://schemas.microsoft.com/office/drawing/2014/main" id="{46D99ABD-FFDC-4D1F-B840-8E793347FB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1219200"/>
          <a:ext cx="42672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0" name="公式" r:id="rId4" imgW="1815312" imgH="393529" progId="Equation.3">
                  <p:embed/>
                </p:oleObj>
              </mc:Choice>
              <mc:Fallback>
                <p:oleObj name="公式" r:id="rId4" imgW="1815312" imgH="393529" progId="Equation.3">
                  <p:embed/>
                  <p:pic>
                    <p:nvPicPr>
                      <p:cNvPr id="107522" name="Object 2">
                        <a:extLst>
                          <a:ext uri="{FF2B5EF4-FFF2-40B4-BE49-F238E27FC236}">
                            <a16:creationId xmlns:a16="http://schemas.microsoft.com/office/drawing/2014/main" id="{46D99ABD-FFDC-4D1F-B840-8E793347FB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19200"/>
                        <a:ext cx="4267200" cy="9255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Text Box 3">
            <a:extLst>
              <a:ext uri="{FF2B5EF4-FFF2-40B4-BE49-F238E27FC236}">
                <a16:creationId xmlns:a16="http://schemas.microsoft.com/office/drawing/2014/main" id="{8393796A-41DB-4889-AABA-D9752BE48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80975"/>
            <a:ext cx="399415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(4)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 条纹的移动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89A9987-9959-4508-9AFC-782DAC6618A2}"/>
              </a:ext>
            </a:extLst>
          </p:cNvPr>
          <p:cNvGrpSpPr>
            <a:grpSpLocks/>
          </p:cNvGrpSpPr>
          <p:nvPr/>
        </p:nvGrpSpPr>
        <p:grpSpPr bwMode="auto">
          <a:xfrm>
            <a:off x="1285875" y="3497263"/>
            <a:ext cx="2447925" cy="1371600"/>
            <a:chOff x="3786" y="1195"/>
            <a:chExt cx="1542" cy="864"/>
          </a:xfrm>
        </p:grpSpPr>
        <p:grpSp>
          <p:nvGrpSpPr>
            <p:cNvPr id="11338" name="Group 5">
              <a:extLst>
                <a:ext uri="{FF2B5EF4-FFF2-40B4-BE49-F238E27FC236}">
                  <a16:creationId xmlns:a16="http://schemas.microsoft.com/office/drawing/2014/main" id="{37CB570B-D45E-48F6-81E2-5A1AE08D5E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6" y="1776"/>
              <a:ext cx="1542" cy="240"/>
              <a:chOff x="3930" y="1728"/>
              <a:chExt cx="1542" cy="240"/>
            </a:xfrm>
          </p:grpSpPr>
          <p:sp>
            <p:nvSpPr>
              <p:cNvPr id="11340" name="Line 6">
                <a:extLst>
                  <a:ext uri="{FF2B5EF4-FFF2-40B4-BE49-F238E27FC236}">
                    <a16:creationId xmlns:a16="http://schemas.microsoft.com/office/drawing/2014/main" id="{71BD6139-61FA-498C-95BD-D284C21BF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36" y="1728"/>
                <a:ext cx="1536" cy="24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41" name="Line 7">
                <a:extLst>
                  <a:ext uri="{FF2B5EF4-FFF2-40B4-BE49-F238E27FC236}">
                    <a16:creationId xmlns:a16="http://schemas.microsoft.com/office/drawing/2014/main" id="{B41C364E-52ED-4E8D-8E5C-5EC1EA8B5E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0" y="1968"/>
                <a:ext cx="1542" cy="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339" name="Line 8">
              <a:extLst>
                <a:ext uri="{FF2B5EF4-FFF2-40B4-BE49-F238E27FC236}">
                  <a16:creationId xmlns:a16="http://schemas.microsoft.com/office/drawing/2014/main" id="{C5F192B4-E193-422C-B801-06F7187CE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195"/>
              <a:ext cx="0" cy="864"/>
            </a:xfrm>
            <a:prstGeom prst="line">
              <a:avLst/>
            </a:prstGeom>
            <a:noFill/>
            <a:ln w="25400">
              <a:solidFill>
                <a:srgbClr val="FF66FF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7533" name="Line 13">
            <a:extLst>
              <a:ext uri="{FF2B5EF4-FFF2-40B4-BE49-F238E27FC236}">
                <a16:creationId xmlns:a16="http://schemas.microsoft.com/office/drawing/2014/main" id="{FF98AC72-E56D-42B2-992A-E5CCAD4ECA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00200" y="4572000"/>
            <a:ext cx="990600" cy="0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9FA86D9E-BF66-4768-88D2-4FF1F6AB6015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800600"/>
            <a:ext cx="2438400" cy="1371600"/>
            <a:chOff x="3792" y="1152"/>
            <a:chExt cx="1536" cy="864"/>
          </a:xfrm>
        </p:grpSpPr>
        <p:grpSp>
          <p:nvGrpSpPr>
            <p:cNvPr id="11334" name="Group 15">
              <a:extLst>
                <a:ext uri="{FF2B5EF4-FFF2-40B4-BE49-F238E27FC236}">
                  <a16:creationId xmlns:a16="http://schemas.microsoft.com/office/drawing/2014/main" id="{7368F8A5-7A9E-4F26-BAD7-543C873376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776"/>
              <a:ext cx="1536" cy="240"/>
              <a:chOff x="3936" y="1728"/>
              <a:chExt cx="1536" cy="240"/>
            </a:xfrm>
          </p:grpSpPr>
          <p:sp>
            <p:nvSpPr>
              <p:cNvPr id="11336" name="Line 16">
                <a:extLst>
                  <a:ext uri="{FF2B5EF4-FFF2-40B4-BE49-F238E27FC236}">
                    <a16:creationId xmlns:a16="http://schemas.microsoft.com/office/drawing/2014/main" id="{ACFCB184-24FC-4B34-A1CE-0E3D5C817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36" y="1728"/>
                <a:ext cx="1536" cy="24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7" name="Line 17">
                <a:extLst>
                  <a:ext uri="{FF2B5EF4-FFF2-40B4-BE49-F238E27FC236}">
                    <a16:creationId xmlns:a16="http://schemas.microsoft.com/office/drawing/2014/main" id="{4D95F3CB-109B-4585-A2A2-842638A04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1968"/>
                <a:ext cx="1536" cy="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335" name="Line 18">
              <a:extLst>
                <a:ext uri="{FF2B5EF4-FFF2-40B4-BE49-F238E27FC236}">
                  <a16:creationId xmlns:a16="http://schemas.microsoft.com/office/drawing/2014/main" id="{753733E7-37BD-49C2-9EB8-0BBF95D14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152"/>
              <a:ext cx="0" cy="864"/>
            </a:xfrm>
            <a:prstGeom prst="line">
              <a:avLst/>
            </a:prstGeom>
            <a:noFill/>
            <a:ln w="25400">
              <a:solidFill>
                <a:srgbClr val="FF66FF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BB142429-A2B4-4AC4-811A-4417704E071D}"/>
              </a:ext>
            </a:extLst>
          </p:cNvPr>
          <p:cNvGrpSpPr>
            <a:grpSpLocks/>
          </p:cNvGrpSpPr>
          <p:nvPr/>
        </p:nvGrpSpPr>
        <p:grpSpPr bwMode="auto">
          <a:xfrm>
            <a:off x="142875" y="5456238"/>
            <a:ext cx="3438525" cy="830262"/>
            <a:chOff x="90" y="3437"/>
            <a:chExt cx="2166" cy="523"/>
          </a:xfrm>
        </p:grpSpPr>
        <p:sp>
          <p:nvSpPr>
            <p:cNvPr id="11332" name="Line 20">
              <a:extLst>
                <a:ext uri="{FF2B5EF4-FFF2-40B4-BE49-F238E27FC236}">
                  <a16:creationId xmlns:a16="http://schemas.microsoft.com/office/drawing/2014/main" id="{CF963BEE-73DB-44BF-8E80-1FD659A33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3504"/>
              <a:ext cx="1440" cy="38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Text Box 21">
              <a:extLst>
                <a:ext uri="{FF2B5EF4-FFF2-40B4-BE49-F238E27FC236}">
                  <a16:creationId xmlns:a16="http://schemas.microsoft.com/office/drawing/2014/main" id="{F3A95EE8-1F9F-46C9-9957-44D708B67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" y="3437"/>
              <a:ext cx="768" cy="52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rgbClr val="FFFF00"/>
                  </a:solidFill>
                  <a:latin typeface="宋体" panose="02010600030101010101" pitchFamily="2" charset="-122"/>
                </a:rPr>
                <a:t>改变</a:t>
              </a:r>
              <a:endParaRPr kumimoji="0" lang="en-US" altLang="zh-CN">
                <a:solidFill>
                  <a:srgbClr val="FFFF00"/>
                </a:solidFill>
                <a:latin typeface="宋体" panose="02010600030101010101" pitchFamily="2" charset="-122"/>
              </a:endParaRPr>
            </a:p>
            <a:p>
              <a:pPr algn="ctr" eaLnBrk="1" hangingPunct="1"/>
              <a:r>
                <a:rPr kumimoji="0" lang="zh-CN" altLang="en-US">
                  <a:solidFill>
                    <a:srgbClr val="FFFF00"/>
                  </a:solidFill>
                  <a:latin typeface="宋体" panose="02010600030101010101" pitchFamily="2" charset="-122"/>
                </a:rPr>
                <a:t>夹角</a:t>
              </a:r>
            </a:p>
          </p:txBody>
        </p:sp>
      </p:grpSp>
      <p:sp>
        <p:nvSpPr>
          <p:cNvPr id="107542" name="Line 22">
            <a:extLst>
              <a:ext uri="{FF2B5EF4-FFF2-40B4-BE49-F238E27FC236}">
                <a16:creationId xmlns:a16="http://schemas.microsoft.com/office/drawing/2014/main" id="{0D13359D-E252-4C10-888B-3BC31CB5C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9950" y="5943600"/>
            <a:ext cx="503238" cy="0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43" name="Text Box 23">
            <a:extLst>
              <a:ext uri="{FF2B5EF4-FFF2-40B4-BE49-F238E27FC236}">
                <a16:creationId xmlns:a16="http://schemas.microsoft.com/office/drawing/2014/main" id="{DF7FE122-7D18-49E2-AB2B-1C153F1B0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180975"/>
            <a:ext cx="4271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(5)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条纹疏密的变化</a:t>
            </a:r>
          </a:p>
        </p:txBody>
      </p:sp>
      <p:sp>
        <p:nvSpPr>
          <p:cNvPr id="107556" name="Text Box 36">
            <a:extLst>
              <a:ext uri="{FF2B5EF4-FFF2-40B4-BE49-F238E27FC236}">
                <a16:creationId xmlns:a16="http://schemas.microsoft.com/office/drawing/2014/main" id="{4C20937F-2298-466C-9778-1D7FAEC70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681038"/>
            <a:ext cx="4648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00FFFF"/>
                </a:solidFill>
                <a:ea typeface="楷体_GB2312" pitchFamily="49" charset="-122"/>
              </a:rPr>
              <a:t>反映薄膜厚度的变化</a:t>
            </a:r>
          </a:p>
        </p:txBody>
      </p:sp>
      <p:sp>
        <p:nvSpPr>
          <p:cNvPr id="107557" name="Text Box 37">
            <a:extLst>
              <a:ext uri="{FF2B5EF4-FFF2-40B4-BE49-F238E27FC236}">
                <a16:creationId xmlns:a16="http://schemas.microsoft.com/office/drawing/2014/main" id="{E0ED80C1-4369-4E19-8C42-590DB339B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685800"/>
            <a:ext cx="3333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00FFFF"/>
                </a:solidFill>
                <a:ea typeface="楷体_GB2312" pitchFamily="49" charset="-122"/>
              </a:rPr>
              <a:t>反映夹角的改变</a:t>
            </a:r>
          </a:p>
        </p:txBody>
      </p:sp>
      <p:grpSp>
        <p:nvGrpSpPr>
          <p:cNvPr id="7" name="Group 38">
            <a:extLst>
              <a:ext uri="{FF2B5EF4-FFF2-40B4-BE49-F238E27FC236}">
                <a16:creationId xmlns:a16="http://schemas.microsoft.com/office/drawing/2014/main" id="{7167ED3E-3ED5-4C93-8127-E15CAC44BAC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357438"/>
            <a:ext cx="3279775" cy="1531937"/>
            <a:chOff x="3408" y="571"/>
            <a:chExt cx="1623" cy="944"/>
          </a:xfrm>
        </p:grpSpPr>
        <p:sp>
          <p:nvSpPr>
            <p:cNvPr id="11316" name="Line 39">
              <a:extLst>
                <a:ext uri="{FF2B5EF4-FFF2-40B4-BE49-F238E27FC236}">
                  <a16:creationId xmlns:a16="http://schemas.microsoft.com/office/drawing/2014/main" id="{6C86E7FF-141A-405D-B8F5-FD8E923C17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1" y="769"/>
              <a:ext cx="271" cy="417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7" name="Line 40">
              <a:extLst>
                <a:ext uri="{FF2B5EF4-FFF2-40B4-BE49-F238E27FC236}">
                  <a16:creationId xmlns:a16="http://schemas.microsoft.com/office/drawing/2014/main" id="{98708755-A3AA-4C49-8928-BE184CB756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026"/>
              <a:ext cx="271" cy="418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8" name="Line 41">
              <a:extLst>
                <a:ext uri="{FF2B5EF4-FFF2-40B4-BE49-F238E27FC236}">
                  <a16:creationId xmlns:a16="http://schemas.microsoft.com/office/drawing/2014/main" id="{F558D6E1-ECD0-415E-A7EF-78B865C8A7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0" y="1175"/>
              <a:ext cx="1349" cy="269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9" name="Line 42">
              <a:extLst>
                <a:ext uri="{FF2B5EF4-FFF2-40B4-BE49-F238E27FC236}">
                  <a16:creationId xmlns:a16="http://schemas.microsoft.com/office/drawing/2014/main" id="{4C8A7EB1-DEF0-4A24-BAF7-CA57AC4F7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759"/>
              <a:ext cx="1335" cy="26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0" name="Line 43">
              <a:extLst>
                <a:ext uri="{FF2B5EF4-FFF2-40B4-BE49-F238E27FC236}">
                  <a16:creationId xmlns:a16="http://schemas.microsoft.com/office/drawing/2014/main" id="{9CD4653A-F738-4458-A5A3-30DD6836C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3" y="1188"/>
              <a:ext cx="0" cy="28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1" name="Line 44">
              <a:extLst>
                <a:ext uri="{FF2B5EF4-FFF2-40B4-BE49-F238E27FC236}">
                  <a16:creationId xmlns:a16="http://schemas.microsoft.com/office/drawing/2014/main" id="{9CE3F9C1-2E4D-4190-827C-5D0F90E2C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440"/>
              <a:ext cx="133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2" name="Line 45">
              <a:extLst>
                <a:ext uri="{FF2B5EF4-FFF2-40B4-BE49-F238E27FC236}">
                  <a16:creationId xmlns:a16="http://schemas.microsoft.com/office/drawing/2014/main" id="{DF1C804B-D441-4B3D-92B4-0C373D1B8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8" y="976"/>
              <a:ext cx="262" cy="403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3" name="Line 46">
              <a:extLst>
                <a:ext uri="{FF2B5EF4-FFF2-40B4-BE49-F238E27FC236}">
                  <a16:creationId xmlns:a16="http://schemas.microsoft.com/office/drawing/2014/main" id="{D22A122B-D1AA-4746-BA6A-FC8EBF66F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7" y="778"/>
              <a:ext cx="269" cy="41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4" name="Line 47">
              <a:extLst>
                <a:ext uri="{FF2B5EF4-FFF2-40B4-BE49-F238E27FC236}">
                  <a16:creationId xmlns:a16="http://schemas.microsoft.com/office/drawing/2014/main" id="{442CB98D-3132-4FA8-BB71-8BFA43E77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7" y="877"/>
              <a:ext cx="269" cy="41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5" name="Line 48">
              <a:extLst>
                <a:ext uri="{FF2B5EF4-FFF2-40B4-BE49-F238E27FC236}">
                  <a16:creationId xmlns:a16="http://schemas.microsoft.com/office/drawing/2014/main" id="{85D861E0-33AE-4120-A95A-81A912629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4" y="1026"/>
              <a:ext cx="255" cy="395"/>
            </a:xfrm>
            <a:prstGeom prst="line">
              <a:avLst/>
            </a:prstGeom>
            <a:noFill/>
            <a:ln w="50800">
              <a:solidFill>
                <a:srgbClr val="C0C0C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49">
              <a:extLst>
                <a:ext uri="{FF2B5EF4-FFF2-40B4-BE49-F238E27FC236}">
                  <a16:creationId xmlns:a16="http://schemas.microsoft.com/office/drawing/2014/main" id="{517B1FC2-F48F-41B5-A61C-615C63CA9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842"/>
              <a:ext cx="276" cy="403"/>
            </a:xfrm>
            <a:prstGeom prst="line">
              <a:avLst/>
            </a:prstGeom>
            <a:noFill/>
            <a:ln w="50800">
              <a:solidFill>
                <a:srgbClr val="C0C0C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7" name="Line 50">
              <a:extLst>
                <a:ext uri="{FF2B5EF4-FFF2-40B4-BE49-F238E27FC236}">
                  <a16:creationId xmlns:a16="http://schemas.microsoft.com/office/drawing/2014/main" id="{37988711-E400-4985-8E75-1CA2CF3A6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3" y="937"/>
              <a:ext cx="262" cy="387"/>
            </a:xfrm>
            <a:prstGeom prst="line">
              <a:avLst/>
            </a:prstGeom>
            <a:noFill/>
            <a:ln w="50800">
              <a:solidFill>
                <a:srgbClr val="C0C0C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8" name="Arc 51">
              <a:extLst>
                <a:ext uri="{FF2B5EF4-FFF2-40B4-BE49-F238E27FC236}">
                  <a16:creationId xmlns:a16="http://schemas.microsoft.com/office/drawing/2014/main" id="{10B97980-6C60-4B35-A7FE-455F86D35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3" y="1343"/>
              <a:ext cx="37" cy="1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9" name="Rectangle 62">
              <a:extLst>
                <a:ext uri="{FF2B5EF4-FFF2-40B4-BE49-F238E27FC236}">
                  <a16:creationId xmlns:a16="http://schemas.microsoft.com/office/drawing/2014/main" id="{22841109-967E-4F12-9040-D29DEF141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" y="703"/>
              <a:ext cx="34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zh-CN" altLang="en-US">
                  <a:solidFill>
                    <a:srgbClr val="FFC000"/>
                  </a:solidFill>
                  <a:ea typeface="楷体_GB2312" pitchFamily="49" charset="-122"/>
                </a:rPr>
                <a:t>明纹</a:t>
              </a:r>
            </a:p>
          </p:txBody>
        </p:sp>
        <p:sp>
          <p:nvSpPr>
            <p:cNvPr id="11330" name="Rectangle 63">
              <a:extLst>
                <a:ext uri="{FF2B5EF4-FFF2-40B4-BE49-F238E27FC236}">
                  <a16:creationId xmlns:a16="http://schemas.microsoft.com/office/drawing/2014/main" id="{9288BD9D-61D0-4D26-84DF-14AF6F7C2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571"/>
              <a:ext cx="343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zh-CN" altLang="en-US">
                  <a:solidFill>
                    <a:schemeClr val="bg1"/>
                  </a:solidFill>
                  <a:ea typeface="楷体_GB2312" pitchFamily="49" charset="-122"/>
                </a:rPr>
                <a:t>暗纹</a:t>
              </a:r>
            </a:p>
          </p:txBody>
        </p:sp>
        <p:graphicFrame>
          <p:nvGraphicFramePr>
            <p:cNvPr id="11331" name="Object 5">
              <a:extLst>
                <a:ext uri="{FF2B5EF4-FFF2-40B4-BE49-F238E27FC236}">
                  <a16:creationId xmlns:a16="http://schemas.microsoft.com/office/drawing/2014/main" id="{3D9D3A78-7C5B-4D96-A6B9-0946B962FF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7" y="1275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171" name="公式" r:id="rId6" imgW="85629" imgH="114198" progId="Equation.3">
                    <p:embed/>
                  </p:oleObj>
                </mc:Choice>
                <mc:Fallback>
                  <p:oleObj name="公式" r:id="rId6" imgW="85629" imgH="114198" progId="Equation.3">
                    <p:embed/>
                    <p:pic>
                      <p:nvPicPr>
                        <p:cNvPr id="11331" name="Object 5">
                          <a:extLst>
                            <a:ext uri="{FF2B5EF4-FFF2-40B4-BE49-F238E27FC236}">
                              <a16:creationId xmlns:a16="http://schemas.microsoft.com/office/drawing/2014/main" id="{3D9D3A78-7C5B-4D96-A6B9-0946B962FF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7" y="1275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143">
            <a:extLst>
              <a:ext uri="{FF2B5EF4-FFF2-40B4-BE49-F238E27FC236}">
                <a16:creationId xmlns:a16="http://schemas.microsoft.com/office/drawing/2014/main" id="{3C237226-61C0-4B9E-A917-002CF5FA480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86375" y="1246188"/>
            <a:ext cx="3286125" cy="2143125"/>
            <a:chOff x="3541" y="1274"/>
            <a:chExt cx="2246" cy="1465"/>
          </a:xfrm>
        </p:grpSpPr>
        <p:sp>
          <p:nvSpPr>
            <p:cNvPr id="11289" name="Line 85">
              <a:extLst>
                <a:ext uri="{FF2B5EF4-FFF2-40B4-BE49-F238E27FC236}">
                  <a16:creationId xmlns:a16="http://schemas.microsoft.com/office/drawing/2014/main" id="{FCC03C03-EBA7-44FA-8ADE-9DFE8D4DF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0" y="1563"/>
              <a:ext cx="271" cy="668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0" name="Line 86">
              <a:extLst>
                <a:ext uri="{FF2B5EF4-FFF2-40B4-BE49-F238E27FC236}">
                  <a16:creationId xmlns:a16="http://schemas.microsoft.com/office/drawing/2014/main" id="{18AFE2D0-BE06-4BD8-BAC6-27B1B815A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1975"/>
              <a:ext cx="271" cy="670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1" name="Line 87">
              <a:extLst>
                <a:ext uri="{FF2B5EF4-FFF2-40B4-BE49-F238E27FC236}">
                  <a16:creationId xmlns:a16="http://schemas.microsoft.com/office/drawing/2014/main" id="{28F2505C-A4D9-493B-A79B-EE928B8FD7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9" y="2215"/>
              <a:ext cx="1349" cy="430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Line 88">
              <a:extLst>
                <a:ext uri="{FF2B5EF4-FFF2-40B4-BE49-F238E27FC236}">
                  <a16:creationId xmlns:a16="http://schemas.microsoft.com/office/drawing/2014/main" id="{92A616DA-5018-49BB-B8B3-78F674C68F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1547"/>
              <a:ext cx="1335" cy="429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Line 89">
              <a:extLst>
                <a:ext uri="{FF2B5EF4-FFF2-40B4-BE49-F238E27FC236}">
                  <a16:creationId xmlns:a16="http://schemas.microsoft.com/office/drawing/2014/main" id="{D4A572F1-F9D2-4F12-9CA4-AB7A581FA8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2" y="2235"/>
              <a:ext cx="0" cy="449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Line 90">
              <a:extLst>
                <a:ext uri="{FF2B5EF4-FFF2-40B4-BE49-F238E27FC236}">
                  <a16:creationId xmlns:a16="http://schemas.microsoft.com/office/drawing/2014/main" id="{CB263282-6670-4A44-9476-BD6547CBC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660"/>
              <a:ext cx="1335" cy="0"/>
            </a:xfrm>
            <a:prstGeom prst="line">
              <a:avLst/>
            </a:prstGeom>
            <a:noFill/>
            <a:ln w="254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Line 91">
              <a:extLst>
                <a:ext uri="{FF2B5EF4-FFF2-40B4-BE49-F238E27FC236}">
                  <a16:creationId xmlns:a16="http://schemas.microsoft.com/office/drawing/2014/main" id="{04DD86FF-BBC0-4A0A-A5EA-3A0B70607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1894"/>
              <a:ext cx="262" cy="648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Line 92">
              <a:extLst>
                <a:ext uri="{FF2B5EF4-FFF2-40B4-BE49-F238E27FC236}">
                  <a16:creationId xmlns:a16="http://schemas.microsoft.com/office/drawing/2014/main" id="{D9ACF3A6-FC30-4C96-BD96-30B23C85EA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6" y="1577"/>
              <a:ext cx="269" cy="658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7" name="Line 93">
              <a:extLst>
                <a:ext uri="{FF2B5EF4-FFF2-40B4-BE49-F238E27FC236}">
                  <a16:creationId xmlns:a16="http://schemas.microsoft.com/office/drawing/2014/main" id="{9F6E8298-25E2-4AF7-91B1-C2A6483CE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6" y="1736"/>
              <a:ext cx="269" cy="657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8" name="Line 94">
              <a:extLst>
                <a:ext uri="{FF2B5EF4-FFF2-40B4-BE49-F238E27FC236}">
                  <a16:creationId xmlns:a16="http://schemas.microsoft.com/office/drawing/2014/main" id="{77422E9A-0A10-497A-B1AF-1D07E5B20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3" y="1975"/>
              <a:ext cx="255" cy="634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9" name="Line 95">
              <a:extLst>
                <a:ext uri="{FF2B5EF4-FFF2-40B4-BE49-F238E27FC236}">
                  <a16:creationId xmlns:a16="http://schemas.microsoft.com/office/drawing/2014/main" id="{AC86AFC3-7851-4B21-9BC9-186C46446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680"/>
              <a:ext cx="276" cy="646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0" name="Line 96">
              <a:extLst>
                <a:ext uri="{FF2B5EF4-FFF2-40B4-BE49-F238E27FC236}">
                  <a16:creationId xmlns:a16="http://schemas.microsoft.com/office/drawing/2014/main" id="{6B8A6117-0997-48D8-8D88-8B55817A3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2" y="1832"/>
              <a:ext cx="262" cy="621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1" name="Arc 97">
              <a:extLst>
                <a:ext uri="{FF2B5EF4-FFF2-40B4-BE49-F238E27FC236}">
                  <a16:creationId xmlns:a16="http://schemas.microsoft.com/office/drawing/2014/main" id="{2ADDE874-4A49-4129-B361-81B0CB174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514"/>
              <a:ext cx="37" cy="1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76FB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2" name="Rectangle 98">
              <a:extLst>
                <a:ext uri="{FF2B5EF4-FFF2-40B4-BE49-F238E27FC236}">
                  <a16:creationId xmlns:a16="http://schemas.microsoft.com/office/drawing/2014/main" id="{2DA47B4C-F3F0-40FF-96BF-68B0ED8B0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9" y="2453"/>
              <a:ext cx="16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en-US" altLang="zh-CN" sz="2000" i="1">
                  <a:solidFill>
                    <a:srgbClr val="F9C42D"/>
                  </a:solidFill>
                  <a:sym typeface="Symbol" panose="05050102010706020507" pitchFamily="18" charset="2"/>
                </a:rPr>
                <a:t></a:t>
              </a:r>
              <a:endParaRPr kumimoji="0" lang="en-US" altLang="zh-CN" sz="2000">
                <a:solidFill>
                  <a:srgbClr val="F9C42D"/>
                </a:solidFill>
              </a:endParaRPr>
            </a:p>
          </p:txBody>
        </p:sp>
        <p:sp>
          <p:nvSpPr>
            <p:cNvPr id="11303" name="Line 99">
              <a:extLst>
                <a:ext uri="{FF2B5EF4-FFF2-40B4-BE49-F238E27FC236}">
                  <a16:creationId xmlns:a16="http://schemas.microsoft.com/office/drawing/2014/main" id="{47A3CEB7-D1CA-4E89-AD6A-05F15CE4D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7" y="1449"/>
              <a:ext cx="127" cy="319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4" name="Line 100">
              <a:extLst>
                <a:ext uri="{FF2B5EF4-FFF2-40B4-BE49-F238E27FC236}">
                  <a16:creationId xmlns:a16="http://schemas.microsoft.com/office/drawing/2014/main" id="{5B33943D-5A9D-407C-B055-FCBEB64CA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274"/>
              <a:ext cx="127" cy="318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5" name="Line 101">
              <a:extLst>
                <a:ext uri="{FF2B5EF4-FFF2-40B4-BE49-F238E27FC236}">
                  <a16:creationId xmlns:a16="http://schemas.microsoft.com/office/drawing/2014/main" id="{127CB64F-567F-4109-962C-AB096D5D5D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9" y="1383"/>
              <a:ext cx="446" cy="141"/>
            </a:xfrm>
            <a:prstGeom prst="line">
              <a:avLst/>
            </a:prstGeom>
            <a:noFill/>
            <a:ln w="9525">
              <a:solidFill>
                <a:srgbClr val="76FB4D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6" name="Line 103">
              <a:extLst>
                <a:ext uri="{FF2B5EF4-FFF2-40B4-BE49-F238E27FC236}">
                  <a16:creationId xmlns:a16="http://schemas.microsoft.com/office/drawing/2014/main" id="{1AEDC228-5942-4E2A-905E-DD1507A0D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" y="2254"/>
              <a:ext cx="0" cy="41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7" name="Line 104">
              <a:extLst>
                <a:ext uri="{FF2B5EF4-FFF2-40B4-BE49-F238E27FC236}">
                  <a16:creationId xmlns:a16="http://schemas.microsoft.com/office/drawing/2014/main" id="{DEE72E2A-8110-4F80-8FE6-381AFDEDE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5" y="2397"/>
              <a:ext cx="0" cy="27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8" name="Line 105">
              <a:extLst>
                <a:ext uri="{FF2B5EF4-FFF2-40B4-BE49-F238E27FC236}">
                  <a16:creationId xmlns:a16="http://schemas.microsoft.com/office/drawing/2014/main" id="{B59F69F3-DB6C-40F2-88F7-F44EBE264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9" y="2258"/>
              <a:ext cx="307" cy="0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9" name="Line 106">
              <a:extLst>
                <a:ext uri="{FF2B5EF4-FFF2-40B4-BE49-F238E27FC236}">
                  <a16:creationId xmlns:a16="http://schemas.microsoft.com/office/drawing/2014/main" id="{266DEBD6-2493-4327-AAB6-264E52F47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8" y="2402"/>
              <a:ext cx="758" cy="0"/>
            </a:xfrm>
            <a:prstGeom prst="line">
              <a:avLst/>
            </a:prstGeom>
            <a:noFill/>
            <a:ln w="12700">
              <a:solidFill>
                <a:srgbClr val="76FB4D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0" name="Line 107">
              <a:extLst>
                <a:ext uri="{FF2B5EF4-FFF2-40B4-BE49-F238E27FC236}">
                  <a16:creationId xmlns:a16="http://schemas.microsoft.com/office/drawing/2014/main" id="{7910D698-F07C-4E18-B3C5-6AB0B04397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1" y="2028"/>
              <a:ext cx="0" cy="239"/>
            </a:xfrm>
            <a:prstGeom prst="line">
              <a:avLst/>
            </a:prstGeom>
            <a:noFill/>
            <a:ln w="9525">
              <a:solidFill>
                <a:srgbClr val="76FB4D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1" name="Line 108">
              <a:extLst>
                <a:ext uri="{FF2B5EF4-FFF2-40B4-BE49-F238E27FC236}">
                  <a16:creationId xmlns:a16="http://schemas.microsoft.com/office/drawing/2014/main" id="{D8E80EB7-9CF9-41E2-8A42-BB48B3FF8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1" y="2400"/>
              <a:ext cx="0" cy="240"/>
            </a:xfrm>
            <a:prstGeom prst="line">
              <a:avLst/>
            </a:prstGeom>
            <a:noFill/>
            <a:ln w="9525">
              <a:solidFill>
                <a:srgbClr val="76FB4D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Rectangle 111">
              <a:extLst>
                <a:ext uri="{FF2B5EF4-FFF2-40B4-BE49-F238E27FC236}">
                  <a16:creationId xmlns:a16="http://schemas.microsoft.com/office/drawing/2014/main" id="{C00BCA28-F991-4880-A72B-5249A6C1F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" y="1670"/>
              <a:ext cx="443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zh-CN" altLang="en-US" sz="2000">
                  <a:solidFill>
                    <a:schemeClr val="bg1"/>
                  </a:solidFill>
                </a:rPr>
                <a:t>明纹</a:t>
              </a:r>
            </a:p>
          </p:txBody>
        </p:sp>
        <p:sp>
          <p:nvSpPr>
            <p:cNvPr id="11313" name="Rectangle 112">
              <a:extLst>
                <a:ext uri="{FF2B5EF4-FFF2-40B4-BE49-F238E27FC236}">
                  <a16:creationId xmlns:a16="http://schemas.microsoft.com/office/drawing/2014/main" id="{DCD1422E-6D50-4FB3-8B75-42BFABCAF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9" y="1565"/>
              <a:ext cx="470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0" lang="zh-CN" altLang="en-US" sz="2000">
                  <a:solidFill>
                    <a:schemeClr val="accent1"/>
                  </a:solidFill>
                </a:rPr>
                <a:t>暗纹</a:t>
              </a:r>
            </a:p>
          </p:txBody>
        </p:sp>
        <p:graphicFrame>
          <p:nvGraphicFramePr>
            <p:cNvPr id="11314" name="Object 10">
              <a:extLst>
                <a:ext uri="{FF2B5EF4-FFF2-40B4-BE49-F238E27FC236}">
                  <a16:creationId xmlns:a16="http://schemas.microsoft.com/office/drawing/2014/main" id="{9AB9C5A6-6A7B-402E-B751-F8FE7720BD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78" y="2105"/>
            <a:ext cx="309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172" name="公式" r:id="rId8" imgW="190525" imgH="352391" progId="Equation.3">
                    <p:embed/>
                  </p:oleObj>
                </mc:Choice>
                <mc:Fallback>
                  <p:oleObj name="公式" r:id="rId8" imgW="190525" imgH="352391" progId="Equation.3">
                    <p:embed/>
                    <p:pic>
                      <p:nvPicPr>
                        <p:cNvPr id="11314" name="Object 10">
                          <a:extLst>
                            <a:ext uri="{FF2B5EF4-FFF2-40B4-BE49-F238E27FC236}">
                              <a16:creationId xmlns:a16="http://schemas.microsoft.com/office/drawing/2014/main" id="{9AB9C5A6-6A7B-402E-B751-F8FE7720BD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8" y="2105"/>
                          <a:ext cx="309" cy="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5" name="Object 13">
              <a:extLst>
                <a:ext uri="{FF2B5EF4-FFF2-40B4-BE49-F238E27FC236}">
                  <a16:creationId xmlns:a16="http://schemas.microsoft.com/office/drawing/2014/main" id="{77A8224E-EA55-46A3-90B9-534BF1C812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3" y="1416"/>
            <a:ext cx="23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173" name="Equation" r:id="rId10" imgW="85629" imgH="104707" progId="Equation.3">
                    <p:embed/>
                  </p:oleObj>
                </mc:Choice>
                <mc:Fallback>
                  <p:oleObj name="Equation" r:id="rId10" imgW="85629" imgH="104707" progId="Equation.3">
                    <p:embed/>
                    <p:pic>
                      <p:nvPicPr>
                        <p:cNvPr id="11315" name="Object 13">
                          <a:extLst>
                            <a:ext uri="{FF2B5EF4-FFF2-40B4-BE49-F238E27FC236}">
                              <a16:creationId xmlns:a16="http://schemas.microsoft.com/office/drawing/2014/main" id="{77A8224E-EA55-46A3-90B9-534BF1C812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3" y="1416"/>
                          <a:ext cx="23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99">
            <a:extLst>
              <a:ext uri="{FF2B5EF4-FFF2-40B4-BE49-F238E27FC236}">
                <a16:creationId xmlns:a16="http://schemas.microsoft.com/office/drawing/2014/main" id="{54093F1E-AF9C-4E04-9E0E-1D8137843E06}"/>
              </a:ext>
            </a:extLst>
          </p:cNvPr>
          <p:cNvGrpSpPr>
            <a:grpSpLocks/>
          </p:cNvGrpSpPr>
          <p:nvPr/>
        </p:nvGrpSpPr>
        <p:grpSpPr bwMode="auto">
          <a:xfrm>
            <a:off x="4786313" y="0"/>
            <a:ext cx="4357687" cy="5000625"/>
            <a:chOff x="4714876" y="-24"/>
            <a:chExt cx="4429124" cy="4331999"/>
          </a:xfrm>
        </p:grpSpPr>
        <p:sp>
          <p:nvSpPr>
            <p:cNvPr id="11287" name="Line 66">
              <a:extLst>
                <a:ext uri="{FF2B5EF4-FFF2-40B4-BE49-F238E27FC236}">
                  <a16:creationId xmlns:a16="http://schemas.microsoft.com/office/drawing/2014/main" id="{9C540F03-C1C8-4353-9B7A-5F035FEC9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6" y="-24"/>
              <a:ext cx="0" cy="4320000"/>
            </a:xfrm>
            <a:prstGeom prst="line">
              <a:avLst/>
            </a:prstGeom>
            <a:noFill/>
            <a:ln w="25400">
              <a:solidFill>
                <a:srgbClr val="FF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Line 66">
              <a:extLst>
                <a:ext uri="{FF2B5EF4-FFF2-40B4-BE49-F238E27FC236}">
                  <a16:creationId xmlns:a16="http://schemas.microsoft.com/office/drawing/2014/main" id="{57EA9063-6977-4B4D-8B74-788651BF7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6" y="4286256"/>
              <a:ext cx="4429124" cy="45719"/>
            </a:xfrm>
            <a:prstGeom prst="line">
              <a:avLst/>
            </a:prstGeom>
            <a:noFill/>
            <a:ln w="25400">
              <a:solidFill>
                <a:srgbClr val="FF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2427" name="Object 71">
            <a:extLst>
              <a:ext uri="{FF2B5EF4-FFF2-40B4-BE49-F238E27FC236}">
                <a16:creationId xmlns:a16="http://schemas.microsoft.com/office/drawing/2014/main" id="{22975FED-D143-4FF0-8BFF-976394A24E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3571875"/>
          <a:ext cx="21653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4" name="Equation" r:id="rId12" imgW="809504" imgH="390661" progId="Equation.3">
                  <p:embed/>
                </p:oleObj>
              </mc:Choice>
              <mc:Fallback>
                <p:oleObj name="Equation" r:id="rId12" imgW="809504" imgH="390661" progId="Equation.3">
                  <p:embed/>
                  <p:pic>
                    <p:nvPicPr>
                      <p:cNvPr id="12427" name="Object 71">
                        <a:extLst>
                          <a:ext uri="{FF2B5EF4-FFF2-40B4-BE49-F238E27FC236}">
                            <a16:creationId xmlns:a16="http://schemas.microsoft.com/office/drawing/2014/main" id="{22975FED-D143-4FF0-8BFF-976394A24E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571875"/>
                        <a:ext cx="216535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矩形 101">
            <a:extLst>
              <a:ext uri="{FF2B5EF4-FFF2-40B4-BE49-F238E27FC236}">
                <a16:creationId xmlns:a16="http://schemas.microsoft.com/office/drawing/2014/main" id="{77DF75C3-DCDF-4786-9988-E890DAAB0477}"/>
              </a:ext>
            </a:extLst>
          </p:cNvPr>
          <p:cNvSpPr/>
          <p:nvPr/>
        </p:nvSpPr>
        <p:spPr>
          <a:xfrm>
            <a:off x="4071938" y="5429250"/>
            <a:ext cx="4643437" cy="461963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怎么看条纹移动？</a:t>
            </a:r>
            <a:endParaRPr kumimoji="0"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pSp>
        <p:nvGrpSpPr>
          <p:cNvPr id="10" name="组合 103">
            <a:extLst>
              <a:ext uri="{FF2B5EF4-FFF2-40B4-BE49-F238E27FC236}">
                <a16:creationId xmlns:a16="http://schemas.microsoft.com/office/drawing/2014/main" id="{6D0BA5A9-339E-4BF0-961A-9FE2DFE985E3}"/>
              </a:ext>
            </a:extLst>
          </p:cNvPr>
          <p:cNvGrpSpPr>
            <a:grpSpLocks/>
          </p:cNvGrpSpPr>
          <p:nvPr/>
        </p:nvGrpSpPr>
        <p:grpSpPr bwMode="auto">
          <a:xfrm>
            <a:off x="223838" y="4098925"/>
            <a:ext cx="3500437" cy="830263"/>
            <a:chOff x="223814" y="4098201"/>
            <a:chExt cx="3500438" cy="830997"/>
          </a:xfrm>
        </p:grpSpPr>
        <p:sp>
          <p:nvSpPr>
            <p:cNvPr id="11326" name="Text Box 12">
              <a:extLst>
                <a:ext uri="{FF2B5EF4-FFF2-40B4-BE49-F238E27FC236}">
                  <a16:creationId xmlns:a16="http://schemas.microsoft.com/office/drawing/2014/main" id="{8D456501-C1FA-43E1-AE36-C2159470A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814" y="4098201"/>
              <a:ext cx="990600" cy="83099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zh-CN" altLang="en-US" dirty="0">
                  <a:solidFill>
                    <a:srgbClr val="FFFF00"/>
                  </a:solidFill>
                  <a:latin typeface="+mn-ea"/>
                  <a:ea typeface="+mn-ea"/>
                </a:rPr>
                <a:t>向上平移</a:t>
              </a:r>
            </a:p>
          </p:txBody>
        </p:sp>
        <p:sp>
          <p:nvSpPr>
            <p:cNvPr id="11286" name="Line 6">
              <a:extLst>
                <a:ext uri="{FF2B5EF4-FFF2-40B4-BE49-F238E27FC236}">
                  <a16:creationId xmlns:a16="http://schemas.microsoft.com/office/drawing/2014/main" id="{CD808992-F10D-4F07-82AA-B57E8D1C6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5852" y="4214818"/>
              <a:ext cx="2438400" cy="3810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sp>
        <p:nvSpPr>
          <p:cNvPr id="11282" name="灯片编号占位符 1">
            <a:extLst>
              <a:ext uri="{FF2B5EF4-FFF2-40B4-BE49-F238E27FC236}">
                <a16:creationId xmlns:a16="http://schemas.microsoft.com/office/drawing/2014/main" id="{380F7B68-3E7A-4262-8814-A43A8240991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1B6518-BC53-4FFA-8667-A5CEA04FE0DE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AB0613B-1E22-44E6-8377-12B1B68A942C}"/>
              </a:ext>
            </a:extLst>
          </p:cNvPr>
          <p:cNvSpPr/>
          <p:nvPr/>
        </p:nvSpPr>
        <p:spPr>
          <a:xfrm>
            <a:off x="4000500" y="5456238"/>
            <a:ext cx="4572000" cy="830262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                  盯住某一级  看这一级对应的厚度在哪个方向</a:t>
            </a:r>
            <a:endParaRPr lang="zh-CN" altLang="en-US"/>
          </a:p>
        </p:txBody>
      </p:sp>
      <p:pic>
        <p:nvPicPr>
          <p:cNvPr id="11284" name="图片 11">
            <a:extLst>
              <a:ext uri="{FF2B5EF4-FFF2-40B4-BE49-F238E27FC236}">
                <a16:creationId xmlns:a16="http://schemas.microsoft.com/office/drawing/2014/main" id="{23D17AE4-D677-4ABD-9C79-308A99334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57601">
            <a:off x="7646988" y="4264025"/>
            <a:ext cx="1714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0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10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/>
      <p:bldP spid="107543" grpId="0" autoUpdateAnimBg="0"/>
      <p:bldP spid="107556" grpId="0" autoUpdateAnimBg="0"/>
      <p:bldP spid="107557" grpId="0" autoUpdateAnimBg="0"/>
      <p:bldP spid="102" grpId="0"/>
      <p:bldP spid="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5DB0422-BCA1-45C1-AB51-439C27B5A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922958"/>
            <a:ext cx="2428875" cy="237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dirty="0">
                <a:solidFill>
                  <a:srgbClr val="00FFFF"/>
                </a:solidFill>
                <a:latin typeface="宋体" panose="02010600030101010101" pitchFamily="2" charset="-122"/>
              </a:rPr>
              <a:t>　 </a:t>
            </a:r>
            <a:r>
              <a:rPr kumimoji="0"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每一条纹对应劈尖内的一个厚度，当此厚度位置改变时，对应的条纹随之移动</a:t>
            </a:r>
            <a:endParaRPr kumimoji="0" lang="en-US" altLang="zh-CN" dirty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2E1FFBD2-17FF-433F-95C2-1F288F096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642938"/>
            <a:ext cx="271693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kumimoji="0" lang="zh-CN" altLang="en-US" dirty="0">
                <a:solidFill>
                  <a:schemeClr val="bg1"/>
                </a:solidFill>
              </a:rPr>
              <a:t>干涉条纹的移动</a:t>
            </a:r>
            <a:endParaRPr kumimoji="0" lang="en-US" altLang="zh-CN" dirty="0">
              <a:solidFill>
                <a:schemeClr val="bg1"/>
              </a:solidFill>
            </a:endParaRPr>
          </a:p>
          <a:p>
            <a:pPr eaLnBrk="1" fontAlgn="t" hangingPunct="1">
              <a:spcBef>
                <a:spcPct val="50000"/>
              </a:spcBef>
            </a:pPr>
            <a:r>
              <a:rPr kumimoji="0" lang="en-US" altLang="zh-CN" dirty="0">
                <a:solidFill>
                  <a:schemeClr val="bg1"/>
                </a:solidFill>
              </a:rPr>
              <a:t>(</a:t>
            </a:r>
            <a:r>
              <a:rPr kumimoji="0" lang="zh-CN" altLang="en-US" dirty="0">
                <a:solidFill>
                  <a:schemeClr val="bg1"/>
                </a:solidFill>
              </a:rPr>
              <a:t>空气劈尖层</a:t>
            </a:r>
            <a:r>
              <a:rPr kumimoji="0" lang="en-US" altLang="zh-CN" dirty="0">
                <a:solidFill>
                  <a:schemeClr val="bg1"/>
                </a:solidFill>
              </a:rPr>
              <a:t>)</a:t>
            </a:r>
            <a:r>
              <a:rPr kumimoji="0" lang="zh-CN" altLang="en-US" dirty="0">
                <a:solidFill>
                  <a:schemeClr val="bg1"/>
                </a:solidFill>
              </a:rPr>
              <a:t>：</a:t>
            </a:r>
          </a:p>
        </p:txBody>
      </p:sp>
      <p:grpSp>
        <p:nvGrpSpPr>
          <p:cNvPr id="13316" name="Group 156">
            <a:extLst>
              <a:ext uri="{FF2B5EF4-FFF2-40B4-BE49-F238E27FC236}">
                <a16:creationId xmlns:a16="http://schemas.microsoft.com/office/drawing/2014/main" id="{385FDCA3-DFCB-460A-9AE2-A38755198A0D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5572125"/>
            <a:ext cx="7153275" cy="735013"/>
            <a:chOff x="1060" y="1138"/>
            <a:chExt cx="4506" cy="463"/>
          </a:xfrm>
        </p:grpSpPr>
        <p:sp>
          <p:nvSpPr>
            <p:cNvPr id="13320" name="Rectangle 157">
              <a:extLst>
                <a:ext uri="{FF2B5EF4-FFF2-40B4-BE49-F238E27FC236}">
                  <a16:creationId xmlns:a16="http://schemas.microsoft.com/office/drawing/2014/main" id="{725E764D-7273-4F3B-945D-FD3178FC0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" y="1138"/>
              <a:ext cx="4506" cy="46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13321" name="Group 158">
              <a:extLst>
                <a:ext uri="{FF2B5EF4-FFF2-40B4-BE49-F238E27FC236}">
                  <a16:creationId xmlns:a16="http://schemas.microsoft.com/office/drawing/2014/main" id="{E9323BA5-9E98-4FB6-9EAB-7C80F64A48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1213"/>
              <a:ext cx="977" cy="266"/>
              <a:chOff x="3557" y="1437"/>
              <a:chExt cx="977" cy="266"/>
            </a:xfrm>
          </p:grpSpPr>
          <p:sp>
            <p:nvSpPr>
              <p:cNvPr id="13326" name="WordArt 159">
                <a:extLst>
                  <a:ext uri="{FF2B5EF4-FFF2-40B4-BE49-F238E27FC236}">
                    <a16:creationId xmlns:a16="http://schemas.microsoft.com/office/drawing/2014/main" id="{1C611983-1285-4BB9-93EF-0DF1CA434D60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438" y="1533"/>
                <a:ext cx="96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宋体" panose="02010600030101010101" pitchFamily="2" charset="-122"/>
                  </a:rPr>
                  <a:t>2</a:t>
                </a:r>
                <a:endPara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3327" name="Line 160">
                <a:extLst>
                  <a:ext uri="{FF2B5EF4-FFF2-40B4-BE49-F238E27FC236}">
                    <a16:creationId xmlns:a16="http://schemas.microsoft.com/office/drawing/2014/main" id="{2ED83915-2C61-4AB0-A4E1-6D7F8A228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7" y="1463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8" name="WordArt 161">
                <a:extLst>
                  <a:ext uri="{FF2B5EF4-FFF2-40B4-BE49-F238E27FC236}">
                    <a16:creationId xmlns:a16="http://schemas.microsoft.com/office/drawing/2014/main" id="{467832F4-9A2D-421E-8C22-89C13E540059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133" y="1485"/>
                <a:ext cx="144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Symbol" panose="05050102010706020507" pitchFamily="18" charset="2"/>
                  </a:rPr>
                  <a:t>l</a:t>
                </a:r>
                <a:endParaRPr lang="zh-CN" altLang="en-US" sz="3600" i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Symbol" panose="05050102010706020507" pitchFamily="18" charset="2"/>
                </a:endParaRPr>
              </a:p>
            </p:txBody>
          </p:sp>
          <p:grpSp>
            <p:nvGrpSpPr>
              <p:cNvPr id="13329" name="Group 162">
                <a:extLst>
                  <a:ext uri="{FF2B5EF4-FFF2-40B4-BE49-F238E27FC236}">
                    <a16:creationId xmlns:a16="http://schemas.microsoft.com/office/drawing/2014/main" id="{DA2CDF39-6390-481F-A154-BA6526EAA7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04" y="1542"/>
                <a:ext cx="199" cy="92"/>
                <a:chOff x="3443" y="1401"/>
                <a:chExt cx="297" cy="92"/>
              </a:xfrm>
            </p:grpSpPr>
            <p:sp>
              <p:nvSpPr>
                <p:cNvPr id="13332" name="Line 163">
                  <a:extLst>
                    <a:ext uri="{FF2B5EF4-FFF2-40B4-BE49-F238E27FC236}">
                      <a16:creationId xmlns:a16="http://schemas.microsoft.com/office/drawing/2014/main" id="{36B12ABA-17DF-4A9F-A272-B2FC062741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3" y="1401"/>
                  <a:ext cx="288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33" name="Line 164">
                  <a:extLst>
                    <a:ext uri="{FF2B5EF4-FFF2-40B4-BE49-F238E27FC236}">
                      <a16:creationId xmlns:a16="http://schemas.microsoft.com/office/drawing/2014/main" id="{C822BA1B-5EBF-4074-8D77-EF3E04EE57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2" y="1493"/>
                  <a:ext cx="288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330" name="WordArt 165">
                <a:extLst>
                  <a:ext uri="{FF2B5EF4-FFF2-40B4-BE49-F238E27FC236}">
                    <a16:creationId xmlns:a16="http://schemas.microsoft.com/office/drawing/2014/main" id="{209A32FE-90B2-4B03-B68F-6FE1185A85DD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557" y="1437"/>
                <a:ext cx="115" cy="2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d</a:t>
                </a:r>
                <a:endParaRPr lang="zh-CN" altLang="en-US" sz="3600" i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1" name="WordArt 166">
                <a:extLst>
                  <a:ext uri="{FF2B5EF4-FFF2-40B4-BE49-F238E27FC236}">
                    <a16:creationId xmlns:a16="http://schemas.microsoft.com/office/drawing/2014/main" id="{5831C3BA-57E1-44C5-A478-1F474F9AF6D8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941" y="1485"/>
                <a:ext cx="144" cy="18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N</a:t>
                </a:r>
                <a:endPara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" name="WordArt 167">
              <a:extLst>
                <a:ext uri="{FF2B5EF4-FFF2-40B4-BE49-F238E27FC236}">
                  <a16:creationId xmlns:a16="http://schemas.microsoft.com/office/drawing/2014/main" id="{12D95B11-6610-40C8-9C57-E159936ED84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87" y="1230"/>
              <a:ext cx="2386" cy="25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defRPr/>
              </a:pPr>
              <a:r>
                <a:rPr kumimoji="0" lang="zh-CN" altLang="en-US" kern="10" dirty="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方正姚体"/>
                  <a:ea typeface="方正姚体"/>
                </a:rPr>
                <a:t>平移</a:t>
              </a:r>
              <a:r>
                <a:rPr kumimoji="0" lang="en-US" altLang="zh-CN" kern="10" dirty="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方正姚体"/>
                  <a:ea typeface="方正姚体"/>
                </a:rPr>
                <a:t>d,</a:t>
              </a:r>
              <a:r>
                <a:rPr kumimoji="0" lang="zh-CN" altLang="en-US" kern="10" dirty="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方正姚体"/>
                  <a:ea typeface="方正姚体"/>
                </a:rPr>
                <a:t>条纹右移</a:t>
              </a:r>
              <a:r>
                <a:rPr kumimoji="0" lang="en-US" altLang="zh-CN" kern="10" dirty="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方正姚体"/>
                  <a:ea typeface="方正姚体"/>
                </a:rPr>
                <a:t>(</a:t>
              </a:r>
              <a:r>
                <a:rPr kumimoji="0" lang="zh-CN" altLang="en-US" kern="10" dirty="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方正姚体"/>
                  <a:ea typeface="方正姚体"/>
                </a:rPr>
                <a:t>或左移</a:t>
              </a:r>
              <a:r>
                <a:rPr kumimoji="0" lang="en-US" altLang="zh-CN" kern="10" dirty="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方正姚体"/>
                  <a:ea typeface="方正姚体"/>
                </a:rPr>
                <a:t>)N</a:t>
              </a:r>
              <a:r>
                <a:rPr kumimoji="0" lang="zh-CN" altLang="en-US" kern="10" dirty="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方正姚体"/>
                  <a:ea typeface="方正姚体"/>
                </a:rPr>
                <a:t>级</a:t>
              </a:r>
              <a:r>
                <a:rPr kumimoji="0" lang="en-US" altLang="zh-CN" kern="10" dirty="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方正姚体"/>
                  <a:ea typeface="方正姚体"/>
                </a:rPr>
                <a:t>.</a:t>
              </a:r>
              <a:endParaRPr kumimoji="0" lang="zh-CN" altLang="en-US" kern="10" dirty="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方正姚体"/>
                <a:ea typeface="方正姚体"/>
              </a:endParaRPr>
            </a:p>
          </p:txBody>
        </p:sp>
        <p:grpSp>
          <p:nvGrpSpPr>
            <p:cNvPr id="13323" name="Group 168">
              <a:extLst>
                <a:ext uri="{FF2B5EF4-FFF2-40B4-BE49-F238E27FC236}">
                  <a16:creationId xmlns:a16="http://schemas.microsoft.com/office/drawing/2014/main" id="{974A0BCA-8ADB-4EB9-94AB-7D4F81A6F1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3" y="1245"/>
              <a:ext cx="270" cy="235"/>
              <a:chOff x="585" y="1481"/>
              <a:chExt cx="270" cy="201"/>
            </a:xfrm>
          </p:grpSpPr>
          <p:sp>
            <p:nvSpPr>
              <p:cNvPr id="13324" name="WordArt 169">
                <a:extLst>
                  <a:ext uri="{FF2B5EF4-FFF2-40B4-BE49-F238E27FC236}">
                    <a16:creationId xmlns:a16="http://schemas.microsoft.com/office/drawing/2014/main" id="{4322FF7A-5284-4344-A03D-F1175D84E4B2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781" y="1591"/>
                <a:ext cx="74" cy="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宋体" panose="02010600030101010101" pitchFamily="2" charset="-122"/>
                  </a:rPr>
                  <a:t>1</a:t>
                </a:r>
                <a:endPara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3325" name="WordArt 170">
                <a:extLst>
                  <a:ext uri="{FF2B5EF4-FFF2-40B4-BE49-F238E27FC236}">
                    <a16:creationId xmlns:a16="http://schemas.microsoft.com/office/drawing/2014/main" id="{357E2AD9-CB46-483A-8006-998FDB2B9E7B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585" y="1481"/>
                <a:ext cx="153" cy="20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M</a:t>
                </a:r>
                <a:endPara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13317" name="灯片编号占位符 1">
            <a:extLst>
              <a:ext uri="{FF2B5EF4-FFF2-40B4-BE49-F238E27FC236}">
                <a16:creationId xmlns:a16="http://schemas.microsoft.com/office/drawing/2014/main" id="{2C79655B-627D-4442-8437-2B9AEA8DA06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6E46751-BB27-421E-B158-BC08DDEACB45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13318" name="AutoShape 77">
            <a:hlinkClick r:id="rId4" action="ppaction://hlinkfile" highlightClick="1"/>
            <a:extLst>
              <a:ext uri="{FF2B5EF4-FFF2-40B4-BE49-F238E27FC236}">
                <a16:creationId xmlns:a16="http://schemas.microsoft.com/office/drawing/2014/main" id="{17E6B17D-8208-455B-9167-0D2A5A814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88" y="4783138"/>
            <a:ext cx="431800" cy="288925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77163" r:id="rId2" imgW="5257800" imgH="4572000"/>
        </mc:Choice>
        <mc:Fallback>
          <p:control r:id="rId2" imgW="5257800" imgH="4572000">
            <p:pic>
              <p:nvPicPr>
                <p:cNvPr id="13319" name="ShockwaveFlash1">
                  <a:extLst>
                    <a:ext uri="{FF2B5EF4-FFF2-40B4-BE49-F238E27FC236}">
                      <a16:creationId xmlns:a16="http://schemas.microsoft.com/office/drawing/2014/main" id="{C83B05BE-E4F3-4F2F-92E5-EE31A771BB32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3132138" y="692150"/>
                  <a:ext cx="5257800" cy="4572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9BE11E8E-5616-482A-B021-18E5AD809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58775"/>
            <a:ext cx="8229600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为了测量一根细金属丝的直径</a:t>
            </a:r>
            <a:r>
              <a:rPr lang="en-US" altLang="zh-CN" i="1">
                <a:solidFill>
                  <a:srgbClr val="66FFFF"/>
                </a:solidFill>
              </a:rPr>
              <a:t>D</a:t>
            </a:r>
            <a:r>
              <a:rPr lang="zh-CN" altLang="en-US">
                <a:solidFill>
                  <a:schemeClr val="bg1"/>
                </a:solidFill>
              </a:rPr>
              <a:t>，按图办法形成空气劈尖，用单色光照射形成等厚干涉条纹，用读数显微镜测出干涉明条纹的间距，就可以算出</a:t>
            </a:r>
            <a:r>
              <a:rPr lang="en-US" altLang="zh-CN" i="1">
                <a:solidFill>
                  <a:srgbClr val="66FFFF"/>
                </a:solidFill>
              </a:rPr>
              <a:t>D</a:t>
            </a:r>
            <a:r>
              <a:rPr lang="zh-CN" altLang="en-US">
                <a:solidFill>
                  <a:schemeClr val="bg1"/>
                </a:solidFill>
              </a:rPr>
              <a:t>。已知 单色光波长为 </a:t>
            </a:r>
            <a:r>
              <a:rPr lang="en-US" altLang="zh-CN">
                <a:solidFill>
                  <a:srgbClr val="66FFFF"/>
                </a:solidFill>
              </a:rPr>
              <a:t>589.3 nm</a:t>
            </a:r>
            <a:r>
              <a:rPr lang="zh-CN" altLang="en-US">
                <a:solidFill>
                  <a:schemeClr val="bg1"/>
                </a:solidFill>
              </a:rPr>
              <a:t>，测量结果是：金属丝与劈尖顶点距离</a:t>
            </a:r>
            <a:r>
              <a:rPr lang="en-US" altLang="zh-CN" i="1">
                <a:solidFill>
                  <a:srgbClr val="66FFFF"/>
                </a:solidFill>
              </a:rPr>
              <a:t>L</a:t>
            </a:r>
            <a:r>
              <a:rPr lang="en-US" altLang="zh-CN">
                <a:solidFill>
                  <a:srgbClr val="66FFFF"/>
                </a:solidFill>
              </a:rPr>
              <a:t>=28.880 mm</a:t>
            </a:r>
            <a:r>
              <a:rPr lang="zh-CN" altLang="en-US">
                <a:solidFill>
                  <a:schemeClr val="bg1"/>
                </a:solidFill>
              </a:rPr>
              <a:t>，第</a:t>
            </a:r>
            <a:r>
              <a:rPr lang="en-US" altLang="zh-CN">
                <a:solidFill>
                  <a:srgbClr val="66FFFF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条明条纹到第</a:t>
            </a:r>
            <a:r>
              <a:rPr lang="en-US" altLang="zh-CN">
                <a:solidFill>
                  <a:srgbClr val="66FFFF"/>
                </a:solidFill>
              </a:rPr>
              <a:t>31</a:t>
            </a:r>
            <a:r>
              <a:rPr lang="zh-CN" altLang="en-US">
                <a:solidFill>
                  <a:schemeClr val="bg1"/>
                </a:solidFill>
              </a:rPr>
              <a:t>条明条纹的距离为</a:t>
            </a:r>
            <a:r>
              <a:rPr lang="en-US" altLang="zh-CN">
                <a:solidFill>
                  <a:srgbClr val="66FFFF"/>
                </a:solidFill>
              </a:rPr>
              <a:t>4.295 mm</a:t>
            </a: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FA869840-5D49-4973-AF3B-55156BD92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454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解</a:t>
            </a:r>
            <a:r>
              <a:rPr lang="zh-CN" altLang="en-US">
                <a:solidFill>
                  <a:srgbClr val="EDFE4A"/>
                </a:solidFill>
              </a:rPr>
              <a:t> </a:t>
            </a:r>
          </a:p>
        </p:txBody>
      </p:sp>
      <p:graphicFrame>
        <p:nvGraphicFramePr>
          <p:cNvPr id="14340" name="Object 2">
            <a:extLst>
              <a:ext uri="{FF2B5EF4-FFF2-40B4-BE49-F238E27FC236}">
                <a16:creationId xmlns:a16="http://schemas.microsoft.com/office/drawing/2014/main" id="{96F6835C-6461-454E-8D0C-672BC3A694E4}"/>
              </a:ext>
            </a:extLst>
          </p:cNvPr>
          <p:cNvGraphicFramePr>
            <a:graphicFrameLocks/>
          </p:cNvGraphicFramePr>
          <p:nvPr/>
        </p:nvGraphicFramePr>
        <p:xfrm>
          <a:off x="2606675" y="3309938"/>
          <a:ext cx="11874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34" name="公式" r:id="rId3" imgW="1285971" imgH="790507" progId="Equation.3">
                  <p:embed/>
                </p:oleObj>
              </mc:Choice>
              <mc:Fallback>
                <p:oleObj name="公式" r:id="rId3" imgW="1285971" imgH="790507" progId="Equation.3">
                  <p:embed/>
                  <p:pic>
                    <p:nvPicPr>
                      <p:cNvPr id="14340" name="Object 2">
                        <a:extLst>
                          <a:ext uri="{FF2B5EF4-FFF2-40B4-BE49-F238E27FC236}">
                            <a16:creationId xmlns:a16="http://schemas.microsoft.com/office/drawing/2014/main" id="{96F6835C-6461-454E-8D0C-672BC3A694E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5" y="3309938"/>
                        <a:ext cx="11874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3">
            <a:extLst>
              <a:ext uri="{FF2B5EF4-FFF2-40B4-BE49-F238E27FC236}">
                <a16:creationId xmlns:a16="http://schemas.microsoft.com/office/drawing/2014/main" id="{7214EE7E-F6B7-4FC1-93DF-5D9465AFEF67}"/>
              </a:ext>
            </a:extLst>
          </p:cNvPr>
          <p:cNvGraphicFramePr>
            <a:graphicFrameLocks/>
          </p:cNvGraphicFramePr>
          <p:nvPr/>
        </p:nvGraphicFramePr>
        <p:xfrm>
          <a:off x="4446588" y="3309938"/>
          <a:ext cx="12112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35" name="公式" r:id="rId5" imgW="1304931" imgH="790507" progId="Equation.3">
                  <p:embed/>
                </p:oleObj>
              </mc:Choice>
              <mc:Fallback>
                <p:oleObj name="公式" r:id="rId5" imgW="1304931" imgH="790507" progId="Equation.3">
                  <p:embed/>
                  <p:pic>
                    <p:nvPicPr>
                      <p:cNvPr id="14341" name="Object 3">
                        <a:extLst>
                          <a:ext uri="{FF2B5EF4-FFF2-40B4-BE49-F238E27FC236}">
                            <a16:creationId xmlns:a16="http://schemas.microsoft.com/office/drawing/2014/main" id="{7214EE7E-F6B7-4FC1-93DF-5D9465AFEF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3309938"/>
                        <a:ext cx="121126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4">
            <a:extLst>
              <a:ext uri="{FF2B5EF4-FFF2-40B4-BE49-F238E27FC236}">
                <a16:creationId xmlns:a16="http://schemas.microsoft.com/office/drawing/2014/main" id="{CE7E21D9-89A8-4C4F-B589-594A4AD41031}"/>
              </a:ext>
            </a:extLst>
          </p:cNvPr>
          <p:cNvGraphicFramePr>
            <a:graphicFrameLocks/>
          </p:cNvGraphicFramePr>
          <p:nvPr/>
        </p:nvGraphicFramePr>
        <p:xfrm>
          <a:off x="1992313" y="4318000"/>
          <a:ext cx="31654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36" name="公式" r:id="rId7" imgW="3476555" imgH="790507" progId="Equation.3">
                  <p:embed/>
                </p:oleObj>
              </mc:Choice>
              <mc:Fallback>
                <p:oleObj name="公式" r:id="rId7" imgW="3476555" imgH="790507" progId="Equation.3">
                  <p:embed/>
                  <p:pic>
                    <p:nvPicPr>
                      <p:cNvPr id="14342" name="Object 4">
                        <a:extLst>
                          <a:ext uri="{FF2B5EF4-FFF2-40B4-BE49-F238E27FC236}">
                            <a16:creationId xmlns:a16="http://schemas.microsoft.com/office/drawing/2014/main" id="{CE7E21D9-89A8-4C4F-B589-594A4AD4103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4318000"/>
                        <a:ext cx="31654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5">
            <a:extLst>
              <a:ext uri="{FF2B5EF4-FFF2-40B4-BE49-F238E27FC236}">
                <a16:creationId xmlns:a16="http://schemas.microsoft.com/office/drawing/2014/main" id="{90E61962-14A2-4B8D-BF9A-1A54243B253E}"/>
              </a:ext>
            </a:extLst>
          </p:cNvPr>
          <p:cNvGraphicFramePr>
            <a:graphicFrameLocks/>
          </p:cNvGraphicFramePr>
          <p:nvPr/>
        </p:nvGraphicFramePr>
        <p:xfrm>
          <a:off x="1903413" y="5214938"/>
          <a:ext cx="556418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37" name="公式" r:id="rId9" imgW="6143606" imgH="1409564" progId="Equation.3">
                  <p:embed/>
                </p:oleObj>
              </mc:Choice>
              <mc:Fallback>
                <p:oleObj name="公式" r:id="rId9" imgW="6143606" imgH="1409564" progId="Equation.3">
                  <p:embed/>
                  <p:pic>
                    <p:nvPicPr>
                      <p:cNvPr id="14343" name="Object 5">
                        <a:extLst>
                          <a:ext uri="{FF2B5EF4-FFF2-40B4-BE49-F238E27FC236}">
                            <a16:creationId xmlns:a16="http://schemas.microsoft.com/office/drawing/2014/main" id="{90E61962-14A2-4B8D-BF9A-1A54243B253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5214938"/>
                        <a:ext cx="5564187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8">
            <a:extLst>
              <a:ext uri="{FF2B5EF4-FFF2-40B4-BE49-F238E27FC236}">
                <a16:creationId xmlns:a16="http://schemas.microsoft.com/office/drawing/2014/main" id="{83EB6B66-4C5D-4C13-AB62-4C2B1F345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4411663"/>
            <a:ext cx="1111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由题知 </a:t>
            </a:r>
          </a:p>
        </p:txBody>
      </p:sp>
      <p:sp>
        <p:nvSpPr>
          <p:cNvPr id="14345" name="Text Box 9">
            <a:extLst>
              <a:ext uri="{FF2B5EF4-FFF2-40B4-BE49-F238E27FC236}">
                <a16:creationId xmlns:a16="http://schemas.microsoft.com/office/drawing/2014/main" id="{6572F82B-CA49-42D2-A782-1B571A95E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3" y="5348288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直径 </a:t>
            </a:r>
          </a:p>
        </p:txBody>
      </p:sp>
      <p:sp>
        <p:nvSpPr>
          <p:cNvPr id="14360" name="Text Box 24">
            <a:extLst>
              <a:ext uri="{FF2B5EF4-FFF2-40B4-BE49-F238E27FC236}">
                <a16:creationId xmlns:a16="http://schemas.microsoft.com/office/drawing/2014/main" id="{77144ADA-0990-4054-9147-14C56AC2A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412750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graphicFrame>
        <p:nvGraphicFramePr>
          <p:cNvPr id="14361" name="Object 6">
            <a:extLst>
              <a:ext uri="{FF2B5EF4-FFF2-40B4-BE49-F238E27FC236}">
                <a16:creationId xmlns:a16="http://schemas.microsoft.com/office/drawing/2014/main" id="{348126C1-0C9C-43DC-9781-C5C3B67DECFA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984250" y="3306763"/>
          <a:ext cx="12112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38" name="公式" r:id="rId11" imgW="1304931" imgH="790507" progId="Equation.3">
                  <p:embed/>
                </p:oleObj>
              </mc:Choice>
              <mc:Fallback>
                <p:oleObj name="公式" r:id="rId11" imgW="1304931" imgH="790507" progId="Equation.3">
                  <p:embed/>
                  <p:pic>
                    <p:nvPicPr>
                      <p:cNvPr id="14361" name="Object 6">
                        <a:extLst>
                          <a:ext uri="{FF2B5EF4-FFF2-40B4-BE49-F238E27FC236}">
                            <a16:creationId xmlns:a16="http://schemas.microsoft.com/office/drawing/2014/main" id="{348126C1-0C9C-43DC-9781-C5C3B67DECFA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3306763"/>
                        <a:ext cx="12112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2" name="Text Box 26">
            <a:extLst>
              <a:ext uri="{FF2B5EF4-FFF2-40B4-BE49-F238E27FC236}">
                <a16:creationId xmlns:a16="http://schemas.microsoft.com/office/drawing/2014/main" id="{7BCDC05F-F77A-47EA-9B8B-16CEAE7D2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708275"/>
            <a:ext cx="33353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求 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金属丝直径 </a:t>
            </a:r>
            <a:r>
              <a:rPr lang="en-US" altLang="zh-CN" i="1">
                <a:solidFill>
                  <a:srgbClr val="66FFFF"/>
                </a:solidFill>
              </a:rPr>
              <a:t>D</a:t>
            </a:r>
          </a:p>
        </p:txBody>
      </p:sp>
      <p:grpSp>
        <p:nvGrpSpPr>
          <p:cNvPr id="2" name="Group 33">
            <a:extLst>
              <a:ext uri="{FF2B5EF4-FFF2-40B4-BE49-F238E27FC236}">
                <a16:creationId xmlns:a16="http://schemas.microsoft.com/office/drawing/2014/main" id="{B8C53FD4-671F-43B5-8CDD-F87A3492767F}"/>
              </a:ext>
            </a:extLst>
          </p:cNvPr>
          <p:cNvGrpSpPr>
            <a:grpSpLocks/>
          </p:cNvGrpSpPr>
          <p:nvPr/>
        </p:nvGrpSpPr>
        <p:grpSpPr bwMode="auto">
          <a:xfrm>
            <a:off x="6132513" y="3128963"/>
            <a:ext cx="2543175" cy="1524000"/>
            <a:chOff x="3863" y="1971"/>
            <a:chExt cx="1602" cy="960"/>
          </a:xfrm>
        </p:grpSpPr>
        <p:sp>
          <p:nvSpPr>
            <p:cNvPr id="14351" name="Rectangle 11">
              <a:extLst>
                <a:ext uri="{FF2B5EF4-FFF2-40B4-BE49-F238E27FC236}">
                  <a16:creationId xmlns:a16="http://schemas.microsoft.com/office/drawing/2014/main" id="{ECF59974-1C75-47B8-A325-1DE9DF03ECE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15807">
              <a:off x="3863" y="2156"/>
              <a:ext cx="1173" cy="121"/>
            </a:xfrm>
            <a:prstGeom prst="rect">
              <a:avLst/>
            </a:prstGeom>
            <a:solidFill>
              <a:srgbClr val="66FFFF">
                <a:alpha val="58038"/>
              </a:srgbClr>
            </a:solidFill>
            <a:ln w="9525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352" name="Rectangle 12">
              <a:extLst>
                <a:ext uri="{FF2B5EF4-FFF2-40B4-BE49-F238E27FC236}">
                  <a16:creationId xmlns:a16="http://schemas.microsoft.com/office/drawing/2014/main" id="{D61F1D1D-9A04-431E-A8BC-2CE3D7B7F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2403"/>
              <a:ext cx="1152" cy="144"/>
            </a:xfrm>
            <a:prstGeom prst="rect">
              <a:avLst/>
            </a:prstGeom>
            <a:solidFill>
              <a:srgbClr val="66FFFF">
                <a:alpha val="58038"/>
              </a:srgbClr>
            </a:solidFill>
            <a:ln w="9525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353" name="Oval 13">
              <a:extLst>
                <a:ext uri="{FF2B5EF4-FFF2-40B4-BE49-F238E27FC236}">
                  <a16:creationId xmlns:a16="http://schemas.microsoft.com/office/drawing/2014/main" id="{C319577F-A8FF-4237-A8E9-867968788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160"/>
              <a:ext cx="227" cy="243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354" name="Line 14">
              <a:extLst>
                <a:ext uri="{FF2B5EF4-FFF2-40B4-BE49-F238E27FC236}">
                  <a16:creationId xmlns:a16="http://schemas.microsoft.com/office/drawing/2014/main" id="{1991837A-6A93-46F9-891E-54C7EF9692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8" y="2159"/>
              <a:ext cx="38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5" name="Line 15">
              <a:extLst>
                <a:ext uri="{FF2B5EF4-FFF2-40B4-BE49-F238E27FC236}">
                  <a16:creationId xmlns:a16="http://schemas.microsoft.com/office/drawing/2014/main" id="{E4D0DDA5-CB09-4472-9D0D-262564CA9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2" y="2403"/>
              <a:ext cx="38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6" name="Line 16">
              <a:extLst>
                <a:ext uri="{FF2B5EF4-FFF2-40B4-BE49-F238E27FC236}">
                  <a16:creationId xmlns:a16="http://schemas.microsoft.com/office/drawing/2014/main" id="{2195BD3F-2885-4C1B-8B74-3BC409579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4" y="1971"/>
              <a:ext cx="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7" name="Line 17">
              <a:extLst>
                <a:ext uri="{FF2B5EF4-FFF2-40B4-BE49-F238E27FC236}">
                  <a16:creationId xmlns:a16="http://schemas.microsoft.com/office/drawing/2014/main" id="{A58E99E2-05AC-4181-B565-F9EA739A60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3" y="2403"/>
              <a:ext cx="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8" name="Text Box 18">
              <a:extLst>
                <a:ext uri="{FF2B5EF4-FFF2-40B4-BE49-F238E27FC236}">
                  <a16:creationId xmlns:a16="http://schemas.microsoft.com/office/drawing/2014/main" id="{D3792714-BFDA-410A-A9B8-14EC91FB7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7" y="213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rgbClr val="FFFFFF"/>
                  </a:solidFill>
                </a:rPr>
                <a:t>D</a:t>
              </a:r>
            </a:p>
          </p:txBody>
        </p:sp>
        <p:sp>
          <p:nvSpPr>
            <p:cNvPr id="14359" name="Line 19">
              <a:extLst>
                <a:ext uri="{FF2B5EF4-FFF2-40B4-BE49-F238E27FC236}">
                  <a16:creationId xmlns:a16="http://schemas.microsoft.com/office/drawing/2014/main" id="{9F50679D-1A99-4D80-906E-1DD06AF7B8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2547"/>
              <a:ext cx="0" cy="38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20">
              <a:extLst>
                <a:ext uri="{FF2B5EF4-FFF2-40B4-BE49-F238E27FC236}">
                  <a16:creationId xmlns:a16="http://schemas.microsoft.com/office/drawing/2014/main" id="{F650E1DB-59A0-4AF3-83D2-A872D8F5F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7" y="2547"/>
              <a:ext cx="0" cy="38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21">
              <a:extLst>
                <a:ext uri="{FF2B5EF4-FFF2-40B4-BE49-F238E27FC236}">
                  <a16:creationId xmlns:a16="http://schemas.microsoft.com/office/drawing/2014/main" id="{313EFE39-5583-4EBD-A36B-19526B3E4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3" y="2691"/>
              <a:ext cx="112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" name="Object 7">
              <a:extLst>
                <a:ext uri="{FF2B5EF4-FFF2-40B4-BE49-F238E27FC236}">
                  <a16:creationId xmlns:a16="http://schemas.microsoft.com/office/drawing/2014/main" id="{5F8736A0-4465-4E26-B993-9E41A7B23BE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36" y="2698"/>
            <a:ext cx="15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239" name="公式" r:id="rId13" imgW="218967" imgH="257175" progId="Equation.3">
                    <p:embed/>
                  </p:oleObj>
                </mc:Choice>
                <mc:Fallback>
                  <p:oleObj name="公式" r:id="rId13" imgW="218967" imgH="257175" progId="Equation.3">
                    <p:embed/>
                    <p:pic>
                      <p:nvPicPr>
                        <p:cNvPr id="5" name="Object 7">
                          <a:extLst>
                            <a:ext uri="{FF2B5EF4-FFF2-40B4-BE49-F238E27FC236}">
                              <a16:creationId xmlns:a16="http://schemas.microsoft.com/office/drawing/2014/main" id="{5F8736A0-4465-4E26-B993-9E41A7B23BE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6" y="2698"/>
                          <a:ext cx="159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3" name="Object 8">
              <a:extLst>
                <a:ext uri="{FF2B5EF4-FFF2-40B4-BE49-F238E27FC236}">
                  <a16:creationId xmlns:a16="http://schemas.microsoft.com/office/drawing/2014/main" id="{080746B2-5795-4B53-B221-11578097972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27" y="2232"/>
            <a:ext cx="219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240" name="公式" r:id="rId15" imgW="390531" imgH="380864" progId="Equation.3">
                    <p:embed/>
                  </p:oleObj>
                </mc:Choice>
                <mc:Fallback>
                  <p:oleObj name="公式" r:id="rId15" imgW="390531" imgH="380864" progId="Equation.3">
                    <p:embed/>
                    <p:pic>
                      <p:nvPicPr>
                        <p:cNvPr id="14363" name="Object 8">
                          <a:extLst>
                            <a:ext uri="{FF2B5EF4-FFF2-40B4-BE49-F238E27FC236}">
                              <a16:creationId xmlns:a16="http://schemas.microsoft.com/office/drawing/2014/main" id="{080746B2-5795-4B53-B221-11578097972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7" y="2232"/>
                          <a:ext cx="219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4" name="Arc 31">
              <a:extLst>
                <a:ext uri="{FF2B5EF4-FFF2-40B4-BE49-F238E27FC236}">
                  <a16:creationId xmlns:a16="http://schemas.microsoft.com/office/drawing/2014/main" id="{83295B12-7A3B-4077-B6AC-2C9CFCEC3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2265"/>
              <a:ext cx="181" cy="141"/>
            </a:xfrm>
            <a:custGeom>
              <a:avLst/>
              <a:gdLst>
                <a:gd name="T0" fmla="*/ 0 w 21600"/>
                <a:gd name="T1" fmla="*/ 0 h 9560"/>
                <a:gd name="T2" fmla="*/ 0 w 21600"/>
                <a:gd name="T3" fmla="*/ 0 h 9560"/>
                <a:gd name="T4" fmla="*/ 0 w 21600"/>
                <a:gd name="T5" fmla="*/ 0 h 9560"/>
                <a:gd name="T6" fmla="*/ 0 60000 65536"/>
                <a:gd name="T7" fmla="*/ 0 60000 65536"/>
                <a:gd name="T8" fmla="*/ 0 60000 65536"/>
                <a:gd name="T9" fmla="*/ 0 w 21600"/>
                <a:gd name="T10" fmla="*/ 0 h 9560"/>
                <a:gd name="T11" fmla="*/ 21600 w 21600"/>
                <a:gd name="T12" fmla="*/ 9560 h 95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9560" fill="none" extrusionOk="0">
                  <a:moveTo>
                    <a:pt x="20685" y="0"/>
                  </a:moveTo>
                  <a:cubicBezTo>
                    <a:pt x="21292" y="2016"/>
                    <a:pt x="21600" y="4111"/>
                    <a:pt x="21600" y="6217"/>
                  </a:cubicBezTo>
                  <a:cubicBezTo>
                    <a:pt x="21600" y="7336"/>
                    <a:pt x="21512" y="8454"/>
                    <a:pt x="21339" y="9559"/>
                  </a:cubicBezTo>
                </a:path>
                <a:path w="21600" h="9560" stroke="0" extrusionOk="0">
                  <a:moveTo>
                    <a:pt x="20685" y="0"/>
                  </a:moveTo>
                  <a:cubicBezTo>
                    <a:pt x="21292" y="2016"/>
                    <a:pt x="21600" y="4111"/>
                    <a:pt x="21600" y="6217"/>
                  </a:cubicBezTo>
                  <a:cubicBezTo>
                    <a:pt x="21600" y="7336"/>
                    <a:pt x="21512" y="8454"/>
                    <a:pt x="21339" y="9559"/>
                  </a:cubicBezTo>
                  <a:lnTo>
                    <a:pt x="0" y="6217"/>
                  </a:lnTo>
                  <a:lnTo>
                    <a:pt x="20685" y="0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50" name="灯片编号占位符 1">
            <a:extLst>
              <a:ext uri="{FF2B5EF4-FFF2-40B4-BE49-F238E27FC236}">
                <a16:creationId xmlns:a16="http://schemas.microsoft.com/office/drawing/2014/main" id="{33E21AAF-55D6-4DAD-9B90-8870BE4D061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1D560A-5C7E-4A63-8F51-4F7A934DD815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 autoUpdateAnimBg="0"/>
      <p:bldP spid="14344" grpId="0" autoUpdateAnimBg="0"/>
      <p:bldP spid="14345" grpId="0" autoUpdateAnimBg="0"/>
      <p:bldP spid="14360" grpId="0"/>
      <p:bldP spid="143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DF3EE650-6A2D-4B2D-A0E3-F4142FB50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85750"/>
            <a:ext cx="8501063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600"/>
              </a:lnSpc>
            </a:pPr>
            <a:r>
              <a:rPr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例</a:t>
            </a:r>
            <a:r>
              <a:rPr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利用劈尖干涉可对工件表面微小缺陷进行检验。当波长为</a:t>
            </a: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rPr>
              <a:t>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的单色光垂直入射时，观察到干涉条纹如图。</a:t>
            </a:r>
          </a:p>
          <a:p>
            <a:pPr algn="just" eaLnBrk="1" hangingPunct="1">
              <a:lnSpc>
                <a:spcPts val="3600"/>
              </a:lnSpc>
            </a:pPr>
            <a:r>
              <a:rPr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问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(1)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不平处是凸的，还是凹的</a:t>
            </a: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?  </a:t>
            </a:r>
          </a:p>
          <a:p>
            <a:pPr algn="just" eaLnBrk="1" hangingPunct="1">
              <a:lnSpc>
                <a:spcPts val="3600"/>
              </a:lnSpc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(2)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凹凸不平的高度为多少</a:t>
            </a: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?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41A01185-5FDD-4BAF-8DC9-670D1391E5A6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4776788"/>
            <a:ext cx="3276600" cy="369887"/>
            <a:chOff x="3528" y="3009"/>
            <a:chExt cx="2064" cy="233"/>
          </a:xfrm>
        </p:grpSpPr>
        <p:grpSp>
          <p:nvGrpSpPr>
            <p:cNvPr id="15402" name="Group 4">
              <a:extLst>
                <a:ext uri="{FF2B5EF4-FFF2-40B4-BE49-F238E27FC236}">
                  <a16:creationId xmlns:a16="http://schemas.microsoft.com/office/drawing/2014/main" id="{4354AB76-DCC8-4BC6-A99E-D000BD954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8" y="3013"/>
              <a:ext cx="1990" cy="229"/>
              <a:chOff x="3528" y="3013"/>
              <a:chExt cx="1990" cy="229"/>
            </a:xfrm>
          </p:grpSpPr>
          <p:sp>
            <p:nvSpPr>
              <p:cNvPr id="15404" name="Rectangle 5">
                <a:extLst>
                  <a:ext uri="{FF2B5EF4-FFF2-40B4-BE49-F238E27FC236}">
                    <a16:creationId xmlns:a16="http://schemas.microsoft.com/office/drawing/2014/main" id="{4822E0EC-CCF1-440E-9419-8499A4E77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85284">
                <a:off x="3528" y="3013"/>
                <a:ext cx="1990" cy="74"/>
              </a:xfrm>
              <a:prstGeom prst="rect">
                <a:avLst/>
              </a:prstGeom>
              <a:gradFill rotWithShape="0">
                <a:gsLst>
                  <a:gs pos="0">
                    <a:srgbClr val="99FF99"/>
                  </a:gs>
                  <a:gs pos="100000">
                    <a:srgbClr val="477647"/>
                  </a:gs>
                </a:gsLst>
                <a:path path="rect">
                  <a:fillToRect l="100000" b="100000"/>
                </a:path>
              </a:gradFill>
              <a:ln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05" name="Rectangle 6">
                <a:extLst>
                  <a:ext uri="{FF2B5EF4-FFF2-40B4-BE49-F238E27FC236}">
                    <a16:creationId xmlns:a16="http://schemas.microsoft.com/office/drawing/2014/main" id="{7D97013A-2734-47C8-960D-CB574C6C3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" y="3168"/>
                <a:ext cx="1990" cy="74"/>
              </a:xfrm>
              <a:prstGeom prst="rect">
                <a:avLst/>
              </a:prstGeom>
              <a:gradFill rotWithShape="0">
                <a:gsLst>
                  <a:gs pos="0">
                    <a:srgbClr val="99FF99"/>
                  </a:gs>
                  <a:gs pos="100000">
                    <a:srgbClr val="477647"/>
                  </a:gs>
                </a:gsLst>
                <a:path path="rect">
                  <a:fillToRect l="100000" b="100000"/>
                </a:path>
              </a:gradFill>
              <a:ln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5403" name="Rectangle 7" descr="小棋盘">
              <a:extLst>
                <a:ext uri="{FF2B5EF4-FFF2-40B4-BE49-F238E27FC236}">
                  <a16:creationId xmlns:a16="http://schemas.microsoft.com/office/drawing/2014/main" id="{3357BDED-13AC-4CE8-B407-B82790A4A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" y="3009"/>
              <a:ext cx="161" cy="149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8">
            <a:extLst>
              <a:ext uri="{FF2B5EF4-FFF2-40B4-BE49-F238E27FC236}">
                <a16:creationId xmlns:a16="http://schemas.microsoft.com/office/drawing/2014/main" id="{EF149285-BE28-4523-928C-082A2CA3777C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196975"/>
            <a:ext cx="2827338" cy="2844800"/>
            <a:chOff x="3648" y="744"/>
            <a:chExt cx="1776" cy="1788"/>
          </a:xfrm>
        </p:grpSpPr>
        <p:sp>
          <p:nvSpPr>
            <p:cNvPr id="15392" name="Oval 9">
              <a:extLst>
                <a:ext uri="{FF2B5EF4-FFF2-40B4-BE49-F238E27FC236}">
                  <a16:creationId xmlns:a16="http://schemas.microsoft.com/office/drawing/2014/main" id="{36EA6283-5386-4696-B50A-83F3AD31E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744"/>
              <a:ext cx="1776" cy="1788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3" name="Freeform 10">
              <a:extLst>
                <a:ext uri="{FF2B5EF4-FFF2-40B4-BE49-F238E27FC236}">
                  <a16:creationId xmlns:a16="http://schemas.microsoft.com/office/drawing/2014/main" id="{02B07192-82F1-4C68-8E19-6D7153EE8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972"/>
              <a:ext cx="96" cy="1344"/>
            </a:xfrm>
            <a:custGeom>
              <a:avLst/>
              <a:gdLst>
                <a:gd name="T0" fmla="*/ 0 w 96"/>
                <a:gd name="T1" fmla="*/ 0 h 1500"/>
                <a:gd name="T2" fmla="*/ 0 w 96"/>
                <a:gd name="T3" fmla="*/ 16 h 1500"/>
                <a:gd name="T4" fmla="*/ 72 w 96"/>
                <a:gd name="T5" fmla="*/ 18 h 1500"/>
                <a:gd name="T6" fmla="*/ 96 w 96"/>
                <a:gd name="T7" fmla="*/ 20 h 1500"/>
                <a:gd name="T8" fmla="*/ 84 w 96"/>
                <a:gd name="T9" fmla="*/ 21 h 1500"/>
                <a:gd name="T10" fmla="*/ 0 w 96"/>
                <a:gd name="T11" fmla="*/ 23 h 1500"/>
                <a:gd name="T12" fmla="*/ 1 w 96"/>
                <a:gd name="T13" fmla="*/ 36 h 1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500"/>
                <a:gd name="T23" fmla="*/ 96 w 96"/>
                <a:gd name="T24" fmla="*/ 1500 h 1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500">
                  <a:moveTo>
                    <a:pt x="0" y="0"/>
                  </a:moveTo>
                  <a:lnTo>
                    <a:pt x="0" y="660"/>
                  </a:lnTo>
                  <a:lnTo>
                    <a:pt x="72" y="732"/>
                  </a:lnTo>
                  <a:lnTo>
                    <a:pt x="96" y="804"/>
                  </a:lnTo>
                  <a:lnTo>
                    <a:pt x="84" y="876"/>
                  </a:lnTo>
                  <a:lnTo>
                    <a:pt x="0" y="960"/>
                  </a:lnTo>
                  <a:lnTo>
                    <a:pt x="1" y="1500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4" name="Freeform 11">
              <a:extLst>
                <a:ext uri="{FF2B5EF4-FFF2-40B4-BE49-F238E27FC236}">
                  <a16:creationId xmlns:a16="http://schemas.microsoft.com/office/drawing/2014/main" id="{BE8887B1-D651-4FCF-8FD7-E9F262D3D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1140"/>
              <a:ext cx="96" cy="996"/>
            </a:xfrm>
            <a:custGeom>
              <a:avLst/>
              <a:gdLst>
                <a:gd name="T0" fmla="*/ 0 w 96"/>
                <a:gd name="T1" fmla="*/ 0 h 996"/>
                <a:gd name="T2" fmla="*/ 0 w 96"/>
                <a:gd name="T3" fmla="*/ 423 h 996"/>
                <a:gd name="T4" fmla="*/ 72 w 96"/>
                <a:gd name="T5" fmla="*/ 488 h 996"/>
                <a:gd name="T6" fmla="*/ 96 w 96"/>
                <a:gd name="T7" fmla="*/ 552 h 996"/>
                <a:gd name="T8" fmla="*/ 84 w 96"/>
                <a:gd name="T9" fmla="*/ 617 h 996"/>
                <a:gd name="T10" fmla="*/ 0 w 96"/>
                <a:gd name="T11" fmla="*/ 692 h 996"/>
                <a:gd name="T12" fmla="*/ 0 w 96"/>
                <a:gd name="T13" fmla="*/ 996 h 9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996"/>
                <a:gd name="T23" fmla="*/ 96 w 96"/>
                <a:gd name="T24" fmla="*/ 996 h 9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996">
                  <a:moveTo>
                    <a:pt x="0" y="0"/>
                  </a:moveTo>
                  <a:lnTo>
                    <a:pt x="0" y="423"/>
                  </a:lnTo>
                  <a:lnTo>
                    <a:pt x="72" y="488"/>
                  </a:lnTo>
                  <a:lnTo>
                    <a:pt x="96" y="552"/>
                  </a:lnTo>
                  <a:lnTo>
                    <a:pt x="84" y="617"/>
                  </a:lnTo>
                  <a:lnTo>
                    <a:pt x="0" y="692"/>
                  </a:lnTo>
                  <a:lnTo>
                    <a:pt x="0" y="996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5" name="Freeform 12">
              <a:extLst>
                <a:ext uri="{FF2B5EF4-FFF2-40B4-BE49-F238E27FC236}">
                  <a16:creationId xmlns:a16="http://schemas.microsoft.com/office/drawing/2014/main" id="{74ECF5AF-24AD-4B95-9DFD-C74296A54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852"/>
              <a:ext cx="96" cy="1572"/>
            </a:xfrm>
            <a:custGeom>
              <a:avLst/>
              <a:gdLst>
                <a:gd name="T0" fmla="*/ 0 w 96"/>
                <a:gd name="T1" fmla="*/ 0 h 1572"/>
                <a:gd name="T2" fmla="*/ 0 w 96"/>
                <a:gd name="T3" fmla="*/ 699 h 1572"/>
                <a:gd name="T4" fmla="*/ 72 w 96"/>
                <a:gd name="T5" fmla="*/ 764 h 1572"/>
                <a:gd name="T6" fmla="*/ 96 w 96"/>
                <a:gd name="T7" fmla="*/ 828 h 1572"/>
                <a:gd name="T8" fmla="*/ 84 w 96"/>
                <a:gd name="T9" fmla="*/ 893 h 1572"/>
                <a:gd name="T10" fmla="*/ 0 w 96"/>
                <a:gd name="T11" fmla="*/ 968 h 1572"/>
                <a:gd name="T12" fmla="*/ 0 w 96"/>
                <a:gd name="T13" fmla="*/ 1572 h 15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572"/>
                <a:gd name="T23" fmla="*/ 96 w 96"/>
                <a:gd name="T24" fmla="*/ 1572 h 15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572">
                  <a:moveTo>
                    <a:pt x="0" y="0"/>
                  </a:moveTo>
                  <a:lnTo>
                    <a:pt x="0" y="699"/>
                  </a:lnTo>
                  <a:lnTo>
                    <a:pt x="72" y="764"/>
                  </a:lnTo>
                  <a:lnTo>
                    <a:pt x="96" y="828"/>
                  </a:lnTo>
                  <a:lnTo>
                    <a:pt x="84" y="893"/>
                  </a:lnTo>
                  <a:lnTo>
                    <a:pt x="0" y="968"/>
                  </a:lnTo>
                  <a:lnTo>
                    <a:pt x="0" y="1572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6" name="Freeform 13">
              <a:extLst>
                <a:ext uri="{FF2B5EF4-FFF2-40B4-BE49-F238E27FC236}">
                  <a16:creationId xmlns:a16="http://schemas.microsoft.com/office/drawing/2014/main" id="{9C6640DE-1F83-4B3A-BCD3-5290531BC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780"/>
              <a:ext cx="96" cy="1728"/>
            </a:xfrm>
            <a:custGeom>
              <a:avLst/>
              <a:gdLst>
                <a:gd name="T0" fmla="*/ 0 w 96"/>
                <a:gd name="T1" fmla="*/ 0 h 1728"/>
                <a:gd name="T2" fmla="*/ 0 w 96"/>
                <a:gd name="T3" fmla="*/ 783 h 1728"/>
                <a:gd name="T4" fmla="*/ 72 w 96"/>
                <a:gd name="T5" fmla="*/ 848 h 1728"/>
                <a:gd name="T6" fmla="*/ 96 w 96"/>
                <a:gd name="T7" fmla="*/ 912 h 1728"/>
                <a:gd name="T8" fmla="*/ 84 w 96"/>
                <a:gd name="T9" fmla="*/ 977 h 1728"/>
                <a:gd name="T10" fmla="*/ 0 w 96"/>
                <a:gd name="T11" fmla="*/ 1052 h 1728"/>
                <a:gd name="T12" fmla="*/ 0 w 96"/>
                <a:gd name="T13" fmla="*/ 1728 h 17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728"/>
                <a:gd name="T23" fmla="*/ 96 w 96"/>
                <a:gd name="T24" fmla="*/ 1728 h 17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728">
                  <a:moveTo>
                    <a:pt x="0" y="0"/>
                  </a:moveTo>
                  <a:lnTo>
                    <a:pt x="0" y="783"/>
                  </a:lnTo>
                  <a:lnTo>
                    <a:pt x="72" y="848"/>
                  </a:lnTo>
                  <a:lnTo>
                    <a:pt x="96" y="912"/>
                  </a:lnTo>
                  <a:lnTo>
                    <a:pt x="84" y="977"/>
                  </a:lnTo>
                  <a:lnTo>
                    <a:pt x="0" y="1052"/>
                  </a:lnTo>
                  <a:lnTo>
                    <a:pt x="0" y="1728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7" name="Freeform 14">
              <a:extLst>
                <a:ext uri="{FF2B5EF4-FFF2-40B4-BE49-F238E27FC236}">
                  <a16:creationId xmlns:a16="http://schemas.microsoft.com/office/drawing/2014/main" id="{1E7FA8A6-ED4F-46C5-BE65-73B43B91A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768"/>
              <a:ext cx="96" cy="1752"/>
            </a:xfrm>
            <a:custGeom>
              <a:avLst/>
              <a:gdLst>
                <a:gd name="T0" fmla="*/ 0 w 96"/>
                <a:gd name="T1" fmla="*/ 0 h 1752"/>
                <a:gd name="T2" fmla="*/ 0 w 96"/>
                <a:gd name="T3" fmla="*/ 783 h 1752"/>
                <a:gd name="T4" fmla="*/ 72 w 96"/>
                <a:gd name="T5" fmla="*/ 848 h 1752"/>
                <a:gd name="T6" fmla="*/ 96 w 96"/>
                <a:gd name="T7" fmla="*/ 912 h 1752"/>
                <a:gd name="T8" fmla="*/ 84 w 96"/>
                <a:gd name="T9" fmla="*/ 977 h 1752"/>
                <a:gd name="T10" fmla="*/ 0 w 96"/>
                <a:gd name="T11" fmla="*/ 1052 h 1752"/>
                <a:gd name="T12" fmla="*/ 0 w 96"/>
                <a:gd name="T13" fmla="*/ 1752 h 17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752"/>
                <a:gd name="T23" fmla="*/ 96 w 96"/>
                <a:gd name="T24" fmla="*/ 1752 h 17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752">
                  <a:moveTo>
                    <a:pt x="0" y="0"/>
                  </a:moveTo>
                  <a:lnTo>
                    <a:pt x="0" y="783"/>
                  </a:lnTo>
                  <a:lnTo>
                    <a:pt x="72" y="848"/>
                  </a:lnTo>
                  <a:lnTo>
                    <a:pt x="96" y="912"/>
                  </a:lnTo>
                  <a:lnTo>
                    <a:pt x="84" y="977"/>
                  </a:lnTo>
                  <a:lnTo>
                    <a:pt x="0" y="1052"/>
                  </a:lnTo>
                  <a:lnTo>
                    <a:pt x="0" y="1752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8" name="Freeform 15">
              <a:extLst>
                <a:ext uri="{FF2B5EF4-FFF2-40B4-BE49-F238E27FC236}">
                  <a16:creationId xmlns:a16="http://schemas.microsoft.com/office/drawing/2014/main" id="{2E919D73-ED82-448D-913B-B7FC1BC78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792"/>
              <a:ext cx="96" cy="1704"/>
            </a:xfrm>
            <a:custGeom>
              <a:avLst/>
              <a:gdLst>
                <a:gd name="T0" fmla="*/ 0 w 96"/>
                <a:gd name="T1" fmla="*/ 0 h 1704"/>
                <a:gd name="T2" fmla="*/ 0 w 96"/>
                <a:gd name="T3" fmla="*/ 771 h 1704"/>
                <a:gd name="T4" fmla="*/ 72 w 96"/>
                <a:gd name="T5" fmla="*/ 836 h 1704"/>
                <a:gd name="T6" fmla="*/ 96 w 96"/>
                <a:gd name="T7" fmla="*/ 900 h 1704"/>
                <a:gd name="T8" fmla="*/ 84 w 96"/>
                <a:gd name="T9" fmla="*/ 965 h 1704"/>
                <a:gd name="T10" fmla="*/ 0 w 96"/>
                <a:gd name="T11" fmla="*/ 1040 h 1704"/>
                <a:gd name="T12" fmla="*/ 0 w 96"/>
                <a:gd name="T13" fmla="*/ 1704 h 17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704"/>
                <a:gd name="T23" fmla="*/ 96 w 96"/>
                <a:gd name="T24" fmla="*/ 1704 h 17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704">
                  <a:moveTo>
                    <a:pt x="0" y="0"/>
                  </a:moveTo>
                  <a:lnTo>
                    <a:pt x="0" y="771"/>
                  </a:lnTo>
                  <a:lnTo>
                    <a:pt x="72" y="836"/>
                  </a:lnTo>
                  <a:lnTo>
                    <a:pt x="96" y="900"/>
                  </a:lnTo>
                  <a:lnTo>
                    <a:pt x="84" y="965"/>
                  </a:lnTo>
                  <a:lnTo>
                    <a:pt x="0" y="1040"/>
                  </a:lnTo>
                  <a:lnTo>
                    <a:pt x="0" y="1704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9" name="Freeform 16">
              <a:extLst>
                <a:ext uri="{FF2B5EF4-FFF2-40B4-BE49-F238E27FC236}">
                  <a16:creationId xmlns:a16="http://schemas.microsoft.com/office/drawing/2014/main" id="{A41F42B3-9A29-4223-86EF-2D5F9B7C2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" y="852"/>
              <a:ext cx="96" cy="1584"/>
            </a:xfrm>
            <a:custGeom>
              <a:avLst/>
              <a:gdLst>
                <a:gd name="T0" fmla="*/ 0 w 96"/>
                <a:gd name="T1" fmla="*/ 0 h 1584"/>
                <a:gd name="T2" fmla="*/ 0 w 96"/>
                <a:gd name="T3" fmla="*/ 699 h 1584"/>
                <a:gd name="T4" fmla="*/ 72 w 96"/>
                <a:gd name="T5" fmla="*/ 764 h 1584"/>
                <a:gd name="T6" fmla="*/ 96 w 96"/>
                <a:gd name="T7" fmla="*/ 828 h 1584"/>
                <a:gd name="T8" fmla="*/ 84 w 96"/>
                <a:gd name="T9" fmla="*/ 893 h 1584"/>
                <a:gd name="T10" fmla="*/ 0 w 96"/>
                <a:gd name="T11" fmla="*/ 968 h 1584"/>
                <a:gd name="T12" fmla="*/ 0 w 96"/>
                <a:gd name="T13" fmla="*/ 1584 h 15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584"/>
                <a:gd name="T23" fmla="*/ 96 w 96"/>
                <a:gd name="T24" fmla="*/ 1584 h 15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584">
                  <a:moveTo>
                    <a:pt x="0" y="0"/>
                  </a:moveTo>
                  <a:lnTo>
                    <a:pt x="0" y="699"/>
                  </a:lnTo>
                  <a:lnTo>
                    <a:pt x="72" y="764"/>
                  </a:lnTo>
                  <a:lnTo>
                    <a:pt x="96" y="828"/>
                  </a:lnTo>
                  <a:lnTo>
                    <a:pt x="84" y="893"/>
                  </a:lnTo>
                  <a:lnTo>
                    <a:pt x="0" y="968"/>
                  </a:lnTo>
                  <a:lnTo>
                    <a:pt x="0" y="1584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0" name="Freeform 17">
              <a:extLst>
                <a:ext uri="{FF2B5EF4-FFF2-40B4-BE49-F238E27FC236}">
                  <a16:creationId xmlns:a16="http://schemas.microsoft.com/office/drawing/2014/main" id="{266449F3-EA45-417A-AAB7-06980B54F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" y="948"/>
              <a:ext cx="96" cy="1380"/>
            </a:xfrm>
            <a:custGeom>
              <a:avLst/>
              <a:gdLst>
                <a:gd name="T0" fmla="*/ 0 w 96"/>
                <a:gd name="T1" fmla="*/ 0 h 1380"/>
                <a:gd name="T2" fmla="*/ 0 w 96"/>
                <a:gd name="T3" fmla="*/ 591 h 1380"/>
                <a:gd name="T4" fmla="*/ 72 w 96"/>
                <a:gd name="T5" fmla="*/ 656 h 1380"/>
                <a:gd name="T6" fmla="*/ 96 w 96"/>
                <a:gd name="T7" fmla="*/ 720 h 1380"/>
                <a:gd name="T8" fmla="*/ 84 w 96"/>
                <a:gd name="T9" fmla="*/ 785 h 1380"/>
                <a:gd name="T10" fmla="*/ 0 w 96"/>
                <a:gd name="T11" fmla="*/ 860 h 1380"/>
                <a:gd name="T12" fmla="*/ 0 w 96"/>
                <a:gd name="T13" fmla="*/ 1380 h 13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380"/>
                <a:gd name="T23" fmla="*/ 96 w 96"/>
                <a:gd name="T24" fmla="*/ 1380 h 138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380">
                  <a:moveTo>
                    <a:pt x="0" y="0"/>
                  </a:moveTo>
                  <a:lnTo>
                    <a:pt x="0" y="591"/>
                  </a:lnTo>
                  <a:lnTo>
                    <a:pt x="72" y="656"/>
                  </a:lnTo>
                  <a:lnTo>
                    <a:pt x="96" y="720"/>
                  </a:lnTo>
                  <a:lnTo>
                    <a:pt x="84" y="785"/>
                  </a:lnTo>
                  <a:lnTo>
                    <a:pt x="0" y="860"/>
                  </a:lnTo>
                  <a:lnTo>
                    <a:pt x="0" y="1380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1" name="Freeform 18">
              <a:extLst>
                <a:ext uri="{FF2B5EF4-FFF2-40B4-BE49-F238E27FC236}">
                  <a16:creationId xmlns:a16="http://schemas.microsoft.com/office/drawing/2014/main" id="{BFF353BC-0A3A-4F0B-BE7B-D37762388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0" y="1152"/>
              <a:ext cx="96" cy="984"/>
            </a:xfrm>
            <a:custGeom>
              <a:avLst/>
              <a:gdLst>
                <a:gd name="T0" fmla="*/ 0 w 96"/>
                <a:gd name="T1" fmla="*/ 0 h 984"/>
                <a:gd name="T2" fmla="*/ 0 w 96"/>
                <a:gd name="T3" fmla="*/ 387 h 984"/>
                <a:gd name="T4" fmla="*/ 72 w 96"/>
                <a:gd name="T5" fmla="*/ 452 h 984"/>
                <a:gd name="T6" fmla="*/ 96 w 96"/>
                <a:gd name="T7" fmla="*/ 516 h 984"/>
                <a:gd name="T8" fmla="*/ 84 w 96"/>
                <a:gd name="T9" fmla="*/ 581 h 984"/>
                <a:gd name="T10" fmla="*/ 0 w 96"/>
                <a:gd name="T11" fmla="*/ 656 h 984"/>
                <a:gd name="T12" fmla="*/ 0 w 96"/>
                <a:gd name="T13" fmla="*/ 984 h 9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984"/>
                <a:gd name="T23" fmla="*/ 96 w 96"/>
                <a:gd name="T24" fmla="*/ 984 h 9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984">
                  <a:moveTo>
                    <a:pt x="0" y="0"/>
                  </a:moveTo>
                  <a:lnTo>
                    <a:pt x="0" y="387"/>
                  </a:lnTo>
                  <a:lnTo>
                    <a:pt x="72" y="452"/>
                  </a:lnTo>
                  <a:lnTo>
                    <a:pt x="96" y="516"/>
                  </a:lnTo>
                  <a:lnTo>
                    <a:pt x="84" y="581"/>
                  </a:lnTo>
                  <a:lnTo>
                    <a:pt x="0" y="656"/>
                  </a:lnTo>
                  <a:lnTo>
                    <a:pt x="0" y="984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9F9EE292-5683-4876-AC9D-824D5E93F2CF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4171950"/>
            <a:ext cx="1562100" cy="400050"/>
            <a:chOff x="4068" y="2628"/>
            <a:chExt cx="984" cy="252"/>
          </a:xfrm>
        </p:grpSpPr>
        <p:sp>
          <p:nvSpPr>
            <p:cNvPr id="15389" name="Line 20">
              <a:extLst>
                <a:ext uri="{FF2B5EF4-FFF2-40B4-BE49-F238E27FC236}">
                  <a16:creationId xmlns:a16="http://schemas.microsoft.com/office/drawing/2014/main" id="{D408636C-60B1-4381-BE54-ABA5FC2BD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628"/>
              <a:ext cx="0" cy="25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0" name="Line 21">
              <a:extLst>
                <a:ext uri="{FF2B5EF4-FFF2-40B4-BE49-F238E27FC236}">
                  <a16:creationId xmlns:a16="http://schemas.microsoft.com/office/drawing/2014/main" id="{DF81AF8D-69DF-4091-9E16-A2327AADB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8" y="2628"/>
              <a:ext cx="0" cy="25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1" name="Line 22">
              <a:extLst>
                <a:ext uri="{FF2B5EF4-FFF2-40B4-BE49-F238E27FC236}">
                  <a16:creationId xmlns:a16="http://schemas.microsoft.com/office/drawing/2014/main" id="{1E14086E-E9C5-44A4-B6A8-9B25ECB32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2" y="2628"/>
              <a:ext cx="0" cy="25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3">
            <a:extLst>
              <a:ext uri="{FF2B5EF4-FFF2-40B4-BE49-F238E27FC236}">
                <a16:creationId xmlns:a16="http://schemas.microsoft.com/office/drawing/2014/main" id="{020667E6-2890-47D6-83A1-77B54793C6B5}"/>
              </a:ext>
            </a:extLst>
          </p:cNvPr>
          <p:cNvGrpSpPr>
            <a:grpSpLocks/>
          </p:cNvGrpSpPr>
          <p:nvPr/>
        </p:nvGrpSpPr>
        <p:grpSpPr bwMode="auto">
          <a:xfrm>
            <a:off x="7450138" y="2490788"/>
            <a:ext cx="1009650" cy="938212"/>
            <a:chOff x="4657" y="1620"/>
            <a:chExt cx="623" cy="591"/>
          </a:xfrm>
        </p:grpSpPr>
        <p:sp>
          <p:nvSpPr>
            <p:cNvPr id="15385" name="Line 24">
              <a:extLst>
                <a:ext uri="{FF2B5EF4-FFF2-40B4-BE49-F238E27FC236}">
                  <a16:creationId xmlns:a16="http://schemas.microsoft.com/office/drawing/2014/main" id="{A35161CC-7E47-4485-BC16-9412A63F6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8" y="1620"/>
              <a:ext cx="0" cy="43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86" name="Object 25">
              <a:extLst>
                <a:ext uri="{FF2B5EF4-FFF2-40B4-BE49-F238E27FC236}">
                  <a16:creationId xmlns:a16="http://schemas.microsoft.com/office/drawing/2014/main" id="{30A666B0-6E51-4CF3-B8EC-8592ED9B62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6" y="1895"/>
            <a:ext cx="284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266" name="公式" r:id="rId4" imgW="85629" imgH="104707" progId="Equation.3">
                    <p:embed/>
                  </p:oleObj>
                </mc:Choice>
                <mc:Fallback>
                  <p:oleObj name="公式" r:id="rId4" imgW="85629" imgH="104707" progId="Equation.3">
                    <p:embed/>
                    <p:pic>
                      <p:nvPicPr>
                        <p:cNvPr id="15386" name="Object 25">
                          <a:extLst>
                            <a:ext uri="{FF2B5EF4-FFF2-40B4-BE49-F238E27FC236}">
                              <a16:creationId xmlns:a16="http://schemas.microsoft.com/office/drawing/2014/main" id="{30A666B0-6E51-4CF3-B8EC-8592ED9B62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6" y="1895"/>
                          <a:ext cx="284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7" name="Line 26">
              <a:extLst>
                <a:ext uri="{FF2B5EF4-FFF2-40B4-BE49-F238E27FC236}">
                  <a16:creationId xmlns:a16="http://schemas.microsoft.com/office/drawing/2014/main" id="{8489F14B-C258-4691-989E-4B5E29F4BB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7" y="1896"/>
              <a:ext cx="25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8" name="Line 27">
              <a:extLst>
                <a:ext uri="{FF2B5EF4-FFF2-40B4-BE49-F238E27FC236}">
                  <a16:creationId xmlns:a16="http://schemas.microsoft.com/office/drawing/2014/main" id="{2C972EF1-F09C-4742-81C1-D7F51D6A93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28" y="1908"/>
              <a:ext cx="25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28">
            <a:extLst>
              <a:ext uri="{FF2B5EF4-FFF2-40B4-BE49-F238E27FC236}">
                <a16:creationId xmlns:a16="http://schemas.microsoft.com/office/drawing/2014/main" id="{6ACA08B2-4CA2-4130-A520-D8A30195786C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1274763"/>
            <a:ext cx="796925" cy="574675"/>
            <a:chOff x="4608" y="803"/>
            <a:chExt cx="492" cy="362"/>
          </a:xfrm>
        </p:grpSpPr>
        <p:graphicFrame>
          <p:nvGraphicFramePr>
            <p:cNvPr id="15382" name="Object 29">
              <a:extLst>
                <a:ext uri="{FF2B5EF4-FFF2-40B4-BE49-F238E27FC236}">
                  <a16:creationId xmlns:a16="http://schemas.microsoft.com/office/drawing/2014/main" id="{B4BD4F10-F2FC-4A7B-9937-3A475B0DB3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3" y="803"/>
            <a:ext cx="258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267" name="公式" r:id="rId6" imgW="85629" imgH="142977" progId="Equation.3">
                    <p:embed/>
                  </p:oleObj>
                </mc:Choice>
                <mc:Fallback>
                  <p:oleObj name="公式" r:id="rId6" imgW="85629" imgH="142977" progId="Equation.3">
                    <p:embed/>
                    <p:pic>
                      <p:nvPicPr>
                        <p:cNvPr id="15382" name="Object 29">
                          <a:extLst>
                            <a:ext uri="{FF2B5EF4-FFF2-40B4-BE49-F238E27FC236}">
                              <a16:creationId xmlns:a16="http://schemas.microsoft.com/office/drawing/2014/main" id="{B4BD4F10-F2FC-4A7B-9937-3A475B0DB3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3" y="803"/>
                          <a:ext cx="258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3" name="Line 30">
              <a:extLst>
                <a:ext uri="{FF2B5EF4-FFF2-40B4-BE49-F238E27FC236}">
                  <a16:creationId xmlns:a16="http://schemas.microsoft.com/office/drawing/2014/main" id="{9E65176F-AED1-4079-84E9-80D015A337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044"/>
              <a:ext cx="14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4" name="Line 31">
              <a:extLst>
                <a:ext uri="{FF2B5EF4-FFF2-40B4-BE49-F238E27FC236}">
                  <a16:creationId xmlns:a16="http://schemas.microsoft.com/office/drawing/2014/main" id="{638CB434-1045-44B2-A914-86C2CEAFD9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56" y="1068"/>
              <a:ext cx="14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3280" name="Text Box 32">
            <a:extLst>
              <a:ext uri="{FF2B5EF4-FFF2-40B4-BE49-F238E27FC236}">
                <a16:creationId xmlns:a16="http://schemas.microsoft.com/office/drawing/2014/main" id="{E50BB12C-DA82-4FC9-8A89-015A7FF14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276475"/>
            <a:ext cx="557212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解  </a:t>
            </a: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(1)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等厚干涉，同一条纹上各点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对应的</a:t>
            </a:r>
            <a:r>
              <a:rPr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空气层厚度相等</a:t>
            </a:r>
          </a:p>
        </p:txBody>
      </p:sp>
      <p:sp>
        <p:nvSpPr>
          <p:cNvPr id="53281" name="Text Box 33">
            <a:extLst>
              <a:ext uri="{FF2B5EF4-FFF2-40B4-BE49-F238E27FC236}">
                <a16:creationId xmlns:a16="http://schemas.microsoft.com/office/drawing/2014/main" id="{07CE4A7D-BCEC-41D2-A377-983008724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429000"/>
            <a:ext cx="5314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所以不平处是</a:t>
            </a:r>
            <a:r>
              <a:rPr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凸出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的</a:t>
            </a:r>
          </a:p>
        </p:txBody>
      </p:sp>
      <p:grpSp>
        <p:nvGrpSpPr>
          <p:cNvPr id="8" name="Group 34">
            <a:extLst>
              <a:ext uri="{FF2B5EF4-FFF2-40B4-BE49-F238E27FC236}">
                <a16:creationId xmlns:a16="http://schemas.microsoft.com/office/drawing/2014/main" id="{58F1DBD6-B36F-4967-BEE3-6EEDA18FA7CD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5292725"/>
            <a:ext cx="2522537" cy="1147763"/>
            <a:chOff x="4140" y="2919"/>
            <a:chExt cx="1589" cy="723"/>
          </a:xfrm>
        </p:grpSpPr>
        <p:sp>
          <p:nvSpPr>
            <p:cNvPr id="15379" name="AutoShape 35">
              <a:extLst>
                <a:ext uri="{FF2B5EF4-FFF2-40B4-BE49-F238E27FC236}">
                  <a16:creationId xmlns:a16="http://schemas.microsoft.com/office/drawing/2014/main" id="{73B0968E-64D1-4D6D-9927-A44FA8753ED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140" y="3240"/>
              <a:ext cx="1332" cy="264"/>
            </a:xfrm>
            <a:prstGeom prst="rtTriangle">
              <a:avLst/>
            </a:prstGeom>
            <a:noFill/>
            <a:ln w="9525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5380" name="Object 36">
              <a:extLst>
                <a:ext uri="{FF2B5EF4-FFF2-40B4-BE49-F238E27FC236}">
                  <a16:creationId xmlns:a16="http://schemas.microsoft.com/office/drawing/2014/main" id="{9D07B250-9093-4AFB-9124-7CCAA75A74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2" y="3050"/>
            <a:ext cx="247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268" name="公式" r:id="rId8" imgW="123857" imgH="352391" progId="Equation.3">
                    <p:embed/>
                  </p:oleObj>
                </mc:Choice>
                <mc:Fallback>
                  <p:oleObj name="公式" r:id="rId8" imgW="123857" imgH="352391" progId="Equation.3">
                    <p:embed/>
                    <p:pic>
                      <p:nvPicPr>
                        <p:cNvPr id="15380" name="Object 36">
                          <a:extLst>
                            <a:ext uri="{FF2B5EF4-FFF2-40B4-BE49-F238E27FC236}">
                              <a16:creationId xmlns:a16="http://schemas.microsoft.com/office/drawing/2014/main" id="{9D07B250-9093-4AFB-9124-7CCAA75A74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2" y="3050"/>
                          <a:ext cx="247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1" name="Object 37">
              <a:extLst>
                <a:ext uri="{FF2B5EF4-FFF2-40B4-BE49-F238E27FC236}">
                  <a16:creationId xmlns:a16="http://schemas.microsoft.com/office/drawing/2014/main" id="{9DD4B8C4-E9FE-454F-94C6-002D490214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12" y="2919"/>
            <a:ext cx="286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269" name="公式" r:id="rId10" imgW="85629" imgH="142977" progId="Equation.3">
                    <p:embed/>
                  </p:oleObj>
                </mc:Choice>
                <mc:Fallback>
                  <p:oleObj name="公式" r:id="rId10" imgW="85629" imgH="142977" progId="Equation.3">
                    <p:embed/>
                    <p:pic>
                      <p:nvPicPr>
                        <p:cNvPr id="15381" name="Object 37">
                          <a:extLst>
                            <a:ext uri="{FF2B5EF4-FFF2-40B4-BE49-F238E27FC236}">
                              <a16:creationId xmlns:a16="http://schemas.microsoft.com/office/drawing/2014/main" id="{9DD4B8C4-E9FE-454F-94C6-002D490214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2" y="2919"/>
                          <a:ext cx="286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8">
            <a:extLst>
              <a:ext uri="{FF2B5EF4-FFF2-40B4-BE49-F238E27FC236}">
                <a16:creationId xmlns:a16="http://schemas.microsoft.com/office/drawing/2014/main" id="{F466FA05-C0E0-4E1D-9581-10492E79FE10}"/>
              </a:ext>
            </a:extLst>
          </p:cNvPr>
          <p:cNvGrpSpPr>
            <a:grpSpLocks/>
          </p:cNvGrpSpPr>
          <p:nvPr/>
        </p:nvGrpSpPr>
        <p:grpSpPr bwMode="auto">
          <a:xfrm>
            <a:off x="6313488" y="5546725"/>
            <a:ext cx="1687512" cy="742950"/>
            <a:chOff x="4116" y="3090"/>
            <a:chExt cx="1063" cy="468"/>
          </a:xfrm>
        </p:grpSpPr>
        <p:sp>
          <p:nvSpPr>
            <p:cNvPr id="15376" name="AutoShape 39">
              <a:extLst>
                <a:ext uri="{FF2B5EF4-FFF2-40B4-BE49-F238E27FC236}">
                  <a16:creationId xmlns:a16="http://schemas.microsoft.com/office/drawing/2014/main" id="{5A8FDFEF-DC0B-4EB6-BEFA-D923E900189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116" y="3336"/>
              <a:ext cx="816" cy="168"/>
            </a:xfrm>
            <a:prstGeom prst="rtTriangle">
              <a:avLst/>
            </a:pr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5377" name="Object 40">
              <a:extLst>
                <a:ext uri="{FF2B5EF4-FFF2-40B4-BE49-F238E27FC236}">
                  <a16:creationId xmlns:a16="http://schemas.microsoft.com/office/drawing/2014/main" id="{F98CADF9-8870-48C5-9080-2298962EF1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21" y="3090"/>
            <a:ext cx="298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270" name="公式" r:id="rId12" imgW="85629" imgH="104707" progId="Equation.3">
                    <p:embed/>
                  </p:oleObj>
                </mc:Choice>
                <mc:Fallback>
                  <p:oleObj name="公式" r:id="rId12" imgW="85629" imgH="104707" progId="Equation.3">
                    <p:embed/>
                    <p:pic>
                      <p:nvPicPr>
                        <p:cNvPr id="15377" name="Object 40">
                          <a:extLst>
                            <a:ext uri="{FF2B5EF4-FFF2-40B4-BE49-F238E27FC236}">
                              <a16:creationId xmlns:a16="http://schemas.microsoft.com/office/drawing/2014/main" id="{F98CADF9-8870-48C5-9080-2298962EF1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1" y="3090"/>
                          <a:ext cx="298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41">
              <a:extLst>
                <a:ext uri="{FF2B5EF4-FFF2-40B4-BE49-F238E27FC236}">
                  <a16:creationId xmlns:a16="http://schemas.microsoft.com/office/drawing/2014/main" id="{8FE4B533-BEDD-45AA-B4CD-68ED6E9E5F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53" y="3241"/>
            <a:ext cx="22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271" name="公式" r:id="rId14" imgW="85629" imgH="142977" progId="Equation.3">
                    <p:embed/>
                  </p:oleObj>
                </mc:Choice>
                <mc:Fallback>
                  <p:oleObj name="公式" r:id="rId14" imgW="85629" imgH="142977" progId="Equation.3">
                    <p:embed/>
                    <p:pic>
                      <p:nvPicPr>
                        <p:cNvPr id="15378" name="Object 41">
                          <a:extLst>
                            <a:ext uri="{FF2B5EF4-FFF2-40B4-BE49-F238E27FC236}">
                              <a16:creationId xmlns:a16="http://schemas.microsoft.com/office/drawing/2014/main" id="{8FE4B533-BEDD-45AA-B4CD-68ED6E9E5F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3" y="3241"/>
                          <a:ext cx="226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90" name="Text Box 42">
            <a:extLst>
              <a:ext uri="{FF2B5EF4-FFF2-40B4-BE49-F238E27FC236}">
                <a16:creationId xmlns:a16="http://schemas.microsoft.com/office/drawing/2014/main" id="{C9E4AE63-130D-4594-9AA2-87DBF7A2E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149725"/>
            <a:ext cx="609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(2)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相似三角形关系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53291" name="Object 43">
            <a:extLst>
              <a:ext uri="{FF2B5EF4-FFF2-40B4-BE49-F238E27FC236}">
                <a16:creationId xmlns:a16="http://schemas.microsoft.com/office/drawing/2014/main" id="{B23E6678-4439-4771-A30A-0EB63545E9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5157788"/>
          <a:ext cx="1449387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272" name="公式" r:id="rId16" imgW="523869" imgH="352391" progId="Equation.3">
                  <p:embed/>
                </p:oleObj>
              </mc:Choice>
              <mc:Fallback>
                <p:oleObj name="公式" r:id="rId16" imgW="523869" imgH="352391" progId="Equation.3">
                  <p:embed/>
                  <p:pic>
                    <p:nvPicPr>
                      <p:cNvPr id="53291" name="Object 43">
                        <a:extLst>
                          <a:ext uri="{FF2B5EF4-FFF2-40B4-BE49-F238E27FC236}">
                            <a16:creationId xmlns:a16="http://schemas.microsoft.com/office/drawing/2014/main" id="{B23E6678-4439-4771-A30A-0EB63545E9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157788"/>
                        <a:ext cx="1449387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92" name="Object 44">
            <a:extLst>
              <a:ext uri="{FF2B5EF4-FFF2-40B4-BE49-F238E27FC236}">
                <a16:creationId xmlns:a16="http://schemas.microsoft.com/office/drawing/2014/main" id="{175B2885-B719-40BB-A902-FC144A1DBB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5084763"/>
          <a:ext cx="2016125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273" name="公式" r:id="rId18" imgW="676167" imgH="352391" progId="Equation.3">
                  <p:embed/>
                </p:oleObj>
              </mc:Choice>
              <mc:Fallback>
                <p:oleObj name="公式" r:id="rId18" imgW="676167" imgH="352391" progId="Equation.3">
                  <p:embed/>
                  <p:pic>
                    <p:nvPicPr>
                      <p:cNvPr id="53292" name="Object 44">
                        <a:extLst>
                          <a:ext uri="{FF2B5EF4-FFF2-40B4-BE49-F238E27FC236}">
                            <a16:creationId xmlns:a16="http://schemas.microsoft.com/office/drawing/2014/main" id="{175B2885-B719-40BB-A902-FC144A1DBB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084763"/>
                        <a:ext cx="2016125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5" name="灯片编号占位符 1">
            <a:extLst>
              <a:ext uri="{FF2B5EF4-FFF2-40B4-BE49-F238E27FC236}">
                <a16:creationId xmlns:a16="http://schemas.microsoft.com/office/drawing/2014/main" id="{36D27368-0B07-4433-ADE2-CAF5A5B18A4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12D69B-0FEF-427B-A70C-9470B2E0DD03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3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utoUpdateAnimBg="0"/>
      <p:bldP spid="53280" grpId="0" autoUpdateAnimBg="0"/>
      <p:bldP spid="53281" grpId="0" autoUpdateAnimBg="0"/>
      <p:bldP spid="5329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9" name="Picture 43">
            <a:extLst>
              <a:ext uri="{FF2B5EF4-FFF2-40B4-BE49-F238E27FC236}">
                <a16:creationId xmlns:a16="http://schemas.microsoft.com/office/drawing/2014/main" id="{B2256367-21F7-40AC-B3B6-11280C5A0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76250"/>
            <a:ext cx="257175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1939" name="Object 19">
            <a:extLst>
              <a:ext uri="{FF2B5EF4-FFF2-40B4-BE49-F238E27FC236}">
                <a16:creationId xmlns:a16="http://schemas.microsoft.com/office/drawing/2014/main" id="{B8715EDB-C8B0-479F-9EAE-C10EA5399F7A}"/>
              </a:ext>
            </a:extLst>
          </p:cNvPr>
          <p:cNvGraphicFramePr>
            <a:graphicFrameLocks/>
          </p:cNvGraphicFramePr>
          <p:nvPr/>
        </p:nvGraphicFramePr>
        <p:xfrm>
          <a:off x="714375" y="2471738"/>
          <a:ext cx="14287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90" name="公式" r:id="rId4" imgW="1552645" imgH="790507" progId="Equation.3">
                  <p:embed/>
                </p:oleObj>
              </mc:Choice>
              <mc:Fallback>
                <p:oleObj name="公式" r:id="rId4" imgW="1552645" imgH="790507" progId="Equation.3">
                  <p:embed/>
                  <p:pic>
                    <p:nvPicPr>
                      <p:cNvPr id="81939" name="Object 19">
                        <a:extLst>
                          <a:ext uri="{FF2B5EF4-FFF2-40B4-BE49-F238E27FC236}">
                            <a16:creationId xmlns:a16="http://schemas.microsoft.com/office/drawing/2014/main" id="{B8715EDB-C8B0-479F-9EAE-C10EA5399F7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2471738"/>
                        <a:ext cx="14287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0" name="Text Box 20">
            <a:extLst>
              <a:ext uri="{FF2B5EF4-FFF2-40B4-BE49-F238E27FC236}">
                <a16:creationId xmlns:a16="http://schemas.microsoft.com/office/drawing/2014/main" id="{0CA6EC3F-433E-482E-9582-C4E043D86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82663"/>
            <a:ext cx="295275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en-US" altLang="zh-CN" i="1">
                <a:solidFill>
                  <a:srgbClr val="FFFF00"/>
                </a:solidFill>
              </a:rPr>
              <a:t>OC</a:t>
            </a:r>
            <a:r>
              <a:rPr lang="zh-CN" altLang="en-US">
                <a:solidFill>
                  <a:schemeClr val="bg1"/>
                </a:solidFill>
                <a:latin typeface="方正书宋简体"/>
              </a:rPr>
              <a:t>为轴心半径为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r </a:t>
            </a:r>
            <a:r>
              <a:rPr lang="zh-CN" altLang="en-US">
                <a:solidFill>
                  <a:schemeClr val="bg1"/>
                </a:solidFill>
              </a:rPr>
              <a:t>处空气层厚度为 </a:t>
            </a:r>
            <a:r>
              <a:rPr lang="en-US" altLang="zh-CN" i="1">
                <a:solidFill>
                  <a:srgbClr val="FFFF00"/>
                </a:solidFill>
              </a:rPr>
              <a:t>d</a:t>
            </a:r>
          </a:p>
          <a:p>
            <a:pPr eaLnBrk="1" hangingPunct="1">
              <a:lnSpc>
                <a:spcPts val="3500"/>
              </a:lnSpc>
            </a:pPr>
            <a:r>
              <a:rPr lang="zh-CN" altLang="en-US">
                <a:solidFill>
                  <a:schemeClr val="bg1"/>
                </a:solidFill>
                <a:latin typeface="方正书宋简体"/>
              </a:rPr>
              <a:t>光程差：</a:t>
            </a:r>
          </a:p>
        </p:txBody>
      </p:sp>
      <p:graphicFrame>
        <p:nvGraphicFramePr>
          <p:cNvPr id="81942" name="Object 22">
            <a:extLst>
              <a:ext uri="{FF2B5EF4-FFF2-40B4-BE49-F238E27FC236}">
                <a16:creationId xmlns:a16="http://schemas.microsoft.com/office/drawing/2014/main" id="{52B25D23-2BF1-4640-9BCE-0E54E914C95B}"/>
              </a:ext>
            </a:extLst>
          </p:cNvPr>
          <p:cNvGraphicFramePr>
            <a:graphicFrameLocks/>
          </p:cNvGraphicFramePr>
          <p:nvPr/>
        </p:nvGraphicFramePr>
        <p:xfrm>
          <a:off x="4683125" y="3929063"/>
          <a:ext cx="960438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91" name="公式" r:id="rId6" imgW="1028776" imgH="838268" progId="Equation.3">
                  <p:embed/>
                </p:oleObj>
              </mc:Choice>
              <mc:Fallback>
                <p:oleObj name="公式" r:id="rId6" imgW="1028776" imgH="838268" progId="Equation.3">
                  <p:embed/>
                  <p:pic>
                    <p:nvPicPr>
                      <p:cNvPr id="81942" name="Object 22">
                        <a:extLst>
                          <a:ext uri="{FF2B5EF4-FFF2-40B4-BE49-F238E27FC236}">
                            <a16:creationId xmlns:a16="http://schemas.microsoft.com/office/drawing/2014/main" id="{52B25D23-2BF1-4640-9BCE-0E54E914C9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5" y="3929063"/>
                        <a:ext cx="960438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3" name="Text Box 23">
            <a:extLst>
              <a:ext uri="{FF2B5EF4-FFF2-40B4-BE49-F238E27FC236}">
                <a16:creationId xmlns:a16="http://schemas.microsoft.com/office/drawing/2014/main" id="{E4F771F5-170F-4451-84AC-6D2098C81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929188"/>
            <a:ext cx="1174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明纹： </a:t>
            </a:r>
          </a:p>
        </p:txBody>
      </p:sp>
      <p:graphicFrame>
        <p:nvGraphicFramePr>
          <p:cNvPr id="81944" name="Object 24">
            <a:extLst>
              <a:ext uri="{FF2B5EF4-FFF2-40B4-BE49-F238E27FC236}">
                <a16:creationId xmlns:a16="http://schemas.microsoft.com/office/drawing/2014/main" id="{E30578A0-D16A-4D33-B632-0323870EE2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5325" y="4779963"/>
          <a:ext cx="33782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92" name="公式" r:id="rId8" imgW="1752651" imgH="380864" progId="Equation.3">
                  <p:embed/>
                </p:oleObj>
              </mc:Choice>
              <mc:Fallback>
                <p:oleObj name="公式" r:id="rId8" imgW="1752651" imgH="380864" progId="Equation.3">
                  <p:embed/>
                  <p:pic>
                    <p:nvPicPr>
                      <p:cNvPr id="81944" name="Object 24">
                        <a:extLst>
                          <a:ext uri="{FF2B5EF4-FFF2-40B4-BE49-F238E27FC236}">
                            <a16:creationId xmlns:a16="http://schemas.microsoft.com/office/drawing/2014/main" id="{E30578A0-D16A-4D33-B632-0323870EE2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4779963"/>
                        <a:ext cx="33782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5" name="Text Box 25">
            <a:extLst>
              <a:ext uri="{FF2B5EF4-FFF2-40B4-BE49-F238E27FC236}">
                <a16:creationId xmlns:a16="http://schemas.microsoft.com/office/drawing/2014/main" id="{DF0BD6CC-1107-426D-AFB0-C7DD05C2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826125"/>
            <a:ext cx="1150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暗纹： </a:t>
            </a:r>
          </a:p>
        </p:txBody>
      </p:sp>
      <p:graphicFrame>
        <p:nvGraphicFramePr>
          <p:cNvPr id="81946" name="Object 26">
            <a:extLst>
              <a:ext uri="{FF2B5EF4-FFF2-40B4-BE49-F238E27FC236}">
                <a16:creationId xmlns:a16="http://schemas.microsoft.com/office/drawing/2014/main" id="{C72E16AB-4A79-4DAF-8833-552C089963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8813" y="5643563"/>
          <a:ext cx="392906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93" name="公式" r:id="rId10" imgW="2047767" imgH="380864" progId="Equation.3">
                  <p:embed/>
                </p:oleObj>
              </mc:Choice>
              <mc:Fallback>
                <p:oleObj name="公式" r:id="rId10" imgW="2047767" imgH="380864" progId="Equation.3">
                  <p:embed/>
                  <p:pic>
                    <p:nvPicPr>
                      <p:cNvPr id="81946" name="Object 26">
                        <a:extLst>
                          <a:ext uri="{FF2B5EF4-FFF2-40B4-BE49-F238E27FC236}">
                            <a16:creationId xmlns:a16="http://schemas.microsoft.com/office/drawing/2014/main" id="{C72E16AB-4A79-4DAF-8833-552C089963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5643563"/>
                        <a:ext cx="3929062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47" name="Picture 27" descr="t3">
            <a:extLst>
              <a:ext uri="{FF2B5EF4-FFF2-40B4-BE49-F238E27FC236}">
                <a16:creationId xmlns:a16="http://schemas.microsoft.com/office/drawing/2014/main" id="{A976FB0B-3D46-4D19-924E-7DD41591D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3835400"/>
            <a:ext cx="2416175" cy="2451100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1948" name="Object 28">
            <a:extLst>
              <a:ext uri="{FF2B5EF4-FFF2-40B4-BE49-F238E27FC236}">
                <a16:creationId xmlns:a16="http://schemas.microsoft.com/office/drawing/2014/main" id="{507E639B-A184-45CA-9539-B9DF700699F1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2566988" y="4168775"/>
          <a:ext cx="12096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94" name="公式" r:id="rId13" imgW="571576" imgH="161959" progId="Equation.3">
                  <p:embed/>
                </p:oleObj>
              </mc:Choice>
              <mc:Fallback>
                <p:oleObj name="公式" r:id="rId13" imgW="571576" imgH="161959" progId="Equation.3">
                  <p:embed/>
                  <p:pic>
                    <p:nvPicPr>
                      <p:cNvPr id="81948" name="Object 28">
                        <a:extLst>
                          <a:ext uri="{FF2B5EF4-FFF2-40B4-BE49-F238E27FC236}">
                            <a16:creationId xmlns:a16="http://schemas.microsoft.com/office/drawing/2014/main" id="{507E639B-A184-45CA-9539-B9DF700699F1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4168775"/>
                        <a:ext cx="12096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9" name="Text Box 29">
            <a:extLst>
              <a:ext uri="{FF2B5EF4-FFF2-40B4-BE49-F238E27FC236}">
                <a16:creationId xmlns:a16="http://schemas.microsoft.com/office/drawing/2014/main" id="{C8D8FB26-FB36-4E1B-92B7-ED5D0C7F3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3" y="2286000"/>
            <a:ext cx="2286000" cy="711200"/>
          </a:xfrm>
          <a:prstGeom prst="rect">
            <a:avLst/>
          </a:prstGeom>
          <a:noFill/>
          <a:ln w="9525">
            <a:solidFill>
              <a:srgbClr val="FF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 dirty="0">
                <a:solidFill>
                  <a:srgbClr val="99FF33"/>
                </a:solidFill>
              </a:rPr>
              <a:t>空气层上、下表面</a:t>
            </a:r>
          </a:p>
          <a:p>
            <a:pPr eaLnBrk="1" hangingPunct="1"/>
            <a:r>
              <a:rPr kumimoji="0" lang="zh-CN" altLang="en-US" sz="2000" dirty="0">
                <a:solidFill>
                  <a:srgbClr val="99FF33"/>
                </a:solidFill>
              </a:rPr>
              <a:t>反射光的干涉</a:t>
            </a:r>
          </a:p>
        </p:txBody>
      </p:sp>
      <p:sp>
        <p:nvSpPr>
          <p:cNvPr id="81950" name="Line 30">
            <a:extLst>
              <a:ext uri="{FF2B5EF4-FFF2-40B4-BE49-F238E27FC236}">
                <a16:creationId xmlns:a16="http://schemas.microsoft.com/office/drawing/2014/main" id="{82F087C3-E250-450A-A3D6-7D453A0B2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4325" y="1774825"/>
            <a:ext cx="0" cy="900113"/>
          </a:xfrm>
          <a:prstGeom prst="line">
            <a:avLst/>
          </a:prstGeom>
          <a:noFill/>
          <a:ln w="38100">
            <a:solidFill>
              <a:srgbClr val="FF99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1" name="Line 31">
            <a:extLst>
              <a:ext uri="{FF2B5EF4-FFF2-40B4-BE49-F238E27FC236}">
                <a16:creationId xmlns:a16="http://schemas.microsoft.com/office/drawing/2014/main" id="{28D9A836-8D22-4F73-8E45-C78C12BC87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4325" y="2098675"/>
            <a:ext cx="0" cy="5762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2" name="Line 32">
            <a:extLst>
              <a:ext uri="{FF2B5EF4-FFF2-40B4-BE49-F238E27FC236}">
                <a16:creationId xmlns:a16="http://schemas.microsoft.com/office/drawing/2014/main" id="{CD1EC970-2EE8-4CD5-B503-AE10D7B021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1450" y="1817688"/>
            <a:ext cx="0" cy="936625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3" name="Line 33">
            <a:extLst>
              <a:ext uri="{FF2B5EF4-FFF2-40B4-BE49-F238E27FC236}">
                <a16:creationId xmlns:a16="http://schemas.microsoft.com/office/drawing/2014/main" id="{25B8D042-8EBC-4710-9F54-537C09398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81450" y="2025650"/>
            <a:ext cx="0" cy="720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50" name="Text Box 11">
            <a:extLst>
              <a:ext uri="{FF2B5EF4-FFF2-40B4-BE49-F238E27FC236}">
                <a16:creationId xmlns:a16="http://schemas.microsoft.com/office/drawing/2014/main" id="{CFA5E5E9-CAD6-427E-A71F-F72CBB1EC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33375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2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牛顿环 </a:t>
            </a:r>
            <a:endParaRPr lang="zh-CN" altLang="en-US" b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" name="Object 21">
            <a:extLst>
              <a:ext uri="{FF2B5EF4-FFF2-40B4-BE49-F238E27FC236}">
                <a16:creationId xmlns:a16="http://schemas.microsoft.com/office/drawing/2014/main" id="{F150BAB2-3EE5-4865-B899-DA761F963B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3317875"/>
          <a:ext cx="50006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95" name="公式" r:id="rId15" imgW="2390896" imgH="190432" progId="Equation.3">
                  <p:embed/>
                </p:oleObj>
              </mc:Choice>
              <mc:Fallback>
                <p:oleObj name="公式" r:id="rId15" imgW="2390896" imgH="190432" progId="Equation.3">
                  <p:embed/>
                  <p:pic>
                    <p:nvPicPr>
                      <p:cNvPr id="4" name="Object 21">
                        <a:extLst>
                          <a:ext uri="{FF2B5EF4-FFF2-40B4-BE49-F238E27FC236}">
                            <a16:creationId xmlns:a16="http://schemas.microsoft.com/office/drawing/2014/main" id="{F150BAB2-3EE5-4865-B899-DA761F963B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3317875"/>
                        <a:ext cx="500062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Line 38">
            <a:extLst>
              <a:ext uri="{FF2B5EF4-FFF2-40B4-BE49-F238E27FC236}">
                <a16:creationId xmlns:a16="http://schemas.microsoft.com/office/drawing/2014/main" id="{555DA080-4168-4D40-AA1D-960AD7FFA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6375" y="3286125"/>
            <a:ext cx="285750" cy="5000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38">
            <a:extLst>
              <a:ext uri="{FF2B5EF4-FFF2-40B4-BE49-F238E27FC236}">
                <a16:creationId xmlns:a16="http://schemas.microsoft.com/office/drawing/2014/main" id="{66551D8E-09AA-4A91-A3D9-B3A6F3CB5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6188" y="3286125"/>
            <a:ext cx="285750" cy="5000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38">
            <a:extLst>
              <a:ext uri="{FF2B5EF4-FFF2-40B4-BE49-F238E27FC236}">
                <a16:creationId xmlns:a16="http://schemas.microsoft.com/office/drawing/2014/main" id="{DCD4558E-EE99-4D0B-B9D0-844CB147FF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938" y="3286125"/>
            <a:ext cx="285750" cy="5000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Object 41">
            <a:extLst>
              <a:ext uri="{FF2B5EF4-FFF2-40B4-BE49-F238E27FC236}">
                <a16:creationId xmlns:a16="http://schemas.microsoft.com/office/drawing/2014/main" id="{32D452F5-22C0-41FC-85CB-75C7C1C132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200" y="4213225"/>
          <a:ext cx="13604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96" name="公式" r:id="rId17" imgW="638245" imgH="142977" progId="Equation.3">
                  <p:embed/>
                </p:oleObj>
              </mc:Choice>
              <mc:Fallback>
                <p:oleObj name="公式" r:id="rId17" imgW="638245" imgH="142977" progId="Equation.3">
                  <p:embed/>
                  <p:pic>
                    <p:nvPicPr>
                      <p:cNvPr id="5" name="Object 41">
                        <a:extLst>
                          <a:ext uri="{FF2B5EF4-FFF2-40B4-BE49-F238E27FC236}">
                            <a16:creationId xmlns:a16="http://schemas.microsoft.com/office/drawing/2014/main" id="{32D452F5-22C0-41FC-85CB-75C7C1C13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4213225"/>
                        <a:ext cx="136048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下箭头 47">
            <a:extLst>
              <a:ext uri="{FF2B5EF4-FFF2-40B4-BE49-F238E27FC236}">
                <a16:creationId xmlns:a16="http://schemas.microsoft.com/office/drawing/2014/main" id="{F6A6C3CA-B56E-407C-A5B4-31FA206C6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3786188"/>
            <a:ext cx="428625" cy="4286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9" name="右箭头 48">
            <a:extLst>
              <a:ext uri="{FF2B5EF4-FFF2-40B4-BE49-F238E27FC236}">
                <a16:creationId xmlns:a16="http://schemas.microsoft.com/office/drawing/2014/main" id="{54742974-EBDD-42FD-9B83-9BE3AF560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4214813"/>
            <a:ext cx="571500" cy="285750"/>
          </a:xfrm>
          <a:prstGeom prst="rightArrow">
            <a:avLst>
              <a:gd name="adj1" fmla="val 50000"/>
              <a:gd name="adj2" fmla="val 64676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0" name="Text Box 29">
            <a:extLst>
              <a:ext uri="{FF2B5EF4-FFF2-40B4-BE49-F238E27FC236}">
                <a16:creationId xmlns:a16="http://schemas.microsoft.com/office/drawing/2014/main" id="{B8B80D41-957E-4EA8-879D-FC6280334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8" y="428625"/>
            <a:ext cx="3400425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kumimoji="0" lang="zh-CN" altLang="en-US" sz="2000">
                <a:solidFill>
                  <a:schemeClr val="bg1"/>
                </a:solidFill>
              </a:rPr>
              <a:t>平面玻璃板 </a:t>
            </a:r>
            <a:r>
              <a:rPr kumimoji="0" lang="en-US" altLang="zh-CN" sz="2000" i="1">
                <a:solidFill>
                  <a:srgbClr val="FFFF00"/>
                </a:solidFill>
              </a:rPr>
              <a:t>A </a:t>
            </a:r>
            <a:r>
              <a:rPr kumimoji="0" lang="zh-CN" altLang="en-US" sz="2000">
                <a:solidFill>
                  <a:schemeClr val="bg1"/>
                </a:solidFill>
              </a:rPr>
              <a:t>和平凸透镜 </a:t>
            </a:r>
            <a:r>
              <a:rPr kumimoji="0" lang="en-US" altLang="zh-CN" sz="2000" i="1">
                <a:solidFill>
                  <a:srgbClr val="FFFF00"/>
                </a:solidFill>
              </a:rPr>
              <a:t>B </a:t>
            </a:r>
            <a:r>
              <a:rPr kumimoji="0" lang="zh-CN" altLang="en-US" sz="2000">
                <a:solidFill>
                  <a:schemeClr val="bg1"/>
                </a:solidFill>
              </a:rPr>
              <a:t>相接，上表面是球面、下表面为平面的空气薄层</a:t>
            </a:r>
          </a:p>
        </p:txBody>
      </p:sp>
      <p:sp>
        <p:nvSpPr>
          <p:cNvPr id="16410" name="灯片编号占位符 1">
            <a:extLst>
              <a:ext uri="{FF2B5EF4-FFF2-40B4-BE49-F238E27FC236}">
                <a16:creationId xmlns:a16="http://schemas.microsoft.com/office/drawing/2014/main" id="{4F466110-F5C0-4594-B36F-B59D3E76B74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A80277-8AC5-4C0E-AF27-FFCDA65E4C64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3" name="Object 43">
            <a:extLst>
              <a:ext uri="{FF2B5EF4-FFF2-40B4-BE49-F238E27FC236}">
                <a16:creationId xmlns:a16="http://schemas.microsoft.com/office/drawing/2014/main" id="{8A349583-29E2-4F1C-B670-96296459DF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4400" y="2428875"/>
          <a:ext cx="11017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97" name="公式" r:id="rId19" imgW="542829" imgH="380864" progId="Equation.3">
                  <p:embed/>
                </p:oleObj>
              </mc:Choice>
              <mc:Fallback>
                <p:oleObj name="公式" r:id="rId19" imgW="542829" imgH="380864" progId="Equation.3">
                  <p:embed/>
                  <p:pic>
                    <p:nvPicPr>
                      <p:cNvPr id="3" name="Object 43">
                        <a:extLst>
                          <a:ext uri="{FF2B5EF4-FFF2-40B4-BE49-F238E27FC236}">
                            <a16:creationId xmlns:a16="http://schemas.microsoft.com/office/drawing/2014/main" id="{8A349583-29E2-4F1C-B670-96296459DF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400" y="2428875"/>
                        <a:ext cx="110172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8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8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0" grpId="0" autoUpdateAnimBg="0"/>
      <p:bldP spid="81943" grpId="0" autoUpdateAnimBg="0"/>
      <p:bldP spid="81945" grpId="0" autoUpdateAnimBg="0"/>
      <p:bldP spid="81949" grpId="0" animBg="1" autoUpdateAnimBg="0"/>
      <p:bldP spid="9250" grpId="0"/>
      <p:bldP spid="48" grpId="0" animBg="1"/>
      <p:bldP spid="49" grpId="0" animBg="1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2498" name="Object 2">
            <a:extLst>
              <a:ext uri="{FF2B5EF4-FFF2-40B4-BE49-F238E27FC236}">
                <a16:creationId xmlns:a16="http://schemas.microsoft.com/office/drawing/2014/main" id="{E37FD845-18FD-4F24-BEA4-39AAEF426534}"/>
              </a:ext>
            </a:extLst>
          </p:cNvPr>
          <p:cNvGraphicFramePr>
            <a:graphicFrameLocks/>
          </p:cNvGraphicFramePr>
          <p:nvPr/>
        </p:nvGraphicFramePr>
        <p:xfrm>
          <a:off x="4514850" y="2132013"/>
          <a:ext cx="20574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274" name="公式" r:id="rId3" imgW="2247773" imgH="447607" progId="Equation.3">
                  <p:embed/>
                </p:oleObj>
              </mc:Choice>
              <mc:Fallback>
                <p:oleObj name="公式" r:id="rId3" imgW="2247773" imgH="447607" progId="Equation.3">
                  <p:embed/>
                  <p:pic>
                    <p:nvPicPr>
                      <p:cNvPr id="362498" name="Object 2">
                        <a:extLst>
                          <a:ext uri="{FF2B5EF4-FFF2-40B4-BE49-F238E27FC236}">
                            <a16:creationId xmlns:a16="http://schemas.microsoft.com/office/drawing/2014/main" id="{E37FD845-18FD-4F24-BEA4-39AAEF42653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2132013"/>
                        <a:ext cx="2057400" cy="43338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499" name="Text Box 3">
            <a:extLst>
              <a:ext uri="{FF2B5EF4-FFF2-40B4-BE49-F238E27FC236}">
                <a16:creationId xmlns:a16="http://schemas.microsoft.com/office/drawing/2014/main" id="{428E84F9-1B3F-40C7-9FD6-23C0CA06F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3068638"/>
            <a:ext cx="57673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chemeClr val="bg1"/>
                </a:solidFill>
                <a:ea typeface="华文楷体" panose="02010600040101010101" pitchFamily="2" charset="-122"/>
              </a:rPr>
              <a:t>(1)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测透镜球面的半径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R</a:t>
            </a:r>
            <a:endParaRPr lang="en-US" altLang="zh-CN" dirty="0">
              <a:solidFill>
                <a:srgbClr val="FFFF00"/>
              </a:solidFill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       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已知 </a:t>
            </a:r>
            <a:r>
              <a:rPr lang="zh-CN" altLang="en-US" i="1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,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测</a:t>
            </a:r>
            <a:r>
              <a:rPr lang="zh-CN" altLang="en-US" i="1" dirty="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m</a:t>
            </a:r>
            <a:r>
              <a:rPr lang="zh-CN" altLang="en-US" i="1" dirty="0">
                <a:solidFill>
                  <a:schemeClr val="bg1"/>
                </a:solidFill>
                <a:ea typeface="楷体_GB2312" pitchFamily="49" charset="-122"/>
              </a:rPr>
              <a:t>、</a:t>
            </a:r>
            <a:r>
              <a:rPr lang="en-US" altLang="zh-CN" i="1" dirty="0" err="1">
                <a:solidFill>
                  <a:srgbClr val="FFFF00"/>
                </a:solidFill>
                <a:ea typeface="楷体_GB2312" pitchFamily="49" charset="-122"/>
              </a:rPr>
              <a:t>r</a:t>
            </a:r>
            <a:r>
              <a:rPr lang="en-US" altLang="zh-CN" i="1" baseline="-25000" dirty="0" err="1">
                <a:solidFill>
                  <a:srgbClr val="FFFF00"/>
                </a:solidFill>
                <a:ea typeface="楷体_GB2312" pitchFamily="49" charset="-122"/>
              </a:rPr>
              <a:t>k+m</a:t>
            </a:r>
            <a:r>
              <a:rPr lang="zh-CN" altLang="en-US" i="1" dirty="0">
                <a:solidFill>
                  <a:schemeClr val="bg1"/>
                </a:solidFill>
                <a:ea typeface="楷体_GB2312" pitchFamily="49" charset="-122"/>
              </a:rPr>
              <a:t>、</a:t>
            </a:r>
            <a:r>
              <a:rPr lang="en-US" altLang="zh-CN" i="1" dirty="0" err="1">
                <a:solidFill>
                  <a:srgbClr val="FFFF00"/>
                </a:solidFill>
                <a:ea typeface="楷体_GB2312" pitchFamily="49" charset="-122"/>
              </a:rPr>
              <a:t>r</a:t>
            </a:r>
            <a:r>
              <a:rPr lang="en-US" altLang="zh-CN" i="1" baseline="-25000" dirty="0" err="1">
                <a:solidFill>
                  <a:srgbClr val="FFFF00"/>
                </a:solidFill>
                <a:ea typeface="楷体_GB2312" pitchFamily="49" charset="-122"/>
              </a:rPr>
              <a:t>k</a:t>
            </a:r>
            <a:r>
              <a:rPr lang="zh-CN" altLang="en-US" i="1" dirty="0">
                <a:solidFill>
                  <a:schemeClr val="bg1"/>
                </a:solidFill>
                <a:ea typeface="楷体_GB2312" pitchFamily="49" charset="-122"/>
              </a:rPr>
              <a:t>，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可得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R</a:t>
            </a:r>
          </a:p>
        </p:txBody>
      </p:sp>
      <p:sp>
        <p:nvSpPr>
          <p:cNvPr id="362500" name="Text Box 4">
            <a:extLst>
              <a:ext uri="{FF2B5EF4-FFF2-40B4-BE49-F238E27FC236}">
                <a16:creationId xmlns:a16="http://schemas.microsoft.com/office/drawing/2014/main" id="{63ED0C33-9559-44C6-8D61-CCB75156A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4006850"/>
            <a:ext cx="6172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chemeClr val="bg1"/>
                </a:solidFill>
                <a:ea typeface="华文楷体" panose="02010600040101010101" pitchFamily="2" charset="-122"/>
              </a:rPr>
              <a:t>(2)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测波长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λ</a:t>
            </a:r>
            <a:endParaRPr lang="en-US" altLang="zh-CN" dirty="0">
              <a:solidFill>
                <a:srgbClr val="FFFF00"/>
              </a:solidFill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        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已知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R</a:t>
            </a:r>
            <a:r>
              <a:rPr lang="zh-CN" altLang="en-US" i="1" dirty="0">
                <a:solidFill>
                  <a:schemeClr val="bg1"/>
                </a:solidFill>
                <a:ea typeface="楷体_GB2312" pitchFamily="49" charset="-122"/>
              </a:rPr>
              <a:t>，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测出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m</a:t>
            </a:r>
            <a:r>
              <a:rPr lang="en-US" altLang="zh-CN" i="1" dirty="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、 </a:t>
            </a:r>
            <a:r>
              <a:rPr lang="en-US" altLang="zh-CN" i="1" dirty="0" err="1">
                <a:solidFill>
                  <a:srgbClr val="FFFF00"/>
                </a:solidFill>
                <a:ea typeface="楷体_GB2312" pitchFamily="49" charset="-122"/>
              </a:rPr>
              <a:t>r</a:t>
            </a:r>
            <a:r>
              <a:rPr lang="en-US" altLang="zh-CN" i="1" baseline="-25000" dirty="0" err="1">
                <a:solidFill>
                  <a:srgbClr val="FFFF00"/>
                </a:solidFill>
                <a:ea typeface="楷体_GB2312" pitchFamily="49" charset="-122"/>
              </a:rPr>
              <a:t>k+m</a:t>
            </a:r>
            <a:r>
              <a:rPr lang="zh-CN" altLang="en-US" i="1" dirty="0">
                <a:solidFill>
                  <a:schemeClr val="bg1"/>
                </a:solidFill>
                <a:ea typeface="楷体_GB2312" pitchFamily="49" charset="-122"/>
              </a:rPr>
              <a:t>、</a:t>
            </a:r>
            <a:r>
              <a:rPr lang="en-US" altLang="zh-CN" i="1" dirty="0" err="1">
                <a:solidFill>
                  <a:srgbClr val="FFFF00"/>
                </a:solidFill>
                <a:ea typeface="楷体_GB2312" pitchFamily="49" charset="-122"/>
              </a:rPr>
              <a:t>r</a:t>
            </a:r>
            <a:r>
              <a:rPr lang="en-US" altLang="zh-CN" i="1" baseline="-25000" dirty="0" err="1">
                <a:solidFill>
                  <a:srgbClr val="FFFF00"/>
                </a:solidFill>
                <a:ea typeface="楷体_GB2312" pitchFamily="49" charset="-122"/>
              </a:rPr>
              <a:t>k</a:t>
            </a:r>
            <a:r>
              <a:rPr lang="zh-CN" altLang="en-US" i="1" dirty="0">
                <a:solidFill>
                  <a:schemeClr val="bg1"/>
                </a:solidFill>
                <a:ea typeface="楷体_GB2312" pitchFamily="49" charset="-122"/>
              </a:rPr>
              <a:t>，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 可得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λ</a:t>
            </a:r>
            <a:endParaRPr lang="en-US" altLang="zh-CN" dirty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362501" name="Text Box 5">
            <a:extLst>
              <a:ext uri="{FF2B5EF4-FFF2-40B4-BE49-F238E27FC236}">
                <a16:creationId xmlns:a16="http://schemas.microsoft.com/office/drawing/2014/main" id="{8EC4A277-F661-4D93-930A-DD66462D5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072063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(3)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检测透镜的曲率半径误差及其表面平整度 </a:t>
            </a:r>
          </a:p>
        </p:txBody>
      </p:sp>
      <p:sp>
        <p:nvSpPr>
          <p:cNvPr id="362502" name="Text Box 6">
            <a:extLst>
              <a:ext uri="{FF2B5EF4-FFF2-40B4-BE49-F238E27FC236}">
                <a16:creationId xmlns:a16="http://schemas.microsoft.com/office/drawing/2014/main" id="{95BD2B01-018A-43F3-B593-3A6344AAE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572125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ea typeface="华文楷体" panose="02010600040101010101" pitchFamily="2" charset="-122"/>
              </a:rPr>
              <a:t>(4)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若凹、凸完美接触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,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ea typeface="LiSu" panose="02010509060101010101" pitchFamily="49" charset="-122"/>
              </a:rPr>
              <a:t>h=0</a:t>
            </a:r>
            <a:r>
              <a:rPr lang="zh-CN" altLang="en-US" i="1" dirty="0">
                <a:solidFill>
                  <a:schemeClr val="bg1"/>
                </a:solidFill>
                <a:ea typeface="LiSu" panose="02010509060101010101" pitchFamily="49" charset="-122"/>
              </a:rPr>
              <a:t>，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为暗场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——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半波损失</a:t>
            </a:r>
          </a:p>
        </p:txBody>
      </p:sp>
      <p:graphicFrame>
        <p:nvGraphicFramePr>
          <p:cNvPr id="362518" name="Object 3">
            <a:extLst>
              <a:ext uri="{FF2B5EF4-FFF2-40B4-BE49-F238E27FC236}">
                <a16:creationId xmlns:a16="http://schemas.microsoft.com/office/drawing/2014/main" id="{C8B9D7FE-E090-4AF0-B164-A537223CDF47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2076450" y="452438"/>
          <a:ext cx="4948238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275" name="公式" r:id="rId5" imgW="5457959" imgH="838268" progId="Equation.3">
                  <p:embed/>
                </p:oleObj>
              </mc:Choice>
              <mc:Fallback>
                <p:oleObj name="公式" r:id="rId5" imgW="5457959" imgH="838268" progId="Equation.3">
                  <p:embed/>
                  <p:pic>
                    <p:nvPicPr>
                      <p:cNvPr id="362518" name="Object 3">
                        <a:extLst>
                          <a:ext uri="{FF2B5EF4-FFF2-40B4-BE49-F238E27FC236}">
                            <a16:creationId xmlns:a16="http://schemas.microsoft.com/office/drawing/2014/main" id="{C8B9D7FE-E090-4AF0-B164-A537223CDF47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452438"/>
                        <a:ext cx="4948238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19" name="Text Box 23">
            <a:extLst>
              <a:ext uri="{FF2B5EF4-FFF2-40B4-BE49-F238E27FC236}">
                <a16:creationId xmlns:a16="http://schemas.microsoft.com/office/drawing/2014/main" id="{45F9F525-EC6D-4D34-B757-0CCC54D0D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884238"/>
            <a:ext cx="12144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牛顿环半径 </a:t>
            </a:r>
          </a:p>
        </p:txBody>
      </p:sp>
      <p:sp>
        <p:nvSpPr>
          <p:cNvPr id="362520" name="Text Box 24">
            <a:extLst>
              <a:ext uri="{FF2B5EF4-FFF2-40B4-BE49-F238E27FC236}">
                <a16:creationId xmlns:a16="http://schemas.microsoft.com/office/drawing/2014/main" id="{A4B9CD50-DB0E-4C82-A1CE-6116FA7BC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2684463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362521" name="Text Box 25">
            <a:extLst>
              <a:ext uri="{FF2B5EF4-FFF2-40B4-BE49-F238E27FC236}">
                <a16:creationId xmlns:a16="http://schemas.microsoft.com/office/drawing/2014/main" id="{02911302-0F2B-4B2A-B712-8060692DB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614045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华文楷体" panose="02010600040101010101" pitchFamily="2" charset="-122"/>
              </a:rPr>
              <a:t>(5)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透射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图样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与反射图样互补</a:t>
            </a:r>
          </a:p>
        </p:txBody>
      </p:sp>
      <p:sp>
        <p:nvSpPr>
          <p:cNvPr id="362522" name="AutoShape 26">
            <a:extLst>
              <a:ext uri="{FF2B5EF4-FFF2-40B4-BE49-F238E27FC236}">
                <a16:creationId xmlns:a16="http://schemas.microsoft.com/office/drawing/2014/main" id="{8EDCDE47-81B4-4ED4-A6F7-7061B6B1B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2636838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62523" name="Object 4">
            <a:extLst>
              <a:ext uri="{FF2B5EF4-FFF2-40B4-BE49-F238E27FC236}">
                <a16:creationId xmlns:a16="http://schemas.microsoft.com/office/drawing/2014/main" id="{07D8DF74-126E-4AE4-93D7-2279F27CCAE8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2065338" y="1463675"/>
          <a:ext cx="50276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276" name="公式" r:id="rId7" imgW="5553069" imgH="409643" progId="Equation.3">
                  <p:embed/>
                </p:oleObj>
              </mc:Choice>
              <mc:Fallback>
                <p:oleObj name="公式" r:id="rId7" imgW="5553069" imgH="409643" progId="Equation.3">
                  <p:embed/>
                  <p:pic>
                    <p:nvPicPr>
                      <p:cNvPr id="362523" name="Object 4">
                        <a:extLst>
                          <a:ext uri="{FF2B5EF4-FFF2-40B4-BE49-F238E27FC236}">
                            <a16:creationId xmlns:a16="http://schemas.microsoft.com/office/drawing/2014/main" id="{07D8DF74-126E-4AE4-93D7-2279F27CCAE8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1463675"/>
                        <a:ext cx="5027612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24" name="AutoShape 28">
            <a:extLst>
              <a:ext uri="{FF2B5EF4-FFF2-40B4-BE49-F238E27FC236}">
                <a16:creationId xmlns:a16="http://schemas.microsoft.com/office/drawing/2014/main" id="{2FD8168F-4875-4676-8CAA-2416AB95998E}"/>
              </a:ext>
            </a:extLst>
          </p:cNvPr>
          <p:cNvSpPr>
            <a:spLocks/>
          </p:cNvSpPr>
          <p:nvPr/>
        </p:nvSpPr>
        <p:spPr bwMode="auto">
          <a:xfrm>
            <a:off x="1785938" y="781050"/>
            <a:ext cx="119062" cy="974725"/>
          </a:xfrm>
          <a:prstGeom prst="leftBrace">
            <a:avLst>
              <a:gd name="adj1" fmla="val 68223"/>
              <a:gd name="adj2" fmla="val 50000"/>
            </a:avLst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2" name="灯片编号占位符 1">
            <a:extLst>
              <a:ext uri="{FF2B5EF4-FFF2-40B4-BE49-F238E27FC236}">
                <a16:creationId xmlns:a16="http://schemas.microsoft.com/office/drawing/2014/main" id="{38C73030-556E-49A0-BE9A-D05DFBF5C35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6C97E6-C198-43E7-ACAF-2CB43F2342EB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pic>
        <p:nvPicPr>
          <p:cNvPr id="56325" name="Picture 5">
            <a:extLst>
              <a:ext uri="{FF2B5EF4-FFF2-40B4-BE49-F238E27FC236}">
                <a16:creationId xmlns:a16="http://schemas.microsoft.com/office/drawing/2014/main" id="{E1342E6B-135B-4B1B-AC54-15BAC176D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2571750"/>
            <a:ext cx="2071688" cy="238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5">
            <a:extLst>
              <a:ext uri="{FF2B5EF4-FFF2-40B4-BE49-F238E27FC236}">
                <a16:creationId xmlns:a16="http://schemas.microsoft.com/office/drawing/2014/main" id="{266AFB95-2675-4BA7-B222-CF1202D3B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1145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任意两级次牛顿环半径：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62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2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6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6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6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6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autoUpdateAnimBg="0"/>
      <p:bldP spid="362500" grpId="0" autoUpdateAnimBg="0"/>
      <p:bldP spid="362501" grpId="0" autoUpdateAnimBg="0"/>
      <p:bldP spid="362502" grpId="0" autoUpdateAnimBg="0"/>
      <p:bldP spid="362519" grpId="0" autoUpdateAnimBg="0"/>
      <p:bldP spid="362520" grpId="0"/>
      <p:bldP spid="362521" grpId="0" autoUpdateAnimBg="0"/>
      <p:bldP spid="362522" grpId="0" animBg="1"/>
      <p:bldP spid="362524" grpId="0" animBg="1"/>
      <p:bldP spid="1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35795177-CD3B-474D-A5A3-5CCE592F2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513" y="1042988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latin typeface="+mn-ea"/>
                <a:ea typeface="+mn-ea"/>
              </a:rPr>
              <a:t>思考</a:t>
            </a: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3557697F-F32A-4F65-BA0B-802CD9EEA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466725"/>
            <a:ext cx="434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观察牛顿环装置简图：</a:t>
            </a:r>
          </a:p>
        </p:txBody>
      </p:sp>
      <p:grpSp>
        <p:nvGrpSpPr>
          <p:cNvPr id="2" name="Group 100">
            <a:extLst>
              <a:ext uri="{FF2B5EF4-FFF2-40B4-BE49-F238E27FC236}">
                <a16:creationId xmlns:a16="http://schemas.microsoft.com/office/drawing/2014/main" id="{C49D1D07-CBF2-4702-B335-FDCCBA4B66BC}"/>
              </a:ext>
            </a:extLst>
          </p:cNvPr>
          <p:cNvGrpSpPr>
            <a:grpSpLocks/>
          </p:cNvGrpSpPr>
          <p:nvPr/>
        </p:nvGrpSpPr>
        <p:grpSpPr bwMode="auto">
          <a:xfrm>
            <a:off x="650875" y="1628775"/>
            <a:ext cx="2778125" cy="3657600"/>
            <a:chOff x="410" y="1632"/>
            <a:chExt cx="1750" cy="2304"/>
          </a:xfrm>
        </p:grpSpPr>
        <p:sp>
          <p:nvSpPr>
            <p:cNvPr id="18441" name="Text Box 5">
              <a:extLst>
                <a:ext uri="{FF2B5EF4-FFF2-40B4-BE49-F238E27FC236}">
                  <a16:creationId xmlns:a16="http://schemas.microsoft.com/office/drawing/2014/main" id="{BF85C60C-11F4-4A04-82EF-8EA47F52D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" y="3704"/>
              <a:ext cx="643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chemeClr val="bg1"/>
                  </a:solidFill>
                  <a:ea typeface="LiSu" panose="02010509060101010101" pitchFamily="49" charset="-122"/>
                </a:rPr>
                <a:t>平晶</a:t>
              </a:r>
            </a:p>
          </p:txBody>
        </p:sp>
        <p:sp>
          <p:nvSpPr>
            <p:cNvPr id="18442" name="Text Box 6">
              <a:extLst>
                <a:ext uri="{FF2B5EF4-FFF2-40B4-BE49-F238E27FC236}">
                  <a16:creationId xmlns:a16="http://schemas.microsoft.com/office/drawing/2014/main" id="{99416E27-A5EC-49D9-B1C3-1197D1BA1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" y="2767"/>
              <a:ext cx="272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rgbClr val="FFC000"/>
                  </a:solidFill>
                </a:rPr>
                <a:t>S</a:t>
              </a:r>
              <a:endParaRPr lang="en-US" altLang="zh-CN">
                <a:solidFill>
                  <a:srgbClr val="FFC000"/>
                </a:solidFill>
              </a:endParaRPr>
            </a:p>
          </p:txBody>
        </p:sp>
        <p:sp>
          <p:nvSpPr>
            <p:cNvPr id="18443" name="Line 7">
              <a:extLst>
                <a:ext uri="{FF2B5EF4-FFF2-40B4-BE49-F238E27FC236}">
                  <a16:creationId xmlns:a16="http://schemas.microsoft.com/office/drawing/2014/main" id="{0E0F20DF-A9C9-469C-AB3A-F6D04926F6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2" y="1897"/>
              <a:ext cx="0" cy="47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Line 8">
              <a:extLst>
                <a:ext uri="{FF2B5EF4-FFF2-40B4-BE49-F238E27FC236}">
                  <a16:creationId xmlns:a16="http://schemas.microsoft.com/office/drawing/2014/main" id="{C112516E-AE21-4DDD-95B5-9DE55AAD2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3" y="1897"/>
              <a:ext cx="0" cy="47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Line 9">
              <a:extLst>
                <a:ext uri="{FF2B5EF4-FFF2-40B4-BE49-F238E27FC236}">
                  <a16:creationId xmlns:a16="http://schemas.microsoft.com/office/drawing/2014/main" id="{AC7689CE-4405-496B-ACA8-FAAF6C775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6" y="2372"/>
              <a:ext cx="44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Line 10">
              <a:extLst>
                <a:ext uri="{FF2B5EF4-FFF2-40B4-BE49-F238E27FC236}">
                  <a16:creationId xmlns:a16="http://schemas.microsoft.com/office/drawing/2014/main" id="{207482D9-6885-42F8-8FB3-9D3E57C41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2366"/>
              <a:ext cx="0" cy="1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Line 11">
              <a:extLst>
                <a:ext uri="{FF2B5EF4-FFF2-40B4-BE49-F238E27FC236}">
                  <a16:creationId xmlns:a16="http://schemas.microsoft.com/office/drawing/2014/main" id="{AAB9C48C-BAA5-4680-B5AA-7B8D208A4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2379"/>
              <a:ext cx="0" cy="136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Line 12">
              <a:extLst>
                <a:ext uri="{FF2B5EF4-FFF2-40B4-BE49-F238E27FC236}">
                  <a16:creationId xmlns:a16="http://schemas.microsoft.com/office/drawing/2014/main" id="{A91312C7-1D86-4E8C-80EF-CC711A699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1" y="2366"/>
              <a:ext cx="0" cy="1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9" name="Line 13">
              <a:extLst>
                <a:ext uri="{FF2B5EF4-FFF2-40B4-BE49-F238E27FC236}">
                  <a16:creationId xmlns:a16="http://schemas.microsoft.com/office/drawing/2014/main" id="{6331A7B0-B35D-4C3F-B292-1629B827CB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1" y="2528"/>
              <a:ext cx="0" cy="66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Line 14">
              <a:extLst>
                <a:ext uri="{FF2B5EF4-FFF2-40B4-BE49-F238E27FC236}">
                  <a16:creationId xmlns:a16="http://schemas.microsoft.com/office/drawing/2014/main" id="{8FD87D79-3F6B-46A8-88EB-7B21263624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7" y="2528"/>
              <a:ext cx="0" cy="66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Line 15">
              <a:extLst>
                <a:ext uri="{FF2B5EF4-FFF2-40B4-BE49-F238E27FC236}">
                  <a16:creationId xmlns:a16="http://schemas.microsoft.com/office/drawing/2014/main" id="{DC08889E-167C-4A91-B577-5A8121442B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3" y="2528"/>
              <a:ext cx="0" cy="66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52" name="Group 16">
              <a:extLst>
                <a:ext uri="{FF2B5EF4-FFF2-40B4-BE49-F238E27FC236}">
                  <a16:creationId xmlns:a16="http://schemas.microsoft.com/office/drawing/2014/main" id="{90469028-C28D-4C55-B4F4-E3292A1E4E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6" y="3556"/>
              <a:ext cx="671" cy="174"/>
              <a:chOff x="3705" y="9105"/>
              <a:chExt cx="1410" cy="435"/>
            </a:xfrm>
          </p:grpSpPr>
          <p:sp>
            <p:nvSpPr>
              <p:cNvPr id="18511" name="Line 17">
                <a:extLst>
                  <a:ext uri="{FF2B5EF4-FFF2-40B4-BE49-F238E27FC236}">
                    <a16:creationId xmlns:a16="http://schemas.microsoft.com/office/drawing/2014/main" id="{A13578F8-485F-43EE-93D0-39F2D669F2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5" y="9105"/>
                <a:ext cx="1410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12" name="Line 18">
                <a:extLst>
                  <a:ext uri="{FF2B5EF4-FFF2-40B4-BE49-F238E27FC236}">
                    <a16:creationId xmlns:a16="http://schemas.microsoft.com/office/drawing/2014/main" id="{A400D096-88C1-49D8-8511-406B603E50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5" y="9105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13" name="Line 19">
                <a:extLst>
                  <a:ext uri="{FF2B5EF4-FFF2-40B4-BE49-F238E27FC236}">
                    <a16:creationId xmlns:a16="http://schemas.microsoft.com/office/drawing/2014/main" id="{EED3693F-50C6-4F61-A94E-CB9CB27523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0" y="9105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14" name="Freeform 20">
                <a:extLst>
                  <a:ext uri="{FF2B5EF4-FFF2-40B4-BE49-F238E27FC236}">
                    <a16:creationId xmlns:a16="http://schemas.microsoft.com/office/drawing/2014/main" id="{D88C556E-B97B-4ECD-AE80-945104625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5" y="9330"/>
                <a:ext cx="1395" cy="210"/>
              </a:xfrm>
              <a:custGeom>
                <a:avLst/>
                <a:gdLst>
                  <a:gd name="T0" fmla="*/ 0 w 1395"/>
                  <a:gd name="T1" fmla="*/ 0 h 210"/>
                  <a:gd name="T2" fmla="*/ 690 w 1395"/>
                  <a:gd name="T3" fmla="*/ 210 h 210"/>
                  <a:gd name="T4" fmla="*/ 1395 w 1395"/>
                  <a:gd name="T5" fmla="*/ 0 h 210"/>
                  <a:gd name="T6" fmla="*/ 0 60000 65536"/>
                  <a:gd name="T7" fmla="*/ 0 60000 65536"/>
                  <a:gd name="T8" fmla="*/ 0 60000 65536"/>
                  <a:gd name="T9" fmla="*/ 0 w 1395"/>
                  <a:gd name="T10" fmla="*/ 0 h 210"/>
                  <a:gd name="T11" fmla="*/ 1395 w 1395"/>
                  <a:gd name="T12" fmla="*/ 210 h 2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95" h="210">
                    <a:moveTo>
                      <a:pt x="0" y="0"/>
                    </a:moveTo>
                    <a:cubicBezTo>
                      <a:pt x="229" y="105"/>
                      <a:pt x="458" y="210"/>
                      <a:pt x="690" y="210"/>
                    </a:cubicBezTo>
                    <a:cubicBezTo>
                      <a:pt x="922" y="210"/>
                      <a:pt x="1278" y="35"/>
                      <a:pt x="1395" y="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453" name="Group 21">
              <a:extLst>
                <a:ext uri="{FF2B5EF4-FFF2-40B4-BE49-F238E27FC236}">
                  <a16:creationId xmlns:a16="http://schemas.microsoft.com/office/drawing/2014/main" id="{22B114EA-45AF-4DF0-9860-1E819A33F7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3" y="3736"/>
              <a:ext cx="757" cy="125"/>
              <a:chOff x="3630" y="9555"/>
              <a:chExt cx="1590" cy="315"/>
            </a:xfrm>
          </p:grpSpPr>
          <p:sp>
            <p:nvSpPr>
              <p:cNvPr id="18507" name="Line 22">
                <a:extLst>
                  <a:ext uri="{FF2B5EF4-FFF2-40B4-BE49-F238E27FC236}">
                    <a16:creationId xmlns:a16="http://schemas.microsoft.com/office/drawing/2014/main" id="{C646BD32-887C-4656-86A3-604A1A0180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30" y="9555"/>
                <a:ext cx="1590" cy="1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08" name="Line 23">
                <a:extLst>
                  <a:ext uri="{FF2B5EF4-FFF2-40B4-BE49-F238E27FC236}">
                    <a16:creationId xmlns:a16="http://schemas.microsoft.com/office/drawing/2014/main" id="{08168823-EFA8-45C9-8B1A-0BA4D186B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0" y="9570"/>
                <a:ext cx="0" cy="30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09" name="Line 24">
                <a:extLst>
                  <a:ext uri="{FF2B5EF4-FFF2-40B4-BE49-F238E27FC236}">
                    <a16:creationId xmlns:a16="http://schemas.microsoft.com/office/drawing/2014/main" id="{7C01BEB6-2CA5-4B7B-816B-9DA57BF014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0" y="9870"/>
                <a:ext cx="1590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10" name="Line 25">
                <a:extLst>
                  <a:ext uri="{FF2B5EF4-FFF2-40B4-BE49-F238E27FC236}">
                    <a16:creationId xmlns:a16="http://schemas.microsoft.com/office/drawing/2014/main" id="{BBD6F67E-2DE7-431B-AA82-CF7F5F7B30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5" y="9570"/>
                <a:ext cx="0" cy="30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454" name="Group 26">
              <a:extLst>
                <a:ext uri="{FF2B5EF4-FFF2-40B4-BE49-F238E27FC236}">
                  <a16:creationId xmlns:a16="http://schemas.microsoft.com/office/drawing/2014/main" id="{55135F32-AEB0-4708-A519-2ADCF48BCA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68" y="3604"/>
              <a:ext cx="77" cy="60"/>
              <a:chOff x="4185" y="9225"/>
              <a:chExt cx="165" cy="150"/>
            </a:xfrm>
          </p:grpSpPr>
          <p:sp>
            <p:nvSpPr>
              <p:cNvPr id="18504" name="Line 27">
                <a:extLst>
                  <a:ext uri="{FF2B5EF4-FFF2-40B4-BE49-F238E27FC236}">
                    <a16:creationId xmlns:a16="http://schemas.microsoft.com/office/drawing/2014/main" id="{519A4D4E-BF38-4ACE-B67F-E8D956F930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15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05" name="Line 28">
                <a:extLst>
                  <a:ext uri="{FF2B5EF4-FFF2-40B4-BE49-F238E27FC236}">
                    <a16:creationId xmlns:a16="http://schemas.microsoft.com/office/drawing/2014/main" id="{AD51C7E3-066D-4B96-89C2-2C824DBD22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06" name="Line 29">
                <a:extLst>
                  <a:ext uri="{FF2B5EF4-FFF2-40B4-BE49-F238E27FC236}">
                    <a16:creationId xmlns:a16="http://schemas.microsoft.com/office/drawing/2014/main" id="{BF564CD1-8B30-4636-BDEA-0CEF0129AC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5" y="928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455" name="Group 30">
              <a:extLst>
                <a:ext uri="{FF2B5EF4-FFF2-40B4-BE49-F238E27FC236}">
                  <a16:creationId xmlns:a16="http://schemas.microsoft.com/office/drawing/2014/main" id="{1CFFD058-49D4-4043-B98D-A24A30D84A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0" y="3586"/>
              <a:ext cx="79" cy="60"/>
              <a:chOff x="4185" y="9225"/>
              <a:chExt cx="165" cy="150"/>
            </a:xfrm>
          </p:grpSpPr>
          <p:sp>
            <p:nvSpPr>
              <p:cNvPr id="18501" name="Line 31">
                <a:extLst>
                  <a:ext uri="{FF2B5EF4-FFF2-40B4-BE49-F238E27FC236}">
                    <a16:creationId xmlns:a16="http://schemas.microsoft.com/office/drawing/2014/main" id="{A5096367-452E-40A7-8292-DBA2BCB0FB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15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02" name="Line 32">
                <a:extLst>
                  <a:ext uri="{FF2B5EF4-FFF2-40B4-BE49-F238E27FC236}">
                    <a16:creationId xmlns:a16="http://schemas.microsoft.com/office/drawing/2014/main" id="{787BAB13-579E-463A-B338-2EA95835B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03" name="Line 33">
                <a:extLst>
                  <a:ext uri="{FF2B5EF4-FFF2-40B4-BE49-F238E27FC236}">
                    <a16:creationId xmlns:a16="http://schemas.microsoft.com/office/drawing/2014/main" id="{7BC9D4E9-B9F9-4CEA-B063-BA263E2AAE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5" y="928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456" name="Group 34">
              <a:extLst>
                <a:ext uri="{FF2B5EF4-FFF2-40B4-BE49-F238E27FC236}">
                  <a16:creationId xmlns:a16="http://schemas.microsoft.com/office/drawing/2014/main" id="{2DA3919F-218B-450E-9BB1-592BCA8100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3" y="3598"/>
              <a:ext cx="79" cy="60"/>
              <a:chOff x="4185" y="9225"/>
              <a:chExt cx="165" cy="150"/>
            </a:xfrm>
          </p:grpSpPr>
          <p:sp>
            <p:nvSpPr>
              <p:cNvPr id="18498" name="Line 35">
                <a:extLst>
                  <a:ext uri="{FF2B5EF4-FFF2-40B4-BE49-F238E27FC236}">
                    <a16:creationId xmlns:a16="http://schemas.microsoft.com/office/drawing/2014/main" id="{B8249C40-CA08-47F3-8927-A9DDEE6F7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15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99" name="Line 36">
                <a:extLst>
                  <a:ext uri="{FF2B5EF4-FFF2-40B4-BE49-F238E27FC236}">
                    <a16:creationId xmlns:a16="http://schemas.microsoft.com/office/drawing/2014/main" id="{61A576C5-D62E-4E42-B3A5-D727DDB8E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00" name="Line 37">
                <a:extLst>
                  <a:ext uri="{FF2B5EF4-FFF2-40B4-BE49-F238E27FC236}">
                    <a16:creationId xmlns:a16="http://schemas.microsoft.com/office/drawing/2014/main" id="{EC014349-0F9B-4D72-AD22-D9B61C0F8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5" y="928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457" name="Group 38">
              <a:extLst>
                <a:ext uri="{FF2B5EF4-FFF2-40B4-BE49-F238E27FC236}">
                  <a16:creationId xmlns:a16="http://schemas.microsoft.com/office/drawing/2014/main" id="{9392B6E9-DF86-4A9A-80BC-D71640985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8" y="3586"/>
              <a:ext cx="79" cy="60"/>
              <a:chOff x="4185" y="9225"/>
              <a:chExt cx="165" cy="150"/>
            </a:xfrm>
          </p:grpSpPr>
          <p:sp>
            <p:nvSpPr>
              <p:cNvPr id="18495" name="Line 39">
                <a:extLst>
                  <a:ext uri="{FF2B5EF4-FFF2-40B4-BE49-F238E27FC236}">
                    <a16:creationId xmlns:a16="http://schemas.microsoft.com/office/drawing/2014/main" id="{82006DD6-D7E4-4883-AF7E-20FAD87C3A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15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96" name="Line 40">
                <a:extLst>
                  <a:ext uri="{FF2B5EF4-FFF2-40B4-BE49-F238E27FC236}">
                    <a16:creationId xmlns:a16="http://schemas.microsoft.com/office/drawing/2014/main" id="{115ADBB4-20D9-4EEE-9F95-1B250FC7B8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97" name="Line 41">
                <a:extLst>
                  <a:ext uri="{FF2B5EF4-FFF2-40B4-BE49-F238E27FC236}">
                    <a16:creationId xmlns:a16="http://schemas.microsoft.com/office/drawing/2014/main" id="{E7C523FA-6C8A-47A0-A07D-E78D9693B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5" y="928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458" name="Group 42">
              <a:extLst>
                <a:ext uri="{FF2B5EF4-FFF2-40B4-BE49-F238E27FC236}">
                  <a16:creationId xmlns:a16="http://schemas.microsoft.com/office/drawing/2014/main" id="{8D600787-CE78-47E7-ABD2-1BD075F0D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7" y="3766"/>
              <a:ext cx="79" cy="59"/>
              <a:chOff x="4185" y="9225"/>
              <a:chExt cx="165" cy="150"/>
            </a:xfrm>
          </p:grpSpPr>
          <p:sp>
            <p:nvSpPr>
              <p:cNvPr id="18492" name="Line 43">
                <a:extLst>
                  <a:ext uri="{FF2B5EF4-FFF2-40B4-BE49-F238E27FC236}">
                    <a16:creationId xmlns:a16="http://schemas.microsoft.com/office/drawing/2014/main" id="{C8D861DE-736E-4414-AF4F-C59AFCE265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15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93" name="Line 44">
                <a:extLst>
                  <a:ext uri="{FF2B5EF4-FFF2-40B4-BE49-F238E27FC236}">
                    <a16:creationId xmlns:a16="http://schemas.microsoft.com/office/drawing/2014/main" id="{26F72954-5E89-453F-948C-0F796C0A0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94" name="Line 45">
                <a:extLst>
                  <a:ext uri="{FF2B5EF4-FFF2-40B4-BE49-F238E27FC236}">
                    <a16:creationId xmlns:a16="http://schemas.microsoft.com/office/drawing/2014/main" id="{18C50C50-D08E-4D58-A890-96C62E1EA2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5" y="928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459" name="Group 46">
              <a:extLst>
                <a:ext uri="{FF2B5EF4-FFF2-40B4-BE49-F238E27FC236}">
                  <a16:creationId xmlns:a16="http://schemas.microsoft.com/office/drawing/2014/main" id="{B483664C-E03D-47DC-ACE0-1BA8D8FF66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2" y="3766"/>
              <a:ext cx="78" cy="59"/>
              <a:chOff x="4185" y="9225"/>
              <a:chExt cx="165" cy="150"/>
            </a:xfrm>
          </p:grpSpPr>
          <p:sp>
            <p:nvSpPr>
              <p:cNvPr id="18489" name="Line 47">
                <a:extLst>
                  <a:ext uri="{FF2B5EF4-FFF2-40B4-BE49-F238E27FC236}">
                    <a16:creationId xmlns:a16="http://schemas.microsoft.com/office/drawing/2014/main" id="{50E81356-3040-4B86-97F7-3B5D52045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15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90" name="Line 48">
                <a:extLst>
                  <a:ext uri="{FF2B5EF4-FFF2-40B4-BE49-F238E27FC236}">
                    <a16:creationId xmlns:a16="http://schemas.microsoft.com/office/drawing/2014/main" id="{FE143EEC-9BBD-47B0-B4E6-976FE9B37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75" cy="75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91" name="Line 49">
                <a:extLst>
                  <a:ext uri="{FF2B5EF4-FFF2-40B4-BE49-F238E27FC236}">
                    <a16:creationId xmlns:a16="http://schemas.microsoft.com/office/drawing/2014/main" id="{610F60F9-DFD0-4381-81E0-21984009A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5" y="928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460" name="Group 50">
              <a:extLst>
                <a:ext uri="{FF2B5EF4-FFF2-40B4-BE49-F238E27FC236}">
                  <a16:creationId xmlns:a16="http://schemas.microsoft.com/office/drawing/2014/main" id="{47DAFA23-CF93-4D98-9940-CA3448288E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2" y="3766"/>
              <a:ext cx="79" cy="59"/>
              <a:chOff x="4185" y="9225"/>
              <a:chExt cx="165" cy="150"/>
            </a:xfrm>
          </p:grpSpPr>
          <p:sp>
            <p:nvSpPr>
              <p:cNvPr id="18486" name="Line 51">
                <a:extLst>
                  <a:ext uri="{FF2B5EF4-FFF2-40B4-BE49-F238E27FC236}">
                    <a16:creationId xmlns:a16="http://schemas.microsoft.com/office/drawing/2014/main" id="{E438E4B6-CB0F-4A3C-A702-04FD49921C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15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87" name="Line 52">
                <a:extLst>
                  <a:ext uri="{FF2B5EF4-FFF2-40B4-BE49-F238E27FC236}">
                    <a16:creationId xmlns:a16="http://schemas.microsoft.com/office/drawing/2014/main" id="{C93CBF61-5296-4AEC-B139-29A37779D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88" name="Line 53">
                <a:extLst>
                  <a:ext uri="{FF2B5EF4-FFF2-40B4-BE49-F238E27FC236}">
                    <a16:creationId xmlns:a16="http://schemas.microsoft.com/office/drawing/2014/main" id="{693E2BE7-FFA1-42DE-AB04-96CB76192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5" y="928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461" name="Group 54">
              <a:extLst>
                <a:ext uri="{FF2B5EF4-FFF2-40B4-BE49-F238E27FC236}">
                  <a16:creationId xmlns:a16="http://schemas.microsoft.com/office/drawing/2014/main" id="{8A761AB8-054F-4C9A-B9F3-2CA7121800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03" y="3766"/>
              <a:ext cx="78" cy="59"/>
              <a:chOff x="4185" y="9225"/>
              <a:chExt cx="165" cy="150"/>
            </a:xfrm>
          </p:grpSpPr>
          <p:sp>
            <p:nvSpPr>
              <p:cNvPr id="18483" name="Line 55">
                <a:extLst>
                  <a:ext uri="{FF2B5EF4-FFF2-40B4-BE49-F238E27FC236}">
                    <a16:creationId xmlns:a16="http://schemas.microsoft.com/office/drawing/2014/main" id="{8236EAD5-E74E-42B0-BEFD-D083BEAC09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15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84" name="Line 56">
                <a:extLst>
                  <a:ext uri="{FF2B5EF4-FFF2-40B4-BE49-F238E27FC236}">
                    <a16:creationId xmlns:a16="http://schemas.microsoft.com/office/drawing/2014/main" id="{543A789C-A57F-4C5E-A244-B74A83AEA6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922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85" name="Line 57">
                <a:extLst>
                  <a:ext uri="{FF2B5EF4-FFF2-40B4-BE49-F238E27FC236}">
                    <a16:creationId xmlns:a16="http://schemas.microsoft.com/office/drawing/2014/main" id="{9AD0C992-ABE3-4714-A71D-5042D4BEFD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5" y="9285"/>
                <a:ext cx="75" cy="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62" name="Line 58">
              <a:extLst>
                <a:ext uri="{FF2B5EF4-FFF2-40B4-BE49-F238E27FC236}">
                  <a16:creationId xmlns:a16="http://schemas.microsoft.com/office/drawing/2014/main" id="{2A6C2790-9F12-4038-BFD8-05B4BED40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2683"/>
              <a:ext cx="600" cy="503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3" name="Line 59">
              <a:extLst>
                <a:ext uri="{FF2B5EF4-FFF2-40B4-BE49-F238E27FC236}">
                  <a16:creationId xmlns:a16="http://schemas.microsoft.com/office/drawing/2014/main" id="{50F0EC31-35ED-4FB8-9600-3A9325FD55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1" y="2833"/>
              <a:ext cx="50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Line 60">
              <a:extLst>
                <a:ext uri="{FF2B5EF4-FFF2-40B4-BE49-F238E27FC236}">
                  <a16:creationId xmlns:a16="http://schemas.microsoft.com/office/drawing/2014/main" id="{8972914E-A46F-4C3C-A532-8FA06D4707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1" y="2946"/>
              <a:ext cx="103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5" name="Line 61">
              <a:extLst>
                <a:ext uri="{FF2B5EF4-FFF2-40B4-BE49-F238E27FC236}">
                  <a16:creationId xmlns:a16="http://schemas.microsoft.com/office/drawing/2014/main" id="{8CA66DAB-AEDE-4693-8B3B-1EB51F1477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1" y="3060"/>
              <a:ext cx="77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6" name="Freeform 62">
              <a:extLst>
                <a:ext uri="{FF2B5EF4-FFF2-40B4-BE49-F238E27FC236}">
                  <a16:creationId xmlns:a16="http://schemas.microsoft.com/office/drawing/2014/main" id="{45581EF1-1EF7-437C-A5EA-30A2E9C4E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2762"/>
              <a:ext cx="42" cy="370"/>
            </a:xfrm>
            <a:custGeom>
              <a:avLst/>
              <a:gdLst>
                <a:gd name="T0" fmla="*/ 0 w 90"/>
                <a:gd name="T1" fmla="*/ 0 h 930"/>
                <a:gd name="T2" fmla="*/ 0 w 90"/>
                <a:gd name="T3" fmla="*/ 0 h 930"/>
                <a:gd name="T4" fmla="*/ 0 w 90"/>
                <a:gd name="T5" fmla="*/ 0 h 930"/>
                <a:gd name="T6" fmla="*/ 0 60000 65536"/>
                <a:gd name="T7" fmla="*/ 0 60000 65536"/>
                <a:gd name="T8" fmla="*/ 0 60000 65536"/>
                <a:gd name="T9" fmla="*/ 0 w 90"/>
                <a:gd name="T10" fmla="*/ 0 h 930"/>
                <a:gd name="T11" fmla="*/ 90 w 90"/>
                <a:gd name="T12" fmla="*/ 930 h 9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" h="930">
                  <a:moveTo>
                    <a:pt x="0" y="0"/>
                  </a:moveTo>
                  <a:cubicBezTo>
                    <a:pt x="45" y="155"/>
                    <a:pt x="90" y="310"/>
                    <a:pt x="90" y="465"/>
                  </a:cubicBezTo>
                  <a:cubicBezTo>
                    <a:pt x="90" y="620"/>
                    <a:pt x="15" y="853"/>
                    <a:pt x="0" y="93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Freeform 63">
              <a:extLst>
                <a:ext uri="{FF2B5EF4-FFF2-40B4-BE49-F238E27FC236}">
                  <a16:creationId xmlns:a16="http://schemas.microsoft.com/office/drawing/2014/main" id="{C2A63303-0D86-4BD0-A0E5-5B69385EB37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110" y="2755"/>
              <a:ext cx="43" cy="371"/>
            </a:xfrm>
            <a:custGeom>
              <a:avLst/>
              <a:gdLst>
                <a:gd name="T0" fmla="*/ 0 w 90"/>
                <a:gd name="T1" fmla="*/ 0 h 930"/>
                <a:gd name="T2" fmla="*/ 0 w 90"/>
                <a:gd name="T3" fmla="*/ 0 h 930"/>
                <a:gd name="T4" fmla="*/ 0 w 90"/>
                <a:gd name="T5" fmla="*/ 0 h 930"/>
                <a:gd name="T6" fmla="*/ 0 60000 65536"/>
                <a:gd name="T7" fmla="*/ 0 60000 65536"/>
                <a:gd name="T8" fmla="*/ 0 60000 65536"/>
                <a:gd name="T9" fmla="*/ 0 w 90"/>
                <a:gd name="T10" fmla="*/ 0 h 930"/>
                <a:gd name="T11" fmla="*/ 90 w 90"/>
                <a:gd name="T12" fmla="*/ 930 h 9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" h="930">
                  <a:moveTo>
                    <a:pt x="0" y="0"/>
                  </a:moveTo>
                  <a:cubicBezTo>
                    <a:pt x="45" y="155"/>
                    <a:pt x="90" y="310"/>
                    <a:pt x="90" y="465"/>
                  </a:cubicBezTo>
                  <a:cubicBezTo>
                    <a:pt x="90" y="620"/>
                    <a:pt x="15" y="853"/>
                    <a:pt x="0" y="93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Line 64">
              <a:extLst>
                <a:ext uri="{FF2B5EF4-FFF2-40B4-BE49-F238E27FC236}">
                  <a16:creationId xmlns:a16="http://schemas.microsoft.com/office/drawing/2014/main" id="{EB87EAA7-4A13-414E-9160-57C3A38D76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" y="2833"/>
              <a:ext cx="378" cy="11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Line 65">
              <a:extLst>
                <a:ext uri="{FF2B5EF4-FFF2-40B4-BE49-F238E27FC236}">
                  <a16:creationId xmlns:a16="http://schemas.microsoft.com/office/drawing/2014/main" id="{E506957D-0BFC-44B2-925E-74928F6E9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" y="2946"/>
              <a:ext cx="400" cy="12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Text Box 66">
              <a:extLst>
                <a:ext uri="{FF2B5EF4-FFF2-40B4-BE49-F238E27FC236}">
                  <a16:creationId xmlns:a16="http://schemas.microsoft.com/office/drawing/2014/main" id="{32DFB12A-8F92-49A0-8BF4-643C236AC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" y="2442"/>
              <a:ext cx="1108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00FFFF"/>
                  </a:solidFill>
                  <a:ea typeface="LiSu" panose="02010509060101010101" pitchFamily="49" charset="-122"/>
                </a:rPr>
                <a:t>分束镜</a:t>
              </a:r>
              <a:r>
                <a:rPr lang="zh-CN" altLang="en-US">
                  <a:solidFill>
                    <a:srgbClr val="00FFFF"/>
                  </a:solidFill>
                </a:rPr>
                <a:t> </a:t>
              </a:r>
              <a:r>
                <a:rPr lang="en-US" altLang="zh-CN" i="1">
                  <a:solidFill>
                    <a:schemeClr val="bg1"/>
                  </a:solidFill>
                </a:rPr>
                <a:t>M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sp>
          <p:nvSpPr>
            <p:cNvPr id="18471" name="Line 67">
              <a:extLst>
                <a:ext uri="{FF2B5EF4-FFF2-40B4-BE49-F238E27FC236}">
                  <a16:creationId xmlns:a16="http://schemas.microsoft.com/office/drawing/2014/main" id="{DBF07A09-27AF-45CE-8D81-17CA29BD8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4" y="2833"/>
              <a:ext cx="7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Line 68">
              <a:extLst>
                <a:ext uri="{FF2B5EF4-FFF2-40B4-BE49-F238E27FC236}">
                  <a16:creationId xmlns:a16="http://schemas.microsoft.com/office/drawing/2014/main" id="{80159DBC-0AFF-4A90-AFC5-8A696A096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4" y="2946"/>
              <a:ext cx="7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Line 69">
              <a:extLst>
                <a:ext uri="{FF2B5EF4-FFF2-40B4-BE49-F238E27FC236}">
                  <a16:creationId xmlns:a16="http://schemas.microsoft.com/office/drawing/2014/main" id="{71020104-5D98-4A1E-A544-E154D1CF0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" y="3060"/>
              <a:ext cx="7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Line 70">
              <a:extLst>
                <a:ext uri="{FF2B5EF4-FFF2-40B4-BE49-F238E27FC236}">
                  <a16:creationId xmlns:a16="http://schemas.microsoft.com/office/drawing/2014/main" id="{4B273BD4-A753-4C9D-A5A4-8A472B33F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1" y="3275"/>
              <a:ext cx="0" cy="9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5" name="Line 71">
              <a:extLst>
                <a:ext uri="{FF2B5EF4-FFF2-40B4-BE49-F238E27FC236}">
                  <a16:creationId xmlns:a16="http://schemas.microsoft.com/office/drawing/2014/main" id="{36CC63F6-5798-4BE1-AEA3-7D9C05F8C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3275"/>
              <a:ext cx="0" cy="9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Line 72">
              <a:extLst>
                <a:ext uri="{FF2B5EF4-FFF2-40B4-BE49-F238E27FC236}">
                  <a16:creationId xmlns:a16="http://schemas.microsoft.com/office/drawing/2014/main" id="{C2D493DE-9399-4160-B457-B8E198927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3275"/>
              <a:ext cx="0" cy="9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7" name="Text Box 73">
              <a:extLst>
                <a:ext uri="{FF2B5EF4-FFF2-40B4-BE49-F238E27FC236}">
                  <a16:creationId xmlns:a16="http://schemas.microsoft.com/office/drawing/2014/main" id="{A2488371-F3F9-433F-92CA-5F9E615D9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2" y="1632"/>
              <a:ext cx="364" cy="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chemeClr val="bg1"/>
                  </a:solidFill>
                  <a:ea typeface="LiSu" panose="02010509060101010101" pitchFamily="49" charset="-122"/>
                </a:rPr>
                <a:t>显微镜</a:t>
              </a:r>
            </a:p>
          </p:txBody>
        </p:sp>
        <p:sp>
          <p:nvSpPr>
            <p:cNvPr id="18478" name="Text Box 74">
              <a:extLst>
                <a:ext uri="{FF2B5EF4-FFF2-40B4-BE49-F238E27FC236}">
                  <a16:creationId xmlns:a16="http://schemas.microsoft.com/office/drawing/2014/main" id="{0A618409-A0D1-4A76-83CB-F873CF5AF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3" y="3685"/>
              <a:ext cx="30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i="1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8479" name="Text Box 75">
              <a:extLst>
                <a:ext uri="{FF2B5EF4-FFF2-40B4-BE49-F238E27FC236}">
                  <a16:creationId xmlns:a16="http://schemas.microsoft.com/office/drawing/2014/main" id="{D861B970-1241-414E-9E45-82D3BF3A9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" y="3416"/>
              <a:ext cx="1093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chemeClr val="bg1"/>
                  </a:solidFill>
                  <a:ea typeface="LiSu" panose="02010509060101010101" pitchFamily="49" charset="-122"/>
                </a:rPr>
                <a:t>平凸透镜</a:t>
              </a:r>
            </a:p>
          </p:txBody>
        </p:sp>
        <p:sp>
          <p:nvSpPr>
            <p:cNvPr id="18480" name="Text Box 76">
              <a:extLst>
                <a:ext uri="{FF2B5EF4-FFF2-40B4-BE49-F238E27FC236}">
                  <a16:creationId xmlns:a16="http://schemas.microsoft.com/office/drawing/2014/main" id="{73AE6064-254C-4845-915A-08C68D62A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" y="2472"/>
              <a:ext cx="229" cy="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6000">
                  <a:solidFill>
                    <a:srgbClr val="FFC000"/>
                  </a:solidFill>
                  <a:latin typeface="宋体" panose="02010600030101010101" pitchFamily="2" charset="-122"/>
                </a:rPr>
                <a:t>.</a:t>
              </a:r>
              <a:endParaRPr lang="en-US" altLang="zh-CN" sz="6000">
                <a:solidFill>
                  <a:srgbClr val="FFC000"/>
                </a:solidFill>
              </a:endParaRPr>
            </a:p>
          </p:txBody>
        </p:sp>
        <p:sp>
          <p:nvSpPr>
            <p:cNvPr id="18481" name="Line 77">
              <a:extLst>
                <a:ext uri="{FF2B5EF4-FFF2-40B4-BE49-F238E27FC236}">
                  <a16:creationId xmlns:a16="http://schemas.microsoft.com/office/drawing/2014/main" id="{0D020245-85E6-42FF-8FCA-1443BAA02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7" y="3809"/>
              <a:ext cx="281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2" name="Line 78">
              <a:extLst>
                <a:ext uri="{FF2B5EF4-FFF2-40B4-BE49-F238E27FC236}">
                  <a16:creationId xmlns:a16="http://schemas.microsoft.com/office/drawing/2014/main" id="{7A9FF032-B0EE-4E5D-9BE2-4851A8C47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0" y="3567"/>
              <a:ext cx="280" cy="7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967" name="Text Box 79">
            <a:extLst>
              <a:ext uri="{FF2B5EF4-FFF2-40B4-BE49-F238E27FC236}">
                <a16:creationId xmlns:a16="http://schemas.microsoft.com/office/drawing/2014/main" id="{11DCAB22-E713-45D1-92B2-68BB4A10F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0" y="1685925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▲ </a:t>
            </a:r>
            <a:r>
              <a:rPr lang="zh-CN" alt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平凸透镜向上移</a:t>
            </a:r>
            <a:r>
              <a:rPr lang="en-US" alt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条纹怎样移动</a:t>
            </a:r>
            <a:r>
              <a:rPr lang="en-US" alt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</a:p>
        </p:txBody>
      </p:sp>
      <p:pic>
        <p:nvPicPr>
          <p:cNvPr id="94" name="Picture 2" descr="等厚干涉1">
            <a:extLst>
              <a:ext uri="{FF2B5EF4-FFF2-40B4-BE49-F238E27FC236}">
                <a16:creationId xmlns:a16="http://schemas.microsoft.com/office/drawing/2014/main" id="{86205FF2-9268-4358-A35E-2DA327F3B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bright="-12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2571750"/>
            <a:ext cx="2595562" cy="240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Text Box 3">
            <a:extLst>
              <a:ext uri="{FF2B5EF4-FFF2-40B4-BE49-F238E27FC236}">
                <a16:creationId xmlns:a16="http://schemas.microsoft.com/office/drawing/2014/main" id="{9EBFE5C0-2722-4198-B005-AD1A5613A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5286375"/>
            <a:ext cx="3286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白光入射的牛顿环照片</a:t>
            </a:r>
          </a:p>
        </p:txBody>
      </p:sp>
      <p:sp>
        <p:nvSpPr>
          <p:cNvPr id="18440" name="灯片编号占位符 1">
            <a:extLst>
              <a:ext uri="{FF2B5EF4-FFF2-40B4-BE49-F238E27FC236}">
                <a16:creationId xmlns:a16="http://schemas.microsoft.com/office/drawing/2014/main" id="{2957839E-D4D5-4CBD-9954-A41F90965AF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A729D4-1FDC-4D67-BAC3-8A54BAAE1BB7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P spid="37891" grpId="0" autoUpdateAnimBg="0"/>
      <p:bldP spid="37967" grpId="0" autoUpdateAnimBg="0"/>
      <p:bldP spid="9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65EAD4-B64A-4E0F-81F1-C542DEBF8E64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1428750"/>
            <a:ext cx="3886200" cy="4648200"/>
            <a:chOff x="2928" y="1008"/>
            <a:chExt cx="2448" cy="2928"/>
          </a:xfrm>
        </p:grpSpPr>
        <p:sp>
          <p:nvSpPr>
            <p:cNvPr id="19517" name="Rectangle 3">
              <a:extLst>
                <a:ext uri="{FF2B5EF4-FFF2-40B4-BE49-F238E27FC236}">
                  <a16:creationId xmlns:a16="http://schemas.microsoft.com/office/drawing/2014/main" id="{9F40E586-EA7E-4CF9-81B9-8A34524AF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008"/>
              <a:ext cx="2448" cy="29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518" name="Rectangle 4" descr="20%">
              <a:extLst>
                <a:ext uri="{FF2B5EF4-FFF2-40B4-BE49-F238E27FC236}">
                  <a16:creationId xmlns:a16="http://schemas.microsoft.com/office/drawing/2014/main" id="{A4B1642A-6CB7-4C51-B29B-96D1FE8A9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2" y="1536"/>
              <a:ext cx="1954" cy="528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19519" name="Group 5">
              <a:extLst>
                <a:ext uri="{FF2B5EF4-FFF2-40B4-BE49-F238E27FC236}">
                  <a16:creationId xmlns:a16="http://schemas.microsoft.com/office/drawing/2014/main" id="{3949A3F0-3C9F-4136-B2F6-C5415340F8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440"/>
              <a:ext cx="1968" cy="423"/>
              <a:chOff x="2358" y="768"/>
              <a:chExt cx="2387" cy="528"/>
            </a:xfrm>
          </p:grpSpPr>
          <p:grpSp>
            <p:nvGrpSpPr>
              <p:cNvPr id="19544" name="Group 6">
                <a:extLst>
                  <a:ext uri="{FF2B5EF4-FFF2-40B4-BE49-F238E27FC236}">
                    <a16:creationId xmlns:a16="http://schemas.microsoft.com/office/drawing/2014/main" id="{F3D98E09-C156-44FE-8413-1F147322E6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8" y="768"/>
                <a:ext cx="2386" cy="528"/>
                <a:chOff x="2358" y="768"/>
                <a:chExt cx="2386" cy="528"/>
              </a:xfrm>
            </p:grpSpPr>
            <p:sp>
              <p:nvSpPr>
                <p:cNvPr id="19546" name="Arc 7">
                  <a:extLst>
                    <a:ext uri="{FF2B5EF4-FFF2-40B4-BE49-F238E27FC236}">
                      <a16:creationId xmlns:a16="http://schemas.microsoft.com/office/drawing/2014/main" id="{76C2EA23-1D5B-414D-AA1A-E4511899A0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8" y="768"/>
                  <a:ext cx="2385" cy="528"/>
                </a:xfrm>
                <a:custGeom>
                  <a:avLst/>
                  <a:gdLst>
                    <a:gd name="T0" fmla="*/ 0 w 42329"/>
                    <a:gd name="T1" fmla="*/ 0 h 21600"/>
                    <a:gd name="T2" fmla="*/ 0 w 42329"/>
                    <a:gd name="T3" fmla="*/ 0 h 21600"/>
                    <a:gd name="T4" fmla="*/ 0 w 4232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2329"/>
                    <a:gd name="T10" fmla="*/ 0 h 21600"/>
                    <a:gd name="T11" fmla="*/ 42329 w 4232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329" h="21600" fill="none" extrusionOk="0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</a:path>
                    <a:path w="42329" h="21600" stroke="0" extrusionOk="0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  <a:lnTo>
                        <a:pt x="21082" y="0"/>
                      </a:lnTo>
                      <a:lnTo>
                        <a:pt x="42328" y="3889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12700" cap="rnd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47" name="Rectangle 8">
                  <a:extLst>
                    <a:ext uri="{FF2B5EF4-FFF2-40B4-BE49-F238E27FC236}">
                      <a16:creationId xmlns:a16="http://schemas.microsoft.com/office/drawing/2014/main" id="{11D53D84-7381-4B89-8070-4E76904EDA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7" y="768"/>
                  <a:ext cx="2377" cy="158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kumimoji="0" lang="zh-CN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9545" name="Freeform 9">
                <a:extLst>
                  <a:ext uri="{FF2B5EF4-FFF2-40B4-BE49-F238E27FC236}">
                    <a16:creationId xmlns:a16="http://schemas.microsoft.com/office/drawing/2014/main" id="{C1C22A70-5183-4D78-BB4C-B45819077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7" y="768"/>
                <a:ext cx="2378" cy="159"/>
              </a:xfrm>
              <a:custGeom>
                <a:avLst/>
                <a:gdLst>
                  <a:gd name="T0" fmla="*/ 0 w 2378"/>
                  <a:gd name="T1" fmla="*/ 79 h 159"/>
                  <a:gd name="T2" fmla="*/ 0 w 2378"/>
                  <a:gd name="T3" fmla="*/ 0 h 159"/>
                  <a:gd name="T4" fmla="*/ 2377 w 2378"/>
                  <a:gd name="T5" fmla="*/ 0 h 159"/>
                  <a:gd name="T6" fmla="*/ 2377 w 2378"/>
                  <a:gd name="T7" fmla="*/ 158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78"/>
                  <a:gd name="T13" fmla="*/ 0 h 159"/>
                  <a:gd name="T14" fmla="*/ 2378 w 2378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78" h="159">
                    <a:moveTo>
                      <a:pt x="0" y="79"/>
                    </a:moveTo>
                    <a:lnTo>
                      <a:pt x="0" y="0"/>
                    </a:lnTo>
                    <a:lnTo>
                      <a:pt x="2377" y="0"/>
                    </a:lnTo>
                    <a:lnTo>
                      <a:pt x="2377" y="158"/>
                    </a:lnTo>
                  </a:path>
                </a:pathLst>
              </a:custGeom>
              <a:solidFill>
                <a:srgbClr val="CCFFFF"/>
              </a:solidFill>
              <a:ln w="12700" cap="rnd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20" name="Rectangle 10">
              <a:extLst>
                <a:ext uri="{FF2B5EF4-FFF2-40B4-BE49-F238E27FC236}">
                  <a16:creationId xmlns:a16="http://schemas.microsoft.com/office/drawing/2014/main" id="{C3097FAA-1BF7-407B-891C-A721062EE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872"/>
              <a:ext cx="1968" cy="267"/>
            </a:xfrm>
            <a:prstGeom prst="rect">
              <a:avLst/>
            </a:prstGeom>
            <a:solidFill>
              <a:srgbClr val="9FD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aphicFrame>
          <p:nvGraphicFramePr>
            <p:cNvPr id="19521" name="Object 4">
              <a:extLst>
                <a:ext uri="{FF2B5EF4-FFF2-40B4-BE49-F238E27FC236}">
                  <a16:creationId xmlns:a16="http://schemas.microsoft.com/office/drawing/2014/main" id="{3A14E23F-769B-4F43-9A16-9373C99DFB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94" y="1536"/>
            <a:ext cx="29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328" name="公式" r:id="rId4" imgW="241091" imgH="317225" progId="Equation.3">
                    <p:embed/>
                  </p:oleObj>
                </mc:Choice>
                <mc:Fallback>
                  <p:oleObj name="公式" r:id="rId4" imgW="241091" imgH="317225" progId="Equation.3">
                    <p:embed/>
                    <p:pic>
                      <p:nvPicPr>
                        <p:cNvPr id="19521" name="Object 4">
                          <a:extLst>
                            <a:ext uri="{FF2B5EF4-FFF2-40B4-BE49-F238E27FC236}">
                              <a16:creationId xmlns:a16="http://schemas.microsoft.com/office/drawing/2014/main" id="{3A14E23F-769B-4F43-9A16-9373C99DFB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4" y="1536"/>
                          <a:ext cx="29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22" name="Object 5">
              <a:extLst>
                <a:ext uri="{FF2B5EF4-FFF2-40B4-BE49-F238E27FC236}">
                  <a16:creationId xmlns:a16="http://schemas.microsoft.com/office/drawing/2014/main" id="{6D5FB6BE-B666-4EDB-8872-D3A95A14B7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6" y="1776"/>
            <a:ext cx="272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329" name="Equation" r:id="rId6" imgW="228600" imgH="330200" progId="Equation.3">
                    <p:embed/>
                  </p:oleObj>
                </mc:Choice>
                <mc:Fallback>
                  <p:oleObj name="Equation" r:id="rId6" imgW="228600" imgH="330200" progId="Equation.3">
                    <p:embed/>
                    <p:pic>
                      <p:nvPicPr>
                        <p:cNvPr id="19522" name="Object 5">
                          <a:extLst>
                            <a:ext uri="{FF2B5EF4-FFF2-40B4-BE49-F238E27FC236}">
                              <a16:creationId xmlns:a16="http://schemas.microsoft.com/office/drawing/2014/main" id="{6D5FB6BE-B666-4EDB-8872-D3A95A14B7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776"/>
                          <a:ext cx="272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23" name="Object 6">
              <a:extLst>
                <a:ext uri="{FF2B5EF4-FFF2-40B4-BE49-F238E27FC236}">
                  <a16:creationId xmlns:a16="http://schemas.microsoft.com/office/drawing/2014/main" id="{E3797A1F-C90B-40CB-B9F7-F404CC33BB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2064"/>
            <a:ext cx="1440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330" name="Equation" r:id="rId8" imgW="723586" imgH="228501" progId="Equation.3">
                    <p:embed/>
                  </p:oleObj>
                </mc:Choice>
                <mc:Fallback>
                  <p:oleObj name="Equation" r:id="rId8" imgW="723586" imgH="228501" progId="Equation.3">
                    <p:embed/>
                    <p:pic>
                      <p:nvPicPr>
                        <p:cNvPr id="19523" name="Object 6">
                          <a:extLst>
                            <a:ext uri="{FF2B5EF4-FFF2-40B4-BE49-F238E27FC236}">
                              <a16:creationId xmlns:a16="http://schemas.microsoft.com/office/drawing/2014/main" id="{E3797A1F-C90B-40CB-B9F7-F404CC33BB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064"/>
                          <a:ext cx="1440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524" name="Group 14">
              <a:extLst>
                <a:ext uri="{FF2B5EF4-FFF2-40B4-BE49-F238E27FC236}">
                  <a16:creationId xmlns:a16="http://schemas.microsoft.com/office/drawing/2014/main" id="{B47AE80D-EB0A-4D01-9C7F-29BCDFF418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1104"/>
              <a:ext cx="1200" cy="336"/>
              <a:chOff x="960" y="1008"/>
              <a:chExt cx="1200" cy="480"/>
            </a:xfrm>
          </p:grpSpPr>
          <p:sp>
            <p:nvSpPr>
              <p:cNvPr id="19538" name="Line 15">
                <a:extLst>
                  <a:ext uri="{FF2B5EF4-FFF2-40B4-BE49-F238E27FC236}">
                    <a16:creationId xmlns:a16="http://schemas.microsoft.com/office/drawing/2014/main" id="{66FA6C78-763C-44F0-A857-B382BCC7AA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9" name="Line 16">
                <a:extLst>
                  <a:ext uri="{FF2B5EF4-FFF2-40B4-BE49-F238E27FC236}">
                    <a16:creationId xmlns:a16="http://schemas.microsoft.com/office/drawing/2014/main" id="{599EEDEA-054B-4980-8DC3-99C4526168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0" name="Line 17">
                <a:extLst>
                  <a:ext uri="{FF2B5EF4-FFF2-40B4-BE49-F238E27FC236}">
                    <a16:creationId xmlns:a16="http://schemas.microsoft.com/office/drawing/2014/main" id="{94A2E97A-2628-4548-94CF-E9C906D61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1" name="Line 18">
                <a:extLst>
                  <a:ext uri="{FF2B5EF4-FFF2-40B4-BE49-F238E27FC236}">
                    <a16:creationId xmlns:a16="http://schemas.microsoft.com/office/drawing/2014/main" id="{8E78D6B6-C605-409D-9A8C-B63F55EF3F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2" name="Line 19">
                <a:extLst>
                  <a:ext uri="{FF2B5EF4-FFF2-40B4-BE49-F238E27FC236}">
                    <a16:creationId xmlns:a16="http://schemas.microsoft.com/office/drawing/2014/main" id="{3A719982-B50C-461D-99C2-1EFAB51218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3" name="Line 20">
                <a:extLst>
                  <a:ext uri="{FF2B5EF4-FFF2-40B4-BE49-F238E27FC236}">
                    <a16:creationId xmlns:a16="http://schemas.microsoft.com/office/drawing/2014/main" id="{576F16F6-2291-41C3-8C74-052B468F19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525" name="Group 21">
              <a:extLst>
                <a:ext uri="{FF2B5EF4-FFF2-40B4-BE49-F238E27FC236}">
                  <a16:creationId xmlns:a16="http://schemas.microsoft.com/office/drawing/2014/main" id="{3B3E2AD9-B5BE-4F13-9486-B1B533F064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1440"/>
              <a:ext cx="1200" cy="432"/>
              <a:chOff x="960" y="1008"/>
              <a:chExt cx="1200" cy="480"/>
            </a:xfrm>
          </p:grpSpPr>
          <p:sp>
            <p:nvSpPr>
              <p:cNvPr id="19532" name="Line 22">
                <a:extLst>
                  <a:ext uri="{FF2B5EF4-FFF2-40B4-BE49-F238E27FC236}">
                    <a16:creationId xmlns:a16="http://schemas.microsoft.com/office/drawing/2014/main" id="{934729AE-1BAE-42F0-8165-A5A16F4D1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3" name="Line 23">
                <a:extLst>
                  <a:ext uri="{FF2B5EF4-FFF2-40B4-BE49-F238E27FC236}">
                    <a16:creationId xmlns:a16="http://schemas.microsoft.com/office/drawing/2014/main" id="{2D909829-B8E9-45D6-93F3-2E75C1482E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4" name="Line 24">
                <a:extLst>
                  <a:ext uri="{FF2B5EF4-FFF2-40B4-BE49-F238E27FC236}">
                    <a16:creationId xmlns:a16="http://schemas.microsoft.com/office/drawing/2014/main" id="{FF147B70-21E9-487D-9AB3-0978FC08B7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5" name="Line 25">
                <a:extLst>
                  <a:ext uri="{FF2B5EF4-FFF2-40B4-BE49-F238E27FC236}">
                    <a16:creationId xmlns:a16="http://schemas.microsoft.com/office/drawing/2014/main" id="{3666F2B9-0B3E-4F74-955C-4F0439E920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6" name="Line 26">
                <a:extLst>
                  <a:ext uri="{FF2B5EF4-FFF2-40B4-BE49-F238E27FC236}">
                    <a16:creationId xmlns:a16="http://schemas.microsoft.com/office/drawing/2014/main" id="{DC98912F-24D5-4410-93A4-4D7C4BB286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7" name="Line 27">
                <a:extLst>
                  <a:ext uri="{FF2B5EF4-FFF2-40B4-BE49-F238E27FC236}">
                    <a16:creationId xmlns:a16="http://schemas.microsoft.com/office/drawing/2014/main" id="{B4DC8544-254D-47BC-A070-4DCE0FAB7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526" name="Group 28">
              <a:extLst>
                <a:ext uri="{FF2B5EF4-FFF2-40B4-BE49-F238E27FC236}">
                  <a16:creationId xmlns:a16="http://schemas.microsoft.com/office/drawing/2014/main" id="{5375B3B7-65F8-4553-A3ED-D423CC8C4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440"/>
              <a:ext cx="1968" cy="423"/>
              <a:chOff x="2358" y="768"/>
              <a:chExt cx="2387" cy="528"/>
            </a:xfrm>
          </p:grpSpPr>
          <p:grpSp>
            <p:nvGrpSpPr>
              <p:cNvPr id="19528" name="Group 29">
                <a:extLst>
                  <a:ext uri="{FF2B5EF4-FFF2-40B4-BE49-F238E27FC236}">
                    <a16:creationId xmlns:a16="http://schemas.microsoft.com/office/drawing/2014/main" id="{6BF3649D-7450-477C-96BC-5E80081B33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8" y="768"/>
                <a:ext cx="2386" cy="528"/>
                <a:chOff x="2358" y="768"/>
                <a:chExt cx="2386" cy="528"/>
              </a:xfrm>
            </p:grpSpPr>
            <p:sp>
              <p:nvSpPr>
                <p:cNvPr id="19530" name="Arc 30">
                  <a:extLst>
                    <a:ext uri="{FF2B5EF4-FFF2-40B4-BE49-F238E27FC236}">
                      <a16:creationId xmlns:a16="http://schemas.microsoft.com/office/drawing/2014/main" id="{51DAA1D9-0EBB-4D6C-A242-CF53F70845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8" y="768"/>
                  <a:ext cx="2385" cy="528"/>
                </a:xfrm>
                <a:custGeom>
                  <a:avLst/>
                  <a:gdLst>
                    <a:gd name="T0" fmla="*/ 0 w 42329"/>
                    <a:gd name="T1" fmla="*/ 0 h 21600"/>
                    <a:gd name="T2" fmla="*/ 0 w 42329"/>
                    <a:gd name="T3" fmla="*/ 0 h 21600"/>
                    <a:gd name="T4" fmla="*/ 0 w 4232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2329"/>
                    <a:gd name="T10" fmla="*/ 0 h 21600"/>
                    <a:gd name="T11" fmla="*/ 42329 w 4232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329" h="21600" fill="none" extrusionOk="0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</a:path>
                    <a:path w="42329" h="21600" stroke="0" extrusionOk="0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  <a:lnTo>
                        <a:pt x="21082" y="0"/>
                      </a:lnTo>
                      <a:lnTo>
                        <a:pt x="42328" y="3889"/>
                      </a:lnTo>
                      <a:close/>
                    </a:path>
                  </a:pathLst>
                </a:custGeom>
                <a:solidFill>
                  <a:srgbClr val="66FFFF">
                    <a:alpha val="50195"/>
                  </a:srgbClr>
                </a:solidFill>
                <a:ln w="12700" cap="rnd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31" name="Rectangle 31">
                  <a:extLst>
                    <a:ext uri="{FF2B5EF4-FFF2-40B4-BE49-F238E27FC236}">
                      <a16:creationId xmlns:a16="http://schemas.microsoft.com/office/drawing/2014/main" id="{79BD3E42-40B6-42AF-B40D-80904A9615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7" y="768"/>
                  <a:ext cx="2377" cy="158"/>
                </a:xfrm>
                <a:prstGeom prst="rect">
                  <a:avLst/>
                </a:prstGeom>
                <a:solidFill>
                  <a:srgbClr val="66FFFF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kumimoji="0" lang="zh-CN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9529" name="Freeform 32">
                <a:extLst>
                  <a:ext uri="{FF2B5EF4-FFF2-40B4-BE49-F238E27FC236}">
                    <a16:creationId xmlns:a16="http://schemas.microsoft.com/office/drawing/2014/main" id="{581C1D2E-CDCE-4A25-B3F1-B8E09A199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7" y="768"/>
                <a:ext cx="2378" cy="159"/>
              </a:xfrm>
              <a:custGeom>
                <a:avLst/>
                <a:gdLst>
                  <a:gd name="T0" fmla="*/ 0 w 2378"/>
                  <a:gd name="T1" fmla="*/ 79 h 159"/>
                  <a:gd name="T2" fmla="*/ 0 w 2378"/>
                  <a:gd name="T3" fmla="*/ 0 h 159"/>
                  <a:gd name="T4" fmla="*/ 2377 w 2378"/>
                  <a:gd name="T5" fmla="*/ 0 h 159"/>
                  <a:gd name="T6" fmla="*/ 2377 w 2378"/>
                  <a:gd name="T7" fmla="*/ 158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78"/>
                  <a:gd name="T13" fmla="*/ 0 h 159"/>
                  <a:gd name="T14" fmla="*/ 2378 w 2378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78" h="159">
                    <a:moveTo>
                      <a:pt x="0" y="79"/>
                    </a:moveTo>
                    <a:lnTo>
                      <a:pt x="0" y="0"/>
                    </a:lnTo>
                    <a:lnTo>
                      <a:pt x="2377" y="0"/>
                    </a:lnTo>
                    <a:lnTo>
                      <a:pt x="2377" y="158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9527" name="Object 7">
              <a:extLst>
                <a:ext uri="{FF2B5EF4-FFF2-40B4-BE49-F238E27FC236}">
                  <a16:creationId xmlns:a16="http://schemas.microsoft.com/office/drawing/2014/main" id="{BD401261-8FDA-436E-9D66-DA92B0125B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97" y="1344"/>
            <a:ext cx="25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331" name="公式" r:id="rId10" imgW="215619" imgH="317087" progId="Equation.3">
                    <p:embed/>
                  </p:oleObj>
                </mc:Choice>
                <mc:Fallback>
                  <p:oleObj name="公式" r:id="rId10" imgW="215619" imgH="317087" progId="Equation.3">
                    <p:embed/>
                    <p:pic>
                      <p:nvPicPr>
                        <p:cNvPr id="19527" name="Object 7">
                          <a:extLst>
                            <a:ext uri="{FF2B5EF4-FFF2-40B4-BE49-F238E27FC236}">
                              <a16:creationId xmlns:a16="http://schemas.microsoft.com/office/drawing/2014/main" id="{BD401261-8FDA-436E-9D66-DA92B0125B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7" y="1344"/>
                          <a:ext cx="25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4">
            <a:extLst>
              <a:ext uri="{FF2B5EF4-FFF2-40B4-BE49-F238E27FC236}">
                <a16:creationId xmlns:a16="http://schemas.microsoft.com/office/drawing/2014/main" id="{97A24F0C-D9BE-4563-9A20-D66CD6491099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428750"/>
            <a:ext cx="3581400" cy="4648200"/>
            <a:chOff x="432" y="1008"/>
            <a:chExt cx="2256" cy="2928"/>
          </a:xfrm>
        </p:grpSpPr>
        <p:sp>
          <p:nvSpPr>
            <p:cNvPr id="19493" name="Rectangle 35">
              <a:extLst>
                <a:ext uri="{FF2B5EF4-FFF2-40B4-BE49-F238E27FC236}">
                  <a16:creationId xmlns:a16="http://schemas.microsoft.com/office/drawing/2014/main" id="{8AC90540-5A59-4446-A48A-B84757D2B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008"/>
              <a:ext cx="2256" cy="29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19494" name="Group 36">
              <a:extLst>
                <a:ext uri="{FF2B5EF4-FFF2-40B4-BE49-F238E27FC236}">
                  <a16:creationId xmlns:a16="http://schemas.microsoft.com/office/drawing/2014/main" id="{76AB9D14-D2D2-4D49-A36C-03D9A98C9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239"/>
              <a:ext cx="1824" cy="1113"/>
              <a:chOff x="768" y="1008"/>
              <a:chExt cx="1824" cy="1113"/>
            </a:xfrm>
          </p:grpSpPr>
          <p:grpSp>
            <p:nvGrpSpPr>
              <p:cNvPr id="19495" name="Group 37">
                <a:extLst>
                  <a:ext uri="{FF2B5EF4-FFF2-40B4-BE49-F238E27FC236}">
                    <a16:creationId xmlns:a16="http://schemas.microsoft.com/office/drawing/2014/main" id="{753261F5-8505-4C4B-A29C-306D4CAC4D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1488"/>
                <a:ext cx="1200" cy="384"/>
                <a:chOff x="960" y="1008"/>
                <a:chExt cx="1200" cy="480"/>
              </a:xfrm>
            </p:grpSpPr>
            <p:sp>
              <p:nvSpPr>
                <p:cNvPr id="19511" name="Line 38">
                  <a:extLst>
                    <a:ext uri="{FF2B5EF4-FFF2-40B4-BE49-F238E27FC236}">
                      <a16:creationId xmlns:a16="http://schemas.microsoft.com/office/drawing/2014/main" id="{F5DDB060-5DE1-4E07-8DA1-EED55CC0ED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2" name="Line 39">
                  <a:extLst>
                    <a:ext uri="{FF2B5EF4-FFF2-40B4-BE49-F238E27FC236}">
                      <a16:creationId xmlns:a16="http://schemas.microsoft.com/office/drawing/2014/main" id="{0894AB12-DD33-46F1-B07F-7ACF1D1FA2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3" name="Line 40">
                  <a:extLst>
                    <a:ext uri="{FF2B5EF4-FFF2-40B4-BE49-F238E27FC236}">
                      <a16:creationId xmlns:a16="http://schemas.microsoft.com/office/drawing/2014/main" id="{7F231CE9-B984-4C6F-BA0D-466801EE8E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4" name="Line 41">
                  <a:extLst>
                    <a:ext uri="{FF2B5EF4-FFF2-40B4-BE49-F238E27FC236}">
                      <a16:creationId xmlns:a16="http://schemas.microsoft.com/office/drawing/2014/main" id="{5874D860-AD51-406D-81BA-D1D643D93A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5" name="Line 42">
                  <a:extLst>
                    <a:ext uri="{FF2B5EF4-FFF2-40B4-BE49-F238E27FC236}">
                      <a16:creationId xmlns:a16="http://schemas.microsoft.com/office/drawing/2014/main" id="{6F7D1C89-CBF2-4FA7-A286-527F9EFD4E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6" name="Line 43">
                  <a:extLst>
                    <a:ext uri="{FF2B5EF4-FFF2-40B4-BE49-F238E27FC236}">
                      <a16:creationId xmlns:a16="http://schemas.microsoft.com/office/drawing/2014/main" id="{32C496EC-1936-4DC8-A13F-560C3F696F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9496" name="Rectangle 44">
                <a:extLst>
                  <a:ext uri="{FF2B5EF4-FFF2-40B4-BE49-F238E27FC236}">
                    <a16:creationId xmlns:a16="http://schemas.microsoft.com/office/drawing/2014/main" id="{414FDE73-81EA-4594-9A3C-085B54E108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861"/>
                <a:ext cx="1824" cy="230"/>
              </a:xfrm>
              <a:prstGeom prst="rect">
                <a:avLst/>
              </a:prstGeom>
              <a:solidFill>
                <a:srgbClr val="66FFFF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9497" name="Group 45">
                <a:extLst>
                  <a:ext uri="{FF2B5EF4-FFF2-40B4-BE49-F238E27FC236}">
                    <a16:creationId xmlns:a16="http://schemas.microsoft.com/office/drawing/2014/main" id="{80368496-B488-4B26-8E7C-B557F14EA9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488"/>
                <a:ext cx="1780" cy="365"/>
                <a:chOff x="2358" y="768"/>
                <a:chExt cx="2387" cy="528"/>
              </a:xfrm>
            </p:grpSpPr>
            <p:grpSp>
              <p:nvGrpSpPr>
                <p:cNvPr id="19507" name="Group 46">
                  <a:extLst>
                    <a:ext uri="{FF2B5EF4-FFF2-40B4-BE49-F238E27FC236}">
                      <a16:creationId xmlns:a16="http://schemas.microsoft.com/office/drawing/2014/main" id="{226D6279-B134-498A-ACCE-1EF13D26E3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58" y="768"/>
                  <a:ext cx="2386" cy="528"/>
                  <a:chOff x="2358" y="768"/>
                  <a:chExt cx="2386" cy="528"/>
                </a:xfrm>
              </p:grpSpPr>
              <p:sp>
                <p:nvSpPr>
                  <p:cNvPr id="19509" name="Arc 47">
                    <a:extLst>
                      <a:ext uri="{FF2B5EF4-FFF2-40B4-BE49-F238E27FC236}">
                        <a16:creationId xmlns:a16="http://schemas.microsoft.com/office/drawing/2014/main" id="{B480CC29-2600-4600-B4F1-3A9751036A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58" y="768"/>
                    <a:ext cx="2385" cy="528"/>
                  </a:xfrm>
                  <a:custGeom>
                    <a:avLst/>
                    <a:gdLst>
                      <a:gd name="T0" fmla="*/ 0 w 42329"/>
                      <a:gd name="T1" fmla="*/ 0 h 21600"/>
                      <a:gd name="T2" fmla="*/ 0 w 42329"/>
                      <a:gd name="T3" fmla="*/ 0 h 21600"/>
                      <a:gd name="T4" fmla="*/ 0 w 42329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42329"/>
                      <a:gd name="T10" fmla="*/ 0 h 21600"/>
                      <a:gd name="T11" fmla="*/ 42329 w 42329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329" h="21600" fill="none" extrusionOk="0">
                        <a:moveTo>
                          <a:pt x="42328" y="3889"/>
                        </a:moveTo>
                        <a:cubicBezTo>
                          <a:pt x="40450" y="14148"/>
                          <a:pt x="31510" y="21599"/>
                          <a:pt x="21082" y="21600"/>
                        </a:cubicBezTo>
                        <a:cubicBezTo>
                          <a:pt x="10965" y="21600"/>
                          <a:pt x="2203" y="14577"/>
                          <a:pt x="0" y="4703"/>
                        </a:cubicBezTo>
                      </a:path>
                      <a:path w="42329" h="21600" stroke="0" extrusionOk="0">
                        <a:moveTo>
                          <a:pt x="42328" y="3889"/>
                        </a:moveTo>
                        <a:cubicBezTo>
                          <a:pt x="40450" y="14148"/>
                          <a:pt x="31510" y="21599"/>
                          <a:pt x="21082" y="21600"/>
                        </a:cubicBezTo>
                        <a:cubicBezTo>
                          <a:pt x="10965" y="21600"/>
                          <a:pt x="2203" y="14577"/>
                          <a:pt x="0" y="4703"/>
                        </a:cubicBezTo>
                        <a:lnTo>
                          <a:pt x="21082" y="0"/>
                        </a:lnTo>
                        <a:lnTo>
                          <a:pt x="42328" y="3889"/>
                        </a:lnTo>
                        <a:close/>
                      </a:path>
                    </a:pathLst>
                  </a:custGeom>
                  <a:solidFill>
                    <a:srgbClr val="66FFFF">
                      <a:alpha val="50195"/>
                    </a:srgbClr>
                  </a:solidFill>
                  <a:ln w="12700" cap="rnd">
                    <a:solidFill>
                      <a:schemeClr val="tx1"/>
                    </a:solidFill>
                    <a:round/>
                    <a:headEnd type="none" w="sm" len="lg"/>
                    <a:tailEnd type="none" w="sm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510" name="Rectangle 48">
                    <a:extLst>
                      <a:ext uri="{FF2B5EF4-FFF2-40B4-BE49-F238E27FC236}">
                        <a16:creationId xmlns:a16="http://schemas.microsoft.com/office/drawing/2014/main" id="{6153224F-D267-446D-A2CF-466ADCE7C7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67" y="768"/>
                    <a:ext cx="2377" cy="158"/>
                  </a:xfrm>
                  <a:prstGeom prst="rect">
                    <a:avLst/>
                  </a:prstGeom>
                  <a:solidFill>
                    <a:srgbClr val="66FFFF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kumimoji="0" lang="zh-CN" alt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9508" name="Freeform 49">
                  <a:extLst>
                    <a:ext uri="{FF2B5EF4-FFF2-40B4-BE49-F238E27FC236}">
                      <a16:creationId xmlns:a16="http://schemas.microsoft.com/office/drawing/2014/main" id="{6C344138-53DE-4DB9-868F-1634D9F956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67" y="768"/>
                  <a:ext cx="2378" cy="159"/>
                </a:xfrm>
                <a:custGeom>
                  <a:avLst/>
                  <a:gdLst>
                    <a:gd name="T0" fmla="*/ 0 w 2378"/>
                    <a:gd name="T1" fmla="*/ 79 h 159"/>
                    <a:gd name="T2" fmla="*/ 0 w 2378"/>
                    <a:gd name="T3" fmla="*/ 0 h 159"/>
                    <a:gd name="T4" fmla="*/ 2377 w 2378"/>
                    <a:gd name="T5" fmla="*/ 0 h 159"/>
                    <a:gd name="T6" fmla="*/ 2377 w 2378"/>
                    <a:gd name="T7" fmla="*/ 158 h 15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78"/>
                    <a:gd name="T13" fmla="*/ 0 h 159"/>
                    <a:gd name="T14" fmla="*/ 2378 w 2378"/>
                    <a:gd name="T15" fmla="*/ 159 h 15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78" h="159">
                      <a:moveTo>
                        <a:pt x="0" y="79"/>
                      </a:moveTo>
                      <a:lnTo>
                        <a:pt x="0" y="0"/>
                      </a:lnTo>
                      <a:lnTo>
                        <a:pt x="2377" y="0"/>
                      </a:lnTo>
                      <a:lnTo>
                        <a:pt x="2377" y="158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9498" name="Object 2">
                <a:extLst>
                  <a:ext uri="{FF2B5EF4-FFF2-40B4-BE49-F238E27FC236}">
                    <a16:creationId xmlns:a16="http://schemas.microsoft.com/office/drawing/2014/main" id="{85496EB9-2250-4B0A-8A42-06E50445A16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68" y="1529"/>
              <a:ext cx="247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332" name="公式" r:id="rId12" imgW="177646" imgH="190335" progId="Equation.3">
                      <p:embed/>
                    </p:oleObj>
                  </mc:Choice>
                  <mc:Fallback>
                    <p:oleObj name="公式" r:id="rId12" imgW="177646" imgH="190335" progId="Equation.3">
                      <p:embed/>
                      <p:pic>
                        <p:nvPicPr>
                          <p:cNvPr id="19498" name="Object 2">
                            <a:extLst>
                              <a:ext uri="{FF2B5EF4-FFF2-40B4-BE49-F238E27FC236}">
                                <a16:creationId xmlns:a16="http://schemas.microsoft.com/office/drawing/2014/main" id="{85496EB9-2250-4B0A-8A42-06E50445A16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68" y="1529"/>
                            <a:ext cx="247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99" name="Object 3">
                <a:extLst>
                  <a:ext uri="{FF2B5EF4-FFF2-40B4-BE49-F238E27FC236}">
                    <a16:creationId xmlns:a16="http://schemas.microsoft.com/office/drawing/2014/main" id="{47D105B0-A92A-41F7-8AF8-B25EE7EEC97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52" y="1872"/>
              <a:ext cx="247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333" name="公式" r:id="rId14" imgW="177646" imgH="190335" progId="Equation.3">
                      <p:embed/>
                    </p:oleObj>
                  </mc:Choice>
                  <mc:Fallback>
                    <p:oleObj name="公式" r:id="rId14" imgW="177646" imgH="190335" progId="Equation.3">
                      <p:embed/>
                      <p:pic>
                        <p:nvPicPr>
                          <p:cNvPr id="19499" name="Object 3">
                            <a:extLst>
                              <a:ext uri="{FF2B5EF4-FFF2-40B4-BE49-F238E27FC236}">
                                <a16:creationId xmlns:a16="http://schemas.microsoft.com/office/drawing/2014/main" id="{47D105B0-A92A-41F7-8AF8-B25EE7EEC97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1872"/>
                            <a:ext cx="247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500" name="Group 52">
                <a:extLst>
                  <a:ext uri="{FF2B5EF4-FFF2-40B4-BE49-F238E27FC236}">
                    <a16:creationId xmlns:a16="http://schemas.microsoft.com/office/drawing/2014/main" id="{BF0DE71C-7937-4E8A-B45F-04BC497412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1008"/>
                <a:ext cx="1200" cy="480"/>
                <a:chOff x="960" y="1008"/>
                <a:chExt cx="1200" cy="480"/>
              </a:xfrm>
            </p:grpSpPr>
            <p:sp>
              <p:nvSpPr>
                <p:cNvPr id="19501" name="Line 53">
                  <a:extLst>
                    <a:ext uri="{FF2B5EF4-FFF2-40B4-BE49-F238E27FC236}">
                      <a16:creationId xmlns:a16="http://schemas.microsoft.com/office/drawing/2014/main" id="{20F4F893-4251-49C9-AE98-B416D1384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2" name="Line 54">
                  <a:extLst>
                    <a:ext uri="{FF2B5EF4-FFF2-40B4-BE49-F238E27FC236}">
                      <a16:creationId xmlns:a16="http://schemas.microsoft.com/office/drawing/2014/main" id="{7AAF28B3-1BF4-4C58-8E76-E4DF331454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3" name="Line 55">
                  <a:extLst>
                    <a:ext uri="{FF2B5EF4-FFF2-40B4-BE49-F238E27FC236}">
                      <a16:creationId xmlns:a16="http://schemas.microsoft.com/office/drawing/2014/main" id="{C6B674DF-8E1E-47B7-9EDD-D3761B641E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4" name="Line 56">
                  <a:extLst>
                    <a:ext uri="{FF2B5EF4-FFF2-40B4-BE49-F238E27FC236}">
                      <a16:creationId xmlns:a16="http://schemas.microsoft.com/office/drawing/2014/main" id="{38542C03-5164-4BDD-98F4-6F60F0C1D6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5" name="Line 57">
                  <a:extLst>
                    <a:ext uri="{FF2B5EF4-FFF2-40B4-BE49-F238E27FC236}">
                      <a16:creationId xmlns:a16="http://schemas.microsoft.com/office/drawing/2014/main" id="{F51F46AA-A9F7-429E-8E56-A9A219A48C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6" name="Line 58">
                  <a:extLst>
                    <a:ext uri="{FF2B5EF4-FFF2-40B4-BE49-F238E27FC236}">
                      <a16:creationId xmlns:a16="http://schemas.microsoft.com/office/drawing/2014/main" id="{B1F9D422-F29D-41BE-9F00-BC2F65CAB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5370" name="Text Box 59">
            <a:extLst>
              <a:ext uri="{FF2B5EF4-FFF2-40B4-BE49-F238E27FC236}">
                <a16:creationId xmlns:a16="http://schemas.microsoft.com/office/drawing/2014/main" id="{2F57DE46-4FC1-4362-A6A8-06C594CA4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681038"/>
            <a:ext cx="54578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半波损失需具体问题具体分析：</a:t>
            </a:r>
          </a:p>
        </p:txBody>
      </p:sp>
      <p:grpSp>
        <p:nvGrpSpPr>
          <p:cNvPr id="15" name="Group 60">
            <a:extLst>
              <a:ext uri="{FF2B5EF4-FFF2-40B4-BE49-F238E27FC236}">
                <a16:creationId xmlns:a16="http://schemas.microsoft.com/office/drawing/2014/main" id="{3B76AB53-68D8-49DB-9D39-F6BC54F84F3F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795713"/>
            <a:ext cx="2057400" cy="2057400"/>
            <a:chOff x="960" y="2448"/>
            <a:chExt cx="1440" cy="1440"/>
          </a:xfrm>
        </p:grpSpPr>
        <p:sp>
          <p:nvSpPr>
            <p:cNvPr id="19478" name="Oval 61">
              <a:extLst>
                <a:ext uri="{FF2B5EF4-FFF2-40B4-BE49-F238E27FC236}">
                  <a16:creationId xmlns:a16="http://schemas.microsoft.com/office/drawing/2014/main" id="{34DD62CC-6E03-4025-BF4E-094A094A2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448"/>
              <a:ext cx="1440" cy="144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79" name="Oval 62">
              <a:extLst>
                <a:ext uri="{FF2B5EF4-FFF2-40B4-BE49-F238E27FC236}">
                  <a16:creationId xmlns:a16="http://schemas.microsoft.com/office/drawing/2014/main" id="{5AD962A7-9E36-4E69-A19D-A946E2F67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2481"/>
              <a:ext cx="1376" cy="13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80" name="Oval 63">
              <a:extLst>
                <a:ext uri="{FF2B5EF4-FFF2-40B4-BE49-F238E27FC236}">
                  <a16:creationId xmlns:a16="http://schemas.microsoft.com/office/drawing/2014/main" id="{1A585469-72B4-493D-BF8A-9ED37E13D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" y="2513"/>
              <a:ext cx="1310" cy="131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81" name="Oval 64">
              <a:extLst>
                <a:ext uri="{FF2B5EF4-FFF2-40B4-BE49-F238E27FC236}">
                  <a16:creationId xmlns:a16="http://schemas.microsoft.com/office/drawing/2014/main" id="{524DD8A8-9BEA-4297-9759-1EA8A731F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" y="2546"/>
              <a:ext cx="1246" cy="12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82" name="Oval 65">
              <a:extLst>
                <a:ext uri="{FF2B5EF4-FFF2-40B4-BE49-F238E27FC236}">
                  <a16:creationId xmlns:a16="http://schemas.microsoft.com/office/drawing/2014/main" id="{ACBAD1FE-FF7E-4133-B2A7-DB2A239E3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" y="2578"/>
              <a:ext cx="1180" cy="118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83" name="Oval 66">
              <a:extLst>
                <a:ext uri="{FF2B5EF4-FFF2-40B4-BE49-F238E27FC236}">
                  <a16:creationId xmlns:a16="http://schemas.microsoft.com/office/drawing/2014/main" id="{E8AEDEEB-10B8-46FA-807E-A6C43D296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" y="2611"/>
              <a:ext cx="1114" cy="111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84" name="Oval 67">
              <a:extLst>
                <a:ext uri="{FF2B5EF4-FFF2-40B4-BE49-F238E27FC236}">
                  <a16:creationId xmlns:a16="http://schemas.microsoft.com/office/drawing/2014/main" id="{E6FA188C-E20F-4063-A2C3-6B552404C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7" y="2645"/>
              <a:ext cx="1046" cy="1046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85" name="Oval 68">
              <a:extLst>
                <a:ext uri="{FF2B5EF4-FFF2-40B4-BE49-F238E27FC236}">
                  <a16:creationId xmlns:a16="http://schemas.microsoft.com/office/drawing/2014/main" id="{CB625716-9521-4749-99E8-B5A45C92E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3" y="2710"/>
              <a:ext cx="914" cy="9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86" name="Oval 69">
              <a:extLst>
                <a:ext uri="{FF2B5EF4-FFF2-40B4-BE49-F238E27FC236}">
                  <a16:creationId xmlns:a16="http://schemas.microsoft.com/office/drawing/2014/main" id="{0288ED9F-B2D8-4857-9460-83A71E928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" y="2678"/>
              <a:ext cx="980" cy="9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87" name="Oval 70">
              <a:extLst>
                <a:ext uri="{FF2B5EF4-FFF2-40B4-BE49-F238E27FC236}">
                  <a16:creationId xmlns:a16="http://schemas.microsoft.com/office/drawing/2014/main" id="{8C5F49AC-66F1-4C53-84E7-95BE7CEAD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7" y="2726"/>
              <a:ext cx="886" cy="88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88" name="Oval 71">
              <a:extLst>
                <a:ext uri="{FF2B5EF4-FFF2-40B4-BE49-F238E27FC236}">
                  <a16:creationId xmlns:a16="http://schemas.microsoft.com/office/drawing/2014/main" id="{490B9488-0C43-4784-B95C-51E3AB0BA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2775"/>
              <a:ext cx="784" cy="78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89" name="Oval 72">
              <a:extLst>
                <a:ext uri="{FF2B5EF4-FFF2-40B4-BE49-F238E27FC236}">
                  <a16:creationId xmlns:a16="http://schemas.microsoft.com/office/drawing/2014/main" id="{6D384387-1DA0-45A7-B25D-5F51CE9EF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2841"/>
              <a:ext cx="656" cy="65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90" name="Oval 73">
              <a:extLst>
                <a:ext uri="{FF2B5EF4-FFF2-40B4-BE49-F238E27FC236}">
                  <a16:creationId xmlns:a16="http://schemas.microsoft.com/office/drawing/2014/main" id="{3BE0A262-B67B-4117-A8E9-41C3987CD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" y="2890"/>
              <a:ext cx="554" cy="5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91" name="Oval 74">
              <a:extLst>
                <a:ext uri="{FF2B5EF4-FFF2-40B4-BE49-F238E27FC236}">
                  <a16:creationId xmlns:a16="http://schemas.microsoft.com/office/drawing/2014/main" id="{1934FEB7-3701-4834-94BB-91753F615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2959"/>
              <a:ext cx="416" cy="418"/>
            </a:xfrm>
            <a:prstGeom prst="ellipse">
              <a:avLst/>
            </a:prstGeom>
            <a:solidFill>
              <a:srgbClr val="FFCC00"/>
            </a:solidFill>
            <a:ln w="12700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92" name="Oval 75">
              <a:extLst>
                <a:ext uri="{FF2B5EF4-FFF2-40B4-BE49-F238E27FC236}">
                  <a16:creationId xmlns:a16="http://schemas.microsoft.com/office/drawing/2014/main" id="{501E09BA-8651-4743-9C51-D2972E338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3038"/>
              <a:ext cx="260" cy="2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76">
            <a:extLst>
              <a:ext uri="{FF2B5EF4-FFF2-40B4-BE49-F238E27FC236}">
                <a16:creationId xmlns:a16="http://schemas.microsoft.com/office/drawing/2014/main" id="{610C5BD7-0480-402D-BCF4-0403AD1FBE18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929063"/>
            <a:ext cx="2057400" cy="1981200"/>
            <a:chOff x="3504" y="2544"/>
            <a:chExt cx="1440" cy="1440"/>
          </a:xfrm>
        </p:grpSpPr>
        <p:sp>
          <p:nvSpPr>
            <p:cNvPr id="19464" name="Oval 77">
              <a:extLst>
                <a:ext uri="{FF2B5EF4-FFF2-40B4-BE49-F238E27FC236}">
                  <a16:creationId xmlns:a16="http://schemas.microsoft.com/office/drawing/2014/main" id="{7FCE04A2-E6CD-4973-93C3-83607A1B5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544"/>
              <a:ext cx="1440" cy="144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65" name="Oval 78">
              <a:extLst>
                <a:ext uri="{FF2B5EF4-FFF2-40B4-BE49-F238E27FC236}">
                  <a16:creationId xmlns:a16="http://schemas.microsoft.com/office/drawing/2014/main" id="{FA7D8D1E-4963-40E4-9621-8FA13679A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" y="2577"/>
              <a:ext cx="1376" cy="13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66" name="Oval 79">
              <a:extLst>
                <a:ext uri="{FF2B5EF4-FFF2-40B4-BE49-F238E27FC236}">
                  <a16:creationId xmlns:a16="http://schemas.microsoft.com/office/drawing/2014/main" id="{05537F01-E47C-40AD-B98C-115A7819B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2609"/>
              <a:ext cx="1310" cy="131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67" name="Oval 80">
              <a:extLst>
                <a:ext uri="{FF2B5EF4-FFF2-40B4-BE49-F238E27FC236}">
                  <a16:creationId xmlns:a16="http://schemas.microsoft.com/office/drawing/2014/main" id="{2959CC36-30A8-43DC-94A4-1DDAB53E1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2642"/>
              <a:ext cx="1246" cy="12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68" name="Oval 81">
              <a:extLst>
                <a:ext uri="{FF2B5EF4-FFF2-40B4-BE49-F238E27FC236}">
                  <a16:creationId xmlns:a16="http://schemas.microsoft.com/office/drawing/2014/main" id="{87550C2B-D352-478B-9C84-13AA55CD8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2674"/>
              <a:ext cx="1180" cy="118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69" name="Oval 82">
              <a:extLst>
                <a:ext uri="{FF2B5EF4-FFF2-40B4-BE49-F238E27FC236}">
                  <a16:creationId xmlns:a16="http://schemas.microsoft.com/office/drawing/2014/main" id="{361F17EA-A7B1-448D-9063-7AD355706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7" y="2707"/>
              <a:ext cx="1114" cy="111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70" name="Oval 83">
              <a:extLst>
                <a:ext uri="{FF2B5EF4-FFF2-40B4-BE49-F238E27FC236}">
                  <a16:creationId xmlns:a16="http://schemas.microsoft.com/office/drawing/2014/main" id="{20DC0FC1-EBD2-4C69-AC1B-F71E66F37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741"/>
              <a:ext cx="1046" cy="1046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71" name="Oval 84">
              <a:extLst>
                <a:ext uri="{FF2B5EF4-FFF2-40B4-BE49-F238E27FC236}">
                  <a16:creationId xmlns:a16="http://schemas.microsoft.com/office/drawing/2014/main" id="{98B9E057-FC9A-4B8A-B4D7-3EAD7EFDB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" y="2806"/>
              <a:ext cx="914" cy="9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72" name="Oval 85">
              <a:extLst>
                <a:ext uri="{FF2B5EF4-FFF2-40B4-BE49-F238E27FC236}">
                  <a16:creationId xmlns:a16="http://schemas.microsoft.com/office/drawing/2014/main" id="{F03574C5-59FB-4BC8-B98D-628684A79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774"/>
              <a:ext cx="980" cy="9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73" name="Oval 86">
              <a:extLst>
                <a:ext uri="{FF2B5EF4-FFF2-40B4-BE49-F238E27FC236}">
                  <a16:creationId xmlns:a16="http://schemas.microsoft.com/office/drawing/2014/main" id="{537B0B93-DD8D-44AF-9BB8-7A7A83326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1" y="2822"/>
              <a:ext cx="886" cy="88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74" name="Oval 87">
              <a:extLst>
                <a:ext uri="{FF2B5EF4-FFF2-40B4-BE49-F238E27FC236}">
                  <a16:creationId xmlns:a16="http://schemas.microsoft.com/office/drawing/2014/main" id="{63E99B58-0418-4D92-BF75-47649894C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2871"/>
              <a:ext cx="784" cy="78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75" name="Oval 88">
              <a:extLst>
                <a:ext uri="{FF2B5EF4-FFF2-40B4-BE49-F238E27FC236}">
                  <a16:creationId xmlns:a16="http://schemas.microsoft.com/office/drawing/2014/main" id="{08D5DF02-AD0A-4A8B-9574-5EA862D4A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2937"/>
              <a:ext cx="656" cy="65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76" name="Oval 89">
              <a:extLst>
                <a:ext uri="{FF2B5EF4-FFF2-40B4-BE49-F238E27FC236}">
                  <a16:creationId xmlns:a16="http://schemas.microsoft.com/office/drawing/2014/main" id="{3F83647B-384B-4DFE-B4FC-DF7166214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7" y="2976"/>
              <a:ext cx="565" cy="56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77" name="Oval 90">
              <a:extLst>
                <a:ext uri="{FF2B5EF4-FFF2-40B4-BE49-F238E27FC236}">
                  <a16:creationId xmlns:a16="http://schemas.microsoft.com/office/drawing/2014/main" id="{99442B72-FDA9-49CD-8816-A437C1447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072"/>
              <a:ext cx="384" cy="38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9463" name="灯片编号占位符 1">
            <a:extLst>
              <a:ext uri="{FF2B5EF4-FFF2-40B4-BE49-F238E27FC236}">
                <a16:creationId xmlns:a16="http://schemas.microsoft.com/office/drawing/2014/main" id="{857E0837-5D39-4533-9DB6-B3641072C12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31A900-C402-4A0F-89C2-16A6DE35B8C9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8" name="Text Box 16">
            <a:extLst>
              <a:ext uri="{FF2B5EF4-FFF2-40B4-BE49-F238E27FC236}">
                <a16:creationId xmlns:a16="http://schemas.microsoft.com/office/drawing/2014/main" id="{5C28EAE2-B054-47A9-BBB3-02F5ECA9F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068388"/>
            <a:ext cx="85725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问： 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(1)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油膜的最大厚度是多少？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(2)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若油滴逐渐滩开，条纹将如何变化？</a:t>
            </a:r>
            <a:endParaRPr lang="en-US" altLang="zh-CN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（油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  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altLang="zh-CN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=1.60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玻璃：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altLang="zh-CN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=1.50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002DEA93-15A5-4DDB-B984-029B5821C84D}"/>
              </a:ext>
            </a:extLst>
          </p:cNvPr>
          <p:cNvGrpSpPr>
            <a:grpSpLocks/>
          </p:cNvGrpSpPr>
          <p:nvPr/>
        </p:nvGrpSpPr>
        <p:grpSpPr bwMode="auto">
          <a:xfrm>
            <a:off x="6335713" y="1968500"/>
            <a:ext cx="2322512" cy="603250"/>
            <a:chOff x="4165" y="1608"/>
            <a:chExt cx="1463" cy="380"/>
          </a:xfrm>
        </p:grpSpPr>
        <p:sp>
          <p:nvSpPr>
            <p:cNvPr id="21531" name="AutoShape 3">
              <a:extLst>
                <a:ext uri="{FF2B5EF4-FFF2-40B4-BE49-F238E27FC236}">
                  <a16:creationId xmlns:a16="http://schemas.microsoft.com/office/drawing/2014/main" id="{1E0754ED-138F-46B4-AF61-50F275F273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777" y="1123"/>
              <a:ext cx="240" cy="1463"/>
            </a:xfrm>
            <a:prstGeom prst="moon">
              <a:avLst>
                <a:gd name="adj" fmla="val 87500"/>
              </a:avLst>
            </a:prstGeom>
            <a:gradFill rotWithShape="0">
              <a:gsLst>
                <a:gs pos="0">
                  <a:srgbClr val="00FFFF"/>
                </a:gs>
                <a:gs pos="100000">
                  <a:srgbClr val="00B4B4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1532" name="Object 4">
              <a:extLst>
                <a:ext uri="{FF2B5EF4-FFF2-40B4-BE49-F238E27FC236}">
                  <a16:creationId xmlns:a16="http://schemas.microsoft.com/office/drawing/2014/main" id="{817C3281-E9D7-48B4-8E1B-80DFD5B18F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1" y="1608"/>
            <a:ext cx="290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338" name="公式" r:id="rId3" imgW="123857" imgH="180941" progId="Equation.3">
                    <p:embed/>
                  </p:oleObj>
                </mc:Choice>
                <mc:Fallback>
                  <p:oleObj name="公式" r:id="rId3" imgW="123857" imgH="180941" progId="Equation.3">
                    <p:embed/>
                    <p:pic>
                      <p:nvPicPr>
                        <p:cNvPr id="21532" name="Object 4">
                          <a:extLst>
                            <a:ext uri="{FF2B5EF4-FFF2-40B4-BE49-F238E27FC236}">
                              <a16:creationId xmlns:a16="http://schemas.microsoft.com/office/drawing/2014/main" id="{817C3281-E9D7-48B4-8E1B-80DFD5B18F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1" y="1608"/>
                          <a:ext cx="290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E9738EBD-0CD4-4B18-9EB6-790D0E1070D2}"/>
              </a:ext>
            </a:extLst>
          </p:cNvPr>
          <p:cNvGrpSpPr>
            <a:grpSpLocks/>
          </p:cNvGrpSpPr>
          <p:nvPr/>
        </p:nvGrpSpPr>
        <p:grpSpPr bwMode="auto">
          <a:xfrm>
            <a:off x="6143625" y="3141663"/>
            <a:ext cx="2724150" cy="2495550"/>
            <a:chOff x="4044" y="2292"/>
            <a:chExt cx="1716" cy="1572"/>
          </a:xfrm>
        </p:grpSpPr>
        <p:sp>
          <p:nvSpPr>
            <p:cNvPr id="21524" name="Rectangle 6">
              <a:extLst>
                <a:ext uri="{FF2B5EF4-FFF2-40B4-BE49-F238E27FC236}">
                  <a16:creationId xmlns:a16="http://schemas.microsoft.com/office/drawing/2014/main" id="{DBD8499F-3D46-48CA-88B5-C1C2E6FC7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4" y="2292"/>
              <a:ext cx="1716" cy="157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1525" name="Group 7">
              <a:extLst>
                <a:ext uri="{FF2B5EF4-FFF2-40B4-BE49-F238E27FC236}">
                  <a16:creationId xmlns:a16="http://schemas.microsoft.com/office/drawing/2014/main" id="{C43F3608-C7A8-4F8B-93DB-5449285DB3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0" y="2352"/>
              <a:ext cx="1416" cy="1416"/>
              <a:chOff x="4200" y="2352"/>
              <a:chExt cx="1416" cy="1416"/>
            </a:xfrm>
          </p:grpSpPr>
          <p:sp>
            <p:nvSpPr>
              <p:cNvPr id="21526" name="Oval 8">
                <a:extLst>
                  <a:ext uri="{FF2B5EF4-FFF2-40B4-BE49-F238E27FC236}">
                    <a16:creationId xmlns:a16="http://schemas.microsoft.com/office/drawing/2014/main" id="{95C15E98-03C2-48DC-949E-5C06AC8C0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0" y="2352"/>
                <a:ext cx="1416" cy="1416"/>
              </a:xfrm>
              <a:prstGeom prst="ellips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7" name="Oval 9">
                <a:extLst>
                  <a:ext uri="{FF2B5EF4-FFF2-40B4-BE49-F238E27FC236}">
                    <a16:creationId xmlns:a16="http://schemas.microsoft.com/office/drawing/2014/main" id="{5F08BC56-6A87-40B3-A5F4-8B3CD3841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424"/>
                <a:ext cx="1272" cy="1272"/>
              </a:xfrm>
              <a:prstGeom prst="ellips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8" name="Oval 10">
                <a:extLst>
                  <a:ext uri="{FF2B5EF4-FFF2-40B4-BE49-F238E27FC236}">
                    <a16:creationId xmlns:a16="http://schemas.microsoft.com/office/drawing/2014/main" id="{B0A2A831-A68E-401F-886B-2AF0695BA8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592"/>
                <a:ext cx="972" cy="972"/>
              </a:xfrm>
              <a:prstGeom prst="ellips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9" name="Oval 11">
                <a:extLst>
                  <a:ext uri="{FF2B5EF4-FFF2-40B4-BE49-F238E27FC236}">
                    <a16:creationId xmlns:a16="http://schemas.microsoft.com/office/drawing/2014/main" id="{77FF26F2-53B5-453C-8D71-3810344D2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2796"/>
                <a:ext cx="588" cy="575"/>
              </a:xfrm>
              <a:prstGeom prst="ellips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30" name="Oval 12">
                <a:extLst>
                  <a:ext uri="{FF2B5EF4-FFF2-40B4-BE49-F238E27FC236}">
                    <a16:creationId xmlns:a16="http://schemas.microsoft.com/office/drawing/2014/main" id="{599803A2-F5F6-4364-883C-F1905D088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0" y="3048"/>
                <a:ext cx="84" cy="84"/>
              </a:xfrm>
              <a:prstGeom prst="ellipse">
                <a:avLst/>
              </a:prstGeom>
              <a:solidFill>
                <a:srgbClr val="59E2FD"/>
              </a:solidFill>
              <a:ln w="9525">
                <a:solidFill>
                  <a:srgbClr val="00FF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1F2B0B20-A770-4AF0-BFA3-1C4031B3A1EE}"/>
              </a:ext>
            </a:extLst>
          </p:cNvPr>
          <p:cNvGrpSpPr>
            <a:grpSpLocks/>
          </p:cNvGrpSpPr>
          <p:nvPr/>
        </p:nvGrpSpPr>
        <p:grpSpPr bwMode="auto">
          <a:xfrm>
            <a:off x="6143625" y="2286000"/>
            <a:ext cx="2724150" cy="642938"/>
            <a:chOff x="4044" y="1788"/>
            <a:chExt cx="1716" cy="405"/>
          </a:xfrm>
        </p:grpSpPr>
        <p:sp>
          <p:nvSpPr>
            <p:cNvPr id="21522" name="Rectangle 14">
              <a:extLst>
                <a:ext uri="{FF2B5EF4-FFF2-40B4-BE49-F238E27FC236}">
                  <a16:creationId xmlns:a16="http://schemas.microsoft.com/office/drawing/2014/main" id="{22E59280-5988-490C-94FA-4E604D268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4" y="1932"/>
              <a:ext cx="1716" cy="18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1523" name="Object 15">
              <a:extLst>
                <a:ext uri="{FF2B5EF4-FFF2-40B4-BE49-F238E27FC236}">
                  <a16:creationId xmlns:a16="http://schemas.microsoft.com/office/drawing/2014/main" id="{3603FD56-28C9-4926-9177-03CCD52335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97" y="1788"/>
            <a:ext cx="290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339" name="公式" r:id="rId5" imgW="123857" imgH="190432" progId="Equation.3">
                    <p:embed/>
                  </p:oleObj>
                </mc:Choice>
                <mc:Fallback>
                  <p:oleObj name="公式" r:id="rId5" imgW="123857" imgH="190432" progId="Equation.3">
                    <p:embed/>
                    <p:pic>
                      <p:nvPicPr>
                        <p:cNvPr id="21523" name="Object 15">
                          <a:extLst>
                            <a:ext uri="{FF2B5EF4-FFF2-40B4-BE49-F238E27FC236}">
                              <a16:creationId xmlns:a16="http://schemas.microsoft.com/office/drawing/2014/main" id="{3603FD56-28C9-4926-9177-03CCD52335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7" y="1788"/>
                          <a:ext cx="290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289" name="Text Box 17">
            <a:extLst>
              <a:ext uri="{FF2B5EF4-FFF2-40B4-BE49-F238E27FC236}">
                <a16:creationId xmlns:a16="http://schemas.microsoft.com/office/drawing/2014/main" id="{C54210F6-C30A-40A4-993A-250967677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92088"/>
            <a:ext cx="8572500" cy="87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例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在平面玻璃板上滴一滴油，用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576 nm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的单色光垂直照射，从反射光中看到如图所示的干涉条纹。</a:t>
            </a:r>
          </a:p>
        </p:txBody>
      </p:sp>
      <p:sp>
        <p:nvSpPr>
          <p:cNvPr id="54290" name="Text Box 18">
            <a:extLst>
              <a:ext uri="{FF2B5EF4-FFF2-40B4-BE49-F238E27FC236}">
                <a16:creationId xmlns:a16="http://schemas.microsoft.com/office/drawing/2014/main" id="{4B5FF395-9221-4AE7-BD62-6DA4EE4EF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2357438"/>
            <a:ext cx="6343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解</a:t>
            </a:r>
            <a:r>
              <a:rPr lang="en-US" altLang="zh-CN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lang="zh-CN" altLang="en-US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anose="05000000000000000000" pitchFamily="2" charset="2"/>
              </a:rPr>
              <a:t>(1)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因 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altLang="zh-CN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&lt;n</a:t>
            </a:r>
            <a:r>
              <a:rPr lang="en-US" altLang="zh-CN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altLang="zh-CN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&gt;n</a:t>
            </a:r>
            <a:r>
              <a:rPr lang="en-US" altLang="zh-CN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，要考虑</a:t>
            </a:r>
            <a:r>
              <a:rPr lang="zh-CN" altLang="en-US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半波损失</a:t>
            </a:r>
            <a:endParaRPr lang="zh-CN" altLang="en-US" dirty="0">
              <a:solidFill>
                <a:srgbClr val="00FFFF"/>
              </a:solidFill>
            </a:endParaRPr>
          </a:p>
        </p:txBody>
      </p:sp>
      <p:sp>
        <p:nvSpPr>
          <p:cNvPr id="54291" name="Text Box 19">
            <a:extLst>
              <a:ext uri="{FF2B5EF4-FFF2-40B4-BE49-F238E27FC236}">
                <a16:creationId xmlns:a16="http://schemas.microsoft.com/office/drawing/2014/main" id="{BBE0CD66-1929-41D7-9757-B464647BF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3073400"/>
            <a:ext cx="3105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暗纹条件</a:t>
            </a:r>
            <a:endParaRPr lang="zh-CN" altLang="en-US">
              <a:solidFill>
                <a:srgbClr val="00FFFF"/>
              </a:solidFill>
            </a:endParaRPr>
          </a:p>
        </p:txBody>
      </p:sp>
      <p:graphicFrame>
        <p:nvGraphicFramePr>
          <p:cNvPr id="54292" name="Object 20">
            <a:extLst>
              <a:ext uri="{FF2B5EF4-FFF2-40B4-BE49-F238E27FC236}">
                <a16:creationId xmlns:a16="http://schemas.microsoft.com/office/drawing/2014/main" id="{D283223E-44B9-4A17-88E1-D6F5DB1BE0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857500"/>
          <a:ext cx="30099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40" name="公式" r:id="rId7" imgW="1295451" imgH="352391" progId="Equation.3">
                  <p:embed/>
                </p:oleObj>
              </mc:Choice>
              <mc:Fallback>
                <p:oleObj name="公式" r:id="rId7" imgW="1295451" imgH="352391" progId="Equation.3">
                  <p:embed/>
                  <p:pic>
                    <p:nvPicPr>
                      <p:cNvPr id="54292" name="Object 20">
                        <a:extLst>
                          <a:ext uri="{FF2B5EF4-FFF2-40B4-BE49-F238E27FC236}">
                            <a16:creationId xmlns:a16="http://schemas.microsoft.com/office/drawing/2014/main" id="{D283223E-44B9-4A17-88E1-D6F5DB1BE0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857500"/>
                        <a:ext cx="30099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4" name="Text Box 22">
            <a:extLst>
              <a:ext uri="{FF2B5EF4-FFF2-40B4-BE49-F238E27FC236}">
                <a16:creationId xmlns:a16="http://schemas.microsoft.com/office/drawing/2014/main" id="{BA5FC001-FFC1-4967-BBEA-21601F350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757613"/>
            <a:ext cx="5429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交界处 </a:t>
            </a: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 </a:t>
            </a: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0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对应于 </a:t>
            </a: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 </a:t>
            </a: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0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的</a:t>
            </a:r>
            <a:r>
              <a:rPr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暗纹</a:t>
            </a:r>
            <a:endParaRPr lang="zh-CN" altLang="en-US">
              <a:solidFill>
                <a:srgbClr val="00FFFF"/>
              </a:solidFill>
            </a:endParaRPr>
          </a:p>
        </p:txBody>
      </p:sp>
      <p:sp>
        <p:nvSpPr>
          <p:cNvPr id="54295" name="Text Box 23">
            <a:extLst>
              <a:ext uri="{FF2B5EF4-FFF2-40B4-BE49-F238E27FC236}">
                <a16:creationId xmlns:a16="http://schemas.microsoft.com/office/drawing/2014/main" id="{07C7DE01-7EAE-4BC9-A719-3ABED07F5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293096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Monotype Sorts" pitchFamily="2" charset="2"/>
              </a:rPr>
              <a:t>中心点为 </a:t>
            </a:r>
            <a:r>
              <a:rPr lang="en-US" altLang="zh-CN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Monotype Sorts" pitchFamily="2" charset="2"/>
              </a:rPr>
              <a:t>k 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Monotype Sorts" pitchFamily="2" charset="2"/>
              </a:rPr>
              <a:t>= 4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Monotype Sorts" pitchFamily="2" charset="2"/>
              </a:rPr>
              <a:t>的</a:t>
            </a:r>
            <a:r>
              <a:rPr lang="zh-CN" altLang="en-US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Monotype Sorts" pitchFamily="2" charset="2"/>
              </a:rPr>
              <a:t>暗纹</a:t>
            </a:r>
            <a:endParaRPr lang="zh-CN" altLang="en-US" dirty="0">
              <a:solidFill>
                <a:srgbClr val="00FFFF"/>
              </a:solidFill>
            </a:endParaRPr>
          </a:p>
        </p:txBody>
      </p:sp>
      <p:graphicFrame>
        <p:nvGraphicFramePr>
          <p:cNvPr id="54296" name="Object 24">
            <a:extLst>
              <a:ext uri="{FF2B5EF4-FFF2-40B4-BE49-F238E27FC236}">
                <a16:creationId xmlns:a16="http://schemas.microsoft.com/office/drawing/2014/main" id="{6CC612D5-6B8D-4B18-A263-35BD62B1B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925" y="4741863"/>
          <a:ext cx="20034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41" name="公式" r:id="rId9" imgW="790543" imgH="390661" progId="Equation.3">
                  <p:embed/>
                </p:oleObj>
              </mc:Choice>
              <mc:Fallback>
                <p:oleObj name="公式" r:id="rId9" imgW="790543" imgH="390661" progId="Equation.3">
                  <p:embed/>
                  <p:pic>
                    <p:nvPicPr>
                      <p:cNvPr id="54296" name="Object 24">
                        <a:extLst>
                          <a:ext uri="{FF2B5EF4-FFF2-40B4-BE49-F238E27FC236}">
                            <a16:creationId xmlns:a16="http://schemas.microsoft.com/office/drawing/2014/main" id="{6CC612D5-6B8D-4B18-A263-35BD62B1BE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4741863"/>
                        <a:ext cx="20034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7" name="Object 25">
            <a:extLst>
              <a:ext uri="{FF2B5EF4-FFF2-40B4-BE49-F238E27FC236}">
                <a16:creationId xmlns:a16="http://schemas.microsoft.com/office/drawing/2014/main" id="{8BB5B57D-BD44-4FCA-B996-96199AFE33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1625" y="4957763"/>
          <a:ext cx="20161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42" name="公式" r:id="rId11" imgW="828771" imgH="161959" progId="Equation.3">
                  <p:embed/>
                </p:oleObj>
              </mc:Choice>
              <mc:Fallback>
                <p:oleObj name="公式" r:id="rId11" imgW="828771" imgH="161959" progId="Equation.3">
                  <p:embed/>
                  <p:pic>
                    <p:nvPicPr>
                      <p:cNvPr id="54297" name="Object 25">
                        <a:extLst>
                          <a:ext uri="{FF2B5EF4-FFF2-40B4-BE49-F238E27FC236}">
                            <a16:creationId xmlns:a16="http://schemas.microsoft.com/office/drawing/2014/main" id="{8BB5B57D-BD44-4FCA-B996-96199AFE33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4957763"/>
                        <a:ext cx="20161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8" name="Text Box 26">
            <a:extLst>
              <a:ext uri="{FF2B5EF4-FFF2-40B4-BE49-F238E27FC236}">
                <a16:creationId xmlns:a16="http://schemas.microsoft.com/office/drawing/2014/main" id="{D85C9516-0FE5-4303-9861-EDF2E57BA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5713413"/>
            <a:ext cx="8320088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en-US" altLang="zh-CN" dirty="0">
                <a:solidFill>
                  <a:schemeClr val="bg1"/>
                </a:solidFill>
                <a:sym typeface="Monotype Sorts" pitchFamily="2" charset="2"/>
              </a:rPr>
              <a:t>(2)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Monotype Sorts" pitchFamily="2" charset="2"/>
              </a:rPr>
              <a:t>最外暗环逐渐向外扩大，中心点明暗交替变化并消失，条纹级次逐渐减小，条纹越稀疏；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519" name="灯片编号占位符 1">
            <a:extLst>
              <a:ext uri="{FF2B5EF4-FFF2-40B4-BE49-F238E27FC236}">
                <a16:creationId xmlns:a16="http://schemas.microsoft.com/office/drawing/2014/main" id="{CED5A735-7B1D-4568-A249-E2AAE55B8B0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6345345-CC84-418A-863C-4DAB84C79B75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5F0CA5B-02BA-4ADE-A91F-0158E65FD18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595394" y="3428207"/>
            <a:ext cx="2143125" cy="1587"/>
          </a:xfrm>
          <a:prstGeom prst="line">
            <a:avLst/>
          </a:prstGeom>
          <a:noFill/>
          <a:ln w="19050" algn="ctr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715142B-C52E-422B-9E9D-320A8AB914D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287169" y="3428207"/>
            <a:ext cx="2143125" cy="1587"/>
          </a:xfrm>
          <a:prstGeom prst="line">
            <a:avLst/>
          </a:prstGeom>
          <a:noFill/>
          <a:ln w="19050" algn="ctr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4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4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5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8" dur="500"/>
                                        <p:tgtEl>
                                          <p:spTgt spid="5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000" fill="hold"/>
                                        <p:tgtEl>
                                          <p:spTgt spid="54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500"/>
                                        <p:tgtEl>
                                          <p:spTgt spid="5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8" grpId="0" build="allAtOnce"/>
      <p:bldP spid="54289" grpId="0"/>
      <p:bldP spid="54290" grpId="0" autoUpdateAnimBg="0"/>
      <p:bldP spid="54291" grpId="0" autoUpdateAnimBg="0"/>
      <p:bldP spid="54294" grpId="0" autoUpdateAnimBg="0"/>
      <p:bldP spid="54295" grpId="0" autoUpdateAnimBg="0"/>
      <p:bldP spid="5429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50E8908F-574F-42CE-8727-E9556F3E8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333375"/>
            <a:ext cx="81026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一平面单色光波垂直照射在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厚度均匀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薄油膜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上，油膜覆盖在</a:t>
            </a:r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玻璃板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上，所用光源波长可</a:t>
            </a:r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连续变化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，观察到</a:t>
            </a:r>
            <a:r>
              <a:rPr lang="en-US" altLang="zh-CN" dirty="0">
                <a:solidFill>
                  <a:srgbClr val="66FFFF"/>
                </a:solidFill>
              </a:rPr>
              <a:t>500</a:t>
            </a:r>
            <a:r>
              <a:rPr lang="en-US" altLang="zh-CN" dirty="0">
                <a:solidFill>
                  <a:srgbClr val="66FFFF"/>
                </a:solidFill>
                <a:latin typeface="宋体" panose="02010600030101010101" pitchFamily="2" charset="-122"/>
              </a:rPr>
              <a:t>nm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dirty="0">
                <a:solidFill>
                  <a:srgbClr val="66FFFF"/>
                </a:solidFill>
              </a:rPr>
              <a:t>700</a:t>
            </a:r>
            <a:r>
              <a:rPr lang="en-US" altLang="zh-CN" dirty="0">
                <a:solidFill>
                  <a:srgbClr val="66FFFF"/>
                </a:solidFill>
                <a:latin typeface="宋体" panose="02010600030101010101" pitchFamily="2" charset="-122"/>
              </a:rPr>
              <a:t>nm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这两个波长的光在反射中连续消失。油的折射率</a:t>
            </a:r>
            <a:r>
              <a:rPr lang="en-US" altLang="zh-CN" dirty="0">
                <a:solidFill>
                  <a:srgbClr val="66FFFF"/>
                </a:solidFill>
              </a:rPr>
              <a:t>1.30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，玻璃的折射率为</a:t>
            </a:r>
            <a:r>
              <a:rPr lang="en-US" altLang="zh-CN" dirty="0">
                <a:solidFill>
                  <a:srgbClr val="66FFFF"/>
                </a:solidFill>
              </a:rPr>
              <a:t>1.50</a:t>
            </a: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AC315FE9-0E00-4FDA-9BA0-D9BDB8D35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9083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解</a:t>
            </a:r>
            <a:r>
              <a:rPr lang="zh-CN" altLang="en-US" b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96D36DDE-EAD0-4D89-84B5-803E004B1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2890838"/>
            <a:ext cx="80245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根据题意，上、下表面反射光均有半波损失，暗纹的条件 </a:t>
            </a:r>
          </a:p>
        </p:txBody>
      </p:sp>
      <p:graphicFrame>
        <p:nvGraphicFramePr>
          <p:cNvPr id="15365" name="Object 2">
            <a:extLst>
              <a:ext uri="{FF2B5EF4-FFF2-40B4-BE49-F238E27FC236}">
                <a16:creationId xmlns:a16="http://schemas.microsoft.com/office/drawing/2014/main" id="{AD234FEC-DFDE-4CEE-9C1F-3B9BD4DCE9C3}"/>
              </a:ext>
            </a:extLst>
          </p:cNvPr>
          <p:cNvGraphicFramePr>
            <a:graphicFrameLocks/>
          </p:cNvGraphicFramePr>
          <p:nvPr/>
        </p:nvGraphicFramePr>
        <p:xfrm>
          <a:off x="2508250" y="3375025"/>
          <a:ext cx="21478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9" name="公式" r:id="rId3" imgW="2352669" imgH="790507" progId="Equation.3">
                  <p:embed/>
                </p:oleObj>
              </mc:Choice>
              <mc:Fallback>
                <p:oleObj name="公式" r:id="rId3" imgW="2352669" imgH="790507" progId="Equation.3">
                  <p:embed/>
                  <p:pic>
                    <p:nvPicPr>
                      <p:cNvPr id="15365" name="Object 2">
                        <a:extLst>
                          <a:ext uri="{FF2B5EF4-FFF2-40B4-BE49-F238E27FC236}">
                            <a16:creationId xmlns:a16="http://schemas.microsoft.com/office/drawing/2014/main" id="{AD234FEC-DFDE-4CEE-9C1F-3B9BD4DCE9C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3375025"/>
                        <a:ext cx="214788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3">
            <a:extLst>
              <a:ext uri="{FF2B5EF4-FFF2-40B4-BE49-F238E27FC236}">
                <a16:creationId xmlns:a16="http://schemas.microsoft.com/office/drawing/2014/main" id="{1BF6EB1C-00EA-4CAF-89CC-AB62ECB05E51}"/>
              </a:ext>
            </a:extLst>
          </p:cNvPr>
          <p:cNvGraphicFramePr>
            <a:graphicFrameLocks/>
          </p:cNvGraphicFramePr>
          <p:nvPr/>
        </p:nvGraphicFramePr>
        <p:xfrm>
          <a:off x="2511425" y="4198938"/>
          <a:ext cx="277653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0" name="公式" r:id="rId5" imgW="3048102" imgH="790507" progId="Equation.3">
                  <p:embed/>
                </p:oleObj>
              </mc:Choice>
              <mc:Fallback>
                <p:oleObj name="公式" r:id="rId5" imgW="3048102" imgH="790507" progId="Equation.3">
                  <p:embed/>
                  <p:pic>
                    <p:nvPicPr>
                      <p:cNvPr id="15366" name="Object 3">
                        <a:extLst>
                          <a:ext uri="{FF2B5EF4-FFF2-40B4-BE49-F238E27FC236}">
                            <a16:creationId xmlns:a16="http://schemas.microsoft.com/office/drawing/2014/main" id="{1BF6EB1C-00EA-4CAF-89CC-AB62ECB05E5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4198938"/>
                        <a:ext cx="277653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4">
            <a:extLst>
              <a:ext uri="{FF2B5EF4-FFF2-40B4-BE49-F238E27FC236}">
                <a16:creationId xmlns:a16="http://schemas.microsoft.com/office/drawing/2014/main" id="{61403FB7-6A37-467E-8735-02383CD5E3AC}"/>
              </a:ext>
            </a:extLst>
          </p:cNvPr>
          <p:cNvGraphicFramePr>
            <a:graphicFrameLocks/>
          </p:cNvGraphicFramePr>
          <p:nvPr/>
        </p:nvGraphicFramePr>
        <p:xfrm>
          <a:off x="1908175" y="5105400"/>
          <a:ext cx="5016500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1" name="公式" r:id="rId7" imgW="5534108" imgH="1457325" progId="Equation.3">
                  <p:embed/>
                </p:oleObj>
              </mc:Choice>
              <mc:Fallback>
                <p:oleObj name="公式" r:id="rId7" imgW="5534108" imgH="1457325" progId="Equation.3">
                  <p:embed/>
                  <p:pic>
                    <p:nvPicPr>
                      <p:cNvPr id="15367" name="Object 4">
                        <a:extLst>
                          <a:ext uri="{FF2B5EF4-FFF2-40B4-BE49-F238E27FC236}">
                            <a16:creationId xmlns:a16="http://schemas.microsoft.com/office/drawing/2014/main" id="{61403FB7-6A37-467E-8735-02383CD5E3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105400"/>
                        <a:ext cx="5016500" cy="134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AutoShape 8">
            <a:extLst>
              <a:ext uri="{FF2B5EF4-FFF2-40B4-BE49-F238E27FC236}">
                <a16:creationId xmlns:a16="http://schemas.microsoft.com/office/drawing/2014/main" id="{BD53174B-4559-44A6-8A2D-ACE9909091C8}"/>
              </a:ext>
            </a:extLst>
          </p:cNvPr>
          <p:cNvSpPr>
            <a:spLocks/>
          </p:cNvSpPr>
          <p:nvPr/>
        </p:nvSpPr>
        <p:spPr bwMode="auto">
          <a:xfrm>
            <a:off x="2182813" y="3635375"/>
            <a:ext cx="228600" cy="1066800"/>
          </a:xfrm>
          <a:prstGeom prst="leftBrace">
            <a:avLst>
              <a:gd name="adj1" fmla="val 38889"/>
              <a:gd name="adj2" fmla="val 50000"/>
            </a:avLst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5369" name="AutoShape 9">
            <a:extLst>
              <a:ext uri="{FF2B5EF4-FFF2-40B4-BE49-F238E27FC236}">
                <a16:creationId xmlns:a16="http://schemas.microsoft.com/office/drawing/2014/main" id="{63E71D41-34EF-4DC3-8849-E2CB649F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789363"/>
            <a:ext cx="287338" cy="1944687"/>
          </a:xfrm>
          <a:prstGeom prst="curvedRightArrow">
            <a:avLst>
              <a:gd name="adj1" fmla="val 135359"/>
              <a:gd name="adj2" fmla="val 270718"/>
              <a:gd name="adj3" fmla="val 33333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5370" name="Text Box 10">
            <a:extLst>
              <a:ext uri="{FF2B5EF4-FFF2-40B4-BE49-F238E27FC236}">
                <a16:creationId xmlns:a16="http://schemas.microsoft.com/office/drawing/2014/main" id="{ECE24D81-9C43-4ADF-8D78-4D22809FB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57188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5371" name="Text Box 11">
            <a:extLst>
              <a:ext uri="{FF2B5EF4-FFF2-40B4-BE49-F238E27FC236}">
                <a16:creationId xmlns:a16="http://schemas.microsoft.com/office/drawing/2014/main" id="{BD31417D-20E3-4014-B86D-CE04CCE5D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2295525"/>
            <a:ext cx="417512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求</a:t>
            </a:r>
            <a:r>
              <a:rPr lang="zh-CN" altLang="en-US">
                <a:solidFill>
                  <a:schemeClr val="bg1"/>
                </a:solidFill>
              </a:rPr>
              <a:t>  油膜的</a:t>
            </a:r>
            <a:r>
              <a:rPr lang="zh-CN" altLang="en-US">
                <a:solidFill>
                  <a:srgbClr val="66FFFF"/>
                </a:solidFill>
              </a:rPr>
              <a:t>厚度</a:t>
            </a:r>
            <a:r>
              <a:rPr lang="en-US" altLang="zh-CN">
                <a:solidFill>
                  <a:schemeClr val="bg1"/>
                </a:solidFill>
              </a:rPr>
              <a:t>?</a:t>
            </a:r>
            <a:r>
              <a:rPr lang="zh-CN" altLang="en-US">
                <a:solidFill>
                  <a:srgbClr val="66FFFF"/>
                </a:solidFill>
              </a:rPr>
              <a:t> </a:t>
            </a:r>
          </a:p>
        </p:txBody>
      </p:sp>
      <p:sp>
        <p:nvSpPr>
          <p:cNvPr id="20492" name="灯片编号占位符 1">
            <a:extLst>
              <a:ext uri="{FF2B5EF4-FFF2-40B4-BE49-F238E27FC236}">
                <a16:creationId xmlns:a16="http://schemas.microsoft.com/office/drawing/2014/main" id="{2332D67E-FF95-46BD-A938-1C5D0A6D7DA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462F815-DBD5-4F64-832F-FCAD50F8E966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3" grpId="0" autoUpdateAnimBg="0"/>
      <p:bldP spid="15364" grpId="0" autoUpdateAnimBg="0"/>
      <p:bldP spid="15368" grpId="0" animBg="1"/>
      <p:bldP spid="15369" grpId="0" animBg="1"/>
      <p:bldP spid="15370" grpId="0"/>
      <p:bldP spid="1537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5405</TotalTime>
  <Words>1063</Words>
  <Application>Microsoft Office PowerPoint</Application>
  <PresentationFormat>全屏显示(4:3)</PresentationFormat>
  <Paragraphs>166</Paragraphs>
  <Slides>18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8" baseType="lpstr">
      <vt:lpstr>Monotype Sorts</vt:lpstr>
      <vt:lpstr>方正书宋简体</vt:lpstr>
      <vt:lpstr>方正姚体</vt:lpstr>
      <vt:lpstr>黑体</vt:lpstr>
      <vt:lpstr>华文仿宋</vt:lpstr>
      <vt:lpstr>华文楷体</vt:lpstr>
      <vt:lpstr>楷体</vt:lpstr>
      <vt:lpstr>楷体_GB2312</vt:lpstr>
      <vt:lpstr>LiSu</vt:lpstr>
      <vt:lpstr>宋体</vt:lpstr>
      <vt:lpstr>Arial</vt:lpstr>
      <vt:lpstr>Cambria Math</vt:lpstr>
      <vt:lpstr>Comic Sans MS</vt:lpstr>
      <vt:lpstr>Symbol</vt:lpstr>
      <vt:lpstr>Times New Roman</vt:lpstr>
      <vt:lpstr>Wingdings</vt:lpstr>
      <vt:lpstr>默认设计模板</vt:lpstr>
      <vt:lpstr>公式</vt:lpstr>
      <vt:lpstr>位图图像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1360</cp:revision>
  <cp:lastPrinted>2024-10-09T07:00:38Z</cp:lastPrinted>
  <dcterms:created xsi:type="dcterms:W3CDTF">1998-11-21T01:35:00Z</dcterms:created>
  <dcterms:modified xsi:type="dcterms:W3CDTF">2025-10-14T03:44:54Z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