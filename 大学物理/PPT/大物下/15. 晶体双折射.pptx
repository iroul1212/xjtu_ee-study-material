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439" r:id="rId2"/>
    <p:sldId id="574" r:id="rId3"/>
    <p:sldId id="587" r:id="rId4"/>
    <p:sldId id="564" r:id="rId5"/>
    <p:sldId id="565" r:id="rId6"/>
    <p:sldId id="566" r:id="rId7"/>
    <p:sldId id="567" r:id="rId8"/>
    <p:sldId id="568" r:id="rId9"/>
    <p:sldId id="569" r:id="rId10"/>
    <p:sldId id="570" r:id="rId11"/>
    <p:sldId id="571" r:id="rId12"/>
    <p:sldId id="572" r:id="rId13"/>
    <p:sldId id="573" r:id="rId14"/>
    <p:sldId id="575" r:id="rId15"/>
    <p:sldId id="576" r:id="rId16"/>
    <p:sldId id="577" r:id="rId17"/>
    <p:sldId id="578" r:id="rId18"/>
    <p:sldId id="579" r:id="rId19"/>
    <p:sldId id="580" r:id="rId20"/>
    <p:sldId id="581" r:id="rId21"/>
    <p:sldId id="582" r:id="rId22"/>
    <p:sldId id="583" r:id="rId23"/>
    <p:sldId id="584" r:id="rId24"/>
    <p:sldId id="585" r:id="rId25"/>
    <p:sldId id="586" r:id="rId26"/>
  </p:sldIdLst>
  <p:sldSz cx="9144000" cy="6858000" type="screen4x3"/>
  <p:notesSz cx="6797675" cy="9928225"/>
  <p:custDataLst>
    <p:tags r:id="rId2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948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20.emf"/><Relationship Id="rId18" Type="http://schemas.openxmlformats.org/officeDocument/2006/relationships/image" Target="../media/image25.emf"/><Relationship Id="rId26" Type="http://schemas.openxmlformats.org/officeDocument/2006/relationships/image" Target="../media/image33.emf"/><Relationship Id="rId3" Type="http://schemas.openxmlformats.org/officeDocument/2006/relationships/image" Target="../media/image10.emf"/><Relationship Id="rId21" Type="http://schemas.openxmlformats.org/officeDocument/2006/relationships/image" Target="../media/image28.emf"/><Relationship Id="rId7" Type="http://schemas.openxmlformats.org/officeDocument/2006/relationships/image" Target="../media/image14.emf"/><Relationship Id="rId12" Type="http://schemas.openxmlformats.org/officeDocument/2006/relationships/image" Target="../media/image19.emf"/><Relationship Id="rId17" Type="http://schemas.openxmlformats.org/officeDocument/2006/relationships/image" Target="../media/image24.emf"/><Relationship Id="rId25" Type="http://schemas.openxmlformats.org/officeDocument/2006/relationships/image" Target="../media/image32.emf"/><Relationship Id="rId2" Type="http://schemas.openxmlformats.org/officeDocument/2006/relationships/image" Target="../media/image9.emf"/><Relationship Id="rId16" Type="http://schemas.openxmlformats.org/officeDocument/2006/relationships/image" Target="../media/image23.emf"/><Relationship Id="rId20" Type="http://schemas.openxmlformats.org/officeDocument/2006/relationships/image" Target="../media/image27.emf"/><Relationship Id="rId1" Type="http://schemas.openxmlformats.org/officeDocument/2006/relationships/image" Target="../media/image8.emf"/><Relationship Id="rId6" Type="http://schemas.openxmlformats.org/officeDocument/2006/relationships/image" Target="../media/image13.emf"/><Relationship Id="rId11" Type="http://schemas.openxmlformats.org/officeDocument/2006/relationships/image" Target="../media/image18.emf"/><Relationship Id="rId24" Type="http://schemas.openxmlformats.org/officeDocument/2006/relationships/image" Target="../media/image31.emf"/><Relationship Id="rId5" Type="http://schemas.openxmlformats.org/officeDocument/2006/relationships/image" Target="../media/image12.emf"/><Relationship Id="rId15" Type="http://schemas.openxmlformats.org/officeDocument/2006/relationships/image" Target="../media/image22.emf"/><Relationship Id="rId23" Type="http://schemas.openxmlformats.org/officeDocument/2006/relationships/image" Target="../media/image30.emf"/><Relationship Id="rId28" Type="http://schemas.openxmlformats.org/officeDocument/2006/relationships/image" Target="../media/image35.emf"/><Relationship Id="rId10" Type="http://schemas.openxmlformats.org/officeDocument/2006/relationships/image" Target="../media/image17.emf"/><Relationship Id="rId19" Type="http://schemas.openxmlformats.org/officeDocument/2006/relationships/image" Target="../media/image26.emf"/><Relationship Id="rId4" Type="http://schemas.openxmlformats.org/officeDocument/2006/relationships/image" Target="../media/image11.emf"/><Relationship Id="rId9" Type="http://schemas.openxmlformats.org/officeDocument/2006/relationships/image" Target="../media/image16.emf"/><Relationship Id="rId14" Type="http://schemas.openxmlformats.org/officeDocument/2006/relationships/image" Target="../media/image21.emf"/><Relationship Id="rId22" Type="http://schemas.openxmlformats.org/officeDocument/2006/relationships/image" Target="../media/image29.emf"/><Relationship Id="rId27" Type="http://schemas.openxmlformats.org/officeDocument/2006/relationships/image" Target="../media/image3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6" Type="http://schemas.openxmlformats.org/officeDocument/2006/relationships/image" Target="../media/image55.emf"/><Relationship Id="rId11" Type="http://schemas.openxmlformats.org/officeDocument/2006/relationships/image" Target="../media/image60.emf"/><Relationship Id="rId5" Type="http://schemas.openxmlformats.org/officeDocument/2006/relationships/image" Target="../media/image54.emf"/><Relationship Id="rId10" Type="http://schemas.openxmlformats.org/officeDocument/2006/relationships/image" Target="../media/image59.emf"/><Relationship Id="rId4" Type="http://schemas.openxmlformats.org/officeDocument/2006/relationships/image" Target="../media/image53.emf"/><Relationship Id="rId9" Type="http://schemas.openxmlformats.org/officeDocument/2006/relationships/image" Target="../media/image58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image" Target="../media/image73.emf"/><Relationship Id="rId18" Type="http://schemas.openxmlformats.org/officeDocument/2006/relationships/image" Target="../media/image78.emf"/><Relationship Id="rId26" Type="http://schemas.openxmlformats.org/officeDocument/2006/relationships/image" Target="../media/image86.emf"/><Relationship Id="rId3" Type="http://schemas.openxmlformats.org/officeDocument/2006/relationships/image" Target="../media/image63.emf"/><Relationship Id="rId21" Type="http://schemas.openxmlformats.org/officeDocument/2006/relationships/image" Target="../media/image81.emf"/><Relationship Id="rId7" Type="http://schemas.openxmlformats.org/officeDocument/2006/relationships/image" Target="../media/image67.emf"/><Relationship Id="rId12" Type="http://schemas.openxmlformats.org/officeDocument/2006/relationships/image" Target="../media/image72.emf"/><Relationship Id="rId17" Type="http://schemas.openxmlformats.org/officeDocument/2006/relationships/image" Target="../media/image77.emf"/><Relationship Id="rId25" Type="http://schemas.openxmlformats.org/officeDocument/2006/relationships/image" Target="../media/image85.emf"/><Relationship Id="rId2" Type="http://schemas.openxmlformats.org/officeDocument/2006/relationships/image" Target="../media/image62.emf"/><Relationship Id="rId16" Type="http://schemas.openxmlformats.org/officeDocument/2006/relationships/image" Target="../media/image76.emf"/><Relationship Id="rId20" Type="http://schemas.openxmlformats.org/officeDocument/2006/relationships/image" Target="../media/image80.emf"/><Relationship Id="rId29" Type="http://schemas.openxmlformats.org/officeDocument/2006/relationships/image" Target="../media/image89.emf"/><Relationship Id="rId1" Type="http://schemas.openxmlformats.org/officeDocument/2006/relationships/image" Target="../media/image61.emf"/><Relationship Id="rId6" Type="http://schemas.openxmlformats.org/officeDocument/2006/relationships/image" Target="../media/image66.emf"/><Relationship Id="rId11" Type="http://schemas.openxmlformats.org/officeDocument/2006/relationships/image" Target="../media/image71.emf"/><Relationship Id="rId24" Type="http://schemas.openxmlformats.org/officeDocument/2006/relationships/image" Target="../media/image84.emf"/><Relationship Id="rId5" Type="http://schemas.openxmlformats.org/officeDocument/2006/relationships/image" Target="../media/image65.emf"/><Relationship Id="rId15" Type="http://schemas.openxmlformats.org/officeDocument/2006/relationships/image" Target="../media/image75.emf"/><Relationship Id="rId23" Type="http://schemas.openxmlformats.org/officeDocument/2006/relationships/image" Target="../media/image83.emf"/><Relationship Id="rId28" Type="http://schemas.openxmlformats.org/officeDocument/2006/relationships/image" Target="../media/image88.emf"/><Relationship Id="rId10" Type="http://schemas.openxmlformats.org/officeDocument/2006/relationships/image" Target="../media/image70.emf"/><Relationship Id="rId19" Type="http://schemas.openxmlformats.org/officeDocument/2006/relationships/image" Target="../media/image79.emf"/><Relationship Id="rId4" Type="http://schemas.openxmlformats.org/officeDocument/2006/relationships/image" Target="../media/image64.emf"/><Relationship Id="rId9" Type="http://schemas.openxmlformats.org/officeDocument/2006/relationships/image" Target="../media/image69.emf"/><Relationship Id="rId14" Type="http://schemas.openxmlformats.org/officeDocument/2006/relationships/image" Target="../media/image74.emf"/><Relationship Id="rId22" Type="http://schemas.openxmlformats.org/officeDocument/2006/relationships/image" Target="../media/image82.emf"/><Relationship Id="rId27" Type="http://schemas.openxmlformats.org/officeDocument/2006/relationships/image" Target="../media/image87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3" Type="http://schemas.openxmlformats.org/officeDocument/2006/relationships/image" Target="../media/image92.emf"/><Relationship Id="rId7" Type="http://schemas.openxmlformats.org/officeDocument/2006/relationships/image" Target="../media/image96.emf"/><Relationship Id="rId2" Type="http://schemas.openxmlformats.org/officeDocument/2006/relationships/image" Target="../media/image91.emf"/><Relationship Id="rId1" Type="http://schemas.openxmlformats.org/officeDocument/2006/relationships/image" Target="../media/image90.emf"/><Relationship Id="rId6" Type="http://schemas.openxmlformats.org/officeDocument/2006/relationships/image" Target="../media/image95.emf"/><Relationship Id="rId5" Type="http://schemas.openxmlformats.org/officeDocument/2006/relationships/image" Target="../media/image94.emf"/><Relationship Id="rId4" Type="http://schemas.openxmlformats.org/officeDocument/2006/relationships/image" Target="../media/image93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image" Target="../media/image98.emf"/><Relationship Id="rId6" Type="http://schemas.openxmlformats.org/officeDocument/2006/relationships/image" Target="../media/image103.emf"/><Relationship Id="rId5" Type="http://schemas.openxmlformats.org/officeDocument/2006/relationships/image" Target="../media/image102.emf"/><Relationship Id="rId4" Type="http://schemas.openxmlformats.org/officeDocument/2006/relationships/image" Target="../media/image101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13" Type="http://schemas.openxmlformats.org/officeDocument/2006/relationships/image" Target="../media/image116.emf"/><Relationship Id="rId3" Type="http://schemas.openxmlformats.org/officeDocument/2006/relationships/image" Target="../media/image106.emf"/><Relationship Id="rId7" Type="http://schemas.openxmlformats.org/officeDocument/2006/relationships/image" Target="../media/image110.emf"/><Relationship Id="rId12" Type="http://schemas.openxmlformats.org/officeDocument/2006/relationships/image" Target="../media/image115.emf"/><Relationship Id="rId2" Type="http://schemas.openxmlformats.org/officeDocument/2006/relationships/image" Target="../media/image105.emf"/><Relationship Id="rId1" Type="http://schemas.openxmlformats.org/officeDocument/2006/relationships/image" Target="../media/image104.emf"/><Relationship Id="rId6" Type="http://schemas.openxmlformats.org/officeDocument/2006/relationships/image" Target="../media/image109.emf"/><Relationship Id="rId11" Type="http://schemas.openxmlformats.org/officeDocument/2006/relationships/image" Target="../media/image114.emf"/><Relationship Id="rId5" Type="http://schemas.openxmlformats.org/officeDocument/2006/relationships/image" Target="../media/image108.emf"/><Relationship Id="rId10" Type="http://schemas.openxmlformats.org/officeDocument/2006/relationships/image" Target="../media/image113.emf"/><Relationship Id="rId4" Type="http://schemas.openxmlformats.org/officeDocument/2006/relationships/image" Target="../media/image107.emf"/><Relationship Id="rId9" Type="http://schemas.openxmlformats.org/officeDocument/2006/relationships/image" Target="../media/image112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13" Type="http://schemas.openxmlformats.org/officeDocument/2006/relationships/image" Target="../media/image131.emf"/><Relationship Id="rId3" Type="http://schemas.openxmlformats.org/officeDocument/2006/relationships/image" Target="../media/image121.emf"/><Relationship Id="rId7" Type="http://schemas.openxmlformats.org/officeDocument/2006/relationships/image" Target="../media/image125.emf"/><Relationship Id="rId12" Type="http://schemas.openxmlformats.org/officeDocument/2006/relationships/image" Target="../media/image130.emf"/><Relationship Id="rId17" Type="http://schemas.openxmlformats.org/officeDocument/2006/relationships/image" Target="../media/image135.emf"/><Relationship Id="rId2" Type="http://schemas.openxmlformats.org/officeDocument/2006/relationships/image" Target="../media/image120.emf"/><Relationship Id="rId16" Type="http://schemas.openxmlformats.org/officeDocument/2006/relationships/image" Target="../media/image134.emf"/><Relationship Id="rId1" Type="http://schemas.openxmlformats.org/officeDocument/2006/relationships/image" Target="../media/image119.emf"/><Relationship Id="rId6" Type="http://schemas.openxmlformats.org/officeDocument/2006/relationships/image" Target="../media/image124.emf"/><Relationship Id="rId11" Type="http://schemas.openxmlformats.org/officeDocument/2006/relationships/image" Target="../media/image129.emf"/><Relationship Id="rId5" Type="http://schemas.openxmlformats.org/officeDocument/2006/relationships/image" Target="../media/image123.emf"/><Relationship Id="rId15" Type="http://schemas.openxmlformats.org/officeDocument/2006/relationships/image" Target="../media/image133.emf"/><Relationship Id="rId10" Type="http://schemas.openxmlformats.org/officeDocument/2006/relationships/image" Target="../media/image128.emf"/><Relationship Id="rId4" Type="http://schemas.openxmlformats.org/officeDocument/2006/relationships/image" Target="../media/image122.emf"/><Relationship Id="rId9" Type="http://schemas.openxmlformats.org/officeDocument/2006/relationships/image" Target="../media/image127.emf"/><Relationship Id="rId14" Type="http://schemas.openxmlformats.org/officeDocument/2006/relationships/image" Target="../media/image132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emf"/><Relationship Id="rId3" Type="http://schemas.openxmlformats.org/officeDocument/2006/relationships/image" Target="../media/image139.emf"/><Relationship Id="rId7" Type="http://schemas.openxmlformats.org/officeDocument/2006/relationships/image" Target="../media/image143.emf"/><Relationship Id="rId2" Type="http://schemas.openxmlformats.org/officeDocument/2006/relationships/image" Target="../media/image138.emf"/><Relationship Id="rId1" Type="http://schemas.openxmlformats.org/officeDocument/2006/relationships/image" Target="../media/image137.emf"/><Relationship Id="rId6" Type="http://schemas.openxmlformats.org/officeDocument/2006/relationships/image" Target="../media/image142.emf"/><Relationship Id="rId5" Type="http://schemas.openxmlformats.org/officeDocument/2006/relationships/image" Target="../media/image141.emf"/><Relationship Id="rId4" Type="http://schemas.openxmlformats.org/officeDocument/2006/relationships/image" Target="../media/image140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emf"/><Relationship Id="rId3" Type="http://schemas.openxmlformats.org/officeDocument/2006/relationships/image" Target="../media/image149.emf"/><Relationship Id="rId7" Type="http://schemas.openxmlformats.org/officeDocument/2006/relationships/image" Target="../media/image153.emf"/><Relationship Id="rId2" Type="http://schemas.openxmlformats.org/officeDocument/2006/relationships/image" Target="../media/image148.emf"/><Relationship Id="rId1" Type="http://schemas.openxmlformats.org/officeDocument/2006/relationships/image" Target="../media/image147.emf"/><Relationship Id="rId6" Type="http://schemas.openxmlformats.org/officeDocument/2006/relationships/image" Target="../media/image152.emf"/><Relationship Id="rId5" Type="http://schemas.openxmlformats.org/officeDocument/2006/relationships/image" Target="../media/image151.emf"/><Relationship Id="rId4" Type="http://schemas.openxmlformats.org/officeDocument/2006/relationships/image" Target="../media/image150.emf"/><Relationship Id="rId9" Type="http://schemas.openxmlformats.org/officeDocument/2006/relationships/image" Target="../media/image155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emf"/><Relationship Id="rId13" Type="http://schemas.openxmlformats.org/officeDocument/2006/relationships/image" Target="../media/image168.emf"/><Relationship Id="rId3" Type="http://schemas.openxmlformats.org/officeDocument/2006/relationships/image" Target="../media/image158.emf"/><Relationship Id="rId7" Type="http://schemas.openxmlformats.org/officeDocument/2006/relationships/image" Target="../media/image162.emf"/><Relationship Id="rId12" Type="http://schemas.openxmlformats.org/officeDocument/2006/relationships/image" Target="../media/image167.emf"/><Relationship Id="rId17" Type="http://schemas.openxmlformats.org/officeDocument/2006/relationships/image" Target="../media/image172.emf"/><Relationship Id="rId2" Type="http://schemas.openxmlformats.org/officeDocument/2006/relationships/image" Target="../media/image157.emf"/><Relationship Id="rId16" Type="http://schemas.openxmlformats.org/officeDocument/2006/relationships/image" Target="../media/image171.emf"/><Relationship Id="rId1" Type="http://schemas.openxmlformats.org/officeDocument/2006/relationships/image" Target="../media/image156.emf"/><Relationship Id="rId6" Type="http://schemas.openxmlformats.org/officeDocument/2006/relationships/image" Target="../media/image161.emf"/><Relationship Id="rId11" Type="http://schemas.openxmlformats.org/officeDocument/2006/relationships/image" Target="../media/image166.emf"/><Relationship Id="rId5" Type="http://schemas.openxmlformats.org/officeDocument/2006/relationships/image" Target="../media/image160.emf"/><Relationship Id="rId15" Type="http://schemas.openxmlformats.org/officeDocument/2006/relationships/image" Target="../media/image170.emf"/><Relationship Id="rId10" Type="http://schemas.openxmlformats.org/officeDocument/2006/relationships/image" Target="../media/image165.emf"/><Relationship Id="rId4" Type="http://schemas.openxmlformats.org/officeDocument/2006/relationships/image" Target="../media/image159.emf"/><Relationship Id="rId9" Type="http://schemas.openxmlformats.org/officeDocument/2006/relationships/image" Target="../media/image164.emf"/><Relationship Id="rId14" Type="http://schemas.openxmlformats.org/officeDocument/2006/relationships/image" Target="../media/image169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emf"/><Relationship Id="rId13" Type="http://schemas.openxmlformats.org/officeDocument/2006/relationships/image" Target="../media/image185.emf"/><Relationship Id="rId18" Type="http://schemas.openxmlformats.org/officeDocument/2006/relationships/image" Target="../media/image190.emf"/><Relationship Id="rId3" Type="http://schemas.openxmlformats.org/officeDocument/2006/relationships/image" Target="../media/image175.emf"/><Relationship Id="rId21" Type="http://schemas.openxmlformats.org/officeDocument/2006/relationships/image" Target="../media/image193.emf"/><Relationship Id="rId7" Type="http://schemas.openxmlformats.org/officeDocument/2006/relationships/image" Target="../media/image179.emf"/><Relationship Id="rId12" Type="http://schemas.openxmlformats.org/officeDocument/2006/relationships/image" Target="../media/image184.emf"/><Relationship Id="rId17" Type="http://schemas.openxmlformats.org/officeDocument/2006/relationships/image" Target="../media/image189.emf"/><Relationship Id="rId2" Type="http://schemas.openxmlformats.org/officeDocument/2006/relationships/image" Target="../media/image174.emf"/><Relationship Id="rId16" Type="http://schemas.openxmlformats.org/officeDocument/2006/relationships/image" Target="../media/image188.emf"/><Relationship Id="rId20" Type="http://schemas.openxmlformats.org/officeDocument/2006/relationships/image" Target="../media/image192.emf"/><Relationship Id="rId1" Type="http://schemas.openxmlformats.org/officeDocument/2006/relationships/image" Target="../media/image173.emf"/><Relationship Id="rId6" Type="http://schemas.openxmlformats.org/officeDocument/2006/relationships/image" Target="../media/image178.emf"/><Relationship Id="rId11" Type="http://schemas.openxmlformats.org/officeDocument/2006/relationships/image" Target="../media/image183.emf"/><Relationship Id="rId5" Type="http://schemas.openxmlformats.org/officeDocument/2006/relationships/image" Target="../media/image177.emf"/><Relationship Id="rId15" Type="http://schemas.openxmlformats.org/officeDocument/2006/relationships/image" Target="../media/image187.emf"/><Relationship Id="rId10" Type="http://schemas.openxmlformats.org/officeDocument/2006/relationships/image" Target="../media/image182.emf"/><Relationship Id="rId19" Type="http://schemas.openxmlformats.org/officeDocument/2006/relationships/image" Target="../media/image191.emf"/><Relationship Id="rId4" Type="http://schemas.openxmlformats.org/officeDocument/2006/relationships/image" Target="../media/image176.emf"/><Relationship Id="rId9" Type="http://schemas.openxmlformats.org/officeDocument/2006/relationships/image" Target="../media/image181.emf"/><Relationship Id="rId14" Type="http://schemas.openxmlformats.org/officeDocument/2006/relationships/image" Target="../media/image186.emf"/><Relationship Id="rId22" Type="http://schemas.openxmlformats.org/officeDocument/2006/relationships/image" Target="../media/image194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emf"/><Relationship Id="rId3" Type="http://schemas.openxmlformats.org/officeDocument/2006/relationships/image" Target="../media/image197.emf"/><Relationship Id="rId7" Type="http://schemas.openxmlformats.org/officeDocument/2006/relationships/image" Target="../media/image201.emf"/><Relationship Id="rId2" Type="http://schemas.openxmlformats.org/officeDocument/2006/relationships/image" Target="../media/image196.emf"/><Relationship Id="rId1" Type="http://schemas.openxmlformats.org/officeDocument/2006/relationships/image" Target="../media/image195.emf"/><Relationship Id="rId6" Type="http://schemas.openxmlformats.org/officeDocument/2006/relationships/image" Target="../media/image200.emf"/><Relationship Id="rId11" Type="http://schemas.openxmlformats.org/officeDocument/2006/relationships/image" Target="../media/image205.emf"/><Relationship Id="rId5" Type="http://schemas.openxmlformats.org/officeDocument/2006/relationships/image" Target="../media/image199.emf"/><Relationship Id="rId10" Type="http://schemas.openxmlformats.org/officeDocument/2006/relationships/image" Target="../media/image204.emf"/><Relationship Id="rId4" Type="http://schemas.openxmlformats.org/officeDocument/2006/relationships/image" Target="../media/image198.emf"/><Relationship Id="rId9" Type="http://schemas.openxmlformats.org/officeDocument/2006/relationships/image" Target="../media/image203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emf"/><Relationship Id="rId13" Type="http://schemas.openxmlformats.org/officeDocument/2006/relationships/image" Target="../media/image228.emf"/><Relationship Id="rId3" Type="http://schemas.openxmlformats.org/officeDocument/2006/relationships/image" Target="../media/image218.emf"/><Relationship Id="rId7" Type="http://schemas.openxmlformats.org/officeDocument/2006/relationships/image" Target="../media/image222.emf"/><Relationship Id="rId12" Type="http://schemas.openxmlformats.org/officeDocument/2006/relationships/image" Target="../media/image227.emf"/><Relationship Id="rId17" Type="http://schemas.openxmlformats.org/officeDocument/2006/relationships/image" Target="../media/image170.emf"/><Relationship Id="rId2" Type="http://schemas.openxmlformats.org/officeDocument/2006/relationships/image" Target="../media/image217.emf"/><Relationship Id="rId16" Type="http://schemas.openxmlformats.org/officeDocument/2006/relationships/image" Target="../media/image169.emf"/><Relationship Id="rId1" Type="http://schemas.openxmlformats.org/officeDocument/2006/relationships/image" Target="../media/image216.emf"/><Relationship Id="rId6" Type="http://schemas.openxmlformats.org/officeDocument/2006/relationships/image" Target="../media/image221.emf"/><Relationship Id="rId11" Type="http://schemas.openxmlformats.org/officeDocument/2006/relationships/image" Target="../media/image226.emf"/><Relationship Id="rId5" Type="http://schemas.openxmlformats.org/officeDocument/2006/relationships/image" Target="../media/image220.emf"/><Relationship Id="rId15" Type="http://schemas.openxmlformats.org/officeDocument/2006/relationships/image" Target="../media/image230.emf"/><Relationship Id="rId10" Type="http://schemas.openxmlformats.org/officeDocument/2006/relationships/image" Target="../media/image225.emf"/><Relationship Id="rId4" Type="http://schemas.openxmlformats.org/officeDocument/2006/relationships/image" Target="../media/image219.emf"/><Relationship Id="rId9" Type="http://schemas.openxmlformats.org/officeDocument/2006/relationships/image" Target="../media/image224.emf"/><Relationship Id="rId14" Type="http://schemas.openxmlformats.org/officeDocument/2006/relationships/image" Target="../media/image229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emf"/><Relationship Id="rId13" Type="http://schemas.openxmlformats.org/officeDocument/2006/relationships/image" Target="../media/image243.emf"/><Relationship Id="rId3" Type="http://schemas.openxmlformats.org/officeDocument/2006/relationships/image" Target="../media/image233.emf"/><Relationship Id="rId7" Type="http://schemas.openxmlformats.org/officeDocument/2006/relationships/image" Target="../media/image237.emf"/><Relationship Id="rId12" Type="http://schemas.openxmlformats.org/officeDocument/2006/relationships/image" Target="../media/image242.emf"/><Relationship Id="rId2" Type="http://schemas.openxmlformats.org/officeDocument/2006/relationships/image" Target="../media/image232.emf"/><Relationship Id="rId1" Type="http://schemas.openxmlformats.org/officeDocument/2006/relationships/image" Target="../media/image231.emf"/><Relationship Id="rId6" Type="http://schemas.openxmlformats.org/officeDocument/2006/relationships/image" Target="../media/image236.emf"/><Relationship Id="rId11" Type="http://schemas.openxmlformats.org/officeDocument/2006/relationships/image" Target="../media/image241.emf"/><Relationship Id="rId5" Type="http://schemas.openxmlformats.org/officeDocument/2006/relationships/image" Target="../media/image235.emf"/><Relationship Id="rId15" Type="http://schemas.openxmlformats.org/officeDocument/2006/relationships/image" Target="../media/image245.emf"/><Relationship Id="rId10" Type="http://schemas.openxmlformats.org/officeDocument/2006/relationships/image" Target="../media/image240.emf"/><Relationship Id="rId4" Type="http://schemas.openxmlformats.org/officeDocument/2006/relationships/image" Target="../media/image234.emf"/><Relationship Id="rId9" Type="http://schemas.openxmlformats.org/officeDocument/2006/relationships/image" Target="../media/image239.emf"/><Relationship Id="rId14" Type="http://schemas.openxmlformats.org/officeDocument/2006/relationships/image" Target="../media/image24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B9E8CC01-52DB-4A19-983F-313D1138385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13B38F7-634A-43C6-A4E3-15B55EA98998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12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2BAF63B-B615-40C9-846A-E8436EC144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A7C2FC00-4674-45EC-B3A4-D96835B47F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b="1">
              <a:solidFill>
                <a:srgbClr val="66FFFF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49F7988C-904C-4EDC-9F5D-FEC728CC719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553E6F0-9659-477A-9129-18642C6A313E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13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719C9A2-9340-4A76-8015-BDA298825D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1A7ACA27-490D-4889-AC36-AF3F2E912F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0542FBFC-F687-49D5-B4F8-2E1B8399870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420639D-E1E3-4478-BB78-AC114A249826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14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0F6735D-4AC5-465A-9468-0749D16DB9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8F243DF2-702C-4BA2-9BBA-DDA376E95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45B2FDAF-3F23-4D1E-8C7B-7A87BF0A9DB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50F1762-B9E3-442D-BF1F-A3D3A21D10E1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17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3CF7E193-DA8C-4FCC-A3B7-C6195796FF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FD980265-D08D-4309-8E27-9AC0BC6E3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5299A79E-7E06-447C-AF6B-451B795981F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8ED682B-D86E-4B21-A22F-B2A472597929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18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E7A039AC-1DD5-4C5B-958C-83001317C6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EAAF7A6B-DDB1-4D9D-831F-28347DDE1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A553AF7C-3740-45EF-BE32-D1C40DA86A7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374FC6D-9408-46B1-A896-8F773790EFFA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19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C814921-B008-4135-8860-E84E962470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A3D229B1-34DF-4E3A-BC7E-8E53E3BD0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634A646E-2478-4DAE-9A28-A4158E9081A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0C43063-E2B1-413F-BE8B-1838871DA38F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20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EB8C035-3D98-464F-81C6-75CC39A38F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83080A41-D8B4-4916-9DBD-DC57074573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image" Target="../media/image6.gi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5.emf"/><Relationship Id="rId26" Type="http://schemas.openxmlformats.org/officeDocument/2006/relationships/image" Target="../media/image19.emf"/><Relationship Id="rId39" Type="http://schemas.openxmlformats.org/officeDocument/2006/relationships/oleObject" Target="../embeddings/oleObject23.bin"/><Relationship Id="rId21" Type="http://schemas.openxmlformats.org/officeDocument/2006/relationships/oleObject" Target="../embeddings/oleObject14.bin"/><Relationship Id="rId34" Type="http://schemas.openxmlformats.org/officeDocument/2006/relationships/image" Target="../media/image23.emf"/><Relationship Id="rId42" Type="http://schemas.openxmlformats.org/officeDocument/2006/relationships/image" Target="../media/image27.emf"/><Relationship Id="rId47" Type="http://schemas.openxmlformats.org/officeDocument/2006/relationships/oleObject" Target="../embeddings/oleObject27.bin"/><Relationship Id="rId50" Type="http://schemas.openxmlformats.org/officeDocument/2006/relationships/image" Target="../media/image31.emf"/><Relationship Id="rId55" Type="http://schemas.openxmlformats.org/officeDocument/2006/relationships/oleObject" Target="../embeddings/oleObject31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emf"/><Relationship Id="rId29" Type="http://schemas.openxmlformats.org/officeDocument/2006/relationships/oleObject" Target="../embeddings/oleObject18.bin"/><Relationship Id="rId11" Type="http://schemas.openxmlformats.org/officeDocument/2006/relationships/oleObject" Target="../embeddings/oleObject9.bin"/><Relationship Id="rId24" Type="http://schemas.openxmlformats.org/officeDocument/2006/relationships/image" Target="../media/image18.emf"/><Relationship Id="rId32" Type="http://schemas.openxmlformats.org/officeDocument/2006/relationships/image" Target="../media/image22.emf"/><Relationship Id="rId37" Type="http://schemas.openxmlformats.org/officeDocument/2006/relationships/oleObject" Target="../embeddings/oleObject22.bin"/><Relationship Id="rId40" Type="http://schemas.openxmlformats.org/officeDocument/2006/relationships/image" Target="../media/image26.emf"/><Relationship Id="rId45" Type="http://schemas.openxmlformats.org/officeDocument/2006/relationships/oleObject" Target="../embeddings/oleObject26.bin"/><Relationship Id="rId53" Type="http://schemas.openxmlformats.org/officeDocument/2006/relationships/oleObject" Target="../embeddings/oleObject30.bin"/><Relationship Id="rId58" Type="http://schemas.openxmlformats.org/officeDocument/2006/relationships/image" Target="../media/image35.emf"/><Relationship Id="rId5" Type="http://schemas.openxmlformats.org/officeDocument/2006/relationships/oleObject" Target="../embeddings/oleObject6.bin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8.e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3.emf"/><Relationship Id="rId22" Type="http://schemas.openxmlformats.org/officeDocument/2006/relationships/image" Target="../media/image17.emf"/><Relationship Id="rId27" Type="http://schemas.openxmlformats.org/officeDocument/2006/relationships/oleObject" Target="../embeddings/oleObject17.bin"/><Relationship Id="rId30" Type="http://schemas.openxmlformats.org/officeDocument/2006/relationships/image" Target="../media/image21.emf"/><Relationship Id="rId35" Type="http://schemas.openxmlformats.org/officeDocument/2006/relationships/oleObject" Target="../embeddings/oleObject21.bin"/><Relationship Id="rId43" Type="http://schemas.openxmlformats.org/officeDocument/2006/relationships/oleObject" Target="../embeddings/oleObject25.bin"/><Relationship Id="rId48" Type="http://schemas.openxmlformats.org/officeDocument/2006/relationships/image" Target="../media/image30.emf"/><Relationship Id="rId56" Type="http://schemas.openxmlformats.org/officeDocument/2006/relationships/image" Target="../media/image34.emf"/><Relationship Id="rId8" Type="http://schemas.openxmlformats.org/officeDocument/2006/relationships/image" Target="../media/image10.emf"/><Relationship Id="rId51" Type="http://schemas.openxmlformats.org/officeDocument/2006/relationships/oleObject" Target="../embeddings/oleObject29.bin"/><Relationship Id="rId3" Type="http://schemas.openxmlformats.org/officeDocument/2006/relationships/oleObject" Target="../embeddings/oleObject5.bin"/><Relationship Id="rId12" Type="http://schemas.openxmlformats.org/officeDocument/2006/relationships/image" Target="../media/image12.emf"/><Relationship Id="rId17" Type="http://schemas.openxmlformats.org/officeDocument/2006/relationships/oleObject" Target="../embeddings/oleObject12.bin"/><Relationship Id="rId25" Type="http://schemas.openxmlformats.org/officeDocument/2006/relationships/oleObject" Target="../embeddings/oleObject16.bin"/><Relationship Id="rId33" Type="http://schemas.openxmlformats.org/officeDocument/2006/relationships/oleObject" Target="../embeddings/oleObject20.bin"/><Relationship Id="rId38" Type="http://schemas.openxmlformats.org/officeDocument/2006/relationships/image" Target="../media/image25.emf"/><Relationship Id="rId46" Type="http://schemas.openxmlformats.org/officeDocument/2006/relationships/image" Target="../media/image29.emf"/><Relationship Id="rId20" Type="http://schemas.openxmlformats.org/officeDocument/2006/relationships/image" Target="../media/image16.emf"/><Relationship Id="rId41" Type="http://schemas.openxmlformats.org/officeDocument/2006/relationships/oleObject" Target="../embeddings/oleObject24.bin"/><Relationship Id="rId54" Type="http://schemas.openxmlformats.org/officeDocument/2006/relationships/image" Target="../media/image33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15" Type="http://schemas.openxmlformats.org/officeDocument/2006/relationships/oleObject" Target="../embeddings/oleObject11.bin"/><Relationship Id="rId23" Type="http://schemas.openxmlformats.org/officeDocument/2006/relationships/oleObject" Target="../embeddings/oleObject15.bin"/><Relationship Id="rId28" Type="http://schemas.openxmlformats.org/officeDocument/2006/relationships/image" Target="../media/image20.emf"/><Relationship Id="rId36" Type="http://schemas.openxmlformats.org/officeDocument/2006/relationships/image" Target="../media/image24.emf"/><Relationship Id="rId49" Type="http://schemas.openxmlformats.org/officeDocument/2006/relationships/oleObject" Target="../embeddings/oleObject28.bin"/><Relationship Id="rId57" Type="http://schemas.openxmlformats.org/officeDocument/2006/relationships/oleObject" Target="../embeddings/oleObject32.bin"/><Relationship Id="rId10" Type="http://schemas.openxmlformats.org/officeDocument/2006/relationships/image" Target="../media/image11.emf"/><Relationship Id="rId31" Type="http://schemas.openxmlformats.org/officeDocument/2006/relationships/oleObject" Target="../embeddings/oleObject19.bin"/><Relationship Id="rId44" Type="http://schemas.openxmlformats.org/officeDocument/2006/relationships/image" Target="../media/image28.emf"/><Relationship Id="rId52" Type="http://schemas.openxmlformats.org/officeDocument/2006/relationships/image" Target="../media/image3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39.jpeg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8.emf"/><Relationship Id="rId4" Type="http://schemas.openxmlformats.org/officeDocument/2006/relationships/image" Target="../media/image40.jpeg"/><Relationship Id="rId9" Type="http://schemas.openxmlformats.org/officeDocument/2006/relationships/oleObject" Target="../embeddings/oleObject3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image" Target="../media/image48.gi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5.emf"/><Relationship Id="rId17" Type="http://schemas.openxmlformats.org/officeDocument/2006/relationships/image" Target="../media/image4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2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42.e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image" Target="../media/image46.emf"/><Relationship Id="rId10" Type="http://schemas.openxmlformats.org/officeDocument/2006/relationships/image" Target="../media/image44.emf"/><Relationship Id="rId4" Type="http://schemas.openxmlformats.org/officeDocument/2006/relationships/image" Target="../media/image41.emf"/><Relationship Id="rId9" Type="http://schemas.openxmlformats.org/officeDocument/2006/relationships/oleObject" Target="../embeddings/oleObject39.bin"/><Relationship Id="rId14" Type="http://schemas.openxmlformats.org/officeDocument/2006/relationships/oleObject" Target="../embeddings/oleObject4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54.emf"/><Relationship Id="rId18" Type="http://schemas.openxmlformats.org/officeDocument/2006/relationships/oleObject" Target="../embeddings/oleObject50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58.emf"/><Relationship Id="rId7" Type="http://schemas.openxmlformats.org/officeDocument/2006/relationships/image" Target="../media/image51.emf"/><Relationship Id="rId12" Type="http://schemas.openxmlformats.org/officeDocument/2006/relationships/oleObject" Target="../embeddings/oleObject47.bin"/><Relationship Id="rId17" Type="http://schemas.openxmlformats.org/officeDocument/2006/relationships/image" Target="../media/image56.emf"/><Relationship Id="rId25" Type="http://schemas.openxmlformats.org/officeDocument/2006/relationships/image" Target="../media/image6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9.bin"/><Relationship Id="rId20" Type="http://schemas.openxmlformats.org/officeDocument/2006/relationships/oleObject" Target="../embeddings/oleObject51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3.emf"/><Relationship Id="rId24" Type="http://schemas.openxmlformats.org/officeDocument/2006/relationships/oleObject" Target="../embeddings/oleObject53.bin"/><Relationship Id="rId5" Type="http://schemas.openxmlformats.org/officeDocument/2006/relationships/image" Target="../media/image50.emf"/><Relationship Id="rId15" Type="http://schemas.openxmlformats.org/officeDocument/2006/relationships/image" Target="../media/image55.emf"/><Relationship Id="rId23" Type="http://schemas.openxmlformats.org/officeDocument/2006/relationships/image" Target="../media/image59.emf"/><Relationship Id="rId10" Type="http://schemas.openxmlformats.org/officeDocument/2006/relationships/oleObject" Target="../embeddings/oleObject46.bin"/><Relationship Id="rId19" Type="http://schemas.openxmlformats.org/officeDocument/2006/relationships/image" Target="../media/image57.e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52.emf"/><Relationship Id="rId14" Type="http://schemas.openxmlformats.org/officeDocument/2006/relationships/oleObject" Target="../embeddings/oleObject48.bin"/><Relationship Id="rId22" Type="http://schemas.openxmlformats.org/officeDocument/2006/relationships/oleObject" Target="../embeddings/oleObject52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emf"/><Relationship Id="rId18" Type="http://schemas.openxmlformats.org/officeDocument/2006/relationships/oleObject" Target="../embeddings/oleObject61.bin"/><Relationship Id="rId26" Type="http://schemas.openxmlformats.org/officeDocument/2006/relationships/oleObject" Target="../embeddings/oleObject65.bin"/><Relationship Id="rId39" Type="http://schemas.openxmlformats.org/officeDocument/2006/relationships/image" Target="../media/image78.emf"/><Relationship Id="rId21" Type="http://schemas.openxmlformats.org/officeDocument/2006/relationships/image" Target="../media/image69.emf"/><Relationship Id="rId34" Type="http://schemas.openxmlformats.org/officeDocument/2006/relationships/oleObject" Target="../embeddings/oleObject69.bin"/><Relationship Id="rId42" Type="http://schemas.openxmlformats.org/officeDocument/2006/relationships/oleObject" Target="../embeddings/oleObject73.bin"/><Relationship Id="rId47" Type="http://schemas.openxmlformats.org/officeDocument/2006/relationships/image" Target="../media/image82.emf"/><Relationship Id="rId50" Type="http://schemas.openxmlformats.org/officeDocument/2006/relationships/oleObject" Target="../embeddings/oleObject77.bin"/><Relationship Id="rId55" Type="http://schemas.openxmlformats.org/officeDocument/2006/relationships/image" Target="../media/image86.emf"/><Relationship Id="rId7" Type="http://schemas.openxmlformats.org/officeDocument/2006/relationships/image" Target="../media/image6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0.bin"/><Relationship Id="rId29" Type="http://schemas.openxmlformats.org/officeDocument/2006/relationships/image" Target="../media/image73.emf"/><Relationship Id="rId11" Type="http://schemas.openxmlformats.org/officeDocument/2006/relationships/image" Target="../media/image64.emf"/><Relationship Id="rId24" Type="http://schemas.openxmlformats.org/officeDocument/2006/relationships/oleObject" Target="../embeddings/oleObject64.bin"/><Relationship Id="rId32" Type="http://schemas.openxmlformats.org/officeDocument/2006/relationships/oleObject" Target="../embeddings/oleObject68.bin"/><Relationship Id="rId37" Type="http://schemas.openxmlformats.org/officeDocument/2006/relationships/image" Target="../media/image77.emf"/><Relationship Id="rId40" Type="http://schemas.openxmlformats.org/officeDocument/2006/relationships/oleObject" Target="../embeddings/oleObject72.bin"/><Relationship Id="rId45" Type="http://schemas.openxmlformats.org/officeDocument/2006/relationships/image" Target="../media/image81.emf"/><Relationship Id="rId53" Type="http://schemas.openxmlformats.org/officeDocument/2006/relationships/image" Target="../media/image85.emf"/><Relationship Id="rId58" Type="http://schemas.openxmlformats.org/officeDocument/2006/relationships/oleObject" Target="../embeddings/oleObject81.bin"/><Relationship Id="rId5" Type="http://schemas.openxmlformats.org/officeDocument/2006/relationships/image" Target="../media/image61.emf"/><Relationship Id="rId61" Type="http://schemas.openxmlformats.org/officeDocument/2006/relationships/image" Target="../media/image89.emf"/><Relationship Id="rId19" Type="http://schemas.openxmlformats.org/officeDocument/2006/relationships/image" Target="../media/image68.emf"/><Relationship Id="rId14" Type="http://schemas.openxmlformats.org/officeDocument/2006/relationships/oleObject" Target="../embeddings/oleObject59.bin"/><Relationship Id="rId22" Type="http://schemas.openxmlformats.org/officeDocument/2006/relationships/oleObject" Target="../embeddings/oleObject63.bin"/><Relationship Id="rId27" Type="http://schemas.openxmlformats.org/officeDocument/2006/relationships/image" Target="../media/image72.emf"/><Relationship Id="rId30" Type="http://schemas.openxmlformats.org/officeDocument/2006/relationships/oleObject" Target="../embeddings/oleObject67.bin"/><Relationship Id="rId35" Type="http://schemas.openxmlformats.org/officeDocument/2006/relationships/image" Target="../media/image76.emf"/><Relationship Id="rId43" Type="http://schemas.openxmlformats.org/officeDocument/2006/relationships/image" Target="../media/image80.emf"/><Relationship Id="rId48" Type="http://schemas.openxmlformats.org/officeDocument/2006/relationships/oleObject" Target="../embeddings/oleObject76.bin"/><Relationship Id="rId56" Type="http://schemas.openxmlformats.org/officeDocument/2006/relationships/oleObject" Target="../embeddings/oleObject80.bin"/><Relationship Id="rId8" Type="http://schemas.openxmlformats.org/officeDocument/2006/relationships/oleObject" Target="../embeddings/oleObject56.bin"/><Relationship Id="rId51" Type="http://schemas.openxmlformats.org/officeDocument/2006/relationships/image" Target="../media/image84.emf"/><Relationship Id="rId3" Type="http://schemas.openxmlformats.org/officeDocument/2006/relationships/notesSlide" Target="../notesSlides/notesSlide3.xml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67.emf"/><Relationship Id="rId25" Type="http://schemas.openxmlformats.org/officeDocument/2006/relationships/image" Target="../media/image71.emf"/><Relationship Id="rId33" Type="http://schemas.openxmlformats.org/officeDocument/2006/relationships/image" Target="../media/image75.emf"/><Relationship Id="rId38" Type="http://schemas.openxmlformats.org/officeDocument/2006/relationships/oleObject" Target="../embeddings/oleObject71.bin"/><Relationship Id="rId46" Type="http://schemas.openxmlformats.org/officeDocument/2006/relationships/oleObject" Target="../embeddings/oleObject75.bin"/><Relationship Id="rId59" Type="http://schemas.openxmlformats.org/officeDocument/2006/relationships/image" Target="../media/image88.emf"/><Relationship Id="rId20" Type="http://schemas.openxmlformats.org/officeDocument/2006/relationships/oleObject" Target="../embeddings/oleObject62.bin"/><Relationship Id="rId41" Type="http://schemas.openxmlformats.org/officeDocument/2006/relationships/image" Target="../media/image79.emf"/><Relationship Id="rId54" Type="http://schemas.openxmlformats.org/officeDocument/2006/relationships/oleObject" Target="../embeddings/oleObject79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55.bin"/><Relationship Id="rId15" Type="http://schemas.openxmlformats.org/officeDocument/2006/relationships/image" Target="../media/image66.emf"/><Relationship Id="rId23" Type="http://schemas.openxmlformats.org/officeDocument/2006/relationships/image" Target="../media/image70.emf"/><Relationship Id="rId28" Type="http://schemas.openxmlformats.org/officeDocument/2006/relationships/oleObject" Target="../embeddings/oleObject66.bin"/><Relationship Id="rId36" Type="http://schemas.openxmlformats.org/officeDocument/2006/relationships/oleObject" Target="../embeddings/oleObject70.bin"/><Relationship Id="rId49" Type="http://schemas.openxmlformats.org/officeDocument/2006/relationships/image" Target="../media/image83.emf"/><Relationship Id="rId57" Type="http://schemas.openxmlformats.org/officeDocument/2006/relationships/image" Target="../media/image87.emf"/><Relationship Id="rId10" Type="http://schemas.openxmlformats.org/officeDocument/2006/relationships/oleObject" Target="../embeddings/oleObject57.bin"/><Relationship Id="rId31" Type="http://schemas.openxmlformats.org/officeDocument/2006/relationships/image" Target="../media/image74.emf"/><Relationship Id="rId44" Type="http://schemas.openxmlformats.org/officeDocument/2006/relationships/oleObject" Target="../embeddings/oleObject74.bin"/><Relationship Id="rId52" Type="http://schemas.openxmlformats.org/officeDocument/2006/relationships/oleObject" Target="../embeddings/oleObject78.bin"/><Relationship Id="rId60" Type="http://schemas.openxmlformats.org/officeDocument/2006/relationships/oleObject" Target="../embeddings/oleObject82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6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13" Type="http://schemas.openxmlformats.org/officeDocument/2006/relationships/oleObject" Target="../embeddings/oleObject88.bin"/><Relationship Id="rId18" Type="http://schemas.openxmlformats.org/officeDocument/2006/relationships/image" Target="../media/image97.emf"/><Relationship Id="rId3" Type="http://schemas.openxmlformats.org/officeDocument/2006/relationships/oleObject" Target="../embeddings/oleObject83.bin"/><Relationship Id="rId21" Type="http://schemas.openxmlformats.org/officeDocument/2006/relationships/hyperlink" Target="&#21333;&#36724;&#26230;&#20307;&#20316;&#22270;&#27861;1.swf" TargetMode="External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94.emf"/><Relationship Id="rId17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6.emf"/><Relationship Id="rId20" Type="http://schemas.openxmlformats.org/officeDocument/2006/relationships/hyperlink" Target="&#21333;&#36724;&#26230;&#20307;&#20316;&#22270;&#27861;2.swf" TargetMode="External"/><Relationship Id="rId1" Type="http://schemas.openxmlformats.org/officeDocument/2006/relationships/vmlDrawing" Target="../drawings/vmlDrawing7.vml"/><Relationship Id="rId6" Type="http://schemas.openxmlformats.org/officeDocument/2006/relationships/image" Target="../media/image91.e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5" Type="http://schemas.openxmlformats.org/officeDocument/2006/relationships/oleObject" Target="../embeddings/oleObject89.bin"/><Relationship Id="rId10" Type="http://schemas.openxmlformats.org/officeDocument/2006/relationships/image" Target="../media/image93.emf"/><Relationship Id="rId19" Type="http://schemas.openxmlformats.org/officeDocument/2006/relationships/hyperlink" Target="file:///C:\Documents%20and%20Settings\Administrator\&#26700;&#38754;\&#21160;&#30011;\&#24377;&#31783;&#25391;&#23376;1(&#21147;&#30340;&#21464;&#21270;&#65289;.swf" TargetMode="External"/><Relationship Id="rId4" Type="http://schemas.openxmlformats.org/officeDocument/2006/relationships/image" Target="../media/image90.e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95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emf"/><Relationship Id="rId13" Type="http://schemas.openxmlformats.org/officeDocument/2006/relationships/oleObject" Target="../embeddings/oleObject95.bin"/><Relationship Id="rId3" Type="http://schemas.openxmlformats.org/officeDocument/2006/relationships/hyperlink" Target="file:///C:\Documents%20and%20Settings\Administrator\&#26700;&#38754;\&#21160;&#30011;\&#24377;&#31783;&#25391;&#23376;1(&#21147;&#30340;&#21464;&#21270;&#65289;.swf" TargetMode="External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10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3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98.e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10" Type="http://schemas.openxmlformats.org/officeDocument/2006/relationships/image" Target="../media/image100.emf"/><Relationship Id="rId4" Type="http://schemas.openxmlformats.org/officeDocument/2006/relationships/hyperlink" Target="&#21333;&#36724;&#26230;&#20307;&#20316;&#22270;&#27861;3.swf" TargetMode="External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102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107.emf"/><Relationship Id="rId18" Type="http://schemas.openxmlformats.org/officeDocument/2006/relationships/oleObject" Target="../embeddings/oleObject103.bin"/><Relationship Id="rId26" Type="http://schemas.openxmlformats.org/officeDocument/2006/relationships/oleObject" Target="../embeddings/oleObject107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11.emf"/><Relationship Id="rId7" Type="http://schemas.openxmlformats.org/officeDocument/2006/relationships/image" Target="../media/image104.emf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109.emf"/><Relationship Id="rId25" Type="http://schemas.openxmlformats.org/officeDocument/2006/relationships/image" Target="../media/image11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29" Type="http://schemas.openxmlformats.org/officeDocument/2006/relationships/image" Target="../media/image115.e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06.emf"/><Relationship Id="rId24" Type="http://schemas.openxmlformats.org/officeDocument/2006/relationships/oleObject" Target="../embeddings/oleObject106.bin"/><Relationship Id="rId5" Type="http://schemas.openxmlformats.org/officeDocument/2006/relationships/image" Target="../media/image118.jpeg"/><Relationship Id="rId15" Type="http://schemas.openxmlformats.org/officeDocument/2006/relationships/image" Target="../media/image108.emf"/><Relationship Id="rId23" Type="http://schemas.openxmlformats.org/officeDocument/2006/relationships/image" Target="../media/image112.emf"/><Relationship Id="rId28" Type="http://schemas.openxmlformats.org/officeDocument/2006/relationships/oleObject" Target="../embeddings/oleObject108.bin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110.emf"/><Relationship Id="rId31" Type="http://schemas.openxmlformats.org/officeDocument/2006/relationships/image" Target="../media/image116.emf"/><Relationship Id="rId4" Type="http://schemas.openxmlformats.org/officeDocument/2006/relationships/image" Target="../media/image117.jpeg"/><Relationship Id="rId9" Type="http://schemas.openxmlformats.org/officeDocument/2006/relationships/image" Target="../media/image105.emf"/><Relationship Id="rId14" Type="http://schemas.openxmlformats.org/officeDocument/2006/relationships/oleObject" Target="../embeddings/oleObject101.bin"/><Relationship Id="rId22" Type="http://schemas.openxmlformats.org/officeDocument/2006/relationships/oleObject" Target="../embeddings/oleObject105.bin"/><Relationship Id="rId27" Type="http://schemas.openxmlformats.org/officeDocument/2006/relationships/image" Target="../media/image114.emf"/><Relationship Id="rId30" Type="http://schemas.openxmlformats.org/officeDocument/2006/relationships/oleObject" Target="../embeddings/oleObject109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125.emf"/><Relationship Id="rId26" Type="http://schemas.openxmlformats.org/officeDocument/2006/relationships/image" Target="../media/image129.emf"/><Relationship Id="rId21" Type="http://schemas.openxmlformats.org/officeDocument/2006/relationships/oleObject" Target="../embeddings/oleObject118.bin"/><Relationship Id="rId34" Type="http://schemas.openxmlformats.org/officeDocument/2006/relationships/image" Target="../media/image133.emf"/><Relationship Id="rId7" Type="http://schemas.openxmlformats.org/officeDocument/2006/relationships/image" Target="../media/image120.emf"/><Relationship Id="rId12" Type="http://schemas.openxmlformats.org/officeDocument/2006/relationships/image" Target="../media/image122.emf"/><Relationship Id="rId17" Type="http://schemas.openxmlformats.org/officeDocument/2006/relationships/oleObject" Target="../embeddings/oleObject116.bin"/><Relationship Id="rId25" Type="http://schemas.openxmlformats.org/officeDocument/2006/relationships/oleObject" Target="../embeddings/oleObject120.bin"/><Relationship Id="rId33" Type="http://schemas.openxmlformats.org/officeDocument/2006/relationships/oleObject" Target="../embeddings/oleObject124.bin"/><Relationship Id="rId38" Type="http://schemas.openxmlformats.org/officeDocument/2006/relationships/image" Target="../media/image135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4.emf"/><Relationship Id="rId20" Type="http://schemas.openxmlformats.org/officeDocument/2006/relationships/image" Target="../media/image126.emf"/><Relationship Id="rId29" Type="http://schemas.openxmlformats.org/officeDocument/2006/relationships/oleObject" Target="../embeddings/oleObject122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11.bin"/><Relationship Id="rId11" Type="http://schemas.openxmlformats.org/officeDocument/2006/relationships/oleObject" Target="../embeddings/oleObject113.bin"/><Relationship Id="rId24" Type="http://schemas.openxmlformats.org/officeDocument/2006/relationships/image" Target="../media/image128.emf"/><Relationship Id="rId32" Type="http://schemas.openxmlformats.org/officeDocument/2006/relationships/image" Target="../media/image132.emf"/><Relationship Id="rId37" Type="http://schemas.openxmlformats.org/officeDocument/2006/relationships/oleObject" Target="../embeddings/oleObject126.bin"/><Relationship Id="rId5" Type="http://schemas.openxmlformats.org/officeDocument/2006/relationships/image" Target="../media/image119.emf"/><Relationship Id="rId15" Type="http://schemas.openxmlformats.org/officeDocument/2006/relationships/oleObject" Target="../embeddings/oleObject115.bin"/><Relationship Id="rId23" Type="http://schemas.openxmlformats.org/officeDocument/2006/relationships/oleObject" Target="../embeddings/oleObject119.bin"/><Relationship Id="rId28" Type="http://schemas.openxmlformats.org/officeDocument/2006/relationships/image" Target="../media/image130.emf"/><Relationship Id="rId36" Type="http://schemas.openxmlformats.org/officeDocument/2006/relationships/image" Target="../media/image134.emf"/><Relationship Id="rId10" Type="http://schemas.openxmlformats.org/officeDocument/2006/relationships/image" Target="../media/image136.jpeg"/><Relationship Id="rId19" Type="http://schemas.openxmlformats.org/officeDocument/2006/relationships/oleObject" Target="../embeddings/oleObject117.bin"/><Relationship Id="rId31" Type="http://schemas.openxmlformats.org/officeDocument/2006/relationships/oleObject" Target="../embeddings/oleObject123.bin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21.emf"/><Relationship Id="rId14" Type="http://schemas.openxmlformats.org/officeDocument/2006/relationships/image" Target="../media/image123.emf"/><Relationship Id="rId22" Type="http://schemas.openxmlformats.org/officeDocument/2006/relationships/image" Target="../media/image127.emf"/><Relationship Id="rId27" Type="http://schemas.openxmlformats.org/officeDocument/2006/relationships/oleObject" Target="../embeddings/oleObject121.bin"/><Relationship Id="rId30" Type="http://schemas.openxmlformats.org/officeDocument/2006/relationships/image" Target="../media/image131.emf"/><Relationship Id="rId35" Type="http://schemas.openxmlformats.org/officeDocument/2006/relationships/oleObject" Target="../embeddings/oleObject125.bin"/><Relationship Id="rId8" Type="http://schemas.openxmlformats.org/officeDocument/2006/relationships/oleObject" Target="../embeddings/oleObject112.bin"/><Relationship Id="rId3" Type="http://schemas.openxmlformats.org/officeDocument/2006/relationships/notesSlide" Target="../notesSlides/notesSlide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40.emf"/><Relationship Id="rId18" Type="http://schemas.openxmlformats.org/officeDocument/2006/relationships/oleObject" Target="../embeddings/oleObject133.bin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144.emf"/><Relationship Id="rId7" Type="http://schemas.openxmlformats.org/officeDocument/2006/relationships/image" Target="../media/image137.emf"/><Relationship Id="rId12" Type="http://schemas.openxmlformats.org/officeDocument/2006/relationships/oleObject" Target="../embeddings/oleObject130.bin"/><Relationship Id="rId17" Type="http://schemas.openxmlformats.org/officeDocument/2006/relationships/image" Target="../media/image14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2.bin"/><Relationship Id="rId20" Type="http://schemas.openxmlformats.org/officeDocument/2006/relationships/oleObject" Target="../embeddings/oleObject134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39.emf"/><Relationship Id="rId5" Type="http://schemas.openxmlformats.org/officeDocument/2006/relationships/image" Target="../media/image146.jpeg"/><Relationship Id="rId15" Type="http://schemas.openxmlformats.org/officeDocument/2006/relationships/image" Target="../media/image141.emf"/><Relationship Id="rId10" Type="http://schemas.openxmlformats.org/officeDocument/2006/relationships/oleObject" Target="../embeddings/oleObject129.bin"/><Relationship Id="rId19" Type="http://schemas.openxmlformats.org/officeDocument/2006/relationships/image" Target="../media/image143.emf"/><Relationship Id="rId4" Type="http://schemas.openxmlformats.org/officeDocument/2006/relationships/image" Target="../media/image145.jpeg"/><Relationship Id="rId9" Type="http://schemas.openxmlformats.org/officeDocument/2006/relationships/image" Target="../media/image138.emf"/><Relationship Id="rId14" Type="http://schemas.openxmlformats.org/officeDocument/2006/relationships/oleObject" Target="../embeddings/oleObject13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51.emf"/><Relationship Id="rId18" Type="http://schemas.openxmlformats.org/officeDocument/2006/relationships/oleObject" Target="../embeddings/oleObject142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155.emf"/><Relationship Id="rId7" Type="http://schemas.openxmlformats.org/officeDocument/2006/relationships/image" Target="../media/image148.emf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15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1.bin"/><Relationship Id="rId20" Type="http://schemas.openxmlformats.org/officeDocument/2006/relationships/oleObject" Target="../embeddings/oleObject143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50.emf"/><Relationship Id="rId5" Type="http://schemas.openxmlformats.org/officeDocument/2006/relationships/image" Target="../media/image147.emf"/><Relationship Id="rId15" Type="http://schemas.openxmlformats.org/officeDocument/2006/relationships/image" Target="../media/image152.emf"/><Relationship Id="rId10" Type="http://schemas.openxmlformats.org/officeDocument/2006/relationships/oleObject" Target="../embeddings/oleObject138.bin"/><Relationship Id="rId19" Type="http://schemas.openxmlformats.org/officeDocument/2006/relationships/image" Target="../media/image154.e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49.emf"/><Relationship Id="rId14" Type="http://schemas.openxmlformats.org/officeDocument/2006/relationships/oleObject" Target="../embeddings/oleObject140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63.emf"/><Relationship Id="rId26" Type="http://schemas.openxmlformats.org/officeDocument/2006/relationships/image" Target="../media/image167.emf"/><Relationship Id="rId3" Type="http://schemas.openxmlformats.org/officeDocument/2006/relationships/oleObject" Target="../embeddings/oleObject144.bin"/><Relationship Id="rId21" Type="http://schemas.openxmlformats.org/officeDocument/2006/relationships/oleObject" Target="../embeddings/oleObject153.bin"/><Relationship Id="rId34" Type="http://schemas.openxmlformats.org/officeDocument/2006/relationships/image" Target="../media/image171.emf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60.emf"/><Relationship Id="rId17" Type="http://schemas.openxmlformats.org/officeDocument/2006/relationships/oleObject" Target="../embeddings/oleObject151.bin"/><Relationship Id="rId25" Type="http://schemas.openxmlformats.org/officeDocument/2006/relationships/oleObject" Target="../embeddings/oleObject155.bin"/><Relationship Id="rId33" Type="http://schemas.openxmlformats.org/officeDocument/2006/relationships/oleObject" Target="../embeddings/oleObject1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2.emf"/><Relationship Id="rId20" Type="http://schemas.openxmlformats.org/officeDocument/2006/relationships/image" Target="../media/image164.emf"/><Relationship Id="rId29" Type="http://schemas.openxmlformats.org/officeDocument/2006/relationships/oleObject" Target="../embeddings/oleObject157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57.emf"/><Relationship Id="rId11" Type="http://schemas.openxmlformats.org/officeDocument/2006/relationships/oleObject" Target="../embeddings/oleObject148.bin"/><Relationship Id="rId24" Type="http://schemas.openxmlformats.org/officeDocument/2006/relationships/image" Target="../media/image166.emf"/><Relationship Id="rId32" Type="http://schemas.openxmlformats.org/officeDocument/2006/relationships/image" Target="../media/image170.emf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23" Type="http://schemas.openxmlformats.org/officeDocument/2006/relationships/oleObject" Target="../embeddings/oleObject154.bin"/><Relationship Id="rId28" Type="http://schemas.openxmlformats.org/officeDocument/2006/relationships/image" Target="../media/image168.emf"/><Relationship Id="rId36" Type="http://schemas.openxmlformats.org/officeDocument/2006/relationships/image" Target="../media/image172.emf"/><Relationship Id="rId10" Type="http://schemas.openxmlformats.org/officeDocument/2006/relationships/image" Target="../media/image159.emf"/><Relationship Id="rId19" Type="http://schemas.openxmlformats.org/officeDocument/2006/relationships/oleObject" Target="../embeddings/oleObject152.bin"/><Relationship Id="rId31" Type="http://schemas.openxmlformats.org/officeDocument/2006/relationships/oleObject" Target="../embeddings/oleObject158.bin"/><Relationship Id="rId4" Type="http://schemas.openxmlformats.org/officeDocument/2006/relationships/image" Target="../media/image156.e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61.emf"/><Relationship Id="rId22" Type="http://schemas.openxmlformats.org/officeDocument/2006/relationships/image" Target="../media/image165.emf"/><Relationship Id="rId27" Type="http://schemas.openxmlformats.org/officeDocument/2006/relationships/oleObject" Target="../embeddings/oleObject156.bin"/><Relationship Id="rId30" Type="http://schemas.openxmlformats.org/officeDocument/2006/relationships/image" Target="../media/image169.emf"/><Relationship Id="rId35" Type="http://schemas.openxmlformats.org/officeDocument/2006/relationships/oleObject" Target="../embeddings/oleObject160.bin"/><Relationship Id="rId8" Type="http://schemas.openxmlformats.org/officeDocument/2006/relationships/image" Target="../media/image158.e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6.bin"/><Relationship Id="rId18" Type="http://schemas.openxmlformats.org/officeDocument/2006/relationships/image" Target="../media/image180.emf"/><Relationship Id="rId26" Type="http://schemas.openxmlformats.org/officeDocument/2006/relationships/image" Target="../media/image184.emf"/><Relationship Id="rId39" Type="http://schemas.openxmlformats.org/officeDocument/2006/relationships/oleObject" Target="../embeddings/oleObject179.bin"/><Relationship Id="rId21" Type="http://schemas.openxmlformats.org/officeDocument/2006/relationships/oleObject" Target="../embeddings/oleObject170.bin"/><Relationship Id="rId34" Type="http://schemas.openxmlformats.org/officeDocument/2006/relationships/image" Target="../media/image188.emf"/><Relationship Id="rId42" Type="http://schemas.openxmlformats.org/officeDocument/2006/relationships/image" Target="../media/image192.emf"/><Relationship Id="rId7" Type="http://schemas.openxmlformats.org/officeDocument/2006/relationships/oleObject" Target="../embeddings/oleObject1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9.emf"/><Relationship Id="rId29" Type="http://schemas.openxmlformats.org/officeDocument/2006/relationships/oleObject" Target="../embeddings/oleObject174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74.emf"/><Relationship Id="rId11" Type="http://schemas.openxmlformats.org/officeDocument/2006/relationships/oleObject" Target="../embeddings/oleObject165.bin"/><Relationship Id="rId24" Type="http://schemas.openxmlformats.org/officeDocument/2006/relationships/image" Target="../media/image183.emf"/><Relationship Id="rId32" Type="http://schemas.openxmlformats.org/officeDocument/2006/relationships/image" Target="../media/image187.emf"/><Relationship Id="rId37" Type="http://schemas.openxmlformats.org/officeDocument/2006/relationships/oleObject" Target="../embeddings/oleObject178.bin"/><Relationship Id="rId40" Type="http://schemas.openxmlformats.org/officeDocument/2006/relationships/image" Target="../media/image191.emf"/><Relationship Id="rId45" Type="http://schemas.openxmlformats.org/officeDocument/2006/relationships/oleObject" Target="../embeddings/oleObject182.bin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7.bin"/><Relationship Id="rId23" Type="http://schemas.openxmlformats.org/officeDocument/2006/relationships/oleObject" Target="../embeddings/oleObject171.bin"/><Relationship Id="rId28" Type="http://schemas.openxmlformats.org/officeDocument/2006/relationships/image" Target="../media/image185.emf"/><Relationship Id="rId36" Type="http://schemas.openxmlformats.org/officeDocument/2006/relationships/image" Target="../media/image189.emf"/><Relationship Id="rId10" Type="http://schemas.openxmlformats.org/officeDocument/2006/relationships/image" Target="../media/image176.emf"/><Relationship Id="rId19" Type="http://schemas.openxmlformats.org/officeDocument/2006/relationships/oleObject" Target="../embeddings/oleObject169.bin"/><Relationship Id="rId31" Type="http://schemas.openxmlformats.org/officeDocument/2006/relationships/oleObject" Target="../embeddings/oleObject175.bin"/><Relationship Id="rId44" Type="http://schemas.openxmlformats.org/officeDocument/2006/relationships/image" Target="../media/image193.emf"/><Relationship Id="rId4" Type="http://schemas.openxmlformats.org/officeDocument/2006/relationships/image" Target="../media/image173.emf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178.emf"/><Relationship Id="rId22" Type="http://schemas.openxmlformats.org/officeDocument/2006/relationships/image" Target="../media/image182.emf"/><Relationship Id="rId27" Type="http://schemas.openxmlformats.org/officeDocument/2006/relationships/oleObject" Target="../embeddings/oleObject173.bin"/><Relationship Id="rId30" Type="http://schemas.openxmlformats.org/officeDocument/2006/relationships/image" Target="../media/image186.emf"/><Relationship Id="rId35" Type="http://schemas.openxmlformats.org/officeDocument/2006/relationships/oleObject" Target="../embeddings/oleObject177.bin"/><Relationship Id="rId43" Type="http://schemas.openxmlformats.org/officeDocument/2006/relationships/oleObject" Target="../embeddings/oleObject181.bin"/><Relationship Id="rId8" Type="http://schemas.openxmlformats.org/officeDocument/2006/relationships/image" Target="../media/image175.emf"/><Relationship Id="rId3" Type="http://schemas.openxmlformats.org/officeDocument/2006/relationships/oleObject" Target="../embeddings/oleObject161.bin"/><Relationship Id="rId12" Type="http://schemas.openxmlformats.org/officeDocument/2006/relationships/image" Target="../media/image177.emf"/><Relationship Id="rId17" Type="http://schemas.openxmlformats.org/officeDocument/2006/relationships/oleObject" Target="../embeddings/oleObject168.bin"/><Relationship Id="rId25" Type="http://schemas.openxmlformats.org/officeDocument/2006/relationships/oleObject" Target="../embeddings/oleObject172.bin"/><Relationship Id="rId33" Type="http://schemas.openxmlformats.org/officeDocument/2006/relationships/oleObject" Target="../embeddings/oleObject176.bin"/><Relationship Id="rId38" Type="http://schemas.openxmlformats.org/officeDocument/2006/relationships/image" Target="../media/image190.emf"/><Relationship Id="rId46" Type="http://schemas.openxmlformats.org/officeDocument/2006/relationships/image" Target="../media/image194.emf"/><Relationship Id="rId20" Type="http://schemas.openxmlformats.org/officeDocument/2006/relationships/image" Target="../media/image181.emf"/><Relationship Id="rId41" Type="http://schemas.openxmlformats.org/officeDocument/2006/relationships/oleObject" Target="../embeddings/oleObject180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3.bin"/><Relationship Id="rId18" Type="http://schemas.openxmlformats.org/officeDocument/2006/relationships/image" Target="../media/image197.emf"/><Relationship Id="rId26" Type="http://schemas.openxmlformats.org/officeDocument/2006/relationships/image" Target="../media/image201.emf"/><Relationship Id="rId3" Type="http://schemas.openxmlformats.org/officeDocument/2006/relationships/image" Target="../media/image206.jpeg"/><Relationship Id="rId21" Type="http://schemas.openxmlformats.org/officeDocument/2006/relationships/oleObject" Target="../embeddings/oleObject187.bin"/><Relationship Id="rId34" Type="http://schemas.openxmlformats.org/officeDocument/2006/relationships/image" Target="../media/image205.emf"/><Relationship Id="rId7" Type="http://schemas.openxmlformats.org/officeDocument/2006/relationships/image" Target="../media/image210.jpeg"/><Relationship Id="rId12" Type="http://schemas.openxmlformats.org/officeDocument/2006/relationships/image" Target="../media/image215.jpeg"/><Relationship Id="rId17" Type="http://schemas.openxmlformats.org/officeDocument/2006/relationships/oleObject" Target="../embeddings/oleObject185.bin"/><Relationship Id="rId25" Type="http://schemas.openxmlformats.org/officeDocument/2006/relationships/oleObject" Target="../embeddings/oleObject189.bin"/><Relationship Id="rId33" Type="http://schemas.openxmlformats.org/officeDocument/2006/relationships/oleObject" Target="../embeddings/oleObject1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6.emf"/><Relationship Id="rId20" Type="http://schemas.openxmlformats.org/officeDocument/2006/relationships/image" Target="../media/image198.emf"/><Relationship Id="rId29" Type="http://schemas.openxmlformats.org/officeDocument/2006/relationships/oleObject" Target="../embeddings/oleObject191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09.jpeg"/><Relationship Id="rId11" Type="http://schemas.openxmlformats.org/officeDocument/2006/relationships/image" Target="../media/image214.jpeg"/><Relationship Id="rId24" Type="http://schemas.openxmlformats.org/officeDocument/2006/relationships/image" Target="../media/image200.emf"/><Relationship Id="rId32" Type="http://schemas.openxmlformats.org/officeDocument/2006/relationships/image" Target="../media/image204.emf"/><Relationship Id="rId5" Type="http://schemas.openxmlformats.org/officeDocument/2006/relationships/image" Target="../media/image208.jpeg"/><Relationship Id="rId15" Type="http://schemas.openxmlformats.org/officeDocument/2006/relationships/oleObject" Target="../embeddings/oleObject184.bin"/><Relationship Id="rId23" Type="http://schemas.openxmlformats.org/officeDocument/2006/relationships/oleObject" Target="../embeddings/oleObject188.bin"/><Relationship Id="rId28" Type="http://schemas.openxmlformats.org/officeDocument/2006/relationships/image" Target="../media/image202.emf"/><Relationship Id="rId10" Type="http://schemas.openxmlformats.org/officeDocument/2006/relationships/image" Target="../media/image213.jpeg"/><Relationship Id="rId19" Type="http://schemas.openxmlformats.org/officeDocument/2006/relationships/oleObject" Target="../embeddings/oleObject186.bin"/><Relationship Id="rId31" Type="http://schemas.openxmlformats.org/officeDocument/2006/relationships/oleObject" Target="../embeddings/oleObject192.bin"/><Relationship Id="rId4" Type="http://schemas.openxmlformats.org/officeDocument/2006/relationships/image" Target="../media/image207.jpeg"/><Relationship Id="rId9" Type="http://schemas.openxmlformats.org/officeDocument/2006/relationships/image" Target="../media/image212.jpeg"/><Relationship Id="rId14" Type="http://schemas.openxmlformats.org/officeDocument/2006/relationships/image" Target="../media/image195.emf"/><Relationship Id="rId22" Type="http://schemas.openxmlformats.org/officeDocument/2006/relationships/image" Target="../media/image199.emf"/><Relationship Id="rId27" Type="http://schemas.openxmlformats.org/officeDocument/2006/relationships/oleObject" Target="../embeddings/oleObject190.bin"/><Relationship Id="rId30" Type="http://schemas.openxmlformats.org/officeDocument/2006/relationships/image" Target="../media/image203.emf"/><Relationship Id="rId8" Type="http://schemas.openxmlformats.org/officeDocument/2006/relationships/image" Target="../media/image211.jpe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211.jpeg"/><Relationship Id="rId26" Type="http://schemas.openxmlformats.org/officeDocument/2006/relationships/image" Target="../media/image225.emf"/><Relationship Id="rId39" Type="http://schemas.openxmlformats.org/officeDocument/2006/relationships/oleObject" Target="../embeddings/oleObject158.bin"/><Relationship Id="rId21" Type="http://schemas.openxmlformats.org/officeDocument/2006/relationships/oleObject" Target="../embeddings/oleObject201.bin"/><Relationship Id="rId34" Type="http://schemas.openxmlformats.org/officeDocument/2006/relationships/image" Target="../media/image229.emf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220.emf"/><Relationship Id="rId17" Type="http://schemas.openxmlformats.org/officeDocument/2006/relationships/image" Target="../media/image210.jpeg"/><Relationship Id="rId25" Type="http://schemas.openxmlformats.org/officeDocument/2006/relationships/oleObject" Target="../embeddings/oleObject203.bin"/><Relationship Id="rId33" Type="http://schemas.openxmlformats.org/officeDocument/2006/relationships/oleObject" Target="../embeddings/oleObject207.bin"/><Relationship Id="rId38" Type="http://schemas.openxmlformats.org/officeDocument/2006/relationships/image" Target="../media/image169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6.jpeg"/><Relationship Id="rId20" Type="http://schemas.openxmlformats.org/officeDocument/2006/relationships/image" Target="../media/image222.emf"/><Relationship Id="rId29" Type="http://schemas.openxmlformats.org/officeDocument/2006/relationships/oleObject" Target="../embeddings/oleObject205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17.emf"/><Relationship Id="rId11" Type="http://schemas.openxmlformats.org/officeDocument/2006/relationships/oleObject" Target="../embeddings/oleObject198.bin"/><Relationship Id="rId24" Type="http://schemas.openxmlformats.org/officeDocument/2006/relationships/image" Target="../media/image224.emf"/><Relationship Id="rId32" Type="http://schemas.openxmlformats.org/officeDocument/2006/relationships/image" Target="../media/image228.emf"/><Relationship Id="rId37" Type="http://schemas.openxmlformats.org/officeDocument/2006/relationships/oleObject" Target="../embeddings/oleObject209.bin"/><Relationship Id="rId40" Type="http://schemas.openxmlformats.org/officeDocument/2006/relationships/image" Target="../media/image170.emf"/><Relationship Id="rId5" Type="http://schemas.openxmlformats.org/officeDocument/2006/relationships/oleObject" Target="../embeddings/oleObject195.bin"/><Relationship Id="rId15" Type="http://schemas.openxmlformats.org/officeDocument/2006/relationships/image" Target="../media/image209.jpeg"/><Relationship Id="rId23" Type="http://schemas.openxmlformats.org/officeDocument/2006/relationships/oleObject" Target="../embeddings/oleObject202.bin"/><Relationship Id="rId28" Type="http://schemas.openxmlformats.org/officeDocument/2006/relationships/image" Target="../media/image226.emf"/><Relationship Id="rId36" Type="http://schemas.openxmlformats.org/officeDocument/2006/relationships/image" Target="../media/image230.emf"/><Relationship Id="rId10" Type="http://schemas.openxmlformats.org/officeDocument/2006/relationships/image" Target="../media/image219.emf"/><Relationship Id="rId19" Type="http://schemas.openxmlformats.org/officeDocument/2006/relationships/oleObject" Target="../embeddings/oleObject200.bin"/><Relationship Id="rId31" Type="http://schemas.openxmlformats.org/officeDocument/2006/relationships/oleObject" Target="../embeddings/oleObject206.bin"/><Relationship Id="rId4" Type="http://schemas.openxmlformats.org/officeDocument/2006/relationships/image" Target="../media/image216.e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221.emf"/><Relationship Id="rId22" Type="http://schemas.openxmlformats.org/officeDocument/2006/relationships/image" Target="../media/image223.emf"/><Relationship Id="rId27" Type="http://schemas.openxmlformats.org/officeDocument/2006/relationships/oleObject" Target="../embeddings/oleObject204.bin"/><Relationship Id="rId30" Type="http://schemas.openxmlformats.org/officeDocument/2006/relationships/image" Target="../media/image227.emf"/><Relationship Id="rId35" Type="http://schemas.openxmlformats.org/officeDocument/2006/relationships/oleObject" Target="../embeddings/oleObject208.bin"/><Relationship Id="rId8" Type="http://schemas.openxmlformats.org/officeDocument/2006/relationships/image" Target="../media/image218.emf"/><Relationship Id="rId3" Type="http://schemas.openxmlformats.org/officeDocument/2006/relationships/oleObject" Target="../embeddings/oleObject19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emf"/><Relationship Id="rId13" Type="http://schemas.openxmlformats.org/officeDocument/2006/relationships/oleObject" Target="../embeddings/oleObject215.bin"/><Relationship Id="rId18" Type="http://schemas.openxmlformats.org/officeDocument/2006/relationships/image" Target="../media/image238.emf"/><Relationship Id="rId26" Type="http://schemas.openxmlformats.org/officeDocument/2006/relationships/image" Target="../media/image242.emf"/><Relationship Id="rId3" Type="http://schemas.openxmlformats.org/officeDocument/2006/relationships/oleObject" Target="../embeddings/oleObject210.bin"/><Relationship Id="rId21" Type="http://schemas.openxmlformats.org/officeDocument/2006/relationships/oleObject" Target="../embeddings/oleObject219.bin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235.emf"/><Relationship Id="rId17" Type="http://schemas.openxmlformats.org/officeDocument/2006/relationships/oleObject" Target="../embeddings/oleObject217.bin"/><Relationship Id="rId25" Type="http://schemas.openxmlformats.org/officeDocument/2006/relationships/oleObject" Target="../embeddings/oleObject2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7.emf"/><Relationship Id="rId20" Type="http://schemas.openxmlformats.org/officeDocument/2006/relationships/image" Target="../media/image239.emf"/><Relationship Id="rId29" Type="http://schemas.openxmlformats.org/officeDocument/2006/relationships/oleObject" Target="../embeddings/oleObject223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32.emf"/><Relationship Id="rId11" Type="http://schemas.openxmlformats.org/officeDocument/2006/relationships/oleObject" Target="../embeddings/oleObject214.bin"/><Relationship Id="rId24" Type="http://schemas.openxmlformats.org/officeDocument/2006/relationships/image" Target="../media/image241.emf"/><Relationship Id="rId32" Type="http://schemas.openxmlformats.org/officeDocument/2006/relationships/image" Target="../media/image245.emf"/><Relationship Id="rId5" Type="http://schemas.openxmlformats.org/officeDocument/2006/relationships/oleObject" Target="../embeddings/oleObject211.bin"/><Relationship Id="rId15" Type="http://schemas.openxmlformats.org/officeDocument/2006/relationships/oleObject" Target="../embeddings/oleObject216.bin"/><Relationship Id="rId23" Type="http://schemas.openxmlformats.org/officeDocument/2006/relationships/oleObject" Target="../embeddings/oleObject220.bin"/><Relationship Id="rId28" Type="http://schemas.openxmlformats.org/officeDocument/2006/relationships/image" Target="../media/image243.emf"/><Relationship Id="rId10" Type="http://schemas.openxmlformats.org/officeDocument/2006/relationships/image" Target="../media/image234.emf"/><Relationship Id="rId19" Type="http://schemas.openxmlformats.org/officeDocument/2006/relationships/oleObject" Target="../embeddings/oleObject218.bin"/><Relationship Id="rId31" Type="http://schemas.openxmlformats.org/officeDocument/2006/relationships/oleObject" Target="../embeddings/oleObject224.bin"/><Relationship Id="rId4" Type="http://schemas.openxmlformats.org/officeDocument/2006/relationships/image" Target="../media/image231.emf"/><Relationship Id="rId9" Type="http://schemas.openxmlformats.org/officeDocument/2006/relationships/oleObject" Target="../embeddings/oleObject213.bin"/><Relationship Id="rId14" Type="http://schemas.openxmlformats.org/officeDocument/2006/relationships/image" Target="../media/image236.emf"/><Relationship Id="rId22" Type="http://schemas.openxmlformats.org/officeDocument/2006/relationships/image" Target="../media/image240.emf"/><Relationship Id="rId27" Type="http://schemas.openxmlformats.org/officeDocument/2006/relationships/oleObject" Target="../embeddings/oleObject222.bin"/><Relationship Id="rId30" Type="http://schemas.openxmlformats.org/officeDocument/2006/relationships/image" Target="../media/image24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Oct. 30,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840" name="Text Box 16">
            <a:extLst>
              <a:ext uri="{FF2B5EF4-FFF2-40B4-BE49-F238E27FC236}">
                <a16:creationId xmlns:a16="http://schemas.microsoft.com/office/drawing/2014/main" id="{1A5C486A-1330-4841-91DB-CD7FC31BA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88640"/>
            <a:ext cx="813214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200" dirty="0">
                <a:solidFill>
                  <a:srgbClr val="66FF33"/>
                </a:solidFill>
                <a:latin typeface="宋体" panose="02010600030101010101" pitchFamily="2" charset="-122"/>
              </a:rPr>
              <a:t>回顾：</a:t>
            </a:r>
            <a:r>
              <a:rPr lang="en-US" altLang="zh-CN" sz="3200" dirty="0">
                <a:solidFill>
                  <a:srgbClr val="66FF33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3200" dirty="0">
                <a:solidFill>
                  <a:srgbClr val="66FF33"/>
                </a:solidFill>
                <a:latin typeface="宋体" panose="02010600030101010101" pitchFamily="2" charset="-122"/>
              </a:rPr>
              <a:t>偏振片的起偏和检偏 马吕斯定律</a:t>
            </a:r>
          </a:p>
        </p:txBody>
      </p:sp>
      <p:grpSp>
        <p:nvGrpSpPr>
          <p:cNvPr id="2" name="Group 24">
            <a:extLst>
              <a:ext uri="{FF2B5EF4-FFF2-40B4-BE49-F238E27FC236}">
                <a16:creationId xmlns:a16="http://schemas.microsoft.com/office/drawing/2014/main" id="{28391057-50E4-4B71-A4C8-2AD44C99E163}"/>
              </a:ext>
            </a:extLst>
          </p:cNvPr>
          <p:cNvGrpSpPr>
            <a:grpSpLocks/>
          </p:cNvGrpSpPr>
          <p:nvPr/>
        </p:nvGrpSpPr>
        <p:grpSpPr bwMode="auto">
          <a:xfrm>
            <a:off x="4027488" y="1076325"/>
            <a:ext cx="609600" cy="1057275"/>
            <a:chOff x="3120" y="2160"/>
            <a:chExt cx="384" cy="666"/>
          </a:xfrm>
        </p:grpSpPr>
        <p:sp>
          <p:nvSpPr>
            <p:cNvPr id="5177" name="Oval 25">
              <a:extLst>
                <a:ext uri="{FF2B5EF4-FFF2-40B4-BE49-F238E27FC236}">
                  <a16:creationId xmlns:a16="http://schemas.microsoft.com/office/drawing/2014/main" id="{B648745A-E2E4-4FB8-B51A-70BBE9BBA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160"/>
              <a:ext cx="384" cy="666"/>
            </a:xfrm>
            <a:prstGeom prst="ellipse">
              <a:avLst/>
            </a:prstGeom>
            <a:noFill/>
            <a:ln w="412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5178" name="Line 26">
              <a:extLst>
                <a:ext uri="{FF2B5EF4-FFF2-40B4-BE49-F238E27FC236}">
                  <a16:creationId xmlns:a16="http://schemas.microsoft.com/office/drawing/2014/main" id="{73D0EB13-9208-415F-ADA5-BB6D3F3778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2243"/>
              <a:ext cx="0" cy="528"/>
            </a:xfrm>
            <a:prstGeom prst="line">
              <a:avLst/>
            </a:prstGeom>
            <a:noFill/>
            <a:ln w="22225">
              <a:solidFill>
                <a:srgbClr val="00FF00"/>
              </a:solidFill>
              <a:round/>
              <a:headEnd type="arrow" w="med" len="lg"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27">
            <a:extLst>
              <a:ext uri="{FF2B5EF4-FFF2-40B4-BE49-F238E27FC236}">
                <a16:creationId xmlns:a16="http://schemas.microsoft.com/office/drawing/2014/main" id="{10E451F8-1D77-4B84-B3DD-A5A921DEDFAF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1076325"/>
            <a:ext cx="3173412" cy="1057275"/>
            <a:chOff x="1104" y="2160"/>
            <a:chExt cx="1999" cy="666"/>
          </a:xfrm>
        </p:grpSpPr>
        <p:sp>
          <p:nvSpPr>
            <p:cNvPr id="5163" name="Oval 28">
              <a:extLst>
                <a:ext uri="{FF2B5EF4-FFF2-40B4-BE49-F238E27FC236}">
                  <a16:creationId xmlns:a16="http://schemas.microsoft.com/office/drawing/2014/main" id="{C952B0DB-E822-4F9F-A9D2-2DDB3C6D4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3" y="2160"/>
              <a:ext cx="384" cy="666"/>
            </a:xfrm>
            <a:prstGeom prst="ellips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5164" name="Line 29">
              <a:extLst>
                <a:ext uri="{FF2B5EF4-FFF2-40B4-BE49-F238E27FC236}">
                  <a16:creationId xmlns:a16="http://schemas.microsoft.com/office/drawing/2014/main" id="{CDA42186-41C3-4A7D-A1E0-F940DBED59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5" y="2256"/>
              <a:ext cx="0" cy="528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 type="arrow" w="med" len="lg"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5" name="Line 30">
              <a:extLst>
                <a:ext uri="{FF2B5EF4-FFF2-40B4-BE49-F238E27FC236}">
                  <a16:creationId xmlns:a16="http://schemas.microsoft.com/office/drawing/2014/main" id="{4B058059-B657-4577-99DE-AF3F3800B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5" y="2544"/>
              <a:ext cx="898" cy="0"/>
            </a:xfrm>
            <a:prstGeom prst="line">
              <a:avLst/>
            </a:prstGeom>
            <a:noFill/>
            <a:ln w="41275">
              <a:solidFill>
                <a:schemeClr val="hlink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6" name="Line 31">
              <a:extLst>
                <a:ext uri="{FF2B5EF4-FFF2-40B4-BE49-F238E27FC236}">
                  <a16:creationId xmlns:a16="http://schemas.microsoft.com/office/drawing/2014/main" id="{BFEC1AC7-1BC0-426F-9038-72D164288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5" y="2400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7" name="Line 32">
              <a:extLst>
                <a:ext uri="{FF2B5EF4-FFF2-40B4-BE49-F238E27FC236}">
                  <a16:creationId xmlns:a16="http://schemas.microsoft.com/office/drawing/2014/main" id="{70B922A2-2F18-4D40-A0BA-00B35BB7B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5" y="2400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8" name="Line 33">
              <a:extLst>
                <a:ext uri="{FF2B5EF4-FFF2-40B4-BE49-F238E27FC236}">
                  <a16:creationId xmlns:a16="http://schemas.microsoft.com/office/drawing/2014/main" id="{C18A3DF6-21D5-48DC-BD4F-3AFD2E64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2400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9" name="Line 34">
              <a:extLst>
                <a:ext uri="{FF2B5EF4-FFF2-40B4-BE49-F238E27FC236}">
                  <a16:creationId xmlns:a16="http://schemas.microsoft.com/office/drawing/2014/main" id="{4ED594A8-CF55-4BD3-A5C8-72B492FCD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5" y="2544"/>
              <a:ext cx="898" cy="0"/>
            </a:xfrm>
            <a:prstGeom prst="line">
              <a:avLst/>
            </a:prstGeom>
            <a:noFill/>
            <a:ln w="41275">
              <a:solidFill>
                <a:schemeClr val="hlink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0" name="Line 35">
              <a:extLst>
                <a:ext uri="{FF2B5EF4-FFF2-40B4-BE49-F238E27FC236}">
                  <a16:creationId xmlns:a16="http://schemas.microsoft.com/office/drawing/2014/main" id="{B61F5975-714E-4D94-82FC-5E45CD5AE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7" y="2400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" name="Line 36">
              <a:extLst>
                <a:ext uri="{FF2B5EF4-FFF2-40B4-BE49-F238E27FC236}">
                  <a16:creationId xmlns:a16="http://schemas.microsoft.com/office/drawing/2014/main" id="{E026A522-C555-4463-B007-A1F5E23E7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1" y="2400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2" name="Line 37">
              <a:extLst>
                <a:ext uri="{FF2B5EF4-FFF2-40B4-BE49-F238E27FC236}">
                  <a16:creationId xmlns:a16="http://schemas.microsoft.com/office/drawing/2014/main" id="{55AD44FF-6342-45E8-8B5B-EABD9D89F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6" y="2400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3" name="Text Box 38">
              <a:extLst>
                <a:ext uri="{FF2B5EF4-FFF2-40B4-BE49-F238E27FC236}">
                  <a16:creationId xmlns:a16="http://schemas.microsoft.com/office/drawing/2014/main" id="{9ED6FFE9-028D-4C85-AAF2-AC7E453E6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304"/>
              <a:ext cx="22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000" b="0">
                  <a:solidFill>
                    <a:srgbClr val="FF0000"/>
                  </a:solidFill>
                </a:rPr>
                <a:t>•</a:t>
              </a:r>
              <a:endParaRPr lang="en-US" altLang="zh-CN" sz="4000" b="0"/>
            </a:p>
          </p:txBody>
        </p:sp>
        <p:sp>
          <p:nvSpPr>
            <p:cNvPr id="5174" name="Text Box 39">
              <a:extLst>
                <a:ext uri="{FF2B5EF4-FFF2-40B4-BE49-F238E27FC236}">
                  <a16:creationId xmlns:a16="http://schemas.microsoft.com/office/drawing/2014/main" id="{A23DE806-E10C-43F8-AE9E-E919DD1475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4" y="2304"/>
              <a:ext cx="22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000" b="0">
                  <a:solidFill>
                    <a:srgbClr val="FF0000"/>
                  </a:solidFill>
                </a:rPr>
                <a:t>•</a:t>
              </a:r>
              <a:endParaRPr lang="en-US" altLang="zh-CN" sz="4000" b="0"/>
            </a:p>
          </p:txBody>
        </p:sp>
        <p:sp>
          <p:nvSpPr>
            <p:cNvPr id="5175" name="Text Box 40">
              <a:extLst>
                <a:ext uri="{FF2B5EF4-FFF2-40B4-BE49-F238E27FC236}">
                  <a16:creationId xmlns:a16="http://schemas.microsoft.com/office/drawing/2014/main" id="{65D4EE58-FC6F-4C99-9500-B1A2DFD50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304"/>
              <a:ext cx="22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000" b="0">
                  <a:solidFill>
                    <a:srgbClr val="FF0000"/>
                  </a:solidFill>
                </a:rPr>
                <a:t>•</a:t>
              </a:r>
              <a:endParaRPr lang="en-US" altLang="zh-CN" sz="4000" b="0"/>
            </a:p>
          </p:txBody>
        </p:sp>
        <p:sp>
          <p:nvSpPr>
            <p:cNvPr id="5176" name="Oval 41">
              <a:extLst>
                <a:ext uri="{FF2B5EF4-FFF2-40B4-BE49-F238E27FC236}">
                  <a16:creationId xmlns:a16="http://schemas.microsoft.com/office/drawing/2014/main" id="{AEC5A691-DA15-4996-886E-41D1244C8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160"/>
              <a:ext cx="384" cy="666"/>
            </a:xfrm>
            <a:prstGeom prst="ellipse">
              <a:avLst/>
            </a:prstGeom>
            <a:noFill/>
            <a:ln w="412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4" name="Group 42">
            <a:extLst>
              <a:ext uri="{FF2B5EF4-FFF2-40B4-BE49-F238E27FC236}">
                <a16:creationId xmlns:a16="http://schemas.microsoft.com/office/drawing/2014/main" id="{47F8F87E-AA39-42C4-8F69-99EDFEC88472}"/>
              </a:ext>
            </a:extLst>
          </p:cNvPr>
          <p:cNvGrpSpPr>
            <a:grpSpLocks/>
          </p:cNvGrpSpPr>
          <p:nvPr/>
        </p:nvGrpSpPr>
        <p:grpSpPr bwMode="auto">
          <a:xfrm>
            <a:off x="4414838" y="1446213"/>
            <a:ext cx="1425575" cy="457200"/>
            <a:chOff x="4653" y="2784"/>
            <a:chExt cx="898" cy="288"/>
          </a:xfrm>
        </p:grpSpPr>
        <p:sp>
          <p:nvSpPr>
            <p:cNvPr id="5159" name="Line 43">
              <a:extLst>
                <a:ext uri="{FF2B5EF4-FFF2-40B4-BE49-F238E27FC236}">
                  <a16:creationId xmlns:a16="http://schemas.microsoft.com/office/drawing/2014/main" id="{1A07CCF3-AC32-488C-B67E-4779C6E87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3" y="2928"/>
              <a:ext cx="898" cy="0"/>
            </a:xfrm>
            <a:prstGeom prst="line">
              <a:avLst/>
            </a:prstGeom>
            <a:noFill/>
            <a:ln w="41275">
              <a:solidFill>
                <a:schemeClr val="hlink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0" name="Line 44">
              <a:extLst>
                <a:ext uri="{FF2B5EF4-FFF2-40B4-BE49-F238E27FC236}">
                  <a16:creationId xmlns:a16="http://schemas.microsoft.com/office/drawing/2014/main" id="{63078F11-D1C9-426C-8F35-CB376A901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2784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" name="Line 45">
              <a:extLst>
                <a:ext uri="{FF2B5EF4-FFF2-40B4-BE49-F238E27FC236}">
                  <a16:creationId xmlns:a16="http://schemas.microsoft.com/office/drawing/2014/main" id="{F40862E3-04F9-4D30-8F70-62E4D760F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3" y="2784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2" name="Line 46">
              <a:extLst>
                <a:ext uri="{FF2B5EF4-FFF2-40B4-BE49-F238E27FC236}">
                  <a16:creationId xmlns:a16="http://schemas.microsoft.com/office/drawing/2014/main" id="{2A95DECF-B403-4FA8-8E71-43461F75B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3" y="2784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47">
            <a:extLst>
              <a:ext uri="{FF2B5EF4-FFF2-40B4-BE49-F238E27FC236}">
                <a16:creationId xmlns:a16="http://schemas.microsoft.com/office/drawing/2014/main" id="{2460BA23-9303-4744-ACD1-6AE9A5AC5183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2371725"/>
            <a:ext cx="3173412" cy="1057275"/>
            <a:chOff x="2211" y="1728"/>
            <a:chExt cx="1999" cy="666"/>
          </a:xfrm>
        </p:grpSpPr>
        <p:sp>
          <p:nvSpPr>
            <p:cNvPr id="5146" name="Oval 48">
              <a:extLst>
                <a:ext uri="{FF2B5EF4-FFF2-40B4-BE49-F238E27FC236}">
                  <a16:creationId xmlns:a16="http://schemas.microsoft.com/office/drawing/2014/main" id="{670A9578-1CE1-41B7-B6C6-B29D04825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728"/>
              <a:ext cx="384" cy="666"/>
            </a:xfrm>
            <a:prstGeom prst="ellipse">
              <a:avLst/>
            </a:prstGeom>
            <a:noFill/>
            <a:ln w="412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5147" name="Line 49">
              <a:extLst>
                <a:ext uri="{FF2B5EF4-FFF2-40B4-BE49-F238E27FC236}">
                  <a16:creationId xmlns:a16="http://schemas.microsoft.com/office/drawing/2014/main" id="{EC8F5361-3C2D-421E-AC3F-949811D4CF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1824"/>
              <a:ext cx="0" cy="528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 type="arrow" w="med" len="lg"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8" name="Line 50">
              <a:extLst>
                <a:ext uri="{FF2B5EF4-FFF2-40B4-BE49-F238E27FC236}">
                  <a16:creationId xmlns:a16="http://schemas.microsoft.com/office/drawing/2014/main" id="{0EAF6C0E-EC26-4A58-B71D-6DEA84DFE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112"/>
              <a:ext cx="898" cy="0"/>
            </a:xfrm>
            <a:prstGeom prst="line">
              <a:avLst/>
            </a:prstGeom>
            <a:noFill/>
            <a:ln w="41275">
              <a:solidFill>
                <a:schemeClr val="hlink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9" name="Line 51">
              <a:extLst>
                <a:ext uri="{FF2B5EF4-FFF2-40B4-BE49-F238E27FC236}">
                  <a16:creationId xmlns:a16="http://schemas.microsoft.com/office/drawing/2014/main" id="{B72BE81C-6FAC-42A0-AAB3-F6A6AC47C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968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0" name="Line 52">
              <a:extLst>
                <a:ext uri="{FF2B5EF4-FFF2-40B4-BE49-F238E27FC236}">
                  <a16:creationId xmlns:a16="http://schemas.microsoft.com/office/drawing/2014/main" id="{6BA74ACF-D8FB-4F79-BF5A-0670A7138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968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1" name="Line 53">
              <a:extLst>
                <a:ext uri="{FF2B5EF4-FFF2-40B4-BE49-F238E27FC236}">
                  <a16:creationId xmlns:a16="http://schemas.microsoft.com/office/drawing/2014/main" id="{8E72FAC9-7E59-4827-97E9-2560C80996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968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2" name="Line 54">
              <a:extLst>
                <a:ext uri="{FF2B5EF4-FFF2-40B4-BE49-F238E27FC236}">
                  <a16:creationId xmlns:a16="http://schemas.microsoft.com/office/drawing/2014/main" id="{58F722D0-83A7-467B-8B2C-73EE3543D8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2" y="2112"/>
              <a:ext cx="898" cy="0"/>
            </a:xfrm>
            <a:prstGeom prst="line">
              <a:avLst/>
            </a:prstGeom>
            <a:noFill/>
            <a:ln w="41275">
              <a:solidFill>
                <a:schemeClr val="hlink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3" name="Line 55">
              <a:extLst>
                <a:ext uri="{FF2B5EF4-FFF2-40B4-BE49-F238E27FC236}">
                  <a16:creationId xmlns:a16="http://schemas.microsoft.com/office/drawing/2014/main" id="{2C318EB4-A59F-434B-8E88-DB05F1425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968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4" name="Line 56">
              <a:extLst>
                <a:ext uri="{FF2B5EF4-FFF2-40B4-BE49-F238E27FC236}">
                  <a16:creationId xmlns:a16="http://schemas.microsoft.com/office/drawing/2014/main" id="{86B51D5D-605B-4760-BA94-7B9670DE0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968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5" name="Line 57">
              <a:extLst>
                <a:ext uri="{FF2B5EF4-FFF2-40B4-BE49-F238E27FC236}">
                  <a16:creationId xmlns:a16="http://schemas.microsoft.com/office/drawing/2014/main" id="{AEFAC820-B94A-400C-8A7A-FA1E6E316D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3" y="1968"/>
              <a:ext cx="0" cy="288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6" name="Text Box 58">
              <a:extLst>
                <a:ext uri="{FF2B5EF4-FFF2-40B4-BE49-F238E27FC236}">
                  <a16:creationId xmlns:a16="http://schemas.microsoft.com/office/drawing/2014/main" id="{F7E2D4F2-21D1-456A-8F97-517A1BE00E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1" y="1872"/>
              <a:ext cx="22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000" b="0">
                  <a:solidFill>
                    <a:srgbClr val="FF0000"/>
                  </a:solidFill>
                </a:rPr>
                <a:t>•</a:t>
              </a:r>
              <a:endParaRPr lang="en-US" altLang="zh-CN" sz="4000" b="0"/>
            </a:p>
          </p:txBody>
        </p:sp>
        <p:sp>
          <p:nvSpPr>
            <p:cNvPr id="5157" name="Text Box 59">
              <a:extLst>
                <a:ext uri="{FF2B5EF4-FFF2-40B4-BE49-F238E27FC236}">
                  <a16:creationId xmlns:a16="http://schemas.microsoft.com/office/drawing/2014/main" id="{BDF4A4FF-A71C-4AA3-87C6-F802C5292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1" y="1872"/>
              <a:ext cx="22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000" b="0">
                  <a:solidFill>
                    <a:srgbClr val="FF0000"/>
                  </a:solidFill>
                </a:rPr>
                <a:t>•</a:t>
              </a:r>
              <a:endParaRPr lang="en-US" altLang="zh-CN" sz="4000" b="0"/>
            </a:p>
          </p:txBody>
        </p:sp>
        <p:sp>
          <p:nvSpPr>
            <p:cNvPr id="5158" name="Text Box 60">
              <a:extLst>
                <a:ext uri="{FF2B5EF4-FFF2-40B4-BE49-F238E27FC236}">
                  <a16:creationId xmlns:a16="http://schemas.microsoft.com/office/drawing/2014/main" id="{126A81E7-E9F4-48F2-A315-A8696E582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7" y="1872"/>
              <a:ext cx="22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000" b="0">
                  <a:solidFill>
                    <a:srgbClr val="FF0000"/>
                  </a:solidFill>
                </a:rPr>
                <a:t>•</a:t>
              </a:r>
              <a:endParaRPr lang="en-US" altLang="zh-CN" sz="4000" b="0"/>
            </a:p>
          </p:txBody>
        </p:sp>
      </p:grpSp>
      <p:sp>
        <p:nvSpPr>
          <p:cNvPr id="1229885" name="Oval 61">
            <a:extLst>
              <a:ext uri="{FF2B5EF4-FFF2-40B4-BE49-F238E27FC236}">
                <a16:creationId xmlns:a16="http://schemas.microsoft.com/office/drawing/2014/main" id="{6DF9C7C5-8A0B-4E78-9AB2-5E32C33AD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3" y="2371725"/>
            <a:ext cx="609600" cy="1057275"/>
          </a:xfrm>
          <a:prstGeom prst="ellipse">
            <a:avLst/>
          </a:prstGeom>
          <a:noFill/>
          <a:ln w="412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>
              <a:solidFill>
                <a:schemeClr val="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229886" name="Line 62">
            <a:extLst>
              <a:ext uri="{FF2B5EF4-FFF2-40B4-BE49-F238E27FC236}">
                <a16:creationId xmlns:a16="http://schemas.microsoft.com/office/drawing/2014/main" id="{F4D0825F-E14C-4D9B-BDB6-2CFD31A08D8C}"/>
              </a:ext>
            </a:extLst>
          </p:cNvPr>
          <p:cNvSpPr>
            <a:spLocks noChangeShapeType="1"/>
          </p:cNvSpPr>
          <p:nvPr/>
        </p:nvSpPr>
        <p:spPr bwMode="auto">
          <a:xfrm rot="3004901" flipH="1" flipV="1">
            <a:off x="4298950" y="2555876"/>
            <a:ext cx="1587" cy="766762"/>
          </a:xfrm>
          <a:prstGeom prst="line">
            <a:avLst/>
          </a:prstGeom>
          <a:noFill/>
          <a:ln w="22225">
            <a:solidFill>
              <a:srgbClr val="00FF00"/>
            </a:solidFill>
            <a:round/>
            <a:headEnd type="arrow" w="med" len="lg"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887" name="Line 63">
            <a:extLst>
              <a:ext uri="{FF2B5EF4-FFF2-40B4-BE49-F238E27FC236}">
                <a16:creationId xmlns:a16="http://schemas.microsoft.com/office/drawing/2014/main" id="{44EE6457-B8C1-4EDC-B55D-F0B4A34A2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8488" y="2971800"/>
            <a:ext cx="1425575" cy="9525"/>
          </a:xfrm>
          <a:prstGeom prst="line">
            <a:avLst/>
          </a:prstGeom>
          <a:noFill/>
          <a:ln w="41275">
            <a:solidFill>
              <a:schemeClr val="hlink"/>
            </a:solidFill>
            <a:round/>
            <a:headEnd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888" name="Line 64">
            <a:extLst>
              <a:ext uri="{FF2B5EF4-FFF2-40B4-BE49-F238E27FC236}">
                <a16:creationId xmlns:a16="http://schemas.microsoft.com/office/drawing/2014/main" id="{68D4D844-AC5C-4D7A-ACF8-F107B10816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5300" y="1136650"/>
            <a:ext cx="1101725" cy="1266825"/>
          </a:xfrm>
          <a:prstGeom prst="line">
            <a:avLst/>
          </a:prstGeom>
          <a:noFill/>
          <a:ln w="19050">
            <a:solidFill>
              <a:srgbClr val="66FFFF"/>
            </a:solidFill>
            <a:prstDash val="dash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889" name="Line 65">
            <a:extLst>
              <a:ext uri="{FF2B5EF4-FFF2-40B4-BE49-F238E27FC236}">
                <a16:creationId xmlns:a16="http://schemas.microsoft.com/office/drawing/2014/main" id="{6B08B5D1-D93A-4CEF-B68E-B3495CA688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2000" y="838200"/>
            <a:ext cx="1588" cy="1943100"/>
          </a:xfrm>
          <a:prstGeom prst="line">
            <a:avLst/>
          </a:prstGeom>
          <a:noFill/>
          <a:ln w="19050">
            <a:solidFill>
              <a:schemeClr val="hlink"/>
            </a:solidFill>
            <a:prstDash val="dash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890" name="Line 66">
            <a:extLst>
              <a:ext uri="{FF2B5EF4-FFF2-40B4-BE49-F238E27FC236}">
                <a16:creationId xmlns:a16="http://schemas.microsoft.com/office/drawing/2014/main" id="{A5F5D5DE-96EE-4242-B6E5-FFB1C63087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07238" y="1158875"/>
            <a:ext cx="531812" cy="333375"/>
          </a:xfrm>
          <a:prstGeom prst="line">
            <a:avLst/>
          </a:prstGeom>
          <a:noFill/>
          <a:ln w="22225">
            <a:solidFill>
              <a:schemeClr val="hlink"/>
            </a:solidFill>
            <a:prstDash val="sys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891" name="Line 67">
            <a:extLst>
              <a:ext uri="{FF2B5EF4-FFF2-40B4-BE49-F238E27FC236}">
                <a16:creationId xmlns:a16="http://schemas.microsoft.com/office/drawing/2014/main" id="{D63A302D-E389-4336-97A4-ADA5498B76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12000" y="1462088"/>
            <a:ext cx="550863" cy="635000"/>
          </a:xfrm>
          <a:prstGeom prst="line">
            <a:avLst/>
          </a:prstGeom>
          <a:noFill/>
          <a:ln w="31750">
            <a:solidFill>
              <a:srgbClr val="66FFFF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892" name="Line 68">
            <a:extLst>
              <a:ext uri="{FF2B5EF4-FFF2-40B4-BE49-F238E27FC236}">
                <a16:creationId xmlns:a16="http://schemas.microsoft.com/office/drawing/2014/main" id="{A2D5A63D-991C-4548-9393-3E8AB8FD78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7238" y="1127125"/>
            <a:ext cx="0" cy="1001713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 type="triangle" w="sm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893" name="Arc 69">
            <a:extLst>
              <a:ext uri="{FF2B5EF4-FFF2-40B4-BE49-F238E27FC236}">
                <a16:creationId xmlns:a16="http://schemas.microsoft.com/office/drawing/2014/main" id="{9CFC37FA-CF23-40B9-A129-A600353D7F6C}"/>
              </a:ext>
            </a:extLst>
          </p:cNvPr>
          <p:cNvSpPr>
            <a:spLocks/>
          </p:cNvSpPr>
          <p:nvPr/>
        </p:nvSpPr>
        <p:spPr bwMode="auto">
          <a:xfrm>
            <a:off x="7112000" y="1751013"/>
            <a:ext cx="266700" cy="65087"/>
          </a:xfrm>
          <a:custGeom>
            <a:avLst/>
            <a:gdLst>
              <a:gd name="T0" fmla="*/ 0 w 21140"/>
              <a:gd name="T1" fmla="*/ 0 h 21600"/>
              <a:gd name="T2" fmla="*/ 2147483646 w 21140"/>
              <a:gd name="T3" fmla="*/ 2147483646 h 21600"/>
              <a:gd name="T4" fmla="*/ 0 w 21140"/>
              <a:gd name="T5" fmla="*/ 2147483646 h 21600"/>
              <a:gd name="T6" fmla="*/ 0 60000 65536"/>
              <a:gd name="T7" fmla="*/ 0 60000 65536"/>
              <a:gd name="T8" fmla="*/ 0 60000 65536"/>
              <a:gd name="T9" fmla="*/ 0 w 21140"/>
              <a:gd name="T10" fmla="*/ 0 h 21600"/>
              <a:gd name="T11" fmla="*/ 21140 w 2114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140" h="21600" fill="none" extrusionOk="0">
                <a:moveTo>
                  <a:pt x="-1" y="0"/>
                </a:moveTo>
                <a:cubicBezTo>
                  <a:pt x="10220" y="0"/>
                  <a:pt x="19041" y="7162"/>
                  <a:pt x="21139" y="17165"/>
                </a:cubicBezTo>
              </a:path>
              <a:path w="21140" h="21600" stroke="0" extrusionOk="0">
                <a:moveTo>
                  <a:pt x="-1" y="0"/>
                </a:moveTo>
                <a:cubicBezTo>
                  <a:pt x="10220" y="0"/>
                  <a:pt x="19041" y="7162"/>
                  <a:pt x="21139" y="1716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29894" name="Object 70">
            <a:extLst>
              <a:ext uri="{FF2B5EF4-FFF2-40B4-BE49-F238E27FC236}">
                <a16:creationId xmlns:a16="http://schemas.microsoft.com/office/drawing/2014/main" id="{D6CAF45C-EDFC-43B9-BE8C-D9831C2040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1700" y="2135188"/>
          <a:ext cx="1497013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990" name="公式" r:id="rId3" imgW="1638275" imgH="276157" progId="Equation.3">
                  <p:embed/>
                </p:oleObj>
              </mc:Choice>
              <mc:Fallback>
                <p:oleObj name="公式" r:id="rId3" imgW="1638275" imgH="276157" progId="Equation.3">
                  <p:embed/>
                  <p:pic>
                    <p:nvPicPr>
                      <p:cNvPr id="1229894" name="Object 70">
                        <a:extLst>
                          <a:ext uri="{FF2B5EF4-FFF2-40B4-BE49-F238E27FC236}">
                            <a16:creationId xmlns:a16="http://schemas.microsoft.com/office/drawing/2014/main" id="{D6CAF45C-EDFC-43B9-BE8C-D9831C2040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2135188"/>
                        <a:ext cx="1497013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95" name="Object 71">
            <a:extLst>
              <a:ext uri="{FF2B5EF4-FFF2-40B4-BE49-F238E27FC236}">
                <a16:creationId xmlns:a16="http://schemas.microsoft.com/office/drawing/2014/main" id="{7346333E-A5EA-4D71-B072-5D288346BD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6875" y="1301750"/>
          <a:ext cx="252413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991" name="公式" r:id="rId5" imgW="238233" imgH="257175" progId="Equation.3">
                  <p:embed/>
                </p:oleObj>
              </mc:Choice>
              <mc:Fallback>
                <p:oleObj name="公式" r:id="rId5" imgW="238233" imgH="257175" progId="Equation.3">
                  <p:embed/>
                  <p:pic>
                    <p:nvPicPr>
                      <p:cNvPr id="1229895" name="Object 71">
                        <a:extLst>
                          <a:ext uri="{FF2B5EF4-FFF2-40B4-BE49-F238E27FC236}">
                            <a16:creationId xmlns:a16="http://schemas.microsoft.com/office/drawing/2014/main" id="{7346333E-A5EA-4D71-B072-5D288346BD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75" y="1301750"/>
                        <a:ext cx="252413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96" name="Object 72">
            <a:extLst>
              <a:ext uri="{FF2B5EF4-FFF2-40B4-BE49-F238E27FC236}">
                <a16:creationId xmlns:a16="http://schemas.microsoft.com/office/drawing/2014/main" id="{88F9C13D-5D7F-48FB-B2CF-92803B4CD4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8675" y="1484313"/>
          <a:ext cx="241300" cy="2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992" name="公式" r:id="rId7" imgW="228753" imgH="190432" progId="Equation.3">
                  <p:embed/>
                </p:oleObj>
              </mc:Choice>
              <mc:Fallback>
                <p:oleObj name="公式" r:id="rId7" imgW="228753" imgH="190432" progId="Equation.3">
                  <p:embed/>
                  <p:pic>
                    <p:nvPicPr>
                      <p:cNvPr id="1229896" name="Object 72">
                        <a:extLst>
                          <a:ext uri="{FF2B5EF4-FFF2-40B4-BE49-F238E27FC236}">
                            <a16:creationId xmlns:a16="http://schemas.microsoft.com/office/drawing/2014/main" id="{88F9C13D-5D7F-48FB-B2CF-92803B4CD4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8675" y="1484313"/>
                        <a:ext cx="241300" cy="20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97" name="Text Box 73">
            <a:extLst>
              <a:ext uri="{FF2B5EF4-FFF2-40B4-BE49-F238E27FC236}">
                <a16:creationId xmlns:a16="http://schemas.microsoft.com/office/drawing/2014/main" id="{BC0A9B9A-4EAC-42FB-AD5B-01AA29ED3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950" y="3213100"/>
            <a:ext cx="1909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马吕斯定律</a:t>
            </a:r>
            <a:endParaRPr lang="en-US" altLang="zh-CN" sz="2000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29898" name="Object 74">
            <a:extLst>
              <a:ext uri="{FF2B5EF4-FFF2-40B4-BE49-F238E27FC236}">
                <a16:creationId xmlns:a16="http://schemas.microsoft.com/office/drawing/2014/main" id="{44B2EC47-AFFF-4C03-A42F-106D986D10AA}"/>
              </a:ext>
            </a:extLst>
          </p:cNvPr>
          <p:cNvGraphicFramePr>
            <a:graphicFrameLocks/>
          </p:cNvGraphicFramePr>
          <p:nvPr/>
        </p:nvGraphicFramePr>
        <p:xfrm>
          <a:off x="6659563" y="2708275"/>
          <a:ext cx="1668462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993" name="公式" r:id="rId9" imgW="1819320" imgH="352391" progId="Equation.3">
                  <p:embed/>
                </p:oleObj>
              </mc:Choice>
              <mc:Fallback>
                <p:oleObj name="公式" r:id="rId9" imgW="1819320" imgH="352391" progId="Equation.3">
                  <p:embed/>
                  <p:pic>
                    <p:nvPicPr>
                      <p:cNvPr id="1229898" name="Object 74">
                        <a:extLst>
                          <a:ext uri="{FF2B5EF4-FFF2-40B4-BE49-F238E27FC236}">
                            <a16:creationId xmlns:a16="http://schemas.microsoft.com/office/drawing/2014/main" id="{44B2EC47-AFFF-4C03-A42F-106D986D10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708275"/>
                        <a:ext cx="1668462" cy="35401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899" name="Picture 75" descr="bfg_jp">
            <a:extLst>
              <a:ext uri="{FF2B5EF4-FFF2-40B4-BE49-F238E27FC236}">
                <a16:creationId xmlns:a16="http://schemas.microsoft.com/office/drawing/2014/main" id="{09D54475-DC55-40A2-A7BF-A074663A082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789363"/>
            <a:ext cx="4163318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900" name="Picture 76" descr="xpg_jp">
            <a:extLst>
              <a:ext uri="{FF2B5EF4-FFF2-40B4-BE49-F238E27FC236}">
                <a16:creationId xmlns:a16="http://schemas.microsoft.com/office/drawing/2014/main" id="{69E91CA1-2458-4619-A2C8-AF54FD1F3C3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781425"/>
            <a:ext cx="424497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43" name="灯片编号占位符 1">
            <a:extLst>
              <a:ext uri="{FF2B5EF4-FFF2-40B4-BE49-F238E27FC236}">
                <a16:creationId xmlns:a16="http://schemas.microsoft.com/office/drawing/2014/main" id="{A3CE24F1-E7B5-4ED5-92DE-8B6721EEEED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9AF3577-B084-490A-96B6-632D41B98D78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  <p:sp>
        <p:nvSpPr>
          <p:cNvPr id="57" name="Rectangle 43">
            <a:extLst>
              <a:ext uri="{FF2B5EF4-FFF2-40B4-BE49-F238E27FC236}">
                <a16:creationId xmlns:a16="http://schemas.microsoft.com/office/drawing/2014/main" id="{101935F4-AE9B-4B1C-B24B-3173A50B5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063" y="714375"/>
            <a:ext cx="1571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66FFFF"/>
                </a:solidFill>
                <a:latin typeface="宋体" panose="02010600030101010101" pitchFamily="2" charset="-122"/>
              </a:rPr>
              <a:t>偏振化方向</a:t>
            </a:r>
          </a:p>
        </p:txBody>
      </p:sp>
      <p:sp>
        <p:nvSpPr>
          <p:cNvPr id="58" name="Rectangle 43">
            <a:extLst>
              <a:ext uri="{FF2B5EF4-FFF2-40B4-BE49-F238E27FC236}">
                <a16:creationId xmlns:a16="http://schemas.microsoft.com/office/drawing/2014/main" id="{02586176-EE6A-4D9A-8AD9-5E0CD7E42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213" y="2565400"/>
            <a:ext cx="976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66FFFF"/>
                </a:solidFill>
                <a:latin typeface="宋体" panose="02010600030101010101" pitchFamily="2" charset="-122"/>
              </a:rPr>
              <a:t>消光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2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2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2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2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22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22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22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22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2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22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22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22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22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22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22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22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840" grpId="0"/>
      <p:bldP spid="1229885" grpId="0" animBg="1"/>
      <p:bldP spid="1229897" grpId="0" autoUpdateAnimBg="0"/>
      <p:bldP spid="57" grpId="0"/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2">
            <a:extLst>
              <a:ext uri="{FF2B5EF4-FFF2-40B4-BE49-F238E27FC236}">
                <a16:creationId xmlns:a16="http://schemas.microsoft.com/office/drawing/2014/main" id="{0E065683-0815-41E4-B97C-99C4464133AE}"/>
              </a:ext>
            </a:extLst>
          </p:cNvPr>
          <p:cNvSpPr>
            <a:spLocks noChangeArrowheads="1"/>
          </p:cNvSpPr>
          <p:nvPr/>
        </p:nvSpPr>
        <p:spPr bwMode="auto">
          <a:xfrm rot="20031760">
            <a:off x="6875463" y="4988074"/>
            <a:ext cx="144462" cy="142875"/>
          </a:xfrm>
          <a:prstGeom prst="rect">
            <a:avLst/>
          </a:prstGeom>
          <a:solidFill>
            <a:srgbClr val="CCFFFF">
              <a:alpha val="18039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2" name="Text Box 6">
            <a:extLst>
              <a:ext uri="{FF2B5EF4-FFF2-40B4-BE49-F238E27FC236}">
                <a16:creationId xmlns:a16="http://schemas.microsoft.com/office/drawing/2014/main" id="{931A29E6-AD9B-45FA-A06C-43F6DD275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56" y="4155737"/>
            <a:ext cx="4143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 dirty="0" err="1">
                <a:solidFill>
                  <a:srgbClr val="FFCC00"/>
                </a:solidFill>
                <a:ea typeface="SimHei" panose="02010609060101010101" pitchFamily="49" charset="-122"/>
              </a:rPr>
              <a:t>i</a:t>
            </a:r>
            <a:r>
              <a:rPr lang="en-US" altLang="zh-CN" sz="2000" b="0" baseline="-6000" dirty="0" err="1">
                <a:solidFill>
                  <a:srgbClr val="FFCC00"/>
                </a:solidFill>
                <a:ea typeface="SimHei" panose="02010609060101010101" pitchFamily="49" charset="-122"/>
              </a:rPr>
              <a:t>b</a:t>
            </a:r>
            <a:r>
              <a:rPr lang="en-US" altLang="zh-CN" sz="2000" b="0" baseline="-6000" dirty="0">
                <a:solidFill>
                  <a:srgbClr val="FFCC00"/>
                </a:solidFill>
                <a:ea typeface="SimHei" panose="02010609060101010101" pitchFamily="49" charset="-122"/>
              </a:rPr>
              <a:t> </a:t>
            </a:r>
            <a:r>
              <a:rPr lang="en-US" altLang="zh-CN" sz="2000" b="0" baseline="-6000" dirty="0">
                <a:solidFill>
                  <a:schemeClr val="bg1"/>
                </a:solidFill>
                <a:ea typeface="SimHei" panose="02010609060101010101" pitchFamily="49" charset="-122"/>
              </a:rPr>
              <a:t> </a:t>
            </a:r>
            <a:r>
              <a:rPr lang="en-US" altLang="zh-CN" b="0" dirty="0">
                <a:solidFill>
                  <a:schemeClr val="bg1"/>
                </a:solidFill>
                <a:latin typeface="方正书宋简体"/>
                <a:ea typeface="SimHei" panose="02010609060101010101" pitchFamily="49" charset="-122"/>
              </a:rPr>
              <a:t>—</a:t>
            </a:r>
            <a:r>
              <a:rPr lang="en-US" altLang="zh-CN" b="0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altLang="en-US" dirty="0">
                <a:solidFill>
                  <a:srgbClr val="66FFFF"/>
                </a:solidFill>
                <a:latin typeface="宋体" panose="02010600030101010101" pitchFamily="2" charset="-122"/>
              </a:rPr>
              <a:t>布儒斯特角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或</a:t>
            </a:r>
            <a:r>
              <a:rPr lang="zh-CN" altLang="en-US" dirty="0">
                <a:solidFill>
                  <a:srgbClr val="66FFFF"/>
                </a:solidFill>
                <a:latin typeface="宋体" panose="02010600030101010101" pitchFamily="2" charset="-122"/>
              </a:rPr>
              <a:t>起偏角</a:t>
            </a:r>
            <a:endParaRPr lang="zh-CN" altLang="en-US" b="0" dirty="0">
              <a:solidFill>
                <a:srgbClr val="66FFFF"/>
              </a:solidFill>
              <a:latin typeface="宋体" panose="02010600030101010101" pitchFamily="2" charset="-122"/>
            </a:endParaRPr>
          </a:p>
        </p:txBody>
      </p:sp>
      <p:sp>
        <p:nvSpPr>
          <p:cNvPr id="43" name="Rectangle 16">
            <a:extLst>
              <a:ext uri="{FF2B5EF4-FFF2-40B4-BE49-F238E27FC236}">
                <a16:creationId xmlns:a16="http://schemas.microsoft.com/office/drawing/2014/main" id="{396DF9F5-997C-4BBC-84F8-75FCDC836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4678511"/>
            <a:ext cx="11525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1800" dirty="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线偏振光</a:t>
            </a:r>
          </a:p>
        </p:txBody>
      </p:sp>
      <p:sp>
        <p:nvSpPr>
          <p:cNvPr id="44" name="Rectangle 30">
            <a:extLst>
              <a:ext uri="{FF2B5EF4-FFF2-40B4-BE49-F238E27FC236}">
                <a16:creationId xmlns:a16="http://schemas.microsoft.com/office/drawing/2014/main" id="{9AD1AAC7-67ED-4EBD-8977-9B261040B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016" y="3680431"/>
            <a:ext cx="8501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当</a:t>
            </a:r>
            <a:r>
              <a:rPr lang="en-US" altLang="zh-CN" i="1" dirty="0" err="1">
                <a:solidFill>
                  <a:srgbClr val="FFFF00"/>
                </a:solidFill>
                <a:ea typeface="楷体_GB2312" pitchFamily="49" charset="-122"/>
              </a:rPr>
              <a:t>i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 + γ = 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90</a:t>
            </a:r>
            <a:r>
              <a:rPr lang="en-US" altLang="zh-CN" baseline="40000" dirty="0">
                <a:solidFill>
                  <a:srgbClr val="FFFF00"/>
                </a:solidFill>
                <a:ea typeface="楷体_GB2312" pitchFamily="49" charset="-122"/>
              </a:rPr>
              <a:t>o</a:t>
            </a:r>
            <a:r>
              <a:rPr lang="en-US" altLang="zh-CN" i="1" baseline="40000" dirty="0">
                <a:solidFill>
                  <a:srgbClr val="FFFF00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时，反射光为线偏振光（</a:t>
            </a:r>
            <a:r>
              <a:rPr kumimoji="0" lang="zh-CN" altLang="en-US" dirty="0">
                <a:solidFill>
                  <a:schemeClr val="bg1"/>
                </a:solidFill>
              </a:rPr>
              <a:t>振动方向垂直于入射面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45" name="Rectangle 34">
            <a:extLst>
              <a:ext uri="{FF2B5EF4-FFF2-40B4-BE49-F238E27FC236}">
                <a16:creationId xmlns:a16="http://schemas.microsoft.com/office/drawing/2014/main" id="{BA4DF216-6B2F-47B0-896A-A88309F59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062566"/>
            <a:ext cx="58467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布儒斯特定律  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获得反射光为线偏振光 </a:t>
            </a:r>
          </a:p>
        </p:txBody>
      </p:sp>
      <p:graphicFrame>
        <p:nvGraphicFramePr>
          <p:cNvPr id="47" name="Object 13">
            <a:extLst>
              <a:ext uri="{FF2B5EF4-FFF2-40B4-BE49-F238E27FC236}">
                <a16:creationId xmlns:a16="http://schemas.microsoft.com/office/drawing/2014/main" id="{83158FCD-2C6B-473F-B418-7D866D7F4B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250907"/>
              </p:ext>
            </p:extLst>
          </p:nvPr>
        </p:nvGraphicFramePr>
        <p:xfrm>
          <a:off x="1322118" y="4818048"/>
          <a:ext cx="21304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91" name="公式" r:id="rId3" imgW="2095465" imgH="876410" progId="Equation.3">
                  <p:embed/>
                </p:oleObj>
              </mc:Choice>
              <mc:Fallback>
                <p:oleObj name="公式" r:id="rId3" imgW="2095465" imgH="876410" progId="Equation.3">
                  <p:embed/>
                  <p:pic>
                    <p:nvPicPr>
                      <p:cNvPr id="12324" name="Object 13">
                        <a:extLst>
                          <a:ext uri="{FF2B5EF4-FFF2-40B4-BE49-F238E27FC236}">
                            <a16:creationId xmlns:a16="http://schemas.microsoft.com/office/drawing/2014/main" id="{6E5AFB16-826C-4726-86F6-C4987026FB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118" y="4818048"/>
                        <a:ext cx="21304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37">
            <a:extLst>
              <a:ext uri="{FF2B5EF4-FFF2-40B4-BE49-F238E27FC236}">
                <a16:creationId xmlns:a16="http://schemas.microsoft.com/office/drawing/2014/main" id="{F2D734CA-4406-4B01-94E6-5F80AB47C4E8}"/>
              </a:ext>
            </a:extLst>
          </p:cNvPr>
          <p:cNvGrpSpPr>
            <a:grpSpLocks/>
          </p:cNvGrpSpPr>
          <p:nvPr/>
        </p:nvGrpSpPr>
        <p:grpSpPr bwMode="auto">
          <a:xfrm>
            <a:off x="7237413" y="4554686"/>
            <a:ext cx="579437" cy="338138"/>
            <a:chOff x="4456" y="3038"/>
            <a:chExt cx="365" cy="213"/>
          </a:xfrm>
        </p:grpSpPr>
        <p:graphicFrame>
          <p:nvGraphicFramePr>
            <p:cNvPr id="49" name="Object 27">
              <a:extLst>
                <a:ext uri="{FF2B5EF4-FFF2-40B4-BE49-F238E27FC236}">
                  <a16:creationId xmlns:a16="http://schemas.microsoft.com/office/drawing/2014/main" id="{A94EDD2B-54F2-4FAF-9509-C3C3B7BD45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48" y="3038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92" name="公式" r:id="rId5" imgW="76129" imgH="83993" progId="Equation.3">
                    <p:embed/>
                  </p:oleObj>
                </mc:Choice>
                <mc:Fallback>
                  <p:oleObj name="公式" r:id="rId5" imgW="76129" imgH="83993" progId="Equation.3">
                    <p:embed/>
                    <p:pic>
                      <p:nvPicPr>
                        <p:cNvPr id="25672" name="Object 27">
                          <a:extLst>
                            <a:ext uri="{FF2B5EF4-FFF2-40B4-BE49-F238E27FC236}">
                              <a16:creationId xmlns:a16="http://schemas.microsoft.com/office/drawing/2014/main" id="{6003EA26-72D0-409C-8452-9C95409E66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8" y="3038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28">
              <a:extLst>
                <a:ext uri="{FF2B5EF4-FFF2-40B4-BE49-F238E27FC236}">
                  <a16:creationId xmlns:a16="http://schemas.microsoft.com/office/drawing/2014/main" id="{EEE91E6C-A282-4A7E-812B-F1ED110858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6" y="3170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93" name="公式" r:id="rId7" imgW="76129" imgH="83993" progId="Equation.3">
                    <p:embed/>
                  </p:oleObj>
                </mc:Choice>
                <mc:Fallback>
                  <p:oleObj name="公式" r:id="rId7" imgW="76129" imgH="83993" progId="Equation.3">
                    <p:embed/>
                    <p:pic>
                      <p:nvPicPr>
                        <p:cNvPr id="25673" name="Object 28">
                          <a:extLst>
                            <a:ext uri="{FF2B5EF4-FFF2-40B4-BE49-F238E27FC236}">
                              <a16:creationId xmlns:a16="http://schemas.microsoft.com/office/drawing/2014/main" id="{D204E9B9-961A-49D6-B337-9706948D4A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6" y="3170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29">
              <a:extLst>
                <a:ext uri="{FF2B5EF4-FFF2-40B4-BE49-F238E27FC236}">
                  <a16:creationId xmlns:a16="http://schemas.microsoft.com/office/drawing/2014/main" id="{B392C708-6591-40F6-9D8E-AC70FCF1CF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3104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94" name="公式" r:id="rId9" imgW="76129" imgH="83993" progId="Equation.3">
                    <p:embed/>
                  </p:oleObj>
                </mc:Choice>
                <mc:Fallback>
                  <p:oleObj name="公式" r:id="rId9" imgW="76129" imgH="83993" progId="Equation.3">
                    <p:embed/>
                    <p:pic>
                      <p:nvPicPr>
                        <p:cNvPr id="25674" name="Object 29">
                          <a:extLst>
                            <a:ext uri="{FF2B5EF4-FFF2-40B4-BE49-F238E27FC236}">
                              <a16:creationId xmlns:a16="http://schemas.microsoft.com/office/drawing/2014/main" id="{E459A5EC-9EA3-41EA-8A58-2BA3DC9FC8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104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Group 43">
            <a:extLst>
              <a:ext uri="{FF2B5EF4-FFF2-40B4-BE49-F238E27FC236}">
                <a16:creationId xmlns:a16="http://schemas.microsoft.com/office/drawing/2014/main" id="{A6B8FFA9-E73A-4BCC-9CAE-4F3714CF7FC7}"/>
              </a:ext>
            </a:extLst>
          </p:cNvPr>
          <p:cNvGrpSpPr>
            <a:grpSpLocks/>
          </p:cNvGrpSpPr>
          <p:nvPr/>
        </p:nvGrpSpPr>
        <p:grpSpPr bwMode="auto">
          <a:xfrm>
            <a:off x="5500688" y="4180036"/>
            <a:ext cx="2697162" cy="1795463"/>
            <a:chOff x="3374" y="2798"/>
            <a:chExt cx="1699" cy="1131"/>
          </a:xfrm>
        </p:grpSpPr>
        <p:sp>
          <p:nvSpPr>
            <p:cNvPr id="53" name="Rectangle 44">
              <a:extLst>
                <a:ext uri="{FF2B5EF4-FFF2-40B4-BE49-F238E27FC236}">
                  <a16:creationId xmlns:a16="http://schemas.microsoft.com/office/drawing/2014/main" id="{673A77CF-B10B-403E-A738-B1CA2C6A0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" y="3327"/>
              <a:ext cx="1633" cy="602"/>
            </a:xfrm>
            <a:prstGeom prst="rect">
              <a:avLst/>
            </a:prstGeom>
            <a:solidFill>
              <a:srgbClr val="CCFFFF">
                <a:alpha val="4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aphicFrame>
          <p:nvGraphicFramePr>
            <p:cNvPr id="54" name="Object 16">
              <a:extLst>
                <a:ext uri="{FF2B5EF4-FFF2-40B4-BE49-F238E27FC236}">
                  <a16:creationId xmlns:a16="http://schemas.microsoft.com/office/drawing/2014/main" id="{AFD6851B-E2C0-46A8-9EAC-68018E7D36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6" y="2938"/>
            <a:ext cx="116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95" name="公式" r:id="rId11" imgW="190535" imgH="396209" progId="Equation.3">
                    <p:embed/>
                  </p:oleObj>
                </mc:Choice>
                <mc:Fallback>
                  <p:oleObj name="公式" r:id="rId11" imgW="190535" imgH="396209" progId="Equation.3">
                    <p:embed/>
                    <p:pic>
                      <p:nvPicPr>
                        <p:cNvPr id="25648" name="Object 16">
                          <a:extLst>
                            <a:ext uri="{FF2B5EF4-FFF2-40B4-BE49-F238E27FC236}">
                              <a16:creationId xmlns:a16="http://schemas.microsoft.com/office/drawing/2014/main" id="{78E9689B-F7F4-4681-9D69-6D53F6A047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2938"/>
                          <a:ext cx="116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Arc 46">
              <a:extLst>
                <a:ext uri="{FF2B5EF4-FFF2-40B4-BE49-F238E27FC236}">
                  <a16:creationId xmlns:a16="http://schemas.microsoft.com/office/drawing/2014/main" id="{7317C1C8-53C9-4C1F-B697-9BE2E6C87DD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109" y="3205"/>
              <a:ext cx="120" cy="78"/>
            </a:xfrm>
            <a:custGeom>
              <a:avLst/>
              <a:gdLst>
                <a:gd name="T0" fmla="*/ 0 w 22026"/>
                <a:gd name="T1" fmla="*/ 0 h 21600"/>
                <a:gd name="T2" fmla="*/ 0 w 22026"/>
                <a:gd name="T3" fmla="*/ 0 h 21600"/>
                <a:gd name="T4" fmla="*/ 0 w 22026"/>
                <a:gd name="T5" fmla="*/ 0 h 21600"/>
                <a:gd name="T6" fmla="*/ 0 60000 65536"/>
                <a:gd name="T7" fmla="*/ 0 60000 65536"/>
                <a:gd name="T8" fmla="*/ 0 60000 65536"/>
                <a:gd name="T9" fmla="*/ 0 w 22026"/>
                <a:gd name="T10" fmla="*/ 0 h 21600"/>
                <a:gd name="T11" fmla="*/ 22026 w 2202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26" h="21600" fill="none" extrusionOk="0">
                  <a:moveTo>
                    <a:pt x="0" y="4"/>
                  </a:moveTo>
                  <a:cubicBezTo>
                    <a:pt x="141" y="1"/>
                    <a:pt x="283" y="-1"/>
                    <a:pt x="426" y="0"/>
                  </a:cubicBezTo>
                  <a:cubicBezTo>
                    <a:pt x="12305" y="0"/>
                    <a:pt x="21955" y="9593"/>
                    <a:pt x="22025" y="21473"/>
                  </a:cubicBezTo>
                </a:path>
                <a:path w="22026" h="21600" stroke="0" extrusionOk="0">
                  <a:moveTo>
                    <a:pt x="0" y="4"/>
                  </a:moveTo>
                  <a:cubicBezTo>
                    <a:pt x="141" y="1"/>
                    <a:pt x="283" y="-1"/>
                    <a:pt x="426" y="0"/>
                  </a:cubicBezTo>
                  <a:cubicBezTo>
                    <a:pt x="12305" y="0"/>
                    <a:pt x="21955" y="9593"/>
                    <a:pt x="22025" y="21473"/>
                  </a:cubicBezTo>
                  <a:lnTo>
                    <a:pt x="426" y="21600"/>
                  </a:lnTo>
                  <a:lnTo>
                    <a:pt x="0" y="4"/>
                  </a:lnTo>
                  <a:close/>
                </a:path>
              </a:pathLst>
            </a:custGeom>
            <a:noFill/>
            <a:ln w="19050">
              <a:solidFill>
                <a:srgbClr val="CCE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Arc 47">
              <a:extLst>
                <a:ext uri="{FF2B5EF4-FFF2-40B4-BE49-F238E27FC236}">
                  <a16:creationId xmlns:a16="http://schemas.microsoft.com/office/drawing/2014/main" id="{59A86642-5487-434E-9ADB-C3EC638CA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3206"/>
              <a:ext cx="166" cy="66"/>
            </a:xfrm>
            <a:custGeom>
              <a:avLst/>
              <a:gdLst>
                <a:gd name="T0" fmla="*/ 0 w 21563"/>
                <a:gd name="T1" fmla="*/ 0 h 20673"/>
                <a:gd name="T2" fmla="*/ 0 w 21563"/>
                <a:gd name="T3" fmla="*/ 0 h 20673"/>
                <a:gd name="T4" fmla="*/ 0 w 21563"/>
                <a:gd name="T5" fmla="*/ 0 h 20673"/>
                <a:gd name="T6" fmla="*/ 0 60000 65536"/>
                <a:gd name="T7" fmla="*/ 0 60000 65536"/>
                <a:gd name="T8" fmla="*/ 0 60000 65536"/>
                <a:gd name="T9" fmla="*/ 0 w 21563"/>
                <a:gd name="T10" fmla="*/ 0 h 20673"/>
                <a:gd name="T11" fmla="*/ 21563 w 21563"/>
                <a:gd name="T12" fmla="*/ 20673 h 206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63" h="20673" fill="none" extrusionOk="0">
                  <a:moveTo>
                    <a:pt x="6259" y="0"/>
                  </a:moveTo>
                  <a:cubicBezTo>
                    <a:pt x="14921" y="2622"/>
                    <a:pt x="21029" y="10366"/>
                    <a:pt x="21562" y="19401"/>
                  </a:cubicBezTo>
                </a:path>
                <a:path w="21563" h="20673" stroke="0" extrusionOk="0">
                  <a:moveTo>
                    <a:pt x="6259" y="0"/>
                  </a:moveTo>
                  <a:cubicBezTo>
                    <a:pt x="14921" y="2622"/>
                    <a:pt x="21029" y="10366"/>
                    <a:pt x="21562" y="19401"/>
                  </a:cubicBezTo>
                  <a:lnTo>
                    <a:pt x="0" y="20673"/>
                  </a:lnTo>
                  <a:lnTo>
                    <a:pt x="6259" y="0"/>
                  </a:lnTo>
                  <a:close/>
                </a:path>
              </a:pathLst>
            </a:cu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48">
              <a:extLst>
                <a:ext uri="{FF2B5EF4-FFF2-40B4-BE49-F238E27FC236}">
                  <a16:creationId xmlns:a16="http://schemas.microsoft.com/office/drawing/2014/main" id="{D0E55205-C470-456D-9BED-3ED274D464B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60387" flipH="1">
              <a:off x="3466" y="2969"/>
              <a:ext cx="96" cy="107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49">
              <a:extLst>
                <a:ext uri="{FF2B5EF4-FFF2-40B4-BE49-F238E27FC236}">
                  <a16:creationId xmlns:a16="http://schemas.microsoft.com/office/drawing/2014/main" id="{7E8547F9-6E57-4ECF-ACE8-AE77562D21D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49019" flipV="1">
              <a:off x="4309" y="3644"/>
              <a:ext cx="151" cy="50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Arc 50">
              <a:extLst>
                <a:ext uri="{FF2B5EF4-FFF2-40B4-BE49-F238E27FC236}">
                  <a16:creationId xmlns:a16="http://schemas.microsoft.com/office/drawing/2014/main" id="{544A57AD-3B35-42BB-B27B-A4811831900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23" y="3450"/>
              <a:ext cx="59" cy="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zh-CN" altLang="en-US"/>
            </a:p>
          </p:txBody>
        </p:sp>
        <p:sp>
          <p:nvSpPr>
            <p:cNvPr id="60" name="Line 51">
              <a:extLst>
                <a:ext uri="{FF2B5EF4-FFF2-40B4-BE49-F238E27FC236}">
                  <a16:creationId xmlns:a16="http://schemas.microsoft.com/office/drawing/2014/main" id="{344F14EB-1A03-4372-B88B-5496D13C69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91" y="2963"/>
              <a:ext cx="852" cy="376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52">
              <a:extLst>
                <a:ext uri="{FF2B5EF4-FFF2-40B4-BE49-F238E27FC236}">
                  <a16:creationId xmlns:a16="http://schemas.microsoft.com/office/drawing/2014/main" id="{EE02EA73-061E-4E0C-89E8-2233AFCC03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60387" flipH="1">
              <a:off x="3629" y="3035"/>
              <a:ext cx="96" cy="107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53">
              <a:extLst>
                <a:ext uri="{FF2B5EF4-FFF2-40B4-BE49-F238E27FC236}">
                  <a16:creationId xmlns:a16="http://schemas.microsoft.com/office/drawing/2014/main" id="{9996F87D-B4D3-4EDE-8618-ECB7AEBFDF2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60387" flipH="1">
              <a:off x="3766" y="3098"/>
              <a:ext cx="96" cy="107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54">
              <a:extLst>
                <a:ext uri="{FF2B5EF4-FFF2-40B4-BE49-F238E27FC236}">
                  <a16:creationId xmlns:a16="http://schemas.microsoft.com/office/drawing/2014/main" id="{C2BF5485-A04D-436E-8E59-5E71BF4F63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60387" flipH="1">
              <a:off x="3908" y="3158"/>
              <a:ext cx="96" cy="107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55">
              <a:extLst>
                <a:ext uri="{FF2B5EF4-FFF2-40B4-BE49-F238E27FC236}">
                  <a16:creationId xmlns:a16="http://schemas.microsoft.com/office/drawing/2014/main" id="{C7CB8FA5-1414-40BF-B66C-E0909F6A81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49019" flipV="1">
              <a:off x="4274" y="3578"/>
              <a:ext cx="151" cy="50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5" name="Object 17">
              <a:extLst>
                <a:ext uri="{FF2B5EF4-FFF2-40B4-BE49-F238E27FC236}">
                  <a16:creationId xmlns:a16="http://schemas.microsoft.com/office/drawing/2014/main" id="{427453F7-7657-4C99-9A3C-0DD3EEA03A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1" y="3486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96" name="公式" r:id="rId13" imgW="76129" imgH="83993" progId="Equation.3">
                    <p:embed/>
                  </p:oleObj>
                </mc:Choice>
                <mc:Fallback>
                  <p:oleObj name="公式" r:id="rId13" imgW="76129" imgH="83993" progId="Equation.3">
                    <p:embed/>
                    <p:pic>
                      <p:nvPicPr>
                        <p:cNvPr id="25659" name="Object 17">
                          <a:extLst>
                            <a:ext uri="{FF2B5EF4-FFF2-40B4-BE49-F238E27FC236}">
                              <a16:creationId xmlns:a16="http://schemas.microsoft.com/office/drawing/2014/main" id="{D42C9177-A890-456F-A33D-F897395BA2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1" y="3486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Object 18">
              <a:extLst>
                <a:ext uri="{FF2B5EF4-FFF2-40B4-BE49-F238E27FC236}">
                  <a16:creationId xmlns:a16="http://schemas.microsoft.com/office/drawing/2014/main" id="{A1DB7379-C6A1-4349-8E90-7175F8251A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3" y="2944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97" name="公式" r:id="rId15" imgW="76129" imgH="83993" progId="Equation.3">
                    <p:embed/>
                  </p:oleObj>
                </mc:Choice>
                <mc:Fallback>
                  <p:oleObj name="公式" r:id="rId15" imgW="76129" imgH="83993" progId="Equation.3">
                    <p:embed/>
                    <p:pic>
                      <p:nvPicPr>
                        <p:cNvPr id="25660" name="Object 18">
                          <a:extLst>
                            <a:ext uri="{FF2B5EF4-FFF2-40B4-BE49-F238E27FC236}">
                              <a16:creationId xmlns:a16="http://schemas.microsoft.com/office/drawing/2014/main" id="{D5ACBCB2-EC5C-45D4-9859-BDD6E2B5B4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2944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Object 19">
              <a:extLst>
                <a:ext uri="{FF2B5EF4-FFF2-40B4-BE49-F238E27FC236}">
                  <a16:creationId xmlns:a16="http://schemas.microsoft.com/office/drawing/2014/main" id="{69E7155C-463E-43EC-8265-9B9BDAFAA8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70" y="3020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98" name="公式" r:id="rId17" imgW="76129" imgH="83993" progId="Equation.3">
                    <p:embed/>
                  </p:oleObj>
                </mc:Choice>
                <mc:Fallback>
                  <p:oleObj name="公式" r:id="rId17" imgW="76129" imgH="83993" progId="Equation.3">
                    <p:embed/>
                    <p:pic>
                      <p:nvPicPr>
                        <p:cNvPr id="25661" name="Object 19">
                          <a:extLst>
                            <a:ext uri="{FF2B5EF4-FFF2-40B4-BE49-F238E27FC236}">
                              <a16:creationId xmlns:a16="http://schemas.microsoft.com/office/drawing/2014/main" id="{05C844A8-19CB-40BE-B6EE-0BF0D48CC0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0" y="3020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20">
              <a:extLst>
                <a:ext uri="{FF2B5EF4-FFF2-40B4-BE49-F238E27FC236}">
                  <a16:creationId xmlns:a16="http://schemas.microsoft.com/office/drawing/2014/main" id="{7CD66D1B-A2E2-4A02-AD91-2936959160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17" y="3084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99" name="公式" r:id="rId19" imgW="76129" imgH="83993" progId="Equation.3">
                    <p:embed/>
                  </p:oleObj>
                </mc:Choice>
                <mc:Fallback>
                  <p:oleObj name="公式" r:id="rId19" imgW="76129" imgH="83993" progId="Equation.3">
                    <p:embed/>
                    <p:pic>
                      <p:nvPicPr>
                        <p:cNvPr id="25662" name="Object 20">
                          <a:extLst>
                            <a:ext uri="{FF2B5EF4-FFF2-40B4-BE49-F238E27FC236}">
                              <a16:creationId xmlns:a16="http://schemas.microsoft.com/office/drawing/2014/main" id="{CA3EEB33-DA60-47C6-AFB7-3BDB22C003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7" y="3084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Object 21">
              <a:extLst>
                <a:ext uri="{FF2B5EF4-FFF2-40B4-BE49-F238E27FC236}">
                  <a16:creationId xmlns:a16="http://schemas.microsoft.com/office/drawing/2014/main" id="{54C3768C-A4BC-49CB-A3C9-43AA6D08A5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55" y="3148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600" name="公式" r:id="rId21" imgW="76129" imgH="83993" progId="Equation.3">
                    <p:embed/>
                  </p:oleObj>
                </mc:Choice>
                <mc:Fallback>
                  <p:oleObj name="公式" r:id="rId21" imgW="76129" imgH="83993" progId="Equation.3">
                    <p:embed/>
                    <p:pic>
                      <p:nvPicPr>
                        <p:cNvPr id="25663" name="Object 21">
                          <a:extLst>
                            <a:ext uri="{FF2B5EF4-FFF2-40B4-BE49-F238E27FC236}">
                              <a16:creationId xmlns:a16="http://schemas.microsoft.com/office/drawing/2014/main" id="{43238A0A-C7B1-43A4-B60F-98221CB54B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5" y="3148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22">
              <a:extLst>
                <a:ext uri="{FF2B5EF4-FFF2-40B4-BE49-F238E27FC236}">
                  <a16:creationId xmlns:a16="http://schemas.microsoft.com/office/drawing/2014/main" id="{428D4F0F-377F-45B1-B7B1-3EC80F19B3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99" y="3354"/>
            <a:ext cx="16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601" name="公式" r:id="rId23" imgW="274320" imgH="380937" progId="Equation.3">
                    <p:embed/>
                  </p:oleObj>
                </mc:Choice>
                <mc:Fallback>
                  <p:oleObj name="公式" r:id="rId23" imgW="274320" imgH="380937" progId="Equation.3">
                    <p:embed/>
                    <p:pic>
                      <p:nvPicPr>
                        <p:cNvPr id="25664" name="Object 22">
                          <a:extLst>
                            <a:ext uri="{FF2B5EF4-FFF2-40B4-BE49-F238E27FC236}">
                              <a16:creationId xmlns:a16="http://schemas.microsoft.com/office/drawing/2014/main" id="{B3D37852-218A-46B5-88A2-895F384C38E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9" y="3354"/>
                          <a:ext cx="161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23">
              <a:extLst>
                <a:ext uri="{FF2B5EF4-FFF2-40B4-BE49-F238E27FC236}">
                  <a16:creationId xmlns:a16="http://schemas.microsoft.com/office/drawing/2014/main" id="{1953B231-B413-4AD0-A5E1-3A0E11F9AD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74" y="3083"/>
            <a:ext cx="14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602" name="公式" r:id="rId25" imgW="243698" imgH="380937" progId="Equation.3">
                    <p:embed/>
                  </p:oleObj>
                </mc:Choice>
                <mc:Fallback>
                  <p:oleObj name="公式" r:id="rId25" imgW="243698" imgH="380937" progId="Equation.3">
                    <p:embed/>
                    <p:pic>
                      <p:nvPicPr>
                        <p:cNvPr id="25665" name="Object 23">
                          <a:extLst>
                            <a:ext uri="{FF2B5EF4-FFF2-40B4-BE49-F238E27FC236}">
                              <a16:creationId xmlns:a16="http://schemas.microsoft.com/office/drawing/2014/main" id="{A787DE06-122D-4147-BB3B-40062281DC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4" y="3083"/>
                          <a:ext cx="14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24">
              <a:extLst>
                <a:ext uri="{FF2B5EF4-FFF2-40B4-BE49-F238E27FC236}">
                  <a16:creationId xmlns:a16="http://schemas.microsoft.com/office/drawing/2014/main" id="{C41D62C3-91D5-494C-83C9-5513E79DFB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9" y="3475"/>
            <a:ext cx="113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603" name="公式" r:id="rId27" imgW="190535" imgH="266826" progId="Equation.3">
                    <p:embed/>
                  </p:oleObj>
                </mc:Choice>
                <mc:Fallback>
                  <p:oleObj name="公式" r:id="rId27" imgW="190535" imgH="266826" progId="Equation.3">
                    <p:embed/>
                    <p:pic>
                      <p:nvPicPr>
                        <p:cNvPr id="25666" name="Object 24">
                          <a:extLst>
                            <a:ext uri="{FF2B5EF4-FFF2-40B4-BE49-F238E27FC236}">
                              <a16:creationId xmlns:a16="http://schemas.microsoft.com/office/drawing/2014/main" id="{0D19A015-E26A-4603-9DE0-3459F8FBB1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3475"/>
                          <a:ext cx="113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25">
              <a:extLst>
                <a:ext uri="{FF2B5EF4-FFF2-40B4-BE49-F238E27FC236}">
                  <a16:creationId xmlns:a16="http://schemas.microsoft.com/office/drawing/2014/main" id="{4F950FEF-631A-4CF2-92C1-5CEA39BE7C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9" y="2959"/>
            <a:ext cx="116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604" name="公式" r:id="rId29" imgW="190535" imgH="396209" progId="Equation.3">
                    <p:embed/>
                  </p:oleObj>
                </mc:Choice>
                <mc:Fallback>
                  <p:oleObj name="公式" r:id="rId29" imgW="190535" imgH="396209" progId="Equation.3">
                    <p:embed/>
                    <p:pic>
                      <p:nvPicPr>
                        <p:cNvPr id="25667" name="Object 25">
                          <a:extLst>
                            <a:ext uri="{FF2B5EF4-FFF2-40B4-BE49-F238E27FC236}">
                              <a16:creationId xmlns:a16="http://schemas.microsoft.com/office/drawing/2014/main" id="{F05131C5-A3A4-43EC-9B23-A199774F16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2959"/>
                          <a:ext cx="116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" name="Line 65">
              <a:extLst>
                <a:ext uri="{FF2B5EF4-FFF2-40B4-BE49-F238E27FC236}">
                  <a16:creationId xmlns:a16="http://schemas.microsoft.com/office/drawing/2014/main" id="{C983E64E-704A-47D5-BA54-B609D3630F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5" y="2798"/>
              <a:ext cx="1" cy="110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5" name="Object 26">
              <a:extLst>
                <a:ext uri="{FF2B5EF4-FFF2-40B4-BE49-F238E27FC236}">
                  <a16:creationId xmlns:a16="http://schemas.microsoft.com/office/drawing/2014/main" id="{F71CE51E-21A7-43DC-B1AA-F60CEF4A36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81" y="3702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605" name="公式" r:id="rId31" imgW="76129" imgH="83993" progId="Equation.3">
                    <p:embed/>
                  </p:oleObj>
                </mc:Choice>
                <mc:Fallback>
                  <p:oleObj name="公式" r:id="rId31" imgW="76129" imgH="83993" progId="Equation.3">
                    <p:embed/>
                    <p:pic>
                      <p:nvPicPr>
                        <p:cNvPr id="25669" name="Object 26">
                          <a:extLst>
                            <a:ext uri="{FF2B5EF4-FFF2-40B4-BE49-F238E27FC236}">
                              <a16:creationId xmlns:a16="http://schemas.microsoft.com/office/drawing/2014/main" id="{B57270ED-7700-48DD-A7CB-0BA0143DB9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1" y="3702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" name="Line 67">
              <a:extLst>
                <a:ext uri="{FF2B5EF4-FFF2-40B4-BE49-F238E27FC236}">
                  <a16:creationId xmlns:a16="http://schemas.microsoft.com/office/drawing/2014/main" id="{D0A17259-C30E-4BFC-AEC7-B1DFD983E5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1" y="2955"/>
              <a:ext cx="852" cy="37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68">
              <a:extLst>
                <a:ext uri="{FF2B5EF4-FFF2-40B4-BE49-F238E27FC236}">
                  <a16:creationId xmlns:a16="http://schemas.microsoft.com/office/drawing/2014/main" id="{11AE8CF9-3FF3-414F-9AD4-C0E715B071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066" y="3490"/>
              <a:ext cx="590" cy="272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" name="矩形 77">
            <a:extLst>
              <a:ext uri="{FF2B5EF4-FFF2-40B4-BE49-F238E27FC236}">
                <a16:creationId xmlns:a16="http://schemas.microsoft.com/office/drawing/2014/main" id="{CCA30913-BADF-4D7E-A6E7-6B1D26C6F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97" y="5877272"/>
            <a:ext cx="4214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</a:rPr>
              <a:t>介质</a:t>
            </a:r>
            <a:r>
              <a:rPr kumimoji="0" lang="en-US" altLang="zh-CN" dirty="0">
                <a:solidFill>
                  <a:schemeClr val="bg1"/>
                </a:solidFill>
              </a:rPr>
              <a:t>2</a:t>
            </a:r>
            <a:r>
              <a:rPr kumimoji="0" lang="zh-CN" altLang="en-US" dirty="0">
                <a:solidFill>
                  <a:schemeClr val="bg1"/>
                </a:solidFill>
              </a:rPr>
              <a:t>对介质</a:t>
            </a:r>
            <a:r>
              <a:rPr kumimoji="0" lang="en-US" altLang="zh-CN" dirty="0">
                <a:solidFill>
                  <a:schemeClr val="bg1"/>
                </a:solidFill>
              </a:rPr>
              <a:t>1</a:t>
            </a:r>
            <a:r>
              <a:rPr kumimoji="0" lang="zh-CN" altLang="en-US" dirty="0">
                <a:solidFill>
                  <a:schemeClr val="bg1"/>
                </a:solidFill>
              </a:rPr>
              <a:t>的相对折射率</a:t>
            </a:r>
          </a:p>
        </p:txBody>
      </p:sp>
      <p:sp>
        <p:nvSpPr>
          <p:cNvPr id="80" name="Text Box 16">
            <a:extLst>
              <a:ext uri="{FF2B5EF4-FFF2-40B4-BE49-F238E27FC236}">
                <a16:creationId xmlns:a16="http://schemas.microsoft.com/office/drawing/2014/main" id="{F2BD6F33-1D69-4035-887F-A319D0527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85" y="408782"/>
            <a:ext cx="813214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3200" dirty="0">
                <a:solidFill>
                  <a:srgbClr val="66FF33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3200" dirty="0">
                <a:solidFill>
                  <a:srgbClr val="66FF33"/>
                </a:solidFill>
                <a:latin typeface="宋体" panose="02010600030101010101" pitchFamily="2" charset="-122"/>
              </a:rPr>
              <a:t>介质表面的反射和折射产生偏振光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79797ABB-88C3-4315-8537-D087E761A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1931988"/>
            <a:ext cx="2665412" cy="1008062"/>
          </a:xfrm>
          <a:prstGeom prst="rect">
            <a:avLst/>
          </a:prstGeom>
          <a:solidFill>
            <a:srgbClr val="CC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82" name="Line 7">
            <a:extLst>
              <a:ext uri="{FF2B5EF4-FFF2-40B4-BE49-F238E27FC236}">
                <a16:creationId xmlns:a16="http://schemas.microsoft.com/office/drawing/2014/main" id="{380CBD76-74E2-4092-99B0-99732618509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370763" y="1949450"/>
            <a:ext cx="463550" cy="1006475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Line 8">
            <a:extLst>
              <a:ext uri="{FF2B5EF4-FFF2-40B4-BE49-F238E27FC236}">
                <a16:creationId xmlns:a16="http://schemas.microsoft.com/office/drawing/2014/main" id="{6D91C313-ADF2-4899-8E2C-FB99F98E12F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248400" y="1047750"/>
            <a:ext cx="1122363" cy="908050"/>
          </a:xfrm>
          <a:prstGeom prst="line">
            <a:avLst/>
          </a:prstGeom>
          <a:noFill/>
          <a:ln w="38100">
            <a:solidFill>
              <a:srgbClr val="FFCC99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Line 9">
            <a:extLst>
              <a:ext uri="{FF2B5EF4-FFF2-40B4-BE49-F238E27FC236}">
                <a16:creationId xmlns:a16="http://schemas.microsoft.com/office/drawing/2014/main" id="{7A1EE0E0-FDAD-4765-A9F8-F43B214A1CC3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340600" y="1062038"/>
            <a:ext cx="1122363" cy="88265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sm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Line 10">
            <a:extLst>
              <a:ext uri="{FF2B5EF4-FFF2-40B4-BE49-F238E27FC236}">
                <a16:creationId xmlns:a16="http://schemas.microsoft.com/office/drawing/2014/main" id="{1DBC6596-672C-45B5-81D1-A42A587D16A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316663" y="1079500"/>
            <a:ext cx="161925" cy="161925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Line 11">
            <a:extLst>
              <a:ext uri="{FF2B5EF4-FFF2-40B4-BE49-F238E27FC236}">
                <a16:creationId xmlns:a16="http://schemas.microsoft.com/office/drawing/2014/main" id="{29E83325-A361-45E2-98A2-68E5C6F570DB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7432675" y="2230438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Arc 12">
            <a:extLst>
              <a:ext uri="{FF2B5EF4-FFF2-40B4-BE49-F238E27FC236}">
                <a16:creationId xmlns:a16="http://schemas.microsoft.com/office/drawing/2014/main" id="{C5DA95F1-B81E-40DB-A8D6-251523C82097}"/>
              </a:ext>
            </a:extLst>
          </p:cNvPr>
          <p:cNvSpPr>
            <a:spLocks/>
          </p:cNvSpPr>
          <p:nvPr/>
        </p:nvSpPr>
        <p:spPr bwMode="auto">
          <a:xfrm>
            <a:off x="7329488" y="1735138"/>
            <a:ext cx="171450" cy="142875"/>
          </a:xfrm>
          <a:custGeom>
            <a:avLst/>
            <a:gdLst>
              <a:gd name="T0" fmla="*/ 2147483646 w 19739"/>
              <a:gd name="T1" fmla="*/ 0 h 21374"/>
              <a:gd name="T2" fmla="*/ 2147483646 w 19739"/>
              <a:gd name="T3" fmla="*/ 2147483646 h 21374"/>
              <a:gd name="T4" fmla="*/ 0 w 19739"/>
              <a:gd name="T5" fmla="*/ 2147483646 h 21374"/>
              <a:gd name="T6" fmla="*/ 0 60000 65536"/>
              <a:gd name="T7" fmla="*/ 0 60000 65536"/>
              <a:gd name="T8" fmla="*/ 0 60000 65536"/>
              <a:gd name="T9" fmla="*/ 0 w 19739"/>
              <a:gd name="T10" fmla="*/ 0 h 21374"/>
              <a:gd name="T11" fmla="*/ 19739 w 19739"/>
              <a:gd name="T12" fmla="*/ 21374 h 21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739" h="21374" fill="none" extrusionOk="0">
                <a:moveTo>
                  <a:pt x="3114" y="-1"/>
                </a:moveTo>
                <a:cubicBezTo>
                  <a:pt x="10451" y="1068"/>
                  <a:pt x="16728" y="5827"/>
                  <a:pt x="19739" y="12603"/>
                </a:cubicBezTo>
              </a:path>
              <a:path w="19739" h="21374" stroke="0" extrusionOk="0">
                <a:moveTo>
                  <a:pt x="3114" y="-1"/>
                </a:moveTo>
                <a:cubicBezTo>
                  <a:pt x="10451" y="1068"/>
                  <a:pt x="16728" y="5827"/>
                  <a:pt x="19739" y="12603"/>
                </a:cubicBezTo>
                <a:lnTo>
                  <a:pt x="0" y="21374"/>
                </a:lnTo>
                <a:lnTo>
                  <a:pt x="3114" y="-1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Arc 13">
            <a:extLst>
              <a:ext uri="{FF2B5EF4-FFF2-40B4-BE49-F238E27FC236}">
                <a16:creationId xmlns:a16="http://schemas.microsoft.com/office/drawing/2014/main" id="{E472711E-48C3-4872-85FC-61AA9027BE58}"/>
              </a:ext>
            </a:extLst>
          </p:cNvPr>
          <p:cNvSpPr>
            <a:spLocks/>
          </p:cNvSpPr>
          <p:nvPr/>
        </p:nvSpPr>
        <p:spPr bwMode="auto">
          <a:xfrm flipH="1">
            <a:off x="7221538" y="1736725"/>
            <a:ext cx="115887" cy="128588"/>
          </a:xfrm>
          <a:custGeom>
            <a:avLst/>
            <a:gdLst>
              <a:gd name="T0" fmla="*/ 2147483646 w 19929"/>
              <a:gd name="T1" fmla="*/ 0 h 21582"/>
              <a:gd name="T2" fmla="*/ 2147483646 w 19929"/>
              <a:gd name="T3" fmla="*/ 2147483646 h 21582"/>
              <a:gd name="T4" fmla="*/ 0 w 19929"/>
              <a:gd name="T5" fmla="*/ 2147483646 h 21582"/>
              <a:gd name="T6" fmla="*/ 0 60000 65536"/>
              <a:gd name="T7" fmla="*/ 0 60000 65536"/>
              <a:gd name="T8" fmla="*/ 0 60000 65536"/>
              <a:gd name="T9" fmla="*/ 0 w 19929"/>
              <a:gd name="T10" fmla="*/ 0 h 21582"/>
              <a:gd name="T11" fmla="*/ 19929 w 19929"/>
              <a:gd name="T12" fmla="*/ 21582 h 215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29" h="21582" fill="none" extrusionOk="0">
                <a:moveTo>
                  <a:pt x="879" y="-1"/>
                </a:moveTo>
                <a:cubicBezTo>
                  <a:pt x="9263" y="341"/>
                  <a:pt x="16692" y="5508"/>
                  <a:pt x="19928" y="13251"/>
                </a:cubicBezTo>
              </a:path>
              <a:path w="19929" h="21582" stroke="0" extrusionOk="0">
                <a:moveTo>
                  <a:pt x="879" y="-1"/>
                </a:moveTo>
                <a:cubicBezTo>
                  <a:pt x="9263" y="341"/>
                  <a:pt x="16692" y="5508"/>
                  <a:pt x="19928" y="13251"/>
                </a:cubicBezTo>
                <a:lnTo>
                  <a:pt x="0" y="21582"/>
                </a:lnTo>
                <a:lnTo>
                  <a:pt x="879" y="-1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Arc 14">
            <a:extLst>
              <a:ext uri="{FF2B5EF4-FFF2-40B4-BE49-F238E27FC236}">
                <a16:creationId xmlns:a16="http://schemas.microsoft.com/office/drawing/2014/main" id="{7C8CAF1C-EE26-4D70-B29F-81F541F2BD80}"/>
              </a:ext>
            </a:extLst>
          </p:cNvPr>
          <p:cNvSpPr>
            <a:spLocks/>
          </p:cNvSpPr>
          <p:nvPr/>
        </p:nvSpPr>
        <p:spPr bwMode="auto">
          <a:xfrm flipV="1">
            <a:off x="7354888" y="2181225"/>
            <a:ext cx="125412" cy="34925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Line 17">
            <a:extLst>
              <a:ext uri="{FF2B5EF4-FFF2-40B4-BE49-F238E27FC236}">
                <a16:creationId xmlns:a16="http://schemas.microsoft.com/office/drawing/2014/main" id="{5F147AAD-40A0-4956-A695-F07DD57EEB4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618288" y="1322388"/>
            <a:ext cx="161925" cy="161925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Line 18">
            <a:extLst>
              <a:ext uri="{FF2B5EF4-FFF2-40B4-BE49-F238E27FC236}">
                <a16:creationId xmlns:a16="http://schemas.microsoft.com/office/drawing/2014/main" id="{2E7830C2-5847-4E7E-8D92-AB6D7BB9A67D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892925" y="1560513"/>
            <a:ext cx="161925" cy="161925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Line 19">
            <a:extLst>
              <a:ext uri="{FF2B5EF4-FFF2-40B4-BE49-F238E27FC236}">
                <a16:creationId xmlns:a16="http://schemas.microsoft.com/office/drawing/2014/main" id="{F2A1724F-5DC6-43D3-818B-8BB4919A4CB1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7504113" y="2359025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" name="Object 2">
            <a:extLst>
              <a:ext uri="{FF2B5EF4-FFF2-40B4-BE49-F238E27FC236}">
                <a16:creationId xmlns:a16="http://schemas.microsoft.com/office/drawing/2014/main" id="{349BB5E3-FD4F-4EBA-80D5-423C28C3A7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8588" y="1222375"/>
          <a:ext cx="115887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06" name="公式" r:id="rId33" imgW="76129" imgH="83993" progId="Equation.3">
                  <p:embed/>
                </p:oleObj>
              </mc:Choice>
              <mc:Fallback>
                <p:oleObj name="公式" r:id="rId33" imgW="76129" imgH="83993" progId="Equation.3">
                  <p:embed/>
                  <p:pic>
                    <p:nvPicPr>
                      <p:cNvPr id="12308" name="Object 2">
                        <a:extLst>
                          <a:ext uri="{FF2B5EF4-FFF2-40B4-BE49-F238E27FC236}">
                            <a16:creationId xmlns:a16="http://schemas.microsoft.com/office/drawing/2014/main" id="{0A9F37A9-CD2E-4334-8808-EDE75354EC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8588" y="1222375"/>
                        <a:ext cx="115887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3">
            <a:extLst>
              <a:ext uri="{FF2B5EF4-FFF2-40B4-BE49-F238E27FC236}">
                <a16:creationId xmlns:a16="http://schemas.microsoft.com/office/drawing/2014/main" id="{48C8B7C8-DB88-4EB3-BF23-577807B816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9575" y="1446213"/>
          <a:ext cx="115888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07" name="Equation" r:id="rId35" imgW="76129" imgH="83993" progId="Equation.3">
                  <p:embed/>
                </p:oleObj>
              </mc:Choice>
              <mc:Fallback>
                <p:oleObj name="Equation" r:id="rId35" imgW="76129" imgH="83993" progId="Equation.3">
                  <p:embed/>
                  <p:pic>
                    <p:nvPicPr>
                      <p:cNvPr id="12309" name="Object 3">
                        <a:extLst>
                          <a:ext uri="{FF2B5EF4-FFF2-40B4-BE49-F238E27FC236}">
                            <a16:creationId xmlns:a16="http://schemas.microsoft.com/office/drawing/2014/main" id="{E020A3D2-22BD-4500-8547-120A7306EB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9575" y="1446213"/>
                        <a:ext cx="115888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4">
            <a:extLst>
              <a:ext uri="{FF2B5EF4-FFF2-40B4-BE49-F238E27FC236}">
                <a16:creationId xmlns:a16="http://schemas.microsoft.com/office/drawing/2014/main" id="{60FF019B-9D99-442D-BCD5-A909F9C797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5050" y="2071688"/>
          <a:ext cx="115888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08" name="公式" r:id="rId37" imgW="76129" imgH="83993" progId="Equation.3">
                  <p:embed/>
                </p:oleObj>
              </mc:Choice>
              <mc:Fallback>
                <p:oleObj name="公式" r:id="rId37" imgW="76129" imgH="83993" progId="Equation.3">
                  <p:embed/>
                  <p:pic>
                    <p:nvPicPr>
                      <p:cNvPr id="12310" name="Object 4">
                        <a:extLst>
                          <a:ext uri="{FF2B5EF4-FFF2-40B4-BE49-F238E27FC236}">
                            <a16:creationId xmlns:a16="http://schemas.microsoft.com/office/drawing/2014/main" id="{03C58038-EC8F-4EB1-B884-482D9CCBFE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5050" y="2071688"/>
                        <a:ext cx="115888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5">
            <a:extLst>
              <a:ext uri="{FF2B5EF4-FFF2-40B4-BE49-F238E27FC236}">
                <a16:creationId xmlns:a16="http://schemas.microsoft.com/office/drawing/2014/main" id="{FB94B4A5-6CF3-48CA-B7CF-ED06583E01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0800" y="1585913"/>
          <a:ext cx="115888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09" name="公式" r:id="rId39" imgW="76129" imgH="83993" progId="Equation.3">
                  <p:embed/>
                </p:oleObj>
              </mc:Choice>
              <mc:Fallback>
                <p:oleObj name="公式" r:id="rId39" imgW="76129" imgH="83993" progId="Equation.3">
                  <p:embed/>
                  <p:pic>
                    <p:nvPicPr>
                      <p:cNvPr id="12311" name="Object 5">
                        <a:extLst>
                          <a:ext uri="{FF2B5EF4-FFF2-40B4-BE49-F238E27FC236}">
                            <a16:creationId xmlns:a16="http://schemas.microsoft.com/office/drawing/2014/main" id="{A7CC019C-FD83-4429-BFAF-9ACEB69F86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1585913"/>
                        <a:ext cx="115888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6">
            <a:extLst>
              <a:ext uri="{FF2B5EF4-FFF2-40B4-BE49-F238E27FC236}">
                <a16:creationId xmlns:a16="http://schemas.microsoft.com/office/drawing/2014/main" id="{C7997823-E70C-4FC6-B3B8-5EE8BAD25E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86688" y="1500188"/>
          <a:ext cx="115887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10" name="公式" r:id="rId41" imgW="76129" imgH="83993" progId="Equation.3">
                  <p:embed/>
                </p:oleObj>
              </mc:Choice>
              <mc:Fallback>
                <p:oleObj name="公式" r:id="rId41" imgW="76129" imgH="83993" progId="Equation.3">
                  <p:embed/>
                  <p:pic>
                    <p:nvPicPr>
                      <p:cNvPr id="12312" name="Object 6">
                        <a:extLst>
                          <a:ext uri="{FF2B5EF4-FFF2-40B4-BE49-F238E27FC236}">
                            <a16:creationId xmlns:a16="http://schemas.microsoft.com/office/drawing/2014/main" id="{B4E512D4-7FEB-4D03-B87D-46349D3068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6688" y="1500188"/>
                        <a:ext cx="115887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7">
            <a:extLst>
              <a:ext uri="{FF2B5EF4-FFF2-40B4-BE49-F238E27FC236}">
                <a16:creationId xmlns:a16="http://schemas.microsoft.com/office/drawing/2014/main" id="{5763C0A5-D095-479C-9317-38D41B1224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6313" y="2000250"/>
          <a:ext cx="25558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11" name="公式" r:id="rId43" imgW="274320" imgH="380937" progId="Equation.3">
                  <p:embed/>
                </p:oleObj>
              </mc:Choice>
              <mc:Fallback>
                <p:oleObj name="公式" r:id="rId43" imgW="274320" imgH="380937" progId="Equation.3">
                  <p:embed/>
                  <p:pic>
                    <p:nvPicPr>
                      <p:cNvPr id="12313" name="Object 7">
                        <a:extLst>
                          <a:ext uri="{FF2B5EF4-FFF2-40B4-BE49-F238E27FC236}">
                            <a16:creationId xmlns:a16="http://schemas.microsoft.com/office/drawing/2014/main" id="{D8510DDB-DC2B-4297-80C9-22895A0A97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3" y="2000250"/>
                        <a:ext cx="255587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8">
            <a:extLst>
              <a:ext uri="{FF2B5EF4-FFF2-40B4-BE49-F238E27FC236}">
                <a16:creationId xmlns:a16="http://schemas.microsoft.com/office/drawing/2014/main" id="{31105752-E734-4CE1-B498-5CB3A871E6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6313" y="1500188"/>
          <a:ext cx="223837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12" name="公式" r:id="rId45" imgW="243698" imgH="380937" progId="Equation.3">
                  <p:embed/>
                </p:oleObj>
              </mc:Choice>
              <mc:Fallback>
                <p:oleObj name="公式" r:id="rId45" imgW="243698" imgH="380937" progId="Equation.3">
                  <p:embed/>
                  <p:pic>
                    <p:nvPicPr>
                      <p:cNvPr id="12314" name="Object 8">
                        <a:extLst>
                          <a:ext uri="{FF2B5EF4-FFF2-40B4-BE49-F238E27FC236}">
                            <a16:creationId xmlns:a16="http://schemas.microsoft.com/office/drawing/2014/main" id="{099D608A-7A82-457B-A8B5-DF273270E4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3" y="1500188"/>
                        <a:ext cx="223837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">
            <a:extLst>
              <a:ext uri="{FF2B5EF4-FFF2-40B4-BE49-F238E27FC236}">
                <a16:creationId xmlns:a16="http://schemas.microsoft.com/office/drawing/2014/main" id="{4F800926-6DE5-4CEE-9358-975F0F0536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9150" y="1428750"/>
          <a:ext cx="11112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13" name="公式" r:id="rId47" imgW="106751" imgH="259190" progId="Equation.3">
                  <p:embed/>
                </p:oleObj>
              </mc:Choice>
              <mc:Fallback>
                <p:oleObj name="公式" r:id="rId47" imgW="106751" imgH="259190" progId="Equation.3">
                  <p:embed/>
                  <p:pic>
                    <p:nvPicPr>
                      <p:cNvPr id="12315" name="Object 9">
                        <a:extLst>
                          <a:ext uri="{FF2B5EF4-FFF2-40B4-BE49-F238E27FC236}">
                            <a16:creationId xmlns:a16="http://schemas.microsoft.com/office/drawing/2014/main" id="{0E31F668-8A8E-4C2F-9828-45C25D63B7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150" y="1428750"/>
                        <a:ext cx="111125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">
            <a:extLst>
              <a:ext uri="{FF2B5EF4-FFF2-40B4-BE49-F238E27FC236}">
                <a16:creationId xmlns:a16="http://schemas.microsoft.com/office/drawing/2014/main" id="{4DF27321-E0D8-4D2B-BEF4-FE6A6B6050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0938" y="1428750"/>
          <a:ext cx="11112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14" name="公式" r:id="rId49" imgW="106751" imgH="259190" progId="Equation.3">
                  <p:embed/>
                </p:oleObj>
              </mc:Choice>
              <mc:Fallback>
                <p:oleObj name="公式" r:id="rId49" imgW="106751" imgH="259190" progId="Equation.3">
                  <p:embed/>
                  <p:pic>
                    <p:nvPicPr>
                      <p:cNvPr id="12316" name="Object 10">
                        <a:extLst>
                          <a:ext uri="{FF2B5EF4-FFF2-40B4-BE49-F238E27FC236}">
                            <a16:creationId xmlns:a16="http://schemas.microsoft.com/office/drawing/2014/main" id="{3F482318-8925-4BAF-A3CE-A31968E91F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0938" y="1428750"/>
                        <a:ext cx="111125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1">
            <a:extLst>
              <a:ext uri="{FF2B5EF4-FFF2-40B4-BE49-F238E27FC236}">
                <a16:creationId xmlns:a16="http://schemas.microsoft.com/office/drawing/2014/main" id="{CCBA4AEE-7604-40D2-92E4-20671B1E7FAB}"/>
              </a:ext>
            </a:extLst>
          </p:cNvPr>
          <p:cNvGraphicFramePr>
            <a:graphicFrameLocks/>
          </p:cNvGraphicFramePr>
          <p:nvPr/>
        </p:nvGraphicFramePr>
        <p:xfrm>
          <a:off x="7350125" y="2287588"/>
          <a:ext cx="179388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15" name="公式" r:id="rId51" imgW="190535" imgH="266826" progId="Equation.3">
                  <p:embed/>
                </p:oleObj>
              </mc:Choice>
              <mc:Fallback>
                <p:oleObj name="公式" r:id="rId51" imgW="190535" imgH="266826" progId="Equation.3">
                  <p:embed/>
                  <p:pic>
                    <p:nvPicPr>
                      <p:cNvPr id="12317" name="Object 11">
                        <a:extLst>
                          <a:ext uri="{FF2B5EF4-FFF2-40B4-BE49-F238E27FC236}">
                            <a16:creationId xmlns:a16="http://schemas.microsoft.com/office/drawing/2014/main" id="{7BDCAEB9-B2C8-49D2-9AE9-A1B777FA47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25" y="2287588"/>
                        <a:ext cx="179388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Line 31">
            <a:extLst>
              <a:ext uri="{FF2B5EF4-FFF2-40B4-BE49-F238E27FC236}">
                <a16:creationId xmlns:a16="http://schemas.microsoft.com/office/drawing/2014/main" id="{158AC582-290B-4DE6-95F8-4D5594FA29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4888" y="1074738"/>
            <a:ext cx="1587" cy="1754187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Line 32">
            <a:extLst>
              <a:ext uri="{FF2B5EF4-FFF2-40B4-BE49-F238E27FC236}">
                <a16:creationId xmlns:a16="http://schemas.microsoft.com/office/drawing/2014/main" id="{5FC2B4D9-A79A-4D6C-BE35-D0E4F4E65A0B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561935" flipV="1">
            <a:off x="7546975" y="1651000"/>
            <a:ext cx="160338" cy="16033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" name="Line 33">
            <a:extLst>
              <a:ext uri="{FF2B5EF4-FFF2-40B4-BE49-F238E27FC236}">
                <a16:creationId xmlns:a16="http://schemas.microsoft.com/office/drawing/2014/main" id="{F493697F-964F-4407-9590-58DE91A47739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561935" flipV="1">
            <a:off x="7904163" y="1365250"/>
            <a:ext cx="160338" cy="160337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6" name="Object 14">
            <a:extLst>
              <a:ext uri="{FF2B5EF4-FFF2-40B4-BE49-F238E27FC236}">
                <a16:creationId xmlns:a16="http://schemas.microsoft.com/office/drawing/2014/main" id="{EA8A81A1-1327-4CA2-8E5B-B3D7BB82E7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1300163"/>
          <a:ext cx="115887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16" name="公式" r:id="rId53" imgW="76129" imgH="83993" progId="Equation.3">
                  <p:embed/>
                </p:oleObj>
              </mc:Choice>
              <mc:Fallback>
                <p:oleObj name="公式" r:id="rId53" imgW="76129" imgH="83993" progId="Equation.3">
                  <p:embed/>
                  <p:pic>
                    <p:nvPicPr>
                      <p:cNvPr id="12329" name="Object 14">
                        <a:extLst>
                          <a:ext uri="{FF2B5EF4-FFF2-40B4-BE49-F238E27FC236}">
                            <a16:creationId xmlns:a16="http://schemas.microsoft.com/office/drawing/2014/main" id="{F5121584-E7DB-40F0-8CFF-6160B64AB6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1300163"/>
                        <a:ext cx="115887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5">
            <a:extLst>
              <a:ext uri="{FF2B5EF4-FFF2-40B4-BE49-F238E27FC236}">
                <a16:creationId xmlns:a16="http://schemas.microsoft.com/office/drawing/2014/main" id="{C2198AAC-BF10-4C04-A946-B59FA6E3A8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72375" y="2443163"/>
          <a:ext cx="115888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17" name="公式" r:id="rId55" imgW="76129" imgH="83993" progId="Equation.3">
                  <p:embed/>
                </p:oleObj>
              </mc:Choice>
              <mc:Fallback>
                <p:oleObj name="公式" r:id="rId55" imgW="76129" imgH="83993" progId="Equation.3">
                  <p:embed/>
                  <p:pic>
                    <p:nvPicPr>
                      <p:cNvPr id="12330" name="Object 15">
                        <a:extLst>
                          <a:ext uri="{FF2B5EF4-FFF2-40B4-BE49-F238E27FC236}">
                            <a16:creationId xmlns:a16="http://schemas.microsoft.com/office/drawing/2014/main" id="{C774712A-4389-4928-85E2-764E8F51C5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75" y="2443163"/>
                        <a:ext cx="115888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71">
            <a:extLst>
              <a:ext uri="{FF2B5EF4-FFF2-40B4-BE49-F238E27FC236}">
                <a16:creationId xmlns:a16="http://schemas.microsoft.com/office/drawing/2014/main" id="{519C81B8-5351-42BA-AD59-4DD0861FE4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43875" y="1214438"/>
          <a:ext cx="115888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18" name="公式" r:id="rId57" imgW="76129" imgH="83993" progId="Equation.3">
                  <p:embed/>
                </p:oleObj>
              </mc:Choice>
              <mc:Fallback>
                <p:oleObj name="公式" r:id="rId57" imgW="76129" imgH="83993" progId="Equation.3">
                  <p:embed/>
                  <p:pic>
                    <p:nvPicPr>
                      <p:cNvPr id="4" name="Object 71">
                        <a:extLst>
                          <a:ext uri="{FF2B5EF4-FFF2-40B4-BE49-F238E27FC236}">
                            <a16:creationId xmlns:a16="http://schemas.microsoft.com/office/drawing/2014/main" id="{96D11713-8C4B-496F-822D-2503387265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75" y="1214438"/>
                        <a:ext cx="115888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Line 11">
            <a:extLst>
              <a:ext uri="{FF2B5EF4-FFF2-40B4-BE49-F238E27FC236}">
                <a16:creationId xmlns:a16="http://schemas.microsoft.com/office/drawing/2014/main" id="{EB71460C-9B0E-4F6E-9D25-13B558E73434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7596188" y="2644775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Line 19">
            <a:extLst>
              <a:ext uri="{FF2B5EF4-FFF2-40B4-BE49-F238E27FC236}">
                <a16:creationId xmlns:a16="http://schemas.microsoft.com/office/drawing/2014/main" id="{E4AB137E-23C0-4D7A-A456-550D637C3FF8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7642225" y="2730500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Text Box 15">
            <a:extLst>
              <a:ext uri="{FF2B5EF4-FFF2-40B4-BE49-F238E27FC236}">
                <a16:creationId xmlns:a16="http://schemas.microsoft.com/office/drawing/2014/main" id="{8C857399-347E-4546-B80C-FE093D233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16243"/>
            <a:ext cx="5192713" cy="1767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zh-CN" altLang="en-US" sz="2200" dirty="0">
                <a:solidFill>
                  <a:schemeClr val="bg1"/>
                </a:solidFill>
              </a:rPr>
              <a:t>反射光：垂直入射面的光振动比平行的光振动强；</a:t>
            </a:r>
            <a:endParaRPr kumimoji="0" lang="en-US" altLang="zh-CN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kumimoji="0" lang="zh-CN" altLang="en-US" sz="2200" dirty="0">
                <a:solidFill>
                  <a:schemeClr val="bg1"/>
                </a:solidFill>
              </a:rPr>
              <a:t>折射光：平行入射面的光振动比垂直的光振动强。</a:t>
            </a:r>
            <a:endParaRPr lang="zh-CN" altLang="en-US" sz="2200" dirty="0">
              <a:solidFill>
                <a:schemeClr val="bg1"/>
              </a:solidFill>
              <a:latin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518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utoUpdateAnimBg="0"/>
      <p:bldP spid="43" grpId="0" autoUpdateAnimBg="0"/>
      <p:bldP spid="44" grpId="0" autoUpdateAnimBg="0"/>
      <p:bldP spid="45" grpId="0"/>
      <p:bldP spid="78" grpId="0"/>
      <p:bldP spid="80" grpId="0"/>
      <p:bldP spid="81" grpId="0" animBg="1"/>
      <p:bldP spid="11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7" name="Picture 17" descr="图形1">
            <a:extLst>
              <a:ext uri="{FF2B5EF4-FFF2-40B4-BE49-F238E27FC236}">
                <a16:creationId xmlns:a16="http://schemas.microsoft.com/office/drawing/2014/main" id="{6C8201B3-288B-4537-8D02-964A6F62E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5" t="11266" r="7285" b="9813"/>
          <a:stretch>
            <a:fillRect/>
          </a:stretch>
        </p:blipFill>
        <p:spPr bwMode="auto">
          <a:xfrm>
            <a:off x="2786063" y="1857375"/>
            <a:ext cx="3170237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9" name="Text Box 19">
            <a:extLst>
              <a:ext uri="{FF2B5EF4-FFF2-40B4-BE49-F238E27FC236}">
                <a16:creationId xmlns:a16="http://schemas.microsoft.com/office/drawing/2014/main" id="{6BA1D468-C7C3-4933-AC51-1DB08EFBB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638" y="260350"/>
            <a:ext cx="6019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>
                <a:solidFill>
                  <a:srgbClr val="66FF33"/>
                </a:solidFill>
                <a:ea typeface="黑体" panose="02010609060101010101" pitchFamily="49" charset="-122"/>
              </a:rPr>
              <a:t>§14.13</a:t>
            </a:r>
            <a:r>
              <a:rPr lang="en-US" altLang="zh-CN" sz="28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晶体的双折射现象</a:t>
            </a:r>
          </a:p>
        </p:txBody>
      </p:sp>
      <p:sp>
        <p:nvSpPr>
          <p:cNvPr id="46100" name="Text Box 20">
            <a:extLst>
              <a:ext uri="{FF2B5EF4-FFF2-40B4-BE49-F238E27FC236}">
                <a16:creationId xmlns:a16="http://schemas.microsoft.com/office/drawing/2014/main" id="{AF508B06-CB63-445D-BBE8-E60CF8743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11225"/>
            <a:ext cx="30972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>
                <a:solidFill>
                  <a:srgbClr val="FFFF00"/>
                </a:solidFill>
                <a:ea typeface="黑体" panose="02010609060101010101" pitchFamily="49" charset="-122"/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双折射现象</a:t>
            </a:r>
          </a:p>
        </p:txBody>
      </p:sp>
      <p:sp>
        <p:nvSpPr>
          <p:cNvPr id="46101" name="Text Box 21">
            <a:extLst>
              <a:ext uri="{FF2B5EF4-FFF2-40B4-BE49-F238E27FC236}">
                <a16:creationId xmlns:a16="http://schemas.microsoft.com/office/drawing/2014/main" id="{62AEBAEE-84AE-4E57-8358-B1C3FE1B6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1500188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  <a:ea typeface="黑体" panose="02010609060101010101" pitchFamily="49" charset="-122"/>
              </a:rPr>
              <a:t>1</a:t>
            </a:r>
            <a:r>
              <a:rPr lang="en-US" altLang="zh-CN" b="0">
                <a:solidFill>
                  <a:srgbClr val="66FFFF"/>
                </a:solidFill>
                <a:latin typeface="宋体" panose="02010600030101010101" pitchFamily="2" charset="-122"/>
              </a:rPr>
              <a:t>.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双折射</a:t>
            </a:r>
          </a:p>
        </p:txBody>
      </p:sp>
      <p:pic>
        <p:nvPicPr>
          <p:cNvPr id="46102" name="Picture 22" descr="14">
            <a:extLst>
              <a:ext uri="{FF2B5EF4-FFF2-40B4-BE49-F238E27FC236}">
                <a16:creationId xmlns:a16="http://schemas.microsoft.com/office/drawing/2014/main" id="{345A9195-35F8-4006-A6C5-B3EF333DB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326698"/>
              </a:clrFrom>
              <a:clrTo>
                <a:srgbClr val="32669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1" b="2827"/>
          <a:stretch>
            <a:fillRect/>
          </a:stretch>
        </p:blipFill>
        <p:spPr bwMode="auto">
          <a:xfrm>
            <a:off x="5768975" y="4656138"/>
            <a:ext cx="22320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03" name="Rectangle 23">
            <a:extLst>
              <a:ext uri="{FF2B5EF4-FFF2-40B4-BE49-F238E27FC236}">
                <a16:creationId xmlns:a16="http://schemas.microsoft.com/office/drawing/2014/main" id="{6D62D17D-3DDA-416F-A58F-9C584D8DD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4391025"/>
            <a:ext cx="1512888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>
                <a:solidFill>
                  <a:srgbClr val="66FFFF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0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方解石</a:t>
            </a:r>
          </a:p>
        </p:txBody>
      </p:sp>
      <p:sp>
        <p:nvSpPr>
          <p:cNvPr id="46104" name="Line 24">
            <a:extLst>
              <a:ext uri="{FF2B5EF4-FFF2-40B4-BE49-F238E27FC236}">
                <a16:creationId xmlns:a16="http://schemas.microsoft.com/office/drawing/2014/main" id="{4A834434-3228-4E54-B824-D412FC6360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45088" y="5883275"/>
            <a:ext cx="914400" cy="457200"/>
          </a:xfrm>
          <a:prstGeom prst="line">
            <a:avLst/>
          </a:prstGeom>
          <a:noFill/>
          <a:ln w="28575">
            <a:solidFill>
              <a:srgbClr val="CCFF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5" name="Line 25">
            <a:extLst>
              <a:ext uri="{FF2B5EF4-FFF2-40B4-BE49-F238E27FC236}">
                <a16:creationId xmlns:a16="http://schemas.microsoft.com/office/drawing/2014/main" id="{6448174D-372C-4EBD-AA79-DE0E9D8EFC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59488" y="5730875"/>
            <a:ext cx="304800" cy="153988"/>
          </a:xfrm>
          <a:prstGeom prst="line">
            <a:avLst/>
          </a:prstGeom>
          <a:noFill/>
          <a:ln w="28575">
            <a:solidFill>
              <a:srgbClr val="CCFFCC"/>
            </a:solidFill>
            <a:prstDash val="dash"/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6" name="Line 26">
            <a:extLst>
              <a:ext uri="{FF2B5EF4-FFF2-40B4-BE49-F238E27FC236}">
                <a16:creationId xmlns:a16="http://schemas.microsoft.com/office/drawing/2014/main" id="{38512B9C-6EC8-4001-B391-2C04FFB2B4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64288" y="5426075"/>
            <a:ext cx="1066800" cy="304800"/>
          </a:xfrm>
          <a:prstGeom prst="line">
            <a:avLst/>
          </a:prstGeom>
          <a:noFill/>
          <a:ln w="19050">
            <a:solidFill>
              <a:srgbClr val="FFCC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7" name="Line 27">
            <a:extLst>
              <a:ext uri="{FF2B5EF4-FFF2-40B4-BE49-F238E27FC236}">
                <a16:creationId xmlns:a16="http://schemas.microsoft.com/office/drawing/2014/main" id="{BDF24DA8-8487-485E-9CA2-B75F302B66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2225" y="5654675"/>
            <a:ext cx="1058863" cy="104775"/>
          </a:xfrm>
          <a:prstGeom prst="line">
            <a:avLst/>
          </a:prstGeom>
          <a:noFill/>
          <a:ln w="19050">
            <a:solidFill>
              <a:srgbClr val="CCFF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8" name="Line 28">
            <a:extLst>
              <a:ext uri="{FF2B5EF4-FFF2-40B4-BE49-F238E27FC236}">
                <a16:creationId xmlns:a16="http://schemas.microsoft.com/office/drawing/2014/main" id="{5F93A831-5DE0-426D-8C35-F2E99C6CC1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31088" y="4959350"/>
            <a:ext cx="914400" cy="457200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9" name="Line 29">
            <a:extLst>
              <a:ext uri="{FF2B5EF4-FFF2-40B4-BE49-F238E27FC236}">
                <a16:creationId xmlns:a16="http://schemas.microsoft.com/office/drawing/2014/main" id="{5E5646B7-C900-4E41-AC66-D08EEC0585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80288" y="5197475"/>
            <a:ext cx="914400" cy="457200"/>
          </a:xfrm>
          <a:prstGeom prst="line">
            <a:avLst/>
          </a:prstGeom>
          <a:noFill/>
          <a:ln w="19050">
            <a:solidFill>
              <a:srgbClr val="CCFF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6110" name="Object 2">
            <a:extLst>
              <a:ext uri="{FF2B5EF4-FFF2-40B4-BE49-F238E27FC236}">
                <a16:creationId xmlns:a16="http://schemas.microsoft.com/office/drawing/2014/main" id="{DA82DF13-25C9-4A82-9610-F8EA758877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9550" y="5859463"/>
          <a:ext cx="190500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05" name="公式" r:id="rId5" imgW="152298" imgH="190432" progId="Equation.3">
                  <p:embed/>
                </p:oleObj>
              </mc:Choice>
              <mc:Fallback>
                <p:oleObj name="公式" r:id="rId5" imgW="152298" imgH="190432" progId="Equation.3">
                  <p:embed/>
                  <p:pic>
                    <p:nvPicPr>
                      <p:cNvPr id="46110" name="Object 2">
                        <a:extLst>
                          <a:ext uri="{FF2B5EF4-FFF2-40B4-BE49-F238E27FC236}">
                            <a16:creationId xmlns:a16="http://schemas.microsoft.com/office/drawing/2014/main" id="{DA82DF13-25C9-4A82-9610-F8EA758877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9550" y="5859463"/>
                        <a:ext cx="190500" cy="23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1" name="Object 3">
            <a:extLst>
              <a:ext uri="{FF2B5EF4-FFF2-40B4-BE49-F238E27FC236}">
                <a16:creationId xmlns:a16="http://schemas.microsoft.com/office/drawing/2014/main" id="{00BAE665-8676-47AB-95FD-A987C216A4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4813" y="5370513"/>
          <a:ext cx="261937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06" name="公式" r:id="rId7" imgW="295422" imgH="380864" progId="Equation.3">
                  <p:embed/>
                </p:oleObj>
              </mc:Choice>
              <mc:Fallback>
                <p:oleObj name="公式" r:id="rId7" imgW="295422" imgH="380864" progId="Equation.3">
                  <p:embed/>
                  <p:pic>
                    <p:nvPicPr>
                      <p:cNvPr id="46111" name="Object 3">
                        <a:extLst>
                          <a:ext uri="{FF2B5EF4-FFF2-40B4-BE49-F238E27FC236}">
                            <a16:creationId xmlns:a16="http://schemas.microsoft.com/office/drawing/2014/main" id="{00BAE665-8676-47AB-95FD-A987C216A4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4813" y="5370513"/>
                        <a:ext cx="261937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2" name="Object 4">
            <a:extLst>
              <a:ext uri="{FF2B5EF4-FFF2-40B4-BE49-F238E27FC236}">
                <a16:creationId xmlns:a16="http://schemas.microsoft.com/office/drawing/2014/main" id="{6CF959D6-F3C8-4377-A34D-72F7216FBF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4813" y="4506913"/>
          <a:ext cx="2921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07" name="公式" r:id="rId9" imgW="333343" imgH="380864" progId="Equation.3">
                  <p:embed/>
                </p:oleObj>
              </mc:Choice>
              <mc:Fallback>
                <p:oleObj name="公式" r:id="rId9" imgW="333343" imgH="380864" progId="Equation.3">
                  <p:embed/>
                  <p:pic>
                    <p:nvPicPr>
                      <p:cNvPr id="46112" name="Object 4">
                        <a:extLst>
                          <a:ext uri="{FF2B5EF4-FFF2-40B4-BE49-F238E27FC236}">
                            <a16:creationId xmlns:a16="http://schemas.microsoft.com/office/drawing/2014/main" id="{6CF959D6-F3C8-4377-A34D-72F7216FBF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4813" y="4506913"/>
                        <a:ext cx="29210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13" name="Text Box 33">
            <a:extLst>
              <a:ext uri="{FF2B5EF4-FFF2-40B4-BE49-F238E27FC236}">
                <a16:creationId xmlns:a16="http://schemas.microsoft.com/office/drawing/2014/main" id="{9D11C0BA-047E-4313-A8C2-6973110D9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848225"/>
            <a:ext cx="3830638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66FFFF"/>
                </a:solidFill>
                <a:latin typeface="楷体_GB2312" pitchFamily="49" charset="-122"/>
              </a:rPr>
              <a:t>双折射现象：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一束入射光经各向异性的介质折射后分成两束光的现象</a:t>
            </a:r>
          </a:p>
        </p:txBody>
      </p:sp>
      <p:sp>
        <p:nvSpPr>
          <p:cNvPr id="8210" name="灯片编号占位符 1">
            <a:extLst>
              <a:ext uri="{FF2B5EF4-FFF2-40B4-BE49-F238E27FC236}">
                <a16:creationId xmlns:a16="http://schemas.microsoft.com/office/drawing/2014/main" id="{A28EE766-60F7-4C62-A754-6BF469E3A1B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624371-36EF-489C-9FD5-CE3AAC54D56F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6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6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6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9" grpId="0" autoUpdateAnimBg="0"/>
      <p:bldP spid="46100" grpId="0" autoUpdateAnimBg="0"/>
      <p:bldP spid="46101" grpId="0" autoUpdateAnimBg="0"/>
      <p:bldP spid="46103" grpId="0" autoUpdateAnimBg="0"/>
      <p:bldP spid="4611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FB0A9E6-D471-46CB-93EE-82C8EF199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1214438"/>
            <a:ext cx="2286000" cy="1500187"/>
          </a:xfrm>
          <a:prstGeom prst="rect">
            <a:avLst/>
          </a:prstGeom>
          <a:solidFill>
            <a:srgbClr val="CCFFCC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4344" name="Line 8">
            <a:extLst>
              <a:ext uri="{FF2B5EF4-FFF2-40B4-BE49-F238E27FC236}">
                <a16:creationId xmlns:a16="http://schemas.microsoft.com/office/drawing/2014/main" id="{5530CE7B-699A-40E2-9AE9-93FC5BC93E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5675" y="660400"/>
            <a:ext cx="862013" cy="568325"/>
          </a:xfrm>
          <a:prstGeom prst="line">
            <a:avLst/>
          </a:prstGeom>
          <a:noFill/>
          <a:ln w="28575">
            <a:solidFill>
              <a:srgbClr val="CCFFCC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5" name="Line 9">
            <a:extLst>
              <a:ext uri="{FF2B5EF4-FFF2-40B4-BE49-F238E27FC236}">
                <a16:creationId xmlns:a16="http://schemas.microsoft.com/office/drawing/2014/main" id="{32868B00-314F-44A3-8DC5-D399E1E3D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6100" y="1239838"/>
            <a:ext cx="315913" cy="1073150"/>
          </a:xfrm>
          <a:prstGeom prst="line">
            <a:avLst/>
          </a:prstGeom>
          <a:noFill/>
          <a:ln w="19050">
            <a:solidFill>
              <a:srgbClr val="CCFFCC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6" name="Line 10">
            <a:extLst>
              <a:ext uri="{FF2B5EF4-FFF2-40B4-BE49-F238E27FC236}">
                <a16:creationId xmlns:a16="http://schemas.microsoft.com/office/drawing/2014/main" id="{0764A356-5891-4C3B-BEFA-EF1AACB4A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8638" y="1227138"/>
            <a:ext cx="889000" cy="1033462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7" name="Arc 11">
            <a:extLst>
              <a:ext uri="{FF2B5EF4-FFF2-40B4-BE49-F238E27FC236}">
                <a16:creationId xmlns:a16="http://schemas.microsoft.com/office/drawing/2014/main" id="{F7CD8F79-0B26-4B2D-BCA8-6764F3430E25}"/>
              </a:ext>
            </a:extLst>
          </p:cNvPr>
          <p:cNvSpPr>
            <a:spLocks/>
          </p:cNvSpPr>
          <p:nvPr/>
        </p:nvSpPr>
        <p:spPr bwMode="auto">
          <a:xfrm flipH="1">
            <a:off x="2867025" y="998538"/>
            <a:ext cx="220663" cy="1016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8" name="Arc 12">
            <a:extLst>
              <a:ext uri="{FF2B5EF4-FFF2-40B4-BE49-F238E27FC236}">
                <a16:creationId xmlns:a16="http://schemas.microsoft.com/office/drawing/2014/main" id="{A66C0A08-A358-4DC7-A890-866965DFED11}"/>
              </a:ext>
            </a:extLst>
          </p:cNvPr>
          <p:cNvSpPr>
            <a:spLocks/>
          </p:cNvSpPr>
          <p:nvPr/>
        </p:nvSpPr>
        <p:spPr bwMode="auto">
          <a:xfrm flipV="1">
            <a:off x="3081338" y="1549400"/>
            <a:ext cx="271462" cy="90488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13AE9AD9-2627-42B5-A70D-9DE6B43F3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68538"/>
            <a:ext cx="627062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>
                <a:solidFill>
                  <a:srgbClr val="CCFFCC"/>
                </a:solidFill>
              </a:rPr>
              <a:t>o </a:t>
            </a:r>
            <a:r>
              <a:rPr lang="zh-CN" altLang="en-US" sz="2000">
                <a:solidFill>
                  <a:srgbClr val="CCFFCC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</a:p>
          <a:p>
            <a:pPr algn="just" eaLnBrk="1" hangingPunct="1"/>
            <a:endParaRPr lang="en-US" altLang="zh-CN" sz="2000">
              <a:solidFill>
                <a:srgbClr val="CCFFCC"/>
              </a:solidFill>
              <a:latin typeface="宋体" panose="02010600030101010101" pitchFamily="2" charset="-122"/>
            </a:endParaRPr>
          </a:p>
        </p:txBody>
      </p:sp>
      <p:sp>
        <p:nvSpPr>
          <p:cNvPr id="14350" name="Rectangle 14">
            <a:extLst>
              <a:ext uri="{FF2B5EF4-FFF2-40B4-BE49-F238E27FC236}">
                <a16:creationId xmlns:a16="http://schemas.microsoft.com/office/drawing/2014/main" id="{E6C28A7D-9AF1-4BD7-A74F-B0CB4115A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713" y="1755775"/>
            <a:ext cx="606425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>
                <a:solidFill>
                  <a:srgbClr val="FFCC99"/>
                </a:solidFill>
              </a:rPr>
              <a:t>e </a:t>
            </a:r>
            <a:r>
              <a:rPr lang="zh-CN" altLang="en-US" sz="2000">
                <a:solidFill>
                  <a:srgbClr val="FFCC99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</a:p>
        </p:txBody>
      </p:sp>
      <p:sp>
        <p:nvSpPr>
          <p:cNvPr id="14351" name="Arc 15">
            <a:extLst>
              <a:ext uri="{FF2B5EF4-FFF2-40B4-BE49-F238E27FC236}">
                <a16:creationId xmlns:a16="http://schemas.microsoft.com/office/drawing/2014/main" id="{5D140A8A-BD31-4F45-AC9F-B5EA9EBA881B}"/>
              </a:ext>
            </a:extLst>
          </p:cNvPr>
          <p:cNvSpPr>
            <a:spLocks/>
          </p:cNvSpPr>
          <p:nvPr/>
        </p:nvSpPr>
        <p:spPr bwMode="auto">
          <a:xfrm flipV="1">
            <a:off x="3070225" y="1828800"/>
            <a:ext cx="193675" cy="50800"/>
          </a:xfrm>
          <a:custGeom>
            <a:avLst/>
            <a:gdLst>
              <a:gd name="T0" fmla="*/ 0 w 20581"/>
              <a:gd name="T1" fmla="*/ 0 h 21600"/>
              <a:gd name="T2" fmla="*/ 2147483646 w 20581"/>
              <a:gd name="T3" fmla="*/ 2147483646 h 21600"/>
              <a:gd name="T4" fmla="*/ 0 w 20581"/>
              <a:gd name="T5" fmla="*/ 2147483646 h 21600"/>
              <a:gd name="T6" fmla="*/ 0 60000 65536"/>
              <a:gd name="T7" fmla="*/ 0 60000 65536"/>
              <a:gd name="T8" fmla="*/ 0 60000 65536"/>
              <a:gd name="T9" fmla="*/ 0 w 20581"/>
              <a:gd name="T10" fmla="*/ 0 h 21600"/>
              <a:gd name="T11" fmla="*/ 20581 w 205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581" h="21600" fill="none" extrusionOk="0">
                <a:moveTo>
                  <a:pt x="-1" y="0"/>
                </a:moveTo>
                <a:cubicBezTo>
                  <a:pt x="9403" y="0"/>
                  <a:pt x="17726" y="6083"/>
                  <a:pt x="20580" y="15043"/>
                </a:cubicBezTo>
              </a:path>
              <a:path w="20581" h="21600" stroke="0" extrusionOk="0">
                <a:moveTo>
                  <a:pt x="-1" y="0"/>
                </a:moveTo>
                <a:cubicBezTo>
                  <a:pt x="9403" y="0"/>
                  <a:pt x="17726" y="6083"/>
                  <a:pt x="20580" y="1504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zh-CN" altLang="en-US"/>
          </a:p>
        </p:txBody>
      </p:sp>
      <p:sp>
        <p:nvSpPr>
          <p:cNvPr id="14352" name="Text Box 16">
            <a:extLst>
              <a:ext uri="{FF2B5EF4-FFF2-40B4-BE49-F238E27FC236}">
                <a16:creationId xmlns:a16="http://schemas.microsoft.com/office/drawing/2014/main" id="{F7E7E855-73A3-4FEC-A907-B9985CB1B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143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  <a:ea typeface="黑体" panose="02010609060101010101" pitchFamily="49" charset="-122"/>
              </a:rPr>
              <a:t>2</a:t>
            </a:r>
            <a:r>
              <a:rPr lang="en-US" altLang="zh-CN">
                <a:solidFill>
                  <a:srgbClr val="66FFFF"/>
                </a:solidFill>
              </a:rPr>
              <a:t>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寻常光和非寻常光</a:t>
            </a:r>
          </a:p>
        </p:txBody>
      </p:sp>
      <p:sp>
        <p:nvSpPr>
          <p:cNvPr id="14353" name="Text Box 17">
            <a:extLst>
              <a:ext uri="{FF2B5EF4-FFF2-40B4-BE49-F238E27FC236}">
                <a16:creationId xmlns:a16="http://schemas.microsoft.com/office/drawing/2014/main" id="{085B070C-D082-4C67-9F88-1C8B89153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2751138"/>
            <a:ext cx="7999412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两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折射光线中</a:t>
            </a:r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有一条始终在入射面内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，并且折射角的正弦与入射角正弦之比等于常数，</a:t>
            </a:r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遵循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折射定律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，称为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寻常光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，简称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o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光 </a:t>
            </a:r>
            <a:r>
              <a:rPr lang="en-US" altLang="zh-CN">
                <a:solidFill>
                  <a:srgbClr val="FFFF00"/>
                </a:solidFill>
              </a:rPr>
              <a:t>(ordinary light)</a:t>
            </a:r>
            <a:r>
              <a:rPr lang="zh-CN" alt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4355" name="Line 19">
            <a:extLst>
              <a:ext uri="{FF2B5EF4-FFF2-40B4-BE49-F238E27FC236}">
                <a16:creationId xmlns:a16="http://schemas.microsoft.com/office/drawing/2014/main" id="{B5192745-AE3A-4210-A0D3-3DE3582E0F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1338" y="550863"/>
            <a:ext cx="0" cy="1608137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362" name="Object 2">
            <a:extLst>
              <a:ext uri="{FF2B5EF4-FFF2-40B4-BE49-F238E27FC236}">
                <a16:creationId xmlns:a16="http://schemas.microsoft.com/office/drawing/2014/main" id="{43F1570D-B1A9-471C-84F0-A100B1BE9681}"/>
              </a:ext>
            </a:extLst>
          </p:cNvPr>
          <p:cNvGraphicFramePr>
            <a:graphicFrameLocks/>
          </p:cNvGraphicFramePr>
          <p:nvPr/>
        </p:nvGraphicFramePr>
        <p:xfrm>
          <a:off x="2800350" y="635000"/>
          <a:ext cx="9525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2" name="公式" r:id="rId3" imgW="104896" imgH="257175" progId="Equation.3">
                  <p:embed/>
                </p:oleObj>
              </mc:Choice>
              <mc:Fallback>
                <p:oleObj name="公式" r:id="rId3" imgW="104896" imgH="257175" progId="Equation.3">
                  <p:embed/>
                  <p:pic>
                    <p:nvPicPr>
                      <p:cNvPr id="14362" name="Object 2">
                        <a:extLst>
                          <a:ext uri="{FF2B5EF4-FFF2-40B4-BE49-F238E27FC236}">
                            <a16:creationId xmlns:a16="http://schemas.microsoft.com/office/drawing/2014/main" id="{43F1570D-B1A9-471C-84F0-A100B1BE968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635000"/>
                        <a:ext cx="9525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3" name="Object 3">
            <a:extLst>
              <a:ext uri="{FF2B5EF4-FFF2-40B4-BE49-F238E27FC236}">
                <a16:creationId xmlns:a16="http://schemas.microsoft.com/office/drawing/2014/main" id="{AE426B70-F7AE-42C6-ABC0-06B84DBE72C4}"/>
              </a:ext>
            </a:extLst>
          </p:cNvPr>
          <p:cNvGraphicFramePr>
            <a:graphicFrameLocks/>
          </p:cNvGraphicFramePr>
          <p:nvPr/>
        </p:nvGraphicFramePr>
        <p:xfrm>
          <a:off x="3090863" y="1917700"/>
          <a:ext cx="223837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3" name="公式" r:id="rId5" imgW="295422" imgH="390661" progId="Equation.3">
                  <p:embed/>
                </p:oleObj>
              </mc:Choice>
              <mc:Fallback>
                <p:oleObj name="公式" r:id="rId5" imgW="295422" imgH="390661" progId="Equation.3">
                  <p:embed/>
                  <p:pic>
                    <p:nvPicPr>
                      <p:cNvPr id="14363" name="Object 3">
                        <a:extLst>
                          <a:ext uri="{FF2B5EF4-FFF2-40B4-BE49-F238E27FC236}">
                            <a16:creationId xmlns:a16="http://schemas.microsoft.com/office/drawing/2014/main" id="{AE426B70-F7AE-42C6-ABC0-06B84DBE72C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1917700"/>
                        <a:ext cx="223837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4" name="Object 4">
            <a:extLst>
              <a:ext uri="{FF2B5EF4-FFF2-40B4-BE49-F238E27FC236}">
                <a16:creationId xmlns:a16="http://schemas.microsoft.com/office/drawing/2014/main" id="{85EC808E-BA5B-45C6-BE9B-6614C7E02782}"/>
              </a:ext>
            </a:extLst>
          </p:cNvPr>
          <p:cNvGraphicFramePr>
            <a:graphicFrameLocks/>
          </p:cNvGraphicFramePr>
          <p:nvPr/>
        </p:nvGraphicFramePr>
        <p:xfrm>
          <a:off x="3309938" y="1631950"/>
          <a:ext cx="2159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4" name="公式" r:id="rId7" imgW="276155" imgH="390661" progId="Equation.3">
                  <p:embed/>
                </p:oleObj>
              </mc:Choice>
              <mc:Fallback>
                <p:oleObj name="公式" r:id="rId7" imgW="276155" imgH="390661" progId="Equation.3">
                  <p:embed/>
                  <p:pic>
                    <p:nvPicPr>
                      <p:cNvPr id="14364" name="Object 4">
                        <a:extLst>
                          <a:ext uri="{FF2B5EF4-FFF2-40B4-BE49-F238E27FC236}">
                            <a16:creationId xmlns:a16="http://schemas.microsoft.com/office/drawing/2014/main" id="{85EC808E-BA5B-45C6-BE9B-6614C7E0278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8" y="1631950"/>
                        <a:ext cx="2159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5" name="Object 5">
            <a:extLst>
              <a:ext uri="{FF2B5EF4-FFF2-40B4-BE49-F238E27FC236}">
                <a16:creationId xmlns:a16="http://schemas.microsoft.com/office/drawing/2014/main" id="{1C366629-24DD-48B4-9E22-A6098ACA964C}"/>
              </a:ext>
            </a:extLst>
          </p:cNvPr>
          <p:cNvGraphicFramePr>
            <a:graphicFrameLocks/>
          </p:cNvGraphicFramePr>
          <p:nvPr/>
        </p:nvGraphicFramePr>
        <p:xfrm>
          <a:off x="2152650" y="766763"/>
          <a:ext cx="190500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5" name="公式" r:id="rId9" imgW="238233" imgH="380864" progId="Equation.3">
                  <p:embed/>
                </p:oleObj>
              </mc:Choice>
              <mc:Fallback>
                <p:oleObj name="公式" r:id="rId9" imgW="238233" imgH="380864" progId="Equation.3">
                  <p:embed/>
                  <p:pic>
                    <p:nvPicPr>
                      <p:cNvPr id="14365" name="Object 5">
                        <a:extLst>
                          <a:ext uri="{FF2B5EF4-FFF2-40B4-BE49-F238E27FC236}">
                            <a16:creationId xmlns:a16="http://schemas.microsoft.com/office/drawing/2014/main" id="{1C366629-24DD-48B4-9E22-A6098ACA964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766763"/>
                        <a:ext cx="190500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6" name="Object 6">
            <a:extLst>
              <a:ext uri="{FF2B5EF4-FFF2-40B4-BE49-F238E27FC236}">
                <a16:creationId xmlns:a16="http://schemas.microsoft.com/office/drawing/2014/main" id="{AA9E512D-5C42-478A-88FD-36B71172CF40}"/>
              </a:ext>
            </a:extLst>
          </p:cNvPr>
          <p:cNvGraphicFramePr>
            <a:graphicFrameLocks/>
          </p:cNvGraphicFramePr>
          <p:nvPr/>
        </p:nvGraphicFramePr>
        <p:xfrm>
          <a:off x="2152650" y="1270000"/>
          <a:ext cx="215900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6" name="公式" r:id="rId11" imgW="276155" imgH="380864" progId="Equation.3">
                  <p:embed/>
                </p:oleObj>
              </mc:Choice>
              <mc:Fallback>
                <p:oleObj name="公式" r:id="rId11" imgW="276155" imgH="380864" progId="Equation.3">
                  <p:embed/>
                  <p:pic>
                    <p:nvPicPr>
                      <p:cNvPr id="14366" name="Object 6">
                        <a:extLst>
                          <a:ext uri="{FF2B5EF4-FFF2-40B4-BE49-F238E27FC236}">
                            <a16:creationId xmlns:a16="http://schemas.microsoft.com/office/drawing/2014/main" id="{AA9E512D-5C42-478A-88FD-36B71172CF4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1270000"/>
                        <a:ext cx="215900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71" name="Picture 35" descr="Rot">
            <a:extLst>
              <a:ext uri="{FF2B5EF4-FFF2-40B4-BE49-F238E27FC236}">
                <a16:creationId xmlns:a16="http://schemas.microsoft.com/office/drawing/2014/main" id="{47088E34-A0B9-4BE6-9778-ADC5D379C55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3" y="4016375"/>
            <a:ext cx="3059112" cy="191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ctangle 23">
            <a:extLst>
              <a:ext uri="{FF2B5EF4-FFF2-40B4-BE49-F238E27FC236}">
                <a16:creationId xmlns:a16="http://schemas.microsoft.com/office/drawing/2014/main" id="{5A8A8319-8976-45D1-B92C-932CBD658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1143000"/>
            <a:ext cx="2303463" cy="1571625"/>
          </a:xfrm>
          <a:prstGeom prst="rect">
            <a:avLst/>
          </a:prstGeom>
          <a:solidFill>
            <a:srgbClr val="009999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6C557096-8E42-4F68-B174-034DBB0F4C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0" y="1168400"/>
            <a:ext cx="6350" cy="111125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BD65394A-325F-4E15-8E1D-24ABD988B9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2913" y="1155700"/>
            <a:ext cx="442912" cy="119697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Arc 26">
            <a:extLst>
              <a:ext uri="{FF2B5EF4-FFF2-40B4-BE49-F238E27FC236}">
                <a16:creationId xmlns:a16="http://schemas.microsoft.com/office/drawing/2014/main" id="{C52C0108-3700-4F90-A407-2C01C7F2A8CA}"/>
              </a:ext>
            </a:extLst>
          </p:cNvPr>
          <p:cNvSpPr>
            <a:spLocks/>
          </p:cNvSpPr>
          <p:nvPr/>
        </p:nvSpPr>
        <p:spPr bwMode="auto">
          <a:xfrm flipV="1">
            <a:off x="6796088" y="1479550"/>
            <a:ext cx="138112" cy="90488"/>
          </a:xfrm>
          <a:custGeom>
            <a:avLst/>
            <a:gdLst>
              <a:gd name="T0" fmla="*/ 0 w 11001"/>
              <a:gd name="T1" fmla="*/ 0 h 21600"/>
              <a:gd name="T2" fmla="*/ 2147483646 w 11001"/>
              <a:gd name="T3" fmla="*/ 2147483646 h 21600"/>
              <a:gd name="T4" fmla="*/ 0 w 11001"/>
              <a:gd name="T5" fmla="*/ 2147483646 h 21600"/>
              <a:gd name="T6" fmla="*/ 0 60000 65536"/>
              <a:gd name="T7" fmla="*/ 0 60000 65536"/>
              <a:gd name="T8" fmla="*/ 0 60000 65536"/>
              <a:gd name="T9" fmla="*/ 0 w 11001"/>
              <a:gd name="T10" fmla="*/ 0 h 21600"/>
              <a:gd name="T11" fmla="*/ 11001 w 1100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01" h="21600" fill="none" extrusionOk="0">
                <a:moveTo>
                  <a:pt x="-1" y="0"/>
                </a:moveTo>
                <a:cubicBezTo>
                  <a:pt x="3870" y="0"/>
                  <a:pt x="7669" y="1040"/>
                  <a:pt x="11000" y="3011"/>
                </a:cubicBezTo>
              </a:path>
              <a:path w="11001" h="21600" stroke="0" extrusionOk="0">
                <a:moveTo>
                  <a:pt x="-1" y="0"/>
                </a:moveTo>
                <a:cubicBezTo>
                  <a:pt x="3870" y="0"/>
                  <a:pt x="7669" y="1040"/>
                  <a:pt x="11000" y="3011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EBBE0F33-C1B7-40FE-94FC-01515AB7F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8600" y="2227263"/>
            <a:ext cx="627063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</a:rPr>
              <a:t>o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</a:p>
          <a:p>
            <a:pPr algn="just" eaLnBrk="1" hangingPunct="1"/>
            <a:endParaRPr lang="en-US" altLang="zh-CN" sz="20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DC42E13E-8F07-45AC-A91E-6EE5BC990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7738" y="2063750"/>
            <a:ext cx="606425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</a:rPr>
              <a:t>e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</a:p>
        </p:txBody>
      </p:sp>
      <p:graphicFrame>
        <p:nvGraphicFramePr>
          <p:cNvPr id="29" name="Object 23">
            <a:extLst>
              <a:ext uri="{FF2B5EF4-FFF2-40B4-BE49-F238E27FC236}">
                <a16:creationId xmlns:a16="http://schemas.microsoft.com/office/drawing/2014/main" id="{095F32A8-F9DE-4F93-AC06-1953D1EA007F}"/>
              </a:ext>
            </a:extLst>
          </p:cNvPr>
          <p:cNvGraphicFramePr>
            <a:graphicFrameLocks/>
          </p:cNvGraphicFramePr>
          <p:nvPr/>
        </p:nvGraphicFramePr>
        <p:xfrm>
          <a:off x="6794500" y="1560513"/>
          <a:ext cx="2159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7" name="公式" r:id="rId14" imgW="276155" imgH="390661" progId="Equation.3">
                  <p:embed/>
                </p:oleObj>
              </mc:Choice>
              <mc:Fallback>
                <p:oleObj name="公式" r:id="rId14" imgW="276155" imgH="390661" progId="Equation.3">
                  <p:embed/>
                  <p:pic>
                    <p:nvPicPr>
                      <p:cNvPr id="29" name="Object 23">
                        <a:extLst>
                          <a:ext uri="{FF2B5EF4-FFF2-40B4-BE49-F238E27FC236}">
                            <a16:creationId xmlns:a16="http://schemas.microsoft.com/office/drawing/2014/main" id="{095F32A8-F9DE-4F93-AC06-1953D1EA00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0" y="1560513"/>
                        <a:ext cx="2159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0">
            <a:extLst>
              <a:ext uri="{FF2B5EF4-FFF2-40B4-BE49-F238E27FC236}">
                <a16:creationId xmlns:a16="http://schemas.microsoft.com/office/drawing/2014/main" id="{70FB6EE7-35E4-476D-B2DA-DA5FC8703D45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704850"/>
            <a:ext cx="301625" cy="403225"/>
            <a:chOff x="4556" y="1695"/>
            <a:chExt cx="190" cy="254"/>
          </a:xfrm>
        </p:grpSpPr>
        <p:sp>
          <p:nvSpPr>
            <p:cNvPr id="9249" name="Line 31">
              <a:extLst>
                <a:ext uri="{FF2B5EF4-FFF2-40B4-BE49-F238E27FC236}">
                  <a16:creationId xmlns:a16="http://schemas.microsoft.com/office/drawing/2014/main" id="{C014EE8E-729C-4015-ADAD-A838BE9ABAD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3120000">
              <a:off x="4524" y="1727"/>
              <a:ext cx="254" cy="19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med" len="sm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0" name="Line 32">
              <a:extLst>
                <a:ext uri="{FF2B5EF4-FFF2-40B4-BE49-F238E27FC236}">
                  <a16:creationId xmlns:a16="http://schemas.microsoft.com/office/drawing/2014/main" id="{11978F62-75FC-4C1F-9CE5-9A9AA29633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940000">
              <a:off x="4589" y="1758"/>
              <a:ext cx="122" cy="10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" name="Rectangle 20">
            <a:extLst>
              <a:ext uri="{FF2B5EF4-FFF2-40B4-BE49-F238E27FC236}">
                <a16:creationId xmlns:a16="http://schemas.microsoft.com/office/drawing/2014/main" id="{69B47732-526A-4C3E-A8B0-333854560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6000750"/>
            <a:ext cx="74295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称为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非常光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，简称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rgbClr val="FFFF00"/>
                </a:solidFill>
              </a:rPr>
              <a:t>e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光 </a:t>
            </a:r>
            <a:r>
              <a:rPr lang="en-US" altLang="zh-CN">
                <a:solidFill>
                  <a:srgbClr val="FFFF00"/>
                </a:solidFill>
                <a:ea typeface="仿宋_GB2312"/>
                <a:cs typeface="仿宋_GB2312"/>
              </a:rPr>
              <a:t>(extraordinary light)</a:t>
            </a:r>
            <a:r>
              <a:rPr lang="en-US" altLang="zh-CN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34" name="Object 24">
            <a:extLst>
              <a:ext uri="{FF2B5EF4-FFF2-40B4-BE49-F238E27FC236}">
                <a16:creationId xmlns:a16="http://schemas.microsoft.com/office/drawing/2014/main" id="{0D9E7077-E37F-41D1-921F-E4C3B50B8D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2238" y="5202238"/>
          <a:ext cx="15367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8" name="Equation" r:id="rId16" imgW="1514418" imgH="762034" progId="Equation.DSMT4">
                  <p:embed/>
                </p:oleObj>
              </mc:Choice>
              <mc:Fallback>
                <p:oleObj name="Equation" r:id="rId16" imgW="1514418" imgH="762034" progId="Equation.DSMT4">
                  <p:embed/>
                  <p:pic>
                    <p:nvPicPr>
                      <p:cNvPr id="34" name="Object 24">
                        <a:extLst>
                          <a:ext uri="{FF2B5EF4-FFF2-40B4-BE49-F238E27FC236}">
                            <a16:creationId xmlns:a16="http://schemas.microsoft.com/office/drawing/2014/main" id="{0D9E7077-E37F-41D1-921F-E4C3B50B8D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238" y="5202238"/>
                        <a:ext cx="1536700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22">
            <a:extLst>
              <a:ext uri="{FF2B5EF4-FFF2-40B4-BE49-F238E27FC236}">
                <a16:creationId xmlns:a16="http://schemas.microsoft.com/office/drawing/2014/main" id="{76887CAC-288A-4E87-B9E3-4008096E9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4143375"/>
            <a:ext cx="4932362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FF9900"/>
              </a:buClr>
              <a:buSzPct val="80000"/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另一束折射光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一般不在入射面内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  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不遵循折射定律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即</a:t>
            </a:r>
            <a:endParaRPr kumimoji="0" lang="zh-CN" altLang="en-US">
              <a:solidFill>
                <a:schemeClr val="bg1"/>
              </a:solidFill>
              <a:latin typeface="宋体" panose="02010600030101010101" pitchFamily="2" charset="-122"/>
              <a:ea typeface="仿宋_GB2312"/>
              <a:cs typeface="仿宋_GB2312"/>
            </a:endParaRPr>
          </a:p>
        </p:txBody>
      </p:sp>
      <p:sp>
        <p:nvSpPr>
          <p:cNvPr id="9247" name="灯片编号占位符 1">
            <a:extLst>
              <a:ext uri="{FF2B5EF4-FFF2-40B4-BE49-F238E27FC236}">
                <a16:creationId xmlns:a16="http://schemas.microsoft.com/office/drawing/2014/main" id="{E14BB6C5-9D51-4C34-B6F8-AD5CEE3CE13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C315E05-9845-4E07-827E-ACAE5862A18A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84F332D-CA21-4EDD-A10C-9FAE516C9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1071563"/>
            <a:ext cx="500062" cy="1714500"/>
          </a:xfrm>
          <a:prstGeom prst="rect">
            <a:avLst/>
          </a:prstGeom>
          <a:noFill/>
          <a:ln w="12700">
            <a:solidFill>
              <a:srgbClr val="00CC99">
                <a:alpha val="5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FFFF00"/>
                </a:solidFill>
              </a:rPr>
              <a:t>各向异性介质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nimBg="1"/>
      <p:bldP spid="14349" grpId="0" autoUpdateAnimBg="0"/>
      <p:bldP spid="14350" grpId="0" autoUpdateAnimBg="0"/>
      <p:bldP spid="14352" grpId="0" autoUpdateAnimBg="0"/>
      <p:bldP spid="14353" grpId="0" autoUpdateAnimBg="0"/>
      <p:bldP spid="23" grpId="0" animBg="1"/>
      <p:bldP spid="27" grpId="0" autoUpdateAnimBg="0"/>
      <p:bldP spid="28" grpId="0" autoUpdateAnimBg="0"/>
      <p:bldP spid="33" grpId="0"/>
      <p:bldP spid="35" grpId="0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>
            <a:extLst>
              <a:ext uri="{FF2B5EF4-FFF2-40B4-BE49-F238E27FC236}">
                <a16:creationId xmlns:a16="http://schemas.microsoft.com/office/drawing/2014/main" id="{A1290E62-EE99-40E0-988F-73A44A2C669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000250"/>
            <a:ext cx="4572000" cy="3200400"/>
            <a:chOff x="528" y="1776"/>
            <a:chExt cx="2880" cy="2016"/>
          </a:xfrm>
        </p:grpSpPr>
        <p:grpSp>
          <p:nvGrpSpPr>
            <p:cNvPr id="10254" name="Group 3">
              <a:extLst>
                <a:ext uri="{FF2B5EF4-FFF2-40B4-BE49-F238E27FC236}">
                  <a16:creationId xmlns:a16="http://schemas.microsoft.com/office/drawing/2014/main" id="{B8F311D8-52BA-4E5B-BC3D-43A9B2FE0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1776"/>
              <a:ext cx="2880" cy="2016"/>
              <a:chOff x="528" y="1776"/>
              <a:chExt cx="2880" cy="2016"/>
            </a:xfrm>
          </p:grpSpPr>
          <p:sp>
            <p:nvSpPr>
              <p:cNvPr id="10270" name="AutoShape 4">
                <a:extLst>
                  <a:ext uri="{FF2B5EF4-FFF2-40B4-BE49-F238E27FC236}">
                    <a16:creationId xmlns:a16="http://schemas.microsoft.com/office/drawing/2014/main" id="{56AD2641-246E-4370-8533-F0873FC9A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1780"/>
                <a:ext cx="2872" cy="2008"/>
              </a:xfrm>
              <a:prstGeom prst="roundRect">
                <a:avLst>
                  <a:gd name="adj" fmla="val 12495"/>
                </a:avLst>
              </a:prstGeom>
              <a:solidFill>
                <a:srgbClr val="FFCC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1" name="Rectangle 5">
                <a:extLst>
                  <a:ext uri="{FF2B5EF4-FFF2-40B4-BE49-F238E27FC236}">
                    <a16:creationId xmlns:a16="http://schemas.microsoft.com/office/drawing/2014/main" id="{7147F187-5EA9-4BCB-82DB-66B5EA075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776"/>
                <a:ext cx="384" cy="288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2" name="Rectangle 6">
                <a:extLst>
                  <a:ext uri="{FF2B5EF4-FFF2-40B4-BE49-F238E27FC236}">
                    <a16:creationId xmlns:a16="http://schemas.microsoft.com/office/drawing/2014/main" id="{1AFD179A-D4DB-4ED4-936D-5AEB8A639E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504"/>
                <a:ext cx="384" cy="288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3" name="Rectangle 7">
                <a:extLst>
                  <a:ext uri="{FF2B5EF4-FFF2-40B4-BE49-F238E27FC236}">
                    <a16:creationId xmlns:a16="http://schemas.microsoft.com/office/drawing/2014/main" id="{1542E199-3FE2-4A20-BF2F-4462412AA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504"/>
                <a:ext cx="384" cy="288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4" name="Freeform 8">
                <a:extLst>
                  <a:ext uri="{FF2B5EF4-FFF2-40B4-BE49-F238E27FC236}">
                    <a16:creationId xmlns:a16="http://schemas.microsoft.com/office/drawing/2014/main" id="{6F125B86-2921-49BF-B36C-0A3DC74723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" y="1776"/>
                <a:ext cx="238" cy="225"/>
              </a:xfrm>
              <a:custGeom>
                <a:avLst/>
                <a:gdLst>
                  <a:gd name="T0" fmla="*/ 237 w 238"/>
                  <a:gd name="T1" fmla="*/ 0 h 225"/>
                  <a:gd name="T2" fmla="*/ 173 w 238"/>
                  <a:gd name="T3" fmla="*/ 24 h 225"/>
                  <a:gd name="T4" fmla="*/ 160 w 238"/>
                  <a:gd name="T5" fmla="*/ 64 h 225"/>
                  <a:gd name="T6" fmla="*/ 133 w 238"/>
                  <a:gd name="T7" fmla="*/ 104 h 225"/>
                  <a:gd name="T8" fmla="*/ 133 w 238"/>
                  <a:gd name="T9" fmla="*/ 144 h 225"/>
                  <a:gd name="T10" fmla="*/ 120 w 238"/>
                  <a:gd name="T11" fmla="*/ 184 h 225"/>
                  <a:gd name="T12" fmla="*/ 120 w 238"/>
                  <a:gd name="T13" fmla="*/ 224 h 225"/>
                  <a:gd name="T14" fmla="*/ 80 w 238"/>
                  <a:gd name="T15" fmla="*/ 198 h 225"/>
                  <a:gd name="T16" fmla="*/ 40 w 238"/>
                  <a:gd name="T17" fmla="*/ 171 h 225"/>
                  <a:gd name="T18" fmla="*/ 0 w 238"/>
                  <a:gd name="T19" fmla="*/ 184 h 225"/>
                  <a:gd name="T20" fmla="*/ 13 w 238"/>
                  <a:gd name="T21" fmla="*/ 144 h 225"/>
                  <a:gd name="T22" fmla="*/ 40 w 238"/>
                  <a:gd name="T23" fmla="*/ 104 h 225"/>
                  <a:gd name="T24" fmla="*/ 67 w 238"/>
                  <a:gd name="T25" fmla="*/ 64 h 225"/>
                  <a:gd name="T26" fmla="*/ 107 w 238"/>
                  <a:gd name="T27" fmla="*/ 38 h 225"/>
                  <a:gd name="T28" fmla="*/ 147 w 238"/>
                  <a:gd name="T29" fmla="*/ 24 h 225"/>
                  <a:gd name="T30" fmla="*/ 237 w 238"/>
                  <a:gd name="T31" fmla="*/ 0 h 225"/>
                  <a:gd name="T32" fmla="*/ 237 w 238"/>
                  <a:gd name="T33" fmla="*/ 0 h 22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38"/>
                  <a:gd name="T52" fmla="*/ 0 h 225"/>
                  <a:gd name="T53" fmla="*/ 238 w 238"/>
                  <a:gd name="T54" fmla="*/ 225 h 22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38" h="225">
                    <a:moveTo>
                      <a:pt x="237" y="0"/>
                    </a:moveTo>
                    <a:lnTo>
                      <a:pt x="173" y="24"/>
                    </a:lnTo>
                    <a:lnTo>
                      <a:pt x="160" y="64"/>
                    </a:lnTo>
                    <a:lnTo>
                      <a:pt x="133" y="104"/>
                    </a:lnTo>
                    <a:lnTo>
                      <a:pt x="133" y="144"/>
                    </a:lnTo>
                    <a:lnTo>
                      <a:pt x="120" y="184"/>
                    </a:lnTo>
                    <a:lnTo>
                      <a:pt x="120" y="224"/>
                    </a:lnTo>
                    <a:lnTo>
                      <a:pt x="80" y="198"/>
                    </a:lnTo>
                    <a:lnTo>
                      <a:pt x="40" y="171"/>
                    </a:lnTo>
                    <a:lnTo>
                      <a:pt x="0" y="184"/>
                    </a:lnTo>
                    <a:lnTo>
                      <a:pt x="13" y="144"/>
                    </a:lnTo>
                    <a:lnTo>
                      <a:pt x="40" y="104"/>
                    </a:lnTo>
                    <a:lnTo>
                      <a:pt x="67" y="64"/>
                    </a:lnTo>
                    <a:lnTo>
                      <a:pt x="107" y="38"/>
                    </a:lnTo>
                    <a:lnTo>
                      <a:pt x="147" y="24"/>
                    </a:lnTo>
                    <a:lnTo>
                      <a:pt x="237" y="0"/>
                    </a:lnTo>
                  </a:path>
                </a:pathLst>
              </a:custGeom>
              <a:solidFill>
                <a:srgbClr val="996633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55" name="Rectangle 9">
              <a:extLst>
                <a:ext uri="{FF2B5EF4-FFF2-40B4-BE49-F238E27FC236}">
                  <a16:creationId xmlns:a16="http://schemas.microsoft.com/office/drawing/2014/main" id="{F08234E7-80D0-474B-BCA1-5A3272A20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2" y="2558"/>
              <a:ext cx="551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5400">
                  <a:latin typeface="楷体_GB2312" pitchFamily="49" charset="-122"/>
                  <a:ea typeface="楷体_GB2312" pitchFamily="49" charset="-122"/>
                </a:rPr>
                <a:t>象</a:t>
              </a:r>
            </a:p>
          </p:txBody>
        </p:sp>
        <p:sp>
          <p:nvSpPr>
            <p:cNvPr id="10256" name="Rectangle 10">
              <a:extLst>
                <a:ext uri="{FF2B5EF4-FFF2-40B4-BE49-F238E27FC236}">
                  <a16:creationId xmlns:a16="http://schemas.microsoft.com/office/drawing/2014/main" id="{66FAAA58-1E4B-4A9F-A35A-FA34B09C2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" y="2462"/>
              <a:ext cx="1421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5400">
                  <a:solidFill>
                    <a:srgbClr val="B2B2B2"/>
                  </a:solidFill>
                  <a:latin typeface="楷体_GB2312" pitchFamily="49" charset="-122"/>
                  <a:ea typeface="楷体_GB2312" pitchFamily="49" charset="-122"/>
                </a:rPr>
                <a:t>折射现</a:t>
              </a:r>
            </a:p>
          </p:txBody>
        </p:sp>
        <p:grpSp>
          <p:nvGrpSpPr>
            <p:cNvPr id="10257" name="Group 11">
              <a:extLst>
                <a:ext uri="{FF2B5EF4-FFF2-40B4-BE49-F238E27FC236}">
                  <a16:creationId xmlns:a16="http://schemas.microsoft.com/office/drawing/2014/main" id="{292A792D-3F28-4184-B55A-D882E9D3B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016"/>
              <a:ext cx="1681" cy="1585"/>
              <a:chOff x="1200" y="2016"/>
              <a:chExt cx="1681" cy="1585"/>
            </a:xfrm>
          </p:grpSpPr>
          <p:sp>
            <p:nvSpPr>
              <p:cNvPr id="10264" name="AutoShape 12">
                <a:extLst>
                  <a:ext uri="{FF2B5EF4-FFF2-40B4-BE49-F238E27FC236}">
                    <a16:creationId xmlns:a16="http://schemas.microsoft.com/office/drawing/2014/main" id="{92279BBE-2B0E-4682-8CC6-FFCD4CA9E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4" y="2020"/>
                <a:ext cx="1672" cy="1576"/>
              </a:xfrm>
              <a:prstGeom prst="cube">
                <a:avLst>
                  <a:gd name="adj" fmla="val 17495"/>
                </a:avLst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65" name="Freeform 13">
                <a:extLst>
                  <a:ext uri="{FF2B5EF4-FFF2-40B4-BE49-F238E27FC236}">
                    <a16:creationId xmlns:a16="http://schemas.microsoft.com/office/drawing/2014/main" id="{D242EB03-50DE-406E-89C5-C485E3C3E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9" y="2016"/>
                <a:ext cx="282" cy="1585"/>
              </a:xfrm>
              <a:custGeom>
                <a:avLst/>
                <a:gdLst>
                  <a:gd name="T0" fmla="*/ 0 w 282"/>
                  <a:gd name="T1" fmla="*/ 286 h 1585"/>
                  <a:gd name="T2" fmla="*/ 281 w 282"/>
                  <a:gd name="T3" fmla="*/ 0 h 1585"/>
                  <a:gd name="T4" fmla="*/ 281 w 282"/>
                  <a:gd name="T5" fmla="*/ 1295 h 1585"/>
                  <a:gd name="T6" fmla="*/ 0 w 282"/>
                  <a:gd name="T7" fmla="*/ 1584 h 1585"/>
                  <a:gd name="T8" fmla="*/ 0 w 282"/>
                  <a:gd name="T9" fmla="*/ 286 h 15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2"/>
                  <a:gd name="T16" fmla="*/ 0 h 1585"/>
                  <a:gd name="T17" fmla="*/ 282 w 282"/>
                  <a:gd name="T18" fmla="*/ 1585 h 158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2" h="1585">
                    <a:moveTo>
                      <a:pt x="0" y="286"/>
                    </a:moveTo>
                    <a:lnTo>
                      <a:pt x="281" y="0"/>
                    </a:lnTo>
                    <a:lnTo>
                      <a:pt x="281" y="1295"/>
                    </a:lnTo>
                    <a:lnTo>
                      <a:pt x="0" y="1584"/>
                    </a:lnTo>
                    <a:lnTo>
                      <a:pt x="0" y="286"/>
                    </a:lnTo>
                  </a:path>
                </a:pathLst>
              </a:custGeom>
              <a:solidFill>
                <a:srgbClr val="33CCFF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6" name="Freeform 14">
                <a:extLst>
                  <a:ext uri="{FF2B5EF4-FFF2-40B4-BE49-F238E27FC236}">
                    <a16:creationId xmlns:a16="http://schemas.microsoft.com/office/drawing/2014/main" id="{5AE3E1FB-959E-4CE3-9D32-52DBDB923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2016"/>
                <a:ext cx="1681" cy="290"/>
              </a:xfrm>
              <a:custGeom>
                <a:avLst/>
                <a:gdLst>
                  <a:gd name="T0" fmla="*/ 0 w 1681"/>
                  <a:gd name="T1" fmla="*/ 289 h 290"/>
                  <a:gd name="T2" fmla="*/ 1400 w 1681"/>
                  <a:gd name="T3" fmla="*/ 286 h 290"/>
                  <a:gd name="T4" fmla="*/ 1680 w 1681"/>
                  <a:gd name="T5" fmla="*/ 0 h 290"/>
                  <a:gd name="T6" fmla="*/ 280 w 1681"/>
                  <a:gd name="T7" fmla="*/ 0 h 290"/>
                  <a:gd name="T8" fmla="*/ 0 w 1681"/>
                  <a:gd name="T9" fmla="*/ 289 h 29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81"/>
                  <a:gd name="T16" fmla="*/ 0 h 290"/>
                  <a:gd name="T17" fmla="*/ 1681 w 1681"/>
                  <a:gd name="T18" fmla="*/ 290 h 29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81" h="290">
                    <a:moveTo>
                      <a:pt x="0" y="289"/>
                    </a:moveTo>
                    <a:lnTo>
                      <a:pt x="1400" y="286"/>
                    </a:lnTo>
                    <a:lnTo>
                      <a:pt x="1680" y="0"/>
                    </a:lnTo>
                    <a:lnTo>
                      <a:pt x="280" y="0"/>
                    </a:lnTo>
                    <a:lnTo>
                      <a:pt x="0" y="289"/>
                    </a:lnTo>
                  </a:path>
                </a:pathLst>
              </a:custGeom>
              <a:solidFill>
                <a:srgbClr val="99FFFF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7" name="Line 15">
                <a:extLst>
                  <a:ext uri="{FF2B5EF4-FFF2-40B4-BE49-F238E27FC236}">
                    <a16:creationId xmlns:a16="http://schemas.microsoft.com/office/drawing/2014/main" id="{0A38BEC4-3D13-4A1E-B915-874FCD5170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80" y="2016"/>
                <a:ext cx="1" cy="12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8" name="Line 16">
                <a:extLst>
                  <a:ext uri="{FF2B5EF4-FFF2-40B4-BE49-F238E27FC236}">
                    <a16:creationId xmlns:a16="http://schemas.microsoft.com/office/drawing/2014/main" id="{2E3837F3-C788-4766-91BD-66A7C2193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80" y="3311"/>
                <a:ext cx="1400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9" name="Line 17">
                <a:extLst>
                  <a:ext uri="{FF2B5EF4-FFF2-40B4-BE49-F238E27FC236}">
                    <a16:creationId xmlns:a16="http://schemas.microsoft.com/office/drawing/2014/main" id="{B7406D66-E7F2-496A-B838-E3F109224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3314"/>
                <a:ext cx="280" cy="28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258" name="Rectangle 18">
              <a:extLst>
                <a:ext uri="{FF2B5EF4-FFF2-40B4-BE49-F238E27FC236}">
                  <a16:creationId xmlns:a16="http://schemas.microsoft.com/office/drawing/2014/main" id="{637DE061-7BE0-4330-811A-C54DEA5DF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" y="2510"/>
              <a:ext cx="551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5400">
                  <a:latin typeface="楷体_GB2312" pitchFamily="49" charset="-122"/>
                  <a:ea typeface="楷体_GB2312" pitchFamily="49" charset="-122"/>
                </a:rPr>
                <a:t>双</a:t>
              </a: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6A061DFD-11DE-4B07-A2A7-08DB9ADF6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776"/>
              <a:ext cx="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8BA92F8D-C2D3-40AD-A338-7A0804655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776"/>
              <a:ext cx="0" cy="20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0638CA6C-816D-486A-B138-354499E81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3792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2A8DE0A9-3277-4B54-99C5-B0CDF0333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968"/>
              <a:ext cx="0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3" name="Rectangle 23">
              <a:extLst>
                <a:ext uri="{FF2B5EF4-FFF2-40B4-BE49-F238E27FC236}">
                  <a16:creationId xmlns:a16="http://schemas.microsoft.com/office/drawing/2014/main" id="{80721E92-E005-493D-89A9-32D416776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0" y="2558"/>
              <a:ext cx="1421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5400">
                  <a:solidFill>
                    <a:srgbClr val="777777"/>
                  </a:solidFill>
                  <a:latin typeface="楷体_GB2312" pitchFamily="49" charset="-122"/>
                  <a:ea typeface="楷体_GB2312" pitchFamily="49" charset="-122"/>
                </a:rPr>
                <a:t>折射现</a:t>
              </a:r>
            </a:p>
          </p:txBody>
        </p:sp>
      </p:grpSp>
      <p:grpSp>
        <p:nvGrpSpPr>
          <p:cNvPr id="10243" name="Group 24">
            <a:extLst>
              <a:ext uri="{FF2B5EF4-FFF2-40B4-BE49-F238E27FC236}">
                <a16:creationId xmlns:a16="http://schemas.microsoft.com/office/drawing/2014/main" id="{1992B600-2DC3-4B68-850B-70E15A3D502B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590800"/>
            <a:ext cx="4162425" cy="1266825"/>
            <a:chOff x="2736" y="2225"/>
            <a:chExt cx="2622" cy="798"/>
          </a:xfrm>
        </p:grpSpPr>
        <p:grpSp>
          <p:nvGrpSpPr>
            <p:cNvPr id="10249" name="Group 25">
              <a:extLst>
                <a:ext uri="{FF2B5EF4-FFF2-40B4-BE49-F238E27FC236}">
                  <a16:creationId xmlns:a16="http://schemas.microsoft.com/office/drawing/2014/main" id="{E1610A5B-C2E3-431B-AD08-C4AD55D2F5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2" y="2225"/>
              <a:ext cx="1576" cy="798"/>
              <a:chOff x="3782" y="2225"/>
              <a:chExt cx="1576" cy="798"/>
            </a:xfrm>
          </p:grpSpPr>
          <p:sp>
            <p:nvSpPr>
              <p:cNvPr id="10251" name="Rectangle 26">
                <a:extLst>
                  <a:ext uri="{FF2B5EF4-FFF2-40B4-BE49-F238E27FC236}">
                    <a16:creationId xmlns:a16="http://schemas.microsoft.com/office/drawing/2014/main" id="{2B127ACD-B538-42F1-BACC-B06F8382B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2" y="2225"/>
                <a:ext cx="1576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360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方解石晶体</a:t>
                </a:r>
              </a:p>
            </p:txBody>
          </p:sp>
          <p:sp>
            <p:nvSpPr>
              <p:cNvPr id="10252" name="Rectangle 27">
                <a:extLst>
                  <a:ext uri="{FF2B5EF4-FFF2-40B4-BE49-F238E27FC236}">
                    <a16:creationId xmlns:a16="http://schemas.microsoft.com/office/drawing/2014/main" id="{C5EA217B-567D-435F-B149-05FD34D13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0" y="2609"/>
                <a:ext cx="900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3600">
                    <a:solidFill>
                      <a:srgbClr val="FFFF00"/>
                    </a:solidFill>
                  </a:rPr>
                  <a:t>CaCO</a:t>
                </a:r>
              </a:p>
            </p:txBody>
          </p:sp>
          <p:sp>
            <p:nvSpPr>
              <p:cNvPr id="10253" name="Rectangle 28">
                <a:extLst>
                  <a:ext uri="{FF2B5EF4-FFF2-40B4-BE49-F238E27FC236}">
                    <a16:creationId xmlns:a16="http://schemas.microsoft.com/office/drawing/2014/main" id="{5F8AC285-E3A0-4248-AE37-CFF56601F5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4" y="2773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rgbClr val="FFFF00"/>
                    </a:solidFill>
                  </a:rPr>
                  <a:t>3</a:t>
                </a:r>
              </a:p>
            </p:txBody>
          </p:sp>
        </p:grpSp>
        <p:sp>
          <p:nvSpPr>
            <p:cNvPr id="10250" name="Line 29">
              <a:extLst>
                <a:ext uri="{FF2B5EF4-FFF2-40B4-BE49-F238E27FC236}">
                  <a16:creationId xmlns:a16="http://schemas.microsoft.com/office/drawing/2014/main" id="{CDD1C52D-B4F1-4ACF-97B4-32C9858FA4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2592"/>
              <a:ext cx="1152" cy="288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244" name="Group 30">
            <a:extLst>
              <a:ext uri="{FF2B5EF4-FFF2-40B4-BE49-F238E27FC236}">
                <a16:creationId xmlns:a16="http://schemas.microsoft.com/office/drawing/2014/main" id="{C91A2628-8DDD-4A94-9AD7-6B74502C2D24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343400"/>
            <a:ext cx="2697163" cy="647700"/>
            <a:chOff x="3264" y="3167"/>
            <a:chExt cx="1699" cy="408"/>
          </a:xfrm>
        </p:grpSpPr>
        <p:sp>
          <p:nvSpPr>
            <p:cNvPr id="10247" name="Rectangle 31">
              <a:extLst>
                <a:ext uri="{FF2B5EF4-FFF2-40B4-BE49-F238E27FC236}">
                  <a16:creationId xmlns:a16="http://schemas.microsoft.com/office/drawing/2014/main" id="{BFE8E6B0-F277-449C-9FF1-F3237365B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2" y="3167"/>
              <a:ext cx="701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>
                  <a:solidFill>
                    <a:schemeClr val="bg1"/>
                  </a:solidFill>
                  <a:latin typeface="Bookman Old Style" panose="02050604050505020204" pitchFamily="18" charset="0"/>
                </a:rPr>
                <a:t>纸面</a:t>
              </a:r>
            </a:p>
          </p:txBody>
        </p:sp>
        <p:sp>
          <p:nvSpPr>
            <p:cNvPr id="10248" name="Line 32">
              <a:extLst>
                <a:ext uri="{FF2B5EF4-FFF2-40B4-BE49-F238E27FC236}">
                  <a16:creationId xmlns:a16="http://schemas.microsoft.com/office/drawing/2014/main" id="{6F5EAE66-0BD8-463B-8D9B-84EA271D1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360"/>
              <a:ext cx="912" cy="0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45" name="Text Box 33">
            <a:extLst>
              <a:ext uri="{FF2B5EF4-FFF2-40B4-BE49-F238E27FC236}">
                <a16:creationId xmlns:a16="http://schemas.microsoft.com/office/drawing/2014/main" id="{59668F8C-82E0-4D86-9EE5-8931A515A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85800"/>
            <a:ext cx="525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</a:rPr>
              <a:t>双折射会映射出双像：</a:t>
            </a:r>
          </a:p>
        </p:txBody>
      </p:sp>
      <p:sp>
        <p:nvSpPr>
          <p:cNvPr id="10246" name="灯片编号占位符 1">
            <a:extLst>
              <a:ext uri="{FF2B5EF4-FFF2-40B4-BE49-F238E27FC236}">
                <a16:creationId xmlns:a16="http://schemas.microsoft.com/office/drawing/2014/main" id="{6D071B67-D3A8-4DD9-B6AB-F0A37F43027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5BB747B-DA4A-4192-9926-20B7693B1962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3A6DE61-50A4-4721-9154-2FEEA056B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8" y="431800"/>
            <a:ext cx="47815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>
                <a:solidFill>
                  <a:schemeClr val="bg1"/>
                </a:solidFill>
                <a:latin typeface="华文中宋" panose="02010600040101010101" pitchFamily="2" charset="-122"/>
              </a:rPr>
              <a:t>当方解石晶体旋转时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9FA02D0-CDF7-4D6B-803E-D1E7D1A5F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88" y="1117600"/>
            <a:ext cx="6381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i="1">
                <a:solidFill>
                  <a:srgbClr val="FFFF00"/>
                </a:solidFill>
              </a:rPr>
              <a:t>e </a:t>
            </a:r>
            <a:r>
              <a:rPr lang="zh-CN" altLang="en-US" sz="3200">
                <a:solidFill>
                  <a:schemeClr val="bg1"/>
                </a:solidFill>
                <a:latin typeface="华文中宋" panose="02010600040101010101" pitchFamily="2" charset="-122"/>
              </a:rPr>
              <a:t>光的像围绕</a:t>
            </a: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3200" i="1">
                <a:solidFill>
                  <a:srgbClr val="FFFF00"/>
                </a:solidFill>
              </a:rPr>
              <a:t>o </a:t>
            </a:r>
            <a:r>
              <a:rPr lang="zh-CN" altLang="en-US" sz="3200">
                <a:solidFill>
                  <a:schemeClr val="bg1"/>
                </a:solidFill>
                <a:latin typeface="华文中宋" panose="02010600040101010101" pitchFamily="2" charset="-122"/>
              </a:rPr>
              <a:t>光的像旋转</a:t>
            </a: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CD88F6B8-0BF9-473F-9E4B-49C5626D8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458788"/>
            <a:ext cx="3657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i="1">
                <a:solidFill>
                  <a:srgbClr val="FFFF00"/>
                </a:solidFill>
              </a:rPr>
              <a:t>o </a:t>
            </a:r>
            <a:r>
              <a:rPr lang="zh-CN" altLang="en-US" sz="3200">
                <a:solidFill>
                  <a:schemeClr val="bg1"/>
                </a:solidFill>
                <a:latin typeface="华文中宋" panose="02010600040101010101" pitchFamily="2" charset="-122"/>
              </a:rPr>
              <a:t>光的像不动</a:t>
            </a: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</a:p>
        </p:txBody>
      </p:sp>
      <p:grpSp>
        <p:nvGrpSpPr>
          <p:cNvPr id="11269" name="Group 5">
            <a:extLst>
              <a:ext uri="{FF2B5EF4-FFF2-40B4-BE49-F238E27FC236}">
                <a16:creationId xmlns:a16="http://schemas.microsoft.com/office/drawing/2014/main" id="{AD038BD0-E1E8-43B0-804D-8B490D4F3C77}"/>
              </a:ext>
            </a:extLst>
          </p:cNvPr>
          <p:cNvGrpSpPr>
            <a:grpSpLocks/>
          </p:cNvGrpSpPr>
          <p:nvPr/>
        </p:nvGrpSpPr>
        <p:grpSpPr bwMode="auto">
          <a:xfrm>
            <a:off x="720725" y="2286000"/>
            <a:ext cx="8062913" cy="3886200"/>
            <a:chOff x="416" y="588"/>
            <a:chExt cx="5079" cy="2448"/>
          </a:xfrm>
        </p:grpSpPr>
        <p:grpSp>
          <p:nvGrpSpPr>
            <p:cNvPr id="11277" name="Group 6">
              <a:extLst>
                <a:ext uri="{FF2B5EF4-FFF2-40B4-BE49-F238E27FC236}">
                  <a16:creationId xmlns:a16="http://schemas.microsoft.com/office/drawing/2014/main" id="{5017CB86-D624-4219-AF0E-D9EB5DA4D2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" y="588"/>
              <a:ext cx="4128" cy="2256"/>
              <a:chOff x="528" y="1344"/>
              <a:chExt cx="4128" cy="2256"/>
            </a:xfrm>
          </p:grpSpPr>
          <p:grpSp>
            <p:nvGrpSpPr>
              <p:cNvPr id="11292" name="Group 7">
                <a:extLst>
                  <a:ext uri="{FF2B5EF4-FFF2-40B4-BE49-F238E27FC236}">
                    <a16:creationId xmlns:a16="http://schemas.microsoft.com/office/drawing/2014/main" id="{1927E943-FC41-4F6A-9607-11BB01FE8B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1344"/>
                <a:ext cx="4128" cy="2256"/>
                <a:chOff x="528" y="1344"/>
                <a:chExt cx="4128" cy="2256"/>
              </a:xfrm>
            </p:grpSpPr>
            <p:sp>
              <p:nvSpPr>
                <p:cNvPr id="11299" name="AutoShape 8">
                  <a:extLst>
                    <a:ext uri="{FF2B5EF4-FFF2-40B4-BE49-F238E27FC236}">
                      <a16:creationId xmlns:a16="http://schemas.microsoft.com/office/drawing/2014/main" id="{5E68BA40-2A86-476B-B936-6C62CD2239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1348"/>
                  <a:ext cx="4120" cy="2248"/>
                </a:xfrm>
                <a:prstGeom prst="roundRect">
                  <a:avLst>
                    <a:gd name="adj" fmla="val 12495"/>
                  </a:avLst>
                </a:prstGeom>
                <a:solidFill>
                  <a:srgbClr val="FFCC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300" name="Rectangle 9">
                  <a:extLst>
                    <a:ext uri="{FF2B5EF4-FFF2-40B4-BE49-F238E27FC236}">
                      <a16:creationId xmlns:a16="http://schemas.microsoft.com/office/drawing/2014/main" id="{B8B7577B-CEEA-4030-8098-595DA7E02F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6" y="1344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301" name="Rectangle 10">
                  <a:extLst>
                    <a:ext uri="{FF2B5EF4-FFF2-40B4-BE49-F238E27FC236}">
                      <a16:creationId xmlns:a16="http://schemas.microsoft.com/office/drawing/2014/main" id="{D1DEBBAE-E50E-4FED-A14A-EE9FD06E4F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3277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302" name="Rectangle 11">
                  <a:extLst>
                    <a:ext uri="{FF2B5EF4-FFF2-40B4-BE49-F238E27FC236}">
                      <a16:creationId xmlns:a16="http://schemas.microsoft.com/office/drawing/2014/main" id="{3E2E8362-C437-4B0A-BE64-AF663B37A9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6" y="3277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303" name="Freeform 12">
                  <a:extLst>
                    <a:ext uri="{FF2B5EF4-FFF2-40B4-BE49-F238E27FC236}">
                      <a16:creationId xmlns:a16="http://schemas.microsoft.com/office/drawing/2014/main" id="{450097F9-2402-49F7-AAFE-8C0176C9A1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" y="1344"/>
                  <a:ext cx="341" cy="252"/>
                </a:xfrm>
                <a:custGeom>
                  <a:avLst/>
                  <a:gdLst>
                    <a:gd name="T0" fmla="*/ 340 w 341"/>
                    <a:gd name="T1" fmla="*/ 0 h 252"/>
                    <a:gd name="T2" fmla="*/ 248 w 341"/>
                    <a:gd name="T3" fmla="*/ 26 h 252"/>
                    <a:gd name="T4" fmla="*/ 229 w 341"/>
                    <a:gd name="T5" fmla="*/ 71 h 252"/>
                    <a:gd name="T6" fmla="*/ 190 w 341"/>
                    <a:gd name="T7" fmla="*/ 116 h 252"/>
                    <a:gd name="T8" fmla="*/ 190 w 341"/>
                    <a:gd name="T9" fmla="*/ 161 h 252"/>
                    <a:gd name="T10" fmla="*/ 172 w 341"/>
                    <a:gd name="T11" fmla="*/ 206 h 252"/>
                    <a:gd name="T12" fmla="*/ 172 w 341"/>
                    <a:gd name="T13" fmla="*/ 251 h 252"/>
                    <a:gd name="T14" fmla="*/ 114 w 341"/>
                    <a:gd name="T15" fmla="*/ 221 h 252"/>
                    <a:gd name="T16" fmla="*/ 57 w 341"/>
                    <a:gd name="T17" fmla="*/ 191 h 252"/>
                    <a:gd name="T18" fmla="*/ 0 w 341"/>
                    <a:gd name="T19" fmla="*/ 206 h 252"/>
                    <a:gd name="T20" fmla="*/ 18 w 341"/>
                    <a:gd name="T21" fmla="*/ 161 h 252"/>
                    <a:gd name="T22" fmla="*/ 57 w 341"/>
                    <a:gd name="T23" fmla="*/ 116 h 252"/>
                    <a:gd name="T24" fmla="*/ 96 w 341"/>
                    <a:gd name="T25" fmla="*/ 71 h 252"/>
                    <a:gd name="T26" fmla="*/ 153 w 341"/>
                    <a:gd name="T27" fmla="*/ 42 h 252"/>
                    <a:gd name="T28" fmla="*/ 210 w 341"/>
                    <a:gd name="T29" fmla="*/ 26 h 252"/>
                    <a:gd name="T30" fmla="*/ 340 w 341"/>
                    <a:gd name="T31" fmla="*/ 0 h 252"/>
                    <a:gd name="T32" fmla="*/ 340 w 341"/>
                    <a:gd name="T33" fmla="*/ 0 h 25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341"/>
                    <a:gd name="T52" fmla="*/ 0 h 252"/>
                    <a:gd name="T53" fmla="*/ 341 w 341"/>
                    <a:gd name="T54" fmla="*/ 252 h 252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341" h="252">
                      <a:moveTo>
                        <a:pt x="340" y="0"/>
                      </a:moveTo>
                      <a:lnTo>
                        <a:pt x="248" y="26"/>
                      </a:lnTo>
                      <a:lnTo>
                        <a:pt x="229" y="71"/>
                      </a:lnTo>
                      <a:lnTo>
                        <a:pt x="190" y="116"/>
                      </a:lnTo>
                      <a:lnTo>
                        <a:pt x="190" y="161"/>
                      </a:lnTo>
                      <a:lnTo>
                        <a:pt x="172" y="206"/>
                      </a:lnTo>
                      <a:lnTo>
                        <a:pt x="172" y="251"/>
                      </a:lnTo>
                      <a:lnTo>
                        <a:pt x="114" y="221"/>
                      </a:lnTo>
                      <a:lnTo>
                        <a:pt x="57" y="191"/>
                      </a:lnTo>
                      <a:lnTo>
                        <a:pt x="0" y="206"/>
                      </a:lnTo>
                      <a:lnTo>
                        <a:pt x="18" y="161"/>
                      </a:lnTo>
                      <a:lnTo>
                        <a:pt x="57" y="116"/>
                      </a:lnTo>
                      <a:lnTo>
                        <a:pt x="96" y="71"/>
                      </a:lnTo>
                      <a:lnTo>
                        <a:pt x="153" y="42"/>
                      </a:lnTo>
                      <a:lnTo>
                        <a:pt x="210" y="26"/>
                      </a:lnTo>
                      <a:lnTo>
                        <a:pt x="340" y="0"/>
                      </a:lnTo>
                    </a:path>
                  </a:pathLst>
                </a:custGeom>
                <a:solidFill>
                  <a:srgbClr val="996633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293" name="Line 13">
                <a:extLst>
                  <a:ext uri="{FF2B5EF4-FFF2-40B4-BE49-F238E27FC236}">
                    <a16:creationId xmlns:a16="http://schemas.microsoft.com/office/drawing/2014/main" id="{56358AEE-64BF-46E1-8CB2-66EF631072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344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4" name="Line 14">
                <a:extLst>
                  <a:ext uri="{FF2B5EF4-FFF2-40B4-BE49-F238E27FC236}">
                    <a16:creationId xmlns:a16="http://schemas.microsoft.com/office/drawing/2014/main" id="{850B5863-7BE0-4D38-886E-D2F0709EAA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344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5" name="Line 15">
                <a:extLst>
                  <a:ext uri="{FF2B5EF4-FFF2-40B4-BE49-F238E27FC236}">
                    <a16:creationId xmlns:a16="http://schemas.microsoft.com/office/drawing/2014/main" id="{B8A49B71-0DDC-45A5-B434-EEA390AE6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3264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6" name="Line 16">
                <a:extLst>
                  <a:ext uri="{FF2B5EF4-FFF2-40B4-BE49-F238E27FC236}">
                    <a16:creationId xmlns:a16="http://schemas.microsoft.com/office/drawing/2014/main" id="{38EBD91F-C18E-46EE-819C-2825815B6C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360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7" name="Line 17">
                <a:extLst>
                  <a:ext uri="{FF2B5EF4-FFF2-40B4-BE49-F238E27FC236}">
                    <a16:creationId xmlns:a16="http://schemas.microsoft.com/office/drawing/2014/main" id="{2DEF50DC-F84B-4FAB-A2BD-B6145591FF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" y="360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8" name="Line 18">
                <a:extLst>
                  <a:ext uri="{FF2B5EF4-FFF2-40B4-BE49-F238E27FC236}">
                    <a16:creationId xmlns:a16="http://schemas.microsoft.com/office/drawing/2014/main" id="{1D0A227A-3354-4EA8-B569-141648499D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168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278" name="Rectangle 19">
              <a:extLst>
                <a:ext uri="{FF2B5EF4-FFF2-40B4-BE49-F238E27FC236}">
                  <a16:creationId xmlns:a16="http://schemas.microsoft.com/office/drawing/2014/main" id="{1EFEB546-FF8F-438E-BEB9-58E6AB662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2" y="1279"/>
              <a:ext cx="759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8000">
                  <a:solidFill>
                    <a:schemeClr val="bg2"/>
                  </a:solidFill>
                  <a:latin typeface="楷体_GB2312" pitchFamily="49" charset="-122"/>
                  <a:ea typeface="楷体_GB2312" pitchFamily="49" charset="-122"/>
                </a:rPr>
                <a:t>光</a:t>
              </a:r>
            </a:p>
          </p:txBody>
        </p:sp>
        <p:sp>
          <p:nvSpPr>
            <p:cNvPr id="11279" name="Rectangle 20">
              <a:extLst>
                <a:ext uri="{FF2B5EF4-FFF2-40B4-BE49-F238E27FC236}">
                  <a16:creationId xmlns:a16="http://schemas.microsoft.com/office/drawing/2014/main" id="{9B57AA7D-B45D-4BB0-BD47-41E9BF674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2" y="1519"/>
              <a:ext cx="759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8000">
                  <a:latin typeface="楷体_GB2312" pitchFamily="49" charset="-122"/>
                  <a:ea typeface="楷体_GB2312" pitchFamily="49" charset="-122"/>
                </a:rPr>
                <a:t>光</a:t>
              </a:r>
            </a:p>
          </p:txBody>
        </p:sp>
        <p:grpSp>
          <p:nvGrpSpPr>
            <p:cNvPr id="11280" name="Group 21">
              <a:extLst>
                <a:ext uri="{FF2B5EF4-FFF2-40B4-BE49-F238E27FC236}">
                  <a16:creationId xmlns:a16="http://schemas.microsoft.com/office/drawing/2014/main" id="{A059EC2E-7617-40A4-8D5B-F5B5307E99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2" y="853"/>
              <a:ext cx="2018" cy="2183"/>
              <a:chOff x="1824" y="1609"/>
              <a:chExt cx="2018" cy="2183"/>
            </a:xfrm>
          </p:grpSpPr>
          <p:grpSp>
            <p:nvGrpSpPr>
              <p:cNvPr id="11285" name="Group 22">
                <a:extLst>
                  <a:ext uri="{FF2B5EF4-FFF2-40B4-BE49-F238E27FC236}">
                    <a16:creationId xmlns:a16="http://schemas.microsoft.com/office/drawing/2014/main" id="{CE64BA0F-AB5A-45F5-ACB3-5A58EBD51F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6" y="1609"/>
                <a:ext cx="2016" cy="2160"/>
                <a:chOff x="1826" y="1609"/>
                <a:chExt cx="2016" cy="2160"/>
              </a:xfrm>
            </p:grpSpPr>
            <p:sp>
              <p:nvSpPr>
                <p:cNvPr id="11289" name="AutoShape 23">
                  <a:extLst>
                    <a:ext uri="{FF2B5EF4-FFF2-40B4-BE49-F238E27FC236}">
                      <a16:creationId xmlns:a16="http://schemas.microsoft.com/office/drawing/2014/main" id="{F823B776-B35B-4494-858C-9D9D7457A9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7" y="1614"/>
                  <a:ext cx="2011" cy="2150"/>
                </a:xfrm>
                <a:prstGeom prst="cube">
                  <a:avLst>
                    <a:gd name="adj" fmla="val 18792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290" name="Freeform 24">
                  <a:extLst>
                    <a:ext uri="{FF2B5EF4-FFF2-40B4-BE49-F238E27FC236}">
                      <a16:creationId xmlns:a16="http://schemas.microsoft.com/office/drawing/2014/main" id="{5B5802C6-98D7-4DF9-AFD7-6C3425C16E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0" y="1610"/>
                  <a:ext cx="382" cy="2159"/>
                </a:xfrm>
                <a:custGeom>
                  <a:avLst/>
                  <a:gdLst>
                    <a:gd name="T0" fmla="*/ 2 w 382"/>
                    <a:gd name="T1" fmla="*/ 378 h 2159"/>
                    <a:gd name="T2" fmla="*/ 381 w 382"/>
                    <a:gd name="T3" fmla="*/ 0 h 2159"/>
                    <a:gd name="T4" fmla="*/ 379 w 382"/>
                    <a:gd name="T5" fmla="*/ 1779 h 2159"/>
                    <a:gd name="T6" fmla="*/ 0 w 382"/>
                    <a:gd name="T7" fmla="*/ 2158 h 2159"/>
                    <a:gd name="T8" fmla="*/ 2 w 382"/>
                    <a:gd name="T9" fmla="*/ 378 h 21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2"/>
                    <a:gd name="T16" fmla="*/ 0 h 2159"/>
                    <a:gd name="T17" fmla="*/ 382 w 382"/>
                    <a:gd name="T18" fmla="*/ 2159 h 21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2" h="2159">
                      <a:moveTo>
                        <a:pt x="2" y="378"/>
                      </a:moveTo>
                      <a:lnTo>
                        <a:pt x="381" y="0"/>
                      </a:lnTo>
                      <a:lnTo>
                        <a:pt x="379" y="1779"/>
                      </a:lnTo>
                      <a:lnTo>
                        <a:pt x="0" y="2158"/>
                      </a:lnTo>
                      <a:lnTo>
                        <a:pt x="2" y="378"/>
                      </a:lnTo>
                    </a:path>
                  </a:pathLst>
                </a:custGeom>
                <a:solidFill>
                  <a:srgbClr val="33CCFF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1" name="Freeform 25">
                  <a:extLst>
                    <a:ext uri="{FF2B5EF4-FFF2-40B4-BE49-F238E27FC236}">
                      <a16:creationId xmlns:a16="http://schemas.microsoft.com/office/drawing/2014/main" id="{656AD433-2B52-4712-B310-62FB5BF3F5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6" y="1609"/>
                  <a:ext cx="2015" cy="380"/>
                </a:xfrm>
                <a:custGeom>
                  <a:avLst/>
                  <a:gdLst>
                    <a:gd name="T0" fmla="*/ 0 w 2015"/>
                    <a:gd name="T1" fmla="*/ 377 h 380"/>
                    <a:gd name="T2" fmla="*/ 379 w 2015"/>
                    <a:gd name="T3" fmla="*/ 4 h 380"/>
                    <a:gd name="T4" fmla="*/ 2014 w 2015"/>
                    <a:gd name="T5" fmla="*/ 0 h 380"/>
                    <a:gd name="T6" fmla="*/ 1635 w 2015"/>
                    <a:gd name="T7" fmla="*/ 379 h 380"/>
                    <a:gd name="T8" fmla="*/ 0 w 2015"/>
                    <a:gd name="T9" fmla="*/ 377 h 38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15"/>
                    <a:gd name="T16" fmla="*/ 0 h 380"/>
                    <a:gd name="T17" fmla="*/ 2015 w 2015"/>
                    <a:gd name="T18" fmla="*/ 380 h 38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15" h="380">
                      <a:moveTo>
                        <a:pt x="0" y="377"/>
                      </a:moveTo>
                      <a:lnTo>
                        <a:pt x="379" y="4"/>
                      </a:lnTo>
                      <a:lnTo>
                        <a:pt x="2014" y="0"/>
                      </a:lnTo>
                      <a:lnTo>
                        <a:pt x="1635" y="379"/>
                      </a:lnTo>
                      <a:lnTo>
                        <a:pt x="0" y="377"/>
                      </a:lnTo>
                    </a:path>
                  </a:pathLst>
                </a:custGeom>
                <a:solidFill>
                  <a:srgbClr val="66FFFF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286" name="Line 26">
                <a:extLst>
                  <a:ext uri="{FF2B5EF4-FFF2-40B4-BE49-F238E27FC236}">
                    <a16:creationId xmlns:a16="http://schemas.microsoft.com/office/drawing/2014/main" id="{805A807D-C40C-49E5-9EA7-6B80C5B68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632"/>
                <a:ext cx="0" cy="17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7" name="Line 27">
                <a:extLst>
                  <a:ext uri="{FF2B5EF4-FFF2-40B4-BE49-F238E27FC236}">
                    <a16:creationId xmlns:a16="http://schemas.microsoft.com/office/drawing/2014/main" id="{8B35F34C-1FA3-4DA2-820E-DEE2774CE9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8" y="3408"/>
                <a:ext cx="15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8" name="Line 28">
                <a:extLst>
                  <a:ext uri="{FF2B5EF4-FFF2-40B4-BE49-F238E27FC236}">
                    <a16:creationId xmlns:a16="http://schemas.microsoft.com/office/drawing/2014/main" id="{2A6AE537-101E-4851-B0B9-CAD1E6BFC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24" y="3408"/>
                <a:ext cx="384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281" name="Rectangle 29">
              <a:extLst>
                <a:ext uri="{FF2B5EF4-FFF2-40B4-BE49-F238E27FC236}">
                  <a16:creationId xmlns:a16="http://schemas.microsoft.com/office/drawing/2014/main" id="{7CE50C2E-575D-4E1C-B46E-9F7556431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1202"/>
              <a:ext cx="469" cy="1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双</a:t>
              </a:r>
            </a:p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折</a:t>
              </a:r>
            </a:p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射</a:t>
              </a:r>
            </a:p>
          </p:txBody>
        </p:sp>
        <p:sp>
          <p:nvSpPr>
            <p:cNvPr id="1212446" name="Rectangle 30">
              <a:extLst>
                <a:ext uri="{FF2B5EF4-FFF2-40B4-BE49-F238E27FC236}">
                  <a16:creationId xmlns:a16="http://schemas.microsoft.com/office/drawing/2014/main" id="{BB231F68-6F8F-4FD4-9B94-3048A456D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683"/>
              <a:ext cx="6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>
                  <a:solidFill>
                    <a:srgbClr val="06268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Bookman Old Style" panose="02050604050505020204" pitchFamily="18" charset="0"/>
                </a:rPr>
                <a:t>纸面</a:t>
              </a:r>
            </a:p>
          </p:txBody>
        </p:sp>
        <p:sp>
          <p:nvSpPr>
            <p:cNvPr id="11283" name="Rectangle 31">
              <a:extLst>
                <a:ext uri="{FF2B5EF4-FFF2-40B4-BE49-F238E27FC236}">
                  <a16:creationId xmlns:a16="http://schemas.microsoft.com/office/drawing/2014/main" id="{6A3A97CA-B66B-47F0-830D-D5D5E5FB8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923"/>
              <a:ext cx="98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方解石</a:t>
              </a:r>
            </a:p>
            <a:p>
              <a:r>
                <a:rPr lang="zh-CN" altLang="en-US" sz="3600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晶体</a:t>
              </a:r>
            </a:p>
          </p:txBody>
        </p:sp>
        <p:sp>
          <p:nvSpPr>
            <p:cNvPr id="11284" name="Line 32">
              <a:extLst>
                <a:ext uri="{FF2B5EF4-FFF2-40B4-BE49-F238E27FC236}">
                  <a16:creationId xmlns:a16="http://schemas.microsoft.com/office/drawing/2014/main" id="{69ED001D-070E-481C-B98B-4E6E0E518C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2" y="1156"/>
              <a:ext cx="1035" cy="330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70" name="Group 33">
            <a:extLst>
              <a:ext uri="{FF2B5EF4-FFF2-40B4-BE49-F238E27FC236}">
                <a16:creationId xmlns:a16="http://schemas.microsoft.com/office/drawing/2014/main" id="{1172E8FE-4587-4AC8-9B48-23EDD4AD49EE}"/>
              </a:ext>
            </a:extLst>
          </p:cNvPr>
          <p:cNvGrpSpPr>
            <a:grpSpLocks/>
          </p:cNvGrpSpPr>
          <p:nvPr/>
        </p:nvGrpSpPr>
        <p:grpSpPr bwMode="auto">
          <a:xfrm>
            <a:off x="4786313" y="4857750"/>
            <a:ext cx="3071812" cy="1608138"/>
            <a:chOff x="2989" y="2059"/>
            <a:chExt cx="1935" cy="1013"/>
          </a:xfrm>
        </p:grpSpPr>
        <p:sp>
          <p:nvSpPr>
            <p:cNvPr id="11275" name="Text Box 34">
              <a:extLst>
                <a:ext uri="{FF2B5EF4-FFF2-40B4-BE49-F238E27FC236}">
                  <a16:creationId xmlns:a16="http://schemas.microsoft.com/office/drawing/2014/main" id="{AEE6E169-E89E-42EC-8472-EBC81ACAA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0" y="2745"/>
              <a:ext cx="13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0">
                  <a:solidFill>
                    <a:schemeClr val="bg1"/>
                  </a:solidFill>
                </a:rPr>
                <a:t> </a:t>
              </a:r>
              <a:r>
                <a:rPr lang="en-US" altLang="zh-CN" sz="2800" i="1">
                  <a:solidFill>
                    <a:srgbClr val="FFFF00"/>
                  </a:solidFill>
                </a:rPr>
                <a:t>o </a:t>
              </a:r>
              <a:r>
                <a:rPr lang="zh-CN" altLang="en-US" sz="2800">
                  <a:solidFill>
                    <a:schemeClr val="bg1"/>
                  </a:solidFill>
                  <a:latin typeface="华文中宋" panose="02010600040101010101" pitchFamily="2" charset="-122"/>
                </a:rPr>
                <a:t>光的像</a:t>
              </a:r>
            </a:p>
          </p:txBody>
        </p:sp>
        <p:sp>
          <p:nvSpPr>
            <p:cNvPr id="11276" name="Line 35">
              <a:extLst>
                <a:ext uri="{FF2B5EF4-FFF2-40B4-BE49-F238E27FC236}">
                  <a16:creationId xmlns:a16="http://schemas.microsoft.com/office/drawing/2014/main" id="{9B70122C-0816-4280-9440-880DDEC42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9" y="2059"/>
              <a:ext cx="659" cy="773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71" name="Group 36">
            <a:extLst>
              <a:ext uri="{FF2B5EF4-FFF2-40B4-BE49-F238E27FC236}">
                <a16:creationId xmlns:a16="http://schemas.microsoft.com/office/drawing/2014/main" id="{795DF86A-301D-44F5-BF91-6044E3BA8BE2}"/>
              </a:ext>
            </a:extLst>
          </p:cNvPr>
          <p:cNvGrpSpPr>
            <a:grpSpLocks/>
          </p:cNvGrpSpPr>
          <p:nvPr/>
        </p:nvGrpSpPr>
        <p:grpSpPr bwMode="auto">
          <a:xfrm>
            <a:off x="4429125" y="1690688"/>
            <a:ext cx="2714625" cy="2024062"/>
            <a:chOff x="2740" y="88"/>
            <a:chExt cx="1710" cy="1275"/>
          </a:xfrm>
        </p:grpSpPr>
        <p:sp>
          <p:nvSpPr>
            <p:cNvPr id="11273" name="Line 37">
              <a:extLst>
                <a:ext uri="{FF2B5EF4-FFF2-40B4-BE49-F238E27FC236}">
                  <a16:creationId xmlns:a16="http://schemas.microsoft.com/office/drawing/2014/main" id="{E6B5A7E6-39E7-4F72-953B-B0313111F9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0" y="373"/>
              <a:ext cx="720" cy="99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4" name="Rectangle 38">
              <a:extLst>
                <a:ext uri="{FF2B5EF4-FFF2-40B4-BE49-F238E27FC236}">
                  <a16:creationId xmlns:a16="http://schemas.microsoft.com/office/drawing/2014/main" id="{2720503E-7D83-4130-9145-0DC320C67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88"/>
              <a:ext cx="99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rgbClr val="FFFF00"/>
                  </a:solidFill>
                </a:rPr>
                <a:t>e </a:t>
              </a:r>
              <a:r>
                <a:rPr lang="zh-CN" altLang="en-US" sz="2800">
                  <a:solidFill>
                    <a:schemeClr val="bg1"/>
                  </a:solidFill>
                  <a:latin typeface="华文中宋" panose="02010600040101010101" pitchFamily="2" charset="-122"/>
                </a:rPr>
                <a:t>光的像</a:t>
              </a:r>
            </a:p>
          </p:txBody>
        </p:sp>
      </p:grpSp>
      <p:sp>
        <p:nvSpPr>
          <p:cNvPr id="11272" name="灯片编号占位符 1">
            <a:extLst>
              <a:ext uri="{FF2B5EF4-FFF2-40B4-BE49-F238E27FC236}">
                <a16:creationId xmlns:a16="http://schemas.microsoft.com/office/drawing/2014/main" id="{7A06AB0B-46F4-4548-9AAA-CEC72C0DD1C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A247708-5B2C-4C17-851B-2761A61293E5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9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9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3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9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9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/>
      <p:bldP spid="92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A7DD6C58-B20E-4620-BD27-C049CA218ECF}"/>
              </a:ext>
            </a:extLst>
          </p:cNvPr>
          <p:cNvGrpSpPr>
            <a:grpSpLocks/>
          </p:cNvGrpSpPr>
          <p:nvPr/>
        </p:nvGrpSpPr>
        <p:grpSpPr bwMode="auto">
          <a:xfrm>
            <a:off x="720725" y="2286000"/>
            <a:ext cx="6553200" cy="4103688"/>
            <a:chOff x="576" y="1392"/>
            <a:chExt cx="4128" cy="2585"/>
          </a:xfrm>
        </p:grpSpPr>
        <p:grpSp>
          <p:nvGrpSpPr>
            <p:cNvPr id="12293" name="Group 3">
              <a:extLst>
                <a:ext uri="{FF2B5EF4-FFF2-40B4-BE49-F238E27FC236}">
                  <a16:creationId xmlns:a16="http://schemas.microsoft.com/office/drawing/2014/main" id="{00145225-A508-413A-BEEB-FFEE453E3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392"/>
              <a:ext cx="4128" cy="2256"/>
              <a:chOff x="528" y="1344"/>
              <a:chExt cx="4128" cy="2256"/>
            </a:xfrm>
          </p:grpSpPr>
          <p:grpSp>
            <p:nvGrpSpPr>
              <p:cNvPr id="12308" name="Group 4">
                <a:extLst>
                  <a:ext uri="{FF2B5EF4-FFF2-40B4-BE49-F238E27FC236}">
                    <a16:creationId xmlns:a16="http://schemas.microsoft.com/office/drawing/2014/main" id="{EA61442A-AAED-4467-81F9-A8DA619A83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1344"/>
                <a:ext cx="4128" cy="2256"/>
                <a:chOff x="528" y="1344"/>
                <a:chExt cx="4128" cy="2256"/>
              </a:xfrm>
            </p:grpSpPr>
            <p:sp>
              <p:nvSpPr>
                <p:cNvPr id="12315" name="AutoShape 5">
                  <a:extLst>
                    <a:ext uri="{FF2B5EF4-FFF2-40B4-BE49-F238E27FC236}">
                      <a16:creationId xmlns:a16="http://schemas.microsoft.com/office/drawing/2014/main" id="{F16222A9-5B33-4030-8382-3E7A13E616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1348"/>
                  <a:ext cx="4120" cy="2248"/>
                </a:xfrm>
                <a:prstGeom prst="roundRect">
                  <a:avLst>
                    <a:gd name="adj" fmla="val 12495"/>
                  </a:avLst>
                </a:prstGeom>
                <a:solidFill>
                  <a:srgbClr val="FFCC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316" name="Rectangle 6">
                  <a:extLst>
                    <a:ext uri="{FF2B5EF4-FFF2-40B4-BE49-F238E27FC236}">
                      <a16:creationId xmlns:a16="http://schemas.microsoft.com/office/drawing/2014/main" id="{56FD051C-5B80-4074-943A-17BA48ECC2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6" y="1344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317" name="Rectangle 7">
                  <a:extLst>
                    <a:ext uri="{FF2B5EF4-FFF2-40B4-BE49-F238E27FC236}">
                      <a16:creationId xmlns:a16="http://schemas.microsoft.com/office/drawing/2014/main" id="{9EF65495-F2F7-4C58-AC31-2FD6ABBD24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3277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318" name="Rectangle 8">
                  <a:extLst>
                    <a:ext uri="{FF2B5EF4-FFF2-40B4-BE49-F238E27FC236}">
                      <a16:creationId xmlns:a16="http://schemas.microsoft.com/office/drawing/2014/main" id="{9206CB6B-5B88-4EC2-AF88-041516231C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6" y="3277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319" name="Freeform 9">
                  <a:extLst>
                    <a:ext uri="{FF2B5EF4-FFF2-40B4-BE49-F238E27FC236}">
                      <a16:creationId xmlns:a16="http://schemas.microsoft.com/office/drawing/2014/main" id="{85BE1AC7-B8B3-483F-BB95-EE09B125E6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" y="1344"/>
                  <a:ext cx="341" cy="252"/>
                </a:xfrm>
                <a:custGeom>
                  <a:avLst/>
                  <a:gdLst>
                    <a:gd name="T0" fmla="*/ 340 w 341"/>
                    <a:gd name="T1" fmla="*/ 0 h 252"/>
                    <a:gd name="T2" fmla="*/ 248 w 341"/>
                    <a:gd name="T3" fmla="*/ 26 h 252"/>
                    <a:gd name="T4" fmla="*/ 229 w 341"/>
                    <a:gd name="T5" fmla="*/ 71 h 252"/>
                    <a:gd name="T6" fmla="*/ 190 w 341"/>
                    <a:gd name="T7" fmla="*/ 116 h 252"/>
                    <a:gd name="T8" fmla="*/ 190 w 341"/>
                    <a:gd name="T9" fmla="*/ 161 h 252"/>
                    <a:gd name="T10" fmla="*/ 172 w 341"/>
                    <a:gd name="T11" fmla="*/ 206 h 252"/>
                    <a:gd name="T12" fmla="*/ 172 w 341"/>
                    <a:gd name="T13" fmla="*/ 251 h 252"/>
                    <a:gd name="T14" fmla="*/ 114 w 341"/>
                    <a:gd name="T15" fmla="*/ 221 h 252"/>
                    <a:gd name="T16" fmla="*/ 57 w 341"/>
                    <a:gd name="T17" fmla="*/ 191 h 252"/>
                    <a:gd name="T18" fmla="*/ 0 w 341"/>
                    <a:gd name="T19" fmla="*/ 206 h 252"/>
                    <a:gd name="T20" fmla="*/ 18 w 341"/>
                    <a:gd name="T21" fmla="*/ 161 h 252"/>
                    <a:gd name="T22" fmla="*/ 57 w 341"/>
                    <a:gd name="T23" fmla="*/ 116 h 252"/>
                    <a:gd name="T24" fmla="*/ 96 w 341"/>
                    <a:gd name="T25" fmla="*/ 71 h 252"/>
                    <a:gd name="T26" fmla="*/ 153 w 341"/>
                    <a:gd name="T27" fmla="*/ 42 h 252"/>
                    <a:gd name="T28" fmla="*/ 210 w 341"/>
                    <a:gd name="T29" fmla="*/ 26 h 252"/>
                    <a:gd name="T30" fmla="*/ 340 w 341"/>
                    <a:gd name="T31" fmla="*/ 0 h 252"/>
                    <a:gd name="T32" fmla="*/ 340 w 341"/>
                    <a:gd name="T33" fmla="*/ 0 h 25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341"/>
                    <a:gd name="T52" fmla="*/ 0 h 252"/>
                    <a:gd name="T53" fmla="*/ 341 w 341"/>
                    <a:gd name="T54" fmla="*/ 252 h 252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341" h="252">
                      <a:moveTo>
                        <a:pt x="340" y="0"/>
                      </a:moveTo>
                      <a:lnTo>
                        <a:pt x="248" y="26"/>
                      </a:lnTo>
                      <a:lnTo>
                        <a:pt x="229" y="71"/>
                      </a:lnTo>
                      <a:lnTo>
                        <a:pt x="190" y="116"/>
                      </a:lnTo>
                      <a:lnTo>
                        <a:pt x="190" y="161"/>
                      </a:lnTo>
                      <a:lnTo>
                        <a:pt x="172" y="206"/>
                      </a:lnTo>
                      <a:lnTo>
                        <a:pt x="172" y="251"/>
                      </a:lnTo>
                      <a:lnTo>
                        <a:pt x="114" y="221"/>
                      </a:lnTo>
                      <a:lnTo>
                        <a:pt x="57" y="191"/>
                      </a:lnTo>
                      <a:lnTo>
                        <a:pt x="0" y="206"/>
                      </a:lnTo>
                      <a:lnTo>
                        <a:pt x="18" y="161"/>
                      </a:lnTo>
                      <a:lnTo>
                        <a:pt x="57" y="116"/>
                      </a:lnTo>
                      <a:lnTo>
                        <a:pt x="96" y="71"/>
                      </a:lnTo>
                      <a:lnTo>
                        <a:pt x="153" y="42"/>
                      </a:lnTo>
                      <a:lnTo>
                        <a:pt x="210" y="26"/>
                      </a:lnTo>
                      <a:lnTo>
                        <a:pt x="340" y="0"/>
                      </a:lnTo>
                    </a:path>
                  </a:pathLst>
                </a:custGeom>
                <a:solidFill>
                  <a:srgbClr val="996633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309" name="Line 10">
                <a:extLst>
                  <a:ext uri="{FF2B5EF4-FFF2-40B4-BE49-F238E27FC236}">
                    <a16:creationId xmlns:a16="http://schemas.microsoft.com/office/drawing/2014/main" id="{2B753CA5-D37E-4403-B8FA-AC7BE79E1F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344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0" name="Line 11">
                <a:extLst>
                  <a:ext uri="{FF2B5EF4-FFF2-40B4-BE49-F238E27FC236}">
                    <a16:creationId xmlns:a16="http://schemas.microsoft.com/office/drawing/2014/main" id="{D64F481D-7CE7-4411-8073-BF943CFE0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344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1" name="Line 12">
                <a:extLst>
                  <a:ext uri="{FF2B5EF4-FFF2-40B4-BE49-F238E27FC236}">
                    <a16:creationId xmlns:a16="http://schemas.microsoft.com/office/drawing/2014/main" id="{C51739E7-16F9-486D-A050-E62498D12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3264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2" name="Line 13">
                <a:extLst>
                  <a:ext uri="{FF2B5EF4-FFF2-40B4-BE49-F238E27FC236}">
                    <a16:creationId xmlns:a16="http://schemas.microsoft.com/office/drawing/2014/main" id="{79DC0DCE-466D-4DA0-9E02-D46B18B685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360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3" name="Line 14">
                <a:extLst>
                  <a:ext uri="{FF2B5EF4-FFF2-40B4-BE49-F238E27FC236}">
                    <a16:creationId xmlns:a16="http://schemas.microsoft.com/office/drawing/2014/main" id="{09E8FCF6-21EB-4208-91F7-BC54519D3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" y="360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4" name="Line 15">
                <a:extLst>
                  <a:ext uri="{FF2B5EF4-FFF2-40B4-BE49-F238E27FC236}">
                    <a16:creationId xmlns:a16="http://schemas.microsoft.com/office/drawing/2014/main" id="{E051C61F-6E70-4873-BBBF-3CA1A6600F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168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294" name="Rectangle 16">
              <a:extLst>
                <a:ext uri="{FF2B5EF4-FFF2-40B4-BE49-F238E27FC236}">
                  <a16:creationId xmlns:a16="http://schemas.microsoft.com/office/drawing/2014/main" id="{00677197-C181-4CC7-BC87-5E11D5B4F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8" y="2083"/>
              <a:ext cx="759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8000">
                  <a:solidFill>
                    <a:schemeClr val="bg2"/>
                  </a:solidFill>
                  <a:latin typeface="楷体_GB2312" pitchFamily="49" charset="-122"/>
                  <a:ea typeface="楷体_GB2312" pitchFamily="49" charset="-122"/>
                </a:rPr>
                <a:t>光</a:t>
              </a:r>
            </a:p>
          </p:txBody>
        </p:sp>
        <p:sp>
          <p:nvSpPr>
            <p:cNvPr id="12295" name="Rectangle 17">
              <a:extLst>
                <a:ext uri="{FF2B5EF4-FFF2-40B4-BE49-F238E27FC236}">
                  <a16:creationId xmlns:a16="http://schemas.microsoft.com/office/drawing/2014/main" id="{647D94D2-BC65-4616-BB1B-C6E82A6DA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" y="2323"/>
              <a:ext cx="759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8000">
                  <a:latin typeface="楷体_GB2312" pitchFamily="49" charset="-122"/>
                  <a:ea typeface="楷体_GB2312" pitchFamily="49" charset="-122"/>
                </a:rPr>
                <a:t>光</a:t>
              </a:r>
            </a:p>
          </p:txBody>
        </p:sp>
        <p:grpSp>
          <p:nvGrpSpPr>
            <p:cNvPr id="12296" name="Group 18">
              <a:extLst>
                <a:ext uri="{FF2B5EF4-FFF2-40B4-BE49-F238E27FC236}">
                  <a16:creationId xmlns:a16="http://schemas.microsoft.com/office/drawing/2014/main" id="{0C0F7B68-ED03-4484-ABD4-413D327C7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5" y="1503"/>
              <a:ext cx="2711" cy="2474"/>
              <a:chOff x="1477" y="1455"/>
              <a:chExt cx="2711" cy="2474"/>
            </a:xfrm>
          </p:grpSpPr>
          <p:grpSp>
            <p:nvGrpSpPr>
              <p:cNvPr id="12301" name="Group 19">
                <a:extLst>
                  <a:ext uri="{FF2B5EF4-FFF2-40B4-BE49-F238E27FC236}">
                    <a16:creationId xmlns:a16="http://schemas.microsoft.com/office/drawing/2014/main" id="{ED787C91-D41D-4551-B662-65DC122B96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1" y="1455"/>
                <a:ext cx="2357" cy="2474"/>
                <a:chOff x="1831" y="1455"/>
                <a:chExt cx="2357" cy="2474"/>
              </a:xfrm>
            </p:grpSpPr>
            <p:sp>
              <p:nvSpPr>
                <p:cNvPr id="12305" name="AutoShape 20">
                  <a:extLst>
                    <a:ext uri="{FF2B5EF4-FFF2-40B4-BE49-F238E27FC236}">
                      <a16:creationId xmlns:a16="http://schemas.microsoft.com/office/drawing/2014/main" id="{C9A35AEF-6498-411D-9714-C07EC5B372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380000">
                  <a:off x="1831" y="1615"/>
                  <a:ext cx="2012" cy="2151"/>
                </a:xfrm>
                <a:prstGeom prst="cube">
                  <a:avLst>
                    <a:gd name="adj" fmla="val 18792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306" name="Freeform 21">
                  <a:extLst>
                    <a:ext uri="{FF2B5EF4-FFF2-40B4-BE49-F238E27FC236}">
                      <a16:creationId xmlns:a16="http://schemas.microsoft.com/office/drawing/2014/main" id="{84410471-E8D9-4541-998C-6E1C26F7DD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2" y="2091"/>
                  <a:ext cx="1195" cy="1838"/>
                </a:xfrm>
                <a:custGeom>
                  <a:avLst/>
                  <a:gdLst>
                    <a:gd name="T0" fmla="*/ 698 w 1195"/>
                    <a:gd name="T1" fmla="*/ 200 h 1838"/>
                    <a:gd name="T2" fmla="*/ 1194 w 1195"/>
                    <a:gd name="T3" fmla="*/ 0 h 1838"/>
                    <a:gd name="T4" fmla="*/ 498 w 1195"/>
                    <a:gd name="T5" fmla="*/ 1638 h 1838"/>
                    <a:gd name="T6" fmla="*/ 0 w 1195"/>
                    <a:gd name="T7" fmla="*/ 1837 h 1838"/>
                    <a:gd name="T8" fmla="*/ 698 w 1195"/>
                    <a:gd name="T9" fmla="*/ 200 h 18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95"/>
                    <a:gd name="T16" fmla="*/ 0 h 1838"/>
                    <a:gd name="T17" fmla="*/ 1195 w 1195"/>
                    <a:gd name="T18" fmla="*/ 1838 h 18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95" h="1838">
                      <a:moveTo>
                        <a:pt x="698" y="200"/>
                      </a:moveTo>
                      <a:lnTo>
                        <a:pt x="1194" y="0"/>
                      </a:lnTo>
                      <a:lnTo>
                        <a:pt x="498" y="1638"/>
                      </a:lnTo>
                      <a:lnTo>
                        <a:pt x="0" y="1837"/>
                      </a:lnTo>
                      <a:lnTo>
                        <a:pt x="698" y="200"/>
                      </a:lnTo>
                    </a:path>
                  </a:pathLst>
                </a:custGeom>
                <a:solidFill>
                  <a:srgbClr val="33CCFF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7" name="Freeform 22">
                  <a:extLst>
                    <a:ext uri="{FF2B5EF4-FFF2-40B4-BE49-F238E27FC236}">
                      <a16:creationId xmlns:a16="http://schemas.microsoft.com/office/drawing/2014/main" id="{198984CF-E10C-4215-9B90-750362872B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5" y="1455"/>
                  <a:ext cx="2003" cy="837"/>
                </a:xfrm>
                <a:custGeom>
                  <a:avLst/>
                  <a:gdLst>
                    <a:gd name="T0" fmla="*/ 0 w 2003"/>
                    <a:gd name="T1" fmla="*/ 196 h 837"/>
                    <a:gd name="T2" fmla="*/ 495 w 2003"/>
                    <a:gd name="T3" fmla="*/ 0 h 837"/>
                    <a:gd name="T4" fmla="*/ 2002 w 2003"/>
                    <a:gd name="T5" fmla="*/ 635 h 837"/>
                    <a:gd name="T6" fmla="*/ 1505 w 2003"/>
                    <a:gd name="T7" fmla="*/ 836 h 837"/>
                    <a:gd name="T8" fmla="*/ 0 w 2003"/>
                    <a:gd name="T9" fmla="*/ 196 h 8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3"/>
                    <a:gd name="T16" fmla="*/ 0 h 837"/>
                    <a:gd name="T17" fmla="*/ 2003 w 2003"/>
                    <a:gd name="T18" fmla="*/ 837 h 83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3" h="837">
                      <a:moveTo>
                        <a:pt x="0" y="196"/>
                      </a:moveTo>
                      <a:lnTo>
                        <a:pt x="495" y="0"/>
                      </a:lnTo>
                      <a:lnTo>
                        <a:pt x="2002" y="635"/>
                      </a:lnTo>
                      <a:lnTo>
                        <a:pt x="1505" y="836"/>
                      </a:lnTo>
                      <a:lnTo>
                        <a:pt x="0" y="196"/>
                      </a:lnTo>
                    </a:path>
                  </a:pathLst>
                </a:custGeom>
                <a:solidFill>
                  <a:srgbClr val="66FFFF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302" name="Line 23">
                <a:extLst>
                  <a:ext uri="{FF2B5EF4-FFF2-40B4-BE49-F238E27FC236}">
                    <a16:creationId xmlns:a16="http://schemas.microsoft.com/office/drawing/2014/main" id="{FC1FAD86-4F6E-49B8-9DAA-D782A7FD0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00" y="1473"/>
                <a:ext cx="675" cy="15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03" name="Line 24">
                <a:extLst>
                  <a:ext uri="{FF2B5EF4-FFF2-40B4-BE49-F238E27FC236}">
                    <a16:creationId xmlns:a16="http://schemas.microsoft.com/office/drawing/2014/main" id="{A4431FB8-5179-45F4-AA03-06CF9B3FA9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81" y="3108"/>
                <a:ext cx="1458" cy="61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04" name="Line 25">
                <a:extLst>
                  <a:ext uri="{FF2B5EF4-FFF2-40B4-BE49-F238E27FC236}">
                    <a16:creationId xmlns:a16="http://schemas.microsoft.com/office/drawing/2014/main" id="{90890E6D-F90E-4417-B7E6-0C20CACEC3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77" y="3108"/>
                <a:ext cx="504" cy="2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297" name="Rectangle 26">
              <a:extLst>
                <a:ext uri="{FF2B5EF4-FFF2-40B4-BE49-F238E27FC236}">
                  <a16:creationId xmlns:a16="http://schemas.microsoft.com/office/drawing/2014/main" id="{ABF3A9BA-7DBF-47BB-A0FB-E1AD10A75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2006"/>
              <a:ext cx="469" cy="1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双</a:t>
              </a:r>
            </a:p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折</a:t>
              </a:r>
            </a:p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射</a:t>
              </a:r>
            </a:p>
          </p:txBody>
        </p:sp>
        <p:sp>
          <p:nvSpPr>
            <p:cNvPr id="1213467" name="Rectangle 27">
              <a:extLst>
                <a:ext uri="{FF2B5EF4-FFF2-40B4-BE49-F238E27FC236}">
                  <a16:creationId xmlns:a16="http://schemas.microsoft.com/office/drawing/2014/main" id="{B7859FB5-A372-4D6F-8D6C-38237E070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1487"/>
              <a:ext cx="6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>
                  <a:solidFill>
                    <a:srgbClr val="06268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Bookman Old Style" panose="02050604050505020204" pitchFamily="18" charset="0"/>
                </a:rPr>
                <a:t>纸面</a:t>
              </a:r>
            </a:p>
          </p:txBody>
        </p:sp>
      </p:grpSp>
      <p:sp>
        <p:nvSpPr>
          <p:cNvPr id="12291" name="Rectangle 30">
            <a:extLst>
              <a:ext uri="{FF2B5EF4-FFF2-40B4-BE49-F238E27FC236}">
                <a16:creationId xmlns:a16="http://schemas.microsoft.com/office/drawing/2014/main" id="{3FF15A9D-671C-4AC2-945A-FD96C1CF4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513" y="942975"/>
            <a:ext cx="4303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chemeClr val="bg1"/>
                </a:solidFill>
              </a:rPr>
              <a:t>继续旋转方解石晶体：</a:t>
            </a:r>
          </a:p>
        </p:txBody>
      </p:sp>
      <p:sp>
        <p:nvSpPr>
          <p:cNvPr id="12292" name="灯片编号占位符 1">
            <a:extLst>
              <a:ext uri="{FF2B5EF4-FFF2-40B4-BE49-F238E27FC236}">
                <a16:creationId xmlns:a16="http://schemas.microsoft.com/office/drawing/2014/main" id="{53F815F1-3EB8-4450-ACB4-D3EFAA96545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2726DC-9D6E-4821-B8E0-0C1D8485FA69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>
            <a:extLst>
              <a:ext uri="{FF2B5EF4-FFF2-40B4-BE49-F238E27FC236}">
                <a16:creationId xmlns:a16="http://schemas.microsoft.com/office/drawing/2014/main" id="{F1C53BC0-D68D-4FA3-8276-0CDEDFAA73FA}"/>
              </a:ext>
            </a:extLst>
          </p:cNvPr>
          <p:cNvGrpSpPr>
            <a:grpSpLocks/>
          </p:cNvGrpSpPr>
          <p:nvPr/>
        </p:nvGrpSpPr>
        <p:grpSpPr bwMode="auto">
          <a:xfrm>
            <a:off x="727075" y="2286000"/>
            <a:ext cx="6553200" cy="4059238"/>
            <a:chOff x="576" y="1392"/>
            <a:chExt cx="4128" cy="2557"/>
          </a:xfrm>
        </p:grpSpPr>
        <p:grpSp>
          <p:nvGrpSpPr>
            <p:cNvPr id="13317" name="Group 3">
              <a:extLst>
                <a:ext uri="{FF2B5EF4-FFF2-40B4-BE49-F238E27FC236}">
                  <a16:creationId xmlns:a16="http://schemas.microsoft.com/office/drawing/2014/main" id="{76495A22-E271-4E2F-9CD3-93438E3C5D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392"/>
              <a:ext cx="4128" cy="2256"/>
              <a:chOff x="528" y="1344"/>
              <a:chExt cx="4128" cy="2256"/>
            </a:xfrm>
          </p:grpSpPr>
          <p:grpSp>
            <p:nvGrpSpPr>
              <p:cNvPr id="13332" name="Group 4">
                <a:extLst>
                  <a:ext uri="{FF2B5EF4-FFF2-40B4-BE49-F238E27FC236}">
                    <a16:creationId xmlns:a16="http://schemas.microsoft.com/office/drawing/2014/main" id="{C5974E4C-8227-410B-9295-14EAB42421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1344"/>
                <a:ext cx="4128" cy="2256"/>
                <a:chOff x="528" y="1344"/>
                <a:chExt cx="4128" cy="2256"/>
              </a:xfrm>
            </p:grpSpPr>
            <p:sp>
              <p:nvSpPr>
                <p:cNvPr id="13339" name="AutoShape 5">
                  <a:extLst>
                    <a:ext uri="{FF2B5EF4-FFF2-40B4-BE49-F238E27FC236}">
                      <a16:creationId xmlns:a16="http://schemas.microsoft.com/office/drawing/2014/main" id="{C84033A5-D9B0-4DA9-ADE7-9BB954360C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1348"/>
                  <a:ext cx="4120" cy="2248"/>
                </a:xfrm>
                <a:prstGeom prst="roundRect">
                  <a:avLst>
                    <a:gd name="adj" fmla="val 12495"/>
                  </a:avLst>
                </a:prstGeom>
                <a:solidFill>
                  <a:srgbClr val="FFCC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3340" name="Rectangle 6">
                  <a:extLst>
                    <a:ext uri="{FF2B5EF4-FFF2-40B4-BE49-F238E27FC236}">
                      <a16:creationId xmlns:a16="http://schemas.microsoft.com/office/drawing/2014/main" id="{07002176-4A3D-41C3-B707-643C7FC185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6" y="1344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3341" name="Rectangle 7">
                  <a:extLst>
                    <a:ext uri="{FF2B5EF4-FFF2-40B4-BE49-F238E27FC236}">
                      <a16:creationId xmlns:a16="http://schemas.microsoft.com/office/drawing/2014/main" id="{1C38EB7B-081D-4853-A2D5-8C83BFE34F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3277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3342" name="Rectangle 8">
                  <a:extLst>
                    <a:ext uri="{FF2B5EF4-FFF2-40B4-BE49-F238E27FC236}">
                      <a16:creationId xmlns:a16="http://schemas.microsoft.com/office/drawing/2014/main" id="{D13B6B85-64B6-4C26-8EA7-ADFF5442EA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6" y="3277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3343" name="Freeform 9">
                  <a:extLst>
                    <a:ext uri="{FF2B5EF4-FFF2-40B4-BE49-F238E27FC236}">
                      <a16:creationId xmlns:a16="http://schemas.microsoft.com/office/drawing/2014/main" id="{4970E734-AA86-4A6D-8FDC-EEB37A009F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" y="1344"/>
                  <a:ext cx="341" cy="252"/>
                </a:xfrm>
                <a:custGeom>
                  <a:avLst/>
                  <a:gdLst>
                    <a:gd name="T0" fmla="*/ 340 w 341"/>
                    <a:gd name="T1" fmla="*/ 0 h 252"/>
                    <a:gd name="T2" fmla="*/ 248 w 341"/>
                    <a:gd name="T3" fmla="*/ 26 h 252"/>
                    <a:gd name="T4" fmla="*/ 229 w 341"/>
                    <a:gd name="T5" fmla="*/ 71 h 252"/>
                    <a:gd name="T6" fmla="*/ 190 w 341"/>
                    <a:gd name="T7" fmla="*/ 116 h 252"/>
                    <a:gd name="T8" fmla="*/ 190 w 341"/>
                    <a:gd name="T9" fmla="*/ 161 h 252"/>
                    <a:gd name="T10" fmla="*/ 172 w 341"/>
                    <a:gd name="T11" fmla="*/ 206 h 252"/>
                    <a:gd name="T12" fmla="*/ 172 w 341"/>
                    <a:gd name="T13" fmla="*/ 251 h 252"/>
                    <a:gd name="T14" fmla="*/ 114 w 341"/>
                    <a:gd name="T15" fmla="*/ 221 h 252"/>
                    <a:gd name="T16" fmla="*/ 57 w 341"/>
                    <a:gd name="T17" fmla="*/ 191 h 252"/>
                    <a:gd name="T18" fmla="*/ 0 w 341"/>
                    <a:gd name="T19" fmla="*/ 206 h 252"/>
                    <a:gd name="T20" fmla="*/ 18 w 341"/>
                    <a:gd name="T21" fmla="*/ 161 h 252"/>
                    <a:gd name="T22" fmla="*/ 57 w 341"/>
                    <a:gd name="T23" fmla="*/ 116 h 252"/>
                    <a:gd name="T24" fmla="*/ 96 w 341"/>
                    <a:gd name="T25" fmla="*/ 71 h 252"/>
                    <a:gd name="T26" fmla="*/ 153 w 341"/>
                    <a:gd name="T27" fmla="*/ 42 h 252"/>
                    <a:gd name="T28" fmla="*/ 210 w 341"/>
                    <a:gd name="T29" fmla="*/ 26 h 252"/>
                    <a:gd name="T30" fmla="*/ 340 w 341"/>
                    <a:gd name="T31" fmla="*/ 0 h 252"/>
                    <a:gd name="T32" fmla="*/ 340 w 341"/>
                    <a:gd name="T33" fmla="*/ 0 h 25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341"/>
                    <a:gd name="T52" fmla="*/ 0 h 252"/>
                    <a:gd name="T53" fmla="*/ 341 w 341"/>
                    <a:gd name="T54" fmla="*/ 252 h 252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341" h="252">
                      <a:moveTo>
                        <a:pt x="340" y="0"/>
                      </a:moveTo>
                      <a:lnTo>
                        <a:pt x="248" y="26"/>
                      </a:lnTo>
                      <a:lnTo>
                        <a:pt x="229" y="71"/>
                      </a:lnTo>
                      <a:lnTo>
                        <a:pt x="190" y="116"/>
                      </a:lnTo>
                      <a:lnTo>
                        <a:pt x="190" y="161"/>
                      </a:lnTo>
                      <a:lnTo>
                        <a:pt x="172" y="206"/>
                      </a:lnTo>
                      <a:lnTo>
                        <a:pt x="172" y="251"/>
                      </a:lnTo>
                      <a:lnTo>
                        <a:pt x="114" y="221"/>
                      </a:lnTo>
                      <a:lnTo>
                        <a:pt x="57" y="191"/>
                      </a:lnTo>
                      <a:lnTo>
                        <a:pt x="0" y="206"/>
                      </a:lnTo>
                      <a:lnTo>
                        <a:pt x="18" y="161"/>
                      </a:lnTo>
                      <a:lnTo>
                        <a:pt x="57" y="116"/>
                      </a:lnTo>
                      <a:lnTo>
                        <a:pt x="96" y="71"/>
                      </a:lnTo>
                      <a:lnTo>
                        <a:pt x="153" y="42"/>
                      </a:lnTo>
                      <a:lnTo>
                        <a:pt x="210" y="26"/>
                      </a:lnTo>
                      <a:lnTo>
                        <a:pt x="340" y="0"/>
                      </a:lnTo>
                    </a:path>
                  </a:pathLst>
                </a:custGeom>
                <a:solidFill>
                  <a:srgbClr val="996633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333" name="Line 10">
                <a:extLst>
                  <a:ext uri="{FF2B5EF4-FFF2-40B4-BE49-F238E27FC236}">
                    <a16:creationId xmlns:a16="http://schemas.microsoft.com/office/drawing/2014/main" id="{19628099-47F9-447B-9733-884EB2D52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344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4" name="Line 11">
                <a:extLst>
                  <a:ext uri="{FF2B5EF4-FFF2-40B4-BE49-F238E27FC236}">
                    <a16:creationId xmlns:a16="http://schemas.microsoft.com/office/drawing/2014/main" id="{35E5845A-FE82-49CC-861C-00A6703EB3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344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5" name="Line 12">
                <a:extLst>
                  <a:ext uri="{FF2B5EF4-FFF2-40B4-BE49-F238E27FC236}">
                    <a16:creationId xmlns:a16="http://schemas.microsoft.com/office/drawing/2014/main" id="{150413A8-1E5E-4ED2-95BD-47AD83FA46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3264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6" name="Line 13">
                <a:extLst>
                  <a:ext uri="{FF2B5EF4-FFF2-40B4-BE49-F238E27FC236}">
                    <a16:creationId xmlns:a16="http://schemas.microsoft.com/office/drawing/2014/main" id="{0EDB6C15-88A5-402A-808A-E215E65B8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360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7" name="Line 14">
                <a:extLst>
                  <a:ext uri="{FF2B5EF4-FFF2-40B4-BE49-F238E27FC236}">
                    <a16:creationId xmlns:a16="http://schemas.microsoft.com/office/drawing/2014/main" id="{3263A59E-ACA3-493F-B29D-F81DDA4A4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" y="360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8" name="Line 15">
                <a:extLst>
                  <a:ext uri="{FF2B5EF4-FFF2-40B4-BE49-F238E27FC236}">
                    <a16:creationId xmlns:a16="http://schemas.microsoft.com/office/drawing/2014/main" id="{770514E6-CD88-404F-B06B-A115457AFD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168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318" name="Rectangle 16">
              <a:extLst>
                <a:ext uri="{FF2B5EF4-FFF2-40B4-BE49-F238E27FC236}">
                  <a16:creationId xmlns:a16="http://schemas.microsoft.com/office/drawing/2014/main" id="{55981656-EFCC-43B8-968A-1D241FD43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4" y="2131"/>
              <a:ext cx="759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8000">
                  <a:solidFill>
                    <a:schemeClr val="bg2"/>
                  </a:solidFill>
                  <a:latin typeface="楷体_GB2312" pitchFamily="49" charset="-122"/>
                  <a:ea typeface="楷体_GB2312" pitchFamily="49" charset="-122"/>
                </a:rPr>
                <a:t>光</a:t>
              </a:r>
            </a:p>
          </p:txBody>
        </p:sp>
        <p:sp>
          <p:nvSpPr>
            <p:cNvPr id="13319" name="Rectangle 17">
              <a:extLst>
                <a:ext uri="{FF2B5EF4-FFF2-40B4-BE49-F238E27FC236}">
                  <a16:creationId xmlns:a16="http://schemas.microsoft.com/office/drawing/2014/main" id="{3B85D206-BE82-49BC-B592-180E2D92B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" y="2323"/>
              <a:ext cx="759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8000">
                  <a:latin typeface="楷体_GB2312" pitchFamily="49" charset="-122"/>
                  <a:ea typeface="楷体_GB2312" pitchFamily="49" charset="-122"/>
                </a:rPr>
                <a:t>光</a:t>
              </a:r>
            </a:p>
          </p:txBody>
        </p:sp>
        <p:grpSp>
          <p:nvGrpSpPr>
            <p:cNvPr id="13320" name="Group 18">
              <a:extLst>
                <a:ext uri="{FF2B5EF4-FFF2-40B4-BE49-F238E27FC236}">
                  <a16:creationId xmlns:a16="http://schemas.microsoft.com/office/drawing/2014/main" id="{442603FF-CA27-4A7C-A35A-F98D4F9700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5" y="1533"/>
              <a:ext cx="2971" cy="2416"/>
              <a:chOff x="1347" y="1485"/>
              <a:chExt cx="2971" cy="2416"/>
            </a:xfrm>
          </p:grpSpPr>
          <p:grpSp>
            <p:nvGrpSpPr>
              <p:cNvPr id="13325" name="Group 19">
                <a:extLst>
                  <a:ext uri="{FF2B5EF4-FFF2-40B4-BE49-F238E27FC236}">
                    <a16:creationId xmlns:a16="http://schemas.microsoft.com/office/drawing/2014/main" id="{526FC9E1-4649-4CFE-BB98-F17798E225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5" y="1485"/>
                <a:ext cx="2553" cy="2416"/>
                <a:chOff x="1765" y="1485"/>
                <a:chExt cx="2553" cy="2416"/>
              </a:xfrm>
            </p:grpSpPr>
            <p:sp>
              <p:nvSpPr>
                <p:cNvPr id="13329" name="AutoShape 20">
                  <a:extLst>
                    <a:ext uri="{FF2B5EF4-FFF2-40B4-BE49-F238E27FC236}">
                      <a16:creationId xmlns:a16="http://schemas.microsoft.com/office/drawing/2014/main" id="{1805EA4D-E4C8-46A3-84A2-C3B9E0C959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700000">
                  <a:off x="1835" y="1617"/>
                  <a:ext cx="2011" cy="2151"/>
                </a:xfrm>
                <a:prstGeom prst="cube">
                  <a:avLst>
                    <a:gd name="adj" fmla="val 18792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3330" name="Freeform 21">
                  <a:extLst>
                    <a:ext uri="{FF2B5EF4-FFF2-40B4-BE49-F238E27FC236}">
                      <a16:creationId xmlns:a16="http://schemas.microsoft.com/office/drawing/2014/main" id="{7994BA18-D382-4F00-ADF3-44563564A3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21" y="2642"/>
                  <a:ext cx="1796" cy="1259"/>
                </a:xfrm>
                <a:custGeom>
                  <a:avLst/>
                  <a:gdLst>
                    <a:gd name="T0" fmla="*/ 1260 w 1796"/>
                    <a:gd name="T1" fmla="*/ 0 h 1259"/>
                    <a:gd name="T2" fmla="*/ 1795 w 1796"/>
                    <a:gd name="T3" fmla="*/ 0 h 1259"/>
                    <a:gd name="T4" fmla="*/ 536 w 1796"/>
                    <a:gd name="T5" fmla="*/ 1258 h 1259"/>
                    <a:gd name="T6" fmla="*/ 0 w 1796"/>
                    <a:gd name="T7" fmla="*/ 1257 h 1259"/>
                    <a:gd name="T8" fmla="*/ 1260 w 1796"/>
                    <a:gd name="T9" fmla="*/ 0 h 12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96"/>
                    <a:gd name="T16" fmla="*/ 0 h 1259"/>
                    <a:gd name="T17" fmla="*/ 1796 w 1796"/>
                    <a:gd name="T18" fmla="*/ 1259 h 12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96" h="1259">
                      <a:moveTo>
                        <a:pt x="1260" y="0"/>
                      </a:moveTo>
                      <a:lnTo>
                        <a:pt x="1795" y="0"/>
                      </a:lnTo>
                      <a:lnTo>
                        <a:pt x="536" y="1258"/>
                      </a:lnTo>
                      <a:lnTo>
                        <a:pt x="0" y="1257"/>
                      </a:lnTo>
                      <a:lnTo>
                        <a:pt x="1260" y="0"/>
                      </a:lnTo>
                    </a:path>
                  </a:pathLst>
                </a:custGeom>
                <a:solidFill>
                  <a:srgbClr val="33CCFF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31" name="Freeform 22">
                  <a:extLst>
                    <a:ext uri="{FF2B5EF4-FFF2-40B4-BE49-F238E27FC236}">
                      <a16:creationId xmlns:a16="http://schemas.microsoft.com/office/drawing/2014/main" id="{2267D8AD-D1D1-4154-9BB9-4A3580BA55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25" y="1485"/>
                  <a:ext cx="1693" cy="1158"/>
                </a:xfrm>
                <a:custGeom>
                  <a:avLst/>
                  <a:gdLst>
                    <a:gd name="T0" fmla="*/ 0 w 1693"/>
                    <a:gd name="T1" fmla="*/ 0 h 1158"/>
                    <a:gd name="T2" fmla="*/ 533 w 1693"/>
                    <a:gd name="T3" fmla="*/ 4 h 1158"/>
                    <a:gd name="T4" fmla="*/ 1692 w 1693"/>
                    <a:gd name="T5" fmla="*/ 1157 h 1158"/>
                    <a:gd name="T6" fmla="*/ 1156 w 1693"/>
                    <a:gd name="T7" fmla="*/ 1157 h 1158"/>
                    <a:gd name="T8" fmla="*/ 0 w 1693"/>
                    <a:gd name="T9" fmla="*/ 0 h 115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3"/>
                    <a:gd name="T16" fmla="*/ 0 h 1158"/>
                    <a:gd name="T17" fmla="*/ 1693 w 1693"/>
                    <a:gd name="T18" fmla="*/ 1158 h 115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3" h="1158">
                      <a:moveTo>
                        <a:pt x="0" y="0"/>
                      </a:moveTo>
                      <a:lnTo>
                        <a:pt x="533" y="4"/>
                      </a:lnTo>
                      <a:lnTo>
                        <a:pt x="1692" y="1157"/>
                      </a:lnTo>
                      <a:lnTo>
                        <a:pt x="1156" y="115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66FFFF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326" name="Line 23">
                <a:extLst>
                  <a:ext uri="{FF2B5EF4-FFF2-40B4-BE49-F238E27FC236}">
                    <a16:creationId xmlns:a16="http://schemas.microsoft.com/office/drawing/2014/main" id="{B085A2CF-667D-428B-8418-0159CB78B3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4" y="1504"/>
                <a:ext cx="1222" cy="12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7" name="Line 24">
                <a:extLst>
                  <a:ext uri="{FF2B5EF4-FFF2-40B4-BE49-F238E27FC236}">
                    <a16:creationId xmlns:a16="http://schemas.microsoft.com/office/drawing/2014/main" id="{59DD7F3E-76AC-4CEC-9B60-34B4C8EFC9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890" y="2759"/>
                <a:ext cx="1120" cy="11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8" name="Line 25">
                <a:extLst>
                  <a:ext uri="{FF2B5EF4-FFF2-40B4-BE49-F238E27FC236}">
                    <a16:creationId xmlns:a16="http://schemas.microsoft.com/office/drawing/2014/main" id="{707D6B47-125D-41DC-9B77-B91E454096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7" y="2759"/>
                <a:ext cx="54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321" name="Rectangle 26">
              <a:extLst>
                <a:ext uri="{FF2B5EF4-FFF2-40B4-BE49-F238E27FC236}">
                  <a16:creationId xmlns:a16="http://schemas.microsoft.com/office/drawing/2014/main" id="{2B434F70-BA01-4D91-8C81-6346C815E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2006"/>
              <a:ext cx="469" cy="1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双</a:t>
              </a:r>
            </a:p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折</a:t>
              </a:r>
            </a:p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射</a:t>
              </a:r>
            </a:p>
          </p:txBody>
        </p:sp>
        <p:sp>
          <p:nvSpPr>
            <p:cNvPr id="1214491" name="Rectangle 27">
              <a:extLst>
                <a:ext uri="{FF2B5EF4-FFF2-40B4-BE49-F238E27FC236}">
                  <a16:creationId xmlns:a16="http://schemas.microsoft.com/office/drawing/2014/main" id="{F67A4C65-FF06-49BC-8C8B-D4A61DD00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1487"/>
              <a:ext cx="6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>
                  <a:solidFill>
                    <a:srgbClr val="06268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Bookman Old Style" panose="02050604050505020204" pitchFamily="18" charset="0"/>
                </a:rPr>
                <a:t>纸面</a:t>
              </a:r>
            </a:p>
          </p:txBody>
        </p:sp>
      </p:grpSp>
      <p:sp>
        <p:nvSpPr>
          <p:cNvPr id="13315" name="Rectangle 30">
            <a:extLst>
              <a:ext uri="{FF2B5EF4-FFF2-40B4-BE49-F238E27FC236}">
                <a16:creationId xmlns:a16="http://schemas.microsoft.com/office/drawing/2014/main" id="{EF001D2D-BF06-46B8-B89D-4E5C7449B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942975"/>
            <a:ext cx="43037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chemeClr val="bg1"/>
                </a:solidFill>
              </a:rPr>
              <a:t>继续旋转方解石晶体：</a:t>
            </a:r>
          </a:p>
        </p:txBody>
      </p:sp>
      <p:sp>
        <p:nvSpPr>
          <p:cNvPr id="13316" name="灯片编号占位符 1">
            <a:extLst>
              <a:ext uri="{FF2B5EF4-FFF2-40B4-BE49-F238E27FC236}">
                <a16:creationId xmlns:a16="http://schemas.microsoft.com/office/drawing/2014/main" id="{C51F7E36-5129-47AD-84C4-3B698ECC7C4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F0F8138-EEDB-41B2-9ED0-A67DDA7C956D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>
            <a:extLst>
              <a:ext uri="{FF2B5EF4-FFF2-40B4-BE49-F238E27FC236}">
                <a16:creationId xmlns:a16="http://schemas.microsoft.com/office/drawing/2014/main" id="{70A39EA7-9E89-4C3E-AC7E-F93BE9E2D4E5}"/>
              </a:ext>
            </a:extLst>
          </p:cNvPr>
          <p:cNvGrpSpPr>
            <a:grpSpLocks/>
          </p:cNvGrpSpPr>
          <p:nvPr/>
        </p:nvGrpSpPr>
        <p:grpSpPr bwMode="auto">
          <a:xfrm>
            <a:off x="720725" y="2286000"/>
            <a:ext cx="6553200" cy="3752850"/>
            <a:chOff x="588" y="1392"/>
            <a:chExt cx="4128" cy="2364"/>
          </a:xfrm>
        </p:grpSpPr>
        <p:grpSp>
          <p:nvGrpSpPr>
            <p:cNvPr id="14341" name="Group 3">
              <a:extLst>
                <a:ext uri="{FF2B5EF4-FFF2-40B4-BE49-F238E27FC236}">
                  <a16:creationId xmlns:a16="http://schemas.microsoft.com/office/drawing/2014/main" id="{E556CF1D-BBCA-41FB-B440-F6EC2900E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8" y="1392"/>
              <a:ext cx="4128" cy="2256"/>
              <a:chOff x="528" y="1344"/>
              <a:chExt cx="4128" cy="2256"/>
            </a:xfrm>
          </p:grpSpPr>
          <p:grpSp>
            <p:nvGrpSpPr>
              <p:cNvPr id="14356" name="Group 4">
                <a:extLst>
                  <a:ext uri="{FF2B5EF4-FFF2-40B4-BE49-F238E27FC236}">
                    <a16:creationId xmlns:a16="http://schemas.microsoft.com/office/drawing/2014/main" id="{2169DA06-CD4F-4897-A881-AB2EB4EB41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1344"/>
                <a:ext cx="4128" cy="2256"/>
                <a:chOff x="528" y="1344"/>
                <a:chExt cx="4128" cy="2256"/>
              </a:xfrm>
            </p:grpSpPr>
            <p:sp>
              <p:nvSpPr>
                <p:cNvPr id="14363" name="AutoShape 5">
                  <a:extLst>
                    <a:ext uri="{FF2B5EF4-FFF2-40B4-BE49-F238E27FC236}">
                      <a16:creationId xmlns:a16="http://schemas.microsoft.com/office/drawing/2014/main" id="{1E08F99E-C4D7-4428-A460-E7EDF7D764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1348"/>
                  <a:ext cx="4120" cy="2248"/>
                </a:xfrm>
                <a:prstGeom prst="roundRect">
                  <a:avLst>
                    <a:gd name="adj" fmla="val 12495"/>
                  </a:avLst>
                </a:prstGeom>
                <a:solidFill>
                  <a:srgbClr val="FFCC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364" name="Rectangle 6">
                  <a:extLst>
                    <a:ext uri="{FF2B5EF4-FFF2-40B4-BE49-F238E27FC236}">
                      <a16:creationId xmlns:a16="http://schemas.microsoft.com/office/drawing/2014/main" id="{4A686A9B-3BB1-424E-8478-88F46392B6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6" y="1344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365" name="Rectangle 7">
                  <a:extLst>
                    <a:ext uri="{FF2B5EF4-FFF2-40B4-BE49-F238E27FC236}">
                      <a16:creationId xmlns:a16="http://schemas.microsoft.com/office/drawing/2014/main" id="{1204C63F-B869-44CF-84F5-354BE511E8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3277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366" name="Rectangle 8">
                  <a:extLst>
                    <a:ext uri="{FF2B5EF4-FFF2-40B4-BE49-F238E27FC236}">
                      <a16:creationId xmlns:a16="http://schemas.microsoft.com/office/drawing/2014/main" id="{C1BEA618-3353-4B86-8592-7194D30C1D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6" y="3277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367" name="Freeform 9">
                  <a:extLst>
                    <a:ext uri="{FF2B5EF4-FFF2-40B4-BE49-F238E27FC236}">
                      <a16:creationId xmlns:a16="http://schemas.microsoft.com/office/drawing/2014/main" id="{DF03C6D5-39FD-401E-8FA5-C0AB893E5A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" y="1344"/>
                  <a:ext cx="341" cy="252"/>
                </a:xfrm>
                <a:custGeom>
                  <a:avLst/>
                  <a:gdLst>
                    <a:gd name="T0" fmla="*/ 340 w 341"/>
                    <a:gd name="T1" fmla="*/ 0 h 252"/>
                    <a:gd name="T2" fmla="*/ 248 w 341"/>
                    <a:gd name="T3" fmla="*/ 26 h 252"/>
                    <a:gd name="T4" fmla="*/ 229 w 341"/>
                    <a:gd name="T5" fmla="*/ 71 h 252"/>
                    <a:gd name="T6" fmla="*/ 190 w 341"/>
                    <a:gd name="T7" fmla="*/ 116 h 252"/>
                    <a:gd name="T8" fmla="*/ 190 w 341"/>
                    <a:gd name="T9" fmla="*/ 161 h 252"/>
                    <a:gd name="T10" fmla="*/ 172 w 341"/>
                    <a:gd name="T11" fmla="*/ 206 h 252"/>
                    <a:gd name="T12" fmla="*/ 172 w 341"/>
                    <a:gd name="T13" fmla="*/ 251 h 252"/>
                    <a:gd name="T14" fmla="*/ 114 w 341"/>
                    <a:gd name="T15" fmla="*/ 221 h 252"/>
                    <a:gd name="T16" fmla="*/ 57 w 341"/>
                    <a:gd name="T17" fmla="*/ 191 h 252"/>
                    <a:gd name="T18" fmla="*/ 0 w 341"/>
                    <a:gd name="T19" fmla="*/ 206 h 252"/>
                    <a:gd name="T20" fmla="*/ 18 w 341"/>
                    <a:gd name="T21" fmla="*/ 161 h 252"/>
                    <a:gd name="T22" fmla="*/ 57 w 341"/>
                    <a:gd name="T23" fmla="*/ 116 h 252"/>
                    <a:gd name="T24" fmla="*/ 96 w 341"/>
                    <a:gd name="T25" fmla="*/ 71 h 252"/>
                    <a:gd name="T26" fmla="*/ 153 w 341"/>
                    <a:gd name="T27" fmla="*/ 42 h 252"/>
                    <a:gd name="T28" fmla="*/ 210 w 341"/>
                    <a:gd name="T29" fmla="*/ 26 h 252"/>
                    <a:gd name="T30" fmla="*/ 340 w 341"/>
                    <a:gd name="T31" fmla="*/ 0 h 252"/>
                    <a:gd name="T32" fmla="*/ 340 w 341"/>
                    <a:gd name="T33" fmla="*/ 0 h 25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341"/>
                    <a:gd name="T52" fmla="*/ 0 h 252"/>
                    <a:gd name="T53" fmla="*/ 341 w 341"/>
                    <a:gd name="T54" fmla="*/ 252 h 252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341" h="252">
                      <a:moveTo>
                        <a:pt x="340" y="0"/>
                      </a:moveTo>
                      <a:lnTo>
                        <a:pt x="248" y="26"/>
                      </a:lnTo>
                      <a:lnTo>
                        <a:pt x="229" y="71"/>
                      </a:lnTo>
                      <a:lnTo>
                        <a:pt x="190" y="116"/>
                      </a:lnTo>
                      <a:lnTo>
                        <a:pt x="190" y="161"/>
                      </a:lnTo>
                      <a:lnTo>
                        <a:pt x="172" y="206"/>
                      </a:lnTo>
                      <a:lnTo>
                        <a:pt x="172" y="251"/>
                      </a:lnTo>
                      <a:lnTo>
                        <a:pt x="114" y="221"/>
                      </a:lnTo>
                      <a:lnTo>
                        <a:pt x="57" y="191"/>
                      </a:lnTo>
                      <a:lnTo>
                        <a:pt x="0" y="206"/>
                      </a:lnTo>
                      <a:lnTo>
                        <a:pt x="18" y="161"/>
                      </a:lnTo>
                      <a:lnTo>
                        <a:pt x="57" y="116"/>
                      </a:lnTo>
                      <a:lnTo>
                        <a:pt x="96" y="71"/>
                      </a:lnTo>
                      <a:lnTo>
                        <a:pt x="153" y="42"/>
                      </a:lnTo>
                      <a:lnTo>
                        <a:pt x="210" y="26"/>
                      </a:lnTo>
                      <a:lnTo>
                        <a:pt x="340" y="0"/>
                      </a:lnTo>
                    </a:path>
                  </a:pathLst>
                </a:custGeom>
                <a:solidFill>
                  <a:srgbClr val="996633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357" name="Line 10">
                <a:extLst>
                  <a:ext uri="{FF2B5EF4-FFF2-40B4-BE49-F238E27FC236}">
                    <a16:creationId xmlns:a16="http://schemas.microsoft.com/office/drawing/2014/main" id="{7AEDE8A1-7ED6-4469-A912-979C4DB13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344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8" name="Line 11">
                <a:extLst>
                  <a:ext uri="{FF2B5EF4-FFF2-40B4-BE49-F238E27FC236}">
                    <a16:creationId xmlns:a16="http://schemas.microsoft.com/office/drawing/2014/main" id="{0269CA36-0222-4357-8A78-A22D9E0FB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344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9" name="Line 12">
                <a:extLst>
                  <a:ext uri="{FF2B5EF4-FFF2-40B4-BE49-F238E27FC236}">
                    <a16:creationId xmlns:a16="http://schemas.microsoft.com/office/drawing/2014/main" id="{3092688F-F34D-4926-B875-462DBF2277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3264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60" name="Line 13">
                <a:extLst>
                  <a:ext uri="{FF2B5EF4-FFF2-40B4-BE49-F238E27FC236}">
                    <a16:creationId xmlns:a16="http://schemas.microsoft.com/office/drawing/2014/main" id="{63874EC1-1038-4E7B-BAE2-C455FF25B1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360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61" name="Line 14">
                <a:extLst>
                  <a:ext uri="{FF2B5EF4-FFF2-40B4-BE49-F238E27FC236}">
                    <a16:creationId xmlns:a16="http://schemas.microsoft.com/office/drawing/2014/main" id="{A2319A25-14D9-4C50-8F99-741A2DA101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" y="360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62" name="Line 15">
                <a:extLst>
                  <a:ext uri="{FF2B5EF4-FFF2-40B4-BE49-F238E27FC236}">
                    <a16:creationId xmlns:a16="http://schemas.microsoft.com/office/drawing/2014/main" id="{9E838842-F443-4D1F-9C4C-C881A3764D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168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42" name="Rectangle 16">
              <a:extLst>
                <a:ext uri="{FF2B5EF4-FFF2-40B4-BE49-F238E27FC236}">
                  <a16:creationId xmlns:a16="http://schemas.microsoft.com/office/drawing/2014/main" id="{079987A0-53D9-424E-9EA7-4113CD514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" y="2323"/>
              <a:ext cx="759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8000">
                  <a:solidFill>
                    <a:schemeClr val="bg2"/>
                  </a:solidFill>
                  <a:latin typeface="楷体_GB2312" pitchFamily="49" charset="-122"/>
                  <a:ea typeface="楷体_GB2312" pitchFamily="49" charset="-122"/>
                </a:rPr>
                <a:t>光</a:t>
              </a:r>
            </a:p>
          </p:txBody>
        </p:sp>
        <p:sp>
          <p:nvSpPr>
            <p:cNvPr id="14343" name="Rectangle 17">
              <a:extLst>
                <a:ext uri="{FF2B5EF4-FFF2-40B4-BE49-F238E27FC236}">
                  <a16:creationId xmlns:a16="http://schemas.microsoft.com/office/drawing/2014/main" id="{DD5BE3D6-DE51-4B69-A7C3-AB330388B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" y="2323"/>
              <a:ext cx="759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8000">
                  <a:latin typeface="楷体_GB2312" pitchFamily="49" charset="-122"/>
                  <a:ea typeface="楷体_GB2312" pitchFamily="49" charset="-122"/>
                </a:rPr>
                <a:t>光</a:t>
              </a:r>
            </a:p>
          </p:txBody>
        </p:sp>
        <p:grpSp>
          <p:nvGrpSpPr>
            <p:cNvPr id="14344" name="Group 18">
              <a:extLst>
                <a:ext uri="{FF2B5EF4-FFF2-40B4-BE49-F238E27FC236}">
                  <a16:creationId xmlns:a16="http://schemas.microsoft.com/office/drawing/2014/main" id="{A0AC164A-3A89-4F40-B3DC-545A598909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1738"/>
              <a:ext cx="2185" cy="2018"/>
              <a:chOff x="1735" y="1690"/>
              <a:chExt cx="2185" cy="2018"/>
            </a:xfrm>
          </p:grpSpPr>
          <p:grpSp>
            <p:nvGrpSpPr>
              <p:cNvPr id="14349" name="Group 19">
                <a:extLst>
                  <a:ext uri="{FF2B5EF4-FFF2-40B4-BE49-F238E27FC236}">
                    <a16:creationId xmlns:a16="http://schemas.microsoft.com/office/drawing/2014/main" id="{B380AF99-9CAC-4AE6-9656-A411081813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0" y="1693"/>
                <a:ext cx="2160" cy="2015"/>
                <a:chOff x="1760" y="1693"/>
                <a:chExt cx="2160" cy="2015"/>
              </a:xfrm>
            </p:grpSpPr>
            <p:sp>
              <p:nvSpPr>
                <p:cNvPr id="14353" name="AutoShape 20">
                  <a:extLst>
                    <a:ext uri="{FF2B5EF4-FFF2-40B4-BE49-F238E27FC236}">
                      <a16:creationId xmlns:a16="http://schemas.microsoft.com/office/drawing/2014/main" id="{9E9E0665-5FC6-44CC-B914-4B26AF0443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833" y="1622"/>
                  <a:ext cx="2010" cy="2152"/>
                </a:xfrm>
                <a:prstGeom prst="cube">
                  <a:avLst>
                    <a:gd name="adj" fmla="val 18792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354" name="Freeform 21">
                  <a:extLst>
                    <a:ext uri="{FF2B5EF4-FFF2-40B4-BE49-F238E27FC236}">
                      <a16:creationId xmlns:a16="http://schemas.microsoft.com/office/drawing/2014/main" id="{F255CEE5-4B3C-4E0F-BCF7-3D718F70E3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0" y="3326"/>
                  <a:ext cx="2159" cy="381"/>
                </a:xfrm>
                <a:custGeom>
                  <a:avLst/>
                  <a:gdLst>
                    <a:gd name="T0" fmla="*/ 1779 w 2159"/>
                    <a:gd name="T1" fmla="*/ 3 h 381"/>
                    <a:gd name="T2" fmla="*/ 2158 w 2159"/>
                    <a:gd name="T3" fmla="*/ 380 h 381"/>
                    <a:gd name="T4" fmla="*/ 377 w 2159"/>
                    <a:gd name="T5" fmla="*/ 379 h 381"/>
                    <a:gd name="T6" fmla="*/ 0 w 2159"/>
                    <a:gd name="T7" fmla="*/ 0 h 381"/>
                    <a:gd name="T8" fmla="*/ 1779 w 2159"/>
                    <a:gd name="T9" fmla="*/ 3 h 38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9"/>
                    <a:gd name="T16" fmla="*/ 0 h 381"/>
                    <a:gd name="T17" fmla="*/ 2159 w 2159"/>
                    <a:gd name="T18" fmla="*/ 381 h 38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9" h="381">
                      <a:moveTo>
                        <a:pt x="1779" y="3"/>
                      </a:moveTo>
                      <a:lnTo>
                        <a:pt x="2158" y="380"/>
                      </a:lnTo>
                      <a:lnTo>
                        <a:pt x="377" y="379"/>
                      </a:lnTo>
                      <a:lnTo>
                        <a:pt x="0" y="0"/>
                      </a:lnTo>
                      <a:lnTo>
                        <a:pt x="1779" y="3"/>
                      </a:lnTo>
                    </a:path>
                  </a:pathLst>
                </a:custGeom>
                <a:solidFill>
                  <a:srgbClr val="33CCFF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5" name="Freeform 22">
                  <a:extLst>
                    <a:ext uri="{FF2B5EF4-FFF2-40B4-BE49-F238E27FC236}">
                      <a16:creationId xmlns:a16="http://schemas.microsoft.com/office/drawing/2014/main" id="{B8CEC909-E052-4A93-B7DE-3C8BAAE7FD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9" y="1693"/>
                  <a:ext cx="381" cy="2015"/>
                </a:xfrm>
                <a:custGeom>
                  <a:avLst/>
                  <a:gdLst>
                    <a:gd name="T0" fmla="*/ 1 w 381"/>
                    <a:gd name="T1" fmla="*/ 0 h 2015"/>
                    <a:gd name="T2" fmla="*/ 375 w 381"/>
                    <a:gd name="T3" fmla="*/ 380 h 2015"/>
                    <a:gd name="T4" fmla="*/ 380 w 381"/>
                    <a:gd name="T5" fmla="*/ 2014 h 2015"/>
                    <a:gd name="T6" fmla="*/ 0 w 381"/>
                    <a:gd name="T7" fmla="*/ 1636 h 2015"/>
                    <a:gd name="T8" fmla="*/ 1 w 381"/>
                    <a:gd name="T9" fmla="*/ 0 h 20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1"/>
                    <a:gd name="T16" fmla="*/ 0 h 2015"/>
                    <a:gd name="T17" fmla="*/ 381 w 381"/>
                    <a:gd name="T18" fmla="*/ 2015 h 20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1" h="2015">
                      <a:moveTo>
                        <a:pt x="1" y="0"/>
                      </a:moveTo>
                      <a:lnTo>
                        <a:pt x="375" y="380"/>
                      </a:lnTo>
                      <a:lnTo>
                        <a:pt x="380" y="2014"/>
                      </a:lnTo>
                      <a:lnTo>
                        <a:pt x="0" y="1636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66FFFF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350" name="Line 23">
                <a:extLst>
                  <a:ext uri="{FF2B5EF4-FFF2-40B4-BE49-F238E27FC236}">
                    <a16:creationId xmlns:a16="http://schemas.microsoft.com/office/drawing/2014/main" id="{12FD6DBC-FFBB-4137-974C-036F6683D3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167" y="2074"/>
                <a:ext cx="1728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1" name="Line 24">
                <a:extLst>
                  <a:ext uri="{FF2B5EF4-FFF2-40B4-BE49-F238E27FC236}">
                    <a16:creationId xmlns:a16="http://schemas.microsoft.com/office/drawing/2014/main" id="{52BB7A91-7465-4E70-ACEC-0E45B24B4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9" y="2074"/>
                <a:ext cx="0" cy="15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2" name="Line 25">
                <a:extLst>
                  <a:ext uri="{FF2B5EF4-FFF2-40B4-BE49-F238E27FC236}">
                    <a16:creationId xmlns:a16="http://schemas.microsoft.com/office/drawing/2014/main" id="{9FB3E230-BE6A-41E0-862C-7BF0FED48D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35" y="1690"/>
                <a:ext cx="384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45" name="Rectangle 26">
              <a:extLst>
                <a:ext uri="{FF2B5EF4-FFF2-40B4-BE49-F238E27FC236}">
                  <a16:creationId xmlns:a16="http://schemas.microsoft.com/office/drawing/2014/main" id="{B539AA55-2276-451F-BBE5-D7D6BF8FE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" y="2006"/>
              <a:ext cx="469" cy="1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双</a:t>
              </a:r>
            </a:p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折</a:t>
              </a:r>
            </a:p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射</a:t>
              </a:r>
            </a:p>
          </p:txBody>
        </p:sp>
        <p:sp>
          <p:nvSpPr>
            <p:cNvPr id="1215515" name="Rectangle 27">
              <a:extLst>
                <a:ext uri="{FF2B5EF4-FFF2-40B4-BE49-F238E27FC236}">
                  <a16:creationId xmlns:a16="http://schemas.microsoft.com/office/drawing/2014/main" id="{7B33C500-0C4A-4F0A-9BDF-4FF511CD7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" y="1487"/>
              <a:ext cx="6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>
                  <a:solidFill>
                    <a:srgbClr val="06268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Bookman Old Style" panose="02050604050505020204" pitchFamily="18" charset="0"/>
                </a:rPr>
                <a:t>纸面</a:t>
              </a:r>
            </a:p>
          </p:txBody>
        </p:sp>
      </p:grpSp>
      <p:sp>
        <p:nvSpPr>
          <p:cNvPr id="14339" name="Rectangle 30">
            <a:extLst>
              <a:ext uri="{FF2B5EF4-FFF2-40B4-BE49-F238E27FC236}">
                <a16:creationId xmlns:a16="http://schemas.microsoft.com/office/drawing/2014/main" id="{473D767A-E92D-4285-A7DB-BB5094672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942975"/>
            <a:ext cx="43037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chemeClr val="bg1"/>
                </a:solidFill>
              </a:rPr>
              <a:t>继续旋转方解石晶体：</a:t>
            </a:r>
          </a:p>
        </p:txBody>
      </p:sp>
      <p:sp>
        <p:nvSpPr>
          <p:cNvPr id="14340" name="灯片编号占位符 1">
            <a:extLst>
              <a:ext uri="{FF2B5EF4-FFF2-40B4-BE49-F238E27FC236}">
                <a16:creationId xmlns:a16="http://schemas.microsoft.com/office/drawing/2014/main" id="{BE5C4D3C-1DDC-422D-9867-BB2F77B7496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100DCF6-D864-4DBA-A0C6-22B6C70CA0A4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>
            <a:extLst>
              <a:ext uri="{FF2B5EF4-FFF2-40B4-BE49-F238E27FC236}">
                <a16:creationId xmlns:a16="http://schemas.microsoft.com/office/drawing/2014/main" id="{F46F0FF5-0EF1-4CC0-8120-FF2D0D0C17B3}"/>
              </a:ext>
            </a:extLst>
          </p:cNvPr>
          <p:cNvGrpSpPr>
            <a:grpSpLocks/>
          </p:cNvGrpSpPr>
          <p:nvPr/>
        </p:nvGrpSpPr>
        <p:grpSpPr bwMode="auto">
          <a:xfrm>
            <a:off x="711200" y="2090738"/>
            <a:ext cx="8181976" cy="4718050"/>
            <a:chOff x="576" y="1275"/>
            <a:chExt cx="5154" cy="2972"/>
          </a:xfrm>
        </p:grpSpPr>
        <p:grpSp>
          <p:nvGrpSpPr>
            <p:cNvPr id="15365" name="Group 3">
              <a:extLst>
                <a:ext uri="{FF2B5EF4-FFF2-40B4-BE49-F238E27FC236}">
                  <a16:creationId xmlns:a16="http://schemas.microsoft.com/office/drawing/2014/main" id="{1ADFADFF-6FCF-4283-BC3E-D0A4423D2A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404"/>
              <a:ext cx="4128" cy="2256"/>
              <a:chOff x="528" y="1344"/>
              <a:chExt cx="4128" cy="2256"/>
            </a:xfrm>
          </p:grpSpPr>
          <p:grpSp>
            <p:nvGrpSpPr>
              <p:cNvPr id="15380" name="Group 4">
                <a:extLst>
                  <a:ext uri="{FF2B5EF4-FFF2-40B4-BE49-F238E27FC236}">
                    <a16:creationId xmlns:a16="http://schemas.microsoft.com/office/drawing/2014/main" id="{86079C33-8F20-4F8E-92AF-C0C9F2E805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1344"/>
                <a:ext cx="4128" cy="2256"/>
                <a:chOff x="528" y="1344"/>
                <a:chExt cx="4128" cy="2256"/>
              </a:xfrm>
            </p:grpSpPr>
            <p:sp>
              <p:nvSpPr>
                <p:cNvPr id="15387" name="AutoShape 5">
                  <a:extLst>
                    <a:ext uri="{FF2B5EF4-FFF2-40B4-BE49-F238E27FC236}">
                      <a16:creationId xmlns:a16="http://schemas.microsoft.com/office/drawing/2014/main" id="{E675D199-1155-4333-B059-6BD400E3FE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1348"/>
                  <a:ext cx="4120" cy="2248"/>
                </a:xfrm>
                <a:prstGeom prst="roundRect">
                  <a:avLst>
                    <a:gd name="adj" fmla="val 12495"/>
                  </a:avLst>
                </a:prstGeom>
                <a:solidFill>
                  <a:srgbClr val="FFCC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5388" name="Rectangle 6">
                  <a:extLst>
                    <a:ext uri="{FF2B5EF4-FFF2-40B4-BE49-F238E27FC236}">
                      <a16:creationId xmlns:a16="http://schemas.microsoft.com/office/drawing/2014/main" id="{BE18145F-2839-49DA-B5E6-E05D1A5B57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6" y="1344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5389" name="Rectangle 7">
                  <a:extLst>
                    <a:ext uri="{FF2B5EF4-FFF2-40B4-BE49-F238E27FC236}">
                      <a16:creationId xmlns:a16="http://schemas.microsoft.com/office/drawing/2014/main" id="{677F5B59-B269-460B-B2DA-3EF192E980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3277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5390" name="Rectangle 8">
                  <a:extLst>
                    <a:ext uri="{FF2B5EF4-FFF2-40B4-BE49-F238E27FC236}">
                      <a16:creationId xmlns:a16="http://schemas.microsoft.com/office/drawing/2014/main" id="{50F40942-8EF0-4260-A072-EB12DA37AE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6" y="3277"/>
                  <a:ext cx="550" cy="32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5391" name="Freeform 9">
                  <a:extLst>
                    <a:ext uri="{FF2B5EF4-FFF2-40B4-BE49-F238E27FC236}">
                      <a16:creationId xmlns:a16="http://schemas.microsoft.com/office/drawing/2014/main" id="{AF28B709-8CC4-480E-AF61-F3C6E4A621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" y="1344"/>
                  <a:ext cx="341" cy="252"/>
                </a:xfrm>
                <a:custGeom>
                  <a:avLst/>
                  <a:gdLst>
                    <a:gd name="T0" fmla="*/ 340 w 341"/>
                    <a:gd name="T1" fmla="*/ 0 h 252"/>
                    <a:gd name="T2" fmla="*/ 248 w 341"/>
                    <a:gd name="T3" fmla="*/ 26 h 252"/>
                    <a:gd name="T4" fmla="*/ 229 w 341"/>
                    <a:gd name="T5" fmla="*/ 71 h 252"/>
                    <a:gd name="T6" fmla="*/ 190 w 341"/>
                    <a:gd name="T7" fmla="*/ 116 h 252"/>
                    <a:gd name="T8" fmla="*/ 190 w 341"/>
                    <a:gd name="T9" fmla="*/ 161 h 252"/>
                    <a:gd name="T10" fmla="*/ 172 w 341"/>
                    <a:gd name="T11" fmla="*/ 206 h 252"/>
                    <a:gd name="T12" fmla="*/ 172 w 341"/>
                    <a:gd name="T13" fmla="*/ 251 h 252"/>
                    <a:gd name="T14" fmla="*/ 114 w 341"/>
                    <a:gd name="T15" fmla="*/ 221 h 252"/>
                    <a:gd name="T16" fmla="*/ 57 w 341"/>
                    <a:gd name="T17" fmla="*/ 191 h 252"/>
                    <a:gd name="T18" fmla="*/ 0 w 341"/>
                    <a:gd name="T19" fmla="*/ 206 h 252"/>
                    <a:gd name="T20" fmla="*/ 18 w 341"/>
                    <a:gd name="T21" fmla="*/ 161 h 252"/>
                    <a:gd name="T22" fmla="*/ 57 w 341"/>
                    <a:gd name="T23" fmla="*/ 116 h 252"/>
                    <a:gd name="T24" fmla="*/ 96 w 341"/>
                    <a:gd name="T25" fmla="*/ 71 h 252"/>
                    <a:gd name="T26" fmla="*/ 153 w 341"/>
                    <a:gd name="T27" fmla="*/ 42 h 252"/>
                    <a:gd name="T28" fmla="*/ 210 w 341"/>
                    <a:gd name="T29" fmla="*/ 26 h 252"/>
                    <a:gd name="T30" fmla="*/ 340 w 341"/>
                    <a:gd name="T31" fmla="*/ 0 h 252"/>
                    <a:gd name="T32" fmla="*/ 340 w 341"/>
                    <a:gd name="T33" fmla="*/ 0 h 25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341"/>
                    <a:gd name="T52" fmla="*/ 0 h 252"/>
                    <a:gd name="T53" fmla="*/ 341 w 341"/>
                    <a:gd name="T54" fmla="*/ 252 h 252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341" h="252">
                      <a:moveTo>
                        <a:pt x="340" y="0"/>
                      </a:moveTo>
                      <a:lnTo>
                        <a:pt x="248" y="26"/>
                      </a:lnTo>
                      <a:lnTo>
                        <a:pt x="229" y="71"/>
                      </a:lnTo>
                      <a:lnTo>
                        <a:pt x="190" y="116"/>
                      </a:lnTo>
                      <a:lnTo>
                        <a:pt x="190" y="161"/>
                      </a:lnTo>
                      <a:lnTo>
                        <a:pt x="172" y="206"/>
                      </a:lnTo>
                      <a:lnTo>
                        <a:pt x="172" y="251"/>
                      </a:lnTo>
                      <a:lnTo>
                        <a:pt x="114" y="221"/>
                      </a:lnTo>
                      <a:lnTo>
                        <a:pt x="57" y="191"/>
                      </a:lnTo>
                      <a:lnTo>
                        <a:pt x="0" y="206"/>
                      </a:lnTo>
                      <a:lnTo>
                        <a:pt x="18" y="161"/>
                      </a:lnTo>
                      <a:lnTo>
                        <a:pt x="57" y="116"/>
                      </a:lnTo>
                      <a:lnTo>
                        <a:pt x="96" y="71"/>
                      </a:lnTo>
                      <a:lnTo>
                        <a:pt x="153" y="42"/>
                      </a:lnTo>
                      <a:lnTo>
                        <a:pt x="210" y="26"/>
                      </a:lnTo>
                      <a:lnTo>
                        <a:pt x="340" y="0"/>
                      </a:lnTo>
                    </a:path>
                  </a:pathLst>
                </a:custGeom>
                <a:solidFill>
                  <a:srgbClr val="996633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381" name="Line 10">
                <a:extLst>
                  <a:ext uri="{FF2B5EF4-FFF2-40B4-BE49-F238E27FC236}">
                    <a16:creationId xmlns:a16="http://schemas.microsoft.com/office/drawing/2014/main" id="{F07D2FE4-B702-415B-9A1B-8B7CC2E288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344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2" name="Line 11">
                <a:extLst>
                  <a:ext uri="{FF2B5EF4-FFF2-40B4-BE49-F238E27FC236}">
                    <a16:creationId xmlns:a16="http://schemas.microsoft.com/office/drawing/2014/main" id="{8ABBF191-C39A-4657-A227-5E1B066E37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344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3" name="Line 12">
                <a:extLst>
                  <a:ext uri="{FF2B5EF4-FFF2-40B4-BE49-F238E27FC236}">
                    <a16:creationId xmlns:a16="http://schemas.microsoft.com/office/drawing/2014/main" id="{1E0229F0-F00B-41E4-AC7A-6CCECBA72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3264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4" name="Line 13">
                <a:extLst>
                  <a:ext uri="{FF2B5EF4-FFF2-40B4-BE49-F238E27FC236}">
                    <a16:creationId xmlns:a16="http://schemas.microsoft.com/office/drawing/2014/main" id="{FD7DBB4B-84A9-40AF-9C68-DF4CD8F3E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360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5" name="Line 14">
                <a:extLst>
                  <a:ext uri="{FF2B5EF4-FFF2-40B4-BE49-F238E27FC236}">
                    <a16:creationId xmlns:a16="http://schemas.microsoft.com/office/drawing/2014/main" id="{48F8CA2A-50A8-4570-A12B-FDC32C1597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" y="360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6" name="Line 15">
                <a:extLst>
                  <a:ext uri="{FF2B5EF4-FFF2-40B4-BE49-F238E27FC236}">
                    <a16:creationId xmlns:a16="http://schemas.microsoft.com/office/drawing/2014/main" id="{DA55E425-760F-42BF-B8ED-D1925F52FD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168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366" name="Rectangle 16">
              <a:extLst>
                <a:ext uri="{FF2B5EF4-FFF2-40B4-BE49-F238E27FC236}">
                  <a16:creationId xmlns:a16="http://schemas.microsoft.com/office/drawing/2014/main" id="{479C1547-0F29-4FC8-B182-3AD8C5232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" y="2527"/>
              <a:ext cx="759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8000">
                  <a:solidFill>
                    <a:schemeClr val="bg2"/>
                  </a:solidFill>
                  <a:latin typeface="楷体_GB2312" pitchFamily="49" charset="-122"/>
                  <a:ea typeface="楷体_GB2312" pitchFamily="49" charset="-122"/>
                </a:rPr>
                <a:t>光</a:t>
              </a:r>
            </a:p>
          </p:txBody>
        </p:sp>
        <p:sp>
          <p:nvSpPr>
            <p:cNvPr id="15367" name="Rectangle 17">
              <a:extLst>
                <a:ext uri="{FF2B5EF4-FFF2-40B4-BE49-F238E27FC236}">
                  <a16:creationId xmlns:a16="http://schemas.microsoft.com/office/drawing/2014/main" id="{C68B3280-687F-4D59-803E-DC4C2161B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" y="2335"/>
              <a:ext cx="759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8000">
                  <a:latin typeface="楷体_GB2312" pitchFamily="49" charset="-122"/>
                  <a:ea typeface="楷体_GB2312" pitchFamily="49" charset="-122"/>
                </a:rPr>
                <a:t>光</a:t>
              </a:r>
            </a:p>
          </p:txBody>
        </p:sp>
        <p:grpSp>
          <p:nvGrpSpPr>
            <p:cNvPr id="15368" name="Group 18">
              <a:extLst>
                <a:ext uri="{FF2B5EF4-FFF2-40B4-BE49-F238E27FC236}">
                  <a16:creationId xmlns:a16="http://schemas.microsoft.com/office/drawing/2014/main" id="{71D713E8-D951-404D-8CF4-D9FA0D2A64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6" y="1275"/>
              <a:ext cx="2423" cy="2972"/>
              <a:chOff x="1628" y="1215"/>
              <a:chExt cx="2423" cy="2972"/>
            </a:xfrm>
          </p:grpSpPr>
          <p:grpSp>
            <p:nvGrpSpPr>
              <p:cNvPr id="15373" name="Group 19">
                <a:extLst>
                  <a:ext uri="{FF2B5EF4-FFF2-40B4-BE49-F238E27FC236}">
                    <a16:creationId xmlns:a16="http://schemas.microsoft.com/office/drawing/2014/main" id="{1492B922-A541-45D7-A57C-971C24FB07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28" y="1634"/>
                <a:ext cx="2423" cy="2553"/>
                <a:chOff x="1628" y="1634"/>
                <a:chExt cx="2423" cy="2553"/>
              </a:xfrm>
            </p:grpSpPr>
            <p:sp>
              <p:nvSpPr>
                <p:cNvPr id="15377" name="AutoShape 20">
                  <a:extLst>
                    <a:ext uri="{FF2B5EF4-FFF2-40B4-BE49-F238E27FC236}">
                      <a16:creationId xmlns:a16="http://schemas.microsoft.com/office/drawing/2014/main" id="{F26B3F86-B976-460B-A42D-9BE35F0F14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8160000">
                  <a:off x="1833" y="1634"/>
                  <a:ext cx="2012" cy="2150"/>
                </a:xfrm>
                <a:prstGeom prst="cube">
                  <a:avLst>
                    <a:gd name="adj" fmla="val 18792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5378" name="Freeform 21">
                  <a:extLst>
                    <a:ext uri="{FF2B5EF4-FFF2-40B4-BE49-F238E27FC236}">
                      <a16:creationId xmlns:a16="http://schemas.microsoft.com/office/drawing/2014/main" id="{92E87EDD-0493-4616-B753-F2464BF153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8" y="2369"/>
                  <a:ext cx="1246" cy="1818"/>
                </a:xfrm>
                <a:custGeom>
                  <a:avLst/>
                  <a:gdLst>
                    <a:gd name="T0" fmla="*/ 1245 w 1246"/>
                    <a:gd name="T1" fmla="*/ 1281 h 1818"/>
                    <a:gd name="T2" fmla="*/ 1235 w 1246"/>
                    <a:gd name="T3" fmla="*/ 1817 h 1818"/>
                    <a:gd name="T4" fmla="*/ 0 w 1246"/>
                    <a:gd name="T5" fmla="*/ 535 h 1818"/>
                    <a:gd name="T6" fmla="*/ 10 w 1246"/>
                    <a:gd name="T7" fmla="*/ 0 h 1818"/>
                    <a:gd name="T8" fmla="*/ 1245 w 1246"/>
                    <a:gd name="T9" fmla="*/ 1281 h 181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46"/>
                    <a:gd name="T16" fmla="*/ 0 h 1818"/>
                    <a:gd name="T17" fmla="*/ 1246 w 1246"/>
                    <a:gd name="T18" fmla="*/ 1818 h 181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46" h="1818">
                      <a:moveTo>
                        <a:pt x="1245" y="1281"/>
                      </a:moveTo>
                      <a:lnTo>
                        <a:pt x="1235" y="1817"/>
                      </a:lnTo>
                      <a:lnTo>
                        <a:pt x="0" y="535"/>
                      </a:lnTo>
                      <a:lnTo>
                        <a:pt x="10" y="0"/>
                      </a:lnTo>
                      <a:lnTo>
                        <a:pt x="1245" y="1281"/>
                      </a:lnTo>
                    </a:path>
                  </a:pathLst>
                </a:custGeom>
                <a:solidFill>
                  <a:srgbClr val="33CCFF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79" name="Freeform 22">
                  <a:extLst>
                    <a:ext uri="{FF2B5EF4-FFF2-40B4-BE49-F238E27FC236}">
                      <a16:creationId xmlns:a16="http://schemas.microsoft.com/office/drawing/2014/main" id="{B6F2320D-003F-4325-B167-BE4223FCBA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64" y="2515"/>
                  <a:ext cx="1187" cy="1672"/>
                </a:xfrm>
                <a:custGeom>
                  <a:avLst/>
                  <a:gdLst>
                    <a:gd name="T0" fmla="*/ 1186 w 1187"/>
                    <a:gd name="T1" fmla="*/ 0 h 1672"/>
                    <a:gd name="T2" fmla="*/ 1173 w 1187"/>
                    <a:gd name="T3" fmla="*/ 533 h 1672"/>
                    <a:gd name="T4" fmla="*/ 0 w 1187"/>
                    <a:gd name="T5" fmla="*/ 1671 h 1672"/>
                    <a:gd name="T6" fmla="*/ 9 w 1187"/>
                    <a:gd name="T7" fmla="*/ 1135 h 1672"/>
                    <a:gd name="T8" fmla="*/ 1186 w 1187"/>
                    <a:gd name="T9" fmla="*/ 0 h 16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87"/>
                    <a:gd name="T16" fmla="*/ 0 h 1672"/>
                    <a:gd name="T17" fmla="*/ 1187 w 1187"/>
                    <a:gd name="T18" fmla="*/ 1672 h 16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87" h="1672">
                      <a:moveTo>
                        <a:pt x="1186" y="0"/>
                      </a:moveTo>
                      <a:lnTo>
                        <a:pt x="1173" y="533"/>
                      </a:lnTo>
                      <a:lnTo>
                        <a:pt x="0" y="1671"/>
                      </a:lnTo>
                      <a:lnTo>
                        <a:pt x="9" y="1135"/>
                      </a:lnTo>
                      <a:lnTo>
                        <a:pt x="1186" y="0"/>
                      </a:lnTo>
                    </a:path>
                  </a:pathLst>
                </a:custGeom>
                <a:solidFill>
                  <a:srgbClr val="66FFFF"/>
                </a:solidFill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374" name="Line 23">
                <a:extLst>
                  <a:ext uri="{FF2B5EF4-FFF2-40B4-BE49-F238E27FC236}">
                    <a16:creationId xmlns:a16="http://schemas.microsoft.com/office/drawing/2014/main" id="{C164DAF7-CDA1-4946-B22A-77ED16277B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22" y="1793"/>
                <a:ext cx="1200" cy="124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75" name="Line 24">
                <a:extLst>
                  <a:ext uri="{FF2B5EF4-FFF2-40B4-BE49-F238E27FC236}">
                    <a16:creationId xmlns:a16="http://schemas.microsoft.com/office/drawing/2014/main" id="{A11926E2-553A-458C-87F7-3EE531E0D6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9" y="1758"/>
                <a:ext cx="1140" cy="11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76" name="Line 25">
                <a:extLst>
                  <a:ext uri="{FF2B5EF4-FFF2-40B4-BE49-F238E27FC236}">
                    <a16:creationId xmlns:a16="http://schemas.microsoft.com/office/drawing/2014/main" id="{BFF937F0-6273-4A1D-A632-D8A4017F91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89" y="1215"/>
                <a:ext cx="9" cy="54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369" name="Rectangle 26">
              <a:extLst>
                <a:ext uri="{FF2B5EF4-FFF2-40B4-BE49-F238E27FC236}">
                  <a16:creationId xmlns:a16="http://schemas.microsoft.com/office/drawing/2014/main" id="{0B3D3F83-8C6F-4321-A8DF-30BDB7152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2018"/>
              <a:ext cx="469" cy="1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双</a:t>
              </a:r>
            </a:p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折</a:t>
              </a:r>
            </a:p>
            <a:p>
              <a:r>
                <a:rPr lang="zh-CN" altLang="en-US" sz="4400">
                  <a:latin typeface="楷体_GB2312" pitchFamily="49" charset="-122"/>
                  <a:ea typeface="楷体_GB2312" pitchFamily="49" charset="-122"/>
                </a:rPr>
                <a:t>射</a:t>
              </a:r>
            </a:p>
          </p:txBody>
        </p:sp>
        <p:sp>
          <p:nvSpPr>
            <p:cNvPr id="1216539" name="Rectangle 27">
              <a:extLst>
                <a:ext uri="{FF2B5EF4-FFF2-40B4-BE49-F238E27FC236}">
                  <a16:creationId xmlns:a16="http://schemas.microsoft.com/office/drawing/2014/main" id="{F1EEC6F7-2C13-4364-AD00-055E3CCA6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1499"/>
              <a:ext cx="6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>
                  <a:solidFill>
                    <a:srgbClr val="06268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Bookman Old Style" panose="02050604050505020204" pitchFamily="18" charset="0"/>
                </a:rPr>
                <a:t>纸面</a:t>
              </a:r>
            </a:p>
          </p:txBody>
        </p:sp>
        <p:sp>
          <p:nvSpPr>
            <p:cNvPr id="15371" name="Rectangle 28">
              <a:extLst>
                <a:ext uri="{FF2B5EF4-FFF2-40B4-BE49-F238E27FC236}">
                  <a16:creationId xmlns:a16="http://schemas.microsoft.com/office/drawing/2014/main" id="{4D005D7E-17B2-4B34-83AD-A1D82A689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7" y="1739"/>
              <a:ext cx="98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方解石</a:t>
              </a:r>
            </a:p>
            <a:p>
              <a:r>
                <a:rPr lang="zh-CN" altLang="en-US" sz="3600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晶体</a:t>
              </a:r>
            </a:p>
          </p:txBody>
        </p:sp>
        <p:sp>
          <p:nvSpPr>
            <p:cNvPr id="15372" name="Line 29">
              <a:extLst>
                <a:ext uri="{FF2B5EF4-FFF2-40B4-BE49-F238E27FC236}">
                  <a16:creationId xmlns:a16="http://schemas.microsoft.com/office/drawing/2014/main" id="{3B8B1659-813D-48C6-AF2A-7F2778022A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6" y="2208"/>
              <a:ext cx="842" cy="531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363" name="Rectangle 30">
            <a:extLst>
              <a:ext uri="{FF2B5EF4-FFF2-40B4-BE49-F238E27FC236}">
                <a16:creationId xmlns:a16="http://schemas.microsoft.com/office/drawing/2014/main" id="{F524BE1B-BBA7-4173-97E5-9CBC12FB7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942975"/>
            <a:ext cx="43037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chemeClr val="bg1"/>
                </a:solidFill>
              </a:rPr>
              <a:t>继续旋转方解石晶体：</a:t>
            </a:r>
          </a:p>
        </p:txBody>
      </p:sp>
      <p:sp>
        <p:nvSpPr>
          <p:cNvPr id="15364" name="灯片编号占位符 1">
            <a:extLst>
              <a:ext uri="{FF2B5EF4-FFF2-40B4-BE49-F238E27FC236}">
                <a16:creationId xmlns:a16="http://schemas.microsoft.com/office/drawing/2014/main" id="{61ADFABB-F74F-488C-9ECA-938CFBDF3BB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6BF0372-91FD-4A65-B96B-41692BECED6A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Text Box 4">
            <a:extLst>
              <a:ext uri="{FF2B5EF4-FFF2-40B4-BE49-F238E27FC236}">
                <a16:creationId xmlns:a16="http://schemas.microsoft.com/office/drawing/2014/main" id="{2F84D5FE-223B-4B9D-B320-464FD0639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814388"/>
            <a:ext cx="835818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800"/>
              </a:lnSpc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当光在晶体内沿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</a:rPr>
              <a:t>某个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或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</a:rPr>
              <a:t>某些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特殊方向传播时</a:t>
            </a:r>
            <a:r>
              <a:rPr lang="zh-CN" altLang="en-US">
                <a:solidFill>
                  <a:srgbClr val="FFFF00"/>
                </a:solidFill>
                <a:latin typeface="楷体_GB2312" pitchFamily="49" charset="-122"/>
              </a:rPr>
              <a:t>不发生双折射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，该方向称为晶体的</a:t>
            </a:r>
            <a:r>
              <a:rPr lang="zh-CN" altLang="en-US">
                <a:solidFill>
                  <a:srgbClr val="FFFF00"/>
                </a:solidFill>
                <a:latin typeface="楷体_GB2312" pitchFamily="49" charset="-122"/>
              </a:rPr>
              <a:t>光轴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。</a:t>
            </a:r>
            <a:endParaRPr lang="zh-CN" altLang="en-US" b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5365" name="Text Box 5">
            <a:extLst>
              <a:ext uri="{FF2B5EF4-FFF2-40B4-BE49-F238E27FC236}">
                <a16:creationId xmlns:a16="http://schemas.microsoft.com/office/drawing/2014/main" id="{54DB5A4E-CAA5-429C-BB57-38486ACB0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0" y="1357313"/>
            <a:ext cx="5072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如：方解石晶体</a:t>
            </a:r>
            <a:r>
              <a:rPr lang="en-US" altLang="zh-CN" dirty="0">
                <a:solidFill>
                  <a:schemeClr val="bg1"/>
                </a:solidFill>
                <a:latin typeface="宋体" pitchFamily="2" charset="-122"/>
              </a:rPr>
              <a:t>( </a:t>
            </a:r>
            <a:r>
              <a:rPr lang="en-US" altLang="zh-CN" dirty="0">
                <a:solidFill>
                  <a:schemeClr val="bg1"/>
                </a:solidFill>
                <a:latin typeface="+mn-lt"/>
              </a:rPr>
              <a:t>CaCO</a:t>
            </a:r>
            <a:r>
              <a:rPr lang="en-US" altLang="zh-CN" baseline="-25000" dirty="0">
                <a:solidFill>
                  <a:schemeClr val="bg1"/>
                </a:solidFill>
                <a:latin typeface="+mn-lt"/>
              </a:rPr>
              <a:t>3 </a:t>
            </a: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冰洲石 </a:t>
            </a:r>
            <a:r>
              <a:rPr lang="en-US" altLang="zh-CN" dirty="0">
                <a:solidFill>
                  <a:schemeClr val="bg1"/>
                </a:solidFill>
                <a:latin typeface="宋体" pitchFamily="2" charset="-122"/>
              </a:rPr>
              <a:t>)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67E0127E-BC2B-4D54-A7EA-A7203D57C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8965" y="1979340"/>
            <a:ext cx="70485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rPr>
              <a:t>光轴</a:t>
            </a:r>
            <a:endParaRPr lang="zh-CN" altLang="en-US" sz="2000" b="0">
              <a:solidFill>
                <a:srgbClr val="CCCC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367" name="Text Box 7">
            <a:extLst>
              <a:ext uri="{FF2B5EF4-FFF2-40B4-BE49-F238E27FC236}">
                <a16:creationId xmlns:a16="http://schemas.microsoft.com/office/drawing/2014/main" id="{D0887060-07C7-4DCF-BC30-490F0D111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941513"/>
            <a:ext cx="55006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800"/>
              </a:lnSpc>
              <a:buClr>
                <a:srgbClr val="0000FF"/>
              </a:buClr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注意：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光轴是一特殊的方向，凡平行于此方向的直线均为光轴</a:t>
            </a:r>
            <a:endParaRPr lang="zh-CN" altLang="en-US" u="sng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5368" name="Text Box 8">
            <a:extLst>
              <a:ext uri="{FF2B5EF4-FFF2-40B4-BE49-F238E27FC236}">
                <a16:creationId xmlns:a16="http://schemas.microsoft.com/office/drawing/2014/main" id="{5F10D075-6144-43DD-AF17-BBE24E6CD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100388"/>
            <a:ext cx="629089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solidFill>
                  <a:srgbClr val="66FFFF"/>
                </a:solidFill>
                <a:latin typeface="楷体_GB2312" pitchFamily="49" charset="-122"/>
              </a:rPr>
              <a:t>单轴晶体：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只有一个光轴  （方解石、石英）</a:t>
            </a:r>
            <a:endParaRPr lang="zh-CN" altLang="en-US" b="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5369" name="Text Box 9">
            <a:extLst>
              <a:ext uri="{FF2B5EF4-FFF2-40B4-BE49-F238E27FC236}">
                <a16:creationId xmlns:a16="http://schemas.microsoft.com/office/drawing/2014/main" id="{D81C5364-C4D2-4F71-8C41-869B4E4F9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671888"/>
            <a:ext cx="6267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solidFill>
                  <a:srgbClr val="66FFFF"/>
                </a:solidFill>
                <a:latin typeface="宋体" panose="02010600030101010101" pitchFamily="2" charset="-122"/>
              </a:rPr>
              <a:t>双轴晶体</a:t>
            </a:r>
            <a:r>
              <a:rPr lang="en-US" altLang="zh-CN" dirty="0">
                <a:solidFill>
                  <a:srgbClr val="66FFFF"/>
                </a:solidFill>
                <a:latin typeface="宋体" panose="02010600030101010101" pitchFamily="2" charset="-122"/>
              </a:rPr>
              <a:t>:</a:t>
            </a:r>
            <a:r>
              <a:rPr lang="en-US" altLang="zh-CN" dirty="0">
                <a:solidFill>
                  <a:srgbClr val="FFFF66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有两个光轴 （硫磺、云母）</a:t>
            </a:r>
            <a:endParaRPr lang="zh-CN" altLang="en-US" b="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5370" name="Text Box 10">
            <a:extLst>
              <a:ext uri="{FF2B5EF4-FFF2-40B4-BE49-F238E27FC236}">
                <a16:creationId xmlns:a16="http://schemas.microsoft.com/office/drawing/2014/main" id="{A5837D8B-1580-4BCB-A52A-EEB150FAF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4257675"/>
            <a:ext cx="591622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dirty="0">
                <a:solidFill>
                  <a:srgbClr val="66FFFF"/>
                </a:solidFill>
              </a:rPr>
              <a:t>4. </a:t>
            </a:r>
            <a:r>
              <a:rPr lang="zh-CN" altLang="en-US" dirty="0">
                <a:solidFill>
                  <a:srgbClr val="66FFFF"/>
                </a:solidFill>
                <a:latin typeface="宋体" panose="02010600030101010101" pitchFamily="2" charset="-122"/>
              </a:rPr>
              <a:t>主平面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</a:rPr>
              <a:t>（描述晶体中折射光的偏振性）</a:t>
            </a:r>
          </a:p>
        </p:txBody>
      </p:sp>
      <p:sp>
        <p:nvSpPr>
          <p:cNvPr id="15371" name="Text Box 11">
            <a:extLst>
              <a:ext uri="{FF2B5EF4-FFF2-40B4-BE49-F238E27FC236}">
                <a16:creationId xmlns:a16="http://schemas.microsoft.com/office/drawing/2014/main" id="{3DD9BC73-090E-410E-962A-C1356E716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4797425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晶体中光的传播方向与晶体光轴构成的平面</a:t>
            </a:r>
            <a:endParaRPr lang="en-US" altLang="zh-CN" b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5372" name="Line 12">
            <a:extLst>
              <a:ext uri="{FF2B5EF4-FFF2-40B4-BE49-F238E27FC236}">
                <a16:creationId xmlns:a16="http://schemas.microsoft.com/office/drawing/2014/main" id="{5D02949D-DD0E-4C3A-84C3-7685607351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2615" y="2325415"/>
            <a:ext cx="82550" cy="2449512"/>
          </a:xfrm>
          <a:prstGeom prst="line">
            <a:avLst/>
          </a:prstGeom>
          <a:noFill/>
          <a:ln w="19050">
            <a:solidFill>
              <a:srgbClr val="CCCCFF"/>
            </a:solidFill>
            <a:prstDash val="lgDash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3" name="Line 13">
            <a:extLst>
              <a:ext uri="{FF2B5EF4-FFF2-40B4-BE49-F238E27FC236}">
                <a16:creationId xmlns:a16="http://schemas.microsoft.com/office/drawing/2014/main" id="{24554AEB-1D05-4EEB-954A-56BFC07939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0778" y="2398440"/>
            <a:ext cx="63500" cy="2376487"/>
          </a:xfrm>
          <a:prstGeom prst="line">
            <a:avLst/>
          </a:prstGeom>
          <a:noFill/>
          <a:ln w="19050">
            <a:solidFill>
              <a:srgbClr val="CCCCFF"/>
            </a:solidFill>
            <a:prstDash val="lgDash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4" name="Line 14">
            <a:extLst>
              <a:ext uri="{FF2B5EF4-FFF2-40B4-BE49-F238E27FC236}">
                <a16:creationId xmlns:a16="http://schemas.microsoft.com/office/drawing/2014/main" id="{1D0F186F-532C-4E4C-8133-069E48B2C41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4940" y="2325415"/>
            <a:ext cx="82550" cy="2471737"/>
          </a:xfrm>
          <a:prstGeom prst="line">
            <a:avLst/>
          </a:prstGeom>
          <a:noFill/>
          <a:ln w="19050">
            <a:solidFill>
              <a:srgbClr val="CCCCFF"/>
            </a:solidFill>
            <a:prstDash val="lgDash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25">
            <a:extLst>
              <a:ext uri="{FF2B5EF4-FFF2-40B4-BE49-F238E27FC236}">
                <a16:creationId xmlns:a16="http://schemas.microsoft.com/office/drawing/2014/main" id="{DF47E489-9584-4100-949F-05C257602196}"/>
              </a:ext>
            </a:extLst>
          </p:cNvPr>
          <p:cNvGrpSpPr>
            <a:grpSpLocks/>
          </p:cNvGrpSpPr>
          <p:nvPr/>
        </p:nvGrpSpPr>
        <p:grpSpPr bwMode="auto">
          <a:xfrm>
            <a:off x="6294065" y="2595290"/>
            <a:ext cx="2238375" cy="2054225"/>
            <a:chOff x="5789613" y="2071678"/>
            <a:chExt cx="2238375" cy="2054225"/>
          </a:xfrm>
        </p:grpSpPr>
        <p:pic>
          <p:nvPicPr>
            <p:cNvPr id="16402" name="Picture 2" descr="14">
              <a:extLst>
                <a:ext uri="{FF2B5EF4-FFF2-40B4-BE49-F238E27FC236}">
                  <a16:creationId xmlns:a16="http://schemas.microsoft.com/office/drawing/2014/main" id="{9A6765DA-E494-4B16-96A8-7D63257AE8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326698"/>
                </a:clrFrom>
                <a:clrTo>
                  <a:srgbClr val="326698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74"/>
            <a:stretch>
              <a:fillRect/>
            </a:stretch>
          </p:blipFill>
          <p:spPr bwMode="auto">
            <a:xfrm>
              <a:off x="5789613" y="2071678"/>
              <a:ext cx="2238375" cy="2054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403" name="Group 15">
              <a:extLst>
                <a:ext uri="{FF2B5EF4-FFF2-40B4-BE49-F238E27FC236}">
                  <a16:creationId xmlns:a16="http://schemas.microsoft.com/office/drawing/2014/main" id="{D141D92B-4341-4E6C-B65B-6302030055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7770" y="2230429"/>
              <a:ext cx="1301750" cy="1408112"/>
              <a:chOff x="3852" y="1848"/>
              <a:chExt cx="820" cy="887"/>
            </a:xfrm>
          </p:grpSpPr>
          <p:sp>
            <p:nvSpPr>
              <p:cNvPr id="16404" name="Text Box 16">
                <a:extLst>
                  <a:ext uri="{FF2B5EF4-FFF2-40B4-BE49-F238E27FC236}">
                    <a16:creationId xmlns:a16="http://schemas.microsoft.com/office/drawing/2014/main" id="{30D4AF4C-DFAA-4579-BDEC-5FDF9ECE86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2" y="22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>
                    <a:solidFill>
                      <a:srgbClr val="66FFFF"/>
                    </a:solidFill>
                  </a:rPr>
                  <a:t>78</a:t>
                </a:r>
                <a:r>
                  <a:rPr lang="en-US" altLang="zh-CN" sz="1600" baseline="54000">
                    <a:solidFill>
                      <a:srgbClr val="66FFFF"/>
                    </a:solidFill>
                  </a:rPr>
                  <a:t>o</a:t>
                </a:r>
              </a:p>
            </p:txBody>
          </p:sp>
          <p:sp>
            <p:nvSpPr>
              <p:cNvPr id="16405" name="Text Box 17">
                <a:extLst>
                  <a:ext uri="{FF2B5EF4-FFF2-40B4-BE49-F238E27FC236}">
                    <a16:creationId xmlns:a16="http://schemas.microsoft.com/office/drawing/2014/main" id="{3E7FF0FE-6AEA-43BF-8D58-0104980BEE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0" y="2523"/>
                <a:ext cx="35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>
                    <a:solidFill>
                      <a:srgbClr val="66FFFF"/>
                    </a:solidFill>
                  </a:rPr>
                  <a:t>102</a:t>
                </a:r>
                <a:r>
                  <a:rPr lang="en-US" altLang="zh-CN" sz="1600" baseline="54000">
                    <a:solidFill>
                      <a:srgbClr val="66FFFF"/>
                    </a:solidFill>
                  </a:rPr>
                  <a:t>o</a:t>
                </a:r>
              </a:p>
            </p:txBody>
          </p:sp>
          <p:sp>
            <p:nvSpPr>
              <p:cNvPr id="16406" name="Arc 18">
                <a:extLst>
                  <a:ext uri="{FF2B5EF4-FFF2-40B4-BE49-F238E27FC236}">
                    <a16:creationId xmlns:a16="http://schemas.microsoft.com/office/drawing/2014/main" id="{4D5DAF15-F61B-41F4-AEF7-B7BD56720052}"/>
                  </a:ext>
                </a:extLst>
              </p:cNvPr>
              <p:cNvSpPr>
                <a:spLocks/>
              </p:cNvSpPr>
              <p:nvPr/>
            </p:nvSpPr>
            <p:spPr bwMode="auto">
              <a:xfrm rot="9265942">
                <a:off x="4014" y="2474"/>
                <a:ext cx="227" cy="9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>
                <a:solidFill>
                  <a:srgbClr val="66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407" name="Arc 19">
                <a:extLst>
                  <a:ext uri="{FF2B5EF4-FFF2-40B4-BE49-F238E27FC236}">
                    <a16:creationId xmlns:a16="http://schemas.microsoft.com/office/drawing/2014/main" id="{3E6FE9F4-C24E-4B96-B5BC-D77BC351C45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997" y="2343"/>
                <a:ext cx="181" cy="170"/>
              </a:xfrm>
              <a:custGeom>
                <a:avLst/>
                <a:gdLst>
                  <a:gd name="T0" fmla="*/ 0 w 21600"/>
                  <a:gd name="T1" fmla="*/ 0 h 20257"/>
                  <a:gd name="T2" fmla="*/ 0 w 21600"/>
                  <a:gd name="T3" fmla="*/ 0 h 20257"/>
                  <a:gd name="T4" fmla="*/ 0 w 21600"/>
                  <a:gd name="T5" fmla="*/ 0 h 20257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0257"/>
                  <a:gd name="T11" fmla="*/ 21600 w 21600"/>
                  <a:gd name="T12" fmla="*/ 20257 h 202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0257" fill="none" extrusionOk="0">
                    <a:moveTo>
                      <a:pt x="7497" y="0"/>
                    </a:moveTo>
                    <a:cubicBezTo>
                      <a:pt x="15973" y="3137"/>
                      <a:pt x="21600" y="11219"/>
                      <a:pt x="21600" y="20257"/>
                    </a:cubicBezTo>
                  </a:path>
                  <a:path w="21600" h="20257" stroke="0" extrusionOk="0">
                    <a:moveTo>
                      <a:pt x="7497" y="0"/>
                    </a:moveTo>
                    <a:cubicBezTo>
                      <a:pt x="15973" y="3137"/>
                      <a:pt x="21600" y="11219"/>
                      <a:pt x="21600" y="20257"/>
                    </a:cubicBezTo>
                    <a:lnTo>
                      <a:pt x="0" y="20257"/>
                    </a:lnTo>
                    <a:lnTo>
                      <a:pt x="7497" y="0"/>
                    </a:lnTo>
                    <a:close/>
                  </a:path>
                </a:pathLst>
              </a:custGeom>
              <a:noFill/>
              <a:ln w="19050">
                <a:solidFill>
                  <a:srgbClr val="66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408" name="Text Box 20">
                <a:extLst>
                  <a:ext uri="{FF2B5EF4-FFF2-40B4-BE49-F238E27FC236}">
                    <a16:creationId xmlns:a16="http://schemas.microsoft.com/office/drawing/2014/main" id="{18EECCB9-9A19-4604-B3F6-BD8B61EC27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5" y="2293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>
                    <a:solidFill>
                      <a:srgbClr val="66FFFF"/>
                    </a:solidFill>
                  </a:rPr>
                  <a:t>78</a:t>
                </a:r>
                <a:r>
                  <a:rPr lang="en-US" altLang="zh-CN" sz="1600" baseline="54000">
                    <a:solidFill>
                      <a:srgbClr val="66FFFF"/>
                    </a:solidFill>
                  </a:rPr>
                  <a:t>o</a:t>
                </a:r>
              </a:p>
            </p:txBody>
          </p:sp>
          <p:sp>
            <p:nvSpPr>
              <p:cNvPr id="16409" name="Arc 21">
                <a:extLst>
                  <a:ext uri="{FF2B5EF4-FFF2-40B4-BE49-F238E27FC236}">
                    <a16:creationId xmlns:a16="http://schemas.microsoft.com/office/drawing/2014/main" id="{5D4DF097-A2DC-49C0-BB2A-B703B15AE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2336"/>
                <a:ext cx="99" cy="177"/>
              </a:xfrm>
              <a:custGeom>
                <a:avLst/>
                <a:gdLst>
                  <a:gd name="T0" fmla="*/ 0 w 23423"/>
                  <a:gd name="T1" fmla="*/ 0 h 21600"/>
                  <a:gd name="T2" fmla="*/ 0 w 23423"/>
                  <a:gd name="T3" fmla="*/ 0 h 21600"/>
                  <a:gd name="T4" fmla="*/ 0 w 2342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3423"/>
                  <a:gd name="T10" fmla="*/ 0 h 21600"/>
                  <a:gd name="T11" fmla="*/ 23423 w 2342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423" h="21600" fill="none" extrusionOk="0">
                    <a:moveTo>
                      <a:pt x="0" y="77"/>
                    </a:moveTo>
                    <a:cubicBezTo>
                      <a:pt x="606" y="25"/>
                      <a:pt x="1214" y="-1"/>
                      <a:pt x="1823" y="0"/>
                    </a:cubicBezTo>
                    <a:cubicBezTo>
                      <a:pt x="13752" y="0"/>
                      <a:pt x="23423" y="9670"/>
                      <a:pt x="23423" y="21600"/>
                    </a:cubicBezTo>
                  </a:path>
                  <a:path w="23423" h="21600" stroke="0" extrusionOk="0">
                    <a:moveTo>
                      <a:pt x="0" y="77"/>
                    </a:moveTo>
                    <a:cubicBezTo>
                      <a:pt x="606" y="25"/>
                      <a:pt x="1214" y="-1"/>
                      <a:pt x="1823" y="0"/>
                    </a:cubicBezTo>
                    <a:cubicBezTo>
                      <a:pt x="13752" y="0"/>
                      <a:pt x="23423" y="9670"/>
                      <a:pt x="23423" y="21600"/>
                    </a:cubicBezTo>
                    <a:lnTo>
                      <a:pt x="1823" y="21600"/>
                    </a:lnTo>
                    <a:lnTo>
                      <a:pt x="0" y="77"/>
                    </a:lnTo>
                    <a:close/>
                  </a:path>
                </a:pathLst>
              </a:custGeom>
              <a:noFill/>
              <a:ln w="19050">
                <a:solidFill>
                  <a:srgbClr val="66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410" name="Arc 22">
                <a:extLst>
                  <a:ext uri="{FF2B5EF4-FFF2-40B4-BE49-F238E27FC236}">
                    <a16:creationId xmlns:a16="http://schemas.microsoft.com/office/drawing/2014/main" id="{82253B4B-5EE4-49E9-A346-6CE342A9EE8D}"/>
                  </a:ext>
                </a:extLst>
              </p:cNvPr>
              <p:cNvSpPr>
                <a:spLocks/>
              </p:cNvSpPr>
              <p:nvPr/>
            </p:nvSpPr>
            <p:spPr bwMode="auto">
              <a:xfrm rot="9884693">
                <a:off x="4294" y="1848"/>
                <a:ext cx="272" cy="9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>
                <a:solidFill>
                  <a:srgbClr val="66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411" name="Text Box 23">
                <a:extLst>
                  <a:ext uri="{FF2B5EF4-FFF2-40B4-BE49-F238E27FC236}">
                    <a16:creationId xmlns:a16="http://schemas.microsoft.com/office/drawing/2014/main" id="{3FE15797-DAB9-4FC2-86E5-B157256061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1933"/>
                <a:ext cx="35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>
                    <a:solidFill>
                      <a:srgbClr val="66FFFF"/>
                    </a:solidFill>
                  </a:rPr>
                  <a:t>102</a:t>
                </a:r>
                <a:r>
                  <a:rPr lang="en-US" altLang="zh-CN" sz="1600" baseline="54000">
                    <a:solidFill>
                      <a:srgbClr val="66FFFF"/>
                    </a:solidFill>
                  </a:rPr>
                  <a:t>o</a:t>
                </a:r>
              </a:p>
            </p:txBody>
          </p:sp>
        </p:grpSp>
      </p:grpSp>
      <p:sp>
        <p:nvSpPr>
          <p:cNvPr id="15384" name="Text Box 24">
            <a:extLst>
              <a:ext uri="{FF2B5EF4-FFF2-40B4-BE49-F238E27FC236}">
                <a16:creationId xmlns:a16="http://schemas.microsoft.com/office/drawing/2014/main" id="{D371BF3B-7E52-42EB-979F-814F4CAF1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138" y="5372100"/>
            <a:ext cx="5468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66FFFF"/>
                </a:solidFill>
              </a:rPr>
              <a:t>o</a:t>
            </a:r>
            <a:r>
              <a:rPr kumimoji="0" lang="en-US" altLang="zh-CN">
                <a:solidFill>
                  <a:schemeClr val="bg1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光与光轴构成的平面叫</a:t>
            </a:r>
            <a:r>
              <a:rPr kumimoji="0" lang="zh-CN" altLang="en-US">
                <a:solidFill>
                  <a:schemeClr val="bg1"/>
                </a:solidFill>
              </a:rPr>
              <a:t> </a:t>
            </a:r>
            <a:r>
              <a:rPr kumimoji="0" lang="en-US" altLang="zh-CN">
                <a:solidFill>
                  <a:srgbClr val="66FFFF"/>
                </a:solidFill>
              </a:rPr>
              <a:t>o </a:t>
            </a:r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光主平面</a:t>
            </a:r>
            <a:endParaRPr kumimoji="0" lang="en-US" altLang="zh-CN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5385" name="Text Box 25">
            <a:extLst>
              <a:ext uri="{FF2B5EF4-FFF2-40B4-BE49-F238E27FC236}">
                <a16:creationId xmlns:a16="http://schemas.microsoft.com/office/drawing/2014/main" id="{E0CD1F4E-FADB-4A94-9F44-7B381139A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5948363"/>
            <a:ext cx="54816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66FFFF"/>
                </a:solidFill>
              </a:rPr>
              <a:t>e</a:t>
            </a:r>
            <a:r>
              <a:rPr kumimoji="0" lang="en-US" altLang="zh-CN">
                <a:solidFill>
                  <a:schemeClr val="bg1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光与光轴构成的平面叫</a:t>
            </a:r>
            <a:r>
              <a:rPr kumimoji="0" lang="zh-CN" altLang="en-US">
                <a:solidFill>
                  <a:schemeClr val="bg1"/>
                </a:solidFill>
              </a:rPr>
              <a:t> </a:t>
            </a:r>
            <a:r>
              <a:rPr kumimoji="0" lang="en-US" altLang="zh-CN">
                <a:solidFill>
                  <a:srgbClr val="66FFFF"/>
                </a:solidFill>
              </a:rPr>
              <a:t>e </a:t>
            </a:r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光主平面</a:t>
            </a:r>
            <a:endParaRPr kumimoji="0" lang="en-US" altLang="zh-CN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5" name="Text Box 36">
            <a:extLst>
              <a:ext uri="{FF2B5EF4-FFF2-40B4-BE49-F238E27FC236}">
                <a16:creationId xmlns:a16="http://schemas.microsoft.com/office/drawing/2014/main" id="{009F4C45-9604-4C4E-878D-3714AD624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328613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66FFFF"/>
                </a:solidFill>
              </a:rPr>
              <a:t>3.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晶体的光轴</a:t>
            </a:r>
            <a:endParaRPr lang="zh-CN" altLang="en-US" b="0">
              <a:solidFill>
                <a:srgbClr val="66FFFF"/>
              </a:solidFill>
              <a:latin typeface="宋体" panose="02010600030101010101" pitchFamily="2" charset="-122"/>
            </a:endParaRPr>
          </a:p>
        </p:txBody>
      </p:sp>
      <p:sp>
        <p:nvSpPr>
          <p:cNvPr id="16401" name="灯片编号占位符 1">
            <a:extLst>
              <a:ext uri="{FF2B5EF4-FFF2-40B4-BE49-F238E27FC236}">
                <a16:creationId xmlns:a16="http://schemas.microsoft.com/office/drawing/2014/main" id="{890C1B70-EF46-48C2-AB0B-68C1248F361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B5D20C-8279-4B5B-BFF8-32778A0284F3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20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20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utoUpdateAnimBg="0"/>
      <p:bldP spid="15365" grpId="0" autoUpdateAnimBg="0"/>
      <p:bldP spid="15366" grpId="0" autoUpdateAnimBg="0"/>
      <p:bldP spid="15367" grpId="0" autoUpdateAnimBg="0"/>
      <p:bldP spid="15368" grpId="0" autoUpdateAnimBg="0"/>
      <p:bldP spid="15369" grpId="0" autoUpdateAnimBg="0"/>
      <p:bldP spid="15370" grpId="0" autoUpdateAnimBg="0"/>
      <p:bldP spid="15371" grpId="0" autoUpdateAnimBg="0"/>
      <p:bldP spid="15384" grpId="0"/>
      <p:bldP spid="15385" grpId="0"/>
      <p:bldP spid="2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9" name="Rectangle 3">
            <a:extLst>
              <a:ext uri="{FF2B5EF4-FFF2-40B4-BE49-F238E27FC236}">
                <a16:creationId xmlns:a16="http://schemas.microsoft.com/office/drawing/2014/main" id="{C9A19BBC-C19D-4FFE-98B8-95DFE9298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6550" y="354013"/>
            <a:ext cx="1439863" cy="1146175"/>
          </a:xfrm>
          <a:prstGeom prst="rect">
            <a:avLst/>
          </a:prstGeom>
          <a:solidFill>
            <a:srgbClr val="009999">
              <a:alpha val="6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41700" name="Rectangle 4">
            <a:extLst>
              <a:ext uri="{FF2B5EF4-FFF2-40B4-BE49-F238E27FC236}">
                <a16:creationId xmlns:a16="http://schemas.microsoft.com/office/drawing/2014/main" id="{DCB578CE-81AB-4FA4-A751-52BF0598C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025" y="352425"/>
            <a:ext cx="1447800" cy="1081088"/>
          </a:xfrm>
          <a:prstGeom prst="rect">
            <a:avLst/>
          </a:prstGeom>
          <a:solidFill>
            <a:srgbClr val="009999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41701" name="Rectangle 5">
            <a:extLst>
              <a:ext uri="{FF2B5EF4-FFF2-40B4-BE49-F238E27FC236}">
                <a16:creationId xmlns:a16="http://schemas.microsoft.com/office/drawing/2014/main" id="{5A75836E-E47C-452A-B710-F3CCC25A7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700" y="995363"/>
            <a:ext cx="6413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</a:rPr>
              <a:t>e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光</a:t>
            </a:r>
          </a:p>
        </p:txBody>
      </p:sp>
      <p:sp>
        <p:nvSpPr>
          <p:cNvPr id="541702" name="Rectangle 6">
            <a:extLst>
              <a:ext uri="{FF2B5EF4-FFF2-40B4-BE49-F238E27FC236}">
                <a16:creationId xmlns:a16="http://schemas.microsoft.com/office/drawing/2014/main" id="{89D9F3A2-36A7-47CA-BDBF-A9B68AC28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063" y="1296988"/>
            <a:ext cx="669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1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光轴</a:t>
            </a:r>
            <a:endParaRPr lang="zh-CN" altLang="en-US" sz="18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1703" name="Rectangle 7">
            <a:extLst>
              <a:ext uri="{FF2B5EF4-FFF2-40B4-BE49-F238E27FC236}">
                <a16:creationId xmlns:a16="http://schemas.microsoft.com/office/drawing/2014/main" id="{DBC09A89-0236-490B-9271-05A12690B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888" y="973138"/>
            <a:ext cx="64135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  <a:ea typeface="黑体" panose="02010609060101010101" pitchFamily="49" charset="-122"/>
              </a:rPr>
              <a:t>o</a:t>
            </a: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  <a:endParaRPr lang="zh-CN" altLang="en-US" sz="20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1704" name="Rectangle 8">
            <a:extLst>
              <a:ext uri="{FF2B5EF4-FFF2-40B4-BE49-F238E27FC236}">
                <a16:creationId xmlns:a16="http://schemas.microsoft.com/office/drawing/2014/main" id="{2BAE0BF0-2E4C-4E06-8B51-A0A62D26D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1295400"/>
            <a:ext cx="669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1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光轴</a:t>
            </a:r>
            <a:endParaRPr lang="zh-CN" altLang="en-US" sz="18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1705" name="Line 9">
            <a:extLst>
              <a:ext uri="{FF2B5EF4-FFF2-40B4-BE49-F238E27FC236}">
                <a16:creationId xmlns:a16="http://schemas.microsoft.com/office/drawing/2014/main" id="{034922FC-3A14-44D2-BC58-83148427D5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6063" y="425450"/>
            <a:ext cx="1235075" cy="792163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1706" name="Rectangle 10">
            <a:extLst>
              <a:ext uri="{FF2B5EF4-FFF2-40B4-BE49-F238E27FC236}">
                <a16:creationId xmlns:a16="http://schemas.microsoft.com/office/drawing/2014/main" id="{EEC2A078-31E0-4448-9A60-86831F1A661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549400" y="500063"/>
            <a:ext cx="5048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3600">
                <a:solidFill>
                  <a:srgbClr val="FFFF00"/>
                </a:solidFill>
                <a:ea typeface="黑体" panose="02010609060101010101" pitchFamily="49" charset="-122"/>
              </a:rPr>
              <a:t>·</a:t>
            </a:r>
            <a:endParaRPr lang="en-US" altLang="zh-CN" sz="1000" b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1707" name="Rectangle 11">
            <a:extLst>
              <a:ext uri="{FF2B5EF4-FFF2-40B4-BE49-F238E27FC236}">
                <a16:creationId xmlns:a16="http://schemas.microsoft.com/office/drawing/2014/main" id="{6C98EE31-A3BD-4E85-9DC8-FF7D82BD9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584200"/>
            <a:ext cx="611188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3600">
                <a:solidFill>
                  <a:srgbClr val="FFFF00"/>
                </a:solidFill>
                <a:ea typeface="黑体" panose="02010609060101010101" pitchFamily="49" charset="-122"/>
              </a:rPr>
              <a:t>·</a:t>
            </a:r>
            <a:endParaRPr lang="en-US" altLang="zh-CN" sz="1000" b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1708" name="Line 12">
            <a:extLst>
              <a:ext uri="{FF2B5EF4-FFF2-40B4-BE49-F238E27FC236}">
                <a16:creationId xmlns:a16="http://schemas.microsoft.com/office/drawing/2014/main" id="{9F82322A-F29C-4451-8126-C7702A7031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2725" y="214313"/>
            <a:ext cx="0" cy="1514475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1709" name="Line 13">
            <a:extLst>
              <a:ext uri="{FF2B5EF4-FFF2-40B4-BE49-F238E27FC236}">
                <a16:creationId xmlns:a16="http://schemas.microsoft.com/office/drawing/2014/main" id="{CED2AC76-5431-4FEB-8757-0F3FD7136BF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4175" y="452438"/>
            <a:ext cx="1247775" cy="83185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1710" name="Line 14">
            <a:extLst>
              <a:ext uri="{FF2B5EF4-FFF2-40B4-BE49-F238E27FC236}">
                <a16:creationId xmlns:a16="http://schemas.microsoft.com/office/drawing/2014/main" id="{6A5C4E9B-1EB4-4A59-8F35-BA3FF0D8AC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0838" y="215900"/>
            <a:ext cx="0" cy="1519238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1711" name="Line 15">
            <a:extLst>
              <a:ext uri="{FF2B5EF4-FFF2-40B4-BE49-F238E27FC236}">
                <a16:creationId xmlns:a16="http://schemas.microsoft.com/office/drawing/2014/main" id="{AC725341-0B77-45E8-BCC6-13961A061561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898010" flipH="1">
            <a:off x="6096000" y="850900"/>
            <a:ext cx="160338" cy="160338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1712" name="Line 16">
            <a:extLst>
              <a:ext uri="{FF2B5EF4-FFF2-40B4-BE49-F238E27FC236}">
                <a16:creationId xmlns:a16="http://schemas.microsoft.com/office/drawing/2014/main" id="{D9A0994B-21EE-4BC3-891C-6AFE2CBA0EE4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851493" flipH="1">
            <a:off x="5892800" y="708025"/>
            <a:ext cx="184150" cy="18415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1713" name="Line 17">
            <a:extLst>
              <a:ext uri="{FF2B5EF4-FFF2-40B4-BE49-F238E27FC236}">
                <a16:creationId xmlns:a16="http://schemas.microsoft.com/office/drawing/2014/main" id="{5BC9A4BD-E9B3-43E3-8028-5DDF5661A47D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818791" flipH="1">
            <a:off x="5683250" y="561975"/>
            <a:ext cx="184150" cy="18415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1714" name="AutoShape 18">
            <a:extLst>
              <a:ext uri="{FF2B5EF4-FFF2-40B4-BE49-F238E27FC236}">
                <a16:creationId xmlns:a16="http://schemas.microsoft.com/office/drawing/2014/main" id="{BAF8E681-6BAF-4161-BFF1-FD69A20C9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9638" y="647700"/>
            <a:ext cx="1512887" cy="433388"/>
          </a:xfrm>
          <a:prstGeom prst="wedgeRectCallout">
            <a:avLst>
              <a:gd name="adj1" fmla="val -101731"/>
              <a:gd name="adj2" fmla="val -67949"/>
            </a:avLst>
          </a:prstGeom>
          <a:solidFill>
            <a:srgbClr val="669900">
              <a:alpha val="52156"/>
            </a:srgbClr>
          </a:solidFill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</a:rPr>
              <a:t>o </a:t>
            </a:r>
            <a:r>
              <a:rPr lang="zh-CN" altLang="en-US" sz="1800">
                <a:solidFill>
                  <a:schemeClr val="bg1"/>
                </a:solidFill>
                <a:ea typeface="楷体_GB2312" pitchFamily="49" charset="-122"/>
              </a:rPr>
              <a:t>光的主平面</a:t>
            </a:r>
            <a:endParaRPr lang="zh-CN" altLang="en-US" sz="1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1715" name="AutoShape 19">
            <a:extLst>
              <a:ext uri="{FF2B5EF4-FFF2-40B4-BE49-F238E27FC236}">
                <a16:creationId xmlns:a16="http://schemas.microsoft.com/office/drawing/2014/main" id="{1FF27E4F-A053-4A25-BB46-D09F48649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063" y="582613"/>
            <a:ext cx="1511300" cy="433387"/>
          </a:xfrm>
          <a:prstGeom prst="wedgeRectCallout">
            <a:avLst>
              <a:gd name="adj1" fmla="val -73319"/>
              <a:gd name="adj2" fmla="val -32051"/>
            </a:avLst>
          </a:prstGeom>
          <a:solidFill>
            <a:srgbClr val="669900">
              <a:alpha val="50195"/>
            </a:srgbClr>
          </a:solidFill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</a:rPr>
              <a:t>e </a:t>
            </a:r>
            <a:r>
              <a:rPr lang="zh-CN" altLang="en-US" sz="1800">
                <a:solidFill>
                  <a:schemeClr val="bg1"/>
                </a:solidFill>
                <a:ea typeface="楷体_GB2312" pitchFamily="49" charset="-122"/>
              </a:rPr>
              <a:t>光的主平面</a:t>
            </a:r>
          </a:p>
        </p:txBody>
      </p:sp>
      <p:sp>
        <p:nvSpPr>
          <p:cNvPr id="541717" name="Text Box 21">
            <a:extLst>
              <a:ext uri="{FF2B5EF4-FFF2-40B4-BE49-F238E27FC236}">
                <a16:creationId xmlns:a16="http://schemas.microsoft.com/office/drawing/2014/main" id="{36D6EF3D-F392-4C24-9C01-80858BCC5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785938"/>
            <a:ext cx="7500938" cy="4619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</a:rPr>
              <a:t>实验：</a:t>
            </a:r>
            <a:r>
              <a:rPr lang="en-US" altLang="zh-CN" dirty="0">
                <a:solidFill>
                  <a:srgbClr val="00FFFF"/>
                </a:solidFill>
              </a:rPr>
              <a:t>o </a:t>
            </a:r>
            <a:r>
              <a:rPr lang="zh-CN" altLang="en-US" dirty="0">
                <a:solidFill>
                  <a:schemeClr val="bg1"/>
                </a:solidFill>
                <a:latin typeface="仿宋_GB2312"/>
                <a:ea typeface="仿宋_GB2312"/>
                <a:cs typeface="仿宋_GB2312"/>
              </a:rPr>
              <a:t>光和</a:t>
            </a:r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 </a:t>
            </a:r>
            <a:r>
              <a:rPr lang="en-US" altLang="zh-CN" dirty="0">
                <a:solidFill>
                  <a:srgbClr val="00FFFF"/>
                </a:solidFill>
              </a:rPr>
              <a:t>e </a:t>
            </a:r>
            <a:r>
              <a:rPr lang="zh-CN" altLang="en-US" dirty="0">
                <a:solidFill>
                  <a:schemeClr val="bg1"/>
                </a:solidFill>
                <a:latin typeface="仿宋_GB2312"/>
                <a:ea typeface="仿宋_GB2312"/>
                <a:cs typeface="仿宋_GB2312"/>
              </a:rPr>
              <a:t>光是光矢量振动方向不同的线偏振光</a:t>
            </a:r>
          </a:p>
        </p:txBody>
      </p:sp>
      <p:sp>
        <p:nvSpPr>
          <p:cNvPr id="541718" name="Rectangle 22">
            <a:extLst>
              <a:ext uri="{FF2B5EF4-FFF2-40B4-BE49-F238E27FC236}">
                <a16:creationId xmlns:a16="http://schemas.microsoft.com/office/drawing/2014/main" id="{186A4FAB-7FBE-4068-99EE-75CFA623B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2424113"/>
            <a:ext cx="4572000" cy="823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FF99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00FFFF"/>
                </a:solidFill>
              </a:rPr>
              <a:t> o </a:t>
            </a:r>
            <a:r>
              <a:rPr lang="zh-CN" altLang="en-US" sz="2000" dirty="0">
                <a:solidFill>
                  <a:schemeClr val="bg1"/>
                </a:solidFill>
                <a:ea typeface="仿宋_GB2312"/>
                <a:cs typeface="仿宋_GB2312"/>
              </a:rPr>
              <a:t>光的光矢量振动方向与 </a:t>
            </a:r>
            <a:r>
              <a:rPr lang="en-US" altLang="zh-CN" sz="2000" dirty="0">
                <a:solidFill>
                  <a:srgbClr val="00FFFF"/>
                </a:solidFill>
              </a:rPr>
              <a:t>o </a:t>
            </a:r>
            <a:r>
              <a:rPr lang="zh-CN" altLang="en-US" sz="2000" dirty="0">
                <a:solidFill>
                  <a:schemeClr val="bg1"/>
                </a:solidFill>
                <a:ea typeface="仿宋_GB2312"/>
                <a:cs typeface="仿宋_GB2312"/>
              </a:rPr>
              <a:t>光主平面垂直</a:t>
            </a:r>
            <a:r>
              <a:rPr lang="zh-CN" altLang="en-US" sz="2000" dirty="0">
                <a:solidFill>
                  <a:schemeClr val="bg1"/>
                </a:solidFill>
              </a:rPr>
              <a:t>，</a:t>
            </a:r>
            <a:r>
              <a:rPr lang="zh-CN" altLang="en-US" sz="2000" dirty="0">
                <a:solidFill>
                  <a:srgbClr val="FFFF00"/>
                </a:solidFill>
                <a:ea typeface="仿宋_GB2312"/>
                <a:cs typeface="仿宋_GB2312"/>
              </a:rPr>
              <a:t>总是与光轴垂直</a:t>
            </a:r>
            <a:endParaRPr lang="en-US" altLang="zh-CN" sz="2000" dirty="0">
              <a:solidFill>
                <a:srgbClr val="FFFF00"/>
              </a:solidFill>
              <a:ea typeface="仿宋_GB2312"/>
              <a:cs typeface="仿宋_GB2312"/>
            </a:endParaRPr>
          </a:p>
        </p:txBody>
      </p:sp>
      <p:sp>
        <p:nvSpPr>
          <p:cNvPr id="541719" name="Rectangle 23">
            <a:extLst>
              <a:ext uri="{FF2B5EF4-FFF2-40B4-BE49-F238E27FC236}">
                <a16:creationId xmlns:a16="http://schemas.microsoft.com/office/drawing/2014/main" id="{CF0EB575-D13A-4648-88E9-507C91BB8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5" y="2714625"/>
            <a:ext cx="2376488" cy="1344613"/>
          </a:xfrm>
          <a:prstGeom prst="rect">
            <a:avLst/>
          </a:prstGeom>
          <a:solidFill>
            <a:srgbClr val="009999">
              <a:alpha val="6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541720" name="Object 2">
            <a:extLst>
              <a:ext uri="{FF2B5EF4-FFF2-40B4-BE49-F238E27FC236}">
                <a16:creationId xmlns:a16="http://schemas.microsoft.com/office/drawing/2014/main" id="{B1FC2E4B-0489-4277-84D9-05E0B6C52F0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683375" y="4086272"/>
          <a:ext cx="203200" cy="22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47" name="公式" r:id="rId4" imgW="218967" imgH="238193" progId="Equation.3">
                  <p:embed/>
                </p:oleObj>
              </mc:Choice>
              <mc:Fallback>
                <p:oleObj name="公式" r:id="rId4" imgW="218967" imgH="238193" progId="Equation.3">
                  <p:embed/>
                  <p:pic>
                    <p:nvPicPr>
                      <p:cNvPr id="541720" name="Object 2">
                        <a:extLst>
                          <a:ext uri="{FF2B5EF4-FFF2-40B4-BE49-F238E27FC236}">
                            <a16:creationId xmlns:a16="http://schemas.microsoft.com/office/drawing/2014/main" id="{B1FC2E4B-0489-4277-84D9-05E0B6C52F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5" y="4086272"/>
                        <a:ext cx="203200" cy="22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1721" name="Object 3">
            <a:extLst>
              <a:ext uri="{FF2B5EF4-FFF2-40B4-BE49-F238E27FC236}">
                <a16:creationId xmlns:a16="http://schemas.microsoft.com/office/drawing/2014/main" id="{3C13CD95-E0E2-4FC3-9122-EA8A80E9CCE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416800" y="4074403"/>
          <a:ext cx="225425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48" name="公式" r:id="rId6" imgW="238233" imgH="228702" progId="Equation.3">
                  <p:embed/>
                </p:oleObj>
              </mc:Choice>
              <mc:Fallback>
                <p:oleObj name="公式" r:id="rId6" imgW="238233" imgH="228702" progId="Equation.3">
                  <p:embed/>
                  <p:pic>
                    <p:nvPicPr>
                      <p:cNvPr id="541721" name="Object 3">
                        <a:extLst>
                          <a:ext uri="{FF2B5EF4-FFF2-40B4-BE49-F238E27FC236}">
                            <a16:creationId xmlns:a16="http://schemas.microsoft.com/office/drawing/2014/main" id="{3C13CD95-E0E2-4FC3-9122-EA8A80E9C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0" y="4074403"/>
                        <a:ext cx="225425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1722" name="Rectangle 26">
            <a:extLst>
              <a:ext uri="{FF2B5EF4-FFF2-40B4-BE49-F238E27FC236}">
                <a16:creationId xmlns:a16="http://schemas.microsoft.com/office/drawing/2014/main" id="{227A0A6D-731E-474B-A990-6CC52B704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862" y="3795713"/>
            <a:ext cx="7239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光轴</a:t>
            </a:r>
            <a:endParaRPr lang="zh-CN" altLang="en-US" sz="20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1723" name="Line 27">
            <a:extLst>
              <a:ext uri="{FF2B5EF4-FFF2-40B4-BE49-F238E27FC236}">
                <a16:creationId xmlns:a16="http://schemas.microsoft.com/office/drawing/2014/main" id="{1BC22C17-E961-4E4A-8A8A-4FA685BA5D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02992" y="2313641"/>
            <a:ext cx="418457" cy="434975"/>
          </a:xfrm>
          <a:prstGeom prst="line">
            <a:avLst/>
          </a:prstGeom>
          <a:noFill/>
          <a:ln w="28575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541724" name="Line 28">
            <a:extLst>
              <a:ext uri="{FF2B5EF4-FFF2-40B4-BE49-F238E27FC236}">
                <a16:creationId xmlns:a16="http://schemas.microsoft.com/office/drawing/2014/main" id="{83A55EC2-4018-4160-9BA3-8DE6E7D49AA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02287" y="2997027"/>
            <a:ext cx="1584325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1725" name="Line 29">
            <a:extLst>
              <a:ext uri="{FF2B5EF4-FFF2-40B4-BE49-F238E27FC236}">
                <a16:creationId xmlns:a16="http://schemas.microsoft.com/office/drawing/2014/main" id="{87910E9D-BA47-439D-8803-5C715C3A72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72124" y="2762250"/>
            <a:ext cx="811209" cy="1287463"/>
          </a:xfrm>
          <a:prstGeom prst="line">
            <a:avLst/>
          </a:prstGeom>
          <a:noFill/>
          <a:ln w="254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541726" name="Line 30">
            <a:extLst>
              <a:ext uri="{FF2B5EF4-FFF2-40B4-BE49-F238E27FC236}">
                <a16:creationId xmlns:a16="http://schemas.microsoft.com/office/drawing/2014/main" id="{24EB86EE-AB7B-44F9-9244-C1CDCE12D0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2388" y="2749550"/>
            <a:ext cx="466725" cy="1309688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1727" name="Line 31">
            <a:extLst>
              <a:ext uri="{FF2B5EF4-FFF2-40B4-BE49-F238E27FC236}">
                <a16:creationId xmlns:a16="http://schemas.microsoft.com/office/drawing/2014/main" id="{68D0AA3D-59C3-4063-94DF-4DC30BCA4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0325" y="2749550"/>
            <a:ext cx="1177925" cy="1309688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541728" name="Object 4">
            <a:extLst>
              <a:ext uri="{FF2B5EF4-FFF2-40B4-BE49-F238E27FC236}">
                <a16:creationId xmlns:a16="http://schemas.microsoft.com/office/drawing/2014/main" id="{A38C1F50-7782-4880-876A-47A4AB9964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40475" y="2660650"/>
          <a:ext cx="115888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49" name="公式" r:id="rId8" imgW="152298" imgH="152468" progId="Equation.3">
                  <p:embed/>
                </p:oleObj>
              </mc:Choice>
              <mc:Fallback>
                <p:oleObj name="公式" r:id="rId8" imgW="152298" imgH="152468" progId="Equation.3">
                  <p:embed/>
                  <p:pic>
                    <p:nvPicPr>
                      <p:cNvPr id="541728" name="Object 4">
                        <a:extLst>
                          <a:ext uri="{FF2B5EF4-FFF2-40B4-BE49-F238E27FC236}">
                            <a16:creationId xmlns:a16="http://schemas.microsoft.com/office/drawing/2014/main" id="{A38C1F50-7782-4880-876A-47A4AB9964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0475" y="2660650"/>
                        <a:ext cx="115888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1729" name="Line 33">
            <a:extLst>
              <a:ext uri="{FF2B5EF4-FFF2-40B4-BE49-F238E27FC236}">
                <a16:creationId xmlns:a16="http://schemas.microsoft.com/office/drawing/2014/main" id="{59A3332D-AD29-47A7-9DCA-2867FCB2949C}"/>
              </a:ext>
            </a:extLst>
          </p:cNvPr>
          <p:cNvSpPr>
            <a:spLocks noChangeShapeType="1"/>
          </p:cNvSpPr>
          <p:nvPr/>
        </p:nvSpPr>
        <p:spPr bwMode="auto">
          <a:xfrm rot="21540000" flipH="1" flipV="1">
            <a:off x="5973785" y="2271723"/>
            <a:ext cx="368472" cy="400510"/>
          </a:xfrm>
          <a:prstGeom prst="line">
            <a:avLst/>
          </a:prstGeom>
          <a:noFill/>
          <a:ln w="28575">
            <a:solidFill>
              <a:srgbClr val="FF9933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graphicFrame>
        <p:nvGraphicFramePr>
          <p:cNvPr id="541730" name="Object 5">
            <a:extLst>
              <a:ext uri="{FF2B5EF4-FFF2-40B4-BE49-F238E27FC236}">
                <a16:creationId xmlns:a16="http://schemas.microsoft.com/office/drawing/2014/main" id="{21A3E259-B677-49DF-8B04-FD0CED3580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7788" y="2908300"/>
          <a:ext cx="115887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0" name="公式" r:id="rId10" imgW="152298" imgH="152468" progId="Equation.3">
                  <p:embed/>
                </p:oleObj>
              </mc:Choice>
              <mc:Fallback>
                <p:oleObj name="公式" r:id="rId10" imgW="152298" imgH="152468" progId="Equation.3">
                  <p:embed/>
                  <p:pic>
                    <p:nvPicPr>
                      <p:cNvPr id="541730" name="Object 5">
                        <a:extLst>
                          <a:ext uri="{FF2B5EF4-FFF2-40B4-BE49-F238E27FC236}">
                            <a16:creationId xmlns:a16="http://schemas.microsoft.com/office/drawing/2014/main" id="{21A3E259-B677-49DF-8B04-FD0CED3580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788" y="2908300"/>
                        <a:ext cx="115887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1731" name="Object 6">
            <a:extLst>
              <a:ext uri="{FF2B5EF4-FFF2-40B4-BE49-F238E27FC236}">
                <a16:creationId xmlns:a16="http://schemas.microsoft.com/office/drawing/2014/main" id="{961609EB-63D4-40CF-BB19-E96E9C262D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3513" y="3130550"/>
          <a:ext cx="115887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1" name="公式" r:id="rId12" imgW="152298" imgH="152468" progId="Equation.3">
                  <p:embed/>
                </p:oleObj>
              </mc:Choice>
              <mc:Fallback>
                <p:oleObj name="公式" r:id="rId12" imgW="152298" imgH="152468" progId="Equation.3">
                  <p:embed/>
                  <p:pic>
                    <p:nvPicPr>
                      <p:cNvPr id="541731" name="Object 6">
                        <a:extLst>
                          <a:ext uri="{FF2B5EF4-FFF2-40B4-BE49-F238E27FC236}">
                            <a16:creationId xmlns:a16="http://schemas.microsoft.com/office/drawing/2014/main" id="{961609EB-63D4-40CF-BB19-E96E9C262D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3513" y="3130550"/>
                        <a:ext cx="115887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1732" name="Object 7">
            <a:extLst>
              <a:ext uri="{FF2B5EF4-FFF2-40B4-BE49-F238E27FC236}">
                <a16:creationId xmlns:a16="http://schemas.microsoft.com/office/drawing/2014/main" id="{B626EFA9-C683-4AB4-8064-6315C30D77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4475" y="3367088"/>
          <a:ext cx="115888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2" name="公式" r:id="rId14" imgW="152298" imgH="152468" progId="Equation.3">
                  <p:embed/>
                </p:oleObj>
              </mc:Choice>
              <mc:Fallback>
                <p:oleObj name="公式" r:id="rId14" imgW="152298" imgH="152468" progId="Equation.3">
                  <p:embed/>
                  <p:pic>
                    <p:nvPicPr>
                      <p:cNvPr id="541732" name="Object 7">
                        <a:extLst>
                          <a:ext uri="{FF2B5EF4-FFF2-40B4-BE49-F238E27FC236}">
                            <a16:creationId xmlns:a16="http://schemas.microsoft.com/office/drawing/2014/main" id="{B626EFA9-C683-4AB4-8064-6315C30D77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4475" y="3367088"/>
                        <a:ext cx="115888" cy="11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1733" name="Line 37">
            <a:extLst>
              <a:ext uri="{FF2B5EF4-FFF2-40B4-BE49-F238E27FC236}">
                <a16:creationId xmlns:a16="http://schemas.microsoft.com/office/drawing/2014/main" id="{AFC9F54E-4C82-4254-AE63-47E13C68AA1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6532563" y="2884488"/>
            <a:ext cx="115887" cy="1158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1734" name="Line 38">
            <a:extLst>
              <a:ext uri="{FF2B5EF4-FFF2-40B4-BE49-F238E27FC236}">
                <a16:creationId xmlns:a16="http://schemas.microsoft.com/office/drawing/2014/main" id="{8E88C2AF-2E71-4C21-8D0F-0E54BF78264B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6677025" y="3046413"/>
            <a:ext cx="115888" cy="1158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1735" name="Line 39">
            <a:extLst>
              <a:ext uri="{FF2B5EF4-FFF2-40B4-BE49-F238E27FC236}">
                <a16:creationId xmlns:a16="http://schemas.microsoft.com/office/drawing/2014/main" id="{36B7AD3D-2182-49B2-A1BF-4467F6D323B0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6829425" y="3219450"/>
            <a:ext cx="115888" cy="1158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41736" name="Object 8">
            <a:extLst>
              <a:ext uri="{FF2B5EF4-FFF2-40B4-BE49-F238E27FC236}">
                <a16:creationId xmlns:a16="http://schemas.microsoft.com/office/drawing/2014/main" id="{B8061412-15E5-431C-807F-130F6A79B8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6363" y="2446338"/>
          <a:ext cx="195262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3" name="公式" r:id="rId16" imgW="200006" imgH="228702" progId="Equation.3">
                  <p:embed/>
                </p:oleObj>
              </mc:Choice>
              <mc:Fallback>
                <p:oleObj name="公式" r:id="rId16" imgW="200006" imgH="228702" progId="Equation.3">
                  <p:embed/>
                  <p:pic>
                    <p:nvPicPr>
                      <p:cNvPr id="541736" name="Object 8">
                        <a:extLst>
                          <a:ext uri="{FF2B5EF4-FFF2-40B4-BE49-F238E27FC236}">
                            <a16:creationId xmlns:a16="http://schemas.microsoft.com/office/drawing/2014/main" id="{B8061412-15E5-431C-807F-130F6A79B8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3" y="2446338"/>
                        <a:ext cx="195262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1737" name="Object 9">
            <a:extLst>
              <a:ext uri="{FF2B5EF4-FFF2-40B4-BE49-F238E27FC236}">
                <a16:creationId xmlns:a16="http://schemas.microsoft.com/office/drawing/2014/main" id="{4923542A-445E-407E-AADF-CB0CC7DA66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86550" y="3627438"/>
          <a:ext cx="115888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4" name="公式" r:id="rId18" imgW="152298" imgH="152468" progId="Equation.3">
                  <p:embed/>
                </p:oleObj>
              </mc:Choice>
              <mc:Fallback>
                <p:oleObj name="公式" r:id="rId18" imgW="152298" imgH="152468" progId="Equation.3">
                  <p:embed/>
                  <p:pic>
                    <p:nvPicPr>
                      <p:cNvPr id="541737" name="Object 9">
                        <a:extLst>
                          <a:ext uri="{FF2B5EF4-FFF2-40B4-BE49-F238E27FC236}">
                            <a16:creationId xmlns:a16="http://schemas.microsoft.com/office/drawing/2014/main" id="{4923542A-445E-407E-AADF-CB0CC7DA66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6550" y="3627438"/>
                        <a:ext cx="115888" cy="11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1738" name="Object 10">
            <a:extLst>
              <a:ext uri="{FF2B5EF4-FFF2-40B4-BE49-F238E27FC236}">
                <a16:creationId xmlns:a16="http://schemas.microsoft.com/office/drawing/2014/main" id="{71FDA8DA-68AC-4268-B554-E3C0BFF730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2275" y="3857625"/>
          <a:ext cx="115888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5" name="公式" r:id="rId20" imgW="152298" imgH="152468" progId="Equation.3">
                  <p:embed/>
                </p:oleObj>
              </mc:Choice>
              <mc:Fallback>
                <p:oleObj name="公式" r:id="rId20" imgW="152298" imgH="152468" progId="Equation.3">
                  <p:embed/>
                  <p:pic>
                    <p:nvPicPr>
                      <p:cNvPr id="541738" name="Object 10">
                        <a:extLst>
                          <a:ext uri="{FF2B5EF4-FFF2-40B4-BE49-F238E27FC236}">
                            <a16:creationId xmlns:a16="http://schemas.microsoft.com/office/drawing/2014/main" id="{71FDA8DA-68AC-4268-B554-E3C0BFF730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2275" y="3857625"/>
                        <a:ext cx="115888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1739" name="Line 43">
            <a:extLst>
              <a:ext uri="{FF2B5EF4-FFF2-40B4-BE49-F238E27FC236}">
                <a16:creationId xmlns:a16="http://schemas.microsoft.com/office/drawing/2014/main" id="{CADA4343-BBC2-44DC-AC1A-940BE45D042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6864350" y="4054475"/>
            <a:ext cx="576263" cy="45085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1740" name="Line 44">
            <a:extLst>
              <a:ext uri="{FF2B5EF4-FFF2-40B4-BE49-F238E27FC236}">
                <a16:creationId xmlns:a16="http://schemas.microsoft.com/office/drawing/2014/main" id="{27836C8A-8FF2-463D-8A66-E2857135D7CE}"/>
              </a:ext>
            </a:extLst>
          </p:cNvPr>
          <p:cNvSpPr>
            <a:spLocks noChangeAspect="1" noChangeShapeType="1"/>
          </p:cNvSpPr>
          <p:nvPr/>
        </p:nvSpPr>
        <p:spPr bwMode="auto">
          <a:xfrm rot="60000" flipH="1" flipV="1">
            <a:off x="7323138" y="4413250"/>
            <a:ext cx="130175" cy="96838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1741" name="Line 45">
            <a:extLst>
              <a:ext uri="{FF2B5EF4-FFF2-40B4-BE49-F238E27FC236}">
                <a16:creationId xmlns:a16="http://schemas.microsoft.com/office/drawing/2014/main" id="{0D4B5721-3B68-4A52-9B77-4E824D5C120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7578725" y="4049713"/>
            <a:ext cx="576263" cy="45085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1742" name="Line 46">
            <a:extLst>
              <a:ext uri="{FF2B5EF4-FFF2-40B4-BE49-F238E27FC236}">
                <a16:creationId xmlns:a16="http://schemas.microsoft.com/office/drawing/2014/main" id="{61DD3523-8F34-4701-BBF3-DEECF386206D}"/>
              </a:ext>
            </a:extLst>
          </p:cNvPr>
          <p:cNvSpPr>
            <a:spLocks noChangeAspect="1" noChangeShapeType="1"/>
          </p:cNvSpPr>
          <p:nvPr/>
        </p:nvSpPr>
        <p:spPr bwMode="auto">
          <a:xfrm rot="60000" flipH="1" flipV="1">
            <a:off x="8037513" y="4408488"/>
            <a:ext cx="130175" cy="96837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1743" name="Line 47">
            <a:extLst>
              <a:ext uri="{FF2B5EF4-FFF2-40B4-BE49-F238E27FC236}">
                <a16:creationId xmlns:a16="http://schemas.microsoft.com/office/drawing/2014/main" id="{68D478F2-4FF2-4415-8D03-6F0FAD4EA86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007225" y="3411538"/>
            <a:ext cx="115888" cy="1158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1744" name="Line 48">
            <a:extLst>
              <a:ext uri="{FF2B5EF4-FFF2-40B4-BE49-F238E27FC236}">
                <a16:creationId xmlns:a16="http://schemas.microsoft.com/office/drawing/2014/main" id="{20617A49-4D52-4216-B2ED-3ABA7BEC5CD3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185025" y="3608388"/>
            <a:ext cx="115888" cy="1158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1745" name="Line 49">
            <a:extLst>
              <a:ext uri="{FF2B5EF4-FFF2-40B4-BE49-F238E27FC236}">
                <a16:creationId xmlns:a16="http://schemas.microsoft.com/office/drawing/2014/main" id="{678477E0-39A8-48F3-AADE-56269A1A1B1B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353300" y="3790950"/>
            <a:ext cx="115888" cy="1158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1746" name="Rectangle 50">
            <a:extLst>
              <a:ext uri="{FF2B5EF4-FFF2-40B4-BE49-F238E27FC236}">
                <a16:creationId xmlns:a16="http://schemas.microsoft.com/office/drawing/2014/main" id="{BCB0B9AC-1742-4411-B7F2-A1AFF0199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3286125"/>
            <a:ext cx="4572000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marL="265113" indent="-265113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buClr>
                <a:srgbClr val="FF99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00FFFF"/>
                </a:solidFill>
              </a:rPr>
              <a:t> e </a:t>
            </a:r>
            <a:r>
              <a:rPr lang="zh-CN" altLang="en-US" sz="2000" dirty="0">
                <a:solidFill>
                  <a:schemeClr val="bg1"/>
                </a:solidFill>
                <a:ea typeface="仿宋_GB2312"/>
                <a:cs typeface="仿宋_GB2312"/>
              </a:rPr>
              <a:t>光的光矢量在 </a:t>
            </a:r>
            <a:r>
              <a:rPr lang="en-US" altLang="zh-CN" sz="2000" dirty="0">
                <a:solidFill>
                  <a:srgbClr val="00FFFF"/>
                </a:solidFill>
              </a:rPr>
              <a:t>e </a:t>
            </a:r>
            <a:r>
              <a:rPr lang="zh-CN" altLang="en-US" sz="2000" dirty="0">
                <a:solidFill>
                  <a:schemeClr val="bg1"/>
                </a:solidFill>
                <a:ea typeface="仿宋_GB2312"/>
                <a:cs typeface="仿宋_GB2312"/>
              </a:rPr>
              <a:t>光主平面内</a:t>
            </a:r>
            <a:r>
              <a:rPr lang="zh-CN" altLang="en-US" sz="2000" dirty="0">
                <a:solidFill>
                  <a:schemeClr val="bg1"/>
                </a:solidFill>
              </a:rPr>
              <a:t>，</a:t>
            </a:r>
            <a:r>
              <a:rPr lang="zh-CN" altLang="en-US" sz="2000" dirty="0">
                <a:solidFill>
                  <a:schemeClr val="bg1"/>
                </a:solidFill>
                <a:ea typeface="仿宋_GB2312"/>
                <a:cs typeface="仿宋_GB2312"/>
              </a:rPr>
              <a:t>与光轴的夹角随传播方向而改变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graphicFrame>
        <p:nvGraphicFramePr>
          <p:cNvPr id="541747" name="Object 11">
            <a:extLst>
              <a:ext uri="{FF2B5EF4-FFF2-40B4-BE49-F238E27FC236}">
                <a16:creationId xmlns:a16="http://schemas.microsoft.com/office/drawing/2014/main" id="{32D053AA-F4FD-4F37-B25C-A94D59714C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2450" y="4062413"/>
          <a:ext cx="115888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6" name="公式" r:id="rId22" imgW="152298" imgH="152468" progId="Equation.3">
                  <p:embed/>
                </p:oleObj>
              </mc:Choice>
              <mc:Fallback>
                <p:oleObj name="公式" r:id="rId22" imgW="152298" imgH="152468" progId="Equation.3">
                  <p:embed/>
                  <p:pic>
                    <p:nvPicPr>
                      <p:cNvPr id="541747" name="Object 11">
                        <a:extLst>
                          <a:ext uri="{FF2B5EF4-FFF2-40B4-BE49-F238E27FC236}">
                            <a16:creationId xmlns:a16="http://schemas.microsoft.com/office/drawing/2014/main" id="{32D053AA-F4FD-4F37-B25C-A94D59714C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450" y="4062413"/>
                        <a:ext cx="115888" cy="11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1748" name="Object 12">
            <a:extLst>
              <a:ext uri="{FF2B5EF4-FFF2-40B4-BE49-F238E27FC236}">
                <a16:creationId xmlns:a16="http://schemas.microsoft.com/office/drawing/2014/main" id="{4C686A1A-BCC4-4D6C-A092-53E21EE161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2000" y="4225925"/>
          <a:ext cx="115888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7" name="公式" r:id="rId24" imgW="152298" imgH="152468" progId="Equation.3">
                  <p:embed/>
                </p:oleObj>
              </mc:Choice>
              <mc:Fallback>
                <p:oleObj name="公式" r:id="rId24" imgW="152298" imgH="152468" progId="Equation.3">
                  <p:embed/>
                  <p:pic>
                    <p:nvPicPr>
                      <p:cNvPr id="541748" name="Object 12">
                        <a:extLst>
                          <a:ext uri="{FF2B5EF4-FFF2-40B4-BE49-F238E27FC236}">
                            <a16:creationId xmlns:a16="http://schemas.microsoft.com/office/drawing/2014/main" id="{4C686A1A-BCC4-4D6C-A092-53E21EE161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0" y="4225925"/>
                        <a:ext cx="115888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1749" name="Line 53">
            <a:extLst>
              <a:ext uri="{FF2B5EF4-FFF2-40B4-BE49-F238E27FC236}">
                <a16:creationId xmlns:a16="http://schemas.microsoft.com/office/drawing/2014/main" id="{B3F22AF4-2BD7-4522-8E53-8863AEA85A6E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686675" y="4110038"/>
            <a:ext cx="115888" cy="1158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1750" name="Line 54">
            <a:extLst>
              <a:ext uri="{FF2B5EF4-FFF2-40B4-BE49-F238E27FC236}">
                <a16:creationId xmlns:a16="http://schemas.microsoft.com/office/drawing/2014/main" id="{09CD0604-FC2A-4700-89FA-81AB847577FE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878763" y="4264025"/>
            <a:ext cx="115887" cy="1158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Text Box 2">
            <a:extLst>
              <a:ext uri="{FF2B5EF4-FFF2-40B4-BE49-F238E27FC236}">
                <a16:creationId xmlns:a16="http://schemas.microsoft.com/office/drawing/2014/main" id="{6B462D9E-AD2E-4909-8787-64129EFA4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4143375"/>
            <a:ext cx="1871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33"/>
              </a:buClr>
              <a:buFont typeface="Wingdings" panose="05000000000000000000" pitchFamily="2" charset="2"/>
              <a:buChar char="Ø"/>
            </a:pPr>
            <a:r>
              <a:rPr kumimoji="0" lang="en-US" altLang="zh-CN">
                <a:solidFill>
                  <a:srgbClr val="FFFF00"/>
                </a:solidFill>
                <a:ea typeface="LiSu" panose="02010509060101010101" pitchFamily="49" charset="-122"/>
                <a:sym typeface="Wingdings" panose="05000000000000000000" pitchFamily="2" charset="2"/>
              </a:rPr>
              <a:t> </a:t>
            </a:r>
            <a:r>
              <a:rPr kumimoji="0" lang="zh-CN" altLang="en-US">
                <a:solidFill>
                  <a:srgbClr val="FFFF00"/>
                </a:solidFill>
                <a:ea typeface="LiSu" panose="02010509060101010101" pitchFamily="49" charset="-122"/>
                <a:sym typeface="Wingdings" panose="05000000000000000000" pitchFamily="2" charset="2"/>
              </a:rPr>
              <a:t>说明</a:t>
            </a:r>
            <a:endParaRPr kumimoji="0" lang="zh-CN" altLang="en-US">
              <a:solidFill>
                <a:srgbClr val="FFFF00"/>
              </a:solidFill>
              <a:ea typeface="LiSu" panose="02010509060101010101" pitchFamily="49" charset="-122"/>
            </a:endParaRPr>
          </a:p>
        </p:txBody>
      </p:sp>
      <p:sp>
        <p:nvSpPr>
          <p:cNvPr id="54" name="Text Box 3">
            <a:extLst>
              <a:ext uri="{FF2B5EF4-FFF2-40B4-BE49-F238E27FC236}">
                <a16:creationId xmlns:a16="http://schemas.microsoft.com/office/drawing/2014/main" id="{5204AD14-9CA0-434D-9920-72420EB3A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567238"/>
            <a:ext cx="7786687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>
                <a:solidFill>
                  <a:schemeClr val="bg1"/>
                </a:solidFill>
                <a:ea typeface="楷体_GB2312" pitchFamily="49" charset="-122"/>
              </a:rPr>
              <a:t>  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若光轴在入射面内时</a:t>
            </a:r>
            <a:r>
              <a:rPr lang="zh-CN" altLang="en-US" sz="2000">
                <a:solidFill>
                  <a:schemeClr val="bg1"/>
                </a:solidFill>
              </a:rPr>
              <a:t>，</a:t>
            </a:r>
            <a:r>
              <a:rPr lang="en-US" altLang="zh-CN" sz="2000">
                <a:solidFill>
                  <a:srgbClr val="66FFFF"/>
                </a:solidFill>
              </a:rPr>
              <a:t>o 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光主平面和</a:t>
            </a:r>
            <a:r>
              <a:rPr lang="en-US" altLang="zh-CN" sz="2000">
                <a:solidFill>
                  <a:srgbClr val="66FFFF"/>
                </a:solidFill>
              </a:rPr>
              <a:t>e 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光主平面重合，</a:t>
            </a: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此时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en-US" altLang="zh-CN" sz="2000">
                <a:solidFill>
                  <a:srgbClr val="00FFFF"/>
                </a:solidFill>
                <a:ea typeface="楷体_GB2312" pitchFamily="49" charset="-122"/>
              </a:rPr>
              <a:t>o</a:t>
            </a:r>
            <a:r>
              <a:rPr lang="en-US" altLang="zh-CN" sz="200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光振动和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en-US" altLang="zh-CN" sz="2000">
                <a:solidFill>
                  <a:srgbClr val="00FFFF"/>
                </a:solidFill>
                <a:ea typeface="楷体_GB2312" pitchFamily="49" charset="-122"/>
              </a:rPr>
              <a:t>e </a:t>
            </a: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光振动相互垂直</a:t>
            </a:r>
            <a:endParaRPr lang="en-US" altLang="zh-CN" sz="20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5" name="Rectangle 4">
            <a:extLst>
              <a:ext uri="{FF2B5EF4-FFF2-40B4-BE49-F238E27FC236}">
                <a16:creationId xmlns:a16="http://schemas.microsoft.com/office/drawing/2014/main" id="{5AA48E31-967B-4A0B-9354-F61498597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5397500"/>
            <a:ext cx="7786687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严格讲，</a:t>
            </a:r>
            <a:r>
              <a:rPr lang="en-US" altLang="zh-CN" sz="2000" dirty="0">
                <a:solidFill>
                  <a:srgbClr val="00FFFF"/>
                </a:solidFill>
              </a:rPr>
              <a:t>o </a:t>
            </a:r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光和 </a:t>
            </a:r>
            <a:r>
              <a:rPr lang="en-US" altLang="zh-CN" sz="2000" dirty="0">
                <a:solidFill>
                  <a:srgbClr val="00FFFF"/>
                </a:solidFill>
              </a:rPr>
              <a:t>e </a:t>
            </a:r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光只是相对于晶体而言；</a:t>
            </a:r>
            <a:endParaRPr lang="en-US" altLang="zh-CN" sz="2000" dirty="0">
              <a:solidFill>
                <a:schemeClr val="bg1"/>
              </a:solidFill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  <a:buClr>
                <a:srgbClr val="FF9900"/>
              </a:buClr>
              <a:buSzPct val="80000"/>
            </a:pP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</a:rPr>
              <a:t>    </a:t>
            </a:r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为了表述简单，</a:t>
            </a:r>
            <a:r>
              <a:rPr lang="en-US" altLang="zh-CN" sz="2000" dirty="0">
                <a:solidFill>
                  <a:srgbClr val="00FFFF"/>
                </a:solidFill>
              </a:rPr>
              <a:t>o </a:t>
            </a:r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光从晶体出射后仍记为 </a:t>
            </a:r>
            <a:r>
              <a:rPr lang="en-US" altLang="zh-CN" sz="2000" dirty="0">
                <a:solidFill>
                  <a:srgbClr val="00FFFF"/>
                </a:solidFill>
              </a:rPr>
              <a:t>o </a:t>
            </a:r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光，</a:t>
            </a:r>
            <a:r>
              <a:rPr lang="en-US" altLang="zh-CN" sz="2000" dirty="0">
                <a:solidFill>
                  <a:srgbClr val="00FFFF"/>
                </a:solidFill>
              </a:rPr>
              <a:t>e </a:t>
            </a:r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光从晶体出射后仍记为 </a:t>
            </a:r>
            <a:r>
              <a:rPr lang="en-US" altLang="zh-CN" sz="2000" dirty="0">
                <a:solidFill>
                  <a:srgbClr val="00FFFF"/>
                </a:solidFill>
              </a:rPr>
              <a:t>e </a:t>
            </a:r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光。</a:t>
            </a:r>
          </a:p>
        </p:txBody>
      </p:sp>
      <p:sp>
        <p:nvSpPr>
          <p:cNvPr id="56" name="Rectangle 7">
            <a:extLst>
              <a:ext uri="{FF2B5EF4-FFF2-40B4-BE49-F238E27FC236}">
                <a16:creationId xmlns:a16="http://schemas.microsoft.com/office/drawing/2014/main" id="{A96DB799-9F09-423D-A910-79C1B1173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714750"/>
            <a:ext cx="64135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FFFF00"/>
                </a:solidFill>
                <a:ea typeface="黑体" panose="02010609060101010101" pitchFamily="49" charset="-122"/>
              </a:rPr>
              <a:t>o</a:t>
            </a: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  <a:endParaRPr lang="zh-CN" altLang="en-US" sz="2000" b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7" name="Rectangle 5">
            <a:extLst>
              <a:ext uri="{FF2B5EF4-FFF2-40B4-BE49-F238E27FC236}">
                <a16:creationId xmlns:a16="http://schemas.microsoft.com/office/drawing/2014/main" id="{37BB8D30-B44F-4E85-A524-582D08ED2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188" y="3176588"/>
            <a:ext cx="569912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00FFFF"/>
                </a:solidFill>
              </a:rPr>
              <a:t>e</a:t>
            </a:r>
            <a:r>
              <a:rPr lang="zh-CN" altLang="en-US" sz="2000">
                <a:solidFill>
                  <a:srgbClr val="00FFFF"/>
                </a:solidFill>
                <a:ea typeface="楷体_GB2312" pitchFamily="49" charset="-122"/>
              </a:rPr>
              <a:t>光</a:t>
            </a:r>
          </a:p>
        </p:txBody>
      </p:sp>
      <p:sp>
        <p:nvSpPr>
          <p:cNvPr id="18490" name="灯片编号占位符 1">
            <a:extLst>
              <a:ext uri="{FF2B5EF4-FFF2-40B4-BE49-F238E27FC236}">
                <a16:creationId xmlns:a16="http://schemas.microsoft.com/office/drawing/2014/main" id="{DABCFB32-5445-4C35-B35B-C1B8E286D90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EA3EC07-4BB1-4D8C-8351-304E1A4EEC47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1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4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4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4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4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4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54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4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4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4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4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4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4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4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4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1000"/>
                                        <p:tgtEl>
                                          <p:spTgt spid="54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2000"/>
                                        <p:tgtEl>
                                          <p:spTgt spid="54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1000"/>
                                        <p:tgtEl>
                                          <p:spTgt spid="54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4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541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4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541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54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4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41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41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541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4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54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541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541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4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541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541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4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4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4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54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54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54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4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54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54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54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541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541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541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54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54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699" grpId="0" animBg="1"/>
      <p:bldP spid="541700" grpId="0" animBg="1"/>
      <p:bldP spid="541701" grpId="0" autoUpdateAnimBg="0"/>
      <p:bldP spid="541702" grpId="0" autoUpdateAnimBg="0"/>
      <p:bldP spid="541703" grpId="0" autoUpdateAnimBg="0"/>
      <p:bldP spid="541704" grpId="0" autoUpdateAnimBg="0"/>
      <p:bldP spid="541706" grpId="0"/>
      <p:bldP spid="541707" grpId="0"/>
      <p:bldP spid="541714" grpId="0" animBg="1" autoUpdateAnimBg="0"/>
      <p:bldP spid="541715" grpId="0" animBg="1" autoUpdateAnimBg="0"/>
      <p:bldP spid="541717" grpId="0" animBg="1" autoUpdateAnimBg="0"/>
      <p:bldP spid="541718" grpId="0"/>
      <p:bldP spid="541719" grpId="0" animBg="1"/>
      <p:bldP spid="541722" grpId="0" autoUpdateAnimBg="0"/>
      <p:bldP spid="541746" grpId="0"/>
      <p:bldP spid="53" grpId="0"/>
      <p:bldP spid="54" grpId="0"/>
      <p:bldP spid="55" grpId="0"/>
      <p:bldP spid="56" grpId="0" autoUpdateAnimBg="0"/>
      <p:bldP spid="5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5" name="Text Box 25">
            <a:extLst>
              <a:ext uri="{FF2B5EF4-FFF2-40B4-BE49-F238E27FC236}">
                <a16:creationId xmlns:a16="http://schemas.microsoft.com/office/drawing/2014/main" id="{E3933DE2-EAB5-4C5F-AB0B-4028B3648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28613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66FFFF"/>
                </a:solidFill>
              </a:rPr>
              <a:t>5.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正晶体、负晶体</a:t>
            </a:r>
          </a:p>
        </p:txBody>
      </p:sp>
      <p:sp>
        <p:nvSpPr>
          <p:cNvPr id="542746" name="Line 26">
            <a:extLst>
              <a:ext uri="{FF2B5EF4-FFF2-40B4-BE49-F238E27FC236}">
                <a16:creationId xmlns:a16="http://schemas.microsoft.com/office/drawing/2014/main" id="{2E1603B8-D597-4B66-A43F-FEACABDC3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2313" y="1500188"/>
            <a:ext cx="1587" cy="2019300"/>
          </a:xfrm>
          <a:prstGeom prst="line">
            <a:avLst/>
          </a:prstGeom>
          <a:noFill/>
          <a:ln w="19050">
            <a:solidFill>
              <a:srgbClr val="CCCCFF"/>
            </a:solidFill>
            <a:prstDash val="lgDash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47" name="Rectangle 27">
            <a:extLst>
              <a:ext uri="{FF2B5EF4-FFF2-40B4-BE49-F238E27FC236}">
                <a16:creationId xmlns:a16="http://schemas.microsoft.com/office/drawing/2014/main" id="{FC7CEC71-7D4B-47F0-8C09-B9B2D5DF6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825" y="1647825"/>
            <a:ext cx="990600" cy="38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rPr>
              <a:t>光轴</a:t>
            </a:r>
            <a:endParaRPr lang="zh-CN" altLang="en-US" sz="2000" b="0">
              <a:solidFill>
                <a:srgbClr val="CCCC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748" name="Oval 28">
            <a:extLst>
              <a:ext uri="{FF2B5EF4-FFF2-40B4-BE49-F238E27FC236}">
                <a16:creationId xmlns:a16="http://schemas.microsoft.com/office/drawing/2014/main" id="{9150B926-8FB4-481F-964A-55323E3FE5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13438" y="2032000"/>
            <a:ext cx="2309812" cy="1225550"/>
          </a:xfrm>
          <a:prstGeom prst="ellips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pSp>
        <p:nvGrpSpPr>
          <p:cNvPr id="2" name="Group 29">
            <a:extLst>
              <a:ext uri="{FF2B5EF4-FFF2-40B4-BE49-F238E27FC236}">
                <a16:creationId xmlns:a16="http://schemas.microsoft.com/office/drawing/2014/main" id="{54C671F2-EBE8-4902-B1CB-5AAA4BBC5E57}"/>
              </a:ext>
            </a:extLst>
          </p:cNvPr>
          <p:cNvGrpSpPr>
            <a:grpSpLocks/>
          </p:cNvGrpSpPr>
          <p:nvPr/>
        </p:nvGrpSpPr>
        <p:grpSpPr bwMode="auto">
          <a:xfrm>
            <a:off x="5926138" y="2039938"/>
            <a:ext cx="2309812" cy="1211262"/>
            <a:chOff x="3334" y="3088"/>
            <a:chExt cx="1455" cy="763"/>
          </a:xfrm>
        </p:grpSpPr>
        <p:sp>
          <p:nvSpPr>
            <p:cNvPr id="20546" name="Line 30">
              <a:extLst>
                <a:ext uri="{FF2B5EF4-FFF2-40B4-BE49-F238E27FC236}">
                  <a16:creationId xmlns:a16="http://schemas.microsoft.com/office/drawing/2014/main" id="{772652FD-EB1E-4AB4-9735-6810EF18DE7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34" y="3486"/>
              <a:ext cx="1455" cy="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7" name="Line 31">
              <a:extLst>
                <a:ext uri="{FF2B5EF4-FFF2-40B4-BE49-F238E27FC236}">
                  <a16:creationId xmlns:a16="http://schemas.microsoft.com/office/drawing/2014/main" id="{40B63D72-DC4B-4398-8181-F3B011249FE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057" y="3088"/>
              <a:ext cx="0" cy="763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8" name="Line 32">
              <a:extLst>
                <a:ext uri="{FF2B5EF4-FFF2-40B4-BE49-F238E27FC236}">
                  <a16:creationId xmlns:a16="http://schemas.microsoft.com/office/drawing/2014/main" id="{910CED80-2714-47F3-92F2-B6199C91F2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25" y="3444"/>
              <a:ext cx="1" cy="7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9" name="Line 33">
              <a:extLst>
                <a:ext uri="{FF2B5EF4-FFF2-40B4-BE49-F238E27FC236}">
                  <a16:creationId xmlns:a16="http://schemas.microsoft.com/office/drawing/2014/main" id="{AD8F312C-F871-4252-8794-674742F266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08" y="3444"/>
              <a:ext cx="1" cy="7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0" name="Line 34">
              <a:extLst>
                <a:ext uri="{FF2B5EF4-FFF2-40B4-BE49-F238E27FC236}">
                  <a16:creationId xmlns:a16="http://schemas.microsoft.com/office/drawing/2014/main" id="{71CF6755-B822-4309-BCDD-6CA889552E8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417" y="3440"/>
              <a:ext cx="2" cy="7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1" name="Line 35">
              <a:extLst>
                <a:ext uri="{FF2B5EF4-FFF2-40B4-BE49-F238E27FC236}">
                  <a16:creationId xmlns:a16="http://schemas.microsoft.com/office/drawing/2014/main" id="{80AEB47F-BD91-4D58-B534-12D8981E75F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589" y="3444"/>
              <a:ext cx="1" cy="7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2" name="Line 36">
              <a:extLst>
                <a:ext uri="{FF2B5EF4-FFF2-40B4-BE49-F238E27FC236}">
                  <a16:creationId xmlns:a16="http://schemas.microsoft.com/office/drawing/2014/main" id="{F689561E-34E9-40D0-AF89-DED522F21C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015" y="3220"/>
              <a:ext cx="80" cy="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3" name="Line 37">
              <a:extLst>
                <a:ext uri="{FF2B5EF4-FFF2-40B4-BE49-F238E27FC236}">
                  <a16:creationId xmlns:a16="http://schemas.microsoft.com/office/drawing/2014/main" id="{C4482113-0B90-44E8-BAF9-ED7217861B7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015" y="3621"/>
              <a:ext cx="80" cy="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4" name="Line 38">
              <a:extLst>
                <a:ext uri="{FF2B5EF4-FFF2-40B4-BE49-F238E27FC236}">
                  <a16:creationId xmlns:a16="http://schemas.microsoft.com/office/drawing/2014/main" id="{5F6899EB-64A7-4F28-BB22-80B770BD82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015" y="3312"/>
              <a:ext cx="80" cy="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5" name="Line 39">
              <a:extLst>
                <a:ext uri="{FF2B5EF4-FFF2-40B4-BE49-F238E27FC236}">
                  <a16:creationId xmlns:a16="http://schemas.microsoft.com/office/drawing/2014/main" id="{C8D23A52-308A-448B-9C98-0E960941D5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015" y="3712"/>
              <a:ext cx="80" cy="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6" name="Line 40">
              <a:extLst>
                <a:ext uri="{FF2B5EF4-FFF2-40B4-BE49-F238E27FC236}">
                  <a16:creationId xmlns:a16="http://schemas.microsoft.com/office/drawing/2014/main" id="{74BE49FA-A3FE-4604-96DD-DF3345C1F3B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42" y="3179"/>
              <a:ext cx="856" cy="598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7" name="Line 41">
              <a:extLst>
                <a:ext uri="{FF2B5EF4-FFF2-40B4-BE49-F238E27FC236}">
                  <a16:creationId xmlns:a16="http://schemas.microsoft.com/office/drawing/2014/main" id="{DAF3D9CC-DE87-4C31-B9EB-943DDC8CF12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27" y="3661"/>
              <a:ext cx="50" cy="7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8" name="Line 42">
              <a:extLst>
                <a:ext uri="{FF2B5EF4-FFF2-40B4-BE49-F238E27FC236}">
                  <a16:creationId xmlns:a16="http://schemas.microsoft.com/office/drawing/2014/main" id="{3FF64A20-2845-4137-83E5-B27DD1ED468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18" y="3603"/>
              <a:ext cx="50" cy="7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9" name="Line 43">
              <a:extLst>
                <a:ext uri="{FF2B5EF4-FFF2-40B4-BE49-F238E27FC236}">
                  <a16:creationId xmlns:a16="http://schemas.microsoft.com/office/drawing/2014/main" id="{44FAD4B0-9632-4545-A894-B3459781EBB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62" y="3219"/>
              <a:ext cx="50" cy="7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0" name="Line 44">
              <a:extLst>
                <a:ext uri="{FF2B5EF4-FFF2-40B4-BE49-F238E27FC236}">
                  <a16:creationId xmlns:a16="http://schemas.microsoft.com/office/drawing/2014/main" id="{819B9DCB-F3CA-402A-9198-640DFB39045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78" y="3277"/>
              <a:ext cx="50" cy="7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1" name="Line 45">
              <a:extLst>
                <a:ext uri="{FF2B5EF4-FFF2-40B4-BE49-F238E27FC236}">
                  <a16:creationId xmlns:a16="http://schemas.microsoft.com/office/drawing/2014/main" id="{49EF9007-F595-47C0-ADA2-FE8F3C5F7D8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3617" y="3179"/>
              <a:ext cx="856" cy="598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2" name="Line 46">
              <a:extLst>
                <a:ext uri="{FF2B5EF4-FFF2-40B4-BE49-F238E27FC236}">
                  <a16:creationId xmlns:a16="http://schemas.microsoft.com/office/drawing/2014/main" id="{DD473D0E-B8CB-46A6-8167-425CEA9880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341" y="3664"/>
              <a:ext cx="50" cy="7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3" name="Line 47">
              <a:extLst>
                <a:ext uri="{FF2B5EF4-FFF2-40B4-BE49-F238E27FC236}">
                  <a16:creationId xmlns:a16="http://schemas.microsoft.com/office/drawing/2014/main" id="{A5688CB7-A6EF-4BF4-9E2D-1955A80030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249" y="3605"/>
              <a:ext cx="50" cy="7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4" name="Line 48">
              <a:extLst>
                <a:ext uri="{FF2B5EF4-FFF2-40B4-BE49-F238E27FC236}">
                  <a16:creationId xmlns:a16="http://schemas.microsoft.com/office/drawing/2014/main" id="{B335D586-1695-49E4-ACE6-C78A5CC593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702" y="3221"/>
              <a:ext cx="50" cy="7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5" name="Line 49">
              <a:extLst>
                <a:ext uri="{FF2B5EF4-FFF2-40B4-BE49-F238E27FC236}">
                  <a16:creationId xmlns:a16="http://schemas.microsoft.com/office/drawing/2014/main" id="{64EBBCD6-5A1D-408B-9776-7AED6823A90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797" y="3288"/>
              <a:ext cx="50" cy="7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2770" name="Text Box 50">
            <a:extLst>
              <a:ext uri="{FF2B5EF4-FFF2-40B4-BE49-F238E27FC236}">
                <a16:creationId xmlns:a16="http://schemas.microsoft.com/office/drawing/2014/main" id="{416BFFAB-7034-415F-87F2-3F66168F9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887413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</a:rPr>
              <a:t>o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光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542771" name="Object 2">
            <a:extLst>
              <a:ext uri="{FF2B5EF4-FFF2-40B4-BE49-F238E27FC236}">
                <a16:creationId xmlns:a16="http://schemas.microsoft.com/office/drawing/2014/main" id="{9F2FC806-0D59-4A6B-893B-145279362BFF}"/>
              </a:ext>
            </a:extLst>
          </p:cNvPr>
          <p:cNvGraphicFramePr>
            <a:graphicFrameLocks/>
          </p:cNvGraphicFramePr>
          <p:nvPr/>
        </p:nvGraphicFramePr>
        <p:xfrm>
          <a:off x="1500188" y="842963"/>
          <a:ext cx="7080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11" name="公式" r:id="rId4" imgW="1000029" imgH="809489" progId="Equation.3">
                  <p:embed/>
                </p:oleObj>
              </mc:Choice>
              <mc:Fallback>
                <p:oleObj name="公式" r:id="rId4" imgW="1000029" imgH="809489" progId="Equation.3">
                  <p:embed/>
                  <p:pic>
                    <p:nvPicPr>
                      <p:cNvPr id="542771" name="Object 2">
                        <a:extLst>
                          <a:ext uri="{FF2B5EF4-FFF2-40B4-BE49-F238E27FC236}">
                            <a16:creationId xmlns:a16="http://schemas.microsoft.com/office/drawing/2014/main" id="{9F2FC806-0D59-4A6B-893B-145279362BF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842963"/>
                        <a:ext cx="70802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2" name="Text Box 52">
            <a:extLst>
              <a:ext uri="{FF2B5EF4-FFF2-40B4-BE49-F238E27FC236}">
                <a16:creationId xmlns:a16="http://schemas.microsoft.com/office/drawing/2014/main" id="{47D97A78-130F-4C0F-80C5-7E1209585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85725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66FFFF"/>
                </a:solidFill>
              </a:rPr>
              <a:t>e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光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endParaRPr lang="en-US" altLang="zh-CN" b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542773" name="Object 3">
            <a:extLst>
              <a:ext uri="{FF2B5EF4-FFF2-40B4-BE49-F238E27FC236}">
                <a16:creationId xmlns:a16="http://schemas.microsoft.com/office/drawing/2014/main" id="{C5C9E05C-55E1-4766-9521-23F644D5FF97}"/>
              </a:ext>
            </a:extLst>
          </p:cNvPr>
          <p:cNvGraphicFramePr>
            <a:graphicFrameLocks/>
          </p:cNvGraphicFramePr>
          <p:nvPr/>
        </p:nvGraphicFramePr>
        <p:xfrm>
          <a:off x="5719763" y="863600"/>
          <a:ext cx="6985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12" name="公式" r:id="rId6" imgW="990549" imgH="876232" progId="Equation.3">
                  <p:embed/>
                </p:oleObj>
              </mc:Choice>
              <mc:Fallback>
                <p:oleObj name="公式" r:id="rId6" imgW="990549" imgH="876232" progId="Equation.3">
                  <p:embed/>
                  <p:pic>
                    <p:nvPicPr>
                      <p:cNvPr id="542773" name="Object 3">
                        <a:extLst>
                          <a:ext uri="{FF2B5EF4-FFF2-40B4-BE49-F238E27FC236}">
                            <a16:creationId xmlns:a16="http://schemas.microsoft.com/office/drawing/2014/main" id="{C5C9E05C-55E1-4766-9521-23F644D5FF9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9763" y="863600"/>
                        <a:ext cx="6985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4" name="Object 4">
            <a:extLst>
              <a:ext uri="{FF2B5EF4-FFF2-40B4-BE49-F238E27FC236}">
                <a16:creationId xmlns:a16="http://schemas.microsoft.com/office/drawing/2014/main" id="{52BCDE5D-8B45-49B2-858D-956C210DE9F7}"/>
              </a:ext>
            </a:extLst>
          </p:cNvPr>
          <p:cNvGraphicFramePr>
            <a:graphicFrameLocks/>
          </p:cNvGraphicFramePr>
          <p:nvPr/>
        </p:nvGraphicFramePr>
        <p:xfrm>
          <a:off x="2214563" y="1714500"/>
          <a:ext cx="4572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13" name="公式" r:id="rId8" imgW="638245" imgH="390661" progId="Equation.3">
                  <p:embed/>
                </p:oleObj>
              </mc:Choice>
              <mc:Fallback>
                <p:oleObj name="公式" r:id="rId8" imgW="638245" imgH="390661" progId="Equation.3">
                  <p:embed/>
                  <p:pic>
                    <p:nvPicPr>
                      <p:cNvPr id="542774" name="Object 4">
                        <a:extLst>
                          <a:ext uri="{FF2B5EF4-FFF2-40B4-BE49-F238E27FC236}">
                            <a16:creationId xmlns:a16="http://schemas.microsoft.com/office/drawing/2014/main" id="{52BCDE5D-8B45-49B2-858D-956C210DE9F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1714500"/>
                        <a:ext cx="4572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5" name="Object 5">
            <a:extLst>
              <a:ext uri="{FF2B5EF4-FFF2-40B4-BE49-F238E27FC236}">
                <a16:creationId xmlns:a16="http://schemas.microsoft.com/office/drawing/2014/main" id="{E1750C64-D10C-4160-A92A-D3E203AD2AFF}"/>
              </a:ext>
            </a:extLst>
          </p:cNvPr>
          <p:cNvGraphicFramePr>
            <a:graphicFrameLocks/>
          </p:cNvGraphicFramePr>
          <p:nvPr/>
        </p:nvGraphicFramePr>
        <p:xfrm>
          <a:off x="7124700" y="1685925"/>
          <a:ext cx="4572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14" name="公式" r:id="rId10" imgW="638245" imgH="390661" progId="Equation.3">
                  <p:embed/>
                </p:oleObj>
              </mc:Choice>
              <mc:Fallback>
                <p:oleObj name="公式" r:id="rId10" imgW="638245" imgH="390661" progId="Equation.3">
                  <p:embed/>
                  <p:pic>
                    <p:nvPicPr>
                      <p:cNvPr id="542775" name="Object 5">
                        <a:extLst>
                          <a:ext uri="{FF2B5EF4-FFF2-40B4-BE49-F238E27FC236}">
                            <a16:creationId xmlns:a16="http://schemas.microsoft.com/office/drawing/2014/main" id="{E1750C64-D10C-4160-A92A-D3E203AD2AF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700" y="1685925"/>
                        <a:ext cx="4572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6" name="Object 6">
            <a:extLst>
              <a:ext uri="{FF2B5EF4-FFF2-40B4-BE49-F238E27FC236}">
                <a16:creationId xmlns:a16="http://schemas.microsoft.com/office/drawing/2014/main" id="{DD1F63BE-495B-4053-80BF-C1EAB2472E19}"/>
              </a:ext>
            </a:extLst>
          </p:cNvPr>
          <p:cNvGraphicFramePr>
            <a:graphicFrameLocks/>
          </p:cNvGraphicFramePr>
          <p:nvPr/>
        </p:nvGraphicFramePr>
        <p:xfrm>
          <a:off x="8313738" y="2508250"/>
          <a:ext cx="44926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15" name="公式" r:id="rId12" imgW="618978" imgH="390661" progId="Equation.3">
                  <p:embed/>
                </p:oleObj>
              </mc:Choice>
              <mc:Fallback>
                <p:oleObj name="公式" r:id="rId12" imgW="618978" imgH="390661" progId="Equation.3">
                  <p:embed/>
                  <p:pic>
                    <p:nvPicPr>
                      <p:cNvPr id="542776" name="Object 6">
                        <a:extLst>
                          <a:ext uri="{FF2B5EF4-FFF2-40B4-BE49-F238E27FC236}">
                            <a16:creationId xmlns:a16="http://schemas.microsoft.com/office/drawing/2014/main" id="{DD1F63BE-495B-4053-80BF-C1EAB2472E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3738" y="2508250"/>
                        <a:ext cx="449262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7" name="Rectangle 57">
            <a:extLst>
              <a:ext uri="{FF2B5EF4-FFF2-40B4-BE49-F238E27FC236}">
                <a16:creationId xmlns:a16="http://schemas.microsoft.com/office/drawing/2014/main" id="{98C12B78-C0AC-4390-92BB-D16C021C2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1541463"/>
            <a:ext cx="858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rPr>
              <a:t>光轴</a:t>
            </a:r>
          </a:p>
        </p:txBody>
      </p:sp>
      <p:sp>
        <p:nvSpPr>
          <p:cNvPr id="542778" name="Line 58">
            <a:extLst>
              <a:ext uri="{FF2B5EF4-FFF2-40B4-BE49-F238E27FC236}">
                <a16:creationId xmlns:a16="http://schemas.microsoft.com/office/drawing/2014/main" id="{CC368BAF-0AD4-43C0-A50A-BBCE11A30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4688" y="1571625"/>
            <a:ext cx="0" cy="2058988"/>
          </a:xfrm>
          <a:prstGeom prst="line">
            <a:avLst/>
          </a:prstGeom>
          <a:noFill/>
          <a:ln w="19050">
            <a:solidFill>
              <a:srgbClr val="CCCCFF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59">
            <a:extLst>
              <a:ext uri="{FF2B5EF4-FFF2-40B4-BE49-F238E27FC236}">
                <a16:creationId xmlns:a16="http://schemas.microsoft.com/office/drawing/2014/main" id="{91F337E7-1D4E-4624-9A1D-0618F3CD9217}"/>
              </a:ext>
            </a:extLst>
          </p:cNvPr>
          <p:cNvGrpSpPr>
            <a:grpSpLocks/>
          </p:cNvGrpSpPr>
          <p:nvPr/>
        </p:nvGrpSpPr>
        <p:grpSpPr bwMode="auto">
          <a:xfrm>
            <a:off x="2436813" y="1874838"/>
            <a:ext cx="1558925" cy="1539875"/>
            <a:chOff x="1206" y="2959"/>
            <a:chExt cx="982" cy="970"/>
          </a:xfrm>
        </p:grpSpPr>
        <p:sp>
          <p:nvSpPr>
            <p:cNvPr id="20525" name="Line 60">
              <a:extLst>
                <a:ext uri="{FF2B5EF4-FFF2-40B4-BE49-F238E27FC236}">
                  <a16:creationId xmlns:a16="http://schemas.microsoft.com/office/drawing/2014/main" id="{BDAE992B-3C65-43DD-A85F-022EF44265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49" y="3097"/>
              <a:ext cx="683" cy="683"/>
            </a:xfrm>
            <a:prstGeom prst="line">
              <a:avLst/>
            </a:prstGeom>
            <a:noFill/>
            <a:ln w="19050">
              <a:solidFill>
                <a:srgbClr val="CCFFCC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6" name="Line 61">
              <a:extLst>
                <a:ext uri="{FF2B5EF4-FFF2-40B4-BE49-F238E27FC236}">
                  <a16:creationId xmlns:a16="http://schemas.microsoft.com/office/drawing/2014/main" id="{F3D3BFD2-A7E5-4936-8E1A-BA6C8347D3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06" y="3454"/>
              <a:ext cx="982" cy="0"/>
            </a:xfrm>
            <a:prstGeom prst="line">
              <a:avLst/>
            </a:prstGeom>
            <a:noFill/>
            <a:ln w="19050">
              <a:solidFill>
                <a:srgbClr val="CCFFCC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7" name="Oval 62">
              <a:extLst>
                <a:ext uri="{FF2B5EF4-FFF2-40B4-BE49-F238E27FC236}">
                  <a16:creationId xmlns:a16="http://schemas.microsoft.com/office/drawing/2014/main" id="{FE82622C-E53A-4DAF-AB70-3C92DA181C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16" y="2978"/>
              <a:ext cx="950" cy="951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528" name="Line 63">
              <a:extLst>
                <a:ext uri="{FF2B5EF4-FFF2-40B4-BE49-F238E27FC236}">
                  <a16:creationId xmlns:a16="http://schemas.microsoft.com/office/drawing/2014/main" id="{ED01FF55-6477-4523-983E-1E49A91E8C1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1544769" flipH="1">
              <a:off x="1344" y="3125"/>
              <a:ext cx="690" cy="673"/>
            </a:xfrm>
            <a:prstGeom prst="line">
              <a:avLst/>
            </a:prstGeom>
            <a:noFill/>
            <a:ln w="19050">
              <a:solidFill>
                <a:srgbClr val="CCFFCC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29" name="Object 7">
              <a:extLst>
                <a:ext uri="{FF2B5EF4-FFF2-40B4-BE49-F238E27FC236}">
                  <a16:creationId xmlns:a16="http://schemas.microsoft.com/office/drawing/2014/main" id="{112AFCAF-C883-418A-9CC5-BCD19344D7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5" y="3410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16" name="公式" r:id="rId14" imgW="76149" imgH="85725" progId="Equation.3">
                    <p:embed/>
                  </p:oleObj>
                </mc:Choice>
                <mc:Fallback>
                  <p:oleObj name="公式" r:id="rId14" imgW="76149" imgH="85725" progId="Equation.3">
                    <p:embed/>
                    <p:pic>
                      <p:nvPicPr>
                        <p:cNvPr id="20529" name="Object 7">
                          <a:extLst>
                            <a:ext uri="{FF2B5EF4-FFF2-40B4-BE49-F238E27FC236}">
                              <a16:creationId xmlns:a16="http://schemas.microsoft.com/office/drawing/2014/main" id="{112AFCAF-C883-418A-9CC5-BCD19344D7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5" y="3410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30" name="Line 65">
              <a:extLst>
                <a:ext uri="{FF2B5EF4-FFF2-40B4-BE49-F238E27FC236}">
                  <a16:creationId xmlns:a16="http://schemas.microsoft.com/office/drawing/2014/main" id="{4E1D5B80-E48F-400C-BCBB-A98ADAB19C8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96" y="2959"/>
              <a:ext cx="0" cy="960"/>
            </a:xfrm>
            <a:prstGeom prst="line">
              <a:avLst/>
            </a:prstGeom>
            <a:noFill/>
            <a:ln w="19050">
              <a:solidFill>
                <a:srgbClr val="CCFFCC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31" name="Object 8">
              <a:extLst>
                <a:ext uri="{FF2B5EF4-FFF2-40B4-BE49-F238E27FC236}">
                  <a16:creationId xmlns:a16="http://schemas.microsoft.com/office/drawing/2014/main" id="{1B5BBEA5-496E-40D1-9DD3-35448F88A8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08" y="3410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17" name="公式" r:id="rId16" imgW="76149" imgH="85725" progId="Equation.3">
                    <p:embed/>
                  </p:oleObj>
                </mc:Choice>
                <mc:Fallback>
                  <p:oleObj name="公式" r:id="rId16" imgW="76149" imgH="85725" progId="Equation.3">
                    <p:embed/>
                    <p:pic>
                      <p:nvPicPr>
                        <p:cNvPr id="20531" name="Object 8">
                          <a:extLst>
                            <a:ext uri="{FF2B5EF4-FFF2-40B4-BE49-F238E27FC236}">
                              <a16:creationId xmlns:a16="http://schemas.microsoft.com/office/drawing/2014/main" id="{1B5BBEA5-496E-40D1-9DD3-35448F88A8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8" y="3410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2" name="Object 9">
              <a:extLst>
                <a:ext uri="{FF2B5EF4-FFF2-40B4-BE49-F238E27FC236}">
                  <a16:creationId xmlns:a16="http://schemas.microsoft.com/office/drawing/2014/main" id="{C64229D8-9090-4340-B902-1C5251209B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3410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18" name="公式" r:id="rId18" imgW="76149" imgH="85725" progId="Equation.3">
                    <p:embed/>
                  </p:oleObj>
                </mc:Choice>
                <mc:Fallback>
                  <p:oleObj name="公式" r:id="rId18" imgW="76149" imgH="85725" progId="Equation.3">
                    <p:embed/>
                    <p:pic>
                      <p:nvPicPr>
                        <p:cNvPr id="20532" name="Object 9">
                          <a:extLst>
                            <a:ext uri="{FF2B5EF4-FFF2-40B4-BE49-F238E27FC236}">
                              <a16:creationId xmlns:a16="http://schemas.microsoft.com/office/drawing/2014/main" id="{C64229D8-9090-4340-B902-1C5251209B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410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3" name="Object 10">
              <a:extLst>
                <a:ext uri="{FF2B5EF4-FFF2-40B4-BE49-F238E27FC236}">
                  <a16:creationId xmlns:a16="http://schemas.microsoft.com/office/drawing/2014/main" id="{F9C25806-8B48-4194-8E3D-801CEEBE1B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9" y="3088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19" name="公式" r:id="rId20" imgW="76149" imgH="85725" progId="Equation.3">
                    <p:embed/>
                  </p:oleObj>
                </mc:Choice>
                <mc:Fallback>
                  <p:oleObj name="公式" r:id="rId20" imgW="76149" imgH="85725" progId="Equation.3">
                    <p:embed/>
                    <p:pic>
                      <p:nvPicPr>
                        <p:cNvPr id="20533" name="Object 10">
                          <a:extLst>
                            <a:ext uri="{FF2B5EF4-FFF2-40B4-BE49-F238E27FC236}">
                              <a16:creationId xmlns:a16="http://schemas.microsoft.com/office/drawing/2014/main" id="{F9C25806-8B48-4194-8E3D-801CEEBE1B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9" y="3088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4" name="Object 11">
              <a:extLst>
                <a:ext uri="{FF2B5EF4-FFF2-40B4-BE49-F238E27FC236}">
                  <a16:creationId xmlns:a16="http://schemas.microsoft.com/office/drawing/2014/main" id="{AE83C5A3-CCC6-45DB-BEB2-68B3E18B1E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1" y="3241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20" name="公式" r:id="rId22" imgW="76149" imgH="85725" progId="Equation.3">
                    <p:embed/>
                  </p:oleObj>
                </mc:Choice>
                <mc:Fallback>
                  <p:oleObj name="公式" r:id="rId22" imgW="76149" imgH="85725" progId="Equation.3">
                    <p:embed/>
                    <p:pic>
                      <p:nvPicPr>
                        <p:cNvPr id="20534" name="Object 11">
                          <a:extLst>
                            <a:ext uri="{FF2B5EF4-FFF2-40B4-BE49-F238E27FC236}">
                              <a16:creationId xmlns:a16="http://schemas.microsoft.com/office/drawing/2014/main" id="{AE83C5A3-CCC6-45DB-BEB2-68B3E18B1E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1" y="3241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5" name="Object 12">
              <a:extLst>
                <a:ext uri="{FF2B5EF4-FFF2-40B4-BE49-F238E27FC236}">
                  <a16:creationId xmlns:a16="http://schemas.microsoft.com/office/drawing/2014/main" id="{5CCB4944-DB8B-424B-9C3C-A1D20DD8A1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8" y="3410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21" name="公式" r:id="rId24" imgW="76149" imgH="85725" progId="Equation.3">
                    <p:embed/>
                  </p:oleObj>
                </mc:Choice>
                <mc:Fallback>
                  <p:oleObj name="公式" r:id="rId24" imgW="76149" imgH="85725" progId="Equation.3">
                    <p:embed/>
                    <p:pic>
                      <p:nvPicPr>
                        <p:cNvPr id="20535" name="Object 12">
                          <a:extLst>
                            <a:ext uri="{FF2B5EF4-FFF2-40B4-BE49-F238E27FC236}">
                              <a16:creationId xmlns:a16="http://schemas.microsoft.com/office/drawing/2014/main" id="{5CCB4944-DB8B-424B-9C3C-A1D20DD8A1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8" y="3410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6" name="Object 13">
              <a:extLst>
                <a:ext uri="{FF2B5EF4-FFF2-40B4-BE49-F238E27FC236}">
                  <a16:creationId xmlns:a16="http://schemas.microsoft.com/office/drawing/2014/main" id="{E982AF0F-3B72-4CA2-8BE2-8167CED871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1" y="3185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22" name="公式" r:id="rId26" imgW="76149" imgH="85725" progId="Equation.3">
                    <p:embed/>
                  </p:oleObj>
                </mc:Choice>
                <mc:Fallback>
                  <p:oleObj name="公式" r:id="rId26" imgW="76149" imgH="85725" progId="Equation.3">
                    <p:embed/>
                    <p:pic>
                      <p:nvPicPr>
                        <p:cNvPr id="20536" name="Object 13">
                          <a:extLst>
                            <a:ext uri="{FF2B5EF4-FFF2-40B4-BE49-F238E27FC236}">
                              <a16:creationId xmlns:a16="http://schemas.microsoft.com/office/drawing/2014/main" id="{E982AF0F-3B72-4CA2-8BE2-8167CED871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1" y="3185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7" name="Object 14">
              <a:extLst>
                <a:ext uri="{FF2B5EF4-FFF2-40B4-BE49-F238E27FC236}">
                  <a16:creationId xmlns:a16="http://schemas.microsoft.com/office/drawing/2014/main" id="{A011BDE7-84A4-42DF-8B38-7DC77DDC3F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52" y="3298"/>
            <a:ext cx="70" cy="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23" name="公式" r:id="rId28" imgW="76149" imgH="85725" progId="Equation.3">
                    <p:embed/>
                  </p:oleObj>
                </mc:Choice>
                <mc:Fallback>
                  <p:oleObj name="公式" r:id="rId28" imgW="76149" imgH="85725" progId="Equation.3">
                    <p:embed/>
                    <p:pic>
                      <p:nvPicPr>
                        <p:cNvPr id="20537" name="Object 14">
                          <a:extLst>
                            <a:ext uri="{FF2B5EF4-FFF2-40B4-BE49-F238E27FC236}">
                              <a16:creationId xmlns:a16="http://schemas.microsoft.com/office/drawing/2014/main" id="{A011BDE7-84A4-42DF-8B38-7DC77DDC3F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2" y="3298"/>
                          <a:ext cx="70" cy="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8" name="Object 15">
              <a:extLst>
                <a:ext uri="{FF2B5EF4-FFF2-40B4-BE49-F238E27FC236}">
                  <a16:creationId xmlns:a16="http://schemas.microsoft.com/office/drawing/2014/main" id="{E604799B-4146-4775-967D-BF80A3962E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1" y="3563"/>
            <a:ext cx="70" cy="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24" name="公式" r:id="rId30" imgW="76149" imgH="85725" progId="Equation.3">
                    <p:embed/>
                  </p:oleObj>
                </mc:Choice>
                <mc:Fallback>
                  <p:oleObj name="公式" r:id="rId30" imgW="76149" imgH="85725" progId="Equation.3">
                    <p:embed/>
                    <p:pic>
                      <p:nvPicPr>
                        <p:cNvPr id="20538" name="Object 15">
                          <a:extLst>
                            <a:ext uri="{FF2B5EF4-FFF2-40B4-BE49-F238E27FC236}">
                              <a16:creationId xmlns:a16="http://schemas.microsoft.com/office/drawing/2014/main" id="{E604799B-4146-4775-967D-BF80A3962E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1" y="3563"/>
                          <a:ext cx="70" cy="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9" name="Object 16">
              <a:extLst>
                <a:ext uri="{FF2B5EF4-FFF2-40B4-BE49-F238E27FC236}">
                  <a16:creationId xmlns:a16="http://schemas.microsoft.com/office/drawing/2014/main" id="{683F423C-1777-4039-B04E-BAFD2527F9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52" y="3622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25" name="公式" r:id="rId32" imgW="76149" imgH="85725" progId="Equation.3">
                    <p:embed/>
                  </p:oleObj>
                </mc:Choice>
                <mc:Fallback>
                  <p:oleObj name="公式" r:id="rId32" imgW="76149" imgH="85725" progId="Equation.3">
                    <p:embed/>
                    <p:pic>
                      <p:nvPicPr>
                        <p:cNvPr id="20539" name="Object 16">
                          <a:extLst>
                            <a:ext uri="{FF2B5EF4-FFF2-40B4-BE49-F238E27FC236}">
                              <a16:creationId xmlns:a16="http://schemas.microsoft.com/office/drawing/2014/main" id="{683F423C-1777-4039-B04E-BAFD2527F9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2" y="3622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0" name="Object 17">
              <a:extLst>
                <a:ext uri="{FF2B5EF4-FFF2-40B4-BE49-F238E27FC236}">
                  <a16:creationId xmlns:a16="http://schemas.microsoft.com/office/drawing/2014/main" id="{E882CE35-D789-410E-8A8D-392E59964F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60" y="3511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26" name="公式" r:id="rId34" imgW="76149" imgH="85725" progId="Equation.3">
                    <p:embed/>
                  </p:oleObj>
                </mc:Choice>
                <mc:Fallback>
                  <p:oleObj name="公式" r:id="rId34" imgW="76149" imgH="85725" progId="Equation.3">
                    <p:embed/>
                    <p:pic>
                      <p:nvPicPr>
                        <p:cNvPr id="20540" name="Object 17">
                          <a:extLst>
                            <a:ext uri="{FF2B5EF4-FFF2-40B4-BE49-F238E27FC236}">
                              <a16:creationId xmlns:a16="http://schemas.microsoft.com/office/drawing/2014/main" id="{E882CE35-D789-410E-8A8D-392E59964F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0" y="3511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1" name="Object 18">
              <a:extLst>
                <a:ext uri="{FF2B5EF4-FFF2-40B4-BE49-F238E27FC236}">
                  <a16:creationId xmlns:a16="http://schemas.microsoft.com/office/drawing/2014/main" id="{FBF4DC51-3D23-4A05-9213-487951F103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8" y="3199"/>
            <a:ext cx="70" cy="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27" name="公式" r:id="rId36" imgW="76149" imgH="85725" progId="Equation.3">
                    <p:embed/>
                  </p:oleObj>
                </mc:Choice>
                <mc:Fallback>
                  <p:oleObj name="公式" r:id="rId36" imgW="76149" imgH="85725" progId="Equation.3">
                    <p:embed/>
                    <p:pic>
                      <p:nvPicPr>
                        <p:cNvPr id="20541" name="Object 18">
                          <a:extLst>
                            <a:ext uri="{FF2B5EF4-FFF2-40B4-BE49-F238E27FC236}">
                              <a16:creationId xmlns:a16="http://schemas.microsoft.com/office/drawing/2014/main" id="{FBF4DC51-3D23-4A05-9213-487951F103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8" y="3199"/>
                          <a:ext cx="70" cy="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2" name="Object 19">
              <a:extLst>
                <a:ext uri="{FF2B5EF4-FFF2-40B4-BE49-F238E27FC236}">
                  <a16:creationId xmlns:a16="http://schemas.microsoft.com/office/drawing/2014/main" id="{88AF88DB-DCB4-4D0F-9D2D-9356DE4137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77" y="3294"/>
            <a:ext cx="70" cy="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28" name="公式" r:id="rId38" imgW="76149" imgH="85725" progId="Equation.3">
                    <p:embed/>
                  </p:oleObj>
                </mc:Choice>
                <mc:Fallback>
                  <p:oleObj name="公式" r:id="rId38" imgW="76149" imgH="85725" progId="Equation.3">
                    <p:embed/>
                    <p:pic>
                      <p:nvPicPr>
                        <p:cNvPr id="20542" name="Object 19">
                          <a:extLst>
                            <a:ext uri="{FF2B5EF4-FFF2-40B4-BE49-F238E27FC236}">
                              <a16:creationId xmlns:a16="http://schemas.microsoft.com/office/drawing/2014/main" id="{88AF88DB-DCB4-4D0F-9D2D-9356DE4137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7" y="3294"/>
                          <a:ext cx="70" cy="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3" name="Object 20">
              <a:extLst>
                <a:ext uri="{FF2B5EF4-FFF2-40B4-BE49-F238E27FC236}">
                  <a16:creationId xmlns:a16="http://schemas.microsoft.com/office/drawing/2014/main" id="{52F39924-D0C6-42C3-8030-C7A7C3161A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3" y="3616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29" name="公式" r:id="rId40" imgW="76149" imgH="85725" progId="Equation.3">
                    <p:embed/>
                  </p:oleObj>
                </mc:Choice>
                <mc:Fallback>
                  <p:oleObj name="公式" r:id="rId40" imgW="76149" imgH="85725" progId="Equation.3">
                    <p:embed/>
                    <p:pic>
                      <p:nvPicPr>
                        <p:cNvPr id="20543" name="Object 20">
                          <a:extLst>
                            <a:ext uri="{FF2B5EF4-FFF2-40B4-BE49-F238E27FC236}">
                              <a16:creationId xmlns:a16="http://schemas.microsoft.com/office/drawing/2014/main" id="{52F39924-D0C6-42C3-8030-C7A7C3161A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3" y="3616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4" name="Object 21">
              <a:extLst>
                <a:ext uri="{FF2B5EF4-FFF2-40B4-BE49-F238E27FC236}">
                  <a16:creationId xmlns:a16="http://schemas.microsoft.com/office/drawing/2014/main" id="{0F0A8542-B348-4EE2-AC7B-C22C0403E8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76" y="3519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30" name="公式" r:id="rId42" imgW="76149" imgH="85725" progId="Equation.3">
                    <p:embed/>
                  </p:oleObj>
                </mc:Choice>
                <mc:Fallback>
                  <p:oleObj name="公式" r:id="rId42" imgW="76149" imgH="85725" progId="Equation.3">
                    <p:embed/>
                    <p:pic>
                      <p:nvPicPr>
                        <p:cNvPr id="20544" name="Object 21">
                          <a:extLst>
                            <a:ext uri="{FF2B5EF4-FFF2-40B4-BE49-F238E27FC236}">
                              <a16:creationId xmlns:a16="http://schemas.microsoft.com/office/drawing/2014/main" id="{0F0A8542-B348-4EE2-AC7B-C22C0403E8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3519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5" name="Object 22">
              <a:extLst>
                <a:ext uri="{FF2B5EF4-FFF2-40B4-BE49-F238E27FC236}">
                  <a16:creationId xmlns:a16="http://schemas.microsoft.com/office/drawing/2014/main" id="{A083B66E-616B-4C53-9153-3463C05EE6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1" y="3705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31" name="公式" r:id="rId44" imgW="76149" imgH="85725" progId="Equation.3">
                    <p:embed/>
                  </p:oleObj>
                </mc:Choice>
                <mc:Fallback>
                  <p:oleObj name="公式" r:id="rId44" imgW="76149" imgH="85725" progId="Equation.3">
                    <p:embed/>
                    <p:pic>
                      <p:nvPicPr>
                        <p:cNvPr id="20545" name="Object 22">
                          <a:extLst>
                            <a:ext uri="{FF2B5EF4-FFF2-40B4-BE49-F238E27FC236}">
                              <a16:creationId xmlns:a16="http://schemas.microsoft.com/office/drawing/2014/main" id="{A083B66E-616B-4C53-9153-3463C05EE6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1" y="3705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2801" name="Rectangle 81">
            <a:extLst>
              <a:ext uri="{FF2B5EF4-FFF2-40B4-BE49-F238E27FC236}">
                <a16:creationId xmlns:a16="http://schemas.microsoft.com/office/drawing/2014/main" id="{DB6A5639-7D86-4E25-BFD8-0FE6A9102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928688"/>
            <a:ext cx="18843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chemeClr val="bg1"/>
                </a:solidFill>
              </a:rPr>
              <a:t>( </a:t>
            </a:r>
            <a:r>
              <a:rPr lang="en-US" altLang="zh-CN" sz="2000">
                <a:solidFill>
                  <a:srgbClr val="66FFFF"/>
                </a:solidFill>
              </a:rPr>
              <a:t>o </a:t>
            </a:r>
            <a:r>
              <a:rPr lang="zh-CN" altLang="en-US" sz="2000">
                <a:solidFill>
                  <a:srgbClr val="66FFFF"/>
                </a:solidFill>
                <a:latin typeface="Arial" panose="020B0604020202020204" pitchFamily="34" charset="0"/>
                <a:ea typeface="楷体_GB2312" pitchFamily="49" charset="-122"/>
              </a:rPr>
              <a:t>光</a:t>
            </a: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主折射率</a:t>
            </a:r>
            <a:r>
              <a:rPr lang="en-US" altLang="zh-CN" sz="200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42802" name="Rectangle 82">
            <a:extLst>
              <a:ext uri="{FF2B5EF4-FFF2-40B4-BE49-F238E27FC236}">
                <a16:creationId xmlns:a16="http://schemas.microsoft.com/office/drawing/2014/main" id="{A094586D-DB57-438C-AF99-17D011881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25" y="949325"/>
            <a:ext cx="1870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chemeClr val="bg1"/>
                </a:solidFill>
              </a:rPr>
              <a:t>( </a:t>
            </a:r>
            <a:r>
              <a:rPr lang="en-US" altLang="zh-CN" sz="2000">
                <a:solidFill>
                  <a:srgbClr val="66FFFF"/>
                </a:solidFill>
              </a:rPr>
              <a:t>e </a:t>
            </a:r>
            <a:r>
              <a:rPr lang="zh-CN" altLang="en-US" sz="2000">
                <a:solidFill>
                  <a:srgbClr val="66FFFF"/>
                </a:solidFill>
                <a:ea typeface="楷体_GB2312" pitchFamily="49" charset="-122"/>
              </a:rPr>
              <a:t>光</a:t>
            </a: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主折射率</a:t>
            </a:r>
            <a:r>
              <a:rPr lang="en-US" altLang="zh-CN" sz="200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63" name="Text Box 5">
            <a:extLst>
              <a:ext uri="{FF2B5EF4-FFF2-40B4-BE49-F238E27FC236}">
                <a16:creationId xmlns:a16="http://schemas.microsoft.com/office/drawing/2014/main" id="{4CFEABEA-57AB-486B-8C69-CFE14E845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571625"/>
            <a:ext cx="1785937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FF99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CN" sz="2000">
                <a:solidFill>
                  <a:srgbClr val="66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  </a:t>
            </a:r>
            <a:r>
              <a:rPr lang="en-US" altLang="zh-CN" sz="2000">
                <a:solidFill>
                  <a:srgbClr val="66FFFF"/>
                </a:solidFill>
                <a:ea typeface="仿宋_GB2312"/>
                <a:cs typeface="仿宋_GB2312"/>
              </a:rPr>
              <a:t>o </a:t>
            </a:r>
            <a:r>
              <a:rPr lang="zh-CN" altLang="en-US" sz="2000">
                <a:solidFill>
                  <a:srgbClr val="66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光</a:t>
            </a:r>
            <a:r>
              <a:rPr kumimoji="0" lang="zh-CN" altLang="en-US" sz="2000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沿不同方向的传播速率相同，其子波波面是球面</a:t>
            </a:r>
          </a:p>
        </p:txBody>
      </p:sp>
      <p:sp>
        <p:nvSpPr>
          <p:cNvPr id="64" name="Text Box 31">
            <a:extLst>
              <a:ext uri="{FF2B5EF4-FFF2-40B4-BE49-F238E27FC236}">
                <a16:creationId xmlns:a16="http://schemas.microsoft.com/office/drawing/2014/main" id="{5159C8A4-3EB5-4649-89CA-D182DD884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938" y="1428750"/>
            <a:ext cx="1785937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FF99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CN" sz="2000">
                <a:solidFill>
                  <a:srgbClr val="00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  </a:t>
            </a:r>
            <a:r>
              <a:rPr lang="en-US" altLang="zh-CN" sz="2000">
                <a:solidFill>
                  <a:srgbClr val="00FFFF"/>
                </a:solidFill>
                <a:ea typeface="仿宋_GB2312"/>
                <a:cs typeface="仿宋_GB2312"/>
              </a:rPr>
              <a:t>e </a:t>
            </a:r>
            <a:r>
              <a:rPr lang="zh-CN" altLang="en-US" sz="2000">
                <a:solidFill>
                  <a:srgbClr val="66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光</a:t>
            </a:r>
            <a:r>
              <a:rPr kumimoji="0" lang="zh-CN" altLang="en-US" sz="2000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沿不同方向的传播速率不相同，其子波波面是以光轴为轴的旋转椭球面</a:t>
            </a:r>
            <a:endParaRPr kumimoji="0" lang="en-US" altLang="zh-CN" sz="2000">
              <a:solidFill>
                <a:schemeClr val="bg1"/>
              </a:solidFill>
              <a:latin typeface="宋体" panose="02010600030101010101" pitchFamily="2" charset="-122"/>
              <a:ea typeface="仿宋_GB2312"/>
              <a:cs typeface="仿宋_GB2312"/>
            </a:endParaRPr>
          </a:p>
        </p:txBody>
      </p:sp>
      <p:sp>
        <p:nvSpPr>
          <p:cNvPr id="62" name="Text Box 68">
            <a:extLst>
              <a:ext uri="{FF2B5EF4-FFF2-40B4-BE49-F238E27FC236}">
                <a16:creationId xmlns:a16="http://schemas.microsoft.com/office/drawing/2014/main" id="{310BB997-7268-475C-9E0A-E8E8CF092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62611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FFFF66"/>
                </a:solidFill>
              </a:rPr>
              <a:t>正晶体</a:t>
            </a:r>
            <a:r>
              <a:rPr kumimoji="0" lang="en-US" altLang="zh-CN">
                <a:solidFill>
                  <a:srgbClr val="FFFF66"/>
                </a:solidFill>
              </a:rPr>
              <a:t>:</a:t>
            </a:r>
            <a:endParaRPr kumimoji="0" lang="zh-CN" altLang="en-US" sz="3200" i="1" baseline="-25000">
              <a:solidFill>
                <a:srgbClr val="FFFF66"/>
              </a:solidFill>
            </a:endParaRPr>
          </a:p>
        </p:txBody>
      </p:sp>
      <p:graphicFrame>
        <p:nvGraphicFramePr>
          <p:cNvPr id="65" name="Object 62">
            <a:extLst>
              <a:ext uri="{FF2B5EF4-FFF2-40B4-BE49-F238E27FC236}">
                <a16:creationId xmlns:a16="http://schemas.microsoft.com/office/drawing/2014/main" id="{4C31A887-AC8E-4B29-8877-31F426DB96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4050" y="6165850"/>
          <a:ext cx="12350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32" name="Equation" r:id="rId46" imgW="418973" imgH="190432" progId="Equation.3">
                  <p:embed/>
                </p:oleObj>
              </mc:Choice>
              <mc:Fallback>
                <p:oleObj name="Equation" r:id="rId46" imgW="418973" imgH="190432" progId="Equation.3">
                  <p:embed/>
                  <p:pic>
                    <p:nvPicPr>
                      <p:cNvPr id="65" name="Object 62">
                        <a:extLst>
                          <a:ext uri="{FF2B5EF4-FFF2-40B4-BE49-F238E27FC236}">
                            <a16:creationId xmlns:a16="http://schemas.microsoft.com/office/drawing/2014/main" id="{4C31A887-AC8E-4B29-8877-31F426DB96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6165850"/>
                        <a:ext cx="12350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3">
            <a:extLst>
              <a:ext uri="{FF2B5EF4-FFF2-40B4-BE49-F238E27FC236}">
                <a16:creationId xmlns:a16="http://schemas.microsoft.com/office/drawing/2014/main" id="{6EEB2677-B9E6-4E11-9D14-2749325BA6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4050" y="6215063"/>
          <a:ext cx="12192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33" name="Equation" r:id="rId48" imgW="418973" imgH="190432" progId="Equation.3">
                  <p:embed/>
                </p:oleObj>
              </mc:Choice>
              <mc:Fallback>
                <p:oleObj name="Equation" r:id="rId48" imgW="418973" imgH="190432" progId="Equation.3">
                  <p:embed/>
                  <p:pic>
                    <p:nvPicPr>
                      <p:cNvPr id="66" name="Object 63">
                        <a:extLst>
                          <a:ext uri="{FF2B5EF4-FFF2-40B4-BE49-F238E27FC236}">
                            <a16:creationId xmlns:a16="http://schemas.microsoft.com/office/drawing/2014/main" id="{6EEB2677-B9E6-4E11-9D14-2749325BA6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6215063"/>
                        <a:ext cx="12192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Oval 71">
            <a:extLst>
              <a:ext uri="{FF2B5EF4-FFF2-40B4-BE49-F238E27FC236}">
                <a16:creationId xmlns:a16="http://schemas.microsoft.com/office/drawing/2014/main" id="{600C4395-89AC-4F24-AE22-3EB5852EE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4516438"/>
            <a:ext cx="1671637" cy="1587500"/>
          </a:xfrm>
          <a:prstGeom prst="ellipse">
            <a:avLst/>
          </a:prstGeom>
          <a:noFill/>
          <a:ln w="22225">
            <a:solidFill>
              <a:srgbClr val="99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68" name="Oval 72">
            <a:extLst>
              <a:ext uri="{FF2B5EF4-FFF2-40B4-BE49-F238E27FC236}">
                <a16:creationId xmlns:a16="http://schemas.microsoft.com/office/drawing/2014/main" id="{79BBD34B-3CFB-464D-B94E-4DF7B772F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763" y="4516438"/>
            <a:ext cx="890587" cy="1587500"/>
          </a:xfrm>
          <a:prstGeom prst="ellipse">
            <a:avLst/>
          </a:prstGeom>
          <a:noFill/>
          <a:ln w="222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69" name="Line 73">
            <a:extLst>
              <a:ext uri="{FF2B5EF4-FFF2-40B4-BE49-F238E27FC236}">
                <a16:creationId xmlns:a16="http://schemas.microsoft.com/office/drawing/2014/main" id="{DCE25F64-F33A-4F4B-AB93-5A4A16CEBF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6963" y="4364038"/>
            <a:ext cx="1587" cy="1982787"/>
          </a:xfrm>
          <a:prstGeom prst="line">
            <a:avLst/>
          </a:prstGeom>
          <a:noFill/>
          <a:ln w="19050">
            <a:solidFill>
              <a:schemeClr val="bg1"/>
            </a:solidFill>
            <a:prstDash val="lgDash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74">
            <a:extLst>
              <a:ext uri="{FF2B5EF4-FFF2-40B4-BE49-F238E27FC236}">
                <a16:creationId xmlns:a16="http://schemas.microsoft.com/office/drawing/2014/main" id="{9F17FB13-3DCC-46D4-81A9-D9699AB314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6963" y="5354638"/>
            <a:ext cx="444500" cy="1587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75">
            <a:extLst>
              <a:ext uri="{FF2B5EF4-FFF2-40B4-BE49-F238E27FC236}">
                <a16:creationId xmlns:a16="http://schemas.microsoft.com/office/drawing/2014/main" id="{CB18BB02-F40D-43E9-95B9-E3559C09C9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8763" y="5354638"/>
            <a:ext cx="838200" cy="0"/>
          </a:xfrm>
          <a:prstGeom prst="line">
            <a:avLst/>
          </a:prstGeom>
          <a:noFill/>
          <a:ln w="19050">
            <a:solidFill>
              <a:srgbClr val="99FF33"/>
            </a:solidFill>
            <a:round/>
            <a:headEnd type="triangle" w="sm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Rectangle 76">
            <a:extLst>
              <a:ext uri="{FF2B5EF4-FFF2-40B4-BE49-F238E27FC236}">
                <a16:creationId xmlns:a16="http://schemas.microsoft.com/office/drawing/2014/main" id="{F79F51D1-017C-4809-91E5-87A8F4A7B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4200525"/>
            <a:ext cx="102235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 sz="2000">
                <a:solidFill>
                  <a:schemeClr val="bg1"/>
                </a:solidFill>
              </a:rPr>
              <a:t>光轴</a:t>
            </a:r>
          </a:p>
        </p:txBody>
      </p:sp>
      <p:graphicFrame>
        <p:nvGraphicFramePr>
          <p:cNvPr id="73" name="Object 64">
            <a:extLst>
              <a:ext uri="{FF2B5EF4-FFF2-40B4-BE49-F238E27FC236}">
                <a16:creationId xmlns:a16="http://schemas.microsoft.com/office/drawing/2014/main" id="{BE3A6E66-F3F2-4059-AA7D-784034DC317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5689" y="5075238"/>
          <a:ext cx="8509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34" name="公式" r:id="rId50" imgW="314382" imgH="199923" progId="Equation.3">
                  <p:embed/>
                </p:oleObj>
              </mc:Choice>
              <mc:Fallback>
                <p:oleObj name="公式" r:id="rId50" imgW="314382" imgH="199923" progId="Equation.3">
                  <p:embed/>
                  <p:pic>
                    <p:nvPicPr>
                      <p:cNvPr id="73" name="Object 64">
                        <a:extLst>
                          <a:ext uri="{FF2B5EF4-FFF2-40B4-BE49-F238E27FC236}">
                            <a16:creationId xmlns:a16="http://schemas.microsoft.com/office/drawing/2014/main" id="{BE3A6E66-F3F2-4059-AA7D-784034DC31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689" y="5075238"/>
                        <a:ext cx="8509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65">
            <a:extLst>
              <a:ext uri="{FF2B5EF4-FFF2-40B4-BE49-F238E27FC236}">
                <a16:creationId xmlns:a16="http://schemas.microsoft.com/office/drawing/2014/main" id="{2872D2C5-54EA-4E9E-91FE-ED7A7E198C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7438" y="4786313"/>
          <a:ext cx="8509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35" name="公式" r:id="rId52" imgW="314382" imgH="199923" progId="Equation.3">
                  <p:embed/>
                </p:oleObj>
              </mc:Choice>
              <mc:Fallback>
                <p:oleObj name="公式" r:id="rId52" imgW="314382" imgH="199923" progId="Equation.3">
                  <p:embed/>
                  <p:pic>
                    <p:nvPicPr>
                      <p:cNvPr id="74" name="Object 65">
                        <a:extLst>
                          <a:ext uri="{FF2B5EF4-FFF2-40B4-BE49-F238E27FC236}">
                            <a16:creationId xmlns:a16="http://schemas.microsoft.com/office/drawing/2014/main" id="{2872D2C5-54EA-4E9E-91FE-ED7A7E198C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4786313"/>
                        <a:ext cx="8509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Oval 79">
            <a:extLst>
              <a:ext uri="{FF2B5EF4-FFF2-40B4-BE49-F238E27FC236}">
                <a16:creationId xmlns:a16="http://schemas.microsoft.com/office/drawing/2014/main" id="{F9B12CB6-778C-452A-A89C-C76D30C55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648200"/>
            <a:ext cx="2247900" cy="1206500"/>
          </a:xfrm>
          <a:prstGeom prst="ellipse">
            <a:avLst/>
          </a:prstGeom>
          <a:noFill/>
          <a:ln w="2222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76" name="Oval 80">
            <a:extLst>
              <a:ext uri="{FF2B5EF4-FFF2-40B4-BE49-F238E27FC236}">
                <a16:creationId xmlns:a16="http://schemas.microsoft.com/office/drawing/2014/main" id="{A70E8ED7-B0C7-4F1F-9673-07FEEEE24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200" y="4648200"/>
            <a:ext cx="1219200" cy="1206500"/>
          </a:xfrm>
          <a:prstGeom prst="ellipse">
            <a:avLst/>
          </a:prstGeom>
          <a:noFill/>
          <a:ln w="22225">
            <a:solidFill>
              <a:srgbClr val="99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77" name="Line 81">
            <a:extLst>
              <a:ext uri="{FF2B5EF4-FFF2-40B4-BE49-F238E27FC236}">
                <a16:creationId xmlns:a16="http://schemas.microsoft.com/office/drawing/2014/main" id="{651473D2-9607-4F70-A026-55AF162AE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4325938"/>
            <a:ext cx="0" cy="1855787"/>
          </a:xfrm>
          <a:prstGeom prst="line">
            <a:avLst/>
          </a:prstGeom>
          <a:noFill/>
          <a:ln w="22225">
            <a:solidFill>
              <a:schemeClr val="bg1"/>
            </a:solidFill>
            <a:prstDash val="lgDash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Line 82">
            <a:extLst>
              <a:ext uri="{FF2B5EF4-FFF2-40B4-BE49-F238E27FC236}">
                <a16:creationId xmlns:a16="http://schemas.microsoft.com/office/drawing/2014/main" id="{2CC788F8-75AB-40D3-8637-AB92838A2D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5232400"/>
            <a:ext cx="11303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83">
            <a:extLst>
              <a:ext uri="{FF2B5EF4-FFF2-40B4-BE49-F238E27FC236}">
                <a16:creationId xmlns:a16="http://schemas.microsoft.com/office/drawing/2014/main" id="{881647F5-8A21-4985-A129-FE9EA647B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5232400"/>
            <a:ext cx="609600" cy="0"/>
          </a:xfrm>
          <a:prstGeom prst="line">
            <a:avLst/>
          </a:prstGeom>
          <a:noFill/>
          <a:ln w="19050">
            <a:solidFill>
              <a:srgbClr val="99FF33"/>
            </a:solidFill>
            <a:round/>
            <a:headEnd type="triangle" w="sm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Rectangle 84">
            <a:extLst>
              <a:ext uri="{FF2B5EF4-FFF2-40B4-BE49-F238E27FC236}">
                <a16:creationId xmlns:a16="http://schemas.microsoft.com/office/drawing/2014/main" id="{8AB9C88E-FA96-4B8D-B403-AD1AF1055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25" y="4286250"/>
            <a:ext cx="11430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 sz="2000">
                <a:solidFill>
                  <a:schemeClr val="bg1"/>
                </a:solidFill>
              </a:rPr>
              <a:t>光轴</a:t>
            </a:r>
          </a:p>
        </p:txBody>
      </p:sp>
      <p:sp>
        <p:nvSpPr>
          <p:cNvPr id="81" name="Text Box 85">
            <a:extLst>
              <a:ext uri="{FF2B5EF4-FFF2-40B4-BE49-F238E27FC236}">
                <a16:creationId xmlns:a16="http://schemas.microsoft.com/office/drawing/2014/main" id="{7E62A617-5F1F-45C1-BE3B-CC8E4E503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6215063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FFFF66"/>
                </a:solidFill>
              </a:rPr>
              <a:t>负晶体</a:t>
            </a:r>
            <a:r>
              <a:rPr kumimoji="0" lang="en-US" altLang="zh-CN">
                <a:solidFill>
                  <a:srgbClr val="FFFF66"/>
                </a:solidFill>
              </a:rPr>
              <a:t>:</a:t>
            </a:r>
            <a:endParaRPr kumimoji="0" lang="zh-CN" altLang="en-US" i="1" baseline="-25000">
              <a:solidFill>
                <a:srgbClr val="FFFF66"/>
              </a:solidFill>
            </a:endParaRPr>
          </a:p>
        </p:txBody>
      </p:sp>
      <p:graphicFrame>
        <p:nvGraphicFramePr>
          <p:cNvPr id="82" name="Object 66">
            <a:extLst>
              <a:ext uri="{FF2B5EF4-FFF2-40B4-BE49-F238E27FC236}">
                <a16:creationId xmlns:a16="http://schemas.microsoft.com/office/drawing/2014/main" id="{1EC05E4F-386B-4DD1-9A16-3C7CE977CA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07250" y="6135688"/>
          <a:ext cx="1222375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36" name="公式" r:id="rId54" imgW="466680" imgH="199923" progId="Equation.3">
                  <p:embed/>
                </p:oleObj>
              </mc:Choice>
              <mc:Fallback>
                <p:oleObj name="公式" r:id="rId54" imgW="466680" imgH="199923" progId="Equation.3">
                  <p:embed/>
                  <p:pic>
                    <p:nvPicPr>
                      <p:cNvPr id="82" name="Object 66">
                        <a:extLst>
                          <a:ext uri="{FF2B5EF4-FFF2-40B4-BE49-F238E27FC236}">
                            <a16:creationId xmlns:a16="http://schemas.microsoft.com/office/drawing/2014/main" id="{1EC05E4F-386B-4DD1-9A16-3C7CE977CA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0" y="6135688"/>
                        <a:ext cx="1222375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67">
            <a:extLst>
              <a:ext uri="{FF2B5EF4-FFF2-40B4-BE49-F238E27FC236}">
                <a16:creationId xmlns:a16="http://schemas.microsoft.com/office/drawing/2014/main" id="{E1245074-E177-4461-A7FD-52D8F11619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3613" y="6165850"/>
          <a:ext cx="110013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37" name="Equation" r:id="rId56" imgW="418973" imgH="190432" progId="Equation.3">
                  <p:embed/>
                </p:oleObj>
              </mc:Choice>
              <mc:Fallback>
                <p:oleObj name="Equation" r:id="rId56" imgW="418973" imgH="190432" progId="Equation.3">
                  <p:embed/>
                  <p:pic>
                    <p:nvPicPr>
                      <p:cNvPr id="83" name="Object 67">
                        <a:extLst>
                          <a:ext uri="{FF2B5EF4-FFF2-40B4-BE49-F238E27FC236}">
                            <a16:creationId xmlns:a16="http://schemas.microsoft.com/office/drawing/2014/main" id="{E1245074-E177-4461-A7FD-52D8F11619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3613" y="6165850"/>
                        <a:ext cx="110013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Text Box 88">
            <a:extLst>
              <a:ext uri="{FF2B5EF4-FFF2-40B4-BE49-F238E27FC236}">
                <a16:creationId xmlns:a16="http://schemas.microsoft.com/office/drawing/2014/main" id="{3D4FE263-3853-46E6-A61F-2F0C45CB2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757613"/>
            <a:ext cx="863917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dirty="0">
                <a:solidFill>
                  <a:srgbClr val="FFFF00"/>
                </a:solidFill>
              </a:rPr>
              <a:t>o</a:t>
            </a:r>
            <a:r>
              <a:rPr kumimoji="0" lang="zh-CN" altLang="en-US" dirty="0">
                <a:solidFill>
                  <a:schemeClr val="bg1"/>
                </a:solidFill>
              </a:rPr>
              <a:t>光与</a:t>
            </a:r>
            <a:r>
              <a:rPr kumimoji="0" lang="en-US" altLang="zh-CN" dirty="0">
                <a:solidFill>
                  <a:srgbClr val="FFFF00"/>
                </a:solidFill>
              </a:rPr>
              <a:t>e</a:t>
            </a:r>
            <a:r>
              <a:rPr kumimoji="0" lang="zh-CN" altLang="en-US" dirty="0">
                <a:solidFill>
                  <a:schemeClr val="bg1"/>
                </a:solidFill>
              </a:rPr>
              <a:t>光在光轴方向速率相同，在光轴处球面与椭球面相切</a:t>
            </a:r>
          </a:p>
        </p:txBody>
      </p:sp>
      <p:graphicFrame>
        <p:nvGraphicFramePr>
          <p:cNvPr id="85" name="Object 68">
            <a:extLst>
              <a:ext uri="{FF2B5EF4-FFF2-40B4-BE49-F238E27FC236}">
                <a16:creationId xmlns:a16="http://schemas.microsoft.com/office/drawing/2014/main" id="{2FE27C37-8305-47DE-954D-60B15763E3E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989638" y="5162868"/>
          <a:ext cx="8509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38" name="公式" r:id="rId58" imgW="314382" imgH="199923" progId="Equation.3">
                  <p:embed/>
                </p:oleObj>
              </mc:Choice>
              <mc:Fallback>
                <p:oleObj name="公式" r:id="rId58" imgW="314382" imgH="199923" progId="Equation.3">
                  <p:embed/>
                  <p:pic>
                    <p:nvPicPr>
                      <p:cNvPr id="85" name="Object 68">
                        <a:extLst>
                          <a:ext uri="{FF2B5EF4-FFF2-40B4-BE49-F238E27FC236}">
                            <a16:creationId xmlns:a16="http://schemas.microsoft.com/office/drawing/2014/main" id="{2FE27C37-8305-47DE-954D-60B15763E3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638" y="5162868"/>
                        <a:ext cx="8509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69">
            <a:extLst>
              <a:ext uri="{FF2B5EF4-FFF2-40B4-BE49-F238E27FC236}">
                <a16:creationId xmlns:a16="http://schemas.microsoft.com/office/drawing/2014/main" id="{22DE17A7-3644-4E20-A77E-58970AD99E1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64337" y="4924426"/>
          <a:ext cx="8509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39" name="公式" r:id="rId60" imgW="314382" imgH="199923" progId="Equation.3">
                  <p:embed/>
                </p:oleObj>
              </mc:Choice>
              <mc:Fallback>
                <p:oleObj name="公式" r:id="rId60" imgW="314382" imgH="199923" progId="Equation.3">
                  <p:embed/>
                  <p:pic>
                    <p:nvPicPr>
                      <p:cNvPr id="86" name="Object 69">
                        <a:extLst>
                          <a:ext uri="{FF2B5EF4-FFF2-40B4-BE49-F238E27FC236}">
                            <a16:creationId xmlns:a16="http://schemas.microsoft.com/office/drawing/2014/main" id="{22DE17A7-3644-4E20-A77E-58970AD99E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4337" y="4924426"/>
                        <a:ext cx="8509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4" name="灯片编号占位符 1">
            <a:extLst>
              <a:ext uri="{FF2B5EF4-FFF2-40B4-BE49-F238E27FC236}">
                <a16:creationId xmlns:a16="http://schemas.microsoft.com/office/drawing/2014/main" id="{739E486D-4249-49F7-BEB9-308ADDE241F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6A952B-0228-4565-B648-01A68EED8261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4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4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4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4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4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4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4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4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4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4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4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5" grpId="0" autoUpdateAnimBg="0"/>
      <p:bldP spid="542747" grpId="0" autoUpdateAnimBg="0"/>
      <p:bldP spid="542748" grpId="0" animBg="1"/>
      <p:bldP spid="542770" grpId="0" autoUpdateAnimBg="0"/>
      <p:bldP spid="542772" grpId="0" autoUpdateAnimBg="0"/>
      <p:bldP spid="542777" grpId="0" autoUpdateAnimBg="0"/>
      <p:bldP spid="542801" grpId="0"/>
      <p:bldP spid="542802" grpId="0"/>
      <p:bldP spid="63" grpId="0"/>
      <p:bldP spid="64" grpId="0"/>
      <p:bldP spid="62" grpId="0" autoUpdateAnimBg="0"/>
      <p:bldP spid="67" grpId="0" animBg="1"/>
      <p:bldP spid="68" grpId="0" animBg="1"/>
      <p:bldP spid="72" grpId="0" autoUpdateAnimBg="0"/>
      <p:bldP spid="75" grpId="0" animBg="1"/>
      <p:bldP spid="76" grpId="0" animBg="1"/>
      <p:bldP spid="80" grpId="0" autoUpdateAnimBg="0"/>
      <p:bldP spid="81" grpId="0" autoUpdateAnimBg="0"/>
      <p:bldP spid="8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5">
            <a:extLst>
              <a:ext uri="{FF2B5EF4-FFF2-40B4-BE49-F238E27FC236}">
                <a16:creationId xmlns:a16="http://schemas.microsoft.com/office/drawing/2014/main" id="{4C50B5C3-2C01-40F0-AFC9-335992B40608}"/>
              </a:ext>
            </a:extLst>
          </p:cNvPr>
          <p:cNvGrpSpPr>
            <a:grpSpLocks/>
          </p:cNvGrpSpPr>
          <p:nvPr/>
        </p:nvGrpSpPr>
        <p:grpSpPr bwMode="auto">
          <a:xfrm>
            <a:off x="1000125" y="5214938"/>
            <a:ext cx="3600450" cy="1357312"/>
            <a:chOff x="1000100" y="5214950"/>
            <a:chExt cx="3600450" cy="1357322"/>
          </a:xfrm>
        </p:grpSpPr>
        <p:sp>
          <p:nvSpPr>
            <p:cNvPr id="22593" name="Rectangle 2">
              <a:extLst>
                <a:ext uri="{FF2B5EF4-FFF2-40B4-BE49-F238E27FC236}">
                  <a16:creationId xmlns:a16="http://schemas.microsoft.com/office/drawing/2014/main" id="{B86F2A05-139C-48FE-9CD9-E29F58C37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100" y="5214950"/>
              <a:ext cx="3600450" cy="1357322"/>
            </a:xfrm>
            <a:prstGeom prst="rect">
              <a:avLst/>
            </a:prstGeom>
            <a:solidFill>
              <a:srgbClr val="00CC99">
                <a:alpha val="4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2594" name="Line 64">
              <a:extLst>
                <a:ext uri="{FF2B5EF4-FFF2-40B4-BE49-F238E27FC236}">
                  <a16:creationId xmlns:a16="http://schemas.microsoft.com/office/drawing/2014/main" id="{7AC0BD03-E1F6-42F1-9568-93A5647196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0650" y="5214950"/>
              <a:ext cx="2819400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434" name="Rectangle 2">
            <a:extLst>
              <a:ext uri="{FF2B5EF4-FFF2-40B4-BE49-F238E27FC236}">
                <a16:creationId xmlns:a16="http://schemas.microsoft.com/office/drawing/2014/main" id="{EFB608DE-646A-463B-B54A-A5CBCEC52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660650"/>
            <a:ext cx="3600450" cy="1128713"/>
          </a:xfrm>
          <a:prstGeom prst="rect">
            <a:avLst/>
          </a:prstGeom>
          <a:solidFill>
            <a:srgbClr val="00CC99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8437" name="Line 5">
            <a:extLst>
              <a:ext uri="{FF2B5EF4-FFF2-40B4-BE49-F238E27FC236}">
                <a16:creationId xmlns:a16="http://schemas.microsoft.com/office/drawing/2014/main" id="{33E29A41-E575-42DF-8DA2-16A2CF350F0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5813" y="1643063"/>
            <a:ext cx="1357312" cy="1035050"/>
          </a:xfrm>
          <a:prstGeom prst="line">
            <a:avLst/>
          </a:prstGeom>
          <a:noFill/>
          <a:ln w="28575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438" name="Text Box 6">
            <a:extLst>
              <a:ext uri="{FF2B5EF4-FFF2-40B4-BE49-F238E27FC236}">
                <a16:creationId xmlns:a16="http://schemas.microsoft.com/office/drawing/2014/main" id="{161537C5-EC72-47E4-8A50-C822B98BC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448050"/>
            <a:ext cx="566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CCFFCC"/>
                </a:solidFill>
                <a:ea typeface="黑体" panose="02010609060101010101" pitchFamily="49" charset="-122"/>
              </a:rPr>
              <a:t>o</a:t>
            </a:r>
            <a:r>
              <a:rPr lang="zh-CN" altLang="zh-CN" sz="2000">
                <a:solidFill>
                  <a:srgbClr val="CCFFCC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  <a:endParaRPr lang="zh-CN" altLang="en-US" sz="2000">
              <a:solidFill>
                <a:srgbClr val="CCFF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40" name="Text Box 8">
            <a:extLst>
              <a:ext uri="{FF2B5EF4-FFF2-40B4-BE49-F238E27FC236}">
                <a16:creationId xmlns:a16="http://schemas.microsoft.com/office/drawing/2014/main" id="{64A0AB7B-F109-44E0-A168-94E0CFC71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404813"/>
            <a:ext cx="7772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66"/>
                </a:solidFill>
                <a:latin typeface="宋体" panose="02010600030101010101" pitchFamily="2" charset="-122"/>
              </a:rPr>
              <a:t>二</a:t>
            </a:r>
            <a:r>
              <a:rPr lang="en-US" altLang="zh-CN">
                <a:solidFill>
                  <a:srgbClr val="FFFF66"/>
                </a:solidFill>
              </a:rPr>
              <a:t>. </a:t>
            </a:r>
            <a:r>
              <a:rPr lang="zh-CN" altLang="en-US">
                <a:solidFill>
                  <a:srgbClr val="FFFF66"/>
                </a:solidFill>
                <a:latin typeface="宋体" panose="02010600030101010101" pitchFamily="2" charset="-122"/>
              </a:rPr>
              <a:t>单轴晶体中的双折射 </a:t>
            </a:r>
            <a:r>
              <a:rPr lang="en-US" altLang="zh-CN">
                <a:solidFill>
                  <a:schemeClr val="hlink"/>
                </a:solidFill>
              </a:rPr>
              <a:t>( </a:t>
            </a:r>
            <a:r>
              <a:rPr lang="zh-CN" altLang="en-US">
                <a:solidFill>
                  <a:schemeClr val="hlink"/>
                </a:solidFill>
                <a:latin typeface="宋体" panose="02010600030101010101" pitchFamily="2" charset="-122"/>
              </a:rPr>
              <a:t>惠更斯作图法 </a:t>
            </a:r>
            <a:r>
              <a:rPr lang="en-US" altLang="zh-CN" b="0">
                <a:solidFill>
                  <a:schemeClr val="hlink"/>
                </a:solidFill>
                <a:sym typeface="Symbol" panose="05050102010706020507" pitchFamily="18" charset="2"/>
              </a:rPr>
              <a:t>o </a:t>
            </a:r>
            <a:r>
              <a:rPr lang="zh-CN" altLang="en-US" b="0">
                <a:solidFill>
                  <a:schemeClr val="hlink"/>
                </a:solidFill>
                <a:latin typeface="Bookman Old Style" panose="02050604050505020204" pitchFamily="18" charset="0"/>
                <a:sym typeface="Symbol" panose="05050102010706020507" pitchFamily="18" charset="2"/>
              </a:rPr>
              <a:t>光和 </a:t>
            </a:r>
            <a:r>
              <a:rPr lang="en-US" altLang="zh-CN" b="0">
                <a:solidFill>
                  <a:schemeClr val="hlink"/>
                </a:solidFill>
                <a:sym typeface="Symbol" panose="05050102010706020507" pitchFamily="18" charset="2"/>
              </a:rPr>
              <a:t>e </a:t>
            </a:r>
            <a:r>
              <a:rPr lang="zh-CN" altLang="en-US" b="0">
                <a:solidFill>
                  <a:schemeClr val="hlink"/>
                </a:solidFill>
                <a:latin typeface="Bookman Old Style" panose="02050604050505020204" pitchFamily="18" charset="0"/>
                <a:sym typeface="Symbol" panose="05050102010706020507" pitchFamily="18" charset="2"/>
              </a:rPr>
              <a:t>光</a:t>
            </a:r>
            <a:r>
              <a:rPr lang="en-US" altLang="zh-CN" b="0">
                <a:solidFill>
                  <a:schemeClr val="hlink"/>
                </a:solidFill>
              </a:rPr>
              <a:t> )</a:t>
            </a:r>
          </a:p>
        </p:txBody>
      </p:sp>
      <p:sp>
        <p:nvSpPr>
          <p:cNvPr id="18451" name="Text Box 19">
            <a:extLst>
              <a:ext uri="{FF2B5EF4-FFF2-40B4-BE49-F238E27FC236}">
                <a16:creationId xmlns:a16="http://schemas.microsoft.com/office/drawing/2014/main" id="{66AE6762-7042-4690-8FDA-5F380DB42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900488"/>
            <a:ext cx="7032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自然光垂直入射负晶体（光轴在入射面内）</a:t>
            </a:r>
          </a:p>
        </p:txBody>
      </p:sp>
      <p:sp>
        <p:nvSpPr>
          <p:cNvPr id="18454" name="Text Box 22">
            <a:extLst>
              <a:ext uri="{FF2B5EF4-FFF2-40B4-BE49-F238E27FC236}">
                <a16:creationId xmlns:a16="http://schemas.microsoft.com/office/drawing/2014/main" id="{CFA96772-D31A-410D-9A8F-E7083D50D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928688"/>
            <a:ext cx="66770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chemeClr val="bg1"/>
                </a:solidFill>
              </a:rPr>
              <a:t>.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自然光斜入射负晶体（光轴在入射面内）</a:t>
            </a:r>
          </a:p>
        </p:txBody>
      </p:sp>
      <p:graphicFrame>
        <p:nvGraphicFramePr>
          <p:cNvPr id="18473" name="Object 4">
            <a:extLst>
              <a:ext uri="{FF2B5EF4-FFF2-40B4-BE49-F238E27FC236}">
                <a16:creationId xmlns:a16="http://schemas.microsoft.com/office/drawing/2014/main" id="{D668BB56-84C9-4B58-81A4-F17347A9C2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1695450"/>
          <a:ext cx="2238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46" name="公式" r:id="rId3" imgW="238233" imgH="257175" progId="Equation.3">
                  <p:embed/>
                </p:oleObj>
              </mc:Choice>
              <mc:Fallback>
                <p:oleObj name="公式" r:id="rId3" imgW="238233" imgH="257175" progId="Equation.3">
                  <p:embed/>
                  <p:pic>
                    <p:nvPicPr>
                      <p:cNvPr id="18473" name="Object 4">
                        <a:extLst>
                          <a:ext uri="{FF2B5EF4-FFF2-40B4-BE49-F238E27FC236}">
                            <a16:creationId xmlns:a16="http://schemas.microsoft.com/office/drawing/2014/main" id="{D668BB56-84C9-4B58-81A4-F17347A9C2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1695450"/>
                        <a:ext cx="22383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4" name="Object 5">
            <a:extLst>
              <a:ext uri="{FF2B5EF4-FFF2-40B4-BE49-F238E27FC236}">
                <a16:creationId xmlns:a16="http://schemas.microsoft.com/office/drawing/2014/main" id="{A22669F9-2537-43FD-A634-8CA0D3B38E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4425" y="2349500"/>
          <a:ext cx="266700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47" name="公式" r:id="rId5" imgW="295422" imgH="266666" progId="Equation.3">
                  <p:embed/>
                </p:oleObj>
              </mc:Choice>
              <mc:Fallback>
                <p:oleObj name="公式" r:id="rId5" imgW="295422" imgH="266666" progId="Equation.3">
                  <p:embed/>
                  <p:pic>
                    <p:nvPicPr>
                      <p:cNvPr id="18474" name="Object 5">
                        <a:extLst>
                          <a:ext uri="{FF2B5EF4-FFF2-40B4-BE49-F238E27FC236}">
                            <a16:creationId xmlns:a16="http://schemas.microsoft.com/office/drawing/2014/main" id="{A22669F9-2537-43FD-A634-8CA0D3B38E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4425" y="2349500"/>
                        <a:ext cx="266700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5" name="Rectangle 43">
            <a:extLst>
              <a:ext uri="{FF2B5EF4-FFF2-40B4-BE49-F238E27FC236}">
                <a16:creationId xmlns:a16="http://schemas.microsoft.com/office/drawing/2014/main" id="{C1E7A72E-E0E2-4917-8E97-C4017C239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3" y="2786063"/>
            <a:ext cx="7239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rPr>
              <a:t>光轴</a:t>
            </a:r>
            <a:endParaRPr lang="zh-CN" altLang="en-US" sz="2000" b="0">
              <a:solidFill>
                <a:srgbClr val="CCCC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76" name="Text Box 44">
            <a:extLst>
              <a:ext uri="{FF2B5EF4-FFF2-40B4-BE49-F238E27FC236}">
                <a16:creationId xmlns:a16="http://schemas.microsoft.com/office/drawing/2014/main" id="{AD092672-49C6-474A-91D8-60356FE04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3675" y="3460750"/>
            <a:ext cx="552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FFCC99"/>
                </a:solidFill>
                <a:ea typeface="黑体" panose="02010609060101010101" pitchFamily="49" charset="-122"/>
              </a:rPr>
              <a:t>e</a:t>
            </a:r>
            <a:r>
              <a:rPr lang="zh-CN" altLang="zh-CN" sz="2000">
                <a:solidFill>
                  <a:srgbClr val="FFCC99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  <a:endParaRPr lang="zh-CN" altLang="en-US" sz="2000">
              <a:solidFill>
                <a:srgbClr val="FFCC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77" name="Text Box 45">
            <a:extLst>
              <a:ext uri="{FF2B5EF4-FFF2-40B4-BE49-F238E27FC236}">
                <a16:creationId xmlns:a16="http://schemas.microsoft.com/office/drawing/2014/main" id="{5AE03C33-0C36-400B-89AB-B1AF4BAEA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38" y="6172200"/>
            <a:ext cx="571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CCFFCC"/>
                </a:solidFill>
                <a:ea typeface="黑体" panose="02010609060101010101" pitchFamily="49" charset="-122"/>
              </a:rPr>
              <a:t>o</a:t>
            </a:r>
            <a:r>
              <a:rPr lang="zh-CN" altLang="zh-CN" sz="2000">
                <a:solidFill>
                  <a:srgbClr val="CCFFCC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  <a:endParaRPr lang="zh-CN" altLang="en-US" sz="2000">
              <a:solidFill>
                <a:srgbClr val="CCFF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78" name="Text Box 46">
            <a:extLst>
              <a:ext uri="{FF2B5EF4-FFF2-40B4-BE49-F238E27FC236}">
                <a16:creationId xmlns:a16="http://schemas.microsoft.com/office/drawing/2014/main" id="{A97DD054-B279-4FDB-8817-0489ABE68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6172200"/>
            <a:ext cx="557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FFCC99"/>
                </a:solidFill>
                <a:ea typeface="黑体" panose="02010609060101010101" pitchFamily="49" charset="-122"/>
              </a:rPr>
              <a:t>e</a:t>
            </a:r>
            <a:r>
              <a:rPr lang="zh-CN" altLang="zh-CN" sz="2000">
                <a:solidFill>
                  <a:srgbClr val="FFCC99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  <a:endParaRPr lang="zh-CN" altLang="en-US" sz="2000">
              <a:solidFill>
                <a:srgbClr val="FFCC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83" name="Oval 51">
            <a:extLst>
              <a:ext uri="{FF2B5EF4-FFF2-40B4-BE49-F238E27FC236}">
                <a16:creationId xmlns:a16="http://schemas.microsoft.com/office/drawing/2014/main" id="{A2EBCD21-100E-4D3C-940A-E509B2EBFAAC}"/>
              </a:ext>
            </a:extLst>
          </p:cNvPr>
          <p:cNvSpPr>
            <a:spLocks noChangeArrowheads="1"/>
          </p:cNvSpPr>
          <p:nvPr/>
        </p:nvSpPr>
        <p:spPr bwMode="auto">
          <a:xfrm rot="3305394">
            <a:off x="1350963" y="2208213"/>
            <a:ext cx="1584325" cy="936625"/>
          </a:xfrm>
          <a:prstGeom prst="ellipse">
            <a:avLst/>
          </a:prstGeom>
          <a:noFill/>
          <a:ln w="19050">
            <a:solidFill>
              <a:srgbClr val="FF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8484" name="Oval 52">
            <a:extLst>
              <a:ext uri="{FF2B5EF4-FFF2-40B4-BE49-F238E27FC236}">
                <a16:creationId xmlns:a16="http://schemas.microsoft.com/office/drawing/2014/main" id="{95DFF6F4-8EA7-4482-A9D7-0162BE061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00" y="2208213"/>
            <a:ext cx="873125" cy="936625"/>
          </a:xfrm>
          <a:prstGeom prst="ellipse">
            <a:avLst/>
          </a:prstGeom>
          <a:noFill/>
          <a:ln w="19050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8485" name="Line 53">
            <a:extLst>
              <a:ext uri="{FF2B5EF4-FFF2-40B4-BE49-F238E27FC236}">
                <a16:creationId xmlns:a16="http://schemas.microsoft.com/office/drawing/2014/main" id="{4ED147FA-9C29-4042-932C-AE4CCB1C206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54250" y="1628775"/>
            <a:ext cx="1400175" cy="1049338"/>
          </a:xfrm>
          <a:prstGeom prst="line">
            <a:avLst/>
          </a:prstGeom>
          <a:noFill/>
          <a:ln w="28575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486" name="Line 54">
            <a:extLst>
              <a:ext uri="{FF2B5EF4-FFF2-40B4-BE49-F238E27FC236}">
                <a16:creationId xmlns:a16="http://schemas.microsoft.com/office/drawing/2014/main" id="{9E044659-743C-45E1-BB79-3AAD71A336C5}"/>
              </a:ext>
            </a:extLst>
          </p:cNvPr>
          <p:cNvSpPr>
            <a:spLocks noChangeShapeType="1"/>
          </p:cNvSpPr>
          <p:nvPr/>
        </p:nvSpPr>
        <p:spPr bwMode="auto">
          <a:xfrm rot="-5054397" flipH="1" flipV="1">
            <a:off x="1397794" y="2089944"/>
            <a:ext cx="1276350" cy="1379538"/>
          </a:xfrm>
          <a:prstGeom prst="line">
            <a:avLst/>
          </a:prstGeom>
          <a:noFill/>
          <a:ln w="22225">
            <a:solidFill>
              <a:srgbClr val="CCCCFF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8487" name="Object 6">
            <a:extLst>
              <a:ext uri="{FF2B5EF4-FFF2-40B4-BE49-F238E27FC236}">
                <a16:creationId xmlns:a16="http://schemas.microsoft.com/office/drawing/2014/main" id="{0458C916-9AC5-4374-87F2-0F82971C8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0175" y="1928813"/>
          <a:ext cx="115888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48" name="公式" r:id="rId7" imgW="152298" imgH="152468" progId="Equation.3">
                  <p:embed/>
                </p:oleObj>
              </mc:Choice>
              <mc:Fallback>
                <p:oleObj name="公式" r:id="rId7" imgW="152298" imgH="152468" progId="Equation.3">
                  <p:embed/>
                  <p:pic>
                    <p:nvPicPr>
                      <p:cNvPr id="18487" name="Object 6">
                        <a:extLst>
                          <a:ext uri="{FF2B5EF4-FFF2-40B4-BE49-F238E27FC236}">
                            <a16:creationId xmlns:a16="http://schemas.microsoft.com/office/drawing/2014/main" id="{0458C916-9AC5-4374-87F2-0F82971C88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1928813"/>
                        <a:ext cx="115888" cy="11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88" name="Object 7">
            <a:extLst>
              <a:ext uri="{FF2B5EF4-FFF2-40B4-BE49-F238E27FC236}">
                <a16:creationId xmlns:a16="http://schemas.microsoft.com/office/drawing/2014/main" id="{D9CE5132-CF0F-4191-A2F9-3E47E850A2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1088" y="2635250"/>
          <a:ext cx="115887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49" name="公式" r:id="rId9" imgW="152298" imgH="152468" progId="Equation.3">
                  <p:embed/>
                </p:oleObj>
              </mc:Choice>
              <mc:Fallback>
                <p:oleObj name="公式" r:id="rId9" imgW="152298" imgH="152468" progId="Equation.3">
                  <p:embed/>
                  <p:pic>
                    <p:nvPicPr>
                      <p:cNvPr id="18488" name="Object 7">
                        <a:extLst>
                          <a:ext uri="{FF2B5EF4-FFF2-40B4-BE49-F238E27FC236}">
                            <a16:creationId xmlns:a16="http://schemas.microsoft.com/office/drawing/2014/main" id="{D9CE5132-CF0F-4191-A2F9-3E47E850A2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088" y="2635250"/>
                        <a:ext cx="115887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89" name="Object 8">
            <a:extLst>
              <a:ext uri="{FF2B5EF4-FFF2-40B4-BE49-F238E27FC236}">
                <a16:creationId xmlns:a16="http://schemas.microsoft.com/office/drawing/2014/main" id="{12C9463A-EE7D-4D89-8328-E32B789784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7225" y="2317750"/>
          <a:ext cx="223838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50" name="公式" r:id="rId11" imgW="238233" imgH="266666" progId="Equation.3">
                  <p:embed/>
                </p:oleObj>
              </mc:Choice>
              <mc:Fallback>
                <p:oleObj name="公式" r:id="rId11" imgW="238233" imgH="266666" progId="Equation.3">
                  <p:embed/>
                  <p:pic>
                    <p:nvPicPr>
                      <p:cNvPr id="18489" name="Object 8">
                        <a:extLst>
                          <a:ext uri="{FF2B5EF4-FFF2-40B4-BE49-F238E27FC236}">
                            <a16:creationId xmlns:a16="http://schemas.microsoft.com/office/drawing/2014/main" id="{12C9463A-EE7D-4D89-8328-E32B789784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225" y="2317750"/>
                        <a:ext cx="223838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90" name="Line 58">
            <a:extLst>
              <a:ext uri="{FF2B5EF4-FFF2-40B4-BE49-F238E27FC236}">
                <a16:creationId xmlns:a16="http://schemas.microsoft.com/office/drawing/2014/main" id="{1C24BE10-DAC1-4DAF-8291-0CAFE2659336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350962" y="2678113"/>
            <a:ext cx="1584325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1" name="Line 59">
            <a:extLst>
              <a:ext uri="{FF2B5EF4-FFF2-40B4-BE49-F238E27FC236}">
                <a16:creationId xmlns:a16="http://schemas.microsoft.com/office/drawing/2014/main" id="{3FDC6715-35E1-47F5-8E38-70D3824C7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3125" y="2678113"/>
            <a:ext cx="357188" cy="965200"/>
          </a:xfrm>
          <a:prstGeom prst="line">
            <a:avLst/>
          </a:prstGeom>
          <a:noFill/>
          <a:ln w="19050">
            <a:solidFill>
              <a:srgbClr val="CCFF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492" name="Line 60">
            <a:extLst>
              <a:ext uri="{FF2B5EF4-FFF2-40B4-BE49-F238E27FC236}">
                <a16:creationId xmlns:a16="http://schemas.microsoft.com/office/drawing/2014/main" id="{4FC20760-59E3-4686-804C-4BED93A33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3125" y="2678113"/>
            <a:ext cx="642938" cy="965200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8493" name="Object 9">
            <a:extLst>
              <a:ext uri="{FF2B5EF4-FFF2-40B4-BE49-F238E27FC236}">
                <a16:creationId xmlns:a16="http://schemas.microsoft.com/office/drawing/2014/main" id="{18BE8CF1-B75F-4676-B5F0-F9C33DA3B1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5975" y="2613025"/>
          <a:ext cx="115888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51" name="公式" r:id="rId13" imgW="152298" imgH="152468" progId="Equation.3">
                  <p:embed/>
                </p:oleObj>
              </mc:Choice>
              <mc:Fallback>
                <p:oleObj name="公式" r:id="rId13" imgW="152298" imgH="152468" progId="Equation.3">
                  <p:embed/>
                  <p:pic>
                    <p:nvPicPr>
                      <p:cNvPr id="18493" name="Object 9">
                        <a:extLst>
                          <a:ext uri="{FF2B5EF4-FFF2-40B4-BE49-F238E27FC236}">
                            <a16:creationId xmlns:a16="http://schemas.microsoft.com/office/drawing/2014/main" id="{18BE8CF1-B75F-4676-B5F0-F9C33DA3B1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2613025"/>
                        <a:ext cx="115888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94" name="Object 10">
            <a:extLst>
              <a:ext uri="{FF2B5EF4-FFF2-40B4-BE49-F238E27FC236}">
                <a16:creationId xmlns:a16="http://schemas.microsoft.com/office/drawing/2014/main" id="{F1979DBD-F22B-43E3-81C2-CF0DBA8288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6313" y="3068638"/>
          <a:ext cx="115887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52" name="公式" r:id="rId15" imgW="152298" imgH="152468" progId="Equation.3">
                  <p:embed/>
                </p:oleObj>
              </mc:Choice>
              <mc:Fallback>
                <p:oleObj name="公式" r:id="rId15" imgW="152298" imgH="152468" progId="Equation.3">
                  <p:embed/>
                  <p:pic>
                    <p:nvPicPr>
                      <p:cNvPr id="18494" name="Object 10">
                        <a:extLst>
                          <a:ext uri="{FF2B5EF4-FFF2-40B4-BE49-F238E27FC236}">
                            <a16:creationId xmlns:a16="http://schemas.microsoft.com/office/drawing/2014/main" id="{F1979DBD-F22B-43E3-81C2-CF0DBA8288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3068638"/>
                        <a:ext cx="115887" cy="11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95" name="Object 11">
            <a:extLst>
              <a:ext uri="{FF2B5EF4-FFF2-40B4-BE49-F238E27FC236}">
                <a16:creationId xmlns:a16="http://schemas.microsoft.com/office/drawing/2014/main" id="{2BCC7AD2-9C84-4FFF-ACFA-36DB26BCB7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7300" y="3286125"/>
          <a:ext cx="115888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53" name="公式" r:id="rId17" imgW="152298" imgH="152468" progId="Equation.3">
                  <p:embed/>
                </p:oleObj>
              </mc:Choice>
              <mc:Fallback>
                <p:oleObj name="公式" r:id="rId17" imgW="152298" imgH="152468" progId="Equation.3">
                  <p:embed/>
                  <p:pic>
                    <p:nvPicPr>
                      <p:cNvPr id="18495" name="Object 11">
                        <a:extLst>
                          <a:ext uri="{FF2B5EF4-FFF2-40B4-BE49-F238E27FC236}">
                            <a16:creationId xmlns:a16="http://schemas.microsoft.com/office/drawing/2014/main" id="{2BCC7AD2-9C84-4FFF-ACFA-36DB26BCB7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3286125"/>
                        <a:ext cx="115888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97" name="Line 65">
            <a:extLst>
              <a:ext uri="{FF2B5EF4-FFF2-40B4-BE49-F238E27FC236}">
                <a16:creationId xmlns:a16="http://schemas.microsoft.com/office/drawing/2014/main" id="{0D37BA3B-EEDF-4C2F-8B4F-681AC45181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2488" y="4483100"/>
            <a:ext cx="0" cy="720725"/>
          </a:xfrm>
          <a:prstGeom prst="line">
            <a:avLst/>
          </a:prstGeom>
          <a:noFill/>
          <a:ln w="28575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8498" name="Line 66">
            <a:extLst>
              <a:ext uri="{FF2B5EF4-FFF2-40B4-BE49-F238E27FC236}">
                <a16:creationId xmlns:a16="http://schemas.microsoft.com/office/drawing/2014/main" id="{E67179E1-6EE5-4A5C-95D3-0E10DE920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2350" y="4483100"/>
            <a:ext cx="0" cy="720725"/>
          </a:xfrm>
          <a:prstGeom prst="line">
            <a:avLst/>
          </a:prstGeom>
          <a:noFill/>
          <a:ln w="28575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8499" name="Arc 67">
            <a:extLst>
              <a:ext uri="{FF2B5EF4-FFF2-40B4-BE49-F238E27FC236}">
                <a16:creationId xmlns:a16="http://schemas.microsoft.com/office/drawing/2014/main" id="{66B03C03-D95E-4D77-BB00-BC51C6064CD2}"/>
              </a:ext>
            </a:extLst>
          </p:cNvPr>
          <p:cNvSpPr>
            <a:spLocks/>
          </p:cNvSpPr>
          <p:nvPr/>
        </p:nvSpPr>
        <p:spPr bwMode="auto">
          <a:xfrm rot="5400000">
            <a:off x="1884363" y="4987925"/>
            <a:ext cx="431800" cy="863600"/>
          </a:xfrm>
          <a:custGeom>
            <a:avLst/>
            <a:gdLst>
              <a:gd name="T0" fmla="*/ 2147483646 w 21683"/>
              <a:gd name="T1" fmla="*/ 0 h 43200"/>
              <a:gd name="T2" fmla="*/ 0 w 21683"/>
              <a:gd name="T3" fmla="*/ 2147483646 h 43200"/>
              <a:gd name="T4" fmla="*/ 2147483646 w 21683"/>
              <a:gd name="T5" fmla="*/ 2147483646 h 43200"/>
              <a:gd name="T6" fmla="*/ 0 60000 65536"/>
              <a:gd name="T7" fmla="*/ 0 60000 65536"/>
              <a:gd name="T8" fmla="*/ 0 60000 65536"/>
              <a:gd name="T9" fmla="*/ 0 w 21683"/>
              <a:gd name="T10" fmla="*/ 0 h 43200"/>
              <a:gd name="T11" fmla="*/ 21683 w 2168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83" h="43200" fill="none" extrusionOk="0">
                <a:moveTo>
                  <a:pt x="82" y="0"/>
                </a:moveTo>
                <a:cubicBezTo>
                  <a:pt x="12012" y="0"/>
                  <a:pt x="21683" y="9670"/>
                  <a:pt x="21683" y="21600"/>
                </a:cubicBezTo>
                <a:cubicBezTo>
                  <a:pt x="21683" y="33529"/>
                  <a:pt x="12012" y="43200"/>
                  <a:pt x="83" y="43200"/>
                </a:cubicBezTo>
                <a:cubicBezTo>
                  <a:pt x="55" y="43200"/>
                  <a:pt x="27" y="43199"/>
                  <a:pt x="0" y="43199"/>
                </a:cubicBezTo>
              </a:path>
              <a:path w="21683" h="43200" stroke="0" extrusionOk="0">
                <a:moveTo>
                  <a:pt x="82" y="0"/>
                </a:moveTo>
                <a:cubicBezTo>
                  <a:pt x="12012" y="0"/>
                  <a:pt x="21683" y="9670"/>
                  <a:pt x="21683" y="21600"/>
                </a:cubicBezTo>
                <a:cubicBezTo>
                  <a:pt x="21683" y="33529"/>
                  <a:pt x="12012" y="43200"/>
                  <a:pt x="83" y="43200"/>
                </a:cubicBezTo>
                <a:cubicBezTo>
                  <a:pt x="55" y="43200"/>
                  <a:pt x="27" y="43199"/>
                  <a:pt x="0" y="43199"/>
                </a:cubicBezTo>
                <a:lnTo>
                  <a:pt x="83" y="21600"/>
                </a:lnTo>
                <a:lnTo>
                  <a:pt x="82" y="0"/>
                </a:lnTo>
                <a:close/>
              </a:path>
            </a:pathLst>
          </a:custGeom>
          <a:noFill/>
          <a:ln w="19050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500" name="Arc 68">
            <a:extLst>
              <a:ext uri="{FF2B5EF4-FFF2-40B4-BE49-F238E27FC236}">
                <a16:creationId xmlns:a16="http://schemas.microsoft.com/office/drawing/2014/main" id="{8EF0B257-6B44-4BC4-B545-DE867EAFF4C2}"/>
              </a:ext>
            </a:extLst>
          </p:cNvPr>
          <p:cNvSpPr>
            <a:spLocks/>
          </p:cNvSpPr>
          <p:nvPr/>
        </p:nvSpPr>
        <p:spPr bwMode="auto">
          <a:xfrm rot="9619857">
            <a:off x="1682750" y="5010150"/>
            <a:ext cx="987425" cy="687388"/>
          </a:xfrm>
          <a:custGeom>
            <a:avLst/>
            <a:gdLst>
              <a:gd name="T0" fmla="*/ 0 w 39581"/>
              <a:gd name="T1" fmla="*/ 2147483646 h 21600"/>
              <a:gd name="T2" fmla="*/ 2147483646 w 39581"/>
              <a:gd name="T3" fmla="*/ 2147483646 h 21600"/>
              <a:gd name="T4" fmla="*/ 2147483646 w 39581"/>
              <a:gd name="T5" fmla="*/ 2147483646 h 21600"/>
              <a:gd name="T6" fmla="*/ 0 60000 65536"/>
              <a:gd name="T7" fmla="*/ 0 60000 65536"/>
              <a:gd name="T8" fmla="*/ 0 60000 65536"/>
              <a:gd name="T9" fmla="*/ 0 w 39581"/>
              <a:gd name="T10" fmla="*/ 0 h 21600"/>
              <a:gd name="T11" fmla="*/ 39581 w 395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581" h="21600" fill="none" extrusionOk="0">
                <a:moveTo>
                  <a:pt x="-1" y="9631"/>
                </a:moveTo>
                <a:cubicBezTo>
                  <a:pt x="4004" y="3615"/>
                  <a:pt x="10753" y="-1"/>
                  <a:pt x="17981" y="0"/>
                </a:cubicBezTo>
                <a:cubicBezTo>
                  <a:pt x="29910" y="0"/>
                  <a:pt x="39581" y="9670"/>
                  <a:pt x="39581" y="21600"/>
                </a:cubicBezTo>
              </a:path>
              <a:path w="39581" h="21600" stroke="0" extrusionOk="0">
                <a:moveTo>
                  <a:pt x="-1" y="9631"/>
                </a:moveTo>
                <a:cubicBezTo>
                  <a:pt x="4004" y="3615"/>
                  <a:pt x="10753" y="-1"/>
                  <a:pt x="17981" y="0"/>
                </a:cubicBezTo>
                <a:cubicBezTo>
                  <a:pt x="29910" y="0"/>
                  <a:pt x="39581" y="9670"/>
                  <a:pt x="39581" y="21600"/>
                </a:cubicBezTo>
                <a:lnTo>
                  <a:pt x="17981" y="21600"/>
                </a:lnTo>
                <a:lnTo>
                  <a:pt x="-1" y="9631"/>
                </a:lnTo>
                <a:close/>
              </a:path>
            </a:pathLst>
          </a:custGeom>
          <a:noFill/>
          <a:ln w="19050">
            <a:solidFill>
              <a:srgbClr val="FF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501" name="Line 69">
            <a:extLst>
              <a:ext uri="{FF2B5EF4-FFF2-40B4-BE49-F238E27FC236}">
                <a16:creationId xmlns:a16="http://schemas.microsoft.com/office/drawing/2014/main" id="{BC772E6B-E284-44B6-AC5B-7B16CA6AD9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1763" y="5203825"/>
            <a:ext cx="720725" cy="720725"/>
          </a:xfrm>
          <a:prstGeom prst="line">
            <a:avLst/>
          </a:prstGeom>
          <a:noFill/>
          <a:ln w="25400">
            <a:solidFill>
              <a:srgbClr val="CCCCFF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8502" name="Arc 70">
            <a:extLst>
              <a:ext uri="{FF2B5EF4-FFF2-40B4-BE49-F238E27FC236}">
                <a16:creationId xmlns:a16="http://schemas.microsoft.com/office/drawing/2014/main" id="{A956845A-391C-4BE0-B9BA-B83934E2CBC0}"/>
              </a:ext>
            </a:extLst>
          </p:cNvPr>
          <p:cNvSpPr>
            <a:spLocks/>
          </p:cNvSpPr>
          <p:nvPr/>
        </p:nvSpPr>
        <p:spPr bwMode="auto">
          <a:xfrm rot="5400000">
            <a:off x="3346450" y="4987925"/>
            <a:ext cx="431800" cy="863600"/>
          </a:xfrm>
          <a:custGeom>
            <a:avLst/>
            <a:gdLst>
              <a:gd name="T0" fmla="*/ 2147483646 w 21683"/>
              <a:gd name="T1" fmla="*/ 0 h 43200"/>
              <a:gd name="T2" fmla="*/ 0 w 21683"/>
              <a:gd name="T3" fmla="*/ 2147483646 h 43200"/>
              <a:gd name="T4" fmla="*/ 2147483646 w 21683"/>
              <a:gd name="T5" fmla="*/ 2147483646 h 43200"/>
              <a:gd name="T6" fmla="*/ 0 60000 65536"/>
              <a:gd name="T7" fmla="*/ 0 60000 65536"/>
              <a:gd name="T8" fmla="*/ 0 60000 65536"/>
              <a:gd name="T9" fmla="*/ 0 w 21683"/>
              <a:gd name="T10" fmla="*/ 0 h 43200"/>
              <a:gd name="T11" fmla="*/ 21683 w 2168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83" h="43200" fill="none" extrusionOk="0">
                <a:moveTo>
                  <a:pt x="82" y="0"/>
                </a:moveTo>
                <a:cubicBezTo>
                  <a:pt x="12012" y="0"/>
                  <a:pt x="21683" y="9670"/>
                  <a:pt x="21683" y="21600"/>
                </a:cubicBezTo>
                <a:cubicBezTo>
                  <a:pt x="21683" y="33529"/>
                  <a:pt x="12012" y="43200"/>
                  <a:pt x="83" y="43200"/>
                </a:cubicBezTo>
                <a:cubicBezTo>
                  <a:pt x="55" y="43200"/>
                  <a:pt x="27" y="43199"/>
                  <a:pt x="0" y="43199"/>
                </a:cubicBezTo>
              </a:path>
              <a:path w="21683" h="43200" stroke="0" extrusionOk="0">
                <a:moveTo>
                  <a:pt x="82" y="0"/>
                </a:moveTo>
                <a:cubicBezTo>
                  <a:pt x="12012" y="0"/>
                  <a:pt x="21683" y="9670"/>
                  <a:pt x="21683" y="21600"/>
                </a:cubicBezTo>
                <a:cubicBezTo>
                  <a:pt x="21683" y="33529"/>
                  <a:pt x="12012" y="43200"/>
                  <a:pt x="83" y="43200"/>
                </a:cubicBezTo>
                <a:cubicBezTo>
                  <a:pt x="55" y="43200"/>
                  <a:pt x="27" y="43199"/>
                  <a:pt x="0" y="43199"/>
                </a:cubicBezTo>
                <a:lnTo>
                  <a:pt x="83" y="21600"/>
                </a:lnTo>
                <a:lnTo>
                  <a:pt x="82" y="0"/>
                </a:lnTo>
                <a:close/>
              </a:path>
            </a:pathLst>
          </a:custGeom>
          <a:noFill/>
          <a:ln w="19050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503" name="Arc 71">
            <a:extLst>
              <a:ext uri="{FF2B5EF4-FFF2-40B4-BE49-F238E27FC236}">
                <a16:creationId xmlns:a16="http://schemas.microsoft.com/office/drawing/2014/main" id="{31D18322-4B49-4CFA-BEB3-20B815A2BC62}"/>
              </a:ext>
            </a:extLst>
          </p:cNvPr>
          <p:cNvSpPr>
            <a:spLocks/>
          </p:cNvSpPr>
          <p:nvPr/>
        </p:nvSpPr>
        <p:spPr bwMode="auto">
          <a:xfrm rot="9619857">
            <a:off x="3136900" y="5011738"/>
            <a:ext cx="987425" cy="687387"/>
          </a:xfrm>
          <a:custGeom>
            <a:avLst/>
            <a:gdLst>
              <a:gd name="T0" fmla="*/ 0 w 39581"/>
              <a:gd name="T1" fmla="*/ 2147483646 h 21600"/>
              <a:gd name="T2" fmla="*/ 2147483646 w 39581"/>
              <a:gd name="T3" fmla="*/ 2147483646 h 21600"/>
              <a:gd name="T4" fmla="*/ 2147483646 w 39581"/>
              <a:gd name="T5" fmla="*/ 2147483646 h 21600"/>
              <a:gd name="T6" fmla="*/ 0 60000 65536"/>
              <a:gd name="T7" fmla="*/ 0 60000 65536"/>
              <a:gd name="T8" fmla="*/ 0 60000 65536"/>
              <a:gd name="T9" fmla="*/ 0 w 39581"/>
              <a:gd name="T10" fmla="*/ 0 h 21600"/>
              <a:gd name="T11" fmla="*/ 39581 w 395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581" h="21600" fill="none" extrusionOk="0">
                <a:moveTo>
                  <a:pt x="-1" y="9631"/>
                </a:moveTo>
                <a:cubicBezTo>
                  <a:pt x="4004" y="3615"/>
                  <a:pt x="10753" y="-1"/>
                  <a:pt x="17981" y="0"/>
                </a:cubicBezTo>
                <a:cubicBezTo>
                  <a:pt x="29910" y="0"/>
                  <a:pt x="39581" y="9670"/>
                  <a:pt x="39581" y="21600"/>
                </a:cubicBezTo>
              </a:path>
              <a:path w="39581" h="21600" stroke="0" extrusionOk="0">
                <a:moveTo>
                  <a:pt x="-1" y="9631"/>
                </a:moveTo>
                <a:cubicBezTo>
                  <a:pt x="4004" y="3615"/>
                  <a:pt x="10753" y="-1"/>
                  <a:pt x="17981" y="0"/>
                </a:cubicBezTo>
                <a:cubicBezTo>
                  <a:pt x="29910" y="0"/>
                  <a:pt x="39581" y="9670"/>
                  <a:pt x="39581" y="21600"/>
                </a:cubicBezTo>
                <a:lnTo>
                  <a:pt x="17981" y="21600"/>
                </a:lnTo>
                <a:lnTo>
                  <a:pt x="-1" y="9631"/>
                </a:lnTo>
                <a:close/>
              </a:path>
            </a:pathLst>
          </a:custGeom>
          <a:noFill/>
          <a:ln w="19050">
            <a:solidFill>
              <a:srgbClr val="FF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504" name="Line 72">
            <a:extLst>
              <a:ext uri="{FF2B5EF4-FFF2-40B4-BE49-F238E27FC236}">
                <a16:creationId xmlns:a16="http://schemas.microsoft.com/office/drawing/2014/main" id="{268D2887-F914-4758-AEF2-9CC7CF7015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1625" y="5203825"/>
            <a:ext cx="720725" cy="720725"/>
          </a:xfrm>
          <a:prstGeom prst="line">
            <a:avLst/>
          </a:prstGeom>
          <a:noFill/>
          <a:ln w="19050">
            <a:solidFill>
              <a:srgbClr val="CCCCFF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8505" name="Rectangle 73">
            <a:extLst>
              <a:ext uri="{FF2B5EF4-FFF2-40B4-BE49-F238E27FC236}">
                <a16:creationId xmlns:a16="http://schemas.microsoft.com/office/drawing/2014/main" id="{8B133CC4-C07E-4587-94B1-26B4961D7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88" y="5788025"/>
            <a:ext cx="7239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rPr>
              <a:t>光轴</a:t>
            </a:r>
            <a:endParaRPr lang="zh-CN" altLang="en-US" sz="2000" b="0">
              <a:solidFill>
                <a:srgbClr val="CCCCFF"/>
              </a:solidFill>
              <a:latin typeface="黑体" panose="02010609060101010101" pitchFamily="49" charset="-122"/>
              <a:ea typeface="楷体_GB2312" pitchFamily="49" charset="-122"/>
            </a:endParaRPr>
          </a:p>
        </p:txBody>
      </p:sp>
      <p:sp>
        <p:nvSpPr>
          <p:cNvPr id="18506" name="Line 74">
            <a:extLst>
              <a:ext uri="{FF2B5EF4-FFF2-40B4-BE49-F238E27FC236}">
                <a16:creationId xmlns:a16="http://schemas.microsoft.com/office/drawing/2014/main" id="{6EADD845-79D2-4CA2-89AB-DF8FD98E3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2488" y="5203825"/>
            <a:ext cx="0" cy="1008063"/>
          </a:xfrm>
          <a:prstGeom prst="line">
            <a:avLst/>
          </a:prstGeom>
          <a:noFill/>
          <a:ln w="19050">
            <a:solidFill>
              <a:srgbClr val="CCFF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8507" name="Line 75">
            <a:extLst>
              <a:ext uri="{FF2B5EF4-FFF2-40B4-BE49-F238E27FC236}">
                <a16:creationId xmlns:a16="http://schemas.microsoft.com/office/drawing/2014/main" id="{56412F3A-E913-488B-A367-FC4FB0B390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2488" y="5203825"/>
            <a:ext cx="234950" cy="1011238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508" name="Line 76">
            <a:extLst>
              <a:ext uri="{FF2B5EF4-FFF2-40B4-BE49-F238E27FC236}">
                <a16:creationId xmlns:a16="http://schemas.microsoft.com/office/drawing/2014/main" id="{ECCBD059-5FAD-4AB6-B729-6D6430B4CC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2350" y="5203825"/>
            <a:ext cx="0" cy="1008063"/>
          </a:xfrm>
          <a:prstGeom prst="line">
            <a:avLst/>
          </a:prstGeom>
          <a:noFill/>
          <a:ln w="19050">
            <a:solidFill>
              <a:srgbClr val="CCFF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8509" name="Line 77">
            <a:extLst>
              <a:ext uri="{FF2B5EF4-FFF2-40B4-BE49-F238E27FC236}">
                <a16:creationId xmlns:a16="http://schemas.microsoft.com/office/drawing/2014/main" id="{23AC4958-307F-412C-AE08-592C1FF67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2350" y="5203825"/>
            <a:ext cx="223838" cy="1011238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510" name="Line 78">
            <a:extLst>
              <a:ext uri="{FF2B5EF4-FFF2-40B4-BE49-F238E27FC236}">
                <a16:creationId xmlns:a16="http://schemas.microsoft.com/office/drawing/2014/main" id="{1BA6ADE3-47C9-452B-8F3B-1AE211EEC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838" y="5635625"/>
            <a:ext cx="28194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11" name="Line 79">
            <a:extLst>
              <a:ext uri="{FF2B5EF4-FFF2-40B4-BE49-F238E27FC236}">
                <a16:creationId xmlns:a16="http://schemas.microsoft.com/office/drawing/2014/main" id="{A99CD9A7-4BA0-4F4C-B7A5-A8FC2F0C0B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0213" y="5692775"/>
            <a:ext cx="28194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12" name="Line 80">
            <a:extLst>
              <a:ext uri="{FF2B5EF4-FFF2-40B4-BE49-F238E27FC236}">
                <a16:creationId xmlns:a16="http://schemas.microsoft.com/office/drawing/2014/main" id="{26873BCE-0DB8-4D69-B73D-97E8E49548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7088" y="2708275"/>
            <a:ext cx="1557337" cy="487363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513" name="Line 81">
            <a:extLst>
              <a:ext uri="{FF2B5EF4-FFF2-40B4-BE49-F238E27FC236}">
                <a16:creationId xmlns:a16="http://schemas.microsoft.com/office/drawing/2014/main" id="{4D8C5B5B-ADBC-453A-88FD-29F9F98580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03488" y="2708275"/>
            <a:ext cx="1150937" cy="669925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514" name="Line 82">
            <a:extLst>
              <a:ext uri="{FF2B5EF4-FFF2-40B4-BE49-F238E27FC236}">
                <a16:creationId xmlns:a16="http://schemas.microsoft.com/office/drawing/2014/main" id="{88A0BE5C-3235-469D-B88C-AAF241E33E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3125" y="2000250"/>
            <a:ext cx="571500" cy="708025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521" name="Line 89">
            <a:extLst>
              <a:ext uri="{FF2B5EF4-FFF2-40B4-BE49-F238E27FC236}">
                <a16:creationId xmlns:a16="http://schemas.microsoft.com/office/drawing/2014/main" id="{64AB4F1E-9E7B-4115-8863-F361B8D40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3475" y="2695575"/>
            <a:ext cx="287338" cy="822325"/>
          </a:xfrm>
          <a:prstGeom prst="line">
            <a:avLst/>
          </a:prstGeom>
          <a:noFill/>
          <a:ln w="19050">
            <a:solidFill>
              <a:srgbClr val="CCFF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522" name="Line 90">
            <a:extLst>
              <a:ext uri="{FF2B5EF4-FFF2-40B4-BE49-F238E27FC236}">
                <a16:creationId xmlns:a16="http://schemas.microsoft.com/office/drawing/2014/main" id="{1357E1F1-8035-4A63-8BCC-50B892CD7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1413" y="2695575"/>
            <a:ext cx="719137" cy="822325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3" name="Group 91">
            <a:extLst>
              <a:ext uri="{FF2B5EF4-FFF2-40B4-BE49-F238E27FC236}">
                <a16:creationId xmlns:a16="http://schemas.microsoft.com/office/drawing/2014/main" id="{F0FF6292-1D98-4D2C-9585-B1D21B0DAA4D}"/>
              </a:ext>
            </a:extLst>
          </p:cNvPr>
          <p:cNvGrpSpPr>
            <a:grpSpLocks/>
          </p:cNvGrpSpPr>
          <p:nvPr/>
        </p:nvGrpSpPr>
        <p:grpSpPr bwMode="auto">
          <a:xfrm>
            <a:off x="6143625" y="5565775"/>
            <a:ext cx="431800" cy="292100"/>
            <a:chOff x="5012" y="3612"/>
            <a:chExt cx="272" cy="184"/>
          </a:xfrm>
        </p:grpSpPr>
        <p:grpSp>
          <p:nvGrpSpPr>
            <p:cNvPr id="22587" name="Group 92">
              <a:extLst>
                <a:ext uri="{FF2B5EF4-FFF2-40B4-BE49-F238E27FC236}">
                  <a16:creationId xmlns:a16="http://schemas.microsoft.com/office/drawing/2014/main" id="{A887AD41-15FC-4002-A46C-6C4ECC071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0" y="3621"/>
              <a:ext cx="248" cy="175"/>
              <a:chOff x="4958" y="1120"/>
              <a:chExt cx="248" cy="175"/>
            </a:xfrm>
          </p:grpSpPr>
          <p:sp>
            <p:nvSpPr>
              <p:cNvPr id="22589" name="AutoShape 93">
                <a:hlinkClick r:id="rId19" action="ppaction://hlinkfile"/>
                <a:extLst>
                  <a:ext uri="{FF2B5EF4-FFF2-40B4-BE49-F238E27FC236}">
                    <a16:creationId xmlns:a16="http://schemas.microsoft.com/office/drawing/2014/main" id="{06A45F64-0F41-4271-A1FB-759EA5C7D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8" y="1120"/>
                <a:ext cx="248" cy="175"/>
              </a:xfrm>
              <a:prstGeom prst="roundRect">
                <a:avLst>
                  <a:gd name="adj" fmla="val 19116"/>
                </a:avLst>
              </a:prstGeom>
              <a:solidFill>
                <a:srgbClr val="33CCCC">
                  <a:alpha val="39999"/>
                </a:srgbClr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90" name="AutoShape 94">
                <a:extLst>
                  <a:ext uri="{FF2B5EF4-FFF2-40B4-BE49-F238E27FC236}">
                    <a16:creationId xmlns:a16="http://schemas.microsoft.com/office/drawing/2014/main" id="{80CE3DBA-79AF-4B58-B07F-E0B1FC02C2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1" y="1154"/>
                <a:ext cx="179" cy="104"/>
              </a:xfrm>
              <a:prstGeom prst="roundRect">
                <a:avLst>
                  <a:gd name="adj" fmla="val 22079"/>
                </a:avLst>
              </a:prstGeom>
              <a:solidFill>
                <a:srgbClr val="33CCCC">
                  <a:alpha val="50195"/>
                </a:srgbClr>
              </a:solidFill>
              <a:ln w="317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91" name="AutoShape 95">
                <a:extLst>
                  <a:ext uri="{FF2B5EF4-FFF2-40B4-BE49-F238E27FC236}">
                    <a16:creationId xmlns:a16="http://schemas.microsoft.com/office/drawing/2014/main" id="{6A296859-ED8B-4472-AFBE-8C7D995DD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054" y="1174"/>
                <a:ext cx="66" cy="66"/>
              </a:xfrm>
              <a:prstGeom prst="triangle">
                <a:avLst>
                  <a:gd name="adj" fmla="val 50000"/>
                </a:avLst>
              </a:prstGeom>
              <a:solidFill>
                <a:srgbClr val="006666"/>
              </a:solidFill>
              <a:ln w="9525">
                <a:solidFill>
                  <a:srgbClr val="0066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92" name="Line 96">
                <a:extLst>
                  <a:ext uri="{FF2B5EF4-FFF2-40B4-BE49-F238E27FC236}">
                    <a16:creationId xmlns:a16="http://schemas.microsoft.com/office/drawing/2014/main" id="{83EF18A7-A9E2-4060-AAE5-F92D93D65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5" y="1177"/>
                <a:ext cx="0" cy="0"/>
              </a:xfrm>
              <a:prstGeom prst="line">
                <a:avLst/>
              </a:prstGeom>
              <a:noFill/>
              <a:ln w="9525">
                <a:solidFill>
                  <a:srgbClr val="33CC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88" name="Rectangle 97">
              <a:hlinkClick r:id="rId20" action="ppaction://hlinkfile" tooltip="点击播放动画"/>
              <a:extLst>
                <a:ext uri="{FF2B5EF4-FFF2-40B4-BE49-F238E27FC236}">
                  <a16:creationId xmlns:a16="http://schemas.microsoft.com/office/drawing/2014/main" id="{DEDFA372-428F-44C2-9D47-45F7738C2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2"/>
              <a:ext cx="272" cy="181"/>
            </a:xfrm>
            <a:prstGeom prst="rect">
              <a:avLst/>
            </a:prstGeom>
            <a:solidFill>
              <a:srgbClr val="00CC99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Group 98">
            <a:extLst>
              <a:ext uri="{FF2B5EF4-FFF2-40B4-BE49-F238E27FC236}">
                <a16:creationId xmlns:a16="http://schemas.microsoft.com/office/drawing/2014/main" id="{0F55FD84-BA09-4F6A-A5BE-3BB1A0DFA8D9}"/>
              </a:ext>
            </a:extLst>
          </p:cNvPr>
          <p:cNvGrpSpPr>
            <a:grpSpLocks/>
          </p:cNvGrpSpPr>
          <p:nvPr/>
        </p:nvGrpSpPr>
        <p:grpSpPr bwMode="auto">
          <a:xfrm>
            <a:off x="6143625" y="3065463"/>
            <a:ext cx="431800" cy="292100"/>
            <a:chOff x="5012" y="3612"/>
            <a:chExt cx="272" cy="184"/>
          </a:xfrm>
        </p:grpSpPr>
        <p:grpSp>
          <p:nvGrpSpPr>
            <p:cNvPr id="22581" name="Group 99">
              <a:extLst>
                <a:ext uri="{FF2B5EF4-FFF2-40B4-BE49-F238E27FC236}">
                  <a16:creationId xmlns:a16="http://schemas.microsoft.com/office/drawing/2014/main" id="{C4C489EF-289D-4144-A857-2ECC28D697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0" y="3621"/>
              <a:ext cx="248" cy="175"/>
              <a:chOff x="4958" y="1120"/>
              <a:chExt cx="248" cy="175"/>
            </a:xfrm>
          </p:grpSpPr>
          <p:sp>
            <p:nvSpPr>
              <p:cNvPr id="22583" name="AutoShape 100">
                <a:hlinkClick r:id="rId19" action="ppaction://hlinkfile"/>
                <a:extLst>
                  <a:ext uri="{FF2B5EF4-FFF2-40B4-BE49-F238E27FC236}">
                    <a16:creationId xmlns:a16="http://schemas.microsoft.com/office/drawing/2014/main" id="{5B8FB4CA-1200-47AC-955E-D6996E7A3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8" y="1120"/>
                <a:ext cx="248" cy="175"/>
              </a:xfrm>
              <a:prstGeom prst="roundRect">
                <a:avLst>
                  <a:gd name="adj" fmla="val 19116"/>
                </a:avLst>
              </a:prstGeom>
              <a:solidFill>
                <a:srgbClr val="33CCCC">
                  <a:alpha val="39999"/>
                </a:srgbClr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84" name="AutoShape 101">
                <a:extLst>
                  <a:ext uri="{FF2B5EF4-FFF2-40B4-BE49-F238E27FC236}">
                    <a16:creationId xmlns:a16="http://schemas.microsoft.com/office/drawing/2014/main" id="{603862E9-8F0A-46AA-B6B8-483C71A89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1" y="1154"/>
                <a:ext cx="179" cy="104"/>
              </a:xfrm>
              <a:prstGeom prst="roundRect">
                <a:avLst>
                  <a:gd name="adj" fmla="val 22079"/>
                </a:avLst>
              </a:prstGeom>
              <a:solidFill>
                <a:srgbClr val="33CCCC">
                  <a:alpha val="50195"/>
                </a:srgbClr>
              </a:solidFill>
              <a:ln w="317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85" name="AutoShape 102">
                <a:extLst>
                  <a:ext uri="{FF2B5EF4-FFF2-40B4-BE49-F238E27FC236}">
                    <a16:creationId xmlns:a16="http://schemas.microsoft.com/office/drawing/2014/main" id="{25765501-054F-4D45-A01D-1C5C48D4A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054" y="1174"/>
                <a:ext cx="66" cy="66"/>
              </a:xfrm>
              <a:prstGeom prst="triangle">
                <a:avLst>
                  <a:gd name="adj" fmla="val 50000"/>
                </a:avLst>
              </a:prstGeom>
              <a:solidFill>
                <a:srgbClr val="006666"/>
              </a:solidFill>
              <a:ln w="9525">
                <a:solidFill>
                  <a:srgbClr val="0066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86" name="Line 103">
                <a:extLst>
                  <a:ext uri="{FF2B5EF4-FFF2-40B4-BE49-F238E27FC236}">
                    <a16:creationId xmlns:a16="http://schemas.microsoft.com/office/drawing/2014/main" id="{BED245EF-9E2D-4A34-8A6E-E1E61CC60C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5" y="1177"/>
                <a:ext cx="0" cy="0"/>
              </a:xfrm>
              <a:prstGeom prst="line">
                <a:avLst/>
              </a:prstGeom>
              <a:noFill/>
              <a:ln w="9525">
                <a:solidFill>
                  <a:srgbClr val="33CC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82" name="Rectangle 104">
              <a:hlinkClick r:id="rId21" action="ppaction://hlinkfile" tooltip="点击播放动画"/>
              <a:extLst>
                <a:ext uri="{FF2B5EF4-FFF2-40B4-BE49-F238E27FC236}">
                  <a16:creationId xmlns:a16="http://schemas.microsoft.com/office/drawing/2014/main" id="{3C6EAE13-1ADA-4B37-AAA5-9EE3FFBCE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2"/>
              <a:ext cx="272" cy="181"/>
            </a:xfrm>
            <a:prstGeom prst="rect">
              <a:avLst/>
            </a:prstGeom>
            <a:solidFill>
              <a:srgbClr val="00CC99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07" name="矩形 106">
            <a:extLst>
              <a:ext uri="{FF2B5EF4-FFF2-40B4-BE49-F238E27FC236}">
                <a16:creationId xmlns:a16="http://schemas.microsoft.com/office/drawing/2014/main" id="{E8DFB69A-0968-40E5-966D-E454F8C43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428750"/>
            <a:ext cx="442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FFFF00"/>
                </a:solidFill>
                <a:latin typeface="宋体" panose="02010600030101010101" pitchFamily="2" charset="-122"/>
              </a:rPr>
              <a:t>①</a:t>
            </a:r>
            <a:endParaRPr lang="zh-CN" altLang="en-US" sz="2000">
              <a:solidFill>
                <a:srgbClr val="FFFF00"/>
              </a:solidFill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9A19A09C-7EC1-4EB0-99F2-6CCF8DE42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1395413"/>
            <a:ext cx="442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FFFF00"/>
                </a:solidFill>
                <a:latin typeface="宋体" panose="02010600030101010101" pitchFamily="2" charset="-122"/>
              </a:rPr>
              <a:t>②</a:t>
            </a:r>
          </a:p>
        </p:txBody>
      </p:sp>
      <p:sp>
        <p:nvSpPr>
          <p:cNvPr id="22580" name="灯片编号占位符 1">
            <a:extLst>
              <a:ext uri="{FF2B5EF4-FFF2-40B4-BE49-F238E27FC236}">
                <a16:creationId xmlns:a16="http://schemas.microsoft.com/office/drawing/2014/main" id="{CDA6BCB0-165A-4D94-BD56-3D2FC072C32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7124F32-165A-4D65-9542-851645F8075F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18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18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18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8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4" dur="1000"/>
                                        <p:tgtEl>
                                          <p:spTgt spid="1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7" dur="1000"/>
                                        <p:tgtEl>
                                          <p:spTgt spid="18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1" dur="1000"/>
                                        <p:tgtEl>
                                          <p:spTgt spid="1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4" dur="1000"/>
                                        <p:tgtEl>
                                          <p:spTgt spid="1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18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18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18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1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8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1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8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/>
      <p:bldP spid="18438" grpId="0" autoUpdateAnimBg="0"/>
      <p:bldP spid="18440" grpId="0" autoUpdateAnimBg="0"/>
      <p:bldP spid="18451" grpId="0" autoUpdateAnimBg="0"/>
      <p:bldP spid="18454" grpId="0" autoUpdateAnimBg="0"/>
      <p:bldP spid="18475" grpId="0" autoUpdateAnimBg="0"/>
      <p:bldP spid="18476" grpId="0" autoUpdateAnimBg="0"/>
      <p:bldP spid="18477" grpId="0" autoUpdateAnimBg="0"/>
      <p:bldP spid="18478" grpId="0" autoUpdateAnimBg="0"/>
      <p:bldP spid="18483" grpId="0" animBg="1"/>
      <p:bldP spid="18484" grpId="0" animBg="1"/>
      <p:bldP spid="18505" grpId="0" autoUpdateAnimBg="0"/>
      <p:bldP spid="107" grpId="0"/>
      <p:bldP spid="10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AAAA405-678E-4390-9C73-B4B65674E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963" y="2381250"/>
            <a:ext cx="2895600" cy="1044575"/>
          </a:xfrm>
          <a:prstGeom prst="rect">
            <a:avLst/>
          </a:prstGeom>
          <a:solidFill>
            <a:srgbClr val="FFFF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41C4067D-A60C-4C8F-BAA6-0895DA58D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642938"/>
            <a:ext cx="7493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</a:rPr>
              <a:t>3.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自然光垂直入射负晶体（光轴平行于晶体表面）</a:t>
            </a:r>
            <a:endParaRPr lang="zh-CN" altLang="en-US" b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3D6BAEAF-689E-470D-8962-6655BB251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433888"/>
            <a:ext cx="8064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en-US" altLang="zh-CN">
                <a:solidFill>
                  <a:srgbClr val="66FFFF"/>
                </a:solidFill>
                <a:ea typeface="黑体" panose="02010609060101010101" pitchFamily="49" charset="-122"/>
              </a:rPr>
              <a:t>o </a:t>
            </a:r>
            <a:r>
              <a:rPr lang="zh-CN" altLang="en-US">
                <a:solidFill>
                  <a:schemeClr val="bg1"/>
                </a:solidFill>
              </a:rPr>
              <a:t>光和 </a:t>
            </a:r>
            <a:r>
              <a:rPr lang="en-US" altLang="zh-CN">
                <a:solidFill>
                  <a:srgbClr val="66FFFF"/>
                </a:solidFill>
                <a:ea typeface="黑体" panose="02010609060101010101" pitchFamily="49" charset="-122"/>
              </a:rPr>
              <a:t>e</a:t>
            </a:r>
            <a:r>
              <a:rPr lang="en-US" altLang="zh-CN">
                <a:solidFill>
                  <a:schemeClr val="bg1"/>
                </a:solidFill>
                <a:ea typeface="黑体" panose="02010609060101010101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光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传播方向相同，但传播速度不同；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晶体出射后，二者产生相位差，</a:t>
            </a:r>
            <a:r>
              <a:rPr kumimoji="0" lang="zh-CN" altLang="en-US">
                <a:solidFill>
                  <a:schemeClr val="bg1"/>
                </a:solidFill>
              </a:rPr>
              <a:t>这种情况仍属于双折射。</a:t>
            </a:r>
            <a:endParaRPr lang="zh-CN" altLang="en-US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AB84E8F3-9506-46FE-851D-1886DCECA5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2740025"/>
            <a:ext cx="28956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" name="Line 6">
            <a:extLst>
              <a:ext uri="{FF2B5EF4-FFF2-40B4-BE49-F238E27FC236}">
                <a16:creationId xmlns:a16="http://schemas.microsoft.com/office/drawing/2014/main" id="{2BB424D1-0FDB-4932-8951-6FBA07AE1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3197225"/>
            <a:ext cx="28956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3" name="Line 7">
            <a:extLst>
              <a:ext uri="{FF2B5EF4-FFF2-40B4-BE49-F238E27FC236}">
                <a16:creationId xmlns:a16="http://schemas.microsoft.com/office/drawing/2014/main" id="{442CBF56-05DF-47AE-AD17-ED22593234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1888" y="2892425"/>
            <a:ext cx="21336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4" name="Line 8">
            <a:extLst>
              <a:ext uri="{FF2B5EF4-FFF2-40B4-BE49-F238E27FC236}">
                <a16:creationId xmlns:a16="http://schemas.microsoft.com/office/drawing/2014/main" id="{B44DFFB8-9981-4B1E-90B4-B5FA22AFA1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1888" y="3044825"/>
            <a:ext cx="21336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9C96FB7C-F649-4E37-8B03-2F739C506B4F}"/>
              </a:ext>
            </a:extLst>
          </p:cNvPr>
          <p:cNvGrpSpPr>
            <a:grpSpLocks/>
          </p:cNvGrpSpPr>
          <p:nvPr/>
        </p:nvGrpSpPr>
        <p:grpSpPr bwMode="auto">
          <a:xfrm>
            <a:off x="5429250" y="2643188"/>
            <a:ext cx="431800" cy="292100"/>
            <a:chOff x="5012" y="3612"/>
            <a:chExt cx="272" cy="184"/>
          </a:xfrm>
        </p:grpSpPr>
        <p:grpSp>
          <p:nvGrpSpPr>
            <p:cNvPr id="23587" name="Group 10">
              <a:extLst>
                <a:ext uri="{FF2B5EF4-FFF2-40B4-BE49-F238E27FC236}">
                  <a16:creationId xmlns:a16="http://schemas.microsoft.com/office/drawing/2014/main" id="{9ABFA364-C6E6-418E-90A0-9AA40D9ADF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0" y="3621"/>
              <a:ext cx="248" cy="175"/>
              <a:chOff x="4958" y="1120"/>
              <a:chExt cx="248" cy="175"/>
            </a:xfrm>
          </p:grpSpPr>
          <p:sp>
            <p:nvSpPr>
              <p:cNvPr id="23589" name="AutoShape 11">
                <a:hlinkClick r:id="rId3" action="ppaction://hlinkfile"/>
                <a:extLst>
                  <a:ext uri="{FF2B5EF4-FFF2-40B4-BE49-F238E27FC236}">
                    <a16:creationId xmlns:a16="http://schemas.microsoft.com/office/drawing/2014/main" id="{49CD0704-B5C9-4AFC-96E8-1FDE96C16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8" y="1120"/>
                <a:ext cx="248" cy="175"/>
              </a:xfrm>
              <a:prstGeom prst="roundRect">
                <a:avLst>
                  <a:gd name="adj" fmla="val 19116"/>
                </a:avLst>
              </a:prstGeom>
              <a:solidFill>
                <a:srgbClr val="33CCCC">
                  <a:alpha val="39999"/>
                </a:srgbClr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90" name="AutoShape 12">
                <a:extLst>
                  <a:ext uri="{FF2B5EF4-FFF2-40B4-BE49-F238E27FC236}">
                    <a16:creationId xmlns:a16="http://schemas.microsoft.com/office/drawing/2014/main" id="{B4FB231A-9140-43E1-928E-F9F5E791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1" y="1154"/>
                <a:ext cx="179" cy="104"/>
              </a:xfrm>
              <a:prstGeom prst="roundRect">
                <a:avLst>
                  <a:gd name="adj" fmla="val 22079"/>
                </a:avLst>
              </a:prstGeom>
              <a:solidFill>
                <a:srgbClr val="33CCCC">
                  <a:alpha val="50195"/>
                </a:srgbClr>
              </a:solidFill>
              <a:ln w="317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91" name="AutoShape 13">
                <a:extLst>
                  <a:ext uri="{FF2B5EF4-FFF2-40B4-BE49-F238E27FC236}">
                    <a16:creationId xmlns:a16="http://schemas.microsoft.com/office/drawing/2014/main" id="{9EC31F7D-6ED2-4309-B604-A4CF24C448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054" y="1174"/>
                <a:ext cx="66" cy="66"/>
              </a:xfrm>
              <a:prstGeom prst="triangle">
                <a:avLst>
                  <a:gd name="adj" fmla="val 50000"/>
                </a:avLst>
              </a:prstGeom>
              <a:solidFill>
                <a:srgbClr val="006666"/>
              </a:solidFill>
              <a:ln w="9525">
                <a:solidFill>
                  <a:srgbClr val="0066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92" name="Line 14">
                <a:extLst>
                  <a:ext uri="{FF2B5EF4-FFF2-40B4-BE49-F238E27FC236}">
                    <a16:creationId xmlns:a16="http://schemas.microsoft.com/office/drawing/2014/main" id="{CC2A93DC-0454-4A8D-9D0B-B8DA79E5A3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5" y="1177"/>
                <a:ext cx="0" cy="0"/>
              </a:xfrm>
              <a:prstGeom prst="line">
                <a:avLst/>
              </a:prstGeom>
              <a:noFill/>
              <a:ln w="9525">
                <a:solidFill>
                  <a:srgbClr val="33CC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88" name="Rectangle 15">
              <a:hlinkClick r:id="rId4" action="ppaction://hlinkfile" tooltip="点击播放动画"/>
              <a:extLst>
                <a:ext uri="{FF2B5EF4-FFF2-40B4-BE49-F238E27FC236}">
                  <a16:creationId xmlns:a16="http://schemas.microsoft.com/office/drawing/2014/main" id="{F12676CE-B3A3-40C6-B91F-3B148285E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2"/>
              <a:ext cx="272" cy="181"/>
            </a:xfrm>
            <a:prstGeom prst="rect">
              <a:avLst/>
            </a:prstGeom>
            <a:solidFill>
              <a:srgbClr val="00CC99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9472" name="Arc 16">
            <a:extLst>
              <a:ext uri="{FF2B5EF4-FFF2-40B4-BE49-F238E27FC236}">
                <a16:creationId xmlns:a16="http://schemas.microsoft.com/office/drawing/2014/main" id="{3FA6FDFA-82D6-47F1-8377-A3E3004062CF}"/>
              </a:ext>
            </a:extLst>
          </p:cNvPr>
          <p:cNvSpPr>
            <a:spLocks/>
          </p:cNvSpPr>
          <p:nvPr/>
        </p:nvSpPr>
        <p:spPr bwMode="auto">
          <a:xfrm>
            <a:off x="1193800" y="1878013"/>
            <a:ext cx="936625" cy="477837"/>
          </a:xfrm>
          <a:custGeom>
            <a:avLst/>
            <a:gdLst>
              <a:gd name="T0" fmla="*/ 2147483646 w 43200"/>
              <a:gd name="T1" fmla="*/ 2147483646 h 22054"/>
              <a:gd name="T2" fmla="*/ 2147483646 w 43200"/>
              <a:gd name="T3" fmla="*/ 2147483646 h 22054"/>
              <a:gd name="T4" fmla="*/ 2147483646 w 43200"/>
              <a:gd name="T5" fmla="*/ 2147483646 h 22054"/>
              <a:gd name="T6" fmla="*/ 0 60000 65536"/>
              <a:gd name="T7" fmla="*/ 0 60000 65536"/>
              <a:gd name="T8" fmla="*/ 0 60000 65536"/>
              <a:gd name="T9" fmla="*/ 0 w 43200"/>
              <a:gd name="T10" fmla="*/ 0 h 22054"/>
              <a:gd name="T11" fmla="*/ 43200 w 43200"/>
              <a:gd name="T12" fmla="*/ 22054 h 220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054" fill="none" extrusionOk="0">
                <a:moveTo>
                  <a:pt x="4" y="22054"/>
                </a:moveTo>
                <a:cubicBezTo>
                  <a:pt x="1" y="21902"/>
                  <a:pt x="0" y="2175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32"/>
                  <a:pt x="43199" y="21665"/>
                  <a:pt x="43199" y="21697"/>
                </a:cubicBezTo>
              </a:path>
              <a:path w="43200" h="22054" stroke="0" extrusionOk="0">
                <a:moveTo>
                  <a:pt x="4" y="22054"/>
                </a:moveTo>
                <a:cubicBezTo>
                  <a:pt x="1" y="21902"/>
                  <a:pt x="0" y="2175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32"/>
                  <a:pt x="43199" y="21665"/>
                  <a:pt x="43199" y="21697"/>
                </a:cubicBezTo>
                <a:lnTo>
                  <a:pt x="21600" y="21600"/>
                </a:lnTo>
                <a:lnTo>
                  <a:pt x="4" y="22054"/>
                </a:lnTo>
                <a:close/>
              </a:path>
            </a:pathLst>
          </a:custGeom>
          <a:noFill/>
          <a:ln w="1270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3" name="Arc 17">
            <a:extLst>
              <a:ext uri="{FF2B5EF4-FFF2-40B4-BE49-F238E27FC236}">
                <a16:creationId xmlns:a16="http://schemas.microsoft.com/office/drawing/2014/main" id="{764DBAC5-B455-4852-9792-E64E0B5B69DA}"/>
              </a:ext>
            </a:extLst>
          </p:cNvPr>
          <p:cNvSpPr>
            <a:spLocks/>
          </p:cNvSpPr>
          <p:nvPr/>
        </p:nvSpPr>
        <p:spPr bwMode="auto">
          <a:xfrm>
            <a:off x="1203325" y="2352675"/>
            <a:ext cx="935038" cy="520700"/>
          </a:xfrm>
          <a:custGeom>
            <a:avLst/>
            <a:gdLst>
              <a:gd name="T0" fmla="*/ 2147483646 w 43200"/>
              <a:gd name="T1" fmla="*/ 0 h 24100"/>
              <a:gd name="T2" fmla="*/ 2147483646 w 43200"/>
              <a:gd name="T3" fmla="*/ 2147483646 h 24100"/>
              <a:gd name="T4" fmla="*/ 2147483646 w 43200"/>
              <a:gd name="T5" fmla="*/ 2147483646 h 24100"/>
              <a:gd name="T6" fmla="*/ 0 60000 65536"/>
              <a:gd name="T7" fmla="*/ 0 60000 65536"/>
              <a:gd name="T8" fmla="*/ 0 60000 65536"/>
              <a:gd name="T9" fmla="*/ 0 w 43200"/>
              <a:gd name="T10" fmla="*/ 0 h 24100"/>
              <a:gd name="T11" fmla="*/ 43200 w 43200"/>
              <a:gd name="T12" fmla="*/ 24100 h 24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00" fill="none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</a:path>
              <a:path w="43200" h="24100" stroke="0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  <a:lnTo>
                  <a:pt x="21600" y="2500"/>
                </a:lnTo>
                <a:lnTo>
                  <a:pt x="43054" y="0"/>
                </a:lnTo>
                <a:close/>
              </a:path>
            </a:pathLst>
          </a:cu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4" name="Arc 18">
            <a:extLst>
              <a:ext uri="{FF2B5EF4-FFF2-40B4-BE49-F238E27FC236}">
                <a16:creationId xmlns:a16="http://schemas.microsoft.com/office/drawing/2014/main" id="{084E46E0-3DFF-442C-BDA3-C9EC1A9C93DE}"/>
              </a:ext>
            </a:extLst>
          </p:cNvPr>
          <p:cNvSpPr>
            <a:spLocks/>
          </p:cNvSpPr>
          <p:nvPr/>
        </p:nvSpPr>
        <p:spPr bwMode="auto">
          <a:xfrm>
            <a:off x="2490788" y="1878013"/>
            <a:ext cx="936625" cy="477837"/>
          </a:xfrm>
          <a:custGeom>
            <a:avLst/>
            <a:gdLst>
              <a:gd name="T0" fmla="*/ 2147483646 w 43200"/>
              <a:gd name="T1" fmla="*/ 2147483646 h 22054"/>
              <a:gd name="T2" fmla="*/ 2147483646 w 43200"/>
              <a:gd name="T3" fmla="*/ 2147483646 h 22054"/>
              <a:gd name="T4" fmla="*/ 2147483646 w 43200"/>
              <a:gd name="T5" fmla="*/ 2147483646 h 22054"/>
              <a:gd name="T6" fmla="*/ 0 60000 65536"/>
              <a:gd name="T7" fmla="*/ 0 60000 65536"/>
              <a:gd name="T8" fmla="*/ 0 60000 65536"/>
              <a:gd name="T9" fmla="*/ 0 w 43200"/>
              <a:gd name="T10" fmla="*/ 0 h 22054"/>
              <a:gd name="T11" fmla="*/ 43200 w 43200"/>
              <a:gd name="T12" fmla="*/ 22054 h 220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054" fill="none" extrusionOk="0">
                <a:moveTo>
                  <a:pt x="4" y="22054"/>
                </a:moveTo>
                <a:cubicBezTo>
                  <a:pt x="1" y="21902"/>
                  <a:pt x="0" y="2175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32"/>
                  <a:pt x="43199" y="21665"/>
                  <a:pt x="43199" y="21697"/>
                </a:cubicBezTo>
              </a:path>
              <a:path w="43200" h="22054" stroke="0" extrusionOk="0">
                <a:moveTo>
                  <a:pt x="4" y="22054"/>
                </a:moveTo>
                <a:cubicBezTo>
                  <a:pt x="1" y="21902"/>
                  <a:pt x="0" y="2175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32"/>
                  <a:pt x="43199" y="21665"/>
                  <a:pt x="43199" y="21697"/>
                </a:cubicBezTo>
                <a:lnTo>
                  <a:pt x="21600" y="21600"/>
                </a:lnTo>
                <a:lnTo>
                  <a:pt x="4" y="22054"/>
                </a:lnTo>
                <a:close/>
              </a:path>
            </a:pathLst>
          </a:custGeom>
          <a:noFill/>
          <a:ln w="1270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5" name="Arc 19">
            <a:extLst>
              <a:ext uri="{FF2B5EF4-FFF2-40B4-BE49-F238E27FC236}">
                <a16:creationId xmlns:a16="http://schemas.microsoft.com/office/drawing/2014/main" id="{CA0AB5C1-2A05-4032-BD75-0A7C5AAAD2AC}"/>
              </a:ext>
            </a:extLst>
          </p:cNvPr>
          <p:cNvSpPr>
            <a:spLocks/>
          </p:cNvSpPr>
          <p:nvPr/>
        </p:nvSpPr>
        <p:spPr bwMode="auto">
          <a:xfrm>
            <a:off x="2500313" y="2352675"/>
            <a:ext cx="935037" cy="520700"/>
          </a:xfrm>
          <a:custGeom>
            <a:avLst/>
            <a:gdLst>
              <a:gd name="T0" fmla="*/ 2147483646 w 43200"/>
              <a:gd name="T1" fmla="*/ 0 h 24100"/>
              <a:gd name="T2" fmla="*/ 2147483646 w 43200"/>
              <a:gd name="T3" fmla="*/ 2147483646 h 24100"/>
              <a:gd name="T4" fmla="*/ 2147483646 w 43200"/>
              <a:gd name="T5" fmla="*/ 2147483646 h 24100"/>
              <a:gd name="T6" fmla="*/ 0 60000 65536"/>
              <a:gd name="T7" fmla="*/ 0 60000 65536"/>
              <a:gd name="T8" fmla="*/ 0 60000 65536"/>
              <a:gd name="T9" fmla="*/ 0 w 43200"/>
              <a:gd name="T10" fmla="*/ 0 h 24100"/>
              <a:gd name="T11" fmla="*/ 43200 w 43200"/>
              <a:gd name="T12" fmla="*/ 24100 h 24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00" fill="none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</a:path>
              <a:path w="43200" h="24100" stroke="0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  <a:lnTo>
                  <a:pt x="21600" y="2500"/>
                </a:lnTo>
                <a:lnTo>
                  <a:pt x="43054" y="0"/>
                </a:lnTo>
                <a:close/>
              </a:path>
            </a:pathLst>
          </a:cu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6" name="Arc 20">
            <a:extLst>
              <a:ext uri="{FF2B5EF4-FFF2-40B4-BE49-F238E27FC236}">
                <a16:creationId xmlns:a16="http://schemas.microsoft.com/office/drawing/2014/main" id="{49A8DA92-8658-4BD5-BF3F-4598158E734B}"/>
              </a:ext>
            </a:extLst>
          </p:cNvPr>
          <p:cNvSpPr>
            <a:spLocks/>
          </p:cNvSpPr>
          <p:nvPr/>
        </p:nvSpPr>
        <p:spPr bwMode="auto">
          <a:xfrm>
            <a:off x="1203325" y="2341563"/>
            <a:ext cx="935038" cy="695325"/>
          </a:xfrm>
          <a:custGeom>
            <a:avLst/>
            <a:gdLst>
              <a:gd name="T0" fmla="*/ 2147483646 w 43200"/>
              <a:gd name="T1" fmla="*/ 0 h 24100"/>
              <a:gd name="T2" fmla="*/ 2147483646 w 43200"/>
              <a:gd name="T3" fmla="*/ 2147483646 h 24100"/>
              <a:gd name="T4" fmla="*/ 2147483646 w 43200"/>
              <a:gd name="T5" fmla="*/ 2147483646 h 24100"/>
              <a:gd name="T6" fmla="*/ 0 60000 65536"/>
              <a:gd name="T7" fmla="*/ 0 60000 65536"/>
              <a:gd name="T8" fmla="*/ 0 60000 65536"/>
              <a:gd name="T9" fmla="*/ 0 w 43200"/>
              <a:gd name="T10" fmla="*/ 0 h 24100"/>
              <a:gd name="T11" fmla="*/ 43200 w 43200"/>
              <a:gd name="T12" fmla="*/ 24100 h 24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00" fill="none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</a:path>
              <a:path w="43200" h="24100" stroke="0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  <a:lnTo>
                  <a:pt x="21600" y="2500"/>
                </a:lnTo>
                <a:lnTo>
                  <a:pt x="43054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7" name="Arc 21">
            <a:extLst>
              <a:ext uri="{FF2B5EF4-FFF2-40B4-BE49-F238E27FC236}">
                <a16:creationId xmlns:a16="http://schemas.microsoft.com/office/drawing/2014/main" id="{655E6B0C-7C66-41A9-96CC-781BCD27201A}"/>
              </a:ext>
            </a:extLst>
          </p:cNvPr>
          <p:cNvSpPr>
            <a:spLocks/>
          </p:cNvSpPr>
          <p:nvPr/>
        </p:nvSpPr>
        <p:spPr bwMode="auto">
          <a:xfrm>
            <a:off x="2498725" y="2374900"/>
            <a:ext cx="935038" cy="669925"/>
          </a:xfrm>
          <a:custGeom>
            <a:avLst/>
            <a:gdLst>
              <a:gd name="T0" fmla="*/ 2147483646 w 43200"/>
              <a:gd name="T1" fmla="*/ 0 h 24100"/>
              <a:gd name="T2" fmla="*/ 2147483646 w 43200"/>
              <a:gd name="T3" fmla="*/ 2147483646 h 24100"/>
              <a:gd name="T4" fmla="*/ 2147483646 w 43200"/>
              <a:gd name="T5" fmla="*/ 2147483646 h 24100"/>
              <a:gd name="T6" fmla="*/ 0 60000 65536"/>
              <a:gd name="T7" fmla="*/ 0 60000 65536"/>
              <a:gd name="T8" fmla="*/ 0 60000 65536"/>
              <a:gd name="T9" fmla="*/ 0 w 43200"/>
              <a:gd name="T10" fmla="*/ 0 h 24100"/>
              <a:gd name="T11" fmla="*/ 43200 w 43200"/>
              <a:gd name="T12" fmla="*/ 24100 h 24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00" fill="none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</a:path>
              <a:path w="43200" h="24100" stroke="0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  <a:lnTo>
                  <a:pt x="21600" y="2500"/>
                </a:lnTo>
                <a:lnTo>
                  <a:pt x="43054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8" name="Arc 22">
            <a:extLst>
              <a:ext uri="{FF2B5EF4-FFF2-40B4-BE49-F238E27FC236}">
                <a16:creationId xmlns:a16="http://schemas.microsoft.com/office/drawing/2014/main" id="{CCEA0210-1140-4572-87E1-F72C9BFF9D75}"/>
              </a:ext>
            </a:extLst>
          </p:cNvPr>
          <p:cNvSpPr>
            <a:spLocks/>
          </p:cNvSpPr>
          <p:nvPr/>
        </p:nvSpPr>
        <p:spPr bwMode="auto">
          <a:xfrm flipV="1">
            <a:off x="1203325" y="1701800"/>
            <a:ext cx="935038" cy="695325"/>
          </a:xfrm>
          <a:custGeom>
            <a:avLst/>
            <a:gdLst>
              <a:gd name="T0" fmla="*/ 2147483646 w 43200"/>
              <a:gd name="T1" fmla="*/ 0 h 24100"/>
              <a:gd name="T2" fmla="*/ 2147483646 w 43200"/>
              <a:gd name="T3" fmla="*/ 2147483646 h 24100"/>
              <a:gd name="T4" fmla="*/ 2147483646 w 43200"/>
              <a:gd name="T5" fmla="*/ 2147483646 h 24100"/>
              <a:gd name="T6" fmla="*/ 0 60000 65536"/>
              <a:gd name="T7" fmla="*/ 0 60000 65536"/>
              <a:gd name="T8" fmla="*/ 0 60000 65536"/>
              <a:gd name="T9" fmla="*/ 0 w 43200"/>
              <a:gd name="T10" fmla="*/ 0 h 24100"/>
              <a:gd name="T11" fmla="*/ 43200 w 43200"/>
              <a:gd name="T12" fmla="*/ 24100 h 24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00" fill="none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</a:path>
              <a:path w="43200" h="24100" stroke="0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  <a:lnTo>
                  <a:pt x="21600" y="2500"/>
                </a:lnTo>
                <a:lnTo>
                  <a:pt x="43054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endParaRPr lang="zh-CN" altLang="en-US"/>
          </a:p>
        </p:txBody>
      </p:sp>
      <p:sp>
        <p:nvSpPr>
          <p:cNvPr id="19479" name="Arc 23">
            <a:extLst>
              <a:ext uri="{FF2B5EF4-FFF2-40B4-BE49-F238E27FC236}">
                <a16:creationId xmlns:a16="http://schemas.microsoft.com/office/drawing/2014/main" id="{384F1C25-66B1-4F15-8DDA-3892FEA0ADF7}"/>
              </a:ext>
            </a:extLst>
          </p:cNvPr>
          <p:cNvSpPr>
            <a:spLocks/>
          </p:cNvSpPr>
          <p:nvPr/>
        </p:nvSpPr>
        <p:spPr bwMode="auto">
          <a:xfrm flipV="1">
            <a:off x="2500313" y="1674813"/>
            <a:ext cx="935037" cy="695325"/>
          </a:xfrm>
          <a:custGeom>
            <a:avLst/>
            <a:gdLst>
              <a:gd name="T0" fmla="*/ 2147483646 w 43200"/>
              <a:gd name="T1" fmla="*/ 0 h 24100"/>
              <a:gd name="T2" fmla="*/ 2147483646 w 43200"/>
              <a:gd name="T3" fmla="*/ 2147483646 h 24100"/>
              <a:gd name="T4" fmla="*/ 2147483646 w 43200"/>
              <a:gd name="T5" fmla="*/ 2147483646 h 24100"/>
              <a:gd name="T6" fmla="*/ 0 60000 65536"/>
              <a:gd name="T7" fmla="*/ 0 60000 65536"/>
              <a:gd name="T8" fmla="*/ 0 60000 65536"/>
              <a:gd name="T9" fmla="*/ 0 w 43200"/>
              <a:gd name="T10" fmla="*/ 0 h 24100"/>
              <a:gd name="T11" fmla="*/ 43200 w 43200"/>
              <a:gd name="T12" fmla="*/ 24100 h 24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00" fill="none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</a:path>
              <a:path w="43200" h="24100" stroke="0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  <a:lnTo>
                  <a:pt x="21600" y="2500"/>
                </a:lnTo>
                <a:lnTo>
                  <a:pt x="43054" y="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endParaRPr lang="zh-CN" altLang="en-US"/>
          </a:p>
        </p:txBody>
      </p:sp>
      <p:sp>
        <p:nvSpPr>
          <p:cNvPr id="19480" name="Line 24">
            <a:extLst>
              <a:ext uri="{FF2B5EF4-FFF2-40B4-BE49-F238E27FC236}">
                <a16:creationId xmlns:a16="http://schemas.microsoft.com/office/drawing/2014/main" id="{79132F88-6093-4486-AC4A-86966556F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1163" y="1554163"/>
            <a:ext cx="0" cy="86360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1" name="Line 25">
            <a:extLst>
              <a:ext uri="{FF2B5EF4-FFF2-40B4-BE49-F238E27FC236}">
                <a16:creationId xmlns:a16="http://schemas.microsoft.com/office/drawing/2014/main" id="{96C1D889-0D74-4CBA-BD87-741D6037B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8150" y="1554163"/>
            <a:ext cx="0" cy="86360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482" name="Object 2">
            <a:extLst>
              <a:ext uri="{FF2B5EF4-FFF2-40B4-BE49-F238E27FC236}">
                <a16:creationId xmlns:a16="http://schemas.microsoft.com/office/drawing/2014/main" id="{F725263A-6ABD-4A0F-8315-0943A5DF35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9625" y="2595563"/>
          <a:ext cx="4572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58" name="公式" r:id="rId5" imgW="533349" imgH="314427" progId="Equation.3">
                  <p:embed/>
                </p:oleObj>
              </mc:Choice>
              <mc:Fallback>
                <p:oleObj name="公式" r:id="rId5" imgW="533349" imgH="314427" progId="Equation.3">
                  <p:embed/>
                  <p:pic>
                    <p:nvPicPr>
                      <p:cNvPr id="19482" name="Object 2">
                        <a:extLst>
                          <a:ext uri="{FF2B5EF4-FFF2-40B4-BE49-F238E27FC236}">
                            <a16:creationId xmlns:a16="http://schemas.microsoft.com/office/drawing/2014/main" id="{F725263A-6ABD-4A0F-8315-0943A5DF35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2595563"/>
                        <a:ext cx="4572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3" name="Object 3">
            <a:extLst>
              <a:ext uri="{FF2B5EF4-FFF2-40B4-BE49-F238E27FC236}">
                <a16:creationId xmlns:a16="http://schemas.microsoft.com/office/drawing/2014/main" id="{C4D63BD1-D6F0-4F65-9721-6B141DE8BF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6925" y="3065463"/>
          <a:ext cx="434975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59" name="公式" r:id="rId7" imgW="504908" imgH="314427" progId="Equation.3">
                  <p:embed/>
                </p:oleObj>
              </mc:Choice>
              <mc:Fallback>
                <p:oleObj name="公式" r:id="rId7" imgW="504908" imgH="314427" progId="Equation.3">
                  <p:embed/>
                  <p:pic>
                    <p:nvPicPr>
                      <p:cNvPr id="19483" name="Object 3">
                        <a:extLst>
                          <a:ext uri="{FF2B5EF4-FFF2-40B4-BE49-F238E27FC236}">
                            <a16:creationId xmlns:a16="http://schemas.microsoft.com/office/drawing/2014/main" id="{C4D63BD1-D6F0-4F65-9721-6B141DE8BF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925" y="3065463"/>
                        <a:ext cx="434975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8">
            <a:extLst>
              <a:ext uri="{FF2B5EF4-FFF2-40B4-BE49-F238E27FC236}">
                <a16:creationId xmlns:a16="http://schemas.microsoft.com/office/drawing/2014/main" id="{6D17679D-68F0-4329-90F3-775697CAE2E8}"/>
              </a:ext>
            </a:extLst>
          </p:cNvPr>
          <p:cNvGrpSpPr>
            <a:grpSpLocks/>
          </p:cNvGrpSpPr>
          <p:nvPr/>
        </p:nvGrpSpPr>
        <p:grpSpPr bwMode="auto">
          <a:xfrm>
            <a:off x="2900363" y="2384425"/>
            <a:ext cx="152400" cy="1401763"/>
            <a:chOff x="2135" y="1253"/>
            <a:chExt cx="96" cy="907"/>
          </a:xfrm>
        </p:grpSpPr>
        <p:sp>
          <p:nvSpPr>
            <p:cNvPr id="23582" name="Line 29">
              <a:extLst>
                <a:ext uri="{FF2B5EF4-FFF2-40B4-BE49-F238E27FC236}">
                  <a16:creationId xmlns:a16="http://schemas.microsoft.com/office/drawing/2014/main" id="{AE42B6E5-BD61-4AE0-9400-3376FD23D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3" y="1253"/>
              <a:ext cx="0" cy="907"/>
            </a:xfrm>
            <a:prstGeom prst="line">
              <a:avLst/>
            </a:prstGeom>
            <a:noFill/>
            <a:ln w="28575">
              <a:solidFill>
                <a:srgbClr val="CCFFCC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3" name="Line 30">
              <a:extLst>
                <a:ext uri="{FF2B5EF4-FFF2-40B4-BE49-F238E27FC236}">
                  <a16:creationId xmlns:a16="http://schemas.microsoft.com/office/drawing/2014/main" id="{2685D985-9B04-41AC-82DB-856D526216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5" y="1741"/>
              <a:ext cx="9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84" name="Object 13">
              <a:extLst>
                <a:ext uri="{FF2B5EF4-FFF2-40B4-BE49-F238E27FC236}">
                  <a16:creationId xmlns:a16="http://schemas.microsoft.com/office/drawing/2014/main" id="{0CCFCE3E-8A19-4B29-9765-23A22104E6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6" y="1814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60" name="Equation" r:id="rId9" imgW="76149" imgH="85725" progId="Equation.3">
                    <p:embed/>
                  </p:oleObj>
                </mc:Choice>
                <mc:Fallback>
                  <p:oleObj name="Equation" r:id="rId9" imgW="76149" imgH="85725" progId="Equation.3">
                    <p:embed/>
                    <p:pic>
                      <p:nvPicPr>
                        <p:cNvPr id="23584" name="Object 13">
                          <a:extLst>
                            <a:ext uri="{FF2B5EF4-FFF2-40B4-BE49-F238E27FC236}">
                              <a16:creationId xmlns:a16="http://schemas.microsoft.com/office/drawing/2014/main" id="{0CCFCE3E-8A19-4B29-9765-23A22104E6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6" y="1814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5" name="Object 14">
              <a:extLst>
                <a:ext uri="{FF2B5EF4-FFF2-40B4-BE49-F238E27FC236}">
                  <a16:creationId xmlns:a16="http://schemas.microsoft.com/office/drawing/2014/main" id="{C9E0BF62-C495-429B-8B25-C0207E8B8D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6" y="1608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61" name="Equation" r:id="rId11" imgW="76149" imgH="85725" progId="Equation.3">
                    <p:embed/>
                  </p:oleObj>
                </mc:Choice>
                <mc:Fallback>
                  <p:oleObj name="Equation" r:id="rId11" imgW="76149" imgH="85725" progId="Equation.3">
                    <p:embed/>
                    <p:pic>
                      <p:nvPicPr>
                        <p:cNvPr id="23585" name="Object 14">
                          <a:extLst>
                            <a:ext uri="{FF2B5EF4-FFF2-40B4-BE49-F238E27FC236}">
                              <a16:creationId xmlns:a16="http://schemas.microsoft.com/office/drawing/2014/main" id="{C9E0BF62-C495-429B-8B25-C0207E8B8D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6" y="1608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6" name="Line 33">
              <a:extLst>
                <a:ext uri="{FF2B5EF4-FFF2-40B4-BE49-F238E27FC236}">
                  <a16:creationId xmlns:a16="http://schemas.microsoft.com/office/drawing/2014/main" id="{3E99727E-C0DB-42AA-8040-A31F1BAFA6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5" y="1933"/>
              <a:ext cx="9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34">
            <a:extLst>
              <a:ext uri="{FF2B5EF4-FFF2-40B4-BE49-F238E27FC236}">
                <a16:creationId xmlns:a16="http://schemas.microsoft.com/office/drawing/2014/main" id="{10C2515D-1AF5-4EC7-9938-94C6F28E5367}"/>
              </a:ext>
            </a:extLst>
          </p:cNvPr>
          <p:cNvGrpSpPr>
            <a:grpSpLocks/>
          </p:cNvGrpSpPr>
          <p:nvPr/>
        </p:nvGrpSpPr>
        <p:grpSpPr bwMode="auto">
          <a:xfrm>
            <a:off x="1603375" y="2386013"/>
            <a:ext cx="160338" cy="1400175"/>
            <a:chOff x="1318" y="1298"/>
            <a:chExt cx="101" cy="862"/>
          </a:xfrm>
        </p:grpSpPr>
        <p:sp>
          <p:nvSpPr>
            <p:cNvPr id="23577" name="Line 35">
              <a:extLst>
                <a:ext uri="{FF2B5EF4-FFF2-40B4-BE49-F238E27FC236}">
                  <a16:creationId xmlns:a16="http://schemas.microsoft.com/office/drawing/2014/main" id="{B31EB9D4-88ED-4964-9126-4B174C631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" y="1298"/>
              <a:ext cx="0" cy="862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8" name="Line 36">
              <a:extLst>
                <a:ext uri="{FF2B5EF4-FFF2-40B4-BE49-F238E27FC236}">
                  <a16:creationId xmlns:a16="http://schemas.microsoft.com/office/drawing/2014/main" id="{580F6525-7C38-47D4-8CE7-9324E1255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3" y="1645"/>
              <a:ext cx="9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9" name="Line 37">
              <a:extLst>
                <a:ext uri="{FF2B5EF4-FFF2-40B4-BE49-F238E27FC236}">
                  <a16:creationId xmlns:a16="http://schemas.microsoft.com/office/drawing/2014/main" id="{5B7A4C21-04C3-48BE-A842-639AFD91B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1836"/>
              <a:ext cx="9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80" name="Object 11">
              <a:extLst>
                <a:ext uri="{FF2B5EF4-FFF2-40B4-BE49-F238E27FC236}">
                  <a16:creationId xmlns:a16="http://schemas.microsoft.com/office/drawing/2014/main" id="{B42ADB24-324B-46E9-AD57-27ACD44EB3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0" y="1694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62" name="Equation" r:id="rId13" imgW="76149" imgH="85725" progId="Equation.3">
                    <p:embed/>
                  </p:oleObj>
                </mc:Choice>
                <mc:Fallback>
                  <p:oleObj name="Equation" r:id="rId13" imgW="76149" imgH="85725" progId="Equation.3">
                    <p:embed/>
                    <p:pic>
                      <p:nvPicPr>
                        <p:cNvPr id="23580" name="Object 11">
                          <a:extLst>
                            <a:ext uri="{FF2B5EF4-FFF2-40B4-BE49-F238E27FC236}">
                              <a16:creationId xmlns:a16="http://schemas.microsoft.com/office/drawing/2014/main" id="{B42ADB24-324B-46E9-AD57-27ACD44EB3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0" y="1694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1" name="Object 12">
              <a:extLst>
                <a:ext uri="{FF2B5EF4-FFF2-40B4-BE49-F238E27FC236}">
                  <a16:creationId xmlns:a16="http://schemas.microsoft.com/office/drawing/2014/main" id="{EA7506E8-626D-49AF-A0AD-D3194BAD01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26" y="1868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63" name="Equation" r:id="rId15" imgW="76149" imgH="85725" progId="Equation.3">
                    <p:embed/>
                  </p:oleObj>
                </mc:Choice>
                <mc:Fallback>
                  <p:oleObj name="Equation" r:id="rId15" imgW="76149" imgH="85725" progId="Equation.3">
                    <p:embed/>
                    <p:pic>
                      <p:nvPicPr>
                        <p:cNvPr id="23581" name="Object 12">
                          <a:extLst>
                            <a:ext uri="{FF2B5EF4-FFF2-40B4-BE49-F238E27FC236}">
                              <a16:creationId xmlns:a16="http://schemas.microsoft.com/office/drawing/2014/main" id="{EA7506E8-626D-49AF-A0AD-D3194BAD01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6" y="1868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76" name="灯片编号占位符 1">
            <a:extLst>
              <a:ext uri="{FF2B5EF4-FFF2-40B4-BE49-F238E27FC236}">
                <a16:creationId xmlns:a16="http://schemas.microsoft.com/office/drawing/2014/main" id="{513A6FEB-34B7-4BA9-B38A-EC91FFCE905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357972-DA50-429B-8353-2B4B70ED490C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10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10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10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10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10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nimBg="1"/>
      <p:bldP spid="19459" grpId="0" autoUpdateAnimBg="0"/>
      <p:bldP spid="1946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Line 2">
            <a:extLst>
              <a:ext uri="{FF2B5EF4-FFF2-40B4-BE49-F238E27FC236}">
                <a16:creationId xmlns:a16="http://schemas.microsoft.com/office/drawing/2014/main" id="{28077269-B2D5-47B2-8E9C-847762E6CE45}"/>
              </a:ext>
            </a:extLst>
          </p:cNvPr>
          <p:cNvSpPr>
            <a:spLocks noChangeShapeType="1"/>
          </p:cNvSpPr>
          <p:nvPr/>
        </p:nvSpPr>
        <p:spPr bwMode="auto">
          <a:xfrm rot="1320000">
            <a:off x="6542088" y="4400550"/>
            <a:ext cx="838200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443" name="Text Box 3">
            <a:extLst>
              <a:ext uri="{FF2B5EF4-FFF2-40B4-BE49-F238E27FC236}">
                <a16:creationId xmlns:a16="http://schemas.microsoft.com/office/drawing/2014/main" id="{70EFF5A9-DC24-44A0-A3A8-47C8B3A94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257425"/>
            <a:ext cx="3602038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FFFF00"/>
                </a:solidFill>
              </a:rPr>
              <a:t>1. </a:t>
            </a:r>
            <a:r>
              <a:rPr lang="zh-CN" altLang="en-US">
                <a:solidFill>
                  <a:srgbClr val="FFFF00"/>
                </a:solidFill>
              </a:rPr>
              <a:t> 尼科耳棱镜</a:t>
            </a:r>
            <a:endParaRPr lang="zh-CN" altLang="en-US">
              <a:solidFill>
                <a:srgbClr val="FFFF00"/>
              </a:solidFill>
              <a:latin typeface="方正书宋简体"/>
            </a:endParaRP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0888D4CA-E02E-49E3-A37D-022D68FE5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1052513"/>
            <a:ext cx="8177212" cy="1016000"/>
          </a:xfrm>
          <a:prstGeom prst="rect">
            <a:avLst/>
          </a:prstGeom>
          <a:solidFill>
            <a:srgbClr val="006699">
              <a:alpha val="39999"/>
            </a:srgbClr>
          </a:solidFill>
          <a:ln w="9525">
            <a:solidFill>
              <a:srgbClr val="808080">
                <a:alpha val="50195"/>
              </a:srgb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利用晶体双折射性质制成一些棱镜或者器件，可以从自然光中获得高质量的线偏振光。</a:t>
            </a:r>
            <a:endParaRPr kumimoji="0" lang="en-US" altLang="zh-CN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573445" name="Line 5">
            <a:extLst>
              <a:ext uri="{FF2B5EF4-FFF2-40B4-BE49-F238E27FC236}">
                <a16:creationId xmlns:a16="http://schemas.microsoft.com/office/drawing/2014/main" id="{64FAEAA8-558D-4568-B470-856CBC124B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4950" y="4198938"/>
            <a:ext cx="287338" cy="7302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73446" name="Picture 6" descr="14">
            <a:extLst>
              <a:ext uri="{FF2B5EF4-FFF2-40B4-BE49-F238E27FC236}">
                <a16:creationId xmlns:a16="http://schemas.microsoft.com/office/drawing/2014/main" id="{0F90F877-00DF-4E5B-A6CA-A08B294C1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326698"/>
              </a:clrFrom>
              <a:clrTo>
                <a:srgbClr val="32669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575" y="2986088"/>
            <a:ext cx="5467350" cy="208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47" name="Picture 7" descr="14">
            <a:extLst>
              <a:ext uri="{FF2B5EF4-FFF2-40B4-BE49-F238E27FC236}">
                <a16:creationId xmlns:a16="http://schemas.microsoft.com/office/drawing/2014/main" id="{244670CA-4FA7-41A1-A991-2F2A4F61D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326698"/>
              </a:clrFrom>
              <a:clrTo>
                <a:srgbClr val="32669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3151188"/>
            <a:ext cx="5187950" cy="208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48" name="Line 8">
            <a:extLst>
              <a:ext uri="{FF2B5EF4-FFF2-40B4-BE49-F238E27FC236}">
                <a16:creationId xmlns:a16="http://schemas.microsoft.com/office/drawing/2014/main" id="{32380A72-6924-4D00-A567-CD2D9D0C5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2363" y="3843338"/>
            <a:ext cx="3062287" cy="674687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49" name="Line 9">
            <a:extLst>
              <a:ext uri="{FF2B5EF4-FFF2-40B4-BE49-F238E27FC236}">
                <a16:creationId xmlns:a16="http://schemas.microsoft.com/office/drawing/2014/main" id="{2C78AC06-C338-4FEC-A028-4C70E39D600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445125" y="4511675"/>
            <a:ext cx="414338" cy="366713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50" name="Line 10">
            <a:extLst>
              <a:ext uri="{FF2B5EF4-FFF2-40B4-BE49-F238E27FC236}">
                <a16:creationId xmlns:a16="http://schemas.microsoft.com/office/drawing/2014/main" id="{A4E584A2-480D-48F6-BAA9-C4FD8F86EE33}"/>
              </a:ext>
            </a:extLst>
          </p:cNvPr>
          <p:cNvSpPr>
            <a:spLocks noChangeShapeType="1"/>
          </p:cNvSpPr>
          <p:nvPr/>
        </p:nvSpPr>
        <p:spPr bwMode="auto">
          <a:xfrm rot="21300000">
            <a:off x="4865169" y="4122788"/>
            <a:ext cx="2078961" cy="363177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51" name="Line 11">
            <a:extLst>
              <a:ext uri="{FF2B5EF4-FFF2-40B4-BE49-F238E27FC236}">
                <a16:creationId xmlns:a16="http://schemas.microsoft.com/office/drawing/2014/main" id="{6C363C1D-1CBA-47D3-A667-7CFE83408B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500" y="3857625"/>
            <a:ext cx="14605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3452" name="Object 2">
            <a:extLst>
              <a:ext uri="{FF2B5EF4-FFF2-40B4-BE49-F238E27FC236}">
                <a16:creationId xmlns:a16="http://schemas.microsoft.com/office/drawing/2014/main" id="{C89DFE1F-67E6-47D7-A653-D8C4F1DA3A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3838" y="3752850"/>
          <a:ext cx="195262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39" name="Equation" r:id="rId6" imgW="76149" imgH="85725" progId="Equation.3">
                  <p:embed/>
                </p:oleObj>
              </mc:Choice>
              <mc:Fallback>
                <p:oleObj name="Equation" r:id="rId6" imgW="76149" imgH="85725" progId="Equation.3">
                  <p:embed/>
                  <p:pic>
                    <p:nvPicPr>
                      <p:cNvPr id="573452" name="Object 2">
                        <a:extLst>
                          <a:ext uri="{FF2B5EF4-FFF2-40B4-BE49-F238E27FC236}">
                            <a16:creationId xmlns:a16="http://schemas.microsoft.com/office/drawing/2014/main" id="{C89DFE1F-67E6-47D7-A653-D8C4F1DA3A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8" y="3752850"/>
                        <a:ext cx="195262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53" name="Line 13">
            <a:extLst>
              <a:ext uri="{FF2B5EF4-FFF2-40B4-BE49-F238E27FC236}">
                <a16:creationId xmlns:a16="http://schemas.microsoft.com/office/drawing/2014/main" id="{3E314D0D-C73C-4B2A-A69B-A817BFA289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4463" y="3705225"/>
            <a:ext cx="0" cy="304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54" name="Line 14">
            <a:extLst>
              <a:ext uri="{FF2B5EF4-FFF2-40B4-BE49-F238E27FC236}">
                <a16:creationId xmlns:a16="http://schemas.microsoft.com/office/drawing/2014/main" id="{9E6CB879-61A9-4647-B77A-82C45C26E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4988" y="3705225"/>
            <a:ext cx="0" cy="304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3455" name="Object 3">
            <a:extLst>
              <a:ext uri="{FF2B5EF4-FFF2-40B4-BE49-F238E27FC236}">
                <a16:creationId xmlns:a16="http://schemas.microsoft.com/office/drawing/2014/main" id="{9B918A44-0B3F-4D5E-BD16-6F11EE203E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3413" y="3752850"/>
          <a:ext cx="195262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0" name="Equation" r:id="rId8" imgW="76149" imgH="85725" progId="Equation.3">
                  <p:embed/>
                </p:oleObj>
              </mc:Choice>
              <mc:Fallback>
                <p:oleObj name="Equation" r:id="rId8" imgW="76149" imgH="85725" progId="Equation.3">
                  <p:embed/>
                  <p:pic>
                    <p:nvPicPr>
                      <p:cNvPr id="573455" name="Object 3">
                        <a:extLst>
                          <a:ext uri="{FF2B5EF4-FFF2-40B4-BE49-F238E27FC236}">
                            <a16:creationId xmlns:a16="http://schemas.microsoft.com/office/drawing/2014/main" id="{9B918A44-0B3F-4D5E-BD16-6F11EE203E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3752850"/>
                        <a:ext cx="195262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56" name="Object 4">
            <a:extLst>
              <a:ext uri="{FF2B5EF4-FFF2-40B4-BE49-F238E27FC236}">
                <a16:creationId xmlns:a16="http://schemas.microsoft.com/office/drawing/2014/main" id="{EA2364E5-76B1-4CFA-8257-230D5DCF0B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6575" y="4214813"/>
          <a:ext cx="1111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1" name="Equation" r:id="rId10" imgW="76149" imgH="85725" progId="Equation.3">
                  <p:embed/>
                </p:oleObj>
              </mc:Choice>
              <mc:Fallback>
                <p:oleObj name="Equation" r:id="rId10" imgW="76149" imgH="85725" progId="Equation.3">
                  <p:embed/>
                  <p:pic>
                    <p:nvPicPr>
                      <p:cNvPr id="573456" name="Object 4">
                        <a:extLst>
                          <a:ext uri="{FF2B5EF4-FFF2-40B4-BE49-F238E27FC236}">
                            <a16:creationId xmlns:a16="http://schemas.microsoft.com/office/drawing/2014/main" id="{EA2364E5-76B1-4CFA-8257-230D5DCF0B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6575" y="4214813"/>
                        <a:ext cx="111125" cy="12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57" name="Object 5">
            <a:extLst>
              <a:ext uri="{FF2B5EF4-FFF2-40B4-BE49-F238E27FC236}">
                <a16:creationId xmlns:a16="http://schemas.microsoft.com/office/drawing/2014/main" id="{5664FA0C-4063-44FE-9FA0-7C10C52550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44913" y="4092575"/>
          <a:ext cx="1111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2" name="Equation" r:id="rId12" imgW="76149" imgH="85725" progId="Equation.3">
                  <p:embed/>
                </p:oleObj>
              </mc:Choice>
              <mc:Fallback>
                <p:oleObj name="Equation" r:id="rId12" imgW="76149" imgH="85725" progId="Equation.3">
                  <p:embed/>
                  <p:pic>
                    <p:nvPicPr>
                      <p:cNvPr id="573457" name="Object 5">
                        <a:extLst>
                          <a:ext uri="{FF2B5EF4-FFF2-40B4-BE49-F238E27FC236}">
                            <a16:creationId xmlns:a16="http://schemas.microsoft.com/office/drawing/2014/main" id="{5664FA0C-4063-44FE-9FA0-7C10C52550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913" y="4092575"/>
                        <a:ext cx="111125" cy="12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58" name="Object 6">
            <a:extLst>
              <a:ext uri="{FF2B5EF4-FFF2-40B4-BE49-F238E27FC236}">
                <a16:creationId xmlns:a16="http://schemas.microsoft.com/office/drawing/2014/main" id="{83EB6623-212A-4565-A533-B849E2E5A9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5313" y="3959225"/>
          <a:ext cx="1111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3" name="Equation" r:id="rId14" imgW="76149" imgH="85725" progId="Equation.3">
                  <p:embed/>
                </p:oleObj>
              </mc:Choice>
              <mc:Fallback>
                <p:oleObj name="Equation" r:id="rId14" imgW="76149" imgH="85725" progId="Equation.3">
                  <p:embed/>
                  <p:pic>
                    <p:nvPicPr>
                      <p:cNvPr id="573458" name="Object 6">
                        <a:extLst>
                          <a:ext uri="{FF2B5EF4-FFF2-40B4-BE49-F238E27FC236}">
                            <a16:creationId xmlns:a16="http://schemas.microsoft.com/office/drawing/2014/main" id="{83EB6623-212A-4565-A533-B849E2E5A9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313" y="3959225"/>
                        <a:ext cx="111125" cy="12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59" name="Object 7">
            <a:extLst>
              <a:ext uri="{FF2B5EF4-FFF2-40B4-BE49-F238E27FC236}">
                <a16:creationId xmlns:a16="http://schemas.microsoft.com/office/drawing/2014/main" id="{F8514126-CC15-40E5-B091-F7A9D25224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6250" y="4591050"/>
          <a:ext cx="1111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4" name="Equation" r:id="rId16" imgW="76149" imgH="85725" progId="Equation.3">
                  <p:embed/>
                </p:oleObj>
              </mc:Choice>
              <mc:Fallback>
                <p:oleObj name="Equation" r:id="rId16" imgW="76149" imgH="85725" progId="Equation.3">
                  <p:embed/>
                  <p:pic>
                    <p:nvPicPr>
                      <p:cNvPr id="573459" name="Object 7">
                        <a:extLst>
                          <a:ext uri="{FF2B5EF4-FFF2-40B4-BE49-F238E27FC236}">
                            <a16:creationId xmlns:a16="http://schemas.microsoft.com/office/drawing/2014/main" id="{F8514126-CC15-40E5-B091-F7A9D25224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4591050"/>
                        <a:ext cx="111125" cy="12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60" name="Line 20">
            <a:extLst>
              <a:ext uri="{FF2B5EF4-FFF2-40B4-BE49-F238E27FC236}">
                <a16:creationId xmlns:a16="http://schemas.microsoft.com/office/drawing/2014/main" id="{474AB244-4BFD-498B-BD2C-37D24BAB868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100763" y="4266000"/>
            <a:ext cx="1587" cy="1111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3461" name="Object 8">
            <a:extLst>
              <a:ext uri="{FF2B5EF4-FFF2-40B4-BE49-F238E27FC236}">
                <a16:creationId xmlns:a16="http://schemas.microsoft.com/office/drawing/2014/main" id="{126B75EB-4FAF-46D8-8A6E-237D64E684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5300" y="2857500"/>
          <a:ext cx="38068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5" name="公式" r:id="rId18" imgW="4753045" imgH="409643" progId="Equation.3">
                  <p:embed/>
                </p:oleObj>
              </mc:Choice>
              <mc:Fallback>
                <p:oleObj name="公式" r:id="rId18" imgW="4753045" imgH="409643" progId="Equation.3">
                  <p:embed/>
                  <p:pic>
                    <p:nvPicPr>
                      <p:cNvPr id="573461" name="Object 8">
                        <a:extLst>
                          <a:ext uri="{FF2B5EF4-FFF2-40B4-BE49-F238E27FC236}">
                            <a16:creationId xmlns:a16="http://schemas.microsoft.com/office/drawing/2014/main" id="{126B75EB-4FAF-46D8-8A6E-237D64E684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2857500"/>
                        <a:ext cx="38068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62" name="Line 22">
            <a:extLst>
              <a:ext uri="{FF2B5EF4-FFF2-40B4-BE49-F238E27FC236}">
                <a16:creationId xmlns:a16="http://schemas.microsoft.com/office/drawing/2014/main" id="{29A45C2D-37BB-4A20-ABED-A364F7FE510F}"/>
              </a:ext>
            </a:extLst>
          </p:cNvPr>
          <p:cNvSpPr>
            <a:spLocks noChangeShapeType="1"/>
          </p:cNvSpPr>
          <p:nvPr/>
        </p:nvSpPr>
        <p:spPr bwMode="auto">
          <a:xfrm rot="600000" flipV="1">
            <a:off x="2387567" y="4016298"/>
            <a:ext cx="2424613" cy="44054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463" name="Rectangle 23">
            <a:extLst>
              <a:ext uri="{FF2B5EF4-FFF2-40B4-BE49-F238E27FC236}">
                <a16:creationId xmlns:a16="http://schemas.microsoft.com/office/drawing/2014/main" id="{EB5720AA-48D1-440A-A807-6F5C1BF41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2021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FFFF00"/>
                </a:solidFill>
              </a:rPr>
              <a:t>o</a:t>
            </a:r>
            <a:endParaRPr lang="en-US" altLang="zh-CN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573464" name="Line 24">
            <a:extLst>
              <a:ext uri="{FF2B5EF4-FFF2-40B4-BE49-F238E27FC236}">
                <a16:creationId xmlns:a16="http://schemas.microsoft.com/office/drawing/2014/main" id="{3B720982-0747-46DD-B9E4-E598C438FE9A}"/>
              </a:ext>
            </a:extLst>
          </p:cNvPr>
          <p:cNvSpPr>
            <a:spLocks noChangeShapeType="1"/>
          </p:cNvSpPr>
          <p:nvPr/>
        </p:nvSpPr>
        <p:spPr bwMode="auto">
          <a:xfrm rot="1320000">
            <a:off x="2003425" y="3859213"/>
            <a:ext cx="838200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465" name="Line 25">
            <a:extLst>
              <a:ext uri="{FF2B5EF4-FFF2-40B4-BE49-F238E27FC236}">
                <a16:creationId xmlns:a16="http://schemas.microsoft.com/office/drawing/2014/main" id="{E58847A7-5E93-4359-999A-A058E7ACD4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5788" y="4391025"/>
            <a:ext cx="1127125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466" name="Line 26">
            <a:extLst>
              <a:ext uri="{FF2B5EF4-FFF2-40B4-BE49-F238E27FC236}">
                <a16:creationId xmlns:a16="http://schemas.microsoft.com/office/drawing/2014/main" id="{2978C26D-062C-41FB-8386-E4A09DEED5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3344863"/>
            <a:ext cx="3889375" cy="1584325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73467" name="Text Box 27">
            <a:extLst>
              <a:ext uri="{FF2B5EF4-FFF2-40B4-BE49-F238E27FC236}">
                <a16:creationId xmlns:a16="http://schemas.microsoft.com/office/drawing/2014/main" id="{92C74BD6-2F8B-4CA3-BA40-480C02F66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4362450"/>
            <a:ext cx="695325" cy="39687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光轴</a:t>
            </a:r>
          </a:p>
        </p:txBody>
      </p:sp>
      <p:sp>
        <p:nvSpPr>
          <p:cNvPr id="573468" name="Line 28">
            <a:extLst>
              <a:ext uri="{FF2B5EF4-FFF2-40B4-BE49-F238E27FC236}">
                <a16:creationId xmlns:a16="http://schemas.microsoft.com/office/drawing/2014/main" id="{AE99BF61-E6C3-4878-9B44-8D98F2D03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550" y="3854450"/>
            <a:ext cx="360363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3469" name="Object 9">
            <a:extLst>
              <a:ext uri="{FF2B5EF4-FFF2-40B4-BE49-F238E27FC236}">
                <a16:creationId xmlns:a16="http://schemas.microsoft.com/office/drawing/2014/main" id="{90A054C1-F3AD-44DC-AE33-65116AD46A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3748088"/>
          <a:ext cx="195262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6" name="Equation" r:id="rId20" imgW="76149" imgH="85725" progId="Equation.3">
                  <p:embed/>
                </p:oleObj>
              </mc:Choice>
              <mc:Fallback>
                <p:oleObj name="Equation" r:id="rId20" imgW="76149" imgH="85725" progId="Equation.3">
                  <p:embed/>
                  <p:pic>
                    <p:nvPicPr>
                      <p:cNvPr id="573469" name="Object 9">
                        <a:extLst>
                          <a:ext uri="{FF2B5EF4-FFF2-40B4-BE49-F238E27FC236}">
                            <a16:creationId xmlns:a16="http://schemas.microsoft.com/office/drawing/2014/main" id="{90A054C1-F3AD-44DC-AE33-65116AD46A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748088"/>
                        <a:ext cx="195262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70" name="Object 10">
            <a:extLst>
              <a:ext uri="{FF2B5EF4-FFF2-40B4-BE49-F238E27FC236}">
                <a16:creationId xmlns:a16="http://schemas.microsoft.com/office/drawing/2014/main" id="{2EAEADA7-13A2-4DD5-ABD9-644132C8D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4875" y="4027488"/>
          <a:ext cx="1111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7" name="Equation" r:id="rId22" imgW="76149" imgH="85725" progId="Equation.3">
                  <p:embed/>
                </p:oleObj>
              </mc:Choice>
              <mc:Fallback>
                <p:oleObj name="Equation" r:id="rId22" imgW="76149" imgH="85725" progId="Equation.3">
                  <p:embed/>
                  <p:pic>
                    <p:nvPicPr>
                      <p:cNvPr id="573470" name="Object 10">
                        <a:extLst>
                          <a:ext uri="{FF2B5EF4-FFF2-40B4-BE49-F238E27FC236}">
                            <a16:creationId xmlns:a16="http://schemas.microsoft.com/office/drawing/2014/main" id="{2EAEADA7-13A2-4DD5-ABD9-644132C8DF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4027488"/>
                        <a:ext cx="111125" cy="12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71" name="Object 11">
            <a:extLst>
              <a:ext uri="{FF2B5EF4-FFF2-40B4-BE49-F238E27FC236}">
                <a16:creationId xmlns:a16="http://schemas.microsoft.com/office/drawing/2014/main" id="{ABDA3893-9994-47F2-9B0F-3AABD79019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4313" y="4143375"/>
          <a:ext cx="1111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8" name="Equation" r:id="rId24" imgW="76149" imgH="85725" progId="Equation.3">
                  <p:embed/>
                </p:oleObj>
              </mc:Choice>
              <mc:Fallback>
                <p:oleObj name="Equation" r:id="rId24" imgW="76149" imgH="85725" progId="Equation.3">
                  <p:embed/>
                  <p:pic>
                    <p:nvPicPr>
                      <p:cNvPr id="573471" name="Object 11">
                        <a:extLst>
                          <a:ext uri="{FF2B5EF4-FFF2-40B4-BE49-F238E27FC236}">
                            <a16:creationId xmlns:a16="http://schemas.microsoft.com/office/drawing/2014/main" id="{ABDA3893-9994-47F2-9B0F-3AABD79019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313" y="4143375"/>
                        <a:ext cx="111125" cy="12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72" name="Object 12">
            <a:extLst>
              <a:ext uri="{FF2B5EF4-FFF2-40B4-BE49-F238E27FC236}">
                <a16:creationId xmlns:a16="http://schemas.microsoft.com/office/drawing/2014/main" id="{798EE4F6-D785-4488-B375-3E2FAE0AE0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8675" y="4279900"/>
          <a:ext cx="1111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9" name="Equation" r:id="rId26" imgW="76149" imgH="85725" progId="Equation.3">
                  <p:embed/>
                </p:oleObj>
              </mc:Choice>
              <mc:Fallback>
                <p:oleObj name="Equation" r:id="rId26" imgW="76149" imgH="85725" progId="Equation.3">
                  <p:embed/>
                  <p:pic>
                    <p:nvPicPr>
                      <p:cNvPr id="573472" name="Object 12">
                        <a:extLst>
                          <a:ext uri="{FF2B5EF4-FFF2-40B4-BE49-F238E27FC236}">
                            <a16:creationId xmlns:a16="http://schemas.microsoft.com/office/drawing/2014/main" id="{798EE4F6-D785-4488-B375-3E2FAE0AE0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8675" y="4279900"/>
                        <a:ext cx="111125" cy="12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73" name="Object 13">
            <a:extLst>
              <a:ext uri="{FF2B5EF4-FFF2-40B4-BE49-F238E27FC236}">
                <a16:creationId xmlns:a16="http://schemas.microsoft.com/office/drawing/2014/main" id="{39ED4131-4E10-4BE6-98DE-2F1DA208A0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7125" y="4346575"/>
          <a:ext cx="1111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50" name="Equation" r:id="rId28" imgW="76149" imgH="85725" progId="Equation.3">
                  <p:embed/>
                </p:oleObj>
              </mc:Choice>
              <mc:Fallback>
                <p:oleObj name="Equation" r:id="rId28" imgW="76149" imgH="85725" progId="Equation.3">
                  <p:embed/>
                  <p:pic>
                    <p:nvPicPr>
                      <p:cNvPr id="573473" name="Object 13">
                        <a:extLst>
                          <a:ext uri="{FF2B5EF4-FFF2-40B4-BE49-F238E27FC236}">
                            <a16:creationId xmlns:a16="http://schemas.microsoft.com/office/drawing/2014/main" id="{39ED4131-4E10-4BE6-98DE-2F1DA208A0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25" y="4346575"/>
                        <a:ext cx="111125" cy="12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74" name="Object 14">
            <a:extLst>
              <a:ext uri="{FF2B5EF4-FFF2-40B4-BE49-F238E27FC236}">
                <a16:creationId xmlns:a16="http://schemas.microsoft.com/office/drawing/2014/main" id="{6523DA96-18B0-49D5-8484-51A774166A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1125" y="4405313"/>
          <a:ext cx="1111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51" name="Equation" r:id="rId30" imgW="76149" imgH="85725" progId="Equation.3">
                  <p:embed/>
                </p:oleObj>
              </mc:Choice>
              <mc:Fallback>
                <p:oleObj name="Equation" r:id="rId30" imgW="76149" imgH="85725" progId="Equation.3">
                  <p:embed/>
                  <p:pic>
                    <p:nvPicPr>
                      <p:cNvPr id="573474" name="Object 14">
                        <a:extLst>
                          <a:ext uri="{FF2B5EF4-FFF2-40B4-BE49-F238E27FC236}">
                            <a16:creationId xmlns:a16="http://schemas.microsoft.com/office/drawing/2014/main" id="{6523DA96-18B0-49D5-8484-51A774166A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25" y="4405313"/>
                        <a:ext cx="111125" cy="12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75" name="Line 35">
            <a:extLst>
              <a:ext uri="{FF2B5EF4-FFF2-40B4-BE49-F238E27FC236}">
                <a16:creationId xmlns:a16="http://schemas.microsoft.com/office/drawing/2014/main" id="{08575AF9-C27C-47DE-933F-99B29F2A8196}"/>
              </a:ext>
            </a:extLst>
          </p:cNvPr>
          <p:cNvSpPr>
            <a:spLocks noChangeAspect="1" noChangeShapeType="1"/>
          </p:cNvSpPr>
          <p:nvPr/>
        </p:nvSpPr>
        <p:spPr bwMode="auto">
          <a:xfrm rot="720000">
            <a:off x="3359150" y="3949700"/>
            <a:ext cx="1588" cy="1111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76" name="Line 36">
            <a:extLst>
              <a:ext uri="{FF2B5EF4-FFF2-40B4-BE49-F238E27FC236}">
                <a16:creationId xmlns:a16="http://schemas.microsoft.com/office/drawing/2014/main" id="{CCCEC152-55C7-48E7-B0D6-A4A6C35020A2}"/>
              </a:ext>
            </a:extLst>
          </p:cNvPr>
          <p:cNvSpPr>
            <a:spLocks noChangeAspect="1" noChangeShapeType="1"/>
          </p:cNvSpPr>
          <p:nvPr/>
        </p:nvSpPr>
        <p:spPr bwMode="auto">
          <a:xfrm rot="720000">
            <a:off x="3670300" y="4002088"/>
            <a:ext cx="1588" cy="1111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77" name="Line 37">
            <a:extLst>
              <a:ext uri="{FF2B5EF4-FFF2-40B4-BE49-F238E27FC236}">
                <a16:creationId xmlns:a16="http://schemas.microsoft.com/office/drawing/2014/main" id="{A5F3B4DA-BD5F-4EB9-BF73-436AB9F16252}"/>
              </a:ext>
            </a:extLst>
          </p:cNvPr>
          <p:cNvSpPr>
            <a:spLocks noChangeAspect="1" noChangeShapeType="1"/>
          </p:cNvSpPr>
          <p:nvPr/>
        </p:nvSpPr>
        <p:spPr bwMode="auto">
          <a:xfrm rot="720000">
            <a:off x="3970338" y="4050000"/>
            <a:ext cx="1587" cy="1111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78" name="Line 38">
            <a:extLst>
              <a:ext uri="{FF2B5EF4-FFF2-40B4-BE49-F238E27FC236}">
                <a16:creationId xmlns:a16="http://schemas.microsoft.com/office/drawing/2014/main" id="{7C7C974E-ABE1-4CC2-BFFD-DE760BA9DE11}"/>
              </a:ext>
            </a:extLst>
          </p:cNvPr>
          <p:cNvSpPr>
            <a:spLocks noChangeAspect="1" noChangeShapeType="1"/>
          </p:cNvSpPr>
          <p:nvPr/>
        </p:nvSpPr>
        <p:spPr bwMode="auto">
          <a:xfrm rot="720000">
            <a:off x="4255200" y="4104000"/>
            <a:ext cx="1588" cy="1111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79" name="Line 39">
            <a:extLst>
              <a:ext uri="{FF2B5EF4-FFF2-40B4-BE49-F238E27FC236}">
                <a16:creationId xmlns:a16="http://schemas.microsoft.com/office/drawing/2014/main" id="{1A35E8C9-9C78-4056-81E1-557F60B58009}"/>
              </a:ext>
            </a:extLst>
          </p:cNvPr>
          <p:cNvSpPr>
            <a:spLocks noChangeAspect="1" noChangeShapeType="1"/>
          </p:cNvSpPr>
          <p:nvPr/>
        </p:nvSpPr>
        <p:spPr bwMode="auto">
          <a:xfrm rot="720000">
            <a:off x="4570413" y="4164013"/>
            <a:ext cx="1587" cy="1111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0" name="Line 40">
            <a:extLst>
              <a:ext uri="{FF2B5EF4-FFF2-40B4-BE49-F238E27FC236}">
                <a16:creationId xmlns:a16="http://schemas.microsoft.com/office/drawing/2014/main" id="{FC0125E8-6646-4DA1-9978-918D3F7F8F6D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360000">
            <a:off x="4335463" y="4155064"/>
            <a:ext cx="173037" cy="42863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1" name="Line 41">
            <a:extLst>
              <a:ext uri="{FF2B5EF4-FFF2-40B4-BE49-F238E27FC236}">
                <a16:creationId xmlns:a16="http://schemas.microsoft.com/office/drawing/2014/main" id="{6D361393-6ECB-4D24-9E78-B2BA053BBFDE}"/>
              </a:ext>
            </a:extLst>
          </p:cNvPr>
          <p:cNvSpPr>
            <a:spLocks noChangeAspect="1" noChangeShapeType="1"/>
          </p:cNvSpPr>
          <p:nvPr/>
        </p:nvSpPr>
        <p:spPr bwMode="auto">
          <a:xfrm rot="240000">
            <a:off x="6516688" y="4373563"/>
            <a:ext cx="215900" cy="1587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2" name="Line 42">
            <a:extLst>
              <a:ext uri="{FF2B5EF4-FFF2-40B4-BE49-F238E27FC236}">
                <a16:creationId xmlns:a16="http://schemas.microsoft.com/office/drawing/2014/main" id="{51621A99-344C-486E-80DE-C9C506C98A1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499100" y="4212000"/>
            <a:ext cx="1588" cy="1111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3" name="Line 43">
            <a:extLst>
              <a:ext uri="{FF2B5EF4-FFF2-40B4-BE49-F238E27FC236}">
                <a16:creationId xmlns:a16="http://schemas.microsoft.com/office/drawing/2014/main" id="{83DF412E-A900-4D5E-A8BF-7128B94E413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795963" y="4240800"/>
            <a:ext cx="1587" cy="1111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4" name="Line 44">
            <a:extLst>
              <a:ext uri="{FF2B5EF4-FFF2-40B4-BE49-F238E27FC236}">
                <a16:creationId xmlns:a16="http://schemas.microsoft.com/office/drawing/2014/main" id="{27DEA7C9-7BDD-4DA0-8104-8F4FD97038B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399213" y="4284000"/>
            <a:ext cx="1587" cy="1111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5" name="Line 45">
            <a:extLst>
              <a:ext uri="{FF2B5EF4-FFF2-40B4-BE49-F238E27FC236}">
                <a16:creationId xmlns:a16="http://schemas.microsoft.com/office/drawing/2014/main" id="{3CBF2400-56AD-47F4-963D-0C8152461FD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164388" y="4338638"/>
            <a:ext cx="1587" cy="1111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6" name="Line 46">
            <a:extLst>
              <a:ext uri="{FF2B5EF4-FFF2-40B4-BE49-F238E27FC236}">
                <a16:creationId xmlns:a16="http://schemas.microsoft.com/office/drawing/2014/main" id="{A6EBF8D8-B7C9-460D-A022-D25EE09D38B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456488" y="4338638"/>
            <a:ext cx="1587" cy="1111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7" name="Line 47">
            <a:extLst>
              <a:ext uri="{FF2B5EF4-FFF2-40B4-BE49-F238E27FC236}">
                <a16:creationId xmlns:a16="http://schemas.microsoft.com/office/drawing/2014/main" id="{D3ED0043-3DDE-4DD0-9191-216BEB8071C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739063" y="4333875"/>
            <a:ext cx="1587" cy="1111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8" name="Line 48">
            <a:extLst>
              <a:ext uri="{FF2B5EF4-FFF2-40B4-BE49-F238E27FC236}">
                <a16:creationId xmlns:a16="http://schemas.microsoft.com/office/drawing/2014/main" id="{F704535D-0F4B-47EC-A3CF-52335EA40F71}"/>
              </a:ext>
            </a:extLst>
          </p:cNvPr>
          <p:cNvSpPr>
            <a:spLocks noChangeShapeType="1"/>
          </p:cNvSpPr>
          <p:nvPr/>
        </p:nvSpPr>
        <p:spPr bwMode="auto">
          <a:xfrm rot="-60000">
            <a:off x="1960563" y="4914900"/>
            <a:ext cx="4752975" cy="714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9" name="AutoShape 49">
            <a:extLst>
              <a:ext uri="{FF2B5EF4-FFF2-40B4-BE49-F238E27FC236}">
                <a16:creationId xmlns:a16="http://schemas.microsoft.com/office/drawing/2014/main" id="{6EB0D0EF-B9AE-4082-BABF-42F6140B1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5299075"/>
            <a:ext cx="1481138" cy="415925"/>
          </a:xfrm>
          <a:prstGeom prst="wedgeRectCallout">
            <a:avLst>
              <a:gd name="adj1" fmla="val 5843"/>
              <a:gd name="adj2" fmla="val -186259"/>
            </a:avLst>
          </a:prstGeom>
          <a:solidFill>
            <a:srgbClr val="99CC00">
              <a:alpha val="47058"/>
            </a:srgbClr>
          </a:solidFill>
          <a:ln w="19050">
            <a:solidFill>
              <a:srgbClr val="B2B2B2">
                <a:alpha val="74117"/>
              </a:srgbClr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加拿大树胶</a:t>
            </a:r>
            <a:endParaRPr lang="zh-CN" altLang="en-US" sz="2000">
              <a:solidFill>
                <a:schemeClr val="hlink"/>
              </a:solidFill>
              <a:ea typeface="楷体_GB2312" pitchFamily="49" charset="-122"/>
            </a:endParaRPr>
          </a:p>
        </p:txBody>
      </p:sp>
      <p:sp>
        <p:nvSpPr>
          <p:cNvPr id="573490" name="Rectangle 50">
            <a:extLst>
              <a:ext uri="{FF2B5EF4-FFF2-40B4-BE49-F238E27FC236}">
                <a16:creationId xmlns:a16="http://schemas.microsoft.com/office/drawing/2014/main" id="{25AA97E6-957D-43AF-840C-17A6AB12A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3643313"/>
            <a:ext cx="296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00FFFF"/>
                </a:solidFill>
              </a:rPr>
              <a:t>e</a:t>
            </a:r>
            <a:endParaRPr lang="en-US" altLang="zh-CN">
              <a:solidFill>
                <a:srgbClr val="00FFFF"/>
              </a:solidFill>
              <a:ea typeface="楷体_GB2312" pitchFamily="49" charset="-122"/>
            </a:endParaRPr>
          </a:p>
        </p:txBody>
      </p:sp>
      <p:sp>
        <p:nvSpPr>
          <p:cNvPr id="573491" name="Text Box 51">
            <a:extLst>
              <a:ext uri="{FF2B5EF4-FFF2-40B4-BE49-F238E27FC236}">
                <a16:creationId xmlns:a16="http://schemas.microsoft.com/office/drawing/2014/main" id="{E7BD7CD3-BBFD-478D-B229-7E5A069A2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950" y="5929313"/>
            <a:ext cx="714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  <a:ea typeface="仿宋_GB2312"/>
                <a:cs typeface="仿宋_GB2312"/>
              </a:rPr>
              <a:t>出射光是一束振动方向在纸面内的线偏振光</a:t>
            </a:r>
            <a:endParaRPr kumimoji="0" lang="en-US" altLang="zh-CN">
              <a:solidFill>
                <a:schemeClr val="bg1"/>
              </a:solidFill>
              <a:ea typeface="仿宋_GB2312"/>
              <a:cs typeface="仿宋_GB2312"/>
            </a:endParaRPr>
          </a:p>
        </p:txBody>
      </p:sp>
      <p:sp>
        <p:nvSpPr>
          <p:cNvPr id="24628" name="Text Box 52">
            <a:extLst>
              <a:ext uri="{FF2B5EF4-FFF2-40B4-BE49-F238E27FC236}">
                <a16:creationId xmlns:a16="http://schemas.microsoft.com/office/drawing/2014/main" id="{AA6C603D-42B5-4954-89BA-FBF273A43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395288"/>
            <a:ext cx="63928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晶体偏振器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（</a:t>
            </a:r>
            <a:r>
              <a:rPr kumimoji="0" lang="zh-CN" altLang="en-US">
                <a:solidFill>
                  <a:schemeClr val="bg1"/>
                </a:solidFill>
              </a:rPr>
              <a:t>利用晶体产生偏振光）</a:t>
            </a:r>
          </a:p>
        </p:txBody>
      </p:sp>
      <p:sp>
        <p:nvSpPr>
          <p:cNvPr id="24629" name="灯片编号占位符 1">
            <a:extLst>
              <a:ext uri="{FF2B5EF4-FFF2-40B4-BE49-F238E27FC236}">
                <a16:creationId xmlns:a16="http://schemas.microsoft.com/office/drawing/2014/main" id="{C3F15F4E-07A6-4C33-8D0D-3C408E67F94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22E11D-2A2A-4C96-9EE5-2655C89659C5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7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7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7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73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7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73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7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3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7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7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7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73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7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7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7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73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7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7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7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9" presetID="35" presetClass="emph" presetSubtype="0" repeatCount="indefinite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00" dur="1000" fill="hold"/>
                                        <p:tgtEl>
                                          <p:spTgt spid="57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7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7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57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57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57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57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57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7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7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7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57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57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57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57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73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73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573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57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57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7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43" grpId="0" autoUpdateAnimBg="0"/>
      <p:bldP spid="573463" grpId="0" build="p" autoUpdateAnimBg="0"/>
      <p:bldP spid="573467" grpId="0" animBg="1"/>
      <p:bldP spid="573489" grpId="0" animBg="1" autoUpdateAnimBg="0"/>
      <p:bldP spid="573490" grpId="0" build="p" autoUpdateAnimBg="0"/>
      <p:bldP spid="57349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Text Box 2">
            <a:extLst>
              <a:ext uri="{FF2B5EF4-FFF2-40B4-BE49-F238E27FC236}">
                <a16:creationId xmlns:a16="http://schemas.microsoft.com/office/drawing/2014/main" id="{45392662-5352-4526-BCE3-215539208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28613"/>
            <a:ext cx="3744913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FFFF00"/>
                </a:solidFill>
              </a:rPr>
              <a:t>2. </a:t>
            </a:r>
            <a:r>
              <a:rPr lang="zh-CN" altLang="en-US">
                <a:solidFill>
                  <a:srgbClr val="FFFF00"/>
                </a:solidFill>
              </a:rPr>
              <a:t> 渥拉斯顿棱镜</a:t>
            </a:r>
            <a:endParaRPr lang="zh-CN" altLang="en-US">
              <a:solidFill>
                <a:srgbClr val="FFFF00"/>
              </a:solidFill>
              <a:latin typeface="方正书宋简体"/>
            </a:endParaRPr>
          </a:p>
        </p:txBody>
      </p:sp>
      <p:sp>
        <p:nvSpPr>
          <p:cNvPr id="574467" name="Line 3">
            <a:extLst>
              <a:ext uri="{FF2B5EF4-FFF2-40B4-BE49-F238E27FC236}">
                <a16:creationId xmlns:a16="http://schemas.microsoft.com/office/drawing/2014/main" id="{7C956B0D-715F-4516-9AAE-3548F4AA53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30350" y="3802063"/>
            <a:ext cx="14605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4468" name="Object 2">
            <a:extLst>
              <a:ext uri="{FF2B5EF4-FFF2-40B4-BE49-F238E27FC236}">
                <a16:creationId xmlns:a16="http://schemas.microsoft.com/office/drawing/2014/main" id="{915D46E9-7353-48C4-9B1D-45EEAFAD59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1688" y="3697288"/>
          <a:ext cx="195262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33" name="Equation" r:id="rId4" imgW="76149" imgH="85725" progId="Equation.3">
                  <p:embed/>
                </p:oleObj>
              </mc:Choice>
              <mc:Fallback>
                <p:oleObj name="Equation" r:id="rId4" imgW="76149" imgH="85725" progId="Equation.3">
                  <p:embed/>
                  <p:pic>
                    <p:nvPicPr>
                      <p:cNvPr id="574468" name="Object 2">
                        <a:extLst>
                          <a:ext uri="{FF2B5EF4-FFF2-40B4-BE49-F238E27FC236}">
                            <a16:creationId xmlns:a16="http://schemas.microsoft.com/office/drawing/2014/main" id="{915D46E9-7353-48C4-9B1D-45EEAFAD59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3697288"/>
                        <a:ext cx="195262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469" name="Line 5">
            <a:extLst>
              <a:ext uri="{FF2B5EF4-FFF2-40B4-BE49-F238E27FC236}">
                <a16:creationId xmlns:a16="http://schemas.microsoft.com/office/drawing/2014/main" id="{BD6CA678-4BE2-417A-990B-CEB1217374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2313" y="3649663"/>
            <a:ext cx="0" cy="304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470" name="Line 6">
            <a:extLst>
              <a:ext uri="{FF2B5EF4-FFF2-40B4-BE49-F238E27FC236}">
                <a16:creationId xmlns:a16="http://schemas.microsoft.com/office/drawing/2014/main" id="{1A03BD58-0CE0-4F7C-B9AF-40E14A6DB6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2838" y="3649663"/>
            <a:ext cx="0" cy="304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4471" name="Object 3">
            <a:extLst>
              <a:ext uri="{FF2B5EF4-FFF2-40B4-BE49-F238E27FC236}">
                <a16:creationId xmlns:a16="http://schemas.microsoft.com/office/drawing/2014/main" id="{2AB88CC6-8A4E-4B3B-8A30-B09317EF72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1263" y="3697288"/>
          <a:ext cx="195262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34" name="Equation" r:id="rId6" imgW="76149" imgH="85725" progId="Equation.3">
                  <p:embed/>
                </p:oleObj>
              </mc:Choice>
              <mc:Fallback>
                <p:oleObj name="Equation" r:id="rId6" imgW="76149" imgH="85725" progId="Equation.3">
                  <p:embed/>
                  <p:pic>
                    <p:nvPicPr>
                      <p:cNvPr id="574471" name="Object 3">
                        <a:extLst>
                          <a:ext uri="{FF2B5EF4-FFF2-40B4-BE49-F238E27FC236}">
                            <a16:creationId xmlns:a16="http://schemas.microsoft.com/office/drawing/2014/main" id="{2AB88CC6-8A4E-4B3B-8A30-B09317EF72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263" y="3697288"/>
                        <a:ext cx="195262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472" name="Line 8">
            <a:extLst>
              <a:ext uri="{FF2B5EF4-FFF2-40B4-BE49-F238E27FC236}">
                <a16:creationId xmlns:a16="http://schemas.microsoft.com/office/drawing/2014/main" id="{0283B084-5D56-4CDE-BF99-08372BA6E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798888"/>
            <a:ext cx="360363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4473" name="Object 4">
            <a:extLst>
              <a:ext uri="{FF2B5EF4-FFF2-40B4-BE49-F238E27FC236}">
                <a16:creationId xmlns:a16="http://schemas.microsoft.com/office/drawing/2014/main" id="{3B01E252-C43B-4608-82A4-B41D543AA2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3863" y="3692525"/>
          <a:ext cx="195262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35" name="Equation" r:id="rId8" imgW="76149" imgH="85725" progId="Equation.3">
                  <p:embed/>
                </p:oleObj>
              </mc:Choice>
              <mc:Fallback>
                <p:oleObj name="Equation" r:id="rId8" imgW="76149" imgH="85725" progId="Equation.3">
                  <p:embed/>
                  <p:pic>
                    <p:nvPicPr>
                      <p:cNvPr id="574473" name="Object 4">
                        <a:extLst>
                          <a:ext uri="{FF2B5EF4-FFF2-40B4-BE49-F238E27FC236}">
                            <a16:creationId xmlns:a16="http://schemas.microsoft.com/office/drawing/2014/main" id="{3B01E252-C43B-4608-82A4-B41D543AA2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863" y="3692525"/>
                        <a:ext cx="195262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474" name="AutoShape 10" descr="深色竖线">
            <a:extLst>
              <a:ext uri="{FF2B5EF4-FFF2-40B4-BE49-F238E27FC236}">
                <a16:creationId xmlns:a16="http://schemas.microsoft.com/office/drawing/2014/main" id="{27B21404-A3BB-4AEB-94CA-957EEA08FF4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306763" y="3443288"/>
            <a:ext cx="2947987" cy="2619375"/>
          </a:xfrm>
          <a:prstGeom prst="rtTriangl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74475" name="Rectangle 11" descr="图形2">
            <a:extLst>
              <a:ext uri="{FF2B5EF4-FFF2-40B4-BE49-F238E27FC236}">
                <a16:creationId xmlns:a16="http://schemas.microsoft.com/office/drawing/2014/main" id="{D138BF61-452F-4DC7-A174-38B452D38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713" y="2833688"/>
            <a:ext cx="3095625" cy="2159000"/>
          </a:xfrm>
          <a:prstGeom prst="rect">
            <a:avLst/>
          </a:prstGeom>
          <a:blipFill dpi="0" rotWithShape="1">
            <a:blip r:embed="rId10">
              <a:alphaModFix amt="20000"/>
            </a:blip>
            <a:srcRect/>
            <a:stretch>
              <a:fillRect/>
            </a:stretch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anchor="ctr">
            <a:spAutoFit/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74476" name="Line 12">
            <a:extLst>
              <a:ext uri="{FF2B5EF4-FFF2-40B4-BE49-F238E27FC236}">
                <a16:creationId xmlns:a16="http://schemas.microsoft.com/office/drawing/2014/main" id="{257B434A-F627-45DF-A85D-B6B6EE693AD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5300" y="3733800"/>
            <a:ext cx="1595438" cy="3492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477" name="Line 13">
            <a:extLst>
              <a:ext uri="{FF2B5EF4-FFF2-40B4-BE49-F238E27FC236}">
                <a16:creationId xmlns:a16="http://schemas.microsoft.com/office/drawing/2014/main" id="{86425E6C-DB94-4033-977B-E94CE4950184}"/>
              </a:ext>
            </a:extLst>
          </p:cNvPr>
          <p:cNvSpPr>
            <a:spLocks noChangeShapeType="1"/>
          </p:cNvSpPr>
          <p:nvPr/>
        </p:nvSpPr>
        <p:spPr bwMode="auto">
          <a:xfrm rot="360000">
            <a:off x="3776663" y="3136900"/>
            <a:ext cx="1722437" cy="1520825"/>
          </a:xfrm>
          <a:prstGeom prst="line">
            <a:avLst/>
          </a:prstGeom>
          <a:noFill/>
          <a:ln w="12700">
            <a:solidFill>
              <a:schemeClr val="bg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478" name="Line 14">
            <a:extLst>
              <a:ext uri="{FF2B5EF4-FFF2-40B4-BE49-F238E27FC236}">
                <a16:creationId xmlns:a16="http://schemas.microsoft.com/office/drawing/2014/main" id="{56512EE0-90C4-4166-956A-235D362F9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8575" y="3749675"/>
            <a:ext cx="0" cy="1365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479" name="Line 15">
            <a:extLst>
              <a:ext uri="{FF2B5EF4-FFF2-40B4-BE49-F238E27FC236}">
                <a16:creationId xmlns:a16="http://schemas.microsoft.com/office/drawing/2014/main" id="{2FF7E9F8-C2DB-4D21-8B64-E155CCAE2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8213" y="3741738"/>
            <a:ext cx="0" cy="1365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480" name="Line 16">
            <a:extLst>
              <a:ext uri="{FF2B5EF4-FFF2-40B4-BE49-F238E27FC236}">
                <a16:creationId xmlns:a16="http://schemas.microsoft.com/office/drawing/2014/main" id="{B1F66208-08E7-47BD-8E79-CFDCFA7B1C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5025" y="3328988"/>
            <a:ext cx="1343025" cy="439737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4481" name="Object 5">
            <a:extLst>
              <a:ext uri="{FF2B5EF4-FFF2-40B4-BE49-F238E27FC236}">
                <a16:creationId xmlns:a16="http://schemas.microsoft.com/office/drawing/2014/main" id="{EF854A9C-F54D-43A3-B8DC-FA0715F146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4488" y="3429000"/>
          <a:ext cx="115887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36" name="Equation" r:id="rId11" imgW="76149" imgH="85725" progId="Equation.3">
                  <p:embed/>
                </p:oleObj>
              </mc:Choice>
              <mc:Fallback>
                <p:oleObj name="Equation" r:id="rId11" imgW="76149" imgH="85725" progId="Equation.3">
                  <p:embed/>
                  <p:pic>
                    <p:nvPicPr>
                      <p:cNvPr id="574481" name="Object 5">
                        <a:extLst>
                          <a:ext uri="{FF2B5EF4-FFF2-40B4-BE49-F238E27FC236}">
                            <a16:creationId xmlns:a16="http://schemas.microsoft.com/office/drawing/2014/main" id="{EF854A9C-F54D-43A3-B8DC-FA0715F146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4488" y="3429000"/>
                        <a:ext cx="115887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482" name="Object 6">
            <a:extLst>
              <a:ext uri="{FF2B5EF4-FFF2-40B4-BE49-F238E27FC236}">
                <a16:creationId xmlns:a16="http://schemas.microsoft.com/office/drawing/2014/main" id="{20ADAC8E-C149-43E9-8C8A-E77CAACBD2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7313" y="3509963"/>
          <a:ext cx="115887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37" name="Equation" r:id="rId13" imgW="76149" imgH="85725" progId="Equation.3">
                  <p:embed/>
                </p:oleObj>
              </mc:Choice>
              <mc:Fallback>
                <p:oleObj name="Equation" r:id="rId13" imgW="76149" imgH="85725" progId="Equation.3">
                  <p:embed/>
                  <p:pic>
                    <p:nvPicPr>
                      <p:cNvPr id="574482" name="Object 6">
                        <a:extLst>
                          <a:ext uri="{FF2B5EF4-FFF2-40B4-BE49-F238E27FC236}">
                            <a16:creationId xmlns:a16="http://schemas.microsoft.com/office/drawing/2014/main" id="{20ADAC8E-C149-43E9-8C8A-E77CAACBD2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313" y="3509963"/>
                        <a:ext cx="115887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483" name="Object 7">
            <a:extLst>
              <a:ext uri="{FF2B5EF4-FFF2-40B4-BE49-F238E27FC236}">
                <a16:creationId xmlns:a16="http://schemas.microsoft.com/office/drawing/2014/main" id="{C4563C79-7586-4BAE-9746-B897098D85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6325" y="3681413"/>
          <a:ext cx="115888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38" name="Equation" r:id="rId15" imgW="76149" imgH="85725" progId="Equation.3">
                  <p:embed/>
                </p:oleObj>
              </mc:Choice>
              <mc:Fallback>
                <p:oleObj name="Equation" r:id="rId15" imgW="76149" imgH="85725" progId="Equation.3">
                  <p:embed/>
                  <p:pic>
                    <p:nvPicPr>
                      <p:cNvPr id="574483" name="Object 7">
                        <a:extLst>
                          <a:ext uri="{FF2B5EF4-FFF2-40B4-BE49-F238E27FC236}">
                            <a16:creationId xmlns:a16="http://schemas.microsoft.com/office/drawing/2014/main" id="{C4563C79-7586-4BAE-9746-B897098D85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325" y="3681413"/>
                        <a:ext cx="115888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484" name="Object 8">
            <a:extLst>
              <a:ext uri="{FF2B5EF4-FFF2-40B4-BE49-F238E27FC236}">
                <a16:creationId xmlns:a16="http://schemas.microsoft.com/office/drawing/2014/main" id="{5DB87C28-06F3-4C2F-9F7F-5AE1A80180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1838" y="3675063"/>
          <a:ext cx="115887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39" name="Equation" r:id="rId17" imgW="76149" imgH="85725" progId="Equation.3">
                  <p:embed/>
                </p:oleObj>
              </mc:Choice>
              <mc:Fallback>
                <p:oleObj name="Equation" r:id="rId17" imgW="76149" imgH="85725" progId="Equation.3">
                  <p:embed/>
                  <p:pic>
                    <p:nvPicPr>
                      <p:cNvPr id="574484" name="Object 8">
                        <a:extLst>
                          <a:ext uri="{FF2B5EF4-FFF2-40B4-BE49-F238E27FC236}">
                            <a16:creationId xmlns:a16="http://schemas.microsoft.com/office/drawing/2014/main" id="{5DB87C28-06F3-4C2F-9F7F-5AE1A80180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838" y="3675063"/>
                        <a:ext cx="115887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485" name="Line 21">
            <a:extLst>
              <a:ext uri="{FF2B5EF4-FFF2-40B4-BE49-F238E27FC236}">
                <a16:creationId xmlns:a16="http://schemas.microsoft.com/office/drawing/2014/main" id="{DD97928B-92E6-44D0-A11C-A2582C898B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2475" y="3832225"/>
            <a:ext cx="1435100" cy="487363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486" name="Line 22">
            <a:extLst>
              <a:ext uri="{FF2B5EF4-FFF2-40B4-BE49-F238E27FC236}">
                <a16:creationId xmlns:a16="http://schemas.microsoft.com/office/drawing/2014/main" id="{001A159A-4048-45F4-B456-D3FED61A6844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492750" y="4079875"/>
            <a:ext cx="41275" cy="1365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487" name="Line 23">
            <a:extLst>
              <a:ext uri="{FF2B5EF4-FFF2-40B4-BE49-F238E27FC236}">
                <a16:creationId xmlns:a16="http://schemas.microsoft.com/office/drawing/2014/main" id="{C687AE56-81D8-4F13-B29A-1AC84BB6C251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164138" y="3971925"/>
            <a:ext cx="44450" cy="1365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488" name="Line 24">
            <a:extLst>
              <a:ext uri="{FF2B5EF4-FFF2-40B4-BE49-F238E27FC236}">
                <a16:creationId xmlns:a16="http://schemas.microsoft.com/office/drawing/2014/main" id="{7EC2598D-4C50-4748-9395-C0C18EF3F1C6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199188" y="2605088"/>
            <a:ext cx="823912" cy="64135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4489" name="Object 9">
            <a:extLst>
              <a:ext uri="{FF2B5EF4-FFF2-40B4-BE49-F238E27FC236}">
                <a16:creationId xmlns:a16="http://schemas.microsoft.com/office/drawing/2014/main" id="{E4DFA75F-1714-4BF3-A758-5B289A82F6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7488" y="2851150"/>
          <a:ext cx="115887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40" name="Equation" r:id="rId19" imgW="76149" imgH="85725" progId="Equation.3">
                  <p:embed/>
                </p:oleObj>
              </mc:Choice>
              <mc:Fallback>
                <p:oleObj name="Equation" r:id="rId19" imgW="76149" imgH="85725" progId="Equation.3">
                  <p:embed/>
                  <p:pic>
                    <p:nvPicPr>
                      <p:cNvPr id="574489" name="Object 9">
                        <a:extLst>
                          <a:ext uri="{FF2B5EF4-FFF2-40B4-BE49-F238E27FC236}">
                            <a16:creationId xmlns:a16="http://schemas.microsoft.com/office/drawing/2014/main" id="{E4DFA75F-1714-4BF3-A758-5B289A82F6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7488" y="2851150"/>
                        <a:ext cx="115887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490" name="Object 10">
            <a:extLst>
              <a:ext uri="{FF2B5EF4-FFF2-40B4-BE49-F238E27FC236}">
                <a16:creationId xmlns:a16="http://schemas.microsoft.com/office/drawing/2014/main" id="{219353D4-D131-44A0-AE14-A81CC43C71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8888" y="3024188"/>
          <a:ext cx="115887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41" name="Equation" r:id="rId21" imgW="76149" imgH="85725" progId="Equation.3">
                  <p:embed/>
                </p:oleObj>
              </mc:Choice>
              <mc:Fallback>
                <p:oleObj name="Equation" r:id="rId21" imgW="76149" imgH="85725" progId="Equation.3">
                  <p:embed/>
                  <p:pic>
                    <p:nvPicPr>
                      <p:cNvPr id="574490" name="Object 10">
                        <a:extLst>
                          <a:ext uri="{FF2B5EF4-FFF2-40B4-BE49-F238E27FC236}">
                            <a16:creationId xmlns:a16="http://schemas.microsoft.com/office/drawing/2014/main" id="{219353D4-D131-44A0-AE14-A81CC43C71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888" y="3024188"/>
                        <a:ext cx="115887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491" name="Object 11">
            <a:extLst>
              <a:ext uri="{FF2B5EF4-FFF2-40B4-BE49-F238E27FC236}">
                <a16:creationId xmlns:a16="http://schemas.microsoft.com/office/drawing/2014/main" id="{6CA8FF2F-C0AF-4C45-BEEF-6B69440B5E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9688" y="3227388"/>
          <a:ext cx="161925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42" name="公式" r:id="rId23" imgW="161778" imgH="219211" progId="Equation.3">
                  <p:embed/>
                </p:oleObj>
              </mc:Choice>
              <mc:Fallback>
                <p:oleObj name="公式" r:id="rId23" imgW="161778" imgH="219211" progId="Equation.3">
                  <p:embed/>
                  <p:pic>
                    <p:nvPicPr>
                      <p:cNvPr id="574491" name="Object 11">
                        <a:extLst>
                          <a:ext uri="{FF2B5EF4-FFF2-40B4-BE49-F238E27FC236}">
                            <a16:creationId xmlns:a16="http://schemas.microsoft.com/office/drawing/2014/main" id="{6CA8FF2F-C0AF-4C45-BEEF-6B69440B5E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9688" y="3227388"/>
                        <a:ext cx="161925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492" name="Line 28">
            <a:extLst>
              <a:ext uri="{FF2B5EF4-FFF2-40B4-BE49-F238E27FC236}">
                <a16:creationId xmlns:a16="http://schemas.microsoft.com/office/drawing/2014/main" id="{15A7230E-E2C4-4AA7-9D17-33A258835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8950" y="3803650"/>
            <a:ext cx="1528763" cy="222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4493" name="Text Box 29">
            <a:extLst>
              <a:ext uri="{FF2B5EF4-FFF2-40B4-BE49-F238E27FC236}">
                <a16:creationId xmlns:a16="http://schemas.microsoft.com/office/drawing/2014/main" id="{042685C5-0FA0-469B-A0AF-0554D488C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0275" y="32543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00"/>
                </a:solidFill>
              </a:rPr>
              <a:t>o</a:t>
            </a:r>
            <a:endParaRPr lang="en-US" altLang="zh-CN" sz="2000">
              <a:solidFill>
                <a:srgbClr val="FFFF00"/>
              </a:solidFill>
            </a:endParaRPr>
          </a:p>
        </p:txBody>
      </p:sp>
      <p:sp>
        <p:nvSpPr>
          <p:cNvPr id="574494" name="Text Box 30">
            <a:extLst>
              <a:ext uri="{FF2B5EF4-FFF2-40B4-BE49-F238E27FC236}">
                <a16:creationId xmlns:a16="http://schemas.microsoft.com/office/drawing/2014/main" id="{F33162EF-9E6A-4191-AEA1-E26E98078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7738" y="3759200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00FFFF"/>
                </a:solidFill>
              </a:rPr>
              <a:t>e</a:t>
            </a:r>
            <a:endParaRPr lang="en-US" altLang="zh-CN" sz="2000">
              <a:solidFill>
                <a:srgbClr val="00FFFF"/>
              </a:solidFill>
            </a:endParaRPr>
          </a:p>
        </p:txBody>
      </p:sp>
      <p:sp>
        <p:nvSpPr>
          <p:cNvPr id="574495" name="Line 31">
            <a:extLst>
              <a:ext uri="{FF2B5EF4-FFF2-40B4-BE49-F238E27FC236}">
                <a16:creationId xmlns:a16="http://schemas.microsoft.com/office/drawing/2014/main" id="{1E1EF892-CC23-417B-9B1D-7BE86D6CEF5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156325" y="4379913"/>
            <a:ext cx="914400" cy="639762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496" name="Line 32">
            <a:extLst>
              <a:ext uri="{FF2B5EF4-FFF2-40B4-BE49-F238E27FC236}">
                <a16:creationId xmlns:a16="http://schemas.microsoft.com/office/drawing/2014/main" id="{639CF969-04A1-41F6-8394-2AEAB58B8E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53213" y="4692650"/>
            <a:ext cx="87312" cy="1238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4497" name="Object 12">
            <a:extLst>
              <a:ext uri="{FF2B5EF4-FFF2-40B4-BE49-F238E27FC236}">
                <a16:creationId xmlns:a16="http://schemas.microsoft.com/office/drawing/2014/main" id="{9C9E62B4-2314-43B0-9B23-05A3E95BFB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07025" y="3803650"/>
          <a:ext cx="182563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43" name="公式" r:id="rId25" imgW="190525" imgH="219211" progId="Equation.3">
                  <p:embed/>
                </p:oleObj>
              </mc:Choice>
              <mc:Fallback>
                <p:oleObj name="公式" r:id="rId25" imgW="190525" imgH="219211" progId="Equation.3">
                  <p:embed/>
                  <p:pic>
                    <p:nvPicPr>
                      <p:cNvPr id="574497" name="Object 12">
                        <a:extLst>
                          <a:ext uri="{FF2B5EF4-FFF2-40B4-BE49-F238E27FC236}">
                            <a16:creationId xmlns:a16="http://schemas.microsoft.com/office/drawing/2014/main" id="{9C9E62B4-2314-43B0-9B23-05A3E95BFB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025" y="3803650"/>
                        <a:ext cx="182563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498" name="Line 34">
            <a:extLst>
              <a:ext uri="{FF2B5EF4-FFF2-40B4-BE49-F238E27FC236}">
                <a16:creationId xmlns:a16="http://schemas.microsoft.com/office/drawing/2014/main" id="{C52BE86F-8C91-4034-832C-C0B5FF595C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18263" y="4529138"/>
            <a:ext cx="87312" cy="1238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499" name="Text Box 35">
            <a:extLst>
              <a:ext uri="{FF2B5EF4-FFF2-40B4-BE49-F238E27FC236}">
                <a16:creationId xmlns:a16="http://schemas.microsoft.com/office/drawing/2014/main" id="{B321BA70-954D-40ED-A1A0-BB8D8BE48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063" y="29003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Ⅰ</a:t>
            </a:r>
          </a:p>
        </p:txBody>
      </p:sp>
      <p:sp>
        <p:nvSpPr>
          <p:cNvPr id="574500" name="Text Box 36">
            <a:extLst>
              <a:ext uri="{FF2B5EF4-FFF2-40B4-BE49-F238E27FC236}">
                <a16:creationId xmlns:a16="http://schemas.microsoft.com/office/drawing/2014/main" id="{20F7FCB6-BEB3-4F20-BE83-5B6BB3D96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0" y="42862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Ⅱ</a:t>
            </a:r>
          </a:p>
        </p:txBody>
      </p:sp>
      <p:sp>
        <p:nvSpPr>
          <p:cNvPr id="574501" name="Line 37">
            <a:extLst>
              <a:ext uri="{FF2B5EF4-FFF2-40B4-BE49-F238E27FC236}">
                <a16:creationId xmlns:a16="http://schemas.microsoft.com/office/drawing/2014/main" id="{90887F0A-43B6-435A-A481-504E54C3EF08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792788" y="4181475"/>
            <a:ext cx="41275" cy="1365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4502" name="Object 13">
            <a:extLst>
              <a:ext uri="{FF2B5EF4-FFF2-40B4-BE49-F238E27FC236}">
                <a16:creationId xmlns:a16="http://schemas.microsoft.com/office/drawing/2014/main" id="{4D10BAC3-EC88-4F68-A579-581AAAB6B2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4838" y="3344863"/>
          <a:ext cx="115887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44" name="Equation" r:id="rId27" imgW="76149" imgH="85725" progId="Equation.3">
                  <p:embed/>
                </p:oleObj>
              </mc:Choice>
              <mc:Fallback>
                <p:oleObj name="Equation" r:id="rId27" imgW="76149" imgH="85725" progId="Equation.3">
                  <p:embed/>
                  <p:pic>
                    <p:nvPicPr>
                      <p:cNvPr id="574502" name="Object 13">
                        <a:extLst>
                          <a:ext uri="{FF2B5EF4-FFF2-40B4-BE49-F238E27FC236}">
                            <a16:creationId xmlns:a16="http://schemas.microsoft.com/office/drawing/2014/main" id="{4D10BAC3-EC88-4F68-A579-581AAAB6B2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4838" y="3344863"/>
                        <a:ext cx="115887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503" name="Line 39">
            <a:extLst>
              <a:ext uri="{FF2B5EF4-FFF2-40B4-BE49-F238E27FC236}">
                <a16:creationId xmlns:a16="http://schemas.microsoft.com/office/drawing/2014/main" id="{EC60B16B-BC47-488B-9D67-26304066F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7925" y="1590675"/>
            <a:ext cx="8382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4504" name="Object 14">
            <a:extLst>
              <a:ext uri="{FF2B5EF4-FFF2-40B4-BE49-F238E27FC236}">
                <a16:creationId xmlns:a16="http://schemas.microsoft.com/office/drawing/2014/main" id="{09633C5D-1F4E-4137-AA95-2DF9C35957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4125" y="1482725"/>
          <a:ext cx="1905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45" name="Equation" r:id="rId29" imgW="76149" imgH="85725" progId="Equation.3">
                  <p:embed/>
                </p:oleObj>
              </mc:Choice>
              <mc:Fallback>
                <p:oleObj name="Equation" r:id="rId29" imgW="76149" imgH="85725" progId="Equation.3">
                  <p:embed/>
                  <p:pic>
                    <p:nvPicPr>
                      <p:cNvPr id="574504" name="Object 14">
                        <a:extLst>
                          <a:ext uri="{FF2B5EF4-FFF2-40B4-BE49-F238E27FC236}">
                            <a16:creationId xmlns:a16="http://schemas.microsoft.com/office/drawing/2014/main" id="{09633C5D-1F4E-4137-AA95-2DF9C35957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5" y="1482725"/>
                        <a:ext cx="1905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505" name="Object 15">
            <a:extLst>
              <a:ext uri="{FF2B5EF4-FFF2-40B4-BE49-F238E27FC236}">
                <a16:creationId xmlns:a16="http://schemas.microsoft.com/office/drawing/2014/main" id="{3FF40989-BCC6-40E7-BA7D-7BE8210E5B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8925" y="1485900"/>
          <a:ext cx="1905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46" name="Equation" r:id="rId31" imgW="76149" imgH="85725" progId="Equation.3">
                  <p:embed/>
                </p:oleObj>
              </mc:Choice>
              <mc:Fallback>
                <p:oleObj name="Equation" r:id="rId31" imgW="76149" imgH="85725" progId="Equation.3">
                  <p:embed/>
                  <p:pic>
                    <p:nvPicPr>
                      <p:cNvPr id="574505" name="Object 15">
                        <a:extLst>
                          <a:ext uri="{FF2B5EF4-FFF2-40B4-BE49-F238E27FC236}">
                            <a16:creationId xmlns:a16="http://schemas.microsoft.com/office/drawing/2014/main" id="{3FF40989-BCC6-40E7-BA7D-7BE8210E5B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5" y="1485900"/>
                        <a:ext cx="1905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506" name="Line 42">
            <a:extLst>
              <a:ext uri="{FF2B5EF4-FFF2-40B4-BE49-F238E27FC236}">
                <a16:creationId xmlns:a16="http://schemas.microsoft.com/office/drawing/2014/main" id="{8F0EFD45-6823-42B2-9E45-E06AC0DC9A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1875" y="1592263"/>
            <a:ext cx="838200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507" name="Line 43">
            <a:extLst>
              <a:ext uri="{FF2B5EF4-FFF2-40B4-BE49-F238E27FC236}">
                <a16:creationId xmlns:a16="http://schemas.microsoft.com/office/drawing/2014/main" id="{F3A9E4A3-9C1A-4BEB-A118-37D440FAEE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5550" y="1439863"/>
            <a:ext cx="0" cy="30480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508" name="Line 44">
            <a:extLst>
              <a:ext uri="{FF2B5EF4-FFF2-40B4-BE49-F238E27FC236}">
                <a16:creationId xmlns:a16="http://schemas.microsoft.com/office/drawing/2014/main" id="{D5F92278-2DF9-4337-BAC7-4921033F8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0825" y="1439863"/>
            <a:ext cx="0" cy="30480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509" name="Text Box 45">
            <a:extLst>
              <a:ext uri="{FF2B5EF4-FFF2-40B4-BE49-F238E27FC236}">
                <a16:creationId xmlns:a16="http://schemas.microsoft.com/office/drawing/2014/main" id="{EC6719E9-72CD-4E66-823B-F8AEDF045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463" y="885825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棱镜</a:t>
            </a:r>
            <a:r>
              <a:rPr kumimoji="0" lang="en-US" altLang="zh-CN" sz="2000">
                <a:solidFill>
                  <a:schemeClr val="bg1"/>
                </a:solidFill>
                <a:latin typeface="宋体" panose="02010600030101010101" pitchFamily="2" charset="-122"/>
              </a:rPr>
              <a:t>Ⅰ</a:t>
            </a:r>
          </a:p>
        </p:txBody>
      </p:sp>
      <p:sp>
        <p:nvSpPr>
          <p:cNvPr id="574510" name="Line 46">
            <a:extLst>
              <a:ext uri="{FF2B5EF4-FFF2-40B4-BE49-F238E27FC236}">
                <a16:creationId xmlns:a16="http://schemas.microsoft.com/office/drawing/2014/main" id="{AE503764-A2A8-4784-8CB1-3E81AA1EDC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25" y="1587500"/>
            <a:ext cx="8382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4511" name="Object 16">
            <a:extLst>
              <a:ext uri="{FF2B5EF4-FFF2-40B4-BE49-F238E27FC236}">
                <a16:creationId xmlns:a16="http://schemas.microsoft.com/office/drawing/2014/main" id="{F4CEEB67-DA3D-4A4C-BCAB-95D25F36E7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8325" y="1479550"/>
          <a:ext cx="1905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47" name="Equation" r:id="rId33" imgW="76149" imgH="85725" progId="Equation.3">
                  <p:embed/>
                </p:oleObj>
              </mc:Choice>
              <mc:Fallback>
                <p:oleObj name="Equation" r:id="rId33" imgW="76149" imgH="85725" progId="Equation.3">
                  <p:embed/>
                  <p:pic>
                    <p:nvPicPr>
                      <p:cNvPr id="574511" name="Object 16">
                        <a:extLst>
                          <a:ext uri="{FF2B5EF4-FFF2-40B4-BE49-F238E27FC236}">
                            <a16:creationId xmlns:a16="http://schemas.microsoft.com/office/drawing/2014/main" id="{F4CEEB67-DA3D-4A4C-BCAB-95D25F36E7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325" y="1479550"/>
                        <a:ext cx="1905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512" name="Object 17">
            <a:extLst>
              <a:ext uri="{FF2B5EF4-FFF2-40B4-BE49-F238E27FC236}">
                <a16:creationId xmlns:a16="http://schemas.microsoft.com/office/drawing/2014/main" id="{42A3ACC7-3930-4E5E-99F6-9F2BE7C305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3125" y="1482725"/>
          <a:ext cx="1905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48" name="Equation" r:id="rId35" imgW="76149" imgH="85725" progId="Equation.3">
                  <p:embed/>
                </p:oleObj>
              </mc:Choice>
              <mc:Fallback>
                <p:oleObj name="Equation" r:id="rId35" imgW="76149" imgH="85725" progId="Equation.3">
                  <p:embed/>
                  <p:pic>
                    <p:nvPicPr>
                      <p:cNvPr id="574512" name="Object 17">
                        <a:extLst>
                          <a:ext uri="{FF2B5EF4-FFF2-40B4-BE49-F238E27FC236}">
                            <a16:creationId xmlns:a16="http://schemas.microsoft.com/office/drawing/2014/main" id="{42A3ACC7-3930-4E5E-99F6-9F2BE7C305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25" y="1482725"/>
                        <a:ext cx="1905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513" name="Line 49">
            <a:extLst>
              <a:ext uri="{FF2B5EF4-FFF2-40B4-BE49-F238E27FC236}">
                <a16:creationId xmlns:a16="http://schemas.microsoft.com/office/drawing/2014/main" id="{1E32D2B9-4B79-4B79-84EC-6843B3A60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3050" y="1585913"/>
            <a:ext cx="838200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514" name="Line 50">
            <a:extLst>
              <a:ext uri="{FF2B5EF4-FFF2-40B4-BE49-F238E27FC236}">
                <a16:creationId xmlns:a16="http://schemas.microsoft.com/office/drawing/2014/main" id="{69EF064D-CC2E-4A74-B273-09A9F9D144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7363" y="1433513"/>
            <a:ext cx="0" cy="282575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515" name="Line 51">
            <a:extLst>
              <a:ext uri="{FF2B5EF4-FFF2-40B4-BE49-F238E27FC236}">
                <a16:creationId xmlns:a16="http://schemas.microsoft.com/office/drawing/2014/main" id="{86050B65-05FC-43F0-8E4D-8FBD2B41B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1688" y="1433513"/>
            <a:ext cx="0" cy="306387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516" name="Text Box 52">
            <a:extLst>
              <a:ext uri="{FF2B5EF4-FFF2-40B4-BE49-F238E27FC236}">
                <a16:creationId xmlns:a16="http://schemas.microsoft.com/office/drawing/2014/main" id="{453A0BBC-9AF6-4BC7-A8DD-19D8F3833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050" y="928688"/>
            <a:ext cx="1068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dirty="0">
                <a:solidFill>
                  <a:schemeClr val="bg1"/>
                </a:solidFill>
                <a:latin typeface="宋体" panose="02010600030101010101" pitchFamily="2" charset="-122"/>
              </a:rPr>
              <a:t>棱镜</a:t>
            </a:r>
            <a:r>
              <a:rPr kumimoji="0" lang="en-US" altLang="zh-CN" sz="2000" dirty="0">
                <a:solidFill>
                  <a:schemeClr val="bg1"/>
                </a:solidFill>
                <a:latin typeface="宋体" panose="02010600030101010101" pitchFamily="2" charset="-122"/>
              </a:rPr>
              <a:t>Ⅱ</a:t>
            </a:r>
          </a:p>
        </p:txBody>
      </p:sp>
      <p:sp>
        <p:nvSpPr>
          <p:cNvPr id="574517" name="Line 53">
            <a:extLst>
              <a:ext uri="{FF2B5EF4-FFF2-40B4-BE49-F238E27FC236}">
                <a16:creationId xmlns:a16="http://schemas.microsoft.com/office/drawing/2014/main" id="{EFF4ED86-2442-4755-BA9D-FD9BBBA6B8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8638" y="4370388"/>
            <a:ext cx="1582737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518" name="Line 54">
            <a:extLst>
              <a:ext uri="{FF2B5EF4-FFF2-40B4-BE49-F238E27FC236}">
                <a16:creationId xmlns:a16="http://schemas.microsoft.com/office/drawing/2014/main" id="{528205A4-A8C6-497B-A621-062DDCE288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3400" y="3284538"/>
            <a:ext cx="161925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4519" name="Rectangle 55">
            <a:extLst>
              <a:ext uri="{FF2B5EF4-FFF2-40B4-BE49-F238E27FC236}">
                <a16:creationId xmlns:a16="http://schemas.microsoft.com/office/drawing/2014/main" id="{DC194F08-CBE5-48AB-BA21-5C99D304C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613" y="1871663"/>
            <a:ext cx="62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00FFFF"/>
                </a:solidFill>
              </a:rPr>
              <a:t>e</a:t>
            </a:r>
            <a:r>
              <a:rPr lang="zh-CN" altLang="en-US">
                <a:solidFill>
                  <a:srgbClr val="00FFFF"/>
                </a:solidFill>
              </a:rPr>
              <a:t>光</a:t>
            </a:r>
          </a:p>
        </p:txBody>
      </p:sp>
      <p:sp>
        <p:nvSpPr>
          <p:cNvPr id="574520" name="Rectangle 56">
            <a:extLst>
              <a:ext uri="{FF2B5EF4-FFF2-40B4-BE49-F238E27FC236}">
                <a16:creationId xmlns:a16="http://schemas.microsoft.com/office/drawing/2014/main" id="{84C1D043-DD89-4330-8196-30479863D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3050" y="1857375"/>
            <a:ext cx="642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rgbClr val="00FFFF"/>
                </a:solidFill>
              </a:rPr>
              <a:t>o</a:t>
            </a:r>
            <a:r>
              <a:rPr lang="zh-CN" altLang="en-US" dirty="0">
                <a:solidFill>
                  <a:srgbClr val="00FFFF"/>
                </a:solidFill>
              </a:rPr>
              <a:t>光</a:t>
            </a:r>
          </a:p>
        </p:txBody>
      </p:sp>
      <p:sp>
        <p:nvSpPr>
          <p:cNvPr id="574521" name="Rectangle 57">
            <a:extLst>
              <a:ext uri="{FF2B5EF4-FFF2-40B4-BE49-F238E27FC236}">
                <a16:creationId xmlns:a16="http://schemas.microsoft.com/office/drawing/2014/main" id="{0214A8C1-C261-4ED7-B406-E43DC1F87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1885950"/>
            <a:ext cx="642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00"/>
                </a:solidFill>
              </a:rPr>
              <a:t>o</a:t>
            </a:r>
            <a:r>
              <a:rPr lang="zh-CN" altLang="en-US">
                <a:solidFill>
                  <a:srgbClr val="FFFF00"/>
                </a:solidFill>
              </a:rPr>
              <a:t>光</a:t>
            </a:r>
          </a:p>
        </p:txBody>
      </p:sp>
      <p:sp>
        <p:nvSpPr>
          <p:cNvPr id="574522" name="Rectangle 58">
            <a:extLst>
              <a:ext uri="{FF2B5EF4-FFF2-40B4-BE49-F238E27FC236}">
                <a16:creationId xmlns:a16="http://schemas.microsoft.com/office/drawing/2014/main" id="{BF3993EB-33A6-407B-BED4-35A0679B7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538" y="1857375"/>
            <a:ext cx="62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00"/>
                </a:solidFill>
              </a:rPr>
              <a:t>e</a:t>
            </a:r>
            <a:r>
              <a:rPr lang="zh-CN" altLang="en-US">
                <a:solidFill>
                  <a:srgbClr val="FFFF00"/>
                </a:solidFill>
              </a:rPr>
              <a:t>光</a:t>
            </a:r>
          </a:p>
        </p:txBody>
      </p:sp>
      <p:sp>
        <p:nvSpPr>
          <p:cNvPr id="574523" name="Text Box 59">
            <a:extLst>
              <a:ext uri="{FF2B5EF4-FFF2-40B4-BE49-F238E27FC236}">
                <a16:creationId xmlns:a16="http://schemas.microsoft.com/office/drawing/2014/main" id="{1C7168C6-9FC7-4BA6-8C46-EA0FBF2D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181600"/>
            <a:ext cx="8097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出射光是两束相互分开的</a:t>
            </a: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、</a:t>
            </a: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振动方向相互垂直的线偏振光</a:t>
            </a:r>
            <a:endParaRPr kumimoji="0" lang="en-US" altLang="zh-CN">
              <a:solidFill>
                <a:schemeClr val="bg1"/>
              </a:solidFill>
              <a:latin typeface="宋体" panose="02010600030101010101" pitchFamily="2" charset="-122"/>
              <a:ea typeface="仿宋_GB2312"/>
              <a:cs typeface="仿宋_GB2312"/>
            </a:endParaRPr>
          </a:p>
        </p:txBody>
      </p:sp>
      <p:sp>
        <p:nvSpPr>
          <p:cNvPr id="60" name="Text Box 33">
            <a:extLst>
              <a:ext uri="{FF2B5EF4-FFF2-40B4-BE49-F238E27FC236}">
                <a16:creationId xmlns:a16="http://schemas.microsoft.com/office/drawing/2014/main" id="{D207528D-14DA-4EA9-ABCC-FFEF0994F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715000"/>
            <a:ext cx="7881938" cy="82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楷体_GB2312" pitchFamily="49" charset="-122"/>
                <a:ea typeface="楷体_GB2312"/>
              </a:rPr>
              <a:t>这两种</a:t>
            </a:r>
            <a:r>
              <a:rPr lang="zh-CN" altLang="en-US" sz="2000" dirty="0">
                <a:solidFill>
                  <a:srgbClr val="66FFFF"/>
                </a:solidFill>
                <a:latin typeface="Arial" panose="020B0604020202020204" pitchFamily="34" charset="0"/>
                <a:ea typeface="楷体_GB2312"/>
              </a:rPr>
              <a:t>棱镜</a:t>
            </a:r>
            <a:r>
              <a:rPr lang="zh-CN" altLang="en-US" sz="2000" dirty="0">
                <a:solidFill>
                  <a:schemeClr val="bg1"/>
                </a:solidFill>
                <a:latin typeface="楷体_GB2312" pitchFamily="49" charset="-122"/>
                <a:ea typeface="楷体_GB2312"/>
              </a:rPr>
              <a:t>得到的偏振光质量非常好，但</a:t>
            </a:r>
            <a:r>
              <a:rPr lang="zh-CN" altLang="en-US" sz="2000" dirty="0">
                <a:solidFill>
                  <a:srgbClr val="66FFFF"/>
                </a:solidFill>
                <a:latin typeface="Arial" panose="020B0604020202020204" pitchFamily="34" charset="0"/>
                <a:ea typeface="楷体_GB2312"/>
              </a:rPr>
              <a:t>棱镜</a:t>
            </a:r>
            <a:r>
              <a:rPr lang="zh-CN" altLang="en-US" sz="2000" dirty="0">
                <a:solidFill>
                  <a:schemeClr val="bg1"/>
                </a:solidFill>
                <a:latin typeface="楷体_GB2312" pitchFamily="49" charset="-122"/>
                <a:ea typeface="楷体_GB2312"/>
              </a:rPr>
              <a:t>本身价格很高，因而使用较少</a:t>
            </a:r>
          </a:p>
        </p:txBody>
      </p:sp>
      <p:sp>
        <p:nvSpPr>
          <p:cNvPr id="61" name="Text Box 34">
            <a:extLst>
              <a:ext uri="{FF2B5EF4-FFF2-40B4-BE49-F238E27FC236}">
                <a16:creationId xmlns:a16="http://schemas.microsoft.com/office/drawing/2014/main" id="{4F42270A-F593-47C9-A2EF-ECCDBAC08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786063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负晶体</a:t>
            </a:r>
          </a:p>
        </p:txBody>
      </p:sp>
      <p:graphicFrame>
        <p:nvGraphicFramePr>
          <p:cNvPr id="62" name="Object 21">
            <a:extLst>
              <a:ext uri="{FF2B5EF4-FFF2-40B4-BE49-F238E27FC236}">
                <a16:creationId xmlns:a16="http://schemas.microsoft.com/office/drawing/2014/main" id="{0C567A8E-2218-4856-8831-5CA2C8084C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8925" y="2786063"/>
          <a:ext cx="94138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49" name="Equation" r:id="rId37" imgW="428759" imgH="190432" progId="Equation.3">
                  <p:embed/>
                </p:oleObj>
              </mc:Choice>
              <mc:Fallback>
                <p:oleObj name="Equation" r:id="rId37" imgW="428759" imgH="190432" progId="Equation.3">
                  <p:embed/>
                  <p:pic>
                    <p:nvPicPr>
                      <p:cNvPr id="62" name="Object 21">
                        <a:extLst>
                          <a:ext uri="{FF2B5EF4-FFF2-40B4-BE49-F238E27FC236}">
                            <a16:creationId xmlns:a16="http://schemas.microsoft.com/office/drawing/2014/main" id="{0C567A8E-2218-4856-8831-5CA2C8084C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2786063"/>
                        <a:ext cx="941388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 Box 27">
            <a:extLst>
              <a:ext uri="{FF2B5EF4-FFF2-40B4-BE49-F238E27FC236}">
                <a16:creationId xmlns:a16="http://schemas.microsoft.com/office/drawing/2014/main" id="{A326F9C4-61F4-42BB-8572-2490FB94C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938" y="3506788"/>
            <a:ext cx="2357437" cy="7080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两块光轴互相垂直的方解石直角棱镜</a:t>
            </a:r>
          </a:p>
        </p:txBody>
      </p:sp>
      <p:sp>
        <p:nvSpPr>
          <p:cNvPr id="26688" name="灯片编号占位符 1">
            <a:extLst>
              <a:ext uri="{FF2B5EF4-FFF2-40B4-BE49-F238E27FC236}">
                <a16:creationId xmlns:a16="http://schemas.microsoft.com/office/drawing/2014/main" id="{489E0C62-6098-4A78-9BE8-C0E62C23CEE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04549D4-7220-4B0D-8815-8594B26EBB0E}" type="slidenum">
              <a:rPr lang="en-US" altLang="zh-CN" b="0">
                <a:solidFill>
                  <a:srgbClr val="FF00FF"/>
                </a:solidFill>
              </a:rPr>
              <a:pPr eaLnBrk="1" hangingPunct="1"/>
              <a:t>18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  <p:sp>
        <p:nvSpPr>
          <p:cNvPr id="65" name="Rectangle 56">
            <a:extLst>
              <a:ext uri="{FF2B5EF4-FFF2-40B4-BE49-F238E27FC236}">
                <a16:creationId xmlns:a16="http://schemas.microsoft.com/office/drawing/2014/main" id="{6A5557A7-FFAA-40EA-89CF-52DBC423E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28" y="3352078"/>
            <a:ext cx="3289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l-GR" altLang="zh-CN" sz="2200" i="1" dirty="0">
                <a:solidFill>
                  <a:schemeClr val="bg1"/>
                </a:solidFill>
                <a:cs typeface="Times New Roman" panose="02020603050405020304" pitchFamily="18" charset="0"/>
              </a:rPr>
              <a:t>β</a:t>
            </a:r>
            <a:endParaRPr lang="zh-CN" altLang="en-US" sz="2200" i="1" dirty="0">
              <a:solidFill>
                <a:schemeClr val="bg1"/>
              </a:solidFill>
            </a:endParaRPr>
          </a:p>
        </p:txBody>
      </p:sp>
      <p:sp>
        <p:nvSpPr>
          <p:cNvPr id="66" name="Rectangle 56">
            <a:extLst>
              <a:ext uri="{FF2B5EF4-FFF2-40B4-BE49-F238E27FC236}">
                <a16:creationId xmlns:a16="http://schemas.microsoft.com/office/drawing/2014/main" id="{310753AD-F57A-4010-B793-A00EC14BA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844" y="3850472"/>
            <a:ext cx="3129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l-GR" altLang="zh-CN" i="1" dirty="0">
                <a:solidFill>
                  <a:schemeClr val="bg1"/>
                </a:solidFill>
                <a:cs typeface="Times New Roman" panose="02020603050405020304" pitchFamily="18" charset="0"/>
              </a:rPr>
              <a:t>γ</a:t>
            </a:r>
            <a:endParaRPr lang="zh-CN" altLang="en-US" i="1" dirty="0">
              <a:solidFill>
                <a:schemeClr val="bg1"/>
              </a:solidFill>
            </a:endParaRPr>
          </a:p>
        </p:txBody>
      </p:sp>
      <p:sp>
        <p:nvSpPr>
          <p:cNvPr id="67" name="Arc 15">
            <a:extLst>
              <a:ext uri="{FF2B5EF4-FFF2-40B4-BE49-F238E27FC236}">
                <a16:creationId xmlns:a16="http://schemas.microsoft.com/office/drawing/2014/main" id="{7D0081BE-5663-4325-A39E-DD94E1FE5DC1}"/>
              </a:ext>
            </a:extLst>
          </p:cNvPr>
          <p:cNvSpPr>
            <a:spLocks/>
          </p:cNvSpPr>
          <p:nvPr/>
        </p:nvSpPr>
        <p:spPr bwMode="auto">
          <a:xfrm rot="8047855" flipV="1">
            <a:off x="4202047" y="3648197"/>
            <a:ext cx="193675" cy="50800"/>
          </a:xfrm>
          <a:custGeom>
            <a:avLst/>
            <a:gdLst>
              <a:gd name="T0" fmla="*/ 0 w 20581"/>
              <a:gd name="T1" fmla="*/ 0 h 21600"/>
              <a:gd name="T2" fmla="*/ 2147483646 w 20581"/>
              <a:gd name="T3" fmla="*/ 2147483646 h 21600"/>
              <a:gd name="T4" fmla="*/ 0 w 20581"/>
              <a:gd name="T5" fmla="*/ 2147483646 h 21600"/>
              <a:gd name="T6" fmla="*/ 0 60000 65536"/>
              <a:gd name="T7" fmla="*/ 0 60000 65536"/>
              <a:gd name="T8" fmla="*/ 0 60000 65536"/>
              <a:gd name="T9" fmla="*/ 0 w 20581"/>
              <a:gd name="T10" fmla="*/ 0 h 21600"/>
              <a:gd name="T11" fmla="*/ 20581 w 205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581" h="21600" fill="none" extrusionOk="0">
                <a:moveTo>
                  <a:pt x="-1" y="0"/>
                </a:moveTo>
                <a:cubicBezTo>
                  <a:pt x="9403" y="0"/>
                  <a:pt x="17726" y="6083"/>
                  <a:pt x="20580" y="15043"/>
                </a:cubicBezTo>
              </a:path>
              <a:path w="20581" h="21600" stroke="0" extrusionOk="0">
                <a:moveTo>
                  <a:pt x="-1" y="0"/>
                </a:moveTo>
                <a:cubicBezTo>
                  <a:pt x="9403" y="0"/>
                  <a:pt x="17726" y="6083"/>
                  <a:pt x="20580" y="1504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zh-CN" altLang="en-US"/>
          </a:p>
        </p:txBody>
      </p:sp>
      <p:sp>
        <p:nvSpPr>
          <p:cNvPr id="68" name="Arc 15">
            <a:extLst>
              <a:ext uri="{FF2B5EF4-FFF2-40B4-BE49-F238E27FC236}">
                <a16:creationId xmlns:a16="http://schemas.microsoft.com/office/drawing/2014/main" id="{E7297A55-5575-4038-8BEA-AE2E31D00ED2}"/>
              </a:ext>
            </a:extLst>
          </p:cNvPr>
          <p:cNvSpPr>
            <a:spLocks/>
          </p:cNvSpPr>
          <p:nvPr/>
        </p:nvSpPr>
        <p:spPr bwMode="auto">
          <a:xfrm rot="18553666" flipV="1">
            <a:off x="4806996" y="4026852"/>
            <a:ext cx="193675" cy="50800"/>
          </a:xfrm>
          <a:custGeom>
            <a:avLst/>
            <a:gdLst>
              <a:gd name="T0" fmla="*/ 0 w 20581"/>
              <a:gd name="T1" fmla="*/ 0 h 21600"/>
              <a:gd name="T2" fmla="*/ 2147483646 w 20581"/>
              <a:gd name="T3" fmla="*/ 2147483646 h 21600"/>
              <a:gd name="T4" fmla="*/ 0 w 20581"/>
              <a:gd name="T5" fmla="*/ 2147483646 h 21600"/>
              <a:gd name="T6" fmla="*/ 0 60000 65536"/>
              <a:gd name="T7" fmla="*/ 0 60000 65536"/>
              <a:gd name="T8" fmla="*/ 0 60000 65536"/>
              <a:gd name="T9" fmla="*/ 0 w 20581"/>
              <a:gd name="T10" fmla="*/ 0 h 21600"/>
              <a:gd name="T11" fmla="*/ 20581 w 205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581" h="21600" fill="none" extrusionOk="0">
                <a:moveTo>
                  <a:pt x="-1" y="0"/>
                </a:moveTo>
                <a:cubicBezTo>
                  <a:pt x="9403" y="0"/>
                  <a:pt x="17726" y="6083"/>
                  <a:pt x="20580" y="15043"/>
                </a:cubicBezTo>
              </a:path>
              <a:path w="20581" h="21600" stroke="0" extrusionOk="0">
                <a:moveTo>
                  <a:pt x="-1" y="0"/>
                </a:moveTo>
                <a:cubicBezTo>
                  <a:pt x="9403" y="0"/>
                  <a:pt x="17726" y="6083"/>
                  <a:pt x="20580" y="1504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7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7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7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7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7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7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74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7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7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74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7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74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74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7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74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74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74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74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7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7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7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7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7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7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7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7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74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7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74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7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7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74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7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7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7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7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7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7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57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57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574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574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7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74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57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57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57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574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57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57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57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57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57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6" grpId="0" autoUpdateAnimBg="0"/>
      <p:bldP spid="574474" grpId="0" animBg="1"/>
      <p:bldP spid="574475" grpId="0" animBg="1"/>
      <p:bldP spid="574493" grpId="0" build="p" autoUpdateAnimBg="0" advAuto="0"/>
      <p:bldP spid="574494" grpId="0" build="p" autoUpdateAnimBg="0" advAuto="0"/>
      <p:bldP spid="574499" grpId="0"/>
      <p:bldP spid="574500" grpId="0"/>
      <p:bldP spid="574509" grpId="0"/>
      <p:bldP spid="574516" grpId="0"/>
      <p:bldP spid="574519" grpId="0"/>
      <p:bldP spid="574522" grpId="0"/>
      <p:bldP spid="574523" grpId="0"/>
      <p:bldP spid="60" grpId="0" autoUpdateAnimBg="0"/>
      <p:bldP spid="61" grpId="0" autoUpdateAnimBg="0"/>
      <p:bldP spid="6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>
            <a:extLst>
              <a:ext uri="{FF2B5EF4-FFF2-40B4-BE49-F238E27FC236}">
                <a16:creationId xmlns:a16="http://schemas.microsoft.com/office/drawing/2014/main" id="{5A9FB868-2293-4FB6-B1AE-1EAB62EAB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252413"/>
            <a:ext cx="5500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  <a:ea typeface="黑体" panose="02010609060101010101" pitchFamily="49" charset="-122"/>
              </a:rPr>
              <a:t>3. 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波晶片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（简称波片）</a:t>
            </a:r>
          </a:p>
        </p:txBody>
      </p:sp>
      <p:sp>
        <p:nvSpPr>
          <p:cNvPr id="21533" name="Rectangle 29">
            <a:extLst>
              <a:ext uri="{FF2B5EF4-FFF2-40B4-BE49-F238E27FC236}">
                <a16:creationId xmlns:a16="http://schemas.microsoft.com/office/drawing/2014/main" id="{606B7B47-F0FC-43A6-A26C-8FAC67D6F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14375"/>
            <a:ext cx="8143875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400"/>
              </a:lnSpc>
            </a:pP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具有双折射性质的晶体片，由单轴晶体上切割下来的等厚薄片，其光轴与晶体表面平行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pic>
        <p:nvPicPr>
          <p:cNvPr id="21553" name="Picture 49" descr="bop">
            <a:extLst>
              <a:ext uri="{FF2B5EF4-FFF2-40B4-BE49-F238E27FC236}">
                <a16:creationId xmlns:a16="http://schemas.microsoft.com/office/drawing/2014/main" id="{D05C8C7C-6C36-4A82-A73F-6EC8AEAE4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14" b="19550"/>
          <a:stretch>
            <a:fillRect/>
          </a:stretch>
        </p:blipFill>
        <p:spPr bwMode="auto">
          <a:xfrm>
            <a:off x="4605044" y="1708624"/>
            <a:ext cx="3034289" cy="1928152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54" name="Text Box 50">
            <a:extLst>
              <a:ext uri="{FF2B5EF4-FFF2-40B4-BE49-F238E27FC236}">
                <a16:creationId xmlns:a16="http://schemas.microsoft.com/office/drawing/2014/main" id="{1A363A69-94CA-4D46-895A-07A8ED384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5606" y="3239902"/>
            <a:ext cx="950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dirty="0">
                <a:ea typeface="楷体_GB2312" pitchFamily="49" charset="-122"/>
              </a:rPr>
              <a:t>波晶片</a:t>
            </a:r>
          </a:p>
        </p:txBody>
      </p:sp>
      <p:pic>
        <p:nvPicPr>
          <p:cNvPr id="21555" name="Picture 51" descr="20053711034120063">
            <a:extLst>
              <a:ext uri="{FF2B5EF4-FFF2-40B4-BE49-F238E27FC236}">
                <a16:creationId xmlns:a16="http://schemas.microsoft.com/office/drawing/2014/main" id="{20AA77E0-0F27-46D9-9C18-05987545B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1714500"/>
            <a:ext cx="2551112" cy="1900238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56" name="Text Box 52">
            <a:extLst>
              <a:ext uri="{FF2B5EF4-FFF2-40B4-BE49-F238E27FC236}">
                <a16:creationId xmlns:a16="http://schemas.microsoft.com/office/drawing/2014/main" id="{65CA32A6-B373-466D-825B-FCABC11B6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2463" y="3248149"/>
            <a:ext cx="950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dirty="0">
                <a:ea typeface="楷体_GB2312" pitchFamily="49" charset="-122"/>
              </a:rPr>
              <a:t>波晶片</a:t>
            </a:r>
          </a:p>
        </p:txBody>
      </p:sp>
      <p:sp>
        <p:nvSpPr>
          <p:cNvPr id="21557" name="Rectangle 53">
            <a:extLst>
              <a:ext uri="{FF2B5EF4-FFF2-40B4-BE49-F238E27FC236}">
                <a16:creationId xmlns:a16="http://schemas.microsoft.com/office/drawing/2014/main" id="{49CA2E56-F907-444A-B5C8-AEAE0392D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00663"/>
            <a:ext cx="3673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出射</a:t>
            </a:r>
            <a:r>
              <a:rPr lang="zh-CN" altLang="en-US">
                <a:solidFill>
                  <a:srgbClr val="66FFFF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o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光</a:t>
            </a:r>
            <a:r>
              <a:rPr lang="zh-CN" altLang="en-US">
                <a:solidFill>
                  <a:srgbClr val="66FFFF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e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光的相位差：</a:t>
            </a:r>
          </a:p>
        </p:txBody>
      </p:sp>
      <p:graphicFrame>
        <p:nvGraphicFramePr>
          <p:cNvPr id="21558" name="Object 4">
            <a:extLst>
              <a:ext uri="{FF2B5EF4-FFF2-40B4-BE49-F238E27FC236}">
                <a16:creationId xmlns:a16="http://schemas.microsoft.com/office/drawing/2014/main" id="{09EB1C34-807C-4D81-A3A5-2B495D310CC5}"/>
              </a:ext>
            </a:extLst>
          </p:cNvPr>
          <p:cNvGraphicFramePr>
            <a:graphicFrameLocks/>
          </p:cNvGraphicFramePr>
          <p:nvPr/>
        </p:nvGraphicFramePr>
        <p:xfrm>
          <a:off x="1428750" y="5853113"/>
          <a:ext cx="243363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42" name="公式" r:id="rId6" imgW="2667051" imgH="790507" progId="Equation.3">
                  <p:embed/>
                </p:oleObj>
              </mc:Choice>
              <mc:Fallback>
                <p:oleObj name="公式" r:id="rId6" imgW="2667051" imgH="790507" progId="Equation.3">
                  <p:embed/>
                  <p:pic>
                    <p:nvPicPr>
                      <p:cNvPr id="21558" name="Object 4">
                        <a:extLst>
                          <a:ext uri="{FF2B5EF4-FFF2-40B4-BE49-F238E27FC236}">
                            <a16:creationId xmlns:a16="http://schemas.microsoft.com/office/drawing/2014/main" id="{09EB1C34-807C-4D81-A3A5-2B495D310C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5853113"/>
                        <a:ext cx="243363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59" name="Line 55">
            <a:extLst>
              <a:ext uri="{FF2B5EF4-FFF2-40B4-BE49-F238E27FC236}">
                <a16:creationId xmlns:a16="http://schemas.microsoft.com/office/drawing/2014/main" id="{FB1B21BD-F839-4EDA-962F-030634E636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21288" y="5207000"/>
            <a:ext cx="4572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60" name="Line 56">
            <a:extLst>
              <a:ext uri="{FF2B5EF4-FFF2-40B4-BE49-F238E27FC236}">
                <a16:creationId xmlns:a16="http://schemas.microsoft.com/office/drawing/2014/main" id="{4319904F-6E99-4CDD-BC84-F445877978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92713" y="5721350"/>
            <a:ext cx="4572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61" name="Line 57">
            <a:extLst>
              <a:ext uri="{FF2B5EF4-FFF2-40B4-BE49-F238E27FC236}">
                <a16:creationId xmlns:a16="http://schemas.microsoft.com/office/drawing/2014/main" id="{494C5810-65B2-4785-90DB-624656575F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7513" y="5197475"/>
            <a:ext cx="0" cy="5334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562" name="Object 5">
            <a:extLst>
              <a:ext uri="{FF2B5EF4-FFF2-40B4-BE49-F238E27FC236}">
                <a16:creationId xmlns:a16="http://schemas.microsoft.com/office/drawing/2014/main" id="{E0D29F61-73BA-4931-A77C-ABC18A35E448}"/>
              </a:ext>
            </a:extLst>
          </p:cNvPr>
          <p:cNvGraphicFramePr>
            <a:graphicFrameLocks/>
          </p:cNvGraphicFramePr>
          <p:nvPr/>
        </p:nvGraphicFramePr>
        <p:xfrm>
          <a:off x="5205413" y="5343525"/>
          <a:ext cx="173037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43" name="公式" r:id="rId8" imgW="218967" imgH="276157" progId="Equation.3">
                  <p:embed/>
                </p:oleObj>
              </mc:Choice>
              <mc:Fallback>
                <p:oleObj name="公式" r:id="rId8" imgW="218967" imgH="276157" progId="Equation.3">
                  <p:embed/>
                  <p:pic>
                    <p:nvPicPr>
                      <p:cNvPr id="21562" name="Object 5">
                        <a:extLst>
                          <a:ext uri="{FF2B5EF4-FFF2-40B4-BE49-F238E27FC236}">
                            <a16:creationId xmlns:a16="http://schemas.microsoft.com/office/drawing/2014/main" id="{E0D29F61-73BA-4931-A77C-ABC18A35E44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413" y="5343525"/>
                        <a:ext cx="173037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3" name="Object 6">
            <a:extLst>
              <a:ext uri="{FF2B5EF4-FFF2-40B4-BE49-F238E27FC236}">
                <a16:creationId xmlns:a16="http://schemas.microsoft.com/office/drawing/2014/main" id="{1CD154A0-2E3B-4902-B774-F29ED6160832}"/>
              </a:ext>
            </a:extLst>
          </p:cNvPr>
          <p:cNvGraphicFramePr>
            <a:graphicFrameLocks/>
          </p:cNvGraphicFramePr>
          <p:nvPr/>
        </p:nvGraphicFramePr>
        <p:xfrm>
          <a:off x="7135813" y="4579938"/>
          <a:ext cx="173037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44" name="公式" r:id="rId10" imgW="218967" imgH="276157" progId="Equation.3">
                  <p:embed/>
                </p:oleObj>
              </mc:Choice>
              <mc:Fallback>
                <p:oleObj name="公式" r:id="rId10" imgW="218967" imgH="276157" progId="Equation.3">
                  <p:embed/>
                  <p:pic>
                    <p:nvPicPr>
                      <p:cNvPr id="21563" name="Object 6">
                        <a:extLst>
                          <a:ext uri="{FF2B5EF4-FFF2-40B4-BE49-F238E27FC236}">
                            <a16:creationId xmlns:a16="http://schemas.microsoft.com/office/drawing/2014/main" id="{1CD154A0-2E3B-4902-B774-F29ED61608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5813" y="4579938"/>
                        <a:ext cx="173037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64" name="Text Box 60">
            <a:extLst>
              <a:ext uri="{FF2B5EF4-FFF2-40B4-BE49-F238E27FC236}">
                <a16:creationId xmlns:a16="http://schemas.microsoft.com/office/drawing/2014/main" id="{64B67545-3A1C-48D0-AFDB-9B3696DA8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3714750"/>
            <a:ext cx="37433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自然光垂直入射波晶片后，</a:t>
            </a:r>
            <a:r>
              <a:rPr lang="en-US" altLang="zh-CN" i="1" dirty="0">
                <a:solidFill>
                  <a:srgbClr val="66FFFF"/>
                </a:solidFill>
                <a:ea typeface="黑体" panose="02010609060101010101" pitchFamily="49" charset="-122"/>
              </a:rPr>
              <a:t>o </a:t>
            </a:r>
            <a:r>
              <a:rPr lang="zh-CN" altLang="en-US" dirty="0">
                <a:solidFill>
                  <a:schemeClr val="bg1"/>
                </a:solidFill>
              </a:rPr>
              <a:t>光和</a:t>
            </a:r>
            <a:r>
              <a:rPr lang="en-US" altLang="zh-CN" dirty="0">
                <a:solidFill>
                  <a:schemeClr val="bg1"/>
                </a:solidFill>
                <a:ea typeface="黑体" panose="02010609060101010101" pitchFamily="49" charset="-122"/>
              </a:rPr>
              <a:t> </a:t>
            </a:r>
            <a:r>
              <a:rPr lang="en-US" altLang="zh-CN" i="1" dirty="0">
                <a:solidFill>
                  <a:srgbClr val="66FFFF"/>
                </a:solidFill>
                <a:ea typeface="黑体" panose="02010609060101010101" pitchFamily="49" charset="-122"/>
              </a:rPr>
              <a:t>e</a:t>
            </a:r>
            <a:r>
              <a:rPr lang="en-US" altLang="zh-CN" dirty="0">
                <a:solidFill>
                  <a:srgbClr val="66FFFF"/>
                </a:solidFill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光的传播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速度不同，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产生相位差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。</a:t>
            </a:r>
          </a:p>
        </p:txBody>
      </p:sp>
      <p:sp>
        <p:nvSpPr>
          <p:cNvPr id="21565" name="Rectangle 61">
            <a:extLst>
              <a:ext uri="{FF2B5EF4-FFF2-40B4-BE49-F238E27FC236}">
                <a16:creationId xmlns:a16="http://schemas.microsoft.com/office/drawing/2014/main" id="{DBC29B4E-20E9-4F9F-8F81-F069DC8CC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913" y="5197475"/>
            <a:ext cx="2590800" cy="533400"/>
          </a:xfrm>
          <a:prstGeom prst="rect">
            <a:avLst/>
          </a:prstGeom>
          <a:solidFill>
            <a:srgbClr val="FFFF00">
              <a:alpha val="27843"/>
            </a:srgbClr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</p:spPr>
        <p:txBody>
          <a:bodyPr wrap="none" anchor="ctr"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1566" name="Line 62">
            <a:extLst>
              <a:ext uri="{FF2B5EF4-FFF2-40B4-BE49-F238E27FC236}">
                <a16:creationId xmlns:a16="http://schemas.microsoft.com/office/drawing/2014/main" id="{A0D927F4-66D5-4973-8284-AFA3FFFE63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1513" y="4435475"/>
            <a:ext cx="0" cy="762000"/>
          </a:xfrm>
          <a:prstGeom prst="line">
            <a:avLst/>
          </a:prstGeom>
          <a:noFill/>
          <a:ln w="38100">
            <a:solidFill>
              <a:srgbClr val="CCFF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67" name="Line 63">
            <a:extLst>
              <a:ext uri="{FF2B5EF4-FFF2-40B4-BE49-F238E27FC236}">
                <a16:creationId xmlns:a16="http://schemas.microsoft.com/office/drawing/2014/main" id="{3BB58E14-F17B-4AA3-BE15-832C84E0E4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26113" y="5307013"/>
            <a:ext cx="2590800" cy="0"/>
          </a:xfrm>
          <a:prstGeom prst="line">
            <a:avLst/>
          </a:prstGeom>
          <a:noFill/>
          <a:ln w="19050">
            <a:solidFill>
              <a:schemeClr val="hlink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68" name="Line 64">
            <a:extLst>
              <a:ext uri="{FF2B5EF4-FFF2-40B4-BE49-F238E27FC236}">
                <a16:creationId xmlns:a16="http://schemas.microsoft.com/office/drawing/2014/main" id="{9A6FE8DE-60F8-454C-B778-76981A2D2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6113" y="5459413"/>
            <a:ext cx="2590800" cy="0"/>
          </a:xfrm>
          <a:prstGeom prst="line">
            <a:avLst/>
          </a:prstGeom>
          <a:noFill/>
          <a:ln w="19050">
            <a:solidFill>
              <a:schemeClr val="hlink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69" name="Line 65">
            <a:extLst>
              <a:ext uri="{FF2B5EF4-FFF2-40B4-BE49-F238E27FC236}">
                <a16:creationId xmlns:a16="http://schemas.microsoft.com/office/drawing/2014/main" id="{41542CBC-1A7F-45E7-9A4D-DCEA4245D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6113" y="5602288"/>
            <a:ext cx="2590800" cy="0"/>
          </a:xfrm>
          <a:prstGeom prst="line">
            <a:avLst/>
          </a:prstGeom>
          <a:noFill/>
          <a:ln w="19050">
            <a:solidFill>
              <a:schemeClr val="hlink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70" name="Line 66">
            <a:extLst>
              <a:ext uri="{FF2B5EF4-FFF2-40B4-BE49-F238E27FC236}">
                <a16:creationId xmlns:a16="http://schemas.microsoft.com/office/drawing/2014/main" id="{5FDA10EE-41E4-4063-AEB3-1344F4BD4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1513" y="5197475"/>
            <a:ext cx="0" cy="533400"/>
          </a:xfrm>
          <a:prstGeom prst="line">
            <a:avLst/>
          </a:prstGeom>
          <a:noFill/>
          <a:ln w="28575">
            <a:solidFill>
              <a:srgbClr val="FFCC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71" name="Line 67">
            <a:extLst>
              <a:ext uri="{FF2B5EF4-FFF2-40B4-BE49-F238E27FC236}">
                <a16:creationId xmlns:a16="http://schemas.microsoft.com/office/drawing/2014/main" id="{92EB3264-2F5B-4219-9504-C0509BF0A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1513" y="5197475"/>
            <a:ext cx="0" cy="266700"/>
          </a:xfrm>
          <a:prstGeom prst="line">
            <a:avLst/>
          </a:prstGeom>
          <a:noFill/>
          <a:ln w="28575">
            <a:solidFill>
              <a:srgbClr val="CCFF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72" name="Line 68">
            <a:extLst>
              <a:ext uri="{FF2B5EF4-FFF2-40B4-BE49-F238E27FC236}">
                <a16:creationId xmlns:a16="http://schemas.microsoft.com/office/drawing/2014/main" id="{938E9839-AE11-410C-B633-4741067EC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5313" y="5711825"/>
            <a:ext cx="0" cy="781050"/>
          </a:xfrm>
          <a:prstGeom prst="line">
            <a:avLst/>
          </a:prstGeom>
          <a:noFill/>
          <a:ln w="28575">
            <a:solidFill>
              <a:srgbClr val="FFCC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73" name="Line 69">
            <a:extLst>
              <a:ext uri="{FF2B5EF4-FFF2-40B4-BE49-F238E27FC236}">
                <a16:creationId xmlns:a16="http://schemas.microsoft.com/office/drawing/2014/main" id="{6B414B61-9E8A-4EBE-9AED-20653385C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7713" y="5730875"/>
            <a:ext cx="0" cy="762000"/>
          </a:xfrm>
          <a:prstGeom prst="line">
            <a:avLst/>
          </a:prstGeom>
          <a:noFill/>
          <a:ln w="28575">
            <a:solidFill>
              <a:srgbClr val="CCFF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74" name="Line 70">
            <a:extLst>
              <a:ext uri="{FF2B5EF4-FFF2-40B4-BE49-F238E27FC236}">
                <a16:creationId xmlns:a16="http://schemas.microsoft.com/office/drawing/2014/main" id="{0C471786-5D9F-4CDD-814D-3C566CA149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9113" y="5807075"/>
            <a:ext cx="1524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75" name="Line 71">
            <a:extLst>
              <a:ext uri="{FF2B5EF4-FFF2-40B4-BE49-F238E27FC236}">
                <a16:creationId xmlns:a16="http://schemas.microsoft.com/office/drawing/2014/main" id="{75AD0D9D-1502-4C52-AD8A-74374C6AA7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9113" y="5978525"/>
            <a:ext cx="1524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76" name="Line 72">
            <a:extLst>
              <a:ext uri="{FF2B5EF4-FFF2-40B4-BE49-F238E27FC236}">
                <a16:creationId xmlns:a16="http://schemas.microsoft.com/office/drawing/2014/main" id="{5727F46F-6DC4-4110-89F4-CA9830955A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9113" y="6188075"/>
            <a:ext cx="1524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577" name="Object 7">
            <a:extLst>
              <a:ext uri="{FF2B5EF4-FFF2-40B4-BE49-F238E27FC236}">
                <a16:creationId xmlns:a16="http://schemas.microsoft.com/office/drawing/2014/main" id="{3FFBADB3-3416-4FB3-A8F2-7C33AD9CC3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7388" y="5734050"/>
          <a:ext cx="115887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45" name="Equation" r:id="rId12" imgW="76149" imgH="85725" progId="Equation.3">
                  <p:embed/>
                </p:oleObj>
              </mc:Choice>
              <mc:Fallback>
                <p:oleObj name="Equation" r:id="rId12" imgW="76149" imgH="85725" progId="Equation.3">
                  <p:embed/>
                  <p:pic>
                    <p:nvPicPr>
                      <p:cNvPr id="21577" name="Object 7">
                        <a:extLst>
                          <a:ext uri="{FF2B5EF4-FFF2-40B4-BE49-F238E27FC236}">
                            <a16:creationId xmlns:a16="http://schemas.microsoft.com/office/drawing/2014/main" id="{3FFBADB3-3416-4FB3-A8F2-7C33AD9CC3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7388" y="5734050"/>
                        <a:ext cx="115887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8" name="Object 8">
            <a:extLst>
              <a:ext uri="{FF2B5EF4-FFF2-40B4-BE49-F238E27FC236}">
                <a16:creationId xmlns:a16="http://schemas.microsoft.com/office/drawing/2014/main" id="{CF393996-BA84-4493-9A27-7DD56F9EA9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7388" y="5915025"/>
          <a:ext cx="115887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46" name="Equation" r:id="rId14" imgW="76149" imgH="85725" progId="Equation.3">
                  <p:embed/>
                </p:oleObj>
              </mc:Choice>
              <mc:Fallback>
                <p:oleObj name="Equation" r:id="rId14" imgW="76149" imgH="85725" progId="Equation.3">
                  <p:embed/>
                  <p:pic>
                    <p:nvPicPr>
                      <p:cNvPr id="21578" name="Object 8">
                        <a:extLst>
                          <a:ext uri="{FF2B5EF4-FFF2-40B4-BE49-F238E27FC236}">
                            <a16:creationId xmlns:a16="http://schemas.microsoft.com/office/drawing/2014/main" id="{CF393996-BA84-4493-9A27-7DD56F9EA9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7388" y="5915025"/>
                        <a:ext cx="115887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9" name="Object 9">
            <a:extLst>
              <a:ext uri="{FF2B5EF4-FFF2-40B4-BE49-F238E27FC236}">
                <a16:creationId xmlns:a16="http://schemas.microsoft.com/office/drawing/2014/main" id="{00C016CF-F77F-4650-9B36-D5803AD7CB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7388" y="6126163"/>
          <a:ext cx="115887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47" name="Equation" r:id="rId16" imgW="76149" imgH="85725" progId="Equation.3">
                  <p:embed/>
                </p:oleObj>
              </mc:Choice>
              <mc:Fallback>
                <p:oleObj name="Equation" r:id="rId16" imgW="76149" imgH="85725" progId="Equation.3">
                  <p:embed/>
                  <p:pic>
                    <p:nvPicPr>
                      <p:cNvPr id="21579" name="Object 9">
                        <a:extLst>
                          <a:ext uri="{FF2B5EF4-FFF2-40B4-BE49-F238E27FC236}">
                            <a16:creationId xmlns:a16="http://schemas.microsoft.com/office/drawing/2014/main" id="{00C016CF-F77F-4650-9B36-D5803AD7CB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7388" y="6126163"/>
                        <a:ext cx="115887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80" name="Object 10">
            <a:extLst>
              <a:ext uri="{FF2B5EF4-FFF2-40B4-BE49-F238E27FC236}">
                <a16:creationId xmlns:a16="http://schemas.microsoft.com/office/drawing/2014/main" id="{F7EEC772-92CD-4DB7-BF24-BFF4E88AAE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1063" y="6248400"/>
          <a:ext cx="4572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48" name="公式" r:id="rId18" imgW="533349" imgH="314427" progId="Equation.3">
                  <p:embed/>
                </p:oleObj>
              </mc:Choice>
              <mc:Fallback>
                <p:oleObj name="公式" r:id="rId18" imgW="533349" imgH="314427" progId="Equation.3">
                  <p:embed/>
                  <p:pic>
                    <p:nvPicPr>
                      <p:cNvPr id="21580" name="Object 10">
                        <a:extLst>
                          <a:ext uri="{FF2B5EF4-FFF2-40B4-BE49-F238E27FC236}">
                            <a16:creationId xmlns:a16="http://schemas.microsoft.com/office/drawing/2014/main" id="{F7EEC772-92CD-4DB7-BF24-BFF4E88AAE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1063" y="6248400"/>
                        <a:ext cx="4572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81" name="Object 11">
            <a:extLst>
              <a:ext uri="{FF2B5EF4-FFF2-40B4-BE49-F238E27FC236}">
                <a16:creationId xmlns:a16="http://schemas.microsoft.com/office/drawing/2014/main" id="{373E7BF4-2680-4A74-B23A-1A12E5B5F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6248400"/>
          <a:ext cx="434975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49" name="公式" r:id="rId20" imgW="504908" imgH="314427" progId="Equation.3">
                  <p:embed/>
                </p:oleObj>
              </mc:Choice>
              <mc:Fallback>
                <p:oleObj name="公式" r:id="rId20" imgW="504908" imgH="314427" progId="Equation.3">
                  <p:embed/>
                  <p:pic>
                    <p:nvPicPr>
                      <p:cNvPr id="21581" name="Object 11">
                        <a:extLst>
                          <a:ext uri="{FF2B5EF4-FFF2-40B4-BE49-F238E27FC236}">
                            <a16:creationId xmlns:a16="http://schemas.microsoft.com/office/drawing/2014/main" id="{373E7BF4-2680-4A74-B23A-1A12E5B5F2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6248400"/>
                        <a:ext cx="434975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82" name="Rectangle 78">
            <a:extLst>
              <a:ext uri="{FF2B5EF4-FFF2-40B4-BE49-F238E27FC236}">
                <a16:creationId xmlns:a16="http://schemas.microsoft.com/office/drawing/2014/main" id="{F3DDFBD6-C4BF-4FBE-A4A9-FBEA43BCE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13" y="4614863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CCFFCC"/>
                </a:solidFill>
                <a:latin typeface="楷体_GB2312" pitchFamily="49" charset="-122"/>
                <a:ea typeface="楷体_GB2312" pitchFamily="49" charset="-122"/>
              </a:rPr>
              <a:t>波晶片</a:t>
            </a:r>
            <a:endParaRPr lang="zh-CN" altLang="en-US" sz="2000">
              <a:solidFill>
                <a:srgbClr val="CCFFCC"/>
              </a:solidFill>
              <a:latin typeface="黑体" panose="02010609060101010101" pitchFamily="49" charset="-122"/>
              <a:ea typeface="楷体_GB2312" pitchFamily="49" charset="-122"/>
            </a:endParaRPr>
          </a:p>
        </p:txBody>
      </p:sp>
      <p:sp>
        <p:nvSpPr>
          <p:cNvPr id="28706" name="灯片编号占位符 1">
            <a:extLst>
              <a:ext uri="{FF2B5EF4-FFF2-40B4-BE49-F238E27FC236}">
                <a16:creationId xmlns:a16="http://schemas.microsoft.com/office/drawing/2014/main" id="{B8717DB4-0627-4980-A5DB-F5B524F3DB5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A5B1343-0751-4177-8F97-5E6A0F588B48}" type="slidenum">
              <a:rPr lang="en-US" altLang="zh-CN" b="0">
                <a:solidFill>
                  <a:srgbClr val="FF00FF"/>
                </a:solidFill>
              </a:rPr>
              <a:pPr eaLnBrk="1" hangingPunct="1"/>
              <a:t>19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1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2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utoUpdateAnimBg="0"/>
      <p:bldP spid="21533" grpId="0" autoUpdateAnimBg="0"/>
      <p:bldP spid="21554" grpId="0"/>
      <p:bldP spid="21556" grpId="0"/>
      <p:bldP spid="21557" grpId="0" autoUpdateAnimBg="0"/>
      <p:bldP spid="21564" grpId="0"/>
      <p:bldP spid="21565" grpId="0" animBg="1"/>
      <p:bldP spid="21582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54" name="Text Box 30">
            <a:extLst>
              <a:ext uri="{FF2B5EF4-FFF2-40B4-BE49-F238E27FC236}">
                <a16:creationId xmlns:a16="http://schemas.microsoft.com/office/drawing/2014/main" id="{B1376D22-81DC-4DC6-9C2E-3DF9E7BF4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28613"/>
            <a:ext cx="2214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波晶片</a:t>
            </a:r>
            <a:r>
              <a:rPr lang="zh-CN" altLang="en-US">
                <a:solidFill>
                  <a:srgbClr val="66FFFF"/>
                </a:solidFill>
              </a:rPr>
              <a:t>分类：</a:t>
            </a:r>
          </a:p>
        </p:txBody>
      </p:sp>
      <p:graphicFrame>
        <p:nvGraphicFramePr>
          <p:cNvPr id="52255" name="Object 2">
            <a:extLst>
              <a:ext uri="{FF2B5EF4-FFF2-40B4-BE49-F238E27FC236}">
                <a16:creationId xmlns:a16="http://schemas.microsoft.com/office/drawing/2014/main" id="{7A4C30CD-4AF1-4F68-80B1-88B70E7EF0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785938"/>
          <a:ext cx="31242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75" name="公式" r:id="rId4" imgW="1590567" imgH="352391" progId="Equation.3">
                  <p:embed/>
                </p:oleObj>
              </mc:Choice>
              <mc:Fallback>
                <p:oleObj name="公式" r:id="rId4" imgW="1590567" imgH="352391" progId="Equation.3">
                  <p:embed/>
                  <p:pic>
                    <p:nvPicPr>
                      <p:cNvPr id="52255" name="Object 2">
                        <a:extLst>
                          <a:ext uri="{FF2B5EF4-FFF2-40B4-BE49-F238E27FC236}">
                            <a16:creationId xmlns:a16="http://schemas.microsoft.com/office/drawing/2014/main" id="{7A4C30CD-4AF1-4F68-80B1-88B70E7EF0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85938"/>
                        <a:ext cx="31242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6" name="Object 3">
            <a:extLst>
              <a:ext uri="{FF2B5EF4-FFF2-40B4-BE49-F238E27FC236}">
                <a16:creationId xmlns:a16="http://schemas.microsoft.com/office/drawing/2014/main" id="{FA06E752-E49C-4B45-B8BA-B91E93D798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1563" y="887413"/>
          <a:ext cx="58483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76" name="公式" r:id="rId6" imgW="3000394" imgH="352391" progId="Equation.3">
                  <p:embed/>
                </p:oleObj>
              </mc:Choice>
              <mc:Fallback>
                <p:oleObj name="公式" r:id="rId6" imgW="3000394" imgH="352391" progId="Equation.3">
                  <p:embed/>
                  <p:pic>
                    <p:nvPicPr>
                      <p:cNvPr id="52256" name="Object 3">
                        <a:extLst>
                          <a:ext uri="{FF2B5EF4-FFF2-40B4-BE49-F238E27FC236}">
                            <a16:creationId xmlns:a16="http://schemas.microsoft.com/office/drawing/2014/main" id="{FA06E752-E49C-4B45-B8BA-B91E93D798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887413"/>
                        <a:ext cx="58483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7" name="Object 4">
            <a:extLst>
              <a:ext uri="{FF2B5EF4-FFF2-40B4-BE49-F238E27FC236}">
                <a16:creationId xmlns:a16="http://schemas.microsoft.com/office/drawing/2014/main" id="{08895AAE-E418-4F65-9B67-5606B8AC187A}"/>
              </a:ext>
            </a:extLst>
          </p:cNvPr>
          <p:cNvGraphicFramePr>
            <a:graphicFrameLocks/>
          </p:cNvGraphicFramePr>
          <p:nvPr/>
        </p:nvGraphicFramePr>
        <p:xfrm>
          <a:off x="4643438" y="2033588"/>
          <a:ext cx="312737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77" name="公式" r:id="rId8" imgW="418973" imgH="380864" progId="Equation.3">
                  <p:embed/>
                </p:oleObj>
              </mc:Choice>
              <mc:Fallback>
                <p:oleObj name="公式" r:id="rId8" imgW="418973" imgH="380864" progId="Equation.3">
                  <p:embed/>
                  <p:pic>
                    <p:nvPicPr>
                      <p:cNvPr id="52257" name="Object 4">
                        <a:extLst>
                          <a:ext uri="{FF2B5EF4-FFF2-40B4-BE49-F238E27FC236}">
                            <a16:creationId xmlns:a16="http://schemas.microsoft.com/office/drawing/2014/main" id="{08895AAE-E418-4F65-9B67-5606B8AC187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2033588"/>
                        <a:ext cx="312737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58" name="Text Box 34">
            <a:extLst>
              <a:ext uri="{FF2B5EF4-FFF2-40B4-BE49-F238E27FC236}">
                <a16:creationId xmlns:a16="http://schemas.microsoft.com/office/drawing/2014/main" id="{93815998-B670-4DEF-8C31-75A8F484E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225" y="1970088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波片</a:t>
            </a:r>
          </a:p>
        </p:txBody>
      </p:sp>
      <p:sp>
        <p:nvSpPr>
          <p:cNvPr id="52261" name="Rectangle 37">
            <a:extLst>
              <a:ext uri="{FF2B5EF4-FFF2-40B4-BE49-F238E27FC236}">
                <a16:creationId xmlns:a16="http://schemas.microsoft.com/office/drawing/2014/main" id="{590239C5-B19C-45A9-85D2-D3A53DD7A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213" y="3603625"/>
            <a:ext cx="950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半波片</a:t>
            </a:r>
          </a:p>
        </p:txBody>
      </p:sp>
      <p:sp>
        <p:nvSpPr>
          <p:cNvPr id="52264" name="Rectangle 40">
            <a:extLst>
              <a:ext uri="{FF2B5EF4-FFF2-40B4-BE49-F238E27FC236}">
                <a16:creationId xmlns:a16="http://schemas.microsoft.com/office/drawing/2014/main" id="{9B12EF26-15FC-4E16-92DB-746CDB8E4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246688"/>
            <a:ext cx="950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全波片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797E260F-1496-454D-863B-B82AC3461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5967413"/>
            <a:ext cx="7207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  <a:ea typeface="楷体_GB2312" pitchFamily="49" charset="-122"/>
              </a:rPr>
              <a:t>注意：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确定的波晶片是针对某一特定波长而言的</a:t>
            </a:r>
            <a:endParaRPr kumimoji="0"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2" name="Object 14">
            <a:extLst>
              <a:ext uri="{FF2B5EF4-FFF2-40B4-BE49-F238E27FC236}">
                <a16:creationId xmlns:a16="http://schemas.microsoft.com/office/drawing/2014/main" id="{3024D926-04C7-4BC0-A8D4-E13373F0AF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0613" y="3429000"/>
          <a:ext cx="31242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78" name="公式" r:id="rId10" imgW="1590567" imgH="352391" progId="Equation.3">
                  <p:embed/>
                </p:oleObj>
              </mc:Choice>
              <mc:Fallback>
                <p:oleObj name="公式" r:id="rId10" imgW="1590567" imgH="352391" progId="Equation.3">
                  <p:embed/>
                  <p:pic>
                    <p:nvPicPr>
                      <p:cNvPr id="2" name="Object 14">
                        <a:extLst>
                          <a:ext uri="{FF2B5EF4-FFF2-40B4-BE49-F238E27FC236}">
                            <a16:creationId xmlns:a16="http://schemas.microsoft.com/office/drawing/2014/main" id="{3024D926-04C7-4BC0-A8D4-E13373F0AF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613" y="3429000"/>
                        <a:ext cx="31242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5">
            <a:extLst>
              <a:ext uri="{FF2B5EF4-FFF2-40B4-BE49-F238E27FC236}">
                <a16:creationId xmlns:a16="http://schemas.microsoft.com/office/drawing/2014/main" id="{2D44D141-69AD-4E60-BE51-CC2936386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2601913"/>
          <a:ext cx="57515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79" name="公式" r:id="rId12" imgW="2943206" imgH="352391" progId="Equation.3">
                  <p:embed/>
                </p:oleObj>
              </mc:Choice>
              <mc:Fallback>
                <p:oleObj name="公式" r:id="rId12" imgW="2943206" imgH="352391" progId="Equation.3">
                  <p:embed/>
                  <p:pic>
                    <p:nvPicPr>
                      <p:cNvPr id="3" name="Object 15">
                        <a:extLst>
                          <a:ext uri="{FF2B5EF4-FFF2-40B4-BE49-F238E27FC236}">
                            <a16:creationId xmlns:a16="http://schemas.microsoft.com/office/drawing/2014/main" id="{2D44D141-69AD-4E60-BE51-CC29363868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2601913"/>
                        <a:ext cx="57515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6">
            <a:extLst>
              <a:ext uri="{FF2B5EF4-FFF2-40B4-BE49-F238E27FC236}">
                <a16:creationId xmlns:a16="http://schemas.microsoft.com/office/drawing/2014/main" id="{E7737D55-9D00-4520-B46D-CDBD6767A7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5270500"/>
          <a:ext cx="232092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80" name="公式" r:id="rId14" imgW="1171594" imgH="190432" progId="Equation.3">
                  <p:embed/>
                </p:oleObj>
              </mc:Choice>
              <mc:Fallback>
                <p:oleObj name="公式" r:id="rId14" imgW="1171594" imgH="190432" progId="Equation.3">
                  <p:embed/>
                  <p:pic>
                    <p:nvPicPr>
                      <p:cNvPr id="4" name="Object 16">
                        <a:extLst>
                          <a:ext uri="{FF2B5EF4-FFF2-40B4-BE49-F238E27FC236}">
                            <a16:creationId xmlns:a16="http://schemas.microsoft.com/office/drawing/2014/main" id="{E7737D55-9D00-4520-B46D-CDBD6767A7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5270500"/>
                        <a:ext cx="232092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7">
            <a:extLst>
              <a:ext uri="{FF2B5EF4-FFF2-40B4-BE49-F238E27FC236}">
                <a16:creationId xmlns:a16="http://schemas.microsoft.com/office/drawing/2014/main" id="{6C644A99-3677-4A69-B6A6-E9CF9C7734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4286250"/>
          <a:ext cx="533558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81" name="公式" r:id="rId16" imgW="2733720" imgH="352391" progId="Equation.3">
                  <p:embed/>
                </p:oleObj>
              </mc:Choice>
              <mc:Fallback>
                <p:oleObj name="公式" r:id="rId16" imgW="2733720" imgH="352391" progId="Equation.3">
                  <p:embed/>
                  <p:pic>
                    <p:nvPicPr>
                      <p:cNvPr id="5" name="Object 17">
                        <a:extLst>
                          <a:ext uri="{FF2B5EF4-FFF2-40B4-BE49-F238E27FC236}">
                            <a16:creationId xmlns:a16="http://schemas.microsoft.com/office/drawing/2014/main" id="{6C644A99-3677-4A69-B6A6-E9CF9C7734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4286250"/>
                        <a:ext cx="5335588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ECD4AB29-2358-45DC-92B3-5DB8AF4555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7088" y="1785938"/>
          <a:ext cx="252253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82" name="公式" r:id="rId18" imgW="1400041" imgH="390661" progId="Equation.3">
                  <p:embed/>
                </p:oleObj>
              </mc:Choice>
              <mc:Fallback>
                <p:oleObj name="公式" r:id="rId18" imgW="1400041" imgH="390661" progId="Equation.3">
                  <p:embed/>
                  <p:pic>
                    <p:nvPicPr>
                      <p:cNvPr id="6" name="Object 18">
                        <a:extLst>
                          <a:ext uri="{FF2B5EF4-FFF2-40B4-BE49-F238E27FC236}">
                            <a16:creationId xmlns:a16="http://schemas.microsoft.com/office/drawing/2014/main" id="{ECD4AB29-2358-45DC-92B3-5DB8AF4555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7088" y="1785938"/>
                        <a:ext cx="252253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9">
            <a:extLst>
              <a:ext uri="{FF2B5EF4-FFF2-40B4-BE49-F238E27FC236}">
                <a16:creationId xmlns:a16="http://schemas.microsoft.com/office/drawing/2014/main" id="{38AB640E-8D57-460A-A160-611CD4ACE8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9313" y="3459163"/>
          <a:ext cx="252253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83" name="公式" r:id="rId20" imgW="1400041" imgH="390661" progId="Equation.3">
                  <p:embed/>
                </p:oleObj>
              </mc:Choice>
              <mc:Fallback>
                <p:oleObj name="公式" r:id="rId20" imgW="1400041" imgH="390661" progId="Equation.3">
                  <p:embed/>
                  <p:pic>
                    <p:nvPicPr>
                      <p:cNvPr id="7" name="Object 19">
                        <a:extLst>
                          <a:ext uri="{FF2B5EF4-FFF2-40B4-BE49-F238E27FC236}">
                            <a16:creationId xmlns:a16="http://schemas.microsoft.com/office/drawing/2014/main" id="{38AB640E-8D57-460A-A160-611CD4ACE8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3459163"/>
                        <a:ext cx="252253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6" name="灯片编号占位符 1">
            <a:extLst>
              <a:ext uri="{FF2B5EF4-FFF2-40B4-BE49-F238E27FC236}">
                <a16:creationId xmlns:a16="http://schemas.microsoft.com/office/drawing/2014/main" id="{2DB4C570-CC9A-466F-AF9E-3BB2CBF6DBF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C90B50E-DAEC-4467-B439-C23FC97B7EE6}" type="slidenum">
              <a:rPr lang="en-US" altLang="zh-CN" b="0">
                <a:solidFill>
                  <a:srgbClr val="FF00FF"/>
                </a:solidFill>
              </a:rPr>
              <a:pPr eaLnBrk="1" hangingPunct="1"/>
              <a:t>20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54" grpId="0" autoUpdateAnimBg="0"/>
      <p:bldP spid="52258" grpId="0" autoUpdateAnimBg="0"/>
      <p:bldP spid="52261" grpId="0" autoUpdateAnimBg="0"/>
      <p:bldP spid="52264" grpId="0" autoUpdateAnimBg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4" name="Object 2">
            <a:extLst>
              <a:ext uri="{FF2B5EF4-FFF2-40B4-BE49-F238E27FC236}">
                <a16:creationId xmlns:a16="http://schemas.microsoft.com/office/drawing/2014/main" id="{7F0C0A66-9E29-4BA1-9F66-8490C469E7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7925" y="568325"/>
          <a:ext cx="1743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71" name="公式" r:id="rId3" imgW="771582" imgH="180941" progId="Equation.3">
                  <p:embed/>
                </p:oleObj>
              </mc:Choice>
              <mc:Fallback>
                <p:oleObj name="公式" r:id="rId3" imgW="771582" imgH="180941" progId="Equation.3">
                  <p:embed/>
                  <p:pic>
                    <p:nvPicPr>
                      <p:cNvPr id="95234" name="Object 2">
                        <a:extLst>
                          <a:ext uri="{FF2B5EF4-FFF2-40B4-BE49-F238E27FC236}">
                            <a16:creationId xmlns:a16="http://schemas.microsoft.com/office/drawing/2014/main" id="{7F0C0A66-9E29-4BA1-9F66-8490C469E7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7925" y="568325"/>
                        <a:ext cx="17430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5" name="Object 3">
            <a:extLst>
              <a:ext uri="{FF2B5EF4-FFF2-40B4-BE49-F238E27FC236}">
                <a16:creationId xmlns:a16="http://schemas.microsoft.com/office/drawing/2014/main" id="{8DA3A557-76DF-493B-9087-2EECCFA9EA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0625" y="1068388"/>
          <a:ext cx="25161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72" name="公式" r:id="rId5" imgW="1219302" imgH="180941" progId="Equation.3">
                  <p:embed/>
                </p:oleObj>
              </mc:Choice>
              <mc:Fallback>
                <p:oleObj name="公式" r:id="rId5" imgW="1219302" imgH="180941" progId="Equation.3">
                  <p:embed/>
                  <p:pic>
                    <p:nvPicPr>
                      <p:cNvPr id="95235" name="Object 3">
                        <a:extLst>
                          <a:ext uri="{FF2B5EF4-FFF2-40B4-BE49-F238E27FC236}">
                            <a16:creationId xmlns:a16="http://schemas.microsoft.com/office/drawing/2014/main" id="{8DA3A557-76DF-493B-9087-2EECCFA9EA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25" y="1068388"/>
                        <a:ext cx="25161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6" name="Object 4">
            <a:extLst>
              <a:ext uri="{FF2B5EF4-FFF2-40B4-BE49-F238E27FC236}">
                <a16:creationId xmlns:a16="http://schemas.microsoft.com/office/drawing/2014/main" id="{C6B4C88E-6E88-474B-B1C9-9AB2D4EBB8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738" y="1350963"/>
          <a:ext cx="4176712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73" name="公式" r:id="rId7" imgW="2028806" imgH="419134" progId="Equation.3">
                  <p:embed/>
                </p:oleObj>
              </mc:Choice>
              <mc:Fallback>
                <p:oleObj name="公式" r:id="rId7" imgW="2028806" imgH="419134" progId="Equation.3">
                  <p:embed/>
                  <p:pic>
                    <p:nvPicPr>
                      <p:cNvPr id="95236" name="Object 4">
                        <a:extLst>
                          <a:ext uri="{FF2B5EF4-FFF2-40B4-BE49-F238E27FC236}">
                            <a16:creationId xmlns:a16="http://schemas.microsoft.com/office/drawing/2014/main" id="{C6B4C88E-6E88-474B-B1C9-9AB2D4EBB8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8" y="1350963"/>
                        <a:ext cx="4176712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7" name="Rectangle 5">
            <a:extLst>
              <a:ext uri="{FF2B5EF4-FFF2-40B4-BE49-F238E27FC236}">
                <a16:creationId xmlns:a16="http://schemas.microsoft.com/office/drawing/2014/main" id="{109BE559-EDCC-4E8D-B44B-786E373BF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1571625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轨迹一般为椭圆</a:t>
            </a:r>
          </a:p>
        </p:txBody>
      </p:sp>
      <p:grpSp>
        <p:nvGrpSpPr>
          <p:cNvPr id="2" name="组合 45">
            <a:extLst>
              <a:ext uri="{FF2B5EF4-FFF2-40B4-BE49-F238E27FC236}">
                <a16:creationId xmlns:a16="http://schemas.microsoft.com/office/drawing/2014/main" id="{C4989C40-AA4B-461C-8221-87A0DB1CB95D}"/>
              </a:ext>
            </a:extLst>
          </p:cNvPr>
          <p:cNvGrpSpPr>
            <a:grpSpLocks/>
          </p:cNvGrpSpPr>
          <p:nvPr/>
        </p:nvGrpSpPr>
        <p:grpSpPr bwMode="auto">
          <a:xfrm>
            <a:off x="500063" y="2428875"/>
            <a:ext cx="3000375" cy="500063"/>
            <a:chOff x="500034" y="2428875"/>
            <a:chExt cx="3000396" cy="500059"/>
          </a:xfrm>
        </p:grpSpPr>
        <p:sp>
          <p:nvSpPr>
            <p:cNvPr id="32807" name="Text Box 8">
              <a:extLst>
                <a:ext uri="{FF2B5EF4-FFF2-40B4-BE49-F238E27FC236}">
                  <a16:creationId xmlns:a16="http://schemas.microsoft.com/office/drawing/2014/main" id="{96B95EAB-9A28-43B2-91C5-46A8B5C232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034" y="2428875"/>
              <a:ext cx="30003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chemeClr val="hlink"/>
                  </a:solidFill>
                </a:rPr>
                <a:t>1. </a:t>
              </a:r>
              <a:r>
                <a:rPr kumimoji="0" lang="zh-CN" altLang="en-US">
                  <a:solidFill>
                    <a:schemeClr val="hlink"/>
                  </a:solidFill>
                </a:rPr>
                <a:t>当                 时</a:t>
              </a:r>
            </a:p>
          </p:txBody>
        </p:sp>
        <p:graphicFrame>
          <p:nvGraphicFramePr>
            <p:cNvPr id="32808" name="Object 5">
              <a:extLst>
                <a:ext uri="{FF2B5EF4-FFF2-40B4-BE49-F238E27FC236}">
                  <a16:creationId xmlns:a16="http://schemas.microsoft.com/office/drawing/2014/main" id="{A003E3D6-35B3-4DC7-A04C-D6700A186A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85852" y="2497134"/>
            <a:ext cx="1112837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374" name="Equation" r:id="rId9" imgW="485641" imgH="161959" progId="Equation.3">
                    <p:embed/>
                  </p:oleObj>
                </mc:Choice>
                <mc:Fallback>
                  <p:oleObj name="Equation" r:id="rId9" imgW="485641" imgH="161959" progId="Equation.3">
                    <p:embed/>
                    <p:pic>
                      <p:nvPicPr>
                        <p:cNvPr id="32808" name="Object 5">
                          <a:extLst>
                            <a:ext uri="{FF2B5EF4-FFF2-40B4-BE49-F238E27FC236}">
                              <a16:creationId xmlns:a16="http://schemas.microsoft.com/office/drawing/2014/main" id="{A003E3D6-35B3-4DC7-A04C-D6700A186A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5852" y="2497134"/>
                          <a:ext cx="1112837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5239" name="Object 6">
            <a:extLst>
              <a:ext uri="{FF2B5EF4-FFF2-40B4-BE49-F238E27FC236}">
                <a16:creationId xmlns:a16="http://schemas.microsoft.com/office/drawing/2014/main" id="{934BD5DF-4ADB-4BF1-A4FA-C641DF62F7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5975" y="2992438"/>
          <a:ext cx="16287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75" name="公式" r:id="rId11" imgW="714394" imgH="390661" progId="Equation.3">
                  <p:embed/>
                </p:oleObj>
              </mc:Choice>
              <mc:Fallback>
                <p:oleObj name="公式" r:id="rId11" imgW="714394" imgH="390661" progId="Equation.3">
                  <p:embed/>
                  <p:pic>
                    <p:nvPicPr>
                      <p:cNvPr id="95239" name="Object 6">
                        <a:extLst>
                          <a:ext uri="{FF2B5EF4-FFF2-40B4-BE49-F238E27FC236}">
                            <a16:creationId xmlns:a16="http://schemas.microsoft.com/office/drawing/2014/main" id="{934BD5DF-4ADB-4BF1-A4FA-C641DF62F7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2992438"/>
                        <a:ext cx="16287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3" name="Text Box 11">
            <a:extLst>
              <a:ext uri="{FF2B5EF4-FFF2-40B4-BE49-F238E27FC236}">
                <a16:creationId xmlns:a16="http://schemas.microsoft.com/office/drawing/2014/main" id="{C745430C-6F5F-4C94-9A03-CD6182649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38" y="4043363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为一，三象限的线偏振光</a:t>
            </a:r>
          </a:p>
        </p:txBody>
      </p:sp>
      <p:grpSp>
        <p:nvGrpSpPr>
          <p:cNvPr id="3" name="组合 46">
            <a:extLst>
              <a:ext uri="{FF2B5EF4-FFF2-40B4-BE49-F238E27FC236}">
                <a16:creationId xmlns:a16="http://schemas.microsoft.com/office/drawing/2014/main" id="{F2342470-3BBE-4CC2-B623-B0861BC063AD}"/>
              </a:ext>
            </a:extLst>
          </p:cNvPr>
          <p:cNvGrpSpPr>
            <a:grpSpLocks/>
          </p:cNvGrpSpPr>
          <p:nvPr/>
        </p:nvGrpSpPr>
        <p:grpSpPr bwMode="auto">
          <a:xfrm>
            <a:off x="500063" y="4619625"/>
            <a:ext cx="2762250" cy="461963"/>
            <a:chOff x="381000" y="4619625"/>
            <a:chExt cx="2762240" cy="461665"/>
          </a:xfrm>
        </p:grpSpPr>
        <p:sp>
          <p:nvSpPr>
            <p:cNvPr id="32805" name="Rectangle 12">
              <a:extLst>
                <a:ext uri="{FF2B5EF4-FFF2-40B4-BE49-F238E27FC236}">
                  <a16:creationId xmlns:a16="http://schemas.microsoft.com/office/drawing/2014/main" id="{405FD21A-80FB-4E3C-B972-F1F859B7F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4619625"/>
              <a:ext cx="27622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chemeClr val="hlink"/>
                  </a:solidFill>
                </a:rPr>
                <a:t>2. </a:t>
              </a:r>
              <a:r>
                <a:rPr kumimoji="0" lang="zh-CN" altLang="en-US">
                  <a:solidFill>
                    <a:schemeClr val="hlink"/>
                  </a:solidFill>
                </a:rPr>
                <a:t>当                时</a:t>
              </a:r>
            </a:p>
          </p:txBody>
        </p:sp>
        <p:graphicFrame>
          <p:nvGraphicFramePr>
            <p:cNvPr id="32806" name="Object 8">
              <a:extLst>
                <a:ext uri="{FF2B5EF4-FFF2-40B4-BE49-F238E27FC236}">
                  <a16:creationId xmlns:a16="http://schemas.microsoft.com/office/drawing/2014/main" id="{FF833778-D28B-4510-8625-CC075B6BE8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95380" y="4643446"/>
            <a:ext cx="1166813" cy="43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376" name="Equation" r:id="rId13" imgW="504908" imgH="161959" progId="Equation.3">
                    <p:embed/>
                  </p:oleObj>
                </mc:Choice>
                <mc:Fallback>
                  <p:oleObj name="Equation" r:id="rId13" imgW="504908" imgH="161959" progId="Equation.3">
                    <p:embed/>
                    <p:pic>
                      <p:nvPicPr>
                        <p:cNvPr id="32806" name="Object 8">
                          <a:extLst>
                            <a:ext uri="{FF2B5EF4-FFF2-40B4-BE49-F238E27FC236}">
                              <a16:creationId xmlns:a16="http://schemas.microsoft.com/office/drawing/2014/main" id="{FF833778-D28B-4510-8625-CC075B6BE8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5380" y="4643446"/>
                          <a:ext cx="1166813" cy="433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5246" name="Object 9">
            <a:extLst>
              <a:ext uri="{FF2B5EF4-FFF2-40B4-BE49-F238E27FC236}">
                <a16:creationId xmlns:a16="http://schemas.microsoft.com/office/drawing/2014/main" id="{207E9F28-14F2-46CF-8FB6-5A6D35CD6E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8988" y="5143500"/>
          <a:ext cx="16557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77" name="公式" r:id="rId15" imgW="723875" imgH="390661" progId="Equation.3">
                  <p:embed/>
                </p:oleObj>
              </mc:Choice>
              <mc:Fallback>
                <p:oleObj name="公式" r:id="rId15" imgW="723875" imgH="390661" progId="Equation.3">
                  <p:embed/>
                  <p:pic>
                    <p:nvPicPr>
                      <p:cNvPr id="95246" name="Object 9">
                        <a:extLst>
                          <a:ext uri="{FF2B5EF4-FFF2-40B4-BE49-F238E27FC236}">
                            <a16:creationId xmlns:a16="http://schemas.microsoft.com/office/drawing/2014/main" id="{207E9F28-14F2-46CF-8FB6-5A6D35CD6E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8988" y="5143500"/>
                        <a:ext cx="16557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9" name="Rectangle 17">
            <a:extLst>
              <a:ext uri="{FF2B5EF4-FFF2-40B4-BE49-F238E27FC236}">
                <a16:creationId xmlns:a16="http://schemas.microsoft.com/office/drawing/2014/main" id="{E0B997D3-27E2-488E-93D9-99CF5F1DE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6143625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为二，四象限的线偏振光</a:t>
            </a:r>
          </a:p>
        </p:txBody>
      </p:sp>
      <p:sp>
        <p:nvSpPr>
          <p:cNvPr id="95250" name="Line 18">
            <a:extLst>
              <a:ext uri="{FF2B5EF4-FFF2-40B4-BE49-F238E27FC236}">
                <a16:creationId xmlns:a16="http://schemas.microsoft.com/office/drawing/2014/main" id="{023346A2-6E50-44CA-90FC-8D3B0EDF04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319338"/>
            <a:ext cx="0" cy="1981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51" name="Line 19">
            <a:extLst>
              <a:ext uri="{FF2B5EF4-FFF2-40B4-BE49-F238E27FC236}">
                <a16:creationId xmlns:a16="http://schemas.microsoft.com/office/drawing/2014/main" id="{BF0DEBC1-EBA8-4900-88B2-9DBB033E79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233738"/>
            <a:ext cx="3276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5252" name="Object 11">
            <a:extLst>
              <a:ext uri="{FF2B5EF4-FFF2-40B4-BE49-F238E27FC236}">
                <a16:creationId xmlns:a16="http://schemas.microsoft.com/office/drawing/2014/main" id="{DBE8B626-75AF-4B79-86CD-86AAE821FE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7350" y="3233738"/>
          <a:ext cx="33496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78" name="Equation" r:id="rId17" imgW="85629" imgH="114198" progId="Equation.3">
                  <p:embed/>
                </p:oleObj>
              </mc:Choice>
              <mc:Fallback>
                <p:oleObj name="Equation" r:id="rId17" imgW="85629" imgH="114198" progId="Equation.3">
                  <p:embed/>
                  <p:pic>
                    <p:nvPicPr>
                      <p:cNvPr id="95252" name="Object 11">
                        <a:extLst>
                          <a:ext uri="{FF2B5EF4-FFF2-40B4-BE49-F238E27FC236}">
                            <a16:creationId xmlns:a16="http://schemas.microsoft.com/office/drawing/2014/main" id="{DBE8B626-75AF-4B79-86CD-86AAE821FE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7350" y="3233738"/>
                        <a:ext cx="334963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53" name="Line 21">
            <a:extLst>
              <a:ext uri="{FF2B5EF4-FFF2-40B4-BE49-F238E27FC236}">
                <a16:creationId xmlns:a16="http://schemas.microsoft.com/office/drawing/2014/main" id="{1AEE1CC4-4A44-4FF8-BA96-185BCEBA99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2438400"/>
            <a:ext cx="1600200" cy="1557338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54" name="Line 22">
            <a:extLst>
              <a:ext uri="{FF2B5EF4-FFF2-40B4-BE49-F238E27FC236}">
                <a16:creationId xmlns:a16="http://schemas.microsoft.com/office/drawing/2014/main" id="{E275E209-5B0B-4DF9-AFC7-EEB0FE546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233738"/>
            <a:ext cx="0" cy="728662"/>
          </a:xfrm>
          <a:prstGeom prst="line">
            <a:avLst/>
          </a:prstGeom>
          <a:noFill/>
          <a:ln w="19050">
            <a:solidFill>
              <a:srgbClr val="99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55" name="Line 23">
            <a:extLst>
              <a:ext uri="{FF2B5EF4-FFF2-40B4-BE49-F238E27FC236}">
                <a16:creationId xmlns:a16="http://schemas.microsoft.com/office/drawing/2014/main" id="{0E45AB53-6523-49E6-96AB-1A7D72B58F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3962400"/>
            <a:ext cx="533400" cy="0"/>
          </a:xfrm>
          <a:prstGeom prst="line">
            <a:avLst/>
          </a:prstGeom>
          <a:noFill/>
          <a:ln w="19050">
            <a:solidFill>
              <a:srgbClr val="99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5256" name="Object 12">
            <a:extLst>
              <a:ext uri="{FF2B5EF4-FFF2-40B4-BE49-F238E27FC236}">
                <a16:creationId xmlns:a16="http://schemas.microsoft.com/office/drawing/2014/main" id="{38742EC3-8743-4FC1-AF4B-6D917AE03C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80425" y="2852738"/>
          <a:ext cx="306388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79" name="Equation" r:id="rId19" imgW="85629" imgH="85725" progId="Equation.3">
                  <p:embed/>
                </p:oleObj>
              </mc:Choice>
              <mc:Fallback>
                <p:oleObj name="Equation" r:id="rId19" imgW="85629" imgH="85725" progId="Equation.3">
                  <p:embed/>
                  <p:pic>
                    <p:nvPicPr>
                      <p:cNvPr id="95256" name="Object 12">
                        <a:extLst>
                          <a:ext uri="{FF2B5EF4-FFF2-40B4-BE49-F238E27FC236}">
                            <a16:creationId xmlns:a16="http://schemas.microsoft.com/office/drawing/2014/main" id="{38742EC3-8743-4FC1-AF4B-6D917AE03C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0425" y="2852738"/>
                        <a:ext cx="306388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57" name="Object 13">
            <a:extLst>
              <a:ext uri="{FF2B5EF4-FFF2-40B4-BE49-F238E27FC236}">
                <a16:creationId xmlns:a16="http://schemas.microsoft.com/office/drawing/2014/main" id="{7CCAFF3F-1199-4F86-8B32-5BD08F78F7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6563" y="2214563"/>
          <a:ext cx="33813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80" name="公式" r:id="rId21" imgW="104896" imgH="123689" progId="Equation.3">
                  <p:embed/>
                </p:oleObj>
              </mc:Choice>
              <mc:Fallback>
                <p:oleObj name="公式" r:id="rId21" imgW="104896" imgH="123689" progId="Equation.3">
                  <p:embed/>
                  <p:pic>
                    <p:nvPicPr>
                      <p:cNvPr id="95257" name="Object 13">
                        <a:extLst>
                          <a:ext uri="{FF2B5EF4-FFF2-40B4-BE49-F238E27FC236}">
                            <a16:creationId xmlns:a16="http://schemas.microsoft.com/office/drawing/2014/main" id="{7CCAFF3F-1199-4F86-8B32-5BD08F78F7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2214563"/>
                        <a:ext cx="33813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58" name="Object 14">
            <a:extLst>
              <a:ext uri="{FF2B5EF4-FFF2-40B4-BE49-F238E27FC236}">
                <a16:creationId xmlns:a16="http://schemas.microsoft.com/office/drawing/2014/main" id="{63489F28-B0B1-43D3-AFC4-93D0744AC7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2547938"/>
          <a:ext cx="4889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81" name="Equation" r:id="rId23" imgW="161778" imgH="199923" progId="Equation.3">
                  <p:embed/>
                </p:oleObj>
              </mc:Choice>
              <mc:Fallback>
                <p:oleObj name="Equation" r:id="rId23" imgW="161778" imgH="199923" progId="Equation.3">
                  <p:embed/>
                  <p:pic>
                    <p:nvPicPr>
                      <p:cNvPr id="95258" name="Object 14">
                        <a:extLst>
                          <a:ext uri="{FF2B5EF4-FFF2-40B4-BE49-F238E27FC236}">
                            <a16:creationId xmlns:a16="http://schemas.microsoft.com/office/drawing/2014/main" id="{63489F28-B0B1-43D3-AFC4-93D0744AC7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547938"/>
                        <a:ext cx="4889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59" name="Object 15">
            <a:extLst>
              <a:ext uri="{FF2B5EF4-FFF2-40B4-BE49-F238E27FC236}">
                <a16:creationId xmlns:a16="http://schemas.microsoft.com/office/drawing/2014/main" id="{04EC3D6A-0D9D-49BE-BBF2-C9E7ABA306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3690938"/>
          <a:ext cx="51911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82" name="公式" r:id="rId25" imgW="181045" imgH="199923" progId="Equation.3">
                  <p:embed/>
                </p:oleObj>
              </mc:Choice>
              <mc:Fallback>
                <p:oleObj name="公式" r:id="rId25" imgW="181045" imgH="199923" progId="Equation.3">
                  <p:embed/>
                  <p:pic>
                    <p:nvPicPr>
                      <p:cNvPr id="95259" name="Object 15">
                        <a:extLst>
                          <a:ext uri="{FF2B5EF4-FFF2-40B4-BE49-F238E27FC236}">
                            <a16:creationId xmlns:a16="http://schemas.microsoft.com/office/drawing/2014/main" id="{04EC3D6A-0D9D-49BE-BBF2-C9E7ABA306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690938"/>
                        <a:ext cx="519113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62" name="AutoShape 30">
            <a:extLst>
              <a:ext uri="{FF2B5EF4-FFF2-40B4-BE49-F238E27FC236}">
                <a16:creationId xmlns:a16="http://schemas.microsoft.com/office/drawing/2014/main" id="{306C726A-49D0-4657-A346-DCDD8C53C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4000500"/>
            <a:ext cx="762000" cy="533400"/>
          </a:xfrm>
          <a:prstGeom prst="rightArrow">
            <a:avLst>
              <a:gd name="adj1" fmla="val 50000"/>
              <a:gd name="adj2" fmla="val 35714"/>
            </a:avLst>
          </a:prstGeom>
          <a:noFill/>
          <a:ln w="222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95264" name="AutoShape 32">
            <a:extLst>
              <a:ext uri="{FF2B5EF4-FFF2-40B4-BE49-F238E27FC236}">
                <a16:creationId xmlns:a16="http://schemas.microsoft.com/office/drawing/2014/main" id="{EA5043E1-8071-45CE-A2E0-61CC4E1C1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6143625"/>
            <a:ext cx="762000" cy="533400"/>
          </a:xfrm>
          <a:prstGeom prst="rightArrow">
            <a:avLst>
              <a:gd name="adj1" fmla="val 50000"/>
              <a:gd name="adj2" fmla="val 35714"/>
            </a:avLst>
          </a:prstGeom>
          <a:noFill/>
          <a:ln w="222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95265" name="Line 33">
            <a:extLst>
              <a:ext uri="{FF2B5EF4-FFF2-40B4-BE49-F238E27FC236}">
                <a16:creationId xmlns:a16="http://schemas.microsoft.com/office/drawing/2014/main" id="{BDE0870D-3841-4F1A-BABF-9E7C7E4B93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605338"/>
            <a:ext cx="0" cy="1981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6" name="Line 34">
            <a:extLst>
              <a:ext uri="{FF2B5EF4-FFF2-40B4-BE49-F238E27FC236}">
                <a16:creationId xmlns:a16="http://schemas.microsoft.com/office/drawing/2014/main" id="{AC98B921-1A75-4551-9DD7-B39ABB30B7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595938"/>
            <a:ext cx="3276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5267" name="Object 17">
            <a:extLst>
              <a:ext uri="{FF2B5EF4-FFF2-40B4-BE49-F238E27FC236}">
                <a16:creationId xmlns:a16="http://schemas.microsoft.com/office/drawing/2014/main" id="{DFD6F89F-72B9-4EA2-BC27-165BD8DCD2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5062538"/>
          <a:ext cx="33496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83" name="Equation" r:id="rId27" imgW="85629" imgH="114198" progId="Equation.3">
                  <p:embed/>
                </p:oleObj>
              </mc:Choice>
              <mc:Fallback>
                <p:oleObj name="Equation" r:id="rId27" imgW="85629" imgH="114198" progId="Equation.3">
                  <p:embed/>
                  <p:pic>
                    <p:nvPicPr>
                      <p:cNvPr id="95267" name="Object 17">
                        <a:extLst>
                          <a:ext uri="{FF2B5EF4-FFF2-40B4-BE49-F238E27FC236}">
                            <a16:creationId xmlns:a16="http://schemas.microsoft.com/office/drawing/2014/main" id="{DFD6F89F-72B9-4EA2-BC27-165BD8DCD2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062538"/>
                        <a:ext cx="334963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68" name="Line 36">
            <a:extLst>
              <a:ext uri="{FF2B5EF4-FFF2-40B4-BE49-F238E27FC236}">
                <a16:creationId xmlns:a16="http://schemas.microsoft.com/office/drawing/2014/main" id="{0871D47F-F032-4EA0-B180-C9AC3606E2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910138"/>
            <a:ext cx="0" cy="685800"/>
          </a:xfrm>
          <a:prstGeom prst="line">
            <a:avLst/>
          </a:prstGeom>
          <a:noFill/>
          <a:ln w="19050">
            <a:solidFill>
              <a:srgbClr val="99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69" name="Line 37">
            <a:extLst>
              <a:ext uri="{FF2B5EF4-FFF2-40B4-BE49-F238E27FC236}">
                <a16:creationId xmlns:a16="http://schemas.microsoft.com/office/drawing/2014/main" id="{681DE64E-7A75-4910-A452-B7BC31E6AA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5600" y="6434138"/>
            <a:ext cx="838200" cy="0"/>
          </a:xfrm>
          <a:prstGeom prst="line">
            <a:avLst/>
          </a:prstGeom>
          <a:noFill/>
          <a:ln w="19050">
            <a:solidFill>
              <a:srgbClr val="99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5270" name="Object 18">
            <a:extLst>
              <a:ext uri="{FF2B5EF4-FFF2-40B4-BE49-F238E27FC236}">
                <a16:creationId xmlns:a16="http://schemas.microsoft.com/office/drawing/2014/main" id="{CC8D9445-781F-40A8-B1D4-D99D4A645E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5214938"/>
          <a:ext cx="306388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84" name="Equation" r:id="rId29" imgW="85629" imgH="85725" progId="Equation.3">
                  <p:embed/>
                </p:oleObj>
              </mc:Choice>
              <mc:Fallback>
                <p:oleObj name="Equation" r:id="rId29" imgW="85629" imgH="85725" progId="Equation.3">
                  <p:embed/>
                  <p:pic>
                    <p:nvPicPr>
                      <p:cNvPr id="95270" name="Object 18">
                        <a:extLst>
                          <a:ext uri="{FF2B5EF4-FFF2-40B4-BE49-F238E27FC236}">
                            <a16:creationId xmlns:a16="http://schemas.microsoft.com/office/drawing/2014/main" id="{CC8D9445-781F-40A8-B1D4-D99D4A645E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5214938"/>
                        <a:ext cx="306388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71" name="Object 19">
            <a:extLst>
              <a:ext uri="{FF2B5EF4-FFF2-40B4-BE49-F238E27FC236}">
                <a16:creationId xmlns:a16="http://schemas.microsoft.com/office/drawing/2014/main" id="{6DCE8DBA-74C3-44E9-B3F9-41B3ED84DD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0863" y="4419600"/>
          <a:ext cx="33813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85" name="Equation" r:id="rId31" imgW="104896" imgH="123689" progId="Equation.3">
                  <p:embed/>
                </p:oleObj>
              </mc:Choice>
              <mc:Fallback>
                <p:oleObj name="Equation" r:id="rId31" imgW="104896" imgH="123689" progId="Equation.3">
                  <p:embed/>
                  <p:pic>
                    <p:nvPicPr>
                      <p:cNvPr id="95271" name="Object 19">
                        <a:extLst>
                          <a:ext uri="{FF2B5EF4-FFF2-40B4-BE49-F238E27FC236}">
                            <a16:creationId xmlns:a16="http://schemas.microsoft.com/office/drawing/2014/main" id="{6DCE8DBA-74C3-44E9-B3F9-41B3ED84DD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0863" y="4419600"/>
                        <a:ext cx="33813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72" name="Object 20">
            <a:extLst>
              <a:ext uri="{FF2B5EF4-FFF2-40B4-BE49-F238E27FC236}">
                <a16:creationId xmlns:a16="http://schemas.microsoft.com/office/drawing/2014/main" id="{B7E96C29-7BD2-45B1-9B0B-EB9E46218E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5595938"/>
          <a:ext cx="4889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86" name="Equation" r:id="rId33" imgW="161778" imgH="199923" progId="Equation.3">
                  <p:embed/>
                </p:oleObj>
              </mc:Choice>
              <mc:Fallback>
                <p:oleObj name="Equation" r:id="rId33" imgW="161778" imgH="199923" progId="Equation.3">
                  <p:embed/>
                  <p:pic>
                    <p:nvPicPr>
                      <p:cNvPr id="95272" name="Object 20">
                        <a:extLst>
                          <a:ext uri="{FF2B5EF4-FFF2-40B4-BE49-F238E27FC236}">
                            <a16:creationId xmlns:a16="http://schemas.microsoft.com/office/drawing/2014/main" id="{B7E96C29-7BD2-45B1-9B0B-EB9E46218E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5595938"/>
                        <a:ext cx="4889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73" name="Object 21">
            <a:extLst>
              <a:ext uri="{FF2B5EF4-FFF2-40B4-BE49-F238E27FC236}">
                <a16:creationId xmlns:a16="http://schemas.microsoft.com/office/drawing/2014/main" id="{FEDB10F3-1CAA-4DCF-BFF8-95C03C49D5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0" y="6019800"/>
          <a:ext cx="51911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87" name="Equation" r:id="rId35" imgW="181045" imgH="199923" progId="Equation.3">
                  <p:embed/>
                </p:oleObj>
              </mc:Choice>
              <mc:Fallback>
                <p:oleObj name="Equation" r:id="rId35" imgW="181045" imgH="199923" progId="Equation.3">
                  <p:embed/>
                  <p:pic>
                    <p:nvPicPr>
                      <p:cNvPr id="95273" name="Object 21">
                        <a:extLst>
                          <a:ext uri="{FF2B5EF4-FFF2-40B4-BE49-F238E27FC236}">
                            <a16:creationId xmlns:a16="http://schemas.microsoft.com/office/drawing/2014/main" id="{FEDB10F3-1CAA-4DCF-BFF8-95C03C49D5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6019800"/>
                        <a:ext cx="519113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75" name="Line 43">
            <a:extLst>
              <a:ext uri="{FF2B5EF4-FFF2-40B4-BE49-F238E27FC236}">
                <a16:creationId xmlns:a16="http://schemas.microsoft.com/office/drawing/2014/main" id="{C5AD25A2-6F5F-4687-A76B-32CCCFF3E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757738"/>
            <a:ext cx="1676400" cy="16764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76" name="Rectangle 44">
            <a:extLst>
              <a:ext uri="{FF2B5EF4-FFF2-40B4-BE49-F238E27FC236}">
                <a16:creationId xmlns:a16="http://schemas.microsoft.com/office/drawing/2014/main" id="{19E492DB-7A84-4B8B-A0F7-95F67E989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57175"/>
            <a:ext cx="510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四</a:t>
            </a:r>
            <a:r>
              <a:rPr kumimoji="0" lang="en-US" altLang="zh-CN">
                <a:solidFill>
                  <a:srgbClr val="FFFF00"/>
                </a:solidFill>
              </a:rPr>
              <a:t>.   </a:t>
            </a:r>
            <a:r>
              <a:rPr kumimoji="0" lang="zh-CN" altLang="en-US">
                <a:solidFill>
                  <a:srgbClr val="FFFF00"/>
                </a:solidFill>
              </a:rPr>
              <a:t>圆偏振光  椭圆偏振光</a:t>
            </a:r>
          </a:p>
        </p:txBody>
      </p:sp>
      <p:sp>
        <p:nvSpPr>
          <p:cNvPr id="95277" name="Rectangle 45">
            <a:extLst>
              <a:ext uri="{FF2B5EF4-FFF2-40B4-BE49-F238E27FC236}">
                <a16:creationId xmlns:a16="http://schemas.microsoft.com/office/drawing/2014/main" id="{B141363D-1296-4EEA-B43E-E33B82094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785813"/>
            <a:ext cx="6357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两相互垂直、同频、相差恒定的线偏振光</a:t>
            </a:r>
          </a:p>
        </p:txBody>
      </p:sp>
      <p:sp>
        <p:nvSpPr>
          <p:cNvPr id="32804" name="灯片编号占位符 1">
            <a:extLst>
              <a:ext uri="{FF2B5EF4-FFF2-40B4-BE49-F238E27FC236}">
                <a16:creationId xmlns:a16="http://schemas.microsoft.com/office/drawing/2014/main" id="{1F78FA33-8850-4F57-8938-D4DD8297C8C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08E596-09BF-47A9-A7DC-54A0F335F706}" type="slidenum">
              <a:rPr lang="en-US" altLang="zh-CN" b="0">
                <a:solidFill>
                  <a:srgbClr val="FF00FF"/>
                </a:solidFill>
              </a:rPr>
              <a:pPr eaLnBrk="1" hangingPunct="1"/>
              <a:t>21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9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9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9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9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9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5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9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9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9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9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9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9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9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9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9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9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9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7" grpId="0" autoUpdateAnimBg="0"/>
      <p:bldP spid="95243" grpId="0" autoUpdateAnimBg="0"/>
      <p:bldP spid="95249" grpId="0" autoUpdateAnimBg="0"/>
      <p:bldP spid="95262" grpId="0" animBg="1"/>
      <p:bldP spid="95264" grpId="0" animBg="1"/>
      <p:bldP spid="95276" grpId="0" autoUpdateAnimBg="0"/>
      <p:bldP spid="9527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1B1F2A85-6342-4F5F-9D73-CD86778BC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063" y="1524000"/>
            <a:ext cx="3048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>
                <a:solidFill>
                  <a:srgbClr val="00CC99"/>
                </a:solidFill>
              </a:rPr>
              <a:t>右旋正椭圆偏振光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7D92A6A5-561E-4449-9670-5437D0D74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175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</a:rPr>
              <a:t>3. </a:t>
            </a:r>
            <a:r>
              <a:rPr kumimoji="0" lang="zh-CN" altLang="en-US">
                <a:solidFill>
                  <a:schemeClr val="hlink"/>
                </a:solidFill>
              </a:rPr>
              <a:t>当</a:t>
            </a:r>
            <a:endParaRPr kumimoji="0" lang="zh-CN" altLang="en-US">
              <a:solidFill>
                <a:srgbClr val="66FFFF"/>
              </a:solidFill>
            </a:endParaRPr>
          </a:p>
        </p:txBody>
      </p:sp>
      <p:graphicFrame>
        <p:nvGraphicFramePr>
          <p:cNvPr id="96260" name="Object 2">
            <a:extLst>
              <a:ext uri="{FF2B5EF4-FFF2-40B4-BE49-F238E27FC236}">
                <a16:creationId xmlns:a16="http://schemas.microsoft.com/office/drawing/2014/main" id="{8D2D48F8-30A5-4057-A3B1-8034856F9E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285750"/>
          <a:ext cx="155416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2" name="Equation" r:id="rId3" imgW="609498" imgH="180941" progId="Equation.3">
                  <p:embed/>
                </p:oleObj>
              </mc:Choice>
              <mc:Fallback>
                <p:oleObj name="Equation" r:id="rId3" imgW="609498" imgH="180941" progId="Equation.3">
                  <p:embed/>
                  <p:pic>
                    <p:nvPicPr>
                      <p:cNvPr id="96260" name="Object 2">
                        <a:extLst>
                          <a:ext uri="{FF2B5EF4-FFF2-40B4-BE49-F238E27FC236}">
                            <a16:creationId xmlns:a16="http://schemas.microsoft.com/office/drawing/2014/main" id="{8D2D48F8-30A5-4057-A3B1-8034856F9E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285750"/>
                        <a:ext cx="1554162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50">
            <a:extLst>
              <a:ext uri="{FF2B5EF4-FFF2-40B4-BE49-F238E27FC236}">
                <a16:creationId xmlns:a16="http://schemas.microsoft.com/office/drawing/2014/main" id="{64C5737A-B06E-40FA-9D91-5C5F658DD6AF}"/>
              </a:ext>
            </a:extLst>
          </p:cNvPr>
          <p:cNvGrpSpPr>
            <a:grpSpLocks/>
          </p:cNvGrpSpPr>
          <p:nvPr/>
        </p:nvGrpSpPr>
        <p:grpSpPr bwMode="auto">
          <a:xfrm>
            <a:off x="898525" y="857250"/>
            <a:ext cx="2316163" cy="528638"/>
            <a:chOff x="571472" y="928670"/>
            <a:chExt cx="2316174" cy="528638"/>
          </a:xfrm>
        </p:grpSpPr>
        <p:graphicFrame>
          <p:nvGraphicFramePr>
            <p:cNvPr id="33840" name="Object 3">
              <a:extLst>
                <a:ext uri="{FF2B5EF4-FFF2-40B4-BE49-F238E27FC236}">
                  <a16:creationId xmlns:a16="http://schemas.microsoft.com/office/drawing/2014/main" id="{93624523-BF2E-4417-9EB2-B32F6BFC01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1472" y="1063611"/>
            <a:ext cx="366712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63" name="Equation" r:id="rId5" imgW="114376" imgH="114198" progId="Equation.3">
                    <p:embed/>
                  </p:oleObj>
                </mc:Choice>
                <mc:Fallback>
                  <p:oleObj name="Equation" r:id="rId5" imgW="114376" imgH="114198" progId="Equation.3">
                    <p:embed/>
                    <p:pic>
                      <p:nvPicPr>
                        <p:cNvPr id="33840" name="Object 3">
                          <a:extLst>
                            <a:ext uri="{FF2B5EF4-FFF2-40B4-BE49-F238E27FC236}">
                              <a16:creationId xmlns:a16="http://schemas.microsoft.com/office/drawing/2014/main" id="{93624523-BF2E-4417-9EB2-B32F6BFC01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472" y="1063611"/>
                          <a:ext cx="366712" cy="365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41" name="Rectangle 6">
              <a:extLst>
                <a:ext uri="{FF2B5EF4-FFF2-40B4-BE49-F238E27FC236}">
                  <a16:creationId xmlns:a16="http://schemas.microsoft.com/office/drawing/2014/main" id="{03CD977F-1B15-4050-ADB6-CAEB94DA0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24" y="1000108"/>
              <a:ext cx="17145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hlink"/>
                  </a:solidFill>
                </a:rPr>
                <a:t>比    滞后   </a:t>
              </a:r>
              <a:r>
                <a:rPr kumimoji="0" lang="zh-CN" altLang="en-US">
                  <a:solidFill>
                    <a:srgbClr val="66FFFF"/>
                  </a:solidFill>
                </a:rPr>
                <a:t>   </a:t>
              </a:r>
            </a:p>
          </p:txBody>
        </p:sp>
        <p:graphicFrame>
          <p:nvGraphicFramePr>
            <p:cNvPr id="33842" name="Object 4">
              <a:extLst>
                <a:ext uri="{FF2B5EF4-FFF2-40B4-BE49-F238E27FC236}">
                  <a16:creationId xmlns:a16="http://schemas.microsoft.com/office/drawing/2014/main" id="{6A76F372-7954-422D-8D1A-F9CCFEF6AFA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4414" y="1006475"/>
            <a:ext cx="36671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64" name="Equation" r:id="rId7" imgW="114376" imgH="142977" progId="Equation.3">
                    <p:embed/>
                  </p:oleObj>
                </mc:Choice>
                <mc:Fallback>
                  <p:oleObj name="Equation" r:id="rId7" imgW="114376" imgH="142977" progId="Equation.3">
                    <p:embed/>
                    <p:pic>
                      <p:nvPicPr>
                        <p:cNvPr id="33842" name="Object 4">
                          <a:extLst>
                            <a:ext uri="{FF2B5EF4-FFF2-40B4-BE49-F238E27FC236}">
                              <a16:creationId xmlns:a16="http://schemas.microsoft.com/office/drawing/2014/main" id="{6A76F372-7954-422D-8D1A-F9CCFEF6AF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414" y="1006475"/>
                          <a:ext cx="366713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43" name="Object 5">
              <a:extLst>
                <a:ext uri="{FF2B5EF4-FFF2-40B4-BE49-F238E27FC236}">
                  <a16:creationId xmlns:a16="http://schemas.microsoft.com/office/drawing/2014/main" id="{199F951F-091F-479E-83BF-382AD19260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14546" y="928670"/>
            <a:ext cx="673100" cy="51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65" name="Equation" r:id="rId9" imgW="238233" imgH="180941" progId="Equation.3">
                    <p:embed/>
                  </p:oleObj>
                </mc:Choice>
                <mc:Fallback>
                  <p:oleObj name="Equation" r:id="rId9" imgW="238233" imgH="180941" progId="Equation.3">
                    <p:embed/>
                    <p:pic>
                      <p:nvPicPr>
                        <p:cNvPr id="33843" name="Object 5">
                          <a:extLst>
                            <a:ext uri="{FF2B5EF4-FFF2-40B4-BE49-F238E27FC236}">
                              <a16:creationId xmlns:a16="http://schemas.microsoft.com/office/drawing/2014/main" id="{199F951F-091F-479E-83BF-382AD19260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4546" y="928670"/>
                          <a:ext cx="673100" cy="512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6265" name="Rectangle 9">
            <a:extLst>
              <a:ext uri="{FF2B5EF4-FFF2-40B4-BE49-F238E27FC236}">
                <a16:creationId xmlns:a16="http://schemas.microsoft.com/office/drawing/2014/main" id="{E5815F5A-4245-45A0-AE01-33617EBFC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057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>
                <a:solidFill>
                  <a:schemeClr val="hlink"/>
                </a:solidFill>
              </a:rPr>
              <a:t>4. </a:t>
            </a:r>
            <a:r>
              <a:rPr kumimoji="0" lang="zh-CN" altLang="en-US">
                <a:solidFill>
                  <a:schemeClr val="hlink"/>
                </a:solidFill>
              </a:rPr>
              <a:t>当</a:t>
            </a:r>
          </a:p>
        </p:txBody>
      </p:sp>
      <p:graphicFrame>
        <p:nvGraphicFramePr>
          <p:cNvPr id="96266" name="Object 6">
            <a:extLst>
              <a:ext uri="{FF2B5EF4-FFF2-40B4-BE49-F238E27FC236}">
                <a16:creationId xmlns:a16="http://schemas.microsoft.com/office/drawing/2014/main" id="{1E765DAD-5E40-4B91-8EA5-02D690EB57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5875" y="2060575"/>
          <a:ext cx="18272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6" name="Equation" r:id="rId11" imgW="723875" imgH="180941" progId="Equation.3">
                  <p:embed/>
                </p:oleObj>
              </mc:Choice>
              <mc:Fallback>
                <p:oleObj name="Equation" r:id="rId11" imgW="723875" imgH="180941" progId="Equation.3">
                  <p:embed/>
                  <p:pic>
                    <p:nvPicPr>
                      <p:cNvPr id="96266" name="Object 6">
                        <a:extLst>
                          <a:ext uri="{FF2B5EF4-FFF2-40B4-BE49-F238E27FC236}">
                            <a16:creationId xmlns:a16="http://schemas.microsoft.com/office/drawing/2014/main" id="{1E765DAD-5E40-4B91-8EA5-02D690EB57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2060575"/>
                        <a:ext cx="1827213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7" name="Object 7">
            <a:extLst>
              <a:ext uri="{FF2B5EF4-FFF2-40B4-BE49-F238E27FC236}">
                <a16:creationId xmlns:a16="http://schemas.microsoft.com/office/drawing/2014/main" id="{155EE39C-A638-4348-A0DC-281E383F61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8925" y="1500188"/>
          <a:ext cx="16160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7" name="公式" r:id="rId13" imgW="733355" imgH="419134" progId="Equation.3">
                  <p:embed/>
                </p:oleObj>
              </mc:Choice>
              <mc:Fallback>
                <p:oleObj name="公式" r:id="rId13" imgW="733355" imgH="419134" progId="Equation.3">
                  <p:embed/>
                  <p:pic>
                    <p:nvPicPr>
                      <p:cNvPr id="96267" name="Object 7">
                        <a:extLst>
                          <a:ext uri="{FF2B5EF4-FFF2-40B4-BE49-F238E27FC236}">
                            <a16:creationId xmlns:a16="http://schemas.microsoft.com/office/drawing/2014/main" id="{155EE39C-A638-4348-A0DC-281E383F61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925" y="1500188"/>
                        <a:ext cx="16160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8" name="Line 12">
            <a:extLst>
              <a:ext uri="{FF2B5EF4-FFF2-40B4-BE49-F238E27FC236}">
                <a16:creationId xmlns:a16="http://schemas.microsoft.com/office/drawing/2014/main" id="{867AB138-2E1B-4FC9-890C-161E370BF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57175"/>
            <a:ext cx="0" cy="1981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69" name="Line 13">
            <a:extLst>
              <a:ext uri="{FF2B5EF4-FFF2-40B4-BE49-F238E27FC236}">
                <a16:creationId xmlns:a16="http://schemas.microsoft.com/office/drawing/2014/main" id="{6DF5DBAE-2246-4620-A657-DD9180812C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1247775"/>
            <a:ext cx="3276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6270" name="Object 8">
            <a:extLst>
              <a:ext uri="{FF2B5EF4-FFF2-40B4-BE49-F238E27FC236}">
                <a16:creationId xmlns:a16="http://schemas.microsoft.com/office/drawing/2014/main" id="{03E5217D-2EAB-49D6-ABAD-B8AE44F2E0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889000"/>
          <a:ext cx="334963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8" name="Equation" r:id="rId15" imgW="85629" imgH="114198" progId="Equation.3">
                  <p:embed/>
                </p:oleObj>
              </mc:Choice>
              <mc:Fallback>
                <p:oleObj name="Equation" r:id="rId15" imgW="85629" imgH="114198" progId="Equation.3">
                  <p:embed/>
                  <p:pic>
                    <p:nvPicPr>
                      <p:cNvPr id="96270" name="Object 8">
                        <a:extLst>
                          <a:ext uri="{FF2B5EF4-FFF2-40B4-BE49-F238E27FC236}">
                            <a16:creationId xmlns:a16="http://schemas.microsoft.com/office/drawing/2014/main" id="{03E5217D-2EAB-49D6-ABAD-B8AE44F2E0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889000"/>
                        <a:ext cx="334963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1" name="Object 9">
            <a:extLst>
              <a:ext uri="{FF2B5EF4-FFF2-40B4-BE49-F238E27FC236}">
                <a16:creationId xmlns:a16="http://schemas.microsoft.com/office/drawing/2014/main" id="{1F9E0630-5491-442A-AD3E-44A6BB6BEC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866775"/>
          <a:ext cx="306388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9" name="Equation" r:id="rId17" imgW="85629" imgH="85725" progId="Equation.3">
                  <p:embed/>
                </p:oleObj>
              </mc:Choice>
              <mc:Fallback>
                <p:oleObj name="Equation" r:id="rId17" imgW="85629" imgH="85725" progId="Equation.3">
                  <p:embed/>
                  <p:pic>
                    <p:nvPicPr>
                      <p:cNvPr id="96271" name="Object 9">
                        <a:extLst>
                          <a:ext uri="{FF2B5EF4-FFF2-40B4-BE49-F238E27FC236}">
                            <a16:creationId xmlns:a16="http://schemas.microsoft.com/office/drawing/2014/main" id="{1F9E0630-5491-442A-AD3E-44A6BB6BEC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866775"/>
                        <a:ext cx="306388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2" name="Object 10">
            <a:extLst>
              <a:ext uri="{FF2B5EF4-FFF2-40B4-BE49-F238E27FC236}">
                <a16:creationId xmlns:a16="http://schemas.microsoft.com/office/drawing/2014/main" id="{DD990F48-0FB3-4094-BA38-9827B85476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180975"/>
          <a:ext cx="33813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0" name="Equation" r:id="rId19" imgW="104896" imgH="123689" progId="Equation.3">
                  <p:embed/>
                </p:oleObj>
              </mc:Choice>
              <mc:Fallback>
                <p:oleObj name="Equation" r:id="rId19" imgW="104896" imgH="123689" progId="Equation.3">
                  <p:embed/>
                  <p:pic>
                    <p:nvPicPr>
                      <p:cNvPr id="96272" name="Object 10">
                        <a:extLst>
                          <a:ext uri="{FF2B5EF4-FFF2-40B4-BE49-F238E27FC236}">
                            <a16:creationId xmlns:a16="http://schemas.microsoft.com/office/drawing/2014/main" id="{DD990F48-0FB3-4094-BA38-9827B85476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80975"/>
                        <a:ext cx="33813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3" name="Object 11">
            <a:extLst>
              <a:ext uri="{FF2B5EF4-FFF2-40B4-BE49-F238E27FC236}">
                <a16:creationId xmlns:a16="http://schemas.microsoft.com/office/drawing/2014/main" id="{D465D5B8-7EBD-4B8D-BB3F-B23943A1A7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7813" y="638175"/>
          <a:ext cx="4889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1" name="Equation" r:id="rId21" imgW="161778" imgH="199923" progId="Equation.3">
                  <p:embed/>
                </p:oleObj>
              </mc:Choice>
              <mc:Fallback>
                <p:oleObj name="Equation" r:id="rId21" imgW="161778" imgH="199923" progId="Equation.3">
                  <p:embed/>
                  <p:pic>
                    <p:nvPicPr>
                      <p:cNvPr id="96273" name="Object 11">
                        <a:extLst>
                          <a:ext uri="{FF2B5EF4-FFF2-40B4-BE49-F238E27FC236}">
                            <a16:creationId xmlns:a16="http://schemas.microsoft.com/office/drawing/2014/main" id="{D465D5B8-7EBD-4B8D-BB3F-B23943A1A7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638175"/>
                        <a:ext cx="4889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4" name="Object 12">
            <a:extLst>
              <a:ext uri="{FF2B5EF4-FFF2-40B4-BE49-F238E27FC236}">
                <a16:creationId xmlns:a16="http://schemas.microsoft.com/office/drawing/2014/main" id="{4C6EC7B8-EB6B-48A1-B409-CE3483EB2B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1571625"/>
          <a:ext cx="51911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2" name="Equation" r:id="rId23" imgW="181045" imgH="199923" progId="Equation.3">
                  <p:embed/>
                </p:oleObj>
              </mc:Choice>
              <mc:Fallback>
                <p:oleObj name="Equation" r:id="rId23" imgW="181045" imgH="199923" progId="Equation.3">
                  <p:embed/>
                  <p:pic>
                    <p:nvPicPr>
                      <p:cNvPr id="96274" name="Object 12">
                        <a:extLst>
                          <a:ext uri="{FF2B5EF4-FFF2-40B4-BE49-F238E27FC236}">
                            <a16:creationId xmlns:a16="http://schemas.microsoft.com/office/drawing/2014/main" id="{4C6EC7B8-EB6B-48A1-B409-CE3483EB2B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571625"/>
                        <a:ext cx="519113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5" name="Oval 19">
            <a:extLst>
              <a:ext uri="{FF2B5EF4-FFF2-40B4-BE49-F238E27FC236}">
                <a16:creationId xmlns:a16="http://schemas.microsoft.com/office/drawing/2014/main" id="{FD0C1492-569D-4EE2-8E7F-A35FDACE4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882650"/>
            <a:ext cx="1828800" cy="762000"/>
          </a:xfrm>
          <a:prstGeom prst="ellipse">
            <a:avLst/>
          </a:prstGeom>
          <a:noFill/>
          <a:ln w="19050">
            <a:solidFill>
              <a:srgbClr val="99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96276" name="Line 20">
            <a:extLst>
              <a:ext uri="{FF2B5EF4-FFF2-40B4-BE49-F238E27FC236}">
                <a16:creationId xmlns:a16="http://schemas.microsoft.com/office/drawing/2014/main" id="{A4D5AFEF-4A2D-45AB-A8AA-F00AD9517FD1}"/>
              </a:ext>
            </a:extLst>
          </p:cNvPr>
          <p:cNvSpPr>
            <a:spLocks noChangeShapeType="1"/>
          </p:cNvSpPr>
          <p:nvPr/>
        </p:nvSpPr>
        <p:spPr bwMode="auto">
          <a:xfrm rot="-698298">
            <a:off x="7239000" y="909638"/>
            <a:ext cx="228600" cy="1524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81" name="Rectangle 25">
            <a:extLst>
              <a:ext uri="{FF2B5EF4-FFF2-40B4-BE49-F238E27FC236}">
                <a16:creationId xmlns:a16="http://schemas.microsoft.com/office/drawing/2014/main" id="{B80137BE-B8E6-4E85-BC67-9A627823B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3143250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00CC99"/>
                </a:solidFill>
              </a:rPr>
              <a:t>左旋正椭圆偏振光</a:t>
            </a:r>
          </a:p>
        </p:txBody>
      </p:sp>
      <p:sp>
        <p:nvSpPr>
          <p:cNvPr id="96282" name="Line 26">
            <a:extLst>
              <a:ext uri="{FF2B5EF4-FFF2-40B4-BE49-F238E27FC236}">
                <a16:creationId xmlns:a16="http://schemas.microsoft.com/office/drawing/2014/main" id="{EBD192E8-ABD7-4BA5-9563-520716A5D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760663"/>
            <a:ext cx="1588" cy="1981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83" name="Line 27">
            <a:extLst>
              <a:ext uri="{FF2B5EF4-FFF2-40B4-BE49-F238E27FC236}">
                <a16:creationId xmlns:a16="http://schemas.microsoft.com/office/drawing/2014/main" id="{0E8EB246-7A4A-4DA8-BAD4-E436DDB5B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751263"/>
            <a:ext cx="3276600" cy="15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6284" name="Object 16">
            <a:extLst>
              <a:ext uri="{FF2B5EF4-FFF2-40B4-BE49-F238E27FC236}">
                <a16:creationId xmlns:a16="http://schemas.microsoft.com/office/drawing/2014/main" id="{9BD87CF1-D75B-4010-9447-725BFF0105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3392488"/>
          <a:ext cx="33496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3" name="Equation" r:id="rId25" imgW="85629" imgH="114198" progId="Equation.3">
                  <p:embed/>
                </p:oleObj>
              </mc:Choice>
              <mc:Fallback>
                <p:oleObj name="Equation" r:id="rId25" imgW="85629" imgH="114198" progId="Equation.3">
                  <p:embed/>
                  <p:pic>
                    <p:nvPicPr>
                      <p:cNvPr id="96284" name="Object 16">
                        <a:extLst>
                          <a:ext uri="{FF2B5EF4-FFF2-40B4-BE49-F238E27FC236}">
                            <a16:creationId xmlns:a16="http://schemas.microsoft.com/office/drawing/2014/main" id="{9BD87CF1-D75B-4010-9447-725BFF0105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392488"/>
                        <a:ext cx="334963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5" name="Object 17">
            <a:extLst>
              <a:ext uri="{FF2B5EF4-FFF2-40B4-BE49-F238E27FC236}">
                <a16:creationId xmlns:a16="http://schemas.microsoft.com/office/drawing/2014/main" id="{20BE936F-9C56-4FEA-A0EF-3AE5022103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3370263"/>
          <a:ext cx="306388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4" name="Equation" r:id="rId27" imgW="85629" imgH="85725" progId="Equation.3">
                  <p:embed/>
                </p:oleObj>
              </mc:Choice>
              <mc:Fallback>
                <p:oleObj name="Equation" r:id="rId27" imgW="85629" imgH="85725" progId="Equation.3">
                  <p:embed/>
                  <p:pic>
                    <p:nvPicPr>
                      <p:cNvPr id="96285" name="Object 17">
                        <a:extLst>
                          <a:ext uri="{FF2B5EF4-FFF2-40B4-BE49-F238E27FC236}">
                            <a16:creationId xmlns:a16="http://schemas.microsoft.com/office/drawing/2014/main" id="{20BE936F-9C56-4FEA-A0EF-3AE5022103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3370263"/>
                        <a:ext cx="306388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6" name="Object 18">
            <a:extLst>
              <a:ext uri="{FF2B5EF4-FFF2-40B4-BE49-F238E27FC236}">
                <a16:creationId xmlns:a16="http://schemas.microsoft.com/office/drawing/2014/main" id="{C5228F16-A982-4428-BE3A-D4593C1293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2684463"/>
          <a:ext cx="33813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5" name="Equation" r:id="rId29" imgW="104896" imgH="123689" progId="Equation.3">
                  <p:embed/>
                </p:oleObj>
              </mc:Choice>
              <mc:Fallback>
                <p:oleObj name="Equation" r:id="rId29" imgW="104896" imgH="123689" progId="Equation.3">
                  <p:embed/>
                  <p:pic>
                    <p:nvPicPr>
                      <p:cNvPr id="96286" name="Object 18">
                        <a:extLst>
                          <a:ext uri="{FF2B5EF4-FFF2-40B4-BE49-F238E27FC236}">
                            <a16:creationId xmlns:a16="http://schemas.microsoft.com/office/drawing/2014/main" id="{C5228F16-A982-4428-BE3A-D4593C1293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684463"/>
                        <a:ext cx="33813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7" name="Object 19">
            <a:extLst>
              <a:ext uri="{FF2B5EF4-FFF2-40B4-BE49-F238E27FC236}">
                <a16:creationId xmlns:a16="http://schemas.microsoft.com/office/drawing/2014/main" id="{D884ABC3-5200-4976-A5C9-AEA8A4F6AC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6375" y="3143250"/>
          <a:ext cx="4889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6" name="Equation" r:id="rId31" imgW="161778" imgH="199923" progId="Equation.3">
                  <p:embed/>
                </p:oleObj>
              </mc:Choice>
              <mc:Fallback>
                <p:oleObj name="Equation" r:id="rId31" imgW="161778" imgH="199923" progId="Equation.3">
                  <p:embed/>
                  <p:pic>
                    <p:nvPicPr>
                      <p:cNvPr id="96287" name="Object 19">
                        <a:extLst>
                          <a:ext uri="{FF2B5EF4-FFF2-40B4-BE49-F238E27FC236}">
                            <a16:creationId xmlns:a16="http://schemas.microsoft.com/office/drawing/2014/main" id="{D884ABC3-5200-4976-A5C9-AEA8A4F6AC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3143250"/>
                        <a:ext cx="4889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8" name="Object 20">
            <a:extLst>
              <a:ext uri="{FF2B5EF4-FFF2-40B4-BE49-F238E27FC236}">
                <a16:creationId xmlns:a16="http://schemas.microsoft.com/office/drawing/2014/main" id="{EB7E2D4E-78D5-48B5-A586-CD04D10FB5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4098925"/>
          <a:ext cx="51911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7" name="Equation" r:id="rId33" imgW="181045" imgH="199923" progId="Equation.3">
                  <p:embed/>
                </p:oleObj>
              </mc:Choice>
              <mc:Fallback>
                <p:oleObj name="Equation" r:id="rId33" imgW="181045" imgH="199923" progId="Equation.3">
                  <p:embed/>
                  <p:pic>
                    <p:nvPicPr>
                      <p:cNvPr id="96288" name="Object 20">
                        <a:extLst>
                          <a:ext uri="{FF2B5EF4-FFF2-40B4-BE49-F238E27FC236}">
                            <a16:creationId xmlns:a16="http://schemas.microsoft.com/office/drawing/2014/main" id="{EB7E2D4E-78D5-48B5-A586-CD04D10FB5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098925"/>
                        <a:ext cx="519113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89" name="Oval 33">
            <a:extLst>
              <a:ext uri="{FF2B5EF4-FFF2-40B4-BE49-F238E27FC236}">
                <a16:creationId xmlns:a16="http://schemas.microsoft.com/office/drawing/2014/main" id="{88397CD8-DE1E-4C4F-9205-FC28768C6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386138"/>
            <a:ext cx="1828800" cy="762000"/>
          </a:xfrm>
          <a:prstGeom prst="ellipse">
            <a:avLst/>
          </a:prstGeom>
          <a:noFill/>
          <a:ln w="19050">
            <a:solidFill>
              <a:srgbClr val="99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96290" name="Line 34">
            <a:extLst>
              <a:ext uri="{FF2B5EF4-FFF2-40B4-BE49-F238E27FC236}">
                <a16:creationId xmlns:a16="http://schemas.microsoft.com/office/drawing/2014/main" id="{D9EE971B-5371-484C-98F3-B5EF2125772F}"/>
              </a:ext>
            </a:extLst>
          </p:cNvPr>
          <p:cNvSpPr>
            <a:spLocks noChangeShapeType="1"/>
          </p:cNvSpPr>
          <p:nvPr/>
        </p:nvSpPr>
        <p:spPr bwMode="auto">
          <a:xfrm rot="-698298">
            <a:off x="7239000" y="3413125"/>
            <a:ext cx="228600" cy="152400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92" name="Rectangle 36">
            <a:extLst>
              <a:ext uri="{FF2B5EF4-FFF2-40B4-BE49-F238E27FC236}">
                <a16:creationId xmlns:a16="http://schemas.microsoft.com/office/drawing/2014/main" id="{F0CDC36A-6E1B-4880-86CE-69A3629DD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6576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hlink"/>
                </a:solidFill>
              </a:rPr>
              <a:t>5. </a:t>
            </a:r>
            <a:r>
              <a:rPr kumimoji="0" lang="zh-CN" altLang="en-US">
                <a:solidFill>
                  <a:schemeClr val="hlink"/>
                </a:solidFill>
              </a:rPr>
              <a:t>当</a:t>
            </a:r>
          </a:p>
        </p:txBody>
      </p:sp>
      <p:graphicFrame>
        <p:nvGraphicFramePr>
          <p:cNvPr id="96293" name="Object 22">
            <a:extLst>
              <a:ext uri="{FF2B5EF4-FFF2-40B4-BE49-F238E27FC236}">
                <a16:creationId xmlns:a16="http://schemas.microsoft.com/office/drawing/2014/main" id="{84CA61E6-22BD-4E50-9015-C6AFBC08A2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5875" y="3643313"/>
          <a:ext cx="6397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8" name="Equation" r:id="rId35" imgW="228753" imgH="161959" progId="Equation.3">
                  <p:embed/>
                </p:oleObj>
              </mc:Choice>
              <mc:Fallback>
                <p:oleObj name="Equation" r:id="rId35" imgW="228753" imgH="161959" progId="Equation.3">
                  <p:embed/>
                  <p:pic>
                    <p:nvPicPr>
                      <p:cNvPr id="96293" name="Object 22">
                        <a:extLst>
                          <a:ext uri="{FF2B5EF4-FFF2-40B4-BE49-F238E27FC236}">
                            <a16:creationId xmlns:a16="http://schemas.microsoft.com/office/drawing/2014/main" id="{84CA61E6-22BD-4E50-9015-C6AFBC08A2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3643313"/>
                        <a:ext cx="63976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94" name="Rectangle 38">
            <a:extLst>
              <a:ext uri="{FF2B5EF4-FFF2-40B4-BE49-F238E27FC236}">
                <a16:creationId xmlns:a16="http://schemas.microsoft.com/office/drawing/2014/main" id="{F9286072-CC0F-4C49-91A7-340298C4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19100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00CC99"/>
                </a:solidFill>
              </a:rPr>
              <a:t>为斜椭圆偏振光</a:t>
            </a:r>
          </a:p>
        </p:txBody>
      </p:sp>
      <p:grpSp>
        <p:nvGrpSpPr>
          <p:cNvPr id="3" name="组合 51">
            <a:extLst>
              <a:ext uri="{FF2B5EF4-FFF2-40B4-BE49-F238E27FC236}">
                <a16:creationId xmlns:a16="http://schemas.microsoft.com/office/drawing/2014/main" id="{A9081C3A-1B54-4248-A212-1393D4B36528}"/>
              </a:ext>
            </a:extLst>
          </p:cNvPr>
          <p:cNvGrpSpPr>
            <a:grpSpLocks/>
          </p:cNvGrpSpPr>
          <p:nvPr/>
        </p:nvGrpSpPr>
        <p:grpSpPr bwMode="auto">
          <a:xfrm>
            <a:off x="857250" y="2571750"/>
            <a:ext cx="2357438" cy="512763"/>
            <a:chOff x="714348" y="2571744"/>
            <a:chExt cx="2357454" cy="512763"/>
          </a:xfrm>
        </p:grpSpPr>
        <p:sp>
          <p:nvSpPr>
            <p:cNvPr id="33836" name="Rectangle 23">
              <a:extLst>
                <a:ext uri="{FF2B5EF4-FFF2-40B4-BE49-F238E27FC236}">
                  <a16:creationId xmlns:a16="http://schemas.microsoft.com/office/drawing/2014/main" id="{8B0C5CEF-372C-4457-960D-198D3C4E9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2611438"/>
              <a:ext cx="195919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hlink"/>
                  </a:solidFill>
                </a:rPr>
                <a:t>比     滞后 </a:t>
              </a:r>
              <a:r>
                <a:rPr kumimoji="0" lang="zh-CN" altLang="en-US">
                  <a:solidFill>
                    <a:srgbClr val="66FFFF"/>
                  </a:solidFill>
                </a:rPr>
                <a:t>     </a:t>
              </a:r>
            </a:p>
          </p:txBody>
        </p:sp>
        <p:graphicFrame>
          <p:nvGraphicFramePr>
            <p:cNvPr id="33837" name="Object 14">
              <a:extLst>
                <a:ext uri="{FF2B5EF4-FFF2-40B4-BE49-F238E27FC236}">
                  <a16:creationId xmlns:a16="http://schemas.microsoft.com/office/drawing/2014/main" id="{4423ADDD-0E14-410D-B6D2-57950654FF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8728" y="2657475"/>
            <a:ext cx="366713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79" name="Equation" r:id="rId37" imgW="114376" imgH="114198" progId="Equation.3">
                    <p:embed/>
                  </p:oleObj>
                </mc:Choice>
                <mc:Fallback>
                  <p:oleObj name="Equation" r:id="rId37" imgW="114376" imgH="114198" progId="Equation.3">
                    <p:embed/>
                    <p:pic>
                      <p:nvPicPr>
                        <p:cNvPr id="33837" name="Object 14">
                          <a:extLst>
                            <a:ext uri="{FF2B5EF4-FFF2-40B4-BE49-F238E27FC236}">
                              <a16:creationId xmlns:a16="http://schemas.microsoft.com/office/drawing/2014/main" id="{4423ADDD-0E14-410D-B6D2-57950654FF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8728" y="2657475"/>
                          <a:ext cx="366713" cy="365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38" name="Object 15">
              <a:extLst>
                <a:ext uri="{FF2B5EF4-FFF2-40B4-BE49-F238E27FC236}">
                  <a16:creationId xmlns:a16="http://schemas.microsoft.com/office/drawing/2014/main" id="{526E0857-1A7A-414B-A98B-3BDA72F9E5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4348" y="2646360"/>
            <a:ext cx="366712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80" name="Equation" r:id="rId39" imgW="114376" imgH="142977" progId="Equation.3">
                    <p:embed/>
                  </p:oleObj>
                </mc:Choice>
                <mc:Fallback>
                  <p:oleObj name="Equation" r:id="rId39" imgW="114376" imgH="142977" progId="Equation.3">
                    <p:embed/>
                    <p:pic>
                      <p:nvPicPr>
                        <p:cNvPr id="33838" name="Object 15">
                          <a:extLst>
                            <a:ext uri="{FF2B5EF4-FFF2-40B4-BE49-F238E27FC236}">
                              <a16:creationId xmlns:a16="http://schemas.microsoft.com/office/drawing/2014/main" id="{526E0857-1A7A-414B-A98B-3BDA72F9E5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348" y="2646360"/>
                          <a:ext cx="366712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39" name="Object 23">
              <a:extLst>
                <a:ext uri="{FF2B5EF4-FFF2-40B4-BE49-F238E27FC236}">
                  <a16:creationId xmlns:a16="http://schemas.microsoft.com/office/drawing/2014/main" id="{ED6D67B4-D728-4FC4-8997-03275E0BC3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98702" y="2571744"/>
            <a:ext cx="673100" cy="512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81" name="Equation" r:id="rId41" imgW="238233" imgH="180941" progId="Equation.3">
                    <p:embed/>
                  </p:oleObj>
                </mc:Choice>
                <mc:Fallback>
                  <p:oleObj name="Equation" r:id="rId41" imgW="238233" imgH="180941" progId="Equation.3">
                    <p:embed/>
                    <p:pic>
                      <p:nvPicPr>
                        <p:cNvPr id="33839" name="Object 23">
                          <a:extLst>
                            <a:ext uri="{FF2B5EF4-FFF2-40B4-BE49-F238E27FC236}">
                              <a16:creationId xmlns:a16="http://schemas.microsoft.com/office/drawing/2014/main" id="{ED6D67B4-D728-4FC4-8997-03275E0BC3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8702" y="2571744"/>
                          <a:ext cx="673100" cy="512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6296" name="Rectangle 40">
            <a:extLst>
              <a:ext uri="{FF2B5EF4-FFF2-40B4-BE49-F238E27FC236}">
                <a16:creationId xmlns:a16="http://schemas.microsoft.com/office/drawing/2014/main" id="{EAAF5087-D59E-4B0D-9356-A5227A20F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7475" y="304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hlink"/>
                </a:solidFill>
              </a:rPr>
              <a:t>时</a:t>
            </a:r>
          </a:p>
        </p:txBody>
      </p:sp>
      <p:sp>
        <p:nvSpPr>
          <p:cNvPr id="96297" name="Rectangle 41">
            <a:extLst>
              <a:ext uri="{FF2B5EF4-FFF2-40B4-BE49-F238E27FC236}">
                <a16:creationId xmlns:a16="http://schemas.microsoft.com/office/drawing/2014/main" id="{8BC20D86-4AA3-4A13-A992-BB3CCA684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188" y="2057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hlink"/>
                </a:solidFill>
              </a:rPr>
              <a:t>时</a:t>
            </a:r>
          </a:p>
        </p:txBody>
      </p:sp>
      <p:sp>
        <p:nvSpPr>
          <p:cNvPr id="96298" name="Rectangle 42">
            <a:extLst>
              <a:ext uri="{FF2B5EF4-FFF2-40B4-BE49-F238E27FC236}">
                <a16:creationId xmlns:a16="http://schemas.microsoft.com/office/drawing/2014/main" id="{06B16A4E-7EEB-426E-8D32-6D86A1E90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3643313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hlink"/>
                </a:solidFill>
              </a:rPr>
              <a:t>为其它值时</a:t>
            </a:r>
          </a:p>
        </p:txBody>
      </p:sp>
      <p:sp>
        <p:nvSpPr>
          <p:cNvPr id="96299" name="AutoShape 43">
            <a:extLst>
              <a:ext uri="{FF2B5EF4-FFF2-40B4-BE49-F238E27FC236}">
                <a16:creationId xmlns:a16="http://schemas.microsoft.com/office/drawing/2014/main" id="{37A0D9BD-6F40-484E-96E1-E81EC34D8533}"/>
              </a:ext>
            </a:extLst>
          </p:cNvPr>
          <p:cNvSpPr>
            <a:spLocks/>
          </p:cNvSpPr>
          <p:nvPr/>
        </p:nvSpPr>
        <p:spPr bwMode="auto">
          <a:xfrm>
            <a:off x="3500438" y="381000"/>
            <a:ext cx="457200" cy="3124200"/>
          </a:xfrm>
          <a:prstGeom prst="rightBrace">
            <a:avLst>
              <a:gd name="adj1" fmla="val 56944"/>
              <a:gd name="adj2" fmla="val 51778"/>
            </a:avLst>
          </a:prstGeom>
          <a:noFill/>
          <a:ln w="2222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96300" name="Rectangle 44">
            <a:extLst>
              <a:ext uri="{FF2B5EF4-FFF2-40B4-BE49-F238E27FC236}">
                <a16:creationId xmlns:a16="http://schemas.microsoft.com/office/drawing/2014/main" id="{094E840F-EDD4-4FE5-97AE-08F24D4D3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4714875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hlink"/>
                </a:solidFill>
              </a:rPr>
              <a:t>当</a:t>
            </a:r>
            <a:endParaRPr kumimoji="0" lang="zh-CN" altLang="en-US">
              <a:solidFill>
                <a:srgbClr val="00FFFF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96301" name="Object 24">
            <a:extLst>
              <a:ext uri="{FF2B5EF4-FFF2-40B4-BE49-F238E27FC236}">
                <a16:creationId xmlns:a16="http://schemas.microsoft.com/office/drawing/2014/main" id="{2C550FEA-9087-49D8-9507-C925A5DF0F2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78670" y="4783138"/>
          <a:ext cx="16811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2" name="Equation" r:id="rId43" imgW="752622" imgH="161959" progId="Equation.3">
                  <p:embed/>
                </p:oleObj>
              </mc:Choice>
              <mc:Fallback>
                <p:oleObj name="Equation" r:id="rId43" imgW="752622" imgH="161959" progId="Equation.3">
                  <p:embed/>
                  <p:pic>
                    <p:nvPicPr>
                      <p:cNvPr id="96301" name="Object 24">
                        <a:extLst>
                          <a:ext uri="{FF2B5EF4-FFF2-40B4-BE49-F238E27FC236}">
                            <a16:creationId xmlns:a16="http://schemas.microsoft.com/office/drawing/2014/main" id="{2C550FEA-9087-49D8-9507-C925A5DF0F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670" y="4783138"/>
                        <a:ext cx="16811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302" name="Rectangle 46">
            <a:extLst>
              <a:ext uri="{FF2B5EF4-FFF2-40B4-BE49-F238E27FC236}">
                <a16:creationId xmlns:a16="http://schemas.microsoft.com/office/drawing/2014/main" id="{856B506C-2264-4FFE-8088-33196598D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3340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hlink"/>
                </a:solidFill>
              </a:rPr>
              <a:t>当</a:t>
            </a:r>
            <a:endParaRPr kumimoji="0" lang="zh-CN" altLang="en-US">
              <a:solidFill>
                <a:schemeClr val="hlink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96303" name="Object 25">
            <a:extLst>
              <a:ext uri="{FF2B5EF4-FFF2-40B4-BE49-F238E27FC236}">
                <a16:creationId xmlns:a16="http://schemas.microsoft.com/office/drawing/2014/main" id="{436D26CD-6401-4875-A537-AB4CD03DF0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4438" y="5354638"/>
          <a:ext cx="19510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3" name="Equation" r:id="rId45" imgW="876173" imgH="161959" progId="Equation.3">
                  <p:embed/>
                </p:oleObj>
              </mc:Choice>
              <mc:Fallback>
                <p:oleObj name="Equation" r:id="rId45" imgW="876173" imgH="161959" progId="Equation.3">
                  <p:embed/>
                  <p:pic>
                    <p:nvPicPr>
                      <p:cNvPr id="96303" name="Object 25">
                        <a:extLst>
                          <a:ext uri="{FF2B5EF4-FFF2-40B4-BE49-F238E27FC236}">
                            <a16:creationId xmlns:a16="http://schemas.microsoft.com/office/drawing/2014/main" id="{436D26CD-6401-4875-A537-AB4CD03DF0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5354638"/>
                        <a:ext cx="19510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304" name="Rectangle 48">
            <a:extLst>
              <a:ext uri="{FF2B5EF4-FFF2-40B4-BE49-F238E27FC236}">
                <a16:creationId xmlns:a16="http://schemas.microsoft.com/office/drawing/2014/main" id="{618ECFCD-DD0F-4D3B-A0B3-97FFC630A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622" y="4724400"/>
            <a:ext cx="5657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hlink"/>
                </a:solidFill>
                <a:sym typeface="Symbol" panose="05050102010706020507" pitchFamily="18" charset="2"/>
              </a:rPr>
              <a:t>时</a:t>
            </a:r>
            <a:r>
              <a:rPr kumimoji="0"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,  </a:t>
            </a:r>
            <a:r>
              <a:rPr kumimoji="0" lang="zh-CN" altLang="en-US" dirty="0">
                <a:solidFill>
                  <a:schemeClr val="hlink"/>
                </a:solidFill>
                <a:sym typeface="Symbol" panose="05050102010706020507" pitchFamily="18" charset="2"/>
              </a:rPr>
              <a:t>为</a:t>
            </a:r>
            <a:r>
              <a:rPr kumimoji="0" lang="zh-CN" altLang="en-US" dirty="0">
                <a:solidFill>
                  <a:srgbClr val="FFFF00"/>
                </a:solidFill>
                <a:sym typeface="Symbol" panose="05050102010706020507" pitchFamily="18" charset="2"/>
              </a:rPr>
              <a:t>顺时针（右旋）</a:t>
            </a:r>
            <a:r>
              <a:rPr kumimoji="0" lang="zh-CN" altLang="en-US" dirty="0">
                <a:solidFill>
                  <a:schemeClr val="hlink"/>
                </a:solidFill>
                <a:sym typeface="Symbol" panose="05050102010706020507" pitchFamily="18" charset="2"/>
              </a:rPr>
              <a:t>方向椭圆</a:t>
            </a:r>
          </a:p>
        </p:txBody>
      </p:sp>
      <p:sp>
        <p:nvSpPr>
          <p:cNvPr id="96305" name="Rectangle 49">
            <a:extLst>
              <a:ext uri="{FF2B5EF4-FFF2-40B4-BE49-F238E27FC236}">
                <a16:creationId xmlns:a16="http://schemas.microsoft.com/office/drawing/2014/main" id="{A6B6F485-7065-4C2B-A8EF-DD7945F8F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2" y="5286375"/>
            <a:ext cx="565784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hlink"/>
                </a:solidFill>
                <a:sym typeface="Symbol" panose="05050102010706020507" pitchFamily="18" charset="2"/>
              </a:rPr>
              <a:t>时</a:t>
            </a:r>
            <a:r>
              <a:rPr kumimoji="0"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,  </a:t>
            </a:r>
            <a:r>
              <a:rPr kumimoji="0" lang="zh-CN" altLang="en-US" dirty="0">
                <a:solidFill>
                  <a:schemeClr val="hlink"/>
                </a:solidFill>
                <a:sym typeface="Symbol" panose="05050102010706020507" pitchFamily="18" charset="2"/>
              </a:rPr>
              <a:t>为</a:t>
            </a:r>
            <a:r>
              <a:rPr kumimoji="0" lang="zh-CN" altLang="en-US" dirty="0">
                <a:solidFill>
                  <a:srgbClr val="FFFF00"/>
                </a:solidFill>
                <a:sym typeface="Symbol" panose="05050102010706020507" pitchFamily="18" charset="2"/>
              </a:rPr>
              <a:t>逆时针（左旋）</a:t>
            </a:r>
            <a:r>
              <a:rPr kumimoji="0" lang="zh-CN" altLang="en-US" dirty="0">
                <a:solidFill>
                  <a:schemeClr val="hlink"/>
                </a:solidFill>
                <a:sym typeface="Symbol" panose="05050102010706020507" pitchFamily="18" charset="2"/>
              </a:rPr>
              <a:t>方向椭圆</a:t>
            </a:r>
          </a:p>
        </p:txBody>
      </p:sp>
      <p:sp>
        <p:nvSpPr>
          <p:cNvPr id="96306" name="Rectangle 50">
            <a:extLst>
              <a:ext uri="{FF2B5EF4-FFF2-40B4-BE49-F238E27FC236}">
                <a16:creationId xmlns:a16="http://schemas.microsoft.com/office/drawing/2014/main" id="{0446023C-7670-4D11-8F54-9EA4EE664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5924128"/>
            <a:ext cx="8572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rgbClr val="EDFE4A"/>
                </a:solidFill>
                <a:sym typeface="Symbol" panose="05050102010706020507" pitchFamily="18" charset="2"/>
              </a:rPr>
              <a:t>结论：</a:t>
            </a:r>
            <a:r>
              <a:rPr kumimoji="0" lang="zh-CN" altLang="en-US" dirty="0">
                <a:solidFill>
                  <a:schemeClr val="bg1"/>
                </a:solidFill>
                <a:sym typeface="Symbol" panose="05050102010706020507" pitchFamily="18" charset="2"/>
              </a:rPr>
              <a:t>垂直方向同频线偏振光的合成，依赖于相位差的取值</a:t>
            </a:r>
          </a:p>
        </p:txBody>
      </p:sp>
      <p:sp>
        <p:nvSpPr>
          <p:cNvPr id="33835" name="灯片编号占位符 1">
            <a:extLst>
              <a:ext uri="{FF2B5EF4-FFF2-40B4-BE49-F238E27FC236}">
                <a16:creationId xmlns:a16="http://schemas.microsoft.com/office/drawing/2014/main" id="{023A713B-F9E4-49E8-B867-A28ED77DC6B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0B4253-1749-437B-898D-8C9AA17BC8DA}" type="slidenum">
              <a:rPr lang="en-US" altLang="zh-CN" b="0">
                <a:solidFill>
                  <a:srgbClr val="FF00FF"/>
                </a:solidFill>
              </a:rPr>
              <a:pPr eaLnBrk="1" hangingPunct="1"/>
              <a:t>22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6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96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96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6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6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9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9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9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9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9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96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9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9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6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6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9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9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9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9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9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96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9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96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96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96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96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96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9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5" dur="300"/>
                                        <p:tgtEl>
                                          <p:spTgt spid="9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autoUpdateAnimBg="0"/>
      <p:bldP spid="96259" grpId="0" autoUpdateAnimBg="0"/>
      <p:bldP spid="96265" grpId="0" autoUpdateAnimBg="0"/>
      <p:bldP spid="96275" grpId="0" animBg="1"/>
      <p:bldP spid="96281" grpId="0" autoUpdateAnimBg="0"/>
      <p:bldP spid="96289" grpId="0" animBg="1"/>
      <p:bldP spid="96292" grpId="0" autoUpdateAnimBg="0"/>
      <p:bldP spid="96294" grpId="0" autoUpdateAnimBg="0"/>
      <p:bldP spid="96296" grpId="0" autoUpdateAnimBg="0"/>
      <p:bldP spid="96297" grpId="0" autoUpdateAnimBg="0"/>
      <p:bldP spid="96298" grpId="0" autoUpdateAnimBg="0"/>
      <p:bldP spid="96299" grpId="0" animBg="1"/>
      <p:bldP spid="96300" grpId="0" autoUpdateAnimBg="0"/>
      <p:bldP spid="96302" grpId="0" autoUpdateAnimBg="0"/>
      <p:bldP spid="96304" grpId="0" autoUpdateAnimBg="0"/>
      <p:bldP spid="96305" grpId="0" autoUpdateAnimBg="0"/>
      <p:bldP spid="9630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2" descr="D:\大学物理\西安交大物理\光学\f14.83.1.jpg">
            <a:extLst>
              <a:ext uri="{FF2B5EF4-FFF2-40B4-BE49-F238E27FC236}">
                <a16:creationId xmlns:a16="http://schemas.microsoft.com/office/drawing/2014/main" id="{71B5F741-6F11-4AB5-BE3C-079231114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688" y="2571750"/>
            <a:ext cx="15875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3" name="Picture 3" descr="D:\大学物理\西安交大物理\光学\f14.83.2.jpg">
            <a:extLst>
              <a:ext uri="{FF2B5EF4-FFF2-40B4-BE49-F238E27FC236}">
                <a16:creationId xmlns:a16="http://schemas.microsoft.com/office/drawing/2014/main" id="{33A444A6-0A7A-4E65-B2FD-7F1AF0EED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738" y="2571750"/>
            <a:ext cx="15875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4" name="Picture 4" descr="D:\大学物理\西安交大物理\光学\f14.83.3.jpg">
            <a:extLst>
              <a:ext uri="{FF2B5EF4-FFF2-40B4-BE49-F238E27FC236}">
                <a16:creationId xmlns:a16="http://schemas.microsoft.com/office/drawing/2014/main" id="{E945DAE9-FB8E-478C-AF05-AC31F2B6A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713" y="2571750"/>
            <a:ext cx="15875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5" name="Picture 5" descr="D:\大学物理\西安交大物理\光学\f14.83.6.jpg">
            <a:extLst>
              <a:ext uri="{FF2B5EF4-FFF2-40B4-BE49-F238E27FC236}">
                <a16:creationId xmlns:a16="http://schemas.microsoft.com/office/drawing/2014/main" id="{C21CF02B-CAD5-4302-A5D6-80836D5BE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571750"/>
            <a:ext cx="1585913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6" name="Picture 6" descr="D:\大学物理\西安交大物理\光学\f14.83.4.jpg">
            <a:extLst>
              <a:ext uri="{FF2B5EF4-FFF2-40B4-BE49-F238E27FC236}">
                <a16:creationId xmlns:a16="http://schemas.microsoft.com/office/drawing/2014/main" id="{84FEF9DD-85EB-4DF2-995F-17A1C8ACF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571750"/>
            <a:ext cx="15875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7" name="Picture 7" descr="D:\大学物理\西安交大物理\光学\f14.83.9.jpg">
            <a:extLst>
              <a:ext uri="{FF2B5EF4-FFF2-40B4-BE49-F238E27FC236}">
                <a16:creationId xmlns:a16="http://schemas.microsoft.com/office/drawing/2014/main" id="{9397F312-01D6-4EF3-8DF9-58B4C5A51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88" y="5110163"/>
            <a:ext cx="1587500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8" name="Picture 8" descr="D:\大学物理\西安交大物理\光学\f14.83.7.jpg">
            <a:extLst>
              <a:ext uri="{FF2B5EF4-FFF2-40B4-BE49-F238E27FC236}">
                <a16:creationId xmlns:a16="http://schemas.microsoft.com/office/drawing/2014/main" id="{9D282532-2989-4039-8C94-AF759A75A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438" y="5105400"/>
            <a:ext cx="15875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9" name="Picture 9" descr="D:\大学物理\西安交大物理\光学\f14.83.8.jpg">
            <a:extLst>
              <a:ext uri="{FF2B5EF4-FFF2-40B4-BE49-F238E27FC236}">
                <a16:creationId xmlns:a16="http://schemas.microsoft.com/office/drawing/2014/main" id="{FAAB8DF2-0ECB-48E8-91E2-6D4B5E720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338" y="5110163"/>
            <a:ext cx="1587500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90" name="Picture 10" descr="D:\大学物理\西安交大物理\光学\f14.83.5.jpg">
            <a:extLst>
              <a:ext uri="{FF2B5EF4-FFF2-40B4-BE49-F238E27FC236}">
                <a16:creationId xmlns:a16="http://schemas.microsoft.com/office/drawing/2014/main" id="{36BAEED2-0CD2-4B30-ADC6-464E501ED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5110163"/>
            <a:ext cx="1587500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91" name="Picture 11" descr="D:\大学物理\西安交大物理\光学\f14.83.10.jpg">
            <a:extLst>
              <a:ext uri="{FF2B5EF4-FFF2-40B4-BE49-F238E27FC236}">
                <a16:creationId xmlns:a16="http://schemas.microsoft.com/office/drawing/2014/main" id="{A512065A-1650-4010-9E91-3AF2CDB9F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688" y="5110163"/>
            <a:ext cx="1587500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7292" name="Object 2">
            <a:extLst>
              <a:ext uri="{FF2B5EF4-FFF2-40B4-BE49-F238E27FC236}">
                <a16:creationId xmlns:a16="http://schemas.microsoft.com/office/drawing/2014/main" id="{DCD73D1A-CE2C-425A-8E31-F6C1E9A2DA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" y="1785938"/>
          <a:ext cx="1131888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65" name="Equation" r:id="rId13" imgW="485641" imgH="161959" progId="Equation.3">
                  <p:embed/>
                </p:oleObj>
              </mc:Choice>
              <mc:Fallback>
                <p:oleObj name="Equation" r:id="rId13" imgW="485641" imgH="161959" progId="Equation.3">
                  <p:embed/>
                  <p:pic>
                    <p:nvPicPr>
                      <p:cNvPr id="97292" name="Object 2">
                        <a:extLst>
                          <a:ext uri="{FF2B5EF4-FFF2-40B4-BE49-F238E27FC236}">
                            <a16:creationId xmlns:a16="http://schemas.microsoft.com/office/drawing/2014/main" id="{DCD73D1A-CE2C-425A-8E31-F6C1E9A2DA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1785938"/>
                        <a:ext cx="1131888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3" name="Object 3">
            <a:extLst>
              <a:ext uri="{FF2B5EF4-FFF2-40B4-BE49-F238E27FC236}">
                <a16:creationId xmlns:a16="http://schemas.microsoft.com/office/drawing/2014/main" id="{111ED0CB-1BB0-4213-9019-4C934DD9E4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3300" y="1546225"/>
          <a:ext cx="12414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66" name="公式" r:id="rId15" imgW="533349" imgH="380864" progId="Equation.3">
                  <p:embed/>
                </p:oleObj>
              </mc:Choice>
              <mc:Fallback>
                <p:oleObj name="公式" r:id="rId15" imgW="533349" imgH="380864" progId="Equation.3">
                  <p:embed/>
                  <p:pic>
                    <p:nvPicPr>
                      <p:cNvPr id="97293" name="Object 3">
                        <a:extLst>
                          <a:ext uri="{FF2B5EF4-FFF2-40B4-BE49-F238E27FC236}">
                            <a16:creationId xmlns:a16="http://schemas.microsoft.com/office/drawing/2014/main" id="{111ED0CB-1BB0-4213-9019-4C934DD9E4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1546225"/>
                        <a:ext cx="124142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4" name="Object 4">
            <a:extLst>
              <a:ext uri="{FF2B5EF4-FFF2-40B4-BE49-F238E27FC236}">
                <a16:creationId xmlns:a16="http://schemas.microsoft.com/office/drawing/2014/main" id="{6284754D-A882-4D9D-9A94-16062C200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0638" y="1524000"/>
          <a:ext cx="14097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67" name="公式" r:id="rId17" imgW="609498" imgH="390661" progId="Equation.3">
                  <p:embed/>
                </p:oleObj>
              </mc:Choice>
              <mc:Fallback>
                <p:oleObj name="公式" r:id="rId17" imgW="609498" imgH="390661" progId="Equation.3">
                  <p:embed/>
                  <p:pic>
                    <p:nvPicPr>
                      <p:cNvPr id="97294" name="Object 4">
                        <a:extLst>
                          <a:ext uri="{FF2B5EF4-FFF2-40B4-BE49-F238E27FC236}">
                            <a16:creationId xmlns:a16="http://schemas.microsoft.com/office/drawing/2014/main" id="{6284754D-A882-4D9D-9A94-16062C2005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0638" y="1524000"/>
                        <a:ext cx="1409700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5" name="Object 5">
            <a:extLst>
              <a:ext uri="{FF2B5EF4-FFF2-40B4-BE49-F238E27FC236}">
                <a16:creationId xmlns:a16="http://schemas.microsoft.com/office/drawing/2014/main" id="{BA025940-6EB5-4C31-BC3A-EA83470AE7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9725" y="1543050"/>
          <a:ext cx="1408113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68" name="公式" r:id="rId19" imgW="609498" imgH="390661" progId="Equation.3">
                  <p:embed/>
                </p:oleObj>
              </mc:Choice>
              <mc:Fallback>
                <p:oleObj name="公式" r:id="rId19" imgW="609498" imgH="390661" progId="Equation.3">
                  <p:embed/>
                  <p:pic>
                    <p:nvPicPr>
                      <p:cNvPr id="97295" name="Object 5">
                        <a:extLst>
                          <a:ext uri="{FF2B5EF4-FFF2-40B4-BE49-F238E27FC236}">
                            <a16:creationId xmlns:a16="http://schemas.microsoft.com/office/drawing/2014/main" id="{BA025940-6EB5-4C31-BC3A-EA83470AE7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1543050"/>
                        <a:ext cx="1408113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6" name="Object 6">
            <a:extLst>
              <a:ext uri="{FF2B5EF4-FFF2-40B4-BE49-F238E27FC236}">
                <a16:creationId xmlns:a16="http://schemas.microsoft.com/office/drawing/2014/main" id="{1A32F503-B1E9-424A-ABA1-3542D1CDEE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6763" y="1776413"/>
          <a:ext cx="11874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69" name="公式" r:id="rId21" imgW="504908" imgH="161959" progId="Equation.3">
                  <p:embed/>
                </p:oleObj>
              </mc:Choice>
              <mc:Fallback>
                <p:oleObj name="公式" r:id="rId21" imgW="504908" imgH="161959" progId="Equation.3">
                  <p:embed/>
                  <p:pic>
                    <p:nvPicPr>
                      <p:cNvPr id="97296" name="Object 6">
                        <a:extLst>
                          <a:ext uri="{FF2B5EF4-FFF2-40B4-BE49-F238E27FC236}">
                            <a16:creationId xmlns:a16="http://schemas.microsoft.com/office/drawing/2014/main" id="{1A32F503-B1E9-424A-ABA1-3542D1CDEE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6763" y="1776413"/>
                        <a:ext cx="118745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7" name="Object 7">
            <a:extLst>
              <a:ext uri="{FF2B5EF4-FFF2-40B4-BE49-F238E27FC236}">
                <a16:creationId xmlns:a16="http://schemas.microsoft.com/office/drawing/2014/main" id="{4D86155B-0E25-4160-9779-07ADED8E48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4191000"/>
          <a:ext cx="165417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70" name="公式" r:id="rId23" imgW="723875" imgH="390661" progId="Equation.3">
                  <p:embed/>
                </p:oleObj>
              </mc:Choice>
              <mc:Fallback>
                <p:oleObj name="公式" r:id="rId23" imgW="723875" imgH="390661" progId="Equation.3">
                  <p:embed/>
                  <p:pic>
                    <p:nvPicPr>
                      <p:cNvPr id="97297" name="Object 7">
                        <a:extLst>
                          <a:ext uri="{FF2B5EF4-FFF2-40B4-BE49-F238E27FC236}">
                            <a16:creationId xmlns:a16="http://schemas.microsoft.com/office/drawing/2014/main" id="{4D86155B-0E25-4160-9779-07ADED8E48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91000"/>
                        <a:ext cx="165417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8" name="Object 8">
            <a:extLst>
              <a:ext uri="{FF2B5EF4-FFF2-40B4-BE49-F238E27FC236}">
                <a16:creationId xmlns:a16="http://schemas.microsoft.com/office/drawing/2014/main" id="{AAEA96C6-8598-4A9D-9C30-9FCB5CC5FF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8900" y="4164013"/>
          <a:ext cx="14922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71" name="公式" r:id="rId25" imgW="647725" imgH="380864" progId="Equation.3">
                  <p:embed/>
                </p:oleObj>
              </mc:Choice>
              <mc:Fallback>
                <p:oleObj name="公式" r:id="rId25" imgW="647725" imgH="380864" progId="Equation.3">
                  <p:embed/>
                  <p:pic>
                    <p:nvPicPr>
                      <p:cNvPr id="97298" name="Object 8">
                        <a:extLst>
                          <a:ext uri="{FF2B5EF4-FFF2-40B4-BE49-F238E27FC236}">
                            <a16:creationId xmlns:a16="http://schemas.microsoft.com/office/drawing/2014/main" id="{AAEA96C6-8598-4A9D-9C30-9FCB5CC5FF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00" y="4164013"/>
                        <a:ext cx="149225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9" name="Object 9">
            <a:extLst>
              <a:ext uri="{FF2B5EF4-FFF2-40B4-BE49-F238E27FC236}">
                <a16:creationId xmlns:a16="http://schemas.microsoft.com/office/drawing/2014/main" id="{D4ECA32E-944E-4EEB-813E-DE70A938F0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3288" y="4164013"/>
          <a:ext cx="16859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72" name="公式" r:id="rId27" imgW="733355" imgH="390661" progId="Equation.3">
                  <p:embed/>
                </p:oleObj>
              </mc:Choice>
              <mc:Fallback>
                <p:oleObj name="公式" r:id="rId27" imgW="733355" imgH="390661" progId="Equation.3">
                  <p:embed/>
                  <p:pic>
                    <p:nvPicPr>
                      <p:cNvPr id="97299" name="Object 9">
                        <a:extLst>
                          <a:ext uri="{FF2B5EF4-FFF2-40B4-BE49-F238E27FC236}">
                            <a16:creationId xmlns:a16="http://schemas.microsoft.com/office/drawing/2014/main" id="{D4ECA32E-944E-4EEB-813E-DE70A938F0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4164013"/>
                        <a:ext cx="168592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00" name="Object 10">
            <a:extLst>
              <a:ext uri="{FF2B5EF4-FFF2-40B4-BE49-F238E27FC236}">
                <a16:creationId xmlns:a16="http://schemas.microsoft.com/office/drawing/2014/main" id="{376086AB-0D65-4A37-9671-1DFC65875A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96113" y="4183063"/>
          <a:ext cx="148907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73" name="公式" r:id="rId29" imgW="647725" imgH="390661" progId="Equation.3">
                  <p:embed/>
                </p:oleObj>
              </mc:Choice>
              <mc:Fallback>
                <p:oleObj name="公式" r:id="rId29" imgW="647725" imgH="390661" progId="Equation.3">
                  <p:embed/>
                  <p:pic>
                    <p:nvPicPr>
                      <p:cNvPr id="97300" name="Object 10">
                        <a:extLst>
                          <a:ext uri="{FF2B5EF4-FFF2-40B4-BE49-F238E27FC236}">
                            <a16:creationId xmlns:a16="http://schemas.microsoft.com/office/drawing/2014/main" id="{376086AB-0D65-4A37-9671-1DFC65875A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6113" y="4183063"/>
                        <a:ext cx="148907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01" name="Object 11">
            <a:extLst>
              <a:ext uri="{FF2B5EF4-FFF2-40B4-BE49-F238E27FC236}">
                <a16:creationId xmlns:a16="http://schemas.microsoft.com/office/drawing/2014/main" id="{25E89ED8-BE1F-4BBF-A60C-3C643D5DC4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81625" y="4181475"/>
          <a:ext cx="149225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74" name="公式" r:id="rId31" imgW="647725" imgH="390661" progId="Equation.3">
                  <p:embed/>
                </p:oleObj>
              </mc:Choice>
              <mc:Fallback>
                <p:oleObj name="公式" r:id="rId31" imgW="647725" imgH="390661" progId="Equation.3">
                  <p:embed/>
                  <p:pic>
                    <p:nvPicPr>
                      <p:cNvPr id="97301" name="Object 11">
                        <a:extLst>
                          <a:ext uri="{FF2B5EF4-FFF2-40B4-BE49-F238E27FC236}">
                            <a16:creationId xmlns:a16="http://schemas.microsoft.com/office/drawing/2014/main" id="{25E89ED8-BE1F-4BBF-A60C-3C643D5DC4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25" y="4181475"/>
                        <a:ext cx="1492250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02" name="Object 12">
            <a:extLst>
              <a:ext uri="{FF2B5EF4-FFF2-40B4-BE49-F238E27FC236}">
                <a16:creationId xmlns:a16="http://schemas.microsoft.com/office/drawing/2014/main" id="{B2DB1F5C-DD51-4B3C-B35E-F3A0815A8D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333375"/>
          <a:ext cx="772795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75" name="公式" r:id="rId33" imgW="2848096" imgH="419134" progId="Equation.3">
                  <p:embed/>
                </p:oleObj>
              </mc:Choice>
              <mc:Fallback>
                <p:oleObj name="公式" r:id="rId33" imgW="2848096" imgH="419134" progId="Equation.3">
                  <p:embed/>
                  <p:pic>
                    <p:nvPicPr>
                      <p:cNvPr id="97302" name="Object 12">
                        <a:extLst>
                          <a:ext uri="{FF2B5EF4-FFF2-40B4-BE49-F238E27FC236}">
                            <a16:creationId xmlns:a16="http://schemas.microsoft.com/office/drawing/2014/main" id="{B2DB1F5C-DD51-4B3C-B35E-F3A0815A8D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333375"/>
                        <a:ext cx="7727950" cy="109537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9" name="灯片编号占位符 1">
            <a:extLst>
              <a:ext uri="{FF2B5EF4-FFF2-40B4-BE49-F238E27FC236}">
                <a16:creationId xmlns:a16="http://schemas.microsoft.com/office/drawing/2014/main" id="{3AC62ED6-033A-43D8-85EC-DE53DE2784E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480278-C871-4930-8BF3-99F1A7553FB5}" type="slidenum">
              <a:rPr lang="en-US" altLang="zh-CN" b="0">
                <a:solidFill>
                  <a:srgbClr val="FF00FF"/>
                </a:solidFill>
              </a:rPr>
              <a:pPr eaLnBrk="1" hangingPunct="1"/>
              <a:t>23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7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7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7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7" name="Rectangle 37">
            <a:extLst>
              <a:ext uri="{FF2B5EF4-FFF2-40B4-BE49-F238E27FC236}">
                <a16:creationId xmlns:a16="http://schemas.microsoft.com/office/drawing/2014/main" id="{5C0CA7D0-D2CC-4ADB-8EF0-BB55AF8F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764357"/>
            <a:ext cx="8032750" cy="86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0" lang="zh-CN" altLang="en-US" sz="2000" dirty="0">
                <a:solidFill>
                  <a:srgbClr val="00FFFF"/>
                </a:solidFill>
              </a:rPr>
              <a:t>单色的线偏振光、圆和椭圆偏振光振动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</a:rPr>
              <a:t>可分解为两个相互垂直、同频率、相差恒定线偏振光振动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endParaRPr lang="zh-CN" altLang="en-US" sz="20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2C930507-34AE-4271-9545-96E0D6501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188640"/>
            <a:ext cx="4464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波晶片对</a:t>
            </a:r>
            <a:r>
              <a:rPr lang="zh-CN" altLang="en-US" dirty="0">
                <a:solidFill>
                  <a:srgbClr val="FFFF00"/>
                </a:solidFill>
              </a:rPr>
              <a:t>光的偏振态？</a:t>
            </a:r>
          </a:p>
        </p:txBody>
      </p:sp>
      <p:sp>
        <p:nvSpPr>
          <p:cNvPr id="71686" name="Rectangle 6">
            <a:extLst>
              <a:ext uri="{FF2B5EF4-FFF2-40B4-BE49-F238E27FC236}">
                <a16:creationId xmlns:a16="http://schemas.microsoft.com/office/drawing/2014/main" id="{7F55A7AA-D655-4888-A5BA-7959D37C9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5205413"/>
            <a:ext cx="2057400" cy="228600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FFFF"/>
            </a:extrusionClr>
            <a:contourClr>
              <a:srgbClr val="CCFFFF"/>
            </a:contourClr>
          </a:sp3d>
        </p:spPr>
        <p:txBody>
          <a:bodyPr wrap="none" anchor="ctr"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71687" name="Line 7">
            <a:extLst>
              <a:ext uri="{FF2B5EF4-FFF2-40B4-BE49-F238E27FC236}">
                <a16:creationId xmlns:a16="http://schemas.microsoft.com/office/drawing/2014/main" id="{EADD2CF7-6FB9-4539-8E06-479CF133EC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5325" y="4214813"/>
            <a:ext cx="0" cy="914400"/>
          </a:xfrm>
          <a:prstGeom prst="line">
            <a:avLst/>
          </a:prstGeom>
          <a:noFill/>
          <a:ln w="57150">
            <a:solidFill>
              <a:srgbClr val="99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1688" name="Object 2">
            <a:extLst>
              <a:ext uri="{FF2B5EF4-FFF2-40B4-BE49-F238E27FC236}">
                <a16:creationId xmlns:a16="http://schemas.microsoft.com/office/drawing/2014/main" id="{8782AE31-4287-4458-97CB-89F54B3579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750812"/>
              </p:ext>
            </p:extLst>
          </p:nvPr>
        </p:nvGraphicFramePr>
        <p:xfrm>
          <a:off x="4067944" y="1262088"/>
          <a:ext cx="155098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43" name="公式" r:id="rId3" imgW="1485976" imgH="304936" progId="Equation.3">
                  <p:embed/>
                </p:oleObj>
              </mc:Choice>
              <mc:Fallback>
                <p:oleObj name="公式" r:id="rId3" imgW="1485976" imgH="304936" progId="Equation.3">
                  <p:embed/>
                  <p:pic>
                    <p:nvPicPr>
                      <p:cNvPr id="71688" name="Object 2">
                        <a:extLst>
                          <a:ext uri="{FF2B5EF4-FFF2-40B4-BE49-F238E27FC236}">
                            <a16:creationId xmlns:a16="http://schemas.microsoft.com/office/drawing/2014/main" id="{8782AE31-4287-4458-97CB-89F54B3579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1262088"/>
                        <a:ext cx="1550988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9" name="Object 3">
            <a:extLst>
              <a:ext uri="{FF2B5EF4-FFF2-40B4-BE49-F238E27FC236}">
                <a16:creationId xmlns:a16="http://schemas.microsoft.com/office/drawing/2014/main" id="{630B8537-2C59-4D6A-A504-7212538C14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238060"/>
              </p:ext>
            </p:extLst>
          </p:nvPr>
        </p:nvGraphicFramePr>
        <p:xfrm>
          <a:off x="5940152" y="1252563"/>
          <a:ext cx="2443162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44" name="公式" r:id="rId5" imgW="2381110" imgH="304936" progId="Equation.3">
                  <p:embed/>
                </p:oleObj>
              </mc:Choice>
              <mc:Fallback>
                <p:oleObj name="公式" r:id="rId5" imgW="2381110" imgH="304936" progId="Equation.3">
                  <p:embed/>
                  <p:pic>
                    <p:nvPicPr>
                      <p:cNvPr id="71689" name="Object 3">
                        <a:extLst>
                          <a:ext uri="{FF2B5EF4-FFF2-40B4-BE49-F238E27FC236}">
                            <a16:creationId xmlns:a16="http://schemas.microsoft.com/office/drawing/2014/main" id="{630B8537-2C59-4D6A-A504-7212538C14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1252563"/>
                        <a:ext cx="2443162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0" name="Object 4">
            <a:extLst>
              <a:ext uri="{FF2B5EF4-FFF2-40B4-BE49-F238E27FC236}">
                <a16:creationId xmlns:a16="http://schemas.microsoft.com/office/drawing/2014/main" id="{BBA814B2-666E-41D9-BC86-F41004FAE9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4425950"/>
          <a:ext cx="8318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45" name="公式" r:id="rId7" imgW="400012" imgH="133486" progId="Equation.3">
                  <p:embed/>
                </p:oleObj>
              </mc:Choice>
              <mc:Fallback>
                <p:oleObj name="公式" r:id="rId7" imgW="400012" imgH="133486" progId="Equation.3">
                  <p:embed/>
                  <p:pic>
                    <p:nvPicPr>
                      <p:cNvPr id="71690" name="Object 4">
                        <a:extLst>
                          <a:ext uri="{FF2B5EF4-FFF2-40B4-BE49-F238E27FC236}">
                            <a16:creationId xmlns:a16="http://schemas.microsoft.com/office/drawing/2014/main" id="{BBA814B2-666E-41D9-BC86-F41004FAE9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4425950"/>
                        <a:ext cx="83185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1" name="Object 5">
            <a:extLst>
              <a:ext uri="{FF2B5EF4-FFF2-40B4-BE49-F238E27FC236}">
                <a16:creationId xmlns:a16="http://schemas.microsoft.com/office/drawing/2014/main" id="{9482DB19-7ED2-414A-B730-6BAB69B62C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3425" y="4425950"/>
          <a:ext cx="8572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46" name="公式" r:id="rId9" imgW="418973" imgH="133486" progId="Equation.3">
                  <p:embed/>
                </p:oleObj>
              </mc:Choice>
              <mc:Fallback>
                <p:oleObj name="公式" r:id="rId9" imgW="418973" imgH="133486" progId="Equation.3">
                  <p:embed/>
                  <p:pic>
                    <p:nvPicPr>
                      <p:cNvPr id="71691" name="Object 5">
                        <a:extLst>
                          <a:ext uri="{FF2B5EF4-FFF2-40B4-BE49-F238E27FC236}">
                            <a16:creationId xmlns:a16="http://schemas.microsoft.com/office/drawing/2014/main" id="{9482DB19-7ED2-414A-B730-6BAB69B62C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3425" y="4425950"/>
                        <a:ext cx="85725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2" name="Object 6">
            <a:extLst>
              <a:ext uri="{FF2B5EF4-FFF2-40B4-BE49-F238E27FC236}">
                <a16:creationId xmlns:a16="http://schemas.microsoft.com/office/drawing/2014/main" id="{2A32AA06-7254-4964-9484-55D9994B46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9175" y="5565775"/>
          <a:ext cx="98901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47" name="公式" r:id="rId11" imgW="1028776" imgH="657327" progId="Equation.3">
                  <p:embed/>
                </p:oleObj>
              </mc:Choice>
              <mc:Fallback>
                <p:oleObj name="公式" r:id="rId11" imgW="1028776" imgH="657327" progId="Equation.3">
                  <p:embed/>
                  <p:pic>
                    <p:nvPicPr>
                      <p:cNvPr id="71692" name="Object 6">
                        <a:extLst>
                          <a:ext uri="{FF2B5EF4-FFF2-40B4-BE49-F238E27FC236}">
                            <a16:creationId xmlns:a16="http://schemas.microsoft.com/office/drawing/2014/main" id="{2A32AA06-7254-4964-9484-55D9994B46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9175" y="5565775"/>
                        <a:ext cx="989013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3" name="Object 7">
            <a:extLst>
              <a:ext uri="{FF2B5EF4-FFF2-40B4-BE49-F238E27FC236}">
                <a16:creationId xmlns:a16="http://schemas.microsoft.com/office/drawing/2014/main" id="{3D0272A4-4AC2-4F93-AD7C-F93909BCB6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5640388"/>
          <a:ext cx="1136650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48" name="公式" r:id="rId13" imgW="618978" imgH="323918" progId="Equation.3">
                  <p:embed/>
                </p:oleObj>
              </mc:Choice>
              <mc:Fallback>
                <p:oleObj name="公式" r:id="rId13" imgW="618978" imgH="323918" progId="Equation.3">
                  <p:embed/>
                  <p:pic>
                    <p:nvPicPr>
                      <p:cNvPr id="71693" name="Object 7">
                        <a:extLst>
                          <a:ext uri="{FF2B5EF4-FFF2-40B4-BE49-F238E27FC236}">
                            <a16:creationId xmlns:a16="http://schemas.microsoft.com/office/drawing/2014/main" id="{3D0272A4-4AC2-4F93-AD7C-F93909BCB6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5640388"/>
                        <a:ext cx="1136650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694" name="Picture 14" descr="f14">
            <a:extLst>
              <a:ext uri="{FF2B5EF4-FFF2-40B4-BE49-F238E27FC236}">
                <a16:creationId xmlns:a16="http://schemas.microsoft.com/office/drawing/2014/main" id="{DB9A131B-31FB-4321-B70C-10C9AC99A2A8}"/>
              </a:ext>
            </a:extLst>
          </p:cNvPr>
          <p:cNvPicPr>
            <a:picLocks noChangeArrowheads="1"/>
          </p:cNvPicPr>
          <p:nvPr/>
        </p:nvPicPr>
        <p:blipFill>
          <a:blip r:embed="rId1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963" y="4214813"/>
            <a:ext cx="1752600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95" name="Picture 15" descr="f14">
            <a:extLst>
              <a:ext uri="{FF2B5EF4-FFF2-40B4-BE49-F238E27FC236}">
                <a16:creationId xmlns:a16="http://schemas.microsoft.com/office/drawing/2014/main" id="{4463E5C3-032E-44D4-A16F-695D3ADE2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238" y="5562600"/>
            <a:ext cx="165258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96" name="Picture 16" descr="f14">
            <a:extLst>
              <a:ext uri="{FF2B5EF4-FFF2-40B4-BE49-F238E27FC236}">
                <a16:creationId xmlns:a16="http://schemas.microsoft.com/office/drawing/2014/main" id="{AF2A47CA-FE19-481D-AFD8-8311F8B499EA}"/>
              </a:ext>
            </a:extLst>
          </p:cNvPr>
          <p:cNvPicPr>
            <a:picLocks noChangeArrowheads="1"/>
          </p:cNvPicPr>
          <p:nvPr/>
        </p:nvPicPr>
        <p:blipFill>
          <a:blip r:embed="rId17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800" y="4214813"/>
            <a:ext cx="1749425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97" name="Picture 17" descr="f14">
            <a:extLst>
              <a:ext uri="{FF2B5EF4-FFF2-40B4-BE49-F238E27FC236}">
                <a16:creationId xmlns:a16="http://schemas.microsoft.com/office/drawing/2014/main" id="{A1C43104-5408-45E6-9394-8647C793FB1E}"/>
              </a:ext>
            </a:extLst>
          </p:cNvPr>
          <p:cNvPicPr>
            <a:picLocks noChangeArrowheads="1"/>
          </p:cNvPicPr>
          <p:nvPr/>
        </p:nvPicPr>
        <p:blipFill>
          <a:blip r:embed="rId18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5562600"/>
            <a:ext cx="1752600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40">
            <a:extLst>
              <a:ext uri="{FF2B5EF4-FFF2-40B4-BE49-F238E27FC236}">
                <a16:creationId xmlns:a16="http://schemas.microsoft.com/office/drawing/2014/main" id="{69FCE37C-6D77-4DE9-9703-B9FE77BF1403}"/>
              </a:ext>
            </a:extLst>
          </p:cNvPr>
          <p:cNvGrpSpPr>
            <a:grpSpLocks/>
          </p:cNvGrpSpPr>
          <p:nvPr/>
        </p:nvGrpSpPr>
        <p:grpSpPr bwMode="auto">
          <a:xfrm>
            <a:off x="3491880" y="188640"/>
            <a:ext cx="3672800" cy="449262"/>
            <a:chOff x="1052259" y="892175"/>
            <a:chExt cx="3672973" cy="449263"/>
          </a:xfrm>
        </p:grpSpPr>
        <p:sp>
          <p:nvSpPr>
            <p:cNvPr id="7212" name="Text Box 5">
              <a:extLst>
                <a:ext uri="{FF2B5EF4-FFF2-40B4-BE49-F238E27FC236}">
                  <a16:creationId xmlns:a16="http://schemas.microsoft.com/office/drawing/2014/main" id="{A8FE79FA-D6C5-450D-93FA-FE48FC2C0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2259" y="892175"/>
              <a:ext cx="3672973" cy="400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dirty="0">
                  <a:solidFill>
                    <a:schemeClr val="bg1"/>
                  </a:solidFill>
                  <a:latin typeface="宋体" panose="02010600030101010101" pitchFamily="2" charset="-122"/>
                </a:rPr>
                <a:t>如</a:t>
              </a:r>
              <a:r>
                <a:rPr lang="en-US" altLang="zh-CN" sz="2000" dirty="0">
                  <a:solidFill>
                    <a:schemeClr val="bg1"/>
                  </a:solidFill>
                  <a:latin typeface="宋体" panose="02010600030101010101" pitchFamily="2" charset="-122"/>
                </a:rPr>
                <a:t>:</a:t>
              </a:r>
              <a:r>
                <a:rPr lang="zh-CN" altLang="en-US" sz="2000" dirty="0">
                  <a:solidFill>
                    <a:srgbClr val="66FFFF"/>
                  </a:solidFill>
                  <a:latin typeface="宋体" panose="02010600030101010101" pitchFamily="2" charset="-122"/>
                </a:rPr>
                <a:t>单色线偏振光</a:t>
              </a:r>
              <a:r>
                <a:rPr lang="zh-CN" altLang="en-US" sz="2000" dirty="0">
                  <a:solidFill>
                    <a:schemeClr val="bg1"/>
                  </a:solidFill>
                  <a:latin typeface="宋体" panose="02010600030101010101" pitchFamily="2" charset="-122"/>
                </a:rPr>
                <a:t>经    </a:t>
              </a:r>
              <a:r>
                <a:rPr lang="zh-CN" altLang="en-US" sz="2000" dirty="0">
                  <a:solidFill>
                    <a:srgbClr val="66FFFF"/>
                  </a:solidFill>
                  <a:latin typeface="宋体" panose="02010600030101010101" pitchFamily="2" charset="-122"/>
                </a:rPr>
                <a:t>波片</a:t>
              </a:r>
              <a:r>
                <a:rPr lang="zh-CN" altLang="en-US" sz="2000" dirty="0">
                  <a:solidFill>
                    <a:schemeClr val="bg1"/>
                  </a:solidFill>
                  <a:latin typeface="宋体" panose="02010600030101010101" pitchFamily="2" charset="-122"/>
                </a:rPr>
                <a:t>后</a:t>
              </a:r>
            </a:p>
          </p:txBody>
        </p:sp>
        <p:graphicFrame>
          <p:nvGraphicFramePr>
            <p:cNvPr id="7213" name="Object 8">
              <a:extLst>
                <a:ext uri="{FF2B5EF4-FFF2-40B4-BE49-F238E27FC236}">
                  <a16:creationId xmlns:a16="http://schemas.microsoft.com/office/drawing/2014/main" id="{C4189FAF-B215-43B0-B93D-563B53F6928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353281" y="912813"/>
            <a:ext cx="465138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449" name="Equation" r:id="rId19" imgW="161778" imgH="152468" progId="Equation.3">
                    <p:embed/>
                  </p:oleObj>
                </mc:Choice>
                <mc:Fallback>
                  <p:oleObj name="Equation" r:id="rId19" imgW="161778" imgH="152468" progId="Equation.3">
                    <p:embed/>
                    <p:pic>
                      <p:nvPicPr>
                        <p:cNvPr id="7213" name="Object 8">
                          <a:extLst>
                            <a:ext uri="{FF2B5EF4-FFF2-40B4-BE49-F238E27FC236}">
                              <a16:creationId xmlns:a16="http://schemas.microsoft.com/office/drawing/2014/main" id="{C4189FAF-B215-43B0-B93D-563B53F692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3281" y="912813"/>
                          <a:ext cx="465138" cy="428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699" name="Text Box 19">
            <a:extLst>
              <a:ext uri="{FF2B5EF4-FFF2-40B4-BE49-F238E27FC236}">
                <a16:creationId xmlns:a16="http://schemas.microsoft.com/office/drawing/2014/main" id="{D1F455C3-6EEA-40BB-B35C-8D3A477EE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2831" y="208583"/>
            <a:ext cx="1928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FFFF"/>
                </a:solidFill>
              </a:rPr>
              <a:t>椭圆偏振光</a:t>
            </a:r>
          </a:p>
        </p:txBody>
      </p:sp>
      <p:grpSp>
        <p:nvGrpSpPr>
          <p:cNvPr id="3" name="Group 20">
            <a:extLst>
              <a:ext uri="{FF2B5EF4-FFF2-40B4-BE49-F238E27FC236}">
                <a16:creationId xmlns:a16="http://schemas.microsoft.com/office/drawing/2014/main" id="{1FBAFA18-E4E3-4EFF-92B7-98846E0A7821}"/>
              </a:ext>
            </a:extLst>
          </p:cNvPr>
          <p:cNvGrpSpPr>
            <a:grpSpLocks/>
          </p:cNvGrpSpPr>
          <p:nvPr/>
        </p:nvGrpSpPr>
        <p:grpSpPr bwMode="auto">
          <a:xfrm>
            <a:off x="4291013" y="5434013"/>
            <a:ext cx="469900" cy="1187450"/>
            <a:chOff x="4344" y="1367"/>
            <a:chExt cx="296" cy="748"/>
          </a:xfrm>
        </p:grpSpPr>
        <p:grpSp>
          <p:nvGrpSpPr>
            <p:cNvPr id="7202" name="Group 21">
              <a:extLst>
                <a:ext uri="{FF2B5EF4-FFF2-40B4-BE49-F238E27FC236}">
                  <a16:creationId xmlns:a16="http://schemas.microsoft.com/office/drawing/2014/main" id="{B7EBA57C-F1A1-4E83-8C09-EAC89DA9B8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4" y="1376"/>
              <a:ext cx="144" cy="739"/>
              <a:chOff x="4344" y="1376"/>
              <a:chExt cx="144" cy="739"/>
            </a:xfrm>
          </p:grpSpPr>
          <p:sp>
            <p:nvSpPr>
              <p:cNvPr id="7208" name="Line 22">
                <a:extLst>
                  <a:ext uri="{FF2B5EF4-FFF2-40B4-BE49-F238E27FC236}">
                    <a16:creationId xmlns:a16="http://schemas.microsoft.com/office/drawing/2014/main" id="{BB5D5063-326B-4075-83B5-E2C03126B4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376"/>
                <a:ext cx="0" cy="739"/>
              </a:xfrm>
              <a:prstGeom prst="line">
                <a:avLst/>
              </a:prstGeom>
              <a:noFill/>
              <a:ln w="28575">
                <a:solidFill>
                  <a:srgbClr val="99FF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9" name="Line 23">
                <a:extLst>
                  <a:ext uri="{FF2B5EF4-FFF2-40B4-BE49-F238E27FC236}">
                    <a16:creationId xmlns:a16="http://schemas.microsoft.com/office/drawing/2014/main" id="{7A12AC58-D0B3-40CB-A797-86A27FDA5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4" y="1466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99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0" name="Line 24">
                <a:extLst>
                  <a:ext uri="{FF2B5EF4-FFF2-40B4-BE49-F238E27FC236}">
                    <a16:creationId xmlns:a16="http://schemas.microsoft.com/office/drawing/2014/main" id="{8E1CD832-D34A-4A44-A177-78F1A2BEC8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4" y="1628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99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1" name="Line 25">
                <a:extLst>
                  <a:ext uri="{FF2B5EF4-FFF2-40B4-BE49-F238E27FC236}">
                    <a16:creationId xmlns:a16="http://schemas.microsoft.com/office/drawing/2014/main" id="{C23D923B-64C6-42CB-907A-EA39CE6138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4" y="1827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99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203" name="Group 26">
              <a:extLst>
                <a:ext uri="{FF2B5EF4-FFF2-40B4-BE49-F238E27FC236}">
                  <a16:creationId xmlns:a16="http://schemas.microsoft.com/office/drawing/2014/main" id="{42EEF64B-1B9C-4D7A-99EE-BE9456E1B9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9" y="1367"/>
              <a:ext cx="161" cy="748"/>
              <a:chOff x="4479" y="1367"/>
              <a:chExt cx="161" cy="748"/>
            </a:xfrm>
          </p:grpSpPr>
          <p:sp>
            <p:nvSpPr>
              <p:cNvPr id="7204" name="Line 27">
                <a:extLst>
                  <a:ext uri="{FF2B5EF4-FFF2-40B4-BE49-F238E27FC236}">
                    <a16:creationId xmlns:a16="http://schemas.microsoft.com/office/drawing/2014/main" id="{1E3D21AE-84AF-49C0-B085-5738F5FAD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394"/>
                <a:ext cx="0" cy="721"/>
              </a:xfrm>
              <a:prstGeom prst="line">
                <a:avLst/>
              </a:prstGeom>
              <a:noFill/>
              <a:ln w="28575">
                <a:solidFill>
                  <a:srgbClr val="99FF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7205" name="Object 13">
                <a:extLst>
                  <a:ext uri="{FF2B5EF4-FFF2-40B4-BE49-F238E27FC236}">
                    <a16:creationId xmlns:a16="http://schemas.microsoft.com/office/drawing/2014/main" id="{FCCF2B77-4449-4E9C-91FE-B35ABA7C1D0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79" y="1367"/>
              <a:ext cx="161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450" name="Equation" r:id="rId21" imgW="47708" imgH="57252" progId="Equation.3">
                      <p:embed/>
                    </p:oleObj>
                  </mc:Choice>
                  <mc:Fallback>
                    <p:oleObj name="Equation" r:id="rId21" imgW="47708" imgH="57252" progId="Equation.3">
                      <p:embed/>
                      <p:pic>
                        <p:nvPicPr>
                          <p:cNvPr id="7205" name="Object 13">
                            <a:extLst>
                              <a:ext uri="{FF2B5EF4-FFF2-40B4-BE49-F238E27FC236}">
                                <a16:creationId xmlns:a16="http://schemas.microsoft.com/office/drawing/2014/main" id="{FCCF2B77-4449-4E9C-91FE-B35ABA7C1D0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9" y="1367"/>
                            <a:ext cx="161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06" name="Object 14">
                <a:extLst>
                  <a:ext uri="{FF2B5EF4-FFF2-40B4-BE49-F238E27FC236}">
                    <a16:creationId xmlns:a16="http://schemas.microsoft.com/office/drawing/2014/main" id="{13A5D054-F99D-440A-BFA0-624B6DFA6FD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79" y="1538"/>
              <a:ext cx="161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451" name="Equation" r:id="rId23" imgW="47708" imgH="57252" progId="Equation.3">
                      <p:embed/>
                    </p:oleObj>
                  </mc:Choice>
                  <mc:Fallback>
                    <p:oleObj name="Equation" r:id="rId23" imgW="47708" imgH="57252" progId="Equation.3">
                      <p:embed/>
                      <p:pic>
                        <p:nvPicPr>
                          <p:cNvPr id="7206" name="Object 14">
                            <a:extLst>
                              <a:ext uri="{FF2B5EF4-FFF2-40B4-BE49-F238E27FC236}">
                                <a16:creationId xmlns:a16="http://schemas.microsoft.com/office/drawing/2014/main" id="{13A5D054-F99D-440A-BFA0-624B6DFA6FD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9" y="1538"/>
                            <a:ext cx="161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07" name="Object 15">
                <a:extLst>
                  <a:ext uri="{FF2B5EF4-FFF2-40B4-BE49-F238E27FC236}">
                    <a16:creationId xmlns:a16="http://schemas.microsoft.com/office/drawing/2014/main" id="{F12B3380-B885-43C9-B53B-36C05446909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79" y="1738"/>
              <a:ext cx="161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452" name="Equation" r:id="rId25" imgW="47708" imgH="57252" progId="Equation.3">
                      <p:embed/>
                    </p:oleObj>
                  </mc:Choice>
                  <mc:Fallback>
                    <p:oleObj name="Equation" r:id="rId25" imgW="47708" imgH="57252" progId="Equation.3">
                      <p:embed/>
                      <p:pic>
                        <p:nvPicPr>
                          <p:cNvPr id="7207" name="Object 15">
                            <a:extLst>
                              <a:ext uri="{FF2B5EF4-FFF2-40B4-BE49-F238E27FC236}">
                                <a16:creationId xmlns:a16="http://schemas.microsoft.com/office/drawing/2014/main" id="{F12B3380-B885-43C9-B53B-36C05446909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9" y="1738"/>
                            <a:ext cx="161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31">
            <a:extLst>
              <a:ext uri="{FF2B5EF4-FFF2-40B4-BE49-F238E27FC236}">
                <a16:creationId xmlns:a16="http://schemas.microsoft.com/office/drawing/2014/main" id="{B12ADD3A-4E33-467D-91D7-07F3C04CAB28}"/>
              </a:ext>
            </a:extLst>
          </p:cNvPr>
          <p:cNvGrpSpPr>
            <a:grpSpLocks/>
          </p:cNvGrpSpPr>
          <p:nvPr/>
        </p:nvGrpSpPr>
        <p:grpSpPr bwMode="auto">
          <a:xfrm>
            <a:off x="5815013" y="5019675"/>
            <a:ext cx="1185862" cy="484188"/>
            <a:chOff x="3645" y="3199"/>
            <a:chExt cx="747" cy="305"/>
          </a:xfrm>
        </p:grpSpPr>
        <p:sp>
          <p:nvSpPr>
            <p:cNvPr id="7199" name="AutoShape 32">
              <a:extLst>
                <a:ext uri="{FF2B5EF4-FFF2-40B4-BE49-F238E27FC236}">
                  <a16:creationId xmlns:a16="http://schemas.microsoft.com/office/drawing/2014/main" id="{9B9BF72E-F0C3-4D8C-826D-C90AC9EAE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216"/>
              <a:ext cx="720" cy="240"/>
            </a:xfrm>
            <a:prstGeom prst="wedgeRectCallout">
              <a:avLst>
                <a:gd name="adj1" fmla="val -69171"/>
                <a:gd name="adj2" fmla="val 5102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chemeClr val="bg1"/>
                </a:solidFill>
              </a:endParaRPr>
            </a:p>
          </p:txBody>
        </p:sp>
        <p:graphicFrame>
          <p:nvGraphicFramePr>
            <p:cNvPr id="7200" name="Object 12">
              <a:extLst>
                <a:ext uri="{FF2B5EF4-FFF2-40B4-BE49-F238E27FC236}">
                  <a16:creationId xmlns:a16="http://schemas.microsoft.com/office/drawing/2014/main" id="{D7C15849-7C18-4C09-8371-AD7CA6FD87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5" y="3234"/>
            <a:ext cx="293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453" name="Equation" r:id="rId27" imgW="161778" imgH="152468" progId="Equation.3">
                    <p:embed/>
                  </p:oleObj>
                </mc:Choice>
                <mc:Fallback>
                  <p:oleObj name="Equation" r:id="rId27" imgW="161778" imgH="152468" progId="Equation.3">
                    <p:embed/>
                    <p:pic>
                      <p:nvPicPr>
                        <p:cNvPr id="7200" name="Object 12">
                          <a:extLst>
                            <a:ext uri="{FF2B5EF4-FFF2-40B4-BE49-F238E27FC236}">
                              <a16:creationId xmlns:a16="http://schemas.microsoft.com/office/drawing/2014/main" id="{D7C15849-7C18-4C09-8371-AD7CA6FD87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5" y="3234"/>
                          <a:ext cx="293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1" name="Text Box 34">
              <a:extLst>
                <a:ext uri="{FF2B5EF4-FFF2-40B4-BE49-F238E27FC236}">
                  <a16:creationId xmlns:a16="http://schemas.microsoft.com/office/drawing/2014/main" id="{41099FEE-078F-433F-BE45-ED105C5D36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199"/>
              <a:ext cx="5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chemeClr val="bg1"/>
                  </a:solidFill>
                  <a:ea typeface="楷体_GB2312" pitchFamily="49" charset="-122"/>
                </a:rPr>
                <a:t>波片</a:t>
              </a:r>
              <a:endParaRPr lang="zh-CN" altLang="en-US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71718" name="Text Box 38">
            <a:extLst>
              <a:ext uri="{FF2B5EF4-FFF2-40B4-BE49-F238E27FC236}">
                <a16:creationId xmlns:a16="http://schemas.microsoft.com/office/drawing/2014/main" id="{61940553-7596-43F2-B489-5E8C8201A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260" y="2382930"/>
            <a:ext cx="2598980" cy="438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垂直入射        波片</a:t>
            </a:r>
            <a:endParaRPr lang="zh-CN" altLang="en-US" sz="20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71721" name="Rectangle 41">
            <a:extLst>
              <a:ext uri="{FF2B5EF4-FFF2-40B4-BE49-F238E27FC236}">
                <a16:creationId xmlns:a16="http://schemas.microsoft.com/office/drawing/2014/main" id="{6346A921-3EDD-4E7E-B2DF-39F7DFB8E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57728"/>
            <a:ext cx="3679820" cy="1418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线偏振光</a:t>
            </a:r>
            <a:r>
              <a:rPr lang="en-US" altLang="zh-CN" sz="2000" dirty="0">
                <a:solidFill>
                  <a:schemeClr val="bg1"/>
                </a:solidFill>
              </a:rPr>
              <a:t>: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分解为两个垂直的光振动</a:t>
            </a:r>
            <a:r>
              <a:rPr lang="en-US" altLang="zh-CN" sz="2000" dirty="0">
                <a:solidFill>
                  <a:schemeClr val="bg1"/>
                </a:solidFill>
              </a:rPr>
              <a:t>,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相位差</a:t>
            </a:r>
            <a:r>
              <a:rPr lang="en-US" altLang="zh-CN" sz="2000" dirty="0">
                <a:solidFill>
                  <a:schemeClr val="bg1"/>
                </a:solidFill>
              </a:rPr>
              <a:t>: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71722" name="Object 9">
            <a:extLst>
              <a:ext uri="{FF2B5EF4-FFF2-40B4-BE49-F238E27FC236}">
                <a16:creationId xmlns:a16="http://schemas.microsoft.com/office/drawing/2014/main" id="{F6939D5B-942E-47AF-8F53-15F746C7DDF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93875" y="2853184"/>
          <a:ext cx="16017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54" name="公式" r:id="rId29" imgW="733355" imgH="152468" progId="Equation.3">
                  <p:embed/>
                </p:oleObj>
              </mc:Choice>
              <mc:Fallback>
                <p:oleObj name="公式" r:id="rId29" imgW="733355" imgH="152468" progId="Equation.3">
                  <p:embed/>
                  <p:pic>
                    <p:nvPicPr>
                      <p:cNvPr id="71722" name="Object 9">
                        <a:extLst>
                          <a:ext uri="{FF2B5EF4-FFF2-40B4-BE49-F238E27FC236}">
                            <a16:creationId xmlns:a16="http://schemas.microsoft.com/office/drawing/2014/main" id="{F6939D5B-942E-47AF-8F53-15F746C7DD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75" y="2853184"/>
                        <a:ext cx="16017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3" name="Rectangle 43">
            <a:extLst>
              <a:ext uri="{FF2B5EF4-FFF2-40B4-BE49-F238E27FC236}">
                <a16:creationId xmlns:a16="http://schemas.microsoft.com/office/drawing/2014/main" id="{B145428E-04DE-4A5A-B8A5-FE9248E20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77580"/>
            <a:ext cx="3032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透过波片后相位差：</a:t>
            </a:r>
          </a:p>
        </p:txBody>
      </p:sp>
      <p:graphicFrame>
        <p:nvGraphicFramePr>
          <p:cNvPr id="71724" name="Object 10">
            <a:extLst>
              <a:ext uri="{FF2B5EF4-FFF2-40B4-BE49-F238E27FC236}">
                <a16:creationId xmlns:a16="http://schemas.microsoft.com/office/drawing/2014/main" id="{23A50F78-8A84-4FC2-A25B-064899EE1EC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08325" y="3393430"/>
          <a:ext cx="308292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55" name="公式" r:id="rId31" imgW="1543165" imgH="323918" progId="Equation.3">
                  <p:embed/>
                </p:oleObj>
              </mc:Choice>
              <mc:Fallback>
                <p:oleObj name="公式" r:id="rId31" imgW="1543165" imgH="323918" progId="Equation.3">
                  <p:embed/>
                  <p:pic>
                    <p:nvPicPr>
                      <p:cNvPr id="71724" name="Object 10">
                        <a:extLst>
                          <a:ext uri="{FF2B5EF4-FFF2-40B4-BE49-F238E27FC236}">
                            <a16:creationId xmlns:a16="http://schemas.microsoft.com/office/drawing/2014/main" id="{23A50F78-8A84-4FC2-A25B-064899EE1E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3393430"/>
                        <a:ext cx="308292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5" name="Object 11">
            <a:extLst>
              <a:ext uri="{FF2B5EF4-FFF2-40B4-BE49-F238E27FC236}">
                <a16:creationId xmlns:a16="http://schemas.microsoft.com/office/drawing/2014/main" id="{F51AC10A-73E3-4858-A8DD-B2D74BB12CB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228184" y="3428355"/>
          <a:ext cx="11080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56" name="公式" r:id="rId33" imgW="542829" imgH="323918" progId="Equation.3">
                  <p:embed/>
                </p:oleObj>
              </mc:Choice>
              <mc:Fallback>
                <p:oleObj name="公式" r:id="rId33" imgW="542829" imgH="323918" progId="Equation.3">
                  <p:embed/>
                  <p:pic>
                    <p:nvPicPr>
                      <p:cNvPr id="71725" name="Object 11">
                        <a:extLst>
                          <a:ext uri="{FF2B5EF4-FFF2-40B4-BE49-F238E27FC236}">
                            <a16:creationId xmlns:a16="http://schemas.microsoft.com/office/drawing/2014/main" id="{F51AC10A-73E3-4858-A8DD-B2D74BB12C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3428355"/>
                        <a:ext cx="11080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6" name="Text Box 46">
            <a:extLst>
              <a:ext uri="{FF2B5EF4-FFF2-40B4-BE49-F238E27FC236}">
                <a16:creationId xmlns:a16="http://schemas.microsoft.com/office/drawing/2014/main" id="{E57FB80D-3933-4970-B991-950186B85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6256" y="-99392"/>
            <a:ext cx="9525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6000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7195" name="灯片编号占位符 1">
            <a:extLst>
              <a:ext uri="{FF2B5EF4-FFF2-40B4-BE49-F238E27FC236}">
                <a16:creationId xmlns:a16="http://schemas.microsoft.com/office/drawing/2014/main" id="{3CDD8FE9-6E99-4F79-A63C-27A6C4A0DF1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6F370D4-B3A4-4D99-92F1-FEE5B47FB2D3}" type="slidenum">
              <a:rPr lang="en-US" altLang="zh-CN" b="0">
                <a:solidFill>
                  <a:srgbClr val="FF00FF"/>
                </a:solidFill>
              </a:rPr>
              <a:pPr eaLnBrk="1" hangingPunct="1"/>
              <a:t>24</a:t>
            </a:fld>
            <a:r>
              <a:rPr lang="en-US" altLang="zh-CN" b="0">
                <a:solidFill>
                  <a:srgbClr val="FF00FF"/>
                </a:solidFill>
              </a:rPr>
              <a:t>/33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E14FE50-7AE6-410A-86FB-EA18D357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772120"/>
            <a:ext cx="8001000" cy="928688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4" name="Text Box 34">
            <a:extLst>
              <a:ext uri="{FF2B5EF4-FFF2-40B4-BE49-F238E27FC236}">
                <a16:creationId xmlns:a16="http://schemas.microsoft.com/office/drawing/2014/main" id="{26237066-9F19-4C59-9B26-D0A092071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4140200"/>
            <a:ext cx="8826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 dirty="0">
                <a:solidFill>
                  <a:schemeClr val="hlink"/>
                </a:solidFill>
                <a:latin typeface="宋体" panose="02010600030101010101" pitchFamily="2" charset="-122"/>
              </a:rPr>
              <a:t>单色线</a:t>
            </a:r>
            <a:endParaRPr lang="en-US" altLang="zh-CN" sz="1800" dirty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algn="ctr"/>
            <a:r>
              <a:rPr lang="zh-CN" altLang="en-US" sz="1800" dirty="0">
                <a:solidFill>
                  <a:schemeClr val="hlink"/>
                </a:solidFill>
                <a:latin typeface="宋体" panose="02010600030101010101" pitchFamily="2" charset="-122"/>
              </a:rPr>
              <a:t>偏振光</a:t>
            </a:r>
          </a:p>
        </p:txBody>
      </p:sp>
      <p:graphicFrame>
        <p:nvGraphicFramePr>
          <p:cNvPr id="45" name="Object 43">
            <a:extLst>
              <a:ext uri="{FF2B5EF4-FFF2-40B4-BE49-F238E27FC236}">
                <a16:creationId xmlns:a16="http://schemas.microsoft.com/office/drawing/2014/main" id="{92C5E6F5-004B-4458-A9BA-214DA2F236B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263560" y="2424311"/>
          <a:ext cx="43230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57" name="Equation" r:id="rId35" imgW="161778" imgH="152468" progId="Equation.3">
                  <p:embed/>
                </p:oleObj>
              </mc:Choice>
              <mc:Fallback>
                <p:oleObj name="Equation" r:id="rId35" imgW="161778" imgH="152468" progId="Equation.3">
                  <p:embed/>
                  <p:pic>
                    <p:nvPicPr>
                      <p:cNvPr id="45" name="Object 43">
                        <a:extLst>
                          <a:ext uri="{FF2B5EF4-FFF2-40B4-BE49-F238E27FC236}">
                            <a16:creationId xmlns:a16="http://schemas.microsoft.com/office/drawing/2014/main" id="{92C5E6F5-004B-4458-A9BA-214DA2F236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3560" y="2424311"/>
                        <a:ext cx="43230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FE955DA8-867D-4D85-A9DE-6681EE71D60F}"/>
              </a:ext>
            </a:extLst>
          </p:cNvPr>
          <p:cNvGrpSpPr/>
          <p:nvPr/>
        </p:nvGrpSpPr>
        <p:grpSpPr>
          <a:xfrm>
            <a:off x="6444208" y="2173679"/>
            <a:ext cx="1820876" cy="1255321"/>
            <a:chOff x="6745936" y="2247479"/>
            <a:chExt cx="1820876" cy="1255321"/>
          </a:xfrm>
        </p:grpSpPr>
        <p:sp>
          <p:nvSpPr>
            <p:cNvPr id="55" name="Line 5">
              <a:extLst>
                <a:ext uri="{FF2B5EF4-FFF2-40B4-BE49-F238E27FC236}">
                  <a16:creationId xmlns:a16="http://schemas.microsoft.com/office/drawing/2014/main" id="{F5ADB124-1028-4ADA-A38A-21FDCE483D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64288" y="2249283"/>
              <a:ext cx="0" cy="125351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EFB15F3-1BAB-4FE0-A3A9-D6CDBB425C4A}"/>
                </a:ext>
              </a:extLst>
            </p:cNvPr>
            <p:cNvGrpSpPr/>
            <p:nvPr/>
          </p:nvGrpSpPr>
          <p:grpSpPr>
            <a:xfrm>
              <a:off x="6745936" y="2247479"/>
              <a:ext cx="1820876" cy="1253530"/>
              <a:chOff x="842963" y="2378244"/>
              <a:chExt cx="2895600" cy="1047581"/>
            </a:xfrm>
          </p:grpSpPr>
          <p:sp>
            <p:nvSpPr>
              <p:cNvPr id="48" name="Line 5">
                <a:extLst>
                  <a:ext uri="{FF2B5EF4-FFF2-40B4-BE49-F238E27FC236}">
                    <a16:creationId xmlns:a16="http://schemas.microsoft.com/office/drawing/2014/main" id="{D5DDF21D-7990-4C9B-A897-C8E474E38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11360" y="2378244"/>
                <a:ext cx="0" cy="104757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Rectangle 2">
                <a:extLst>
                  <a:ext uri="{FF2B5EF4-FFF2-40B4-BE49-F238E27FC236}">
                    <a16:creationId xmlns:a16="http://schemas.microsoft.com/office/drawing/2014/main" id="{5F3C83F3-C5B7-43FB-BCE9-0464F3439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2963" y="2381250"/>
                <a:ext cx="2895600" cy="1044575"/>
              </a:xfrm>
              <a:prstGeom prst="rect">
                <a:avLst/>
              </a:prstGeom>
              <a:solidFill>
                <a:srgbClr val="FFFF00">
                  <a:alpha val="3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en-US" dirty="0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C222CFD-F1B1-48A9-81E2-0864D27D05F9}"/>
              </a:ext>
            </a:extLst>
          </p:cNvPr>
          <p:cNvCxnSpPr>
            <a:stCxn id="47" idx="1"/>
            <a:endCxn id="47" idx="3"/>
          </p:cNvCxnSpPr>
          <p:nvPr/>
        </p:nvCxnSpPr>
        <p:spPr bwMode="auto">
          <a:xfrm>
            <a:off x="6444208" y="2802242"/>
            <a:ext cx="1820876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E43649C-6D45-49BD-A822-EDA34D226412}"/>
              </a:ext>
            </a:extLst>
          </p:cNvPr>
          <p:cNvCxnSpPr>
            <a:stCxn id="47" idx="2"/>
            <a:endCxn id="47" idx="0"/>
          </p:cNvCxnSpPr>
          <p:nvPr/>
        </p:nvCxnSpPr>
        <p:spPr bwMode="auto">
          <a:xfrm flipV="1">
            <a:off x="7354646" y="2177275"/>
            <a:ext cx="0" cy="124993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6C7D188-85EE-4B2E-A7C5-0018D12259C8}"/>
              </a:ext>
            </a:extLst>
          </p:cNvPr>
          <p:cNvCxnSpPr/>
          <p:nvPr/>
        </p:nvCxnSpPr>
        <p:spPr bwMode="auto">
          <a:xfrm flipV="1">
            <a:off x="7354646" y="2347088"/>
            <a:ext cx="701814" cy="45515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E0FC378-8FEF-4220-A761-E4226B753515}"/>
              </a:ext>
            </a:extLst>
          </p:cNvPr>
          <p:cNvCxnSpPr/>
          <p:nvPr/>
        </p:nvCxnSpPr>
        <p:spPr bwMode="auto">
          <a:xfrm flipH="1">
            <a:off x="7354646" y="2347088"/>
            <a:ext cx="701814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8166FA1-7633-4FF9-84E0-A6138B993133}"/>
              </a:ext>
            </a:extLst>
          </p:cNvPr>
          <p:cNvCxnSpPr/>
          <p:nvPr/>
        </p:nvCxnSpPr>
        <p:spPr bwMode="auto">
          <a:xfrm>
            <a:off x="8056460" y="2347088"/>
            <a:ext cx="0" cy="455154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E38872A-EB9A-4CB2-B149-B57CB5549DA7}"/>
              </a:ext>
            </a:extLst>
          </p:cNvPr>
          <p:cNvCxnSpPr/>
          <p:nvPr/>
        </p:nvCxnSpPr>
        <p:spPr bwMode="auto">
          <a:xfrm>
            <a:off x="7354646" y="2802242"/>
            <a:ext cx="701814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B8C2B43-C0B9-46F2-AD7D-73817718DD67}"/>
              </a:ext>
            </a:extLst>
          </p:cNvPr>
          <p:cNvCxnSpPr/>
          <p:nvPr/>
        </p:nvCxnSpPr>
        <p:spPr bwMode="auto">
          <a:xfrm flipV="1">
            <a:off x="7354646" y="2347088"/>
            <a:ext cx="0" cy="45515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graphicFrame>
        <p:nvGraphicFramePr>
          <p:cNvPr id="67" name="Object 18">
            <a:extLst>
              <a:ext uri="{FF2B5EF4-FFF2-40B4-BE49-F238E27FC236}">
                <a16:creationId xmlns:a16="http://schemas.microsoft.com/office/drawing/2014/main" id="{59C13538-A6AA-4B3A-B529-2863750B577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316416" y="2636912"/>
          <a:ext cx="241776" cy="23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58" name="Equation" r:id="rId37" imgW="85629" imgH="85725" progId="Equation.3">
                  <p:embed/>
                </p:oleObj>
              </mc:Choice>
              <mc:Fallback>
                <p:oleObj name="Equation" r:id="rId37" imgW="85629" imgH="85725" progId="Equation.3">
                  <p:embed/>
                  <p:pic>
                    <p:nvPicPr>
                      <p:cNvPr id="67" name="Object 18">
                        <a:extLst>
                          <a:ext uri="{FF2B5EF4-FFF2-40B4-BE49-F238E27FC236}">
                            <a16:creationId xmlns:a16="http://schemas.microsoft.com/office/drawing/2014/main" id="{59C13538-A6AA-4B3A-B529-2863750B57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6416" y="2636912"/>
                        <a:ext cx="241776" cy="239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19">
            <a:extLst>
              <a:ext uri="{FF2B5EF4-FFF2-40B4-BE49-F238E27FC236}">
                <a16:creationId xmlns:a16="http://schemas.microsoft.com/office/drawing/2014/main" id="{47F2E3C6-1242-4A3E-B773-E04711A916B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236296" y="1844824"/>
          <a:ext cx="258261" cy="30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59" name="Equation" r:id="rId39" imgW="104896" imgH="123689" progId="Equation.3">
                  <p:embed/>
                </p:oleObj>
              </mc:Choice>
              <mc:Fallback>
                <p:oleObj name="Equation" r:id="rId39" imgW="104896" imgH="123689" progId="Equation.3">
                  <p:embed/>
                  <p:pic>
                    <p:nvPicPr>
                      <p:cNvPr id="68" name="Object 19">
                        <a:extLst>
                          <a:ext uri="{FF2B5EF4-FFF2-40B4-BE49-F238E27FC236}">
                            <a16:creationId xmlns:a16="http://schemas.microsoft.com/office/drawing/2014/main" id="{47F2E3C6-1242-4A3E-B773-E04711A916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6296" y="1844824"/>
                        <a:ext cx="258261" cy="30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Text Box 6">
            <a:extLst>
              <a:ext uri="{FF2B5EF4-FFF2-40B4-BE49-F238E27FC236}">
                <a16:creationId xmlns:a16="http://schemas.microsoft.com/office/drawing/2014/main" id="{DDAAC002-34E7-4D35-84BC-5E9A675F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7755" y="2795097"/>
            <a:ext cx="566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dirty="0">
                <a:solidFill>
                  <a:srgbClr val="CCFFCC"/>
                </a:solidFill>
                <a:ea typeface="黑体" panose="02010609060101010101" pitchFamily="49" charset="-122"/>
              </a:rPr>
              <a:t>o</a:t>
            </a:r>
            <a:r>
              <a:rPr lang="zh-CN" altLang="zh-CN" sz="2000" dirty="0">
                <a:solidFill>
                  <a:srgbClr val="CCFFCC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  <a:endParaRPr lang="zh-CN" altLang="en-US" sz="2000" dirty="0">
              <a:solidFill>
                <a:srgbClr val="CCFF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0" name="Text Box 44">
            <a:extLst>
              <a:ext uri="{FF2B5EF4-FFF2-40B4-BE49-F238E27FC236}">
                <a16:creationId xmlns:a16="http://schemas.microsoft.com/office/drawing/2014/main" id="{F03FB7E7-B8D1-4B5A-909E-4440125F0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088" y="2221217"/>
            <a:ext cx="552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dirty="0">
                <a:solidFill>
                  <a:srgbClr val="FFCC99"/>
                </a:solidFill>
                <a:ea typeface="黑体" panose="02010609060101010101" pitchFamily="49" charset="-122"/>
              </a:rPr>
              <a:t>e</a:t>
            </a:r>
            <a:r>
              <a:rPr lang="zh-CN" altLang="zh-CN" sz="2000" dirty="0">
                <a:solidFill>
                  <a:srgbClr val="FFCC99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  <a:endParaRPr lang="zh-CN" altLang="en-US" sz="2000" dirty="0">
              <a:solidFill>
                <a:srgbClr val="FFCC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" name="右大括号 20">
            <a:extLst>
              <a:ext uri="{FF2B5EF4-FFF2-40B4-BE49-F238E27FC236}">
                <a16:creationId xmlns:a16="http://schemas.microsoft.com/office/drawing/2014/main" id="{99010126-6DFD-4D41-927B-E67EF10CA209}"/>
              </a:ext>
            </a:extLst>
          </p:cNvPr>
          <p:cNvSpPr/>
          <p:nvPr/>
        </p:nvSpPr>
        <p:spPr bwMode="auto">
          <a:xfrm>
            <a:off x="3717433" y="1988840"/>
            <a:ext cx="343818" cy="1186160"/>
          </a:xfrm>
          <a:prstGeom prst="rightBrace">
            <a:avLst>
              <a:gd name="adj1" fmla="val 42166"/>
              <a:gd name="adj2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000" fill="hold"/>
                                        <p:tgtEl>
                                          <p:spTgt spid="71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0" fill="hold"/>
                                        <p:tgtEl>
                                          <p:spTgt spid="71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7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1000"/>
                                        <p:tgtEl>
                                          <p:spTgt spid="71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1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1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7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7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7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7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71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7" grpId="0" autoUpdateAnimBg="0"/>
      <p:bldP spid="71684" grpId="0" build="p" autoUpdateAnimBg="0"/>
      <p:bldP spid="71686" grpId="0" animBg="1"/>
      <p:bldP spid="71699" grpId="0" build="p" autoUpdateAnimBg="0"/>
      <p:bldP spid="71718" grpId="0"/>
      <p:bldP spid="71721" grpId="0"/>
      <p:bldP spid="71723" grpId="0"/>
      <p:bldP spid="71726" grpId="0"/>
      <p:bldP spid="43" grpId="0" animBg="1"/>
      <p:bldP spid="69" grpId="0"/>
      <p:bldP spid="70" grpId="0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879" name="Group 79">
            <a:extLst>
              <a:ext uri="{FF2B5EF4-FFF2-40B4-BE49-F238E27FC236}">
                <a16:creationId xmlns:a16="http://schemas.microsoft.com/office/drawing/2014/main" id="{056E9C37-954C-4DE2-8380-AA98A3820599}"/>
              </a:ext>
            </a:extLst>
          </p:cNvPr>
          <p:cNvGraphicFramePr>
            <a:graphicFrameLocks noGrp="1"/>
          </p:cNvGraphicFramePr>
          <p:nvPr/>
        </p:nvGraphicFramePr>
        <p:xfrm>
          <a:off x="285750" y="914400"/>
          <a:ext cx="8610600" cy="4667729"/>
        </p:xfrm>
        <a:graphic>
          <a:graphicData uri="http://schemas.openxmlformats.org/drawingml/2006/table">
            <a:tbl>
              <a:tblPr/>
              <a:tblGrid>
                <a:gridCol w="3489325">
                  <a:extLst>
                    <a:ext uri="{9D8B030D-6E8A-4147-A177-3AD203B41FA5}">
                      <a16:colId xmlns:a16="http://schemas.microsoft.com/office/drawing/2014/main" val="1800394228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3231468036"/>
                    </a:ext>
                  </a:extLst>
                </a:gridCol>
                <a:gridCol w="3711575">
                  <a:extLst>
                    <a:ext uri="{9D8B030D-6E8A-4147-A177-3AD203B41FA5}">
                      <a16:colId xmlns:a16="http://schemas.microsoft.com/office/drawing/2014/main" val="2531112118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入射光</a:t>
                      </a: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波晶片</a:t>
                      </a: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透射光</a:t>
                      </a: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632515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线偏振光</a:t>
                      </a: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931652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圆偏振光</a:t>
                      </a: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205030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自然光</a:t>
                      </a: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68184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一般椭圆偏振光</a:t>
                      </a: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29751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线偏振光</a:t>
                      </a: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144275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圆偏振光（左、右旋）</a:t>
                      </a: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635563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椭圆偏振光（左、右旋）</a:t>
                      </a: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522495"/>
                  </a:ext>
                </a:extLst>
              </a:tr>
              <a:tr h="492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自然光</a:t>
                      </a: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7" marB="45707" horzOverflow="overflow">
                    <a:lnL w="3810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51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040727"/>
                  </a:ext>
                </a:extLst>
              </a:tr>
            </a:tbl>
          </a:graphicData>
        </a:graphic>
      </p:graphicFrame>
      <p:graphicFrame>
        <p:nvGraphicFramePr>
          <p:cNvPr id="107564" name="Object 2">
            <a:extLst>
              <a:ext uri="{FF2B5EF4-FFF2-40B4-BE49-F238E27FC236}">
                <a16:creationId xmlns:a16="http://schemas.microsoft.com/office/drawing/2014/main" id="{DAA01B17-A2E0-4204-95A8-89306546BB99}"/>
              </a:ext>
            </a:extLst>
          </p:cNvPr>
          <p:cNvGraphicFramePr>
            <a:graphicFrameLocks/>
          </p:cNvGraphicFramePr>
          <p:nvPr/>
        </p:nvGraphicFramePr>
        <p:xfrm>
          <a:off x="3995738" y="4652963"/>
          <a:ext cx="50323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49" name="Equation" r:id="rId3" imgW="190525" imgH="161959" progId="Equation.3">
                  <p:embed/>
                </p:oleObj>
              </mc:Choice>
              <mc:Fallback>
                <p:oleObj name="Equation" r:id="rId3" imgW="190525" imgH="161959" progId="Equation.3">
                  <p:embed/>
                  <p:pic>
                    <p:nvPicPr>
                      <p:cNvPr id="107564" name="Object 2">
                        <a:extLst>
                          <a:ext uri="{FF2B5EF4-FFF2-40B4-BE49-F238E27FC236}">
                            <a16:creationId xmlns:a16="http://schemas.microsoft.com/office/drawing/2014/main" id="{DAA01B17-A2E0-4204-95A8-89306546BB9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652963"/>
                        <a:ext cx="50323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65" name="Text Box 45">
            <a:extLst>
              <a:ext uri="{FF2B5EF4-FFF2-40B4-BE49-F238E27FC236}">
                <a16:creationId xmlns:a16="http://schemas.microsoft.com/office/drawing/2014/main" id="{3B3B480B-2121-4C5F-AD1D-C15181090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0" y="4581525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</a:rPr>
              <a:t>波片</a:t>
            </a:r>
          </a:p>
        </p:txBody>
      </p:sp>
      <p:graphicFrame>
        <p:nvGraphicFramePr>
          <p:cNvPr id="107566" name="Object 3">
            <a:extLst>
              <a:ext uri="{FF2B5EF4-FFF2-40B4-BE49-F238E27FC236}">
                <a16:creationId xmlns:a16="http://schemas.microsoft.com/office/drawing/2014/main" id="{22882B34-0B77-4626-AE32-E4A7604E10E8}"/>
              </a:ext>
            </a:extLst>
          </p:cNvPr>
          <p:cNvGraphicFramePr>
            <a:graphicFrameLocks/>
          </p:cNvGraphicFramePr>
          <p:nvPr/>
        </p:nvGraphicFramePr>
        <p:xfrm>
          <a:off x="3962400" y="1524000"/>
          <a:ext cx="5032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50" name="Equation" r:id="rId5" imgW="190525" imgH="161959" progId="Equation.3">
                  <p:embed/>
                </p:oleObj>
              </mc:Choice>
              <mc:Fallback>
                <p:oleObj name="Equation" r:id="rId5" imgW="190525" imgH="161959" progId="Equation.3">
                  <p:embed/>
                  <p:pic>
                    <p:nvPicPr>
                      <p:cNvPr id="107566" name="Object 3">
                        <a:extLst>
                          <a:ext uri="{FF2B5EF4-FFF2-40B4-BE49-F238E27FC236}">
                            <a16:creationId xmlns:a16="http://schemas.microsoft.com/office/drawing/2014/main" id="{22882B34-0B77-4626-AE32-E4A7604E10E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524000"/>
                        <a:ext cx="50323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67" name="Text Box 47">
            <a:extLst>
              <a:ext uri="{FF2B5EF4-FFF2-40B4-BE49-F238E27FC236}">
                <a16:creationId xmlns:a16="http://schemas.microsoft.com/office/drawing/2014/main" id="{F6AC7EFC-B3DD-45AA-864F-0D950ED31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1989138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</a:rPr>
              <a:t>波片</a:t>
            </a:r>
          </a:p>
        </p:txBody>
      </p:sp>
      <p:graphicFrame>
        <p:nvGraphicFramePr>
          <p:cNvPr id="107568" name="Object 4">
            <a:extLst>
              <a:ext uri="{FF2B5EF4-FFF2-40B4-BE49-F238E27FC236}">
                <a16:creationId xmlns:a16="http://schemas.microsoft.com/office/drawing/2014/main" id="{06521EB6-EDA6-4485-B8E8-138FD650E97F}"/>
              </a:ext>
            </a:extLst>
          </p:cNvPr>
          <p:cNvGraphicFramePr>
            <a:graphicFrameLocks/>
          </p:cNvGraphicFramePr>
          <p:nvPr/>
        </p:nvGraphicFramePr>
        <p:xfrm>
          <a:off x="3962400" y="2027238"/>
          <a:ext cx="50323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51" name="Equation" r:id="rId7" imgW="190525" imgH="161959" progId="Equation.3">
                  <p:embed/>
                </p:oleObj>
              </mc:Choice>
              <mc:Fallback>
                <p:oleObj name="Equation" r:id="rId7" imgW="190525" imgH="161959" progId="Equation.3">
                  <p:embed/>
                  <p:pic>
                    <p:nvPicPr>
                      <p:cNvPr id="107568" name="Object 4">
                        <a:extLst>
                          <a:ext uri="{FF2B5EF4-FFF2-40B4-BE49-F238E27FC236}">
                            <a16:creationId xmlns:a16="http://schemas.microsoft.com/office/drawing/2014/main" id="{06521EB6-EDA6-4485-B8E8-138FD650E9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027238"/>
                        <a:ext cx="503238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69" name="Text Box 49">
            <a:extLst>
              <a:ext uri="{FF2B5EF4-FFF2-40B4-BE49-F238E27FC236}">
                <a16:creationId xmlns:a16="http://schemas.microsoft.com/office/drawing/2014/main" id="{CF6E3BEE-B7D1-4783-AA77-96DF611F4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5100" y="1458913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</a:rPr>
              <a:t>波片</a:t>
            </a:r>
          </a:p>
        </p:txBody>
      </p:sp>
      <p:graphicFrame>
        <p:nvGraphicFramePr>
          <p:cNvPr id="107570" name="Object 5">
            <a:extLst>
              <a:ext uri="{FF2B5EF4-FFF2-40B4-BE49-F238E27FC236}">
                <a16:creationId xmlns:a16="http://schemas.microsoft.com/office/drawing/2014/main" id="{AEC84221-10C3-4938-B7B4-430704A73064}"/>
              </a:ext>
            </a:extLst>
          </p:cNvPr>
          <p:cNvGraphicFramePr>
            <a:graphicFrameLocks/>
          </p:cNvGraphicFramePr>
          <p:nvPr/>
        </p:nvGraphicFramePr>
        <p:xfrm>
          <a:off x="3962400" y="2538413"/>
          <a:ext cx="53816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52" name="Equation" r:id="rId9" imgW="190525" imgH="161959" progId="Equation.3">
                  <p:embed/>
                </p:oleObj>
              </mc:Choice>
              <mc:Fallback>
                <p:oleObj name="Equation" r:id="rId9" imgW="190525" imgH="161959" progId="Equation.3">
                  <p:embed/>
                  <p:pic>
                    <p:nvPicPr>
                      <p:cNvPr id="107570" name="Object 5">
                        <a:extLst>
                          <a:ext uri="{FF2B5EF4-FFF2-40B4-BE49-F238E27FC236}">
                            <a16:creationId xmlns:a16="http://schemas.microsoft.com/office/drawing/2014/main" id="{AEC84221-10C3-4938-B7B4-430704A7306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538413"/>
                        <a:ext cx="53816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71" name="Text Box 51">
            <a:extLst>
              <a:ext uri="{FF2B5EF4-FFF2-40B4-BE49-F238E27FC236}">
                <a16:creationId xmlns:a16="http://schemas.microsoft.com/office/drawing/2014/main" id="{83EBFA34-0187-47B0-8DE5-8E6166BB0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498725"/>
            <a:ext cx="1801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</a:rPr>
              <a:t>波片</a:t>
            </a:r>
          </a:p>
        </p:txBody>
      </p:sp>
      <p:graphicFrame>
        <p:nvGraphicFramePr>
          <p:cNvPr id="107572" name="Object 6">
            <a:extLst>
              <a:ext uri="{FF2B5EF4-FFF2-40B4-BE49-F238E27FC236}">
                <a16:creationId xmlns:a16="http://schemas.microsoft.com/office/drawing/2014/main" id="{1E035322-6538-4747-B414-DF34D28F588F}"/>
              </a:ext>
            </a:extLst>
          </p:cNvPr>
          <p:cNvGraphicFramePr>
            <a:graphicFrameLocks/>
          </p:cNvGraphicFramePr>
          <p:nvPr/>
        </p:nvGraphicFramePr>
        <p:xfrm>
          <a:off x="3962400" y="3086100"/>
          <a:ext cx="5032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53" name="Equation" r:id="rId11" imgW="190525" imgH="161959" progId="Equation.3">
                  <p:embed/>
                </p:oleObj>
              </mc:Choice>
              <mc:Fallback>
                <p:oleObj name="Equation" r:id="rId11" imgW="190525" imgH="161959" progId="Equation.3">
                  <p:embed/>
                  <p:pic>
                    <p:nvPicPr>
                      <p:cNvPr id="107572" name="Object 6">
                        <a:extLst>
                          <a:ext uri="{FF2B5EF4-FFF2-40B4-BE49-F238E27FC236}">
                            <a16:creationId xmlns:a16="http://schemas.microsoft.com/office/drawing/2014/main" id="{1E035322-6538-4747-B414-DF34D28F588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086100"/>
                        <a:ext cx="5032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73" name="Text Box 53">
            <a:extLst>
              <a:ext uri="{FF2B5EF4-FFF2-40B4-BE49-F238E27FC236}">
                <a16:creationId xmlns:a16="http://schemas.microsoft.com/office/drawing/2014/main" id="{2FE0536E-DFE8-4352-8324-EB7C3231A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043238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</a:rPr>
              <a:t>波片</a:t>
            </a:r>
          </a:p>
        </p:txBody>
      </p:sp>
      <p:graphicFrame>
        <p:nvGraphicFramePr>
          <p:cNvPr id="107574" name="Object 7">
            <a:extLst>
              <a:ext uri="{FF2B5EF4-FFF2-40B4-BE49-F238E27FC236}">
                <a16:creationId xmlns:a16="http://schemas.microsoft.com/office/drawing/2014/main" id="{695FA429-F33D-42EE-8009-94B9AA7E558D}"/>
              </a:ext>
            </a:extLst>
          </p:cNvPr>
          <p:cNvGraphicFramePr>
            <a:graphicFrameLocks/>
          </p:cNvGraphicFramePr>
          <p:nvPr/>
        </p:nvGraphicFramePr>
        <p:xfrm>
          <a:off x="3962400" y="3592513"/>
          <a:ext cx="503238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54" name="Equation" r:id="rId13" imgW="190525" imgH="161959" progId="Equation.3">
                  <p:embed/>
                </p:oleObj>
              </mc:Choice>
              <mc:Fallback>
                <p:oleObj name="Equation" r:id="rId13" imgW="190525" imgH="161959" progId="Equation.3">
                  <p:embed/>
                  <p:pic>
                    <p:nvPicPr>
                      <p:cNvPr id="107574" name="Object 7">
                        <a:extLst>
                          <a:ext uri="{FF2B5EF4-FFF2-40B4-BE49-F238E27FC236}">
                            <a16:creationId xmlns:a16="http://schemas.microsoft.com/office/drawing/2014/main" id="{695FA429-F33D-42EE-8009-94B9AA7E558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592513"/>
                        <a:ext cx="503238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75" name="Text Box 55">
            <a:extLst>
              <a:ext uri="{FF2B5EF4-FFF2-40B4-BE49-F238E27FC236}">
                <a16:creationId xmlns:a16="http://schemas.microsoft.com/office/drawing/2014/main" id="{E8D040FD-2CFD-4064-A799-EEE5615F8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548063"/>
            <a:ext cx="1878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</a:rPr>
              <a:t>波片</a:t>
            </a:r>
          </a:p>
        </p:txBody>
      </p:sp>
      <p:graphicFrame>
        <p:nvGraphicFramePr>
          <p:cNvPr id="107576" name="Object 8">
            <a:extLst>
              <a:ext uri="{FF2B5EF4-FFF2-40B4-BE49-F238E27FC236}">
                <a16:creationId xmlns:a16="http://schemas.microsoft.com/office/drawing/2014/main" id="{E4EA59D0-47AC-4959-B54B-DEE054646F91}"/>
              </a:ext>
            </a:extLst>
          </p:cNvPr>
          <p:cNvGraphicFramePr>
            <a:graphicFrameLocks/>
          </p:cNvGraphicFramePr>
          <p:nvPr/>
        </p:nvGraphicFramePr>
        <p:xfrm>
          <a:off x="3962400" y="4125913"/>
          <a:ext cx="503238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55" name="Equation" r:id="rId15" imgW="190525" imgH="161959" progId="Equation.3">
                  <p:embed/>
                </p:oleObj>
              </mc:Choice>
              <mc:Fallback>
                <p:oleObj name="Equation" r:id="rId15" imgW="190525" imgH="161959" progId="Equation.3">
                  <p:embed/>
                  <p:pic>
                    <p:nvPicPr>
                      <p:cNvPr id="107576" name="Object 8">
                        <a:extLst>
                          <a:ext uri="{FF2B5EF4-FFF2-40B4-BE49-F238E27FC236}">
                            <a16:creationId xmlns:a16="http://schemas.microsoft.com/office/drawing/2014/main" id="{E4EA59D0-47AC-4959-B54B-DEE054646F9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125913"/>
                        <a:ext cx="503238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77" name="Text Box 57">
            <a:extLst>
              <a:ext uri="{FF2B5EF4-FFF2-40B4-BE49-F238E27FC236}">
                <a16:creationId xmlns:a16="http://schemas.microsoft.com/office/drawing/2014/main" id="{28FBCD54-D018-40AE-94FB-D4095152C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0" y="4071938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</a:rPr>
              <a:t>波片</a:t>
            </a:r>
          </a:p>
        </p:txBody>
      </p:sp>
      <p:graphicFrame>
        <p:nvGraphicFramePr>
          <p:cNvPr id="107578" name="Object 9">
            <a:extLst>
              <a:ext uri="{FF2B5EF4-FFF2-40B4-BE49-F238E27FC236}">
                <a16:creationId xmlns:a16="http://schemas.microsoft.com/office/drawing/2014/main" id="{29249A8E-C1A3-4393-BAC6-1B35B4B04012}"/>
              </a:ext>
            </a:extLst>
          </p:cNvPr>
          <p:cNvGraphicFramePr>
            <a:graphicFrameLocks/>
          </p:cNvGraphicFramePr>
          <p:nvPr/>
        </p:nvGraphicFramePr>
        <p:xfrm>
          <a:off x="3995738" y="5157788"/>
          <a:ext cx="5032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56" name="Equation" r:id="rId17" imgW="190525" imgH="161959" progId="Equation.3">
                  <p:embed/>
                </p:oleObj>
              </mc:Choice>
              <mc:Fallback>
                <p:oleObj name="Equation" r:id="rId17" imgW="190525" imgH="161959" progId="Equation.3">
                  <p:embed/>
                  <p:pic>
                    <p:nvPicPr>
                      <p:cNvPr id="107578" name="Object 9">
                        <a:extLst>
                          <a:ext uri="{FF2B5EF4-FFF2-40B4-BE49-F238E27FC236}">
                            <a16:creationId xmlns:a16="http://schemas.microsoft.com/office/drawing/2014/main" id="{29249A8E-C1A3-4393-BAC6-1B35B4B0401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157788"/>
                        <a:ext cx="5032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79" name="Text Box 59">
            <a:extLst>
              <a:ext uri="{FF2B5EF4-FFF2-40B4-BE49-F238E27FC236}">
                <a16:creationId xmlns:a16="http://schemas.microsoft.com/office/drawing/2014/main" id="{06F03518-4A64-4547-87B0-B05B1A0D2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59363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</a:rPr>
              <a:t>波片</a:t>
            </a:r>
          </a:p>
        </p:txBody>
      </p:sp>
      <p:graphicFrame>
        <p:nvGraphicFramePr>
          <p:cNvPr id="107580" name="Object 10">
            <a:extLst>
              <a:ext uri="{FF2B5EF4-FFF2-40B4-BE49-F238E27FC236}">
                <a16:creationId xmlns:a16="http://schemas.microsoft.com/office/drawing/2014/main" id="{2E369163-CAEF-44F7-BDB4-5102AB9D50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019300"/>
          <a:ext cx="2057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57" name="Equation" r:id="rId19" imgW="1238263" imgH="171450" progId="Equation.3">
                  <p:embed/>
                </p:oleObj>
              </mc:Choice>
              <mc:Fallback>
                <p:oleObj name="Equation" r:id="rId19" imgW="1238263" imgH="171450" progId="Equation.3">
                  <p:embed/>
                  <p:pic>
                    <p:nvPicPr>
                      <p:cNvPr id="107580" name="Object 10">
                        <a:extLst>
                          <a:ext uri="{FF2B5EF4-FFF2-40B4-BE49-F238E27FC236}">
                            <a16:creationId xmlns:a16="http://schemas.microsoft.com/office/drawing/2014/main" id="{2E369163-CAEF-44F7-BDB4-5102AB9D50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019300"/>
                        <a:ext cx="2057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81" name="Object 11">
            <a:extLst>
              <a:ext uri="{FF2B5EF4-FFF2-40B4-BE49-F238E27FC236}">
                <a16:creationId xmlns:a16="http://schemas.microsoft.com/office/drawing/2014/main" id="{25FD4ED2-6A8F-4EF7-8EC2-5507B805BB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1524000"/>
          <a:ext cx="198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58" name="Equation" r:id="rId21" imgW="1200035" imgH="161959" progId="Equation.3">
                  <p:embed/>
                </p:oleObj>
              </mc:Choice>
              <mc:Fallback>
                <p:oleObj name="Equation" r:id="rId21" imgW="1200035" imgH="161959" progId="Equation.3">
                  <p:embed/>
                  <p:pic>
                    <p:nvPicPr>
                      <p:cNvPr id="107581" name="Object 11">
                        <a:extLst>
                          <a:ext uri="{FF2B5EF4-FFF2-40B4-BE49-F238E27FC236}">
                            <a16:creationId xmlns:a16="http://schemas.microsoft.com/office/drawing/2014/main" id="{25FD4ED2-6A8F-4EF7-8EC2-5507B805BB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524000"/>
                        <a:ext cx="1981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82" name="Object 12">
            <a:extLst>
              <a:ext uri="{FF2B5EF4-FFF2-40B4-BE49-F238E27FC236}">
                <a16:creationId xmlns:a16="http://schemas.microsoft.com/office/drawing/2014/main" id="{CCD59A14-233E-46E5-BEB6-B2D9F8AC40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484313"/>
          <a:ext cx="18907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59" name="Equation" r:id="rId23" imgW="723875" imgH="161959" progId="Equation.3">
                  <p:embed/>
                </p:oleObj>
              </mc:Choice>
              <mc:Fallback>
                <p:oleObj name="Equation" r:id="rId23" imgW="723875" imgH="161959" progId="Equation.3">
                  <p:embed/>
                  <p:pic>
                    <p:nvPicPr>
                      <p:cNvPr id="107582" name="Object 12">
                        <a:extLst>
                          <a:ext uri="{FF2B5EF4-FFF2-40B4-BE49-F238E27FC236}">
                            <a16:creationId xmlns:a16="http://schemas.microsoft.com/office/drawing/2014/main" id="{CCD59A14-233E-46E5-BEB6-B2D9F8AC40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484313"/>
                        <a:ext cx="18907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83" name="Rectangle 63">
            <a:extLst>
              <a:ext uri="{FF2B5EF4-FFF2-40B4-BE49-F238E27FC236}">
                <a16:creationId xmlns:a16="http://schemas.microsoft.com/office/drawing/2014/main" id="{B20BD759-E6F9-43F6-99F4-A33696A7C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4481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4DEAFB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• </a:t>
            </a:r>
            <a:r>
              <a:rPr kumimoji="0" lang="zh-CN" altLang="en-US">
                <a:solidFill>
                  <a:srgbClr val="4DEAFB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波晶片对光偏振的影响</a:t>
            </a:r>
            <a:r>
              <a:rPr kumimoji="0" lang="en-US" altLang="zh-CN">
                <a:solidFill>
                  <a:srgbClr val="4DEAFB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7584" name="Text Box 64">
            <a:extLst>
              <a:ext uri="{FF2B5EF4-FFF2-40B4-BE49-F238E27FC236}">
                <a16:creationId xmlns:a16="http://schemas.microsoft.com/office/drawing/2014/main" id="{E44CC6FA-D89A-4903-9860-8883726C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5857875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CC00"/>
                </a:solidFill>
              </a:rPr>
              <a:t>小结：</a:t>
            </a:r>
          </a:p>
        </p:txBody>
      </p:sp>
      <p:sp>
        <p:nvSpPr>
          <p:cNvPr id="107585" name="Rectangle 65">
            <a:extLst>
              <a:ext uri="{FF2B5EF4-FFF2-40B4-BE49-F238E27FC236}">
                <a16:creationId xmlns:a16="http://schemas.microsoft.com/office/drawing/2014/main" id="{79B6A71E-6DAF-42B2-A451-8A6C7021D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857875"/>
            <a:ext cx="384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99FF33"/>
                </a:solidFill>
              </a:rPr>
              <a:t>波片用于改变光的偏振态，</a:t>
            </a:r>
          </a:p>
        </p:txBody>
      </p:sp>
      <p:sp>
        <p:nvSpPr>
          <p:cNvPr id="107586" name="Rectangle 66">
            <a:extLst>
              <a:ext uri="{FF2B5EF4-FFF2-40B4-BE49-F238E27FC236}">
                <a16:creationId xmlns:a16="http://schemas.microsoft.com/office/drawing/2014/main" id="{3AB1D511-CE7A-44CF-83A6-088E57C53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5857875"/>
            <a:ext cx="3341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波片用于改变光的旋向</a:t>
            </a:r>
          </a:p>
        </p:txBody>
      </p:sp>
      <p:graphicFrame>
        <p:nvGraphicFramePr>
          <p:cNvPr id="107587" name="Object 13">
            <a:extLst>
              <a:ext uri="{FF2B5EF4-FFF2-40B4-BE49-F238E27FC236}">
                <a16:creationId xmlns:a16="http://schemas.microsoft.com/office/drawing/2014/main" id="{20D15CC0-80DA-45F2-887B-D260E635CD52}"/>
              </a:ext>
            </a:extLst>
          </p:cNvPr>
          <p:cNvGraphicFramePr>
            <a:graphicFrameLocks/>
          </p:cNvGraphicFramePr>
          <p:nvPr/>
        </p:nvGraphicFramePr>
        <p:xfrm>
          <a:off x="1143000" y="5715000"/>
          <a:ext cx="42862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60" name="Equation" r:id="rId25" imgW="85629" imgH="323918" progId="Equation.3">
                  <p:embed/>
                </p:oleObj>
              </mc:Choice>
              <mc:Fallback>
                <p:oleObj name="Equation" r:id="rId25" imgW="85629" imgH="323918" progId="Equation.3">
                  <p:embed/>
                  <p:pic>
                    <p:nvPicPr>
                      <p:cNvPr id="107587" name="Object 13">
                        <a:extLst>
                          <a:ext uri="{FF2B5EF4-FFF2-40B4-BE49-F238E27FC236}">
                            <a16:creationId xmlns:a16="http://schemas.microsoft.com/office/drawing/2014/main" id="{20D15CC0-80DA-45F2-887B-D260E635CD5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715000"/>
                        <a:ext cx="428625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88" name="Object 14">
            <a:extLst>
              <a:ext uri="{FF2B5EF4-FFF2-40B4-BE49-F238E27FC236}">
                <a16:creationId xmlns:a16="http://schemas.microsoft.com/office/drawing/2014/main" id="{7E9E0E32-E6F4-4428-9B77-A8E9CCF08D92}"/>
              </a:ext>
            </a:extLst>
          </p:cNvPr>
          <p:cNvGraphicFramePr>
            <a:graphicFrameLocks/>
          </p:cNvGraphicFramePr>
          <p:nvPr/>
        </p:nvGraphicFramePr>
        <p:xfrm>
          <a:off x="5214938" y="5715000"/>
          <a:ext cx="4286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61" name="Equation" r:id="rId27" imgW="85629" imgH="323918" progId="Equation.3">
                  <p:embed/>
                </p:oleObj>
              </mc:Choice>
              <mc:Fallback>
                <p:oleObj name="Equation" r:id="rId27" imgW="85629" imgH="323918" progId="Equation.3">
                  <p:embed/>
                  <p:pic>
                    <p:nvPicPr>
                      <p:cNvPr id="107588" name="Object 14">
                        <a:extLst>
                          <a:ext uri="{FF2B5EF4-FFF2-40B4-BE49-F238E27FC236}">
                            <a16:creationId xmlns:a16="http://schemas.microsoft.com/office/drawing/2014/main" id="{7E9E0E32-E6F4-4428-9B77-A8E9CCF08D9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5715000"/>
                        <a:ext cx="428625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89" name="Object 15">
            <a:extLst>
              <a:ext uri="{FF2B5EF4-FFF2-40B4-BE49-F238E27FC236}">
                <a16:creationId xmlns:a16="http://schemas.microsoft.com/office/drawing/2014/main" id="{885B92AA-7A06-4863-B06D-60521D4F4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3581400"/>
          <a:ext cx="1968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62" name="Equation" r:id="rId29" imgW="723875" imgH="161959" progId="Equation.3">
                  <p:embed/>
                </p:oleObj>
              </mc:Choice>
              <mc:Fallback>
                <p:oleObj name="Equation" r:id="rId29" imgW="723875" imgH="161959" progId="Equation.3">
                  <p:embed/>
                  <p:pic>
                    <p:nvPicPr>
                      <p:cNvPr id="107589" name="Object 15">
                        <a:extLst>
                          <a:ext uri="{FF2B5EF4-FFF2-40B4-BE49-F238E27FC236}">
                            <a16:creationId xmlns:a16="http://schemas.microsoft.com/office/drawing/2014/main" id="{885B92AA-7A06-4863-B06D-60521D4F4C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581400"/>
                        <a:ext cx="1968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90" name="Object 16">
            <a:extLst>
              <a:ext uri="{FF2B5EF4-FFF2-40B4-BE49-F238E27FC236}">
                <a16:creationId xmlns:a16="http://schemas.microsoft.com/office/drawing/2014/main" id="{D1E853A4-7E66-40B2-85A5-3250DF338E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3619500"/>
          <a:ext cx="213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63" name="Equation" r:id="rId31" imgW="685953" imgH="133486" progId="Equation.3">
                  <p:embed/>
                </p:oleObj>
              </mc:Choice>
              <mc:Fallback>
                <p:oleObj name="Equation" r:id="rId31" imgW="685953" imgH="133486" progId="Equation.3">
                  <p:embed/>
                  <p:pic>
                    <p:nvPicPr>
                      <p:cNvPr id="107590" name="Object 16">
                        <a:extLst>
                          <a:ext uri="{FF2B5EF4-FFF2-40B4-BE49-F238E27FC236}">
                            <a16:creationId xmlns:a16="http://schemas.microsoft.com/office/drawing/2014/main" id="{D1E853A4-7E66-40B2-85A5-3250DF338E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619500"/>
                        <a:ext cx="2133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91" name="Rectangle 71">
            <a:extLst>
              <a:ext uri="{FF2B5EF4-FFF2-40B4-BE49-F238E27FC236}">
                <a16:creationId xmlns:a16="http://schemas.microsoft.com/office/drawing/2014/main" id="{B6956D1D-05AB-487C-B3B1-14B79B675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1485900"/>
            <a:ext cx="1731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椭圆偏振光</a:t>
            </a:r>
          </a:p>
        </p:txBody>
      </p:sp>
      <p:sp>
        <p:nvSpPr>
          <p:cNvPr id="107592" name="Rectangle 72">
            <a:extLst>
              <a:ext uri="{FF2B5EF4-FFF2-40B4-BE49-F238E27FC236}">
                <a16:creationId xmlns:a16="http://schemas.microsoft.com/office/drawing/2014/main" id="{DDB9B227-D20E-4BF3-BFF3-2AA7D4F4F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019300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线偏振光</a:t>
            </a:r>
          </a:p>
        </p:txBody>
      </p:sp>
      <p:sp>
        <p:nvSpPr>
          <p:cNvPr id="107593" name="Rectangle 73">
            <a:extLst>
              <a:ext uri="{FF2B5EF4-FFF2-40B4-BE49-F238E27FC236}">
                <a16:creationId xmlns:a16="http://schemas.microsoft.com/office/drawing/2014/main" id="{7F5FED55-4057-45D2-9D77-9B112CBA0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2532063"/>
            <a:ext cx="111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自然光</a:t>
            </a:r>
          </a:p>
        </p:txBody>
      </p:sp>
      <p:sp>
        <p:nvSpPr>
          <p:cNvPr id="107594" name="Rectangle 74">
            <a:extLst>
              <a:ext uri="{FF2B5EF4-FFF2-40B4-BE49-F238E27FC236}">
                <a16:creationId xmlns:a16="http://schemas.microsoft.com/office/drawing/2014/main" id="{10F569A5-5EF8-4681-8464-FA3F34EBC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8438" y="3071813"/>
            <a:ext cx="2351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</a:rPr>
              <a:t>一般椭圆偏振光</a:t>
            </a:r>
          </a:p>
        </p:txBody>
      </p:sp>
      <p:sp>
        <p:nvSpPr>
          <p:cNvPr id="107595" name="Rectangle 75">
            <a:extLst>
              <a:ext uri="{FF2B5EF4-FFF2-40B4-BE49-F238E27FC236}">
                <a16:creationId xmlns:a16="http://schemas.microsoft.com/office/drawing/2014/main" id="{760DBA9D-C5F0-4F1C-9E16-E0456BAF1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3581400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线偏振光</a:t>
            </a:r>
          </a:p>
        </p:txBody>
      </p:sp>
      <p:sp>
        <p:nvSpPr>
          <p:cNvPr id="107596" name="Rectangle 76">
            <a:extLst>
              <a:ext uri="{FF2B5EF4-FFF2-40B4-BE49-F238E27FC236}">
                <a16:creationId xmlns:a16="http://schemas.microsoft.com/office/drawing/2014/main" id="{2AE6A06A-5AED-4388-A50E-7CC8FF90F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75" y="4071938"/>
            <a:ext cx="3278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圆偏振光（右、左旋）</a:t>
            </a:r>
          </a:p>
        </p:txBody>
      </p:sp>
      <p:sp>
        <p:nvSpPr>
          <p:cNvPr id="107597" name="Rectangle 77">
            <a:extLst>
              <a:ext uri="{FF2B5EF4-FFF2-40B4-BE49-F238E27FC236}">
                <a16:creationId xmlns:a16="http://schemas.microsoft.com/office/drawing/2014/main" id="{53B40751-CEE2-4FE7-A648-82B26211B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7638" y="4581525"/>
            <a:ext cx="3587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椭圆偏振光（右、左旋）</a:t>
            </a:r>
          </a:p>
        </p:txBody>
      </p:sp>
      <p:sp>
        <p:nvSpPr>
          <p:cNvPr id="107598" name="Rectangle 78">
            <a:extLst>
              <a:ext uri="{FF2B5EF4-FFF2-40B4-BE49-F238E27FC236}">
                <a16:creationId xmlns:a16="http://schemas.microsoft.com/office/drawing/2014/main" id="{26DBB624-7824-41DC-858F-F91F2BDBE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063" y="5059363"/>
            <a:ext cx="111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自然光</a:t>
            </a:r>
          </a:p>
        </p:txBody>
      </p:sp>
      <p:sp>
        <p:nvSpPr>
          <p:cNvPr id="8271" name="灯片编号占位符 1">
            <a:extLst>
              <a:ext uri="{FF2B5EF4-FFF2-40B4-BE49-F238E27FC236}">
                <a16:creationId xmlns:a16="http://schemas.microsoft.com/office/drawing/2014/main" id="{CFDEA6D0-AA26-429D-A31E-FA1CEA42EEB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52F4F8-EA1C-41FC-807B-6794661B4A6E}" type="slidenum">
              <a:rPr lang="en-US" altLang="zh-CN" b="0">
                <a:solidFill>
                  <a:srgbClr val="FF00FF"/>
                </a:solidFill>
              </a:rPr>
              <a:pPr eaLnBrk="1" hangingPunct="1"/>
              <a:t>25</a:t>
            </a:fld>
            <a:r>
              <a:rPr lang="en-US" altLang="zh-CN" b="0">
                <a:solidFill>
                  <a:srgbClr val="FF00FF"/>
                </a:solidFill>
              </a:rPr>
              <a:t>/31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7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7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7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7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7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7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07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07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0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7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7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07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07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0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0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07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07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0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07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0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0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07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0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0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65" grpId="0" autoUpdateAnimBg="0"/>
      <p:bldP spid="107567" grpId="0" autoUpdateAnimBg="0"/>
      <p:bldP spid="107569" grpId="0" autoUpdateAnimBg="0"/>
      <p:bldP spid="107571" grpId="0" autoUpdateAnimBg="0"/>
      <p:bldP spid="107573" grpId="0" autoUpdateAnimBg="0"/>
      <p:bldP spid="107575" grpId="0" autoUpdateAnimBg="0"/>
      <p:bldP spid="107577" grpId="0" autoUpdateAnimBg="0"/>
      <p:bldP spid="107579" grpId="0" autoUpdateAnimBg="0"/>
      <p:bldP spid="107583" grpId="0" autoUpdateAnimBg="0"/>
      <p:bldP spid="107584" grpId="0" autoUpdateAnimBg="0"/>
      <p:bldP spid="107585" grpId="0" autoUpdateAnimBg="0"/>
      <p:bldP spid="107586" grpId="0" autoUpdateAnimBg="0"/>
      <p:bldP spid="107591" grpId="0" build="p" autoUpdateAnimBg="0"/>
      <p:bldP spid="107592" grpId="0" build="p" autoUpdateAnimBg="0"/>
      <p:bldP spid="107593" grpId="0" build="p" autoUpdateAnimBg="0"/>
      <p:bldP spid="107594" grpId="0" build="p" autoUpdateAnimBg="0"/>
      <p:bldP spid="107595" grpId="0" build="p" autoUpdateAnimBg="0"/>
      <p:bldP spid="107596" grpId="0" build="p" autoUpdateAnimBg="0"/>
      <p:bldP spid="107597" grpId="0" build="p" autoUpdateAnimBg="0"/>
      <p:bldP spid="107598" grpId="0" build="p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9301</TotalTime>
  <Words>1316</Words>
  <Application>Microsoft Office PowerPoint</Application>
  <PresentationFormat>全屏显示(4:3)</PresentationFormat>
  <Paragraphs>286</Paragraphs>
  <Slides>25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方正书宋简体</vt:lpstr>
      <vt:lpstr>仿宋_GB2312</vt:lpstr>
      <vt:lpstr>黑体</vt:lpstr>
      <vt:lpstr>黑体</vt:lpstr>
      <vt:lpstr>华文仿宋</vt:lpstr>
      <vt:lpstr>华文中宋</vt:lpstr>
      <vt:lpstr>楷体_GB2312</vt:lpstr>
      <vt:lpstr>LiSu</vt:lpstr>
      <vt:lpstr>宋体</vt:lpstr>
      <vt:lpstr>Arial</vt:lpstr>
      <vt:lpstr>Bookman Old Style</vt:lpstr>
      <vt:lpstr>Symbol</vt:lpstr>
      <vt:lpstr>Times New Roman</vt:lpstr>
      <vt:lpstr>Wingdings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1400</cp:revision>
  <cp:lastPrinted>2025-10-29T04:48:08Z</cp:lastPrinted>
  <dcterms:created xsi:type="dcterms:W3CDTF">1998-11-21T01:35:00Z</dcterms:created>
  <dcterms:modified xsi:type="dcterms:W3CDTF">2025-10-30T04:41:47Z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