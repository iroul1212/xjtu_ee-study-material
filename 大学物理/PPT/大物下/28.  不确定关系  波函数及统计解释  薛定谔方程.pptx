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439" r:id="rId2"/>
    <p:sldId id="491" r:id="rId3"/>
    <p:sldId id="492" r:id="rId4"/>
    <p:sldId id="658" r:id="rId5"/>
    <p:sldId id="472" r:id="rId6"/>
    <p:sldId id="473" r:id="rId7"/>
    <p:sldId id="474" r:id="rId8"/>
    <p:sldId id="475" r:id="rId9"/>
    <p:sldId id="476" r:id="rId10"/>
    <p:sldId id="477" r:id="rId11"/>
    <p:sldId id="478" r:id="rId12"/>
    <p:sldId id="479" r:id="rId13"/>
    <p:sldId id="480" r:id="rId14"/>
    <p:sldId id="522" r:id="rId15"/>
    <p:sldId id="481" r:id="rId16"/>
    <p:sldId id="482" r:id="rId17"/>
    <p:sldId id="483" r:id="rId18"/>
    <p:sldId id="484" r:id="rId19"/>
    <p:sldId id="485" r:id="rId20"/>
    <p:sldId id="486" r:id="rId21"/>
    <p:sldId id="487" r:id="rId22"/>
    <p:sldId id="488" r:id="rId23"/>
    <p:sldId id="659" r:id="rId24"/>
    <p:sldId id="832" r:id="rId25"/>
    <p:sldId id="489" r:id="rId26"/>
    <p:sldId id="690" r:id="rId27"/>
    <p:sldId id="490" r:id="rId28"/>
    <p:sldId id="833" r:id="rId29"/>
    <p:sldId id="493" r:id="rId30"/>
    <p:sldId id="494" r:id="rId31"/>
  </p:sldIdLst>
  <p:sldSz cx="9144000" cy="6858000" type="screen4x3"/>
  <p:notesSz cx="6797675" cy="9928225"/>
  <p:custDataLst>
    <p:tags r:id="rId3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99"/>
    <a:srgbClr val="FFFF00"/>
    <a:srgbClr val="0000FF"/>
    <a:srgbClr val="800000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3420" autoAdjust="0"/>
  </p:normalViewPr>
  <p:slideViewPr>
    <p:cSldViewPr showGuides="1">
      <p:cViewPr varScale="1">
        <p:scale>
          <a:sx n="103" d="100"/>
          <a:sy n="103" d="100"/>
        </p:scale>
        <p:origin x="1158" y="72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image" Target="../media/image29.emf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9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Relationship Id="rId9" Type="http://schemas.openxmlformats.org/officeDocument/2006/relationships/image" Target="../media/image4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image" Target="../media/image51.emf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image" Target="../media/image57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image" Target="../media/image59.emf"/><Relationship Id="rId6" Type="http://schemas.openxmlformats.org/officeDocument/2006/relationships/image" Target="../media/image64.emf"/><Relationship Id="rId5" Type="http://schemas.openxmlformats.org/officeDocument/2006/relationships/image" Target="../media/image63.emf"/><Relationship Id="rId4" Type="http://schemas.openxmlformats.org/officeDocument/2006/relationships/image" Target="../media/image62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Relationship Id="rId5" Type="http://schemas.openxmlformats.org/officeDocument/2006/relationships/image" Target="../media/image69.emf"/><Relationship Id="rId4" Type="http://schemas.openxmlformats.org/officeDocument/2006/relationships/image" Target="../media/image68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7" Type="http://schemas.openxmlformats.org/officeDocument/2006/relationships/image" Target="../media/image76.wmf"/><Relationship Id="rId2" Type="http://schemas.openxmlformats.org/officeDocument/2006/relationships/image" Target="../media/image71.wmf"/><Relationship Id="rId1" Type="http://schemas.openxmlformats.org/officeDocument/2006/relationships/image" Target="../media/image70.e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wmf"/><Relationship Id="rId1" Type="http://schemas.openxmlformats.org/officeDocument/2006/relationships/image" Target="../media/image70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image" Target="../media/image83.emf"/><Relationship Id="rId1" Type="http://schemas.openxmlformats.org/officeDocument/2006/relationships/image" Target="../media/image82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emf"/><Relationship Id="rId1" Type="http://schemas.openxmlformats.org/officeDocument/2006/relationships/image" Target="../media/image85.emf"/><Relationship Id="rId5" Type="http://schemas.openxmlformats.org/officeDocument/2006/relationships/image" Target="../media/image89.emf"/><Relationship Id="rId4" Type="http://schemas.openxmlformats.org/officeDocument/2006/relationships/image" Target="../media/image88.e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3" Type="http://schemas.openxmlformats.org/officeDocument/2006/relationships/image" Target="../media/image92.emf"/><Relationship Id="rId7" Type="http://schemas.openxmlformats.org/officeDocument/2006/relationships/image" Target="../media/image96.emf"/><Relationship Id="rId12" Type="http://schemas.openxmlformats.org/officeDocument/2006/relationships/image" Target="../media/image101.emf"/><Relationship Id="rId2" Type="http://schemas.openxmlformats.org/officeDocument/2006/relationships/image" Target="../media/image91.emf"/><Relationship Id="rId1" Type="http://schemas.openxmlformats.org/officeDocument/2006/relationships/image" Target="../media/image90.emf"/><Relationship Id="rId6" Type="http://schemas.openxmlformats.org/officeDocument/2006/relationships/image" Target="../media/image95.emf"/><Relationship Id="rId11" Type="http://schemas.openxmlformats.org/officeDocument/2006/relationships/image" Target="../media/image100.emf"/><Relationship Id="rId5" Type="http://schemas.openxmlformats.org/officeDocument/2006/relationships/image" Target="../media/image94.emf"/><Relationship Id="rId10" Type="http://schemas.openxmlformats.org/officeDocument/2006/relationships/image" Target="../media/image99.emf"/><Relationship Id="rId4" Type="http://schemas.openxmlformats.org/officeDocument/2006/relationships/image" Target="../media/image93.emf"/><Relationship Id="rId9" Type="http://schemas.openxmlformats.org/officeDocument/2006/relationships/image" Target="../media/image98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emf"/><Relationship Id="rId3" Type="http://schemas.openxmlformats.org/officeDocument/2006/relationships/image" Target="../media/image104.emf"/><Relationship Id="rId7" Type="http://schemas.openxmlformats.org/officeDocument/2006/relationships/image" Target="../media/image108.e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Relationship Id="rId6" Type="http://schemas.openxmlformats.org/officeDocument/2006/relationships/image" Target="../media/image107.emf"/><Relationship Id="rId5" Type="http://schemas.openxmlformats.org/officeDocument/2006/relationships/image" Target="../media/image106.emf"/><Relationship Id="rId4" Type="http://schemas.openxmlformats.org/officeDocument/2006/relationships/image" Target="../media/image10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DE8C846D-126C-4437-9C1B-17F9331482B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7D82504A-DEC4-44E8-9DB6-2CECA4200A0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79450" y="4716463"/>
            <a:ext cx="5438775" cy="4467225"/>
          </a:xfr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DBEA6025-9882-4658-BE30-A9EDE2C4891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67000C93-C526-4572-8122-927877A65CE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79450" y="4716463"/>
            <a:ext cx="5438775" cy="4467225"/>
          </a:xfr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54D29A8E-BAE2-4964-9274-0ACBE72C004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260E8D34-9132-4BF4-880B-E95710D69B1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79450" y="4716463"/>
            <a:ext cx="5438775" cy="4467225"/>
          </a:xfr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4DF29AC-A3CB-4BA2-BCA7-8A9078984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6F133D1-F70C-4786-97AE-83BFD40C90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CC40FA54-BEC0-4C32-80A1-58602B558AD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AA562A58-5032-455E-970F-BAB3B11CCA56}" type="slidenum">
              <a:rPr lang="en-US" altLang="zh-CN">
                <a:latin typeface="Arial" panose="020B0604020202020204" pitchFamily="34" charset="0"/>
              </a:rPr>
              <a:pPr algn="r" eaLnBrk="1" hangingPunct="1"/>
              <a:t>12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EC97BB7-9538-4A48-8587-9229DFD175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1893799B-39E6-4C8F-BD83-A26F452881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DC41058-6A2A-4313-902F-7DC9572794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0697620-465F-47C7-A857-0D4931CE28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2A66E1D-FCD1-4A37-A2FE-EA387B07ED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EA685C2-C5DF-43BE-8A5C-A08DECD07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说明：此页和第</a:t>
            </a:r>
            <a:r>
              <a:rPr lang="en-US" altLang="zh-CN" dirty="0"/>
              <a:t>2</a:t>
            </a:r>
            <a:r>
              <a:rPr lang="zh-CN" altLang="en-US"/>
              <a:t>页属于</a:t>
            </a:r>
            <a:r>
              <a:rPr lang="zh-CN" altLang="en-US" dirty="0"/>
              <a:t>必讲内容，放在波函数的统计解释之后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10F48-1F5E-43A8-A38F-B07676820928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5863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10F48-1F5E-43A8-A38F-B07676820928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7171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1BA152D-F164-4CCA-A7C8-3251C818A7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2AA0932-4A16-49D4-990B-48CFFBCC8A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01F0666-26B6-44F6-8569-A85F95BF00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6F42AD9-D150-4637-848B-25E296E73A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D6A0928-2CE6-4CC4-8F19-2340807235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CCD5A8D-37D5-4537-8C5D-263AEC2F4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A3ECCDE-581B-4356-A1D3-8A482B80CE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44064A2-1ED1-417E-BFA4-8FD889C65D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80C536C8-BD26-485F-98B1-6D94BD5058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0C6AEF7-26D3-4F97-95F5-93721B2645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8.e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6.emf"/><Relationship Id="rId18" Type="http://schemas.openxmlformats.org/officeDocument/2006/relationships/oleObject" Target="../embeddings/oleObject15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20.emf"/><Relationship Id="rId7" Type="http://schemas.openxmlformats.org/officeDocument/2006/relationships/image" Target="../media/image13.e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1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.bin"/><Relationship Id="rId20" Type="http://schemas.openxmlformats.org/officeDocument/2006/relationships/oleObject" Target="../embeddings/oleObject16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5.emf"/><Relationship Id="rId5" Type="http://schemas.openxmlformats.org/officeDocument/2006/relationships/image" Target="../media/image21.jpeg"/><Relationship Id="rId15" Type="http://schemas.openxmlformats.org/officeDocument/2006/relationships/image" Target="../media/image17.emf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19.emf"/><Relationship Id="rId4" Type="http://schemas.openxmlformats.org/officeDocument/2006/relationships/image" Target="../media/image11.jpeg"/><Relationship Id="rId9" Type="http://schemas.openxmlformats.org/officeDocument/2006/relationships/image" Target="../media/image14.emf"/><Relationship Id="rId14" Type="http://schemas.openxmlformats.org/officeDocument/2006/relationships/oleObject" Target="../embeddings/oleObject13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3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33.e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0.emf"/><Relationship Id="rId12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2.emf"/><Relationship Id="rId5" Type="http://schemas.openxmlformats.org/officeDocument/2006/relationships/image" Target="../media/image29.e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3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13" Type="http://schemas.openxmlformats.org/officeDocument/2006/relationships/oleObject" Target="../embeddings/oleObject32.bin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7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0.jpeg"/><Relationship Id="rId11" Type="http://schemas.openxmlformats.org/officeDocument/2006/relationships/oleObject" Target="../embeddings/oleObject31.bin"/><Relationship Id="rId5" Type="http://schemas.openxmlformats.org/officeDocument/2006/relationships/image" Target="../media/image34.emf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36.emf"/><Relationship Id="rId4" Type="http://schemas.openxmlformats.org/officeDocument/2006/relationships/oleObject" Target="../embeddings/oleObject28.bin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3" Type="http://schemas.openxmlformats.org/officeDocument/2006/relationships/oleObject" Target="../embeddings/oleObject34.bin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9.emf"/><Relationship Id="rId11" Type="http://schemas.openxmlformats.org/officeDocument/2006/relationships/image" Target="../media/image111.png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110.png"/><Relationship Id="rId4" Type="http://schemas.openxmlformats.org/officeDocument/2006/relationships/image" Target="../media/image9.emf"/><Relationship Id="rId9" Type="http://schemas.openxmlformats.org/officeDocument/2006/relationships/image" Target="../media/image10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48.e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5.emf"/><Relationship Id="rId17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7.emf"/><Relationship Id="rId20" Type="http://schemas.openxmlformats.org/officeDocument/2006/relationships/image" Target="../media/image49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2.e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44.e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41.e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2.e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54.emf"/><Relationship Id="rId4" Type="http://schemas.openxmlformats.org/officeDocument/2006/relationships/image" Target="../media/image51.emf"/><Relationship Id="rId9" Type="http://schemas.openxmlformats.org/officeDocument/2006/relationships/oleObject" Target="../embeddings/oleObject47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8.e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7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oleObject" Target="../embeddings/oleObject56.bin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6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0.e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62.emf"/><Relationship Id="rId4" Type="http://schemas.openxmlformats.org/officeDocument/2006/relationships/image" Target="../media/image59.e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64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6.e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68.emf"/><Relationship Id="rId4" Type="http://schemas.openxmlformats.org/officeDocument/2006/relationships/image" Target="../media/image65.emf"/><Relationship Id="rId9" Type="http://schemas.openxmlformats.org/officeDocument/2006/relationships/oleObject" Target="../embeddings/oleObject60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66.bin"/><Relationship Id="rId18" Type="http://schemas.openxmlformats.org/officeDocument/2006/relationships/image" Target="../media/image76.wmf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0.e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5" Type="http://schemas.openxmlformats.org/officeDocument/2006/relationships/oleObject" Target="../embeddings/oleObject67.bin"/><Relationship Id="rId10" Type="http://schemas.openxmlformats.org/officeDocument/2006/relationships/image" Target="../media/image72.wmf"/><Relationship Id="rId4" Type="http://schemas.openxmlformats.org/officeDocument/2006/relationships/image" Target="../media/image77.png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74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7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69.bin"/><Relationship Id="rId5" Type="http://schemas.openxmlformats.org/officeDocument/2006/relationships/image" Target="../media/image70.emf"/><Relationship Id="rId4" Type="http://schemas.openxmlformats.org/officeDocument/2006/relationships/oleObject" Target="../embeddings/oleObject62.bin"/><Relationship Id="rId9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80.emf"/><Relationship Id="rId4" Type="http://schemas.openxmlformats.org/officeDocument/2006/relationships/oleObject" Target="../embeddings/oleObject70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8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82.emf"/><Relationship Id="rId4" Type="http://schemas.openxmlformats.org/officeDocument/2006/relationships/oleObject" Target="../embeddings/oleObject71.bin"/><Relationship Id="rId9" Type="http://schemas.openxmlformats.org/officeDocument/2006/relationships/image" Target="../media/image84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89.e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86.emf"/><Relationship Id="rId12" Type="http://schemas.openxmlformats.org/officeDocument/2006/relationships/oleObject" Target="../embeddings/oleObject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88.emf"/><Relationship Id="rId5" Type="http://schemas.openxmlformats.org/officeDocument/2006/relationships/image" Target="../media/image85.emf"/><Relationship Id="rId10" Type="http://schemas.openxmlformats.org/officeDocument/2006/relationships/oleObject" Target="../embeddings/oleObject77.bin"/><Relationship Id="rId4" Type="http://schemas.openxmlformats.org/officeDocument/2006/relationships/oleObject" Target="../embeddings/oleObject74.bin"/><Relationship Id="rId9" Type="http://schemas.openxmlformats.org/officeDocument/2006/relationships/image" Target="../media/image87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13" Type="http://schemas.openxmlformats.org/officeDocument/2006/relationships/image" Target="../media/image94.emf"/><Relationship Id="rId18" Type="http://schemas.openxmlformats.org/officeDocument/2006/relationships/oleObject" Target="../embeddings/oleObject86.bin"/><Relationship Id="rId26" Type="http://schemas.openxmlformats.org/officeDocument/2006/relationships/oleObject" Target="../embeddings/oleObject90.bin"/><Relationship Id="rId3" Type="http://schemas.openxmlformats.org/officeDocument/2006/relationships/notesSlide" Target="../notesSlides/notesSlide13.xml"/><Relationship Id="rId21" Type="http://schemas.openxmlformats.org/officeDocument/2006/relationships/image" Target="../media/image98.emf"/><Relationship Id="rId7" Type="http://schemas.openxmlformats.org/officeDocument/2006/relationships/image" Target="../media/image91.emf"/><Relationship Id="rId12" Type="http://schemas.openxmlformats.org/officeDocument/2006/relationships/oleObject" Target="../embeddings/oleObject83.bin"/><Relationship Id="rId17" Type="http://schemas.openxmlformats.org/officeDocument/2006/relationships/image" Target="../media/image96.emf"/><Relationship Id="rId25" Type="http://schemas.openxmlformats.org/officeDocument/2006/relationships/image" Target="../media/image10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5.bin"/><Relationship Id="rId20" Type="http://schemas.openxmlformats.org/officeDocument/2006/relationships/oleObject" Target="../embeddings/oleObject87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93.emf"/><Relationship Id="rId24" Type="http://schemas.openxmlformats.org/officeDocument/2006/relationships/oleObject" Target="../embeddings/oleObject89.bin"/><Relationship Id="rId5" Type="http://schemas.openxmlformats.org/officeDocument/2006/relationships/image" Target="../media/image90.emf"/><Relationship Id="rId15" Type="http://schemas.openxmlformats.org/officeDocument/2006/relationships/image" Target="../media/image95.emf"/><Relationship Id="rId23" Type="http://schemas.openxmlformats.org/officeDocument/2006/relationships/image" Target="../media/image99.emf"/><Relationship Id="rId10" Type="http://schemas.openxmlformats.org/officeDocument/2006/relationships/oleObject" Target="../embeddings/oleObject82.bin"/><Relationship Id="rId19" Type="http://schemas.openxmlformats.org/officeDocument/2006/relationships/image" Target="../media/image97.e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92.emf"/><Relationship Id="rId14" Type="http://schemas.openxmlformats.org/officeDocument/2006/relationships/oleObject" Target="../embeddings/oleObject84.bin"/><Relationship Id="rId22" Type="http://schemas.openxmlformats.org/officeDocument/2006/relationships/oleObject" Target="../embeddings/oleObject88.bin"/><Relationship Id="rId27" Type="http://schemas.openxmlformats.org/officeDocument/2006/relationships/image" Target="../media/image101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106.emf"/><Relationship Id="rId18" Type="http://schemas.openxmlformats.org/officeDocument/2006/relationships/oleObject" Target="../embeddings/oleObject98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03.emf"/><Relationship Id="rId12" Type="http://schemas.openxmlformats.org/officeDocument/2006/relationships/oleObject" Target="../embeddings/oleObject95.bin"/><Relationship Id="rId17" Type="http://schemas.openxmlformats.org/officeDocument/2006/relationships/image" Target="../media/image10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7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105.emf"/><Relationship Id="rId5" Type="http://schemas.openxmlformats.org/officeDocument/2006/relationships/image" Target="../media/image102.emf"/><Relationship Id="rId15" Type="http://schemas.openxmlformats.org/officeDocument/2006/relationships/image" Target="../media/image107.emf"/><Relationship Id="rId10" Type="http://schemas.openxmlformats.org/officeDocument/2006/relationships/oleObject" Target="../embeddings/oleObject94.bin"/><Relationship Id="rId19" Type="http://schemas.openxmlformats.org/officeDocument/2006/relationships/image" Target="../media/image109.emf"/><Relationship Id="rId4" Type="http://schemas.openxmlformats.org/officeDocument/2006/relationships/oleObject" Target="../embeddings/oleObject91.bin"/><Relationship Id="rId9" Type="http://schemas.openxmlformats.org/officeDocument/2006/relationships/image" Target="../media/image104.emf"/><Relationship Id="rId14" Type="http://schemas.openxmlformats.org/officeDocument/2006/relationships/oleObject" Target="../embeddings/oleObject9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Dec. 16,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754" name="Rectangle 2">
            <a:extLst>
              <a:ext uri="{FF2B5EF4-FFF2-40B4-BE49-F238E27FC236}">
                <a16:creationId xmlns:a16="http://schemas.microsoft.com/office/drawing/2014/main" id="{03FB1A80-1B47-4339-A843-F5E6D7721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88" y="500063"/>
            <a:ext cx="2070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FFFF00"/>
                </a:solidFill>
                <a:latin typeface="华文中宋" panose="02010600040101010101" pitchFamily="2" charset="-122"/>
              </a:rPr>
              <a:t>回顾：</a:t>
            </a:r>
          </a:p>
        </p:txBody>
      </p:sp>
      <p:sp>
        <p:nvSpPr>
          <p:cNvPr id="1354774" name="Rectangle 22">
            <a:extLst>
              <a:ext uri="{FF2B5EF4-FFF2-40B4-BE49-F238E27FC236}">
                <a16:creationId xmlns:a16="http://schemas.microsoft.com/office/drawing/2014/main" id="{AA8D20DB-E534-463F-86D4-233344111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77925"/>
            <a:ext cx="3168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>
                <a:solidFill>
                  <a:srgbClr val="FFFF00"/>
                </a:solidFill>
              </a:rPr>
              <a:t>一、氢原子光谱</a:t>
            </a:r>
            <a:r>
              <a:rPr lang="en-US" altLang="zh-CN">
                <a:solidFill>
                  <a:srgbClr val="FFFF00"/>
                </a:solidFill>
              </a:rPr>
              <a:t>:</a:t>
            </a:r>
          </a:p>
        </p:txBody>
      </p:sp>
      <p:sp>
        <p:nvSpPr>
          <p:cNvPr id="1354775" name="Rectangle 23">
            <a:extLst>
              <a:ext uri="{FF2B5EF4-FFF2-40B4-BE49-F238E27FC236}">
                <a16:creationId xmlns:a16="http://schemas.microsoft.com/office/drawing/2014/main" id="{BAB8F70F-FF55-47BB-8812-F0C7258DF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1200150"/>
            <a:ext cx="2225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>
                <a:solidFill>
                  <a:schemeClr val="bg1"/>
                </a:solidFill>
              </a:rPr>
              <a:t>分立线状光谱</a:t>
            </a:r>
            <a:endParaRPr lang="en-US" altLang="zh-CN">
              <a:solidFill>
                <a:schemeClr val="bg1"/>
              </a:solidFill>
            </a:endParaRPr>
          </a:p>
        </p:txBody>
      </p:sp>
      <p:graphicFrame>
        <p:nvGraphicFramePr>
          <p:cNvPr id="1354776" name="Object 3">
            <a:extLst>
              <a:ext uri="{FF2B5EF4-FFF2-40B4-BE49-F238E27FC236}">
                <a16:creationId xmlns:a16="http://schemas.microsoft.com/office/drawing/2014/main" id="{380470A4-2D11-4E2C-9F07-0A9EC8A4B881}"/>
              </a:ext>
            </a:extLst>
          </p:cNvPr>
          <p:cNvGraphicFramePr>
            <a:graphicFrameLocks/>
          </p:cNvGraphicFramePr>
          <p:nvPr/>
        </p:nvGraphicFramePr>
        <p:xfrm>
          <a:off x="5300663" y="1035050"/>
          <a:ext cx="2986087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8960" r:id="rId3" imgW="3486960" imgH="951840" progId="Equation.3">
                  <p:embed/>
                </p:oleObj>
              </mc:Choice>
              <mc:Fallback>
                <p:oleObj r:id="rId3" imgW="3486960" imgH="951840" progId="Equation.3">
                  <p:embed/>
                  <p:pic>
                    <p:nvPicPr>
                      <p:cNvPr id="1354776" name="Object 3">
                        <a:extLst>
                          <a:ext uri="{FF2B5EF4-FFF2-40B4-BE49-F238E27FC236}">
                            <a16:creationId xmlns:a16="http://schemas.microsoft.com/office/drawing/2014/main" id="{380470A4-2D11-4E2C-9F07-0A9EC8A4B88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0663" y="1035050"/>
                        <a:ext cx="2986087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4777" name="Rectangle 25">
            <a:extLst>
              <a:ext uri="{FF2B5EF4-FFF2-40B4-BE49-F238E27FC236}">
                <a16:creationId xmlns:a16="http://schemas.microsoft.com/office/drawing/2014/main" id="{D72FCC79-5B8E-401F-A3A8-A2F626F96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3929063"/>
            <a:ext cx="2376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</a:rPr>
              <a:t>跃迁假设</a:t>
            </a:r>
            <a:endParaRPr lang="zh-CN" altLang="en-US" b="0">
              <a:solidFill>
                <a:srgbClr val="66FFFF"/>
              </a:solidFill>
            </a:endParaRPr>
          </a:p>
        </p:txBody>
      </p:sp>
      <p:sp>
        <p:nvSpPr>
          <p:cNvPr id="1354778" name="Rectangle 26">
            <a:extLst>
              <a:ext uri="{FF2B5EF4-FFF2-40B4-BE49-F238E27FC236}">
                <a16:creationId xmlns:a16="http://schemas.microsoft.com/office/drawing/2014/main" id="{57614EAE-EBC1-4CBE-8900-B2486C10D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1857375"/>
            <a:ext cx="2098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</a:rPr>
              <a:t>定态假设</a:t>
            </a:r>
          </a:p>
        </p:txBody>
      </p:sp>
      <p:sp>
        <p:nvSpPr>
          <p:cNvPr id="1354779" name="Rectangle 27">
            <a:extLst>
              <a:ext uri="{FF2B5EF4-FFF2-40B4-BE49-F238E27FC236}">
                <a16:creationId xmlns:a16="http://schemas.microsoft.com/office/drawing/2014/main" id="{192B0E83-D9CD-4EE9-8B45-C8AB9960A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4621213"/>
            <a:ext cx="3519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>
                <a:solidFill>
                  <a:srgbClr val="66FFFF"/>
                </a:solidFill>
              </a:rPr>
              <a:t>3. </a:t>
            </a:r>
            <a:r>
              <a:rPr lang="zh-CN" altLang="en-US">
                <a:solidFill>
                  <a:srgbClr val="66FFFF"/>
                </a:solidFill>
              </a:rPr>
              <a:t>角动量量子化假设</a:t>
            </a:r>
            <a:r>
              <a:rPr lang="zh-CN" altLang="en-US">
                <a:solidFill>
                  <a:srgbClr val="FFFF99"/>
                </a:solidFill>
              </a:rPr>
              <a:t>     </a:t>
            </a:r>
          </a:p>
        </p:txBody>
      </p:sp>
      <p:graphicFrame>
        <p:nvGraphicFramePr>
          <p:cNvPr id="1354780" name="Object 4">
            <a:extLst>
              <a:ext uri="{FF2B5EF4-FFF2-40B4-BE49-F238E27FC236}">
                <a16:creationId xmlns:a16="http://schemas.microsoft.com/office/drawing/2014/main" id="{D24CB860-413C-4B9B-BF6D-37EC74E3F9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3188" y="3814763"/>
          <a:ext cx="1763712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8961" r:id="rId5" imgW="2253600" imgH="951840" progId="Equation.3">
                  <p:embed/>
                </p:oleObj>
              </mc:Choice>
              <mc:Fallback>
                <p:oleObj r:id="rId5" imgW="2253600" imgH="951840" progId="Equation.3">
                  <p:embed/>
                  <p:pic>
                    <p:nvPicPr>
                      <p:cNvPr id="1354780" name="Object 4">
                        <a:extLst>
                          <a:ext uri="{FF2B5EF4-FFF2-40B4-BE49-F238E27FC236}">
                            <a16:creationId xmlns:a16="http://schemas.microsoft.com/office/drawing/2014/main" id="{D24CB860-413C-4B9B-BF6D-37EC74E3F9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3814763"/>
                        <a:ext cx="1763712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4781" name="Object 5">
            <a:extLst>
              <a:ext uri="{FF2B5EF4-FFF2-40B4-BE49-F238E27FC236}">
                <a16:creationId xmlns:a16="http://schemas.microsoft.com/office/drawing/2014/main" id="{6AA3702A-4AD6-4E41-9953-AF6D436B3C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3313" y="4500563"/>
          <a:ext cx="203676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8962" r:id="rId7" imgW="2590200" imgH="951840" progId="Equation.3">
                  <p:embed/>
                </p:oleObj>
              </mc:Choice>
              <mc:Fallback>
                <p:oleObj r:id="rId7" imgW="2590200" imgH="951840" progId="Equation.3">
                  <p:embed/>
                  <p:pic>
                    <p:nvPicPr>
                      <p:cNvPr id="1354781" name="Object 5">
                        <a:extLst>
                          <a:ext uri="{FF2B5EF4-FFF2-40B4-BE49-F238E27FC236}">
                            <a16:creationId xmlns:a16="http://schemas.microsoft.com/office/drawing/2014/main" id="{6AA3702A-4AD6-4E41-9953-AF6D436B3C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4500563"/>
                        <a:ext cx="2036762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灯片编号占位符 1">
            <a:extLst>
              <a:ext uri="{FF2B5EF4-FFF2-40B4-BE49-F238E27FC236}">
                <a16:creationId xmlns:a16="http://schemas.microsoft.com/office/drawing/2014/main" id="{3C5D250A-B4CB-4689-BB8E-256ECEE5B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B04EDCBC-42A0-4586-9884-CF3591781E67}" type="slidenum">
              <a:rPr lang="en-US" altLang="zh-CN" b="0" smtClean="0">
                <a:solidFill>
                  <a:srgbClr val="FF00FF"/>
                </a:solidFill>
              </a:rPr>
              <a:pPr/>
              <a:t>2</a:t>
            </a:fld>
            <a:r>
              <a:rPr lang="en-US" altLang="zh-CN" b="0" dirty="0">
                <a:solidFill>
                  <a:srgbClr val="FF00FF"/>
                </a:solidFill>
              </a:rPr>
              <a:t>/38</a:t>
            </a: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A09ED380-28B2-4DDF-B2DF-C304F1089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076575"/>
            <a:ext cx="3959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定态的能量不连续</a:t>
            </a: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E94FA2A6-EFA1-4D58-842B-3C2D35456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2466975"/>
            <a:ext cx="3071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不辐射电磁波</a:t>
            </a:r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ECACB08F-5494-4AB2-A64F-7C019EDB3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1857375"/>
            <a:ext cx="309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电子作圆周运动</a:t>
            </a:r>
          </a:p>
        </p:txBody>
      </p:sp>
      <p:graphicFrame>
        <p:nvGraphicFramePr>
          <p:cNvPr id="45074" name="Object 18">
            <a:extLst>
              <a:ext uri="{FF2B5EF4-FFF2-40B4-BE49-F238E27FC236}">
                <a16:creationId xmlns:a16="http://schemas.microsoft.com/office/drawing/2014/main" id="{86E3D747-DC6C-40B0-96DB-41740C82F9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572125"/>
          <a:ext cx="3275013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8963" r:id="rId9" imgW="1995840" imgH="515160" progId="Equation.3">
                  <p:embed/>
                </p:oleObj>
              </mc:Choice>
              <mc:Fallback>
                <p:oleObj r:id="rId9" imgW="1995840" imgH="515160" progId="Equation.3">
                  <p:embed/>
                  <p:pic>
                    <p:nvPicPr>
                      <p:cNvPr id="45074" name="Object 18">
                        <a:extLst>
                          <a:ext uri="{FF2B5EF4-FFF2-40B4-BE49-F238E27FC236}">
                            <a16:creationId xmlns:a16="http://schemas.microsoft.com/office/drawing/2014/main" id="{86E3D747-DC6C-40B0-96DB-41740C82F9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572125"/>
                        <a:ext cx="3275013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3">
            <a:extLst>
              <a:ext uri="{FF2B5EF4-FFF2-40B4-BE49-F238E27FC236}">
                <a16:creationId xmlns:a16="http://schemas.microsoft.com/office/drawing/2014/main" id="{DFA9F19D-389A-474C-B0B0-1C833D6B61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1413" y="5500688"/>
          <a:ext cx="32639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8964" r:id="rId11" imgW="1805040" imgH="504000" progId="Equation.3">
                  <p:embed/>
                </p:oleObj>
              </mc:Choice>
              <mc:Fallback>
                <p:oleObj r:id="rId11" imgW="1805040" imgH="504000" progId="Equation.3">
                  <p:embed/>
                  <p:pic>
                    <p:nvPicPr>
                      <p:cNvPr id="3" name="Object 23">
                        <a:extLst>
                          <a:ext uri="{FF2B5EF4-FFF2-40B4-BE49-F238E27FC236}">
                            <a16:creationId xmlns:a16="http://schemas.microsoft.com/office/drawing/2014/main" id="{DFA9F19D-389A-474C-B0B0-1C833D6B61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413" y="5500688"/>
                        <a:ext cx="326390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5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5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5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54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35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5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3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54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4754" grpId="0"/>
      <p:bldP spid="1354774" grpId="0"/>
      <p:bldP spid="1354775" grpId="0"/>
      <p:bldP spid="1354777" grpId="0"/>
      <p:bldP spid="1354778" grpId="0"/>
      <p:bldP spid="135477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图片 1">
            <a:extLst>
              <a:ext uri="{FF2B5EF4-FFF2-40B4-BE49-F238E27FC236}">
                <a16:creationId xmlns:a16="http://schemas.microsoft.com/office/drawing/2014/main" id="{FB17A0DC-120D-4FE4-B4F5-457A29076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433" y="1"/>
            <a:ext cx="7272975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4" name="灯片编号占位符 1">
            <a:extLst>
              <a:ext uri="{FF2B5EF4-FFF2-40B4-BE49-F238E27FC236}">
                <a16:creationId xmlns:a16="http://schemas.microsoft.com/office/drawing/2014/main" id="{1D862ED0-9EDE-43C8-BB0C-FCEE53C86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2DC2F70-DD5E-4C57-9E43-2C244B07DD93}" type="slidenum">
              <a:rPr lang="en-US" altLang="zh-CN" b="0" smtClean="0">
                <a:solidFill>
                  <a:srgbClr val="FF00FF"/>
                </a:solidFill>
              </a:rPr>
              <a:pPr/>
              <a:t>3</a:t>
            </a:fld>
            <a:r>
              <a:rPr lang="en-US" altLang="zh-CN" b="0" dirty="0">
                <a:solidFill>
                  <a:srgbClr val="FF00FF"/>
                </a:solidFill>
              </a:rPr>
              <a:t>/38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灯片编号占位符 1">
            <a:extLst>
              <a:ext uri="{FF2B5EF4-FFF2-40B4-BE49-F238E27FC236}">
                <a16:creationId xmlns:a16="http://schemas.microsoft.com/office/drawing/2014/main" id="{4A601BE6-4B7B-499B-90F7-B58AE163B32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CC48DA8-57B7-4130-AE3E-1BB9922B06DD}" type="slidenum">
              <a:rPr lang="en-US" altLang="zh-CN" b="0" smtClean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 dirty="0">
                <a:solidFill>
                  <a:srgbClr val="FF00FF"/>
                </a:solidFill>
              </a:rPr>
              <a:t>/38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87739E18-788D-44D2-9217-41D88C068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620688"/>
            <a:ext cx="72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STZhongsong" panose="02010600040101010101" pitchFamily="2" charset="-122"/>
              </a:rPr>
              <a:t>德布罗意物质波：微观粒子的波粒二象性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B2BE5AB3-6934-4919-9063-B2A014504151}"/>
                  </a:ext>
                </a:extLst>
              </p:cNvPr>
              <p:cNvSpPr txBox="1"/>
              <p:nvPr/>
            </p:nvSpPr>
            <p:spPr bwMode="auto">
              <a:xfrm>
                <a:off x="1966466" y="2395379"/>
                <a:ext cx="2605534" cy="6249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</m:oMath>
                  </m:oMathPara>
                </a14:m>
                <a:endParaRPr lang="zh-CN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B2BE5AB3-6934-4919-9063-B2A014504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6466" y="2395379"/>
                <a:ext cx="2605534" cy="6249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32">
            <a:extLst>
              <a:ext uri="{FF2B5EF4-FFF2-40B4-BE49-F238E27FC236}">
                <a16:creationId xmlns:a16="http://schemas.microsoft.com/office/drawing/2014/main" id="{F9599882-AA12-43CF-A175-DFFB3C3099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31925" y="1558345"/>
            <a:ext cx="1582738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4">
                <a:extLst>
                  <a:ext uri="{FF2B5EF4-FFF2-40B4-BE49-F238E27FC236}">
                    <a16:creationId xmlns:a16="http://schemas.microsoft.com/office/drawing/2014/main" id="{A7273790-60F1-457F-8BBE-3396BDFD0DE3}"/>
                  </a:ext>
                </a:extLst>
              </p:cNvPr>
              <p:cNvSpPr txBox="1"/>
              <p:nvPr/>
            </p:nvSpPr>
            <p:spPr bwMode="auto">
              <a:xfrm>
                <a:off x="1691680" y="1292166"/>
                <a:ext cx="2808386" cy="1087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m:rPr>
                          <m:sty m:val="p"/>
                        </m:rP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3" name="Object 4">
                <a:extLst>
                  <a:ext uri="{FF2B5EF4-FFF2-40B4-BE49-F238E27FC236}">
                    <a16:creationId xmlns:a16="http://schemas.microsoft.com/office/drawing/2014/main" id="{A7273790-60F1-457F-8BBE-3396BDFD0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1680" y="1292166"/>
                <a:ext cx="2808386" cy="10874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左大括号 5">
            <a:extLst>
              <a:ext uri="{FF2B5EF4-FFF2-40B4-BE49-F238E27FC236}">
                <a16:creationId xmlns:a16="http://schemas.microsoft.com/office/drawing/2014/main" id="{8E11EDFB-937B-4813-8DDC-FA1A21171EDD}"/>
              </a:ext>
            </a:extLst>
          </p:cNvPr>
          <p:cNvSpPr/>
          <p:nvPr/>
        </p:nvSpPr>
        <p:spPr bwMode="auto">
          <a:xfrm>
            <a:off x="1776934" y="1796222"/>
            <a:ext cx="274786" cy="936104"/>
          </a:xfrm>
          <a:prstGeom prst="leftBrace">
            <a:avLst>
              <a:gd name="adj1" fmla="val 63256"/>
              <a:gd name="adj2" fmla="val 50000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849E137-5100-4410-A4D3-DFF879094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674" y="1364174"/>
            <a:ext cx="553998" cy="2064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STZhongsong" panose="02010600040101010101" pitchFamily="2" charset="-122"/>
              </a:rPr>
              <a:t>德布罗意关系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D9EDB8C0-5078-4198-8B33-F21E5E62AC3E}"/>
              </a:ext>
            </a:extLst>
          </p:cNvPr>
          <p:cNvSpPr/>
          <p:nvPr/>
        </p:nvSpPr>
        <p:spPr bwMode="auto">
          <a:xfrm>
            <a:off x="4572000" y="2061161"/>
            <a:ext cx="648072" cy="239117"/>
          </a:xfrm>
          <a:prstGeom prst="rightArrow">
            <a:avLst>
              <a:gd name="adj1" fmla="val 50000"/>
              <a:gd name="adj2" fmla="val 11311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2">
                <a:extLst>
                  <a:ext uri="{FF2B5EF4-FFF2-40B4-BE49-F238E27FC236}">
                    <a16:creationId xmlns:a16="http://schemas.microsoft.com/office/drawing/2014/main" id="{1171BA3B-0959-449B-BEC1-85EEF67F0542}"/>
                  </a:ext>
                </a:extLst>
              </p:cNvPr>
              <p:cNvSpPr txBox="1"/>
              <p:nvPr/>
            </p:nvSpPr>
            <p:spPr bwMode="auto">
              <a:xfrm>
                <a:off x="5508104" y="2228270"/>
                <a:ext cx="2880320" cy="936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zh-CN" altLang="en-US" sz="26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zh-CN" altLang="en-US" sz="26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zh-CN" altLang="en-US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zh-CN" altLang="en-US" sz="26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zh-CN" altLang="en-US" sz="2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2" name="Object 2">
                <a:extLst>
                  <a:ext uri="{FF2B5EF4-FFF2-40B4-BE49-F238E27FC236}">
                    <a16:creationId xmlns:a16="http://schemas.microsoft.com/office/drawing/2014/main" id="{1171BA3B-0959-449B-BEC1-85EEF67F0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8104" y="2228270"/>
                <a:ext cx="2880320" cy="9361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3">
                <a:extLst>
                  <a:ext uri="{FF2B5EF4-FFF2-40B4-BE49-F238E27FC236}">
                    <a16:creationId xmlns:a16="http://schemas.microsoft.com/office/drawing/2014/main" id="{F4437BE8-4DC2-465A-82F9-3E44D6108EE3}"/>
                  </a:ext>
                </a:extLst>
              </p:cNvPr>
              <p:cNvSpPr txBox="1"/>
              <p:nvPr/>
            </p:nvSpPr>
            <p:spPr bwMode="auto">
              <a:xfrm>
                <a:off x="5508103" y="1220158"/>
                <a:ext cx="2592289" cy="730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6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zh-CN" altLang="en-US" sz="26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sty m:val="p"/>
                            </m:rP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den>
                      </m:f>
                    </m:oMath>
                  </m:oMathPara>
                </a14:m>
                <a:endParaRPr lang="zh-CN" altLang="en-US" sz="2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3" name="Object 3">
                <a:extLst>
                  <a:ext uri="{FF2B5EF4-FFF2-40B4-BE49-F238E27FC236}">
                    <a16:creationId xmlns:a16="http://schemas.microsoft.com/office/drawing/2014/main" id="{F4437BE8-4DC2-465A-82F9-3E44D6108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8103" y="1220158"/>
                <a:ext cx="2592289" cy="730250"/>
              </a:xfrm>
              <a:prstGeom prst="rect">
                <a:avLst/>
              </a:prstGeom>
              <a:blipFill>
                <a:blip r:embed="rId8"/>
                <a:stretch>
                  <a:fillRect b="-18333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2">
            <a:extLst>
              <a:ext uri="{FF2B5EF4-FFF2-40B4-BE49-F238E27FC236}">
                <a16:creationId xmlns:a16="http://schemas.microsoft.com/office/drawing/2014/main" id="{6EAC2A23-A388-4799-8A59-E297652F0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853" y="3511818"/>
            <a:ext cx="72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STZhongsong" panose="02010600040101010101" pitchFamily="2" charset="-122"/>
              </a:rPr>
              <a:t>实物粒子所具有的波称为德布罗意波 或 物质波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5C404A7A-32DA-4293-8B00-684AE4F30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4447923"/>
            <a:ext cx="7200800" cy="94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波动性和粒子性实际就是微观粒子一体两面，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  <a:ea typeface="仿宋_GB2312" pitchFamily="49" charset="-122"/>
              </a:rPr>
              <a:t>既是波又是粒子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，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  <a:ea typeface="仿宋_GB2312" pitchFamily="49" charset="-122"/>
              </a:rPr>
              <a:t>既不是波又不是粒子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0" grpId="0"/>
      <p:bldP spid="13" grpId="0"/>
      <p:bldP spid="6" grpId="0" animBg="1"/>
      <p:bldP spid="19" grpId="0"/>
      <p:bldP spid="7" grpId="0" animBg="1"/>
      <p:bldP spid="22" grpId="0"/>
      <p:bldP spid="2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EBABBD5-9F53-4185-8FCF-E7CCD0CC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2000250"/>
            <a:ext cx="5483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FFFF"/>
                </a:solidFill>
              </a:rPr>
              <a:t>1. </a:t>
            </a:r>
            <a:r>
              <a:rPr lang="zh-CN" altLang="en-US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动量 </a:t>
            </a:r>
            <a:r>
              <a:rPr lang="en-US" altLang="zh-CN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 </a:t>
            </a:r>
            <a:r>
              <a:rPr lang="zh-CN" altLang="en-US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坐标不确定关系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FA88ED6C-5AFD-4B84-84F3-975DC8A75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2500313"/>
            <a:ext cx="7924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微观粒子的位置坐标</a:t>
            </a:r>
            <a:r>
              <a:rPr lang="zh-CN" altLang="en-US">
                <a:solidFill>
                  <a:srgbClr val="FFCC66"/>
                </a:solidFill>
              </a:rPr>
              <a:t>  </a:t>
            </a:r>
            <a:r>
              <a:rPr lang="en-US" altLang="zh-CN" i="1">
                <a:solidFill>
                  <a:srgbClr val="66FFFF"/>
                </a:solidFill>
              </a:rPr>
              <a:t>x </a:t>
            </a:r>
            <a:r>
              <a:rPr lang="zh-CN" altLang="en-US">
                <a:solidFill>
                  <a:schemeClr val="hlink"/>
                </a:solidFill>
              </a:rPr>
              <a:t>、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动量分量</a:t>
            </a:r>
            <a:r>
              <a:rPr lang="zh-CN" altLang="en-US">
                <a:solidFill>
                  <a:srgbClr val="FFCC66"/>
                </a:solidFill>
              </a:rPr>
              <a:t>  </a:t>
            </a:r>
            <a:r>
              <a:rPr lang="en-US" altLang="zh-CN" i="1">
                <a:solidFill>
                  <a:srgbClr val="66FFFF"/>
                </a:solidFill>
              </a:rPr>
              <a:t>p</a:t>
            </a:r>
            <a:r>
              <a:rPr lang="en-US" altLang="zh-CN" i="1" baseline="-25000">
                <a:solidFill>
                  <a:srgbClr val="66FFFF"/>
                </a:solidFill>
              </a:rPr>
              <a:t>x</a:t>
            </a:r>
            <a:r>
              <a:rPr lang="en-US" altLang="zh-CN">
                <a:solidFill>
                  <a:srgbClr val="66FFFF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不能同时具有确定的值</a:t>
            </a:r>
            <a:endParaRPr lang="zh-CN" altLang="en-US">
              <a:solidFill>
                <a:schemeClr val="hlink"/>
              </a:solidFill>
            </a:endParaRPr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3E457CCC-90FF-4A81-B5CE-89A6EDAD1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5286375"/>
            <a:ext cx="76962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一个量确定的越准确，另一个量的不确定程度就越大。</a:t>
            </a:r>
          </a:p>
        </p:txBody>
      </p:sp>
      <p:graphicFrame>
        <p:nvGraphicFramePr>
          <p:cNvPr id="73733" name="Object 5">
            <a:extLst>
              <a:ext uri="{FF2B5EF4-FFF2-40B4-BE49-F238E27FC236}">
                <a16:creationId xmlns:a16="http://schemas.microsoft.com/office/drawing/2014/main" id="{1B7C32B5-32AA-44DF-8B27-0A2323ACDC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8688" y="3675063"/>
          <a:ext cx="12858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622" r:id="rId4" imgW="1300680" imgH="470520" progId="Equation.3">
                  <p:embed/>
                </p:oleObj>
              </mc:Choice>
              <mc:Fallback>
                <p:oleObj r:id="rId4" imgW="1300680" imgH="470520" progId="Equation.3">
                  <p:embed/>
                  <p:pic>
                    <p:nvPicPr>
                      <p:cNvPr id="73733" name="Object 5">
                        <a:extLst>
                          <a:ext uri="{FF2B5EF4-FFF2-40B4-BE49-F238E27FC236}">
                            <a16:creationId xmlns:a16="http://schemas.microsoft.com/office/drawing/2014/main" id="{1B7C32B5-32AA-44DF-8B27-0A2323ACDC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3675063"/>
                        <a:ext cx="12858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4" name="Rectangle 6">
            <a:extLst>
              <a:ext uri="{FF2B5EF4-FFF2-40B4-BE49-F238E27FC236}">
                <a16:creationId xmlns:a16="http://schemas.microsoft.com/office/drawing/2014/main" id="{22127F23-3517-4B74-8CF4-4DC5382FB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586163"/>
            <a:ext cx="5857875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分别是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rgbClr val="FFCC66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x</a:t>
            </a:r>
            <a:r>
              <a:rPr lang="zh-CN" altLang="en-US">
                <a:solidFill>
                  <a:srgbClr val="66FFFF"/>
                </a:solidFill>
              </a:rPr>
              <a:t>、</a:t>
            </a:r>
            <a:r>
              <a:rPr lang="zh-CN" altLang="en-US" baseline="-20000">
                <a:solidFill>
                  <a:srgbClr val="66FFFF"/>
                </a:solidFill>
              </a:rPr>
              <a:t>  </a:t>
            </a:r>
            <a:r>
              <a:rPr lang="en-US" altLang="zh-CN" i="1">
                <a:solidFill>
                  <a:srgbClr val="66FFFF"/>
                </a:solidFill>
              </a:rPr>
              <a:t>p</a:t>
            </a:r>
            <a:r>
              <a:rPr lang="en-US" altLang="zh-CN" baseline="-20000">
                <a:solidFill>
                  <a:srgbClr val="66FFFF"/>
                </a:solidFill>
              </a:rPr>
              <a:t>x</a:t>
            </a:r>
            <a:r>
              <a:rPr lang="en-US" altLang="zh-CN" baseline="-20000">
                <a:solidFill>
                  <a:srgbClr val="99FFCC"/>
                </a:solidFill>
              </a:rPr>
              <a:t>  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的不确定量，其乘积</a:t>
            </a:r>
          </a:p>
        </p:txBody>
      </p:sp>
      <p:sp>
        <p:nvSpPr>
          <p:cNvPr id="73735" name="Text Box 7">
            <a:extLst>
              <a:ext uri="{FF2B5EF4-FFF2-40B4-BE49-F238E27FC236}">
                <a16:creationId xmlns:a16="http://schemas.microsoft.com/office/drawing/2014/main" id="{D94D8FC1-3887-4400-BF68-407E92BBD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5872163"/>
            <a:ext cx="6537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借助电子单缝衍射实验加以说明</a:t>
            </a:r>
          </a:p>
        </p:txBody>
      </p:sp>
      <p:sp>
        <p:nvSpPr>
          <p:cNvPr id="73736" name="Rectangle 8">
            <a:extLst>
              <a:ext uri="{FF2B5EF4-FFF2-40B4-BE49-F238E27FC236}">
                <a16:creationId xmlns:a16="http://schemas.microsoft.com/office/drawing/2014/main" id="{3D155AD9-F9AE-4DDB-AE8C-46AA3B881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688" y="4259263"/>
            <a:ext cx="2592387" cy="936625"/>
          </a:xfrm>
          <a:prstGeom prst="rect">
            <a:avLst/>
          </a:prstGeom>
          <a:noFill/>
          <a:ln w="12700">
            <a:solidFill>
              <a:srgbClr val="FF0000">
                <a:alpha val="59999"/>
              </a:srgb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3737" name="Object 9">
            <a:extLst>
              <a:ext uri="{FF2B5EF4-FFF2-40B4-BE49-F238E27FC236}">
                <a16:creationId xmlns:a16="http://schemas.microsoft.com/office/drawing/2014/main" id="{8BAA177F-7780-45D9-B623-27746187B21B}"/>
              </a:ext>
            </a:extLst>
          </p:cNvPr>
          <p:cNvGraphicFramePr>
            <a:graphicFrameLocks/>
          </p:cNvGraphicFramePr>
          <p:nvPr/>
        </p:nvGraphicFramePr>
        <p:xfrm>
          <a:off x="2432050" y="4259263"/>
          <a:ext cx="1903413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623" r:id="rId6" imgW="1838880" imgH="940680" progId="Equation.3">
                  <p:embed/>
                </p:oleObj>
              </mc:Choice>
              <mc:Fallback>
                <p:oleObj r:id="rId6" imgW="1838880" imgH="940680" progId="Equation.3">
                  <p:embed/>
                  <p:pic>
                    <p:nvPicPr>
                      <p:cNvPr id="73737" name="Object 9">
                        <a:extLst>
                          <a:ext uri="{FF2B5EF4-FFF2-40B4-BE49-F238E27FC236}">
                            <a16:creationId xmlns:a16="http://schemas.microsoft.com/office/drawing/2014/main" id="{8BAA177F-7780-45D9-B623-27746187B21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4259263"/>
                        <a:ext cx="1903413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Rectangle 10">
            <a:extLst>
              <a:ext uri="{FF2B5EF4-FFF2-40B4-BE49-F238E27FC236}">
                <a16:creationId xmlns:a16="http://schemas.microsoft.com/office/drawing/2014/main" id="{76E2C8B9-EBD1-44C6-B61F-730C31330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1027113"/>
            <a:ext cx="8208963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4000"/>
              </a:lnSpc>
            </a:pPr>
            <a:r>
              <a:rPr lang="en-US" altLang="zh-CN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1926</a:t>
            </a: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年，海森伯分析了一些理想实验并考虑到德布罗意关系，得出不确定关系</a:t>
            </a:r>
            <a:endParaRPr lang="en-US" altLang="zh-CN">
              <a:solidFill>
                <a:schemeClr val="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7354" name="灯片编号占位符 1">
            <a:extLst>
              <a:ext uri="{FF2B5EF4-FFF2-40B4-BE49-F238E27FC236}">
                <a16:creationId xmlns:a16="http://schemas.microsoft.com/office/drawing/2014/main" id="{049E0BAA-52B0-4997-8B0F-5D078668E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7D2D775-D369-4223-8B68-847DCDEC57FA}" type="slidenum">
              <a:rPr lang="en-US" altLang="zh-CN" b="0">
                <a:solidFill>
                  <a:srgbClr val="FF00FF"/>
                </a:solidFill>
              </a:rPr>
              <a:pPr/>
              <a:t>5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  <p:sp>
        <p:nvSpPr>
          <p:cNvPr id="13" name="Rectangle 25">
            <a:extLst>
              <a:ext uri="{FF2B5EF4-FFF2-40B4-BE49-F238E27FC236}">
                <a16:creationId xmlns:a16="http://schemas.microsoft.com/office/drawing/2014/main" id="{379B2D10-ECD3-4BFC-AB77-AF198C70A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428625"/>
            <a:ext cx="5776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FFFF00"/>
                </a:solidFill>
              </a:rPr>
              <a:t>三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</a:rPr>
              <a:t>不确定关系</a:t>
            </a:r>
            <a:r>
              <a:rPr lang="zh-CN" altLang="en-US" sz="280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（测不准关系）</a:t>
            </a:r>
            <a:endParaRPr lang="en-US" altLang="zh-CN" sz="2800">
              <a:solidFill>
                <a:schemeClr val="accent1"/>
              </a:solidFill>
            </a:endParaRPr>
          </a:p>
        </p:txBody>
      </p:sp>
      <p:sp>
        <p:nvSpPr>
          <p:cNvPr id="14" name="圆角矩形标注 13">
            <a:extLst>
              <a:ext uri="{FF2B5EF4-FFF2-40B4-BE49-F238E27FC236}">
                <a16:creationId xmlns:a16="http://schemas.microsoft.com/office/drawing/2014/main" id="{0A71D202-C12C-4D55-B4D5-A5DD32DFC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5" y="4500563"/>
            <a:ext cx="3500438" cy="500062"/>
          </a:xfrm>
          <a:prstGeom prst="wedgeRoundRectCallout">
            <a:avLst>
              <a:gd name="adj1" fmla="val -66870"/>
              <a:gd name="adj2" fmla="val -52838"/>
              <a:gd name="adj3" fmla="val 16667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zh-CN" altLang="en-US">
                <a:solidFill>
                  <a:srgbClr val="FFFF00"/>
                </a:solidFill>
              </a:rPr>
              <a:t>约化普朗克常量  </a:t>
            </a:r>
            <a:r>
              <a:rPr lang="en-US" altLang="zh-CN">
                <a:solidFill>
                  <a:srgbClr val="FFFF00"/>
                </a:solidFill>
              </a:rPr>
              <a:t>h/2</a:t>
            </a:r>
            <a:r>
              <a:rPr lang="el-GR" altLang="zh-CN">
                <a:solidFill>
                  <a:srgbClr val="FFFF00"/>
                </a:solidFill>
              </a:rPr>
              <a:t>π</a:t>
            </a:r>
            <a:endParaRPr lang="zh-CN" alt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37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37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/>
      <p:bldP spid="73731" grpId="0"/>
      <p:bldP spid="73732" grpId="0"/>
      <p:bldP spid="73734" grpId="0"/>
      <p:bldP spid="73735" grpId="0"/>
      <p:bldP spid="73736" grpId="0" animBg="1"/>
      <p:bldP spid="6154" grpId="0"/>
      <p:bldP spid="13" grpId="0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电子单缝衍射">
            <a:extLst>
              <a:ext uri="{FF2B5EF4-FFF2-40B4-BE49-F238E27FC236}">
                <a16:creationId xmlns:a16="http://schemas.microsoft.com/office/drawing/2014/main" id="{B2E1D1F6-5B52-4F9C-8967-558532803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326699"/>
              </a:clrFrom>
              <a:clrTo>
                <a:srgbClr val="3266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74" r="320" b="17604"/>
          <a:stretch>
            <a:fillRect/>
          </a:stretch>
        </p:blipFill>
        <p:spPr bwMode="auto">
          <a:xfrm>
            <a:off x="2540000" y="476250"/>
            <a:ext cx="4937125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4" name="Line 3">
            <a:extLst>
              <a:ext uri="{FF2B5EF4-FFF2-40B4-BE49-F238E27FC236}">
                <a16:creationId xmlns:a16="http://schemas.microsoft.com/office/drawing/2014/main" id="{BFDBEA6F-1176-4C66-9FFD-12E1054C7C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950913"/>
            <a:ext cx="0" cy="2968625"/>
          </a:xfrm>
          <a:prstGeom prst="line">
            <a:avLst/>
          </a:prstGeom>
          <a:noFill/>
          <a:ln w="76200">
            <a:solidFill>
              <a:srgbClr val="CC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5" name="Line 4">
            <a:extLst>
              <a:ext uri="{FF2B5EF4-FFF2-40B4-BE49-F238E27FC236}">
                <a16:creationId xmlns:a16="http://schemas.microsoft.com/office/drawing/2014/main" id="{4D43EEE0-E283-4DF5-99E3-1DC40B723A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246313"/>
            <a:ext cx="0" cy="457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6" name="Line 5">
            <a:extLst>
              <a:ext uri="{FF2B5EF4-FFF2-40B4-BE49-F238E27FC236}">
                <a16:creationId xmlns:a16="http://schemas.microsoft.com/office/drawing/2014/main" id="{81DE675F-E846-47E1-B128-2D7593BA23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0338" y="2476500"/>
            <a:ext cx="4572000" cy="20638"/>
          </a:xfrm>
          <a:prstGeom prst="line">
            <a:avLst/>
          </a:prstGeom>
          <a:noFill/>
          <a:ln w="12700">
            <a:solidFill>
              <a:srgbClr val="CC99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7" name="Line 6">
            <a:extLst>
              <a:ext uri="{FF2B5EF4-FFF2-40B4-BE49-F238E27FC236}">
                <a16:creationId xmlns:a16="http://schemas.microsoft.com/office/drawing/2014/main" id="{AB0110C3-4C39-4894-A1ED-CE0768B42F38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408113"/>
            <a:ext cx="914400" cy="0"/>
          </a:xfrm>
          <a:prstGeom prst="line">
            <a:avLst/>
          </a:prstGeom>
          <a:noFill/>
          <a:ln w="38100">
            <a:solidFill>
              <a:srgbClr val="00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8" name="Line 7">
            <a:extLst>
              <a:ext uri="{FF2B5EF4-FFF2-40B4-BE49-F238E27FC236}">
                <a16:creationId xmlns:a16="http://schemas.microsoft.com/office/drawing/2014/main" id="{FE2CD7D4-3B2C-45C6-8778-9AB92FF31FC4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941513"/>
            <a:ext cx="914400" cy="0"/>
          </a:xfrm>
          <a:prstGeom prst="line">
            <a:avLst/>
          </a:prstGeom>
          <a:noFill/>
          <a:ln w="38100">
            <a:solidFill>
              <a:srgbClr val="00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9" name="Line 8">
            <a:extLst>
              <a:ext uri="{FF2B5EF4-FFF2-40B4-BE49-F238E27FC236}">
                <a16:creationId xmlns:a16="http://schemas.microsoft.com/office/drawing/2014/main" id="{003C7096-92D6-4993-96F4-E23E0990B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474913"/>
            <a:ext cx="914400" cy="0"/>
          </a:xfrm>
          <a:prstGeom prst="line">
            <a:avLst/>
          </a:prstGeom>
          <a:noFill/>
          <a:ln w="38100">
            <a:solidFill>
              <a:srgbClr val="00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0" name="Line 9">
            <a:extLst>
              <a:ext uri="{FF2B5EF4-FFF2-40B4-BE49-F238E27FC236}">
                <a16:creationId xmlns:a16="http://schemas.microsoft.com/office/drawing/2014/main" id="{D190F7AD-ED15-42D0-8EC6-67BA742F3345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008313"/>
            <a:ext cx="914400" cy="0"/>
          </a:xfrm>
          <a:prstGeom prst="line">
            <a:avLst/>
          </a:prstGeom>
          <a:noFill/>
          <a:ln w="38100">
            <a:solidFill>
              <a:srgbClr val="00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1" name="Line 10">
            <a:extLst>
              <a:ext uri="{FF2B5EF4-FFF2-40B4-BE49-F238E27FC236}">
                <a16:creationId xmlns:a16="http://schemas.microsoft.com/office/drawing/2014/main" id="{59662556-BFE3-4536-B03A-B37A9DCEC745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617913"/>
            <a:ext cx="914400" cy="0"/>
          </a:xfrm>
          <a:prstGeom prst="line">
            <a:avLst/>
          </a:prstGeom>
          <a:noFill/>
          <a:ln w="38100">
            <a:solidFill>
              <a:srgbClr val="00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87" name="Line 11">
            <a:extLst>
              <a:ext uri="{FF2B5EF4-FFF2-40B4-BE49-F238E27FC236}">
                <a16:creationId xmlns:a16="http://schemas.microsoft.com/office/drawing/2014/main" id="{C9B3C651-471B-4FC3-B951-FEDD456E44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1938338"/>
            <a:ext cx="4572000" cy="536575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5788" name="Picture 12" descr="40001">
            <a:extLst>
              <a:ext uri="{FF2B5EF4-FFF2-40B4-BE49-F238E27FC236}">
                <a16:creationId xmlns:a16="http://schemas.microsoft.com/office/drawing/2014/main" id="{7BD5345A-25E7-42E3-9F11-1AFD5C4E5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006599"/>
              </a:clrFrom>
              <a:clrTo>
                <a:srgbClr val="0065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668463"/>
            <a:ext cx="2438400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9" name="Line 13">
            <a:extLst>
              <a:ext uri="{FF2B5EF4-FFF2-40B4-BE49-F238E27FC236}">
                <a16:creationId xmlns:a16="http://schemas.microsoft.com/office/drawing/2014/main" id="{9EEC3B05-635E-4D9E-A3AF-B048A85C50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243138"/>
            <a:ext cx="2209800" cy="0"/>
          </a:xfrm>
          <a:prstGeom prst="line">
            <a:avLst/>
          </a:prstGeom>
          <a:noFill/>
          <a:ln w="3175">
            <a:solidFill>
              <a:srgbClr val="DDDDD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90" name="Line 14">
            <a:extLst>
              <a:ext uri="{FF2B5EF4-FFF2-40B4-BE49-F238E27FC236}">
                <a16:creationId xmlns:a16="http://schemas.microsoft.com/office/drawing/2014/main" id="{F20C01B4-4886-474F-8B41-B6821C4A3B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1938338"/>
            <a:ext cx="0" cy="30480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91" name="Oval 15">
            <a:extLst>
              <a:ext uri="{FF2B5EF4-FFF2-40B4-BE49-F238E27FC236}">
                <a16:creationId xmlns:a16="http://schemas.microsoft.com/office/drawing/2014/main" id="{9E7800AC-525F-4FBF-9218-63C482A19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128838"/>
            <a:ext cx="152400" cy="152400"/>
          </a:xfrm>
          <a:prstGeom prst="ellipse">
            <a:avLst/>
          </a:prstGeom>
          <a:solidFill>
            <a:srgbClr val="FFCC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 sz="2800" b="0"/>
          </a:p>
        </p:txBody>
      </p:sp>
      <p:sp>
        <p:nvSpPr>
          <p:cNvPr id="75792" name="Rectangle 16">
            <a:extLst>
              <a:ext uri="{FF2B5EF4-FFF2-40B4-BE49-F238E27FC236}">
                <a16:creationId xmlns:a16="http://schemas.microsoft.com/office/drawing/2014/main" id="{8BE82B3D-1C92-4CD8-910E-DB9963BC2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8063" y="1785938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hlink"/>
                </a:solidFill>
              </a:rPr>
              <a:t>p</a:t>
            </a:r>
            <a:r>
              <a:rPr lang="en-US" altLang="zh-CN" baseline="-20000">
                <a:solidFill>
                  <a:schemeClr val="hlink"/>
                </a:solidFill>
              </a:rPr>
              <a:t>x</a:t>
            </a:r>
          </a:p>
        </p:txBody>
      </p:sp>
      <p:graphicFrame>
        <p:nvGraphicFramePr>
          <p:cNvPr id="59408" name="Object 17">
            <a:extLst>
              <a:ext uri="{FF2B5EF4-FFF2-40B4-BE49-F238E27FC236}">
                <a16:creationId xmlns:a16="http://schemas.microsoft.com/office/drawing/2014/main" id="{611AA06E-F83F-4841-865D-BFDB3416B6D0}"/>
              </a:ext>
            </a:extLst>
          </p:cNvPr>
          <p:cNvGraphicFramePr>
            <a:graphicFrameLocks/>
          </p:cNvGraphicFramePr>
          <p:nvPr/>
        </p:nvGraphicFramePr>
        <p:xfrm>
          <a:off x="857250" y="714375"/>
          <a:ext cx="12192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632" r:id="rId6" imgW="1401480" imgH="425520" progId="Equation.3">
                  <p:embed/>
                </p:oleObj>
              </mc:Choice>
              <mc:Fallback>
                <p:oleObj r:id="rId6" imgW="1401480" imgH="425520" progId="Equation.3">
                  <p:embed/>
                  <p:pic>
                    <p:nvPicPr>
                      <p:cNvPr id="59408" name="Object 17">
                        <a:extLst>
                          <a:ext uri="{FF2B5EF4-FFF2-40B4-BE49-F238E27FC236}">
                            <a16:creationId xmlns:a16="http://schemas.microsoft.com/office/drawing/2014/main" id="{611AA06E-F83F-4841-865D-BFDB3416B6D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714375"/>
                        <a:ext cx="12192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9" name="Text Box 18">
            <a:extLst>
              <a:ext uri="{FF2B5EF4-FFF2-40B4-BE49-F238E27FC236}">
                <a16:creationId xmlns:a16="http://schemas.microsoft.com/office/drawing/2014/main" id="{952218CC-BA01-4F3E-AC79-A2D628200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38338"/>
            <a:ext cx="6794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chemeClr val="hlink"/>
                </a:solidFill>
                <a:ea typeface="华文中宋" panose="02010600040101010101" pitchFamily="2" charset="-122"/>
              </a:rPr>
              <a:t>电子束</a:t>
            </a:r>
          </a:p>
        </p:txBody>
      </p:sp>
      <p:grpSp>
        <p:nvGrpSpPr>
          <p:cNvPr id="59410" name="Group 19">
            <a:extLst>
              <a:ext uri="{FF2B5EF4-FFF2-40B4-BE49-F238E27FC236}">
                <a16:creationId xmlns:a16="http://schemas.microsoft.com/office/drawing/2014/main" id="{A33B74EF-4AA8-48D3-A81F-71DA0EC85751}"/>
              </a:ext>
            </a:extLst>
          </p:cNvPr>
          <p:cNvGrpSpPr>
            <a:grpSpLocks/>
          </p:cNvGrpSpPr>
          <p:nvPr/>
        </p:nvGrpSpPr>
        <p:grpSpPr bwMode="auto">
          <a:xfrm>
            <a:off x="2533650" y="414338"/>
            <a:ext cx="361950" cy="835025"/>
            <a:chOff x="1596" y="624"/>
            <a:chExt cx="228" cy="526"/>
          </a:xfrm>
        </p:grpSpPr>
        <p:sp>
          <p:nvSpPr>
            <p:cNvPr id="59411" name="Text Box 20">
              <a:extLst>
                <a:ext uri="{FF2B5EF4-FFF2-40B4-BE49-F238E27FC236}">
                  <a16:creationId xmlns:a16="http://schemas.microsoft.com/office/drawing/2014/main" id="{E984954C-7D6C-405E-AB42-D8608D9C7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6" y="62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i="1">
                  <a:solidFill>
                    <a:schemeClr val="hlink"/>
                  </a:solidFill>
                </a:rPr>
                <a:t>x</a:t>
              </a:r>
            </a:p>
          </p:txBody>
        </p:sp>
        <p:sp>
          <p:nvSpPr>
            <p:cNvPr id="59412" name="Line 21">
              <a:extLst>
                <a:ext uri="{FF2B5EF4-FFF2-40B4-BE49-F238E27FC236}">
                  <a16:creationId xmlns:a16="http://schemas.microsoft.com/office/drawing/2014/main" id="{80C5432F-7899-46B5-9783-D6E48594B6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912"/>
              <a:ext cx="0" cy="238"/>
            </a:xfrm>
            <a:prstGeom prst="line">
              <a:avLst/>
            </a:prstGeom>
            <a:noFill/>
            <a:ln w="76200">
              <a:solidFill>
                <a:srgbClr val="CCCC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5798" name="Text Box 22">
            <a:extLst>
              <a:ext uri="{FF2B5EF4-FFF2-40B4-BE49-F238E27FC236}">
                <a16:creationId xmlns:a16="http://schemas.microsoft.com/office/drawing/2014/main" id="{A8E27FF0-53AF-418D-831D-0FC8224FD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191000"/>
            <a:ext cx="7543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电子经过狭缝，其坐标</a:t>
            </a:r>
            <a:r>
              <a:rPr lang="zh-CN" altLang="en-US">
                <a:solidFill>
                  <a:srgbClr val="FFCC66"/>
                </a:solidFill>
              </a:rPr>
              <a:t>  </a:t>
            </a:r>
            <a:r>
              <a:rPr lang="en-US" altLang="zh-CN" i="1">
                <a:solidFill>
                  <a:srgbClr val="66FFFF"/>
                </a:solidFill>
              </a:rPr>
              <a:t>x</a:t>
            </a:r>
            <a:r>
              <a:rPr lang="en-US" altLang="zh-CN">
                <a:solidFill>
                  <a:srgbClr val="99FFCC"/>
                </a:solidFill>
              </a:rPr>
              <a:t>  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的不确定量为</a:t>
            </a:r>
            <a:r>
              <a:rPr lang="zh-CN" altLang="en-US">
                <a:solidFill>
                  <a:srgbClr val="FFCC66"/>
                </a:solidFill>
              </a:rPr>
              <a:t>  </a:t>
            </a:r>
            <a:r>
              <a:rPr lang="zh-CN" altLang="en-US" sz="2000">
                <a:solidFill>
                  <a:srgbClr val="66FFFF"/>
                </a:solidFill>
              </a:rPr>
              <a:t>△</a:t>
            </a:r>
            <a:r>
              <a:rPr lang="en-US" altLang="zh-CN" i="1">
                <a:solidFill>
                  <a:srgbClr val="66FFFF"/>
                </a:solidFill>
              </a:rPr>
              <a:t>x</a:t>
            </a:r>
            <a:r>
              <a:rPr lang="en-US" altLang="zh-CN" i="1">
                <a:solidFill>
                  <a:srgbClr val="FFCC66"/>
                </a:solidFill>
              </a:rPr>
              <a:t>  </a:t>
            </a:r>
            <a:r>
              <a:rPr lang="zh-CN" altLang="en-US">
                <a:solidFill>
                  <a:schemeClr val="hlink"/>
                </a:solidFill>
              </a:rPr>
              <a:t>；</a:t>
            </a:r>
          </a:p>
        </p:txBody>
      </p:sp>
      <p:grpSp>
        <p:nvGrpSpPr>
          <p:cNvPr id="59414" name="Group 23">
            <a:extLst>
              <a:ext uri="{FF2B5EF4-FFF2-40B4-BE49-F238E27FC236}">
                <a16:creationId xmlns:a16="http://schemas.microsoft.com/office/drawing/2014/main" id="{55BE893E-43D2-4AEC-9374-01F31C33519E}"/>
              </a:ext>
            </a:extLst>
          </p:cNvPr>
          <p:cNvGrpSpPr>
            <a:grpSpLocks/>
          </p:cNvGrpSpPr>
          <p:nvPr/>
        </p:nvGrpSpPr>
        <p:grpSpPr bwMode="auto">
          <a:xfrm>
            <a:off x="2025650" y="1728788"/>
            <a:ext cx="617538" cy="1524000"/>
            <a:chOff x="1320" y="1440"/>
            <a:chExt cx="389" cy="960"/>
          </a:xfrm>
        </p:grpSpPr>
        <p:sp>
          <p:nvSpPr>
            <p:cNvPr id="59415" name="Line 24">
              <a:extLst>
                <a:ext uri="{FF2B5EF4-FFF2-40B4-BE49-F238E27FC236}">
                  <a16:creationId xmlns:a16="http://schemas.microsoft.com/office/drawing/2014/main" id="{6F6D069C-B6B7-4204-AEF6-4A6719093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776"/>
              <a:ext cx="192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6" name="Line 25">
              <a:extLst>
                <a:ext uri="{FF2B5EF4-FFF2-40B4-BE49-F238E27FC236}">
                  <a16:creationId xmlns:a16="http://schemas.microsoft.com/office/drawing/2014/main" id="{9037CE3F-916C-4AE7-863A-B4EA0573F6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064"/>
              <a:ext cx="192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7" name="Line 26">
              <a:extLst>
                <a:ext uri="{FF2B5EF4-FFF2-40B4-BE49-F238E27FC236}">
                  <a16:creationId xmlns:a16="http://schemas.microsoft.com/office/drawing/2014/main" id="{769F1267-9D5D-47A8-B692-0577169D03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2064"/>
              <a:ext cx="0" cy="336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8" name="Line 27">
              <a:extLst>
                <a:ext uri="{FF2B5EF4-FFF2-40B4-BE49-F238E27FC236}">
                  <a16:creationId xmlns:a16="http://schemas.microsoft.com/office/drawing/2014/main" id="{15E9677A-EDA5-4C81-9BCA-7181FAC13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1440"/>
              <a:ext cx="0" cy="336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9" name="Rectangle 28">
              <a:extLst>
                <a:ext uri="{FF2B5EF4-FFF2-40B4-BE49-F238E27FC236}">
                  <a16:creationId xmlns:a16="http://schemas.microsoft.com/office/drawing/2014/main" id="{3E4531C5-B37B-4B9A-8EF8-2954E1818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1734"/>
              <a:ext cx="38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solidFill>
                    <a:srgbClr val="FFCC66"/>
                  </a:solidFill>
                </a:rPr>
                <a:t>△</a:t>
              </a:r>
              <a:r>
                <a:rPr lang="en-US" altLang="zh-CN" sz="2800" i="1">
                  <a:solidFill>
                    <a:srgbClr val="FFCC66"/>
                  </a:solidFill>
                </a:rPr>
                <a:t>x</a:t>
              </a:r>
            </a:p>
          </p:txBody>
        </p:sp>
      </p:grpSp>
      <p:sp>
        <p:nvSpPr>
          <p:cNvPr id="59420" name="Line 29">
            <a:extLst>
              <a:ext uri="{FF2B5EF4-FFF2-40B4-BE49-F238E27FC236}">
                <a16:creationId xmlns:a16="http://schemas.microsoft.com/office/drawing/2014/main" id="{8874424F-7B30-4D63-8CF2-E66532DB62E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476250"/>
            <a:ext cx="0" cy="3760788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806" name="Text Box 30">
            <a:extLst>
              <a:ext uri="{FF2B5EF4-FFF2-40B4-BE49-F238E27FC236}">
                <a16:creationId xmlns:a16="http://schemas.microsoft.com/office/drawing/2014/main" id="{8ABE2421-3643-4397-A0DD-84CC42009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1913" y="1716088"/>
            <a:ext cx="124777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大部分</a:t>
            </a:r>
          </a:p>
          <a:p>
            <a:pPr algn="ctr"/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电子落在中央主极大</a:t>
            </a:r>
          </a:p>
        </p:txBody>
      </p:sp>
      <p:sp>
        <p:nvSpPr>
          <p:cNvPr id="59422" name="灯片编号占位符 1">
            <a:extLst>
              <a:ext uri="{FF2B5EF4-FFF2-40B4-BE49-F238E27FC236}">
                <a16:creationId xmlns:a16="http://schemas.microsoft.com/office/drawing/2014/main" id="{9F6FF14E-9A4A-436E-A73A-E76B50910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F63B226-CA53-4B41-99DB-7E2F56238167}" type="slidenum">
              <a:rPr lang="en-US" altLang="zh-CN" b="0">
                <a:solidFill>
                  <a:srgbClr val="FF00FF"/>
                </a:solidFill>
              </a:rPr>
              <a:pPr/>
              <a:t>6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58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5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5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91" grpId="0" animBg="1"/>
      <p:bldP spid="75792" grpId="0"/>
      <p:bldP spid="75798" grpId="0"/>
      <p:bldP spid="7580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Picture 2" descr="电子单缝衍射">
            <a:extLst>
              <a:ext uri="{FF2B5EF4-FFF2-40B4-BE49-F238E27FC236}">
                <a16:creationId xmlns:a16="http://schemas.microsoft.com/office/drawing/2014/main" id="{E06DB84E-479A-4ECF-B58D-664A1B95E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326699"/>
              </a:clrFrom>
              <a:clrTo>
                <a:srgbClr val="3266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74" r="320" b="17604"/>
          <a:stretch>
            <a:fillRect/>
          </a:stretch>
        </p:blipFill>
        <p:spPr bwMode="auto">
          <a:xfrm>
            <a:off x="2514600" y="476250"/>
            <a:ext cx="4937125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7" name="Text Box 3">
            <a:extLst>
              <a:ext uri="{FF2B5EF4-FFF2-40B4-BE49-F238E27FC236}">
                <a16:creationId xmlns:a16="http://schemas.microsoft.com/office/drawing/2014/main" id="{68D972B4-A789-484E-B04A-7AB975CBC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4071938"/>
            <a:ext cx="8229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                                                                                     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动量分量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p</a:t>
            </a:r>
            <a:r>
              <a:rPr lang="en-US" altLang="zh-CN" i="1" baseline="-20000">
                <a:solidFill>
                  <a:srgbClr val="66FFFF"/>
                </a:solidFill>
              </a:rPr>
              <a:t>x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的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不确定量</a:t>
            </a:r>
          </a:p>
        </p:txBody>
      </p:sp>
      <p:sp>
        <p:nvSpPr>
          <p:cNvPr id="61443" name="Text Box 4">
            <a:extLst>
              <a:ext uri="{FF2B5EF4-FFF2-40B4-BE49-F238E27FC236}">
                <a16:creationId xmlns:a16="http://schemas.microsoft.com/office/drawing/2014/main" id="{802042C3-3861-43E8-A913-2450F9494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4071938"/>
            <a:ext cx="7543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电子经过狭缝，其坐标</a:t>
            </a:r>
            <a:r>
              <a:rPr lang="zh-CN" altLang="en-US">
                <a:solidFill>
                  <a:srgbClr val="99FFCC"/>
                </a:solidFill>
              </a:rPr>
              <a:t>  </a:t>
            </a:r>
            <a:r>
              <a:rPr lang="en-US" altLang="zh-CN" i="1">
                <a:solidFill>
                  <a:srgbClr val="00FFFF"/>
                </a:solidFill>
              </a:rPr>
              <a:t>x</a:t>
            </a:r>
            <a:r>
              <a:rPr lang="en-US" altLang="zh-CN">
                <a:solidFill>
                  <a:schemeClr val="bg1"/>
                </a:solidFill>
              </a:rPr>
              <a:t>  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的不确定量为</a:t>
            </a:r>
            <a:r>
              <a:rPr lang="zh-CN" altLang="en-US">
                <a:solidFill>
                  <a:schemeClr val="bg1"/>
                </a:solidFill>
              </a:rPr>
              <a:t>  </a:t>
            </a:r>
            <a:r>
              <a:rPr lang="zh-CN" altLang="en-US" sz="2000">
                <a:solidFill>
                  <a:srgbClr val="00FFFF"/>
                </a:solidFill>
              </a:rPr>
              <a:t>△</a:t>
            </a:r>
            <a:r>
              <a:rPr lang="en-US" altLang="zh-CN" i="1">
                <a:solidFill>
                  <a:srgbClr val="00FFFF"/>
                </a:solidFill>
              </a:rPr>
              <a:t>x</a:t>
            </a:r>
            <a:r>
              <a:rPr lang="en-US" altLang="zh-CN" i="1">
                <a:solidFill>
                  <a:schemeClr val="bg1"/>
                </a:solidFill>
              </a:rPr>
              <a:t>  </a:t>
            </a:r>
            <a:r>
              <a:rPr lang="zh-CN" altLang="en-US">
                <a:solidFill>
                  <a:schemeClr val="hlink"/>
                </a:solidFill>
              </a:rPr>
              <a:t>；</a:t>
            </a:r>
          </a:p>
        </p:txBody>
      </p:sp>
      <p:sp>
        <p:nvSpPr>
          <p:cNvPr id="61444" name="Line 5">
            <a:extLst>
              <a:ext uri="{FF2B5EF4-FFF2-40B4-BE49-F238E27FC236}">
                <a16:creationId xmlns:a16="http://schemas.microsoft.com/office/drawing/2014/main" id="{F00AB1E9-36C0-48A4-BCE1-669FB01F7E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268413"/>
            <a:ext cx="0" cy="2651125"/>
          </a:xfrm>
          <a:prstGeom prst="line">
            <a:avLst/>
          </a:prstGeom>
          <a:noFill/>
          <a:ln w="76200">
            <a:solidFill>
              <a:srgbClr val="CC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5" name="Line 6">
            <a:extLst>
              <a:ext uri="{FF2B5EF4-FFF2-40B4-BE49-F238E27FC236}">
                <a16:creationId xmlns:a16="http://schemas.microsoft.com/office/drawing/2014/main" id="{685EDE74-48B8-45A9-B739-8D33DEEA16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246313"/>
            <a:ext cx="0" cy="457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6" name="Line 7">
            <a:extLst>
              <a:ext uri="{FF2B5EF4-FFF2-40B4-BE49-F238E27FC236}">
                <a16:creationId xmlns:a16="http://schemas.microsoft.com/office/drawing/2014/main" id="{95C5D766-2A21-46F4-9595-3ECE69AEE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4150" y="2468563"/>
            <a:ext cx="4572000" cy="20637"/>
          </a:xfrm>
          <a:prstGeom prst="line">
            <a:avLst/>
          </a:prstGeom>
          <a:noFill/>
          <a:ln w="12700">
            <a:solidFill>
              <a:srgbClr val="CC99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7" name="Line 8">
            <a:extLst>
              <a:ext uri="{FF2B5EF4-FFF2-40B4-BE49-F238E27FC236}">
                <a16:creationId xmlns:a16="http://schemas.microsoft.com/office/drawing/2014/main" id="{FC92C181-402C-4818-B649-BCA1193652B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7100" y="454025"/>
            <a:ext cx="0" cy="3760788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7833" name="Picture 9" descr="222000100010001">
            <a:extLst>
              <a:ext uri="{FF2B5EF4-FFF2-40B4-BE49-F238E27FC236}">
                <a16:creationId xmlns:a16="http://schemas.microsoft.com/office/drawing/2014/main" id="{9B1D037B-E1E3-4DD5-9ECD-B89F39EE0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006599"/>
              </a:clrFrom>
              <a:clrTo>
                <a:srgbClr val="0065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85875"/>
            <a:ext cx="25146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4" name="Line 10">
            <a:extLst>
              <a:ext uri="{FF2B5EF4-FFF2-40B4-BE49-F238E27FC236}">
                <a16:creationId xmlns:a16="http://schemas.microsoft.com/office/drawing/2014/main" id="{10C73176-1B97-479C-B68D-4D2439FBC2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1738" y="1981200"/>
            <a:ext cx="2209800" cy="0"/>
          </a:xfrm>
          <a:prstGeom prst="line">
            <a:avLst/>
          </a:prstGeom>
          <a:noFill/>
          <a:ln w="3175">
            <a:solidFill>
              <a:srgbClr val="DDDDD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5" name="Oval 11">
            <a:extLst>
              <a:ext uri="{FF2B5EF4-FFF2-40B4-BE49-F238E27FC236}">
                <a16:creationId xmlns:a16="http://schemas.microsoft.com/office/drawing/2014/main" id="{CBB0B263-1E35-48D0-9B42-65114F202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1862138"/>
            <a:ext cx="152400" cy="152400"/>
          </a:xfrm>
          <a:prstGeom prst="ellipse">
            <a:avLst/>
          </a:prstGeom>
          <a:solidFill>
            <a:srgbClr val="FFCC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 sz="2800" b="0"/>
          </a:p>
        </p:txBody>
      </p:sp>
      <p:graphicFrame>
        <p:nvGraphicFramePr>
          <p:cNvPr id="77836" name="Object 12">
            <a:extLst>
              <a:ext uri="{FF2B5EF4-FFF2-40B4-BE49-F238E27FC236}">
                <a16:creationId xmlns:a16="http://schemas.microsoft.com/office/drawing/2014/main" id="{7DB271E6-92C8-4C8A-8304-6CF4CE5183E2}"/>
              </a:ext>
            </a:extLst>
          </p:cNvPr>
          <p:cNvGraphicFramePr>
            <a:graphicFrameLocks/>
          </p:cNvGraphicFramePr>
          <p:nvPr/>
        </p:nvGraphicFramePr>
        <p:xfrm>
          <a:off x="7596188" y="1428750"/>
          <a:ext cx="9779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754" r:id="rId6" imgW="1121400" imgH="425520" progId="Equation.3">
                  <p:embed/>
                </p:oleObj>
              </mc:Choice>
              <mc:Fallback>
                <p:oleObj r:id="rId6" imgW="1121400" imgH="425520" progId="Equation.3">
                  <p:embed/>
                  <p:pic>
                    <p:nvPicPr>
                      <p:cNvPr id="77836" name="Object 12">
                        <a:extLst>
                          <a:ext uri="{FF2B5EF4-FFF2-40B4-BE49-F238E27FC236}">
                            <a16:creationId xmlns:a16="http://schemas.microsoft.com/office/drawing/2014/main" id="{7DB271E6-92C8-4C8A-8304-6CF4CE5183E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1428750"/>
                        <a:ext cx="9779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2" name="Line 13">
            <a:extLst>
              <a:ext uri="{FF2B5EF4-FFF2-40B4-BE49-F238E27FC236}">
                <a16:creationId xmlns:a16="http://schemas.microsoft.com/office/drawing/2014/main" id="{C0CCCEFC-774C-47DA-AB53-62B1525C48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3938" y="825500"/>
            <a:ext cx="228600" cy="1524000"/>
          </a:xfrm>
          <a:prstGeom prst="line">
            <a:avLst/>
          </a:prstGeom>
          <a:noFill/>
          <a:ln w="19050">
            <a:solidFill>
              <a:srgbClr val="FF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3" name="Line 14">
            <a:extLst>
              <a:ext uri="{FF2B5EF4-FFF2-40B4-BE49-F238E27FC236}">
                <a16:creationId xmlns:a16="http://schemas.microsoft.com/office/drawing/2014/main" id="{8F3BC2B9-80A9-40AB-8D90-AF6BC1D080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4975" y="4376738"/>
            <a:ext cx="508952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9" name="Line 15">
            <a:extLst>
              <a:ext uri="{FF2B5EF4-FFF2-40B4-BE49-F238E27FC236}">
                <a16:creationId xmlns:a16="http://schemas.microsoft.com/office/drawing/2014/main" id="{4C5ED837-6AF3-46AD-A9B0-FFA9D7875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471738"/>
            <a:ext cx="22860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40" name="Oval 16">
            <a:extLst>
              <a:ext uri="{FF2B5EF4-FFF2-40B4-BE49-F238E27FC236}">
                <a16:creationId xmlns:a16="http://schemas.microsoft.com/office/drawing/2014/main" id="{ED389345-0089-4E21-B7C2-33EB265F8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395538"/>
            <a:ext cx="152400" cy="152400"/>
          </a:xfrm>
          <a:prstGeom prst="ellipse">
            <a:avLst/>
          </a:prstGeom>
          <a:solidFill>
            <a:srgbClr val="FFCC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 sz="2800" b="0"/>
          </a:p>
        </p:txBody>
      </p:sp>
      <p:sp>
        <p:nvSpPr>
          <p:cNvPr id="61456" name="Line 17">
            <a:extLst>
              <a:ext uri="{FF2B5EF4-FFF2-40B4-BE49-F238E27FC236}">
                <a16:creationId xmlns:a16="http://schemas.microsoft.com/office/drawing/2014/main" id="{8D589610-BF1E-4840-AAE7-7115FF095D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0100" y="5372100"/>
            <a:ext cx="56388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7842" name="Object 18">
            <a:extLst>
              <a:ext uri="{FF2B5EF4-FFF2-40B4-BE49-F238E27FC236}">
                <a16:creationId xmlns:a16="http://schemas.microsoft.com/office/drawing/2014/main" id="{40F272C9-28B4-452F-91F5-FD39F32652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4425" y="4857750"/>
          <a:ext cx="16160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755" r:id="rId8" imgW="964440" imgH="235080" progId="Equation.3">
                  <p:embed/>
                </p:oleObj>
              </mc:Choice>
              <mc:Fallback>
                <p:oleObj r:id="rId8" imgW="964440" imgH="235080" progId="Equation.3">
                  <p:embed/>
                  <p:pic>
                    <p:nvPicPr>
                      <p:cNvPr id="77842" name="Object 18">
                        <a:extLst>
                          <a:ext uri="{FF2B5EF4-FFF2-40B4-BE49-F238E27FC236}">
                            <a16:creationId xmlns:a16="http://schemas.microsoft.com/office/drawing/2014/main" id="{40F272C9-28B4-452F-91F5-FD39F32652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425" y="4857750"/>
                        <a:ext cx="16160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3" name="Object 19">
            <a:extLst>
              <a:ext uri="{FF2B5EF4-FFF2-40B4-BE49-F238E27FC236}">
                <a16:creationId xmlns:a16="http://schemas.microsoft.com/office/drawing/2014/main" id="{6F77EE98-985F-46C4-BD3E-1B134F2D26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15063" y="4854575"/>
          <a:ext cx="16430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756" r:id="rId10" imgW="1816560" imgH="470520" progId="Equation.3">
                  <p:embed/>
                </p:oleObj>
              </mc:Choice>
              <mc:Fallback>
                <p:oleObj r:id="rId10" imgW="1816560" imgH="470520" progId="Equation.3">
                  <p:embed/>
                  <p:pic>
                    <p:nvPicPr>
                      <p:cNvPr id="77843" name="Object 19">
                        <a:extLst>
                          <a:ext uri="{FF2B5EF4-FFF2-40B4-BE49-F238E27FC236}">
                            <a16:creationId xmlns:a16="http://schemas.microsoft.com/office/drawing/2014/main" id="{6F77EE98-985F-46C4-BD3E-1B134F2D26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63" y="4854575"/>
                        <a:ext cx="16430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9" name="Rectangle 20">
            <a:extLst>
              <a:ext uri="{FF2B5EF4-FFF2-40B4-BE49-F238E27FC236}">
                <a16:creationId xmlns:a16="http://schemas.microsoft.com/office/drawing/2014/main" id="{77621E74-A459-483F-9FED-86DCB41FA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1450" y="1785938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hlink"/>
                </a:solidFill>
              </a:rPr>
              <a:t>p</a:t>
            </a:r>
            <a:r>
              <a:rPr lang="en-US" altLang="zh-CN" baseline="-20000">
                <a:solidFill>
                  <a:schemeClr val="hlink"/>
                </a:solidFill>
              </a:rPr>
              <a:t>x</a:t>
            </a:r>
          </a:p>
        </p:txBody>
      </p:sp>
      <p:sp>
        <p:nvSpPr>
          <p:cNvPr id="77845" name="Text Box 21">
            <a:extLst>
              <a:ext uri="{FF2B5EF4-FFF2-40B4-BE49-F238E27FC236}">
                <a16:creationId xmlns:a16="http://schemas.microsoft.com/office/drawing/2014/main" id="{07365900-09C2-4A12-AD0B-7D8C1F859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6850" y="22431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FFFF"/>
                </a:solidFill>
              </a:rPr>
              <a:t>0</a:t>
            </a:r>
          </a:p>
        </p:txBody>
      </p:sp>
      <p:sp>
        <p:nvSpPr>
          <p:cNvPr id="61461" name="Line 22">
            <a:extLst>
              <a:ext uri="{FF2B5EF4-FFF2-40B4-BE49-F238E27FC236}">
                <a16:creationId xmlns:a16="http://schemas.microsoft.com/office/drawing/2014/main" id="{201D97D2-18A5-4C7F-A37F-2D6096C95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408113"/>
            <a:ext cx="914400" cy="0"/>
          </a:xfrm>
          <a:prstGeom prst="line">
            <a:avLst/>
          </a:prstGeom>
          <a:noFill/>
          <a:ln w="38100">
            <a:solidFill>
              <a:srgbClr val="00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62" name="Line 23">
            <a:extLst>
              <a:ext uri="{FF2B5EF4-FFF2-40B4-BE49-F238E27FC236}">
                <a16:creationId xmlns:a16="http://schemas.microsoft.com/office/drawing/2014/main" id="{AD384D7F-9423-423B-B0FE-ADB305E838BE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941513"/>
            <a:ext cx="914400" cy="0"/>
          </a:xfrm>
          <a:prstGeom prst="line">
            <a:avLst/>
          </a:prstGeom>
          <a:noFill/>
          <a:ln w="38100">
            <a:solidFill>
              <a:srgbClr val="00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63" name="Line 24">
            <a:extLst>
              <a:ext uri="{FF2B5EF4-FFF2-40B4-BE49-F238E27FC236}">
                <a16:creationId xmlns:a16="http://schemas.microsoft.com/office/drawing/2014/main" id="{DEFADF4D-9F56-4B82-97E0-E63F329D8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474913"/>
            <a:ext cx="914400" cy="0"/>
          </a:xfrm>
          <a:prstGeom prst="line">
            <a:avLst/>
          </a:prstGeom>
          <a:noFill/>
          <a:ln w="38100">
            <a:solidFill>
              <a:srgbClr val="00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64" name="Line 25">
            <a:extLst>
              <a:ext uri="{FF2B5EF4-FFF2-40B4-BE49-F238E27FC236}">
                <a16:creationId xmlns:a16="http://schemas.microsoft.com/office/drawing/2014/main" id="{FCB2A0D2-018C-4EB1-A7BC-F398BA023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008313"/>
            <a:ext cx="914400" cy="0"/>
          </a:xfrm>
          <a:prstGeom prst="line">
            <a:avLst/>
          </a:prstGeom>
          <a:noFill/>
          <a:ln w="38100">
            <a:solidFill>
              <a:srgbClr val="00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65" name="Line 26">
            <a:extLst>
              <a:ext uri="{FF2B5EF4-FFF2-40B4-BE49-F238E27FC236}">
                <a16:creationId xmlns:a16="http://schemas.microsoft.com/office/drawing/2014/main" id="{98173B3D-6A37-4310-8F05-20FED16E3477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617913"/>
            <a:ext cx="914400" cy="0"/>
          </a:xfrm>
          <a:prstGeom prst="line">
            <a:avLst/>
          </a:prstGeom>
          <a:noFill/>
          <a:ln w="38100">
            <a:solidFill>
              <a:srgbClr val="00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66" name="Text Box 27">
            <a:extLst>
              <a:ext uri="{FF2B5EF4-FFF2-40B4-BE49-F238E27FC236}">
                <a16:creationId xmlns:a16="http://schemas.microsoft.com/office/drawing/2014/main" id="{D9DD8B41-D04F-4234-AF43-A9FF79A0F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38338"/>
            <a:ext cx="6794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chemeClr val="hlink"/>
                </a:solidFill>
                <a:ea typeface="华文中宋" panose="02010600040101010101" pitchFamily="2" charset="-122"/>
              </a:rPr>
              <a:t>电子束</a:t>
            </a:r>
          </a:p>
        </p:txBody>
      </p:sp>
      <p:grpSp>
        <p:nvGrpSpPr>
          <p:cNvPr id="61467" name="Group 28">
            <a:extLst>
              <a:ext uri="{FF2B5EF4-FFF2-40B4-BE49-F238E27FC236}">
                <a16:creationId xmlns:a16="http://schemas.microsoft.com/office/drawing/2014/main" id="{17FCBD28-3804-4164-92E6-776218CC3F3F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1709738"/>
            <a:ext cx="617537" cy="1916112"/>
            <a:chOff x="1291" y="1440"/>
            <a:chExt cx="389" cy="1207"/>
          </a:xfrm>
        </p:grpSpPr>
        <p:sp>
          <p:nvSpPr>
            <p:cNvPr id="61468" name="Line 29">
              <a:extLst>
                <a:ext uri="{FF2B5EF4-FFF2-40B4-BE49-F238E27FC236}">
                  <a16:creationId xmlns:a16="http://schemas.microsoft.com/office/drawing/2014/main" id="{684FE90B-DDC4-4C7E-BA65-94EF60D741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776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9" name="Line 30">
              <a:extLst>
                <a:ext uri="{FF2B5EF4-FFF2-40B4-BE49-F238E27FC236}">
                  <a16:creationId xmlns:a16="http://schemas.microsoft.com/office/drawing/2014/main" id="{B9634737-6F3C-4B71-920B-DBC1659B1B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064"/>
              <a:ext cx="19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0" name="Line 31">
              <a:extLst>
                <a:ext uri="{FF2B5EF4-FFF2-40B4-BE49-F238E27FC236}">
                  <a16:creationId xmlns:a16="http://schemas.microsoft.com/office/drawing/2014/main" id="{C7B9F792-1BCF-48A8-8D5C-9EE1A9DAA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064"/>
              <a:ext cx="0" cy="336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1" name="Line 32">
              <a:extLst>
                <a:ext uri="{FF2B5EF4-FFF2-40B4-BE49-F238E27FC236}">
                  <a16:creationId xmlns:a16="http://schemas.microsoft.com/office/drawing/2014/main" id="{4A2AD517-DB7A-496E-A7E1-B02A0C315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440"/>
              <a:ext cx="0" cy="336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2" name="Rectangle 33">
              <a:extLst>
                <a:ext uri="{FF2B5EF4-FFF2-40B4-BE49-F238E27FC236}">
                  <a16:creationId xmlns:a16="http://schemas.microsoft.com/office/drawing/2014/main" id="{1B0F561D-CEFC-456F-B8BE-D5A57B863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1" y="2320"/>
              <a:ext cx="38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solidFill>
                    <a:srgbClr val="FFCC66"/>
                  </a:solidFill>
                </a:rPr>
                <a:t>△</a:t>
              </a:r>
              <a:r>
                <a:rPr lang="en-US" altLang="zh-CN" sz="2800" i="1">
                  <a:solidFill>
                    <a:srgbClr val="FFCC66"/>
                  </a:solidFill>
                </a:rPr>
                <a:t>x</a:t>
              </a:r>
            </a:p>
          </p:txBody>
        </p:sp>
      </p:grpSp>
      <p:grpSp>
        <p:nvGrpSpPr>
          <p:cNvPr id="61473" name="Group 34">
            <a:extLst>
              <a:ext uri="{FF2B5EF4-FFF2-40B4-BE49-F238E27FC236}">
                <a16:creationId xmlns:a16="http://schemas.microsoft.com/office/drawing/2014/main" id="{8E402FAB-AB99-435B-BFFD-AE43F14D77AA}"/>
              </a:ext>
            </a:extLst>
          </p:cNvPr>
          <p:cNvGrpSpPr>
            <a:grpSpLocks/>
          </p:cNvGrpSpPr>
          <p:nvPr/>
        </p:nvGrpSpPr>
        <p:grpSpPr bwMode="auto">
          <a:xfrm>
            <a:off x="2533650" y="439738"/>
            <a:ext cx="361950" cy="835025"/>
            <a:chOff x="1596" y="624"/>
            <a:chExt cx="228" cy="526"/>
          </a:xfrm>
        </p:grpSpPr>
        <p:sp>
          <p:nvSpPr>
            <p:cNvPr id="61474" name="Text Box 35">
              <a:extLst>
                <a:ext uri="{FF2B5EF4-FFF2-40B4-BE49-F238E27FC236}">
                  <a16:creationId xmlns:a16="http://schemas.microsoft.com/office/drawing/2014/main" id="{C6CA30F2-0497-49D1-A634-1D90BD71DE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6" y="62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i="1">
                  <a:solidFill>
                    <a:schemeClr val="hlink"/>
                  </a:solidFill>
                </a:rPr>
                <a:t>x</a:t>
              </a:r>
            </a:p>
          </p:txBody>
        </p:sp>
        <p:sp>
          <p:nvSpPr>
            <p:cNvPr id="61475" name="Line 36">
              <a:extLst>
                <a:ext uri="{FF2B5EF4-FFF2-40B4-BE49-F238E27FC236}">
                  <a16:creationId xmlns:a16="http://schemas.microsoft.com/office/drawing/2014/main" id="{8823F64E-B8F6-4FEC-B487-326BF80AE9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912"/>
              <a:ext cx="0" cy="23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61476" name="Object 37">
            <a:extLst>
              <a:ext uri="{FF2B5EF4-FFF2-40B4-BE49-F238E27FC236}">
                <a16:creationId xmlns:a16="http://schemas.microsoft.com/office/drawing/2014/main" id="{74864EDD-BFC2-47A9-B246-41B08D924C26}"/>
              </a:ext>
            </a:extLst>
          </p:cNvPr>
          <p:cNvGraphicFramePr>
            <a:graphicFrameLocks/>
          </p:cNvGraphicFramePr>
          <p:nvPr/>
        </p:nvGraphicFramePr>
        <p:xfrm>
          <a:off x="1085850" y="515938"/>
          <a:ext cx="12192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757" r:id="rId12" imgW="1401480" imgH="425520" progId="Equation.3">
                  <p:embed/>
                </p:oleObj>
              </mc:Choice>
              <mc:Fallback>
                <p:oleObj r:id="rId12" imgW="1401480" imgH="425520" progId="Equation.3">
                  <p:embed/>
                  <p:pic>
                    <p:nvPicPr>
                      <p:cNvPr id="61476" name="Object 37">
                        <a:extLst>
                          <a:ext uri="{FF2B5EF4-FFF2-40B4-BE49-F238E27FC236}">
                            <a16:creationId xmlns:a16="http://schemas.microsoft.com/office/drawing/2014/main" id="{74864EDD-BFC2-47A9-B246-41B08D924C2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515938"/>
                        <a:ext cx="12192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7" name="Object 38">
            <a:extLst>
              <a:ext uri="{FF2B5EF4-FFF2-40B4-BE49-F238E27FC236}">
                <a16:creationId xmlns:a16="http://schemas.microsoft.com/office/drawing/2014/main" id="{A05A803F-BED1-4804-AE2D-E3BFEDC1AA29}"/>
              </a:ext>
            </a:extLst>
          </p:cNvPr>
          <p:cNvGraphicFramePr>
            <a:graphicFrameLocks/>
          </p:cNvGraphicFramePr>
          <p:nvPr/>
        </p:nvGraphicFramePr>
        <p:xfrm>
          <a:off x="3367088" y="300038"/>
          <a:ext cx="14716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758" r:id="rId14" imgW="1704240" imgH="940680" progId="Equation.3">
                  <p:embed/>
                </p:oleObj>
              </mc:Choice>
              <mc:Fallback>
                <p:oleObj r:id="rId14" imgW="1704240" imgH="940680" progId="Equation.3">
                  <p:embed/>
                  <p:pic>
                    <p:nvPicPr>
                      <p:cNvPr id="61477" name="Object 38">
                        <a:extLst>
                          <a:ext uri="{FF2B5EF4-FFF2-40B4-BE49-F238E27FC236}">
                            <a16:creationId xmlns:a16="http://schemas.microsoft.com/office/drawing/2014/main" id="{A05A803F-BED1-4804-AE2D-E3BFEDC1AA2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088" y="300038"/>
                        <a:ext cx="14716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8" name="Freeform 39">
            <a:extLst>
              <a:ext uri="{FF2B5EF4-FFF2-40B4-BE49-F238E27FC236}">
                <a16:creationId xmlns:a16="http://schemas.microsoft.com/office/drawing/2014/main" id="{9FAA1111-F72E-4B2A-B1CE-7CB33DFDC424}"/>
              </a:ext>
            </a:extLst>
          </p:cNvPr>
          <p:cNvSpPr>
            <a:spLocks noChangeArrowheads="1"/>
          </p:cNvSpPr>
          <p:nvPr/>
        </p:nvSpPr>
        <p:spPr bwMode="auto">
          <a:xfrm rot="990262">
            <a:off x="3387725" y="2303463"/>
            <a:ext cx="76200" cy="176212"/>
          </a:xfrm>
          <a:custGeom>
            <a:avLst/>
            <a:gdLst>
              <a:gd name="T0" fmla="*/ 0 w 57"/>
              <a:gd name="T1" fmla="*/ 0 h 126"/>
              <a:gd name="T2" fmla="*/ 57 w 57"/>
              <a:gd name="T3" fmla="*/ 126 h 12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7" h="126">
                <a:moveTo>
                  <a:pt x="0" y="0"/>
                </a:moveTo>
                <a:cubicBezTo>
                  <a:pt x="48" y="33"/>
                  <a:pt x="57" y="67"/>
                  <a:pt x="57" y="126"/>
                </a:cubicBezTo>
              </a:path>
            </a:pathLst>
          </a:custGeom>
          <a:noFill/>
          <a:ln w="19050">
            <a:solidFill>
              <a:srgbClr val="FF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77864" name="Text Box 40">
            <a:extLst>
              <a:ext uri="{FF2B5EF4-FFF2-40B4-BE49-F238E27FC236}">
                <a16:creationId xmlns:a16="http://schemas.microsoft.com/office/drawing/2014/main" id="{2A46523D-D956-4EBB-9F45-0BFEE3AB1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5891213"/>
            <a:ext cx="4284663" cy="466725"/>
          </a:xfrm>
          <a:prstGeom prst="rect">
            <a:avLst/>
          </a:prstGeom>
          <a:noFill/>
          <a:ln w="9525">
            <a:solidFill>
              <a:srgbClr val="B2B2B2">
                <a:alpha val="85881"/>
              </a:srgb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减小缝宽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zh-CN" altLang="en-US" sz="1800">
                <a:solidFill>
                  <a:srgbClr val="66FFFF"/>
                </a:solidFill>
              </a:rPr>
              <a:t>△</a:t>
            </a:r>
            <a:r>
              <a:rPr lang="en-US" altLang="zh-CN" i="1">
                <a:solidFill>
                  <a:srgbClr val="66FFFF"/>
                </a:solidFill>
              </a:rPr>
              <a:t>x</a:t>
            </a:r>
            <a:r>
              <a:rPr lang="en-US" altLang="zh-CN">
                <a:solidFill>
                  <a:schemeClr val="hlink"/>
                </a:solidFill>
              </a:rPr>
              <a:t>, </a:t>
            </a:r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x</a:t>
            </a:r>
            <a:r>
              <a:rPr lang="en-US" altLang="zh-CN" i="1">
                <a:solidFill>
                  <a:srgbClr val="99FFCC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确定的越准确</a:t>
            </a:r>
          </a:p>
        </p:txBody>
      </p:sp>
      <p:sp>
        <p:nvSpPr>
          <p:cNvPr id="77865" name="Rectangle 41">
            <a:extLst>
              <a:ext uri="{FF2B5EF4-FFF2-40B4-BE49-F238E27FC236}">
                <a16:creationId xmlns:a16="http://schemas.microsoft.com/office/drawing/2014/main" id="{45F74924-29AB-487F-B988-AAB4B6F1E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575" y="5891213"/>
            <a:ext cx="3600450" cy="466725"/>
          </a:xfrm>
          <a:prstGeom prst="rect">
            <a:avLst/>
          </a:prstGeom>
          <a:noFill/>
          <a:ln w="9525">
            <a:solidFill>
              <a:srgbClr val="B2B2B2">
                <a:alpha val="85881"/>
              </a:srgb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i="1">
                <a:solidFill>
                  <a:srgbClr val="66FFFF"/>
                </a:solidFill>
              </a:rPr>
              <a:t>p</a:t>
            </a:r>
            <a:r>
              <a:rPr lang="en-US" altLang="zh-CN" i="1" baseline="-20000">
                <a:solidFill>
                  <a:srgbClr val="66FFFF"/>
                </a:solidFill>
              </a:rPr>
              <a:t>x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的不确定度</a:t>
            </a:r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,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即</a:t>
            </a:r>
            <a:r>
              <a:rPr lang="zh-CN" altLang="en-US" sz="1800">
                <a:solidFill>
                  <a:srgbClr val="66FFFF"/>
                </a:solidFill>
              </a:rPr>
              <a:t>△</a:t>
            </a:r>
            <a:r>
              <a:rPr lang="en-US" altLang="zh-CN" i="1">
                <a:solidFill>
                  <a:srgbClr val="66FFFF"/>
                </a:solidFill>
              </a:rPr>
              <a:t>p</a:t>
            </a:r>
            <a:r>
              <a:rPr lang="en-US" altLang="zh-CN" i="1" baseline="-20000">
                <a:solidFill>
                  <a:srgbClr val="66FFFF"/>
                </a:solidFill>
              </a:rPr>
              <a:t>x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越大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                           </a:t>
            </a:r>
          </a:p>
        </p:txBody>
      </p:sp>
      <p:sp>
        <p:nvSpPr>
          <p:cNvPr id="77866" name="Line 42">
            <a:extLst>
              <a:ext uri="{FF2B5EF4-FFF2-40B4-BE49-F238E27FC236}">
                <a16:creationId xmlns:a16="http://schemas.microsoft.com/office/drawing/2014/main" id="{176FC1E4-EC71-47F0-9319-3E27BAC153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8213" y="6180138"/>
            <a:ext cx="360362" cy="0"/>
          </a:xfrm>
          <a:prstGeom prst="line">
            <a:avLst/>
          </a:prstGeom>
          <a:noFill/>
          <a:ln w="38100">
            <a:solidFill>
              <a:srgbClr val="FF99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67" name="Line 43">
            <a:extLst>
              <a:ext uri="{FF2B5EF4-FFF2-40B4-BE49-F238E27FC236}">
                <a16:creationId xmlns:a16="http://schemas.microsoft.com/office/drawing/2014/main" id="{51D3974F-5550-46B0-A34D-632B54466E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65988" y="1420813"/>
            <a:ext cx="0" cy="576262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3" name="灯片编号占位符 1">
            <a:extLst>
              <a:ext uri="{FF2B5EF4-FFF2-40B4-BE49-F238E27FC236}">
                <a16:creationId xmlns:a16="http://schemas.microsoft.com/office/drawing/2014/main" id="{3043C5BC-5226-429F-A3A0-54288FFBC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9F20880-E930-4258-897E-55409A105271}" type="slidenum">
              <a:rPr lang="en-US" altLang="zh-CN" b="0">
                <a:solidFill>
                  <a:srgbClr val="FF00FF"/>
                </a:solidFill>
              </a:rPr>
              <a:pPr/>
              <a:t>7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  <p:sp>
        <p:nvSpPr>
          <p:cNvPr id="45" name="Text Box 4">
            <a:extLst>
              <a:ext uri="{FF2B5EF4-FFF2-40B4-BE49-F238E27FC236}">
                <a16:creationId xmlns:a16="http://schemas.microsoft.com/office/drawing/2014/main" id="{A955000E-8354-4443-A89A-49F55719E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5303838"/>
            <a:ext cx="38576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若考虑其他级次的条纹：</a:t>
            </a:r>
            <a:endParaRPr lang="zh-CN" altLang="en-US">
              <a:solidFill>
                <a:schemeClr val="hlink"/>
              </a:solidFill>
            </a:endParaRPr>
          </a:p>
        </p:txBody>
      </p:sp>
      <p:graphicFrame>
        <p:nvGraphicFramePr>
          <p:cNvPr id="2" name="Object 44">
            <a:extLst>
              <a:ext uri="{FF2B5EF4-FFF2-40B4-BE49-F238E27FC236}">
                <a16:creationId xmlns:a16="http://schemas.microsoft.com/office/drawing/2014/main" id="{7C2EC89D-EF41-4D07-85AC-9A367CD966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8275" y="5386388"/>
          <a:ext cx="15938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759" r:id="rId16" imgW="952920" imgH="235080" progId="Equation.3">
                  <p:embed/>
                </p:oleObj>
              </mc:Choice>
              <mc:Fallback>
                <p:oleObj r:id="rId16" imgW="952920" imgH="235080" progId="Equation.3">
                  <p:embed/>
                  <p:pic>
                    <p:nvPicPr>
                      <p:cNvPr id="2" name="Object 44">
                        <a:extLst>
                          <a:ext uri="{FF2B5EF4-FFF2-40B4-BE49-F238E27FC236}">
                            <a16:creationId xmlns:a16="http://schemas.microsoft.com/office/drawing/2014/main" id="{7C2EC89D-EF41-4D07-85AC-9A367CD966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8275" y="5386388"/>
                        <a:ext cx="15938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右箭头 46">
            <a:extLst>
              <a:ext uri="{FF2B5EF4-FFF2-40B4-BE49-F238E27FC236}">
                <a16:creationId xmlns:a16="http://schemas.microsoft.com/office/drawing/2014/main" id="{7174C6F3-563A-45A7-9369-299EFAA75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563" y="5457825"/>
            <a:ext cx="714375" cy="285750"/>
          </a:xfrm>
          <a:prstGeom prst="rightArrow">
            <a:avLst>
              <a:gd name="adj1" fmla="val 50000"/>
              <a:gd name="adj2" fmla="val 9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" name="Object 45">
            <a:extLst>
              <a:ext uri="{FF2B5EF4-FFF2-40B4-BE49-F238E27FC236}">
                <a16:creationId xmlns:a16="http://schemas.microsoft.com/office/drawing/2014/main" id="{21A48C8B-E8B4-42AB-9FE7-F6C64AFD5C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0188" y="5357813"/>
          <a:ext cx="17780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760" r:id="rId18" imgW="807480" imgH="235080" progId="Equation.3">
                  <p:embed/>
                </p:oleObj>
              </mc:Choice>
              <mc:Fallback>
                <p:oleObj r:id="rId18" imgW="807480" imgH="235080" progId="Equation.3">
                  <p:embed/>
                  <p:pic>
                    <p:nvPicPr>
                      <p:cNvPr id="3" name="Object 45">
                        <a:extLst>
                          <a:ext uri="{FF2B5EF4-FFF2-40B4-BE49-F238E27FC236}">
                            <a16:creationId xmlns:a16="http://schemas.microsoft.com/office/drawing/2014/main" id="{21A48C8B-E8B4-42AB-9FE7-F6C64AFD5C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0188" y="5357813"/>
                        <a:ext cx="1778000" cy="504825"/>
                      </a:xfrm>
                      <a:prstGeom prst="rect">
                        <a:avLst/>
                      </a:prstGeom>
                      <a:solidFill>
                        <a:srgbClr val="000000">
                          <a:alpha val="7059"/>
                        </a:srgbClr>
                      </a:solidFill>
                      <a:ln w="9525">
                        <a:solidFill>
                          <a:srgbClr val="000000">
                            <a:alpha val="10196"/>
                          </a:srgb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9">
            <a:extLst>
              <a:ext uri="{FF2B5EF4-FFF2-40B4-BE49-F238E27FC236}">
                <a16:creationId xmlns:a16="http://schemas.microsoft.com/office/drawing/2014/main" id="{B2CD44AE-7AD4-4FD5-AECF-0172E5250D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1938" y="4879975"/>
          <a:ext cx="941387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761" r:id="rId20" imgW="549360" imgH="179280" progId="Equation.3">
                  <p:embed/>
                </p:oleObj>
              </mc:Choice>
              <mc:Fallback>
                <p:oleObj r:id="rId20" imgW="549360" imgH="179280" progId="Equation.3">
                  <p:embed/>
                  <p:pic>
                    <p:nvPicPr>
                      <p:cNvPr id="4" name="Object 49">
                        <a:extLst>
                          <a:ext uri="{FF2B5EF4-FFF2-40B4-BE49-F238E27FC236}">
                            <a16:creationId xmlns:a16="http://schemas.microsoft.com/office/drawing/2014/main" id="{B2CD44AE-7AD4-4FD5-AECF-0172E5250D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8" y="4879975"/>
                        <a:ext cx="941387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右箭头 49">
            <a:extLst>
              <a:ext uri="{FF2B5EF4-FFF2-40B4-BE49-F238E27FC236}">
                <a16:creationId xmlns:a16="http://schemas.microsoft.com/office/drawing/2014/main" id="{1ADB4AAF-2B84-46C3-A909-618998803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75" y="4929188"/>
            <a:ext cx="714375" cy="285750"/>
          </a:xfrm>
          <a:prstGeom prst="rightArrow">
            <a:avLst>
              <a:gd name="adj1" fmla="val 50000"/>
              <a:gd name="adj2" fmla="val 9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7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7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7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7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7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7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7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/>
      <p:bldP spid="77835" grpId="0" animBg="1"/>
      <p:bldP spid="77840" grpId="0" animBg="1"/>
      <p:bldP spid="77845" grpId="0"/>
      <p:bldP spid="77864" grpId="0" animBg="1"/>
      <p:bldP spid="77865" grpId="0" animBg="1"/>
      <p:bldP spid="45" grpId="0"/>
      <p:bldP spid="47" grpId="0" animBg="1"/>
      <p:bldP spid="5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2">
            <a:extLst>
              <a:ext uri="{FF2B5EF4-FFF2-40B4-BE49-F238E27FC236}">
                <a16:creationId xmlns:a16="http://schemas.microsoft.com/office/drawing/2014/main" id="{982EE6A5-61BF-48C3-83EA-15054A6D6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1071563"/>
            <a:ext cx="8450138" cy="1120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800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）微观粒子</a:t>
            </a:r>
            <a:r>
              <a:rPr lang="zh-CN" altLang="en-US" sz="2800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同一方向</a:t>
            </a:r>
            <a:r>
              <a:rPr lang="zh-CN" altLang="en-US" sz="2800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上的坐标与动量</a:t>
            </a:r>
            <a:r>
              <a:rPr lang="zh-CN" altLang="en-US" sz="2800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不可同时</a:t>
            </a:r>
            <a:r>
              <a:rPr lang="zh-CN" altLang="en-US" sz="2800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准确测量，它们的精度存在一个终极的不可逾越的限制；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F4ED98E2-BDD0-45B9-92CB-C49D4D508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86000"/>
            <a:ext cx="8247063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ts val="42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800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）不确定的根源是“</a:t>
            </a:r>
            <a:r>
              <a:rPr lang="zh-CN" altLang="en-US" sz="2800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波粒二象性</a:t>
            </a:r>
            <a:r>
              <a:rPr lang="zh-CN" altLang="en-US" sz="2800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”，这是自然界的根本属性；</a:t>
            </a:r>
          </a:p>
        </p:txBody>
      </p:sp>
      <p:sp>
        <p:nvSpPr>
          <p:cNvPr id="63491" name="Rectangle 4">
            <a:extLst>
              <a:ext uri="{FF2B5EF4-FFF2-40B4-BE49-F238E27FC236}">
                <a16:creationId xmlns:a16="http://schemas.microsoft.com/office/drawing/2014/main" id="{07279546-C8BF-4825-B119-51299BD81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500063"/>
            <a:ext cx="28178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3200">
                <a:solidFill>
                  <a:srgbClr val="00FF00"/>
                </a:solidFill>
                <a:ea typeface="华文中宋" panose="02010600040101010101" pitchFamily="2" charset="-122"/>
              </a:rPr>
              <a:t>物理意义：</a:t>
            </a:r>
            <a:endParaRPr lang="en-US" altLang="zh-CN" sz="3200">
              <a:solidFill>
                <a:srgbClr val="00FF00"/>
              </a:solidFill>
              <a:ea typeface="华文中宋" panose="02010600040101010101" pitchFamily="2" charset="-122"/>
            </a:endParaRPr>
          </a:p>
        </p:txBody>
      </p:sp>
      <p:sp>
        <p:nvSpPr>
          <p:cNvPr id="63492" name="灯片编号占位符 1">
            <a:extLst>
              <a:ext uri="{FF2B5EF4-FFF2-40B4-BE49-F238E27FC236}">
                <a16:creationId xmlns:a16="http://schemas.microsoft.com/office/drawing/2014/main" id="{E74B295A-FAFE-4C4E-9ABC-AB5FA3A4D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B0D5D46-44A4-4E90-AC2D-195E5F40B110}" type="slidenum">
              <a:rPr lang="en-US" altLang="zh-CN" b="0">
                <a:solidFill>
                  <a:srgbClr val="FF00FF"/>
                </a:solidFill>
              </a:rPr>
              <a:pPr/>
              <a:t>8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9AC7B5C-0CA9-4276-BEA1-D2A798E33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429000"/>
            <a:ext cx="8424738" cy="1120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2800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）微观粒子的运动不存在经典轨道的概念，因为确定的轨道必然要求粒子同时具有确定的位置和动量；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211C3C5-5AE8-4730-9F84-A7A7E8038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572000"/>
            <a:ext cx="860425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2800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）微观粒子不可能静止，若静止：</a:t>
            </a:r>
            <a:r>
              <a:rPr lang="el-GR" altLang="zh-CN" sz="2800" dirty="0">
                <a:solidFill>
                  <a:schemeClr val="hlink"/>
                </a:solidFill>
                <a:ea typeface="华文中宋" panose="02010600040101010101" pitchFamily="2" charset="-122"/>
              </a:rPr>
              <a:t>Δ</a:t>
            </a:r>
            <a:r>
              <a:rPr lang="en-US" altLang="zh-CN" sz="2800" i="1" dirty="0">
                <a:solidFill>
                  <a:schemeClr val="hlink"/>
                </a:solidFill>
                <a:ea typeface="华文中宋" panose="02010600040101010101" pitchFamily="2" charset="-122"/>
              </a:rPr>
              <a:t>x</a:t>
            </a:r>
            <a:r>
              <a:rPr lang="en-US" altLang="zh-CN" sz="2800" dirty="0">
                <a:solidFill>
                  <a:schemeClr val="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0,</a:t>
            </a:r>
            <a:r>
              <a:rPr lang="el-GR" altLang="zh-CN" sz="2800" dirty="0">
                <a:solidFill>
                  <a:schemeClr val="hlink"/>
                </a:solidFill>
                <a:ea typeface="华文中宋" panose="02010600040101010101" pitchFamily="2" charset="-122"/>
              </a:rPr>
              <a:t> Δ</a:t>
            </a:r>
            <a:r>
              <a:rPr lang="en-US" altLang="zh-CN" sz="2800" dirty="0">
                <a:solidFill>
                  <a:schemeClr val="hlink"/>
                </a:solidFill>
                <a:ea typeface="华文中宋" panose="02010600040101010101" pitchFamily="2" charset="-122"/>
              </a:rPr>
              <a:t>p</a:t>
            </a:r>
            <a:r>
              <a:rPr lang="en-US" altLang="zh-CN" sz="2800" i="1" baseline="-25000" dirty="0">
                <a:solidFill>
                  <a:schemeClr val="hlink"/>
                </a:solidFill>
                <a:ea typeface="华文中宋" panose="02010600040101010101" pitchFamily="2" charset="-122"/>
              </a:rPr>
              <a:t>x</a:t>
            </a:r>
            <a:r>
              <a:rPr lang="en-US" altLang="zh-CN" sz="2800" dirty="0">
                <a:solidFill>
                  <a:schemeClr val="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</a:t>
            </a:r>
            <a:r>
              <a:rPr lang="zh-CN" altLang="en-US" sz="2800" dirty="0">
                <a:solidFill>
                  <a:schemeClr val="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；</a:t>
            </a:r>
            <a:r>
              <a:rPr lang="en-US" altLang="zh-CN" sz="2800" dirty="0">
                <a:solidFill>
                  <a:schemeClr val="hlink"/>
                </a:solidFill>
                <a:ea typeface="华文中宋" panose="02010600040101010101" pitchFamily="2" charset="-122"/>
              </a:rPr>
              <a:t> </a:t>
            </a:r>
            <a:endParaRPr lang="zh-CN" altLang="en-US" sz="2800" dirty="0">
              <a:solidFill>
                <a:schemeClr val="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810C846-0E4B-4770-B2F3-81B9DC111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165725"/>
            <a:ext cx="8247063" cy="1120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>
              <a:lnSpc>
                <a:spcPts val="4200"/>
              </a:lnSpc>
            </a:pPr>
            <a:r>
              <a:rPr lang="en-US" altLang="zh-CN" sz="2800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sz="2800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）若微观粒子运动范围 </a:t>
            </a:r>
            <a:r>
              <a:rPr lang="en-US" altLang="zh-CN" sz="2800" i="1" dirty="0">
                <a:solidFill>
                  <a:srgbClr val="FFFF00"/>
                </a:solidFill>
                <a:ea typeface="华文中宋" panose="02010600040101010101" pitchFamily="2" charset="-122"/>
              </a:rPr>
              <a:t>L </a:t>
            </a:r>
            <a:r>
              <a:rPr lang="en-US" altLang="zh-CN" sz="2800" dirty="0">
                <a:solidFill>
                  <a:srgbClr val="FFFF00"/>
                </a:solidFill>
                <a:ea typeface="华文中宋" panose="02010600040101010101" pitchFamily="2" charset="-122"/>
              </a:rPr>
              <a:t>&gt;&gt; </a:t>
            </a:r>
            <a:r>
              <a:rPr lang="el-GR" altLang="zh-CN" sz="2800" dirty="0">
                <a:solidFill>
                  <a:srgbClr val="FFFF00"/>
                </a:solidFill>
                <a:ea typeface="华文中宋" panose="02010600040101010101" pitchFamily="2" charset="-122"/>
              </a:rPr>
              <a:t>Δ</a:t>
            </a:r>
            <a:r>
              <a:rPr lang="en-US" altLang="zh-CN" sz="2800" i="1" dirty="0">
                <a:solidFill>
                  <a:srgbClr val="FFFF00"/>
                </a:solidFill>
                <a:ea typeface="华文中宋" panose="02010600040101010101" pitchFamily="2" charset="-122"/>
              </a:rPr>
              <a:t>x=h</a:t>
            </a:r>
            <a:r>
              <a:rPr lang="en-US" altLang="zh-CN" sz="2800" dirty="0">
                <a:solidFill>
                  <a:srgbClr val="FFFF00"/>
                </a:solidFill>
                <a:ea typeface="华文中宋" panose="02010600040101010101" pitchFamily="2" charset="-122"/>
              </a:rPr>
              <a:t>/</a:t>
            </a:r>
            <a:r>
              <a:rPr lang="el-GR" altLang="zh-CN" sz="2800" dirty="0">
                <a:solidFill>
                  <a:srgbClr val="FFFF00"/>
                </a:solidFill>
                <a:ea typeface="华文中宋" panose="02010600040101010101" pitchFamily="2" charset="-122"/>
              </a:rPr>
              <a:t>Δ</a:t>
            </a:r>
            <a:r>
              <a:rPr lang="en-US" altLang="zh-CN" sz="2800" dirty="0">
                <a:solidFill>
                  <a:srgbClr val="FFFF00"/>
                </a:solidFill>
                <a:ea typeface="华文中宋" panose="02010600040101010101" pitchFamily="2" charset="-122"/>
              </a:rPr>
              <a:t>p</a:t>
            </a:r>
            <a:r>
              <a:rPr lang="en-US" altLang="zh-CN" sz="2800" i="1" baseline="-25000" dirty="0">
                <a:solidFill>
                  <a:srgbClr val="FFFF00"/>
                </a:solidFill>
                <a:ea typeface="华文中宋" panose="02010600040101010101" pitchFamily="2" charset="-122"/>
              </a:rPr>
              <a:t>x </a:t>
            </a:r>
            <a:r>
              <a:rPr lang="en-US" altLang="zh-CN" sz="2800" i="1" dirty="0">
                <a:solidFill>
                  <a:srgbClr val="FFFF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&gt;&gt; </a:t>
            </a:r>
            <a:r>
              <a:rPr lang="en-US" altLang="zh-CN" sz="2800" i="1" dirty="0">
                <a:solidFill>
                  <a:srgbClr val="FFFF00"/>
                </a:solidFill>
                <a:ea typeface="华文中宋" panose="02010600040101010101" pitchFamily="2" charset="-122"/>
              </a:rPr>
              <a:t>x=h</a:t>
            </a:r>
            <a:r>
              <a:rPr lang="en-US" altLang="zh-CN" sz="2800" dirty="0">
                <a:solidFill>
                  <a:srgbClr val="FFFF00"/>
                </a:solidFill>
                <a:ea typeface="华文中宋" panose="02010600040101010101" pitchFamily="2" charset="-122"/>
              </a:rPr>
              <a:t>/p=</a:t>
            </a:r>
            <a:r>
              <a:rPr lang="en-US" altLang="zh-CN" sz="2800" dirty="0">
                <a:solidFill>
                  <a:srgbClr val="FFFF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 sz="2800" dirty="0">
                <a:solidFill>
                  <a:schemeClr val="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,</a:t>
            </a:r>
            <a:r>
              <a:rPr lang="el-GR" altLang="zh-CN" sz="2800" dirty="0">
                <a:solidFill>
                  <a:schemeClr val="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800" dirty="0">
                <a:solidFill>
                  <a:schemeClr val="hlink"/>
                </a:solidFill>
                <a:ea typeface="华文中宋" panose="02010600040101010101" pitchFamily="2" charset="-122"/>
              </a:rPr>
              <a:t>作为微观粒子可看作是经典粒子的判断条件。</a:t>
            </a:r>
            <a:endParaRPr lang="zh-CN" altLang="en-US" sz="2800" dirty="0">
              <a:solidFill>
                <a:schemeClr val="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/>
      <p:bldP spid="79875" grpId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灯片编号占位符 1">
            <a:extLst>
              <a:ext uri="{FF2B5EF4-FFF2-40B4-BE49-F238E27FC236}">
                <a16:creationId xmlns:a16="http://schemas.microsoft.com/office/drawing/2014/main" id="{58200245-3176-4902-8FC8-2EBB2268E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5C059499-0B17-404B-B785-E37EFBDF0633}" type="slidenum">
              <a:rPr lang="en-US" altLang="zh-CN" b="0">
                <a:solidFill>
                  <a:srgbClr val="FF00FF"/>
                </a:solidFill>
              </a:rPr>
              <a:pPr/>
              <a:t>9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3CC6938-7B64-4734-9F72-1646C863B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2875"/>
            <a:ext cx="9144000" cy="15859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500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不确定关系</a:t>
            </a:r>
            <a:r>
              <a:rPr lang="zh-CN" altLang="en-US" sz="5000">
                <a:solidFill>
                  <a:srgbClr val="00FF00"/>
                </a:solidFill>
                <a:latin typeface="宋体" panose="02010600030101010101" pitchFamily="2" charset="-122"/>
              </a:rPr>
              <a:t> </a:t>
            </a:r>
          </a:p>
          <a:p>
            <a:pPr algn="ctr" eaLnBrk="0" hangingPunct="0"/>
            <a:r>
              <a:rPr lang="en-US" altLang="zh-CN" sz="4800">
                <a:solidFill>
                  <a:srgbClr val="00FF00"/>
                </a:solidFill>
              </a:rPr>
              <a:t>Uncertainty principle</a:t>
            </a:r>
            <a:r>
              <a:rPr lang="en-US" altLang="zh-CN"/>
              <a:t> </a:t>
            </a:r>
          </a:p>
        </p:txBody>
      </p:sp>
      <p:sp>
        <p:nvSpPr>
          <p:cNvPr id="64515" name="Text Box 3">
            <a:extLst>
              <a:ext uri="{FF2B5EF4-FFF2-40B4-BE49-F238E27FC236}">
                <a16:creationId xmlns:a16="http://schemas.microsoft.com/office/drawing/2014/main" id="{027C40DC-079D-4CED-866C-E046D2BC2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38" y="1714500"/>
            <a:ext cx="8510587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 sz="3600">
                <a:solidFill>
                  <a:srgbClr val="FFFF00"/>
                </a:solidFill>
                <a:latin typeface="宋体" panose="02010600030101010101" pitchFamily="2" charset="-122"/>
              </a:rPr>
              <a:t>海森伯</a:t>
            </a:r>
            <a:r>
              <a:rPr lang="zh-CN" altLang="en-US" sz="3600">
                <a:solidFill>
                  <a:srgbClr val="FFFF00"/>
                </a:solidFill>
                <a:ea typeface="楷体_GB2312" pitchFamily="49" charset="-122"/>
              </a:rPr>
              <a:t>（</a:t>
            </a:r>
            <a:r>
              <a:rPr lang="en-US" altLang="zh-CN" sz="3600">
                <a:solidFill>
                  <a:srgbClr val="FFFF00"/>
                </a:solidFill>
                <a:ea typeface="楷体_GB2312" pitchFamily="49" charset="-122"/>
              </a:rPr>
              <a:t>W. K. Heisenberg</a:t>
            </a:r>
            <a:r>
              <a:rPr lang="zh-CN" altLang="en-US" sz="3600">
                <a:solidFill>
                  <a:srgbClr val="FFFF00"/>
                </a:solidFill>
                <a:ea typeface="楷体_GB2312" pitchFamily="49" charset="-122"/>
              </a:rPr>
              <a:t>，</a:t>
            </a:r>
            <a:r>
              <a:rPr lang="en-US" altLang="zh-CN" sz="3600">
                <a:solidFill>
                  <a:srgbClr val="FFFF00"/>
                </a:solidFill>
                <a:ea typeface="楷体_GB2312" pitchFamily="49" charset="-122"/>
              </a:rPr>
              <a:t>1901-1976</a:t>
            </a:r>
            <a:r>
              <a:rPr lang="zh-CN" altLang="en-US" sz="3600">
                <a:solidFill>
                  <a:srgbClr val="FFFF00"/>
                </a:solidFill>
                <a:ea typeface="楷体_GB2312" pitchFamily="49" charset="-122"/>
              </a:rPr>
              <a:t>）</a:t>
            </a:r>
            <a:r>
              <a:rPr lang="zh-CN" altLang="en-US" b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64516" name="Line 4">
            <a:extLst>
              <a:ext uri="{FF2B5EF4-FFF2-40B4-BE49-F238E27FC236}">
                <a16:creationId xmlns:a16="http://schemas.microsoft.com/office/drawing/2014/main" id="{570EF19F-CB2F-4785-9F77-80D8A3B4C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2875" y="2428875"/>
            <a:ext cx="8855075" cy="11113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4517" name="Picture 5">
            <a:extLst>
              <a:ext uri="{FF2B5EF4-FFF2-40B4-BE49-F238E27FC236}">
                <a16:creationId xmlns:a16="http://schemas.microsoft.com/office/drawing/2014/main" id="{F9504AFE-65A3-4881-BE2E-AAF1CD22F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632075"/>
            <a:ext cx="25908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6">
            <a:extLst>
              <a:ext uri="{FF2B5EF4-FFF2-40B4-BE49-F238E27FC236}">
                <a16:creationId xmlns:a16="http://schemas.microsoft.com/office/drawing/2014/main" id="{E32B9A9C-E2C0-427C-94B3-3BFCD2984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3062013"/>
            <a:ext cx="5514975" cy="2815259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 sz="2600" dirty="0">
                <a:solidFill>
                  <a:schemeClr val="hlink"/>
                </a:solidFill>
              </a:rPr>
              <a:t>量子力学的主要创始人，哥本哈根学派的代表人物。</a:t>
            </a:r>
          </a:p>
          <a:p>
            <a:pPr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CN" sz="2600" dirty="0">
                <a:solidFill>
                  <a:srgbClr val="66FFFF"/>
                </a:solidFill>
              </a:rPr>
              <a:t>1925</a:t>
            </a:r>
            <a:r>
              <a:rPr lang="zh-CN" altLang="en-US" sz="2600" dirty="0">
                <a:solidFill>
                  <a:schemeClr val="hlink"/>
                </a:solidFill>
              </a:rPr>
              <a:t>年，创立了量子力学的一种</a:t>
            </a:r>
            <a:endParaRPr lang="en-US" altLang="zh-CN" sz="2600" dirty="0">
              <a:solidFill>
                <a:schemeClr val="hlink"/>
              </a:solidFill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CN" sz="2600" dirty="0"/>
              <a:t>                      </a:t>
            </a:r>
            <a:r>
              <a:rPr lang="zh-CN" altLang="en-US" sz="2600" dirty="0">
                <a:solidFill>
                  <a:schemeClr val="hlink"/>
                </a:solidFill>
              </a:rPr>
              <a:t>形式体系</a:t>
            </a:r>
            <a:r>
              <a:rPr lang="en-US" altLang="zh-CN" sz="2600" dirty="0">
                <a:solidFill>
                  <a:schemeClr val="hlink"/>
                </a:solidFill>
              </a:rPr>
              <a:t>—</a:t>
            </a:r>
            <a:r>
              <a:rPr lang="zh-CN" altLang="en-US" sz="2600" dirty="0">
                <a:solidFill>
                  <a:srgbClr val="66FFFF"/>
                </a:solidFill>
              </a:rPr>
              <a:t>矩阵力学</a:t>
            </a:r>
            <a:r>
              <a:rPr lang="zh-CN" altLang="en-US" sz="2600" dirty="0">
                <a:solidFill>
                  <a:schemeClr val="hlink"/>
                </a:solidFill>
              </a:rPr>
              <a:t>；</a:t>
            </a:r>
            <a:endParaRPr lang="en-US" altLang="zh-CN" sz="2600" dirty="0">
              <a:solidFill>
                <a:schemeClr val="hlink"/>
              </a:solidFill>
            </a:endParaRPr>
          </a:p>
          <a:p>
            <a:pPr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CN" sz="2600" dirty="0">
                <a:solidFill>
                  <a:srgbClr val="66FFFF"/>
                </a:solidFill>
              </a:rPr>
              <a:t>1927</a:t>
            </a:r>
            <a:r>
              <a:rPr lang="zh-CN" altLang="en-US" sz="2600" dirty="0">
                <a:solidFill>
                  <a:schemeClr val="hlink"/>
                </a:solidFill>
              </a:rPr>
              <a:t>年，提出了</a:t>
            </a:r>
            <a:r>
              <a:rPr lang="zh-CN" altLang="en-US" sz="2600" dirty="0">
                <a:solidFill>
                  <a:srgbClr val="66FFFF"/>
                </a:solidFill>
              </a:rPr>
              <a:t>不确定关系</a:t>
            </a:r>
            <a:r>
              <a:rPr lang="zh-CN" altLang="en-US" sz="2600" dirty="0">
                <a:solidFill>
                  <a:schemeClr val="hlink"/>
                </a:solidFill>
              </a:rPr>
              <a:t>。</a:t>
            </a:r>
            <a:endParaRPr lang="en-US" altLang="zh-CN" sz="2600" dirty="0">
              <a:solidFill>
                <a:schemeClr val="hlink"/>
              </a:solidFill>
            </a:endParaRPr>
          </a:p>
          <a:p>
            <a:pPr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CN" sz="2600" dirty="0">
                <a:solidFill>
                  <a:srgbClr val="66FFFF"/>
                </a:solidFill>
              </a:rPr>
              <a:t>1932</a:t>
            </a:r>
            <a:r>
              <a:rPr lang="zh-CN" altLang="en-US" sz="2600" dirty="0">
                <a:solidFill>
                  <a:schemeClr val="hlink"/>
                </a:solidFill>
              </a:rPr>
              <a:t>年，获得诺贝尔物理学奖。</a:t>
            </a:r>
          </a:p>
        </p:txBody>
      </p:sp>
      <p:sp>
        <p:nvSpPr>
          <p:cNvPr id="64519" name="矩形 11">
            <a:extLst>
              <a:ext uri="{FF2B5EF4-FFF2-40B4-BE49-F238E27FC236}">
                <a16:creationId xmlns:a16="http://schemas.microsoft.com/office/drawing/2014/main" id="{25801178-0809-4D0F-9943-2E5113368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263" y="6110288"/>
            <a:ext cx="20304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德国物理学家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E2FF691D-D9E2-4532-AF2A-5EC63D2D5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22275"/>
            <a:ext cx="7848600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一颗质量为 </a:t>
            </a:r>
            <a:r>
              <a:rPr lang="en-US" altLang="zh-CN">
                <a:solidFill>
                  <a:srgbClr val="FFFF00"/>
                </a:solidFill>
              </a:rPr>
              <a:t>10 g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的子弹，具有 </a:t>
            </a:r>
            <a:r>
              <a:rPr lang="en-US" altLang="zh-CN">
                <a:solidFill>
                  <a:srgbClr val="FFFF00"/>
                </a:solidFill>
              </a:rPr>
              <a:t>200 m/s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的速度，动量的不确定量为 </a:t>
            </a:r>
            <a:r>
              <a:rPr lang="en-US" altLang="zh-CN">
                <a:solidFill>
                  <a:srgbClr val="FFFF00"/>
                </a:solidFill>
              </a:rPr>
              <a:t>0.01%</a:t>
            </a:r>
            <a:r>
              <a:rPr lang="zh-CN" altLang="en-US">
                <a:solidFill>
                  <a:schemeClr val="hlink"/>
                </a:solidFill>
              </a:rPr>
              <a:t>，</a:t>
            </a: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问在确定该子弹的位置时，有多大的不确定范围？ </a:t>
            </a:r>
          </a:p>
        </p:txBody>
      </p:sp>
      <p:sp>
        <p:nvSpPr>
          <p:cNvPr id="80899" name="Text Box 3">
            <a:extLst>
              <a:ext uri="{FF2B5EF4-FFF2-40B4-BE49-F238E27FC236}">
                <a16:creationId xmlns:a16="http://schemas.microsoft.com/office/drawing/2014/main" id="{80A16A3B-7A25-4AD7-9D19-F10683C90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1793875"/>
            <a:ext cx="29638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r>
              <a:rPr lang="en-US" altLang="zh-CN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子弹的动量</a:t>
            </a:r>
          </a:p>
        </p:txBody>
      </p:sp>
      <p:graphicFrame>
        <p:nvGraphicFramePr>
          <p:cNvPr id="80900" name="Object 4">
            <a:extLst>
              <a:ext uri="{FF2B5EF4-FFF2-40B4-BE49-F238E27FC236}">
                <a16:creationId xmlns:a16="http://schemas.microsoft.com/office/drawing/2014/main" id="{C06A6DD6-6C5E-430D-B72C-12B5EA6D39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1763" y="2214563"/>
          <a:ext cx="50990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708" r:id="rId3" imgW="2377080" imgH="235080" progId="Equation.3">
                  <p:embed/>
                </p:oleObj>
              </mc:Choice>
              <mc:Fallback>
                <p:oleObj r:id="rId3" imgW="2377080" imgH="235080" progId="Equation.3">
                  <p:embed/>
                  <p:pic>
                    <p:nvPicPr>
                      <p:cNvPr id="80900" name="Object 4">
                        <a:extLst>
                          <a:ext uri="{FF2B5EF4-FFF2-40B4-BE49-F238E27FC236}">
                            <a16:creationId xmlns:a16="http://schemas.microsoft.com/office/drawing/2014/main" id="{C06A6DD6-6C5E-430D-B72C-12B5EA6D39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763" y="2214563"/>
                        <a:ext cx="50990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1" name="Text Box 5">
            <a:extLst>
              <a:ext uri="{FF2B5EF4-FFF2-40B4-BE49-F238E27FC236}">
                <a16:creationId xmlns:a16="http://schemas.microsoft.com/office/drawing/2014/main" id="{85B8BAA5-79F3-4748-8CD2-B6714EB20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" y="2928938"/>
            <a:ext cx="44719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子弹的动量的不确定量为</a:t>
            </a:r>
          </a:p>
        </p:txBody>
      </p:sp>
      <p:graphicFrame>
        <p:nvGraphicFramePr>
          <p:cNvPr id="80902" name="Object 6">
            <a:extLst>
              <a:ext uri="{FF2B5EF4-FFF2-40B4-BE49-F238E27FC236}">
                <a16:creationId xmlns:a16="http://schemas.microsoft.com/office/drawing/2014/main" id="{C33944F5-0603-421F-B912-5FC3FE1CEC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3443288"/>
          <a:ext cx="518001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709" r:id="rId5" imgW="2466720" imgH="235080" progId="Equation.3">
                  <p:embed/>
                </p:oleObj>
              </mc:Choice>
              <mc:Fallback>
                <p:oleObj r:id="rId5" imgW="2466720" imgH="235080" progId="Equation.3">
                  <p:embed/>
                  <p:pic>
                    <p:nvPicPr>
                      <p:cNvPr id="80902" name="Object 6">
                        <a:extLst>
                          <a:ext uri="{FF2B5EF4-FFF2-40B4-BE49-F238E27FC236}">
                            <a16:creationId xmlns:a16="http://schemas.microsoft.com/office/drawing/2014/main" id="{C33944F5-0603-421F-B912-5FC3FE1CEC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443288"/>
                        <a:ext cx="5180013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3" name="Text Box 7">
            <a:extLst>
              <a:ext uri="{FF2B5EF4-FFF2-40B4-BE49-F238E27FC236}">
                <a16:creationId xmlns:a16="http://schemas.microsoft.com/office/drawing/2014/main" id="{F7DB13A7-D8DE-4525-8159-5BDC68CAF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" y="4071938"/>
            <a:ext cx="74009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由不确定关系，可以得到子弹位置的不确定范围为</a:t>
            </a:r>
          </a:p>
        </p:txBody>
      </p:sp>
      <p:graphicFrame>
        <p:nvGraphicFramePr>
          <p:cNvPr id="80904" name="Object 8">
            <a:extLst>
              <a:ext uri="{FF2B5EF4-FFF2-40B4-BE49-F238E27FC236}">
                <a16:creationId xmlns:a16="http://schemas.microsoft.com/office/drawing/2014/main" id="{047FA70F-7E66-452C-9C6C-A2EE6985B3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8575" y="4572000"/>
          <a:ext cx="6011863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710" r:id="rId7" imgW="2758320" imgH="492840" progId="Equation.3">
                  <p:embed/>
                </p:oleObj>
              </mc:Choice>
              <mc:Fallback>
                <p:oleObj r:id="rId7" imgW="2758320" imgH="492840" progId="Equation.3">
                  <p:embed/>
                  <p:pic>
                    <p:nvPicPr>
                      <p:cNvPr id="80904" name="Object 8">
                        <a:extLst>
                          <a:ext uri="{FF2B5EF4-FFF2-40B4-BE49-F238E27FC236}">
                            <a16:creationId xmlns:a16="http://schemas.microsoft.com/office/drawing/2014/main" id="{047FA70F-7E66-452C-9C6C-A2EE6985B3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4572000"/>
                        <a:ext cx="6011863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5" name="Text Box 9">
            <a:extLst>
              <a:ext uri="{FF2B5EF4-FFF2-40B4-BE49-F238E27FC236}">
                <a16:creationId xmlns:a16="http://schemas.microsoft.com/office/drawing/2014/main" id="{76BB52C9-5B6C-44C5-A1C8-F40D0AD34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667375"/>
            <a:ext cx="7929563" cy="833438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dirty="0">
                <a:solidFill>
                  <a:schemeClr val="hlink"/>
                </a:solidFill>
                <a:latin typeface="+mn-ea"/>
                <a:ea typeface="+mn-ea"/>
              </a:rPr>
              <a:t>这个不确定范围是微不足道的，可见不确定关系对宏观物体来说，实际上是不起作用的</a:t>
            </a:r>
          </a:p>
        </p:txBody>
      </p:sp>
      <p:sp>
        <p:nvSpPr>
          <p:cNvPr id="6154" name="Rectangle 10">
            <a:extLst>
              <a:ext uri="{FF2B5EF4-FFF2-40B4-BE49-F238E27FC236}">
                <a16:creationId xmlns:a16="http://schemas.microsoft.com/office/drawing/2014/main" id="{48F6F683-7862-43CE-8D0E-0A33F72A9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25450"/>
            <a:ext cx="89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</a:p>
        </p:txBody>
      </p:sp>
      <p:sp>
        <p:nvSpPr>
          <p:cNvPr id="6155" name="灯片编号占位符 1">
            <a:extLst>
              <a:ext uri="{FF2B5EF4-FFF2-40B4-BE49-F238E27FC236}">
                <a16:creationId xmlns:a16="http://schemas.microsoft.com/office/drawing/2014/main" id="{20BEBC69-D707-4CD8-824D-787FFEDEF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12281EC-01F0-4E47-B786-9100705AD388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/>
      <p:bldP spid="80901" grpId="0"/>
      <p:bldP spid="80903" grpId="0"/>
      <p:bldP spid="8090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386736C-1B12-4A69-ADAC-FBD6112C7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42913"/>
            <a:ext cx="8472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9875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原子的线度约为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rgbClr val="00FFFF"/>
                </a:solidFill>
              </a:rPr>
              <a:t>10</a:t>
            </a:r>
            <a:r>
              <a:rPr lang="en-US" altLang="zh-CN" baseline="30000">
                <a:solidFill>
                  <a:srgbClr val="00FFFF"/>
                </a:solidFill>
                <a:latin typeface="宋体" panose="02010600030101010101" pitchFamily="2" charset="-122"/>
              </a:rPr>
              <a:t>-</a:t>
            </a:r>
            <a:r>
              <a:rPr lang="en-US" altLang="zh-CN" baseline="30000">
                <a:solidFill>
                  <a:srgbClr val="00FFFF"/>
                </a:solidFill>
              </a:rPr>
              <a:t>10</a:t>
            </a:r>
            <a:r>
              <a:rPr lang="en-US" altLang="zh-CN" baseline="30000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hlink"/>
                </a:solidFill>
              </a:rPr>
              <a:t>m</a:t>
            </a:r>
            <a:r>
              <a:rPr lang="en-US" altLang="zh-CN" baseline="30000">
                <a:solidFill>
                  <a:schemeClr val="hlink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</a:rPr>
              <a:t>，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求原子中电子速度的不确定量</a:t>
            </a:r>
            <a:r>
              <a:rPr lang="zh-CN" altLang="en-US">
                <a:solidFill>
                  <a:schemeClr val="hlink"/>
                </a:solidFill>
              </a:rPr>
              <a:t>。</a:t>
            </a:r>
          </a:p>
        </p:txBody>
      </p:sp>
      <p:graphicFrame>
        <p:nvGraphicFramePr>
          <p:cNvPr id="81923" name="Object 3">
            <a:extLst>
              <a:ext uri="{FF2B5EF4-FFF2-40B4-BE49-F238E27FC236}">
                <a16:creationId xmlns:a16="http://schemas.microsoft.com/office/drawing/2014/main" id="{F17BF27E-EFAC-4321-8D93-5C70CEE0CA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2908300"/>
          <a:ext cx="685958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8732" r:id="rId4" imgW="8050680" imgH="996840" progId="Equation.3">
                  <p:embed/>
                </p:oleObj>
              </mc:Choice>
              <mc:Fallback>
                <p:oleObj r:id="rId4" imgW="8050680" imgH="996840" progId="Equation.3">
                  <p:embed/>
                  <p:pic>
                    <p:nvPicPr>
                      <p:cNvPr id="81923" name="Object 3">
                        <a:extLst>
                          <a:ext uri="{FF2B5EF4-FFF2-40B4-BE49-F238E27FC236}">
                            <a16:creationId xmlns:a16="http://schemas.microsoft.com/office/drawing/2014/main" id="{F17BF27E-EFAC-4321-8D93-5C70CEE0CA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908300"/>
                        <a:ext cx="6859588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4" name="Object 4">
            <a:extLst>
              <a:ext uri="{FF2B5EF4-FFF2-40B4-BE49-F238E27FC236}">
                <a16:creationId xmlns:a16="http://schemas.microsoft.com/office/drawing/2014/main" id="{596269C3-3366-4954-8709-9BE3F68765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3943350"/>
          <a:ext cx="213042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8733" r:id="rId6" imgW="2433240" imgH="504000" progId="Equation.3">
                  <p:embed/>
                </p:oleObj>
              </mc:Choice>
              <mc:Fallback>
                <p:oleObj r:id="rId6" imgW="2433240" imgH="504000" progId="Equation.3">
                  <p:embed/>
                  <p:pic>
                    <p:nvPicPr>
                      <p:cNvPr id="81924" name="Object 4">
                        <a:extLst>
                          <a:ext uri="{FF2B5EF4-FFF2-40B4-BE49-F238E27FC236}">
                            <a16:creationId xmlns:a16="http://schemas.microsoft.com/office/drawing/2014/main" id="{596269C3-3366-4954-8709-9BE3F68765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943350"/>
                        <a:ext cx="2130425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5" name="Rectangle 5">
            <a:extLst>
              <a:ext uri="{FF2B5EF4-FFF2-40B4-BE49-F238E27FC236}">
                <a16:creationId xmlns:a16="http://schemas.microsoft.com/office/drawing/2014/main" id="{AC7BD4BE-5AB1-4357-ACE7-0ADF3026E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5538"/>
            <a:ext cx="323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电子速度的不确定量为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06372A55-B658-46FD-B68A-1DB869692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960938"/>
            <a:ext cx="8150225" cy="1516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dirty="0">
                <a:solidFill>
                  <a:schemeClr val="hlink"/>
                </a:solidFill>
                <a:latin typeface="+mn-ea"/>
                <a:ea typeface="+mn-ea"/>
              </a:rPr>
              <a:t>氢原子中电子速率约为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zh-CN" dirty="0">
                <a:solidFill>
                  <a:srgbClr val="00FFFF"/>
                </a:solidFill>
              </a:rPr>
              <a:t>10</a:t>
            </a:r>
            <a:r>
              <a:rPr lang="en-US" altLang="zh-CN" baseline="30000" dirty="0">
                <a:solidFill>
                  <a:srgbClr val="00FFFF"/>
                </a:solidFill>
              </a:rPr>
              <a:t>6</a:t>
            </a:r>
            <a:r>
              <a:rPr lang="en-US" altLang="zh-CN" baseline="30000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hlink"/>
                </a:solidFill>
              </a:rPr>
              <a:t>m/s</a:t>
            </a:r>
            <a:r>
              <a:rPr lang="zh-CN" altLang="en-US" dirty="0">
                <a:solidFill>
                  <a:schemeClr val="hlink"/>
                </a:solidFill>
                <a:latin typeface="+mn-ea"/>
                <a:ea typeface="+mn-ea"/>
              </a:rPr>
              <a:t>。速率不确定量与速率本身的数量级基本相同，原子中电子的位置和速度不能同时完全确定，</a:t>
            </a:r>
            <a:r>
              <a:rPr lang="zh-CN" altLang="en-US" dirty="0">
                <a:solidFill>
                  <a:schemeClr val="hlink"/>
                </a:solidFill>
                <a:latin typeface="+mn-ea"/>
              </a:rPr>
              <a:t>因此，</a:t>
            </a:r>
            <a:r>
              <a:rPr lang="zh-CN" altLang="en-US" dirty="0">
                <a:solidFill>
                  <a:schemeClr val="hlink"/>
                </a:solidFill>
                <a:latin typeface="+mn-ea"/>
                <a:ea typeface="+mn-ea"/>
              </a:rPr>
              <a:t>没有确定的轨道。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8241A64B-3C51-4069-8BBF-8DC8F3F6A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1108075"/>
            <a:ext cx="7499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原子中电子的位置不确定量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rgbClr val="00FFFF"/>
                </a:solidFill>
              </a:rPr>
              <a:t>10</a:t>
            </a:r>
            <a:r>
              <a:rPr lang="en-US" altLang="zh-CN" baseline="30000">
                <a:solidFill>
                  <a:srgbClr val="00FFFF"/>
                </a:solidFill>
                <a:latin typeface="宋体" panose="02010600030101010101" pitchFamily="2" charset="-122"/>
              </a:rPr>
              <a:t>-</a:t>
            </a:r>
            <a:r>
              <a:rPr lang="en-US" altLang="zh-CN" baseline="30000">
                <a:solidFill>
                  <a:srgbClr val="00FFFF"/>
                </a:solidFill>
              </a:rPr>
              <a:t>10</a:t>
            </a:r>
            <a:r>
              <a:rPr lang="en-US" altLang="zh-CN" baseline="30000">
                <a:solidFill>
                  <a:schemeClr val="bg1"/>
                </a:solidFill>
              </a:rPr>
              <a:t>  </a:t>
            </a:r>
            <a:r>
              <a:rPr lang="en-US" altLang="zh-CN">
                <a:solidFill>
                  <a:schemeClr val="hlink"/>
                </a:solidFill>
              </a:rPr>
              <a:t>m</a:t>
            </a:r>
            <a:r>
              <a:rPr lang="zh-CN" altLang="en-US">
                <a:solidFill>
                  <a:schemeClr val="hlink"/>
                </a:solidFill>
              </a:rPr>
              <a:t>，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由不确定关系</a:t>
            </a:r>
            <a:r>
              <a:rPr lang="zh-CN" altLang="en-US">
                <a:solidFill>
                  <a:schemeClr val="bg1"/>
                </a:solidFill>
              </a:rPr>
              <a:t>	</a:t>
            </a:r>
          </a:p>
        </p:txBody>
      </p:sp>
      <p:graphicFrame>
        <p:nvGraphicFramePr>
          <p:cNvPr id="81928" name="Object 8">
            <a:extLst>
              <a:ext uri="{FF2B5EF4-FFF2-40B4-BE49-F238E27FC236}">
                <a16:creationId xmlns:a16="http://schemas.microsoft.com/office/drawing/2014/main" id="{2EACB5DE-3226-4349-964F-2326783C18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1612900"/>
          <a:ext cx="1919288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8734" r:id="rId8" imgW="1861200" imgH="940680" progId="Equation.3">
                  <p:embed/>
                </p:oleObj>
              </mc:Choice>
              <mc:Fallback>
                <p:oleObj r:id="rId8" imgW="1861200" imgH="940680" progId="Equation.3">
                  <p:embed/>
                  <p:pic>
                    <p:nvPicPr>
                      <p:cNvPr id="81928" name="Object 8">
                        <a:extLst>
                          <a:ext uri="{FF2B5EF4-FFF2-40B4-BE49-F238E27FC236}">
                            <a16:creationId xmlns:a16="http://schemas.microsoft.com/office/drawing/2014/main" id="{2EACB5DE-3226-4349-964F-2326783C18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612900"/>
                        <a:ext cx="1919288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Rectangle 9">
            <a:extLst>
              <a:ext uri="{FF2B5EF4-FFF2-40B4-BE49-F238E27FC236}">
                <a16:creationId xmlns:a16="http://schemas.microsoft.com/office/drawing/2014/main" id="{D34876A2-6A8B-439B-9D0B-CB0B6CEBB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4635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例</a:t>
            </a:r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C5ED5747-1F1F-4866-814A-1CD03D9E8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11287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华文中宋" panose="02010600040101010101" pitchFamily="2" charset="-122"/>
              </a:rPr>
              <a:t>解</a:t>
            </a:r>
          </a:p>
        </p:txBody>
      </p:sp>
      <p:sp>
        <p:nvSpPr>
          <p:cNvPr id="81931" name="Text Box 11">
            <a:extLst>
              <a:ext uri="{FF2B5EF4-FFF2-40B4-BE49-F238E27FC236}">
                <a16:creationId xmlns:a16="http://schemas.microsoft.com/office/drawing/2014/main" id="{9F9BF512-1B87-490F-9961-2C6FB4DA5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4495800"/>
            <a:ext cx="96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华文中宋" panose="02010600040101010101" pitchFamily="2" charset="-122"/>
              </a:rPr>
              <a:t>说明</a:t>
            </a:r>
          </a:p>
        </p:txBody>
      </p:sp>
      <p:sp>
        <p:nvSpPr>
          <p:cNvPr id="81932" name="AutoShape 12">
            <a:extLst>
              <a:ext uri="{FF2B5EF4-FFF2-40B4-BE49-F238E27FC236}">
                <a16:creationId xmlns:a16="http://schemas.microsoft.com/office/drawing/2014/main" id="{EFFDCD76-6DBB-47ED-A8E3-ACFF71604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437063"/>
            <a:ext cx="360362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81" name="灯片编号占位符 1">
            <a:extLst>
              <a:ext uri="{FF2B5EF4-FFF2-40B4-BE49-F238E27FC236}">
                <a16:creationId xmlns:a16="http://schemas.microsoft.com/office/drawing/2014/main" id="{B10843A5-E188-4BD9-AF2B-993112C26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BFCE98-906B-44A3-94E8-AD123EF2F21D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/>
      <p:bldP spid="81926" grpId="0"/>
      <p:bldP spid="81927" grpId="0"/>
      <p:bldP spid="81931" grpId="0"/>
      <p:bldP spid="819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ext Box 2">
            <a:extLst>
              <a:ext uri="{FF2B5EF4-FFF2-40B4-BE49-F238E27FC236}">
                <a16:creationId xmlns:a16="http://schemas.microsoft.com/office/drawing/2014/main" id="{1F2CBEF2-4FA1-448E-A1A6-0E56D4BCB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04813"/>
            <a:ext cx="749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27063" indent="-627063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136195" name="Text Box 3">
            <a:extLst>
              <a:ext uri="{FF2B5EF4-FFF2-40B4-BE49-F238E27FC236}">
                <a16:creationId xmlns:a16="http://schemas.microsoft.com/office/drawing/2014/main" id="{7600AB85-8C63-4105-BE1E-227F45D08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28625"/>
            <a:ext cx="82867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27063" indent="-627063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氦氖激光器所发红光波长</a:t>
            </a:r>
            <a:r>
              <a:rPr lang="zh-CN" altLang="en-US" i="1">
                <a:solidFill>
                  <a:schemeClr val="bg1"/>
                </a:solidFill>
              </a:rPr>
              <a:t> </a:t>
            </a:r>
            <a:r>
              <a:rPr lang="zh-CN" altLang="en-US" i="1">
                <a:solidFill>
                  <a:srgbClr val="66FFFF"/>
                </a:solidFill>
                <a:sym typeface="Symbol" panose="05050102010706020507" pitchFamily="18" charset="2"/>
              </a:rPr>
              <a:t> </a:t>
            </a:r>
            <a:r>
              <a:rPr lang="en-US" altLang="zh-CN">
                <a:solidFill>
                  <a:srgbClr val="66FFFF"/>
                </a:solidFill>
                <a:sym typeface="Symbol" panose="05050102010706020507" pitchFamily="18" charset="2"/>
              </a:rPr>
              <a:t>= 6328 </a:t>
            </a:r>
            <a:r>
              <a:rPr lang="en-US" altLang="zh-CN">
                <a:solidFill>
                  <a:srgbClr val="66FF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Å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，谱线宽度 </a:t>
            </a:r>
            <a:r>
              <a:rPr lang="zh-CN" altLang="en-US">
                <a:solidFill>
                  <a:srgbClr val="66FFFF"/>
                </a:solidFill>
                <a:sym typeface="Symbol" panose="05050102010706020507" pitchFamily="18" charset="2"/>
              </a:rPr>
              <a:t></a:t>
            </a:r>
            <a:r>
              <a:rPr lang="zh-CN" altLang="en-US" i="1">
                <a:solidFill>
                  <a:srgbClr val="66FFFF"/>
                </a:solidFill>
                <a:sym typeface="Symbol" panose="05050102010706020507" pitchFamily="18" charset="2"/>
              </a:rPr>
              <a:t></a:t>
            </a:r>
            <a:r>
              <a:rPr lang="zh-CN" altLang="en-US">
                <a:solidFill>
                  <a:srgbClr val="66FFFF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66FFFF"/>
                </a:solidFill>
                <a:sym typeface="Symbol" panose="05050102010706020507" pitchFamily="18" charset="2"/>
              </a:rPr>
              <a:t>= 10</a:t>
            </a:r>
            <a:r>
              <a:rPr lang="en-US" altLang="zh-CN" baseline="30000">
                <a:solidFill>
                  <a:srgbClr val="66FFFF"/>
                </a:solidFill>
                <a:sym typeface="Symbol" panose="05050102010706020507" pitchFamily="18" charset="2"/>
              </a:rPr>
              <a:t>-8 </a:t>
            </a:r>
            <a:r>
              <a:rPr lang="en-US" altLang="zh-CN">
                <a:solidFill>
                  <a:srgbClr val="66FF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Å</a:t>
            </a:r>
            <a:endParaRPr lang="en-US" altLang="zh-CN">
              <a:solidFill>
                <a:schemeClr val="bg1"/>
              </a:solidFill>
              <a:sym typeface="Symbol" panose="05050102010706020507" pitchFamily="18" charset="2"/>
            </a:endParaRPr>
          </a:p>
        </p:txBody>
      </p:sp>
      <p:sp>
        <p:nvSpPr>
          <p:cNvPr id="136196" name="Text Box 4">
            <a:extLst>
              <a:ext uri="{FF2B5EF4-FFF2-40B4-BE49-F238E27FC236}">
                <a16:creationId xmlns:a16="http://schemas.microsoft.com/office/drawing/2014/main" id="{81DFB039-B3AE-4385-B515-B267482B0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25538"/>
            <a:ext cx="1223963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27063" indent="-627063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00"/>
                </a:solidFill>
                <a:sym typeface="Symbol" panose="05050102010706020507" pitchFamily="18" charset="2"/>
              </a:rPr>
              <a:t>求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136197" name="Text Box 5">
            <a:extLst>
              <a:ext uri="{FF2B5EF4-FFF2-40B4-BE49-F238E27FC236}">
                <a16:creationId xmlns:a16="http://schemas.microsoft.com/office/drawing/2014/main" id="{D08F2C69-C900-438B-8CBB-EC3A5688D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143000"/>
            <a:ext cx="80010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27063" indent="-627063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当这种光子沿 </a:t>
            </a:r>
            <a:r>
              <a:rPr lang="en-US" altLang="zh-CN" i="1">
                <a:solidFill>
                  <a:srgbClr val="66FFFF"/>
                </a:solidFill>
                <a:sym typeface="Symbol" panose="05050102010706020507" pitchFamily="18" charset="2"/>
              </a:rPr>
              <a:t>x 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方向传播时，它的  </a:t>
            </a:r>
            <a:r>
              <a:rPr lang="en-US" altLang="zh-CN" i="1">
                <a:solidFill>
                  <a:srgbClr val="66FFFF"/>
                </a:solidFill>
                <a:sym typeface="Symbol" panose="05050102010706020507" pitchFamily="18" charset="2"/>
              </a:rPr>
              <a:t>x 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坐标不确定度</a:t>
            </a:r>
            <a:r>
              <a:rPr lang="en-US" altLang="zh-CN">
                <a:solidFill>
                  <a:schemeClr val="bg1"/>
                </a:solidFill>
                <a:sym typeface="Symbol" panose="05050102010706020507" pitchFamily="18" charset="2"/>
              </a:rPr>
              <a:t> .</a:t>
            </a:r>
            <a:endParaRPr lang="en-US" altLang="zh-CN">
              <a:solidFill>
                <a:srgbClr val="FFFF00"/>
              </a:solidFill>
            </a:endParaRPr>
          </a:p>
        </p:txBody>
      </p:sp>
      <p:graphicFrame>
        <p:nvGraphicFramePr>
          <p:cNvPr id="136198" name="Object 6">
            <a:extLst>
              <a:ext uri="{FF2B5EF4-FFF2-40B4-BE49-F238E27FC236}">
                <a16:creationId xmlns:a16="http://schemas.microsoft.com/office/drawing/2014/main" id="{2BB0D123-321B-4CA0-91C1-6BB1752E5F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022600"/>
          <a:ext cx="41529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784" r:id="rId4" imgW="4854960" imgH="1131120" progId="Equation.DSMT4">
                  <p:embed/>
                </p:oleObj>
              </mc:Choice>
              <mc:Fallback>
                <p:oleObj r:id="rId4" imgW="4854960" imgH="1131120" progId="Equation.DSMT4">
                  <p:embed/>
                  <p:pic>
                    <p:nvPicPr>
                      <p:cNvPr id="136198" name="Object 6">
                        <a:extLst>
                          <a:ext uri="{FF2B5EF4-FFF2-40B4-BE49-F238E27FC236}">
                            <a16:creationId xmlns:a16="http://schemas.microsoft.com/office/drawing/2014/main" id="{2BB0D123-321B-4CA0-91C1-6BB1752E5F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022600"/>
                        <a:ext cx="41529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199" name="Text Box 7">
            <a:extLst>
              <a:ext uri="{FF2B5EF4-FFF2-40B4-BE49-F238E27FC236}">
                <a16:creationId xmlns:a16="http://schemas.microsoft.com/office/drawing/2014/main" id="{8FA5CC37-538C-485F-96AE-8F8D3DF6E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2014538"/>
            <a:ext cx="681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graphicFrame>
        <p:nvGraphicFramePr>
          <p:cNvPr id="136200" name="Object 8">
            <a:extLst>
              <a:ext uri="{FF2B5EF4-FFF2-40B4-BE49-F238E27FC236}">
                <a16:creationId xmlns:a16="http://schemas.microsoft.com/office/drawing/2014/main" id="{7C600881-768B-4E73-A47E-B5F89FF654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5113" y="1916113"/>
          <a:ext cx="876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785" r:id="rId6" imgW="997920" imgH="817560" progId="Equation.DSMT4">
                  <p:embed/>
                </p:oleObj>
              </mc:Choice>
              <mc:Fallback>
                <p:oleObj r:id="rId6" imgW="997920" imgH="817560" progId="Equation.DSMT4">
                  <p:embed/>
                  <p:pic>
                    <p:nvPicPr>
                      <p:cNvPr id="136200" name="Object 8">
                        <a:extLst>
                          <a:ext uri="{FF2B5EF4-FFF2-40B4-BE49-F238E27FC236}">
                            <a16:creationId xmlns:a16="http://schemas.microsoft.com/office/drawing/2014/main" id="{7C600881-768B-4E73-A47E-B5F89FF654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113" y="1916113"/>
                        <a:ext cx="8763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2" name="Object 10">
            <a:extLst>
              <a:ext uri="{FF2B5EF4-FFF2-40B4-BE49-F238E27FC236}">
                <a16:creationId xmlns:a16="http://schemas.microsoft.com/office/drawing/2014/main" id="{449D519A-CDD1-49C4-AFF9-B8ED259B1ED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727974" y="1870720"/>
          <a:ext cx="990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786" r:id="rId8" imgW="1132560" imgH="951840" progId="Equation.DSMT4">
                  <p:embed/>
                </p:oleObj>
              </mc:Choice>
              <mc:Fallback>
                <p:oleObj r:id="rId8" imgW="1132560" imgH="951840" progId="Equation.DSMT4">
                  <p:embed/>
                  <p:pic>
                    <p:nvPicPr>
                      <p:cNvPr id="136202" name="Object 10">
                        <a:extLst>
                          <a:ext uri="{FF2B5EF4-FFF2-40B4-BE49-F238E27FC236}">
                            <a16:creationId xmlns:a16="http://schemas.microsoft.com/office/drawing/2014/main" id="{449D519A-CDD1-49C4-AFF9-B8ED259B1E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7974" y="1870720"/>
                        <a:ext cx="990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" name="灯片编号占位符 1">
            <a:extLst>
              <a:ext uri="{FF2B5EF4-FFF2-40B4-BE49-F238E27FC236}">
                <a16:creationId xmlns:a16="http://schemas.microsoft.com/office/drawing/2014/main" id="{DCDF3C0F-7E81-432B-8861-2BE81071A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5BA0632-1FB8-4465-A34A-2049A5F6C6FA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36741FFC-8F5A-4A3D-AA04-A1EF17D0E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4237038"/>
            <a:ext cx="8072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说明：</a:t>
            </a:r>
            <a:r>
              <a:rPr lang="zh-CN" altLang="en-US">
                <a:solidFill>
                  <a:schemeClr val="bg1"/>
                </a:solidFill>
              </a:rPr>
              <a:t>不确定关系被用作数量级的估算，也可以写成</a:t>
            </a:r>
          </a:p>
        </p:txBody>
      </p:sp>
      <p:graphicFrame>
        <p:nvGraphicFramePr>
          <p:cNvPr id="3" name="Object 45">
            <a:extLst>
              <a:ext uri="{FF2B5EF4-FFF2-40B4-BE49-F238E27FC236}">
                <a16:creationId xmlns:a16="http://schemas.microsoft.com/office/drawing/2014/main" id="{EA3DFC75-07FA-4D93-8D16-EEF39F15B2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9600" y="4808538"/>
          <a:ext cx="43180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787" r:id="rId10" imgW="1995840" imgH="235080" progId="Equation.3">
                  <p:embed/>
                </p:oleObj>
              </mc:Choice>
              <mc:Fallback>
                <p:oleObj r:id="rId10" imgW="1995840" imgH="235080" progId="Equation.3">
                  <p:embed/>
                  <p:pic>
                    <p:nvPicPr>
                      <p:cNvPr id="3" name="Object 45">
                        <a:extLst>
                          <a:ext uri="{FF2B5EF4-FFF2-40B4-BE49-F238E27FC236}">
                            <a16:creationId xmlns:a16="http://schemas.microsoft.com/office/drawing/2014/main" id="{EA3DFC75-07FA-4D93-8D16-EEF39F15B2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4808538"/>
                        <a:ext cx="4318000" cy="504825"/>
                      </a:xfrm>
                      <a:prstGeom prst="rect">
                        <a:avLst/>
                      </a:prstGeom>
                      <a:solidFill>
                        <a:srgbClr val="000000">
                          <a:alpha val="7059"/>
                        </a:srgbClr>
                      </a:solidFill>
                      <a:ln w="9525">
                        <a:solidFill>
                          <a:srgbClr val="000000">
                            <a:alpha val="10196"/>
                          </a:srgb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3" name="Object 3">
            <a:extLst>
              <a:ext uri="{FF2B5EF4-FFF2-40B4-BE49-F238E27FC236}">
                <a16:creationId xmlns:a16="http://schemas.microsoft.com/office/drawing/2014/main" id="{15D94C82-C3B1-41DB-BF28-2CF56E4CB80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987824" y="1845891"/>
          <a:ext cx="358775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788" r:id="rId12" imgW="1950840" imgH="481680" progId="Equation.3">
                  <p:embed/>
                </p:oleObj>
              </mc:Choice>
              <mc:Fallback>
                <p:oleObj r:id="rId12" imgW="1950840" imgH="481680" progId="Equation.3">
                  <p:embed/>
                  <p:pic>
                    <p:nvPicPr>
                      <p:cNvPr id="81923" name="Object 3">
                        <a:extLst>
                          <a:ext uri="{FF2B5EF4-FFF2-40B4-BE49-F238E27FC236}">
                            <a16:creationId xmlns:a16="http://schemas.microsoft.com/office/drawing/2014/main" id="{15D94C82-C3B1-41DB-BF28-2CF56E4CB8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1845891"/>
                        <a:ext cx="3587750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08623682-3833-4958-89A3-6E268C4D5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383" y="5759450"/>
            <a:ext cx="738601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思考：用不确定关系估计一维谐振子的最低能量？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36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4" grpId="0"/>
      <p:bldP spid="136195" grpId="0"/>
      <p:bldP spid="136196" grpId="0"/>
      <p:bldP spid="136197" grpId="0"/>
      <p:bldP spid="136199" grpId="0"/>
      <p:bldP spid="12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C2B29EC5-D9B8-4EFF-B6DC-9144D2621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113" y="968375"/>
            <a:ext cx="2209800" cy="646113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1" name="Text Box 3">
            <a:extLst>
              <a:ext uri="{FF2B5EF4-FFF2-40B4-BE49-F238E27FC236}">
                <a16:creationId xmlns:a16="http://schemas.microsoft.com/office/drawing/2014/main" id="{11575477-993C-40CD-82BD-418FBFF77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49275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FFFF"/>
                </a:solidFill>
              </a:rPr>
              <a:t>2. </a:t>
            </a:r>
            <a:r>
              <a:rPr lang="zh-CN" altLang="en-US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能量 </a:t>
            </a:r>
            <a:r>
              <a:rPr lang="en-US" altLang="zh-CN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 </a:t>
            </a:r>
            <a:r>
              <a:rPr lang="zh-CN" altLang="en-US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时间不确定关系</a:t>
            </a:r>
          </a:p>
        </p:txBody>
      </p:sp>
      <p:sp>
        <p:nvSpPr>
          <p:cNvPr id="83972" name="Text Box 4">
            <a:extLst>
              <a:ext uri="{FF2B5EF4-FFF2-40B4-BE49-F238E27FC236}">
                <a16:creationId xmlns:a16="http://schemas.microsoft.com/office/drawing/2014/main" id="{D3785E27-14E7-4DDD-8D93-3C5AA8B8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235200"/>
            <a:ext cx="4602162" cy="836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200" dirty="0">
                <a:solidFill>
                  <a:schemeClr val="hlink"/>
                </a:solidFill>
                <a:ea typeface="楷体_GB2312" pitchFamily="49" charset="-122"/>
              </a:rPr>
              <a:t>反映了原子能级宽度</a:t>
            </a:r>
            <a:r>
              <a:rPr lang="zh-CN" altLang="en-US" sz="2200" b="0" dirty="0">
                <a:solidFill>
                  <a:srgbClr val="00FFFF"/>
                </a:solidFill>
                <a:latin typeface="+mn-lt"/>
              </a:rPr>
              <a:t>△</a:t>
            </a:r>
            <a:r>
              <a:rPr lang="en-US" altLang="zh-CN" sz="2200" b="0" i="1" dirty="0">
                <a:solidFill>
                  <a:srgbClr val="00FFFF"/>
                </a:solidFill>
                <a:latin typeface="+mn-lt"/>
              </a:rPr>
              <a:t>E</a:t>
            </a:r>
            <a:r>
              <a:rPr lang="en-US" altLang="zh-CN" sz="2200" i="1" dirty="0">
                <a:solidFill>
                  <a:srgbClr val="FFCC66"/>
                </a:solidFill>
                <a:latin typeface="+mn-lt"/>
              </a:rPr>
              <a:t> </a:t>
            </a:r>
            <a:r>
              <a:rPr lang="en-US" altLang="zh-CN" sz="2200" dirty="0">
                <a:solidFill>
                  <a:srgbClr val="FFCC66"/>
                </a:solidFill>
                <a:latin typeface="+mn-lt"/>
              </a:rPr>
              <a:t> </a:t>
            </a:r>
            <a:r>
              <a:rPr lang="zh-CN" altLang="en-US" sz="2200" dirty="0">
                <a:solidFill>
                  <a:schemeClr val="hlink"/>
                </a:solidFill>
                <a:ea typeface="楷体_GB2312" pitchFamily="49" charset="-122"/>
              </a:rPr>
              <a:t>和原子在该能级的平均寿命</a:t>
            </a:r>
            <a:r>
              <a:rPr lang="zh-CN" altLang="en-US" sz="2200" dirty="0">
                <a:solidFill>
                  <a:srgbClr val="FFCC66"/>
                </a:solidFill>
              </a:rPr>
              <a:t> </a:t>
            </a:r>
            <a:r>
              <a:rPr lang="zh-CN" altLang="en-US" sz="2200" b="0" dirty="0">
                <a:solidFill>
                  <a:srgbClr val="00FFFF"/>
                </a:solidFill>
                <a:latin typeface="+mn-lt"/>
              </a:rPr>
              <a:t>△</a:t>
            </a:r>
            <a:r>
              <a:rPr lang="en-US" altLang="zh-CN" sz="2200" b="0" i="1" dirty="0">
                <a:solidFill>
                  <a:srgbClr val="00FFFF"/>
                </a:solidFill>
                <a:latin typeface="+mn-lt"/>
              </a:rPr>
              <a:t>t</a:t>
            </a:r>
            <a:r>
              <a:rPr lang="en-US" altLang="zh-CN" sz="2200" dirty="0">
                <a:solidFill>
                  <a:srgbClr val="FFCC66"/>
                </a:solidFill>
                <a:latin typeface="+mn-lt"/>
              </a:rPr>
              <a:t> </a:t>
            </a:r>
            <a:r>
              <a:rPr lang="zh-CN" altLang="en-US" sz="2200" dirty="0">
                <a:solidFill>
                  <a:schemeClr val="hlink"/>
                </a:solidFill>
                <a:ea typeface="楷体_GB2312" pitchFamily="49" charset="-122"/>
              </a:rPr>
              <a:t>之间的关系。</a:t>
            </a:r>
          </a:p>
        </p:txBody>
      </p:sp>
      <p:sp>
        <p:nvSpPr>
          <p:cNvPr id="83973" name="Text Box 5">
            <a:extLst>
              <a:ext uri="{FF2B5EF4-FFF2-40B4-BE49-F238E27FC236}">
                <a16:creationId xmlns:a16="http://schemas.microsoft.com/office/drawing/2014/main" id="{17168923-900C-4A41-8A0D-6A325722A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806950"/>
            <a:ext cx="194627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基态</a:t>
            </a:r>
            <a:endParaRPr lang="zh-CN" altLang="en-US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83974" name="Object 6">
            <a:extLst>
              <a:ext uri="{FF2B5EF4-FFF2-40B4-BE49-F238E27FC236}">
                <a16:creationId xmlns:a16="http://schemas.microsoft.com/office/drawing/2014/main" id="{E5B2EEE2-799F-468E-A88A-835B726F83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0288" y="4114800"/>
          <a:ext cx="277653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9990" r:id="rId4" imgW="3296520" imgH="940680" progId="Equation.3">
                  <p:embed/>
                </p:oleObj>
              </mc:Choice>
              <mc:Fallback>
                <p:oleObj r:id="rId4" imgW="3296520" imgH="940680" progId="Equation.3">
                  <p:embed/>
                  <p:pic>
                    <p:nvPicPr>
                      <p:cNvPr id="83974" name="Object 6">
                        <a:extLst>
                          <a:ext uri="{FF2B5EF4-FFF2-40B4-BE49-F238E27FC236}">
                            <a16:creationId xmlns:a16="http://schemas.microsoft.com/office/drawing/2014/main" id="{E5B2EEE2-799F-468E-A88A-835B726F83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288" y="4114800"/>
                        <a:ext cx="277653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5" name="Line 7">
            <a:extLst>
              <a:ext uri="{FF2B5EF4-FFF2-40B4-BE49-F238E27FC236}">
                <a16:creationId xmlns:a16="http://schemas.microsoft.com/office/drawing/2014/main" id="{AC39CB4B-5B94-489D-B93F-18E890789D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0" y="1701800"/>
            <a:ext cx="9525" cy="1368425"/>
          </a:xfrm>
          <a:prstGeom prst="line">
            <a:avLst/>
          </a:prstGeom>
          <a:noFill/>
          <a:ln w="38100">
            <a:solidFill>
              <a:srgbClr val="FFFF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8C210A73-8D39-4B3E-A700-6D5794B89101}"/>
              </a:ext>
            </a:extLst>
          </p:cNvPr>
          <p:cNvGrpSpPr>
            <a:grpSpLocks/>
          </p:cNvGrpSpPr>
          <p:nvPr/>
        </p:nvGrpSpPr>
        <p:grpSpPr bwMode="auto">
          <a:xfrm>
            <a:off x="5965825" y="5013325"/>
            <a:ext cx="2362200" cy="228600"/>
            <a:chOff x="3610" y="3216"/>
            <a:chExt cx="1488" cy="144"/>
          </a:xfrm>
        </p:grpSpPr>
        <p:sp>
          <p:nvSpPr>
            <p:cNvPr id="11300" name="Line 9">
              <a:extLst>
                <a:ext uri="{FF2B5EF4-FFF2-40B4-BE49-F238E27FC236}">
                  <a16:creationId xmlns:a16="http://schemas.microsoft.com/office/drawing/2014/main" id="{E7906B22-B99C-409F-B516-6EA21B3C0F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0" y="3360"/>
              <a:ext cx="148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1" name="Line 10">
              <a:extLst>
                <a:ext uri="{FF2B5EF4-FFF2-40B4-BE49-F238E27FC236}">
                  <a16:creationId xmlns:a16="http://schemas.microsoft.com/office/drawing/2014/main" id="{CAE5F013-D002-485A-897E-2E3AEE0315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4" y="3216"/>
              <a:ext cx="0" cy="14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2" name="Line 11">
              <a:extLst>
                <a:ext uri="{FF2B5EF4-FFF2-40B4-BE49-F238E27FC236}">
                  <a16:creationId xmlns:a16="http://schemas.microsoft.com/office/drawing/2014/main" id="{C98CD1C9-F007-4028-A8E0-794291A7E7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62" y="3216"/>
              <a:ext cx="0" cy="14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83980" name="Picture 12" descr="普线宽度">
            <a:extLst>
              <a:ext uri="{FF2B5EF4-FFF2-40B4-BE49-F238E27FC236}">
                <a16:creationId xmlns:a16="http://schemas.microsoft.com/office/drawing/2014/main" id="{FED38B27-4124-4111-BD95-895BC77CB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326699"/>
              </a:clrFrom>
              <a:clrTo>
                <a:srgbClr val="3266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0" y="3590925"/>
            <a:ext cx="25146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13">
            <a:extLst>
              <a:ext uri="{FF2B5EF4-FFF2-40B4-BE49-F238E27FC236}">
                <a16:creationId xmlns:a16="http://schemas.microsoft.com/office/drawing/2014/main" id="{14D75DFD-5C17-4F6A-A2D3-C7B3563E7B44}"/>
              </a:ext>
            </a:extLst>
          </p:cNvPr>
          <p:cNvGrpSpPr>
            <a:grpSpLocks/>
          </p:cNvGrpSpPr>
          <p:nvPr/>
        </p:nvGrpSpPr>
        <p:grpSpPr bwMode="auto">
          <a:xfrm>
            <a:off x="5857875" y="5302250"/>
            <a:ext cx="2627313" cy="1150938"/>
            <a:chOff x="3542" y="3398"/>
            <a:chExt cx="1655" cy="725"/>
          </a:xfrm>
        </p:grpSpPr>
        <p:sp>
          <p:nvSpPr>
            <p:cNvPr id="11296" name="Text Box 14">
              <a:extLst>
                <a:ext uri="{FF2B5EF4-FFF2-40B4-BE49-F238E27FC236}">
                  <a16:creationId xmlns:a16="http://schemas.microsoft.com/office/drawing/2014/main" id="{7EC499A9-0A82-4251-8146-57175582A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2" y="3873"/>
              <a:ext cx="16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chemeClr val="hlink"/>
                  </a:solidFill>
                  <a:ea typeface="楷体_GB2312" pitchFamily="49" charset="-122"/>
                </a:rPr>
                <a:t>辐射光谱线固有宽度</a:t>
              </a:r>
            </a:p>
          </p:txBody>
        </p:sp>
        <p:grpSp>
          <p:nvGrpSpPr>
            <p:cNvPr id="11297" name="Group 15">
              <a:extLst>
                <a:ext uri="{FF2B5EF4-FFF2-40B4-BE49-F238E27FC236}">
                  <a16:creationId xmlns:a16="http://schemas.microsoft.com/office/drawing/2014/main" id="{CD8C28D6-E6E0-4AD9-B5F3-4D4625A847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22" y="3398"/>
              <a:ext cx="1350" cy="442"/>
              <a:chOff x="3828" y="3360"/>
              <a:chExt cx="1350" cy="442"/>
            </a:xfrm>
          </p:grpSpPr>
          <p:graphicFrame>
            <p:nvGraphicFramePr>
              <p:cNvPr id="11298" name="Object 16">
                <a:extLst>
                  <a:ext uri="{FF2B5EF4-FFF2-40B4-BE49-F238E27FC236}">
                    <a16:creationId xmlns:a16="http://schemas.microsoft.com/office/drawing/2014/main" id="{F7E6C7EE-28DD-444C-8138-6F9A7F3588A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657" y="3360"/>
              <a:ext cx="521" cy="4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9991" r:id="rId7" imgW="538200" imgH="425520" progId="Equation.3">
                      <p:embed/>
                    </p:oleObj>
                  </mc:Choice>
                  <mc:Fallback>
                    <p:oleObj r:id="rId7" imgW="538200" imgH="425520" progId="Equation.3">
                      <p:embed/>
                      <p:pic>
                        <p:nvPicPr>
                          <p:cNvPr id="11298" name="Object 16">
                            <a:extLst>
                              <a:ext uri="{FF2B5EF4-FFF2-40B4-BE49-F238E27FC236}">
                                <a16:creationId xmlns:a16="http://schemas.microsoft.com/office/drawing/2014/main" id="{F7E6C7EE-28DD-444C-8138-6F9A7F3588A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7" y="3360"/>
                            <a:ext cx="521" cy="4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9" name="Object 17">
                <a:extLst>
                  <a:ext uri="{FF2B5EF4-FFF2-40B4-BE49-F238E27FC236}">
                    <a16:creationId xmlns:a16="http://schemas.microsoft.com/office/drawing/2014/main" id="{9354FBB8-179A-40CE-BC94-36349E7E9CD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28" y="3360"/>
              <a:ext cx="521" cy="4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9992" r:id="rId9" imgW="538200" imgH="425520" progId="Equation.3">
                      <p:embed/>
                    </p:oleObj>
                  </mc:Choice>
                  <mc:Fallback>
                    <p:oleObj r:id="rId9" imgW="538200" imgH="425520" progId="Equation.3">
                      <p:embed/>
                      <p:pic>
                        <p:nvPicPr>
                          <p:cNvPr id="11299" name="Object 17">
                            <a:extLst>
                              <a:ext uri="{FF2B5EF4-FFF2-40B4-BE49-F238E27FC236}">
                                <a16:creationId xmlns:a16="http://schemas.microsoft.com/office/drawing/2014/main" id="{9354FBB8-179A-40CE-BC94-36349E7E9CD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28" y="3360"/>
                            <a:ext cx="521" cy="4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" name="Group 18">
            <a:extLst>
              <a:ext uri="{FF2B5EF4-FFF2-40B4-BE49-F238E27FC236}">
                <a16:creationId xmlns:a16="http://schemas.microsoft.com/office/drawing/2014/main" id="{B822DDEA-81E8-4CF0-8261-AA49B7DBECE4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71488"/>
            <a:ext cx="3160713" cy="1579562"/>
            <a:chOff x="3216" y="336"/>
            <a:chExt cx="1991" cy="995"/>
          </a:xfrm>
        </p:grpSpPr>
        <p:graphicFrame>
          <p:nvGraphicFramePr>
            <p:cNvPr id="11291" name="Object 19">
              <a:extLst>
                <a:ext uri="{FF2B5EF4-FFF2-40B4-BE49-F238E27FC236}">
                  <a16:creationId xmlns:a16="http://schemas.microsoft.com/office/drawing/2014/main" id="{22D99FF0-BD35-4E97-A288-5F0EFCA2FC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6" y="336"/>
            <a:ext cx="576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9993" r:id="rId11" imgW="594360" imgH="425520" progId="Equation.3">
                    <p:embed/>
                  </p:oleObj>
                </mc:Choice>
                <mc:Fallback>
                  <p:oleObj r:id="rId11" imgW="594360" imgH="425520" progId="Equation.3">
                    <p:embed/>
                    <p:pic>
                      <p:nvPicPr>
                        <p:cNvPr id="11291" name="Object 19">
                          <a:extLst>
                            <a:ext uri="{FF2B5EF4-FFF2-40B4-BE49-F238E27FC236}">
                              <a16:creationId xmlns:a16="http://schemas.microsoft.com/office/drawing/2014/main" id="{22D99FF0-BD35-4E97-A288-5F0EFCA2FC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336"/>
                          <a:ext cx="576" cy="4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292" name="Group 20">
              <a:extLst>
                <a:ext uri="{FF2B5EF4-FFF2-40B4-BE49-F238E27FC236}">
                  <a16:creationId xmlns:a16="http://schemas.microsoft.com/office/drawing/2014/main" id="{F4DCC70B-6B46-4704-A2AC-2157A2F5AC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634"/>
              <a:ext cx="1991" cy="697"/>
              <a:chOff x="3216" y="634"/>
              <a:chExt cx="1991" cy="697"/>
            </a:xfrm>
          </p:grpSpPr>
          <p:sp>
            <p:nvSpPr>
              <p:cNvPr id="11293" name="Line 21">
                <a:extLst>
                  <a:ext uri="{FF2B5EF4-FFF2-40B4-BE49-F238E27FC236}">
                    <a16:creationId xmlns:a16="http://schemas.microsoft.com/office/drawing/2014/main" id="{97B6542D-042F-4AA8-A1AA-0ED3406F7C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5" y="634"/>
                <a:ext cx="1392" cy="0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1294" name="Object 22">
                <a:extLst>
                  <a:ext uri="{FF2B5EF4-FFF2-40B4-BE49-F238E27FC236}">
                    <a16:creationId xmlns:a16="http://schemas.microsoft.com/office/drawing/2014/main" id="{2FABEA71-CA09-4CEF-A9D5-7823CFC5AD8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16" y="889"/>
              <a:ext cx="576" cy="4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9994" r:id="rId13" imgW="594360" imgH="425520" progId="Equation.3">
                      <p:embed/>
                    </p:oleObj>
                  </mc:Choice>
                  <mc:Fallback>
                    <p:oleObj r:id="rId13" imgW="594360" imgH="425520" progId="Equation.3">
                      <p:embed/>
                      <p:pic>
                        <p:nvPicPr>
                          <p:cNvPr id="11294" name="Object 22">
                            <a:extLst>
                              <a:ext uri="{FF2B5EF4-FFF2-40B4-BE49-F238E27FC236}">
                                <a16:creationId xmlns:a16="http://schemas.microsoft.com/office/drawing/2014/main" id="{2FABEA71-CA09-4CEF-A9D5-7823CFC5AD8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6" y="889"/>
                            <a:ext cx="576" cy="4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95" name="Line 23">
                <a:extLst>
                  <a:ext uri="{FF2B5EF4-FFF2-40B4-BE49-F238E27FC236}">
                    <a16:creationId xmlns:a16="http://schemas.microsoft.com/office/drawing/2014/main" id="{0866FC26-CF3A-4428-A15E-F23F1E6A02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5" y="1056"/>
                <a:ext cx="1392" cy="0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3992" name="Rectangle 24">
            <a:extLst>
              <a:ext uri="{FF2B5EF4-FFF2-40B4-BE49-F238E27FC236}">
                <a16:creationId xmlns:a16="http://schemas.microsoft.com/office/drawing/2014/main" id="{F55FFD75-8B83-4436-B388-F8C1A1183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079750"/>
            <a:ext cx="41735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激发态</a:t>
            </a:r>
            <a:r>
              <a:rPr lang="zh-CN" altLang="en-US">
                <a:solidFill>
                  <a:srgbClr val="FFCC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endParaRPr lang="zh-CN" altLang="en-US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306" name="Line 25">
            <a:extLst>
              <a:ext uri="{FF2B5EF4-FFF2-40B4-BE49-F238E27FC236}">
                <a16:creationId xmlns:a16="http://schemas.microsoft.com/office/drawing/2014/main" id="{C451020C-6323-44F9-9AAC-7E9E0037B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0750" y="3138488"/>
            <a:ext cx="2232025" cy="0"/>
          </a:xfrm>
          <a:prstGeom prst="line">
            <a:avLst/>
          </a:prstGeom>
          <a:noFill/>
          <a:ln w="38100">
            <a:solidFill>
              <a:schemeClr val="hlink">
                <a:alpha val="67842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7" name="Text Box 26">
            <a:extLst>
              <a:ext uri="{FF2B5EF4-FFF2-40B4-BE49-F238E27FC236}">
                <a16:creationId xmlns:a16="http://schemas.microsoft.com/office/drawing/2014/main" id="{5D7EF774-A03C-40B9-89D7-C1B0004AD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213" y="1055688"/>
            <a:ext cx="369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i="1">
                <a:solidFill>
                  <a:srgbClr val="FFCC66"/>
                </a:solidFill>
              </a:rPr>
              <a:t>E</a:t>
            </a:r>
          </a:p>
        </p:txBody>
      </p:sp>
      <p:sp>
        <p:nvSpPr>
          <p:cNvPr id="12308" name="Line 27">
            <a:extLst>
              <a:ext uri="{FF2B5EF4-FFF2-40B4-BE49-F238E27FC236}">
                <a16:creationId xmlns:a16="http://schemas.microsoft.com/office/drawing/2014/main" id="{D1348816-EBCF-40A3-8016-D052FB3E4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1309688"/>
            <a:ext cx="22098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9" name="Rectangle 28">
            <a:extLst>
              <a:ext uri="{FF2B5EF4-FFF2-40B4-BE49-F238E27FC236}">
                <a16:creationId xmlns:a16="http://schemas.microsoft.com/office/drawing/2014/main" id="{A25B52E4-E07C-40CD-B9E8-5357349EA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5313" y="2925763"/>
            <a:ext cx="871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hlink"/>
                </a:solidFill>
                <a:ea typeface="楷体_GB2312" pitchFamily="49" charset="-122"/>
              </a:rPr>
              <a:t>基态</a:t>
            </a:r>
          </a:p>
        </p:txBody>
      </p:sp>
      <p:sp>
        <p:nvSpPr>
          <p:cNvPr id="83997" name="Oval 29">
            <a:extLst>
              <a:ext uri="{FF2B5EF4-FFF2-40B4-BE49-F238E27FC236}">
                <a16:creationId xmlns:a16="http://schemas.microsoft.com/office/drawing/2014/main" id="{5DE4AF5B-D2AE-449F-B432-93E4E4B1C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6075" y="1124744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2800" b="0">
              <a:solidFill>
                <a:srgbClr val="99FFCC"/>
              </a:solidFill>
            </a:endParaRPr>
          </a:p>
        </p:txBody>
      </p:sp>
      <p:sp>
        <p:nvSpPr>
          <p:cNvPr id="83998" name="Rectangle 30">
            <a:extLst>
              <a:ext uri="{FF2B5EF4-FFF2-40B4-BE49-F238E27FC236}">
                <a16:creationId xmlns:a16="http://schemas.microsoft.com/office/drawing/2014/main" id="{B69B975B-CB62-4B19-B4FB-5CB1997EF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25" y="333375"/>
            <a:ext cx="2033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hlink"/>
                </a:solidFill>
                <a:ea typeface="楷体_GB2312" pitchFamily="49" charset="-122"/>
              </a:rPr>
              <a:t>平均寿命</a:t>
            </a:r>
            <a:r>
              <a:rPr lang="zh-CN" altLang="en-US" sz="2000" b="0">
                <a:solidFill>
                  <a:srgbClr val="00FFFF"/>
                </a:solidFill>
              </a:rPr>
              <a:t>△</a:t>
            </a:r>
            <a:r>
              <a:rPr lang="en-US" altLang="zh-CN" sz="2800" b="0" i="1">
                <a:solidFill>
                  <a:srgbClr val="00FFFF"/>
                </a:solidFill>
              </a:rPr>
              <a:t>t</a:t>
            </a:r>
          </a:p>
        </p:txBody>
      </p:sp>
      <p:sp>
        <p:nvSpPr>
          <p:cNvPr id="83999" name="Rectangle 31">
            <a:extLst>
              <a:ext uri="{FF2B5EF4-FFF2-40B4-BE49-F238E27FC236}">
                <a16:creationId xmlns:a16="http://schemas.microsoft.com/office/drawing/2014/main" id="{37F94344-DF95-4791-96A2-59567F2B7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0" y="2124075"/>
            <a:ext cx="1089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hlink"/>
                </a:solidFill>
                <a:ea typeface="楷体_GB2312" pitchFamily="49" charset="-122"/>
              </a:rPr>
              <a:t>光辐射</a:t>
            </a:r>
          </a:p>
        </p:txBody>
      </p:sp>
      <p:sp>
        <p:nvSpPr>
          <p:cNvPr id="8217" name="Rectangle 32">
            <a:extLst>
              <a:ext uri="{FF2B5EF4-FFF2-40B4-BE49-F238E27FC236}">
                <a16:creationId xmlns:a16="http://schemas.microsoft.com/office/drawing/2014/main" id="{6905AD3F-C01D-460E-8F4B-1DB2EA2E8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788" y="1195388"/>
            <a:ext cx="2097087" cy="865187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195" name="Object 33">
            <a:extLst>
              <a:ext uri="{FF2B5EF4-FFF2-40B4-BE49-F238E27FC236}">
                <a16:creationId xmlns:a16="http://schemas.microsoft.com/office/drawing/2014/main" id="{0C321F68-70C7-4DEC-BA73-ED6FBD7700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9888" y="1235075"/>
          <a:ext cx="1646237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9995" r:id="rId15" imgW="1581120" imgH="940680" progId="Equation.3">
                  <p:embed/>
                </p:oleObj>
              </mc:Choice>
              <mc:Fallback>
                <p:oleObj r:id="rId15" imgW="1581120" imgH="940680" progId="Equation.3">
                  <p:embed/>
                  <p:pic>
                    <p:nvPicPr>
                      <p:cNvPr id="8195" name="Object 33">
                        <a:extLst>
                          <a:ext uri="{FF2B5EF4-FFF2-40B4-BE49-F238E27FC236}">
                            <a16:creationId xmlns:a16="http://schemas.microsoft.com/office/drawing/2014/main" id="{0C321F68-70C7-4DEC-BA73-ED6FBD7700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888" y="1235075"/>
                        <a:ext cx="1646237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002" name="Rectangle 34">
            <a:extLst>
              <a:ext uri="{FF2B5EF4-FFF2-40B4-BE49-F238E27FC236}">
                <a16:creationId xmlns:a16="http://schemas.microsoft.com/office/drawing/2014/main" id="{C3AD3218-9744-4DD0-825B-1A73384BE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287838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能级宽度</a:t>
            </a:r>
          </a:p>
        </p:txBody>
      </p:sp>
      <p:sp>
        <p:nvSpPr>
          <p:cNvPr id="84003" name="Rectangle 35">
            <a:extLst>
              <a:ext uri="{FF2B5EF4-FFF2-40B4-BE49-F238E27FC236}">
                <a16:creationId xmlns:a16="http://schemas.microsoft.com/office/drawing/2014/main" id="{A5370A53-C6BC-48B1-9D7A-85E01133F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630613"/>
            <a:ext cx="3976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平均寿命</a:t>
            </a:r>
            <a:r>
              <a:rPr lang="zh-CN" altLang="en-US" sz="2800">
                <a:solidFill>
                  <a:srgbClr val="FFCC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</a:t>
            </a:r>
            <a:r>
              <a:rPr lang="zh-CN" altLang="en-US" sz="2000" b="0" i="1">
                <a:solidFill>
                  <a:srgbClr val="FFCC66"/>
                </a:solidFill>
                <a:ea typeface="华文中宋" panose="02010600040101010101" pitchFamily="2" charset="-122"/>
              </a:rPr>
              <a:t>△</a:t>
            </a:r>
            <a:r>
              <a:rPr lang="zh-CN" altLang="en-US" sz="2000" b="0">
                <a:solidFill>
                  <a:srgbClr val="FFCC66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sz="2800" b="0" i="1">
                <a:solidFill>
                  <a:srgbClr val="FFCC66"/>
                </a:solidFill>
                <a:ea typeface="华文中宋" panose="02010600040101010101" pitchFamily="2" charset="-122"/>
              </a:rPr>
              <a:t>t  ~ </a:t>
            </a:r>
            <a:r>
              <a:rPr lang="en-US" altLang="zh-CN" sz="2800" b="0">
                <a:solidFill>
                  <a:srgbClr val="FFCC66"/>
                </a:solidFill>
                <a:ea typeface="华文中宋" panose="02010600040101010101" pitchFamily="2" charset="-122"/>
              </a:rPr>
              <a:t>10</a:t>
            </a:r>
            <a:r>
              <a:rPr lang="en-US" altLang="zh-CN" sz="2800" b="0" baseline="30000">
                <a:solidFill>
                  <a:srgbClr val="FFCC66"/>
                </a:solidFill>
                <a:ea typeface="华文中宋" panose="02010600040101010101" pitchFamily="2" charset="-122"/>
              </a:rPr>
              <a:t>-8</a:t>
            </a:r>
            <a:r>
              <a:rPr lang="en-US" altLang="zh-CN" sz="2800" b="0">
                <a:solidFill>
                  <a:srgbClr val="FFCC66"/>
                </a:solidFill>
                <a:ea typeface="华文中宋" panose="02010600040101010101" pitchFamily="2" charset="-122"/>
              </a:rPr>
              <a:t> s</a:t>
            </a:r>
          </a:p>
        </p:txBody>
      </p:sp>
      <p:sp>
        <p:nvSpPr>
          <p:cNvPr id="84004" name="Rectangle 36">
            <a:extLst>
              <a:ext uri="{FF2B5EF4-FFF2-40B4-BE49-F238E27FC236}">
                <a16:creationId xmlns:a16="http://schemas.microsoft.com/office/drawing/2014/main" id="{F8C26B55-6481-471C-AE34-760BD568B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284788"/>
            <a:ext cx="3811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平均寿命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  <a:r>
              <a:rPr lang="zh-CN" altLang="en-US">
                <a:solidFill>
                  <a:srgbClr val="FFCC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000" b="0" i="1">
                <a:solidFill>
                  <a:srgbClr val="FFCC66"/>
                </a:solidFill>
                <a:ea typeface="华文中宋" panose="02010600040101010101" pitchFamily="2" charset="-122"/>
              </a:rPr>
              <a:t>△ </a:t>
            </a:r>
            <a:r>
              <a:rPr lang="en-US" altLang="zh-CN" sz="2800" b="0" i="1">
                <a:solidFill>
                  <a:srgbClr val="FFCC66"/>
                </a:solidFill>
                <a:ea typeface="华文中宋" panose="02010600040101010101" pitchFamily="2" charset="-122"/>
              </a:rPr>
              <a:t>t</a:t>
            </a:r>
            <a:r>
              <a:rPr lang="en-US" altLang="zh-CN" b="0" i="1">
                <a:solidFill>
                  <a:srgbClr val="FFCC66"/>
                </a:solidFill>
                <a:ea typeface="华文中宋" panose="02010600040101010101" pitchFamily="2" charset="-122"/>
              </a:rPr>
              <a:t>  </a:t>
            </a:r>
            <a:r>
              <a:rPr lang="en-US" altLang="zh-CN" b="0">
                <a:solidFill>
                  <a:srgbClr val="FFCC66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  ∞</a:t>
            </a:r>
          </a:p>
        </p:txBody>
      </p:sp>
      <p:sp>
        <p:nvSpPr>
          <p:cNvPr id="84005" name="Rectangle 37">
            <a:extLst>
              <a:ext uri="{FF2B5EF4-FFF2-40B4-BE49-F238E27FC236}">
                <a16:creationId xmlns:a16="http://schemas.microsoft.com/office/drawing/2014/main" id="{A9E8C9C4-2EB9-473A-8949-5DDE4CD7A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853113"/>
            <a:ext cx="3629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能级宽度</a:t>
            </a:r>
            <a:r>
              <a:rPr lang="zh-CN" altLang="en-US">
                <a:solidFill>
                  <a:srgbClr val="FFCC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</a:t>
            </a:r>
            <a:r>
              <a:rPr lang="zh-CN" altLang="en-US" sz="2000" b="0" i="1">
                <a:solidFill>
                  <a:srgbClr val="FFCC66"/>
                </a:solidFill>
                <a:ea typeface="华文中宋" panose="02010600040101010101" pitchFamily="2" charset="-122"/>
              </a:rPr>
              <a:t>△</a:t>
            </a:r>
            <a:r>
              <a:rPr lang="en-US" altLang="zh-CN" b="0" i="1">
                <a:solidFill>
                  <a:srgbClr val="FFCC66"/>
                </a:solidFill>
                <a:ea typeface="华文中宋" panose="02010600040101010101" pitchFamily="2" charset="-122"/>
              </a:rPr>
              <a:t>E </a:t>
            </a:r>
            <a:r>
              <a:rPr lang="en-US" altLang="zh-CN" b="0">
                <a:solidFill>
                  <a:srgbClr val="FFCC66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 0</a:t>
            </a:r>
          </a:p>
        </p:txBody>
      </p:sp>
      <p:sp>
        <p:nvSpPr>
          <p:cNvPr id="11290" name="灯片编号占位符 1">
            <a:extLst>
              <a:ext uri="{FF2B5EF4-FFF2-40B4-BE49-F238E27FC236}">
                <a16:creationId xmlns:a16="http://schemas.microsoft.com/office/drawing/2014/main" id="{DA7BACA4-61C2-4610-9D37-A9C4604F2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23FD957-9E7E-4C81-992F-5342D290C218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 dirty="0">
                <a:solidFill>
                  <a:srgbClr val="FF00FF"/>
                </a:solidFill>
              </a:rPr>
              <a:t>/29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3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3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3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3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2" dur="5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2" dur="5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83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animBg="1"/>
      <p:bldP spid="8201" grpId="0"/>
      <p:bldP spid="83972" grpId="0"/>
      <p:bldP spid="83973" grpId="0"/>
      <p:bldP spid="83992" grpId="0"/>
      <p:bldP spid="12307" grpId="0"/>
      <p:bldP spid="12309" grpId="0"/>
      <p:bldP spid="83997" grpId="0" animBg="1"/>
      <p:bldP spid="83998" grpId="0"/>
      <p:bldP spid="83999" grpId="0"/>
      <p:bldP spid="8217" grpId="0" animBg="1"/>
      <p:bldP spid="84002" grpId="0"/>
      <p:bldP spid="84003" grpId="0"/>
      <p:bldP spid="84004" grpId="0"/>
      <p:bldP spid="8400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9">
            <a:extLst>
              <a:ext uri="{FF2B5EF4-FFF2-40B4-BE49-F238E27FC236}">
                <a16:creationId xmlns:a16="http://schemas.microsoft.com/office/drawing/2014/main" id="{2D2AFE85-722B-4572-9205-85E1AA1F281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475650" y="738250"/>
          <a:ext cx="1903413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990" r:id="rId3" imgW="1838880" imgH="940680" progId="Equation.3">
                  <p:embed/>
                </p:oleObj>
              </mc:Choice>
              <mc:Fallback>
                <p:oleObj r:id="rId3" imgW="1838880" imgH="940680" progId="Equation.3">
                  <p:embed/>
                  <p:pic>
                    <p:nvPicPr>
                      <p:cNvPr id="2" name="Object 9">
                        <a:extLst>
                          <a:ext uri="{FF2B5EF4-FFF2-40B4-BE49-F238E27FC236}">
                            <a16:creationId xmlns:a16="http://schemas.microsoft.com/office/drawing/2014/main" id="{2D2AFE85-722B-4572-9205-85E1AA1F28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0" y="738250"/>
                        <a:ext cx="1903413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箭头: 右 2">
            <a:extLst>
              <a:ext uri="{FF2B5EF4-FFF2-40B4-BE49-F238E27FC236}">
                <a16:creationId xmlns:a16="http://schemas.microsoft.com/office/drawing/2014/main" id="{8561D34A-5F0E-4863-BE94-2B558B34071A}"/>
              </a:ext>
            </a:extLst>
          </p:cNvPr>
          <p:cNvSpPr/>
          <p:nvPr/>
        </p:nvSpPr>
        <p:spPr bwMode="auto">
          <a:xfrm>
            <a:off x="3889812" y="1160922"/>
            <a:ext cx="936098" cy="216024"/>
          </a:xfrm>
          <a:prstGeom prst="rightArrow">
            <a:avLst>
              <a:gd name="adj1" fmla="val 50000"/>
              <a:gd name="adj2" fmla="val 10917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4" name="Object 33">
            <a:extLst>
              <a:ext uri="{FF2B5EF4-FFF2-40B4-BE49-F238E27FC236}">
                <a16:creationId xmlns:a16="http://schemas.microsoft.com/office/drawing/2014/main" id="{7D606A09-C869-4DE5-83AE-33E5E875CFA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332883" y="820799"/>
          <a:ext cx="1646237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991" r:id="rId5" imgW="1581120" imgH="940680" progId="Equation.3">
                  <p:embed/>
                </p:oleObj>
              </mc:Choice>
              <mc:Fallback>
                <p:oleObj r:id="rId5" imgW="1581120" imgH="940680" progId="Equation.3">
                  <p:embed/>
                  <p:pic>
                    <p:nvPicPr>
                      <p:cNvPr id="4" name="Object 33">
                        <a:extLst>
                          <a:ext uri="{FF2B5EF4-FFF2-40B4-BE49-F238E27FC236}">
                            <a16:creationId xmlns:a16="http://schemas.microsoft.com/office/drawing/2014/main" id="{7D606A09-C869-4DE5-83AE-33E5E875CF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2883" y="820799"/>
                        <a:ext cx="1646237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3">
                <a:extLst>
                  <a:ext uri="{FF2B5EF4-FFF2-40B4-BE49-F238E27FC236}">
                    <a16:creationId xmlns:a16="http://schemas.microsoft.com/office/drawing/2014/main" id="{17D7F43C-6B86-4E03-86DB-C2F9591B1415}"/>
                  </a:ext>
                </a:extLst>
              </p:cNvPr>
              <p:cNvSpPr txBox="1"/>
              <p:nvPr/>
            </p:nvSpPr>
            <p:spPr bwMode="auto">
              <a:xfrm>
                <a:off x="1403474" y="1989014"/>
                <a:ext cx="6192862" cy="64789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3000" b="0" i="1" baseline="300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30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3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𝑚𝑐</m:t>
                          </m:r>
                          <m:r>
                            <a:rPr lang="en-US" altLang="zh-CN" sz="3000" b="0" i="1" baseline="3000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3000" b="0" i="1" baseline="300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3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3000" b="0" i="1" baseline="300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3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3000" b="0" i="1" baseline="300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3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3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3000" b="0" i="1" baseline="-2500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3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3000" b="0" i="1" baseline="3000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3000" b="0" i="1" baseline="300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3000" b="0" baseline="30000" dirty="0">
                  <a:solidFill>
                    <a:srgbClr val="FFC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5" name="Object 33">
                <a:extLst>
                  <a:ext uri="{FF2B5EF4-FFF2-40B4-BE49-F238E27FC236}">
                    <a16:creationId xmlns:a16="http://schemas.microsoft.com/office/drawing/2014/main" id="{17D7F43C-6B86-4E03-86DB-C2F9591B1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3474" y="1989014"/>
                <a:ext cx="6192862" cy="6478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3">
                <a:extLst>
                  <a:ext uri="{FF2B5EF4-FFF2-40B4-BE49-F238E27FC236}">
                    <a16:creationId xmlns:a16="http://schemas.microsoft.com/office/drawing/2014/main" id="{2D098F85-EF0A-44FD-A7D7-D2E5618775C6}"/>
                  </a:ext>
                </a:extLst>
              </p:cNvPr>
              <p:cNvSpPr txBox="1"/>
              <p:nvPr/>
            </p:nvSpPr>
            <p:spPr bwMode="auto">
              <a:xfrm>
                <a:off x="1475656" y="3069134"/>
                <a:ext cx="3024510" cy="64789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3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m:rPr>
                          <m:sty m:val="p"/>
                        </m:rPr>
                        <a:rPr lang="en-US" altLang="zh-CN" sz="30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3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30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3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𝑝𝑐</m:t>
                      </m:r>
                      <m:r>
                        <a:rPr lang="en-US" altLang="zh-CN" sz="3000" b="0" i="1" baseline="3000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altLang="zh-CN" sz="30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3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CN" altLang="en-US" sz="3000" b="0" baseline="30000" dirty="0">
                  <a:solidFill>
                    <a:srgbClr val="FFC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8" name="Object 33">
                <a:extLst>
                  <a:ext uri="{FF2B5EF4-FFF2-40B4-BE49-F238E27FC236}">
                    <a16:creationId xmlns:a16="http://schemas.microsoft.com/office/drawing/2014/main" id="{2D098F85-EF0A-44FD-A7D7-D2E561877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5656" y="3069134"/>
                <a:ext cx="3024510" cy="6478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3">
                <a:extLst>
                  <a:ext uri="{FF2B5EF4-FFF2-40B4-BE49-F238E27FC236}">
                    <a16:creationId xmlns:a16="http://schemas.microsoft.com/office/drawing/2014/main" id="{33AB5286-BC66-420D-A10B-61EF593499D9}"/>
                  </a:ext>
                </a:extLst>
              </p:cNvPr>
              <p:cNvSpPr txBox="1"/>
              <p:nvPr/>
            </p:nvSpPr>
            <p:spPr bwMode="auto">
              <a:xfrm>
                <a:off x="1389580" y="3933056"/>
                <a:ext cx="3024510" cy="100793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0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3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30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sSup>
                            <m:sSupPr>
                              <m:ctrlPr>
                                <a:rPr lang="en-US" altLang="zh-CN" sz="30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30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3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CN" altLang="en-US" sz="3000" b="0" baseline="30000" dirty="0">
                  <a:solidFill>
                    <a:srgbClr val="FFC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0" name="Object 33">
                <a:extLst>
                  <a:ext uri="{FF2B5EF4-FFF2-40B4-BE49-F238E27FC236}">
                    <a16:creationId xmlns:a16="http://schemas.microsoft.com/office/drawing/2014/main" id="{33AB5286-BC66-420D-A10B-61EF59349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9580" y="3933056"/>
                <a:ext cx="3024510" cy="10079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33">
                <a:extLst>
                  <a:ext uri="{FF2B5EF4-FFF2-40B4-BE49-F238E27FC236}">
                    <a16:creationId xmlns:a16="http://schemas.microsoft.com/office/drawing/2014/main" id="{C477D312-4B29-49B3-8ED7-9229DEBA8E68}"/>
                  </a:ext>
                </a:extLst>
              </p:cNvPr>
              <p:cNvSpPr txBox="1"/>
              <p:nvPr/>
            </p:nvSpPr>
            <p:spPr bwMode="auto">
              <a:xfrm>
                <a:off x="3491792" y="4077072"/>
                <a:ext cx="3456471" cy="100793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30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𝑚𝑣𝑐</m:t>
                          </m:r>
                          <m:r>
                            <a:rPr lang="en-US" altLang="zh-CN" sz="3000" b="0" i="1" baseline="3000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3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𝑚𝑐</m:t>
                          </m:r>
                          <m:r>
                            <a:rPr lang="en-US" altLang="zh-CN" sz="3000" b="0" i="1" baseline="3000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3000" b="0" i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30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3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m:rPr>
                          <m:sty m:val="p"/>
                        </m:rPr>
                        <a:rPr lang="en-US" altLang="zh-CN" sz="30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3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CN" altLang="en-US" sz="3000" b="0" baseline="30000" dirty="0">
                  <a:solidFill>
                    <a:srgbClr val="FFC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2" name="Object 33">
                <a:extLst>
                  <a:ext uri="{FF2B5EF4-FFF2-40B4-BE49-F238E27FC236}">
                    <a16:creationId xmlns:a16="http://schemas.microsoft.com/office/drawing/2014/main" id="{C477D312-4B29-49B3-8ED7-9229DEBA8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1792" y="4077072"/>
                <a:ext cx="3456471" cy="1007938"/>
              </a:xfrm>
              <a:prstGeom prst="rect">
                <a:avLst/>
              </a:prstGeom>
              <a:blipFill>
                <a:blip r:embed="rId10"/>
                <a:stretch>
                  <a:fillRect t="-1818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33">
                <a:extLst>
                  <a:ext uri="{FF2B5EF4-FFF2-40B4-BE49-F238E27FC236}">
                    <a16:creationId xmlns:a16="http://schemas.microsoft.com/office/drawing/2014/main" id="{37A4096B-6C62-46AF-BA7F-8915D0F0702E}"/>
                  </a:ext>
                </a:extLst>
              </p:cNvPr>
              <p:cNvSpPr txBox="1"/>
              <p:nvPr/>
            </p:nvSpPr>
            <p:spPr bwMode="auto">
              <a:xfrm>
                <a:off x="6459819" y="4005238"/>
                <a:ext cx="2072621" cy="100793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30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3000" b="0" i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3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3000" b="0" i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3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3000" b="0" i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30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CN" altLang="en-US" sz="3000" b="0" baseline="30000" dirty="0">
                  <a:solidFill>
                    <a:srgbClr val="FFC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3" name="Object 33">
                <a:extLst>
                  <a:ext uri="{FF2B5EF4-FFF2-40B4-BE49-F238E27FC236}">
                    <a16:creationId xmlns:a16="http://schemas.microsoft.com/office/drawing/2014/main" id="{37A4096B-6C62-46AF-BA7F-8915D0F07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59819" y="4005238"/>
                <a:ext cx="2072621" cy="100793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33">
                <a:extLst>
                  <a:ext uri="{FF2B5EF4-FFF2-40B4-BE49-F238E27FC236}">
                    <a16:creationId xmlns:a16="http://schemas.microsoft.com/office/drawing/2014/main" id="{687844B7-9011-433E-9B1B-AAEB3FBB1CCC}"/>
                  </a:ext>
                </a:extLst>
              </p:cNvPr>
              <p:cNvSpPr txBox="1"/>
              <p:nvPr/>
            </p:nvSpPr>
            <p:spPr bwMode="auto">
              <a:xfrm>
                <a:off x="1475650" y="5469400"/>
                <a:ext cx="2592294" cy="67198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r>
                  <a:rPr lang="en-US" altLang="zh-CN" sz="3000" b="0" dirty="0">
                    <a:solidFill>
                      <a:srgbClr val="FFC000"/>
                    </a:solidFill>
                    <a:latin typeface="+mn-lt"/>
                  </a:rPr>
                  <a:t>d</a:t>
                </a:r>
                <a:r>
                  <a:rPr lang="en-US" altLang="zh-CN" sz="3000" b="0" i="1" dirty="0" err="1">
                    <a:solidFill>
                      <a:srgbClr val="FFC000"/>
                    </a:solidFill>
                    <a:latin typeface="+mn-lt"/>
                  </a:rPr>
                  <a:t>E</a:t>
                </a:r>
                <a:r>
                  <a:rPr lang="en-US" altLang="zh-CN" sz="3000" b="0" dirty="0">
                    <a:solidFill>
                      <a:srgbClr val="FFC000"/>
                    </a:solidFill>
                    <a:latin typeface="+mn-lt"/>
                  </a:rPr>
                  <a:t>d</a:t>
                </a:r>
                <a:r>
                  <a:rPr lang="en-US" altLang="zh-CN" sz="3000" b="0" i="1" dirty="0">
                    <a:solidFill>
                      <a:srgbClr val="FFC000"/>
                    </a:solidFill>
                    <a:latin typeface="+mn-lt"/>
                  </a:rPr>
                  <a:t>t</a:t>
                </a:r>
                <a14:m>
                  <m:oMath xmlns:m="http://schemas.openxmlformats.org/officeDocument/2006/math">
                    <m:r>
                      <a:rPr lang="en-US" altLang="zh-CN" sz="30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30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30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3000" b="0" i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3000" b="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zh-CN" altLang="en-US" sz="3000" b="0" baseline="30000" dirty="0">
                  <a:solidFill>
                    <a:srgbClr val="FFC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4" name="Object 33">
                <a:extLst>
                  <a:ext uri="{FF2B5EF4-FFF2-40B4-BE49-F238E27FC236}">
                    <a16:creationId xmlns:a16="http://schemas.microsoft.com/office/drawing/2014/main" id="{687844B7-9011-433E-9B1B-AAEB3FBB1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5650" y="5469400"/>
                <a:ext cx="2592294" cy="671988"/>
              </a:xfrm>
              <a:prstGeom prst="rect">
                <a:avLst/>
              </a:prstGeom>
              <a:blipFill>
                <a:blip r:embed="rId12"/>
                <a:stretch>
                  <a:fillRect l="-5412" t="-11818" b="-10000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3">
                <a:extLst>
                  <a:ext uri="{FF2B5EF4-FFF2-40B4-BE49-F238E27FC236}">
                    <a16:creationId xmlns:a16="http://schemas.microsoft.com/office/drawing/2014/main" id="{E3AB3DA2-FF02-411F-BF61-37211E673AFF}"/>
                  </a:ext>
                </a:extLst>
              </p:cNvPr>
              <p:cNvSpPr txBox="1"/>
              <p:nvPr/>
            </p:nvSpPr>
            <p:spPr bwMode="auto">
              <a:xfrm>
                <a:off x="4860026" y="5493316"/>
                <a:ext cx="2736310" cy="67198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r>
                  <a:rPr lang="el-GR" altLang="zh-CN" sz="3000" b="0" dirty="0">
                    <a:solidFill>
                      <a:srgbClr val="FFC000"/>
                    </a:solidFill>
                    <a:latin typeface="+mn-lt"/>
                    <a:ea typeface="等线" panose="02010600030101010101" pitchFamily="2" charset="-122"/>
                  </a:rPr>
                  <a:t>Δ</a:t>
                </a:r>
                <a:r>
                  <a:rPr lang="en-US" altLang="zh-CN" sz="3000" b="0" i="1" dirty="0">
                    <a:solidFill>
                      <a:srgbClr val="FFC000"/>
                    </a:solidFill>
                    <a:latin typeface="+mn-lt"/>
                  </a:rPr>
                  <a:t>E</a:t>
                </a:r>
                <a:r>
                  <a:rPr lang="el-GR" altLang="zh-CN" sz="3000" b="0" dirty="0">
                    <a:solidFill>
                      <a:srgbClr val="FFC000"/>
                    </a:solidFill>
                    <a:latin typeface="+mn-lt"/>
                    <a:ea typeface="等线" panose="02010600030101010101" pitchFamily="2" charset="-122"/>
                  </a:rPr>
                  <a:t>Δ</a:t>
                </a:r>
                <a:r>
                  <a:rPr lang="en-US" altLang="zh-CN" sz="3000" b="0" i="1" dirty="0">
                    <a:solidFill>
                      <a:srgbClr val="FFC000"/>
                    </a:solidFill>
                    <a:latin typeface="+mn-lt"/>
                  </a:rPr>
                  <a:t>t</a:t>
                </a:r>
                <a14:m>
                  <m:oMath xmlns:m="http://schemas.openxmlformats.org/officeDocument/2006/math">
                    <m:r>
                      <a:rPr lang="en-US" altLang="zh-CN" sz="30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l-GR" altLang="zh-CN" sz="3000" b="0" dirty="0">
                        <a:solidFill>
                          <a:srgbClr val="FFC000"/>
                        </a:solidFill>
                        <a:latin typeface="+mn-lt"/>
                        <a:ea typeface="等线" panose="02010600030101010101" pitchFamily="2" charset="-122"/>
                      </a:rPr>
                      <m:t>Δ</m:t>
                    </m:r>
                    <m:r>
                      <a:rPr lang="en-US" altLang="zh-CN" sz="30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l-GR" altLang="zh-CN" sz="3000" b="0" dirty="0">
                        <a:solidFill>
                          <a:srgbClr val="FFC000"/>
                        </a:solidFill>
                        <a:latin typeface="+mn-lt"/>
                        <a:ea typeface="等线" panose="02010600030101010101" pitchFamily="2" charset="-122"/>
                      </a:rPr>
                      <m:t>Δ</m:t>
                    </m:r>
                    <m:r>
                      <a:rPr lang="en-US" altLang="zh-CN" sz="3000" b="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zh-CN" altLang="en-US" sz="3000" b="0" baseline="30000" dirty="0">
                  <a:solidFill>
                    <a:srgbClr val="FFC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5" name="Object 33">
                <a:extLst>
                  <a:ext uri="{FF2B5EF4-FFF2-40B4-BE49-F238E27FC236}">
                    <a16:creationId xmlns:a16="http://schemas.microsoft.com/office/drawing/2014/main" id="{E3AB3DA2-FF02-411F-BF61-37211E673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60026" y="5493316"/>
                <a:ext cx="2736310" cy="671988"/>
              </a:xfrm>
              <a:prstGeom prst="rect">
                <a:avLst/>
              </a:prstGeom>
              <a:blipFill>
                <a:blip r:embed="rId13"/>
                <a:stretch>
                  <a:fillRect l="-5122" t="-11818" b="-10000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CBEDA2D4-2866-4EFE-95F4-44F6018839E8}"/>
              </a:ext>
            </a:extLst>
          </p:cNvPr>
          <p:cNvSpPr/>
          <p:nvPr/>
        </p:nvSpPr>
        <p:spPr bwMode="auto">
          <a:xfrm>
            <a:off x="4427984" y="2664183"/>
            <a:ext cx="1355490" cy="764817"/>
          </a:xfrm>
          <a:custGeom>
            <a:avLst/>
            <a:gdLst>
              <a:gd name="connsiteX0" fmla="*/ 1340528 w 1355490"/>
              <a:gd name="connsiteY0" fmla="*/ 0 h 764817"/>
              <a:gd name="connsiteX1" fmla="*/ 1349405 w 1355490"/>
              <a:gd name="connsiteY1" fmla="*/ 399495 h 764817"/>
              <a:gd name="connsiteX2" fmla="*/ 1260629 w 1355490"/>
              <a:gd name="connsiteY2" fmla="*/ 630314 h 764817"/>
              <a:gd name="connsiteX3" fmla="*/ 905522 w 1355490"/>
              <a:gd name="connsiteY3" fmla="*/ 745724 h 764817"/>
              <a:gd name="connsiteX4" fmla="*/ 0 w 1355490"/>
              <a:gd name="connsiteY4" fmla="*/ 763479 h 76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5490" h="764817">
                <a:moveTo>
                  <a:pt x="1340528" y="0"/>
                </a:moveTo>
                <a:cubicBezTo>
                  <a:pt x="1351624" y="147221"/>
                  <a:pt x="1362721" y="294443"/>
                  <a:pt x="1349405" y="399495"/>
                </a:cubicBezTo>
                <a:cubicBezTo>
                  <a:pt x="1336089" y="504547"/>
                  <a:pt x="1334609" y="572609"/>
                  <a:pt x="1260629" y="630314"/>
                </a:cubicBezTo>
                <a:cubicBezTo>
                  <a:pt x="1186648" y="688019"/>
                  <a:pt x="1115627" y="723530"/>
                  <a:pt x="905522" y="745724"/>
                </a:cubicBezTo>
                <a:cubicBezTo>
                  <a:pt x="695417" y="767918"/>
                  <a:pt x="347708" y="765698"/>
                  <a:pt x="0" y="763479"/>
                </a:cubicBezTo>
              </a:path>
            </a:pathLst>
          </a:cu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355DC400-9872-4375-B908-CB60A771939F}"/>
              </a:ext>
            </a:extLst>
          </p:cNvPr>
          <p:cNvSpPr/>
          <p:nvPr/>
        </p:nvSpPr>
        <p:spPr bwMode="auto">
          <a:xfrm>
            <a:off x="3851920" y="5661248"/>
            <a:ext cx="936098" cy="216024"/>
          </a:xfrm>
          <a:prstGeom prst="rightArrow">
            <a:avLst>
              <a:gd name="adj1" fmla="val 50000"/>
              <a:gd name="adj2" fmla="val 10917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7C11BD2A-FDA9-42B2-9AEC-426440055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23FD957-9E7E-4C81-992F-5342D290C218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 dirty="0">
                <a:solidFill>
                  <a:srgbClr val="FF00FF"/>
                </a:solidFill>
              </a:rPr>
              <a:t>/29</a:t>
            </a:r>
          </a:p>
        </p:txBody>
      </p:sp>
    </p:spTree>
    <p:extLst>
      <p:ext uri="{BB962C8B-B14F-4D97-AF65-F5344CB8AC3E}">
        <p14:creationId xmlns:p14="http://schemas.microsoft.com/office/powerpoint/2010/main" val="142048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8" grpId="0"/>
      <p:bldP spid="10" grpId="0"/>
      <p:bldP spid="12" grpId="0"/>
      <p:bldP spid="13" grpId="0"/>
      <p:bldP spid="14" grpId="0"/>
      <p:bldP spid="15" grpId="0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D2D574-3866-4D9A-960B-A476B70FA2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0"/>
            <a:ext cx="8280400" cy="2852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>
                <a:solidFill>
                  <a:srgbClr val="FFC000"/>
                </a:solidFill>
                <a:latin typeface="楷体" panose="02010609060101010101" pitchFamily="49" charset="-122"/>
                <a:ea typeface="楷体_GB2312" pitchFamily="49" charset="-122"/>
              </a:rPr>
              <a:t>需要我们注意的是：</a:t>
            </a:r>
            <a:br>
              <a:rPr lang="en-US" altLang="zh-CN" sz="2200" b="1">
                <a:solidFill>
                  <a:srgbClr val="FFC000"/>
                </a:solidFill>
                <a:latin typeface="楷体" panose="02010609060101010101" pitchFamily="49" charset="-122"/>
                <a:ea typeface="楷体_GB2312" pitchFamily="49" charset="-122"/>
              </a:rPr>
            </a:br>
            <a:r>
              <a:rPr lang="en-US" altLang="zh-CN" sz="2200" b="1">
                <a:solidFill>
                  <a:srgbClr val="FFFF00"/>
                </a:solidFill>
                <a:latin typeface="楷体" panose="02010609060101010101" pitchFamily="49" charset="-122"/>
                <a:ea typeface="楷体_GB2312" pitchFamily="49" charset="-122"/>
              </a:rPr>
              <a:t>    1.</a:t>
            </a:r>
            <a:r>
              <a:rPr lang="zh-CN" altLang="en-US" sz="2200" b="1">
                <a:solidFill>
                  <a:srgbClr val="FFFF00"/>
                </a:solidFill>
                <a:latin typeface="楷体" panose="02010609060101010101" pitchFamily="49" charset="-122"/>
                <a:ea typeface="楷体_GB2312" pitchFamily="49" charset="-122"/>
              </a:rPr>
              <a:t>在经典力学中，只要知道初始条件，就可以求解出方程，即可给出粒子在任何时刻的位置与动量。这就是经典物理中的“决定性观念”、或“严格的因果率”；它们在宏观世界中，已经取得了巨大的成功。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D7BBC4-2B4A-4B68-BBEE-2B1B3BFBC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786063"/>
            <a:ext cx="8280400" cy="261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FFC000"/>
                </a:solidFill>
                <a:latin typeface="楷体" panose="02010609060101010101" pitchFamily="49" charset="-122"/>
              </a:rPr>
              <a:t>    </a:t>
            </a:r>
            <a:r>
              <a:rPr lang="en-US" altLang="zh-CN" sz="2200" dirty="0">
                <a:solidFill>
                  <a:schemeClr val="bg1"/>
                </a:solidFill>
                <a:latin typeface="楷体" panose="02010609060101010101" pitchFamily="49" charset="-122"/>
              </a:rPr>
              <a:t>2.</a:t>
            </a:r>
            <a:r>
              <a:rPr lang="zh-CN" altLang="en-US" sz="2200" dirty="0">
                <a:solidFill>
                  <a:schemeClr val="bg1"/>
                </a:solidFill>
                <a:latin typeface="楷体" panose="02010609060101010101" pitchFamily="49" charset="-122"/>
              </a:rPr>
              <a:t>当由宏观世界转向微观世界时，经典物理学家很自然地把熟悉的一套成功方法搬过来，希望经过观察能够精密地确定某一微观粒子。但海森堡的观点与此截然不同：对于微观粒子，我们不能同时确定物体的位置与动量，即不能比海森堡不确定关系所允许的更准确。</a:t>
            </a:r>
            <a:endParaRPr lang="zh-CN" altLang="en-US" sz="2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E33818-81FE-4D4E-AA6A-1C8AE8EB5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357813"/>
            <a:ext cx="8207375" cy="104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200" dirty="0">
                <a:solidFill>
                  <a:srgbClr val="FF0000"/>
                </a:solidFill>
                <a:latin typeface="楷体" panose="02010609060101010101" pitchFamily="49" charset="-122"/>
              </a:rPr>
              <a:t>    </a:t>
            </a:r>
            <a:r>
              <a:rPr lang="en-US" altLang="zh-CN" sz="2200" dirty="0">
                <a:solidFill>
                  <a:srgbClr val="FF6600"/>
                </a:solidFill>
                <a:latin typeface="楷体" panose="02010609060101010101" pitchFamily="49" charset="-122"/>
              </a:rPr>
              <a:t>3.</a:t>
            </a:r>
            <a:r>
              <a:rPr lang="zh-CN" altLang="en-US" sz="2200" dirty="0">
                <a:solidFill>
                  <a:srgbClr val="FF6600"/>
                </a:solidFill>
                <a:latin typeface="楷体" panose="02010609060101010101" pitchFamily="49" charset="-122"/>
              </a:rPr>
              <a:t>因此，我们只能预言这些微观粒子的可能行为。海森堡认为，概率性观点在量子物理学中是基本观点，决定论必须放弃</a:t>
            </a:r>
            <a:r>
              <a:rPr lang="zh-CN" altLang="en-US" sz="2200" dirty="0">
                <a:solidFill>
                  <a:srgbClr val="FF6600"/>
                </a:solidFill>
              </a:rPr>
              <a:t>。</a:t>
            </a:r>
          </a:p>
        </p:txBody>
      </p:sp>
      <p:sp>
        <p:nvSpPr>
          <p:cNvPr id="13317" name="灯片编号占位符 1">
            <a:extLst>
              <a:ext uri="{FF2B5EF4-FFF2-40B4-BE49-F238E27FC236}">
                <a16:creationId xmlns:a16="http://schemas.microsoft.com/office/drawing/2014/main" id="{D26B08D6-4316-4C90-8518-6D49EBB5E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7C394E8-8C3D-4395-9722-31A183D6010E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70D5C54F-570D-4044-8BB2-40A7AF331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357188"/>
            <a:ext cx="6929437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+mj-ea"/>
                <a:ea typeface="+mj-ea"/>
              </a:rPr>
              <a:t>根据不确定关系估算氢原子可能具有的最低能量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B61E390-0F6B-4502-AA5A-FB9956B33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857250"/>
            <a:ext cx="4171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电子束缚在半径为 </a:t>
            </a:r>
            <a:r>
              <a:rPr lang="en-US" altLang="zh-CN" sz="3200" b="0" i="1">
                <a:solidFill>
                  <a:srgbClr val="FFFF00"/>
                </a:solidFill>
              </a:rPr>
              <a:t>r</a:t>
            </a:r>
            <a:r>
              <a:rPr lang="en-US" altLang="zh-CN" sz="2800" b="0">
                <a:solidFill>
                  <a:srgbClr val="FFFF00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的球内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4562137C-410D-4756-9F12-0E24E825DF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0625" y="928688"/>
          <a:ext cx="11080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56" r:id="rId3" imgW="10616760" imgH="3981240" progId="Equation.3">
                  <p:embed/>
                </p:oleObj>
              </mc:Choice>
              <mc:Fallback>
                <p:oleObj r:id="rId3" imgW="10616760" imgH="3981240" progId="Equation.3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4562137C-410D-4756-9F12-0E24E825DF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928688"/>
                        <a:ext cx="11080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17FD164C-E6C0-459E-AFC9-726917BDDE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8400" y="1500188"/>
          <a:ext cx="20224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57" r:id="rId5" imgW="20357280" imgH="4551120" progId="Equation.3">
                  <p:embed/>
                </p:oleObj>
              </mc:Choice>
              <mc:Fallback>
                <p:oleObj r:id="rId5" imgW="20357280" imgH="4551120" progId="Equation.3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17FD164C-E6C0-459E-AFC9-726917BDDE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400" y="1500188"/>
                        <a:ext cx="202247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>
            <a:extLst>
              <a:ext uri="{FF2B5EF4-FFF2-40B4-BE49-F238E27FC236}">
                <a16:creationId xmlns:a16="http://schemas.microsoft.com/office/drawing/2014/main" id="{624ACBE3-9298-4EFE-8CDD-E269B33C6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1546225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按不确定关系</a:t>
            </a: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B730D425-DE8D-48D4-BE13-2D93A2E519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1513" y="1546225"/>
          <a:ext cx="14319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58" r:id="rId7" imgW="14454000" imgH="4551120" progId="Equation.3">
                  <p:embed/>
                </p:oleObj>
              </mc:Choice>
              <mc:Fallback>
                <p:oleObj r:id="rId7" imgW="14454000" imgH="4551120" progId="Equation.3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B730D425-DE8D-48D4-BE13-2D93A2E519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513" y="1546225"/>
                        <a:ext cx="143192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60A51CBE-EA3F-42DB-A3D4-6EF7BC384E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0938" y="2743200"/>
          <a:ext cx="22066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59" r:id="rId9" imgW="26260920" imgH="10251000" progId="Equation.3">
                  <p:embed/>
                </p:oleObj>
              </mc:Choice>
              <mc:Fallback>
                <p:oleObj r:id="rId9" imgW="26260920" imgH="10251000" progId="Equation.3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60A51CBE-EA3F-42DB-A3D4-6EF7BC384E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2743200"/>
                        <a:ext cx="220662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9">
            <a:extLst>
              <a:ext uri="{FF2B5EF4-FFF2-40B4-BE49-F238E27FC236}">
                <a16:creationId xmlns:a16="http://schemas.microsoft.com/office/drawing/2014/main" id="{666B5A9C-5474-405B-B4BC-E6F622806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2147888"/>
            <a:ext cx="688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当不计核的运动，氢原子的能量就是电子的能量：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CFCBF94A-C44A-40F8-910E-D890E0365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7288" y="2924175"/>
            <a:ext cx="17319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代入上式，</a:t>
            </a:r>
          </a:p>
        </p:txBody>
      </p:sp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1AEFAA7B-8669-4D17-8DD8-7DD1B3BCFA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0688" y="2743200"/>
          <a:ext cx="247967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60" r:id="rId11" imgW="29507760" imgH="10251000" progId="Equation.3">
                  <p:embed/>
                </p:oleObj>
              </mc:Choice>
              <mc:Fallback>
                <p:oleObj r:id="rId11" imgW="29507760" imgH="10251000" progId="Equation.3">
                  <p:embed/>
                  <p:pic>
                    <p:nvPicPr>
                      <p:cNvPr id="13" name="Object 6">
                        <a:extLst>
                          <a:ext uri="{FF2B5EF4-FFF2-40B4-BE49-F238E27FC236}">
                            <a16:creationId xmlns:a16="http://schemas.microsoft.com/office/drawing/2014/main" id="{1AEFAA7B-8669-4D17-8DD8-7DD1B3BCFA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2743200"/>
                        <a:ext cx="247967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3">
            <a:extLst>
              <a:ext uri="{FF2B5EF4-FFF2-40B4-BE49-F238E27FC236}">
                <a16:creationId xmlns:a16="http://schemas.microsoft.com/office/drawing/2014/main" id="{D476D84F-F56A-4DF1-A0B2-66E0C5114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3929063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基态能应满足：</a:t>
            </a:r>
          </a:p>
        </p:txBody>
      </p:sp>
      <p:graphicFrame>
        <p:nvGraphicFramePr>
          <p:cNvPr id="16" name="Object 8">
            <a:extLst>
              <a:ext uri="{FF2B5EF4-FFF2-40B4-BE49-F238E27FC236}">
                <a16:creationId xmlns:a16="http://schemas.microsoft.com/office/drawing/2014/main" id="{C2F4907D-C28E-4BF7-BE75-0B6104E52A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6313" y="3714750"/>
          <a:ext cx="257968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61" r:id="rId13" imgW="30688200" imgH="10251000" progId="Equation.3">
                  <p:embed/>
                </p:oleObj>
              </mc:Choice>
              <mc:Fallback>
                <p:oleObj r:id="rId13" imgW="30688200" imgH="10251000" progId="Equation.3">
                  <p:embed/>
                  <p:pic>
                    <p:nvPicPr>
                      <p:cNvPr id="16" name="Object 8">
                        <a:extLst>
                          <a:ext uri="{FF2B5EF4-FFF2-40B4-BE49-F238E27FC236}">
                            <a16:creationId xmlns:a16="http://schemas.microsoft.com/office/drawing/2014/main" id="{C2F4907D-C28E-4BF7-BE75-0B6104E52A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3" y="3714750"/>
                        <a:ext cx="257968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33" name="Object 9">
            <a:extLst>
              <a:ext uri="{FF2B5EF4-FFF2-40B4-BE49-F238E27FC236}">
                <a16:creationId xmlns:a16="http://schemas.microsoft.com/office/drawing/2014/main" id="{C52B287A-DFBF-436D-8A8C-4D4867081C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3713" y="4714875"/>
          <a:ext cx="33401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62" r:id="rId15" imgW="39543480" imgH="10251000" progId="Equation.3">
                  <p:embed/>
                </p:oleObj>
              </mc:Choice>
              <mc:Fallback>
                <p:oleObj r:id="rId15" imgW="39543480" imgH="10251000" progId="Equation.3">
                  <p:embed/>
                  <p:pic>
                    <p:nvPicPr>
                      <p:cNvPr id="129033" name="Object 9">
                        <a:extLst>
                          <a:ext uri="{FF2B5EF4-FFF2-40B4-BE49-F238E27FC236}">
                            <a16:creationId xmlns:a16="http://schemas.microsoft.com/office/drawing/2014/main" id="{C52B287A-DFBF-436D-8A8C-4D4867081C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3713" y="4714875"/>
                        <a:ext cx="3340100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任意多边形 17">
            <a:extLst>
              <a:ext uri="{FF2B5EF4-FFF2-40B4-BE49-F238E27FC236}">
                <a16:creationId xmlns:a16="http://schemas.microsoft.com/office/drawing/2014/main" id="{A562DFCC-FFDA-4F7B-B927-D000C1128E77}"/>
              </a:ext>
            </a:extLst>
          </p:cNvPr>
          <p:cNvSpPr>
            <a:spLocks/>
          </p:cNvSpPr>
          <p:nvPr/>
        </p:nvSpPr>
        <p:spPr bwMode="auto">
          <a:xfrm>
            <a:off x="7429500" y="4144963"/>
            <a:ext cx="509588" cy="927100"/>
          </a:xfrm>
          <a:custGeom>
            <a:avLst/>
            <a:gdLst>
              <a:gd name="T0" fmla="*/ 0 w 509516"/>
              <a:gd name="T1" fmla="*/ 0 h 996287"/>
              <a:gd name="T2" fmla="*/ 423980 w 509516"/>
              <a:gd name="T3" fmla="*/ 99247 h 996287"/>
              <a:gd name="T4" fmla="*/ 478691 w 509516"/>
              <a:gd name="T5" fmla="*/ 250272 h 996287"/>
              <a:gd name="T6" fmla="*/ 232507 w 509516"/>
              <a:gd name="T7" fmla="*/ 314998 h 996287"/>
              <a:gd name="T8" fmla="*/ 0 60000 65536"/>
              <a:gd name="T9" fmla="*/ 0 60000 65536"/>
              <a:gd name="T10" fmla="*/ 0 60000 65536"/>
              <a:gd name="T11" fmla="*/ 0 60000 65536"/>
              <a:gd name="T12" fmla="*/ 0 w 509516"/>
              <a:gd name="T13" fmla="*/ 0 h 996287"/>
              <a:gd name="T14" fmla="*/ 509516 w 509516"/>
              <a:gd name="T15" fmla="*/ 996287 h 99628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9516" h="996287">
                <a:moveTo>
                  <a:pt x="0" y="0"/>
                </a:moveTo>
                <a:cubicBezTo>
                  <a:pt x="171734" y="90985"/>
                  <a:pt x="343468" y="181971"/>
                  <a:pt x="423080" y="313899"/>
                </a:cubicBezTo>
                <a:cubicBezTo>
                  <a:pt x="502692" y="445827"/>
                  <a:pt x="509516" y="677839"/>
                  <a:pt x="477671" y="791570"/>
                </a:cubicBezTo>
                <a:cubicBezTo>
                  <a:pt x="445826" y="905301"/>
                  <a:pt x="338919" y="950794"/>
                  <a:pt x="232012" y="996287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9034" name="Object 10">
            <a:extLst>
              <a:ext uri="{FF2B5EF4-FFF2-40B4-BE49-F238E27FC236}">
                <a16:creationId xmlns:a16="http://schemas.microsoft.com/office/drawing/2014/main" id="{20E63CF8-6346-4D78-9FBB-AEDC0DF279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3375" y="5743575"/>
          <a:ext cx="32861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63" r:id="rId17" imgW="40133520" imgH="10536120" progId="Equation.3">
                  <p:embed/>
                </p:oleObj>
              </mc:Choice>
              <mc:Fallback>
                <p:oleObj r:id="rId17" imgW="40133520" imgH="10536120" progId="Equation.3">
                  <p:embed/>
                  <p:pic>
                    <p:nvPicPr>
                      <p:cNvPr id="129034" name="Object 10">
                        <a:extLst>
                          <a:ext uri="{FF2B5EF4-FFF2-40B4-BE49-F238E27FC236}">
                            <a16:creationId xmlns:a16="http://schemas.microsoft.com/office/drawing/2014/main" id="{20E63CF8-6346-4D78-9FBB-AEDC0DF279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5743575"/>
                        <a:ext cx="328612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6">
            <a:extLst>
              <a:ext uri="{FF2B5EF4-FFF2-40B4-BE49-F238E27FC236}">
                <a16:creationId xmlns:a16="http://schemas.microsoft.com/office/drawing/2014/main" id="{E882661D-2FCC-4561-8C67-25543B397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4895850"/>
            <a:ext cx="2659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基态氢原子半径：</a:t>
            </a:r>
          </a:p>
        </p:txBody>
      </p:sp>
      <p:sp>
        <p:nvSpPr>
          <p:cNvPr id="21" name="任意多边形 20">
            <a:extLst>
              <a:ext uri="{FF2B5EF4-FFF2-40B4-BE49-F238E27FC236}">
                <a16:creationId xmlns:a16="http://schemas.microsoft.com/office/drawing/2014/main" id="{9FF80D39-92BC-4E76-AB47-6E80292B8423}"/>
              </a:ext>
            </a:extLst>
          </p:cNvPr>
          <p:cNvSpPr>
            <a:spLocks/>
          </p:cNvSpPr>
          <p:nvPr/>
        </p:nvSpPr>
        <p:spPr bwMode="auto">
          <a:xfrm>
            <a:off x="7348538" y="5299075"/>
            <a:ext cx="509587" cy="855663"/>
          </a:xfrm>
          <a:custGeom>
            <a:avLst/>
            <a:gdLst>
              <a:gd name="T0" fmla="*/ 0 w 509516"/>
              <a:gd name="T1" fmla="*/ 0 h 996287"/>
              <a:gd name="T2" fmla="*/ 423965 w 509516"/>
              <a:gd name="T3" fmla="*/ 27512 h 996287"/>
              <a:gd name="T4" fmla="*/ 478676 w 509516"/>
              <a:gd name="T5" fmla="*/ 69381 h 996287"/>
              <a:gd name="T6" fmla="*/ 232492 w 509516"/>
              <a:gd name="T7" fmla="*/ 87324 h 996287"/>
              <a:gd name="T8" fmla="*/ 0 60000 65536"/>
              <a:gd name="T9" fmla="*/ 0 60000 65536"/>
              <a:gd name="T10" fmla="*/ 0 60000 65536"/>
              <a:gd name="T11" fmla="*/ 0 60000 65536"/>
              <a:gd name="T12" fmla="*/ 0 w 509516"/>
              <a:gd name="T13" fmla="*/ 0 h 996287"/>
              <a:gd name="T14" fmla="*/ 509516 w 509516"/>
              <a:gd name="T15" fmla="*/ 996287 h 99628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9516" h="996287">
                <a:moveTo>
                  <a:pt x="0" y="0"/>
                </a:moveTo>
                <a:cubicBezTo>
                  <a:pt x="171734" y="90985"/>
                  <a:pt x="343468" y="181971"/>
                  <a:pt x="423080" y="313899"/>
                </a:cubicBezTo>
                <a:cubicBezTo>
                  <a:pt x="502692" y="445827"/>
                  <a:pt x="509516" y="677839"/>
                  <a:pt x="477671" y="791570"/>
                </a:cubicBezTo>
                <a:cubicBezTo>
                  <a:pt x="445826" y="905301"/>
                  <a:pt x="338919" y="950794"/>
                  <a:pt x="232012" y="996287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1B85F78E-0FB3-49DF-92EB-DC17C94B1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5913438"/>
            <a:ext cx="292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基态氢原子的能量：</a:t>
            </a:r>
          </a:p>
        </p:txBody>
      </p:sp>
      <p:sp>
        <p:nvSpPr>
          <p:cNvPr id="14356" name="灯片编号占位符 1">
            <a:extLst>
              <a:ext uri="{FF2B5EF4-FFF2-40B4-BE49-F238E27FC236}">
                <a16:creationId xmlns:a16="http://schemas.microsoft.com/office/drawing/2014/main" id="{5F5AC361-85BA-480D-A92F-C836EF3FF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969CEEF-5B0C-45FC-859D-738C52884048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  <p:graphicFrame>
        <p:nvGraphicFramePr>
          <p:cNvPr id="2" name="Object 7">
            <a:extLst>
              <a:ext uri="{FF2B5EF4-FFF2-40B4-BE49-F238E27FC236}">
                <a16:creationId xmlns:a16="http://schemas.microsoft.com/office/drawing/2014/main" id="{762CF506-D107-4035-9F8D-CCB598986A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6125" y="3786188"/>
          <a:ext cx="100806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64" r:id="rId19" imgW="482391" imgH="393529" progId="Equation.3">
                  <p:embed/>
                </p:oleObj>
              </mc:Choice>
              <mc:Fallback>
                <p:oleObj r:id="rId19" imgW="482391" imgH="393529" progId="Equation.3">
                  <p:embed/>
                  <p:pic>
                    <p:nvPicPr>
                      <p:cNvPr id="2" name="Object 7">
                        <a:extLst>
                          <a:ext uri="{FF2B5EF4-FFF2-40B4-BE49-F238E27FC236}">
                            <a16:creationId xmlns:a16="http://schemas.microsoft.com/office/drawing/2014/main" id="{762CF506-D107-4035-9F8D-CCB598986A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3786188"/>
                        <a:ext cx="1008063" cy="7556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11" grpId="0"/>
      <p:bldP spid="12" grpId="0"/>
      <p:bldP spid="14" grpId="0"/>
      <p:bldP spid="20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D4F4DA7-BC0F-41A7-956C-3C8502C1C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319088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00FF00"/>
                </a:solidFill>
              </a:rPr>
              <a:t>§16.6  </a:t>
            </a:r>
            <a:r>
              <a:rPr lang="zh-CN" altLang="en-US" sz="3200">
                <a:solidFill>
                  <a:srgbClr val="00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波函数  一维定态薛定谔方程</a:t>
            </a:r>
            <a:r>
              <a:rPr lang="zh-CN" altLang="en-US" sz="3200">
                <a:solidFill>
                  <a:srgbClr val="00FF00"/>
                </a:solidFill>
              </a:rPr>
              <a:t> </a:t>
            </a:r>
          </a:p>
        </p:txBody>
      </p:sp>
      <p:sp>
        <p:nvSpPr>
          <p:cNvPr id="86019" name="Text Box 3">
            <a:extLst>
              <a:ext uri="{FF2B5EF4-FFF2-40B4-BE49-F238E27FC236}">
                <a16:creationId xmlns:a16="http://schemas.microsoft.com/office/drawing/2014/main" id="{CC3A1FC9-2F6F-4EBA-BEF0-8AC2E96BD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928688"/>
            <a:ext cx="72564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3200">
                <a:solidFill>
                  <a:srgbClr val="FFFF00"/>
                </a:solidFill>
                <a:ea typeface="楷体_GB2312" pitchFamily="49" charset="-122"/>
              </a:rPr>
              <a:t>薛定谔 </a:t>
            </a:r>
            <a:r>
              <a:rPr lang="en-US" altLang="zh-CN" sz="3200">
                <a:solidFill>
                  <a:srgbClr val="FFFF00"/>
                </a:solidFill>
                <a:ea typeface="楷体_GB2312" pitchFamily="49" charset="-122"/>
              </a:rPr>
              <a:t>(Erwin Schrödinger, 1887–1961)</a:t>
            </a:r>
            <a:r>
              <a:rPr lang="en-US" altLang="zh-CN" sz="3600">
                <a:solidFill>
                  <a:srgbClr val="FFFF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86020" name="Line 4">
            <a:extLst>
              <a:ext uri="{FF2B5EF4-FFF2-40B4-BE49-F238E27FC236}">
                <a16:creationId xmlns:a16="http://schemas.microsoft.com/office/drawing/2014/main" id="{D7F00842-4470-4EAA-A5A2-061E5C0AF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8" y="1628775"/>
            <a:ext cx="8820150" cy="11113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86021" name="Picture 5">
            <a:extLst>
              <a:ext uri="{FF2B5EF4-FFF2-40B4-BE49-F238E27FC236}">
                <a16:creationId xmlns:a16="http://schemas.microsoft.com/office/drawing/2014/main" id="{6466EEC9-D807-4DE5-B6DC-BA0D86C34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928813"/>
            <a:ext cx="187325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2" name="Text Box 6">
            <a:extLst>
              <a:ext uri="{FF2B5EF4-FFF2-40B4-BE49-F238E27FC236}">
                <a16:creationId xmlns:a16="http://schemas.microsoft.com/office/drawing/2014/main" id="{D50CF095-AE1A-43AD-B33A-F20C8BD7C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75" y="1714500"/>
            <a:ext cx="6408738" cy="496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latin typeface="STZhongsong" panose="02010600040101010101" pitchFamily="2" charset="-122"/>
                <a:ea typeface="STZhongsong" panose="02010600040101010101" pitchFamily="2" charset="-122"/>
              </a:rPr>
              <a:t>　　</a:t>
            </a:r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薛定谔在德布罗意思想的基础上，</a:t>
            </a:r>
            <a:r>
              <a:rPr lang="en-US" altLang="zh-CN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1926</a:t>
            </a:r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年在</a:t>
            </a:r>
            <a:r>
              <a:rPr lang="en-US" altLang="zh-CN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《</a:t>
            </a:r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量子化就是本征值问题</a:t>
            </a:r>
            <a:r>
              <a:rPr lang="en-US" altLang="zh-CN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》</a:t>
            </a:r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的论文中，提出氢原子中电子所遵循的波动方程</a:t>
            </a:r>
            <a:r>
              <a:rPr lang="en-US" altLang="zh-CN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(</a:t>
            </a:r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薛定谔方程</a:t>
            </a:r>
            <a:r>
              <a:rPr lang="en-US" altLang="zh-CN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)</a:t>
            </a:r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，并建立了以此为基础的</a:t>
            </a:r>
            <a:r>
              <a:rPr lang="zh-CN" altLang="en-US">
                <a:solidFill>
                  <a:srgbClr val="FFFF00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波动力学</a:t>
            </a:r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和量子力学的近似方法。薛定谔方程在量子力学中占有极其重要的地位，它与经典力学中的牛顿运动定律的价值相似。薛定谔对原子理论的发展贡献卓著，</a:t>
            </a:r>
            <a:r>
              <a:rPr lang="en-US" altLang="zh-CN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1933</a:t>
            </a:r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年与英国物理学家狄拉克同获诺贝尔物理奖。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       薛定谔还是现代分子生物学的奠基人，</a:t>
            </a:r>
            <a:r>
              <a:rPr lang="en-US" altLang="zh-CN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1944</a:t>
            </a:r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年，他发表一本名为</a:t>
            </a:r>
            <a:r>
              <a:rPr lang="en-US" altLang="zh-CN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《</a:t>
            </a:r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什么是生命 </a:t>
            </a:r>
            <a:r>
              <a:rPr lang="en-US" altLang="zh-CN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——</a:t>
            </a:r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活细胞的物理面貌</a:t>
            </a:r>
            <a:r>
              <a:rPr lang="en-US" altLang="zh-CN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》</a:t>
            </a:r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的书，从能量、遗传和信息方面来探讨生命的奥秘。</a:t>
            </a:r>
          </a:p>
        </p:txBody>
      </p:sp>
      <p:sp>
        <p:nvSpPr>
          <p:cNvPr id="86023" name="Text Box 7">
            <a:extLst>
              <a:ext uri="{FF2B5EF4-FFF2-40B4-BE49-F238E27FC236}">
                <a16:creationId xmlns:a16="http://schemas.microsoft.com/office/drawing/2014/main" id="{9145FA59-917E-49F1-954D-B081A4D99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4321175"/>
            <a:ext cx="22320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奥地利著名的理论物理学家</a:t>
            </a:r>
          </a:p>
        </p:txBody>
      </p:sp>
      <p:sp>
        <p:nvSpPr>
          <p:cNvPr id="15368" name="灯片编号占位符 1">
            <a:extLst>
              <a:ext uri="{FF2B5EF4-FFF2-40B4-BE49-F238E27FC236}">
                <a16:creationId xmlns:a16="http://schemas.microsoft.com/office/drawing/2014/main" id="{52E652F7-351C-4ADF-A69D-41B9F98C696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3C28477-BEFB-40AC-9E69-62F4C445C673}" type="slidenum">
              <a:rPr lang="en-US" altLang="zh-CN" b="0">
                <a:solidFill>
                  <a:srgbClr val="FF00FF"/>
                </a:solidFill>
              </a:rPr>
              <a:pPr eaLnBrk="1" hangingPunct="1"/>
              <a:t>17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autoUpdateAnimBg="0"/>
      <p:bldP spid="86022" grpId="0" autoUpdateAnimBg="0"/>
      <p:bldP spid="8602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76" name="Text Box 12">
            <a:extLst>
              <a:ext uri="{FF2B5EF4-FFF2-40B4-BE49-F238E27FC236}">
                <a16:creationId xmlns:a16="http://schemas.microsoft.com/office/drawing/2014/main" id="{55ED4ACE-B46C-4E90-9D26-929E2EF22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916113"/>
            <a:ext cx="8215312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                               频率为</a:t>
            </a:r>
            <a:r>
              <a:rPr lang="en-US" altLang="zh-CN">
                <a:solidFill>
                  <a:schemeClr val="hlink"/>
                </a:solidFill>
                <a:latin typeface="Symbol" panose="05050102010706020507" pitchFamily="18" charset="2"/>
              </a:rPr>
              <a:t>n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</a:rPr>
              <a:t>，</a:t>
            </a: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波长为</a:t>
            </a:r>
            <a:r>
              <a:rPr lang="en-US" altLang="zh-CN">
                <a:solidFill>
                  <a:schemeClr val="hlink"/>
                </a:solidFill>
                <a:latin typeface="Symbol" panose="05050102010706020507" pitchFamily="18" charset="2"/>
              </a:rPr>
              <a:t>l </a:t>
            </a:r>
            <a:r>
              <a:rPr lang="zh-CN" altLang="en-US">
                <a:solidFill>
                  <a:schemeClr val="hlink"/>
                </a:solidFill>
              </a:rPr>
              <a:t>、</a:t>
            </a: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沿</a:t>
            </a:r>
            <a:r>
              <a:rPr lang="en-US" altLang="zh-CN" i="1">
                <a:solidFill>
                  <a:schemeClr val="hlink"/>
                </a:solidFill>
              </a:rPr>
              <a:t>x</a:t>
            </a: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方向传播的单色平面波的波函数：</a:t>
            </a:r>
          </a:p>
        </p:txBody>
      </p:sp>
      <p:sp>
        <p:nvSpPr>
          <p:cNvPr id="88066" name="AutoShape 2">
            <a:extLst>
              <a:ext uri="{FF2B5EF4-FFF2-40B4-BE49-F238E27FC236}">
                <a16:creationId xmlns:a16="http://schemas.microsoft.com/office/drawing/2014/main" id="{F11AD15F-7CA0-4685-B184-4FAD6D34E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785813"/>
            <a:ext cx="2057400" cy="1066800"/>
          </a:xfrm>
          <a:prstGeom prst="bevel">
            <a:avLst>
              <a:gd name="adj" fmla="val 0"/>
            </a:avLst>
          </a:prstGeom>
          <a:gradFill rotWithShape="1">
            <a:gsLst>
              <a:gs pos="0">
                <a:srgbClr val="002F2F"/>
              </a:gs>
              <a:gs pos="100000">
                <a:srgbClr val="006666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BF096DAA-4AF6-483B-ABBB-45FC6D660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19526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一</a:t>
            </a:r>
            <a:r>
              <a:rPr lang="en-US" altLang="zh-CN" sz="2800">
                <a:solidFill>
                  <a:srgbClr val="FFFF00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波函数及其统计解释</a:t>
            </a:r>
            <a:r>
              <a:rPr lang="zh-CN" altLang="en-US" sz="2800">
                <a:solidFill>
                  <a:srgbClr val="FFFF9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 </a:t>
            </a:r>
          </a:p>
        </p:txBody>
      </p:sp>
      <p:sp>
        <p:nvSpPr>
          <p:cNvPr id="88068" name="Rectangle 4">
            <a:extLst>
              <a:ext uri="{FF2B5EF4-FFF2-40B4-BE49-F238E27FC236}">
                <a16:creationId xmlns:a16="http://schemas.microsoft.com/office/drawing/2014/main" id="{4BBB4969-E0A6-4320-B659-9E7388B3A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688" y="857250"/>
            <a:ext cx="1828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</a:pP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微观粒子</a:t>
            </a:r>
          </a:p>
          <a:p>
            <a:pPr algn="ctr" eaLnBrk="1" hangingPunct="1">
              <a:lnSpc>
                <a:spcPct val="125000"/>
              </a:lnSpc>
            </a:pP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具有波动性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0EACEB46-CF4E-401B-9A0A-7C8EDFE8FB91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788988"/>
            <a:ext cx="2971800" cy="1066800"/>
            <a:chOff x="3552" y="960"/>
            <a:chExt cx="1872" cy="672"/>
          </a:xfrm>
        </p:grpSpPr>
        <p:sp>
          <p:nvSpPr>
            <p:cNvPr id="17429" name="AutoShape 6">
              <a:extLst>
                <a:ext uri="{FF2B5EF4-FFF2-40B4-BE49-F238E27FC236}">
                  <a16:creationId xmlns:a16="http://schemas.microsoft.com/office/drawing/2014/main" id="{74AC61D7-83B6-4BC8-96B6-0873A793E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960"/>
              <a:ext cx="1872" cy="672"/>
            </a:xfrm>
            <a:prstGeom prst="bevel">
              <a:avLst>
                <a:gd name="adj" fmla="val 0"/>
              </a:avLst>
            </a:prstGeom>
            <a:gradFill rotWithShape="1">
              <a:gsLst>
                <a:gs pos="0">
                  <a:srgbClr val="002F2F"/>
                </a:gs>
                <a:gs pos="100000">
                  <a:srgbClr val="006666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0" name="Rectangle 7">
              <a:extLst>
                <a:ext uri="{FF2B5EF4-FFF2-40B4-BE49-F238E27FC236}">
                  <a16:creationId xmlns:a16="http://schemas.microsoft.com/office/drawing/2014/main" id="{0C593387-78D0-4773-972E-C85FA0AE6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" y="1012"/>
              <a:ext cx="178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5000"/>
                </a:lnSpc>
              </a:pPr>
              <a:r>
                <a:rPr lang="zh-CN" altLang="en-US">
                  <a:solidFill>
                    <a:schemeClr val="hlink"/>
                  </a:solidFill>
                  <a:ea typeface="STZhongsong" panose="02010600040101010101" pitchFamily="2" charset="-122"/>
                </a:rPr>
                <a:t>用物质波波函数描述</a:t>
              </a:r>
            </a:p>
            <a:p>
              <a:pPr algn="ctr" eaLnBrk="1" hangingPunct="1">
                <a:lnSpc>
                  <a:spcPct val="125000"/>
                </a:lnSpc>
              </a:pPr>
              <a:r>
                <a:rPr lang="zh-CN" altLang="en-US">
                  <a:solidFill>
                    <a:schemeClr val="hlink"/>
                  </a:solidFill>
                  <a:ea typeface="STZhongsong" panose="02010600040101010101" pitchFamily="2" charset="-122"/>
                </a:rPr>
                <a:t>微观粒子状态</a:t>
              </a: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6F298A9B-70BA-4564-88DB-9C48186830E4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863600"/>
            <a:ext cx="2514600" cy="698500"/>
            <a:chOff x="1680" y="712"/>
            <a:chExt cx="1680" cy="440"/>
          </a:xfrm>
        </p:grpSpPr>
        <p:sp>
          <p:nvSpPr>
            <p:cNvPr id="17427" name="Rectangle 9">
              <a:extLst>
                <a:ext uri="{FF2B5EF4-FFF2-40B4-BE49-F238E27FC236}">
                  <a16:creationId xmlns:a16="http://schemas.microsoft.com/office/drawing/2014/main" id="{8F15301E-7A03-4332-AFB9-5B0492D17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8" y="712"/>
              <a:ext cx="123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5000"/>
                </a:lnSpc>
              </a:pPr>
              <a:endParaRPr lang="zh-CN" altLang="en-US" sz="2000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endParaRPr>
            </a:p>
          </p:txBody>
        </p:sp>
        <p:sp>
          <p:nvSpPr>
            <p:cNvPr id="17428" name="AutoShape 10">
              <a:extLst>
                <a:ext uri="{FF2B5EF4-FFF2-40B4-BE49-F238E27FC236}">
                  <a16:creationId xmlns:a16="http://schemas.microsoft.com/office/drawing/2014/main" id="{D740A8C6-7F1A-4781-862B-69085647B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960"/>
              <a:ext cx="1680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69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8075" name="Text Box 11">
            <a:extLst>
              <a:ext uri="{FF2B5EF4-FFF2-40B4-BE49-F238E27FC236}">
                <a16:creationId xmlns:a16="http://schemas.microsoft.com/office/drawing/2014/main" id="{853CCA06-5BB5-4FA9-818C-9DA9E3E3A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966913"/>
            <a:ext cx="3435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经典平面简谐波</a:t>
            </a:r>
            <a:endParaRPr lang="zh-CN" altLang="en-US">
              <a:solidFill>
                <a:srgbClr val="00FFFF"/>
              </a:solidFill>
            </a:endParaRPr>
          </a:p>
        </p:txBody>
      </p:sp>
      <p:graphicFrame>
        <p:nvGraphicFramePr>
          <p:cNvPr id="88077" name="Object 13">
            <a:extLst>
              <a:ext uri="{FF2B5EF4-FFF2-40B4-BE49-F238E27FC236}">
                <a16:creationId xmlns:a16="http://schemas.microsoft.com/office/drawing/2014/main" id="{81809182-3120-49DF-8AE2-C35A9DD68B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6763" y="2500313"/>
          <a:ext cx="33083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56" name="公式" r:id="rId3" imgW="1628794" imgH="409643" progId="Equation.3">
                  <p:embed/>
                </p:oleObj>
              </mc:Choice>
              <mc:Fallback>
                <p:oleObj name="公式" r:id="rId3" imgW="1628794" imgH="409643" progId="Equation.3">
                  <p:embed/>
                  <p:pic>
                    <p:nvPicPr>
                      <p:cNvPr id="88077" name="Object 13">
                        <a:extLst>
                          <a:ext uri="{FF2B5EF4-FFF2-40B4-BE49-F238E27FC236}">
                            <a16:creationId xmlns:a16="http://schemas.microsoft.com/office/drawing/2014/main" id="{81809182-3120-49DF-8AE2-C35A9DD68B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763" y="2500313"/>
                        <a:ext cx="330835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8" name="Text Box 14">
            <a:extLst>
              <a:ext uri="{FF2B5EF4-FFF2-40B4-BE49-F238E27FC236}">
                <a16:creationId xmlns:a16="http://schemas.microsoft.com/office/drawing/2014/main" id="{5B368BB4-A47B-4CB2-B3EE-8E19C17E1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3900488"/>
            <a:ext cx="2141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复数形式</a:t>
            </a:r>
          </a:p>
        </p:txBody>
      </p:sp>
      <p:graphicFrame>
        <p:nvGraphicFramePr>
          <p:cNvPr id="88079" name="Object 15">
            <a:extLst>
              <a:ext uri="{FF2B5EF4-FFF2-40B4-BE49-F238E27FC236}">
                <a16:creationId xmlns:a16="http://schemas.microsoft.com/office/drawing/2014/main" id="{C54191AC-27EE-486A-87A4-A0B8568816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0850" y="3494088"/>
          <a:ext cx="31083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57" name="公式" r:id="rId5" imgW="1257224" imgH="333409" progId="Equation.3">
                  <p:embed/>
                </p:oleObj>
              </mc:Choice>
              <mc:Fallback>
                <p:oleObj name="公式" r:id="rId5" imgW="1257224" imgH="333409" progId="Equation.3">
                  <p:embed/>
                  <p:pic>
                    <p:nvPicPr>
                      <p:cNvPr id="88079" name="Object 15">
                        <a:extLst>
                          <a:ext uri="{FF2B5EF4-FFF2-40B4-BE49-F238E27FC236}">
                            <a16:creationId xmlns:a16="http://schemas.microsoft.com/office/drawing/2014/main" id="{C54191AC-27EE-486A-87A4-A0B8568816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850" y="3494088"/>
                        <a:ext cx="31083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4FBC2DF0-0A95-4223-96D0-5B2688A534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5675" y="5673725"/>
          <a:ext cx="5205413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58" name="公式" r:id="rId7" imgW="2162143" imgH="323918" progId="Equation.3">
                  <p:embed/>
                </p:oleObj>
              </mc:Choice>
              <mc:Fallback>
                <p:oleObj name="公式" r:id="rId7" imgW="2162143" imgH="323918" progId="Equation.3">
                  <p:embed/>
                  <p:pic>
                    <p:nvPicPr>
                      <p:cNvPr id="16" name="Object 16">
                        <a:extLst>
                          <a:ext uri="{FF2B5EF4-FFF2-40B4-BE49-F238E27FC236}">
                            <a16:creationId xmlns:a16="http://schemas.microsoft.com/office/drawing/2014/main" id="{4FBC2DF0-0A95-4223-96D0-5B2688A534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675" y="5673725"/>
                        <a:ext cx="5205413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4">
            <a:extLst>
              <a:ext uri="{FF2B5EF4-FFF2-40B4-BE49-F238E27FC236}">
                <a16:creationId xmlns:a16="http://schemas.microsoft.com/office/drawing/2014/main" id="{B69F0E5A-1041-4EAB-AA00-33A062BBA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429125"/>
            <a:ext cx="8177212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>
                <a:solidFill>
                  <a:srgbClr val="00FF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自由粒子的波函数：</a:t>
            </a:r>
            <a:r>
              <a:rPr lang="zh-CN" altLang="en-US" sz="2200">
                <a:solidFill>
                  <a:schemeClr val="hlink"/>
                </a:solidFill>
                <a:ea typeface="STZhongsong" panose="02010600040101010101" pitchFamily="2" charset="-122"/>
              </a:rPr>
              <a:t>沿</a:t>
            </a:r>
            <a:r>
              <a:rPr lang="zh-CN" altLang="en-US" sz="2200">
                <a:solidFill>
                  <a:schemeClr val="bg1"/>
                </a:solidFill>
              </a:rPr>
              <a:t> </a:t>
            </a:r>
            <a:r>
              <a:rPr lang="en-US" altLang="zh-CN" sz="2200" i="1">
                <a:solidFill>
                  <a:srgbClr val="FFFF00"/>
                </a:solidFill>
              </a:rPr>
              <a:t>x</a:t>
            </a:r>
            <a:r>
              <a:rPr lang="en-US" altLang="zh-CN" sz="2200" i="1">
                <a:solidFill>
                  <a:srgbClr val="00FFFF"/>
                </a:solidFill>
              </a:rPr>
              <a:t> </a:t>
            </a:r>
            <a:r>
              <a:rPr lang="zh-CN" altLang="en-US" sz="2200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轴正方向运动，能量 </a:t>
            </a:r>
            <a:r>
              <a:rPr lang="en-US" altLang="zh-CN" sz="2200" i="1">
                <a:solidFill>
                  <a:srgbClr val="FFFF00"/>
                </a:solidFill>
                <a:ea typeface="STZhongsong" panose="02010600040101010101" pitchFamily="2" charset="-122"/>
              </a:rPr>
              <a:t>E</a:t>
            </a:r>
            <a:r>
              <a:rPr lang="en-US" altLang="zh-CN" sz="2200" i="1">
                <a:solidFill>
                  <a:schemeClr val="hlink"/>
                </a:solidFill>
                <a:ea typeface="STZhongsong" panose="02010600040101010101" pitchFamily="2" charset="-122"/>
              </a:rPr>
              <a:t> </a:t>
            </a:r>
            <a:r>
              <a:rPr lang="zh-CN" altLang="en-US" sz="2200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和动量 </a:t>
            </a:r>
            <a:r>
              <a:rPr lang="en-US" altLang="zh-CN" sz="2200" i="1">
                <a:solidFill>
                  <a:srgbClr val="FFFF00"/>
                </a:solidFill>
              </a:rPr>
              <a:t>p</a:t>
            </a:r>
            <a:r>
              <a:rPr lang="en-US" altLang="zh-CN" sz="2200">
                <a:solidFill>
                  <a:schemeClr val="hlink"/>
                </a:solidFill>
              </a:rPr>
              <a:t> </a:t>
            </a:r>
            <a:r>
              <a:rPr lang="zh-CN" altLang="en-US" sz="2200">
                <a:solidFill>
                  <a:schemeClr val="hlink"/>
                </a:solidFill>
              </a:rPr>
              <a:t>的自由粒子。物质波</a:t>
            </a:r>
            <a:r>
              <a:rPr lang="en-US" altLang="zh-CN" sz="2200" i="1">
                <a:solidFill>
                  <a:srgbClr val="FFFF00"/>
                </a:solidFill>
              </a:rPr>
              <a:t>v</a:t>
            </a:r>
            <a:r>
              <a:rPr lang="zh-CN" altLang="en-US" sz="2200">
                <a:solidFill>
                  <a:schemeClr val="hlink"/>
                </a:solidFill>
              </a:rPr>
              <a:t>、</a:t>
            </a:r>
            <a:r>
              <a:rPr lang="zh-CN" altLang="en-US" sz="2200" i="1">
                <a:solidFill>
                  <a:srgbClr val="FFFF00"/>
                </a:solidFill>
                <a:sym typeface="Symbol" panose="05050102010706020507" pitchFamily="18" charset="2"/>
              </a:rPr>
              <a:t></a:t>
            </a:r>
            <a:r>
              <a:rPr lang="zh-CN" altLang="en-US" sz="2200">
                <a:solidFill>
                  <a:schemeClr val="hlink"/>
                </a:solidFill>
                <a:ea typeface="STZhongsong" panose="02010600040101010101" pitchFamily="2" charset="-122"/>
              </a:rPr>
              <a:t>不随时间变化，其物质波是单色平面波，波函数</a:t>
            </a:r>
            <a:endParaRPr lang="zh-CN" altLang="en-US" sz="2200">
              <a:solidFill>
                <a:srgbClr val="00FFFF"/>
              </a:solidFill>
            </a:endParaRPr>
          </a:p>
        </p:txBody>
      </p:sp>
      <p:sp>
        <p:nvSpPr>
          <p:cNvPr id="17422" name="灯片编号占位符 1">
            <a:extLst>
              <a:ext uri="{FF2B5EF4-FFF2-40B4-BE49-F238E27FC236}">
                <a16:creationId xmlns:a16="http://schemas.microsoft.com/office/drawing/2014/main" id="{27FB07EB-F169-42C4-B81E-812BFB1D4A0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2EC4F37-3591-40EE-8305-2959E98C92C0}" type="slidenum">
              <a:rPr lang="en-US" altLang="zh-CN" b="0">
                <a:solidFill>
                  <a:srgbClr val="FF00FF"/>
                </a:solidFill>
              </a:rPr>
              <a:pPr eaLnBrk="1" hangingPunct="1"/>
              <a:t>18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  <p:graphicFrame>
        <p:nvGraphicFramePr>
          <p:cNvPr id="4" name="Object 19">
            <a:extLst>
              <a:ext uri="{FF2B5EF4-FFF2-40B4-BE49-F238E27FC236}">
                <a16:creationId xmlns:a16="http://schemas.microsoft.com/office/drawing/2014/main" id="{63670B67-EAD4-4A97-AA80-7D3CFD23B1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4000" y="5286375"/>
          <a:ext cx="9207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59" name="公式" r:id="rId9" imgW="418973" imgH="323918" progId="Equation.3">
                  <p:embed/>
                </p:oleObj>
              </mc:Choice>
              <mc:Fallback>
                <p:oleObj name="公式" r:id="rId9" imgW="418973" imgH="323918" progId="Equation.3">
                  <p:embed/>
                  <p:pic>
                    <p:nvPicPr>
                      <p:cNvPr id="4" name="Object 19">
                        <a:extLst>
                          <a:ext uri="{FF2B5EF4-FFF2-40B4-BE49-F238E27FC236}">
                            <a16:creationId xmlns:a16="http://schemas.microsoft.com/office/drawing/2014/main" id="{63670B67-EAD4-4A97-AA80-7D3CFD23B1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5286375"/>
                        <a:ext cx="92075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4">
            <a:extLst>
              <a:ext uri="{FF2B5EF4-FFF2-40B4-BE49-F238E27FC236}">
                <a16:creationId xmlns:a16="http://schemas.microsoft.com/office/drawing/2014/main" id="{F2CF2491-0C26-4486-A369-A59343287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938" y="5500688"/>
            <a:ext cx="1500187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200">
                <a:solidFill>
                  <a:schemeClr val="hlink"/>
                </a:solidFill>
                <a:ea typeface="STZhongsong" panose="02010600040101010101" pitchFamily="2" charset="-122"/>
              </a:rPr>
              <a:t>复振幅</a:t>
            </a:r>
          </a:p>
        </p:txBody>
      </p:sp>
      <p:graphicFrame>
        <p:nvGraphicFramePr>
          <p:cNvPr id="5" name="Object 20">
            <a:extLst>
              <a:ext uri="{FF2B5EF4-FFF2-40B4-BE49-F238E27FC236}">
                <a16:creationId xmlns:a16="http://schemas.microsoft.com/office/drawing/2014/main" id="{FBC1F4B4-0394-42B2-B0A9-460AC604BD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73838" y="6000750"/>
          <a:ext cx="7985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60" name="公式" r:id="rId11" imgW="323863" imgH="285648" progId="Equation.3">
                  <p:embed/>
                </p:oleObj>
              </mc:Choice>
              <mc:Fallback>
                <p:oleObj name="公式" r:id="rId11" imgW="323863" imgH="285648" progId="Equation.3">
                  <p:embed/>
                  <p:pic>
                    <p:nvPicPr>
                      <p:cNvPr id="5" name="Object 20">
                        <a:extLst>
                          <a:ext uri="{FF2B5EF4-FFF2-40B4-BE49-F238E27FC236}">
                            <a16:creationId xmlns:a16="http://schemas.microsoft.com/office/drawing/2014/main" id="{FBC1F4B4-0394-42B2-B0A9-460AC604BD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3838" y="6000750"/>
                        <a:ext cx="79851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4">
            <a:extLst>
              <a:ext uri="{FF2B5EF4-FFF2-40B4-BE49-F238E27FC236}">
                <a16:creationId xmlns:a16="http://schemas.microsoft.com/office/drawing/2014/main" id="{786E337A-F251-4DD7-B815-6DABDE88A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0" y="6186488"/>
            <a:ext cx="17145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200">
                <a:solidFill>
                  <a:schemeClr val="hlink"/>
                </a:solidFill>
                <a:ea typeface="STZhongsong" panose="02010600040101010101" pitchFamily="2" charset="-122"/>
              </a:rPr>
              <a:t>随时间变化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8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6" grpId="0" build="p" autoUpdateAnimBg="0"/>
      <p:bldP spid="88066" grpId="0" animBg="1"/>
      <p:bldP spid="88067" grpId="0"/>
      <p:bldP spid="88068" grpId="0"/>
      <p:bldP spid="88075" grpId="0" autoUpdateAnimBg="0"/>
      <p:bldP spid="88078" grpId="0" autoUpdateAnimBg="0"/>
      <p:bldP spid="18" grpId="0" autoUpdateAnimBg="0"/>
      <p:bldP spid="20" grpId="0" autoUpdateAnimBg="0"/>
      <p:bldP spid="2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61" name="Text Box 13">
            <a:extLst>
              <a:ext uri="{FF2B5EF4-FFF2-40B4-BE49-F238E27FC236}">
                <a16:creationId xmlns:a16="http://schemas.microsoft.com/office/drawing/2014/main" id="{814B32A8-FF6F-474D-88AE-AB81AF101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71438"/>
            <a:ext cx="66182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物质波的统计解释  </a:t>
            </a:r>
            <a:r>
              <a:rPr lang="en-US" altLang="zh-CN">
                <a:solidFill>
                  <a:schemeClr val="bg1"/>
                </a:solidFill>
              </a:rPr>
              <a:t>—— </a:t>
            </a:r>
            <a:r>
              <a:rPr lang="zh-CN" altLang="en-US">
                <a:solidFill>
                  <a:schemeClr val="bg1"/>
                </a:solidFill>
              </a:rPr>
              <a:t>光子、电子衍射现象 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9699" name="矩形 11">
            <a:extLst>
              <a:ext uri="{FF2B5EF4-FFF2-40B4-BE49-F238E27FC236}">
                <a16:creationId xmlns:a16="http://schemas.microsoft.com/office/drawing/2014/main" id="{646C5BAC-E36F-4E22-8CF8-14080E54C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857250"/>
            <a:ext cx="8032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光的</a:t>
            </a:r>
            <a:endParaRPr lang="en-US" altLang="zh-CN">
              <a:solidFill>
                <a:schemeClr val="bg1"/>
              </a:solidFill>
            </a:endParaRPr>
          </a:p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衍射</a:t>
            </a:r>
            <a:endParaRPr lang="zh-CN" altLang="en-US"/>
          </a:p>
        </p:txBody>
      </p:sp>
      <p:sp>
        <p:nvSpPr>
          <p:cNvPr id="29700" name="左大括号 12">
            <a:extLst>
              <a:ext uri="{FF2B5EF4-FFF2-40B4-BE49-F238E27FC236}">
                <a16:creationId xmlns:a16="http://schemas.microsoft.com/office/drawing/2014/main" id="{8A7595C9-B176-4B16-94AA-7BD49F77367A}"/>
              </a:ext>
            </a:extLst>
          </p:cNvPr>
          <p:cNvSpPr>
            <a:spLocks/>
          </p:cNvSpPr>
          <p:nvPr/>
        </p:nvSpPr>
        <p:spPr bwMode="auto">
          <a:xfrm>
            <a:off x="1071563" y="714375"/>
            <a:ext cx="285750" cy="1214438"/>
          </a:xfrm>
          <a:prstGeom prst="leftBrace">
            <a:avLst>
              <a:gd name="adj1" fmla="val 48324"/>
              <a:gd name="adj2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1" name="矩形 13">
            <a:extLst>
              <a:ext uri="{FF2B5EF4-FFF2-40B4-BE49-F238E27FC236}">
                <a16:creationId xmlns:a16="http://schemas.microsoft.com/office/drawing/2014/main" id="{E419D76C-DA5A-4E15-8AA0-EA60A44AF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569913"/>
            <a:ext cx="128587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00FFCC"/>
                </a:solidFill>
              </a:rPr>
              <a:t>波动性：</a:t>
            </a:r>
          </a:p>
        </p:txBody>
      </p:sp>
      <p:sp>
        <p:nvSpPr>
          <p:cNvPr id="29702" name="矩形 14">
            <a:extLst>
              <a:ext uri="{FF2B5EF4-FFF2-40B4-BE49-F238E27FC236}">
                <a16:creationId xmlns:a16="http://schemas.microsoft.com/office/drawing/2014/main" id="{FCAE6A50-F80E-4598-A3B4-37290AA1C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571500"/>
            <a:ext cx="65722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</a:rPr>
              <a:t>明纹光强大，暗纹光强小；光强与振幅平方成正比</a:t>
            </a:r>
          </a:p>
        </p:txBody>
      </p:sp>
      <p:sp>
        <p:nvSpPr>
          <p:cNvPr id="29703" name="矩形 15">
            <a:extLst>
              <a:ext uri="{FF2B5EF4-FFF2-40B4-BE49-F238E27FC236}">
                <a16:creationId xmlns:a16="http://schemas.microsoft.com/office/drawing/2014/main" id="{6882F06A-A132-4CC9-8011-80BCEF955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1069975"/>
            <a:ext cx="128587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00FFCC"/>
                </a:solidFill>
              </a:rPr>
              <a:t>粒子性：</a:t>
            </a:r>
          </a:p>
        </p:txBody>
      </p:sp>
      <p:sp>
        <p:nvSpPr>
          <p:cNvPr id="29704" name="矩形 16">
            <a:extLst>
              <a:ext uri="{FF2B5EF4-FFF2-40B4-BE49-F238E27FC236}">
                <a16:creationId xmlns:a16="http://schemas.microsoft.com/office/drawing/2014/main" id="{6D6433BF-BFAC-48CA-AD99-FB3C43508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1069975"/>
            <a:ext cx="642937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</a:rPr>
              <a:t>明纹单位时间内到达的光子数多；反之光子数少</a:t>
            </a:r>
          </a:p>
        </p:txBody>
      </p:sp>
      <p:sp>
        <p:nvSpPr>
          <p:cNvPr id="29705" name="矩形 17">
            <a:extLst>
              <a:ext uri="{FF2B5EF4-FFF2-40B4-BE49-F238E27FC236}">
                <a16:creationId xmlns:a16="http://schemas.microsoft.com/office/drawing/2014/main" id="{951D2E6F-39E5-4705-8751-F26142D95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1570038"/>
            <a:ext cx="128587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00FFCC"/>
                </a:solidFill>
              </a:rPr>
              <a:t>统计：</a:t>
            </a:r>
          </a:p>
        </p:txBody>
      </p:sp>
      <p:sp>
        <p:nvSpPr>
          <p:cNvPr id="29706" name="矩形 18">
            <a:extLst>
              <a:ext uri="{FF2B5EF4-FFF2-40B4-BE49-F238E27FC236}">
                <a16:creationId xmlns:a16="http://schemas.microsoft.com/office/drawing/2014/main" id="{1FBAA440-8950-47EA-8C62-109370769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63" y="1571625"/>
            <a:ext cx="650081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</a:rPr>
              <a:t>光子在明纹处出现的概率大于暗纹处的概率</a:t>
            </a:r>
          </a:p>
        </p:txBody>
      </p:sp>
      <p:sp>
        <p:nvSpPr>
          <p:cNvPr id="29707" name="矩形 19">
            <a:extLst>
              <a:ext uri="{FF2B5EF4-FFF2-40B4-BE49-F238E27FC236}">
                <a16:creationId xmlns:a16="http://schemas.microsoft.com/office/drawing/2014/main" id="{B0339940-B44D-40B7-8AB5-4D04D0324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2070100"/>
            <a:ext cx="864393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FF00"/>
                </a:solidFill>
              </a:rPr>
              <a:t>结论：</a:t>
            </a:r>
            <a:r>
              <a:rPr lang="zh-CN" altLang="en-US" sz="2200">
                <a:solidFill>
                  <a:schemeClr val="bg1"/>
                </a:solidFill>
              </a:rPr>
              <a:t>光子在某处出现的概率与该处光强成正比（光矢量振幅平方）</a:t>
            </a:r>
          </a:p>
        </p:txBody>
      </p:sp>
      <p:grpSp>
        <p:nvGrpSpPr>
          <p:cNvPr id="2" name="组合 21">
            <a:extLst>
              <a:ext uri="{FF2B5EF4-FFF2-40B4-BE49-F238E27FC236}">
                <a16:creationId xmlns:a16="http://schemas.microsoft.com/office/drawing/2014/main" id="{82F2B17B-4990-4F19-A302-48CD9CA78DB3}"/>
              </a:ext>
            </a:extLst>
          </p:cNvPr>
          <p:cNvGrpSpPr>
            <a:grpSpLocks/>
          </p:cNvGrpSpPr>
          <p:nvPr/>
        </p:nvGrpSpPr>
        <p:grpSpPr bwMode="auto">
          <a:xfrm>
            <a:off x="527050" y="2613025"/>
            <a:ext cx="5259388" cy="3959225"/>
            <a:chOff x="522320" y="2571744"/>
            <a:chExt cx="5258777" cy="3960000"/>
          </a:xfrm>
        </p:grpSpPr>
        <p:grpSp>
          <p:nvGrpSpPr>
            <p:cNvPr id="18450" name="Group 11">
              <a:extLst>
                <a:ext uri="{FF2B5EF4-FFF2-40B4-BE49-F238E27FC236}">
                  <a16:creationId xmlns:a16="http://schemas.microsoft.com/office/drawing/2014/main" id="{21C3C375-2530-4C4C-A418-FA36FF86D9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22320" y="2571744"/>
              <a:ext cx="5258777" cy="3960000"/>
              <a:chOff x="540" y="554"/>
              <a:chExt cx="4086" cy="2916"/>
            </a:xfrm>
          </p:grpSpPr>
          <p:pic>
            <p:nvPicPr>
              <p:cNvPr id="18452" name="Picture 4" descr="f39_08">
                <a:extLst>
                  <a:ext uri="{FF2B5EF4-FFF2-40B4-BE49-F238E27FC236}">
                    <a16:creationId xmlns:a16="http://schemas.microsoft.com/office/drawing/2014/main" id="{21228F94-89EC-4834-8694-CBD5FCBC6D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0" y="554"/>
                <a:ext cx="4086" cy="29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8453" name="Group 5">
                <a:extLst>
                  <a:ext uri="{FF2B5EF4-FFF2-40B4-BE49-F238E27FC236}">
                    <a16:creationId xmlns:a16="http://schemas.microsoft.com/office/drawing/2014/main" id="{DC0CC7C8-3F33-4489-8CE8-45486734F8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78" y="1142"/>
                <a:ext cx="2962" cy="2294"/>
                <a:chOff x="3187" y="1323"/>
                <a:chExt cx="2618" cy="2294"/>
              </a:xfrm>
            </p:grpSpPr>
            <p:sp>
              <p:nvSpPr>
                <p:cNvPr id="18454" name="Text Box 6">
                  <a:extLst>
                    <a:ext uri="{FF2B5EF4-FFF2-40B4-BE49-F238E27FC236}">
                      <a16:creationId xmlns:a16="http://schemas.microsoft.com/office/drawing/2014/main" id="{71BD51B5-CF32-44EC-894A-EB605EAF0F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22" y="1323"/>
                  <a:ext cx="1134" cy="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200">
                      <a:solidFill>
                        <a:srgbClr val="FFFF00"/>
                      </a:solidFill>
                    </a:rPr>
                    <a:t>7</a:t>
                  </a:r>
                </a:p>
              </p:txBody>
            </p:sp>
            <p:sp>
              <p:nvSpPr>
                <p:cNvPr id="18455" name="Text Box 7">
                  <a:extLst>
                    <a:ext uri="{FF2B5EF4-FFF2-40B4-BE49-F238E27FC236}">
                      <a16:creationId xmlns:a16="http://schemas.microsoft.com/office/drawing/2014/main" id="{94E80AFE-387D-40AA-8AB4-2DF85E1D28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31" y="1323"/>
                  <a:ext cx="774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200">
                      <a:solidFill>
                        <a:srgbClr val="FFFF00"/>
                      </a:solidFill>
                    </a:rPr>
                    <a:t>100</a:t>
                  </a:r>
                </a:p>
              </p:txBody>
            </p:sp>
            <p:sp>
              <p:nvSpPr>
                <p:cNvPr id="18456" name="Text Box 8">
                  <a:extLst>
                    <a:ext uri="{FF2B5EF4-FFF2-40B4-BE49-F238E27FC236}">
                      <a16:creationId xmlns:a16="http://schemas.microsoft.com/office/drawing/2014/main" id="{6B444D43-A7F0-487D-80FB-86EC642EC0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87" y="2349"/>
                  <a:ext cx="1134" cy="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200">
                      <a:solidFill>
                        <a:srgbClr val="FFFF00"/>
                      </a:solidFill>
                    </a:rPr>
                    <a:t>   3000</a:t>
                  </a:r>
                </a:p>
              </p:txBody>
            </p:sp>
            <p:sp>
              <p:nvSpPr>
                <p:cNvPr id="18457" name="Text Box 9">
                  <a:extLst>
                    <a:ext uri="{FF2B5EF4-FFF2-40B4-BE49-F238E27FC236}">
                      <a16:creationId xmlns:a16="http://schemas.microsoft.com/office/drawing/2014/main" id="{1DAFEC52-5FF6-4A7F-878C-E423233ED1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84" y="2349"/>
                  <a:ext cx="795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200">
                      <a:solidFill>
                        <a:srgbClr val="FFFF00"/>
                      </a:solidFill>
                    </a:rPr>
                    <a:t>  20000</a:t>
                  </a:r>
                </a:p>
              </p:txBody>
            </p:sp>
            <p:sp>
              <p:nvSpPr>
                <p:cNvPr id="18458" name="Text Box 10">
                  <a:extLst>
                    <a:ext uri="{FF2B5EF4-FFF2-40B4-BE49-F238E27FC236}">
                      <a16:creationId xmlns:a16="http://schemas.microsoft.com/office/drawing/2014/main" id="{7088FB96-148B-476A-BB3A-C018572E5E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97" y="3362"/>
                  <a:ext cx="1134" cy="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200">
                      <a:solidFill>
                        <a:srgbClr val="FFFF00"/>
                      </a:solidFill>
                    </a:rPr>
                    <a:t>  70000</a:t>
                  </a:r>
                </a:p>
              </p:txBody>
            </p:sp>
          </p:grpSp>
        </p:grpSp>
        <p:sp>
          <p:nvSpPr>
            <p:cNvPr id="18451" name="矩形 20">
              <a:extLst>
                <a:ext uri="{FF2B5EF4-FFF2-40B4-BE49-F238E27FC236}">
                  <a16:creationId xmlns:a16="http://schemas.microsoft.com/office/drawing/2014/main" id="{E96DEE8E-CBC7-42D0-9172-1BEFC2310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182" y="5643578"/>
              <a:ext cx="1643074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200"/>
                <a:t>电子束的</a:t>
              </a:r>
              <a:endParaRPr lang="en-US" altLang="zh-CN" sz="2200"/>
            </a:p>
            <a:p>
              <a:pPr algn="ctr" eaLnBrk="1" hangingPunct="1"/>
              <a:r>
                <a:rPr lang="zh-CN" altLang="en-US" sz="2200"/>
                <a:t>双缝干涉图</a:t>
              </a:r>
            </a:p>
          </p:txBody>
        </p:sp>
      </p:grpSp>
      <p:sp>
        <p:nvSpPr>
          <p:cNvPr id="29709" name="矩形 22">
            <a:extLst>
              <a:ext uri="{FF2B5EF4-FFF2-40B4-BE49-F238E27FC236}">
                <a16:creationId xmlns:a16="http://schemas.microsoft.com/office/drawing/2014/main" id="{D9F0C8C6-8B38-4704-8EE6-8E03FC1EE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2800" y="2643188"/>
            <a:ext cx="282257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FF00"/>
                </a:solidFill>
              </a:rPr>
              <a:t>明纹处：</a:t>
            </a:r>
            <a:r>
              <a:rPr lang="zh-CN" altLang="en-US" sz="2200">
                <a:solidFill>
                  <a:schemeClr val="bg1"/>
                </a:solidFill>
              </a:rPr>
              <a:t>电子密集，概率就大，波的强度大</a:t>
            </a:r>
          </a:p>
        </p:txBody>
      </p:sp>
      <p:sp>
        <p:nvSpPr>
          <p:cNvPr id="29710" name="矩形 23">
            <a:extLst>
              <a:ext uri="{FF2B5EF4-FFF2-40B4-BE49-F238E27FC236}">
                <a16:creationId xmlns:a16="http://schemas.microsoft.com/office/drawing/2014/main" id="{11A9A0AD-B458-4103-A191-ECAB7D232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2800" y="3714750"/>
            <a:ext cx="28225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FF00"/>
                </a:solidFill>
              </a:rPr>
              <a:t>暗纹处：</a:t>
            </a:r>
            <a:r>
              <a:rPr lang="zh-CN" altLang="en-US" sz="2200">
                <a:solidFill>
                  <a:schemeClr val="bg1"/>
                </a:solidFill>
              </a:rPr>
              <a:t>电子稀少，概率小，波的强度小</a:t>
            </a:r>
          </a:p>
        </p:txBody>
      </p:sp>
      <p:sp>
        <p:nvSpPr>
          <p:cNvPr id="29711" name="矩形 24">
            <a:extLst>
              <a:ext uri="{FF2B5EF4-FFF2-40B4-BE49-F238E27FC236}">
                <a16:creationId xmlns:a16="http://schemas.microsoft.com/office/drawing/2014/main" id="{14C4E42F-4C30-43DE-ABCA-EFB72229D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4500563"/>
            <a:ext cx="2714625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FF00"/>
                </a:solidFill>
              </a:rPr>
              <a:t>结论：</a:t>
            </a:r>
            <a:r>
              <a:rPr lang="zh-CN" altLang="en-US" sz="2200">
                <a:solidFill>
                  <a:schemeClr val="bg1"/>
                </a:solidFill>
              </a:rPr>
              <a:t>电子在某处出现的概率与该处物质波强度成正比（波函数振幅平方）</a:t>
            </a:r>
          </a:p>
        </p:txBody>
      </p:sp>
      <p:sp>
        <p:nvSpPr>
          <p:cNvPr id="29712" name="矩形 25">
            <a:extLst>
              <a:ext uri="{FF2B5EF4-FFF2-40B4-BE49-F238E27FC236}">
                <a16:creationId xmlns:a16="http://schemas.microsoft.com/office/drawing/2014/main" id="{1383C7A2-3A71-4C7C-99B0-3998B7D17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6072188"/>
            <a:ext cx="2786062" cy="430212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FF00"/>
                </a:solidFill>
              </a:rPr>
              <a:t>物质波是一种概率波</a:t>
            </a:r>
            <a:endParaRPr lang="zh-CN" altLang="en-US" sz="2200"/>
          </a:p>
        </p:txBody>
      </p:sp>
      <p:sp>
        <p:nvSpPr>
          <p:cNvPr id="18449" name="灯片编号占位符 1">
            <a:extLst>
              <a:ext uri="{FF2B5EF4-FFF2-40B4-BE49-F238E27FC236}">
                <a16:creationId xmlns:a16="http://schemas.microsoft.com/office/drawing/2014/main" id="{42BC54B3-3810-43F9-9ABB-3013B13E109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C8A866-4B4B-46D3-A01F-214B81A96C3A}" type="slidenum">
              <a:rPr lang="en-US" altLang="zh-CN" b="0">
                <a:solidFill>
                  <a:srgbClr val="FF00FF"/>
                </a:solidFill>
              </a:rPr>
              <a:pPr eaLnBrk="1" hangingPunct="1"/>
              <a:t>19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3261" grpId="0"/>
      <p:bldP spid="29699" grpId="0"/>
      <p:bldP spid="29700" grpId="0" animBg="1"/>
      <p:bldP spid="29701" grpId="0"/>
      <p:bldP spid="29702" grpId="0"/>
      <p:bldP spid="29703" grpId="0"/>
      <p:bldP spid="29704" grpId="0"/>
      <p:bldP spid="29705" grpId="0"/>
      <p:bldP spid="29706" grpId="0"/>
      <p:bldP spid="29707" grpId="0"/>
      <p:bldP spid="29709" grpId="0"/>
      <p:bldP spid="29710" grpId="0"/>
      <p:bldP spid="29711" grpId="0"/>
      <p:bldP spid="297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3" name="Rectangle 5">
            <a:extLst>
              <a:ext uri="{FF2B5EF4-FFF2-40B4-BE49-F238E27FC236}">
                <a16:creationId xmlns:a16="http://schemas.microsoft.com/office/drawing/2014/main" id="{8278C156-AE4F-4D6B-896F-549929DCA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285750"/>
            <a:ext cx="3449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STZhongsong" panose="02010600040101010101" pitchFamily="2" charset="-122"/>
              </a:rPr>
              <a:t>波函数的物理意义：</a:t>
            </a:r>
          </a:p>
        </p:txBody>
      </p:sp>
      <p:sp>
        <p:nvSpPr>
          <p:cNvPr id="89098" name="Text Box 10">
            <a:extLst>
              <a:ext uri="{FF2B5EF4-FFF2-40B4-BE49-F238E27FC236}">
                <a16:creationId xmlns:a16="http://schemas.microsoft.com/office/drawing/2014/main" id="{76DA5927-2802-41C7-B6E1-68B3D8BA3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714375"/>
            <a:ext cx="7858125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zh-CN" altLang="en-US">
                <a:solidFill>
                  <a:srgbClr val="00FF00"/>
                </a:solidFill>
                <a:ea typeface="STZhongsong" panose="02010600040101010101" pitchFamily="2" charset="-122"/>
              </a:rPr>
              <a:t>波恩在</a:t>
            </a:r>
            <a:r>
              <a:rPr lang="en-US" altLang="zh-CN">
                <a:solidFill>
                  <a:srgbClr val="00FF00"/>
                </a:solidFill>
              </a:rPr>
              <a:t>1926</a:t>
            </a:r>
            <a:r>
              <a:rPr lang="zh-CN" altLang="en-US">
                <a:solidFill>
                  <a:srgbClr val="00FF00"/>
                </a:solidFill>
                <a:ea typeface="STZhongsong" panose="02010600040101010101" pitchFamily="2" charset="-122"/>
              </a:rPr>
              <a:t>年提出</a:t>
            </a:r>
            <a:r>
              <a:rPr lang="en-US" altLang="zh-CN">
                <a:solidFill>
                  <a:schemeClr val="bg1"/>
                </a:solidFill>
              </a:rPr>
              <a:t>) </a:t>
            </a:r>
            <a:r>
              <a:rPr lang="zh-CN" altLang="en-US">
                <a:solidFill>
                  <a:schemeClr val="bg1"/>
                </a:solidFill>
                <a:ea typeface="STZhongsong" panose="02010600040101010101" pitchFamily="2" charset="-122"/>
              </a:rPr>
              <a:t>波函数 </a:t>
            </a:r>
            <a:r>
              <a:rPr lang="en-US" altLang="zh-CN" i="1">
                <a:solidFill>
                  <a:schemeClr val="bg1"/>
                </a:solidFill>
              </a:rPr>
              <a:t>Ψ</a:t>
            </a: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en-US" altLang="zh-CN" i="1">
                <a:solidFill>
                  <a:schemeClr val="bg1"/>
                </a:solidFill>
              </a:rPr>
              <a:t>x, y, z, t</a:t>
            </a:r>
            <a:r>
              <a:rPr lang="en-US" altLang="zh-CN">
                <a:solidFill>
                  <a:schemeClr val="bg1"/>
                </a:solidFill>
              </a:rPr>
              <a:t>) </a:t>
            </a:r>
            <a:r>
              <a:rPr lang="zh-CN" altLang="en-US">
                <a:solidFill>
                  <a:schemeClr val="bg1"/>
                </a:solidFill>
                <a:ea typeface="STZhongsong" panose="02010600040101010101" pitchFamily="2" charset="-122"/>
              </a:rPr>
              <a:t>的统计解释 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zh-CN" altLang="en-US" sz="2200">
                <a:solidFill>
                  <a:schemeClr val="bg1"/>
                </a:solidFill>
                <a:ea typeface="STZhongsong" panose="02010600040101010101" pitchFamily="2" charset="-122"/>
              </a:rPr>
              <a:t>波函数模的平方代表</a:t>
            </a:r>
            <a:r>
              <a:rPr lang="zh-CN" altLang="en-US" sz="2200">
                <a:solidFill>
                  <a:srgbClr val="FFFF00"/>
                </a:solidFill>
                <a:ea typeface="STZhongsong" panose="02010600040101010101" pitchFamily="2" charset="-122"/>
              </a:rPr>
              <a:t>某时刻 </a:t>
            </a:r>
            <a:r>
              <a:rPr lang="en-US" altLang="zh-CN" sz="2200" i="1">
                <a:solidFill>
                  <a:srgbClr val="FFFF00"/>
                </a:solidFill>
              </a:rPr>
              <a:t>t </a:t>
            </a:r>
            <a:r>
              <a:rPr lang="zh-CN" altLang="en-US" sz="2200">
                <a:solidFill>
                  <a:srgbClr val="FFFF00"/>
                </a:solidFill>
                <a:ea typeface="STZhongsong" panose="02010600040101010101" pitchFamily="2" charset="-122"/>
              </a:rPr>
              <a:t>在空间某点 </a:t>
            </a:r>
            <a:r>
              <a:rPr lang="en-US" altLang="zh-CN" sz="2200">
                <a:solidFill>
                  <a:srgbClr val="FFFF00"/>
                </a:solidFill>
              </a:rPr>
              <a:t>(</a:t>
            </a:r>
            <a:r>
              <a:rPr lang="en-US" altLang="zh-CN" sz="2200" i="1">
                <a:solidFill>
                  <a:srgbClr val="FFFF00"/>
                </a:solidFill>
              </a:rPr>
              <a:t>x, y, z</a:t>
            </a:r>
            <a:r>
              <a:rPr lang="en-US" altLang="zh-CN" sz="2200">
                <a:solidFill>
                  <a:srgbClr val="FFFF00"/>
                </a:solidFill>
              </a:rPr>
              <a:t>) </a:t>
            </a:r>
            <a:r>
              <a:rPr lang="zh-CN" altLang="en-US" sz="2200">
                <a:solidFill>
                  <a:srgbClr val="FFFF00"/>
                </a:solidFill>
                <a:ea typeface="STZhongsong" panose="02010600040101010101" pitchFamily="2" charset="-122"/>
              </a:rPr>
              <a:t>附近单位体积内发现粒子的概率，即 </a:t>
            </a:r>
            <a:r>
              <a:rPr lang="en-US" altLang="zh-CN" sz="2200">
                <a:solidFill>
                  <a:srgbClr val="FFFF00"/>
                </a:solidFill>
              </a:rPr>
              <a:t>|</a:t>
            </a:r>
            <a:r>
              <a:rPr lang="en-US" altLang="zh-CN" sz="2200" i="1">
                <a:solidFill>
                  <a:srgbClr val="FFFF00"/>
                </a:solidFill>
              </a:rPr>
              <a:t>Ψ</a:t>
            </a:r>
            <a:r>
              <a:rPr lang="en-US" altLang="zh-CN" sz="2200">
                <a:solidFill>
                  <a:srgbClr val="FFFF00"/>
                </a:solidFill>
              </a:rPr>
              <a:t>|</a:t>
            </a:r>
            <a:r>
              <a:rPr lang="en-US" altLang="zh-CN" sz="2200" baseline="30000">
                <a:solidFill>
                  <a:srgbClr val="FFFF00"/>
                </a:solidFill>
              </a:rPr>
              <a:t>2 </a:t>
            </a:r>
            <a:r>
              <a:rPr lang="zh-CN" altLang="en-US" sz="2200">
                <a:solidFill>
                  <a:srgbClr val="FFFF00"/>
                </a:solidFill>
                <a:ea typeface="STZhongsong" panose="02010600040101010101" pitchFamily="2" charset="-122"/>
              </a:rPr>
              <a:t>代表概率密度</a:t>
            </a:r>
            <a:r>
              <a:rPr lang="zh-CN" altLang="en-US" sz="2200">
                <a:solidFill>
                  <a:srgbClr val="FFFF00"/>
                </a:solidFill>
              </a:rPr>
              <a:t>。</a:t>
            </a: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7EEFD0D1-13A6-4A43-A42E-D1043CB68FF5}"/>
              </a:ext>
            </a:extLst>
          </p:cNvPr>
          <p:cNvGraphicFramePr>
            <a:graphicFrameLocks/>
          </p:cNvGraphicFramePr>
          <p:nvPr/>
        </p:nvGraphicFramePr>
        <p:xfrm>
          <a:off x="1857375" y="3432175"/>
          <a:ext cx="531812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62" name="公式" r:id="rId3" imgW="5286394" imgH="447607" progId="Equation.3">
                  <p:embed/>
                </p:oleObj>
              </mc:Choice>
              <mc:Fallback>
                <p:oleObj name="公式" r:id="rId3" imgW="5286394" imgH="447607" progId="Equation.3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7EEFD0D1-13A6-4A43-A42E-D1043CB68FF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3432175"/>
                        <a:ext cx="531812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>
            <a:extLst>
              <a:ext uri="{FF2B5EF4-FFF2-40B4-BE49-F238E27FC236}">
                <a16:creationId xmlns:a16="http://schemas.microsoft.com/office/drawing/2014/main" id="{B81DB8A3-8BAC-4569-8156-1A99ED7EF7F9}"/>
              </a:ext>
            </a:extLst>
          </p:cNvPr>
          <p:cNvGrpSpPr>
            <a:grpSpLocks/>
          </p:cNvGrpSpPr>
          <p:nvPr/>
        </p:nvGrpSpPr>
        <p:grpSpPr bwMode="auto">
          <a:xfrm>
            <a:off x="758825" y="2717800"/>
            <a:ext cx="7813675" cy="584200"/>
            <a:chOff x="288" y="1891"/>
            <a:chExt cx="4922" cy="368"/>
          </a:xfrm>
        </p:grpSpPr>
        <p:sp>
          <p:nvSpPr>
            <p:cNvPr id="19468" name="Rectangle 4">
              <a:extLst>
                <a:ext uri="{FF2B5EF4-FFF2-40B4-BE49-F238E27FC236}">
                  <a16:creationId xmlns:a16="http://schemas.microsoft.com/office/drawing/2014/main" id="{4F4A6759-54C6-4F2E-8BD8-0E87D1162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891"/>
              <a:ext cx="492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chemeClr val="hlink"/>
                  </a:solidFill>
                </a:rPr>
                <a:t>1.  </a:t>
              </a:r>
              <a:r>
                <a:rPr lang="zh-CN" altLang="en-US">
                  <a:solidFill>
                    <a:schemeClr val="hlink"/>
                  </a:solidFill>
                  <a:ea typeface="STZhongsong" panose="02010600040101010101" pitchFamily="2" charset="-122"/>
                </a:rPr>
                <a:t>时刻</a:t>
              </a:r>
              <a:r>
                <a:rPr lang="zh-CN" altLang="en-US">
                  <a:solidFill>
                    <a:schemeClr val="bg1"/>
                  </a:solidFill>
                  <a:ea typeface="楷体_GB2312" pitchFamily="49" charset="-122"/>
                </a:rPr>
                <a:t> </a:t>
              </a:r>
              <a:r>
                <a:rPr lang="en-US" altLang="zh-CN" i="1">
                  <a:solidFill>
                    <a:srgbClr val="66FFFF"/>
                  </a:solidFill>
                </a:rPr>
                <a:t>t </a:t>
              </a:r>
              <a:r>
                <a:rPr lang="en-US" altLang="zh-CN">
                  <a:solidFill>
                    <a:schemeClr val="hlink"/>
                  </a:solidFill>
                  <a:ea typeface="楷体_GB2312" pitchFamily="49" charset="-122"/>
                </a:rPr>
                <a:t>,  </a:t>
              </a:r>
              <a:r>
                <a:rPr lang="zh-CN" altLang="en-US">
                  <a:solidFill>
                    <a:schemeClr val="hlink"/>
                  </a:solidFill>
                  <a:ea typeface="楷体_GB2312" pitchFamily="49" charset="-122"/>
                </a:rPr>
                <a:t>微观</a:t>
              </a:r>
              <a:r>
                <a:rPr lang="zh-CN" altLang="en-US">
                  <a:solidFill>
                    <a:schemeClr val="hlink"/>
                  </a:solidFill>
                  <a:latin typeface="楷体_GB2312" pitchFamily="49" charset="-122"/>
                  <a:ea typeface="STZhongsong" panose="02010600040101010101" pitchFamily="2" charset="-122"/>
                </a:rPr>
                <a:t>粒子</a:t>
              </a:r>
              <a:r>
                <a:rPr lang="zh-CN" altLang="en-US">
                  <a:solidFill>
                    <a:schemeClr val="hlink"/>
                  </a:solidFill>
                  <a:ea typeface="STZhongsong" panose="02010600040101010101" pitchFamily="2" charset="-122"/>
                </a:rPr>
                <a:t>在空间</a:t>
              </a:r>
              <a:r>
                <a:rPr lang="zh-CN" altLang="en-US">
                  <a:solidFill>
                    <a:srgbClr val="FFCC66"/>
                  </a:solidFill>
                </a:rPr>
                <a:t>  </a:t>
              </a:r>
              <a:r>
                <a:rPr lang="en-US" altLang="zh-CN" sz="3200" i="1">
                  <a:solidFill>
                    <a:srgbClr val="66FFFF"/>
                  </a:solidFill>
                </a:rPr>
                <a:t>r </a:t>
              </a:r>
              <a:r>
                <a:rPr lang="en-US" altLang="zh-CN" sz="3200" i="1">
                  <a:solidFill>
                    <a:schemeClr val="hlink"/>
                  </a:solidFill>
                </a:rPr>
                <a:t> </a:t>
              </a:r>
              <a:r>
                <a:rPr lang="zh-CN" altLang="en-US">
                  <a:solidFill>
                    <a:schemeClr val="hlink"/>
                  </a:solidFill>
                  <a:ea typeface="STZhongsong" panose="02010600040101010101" pitchFamily="2" charset="-122"/>
                </a:rPr>
                <a:t>处</a:t>
              </a:r>
              <a:r>
                <a:rPr lang="zh-CN" altLang="en-US">
                  <a:solidFill>
                    <a:srgbClr val="FFCC66"/>
                  </a:solidFill>
                </a:rPr>
                <a:t> </a:t>
              </a:r>
              <a:r>
                <a:rPr lang="en-US" altLang="zh-CN">
                  <a:solidFill>
                    <a:srgbClr val="66FFFF"/>
                  </a:solidFill>
                </a:rPr>
                <a:t>d</a:t>
              </a:r>
              <a:r>
                <a:rPr lang="en-US" altLang="zh-CN" i="1">
                  <a:solidFill>
                    <a:srgbClr val="66FFFF"/>
                  </a:solidFill>
                </a:rPr>
                <a:t>V</a:t>
              </a:r>
              <a:r>
                <a:rPr lang="en-US" altLang="zh-CN" i="1">
                  <a:solidFill>
                    <a:srgbClr val="99FFCC"/>
                  </a:solidFill>
                </a:rPr>
                <a:t> </a:t>
              </a:r>
              <a:r>
                <a:rPr lang="zh-CN" altLang="en-US">
                  <a:solidFill>
                    <a:schemeClr val="hlink"/>
                  </a:solidFill>
                  <a:ea typeface="STZhongsong" panose="02010600040101010101" pitchFamily="2" charset="-122"/>
                </a:rPr>
                <a:t>体积内出现的概率</a:t>
              </a:r>
            </a:p>
          </p:txBody>
        </p:sp>
        <p:sp>
          <p:nvSpPr>
            <p:cNvPr id="19469" name="Line 5">
              <a:extLst>
                <a:ext uri="{FF2B5EF4-FFF2-40B4-BE49-F238E27FC236}">
                  <a16:creationId xmlns:a16="http://schemas.microsoft.com/office/drawing/2014/main" id="{DD3FE084-F853-455C-AAC0-3E51766323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0" y="2026"/>
              <a:ext cx="144" cy="0"/>
            </a:xfrm>
            <a:prstGeom prst="line">
              <a:avLst/>
            </a:prstGeom>
            <a:noFill/>
            <a:ln w="9525">
              <a:solidFill>
                <a:srgbClr val="66FF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88AE3EFD-4BCF-462D-8F68-8292FABD7FF5}"/>
              </a:ext>
            </a:extLst>
          </p:cNvPr>
          <p:cNvGraphicFramePr>
            <a:graphicFrameLocks/>
          </p:cNvGraphicFramePr>
          <p:nvPr/>
        </p:nvGraphicFramePr>
        <p:xfrm>
          <a:off x="2286000" y="4708525"/>
          <a:ext cx="3221038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63" name="公式" r:id="rId5" imgW="3190920" imgH="562111" progId="Equation.3">
                  <p:embed/>
                </p:oleObj>
              </mc:Choice>
              <mc:Fallback>
                <p:oleObj name="公式" r:id="rId5" imgW="3190920" imgH="562111" progId="Equation.3">
                  <p:embed/>
                  <p:pic>
                    <p:nvPicPr>
                      <p:cNvPr id="12" name="Object 6">
                        <a:extLst>
                          <a:ext uri="{FF2B5EF4-FFF2-40B4-BE49-F238E27FC236}">
                            <a16:creationId xmlns:a16="http://schemas.microsoft.com/office/drawing/2014/main" id="{88AE3EFD-4BCF-462D-8F68-8292FABD7FF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708525"/>
                        <a:ext cx="3221038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7">
            <a:extLst>
              <a:ext uri="{FF2B5EF4-FFF2-40B4-BE49-F238E27FC236}">
                <a16:creationId xmlns:a16="http://schemas.microsoft.com/office/drawing/2014/main" id="{43D2039A-098C-4C1C-BDA6-0E4104869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" y="4075113"/>
            <a:ext cx="7385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</a:rPr>
              <a:t>2. </a:t>
            </a:r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归一化条件</a:t>
            </a:r>
            <a:r>
              <a:rPr lang="zh-CN" altLang="en-US">
                <a:solidFill>
                  <a:schemeClr val="bg1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 </a:t>
            </a:r>
            <a:r>
              <a:rPr lang="en-US" altLang="zh-CN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>
                <a:solidFill>
                  <a:srgbClr val="66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粒子在整个空间出现的概率为</a:t>
            </a:r>
            <a:r>
              <a:rPr lang="en-US" altLang="zh-CN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1)</a:t>
            </a:r>
            <a:r>
              <a:rPr lang="en-US" altLang="zh-CN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3A142D78-78DD-4257-ABC7-1B8104BC9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5475288"/>
            <a:ext cx="510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</a:rPr>
              <a:t>3. </a:t>
            </a: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波函数必须</a:t>
            </a:r>
            <a:r>
              <a:rPr lang="zh-CN" altLang="en-US">
                <a:solidFill>
                  <a:srgbClr val="66FFFF"/>
                </a:solidFill>
                <a:ea typeface="STZhongsong" panose="02010600040101010101" pitchFamily="2" charset="-122"/>
              </a:rPr>
              <a:t>单值</a:t>
            </a: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、</a:t>
            </a:r>
            <a:r>
              <a:rPr lang="zh-CN" altLang="en-US">
                <a:solidFill>
                  <a:srgbClr val="66FFFF"/>
                </a:solidFill>
                <a:ea typeface="STZhongsong" panose="02010600040101010101" pitchFamily="2" charset="-122"/>
              </a:rPr>
              <a:t>有限</a:t>
            </a: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、</a:t>
            </a:r>
            <a:r>
              <a:rPr lang="zh-CN" altLang="en-US">
                <a:solidFill>
                  <a:srgbClr val="66FFFF"/>
                </a:solidFill>
                <a:ea typeface="STZhongsong" panose="02010600040101010101" pitchFamily="2" charset="-122"/>
              </a:rPr>
              <a:t>连续</a:t>
            </a: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7100D7D4-F887-4437-A638-F74FDA306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6038850"/>
            <a:ext cx="7072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概率密度在任一处都是唯一、有限的、连续的</a:t>
            </a:r>
          </a:p>
        </p:txBody>
      </p:sp>
      <p:sp>
        <p:nvSpPr>
          <p:cNvPr id="14346" name="Text Box 10">
            <a:extLst>
              <a:ext uri="{FF2B5EF4-FFF2-40B4-BE49-F238E27FC236}">
                <a16:creationId xmlns:a16="http://schemas.microsoft.com/office/drawing/2014/main" id="{2F39D6E7-7906-4A67-A6BA-885B6F648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2360613"/>
            <a:ext cx="1112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说明：</a:t>
            </a:r>
            <a:endParaRPr lang="zh-CN" altLang="en-US">
              <a:solidFill>
                <a:srgbClr val="00FFFF"/>
              </a:solidFill>
            </a:endParaRPr>
          </a:p>
        </p:txBody>
      </p:sp>
      <p:sp>
        <p:nvSpPr>
          <p:cNvPr id="19467" name="灯片编号占位符 1">
            <a:extLst>
              <a:ext uri="{FF2B5EF4-FFF2-40B4-BE49-F238E27FC236}">
                <a16:creationId xmlns:a16="http://schemas.microsoft.com/office/drawing/2014/main" id="{56AF7FDE-5369-4A84-94A9-6B4CDDAFDE3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966A41-2CE2-48EB-AE32-07194E3C3F12}" type="slidenum">
              <a:rPr lang="en-US" altLang="zh-CN" b="0">
                <a:solidFill>
                  <a:srgbClr val="FF00FF"/>
                </a:solidFill>
              </a:rPr>
              <a:pPr eaLnBrk="1" hangingPunct="1"/>
              <a:t>20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89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3" grpId="0"/>
      <p:bldP spid="89098" grpId="0" build="p" autoUpdateAnimBg="0"/>
      <p:bldP spid="13" grpId="0" autoUpdateAnimBg="0"/>
      <p:bldP spid="14" grpId="0" autoUpdateAnimBg="0"/>
      <p:bldP spid="15" grpId="0" autoUpdateAnimBg="0"/>
      <p:bldP spid="1434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45" name="Rectangle 29">
            <a:extLst>
              <a:ext uri="{FF2B5EF4-FFF2-40B4-BE49-F238E27FC236}">
                <a16:creationId xmlns:a16="http://schemas.microsoft.com/office/drawing/2014/main" id="{C7579C6C-6BD1-4E53-B70A-3637AD39B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357188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  <a:ea typeface="楷体_GB2312" pitchFamily="49" charset="-122"/>
              </a:rPr>
              <a:t>例：</a:t>
            </a:r>
            <a:r>
              <a:rPr lang="zh-CN" altLang="en-US">
                <a:solidFill>
                  <a:srgbClr val="FFFFFF"/>
                </a:solidFill>
                <a:ea typeface="楷体_GB2312" pitchFamily="49" charset="-122"/>
              </a:rPr>
              <a:t>有一粒子在一维空间运动，其波函数为</a:t>
            </a:r>
          </a:p>
        </p:txBody>
      </p:sp>
      <p:graphicFrame>
        <p:nvGraphicFramePr>
          <p:cNvPr id="188446" name="Object 2">
            <a:extLst>
              <a:ext uri="{FF2B5EF4-FFF2-40B4-BE49-F238E27FC236}">
                <a16:creationId xmlns:a16="http://schemas.microsoft.com/office/drawing/2014/main" id="{4EA592C0-5066-455B-90B9-032A6FF573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7975" y="831850"/>
          <a:ext cx="5894388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10" name="公式" r:id="rId3" imgW="2657571" imgH="590584" progId="Equation.3">
                  <p:embed/>
                </p:oleObj>
              </mc:Choice>
              <mc:Fallback>
                <p:oleObj name="公式" r:id="rId3" imgW="2657571" imgH="590584" progId="Equation.3">
                  <p:embed/>
                  <p:pic>
                    <p:nvPicPr>
                      <p:cNvPr id="188446" name="Object 2">
                        <a:extLst>
                          <a:ext uri="{FF2B5EF4-FFF2-40B4-BE49-F238E27FC236}">
                            <a16:creationId xmlns:a16="http://schemas.microsoft.com/office/drawing/2014/main" id="{4EA592C0-5066-455B-90B9-032A6FF573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975" y="831850"/>
                        <a:ext cx="5894388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55" name="Rectangle 39">
            <a:extLst>
              <a:ext uri="{FF2B5EF4-FFF2-40B4-BE49-F238E27FC236}">
                <a16:creationId xmlns:a16="http://schemas.microsoft.com/office/drawing/2014/main" id="{A1AC5A00-2CF7-4D5D-A302-AFFAEC5AD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2185988"/>
            <a:ext cx="6643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  <a:ea typeface="楷体_GB2312" pitchFamily="49" charset="-122"/>
              </a:rPr>
              <a:t>求：</a:t>
            </a:r>
            <a:r>
              <a:rPr lang="zh-CN" altLang="en-US">
                <a:solidFill>
                  <a:srgbClr val="FFFFFF"/>
                </a:solidFill>
                <a:ea typeface="楷体_GB2312" pitchFamily="49" charset="-122"/>
              </a:rPr>
              <a:t>波函数的归一化因子 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A </a:t>
            </a:r>
            <a:r>
              <a:rPr lang="zh-CN" altLang="en-US">
                <a:solidFill>
                  <a:srgbClr val="FFFFFF"/>
                </a:solidFill>
                <a:ea typeface="楷体_GB2312" pitchFamily="49" charset="-122"/>
              </a:rPr>
              <a:t>和粒子概率密度？</a:t>
            </a:r>
          </a:p>
        </p:txBody>
      </p:sp>
      <p:graphicFrame>
        <p:nvGraphicFramePr>
          <p:cNvPr id="188456" name="Object 8">
            <a:extLst>
              <a:ext uri="{FF2B5EF4-FFF2-40B4-BE49-F238E27FC236}">
                <a16:creationId xmlns:a16="http://schemas.microsoft.com/office/drawing/2014/main" id="{A4914032-F8AF-413B-BEDE-545A3A3E78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2513" y="3535363"/>
          <a:ext cx="1758950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11" name="Equation" r:id="rId5" imgW="781063" imgH="304936" progId="Equation.3">
                  <p:embed/>
                </p:oleObj>
              </mc:Choice>
              <mc:Fallback>
                <p:oleObj name="Equation" r:id="rId5" imgW="781063" imgH="304936" progId="Equation.3">
                  <p:embed/>
                  <p:pic>
                    <p:nvPicPr>
                      <p:cNvPr id="188456" name="Object 8">
                        <a:extLst>
                          <a:ext uri="{FF2B5EF4-FFF2-40B4-BE49-F238E27FC236}">
                            <a16:creationId xmlns:a16="http://schemas.microsoft.com/office/drawing/2014/main" id="{A4914032-F8AF-413B-BEDE-545A3A3E78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3535363"/>
                        <a:ext cx="1758950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57" name="Object 9">
            <a:extLst>
              <a:ext uri="{FF2B5EF4-FFF2-40B4-BE49-F238E27FC236}">
                <a16:creationId xmlns:a16="http://schemas.microsoft.com/office/drawing/2014/main" id="{9AA6DE44-E75C-45C9-B913-DC90C089DC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7113" y="3535363"/>
          <a:ext cx="4859337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12" name="Equation" r:id="rId7" imgW="2190890" imgH="304936" progId="Equation.3">
                  <p:embed/>
                </p:oleObj>
              </mc:Choice>
              <mc:Fallback>
                <p:oleObj name="Equation" r:id="rId7" imgW="2190890" imgH="304936" progId="Equation.3">
                  <p:embed/>
                  <p:pic>
                    <p:nvPicPr>
                      <p:cNvPr id="188457" name="Object 9">
                        <a:extLst>
                          <a:ext uri="{FF2B5EF4-FFF2-40B4-BE49-F238E27FC236}">
                            <a16:creationId xmlns:a16="http://schemas.microsoft.com/office/drawing/2014/main" id="{9AA6DE44-E75C-45C9-B913-DC90C089DC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113" y="3535363"/>
                        <a:ext cx="4859337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58" name="AutoShape 42">
            <a:extLst>
              <a:ext uri="{FF2B5EF4-FFF2-40B4-BE49-F238E27FC236}">
                <a16:creationId xmlns:a16="http://schemas.microsoft.com/office/drawing/2014/main" id="{04AD03E9-B50A-4D06-8761-806ACC4AB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7513" y="3763963"/>
            <a:ext cx="533400" cy="250825"/>
          </a:xfrm>
          <a:prstGeom prst="rightArrow">
            <a:avLst>
              <a:gd name="adj1" fmla="val 50000"/>
              <a:gd name="adj2" fmla="val 53165"/>
            </a:avLst>
          </a:prstGeom>
          <a:noFill/>
          <a:ln w="2540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88459" name="Object 10">
            <a:extLst>
              <a:ext uri="{FF2B5EF4-FFF2-40B4-BE49-F238E27FC236}">
                <a16:creationId xmlns:a16="http://schemas.microsoft.com/office/drawing/2014/main" id="{05C0D938-8060-4A91-A400-30DD30F370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1688" y="4572000"/>
          <a:ext cx="617220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13" name="公式" r:id="rId9" imgW="2781427" imgH="371373" progId="Equation.3">
                  <p:embed/>
                </p:oleObj>
              </mc:Choice>
              <mc:Fallback>
                <p:oleObj name="公式" r:id="rId9" imgW="2781427" imgH="371373" progId="Equation.3">
                  <p:embed/>
                  <p:pic>
                    <p:nvPicPr>
                      <p:cNvPr id="188459" name="Object 10">
                        <a:extLst>
                          <a:ext uri="{FF2B5EF4-FFF2-40B4-BE49-F238E27FC236}">
                            <a16:creationId xmlns:a16="http://schemas.microsoft.com/office/drawing/2014/main" id="{05C0D938-8060-4A91-A400-30DD30F370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4572000"/>
                        <a:ext cx="6172200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60" name="Object 11">
            <a:extLst>
              <a:ext uri="{FF2B5EF4-FFF2-40B4-BE49-F238E27FC236}">
                <a16:creationId xmlns:a16="http://schemas.microsoft.com/office/drawing/2014/main" id="{8137F488-1FE9-4B81-93C9-CA911975F0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4863" y="5659438"/>
          <a:ext cx="3071812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14" name="Equation" r:id="rId11" imgW="1371600" imgH="371373" progId="Equation.3">
                  <p:embed/>
                </p:oleObj>
              </mc:Choice>
              <mc:Fallback>
                <p:oleObj name="Equation" r:id="rId11" imgW="1371600" imgH="371373" progId="Equation.3">
                  <p:embed/>
                  <p:pic>
                    <p:nvPicPr>
                      <p:cNvPr id="188460" name="Object 11">
                        <a:extLst>
                          <a:ext uri="{FF2B5EF4-FFF2-40B4-BE49-F238E27FC236}">
                            <a16:creationId xmlns:a16="http://schemas.microsoft.com/office/drawing/2014/main" id="{8137F488-1FE9-4B81-93C9-CA911975F0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5659438"/>
                        <a:ext cx="3071812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61" name="AutoShape 45">
            <a:extLst>
              <a:ext uri="{FF2B5EF4-FFF2-40B4-BE49-F238E27FC236}">
                <a16:creationId xmlns:a16="http://schemas.microsoft.com/office/drawing/2014/main" id="{7F98F905-266B-49DF-9B73-730D38CA4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3850" y="5786438"/>
            <a:ext cx="533400" cy="609600"/>
          </a:xfrm>
          <a:prstGeom prst="rightArrow">
            <a:avLst>
              <a:gd name="adj1" fmla="val 50000"/>
              <a:gd name="adj2" fmla="val 25000"/>
            </a:avLst>
          </a:prstGeom>
          <a:noFill/>
          <a:ln w="2540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88462" name="Object 12">
            <a:extLst>
              <a:ext uri="{FF2B5EF4-FFF2-40B4-BE49-F238E27FC236}">
                <a16:creationId xmlns:a16="http://schemas.microsoft.com/office/drawing/2014/main" id="{5CA4518D-FDB1-435A-B538-B896AB1350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2038" y="5572125"/>
          <a:ext cx="1144587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15" name="Equation" r:id="rId13" imgW="495427" imgH="419134" progId="Equation.3">
                  <p:embed/>
                </p:oleObj>
              </mc:Choice>
              <mc:Fallback>
                <p:oleObj name="Equation" r:id="rId13" imgW="495427" imgH="419134" progId="Equation.3">
                  <p:embed/>
                  <p:pic>
                    <p:nvPicPr>
                      <p:cNvPr id="188462" name="Object 12">
                        <a:extLst>
                          <a:ext uri="{FF2B5EF4-FFF2-40B4-BE49-F238E27FC236}">
                            <a16:creationId xmlns:a16="http://schemas.microsoft.com/office/drawing/2014/main" id="{5CA4518D-FDB1-435A-B538-B896AB1350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2038" y="5572125"/>
                        <a:ext cx="1144587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65" name="Rectangle 49">
            <a:extLst>
              <a:ext uri="{FF2B5EF4-FFF2-40B4-BE49-F238E27FC236}">
                <a16:creationId xmlns:a16="http://schemas.microsoft.com/office/drawing/2014/main" id="{62CF06D9-FBBF-48EF-AC89-8449BA3CF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2795588"/>
            <a:ext cx="716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  <a:ea typeface="楷体_GB2312" pitchFamily="49" charset="-122"/>
              </a:rPr>
              <a:t>解：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1)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根据</a:t>
            </a:r>
            <a:r>
              <a:rPr lang="zh-CN" altLang="en-US">
                <a:solidFill>
                  <a:srgbClr val="FFFFFF"/>
                </a:solidFill>
                <a:ea typeface="楷体_GB2312" pitchFamily="49" charset="-122"/>
              </a:rPr>
              <a:t>波函数的归一化条件</a:t>
            </a:r>
          </a:p>
        </p:txBody>
      </p:sp>
      <p:sp>
        <p:nvSpPr>
          <p:cNvPr id="188466" name="Line 50">
            <a:extLst>
              <a:ext uri="{FF2B5EF4-FFF2-40B4-BE49-F238E27FC236}">
                <a16:creationId xmlns:a16="http://schemas.microsoft.com/office/drawing/2014/main" id="{907C62CC-3E2E-402A-B2D0-99C58984A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1513" y="3633788"/>
            <a:ext cx="9144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67" name="Line 51">
            <a:extLst>
              <a:ext uri="{FF2B5EF4-FFF2-40B4-BE49-F238E27FC236}">
                <a16:creationId xmlns:a16="http://schemas.microsoft.com/office/drawing/2014/main" id="{3B0CFBAE-1F05-45D4-A60C-BB4E759A56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313" y="3633788"/>
            <a:ext cx="8382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5" name="灯片编号占位符 1">
            <a:extLst>
              <a:ext uri="{FF2B5EF4-FFF2-40B4-BE49-F238E27FC236}">
                <a16:creationId xmlns:a16="http://schemas.microsoft.com/office/drawing/2014/main" id="{C1B81FE3-05E1-4D3F-9FE3-A94BC81951F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F3B6D-80DB-4FF4-93D6-AE00B8A7EA65}" type="slidenum">
              <a:rPr lang="en-US" altLang="zh-CN" b="0">
                <a:solidFill>
                  <a:srgbClr val="FF00FF"/>
                </a:solidFill>
              </a:rPr>
              <a:pPr eaLnBrk="1" hangingPunct="1"/>
              <a:t>21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18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8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8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8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8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8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45" grpId="0" autoUpdateAnimBg="0"/>
      <p:bldP spid="188455" grpId="0" autoUpdateAnimBg="0"/>
      <p:bldP spid="188458" grpId="0" animBg="1"/>
      <p:bldP spid="188461" grpId="0" animBg="1"/>
      <p:bldP spid="18846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468" name="Object 2">
            <a:extLst>
              <a:ext uri="{FF2B5EF4-FFF2-40B4-BE49-F238E27FC236}">
                <a16:creationId xmlns:a16="http://schemas.microsoft.com/office/drawing/2014/main" id="{045B0D60-0D61-48A1-A8D7-A643CDB917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3138" y="2498725"/>
          <a:ext cx="5670550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28" name="公式" r:id="rId3" imgW="2552675" imgH="590584" progId="Equation.3">
                  <p:embed/>
                </p:oleObj>
              </mc:Choice>
              <mc:Fallback>
                <p:oleObj name="公式" r:id="rId3" imgW="2552675" imgH="590584" progId="Equation.3">
                  <p:embed/>
                  <p:pic>
                    <p:nvPicPr>
                      <p:cNvPr id="189468" name="Object 2">
                        <a:extLst>
                          <a:ext uri="{FF2B5EF4-FFF2-40B4-BE49-F238E27FC236}">
                            <a16:creationId xmlns:a16="http://schemas.microsoft.com/office/drawing/2014/main" id="{045B0D60-0D61-48A1-A8D7-A643CDB917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138" y="2498725"/>
                        <a:ext cx="5670550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69" name="Object 3">
            <a:extLst>
              <a:ext uri="{FF2B5EF4-FFF2-40B4-BE49-F238E27FC236}">
                <a16:creationId xmlns:a16="http://schemas.microsoft.com/office/drawing/2014/main" id="{F49192CC-8EB8-439D-91F2-C822342492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2050" y="4064000"/>
          <a:ext cx="259715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29" name="Equation" r:id="rId5" imgW="1162114" imgH="371373" progId="Equation.3">
                  <p:embed/>
                </p:oleObj>
              </mc:Choice>
              <mc:Fallback>
                <p:oleObj name="Equation" r:id="rId5" imgW="1162114" imgH="371373" progId="Equation.3">
                  <p:embed/>
                  <p:pic>
                    <p:nvPicPr>
                      <p:cNvPr id="189469" name="Object 3">
                        <a:extLst>
                          <a:ext uri="{FF2B5EF4-FFF2-40B4-BE49-F238E27FC236}">
                            <a16:creationId xmlns:a16="http://schemas.microsoft.com/office/drawing/2014/main" id="{F49192CC-8EB8-439D-91F2-C82234249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4064000"/>
                        <a:ext cx="2597150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470" name="AutoShape 30">
            <a:extLst>
              <a:ext uri="{FF2B5EF4-FFF2-40B4-BE49-F238E27FC236}">
                <a16:creationId xmlns:a16="http://schemas.microsoft.com/office/drawing/2014/main" id="{35DF1788-AAC9-412F-9027-B688AF40D6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314700" y="52197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noFill/>
          <a:ln w="1587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89471" name="Object 4">
            <a:extLst>
              <a:ext uri="{FF2B5EF4-FFF2-40B4-BE49-F238E27FC236}">
                <a16:creationId xmlns:a16="http://schemas.microsoft.com/office/drawing/2014/main" id="{DC56E8BB-0FE0-4DF3-8E8F-85E05204C0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6113" y="5670550"/>
          <a:ext cx="83820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30" name="Equation" r:id="rId7" imgW="362090" imgH="371373" progId="Equation.3">
                  <p:embed/>
                </p:oleObj>
              </mc:Choice>
              <mc:Fallback>
                <p:oleObj name="Equation" r:id="rId7" imgW="362090" imgH="371373" progId="Equation.3">
                  <p:embed/>
                  <p:pic>
                    <p:nvPicPr>
                      <p:cNvPr id="189471" name="Object 4">
                        <a:extLst>
                          <a:ext uri="{FF2B5EF4-FFF2-40B4-BE49-F238E27FC236}">
                            <a16:creationId xmlns:a16="http://schemas.microsoft.com/office/drawing/2014/main" id="{DC56E8BB-0FE0-4DF3-8E8F-85E05204C0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3" y="5670550"/>
                        <a:ext cx="838200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472" name="Rectangle 32">
            <a:extLst>
              <a:ext uri="{FF2B5EF4-FFF2-40B4-BE49-F238E27FC236}">
                <a16:creationId xmlns:a16="http://schemas.microsoft.com/office/drawing/2014/main" id="{8D3B2DDD-3165-4EA6-90DE-B022B1B4A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5643563"/>
            <a:ext cx="160020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>
                <a:solidFill>
                  <a:srgbClr val="FFFFFF"/>
                </a:solidFill>
                <a:ea typeface="楷体_GB2312" pitchFamily="49" charset="-122"/>
              </a:rPr>
              <a:t>处的粒子概率最大</a:t>
            </a:r>
          </a:p>
        </p:txBody>
      </p:sp>
      <p:sp>
        <p:nvSpPr>
          <p:cNvPr id="189473" name="Rectangle 33">
            <a:extLst>
              <a:ext uri="{FF2B5EF4-FFF2-40B4-BE49-F238E27FC236}">
                <a16:creationId xmlns:a16="http://schemas.microsoft.com/office/drawing/2014/main" id="{29EE6376-2514-4534-BB40-F24AF2CC6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8" y="4062413"/>
            <a:ext cx="154305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概率密度取极值</a:t>
            </a:r>
          </a:p>
        </p:txBody>
      </p:sp>
      <p:graphicFrame>
        <p:nvGraphicFramePr>
          <p:cNvPr id="189485" name="Object 7">
            <a:extLst>
              <a:ext uri="{FF2B5EF4-FFF2-40B4-BE49-F238E27FC236}">
                <a16:creationId xmlns:a16="http://schemas.microsoft.com/office/drawing/2014/main" id="{CBF0BE4F-8E1A-41C7-B992-2AC12EF57E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609600"/>
          <a:ext cx="1144588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31" name="公式" r:id="rId9" imgW="495427" imgH="419134" progId="Equation.3">
                  <p:embed/>
                </p:oleObj>
              </mc:Choice>
              <mc:Fallback>
                <p:oleObj name="公式" r:id="rId9" imgW="495427" imgH="419134" progId="Equation.3">
                  <p:embed/>
                  <p:pic>
                    <p:nvPicPr>
                      <p:cNvPr id="189485" name="Object 7">
                        <a:extLst>
                          <a:ext uri="{FF2B5EF4-FFF2-40B4-BE49-F238E27FC236}">
                            <a16:creationId xmlns:a16="http://schemas.microsoft.com/office/drawing/2014/main" id="{CBF0BE4F-8E1A-41C7-B992-2AC12EF57E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609600"/>
                        <a:ext cx="1144588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486" name="AutoShape 46">
            <a:extLst>
              <a:ext uri="{FF2B5EF4-FFF2-40B4-BE49-F238E27FC236}">
                <a16:creationId xmlns:a16="http://schemas.microsoft.com/office/drawing/2014/main" id="{2320D560-DB74-4229-8AC8-A27DD6C39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995363"/>
            <a:ext cx="542925" cy="290512"/>
          </a:xfrm>
          <a:prstGeom prst="rightArrow">
            <a:avLst>
              <a:gd name="adj1" fmla="val 43944"/>
              <a:gd name="adj2" fmla="val 94343"/>
            </a:avLst>
          </a:prstGeom>
          <a:solidFill>
            <a:srgbClr val="FF99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89487" name="Object 8">
            <a:extLst>
              <a:ext uri="{FF2B5EF4-FFF2-40B4-BE49-F238E27FC236}">
                <a16:creationId xmlns:a16="http://schemas.microsoft.com/office/drawing/2014/main" id="{0EEE0672-2991-438D-AE61-054B59B649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0150" y="428625"/>
          <a:ext cx="6173788" cy="139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32" name="公式" r:id="rId11" imgW="2781427" imgH="609566" progId="Equation.3">
                  <p:embed/>
                </p:oleObj>
              </mc:Choice>
              <mc:Fallback>
                <p:oleObj name="公式" r:id="rId11" imgW="2781427" imgH="609566" progId="Equation.3">
                  <p:embed/>
                  <p:pic>
                    <p:nvPicPr>
                      <p:cNvPr id="189487" name="Object 8">
                        <a:extLst>
                          <a:ext uri="{FF2B5EF4-FFF2-40B4-BE49-F238E27FC236}">
                            <a16:creationId xmlns:a16="http://schemas.microsoft.com/office/drawing/2014/main" id="{0EEE0672-2991-438D-AE61-054B59B649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428625"/>
                        <a:ext cx="6173788" cy="1395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488" name="AutoShape 48">
            <a:extLst>
              <a:ext uri="{FF2B5EF4-FFF2-40B4-BE49-F238E27FC236}">
                <a16:creationId xmlns:a16="http://schemas.microsoft.com/office/drawing/2014/main" id="{42AD6C29-39E7-4CA9-B92C-E7834728B48A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858000" y="1928813"/>
            <a:ext cx="838200" cy="15240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3734 h 21600"/>
              <a:gd name="T14" fmla="*/ 18586 w 21600"/>
              <a:gd name="T15" fmla="*/ 842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3786" y="0"/>
                </a:lnTo>
                <a:lnTo>
                  <a:pt x="13786" y="3734"/>
                </a:lnTo>
                <a:lnTo>
                  <a:pt x="12427" y="3734"/>
                </a:lnTo>
                <a:cubicBezTo>
                  <a:pt x="5564" y="3734"/>
                  <a:pt x="0" y="7506"/>
                  <a:pt x="0" y="12158"/>
                </a:cubicBezTo>
                <a:lnTo>
                  <a:pt x="0" y="21600"/>
                </a:lnTo>
                <a:lnTo>
                  <a:pt x="4794" y="21600"/>
                </a:lnTo>
                <a:lnTo>
                  <a:pt x="4794" y="12158"/>
                </a:lnTo>
                <a:cubicBezTo>
                  <a:pt x="4794" y="10096"/>
                  <a:pt x="8211" y="8424"/>
                  <a:pt x="12427" y="8424"/>
                </a:cubicBezTo>
                <a:lnTo>
                  <a:pt x="13786" y="8424"/>
                </a:lnTo>
                <a:lnTo>
                  <a:pt x="1378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66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9489" name="Rectangle 49">
            <a:extLst>
              <a:ext uri="{FF2B5EF4-FFF2-40B4-BE49-F238E27FC236}">
                <a16:creationId xmlns:a16="http://schemas.microsoft.com/office/drawing/2014/main" id="{8C290E02-40F0-4AB7-BFF5-7833E6645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905000"/>
            <a:ext cx="716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FF"/>
                </a:solidFill>
                <a:ea typeface="楷体_GB2312" pitchFamily="49" charset="-122"/>
              </a:rPr>
              <a:t>2) </a:t>
            </a:r>
            <a:r>
              <a:rPr lang="zh-CN" altLang="en-US">
                <a:solidFill>
                  <a:srgbClr val="FFFFFF"/>
                </a:solidFill>
                <a:ea typeface="楷体_GB2312" pitchFamily="49" charset="-122"/>
              </a:rPr>
              <a:t>根据玻恩统计解释，粒子的概率密度</a:t>
            </a:r>
          </a:p>
        </p:txBody>
      </p:sp>
      <p:sp>
        <p:nvSpPr>
          <p:cNvPr id="21517" name="灯片编号占位符 1">
            <a:extLst>
              <a:ext uri="{FF2B5EF4-FFF2-40B4-BE49-F238E27FC236}">
                <a16:creationId xmlns:a16="http://schemas.microsoft.com/office/drawing/2014/main" id="{E1822DEB-55BC-49D7-8864-774D9EF48A5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50C97C2-C0D0-4CEB-903F-1A61F620FD4C}" type="slidenum">
              <a:rPr lang="en-US" altLang="zh-CN" b="0">
                <a:solidFill>
                  <a:srgbClr val="FF00FF"/>
                </a:solidFill>
              </a:rPr>
              <a:pPr eaLnBrk="1" hangingPunct="1"/>
              <a:t>22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8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8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18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70" grpId="0" animBg="1"/>
      <p:bldP spid="189472" grpId="0" autoUpdateAnimBg="0"/>
      <p:bldP spid="189473" grpId="0" autoUpdateAnimBg="0"/>
      <p:bldP spid="189486" grpId="0" animBg="1"/>
      <p:bldP spid="18948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1">
            <a:extLst>
              <a:ext uri="{FF2B5EF4-FFF2-40B4-BE49-F238E27FC236}">
                <a16:creationId xmlns:a16="http://schemas.microsoft.com/office/drawing/2014/main" id="{F78CD132-FB17-4EAD-B138-9F8F36C57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948" y="1992678"/>
            <a:ext cx="2857500" cy="1724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37">
            <a:extLst>
              <a:ext uri="{FF2B5EF4-FFF2-40B4-BE49-F238E27FC236}">
                <a16:creationId xmlns:a16="http://schemas.microsoft.com/office/drawing/2014/main" id="{0E7BAE86-0F27-4DEF-BEDD-D36F39950FA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55086" y="3355026"/>
          <a:ext cx="2496017" cy="397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70" name="Equation" r:id="rId5" imgW="1937160" imgH="249480" progId="Equation.DSMT4">
                  <p:embed/>
                </p:oleObj>
              </mc:Choice>
              <mc:Fallback>
                <p:oleObj name="Equation" r:id="rId5" imgW="1937160" imgH="249480" progId="Equation.DSMT4">
                  <p:embed/>
                  <p:pic>
                    <p:nvPicPr>
                      <p:cNvPr id="7" name="Object 37">
                        <a:extLst>
                          <a:ext uri="{FF2B5EF4-FFF2-40B4-BE49-F238E27FC236}">
                            <a16:creationId xmlns:a16="http://schemas.microsoft.com/office/drawing/2014/main" id="{0E7BAE86-0F27-4DEF-BEDD-D36F39950F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086" y="3355026"/>
                        <a:ext cx="2496017" cy="397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8C03FB7D-FDE9-4491-8C7F-A864B751D4AC}"/>
              </a:ext>
            </a:extLst>
          </p:cNvPr>
          <p:cNvSpPr txBox="1"/>
          <p:nvPr/>
        </p:nvSpPr>
        <p:spPr>
          <a:xfrm>
            <a:off x="809876" y="1916832"/>
            <a:ext cx="4266180" cy="963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等线" panose="02010600030101010101" pitchFamily="2" charset="-122"/>
              </a:rPr>
              <a:t>缝</a:t>
            </a:r>
            <a:r>
              <a:rPr lang="en-US" altLang="zh-CN" sz="2000" dirty="0">
                <a:solidFill>
                  <a:schemeClr val="bg1"/>
                </a:solidFill>
                <a:latin typeface="等线" panose="02010600030101010101" pitchFamily="2" charset="-122"/>
              </a:rPr>
              <a:t>S</a:t>
            </a:r>
            <a:r>
              <a:rPr lang="en-US" altLang="zh-CN" sz="2000" baseline="-25000" dirty="0">
                <a:solidFill>
                  <a:schemeClr val="bg1"/>
                </a:solidFill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等线" panose="02010600030101010101" pitchFamily="2" charset="-122"/>
              </a:rPr>
              <a:t>单独打开时电子</a:t>
            </a:r>
            <a:r>
              <a:rPr lang="en-US" altLang="zh-CN" sz="2000" dirty="0">
                <a:solidFill>
                  <a:schemeClr val="bg1"/>
                </a:solidFill>
                <a:latin typeface="等线" panose="02010600030101010101" pitchFamily="2" charset="-122"/>
              </a:rPr>
              <a:t>t</a:t>
            </a:r>
            <a:r>
              <a:rPr lang="zh-CN" altLang="en-US" sz="2000" dirty="0">
                <a:solidFill>
                  <a:schemeClr val="bg1"/>
                </a:solidFill>
                <a:latin typeface="等线" panose="02010600030101010101" pitchFamily="2" charset="-122"/>
              </a:rPr>
              <a:t>时刻屏</a:t>
            </a:r>
            <a:r>
              <a:rPr lang="en-US" altLang="zh-CN" sz="2000" dirty="0">
                <a:solidFill>
                  <a:schemeClr val="bg1"/>
                </a:solidFill>
                <a:latin typeface="等线" panose="02010600030101010101" pitchFamily="2" charset="-122"/>
              </a:rPr>
              <a:t>P</a:t>
            </a:r>
            <a:r>
              <a:rPr lang="zh-CN" altLang="en-US" sz="2000" dirty="0">
                <a:solidFill>
                  <a:schemeClr val="bg1"/>
                </a:solidFill>
                <a:latin typeface="等线" panose="02010600030101010101" pitchFamily="2" charset="-122"/>
              </a:rPr>
              <a:t>处的波函数</a:t>
            </a:r>
          </a:p>
        </p:txBody>
      </p:sp>
      <p:graphicFrame>
        <p:nvGraphicFramePr>
          <p:cNvPr id="11" name="Object 37">
            <a:extLst>
              <a:ext uri="{FF2B5EF4-FFF2-40B4-BE49-F238E27FC236}">
                <a16:creationId xmlns:a16="http://schemas.microsoft.com/office/drawing/2014/main" id="{C9A8E454-7CBC-44A4-BFF8-8BFE47B784B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28040" y="2444245"/>
          <a:ext cx="809711" cy="404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71" name="Equation" r:id="rId7" imgW="482400" imgH="228600" progId="Equation.DSMT4">
                  <p:embed/>
                </p:oleObj>
              </mc:Choice>
              <mc:Fallback>
                <p:oleObj name="Equation" r:id="rId7" imgW="482400" imgH="228600" progId="Equation.DSMT4">
                  <p:embed/>
                  <p:pic>
                    <p:nvPicPr>
                      <p:cNvPr id="11" name="Object 37">
                        <a:extLst>
                          <a:ext uri="{FF2B5EF4-FFF2-40B4-BE49-F238E27FC236}">
                            <a16:creationId xmlns:a16="http://schemas.microsoft.com/office/drawing/2014/main" id="{C9A8E454-7CBC-44A4-BFF8-8BFE47B784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040" y="2444245"/>
                        <a:ext cx="809711" cy="4041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8">
            <a:extLst>
              <a:ext uri="{FF2B5EF4-FFF2-40B4-BE49-F238E27FC236}">
                <a16:creationId xmlns:a16="http://schemas.microsoft.com/office/drawing/2014/main" id="{68561FA1-25C4-4350-8762-90F593843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548680"/>
            <a:ext cx="8333946" cy="142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等线" panose="02010600030101010101" pitchFamily="2" charset="-122"/>
              </a:rPr>
              <a:t>波函数描述体系的状态，波函数的叠加原理又称态叠加原理。          都是体系的可能状态，那么它们的线性叠加                                                            也是这个体系的一个可能状态。</a:t>
            </a:r>
            <a:endParaRPr lang="en-US" altLang="zh-CN" sz="2000" dirty="0">
              <a:solidFill>
                <a:schemeClr val="bg1"/>
              </a:solidFill>
              <a:latin typeface="等线" panose="02010600030101010101" pitchFamily="2" charset="-122"/>
            </a:endParaRPr>
          </a:p>
        </p:txBody>
      </p:sp>
      <p:graphicFrame>
        <p:nvGraphicFramePr>
          <p:cNvPr id="16" name="Object 37">
            <a:extLst>
              <a:ext uri="{FF2B5EF4-FFF2-40B4-BE49-F238E27FC236}">
                <a16:creationId xmlns:a16="http://schemas.microsoft.com/office/drawing/2014/main" id="{FCF04C5B-C376-4C2F-9B48-CBB6CE5FC68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511976" y="627666"/>
          <a:ext cx="595409" cy="39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72" name="Equation" r:id="rId9" imgW="393480" imgH="228600" progId="Equation.DSMT4">
                  <p:embed/>
                </p:oleObj>
              </mc:Choice>
              <mc:Fallback>
                <p:oleObj name="Equation" r:id="rId9" imgW="393480" imgH="228600" progId="Equation.DSMT4">
                  <p:embed/>
                  <p:pic>
                    <p:nvPicPr>
                      <p:cNvPr id="16" name="Object 37">
                        <a:extLst>
                          <a:ext uri="{FF2B5EF4-FFF2-40B4-BE49-F238E27FC236}">
                            <a16:creationId xmlns:a16="http://schemas.microsoft.com/office/drawing/2014/main" id="{FCF04C5B-C376-4C2F-9B48-CBB6CE5FC6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1976" y="627666"/>
                        <a:ext cx="595409" cy="39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7">
            <a:extLst>
              <a:ext uri="{FF2B5EF4-FFF2-40B4-BE49-F238E27FC236}">
                <a16:creationId xmlns:a16="http://schemas.microsoft.com/office/drawing/2014/main" id="{3647A49B-9315-4619-8598-239318C2A08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059986" y="1066558"/>
          <a:ext cx="3592620" cy="421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73" name="Equation" r:id="rId11" imgW="2133360" imgH="253800" progId="Equation.DSMT4">
                  <p:embed/>
                </p:oleObj>
              </mc:Choice>
              <mc:Fallback>
                <p:oleObj name="Equation" r:id="rId11" imgW="2133360" imgH="253800" progId="Equation.DSMT4">
                  <p:embed/>
                  <p:pic>
                    <p:nvPicPr>
                      <p:cNvPr id="23" name="Object 37">
                        <a:extLst>
                          <a:ext uri="{FF2B5EF4-FFF2-40B4-BE49-F238E27FC236}">
                            <a16:creationId xmlns:a16="http://schemas.microsoft.com/office/drawing/2014/main" id="{3647A49B-9315-4619-8598-239318C2A0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986" y="1066558"/>
                        <a:ext cx="3592620" cy="421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8AEA2D3-9AB2-4444-A144-8C7FEB647862}"/>
              </a:ext>
            </a:extLst>
          </p:cNvPr>
          <p:cNvCxnSpPr>
            <a:cxnSpLocks/>
          </p:cNvCxnSpPr>
          <p:nvPr/>
        </p:nvCxnSpPr>
        <p:spPr>
          <a:xfrm flipV="1">
            <a:off x="5985462" y="2565535"/>
            <a:ext cx="754693" cy="28932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C53443E-7935-4DB1-906B-58D5C8FF33EE}"/>
              </a:ext>
            </a:extLst>
          </p:cNvPr>
          <p:cNvCxnSpPr>
            <a:cxnSpLocks/>
          </p:cNvCxnSpPr>
          <p:nvPr/>
        </p:nvCxnSpPr>
        <p:spPr>
          <a:xfrm flipH="1">
            <a:off x="6740155" y="2163991"/>
            <a:ext cx="1770919" cy="4015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A616F79-033E-45D0-A85B-AA43EBF6E28D}"/>
              </a:ext>
            </a:extLst>
          </p:cNvPr>
          <p:cNvCxnSpPr>
            <a:cxnSpLocks/>
          </p:cNvCxnSpPr>
          <p:nvPr/>
        </p:nvCxnSpPr>
        <p:spPr>
          <a:xfrm>
            <a:off x="5985462" y="2854857"/>
            <a:ext cx="710377" cy="20314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4B377F0-BA17-4A26-AB4C-22AAE58D0718}"/>
              </a:ext>
            </a:extLst>
          </p:cNvPr>
          <p:cNvCxnSpPr>
            <a:cxnSpLocks/>
          </p:cNvCxnSpPr>
          <p:nvPr/>
        </p:nvCxnSpPr>
        <p:spPr>
          <a:xfrm flipH="1">
            <a:off x="6695839" y="2152842"/>
            <a:ext cx="1815234" cy="92811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3ACE8178-43B8-4D0F-90B1-A95F7EC8530C}"/>
              </a:ext>
            </a:extLst>
          </p:cNvPr>
          <p:cNvSpPr txBox="1"/>
          <p:nvPr/>
        </p:nvSpPr>
        <p:spPr>
          <a:xfrm>
            <a:off x="759962" y="2908163"/>
            <a:ext cx="3290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等线" panose="02010600030101010101" pitchFamily="2" charset="-122"/>
              </a:rPr>
              <a:t>缝</a:t>
            </a:r>
            <a:r>
              <a:rPr lang="en-US" altLang="zh-CN" sz="2000" dirty="0">
                <a:solidFill>
                  <a:schemeClr val="bg1"/>
                </a:solidFill>
                <a:latin typeface="等线" panose="02010600030101010101" pitchFamily="2" charset="-122"/>
              </a:rPr>
              <a:t>S</a:t>
            </a:r>
            <a:r>
              <a:rPr lang="en-US" altLang="zh-CN" sz="2000" baseline="-25000" dirty="0">
                <a:solidFill>
                  <a:schemeClr val="bg1"/>
                </a:solidFill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等线" panose="02010600030101010101" pitchFamily="2" charset="-122"/>
              </a:rPr>
              <a:t>单独打开时</a:t>
            </a:r>
          </a:p>
        </p:txBody>
      </p:sp>
      <p:graphicFrame>
        <p:nvGraphicFramePr>
          <p:cNvPr id="40" name="Object 37">
            <a:extLst>
              <a:ext uri="{FF2B5EF4-FFF2-40B4-BE49-F238E27FC236}">
                <a16:creationId xmlns:a16="http://schemas.microsoft.com/office/drawing/2014/main" id="{2F1F3FF1-4961-44AD-9719-302F2FD3E58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835697" y="2897293"/>
          <a:ext cx="809711" cy="393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74" name="Equation" r:id="rId13" imgW="495000" imgH="228600" progId="Equation.DSMT4">
                  <p:embed/>
                </p:oleObj>
              </mc:Choice>
              <mc:Fallback>
                <p:oleObj name="Equation" r:id="rId13" imgW="495000" imgH="228600" progId="Equation.DSMT4">
                  <p:embed/>
                  <p:pic>
                    <p:nvPicPr>
                      <p:cNvPr id="40" name="Object 37">
                        <a:extLst>
                          <a:ext uri="{FF2B5EF4-FFF2-40B4-BE49-F238E27FC236}">
                            <a16:creationId xmlns:a16="http://schemas.microsoft.com/office/drawing/2014/main" id="{2F1F3FF1-4961-44AD-9719-302F2FD3E5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697" y="2897293"/>
                        <a:ext cx="809711" cy="393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文本框 40">
            <a:extLst>
              <a:ext uri="{FF2B5EF4-FFF2-40B4-BE49-F238E27FC236}">
                <a16:creationId xmlns:a16="http://schemas.microsoft.com/office/drawing/2014/main" id="{6373DBE4-CF31-4F4F-9F40-2B4448AADD03}"/>
              </a:ext>
            </a:extLst>
          </p:cNvPr>
          <p:cNvSpPr txBox="1"/>
          <p:nvPr/>
        </p:nvSpPr>
        <p:spPr>
          <a:xfrm>
            <a:off x="742126" y="3359855"/>
            <a:ext cx="3908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等线" panose="02010600030101010101" pitchFamily="2" charset="-122"/>
              </a:rPr>
              <a:t>缝</a:t>
            </a:r>
            <a:r>
              <a:rPr lang="en-US" altLang="zh-CN" sz="2000" dirty="0">
                <a:solidFill>
                  <a:schemeClr val="bg1"/>
                </a:solidFill>
                <a:latin typeface="等线" panose="02010600030101010101" pitchFamily="2" charset="-122"/>
              </a:rPr>
              <a:t>S</a:t>
            </a:r>
            <a:r>
              <a:rPr lang="en-US" altLang="zh-CN" sz="2000" baseline="-25000" dirty="0">
                <a:solidFill>
                  <a:schemeClr val="bg1"/>
                </a:solidFill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等线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latin typeface="等线" panose="02010600030101010101" pitchFamily="2" charset="-122"/>
              </a:rPr>
              <a:t>S</a:t>
            </a:r>
            <a:r>
              <a:rPr lang="en-US" altLang="zh-CN" sz="2000" baseline="-25000" dirty="0">
                <a:solidFill>
                  <a:schemeClr val="bg1"/>
                </a:solidFill>
                <a:latin typeface="等线" panose="02010600030101010101" pitchFamily="2" charset="-122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等线" panose="02010600030101010101" pitchFamily="2" charset="-122"/>
              </a:rPr>
              <a:t>同时打开时</a:t>
            </a:r>
          </a:p>
        </p:txBody>
      </p:sp>
      <p:sp>
        <p:nvSpPr>
          <p:cNvPr id="28" name="Text Box 20">
            <a:extLst>
              <a:ext uri="{FF2B5EF4-FFF2-40B4-BE49-F238E27FC236}">
                <a16:creationId xmlns:a16="http://schemas.microsoft.com/office/drawing/2014/main" id="{B60AF4D6-3BA6-49D7-ACEB-BF927A901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30" y="115026"/>
            <a:ext cx="35088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</a:rPr>
              <a:t>波函数的叠加原理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81E368-9100-48CF-AFC9-9E0A598FD329}"/>
              </a:ext>
            </a:extLst>
          </p:cNvPr>
          <p:cNvSpPr txBox="1"/>
          <p:nvPr/>
        </p:nvSpPr>
        <p:spPr>
          <a:xfrm>
            <a:off x="378017" y="1988840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FF00"/>
                </a:solidFill>
              </a:rPr>
              <a:t>如：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6B76F7-A732-4C00-9030-B0202A5F8B68}"/>
              </a:ext>
            </a:extLst>
          </p:cNvPr>
          <p:cNvSpPr txBox="1"/>
          <p:nvPr/>
        </p:nvSpPr>
        <p:spPr>
          <a:xfrm>
            <a:off x="467544" y="4005064"/>
            <a:ext cx="8720657" cy="943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+mn-ea"/>
                <a:ea typeface="+mn-ea"/>
              </a:rPr>
              <a:t>1.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当体系处于叠加态时                ，也可以说体系同时处于      ，</a:t>
            </a:r>
            <a:endParaRPr lang="en-US" altLang="zh-CN" sz="2000" dirty="0">
              <a:solidFill>
                <a:schemeClr val="bg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相应的概率分别为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F498376-A096-4206-96B4-6B6C1CCD282D}"/>
              </a:ext>
            </a:extLst>
          </p:cNvPr>
          <p:cNvSpPr txBox="1"/>
          <p:nvPr/>
        </p:nvSpPr>
        <p:spPr>
          <a:xfrm>
            <a:off x="446389" y="4996853"/>
            <a:ext cx="8407662" cy="1688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000" dirty="0">
                <a:solidFill>
                  <a:schemeClr val="bg1"/>
                </a:solidFill>
              </a:rPr>
              <a:t>2. </a:t>
            </a:r>
            <a:r>
              <a:rPr lang="zh-CN" altLang="en-US" sz="2000" dirty="0">
                <a:solidFill>
                  <a:schemeClr val="bg1"/>
                </a:solidFill>
              </a:rPr>
              <a:t>态叠加是指体系状态的叠加，叠加态模方出现交叉项，粒子在不同位置出现的概率不同，微观粒子会出现干涉、衍射现象；</a:t>
            </a:r>
            <a:endParaRPr lang="en-US" altLang="zh-CN" sz="2000" dirty="0">
              <a:solidFill>
                <a:schemeClr val="bg1"/>
              </a:solidFill>
            </a:endParaRPr>
          </a:p>
          <a:p>
            <a:pPr>
              <a:lnSpc>
                <a:spcPts val="32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    经典波是可以观测的物理场，其相干叠加是物理场的叠加，不同位置的物理场的大小不同，经典场的叠加也会出现干涉、衍射现象。</a:t>
            </a:r>
          </a:p>
        </p:txBody>
      </p:sp>
      <p:graphicFrame>
        <p:nvGraphicFramePr>
          <p:cNvPr id="33" name="Object 37">
            <a:extLst>
              <a:ext uri="{FF2B5EF4-FFF2-40B4-BE49-F238E27FC236}">
                <a16:creationId xmlns:a16="http://schemas.microsoft.com/office/drawing/2014/main" id="{AE8B7FBA-1C5F-4E38-8B1C-4EE5F13272C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87759" y="4051275"/>
          <a:ext cx="1894439" cy="448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75" name="Equation" r:id="rId15" imgW="952200" imgH="228600" progId="Equation.DSMT4">
                  <p:embed/>
                </p:oleObj>
              </mc:Choice>
              <mc:Fallback>
                <p:oleObj name="Equation" r:id="rId15" imgW="952200" imgH="228600" progId="Equation.DSMT4">
                  <p:embed/>
                  <p:pic>
                    <p:nvPicPr>
                      <p:cNvPr id="33" name="Object 37">
                        <a:extLst>
                          <a:ext uri="{FF2B5EF4-FFF2-40B4-BE49-F238E27FC236}">
                            <a16:creationId xmlns:a16="http://schemas.microsoft.com/office/drawing/2014/main" id="{AE8B7FBA-1C5F-4E38-8B1C-4EE5F13272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59" y="4051275"/>
                        <a:ext cx="1894439" cy="4489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7">
            <a:extLst>
              <a:ext uri="{FF2B5EF4-FFF2-40B4-BE49-F238E27FC236}">
                <a16:creationId xmlns:a16="http://schemas.microsoft.com/office/drawing/2014/main" id="{9FBCEAC3-E4B0-438C-BD45-82B5920309C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031928" y="4051274"/>
          <a:ext cx="680814" cy="448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76" name="Equation" r:id="rId9" imgW="393480" imgH="228600" progId="Equation.DSMT4">
                  <p:embed/>
                </p:oleObj>
              </mc:Choice>
              <mc:Fallback>
                <p:oleObj name="Equation" r:id="rId9" imgW="393480" imgH="228600" progId="Equation.DSMT4">
                  <p:embed/>
                  <p:pic>
                    <p:nvPicPr>
                      <p:cNvPr id="34" name="Object 37">
                        <a:extLst>
                          <a:ext uri="{FF2B5EF4-FFF2-40B4-BE49-F238E27FC236}">
                            <a16:creationId xmlns:a16="http://schemas.microsoft.com/office/drawing/2014/main" id="{9FBCEAC3-E4B0-438C-BD45-82B5920309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1928" y="4051274"/>
                        <a:ext cx="680814" cy="4489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7">
            <a:extLst>
              <a:ext uri="{FF2B5EF4-FFF2-40B4-BE49-F238E27FC236}">
                <a16:creationId xmlns:a16="http://schemas.microsoft.com/office/drawing/2014/main" id="{37EFC345-87AC-4B5D-831C-187764946E7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971735" y="4479070"/>
          <a:ext cx="1086566" cy="52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77" name="Equation" r:id="rId17" imgW="571320" imgH="279360" progId="Equation.DSMT4">
                  <p:embed/>
                </p:oleObj>
              </mc:Choice>
              <mc:Fallback>
                <p:oleObj name="Equation" r:id="rId17" imgW="571320" imgH="279360" progId="Equation.DSMT4">
                  <p:embed/>
                  <p:pic>
                    <p:nvPicPr>
                      <p:cNvPr id="35" name="Object 37">
                        <a:extLst>
                          <a:ext uri="{FF2B5EF4-FFF2-40B4-BE49-F238E27FC236}">
                            <a16:creationId xmlns:a16="http://schemas.microsoft.com/office/drawing/2014/main" id="{37EFC345-87AC-4B5D-831C-187764946E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735" y="4479070"/>
                        <a:ext cx="1086566" cy="52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8EBD3EBD-1686-4498-BD42-C87ECD1ECA72}"/>
              </a:ext>
            </a:extLst>
          </p:cNvPr>
          <p:cNvSpPr txBox="1"/>
          <p:nvPr/>
        </p:nvSpPr>
        <p:spPr>
          <a:xfrm>
            <a:off x="395536" y="3717032"/>
            <a:ext cx="13716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100" dirty="0">
                <a:solidFill>
                  <a:srgbClr val="92D050"/>
                </a:solidFill>
                <a:latin typeface="+mn-ea"/>
                <a:ea typeface="+mn-ea"/>
              </a:rPr>
              <a:t>说明：</a:t>
            </a:r>
            <a:endParaRPr lang="zh-CN" altLang="en-US" sz="2100" dirty="0">
              <a:solidFill>
                <a:srgbClr val="92D05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9" grpId="0"/>
      <p:bldP spid="41" grpId="0"/>
      <p:bldP spid="2" grpId="0"/>
      <p:bldP spid="5" grpId="0"/>
      <p:bldP spid="31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5" name="Object 37">
            <a:extLst>
              <a:ext uri="{FF2B5EF4-FFF2-40B4-BE49-F238E27FC236}">
                <a16:creationId xmlns:a16="http://schemas.microsoft.com/office/drawing/2014/main" id="{36535D8C-D67C-483A-B388-92A9CAEC5DE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39552" y="1268760"/>
          <a:ext cx="3034283" cy="474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158" name="Equation" r:id="rId4" imgW="1937160" imgH="249480" progId="Equation.DSMT4">
                  <p:embed/>
                </p:oleObj>
              </mc:Choice>
              <mc:Fallback>
                <p:oleObj name="Equation" r:id="rId4" imgW="1937160" imgH="249480" progId="Equation.DSMT4">
                  <p:embed/>
                  <p:pic>
                    <p:nvPicPr>
                      <p:cNvPr id="23555" name="Object 37">
                        <a:extLst>
                          <a:ext uri="{FF2B5EF4-FFF2-40B4-BE49-F238E27FC236}">
                            <a16:creationId xmlns:a16="http://schemas.microsoft.com/office/drawing/2014/main" id="{36535D8C-D67C-483A-B388-92A9CAEC5D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268760"/>
                        <a:ext cx="3034283" cy="474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29" name="Object 38">
            <a:extLst>
              <a:ext uri="{FF2B5EF4-FFF2-40B4-BE49-F238E27FC236}">
                <a16:creationId xmlns:a16="http://schemas.microsoft.com/office/drawing/2014/main" id="{957394DA-5C70-444B-A57C-E29E88741A7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93613" y="1918050"/>
          <a:ext cx="4853857" cy="1438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159" name="Equation" r:id="rId6" imgW="2247840" imgH="723600" progId="Equation.DSMT4">
                  <p:embed/>
                </p:oleObj>
              </mc:Choice>
              <mc:Fallback>
                <p:oleObj name="Equation" r:id="rId6" imgW="2247840" imgH="723600" progId="Equation.DSMT4">
                  <p:embed/>
                  <p:pic>
                    <p:nvPicPr>
                      <p:cNvPr id="641029" name="Object 38">
                        <a:extLst>
                          <a:ext uri="{FF2B5EF4-FFF2-40B4-BE49-F238E27FC236}">
                            <a16:creationId xmlns:a16="http://schemas.microsoft.com/office/drawing/2014/main" id="{957394DA-5C70-444B-A57C-E29E88741A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613" y="1918050"/>
                        <a:ext cx="4853857" cy="14389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Rectangle 6">
            <a:extLst>
              <a:ext uri="{FF2B5EF4-FFF2-40B4-BE49-F238E27FC236}">
                <a16:creationId xmlns:a16="http://schemas.microsoft.com/office/drawing/2014/main" id="{473DDB2D-A814-4202-8E0F-FEBE21D34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757" y="3277844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350">
              <a:latin typeface="等线" panose="02010600030101010101" pitchFamily="2" charset="-122"/>
            </a:endParaRPr>
          </a:p>
        </p:txBody>
      </p:sp>
      <p:pic>
        <p:nvPicPr>
          <p:cNvPr id="23561" name="Picture 11">
            <a:extLst>
              <a:ext uri="{FF2B5EF4-FFF2-40B4-BE49-F238E27FC236}">
                <a16:creationId xmlns:a16="http://schemas.microsoft.com/office/drawing/2014/main" id="{C57377C4-FA17-4B9B-8E44-01B7E6177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102" y="476672"/>
            <a:ext cx="3294341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66" name="Text Box 18">
            <a:extLst>
              <a:ext uri="{FF2B5EF4-FFF2-40B4-BE49-F238E27FC236}">
                <a16:creationId xmlns:a16="http://schemas.microsoft.com/office/drawing/2014/main" id="{074C30A0-05A4-4588-9C9A-F22118E69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573016"/>
            <a:ext cx="37598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等线" panose="02010600030101010101" pitchFamily="2" charset="-122"/>
              </a:rPr>
              <a:t>电子概率密度大</a:t>
            </a:r>
            <a:r>
              <a:rPr lang="en-US" altLang="zh-CN" sz="2400" dirty="0">
                <a:solidFill>
                  <a:schemeClr val="bg1"/>
                </a:solidFill>
                <a:latin typeface="等线" panose="02010600030101010101" pitchFamily="2" charset="-122"/>
              </a:rPr>
              <a:t>:  </a:t>
            </a:r>
            <a:r>
              <a:rPr lang="zh-CN" altLang="en-US" sz="2400" dirty="0">
                <a:solidFill>
                  <a:schemeClr val="bg1"/>
                </a:solidFill>
                <a:latin typeface="等线" panose="02010600030101010101" pitchFamily="2" charset="-122"/>
              </a:rPr>
              <a:t>明条纹</a:t>
            </a:r>
          </a:p>
        </p:txBody>
      </p:sp>
      <p:sp>
        <p:nvSpPr>
          <p:cNvPr id="78867" name="Text Box 19">
            <a:extLst>
              <a:ext uri="{FF2B5EF4-FFF2-40B4-BE49-F238E27FC236}">
                <a16:creationId xmlns:a16="http://schemas.microsoft.com/office/drawing/2014/main" id="{68A73758-4F8D-401D-AC56-FF6E1286B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8702" y="3573016"/>
            <a:ext cx="36928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bg1"/>
                </a:solidFill>
                <a:latin typeface="等线" panose="02010600030101010101" pitchFamily="2" charset="-122"/>
              </a:rPr>
              <a:t>电子概率密度小</a:t>
            </a:r>
            <a:r>
              <a:rPr lang="en-US" altLang="zh-CN" sz="2400" dirty="0">
                <a:solidFill>
                  <a:schemeClr val="bg1"/>
                </a:solidFill>
                <a:latin typeface="等线" panose="02010600030101010101" pitchFamily="2" charset="-122"/>
              </a:rPr>
              <a:t>:  </a:t>
            </a:r>
            <a:r>
              <a:rPr lang="zh-CN" altLang="en-US" sz="2400" dirty="0">
                <a:solidFill>
                  <a:schemeClr val="bg1"/>
                </a:solidFill>
                <a:latin typeface="等线" panose="02010600030101010101" pitchFamily="2" charset="-122"/>
              </a:rPr>
              <a:t>暗条纹</a:t>
            </a: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6D5D8300-AE0E-4C62-B838-81AC3D8B0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391" y="629691"/>
            <a:ext cx="42066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FFFF"/>
                </a:solidFill>
                <a:latin typeface="+mj-ea"/>
                <a:ea typeface="+mj-ea"/>
              </a:rPr>
              <a:t>波函数叠加原理解释干涉条纹</a:t>
            </a:r>
            <a:endParaRPr lang="zh-CN" altLang="en-US" sz="2400" dirty="0">
              <a:solidFill>
                <a:schemeClr val="bg1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75CE4B6-EE62-4543-8AA6-81E6339CC0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342075" y="1166040"/>
            <a:ext cx="2000250" cy="621515"/>
          </a:xfrm>
          <a:prstGeom prst="rect">
            <a:avLst/>
          </a:prstGeom>
        </p:spPr>
      </p:pic>
      <p:sp>
        <p:nvSpPr>
          <p:cNvPr id="17" name="Text Box 14">
            <a:extLst>
              <a:ext uri="{FF2B5EF4-FFF2-40B4-BE49-F238E27FC236}">
                <a16:creationId xmlns:a16="http://schemas.microsoft.com/office/drawing/2014/main" id="{671A9FB2-7CF2-422A-9E03-8608312FE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309" y="4385544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350"/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D0189E7A-2445-4D2D-BCAE-590153914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970" y="4293096"/>
            <a:ext cx="8331510" cy="2245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bg1"/>
                </a:solidFill>
                <a:latin typeface="等线" panose="02010600030101010101" pitchFamily="2" charset="-122"/>
              </a:rPr>
              <a:t>量子力学中的概率观念与日常生活中的概率观念是不同的：</a:t>
            </a:r>
            <a:endParaRPr lang="en-US" altLang="zh-CN" sz="2400" dirty="0">
              <a:solidFill>
                <a:schemeClr val="bg1"/>
              </a:solidFill>
              <a:latin typeface="等线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bg1"/>
                </a:solidFill>
                <a:latin typeface="等线" panose="02010600030101010101" pitchFamily="2" charset="-122"/>
              </a:rPr>
              <a:t>日常生活中直接从数学上计算事件的概率；</a:t>
            </a:r>
            <a:endParaRPr lang="en-US" altLang="zh-CN" sz="2400" dirty="0">
              <a:solidFill>
                <a:schemeClr val="bg1"/>
              </a:solidFill>
              <a:latin typeface="等线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bg1"/>
                </a:solidFill>
                <a:latin typeface="等线" panose="02010600030101010101" pitchFamily="2" charset="-122"/>
              </a:rPr>
              <a:t>量子力学中计算的是波函数（概率幅），事件的概率是通过波函数模的平方来得到的                     </a:t>
            </a:r>
            <a:r>
              <a:rPr lang="zh-CN" altLang="en-US" sz="2400" i="1" dirty="0">
                <a:solidFill>
                  <a:schemeClr val="bg1"/>
                </a:solidFill>
                <a:latin typeface="等线" panose="02010600030101010101" pitchFamily="2" charset="-122"/>
              </a:rPr>
              <a:t>物质波是概率波</a:t>
            </a:r>
          </a:p>
        </p:txBody>
      </p:sp>
    </p:spTree>
    <p:extLst>
      <p:ext uri="{BB962C8B-B14F-4D97-AF65-F5344CB8AC3E}">
        <p14:creationId xmlns:p14="http://schemas.microsoft.com/office/powerpoint/2010/main" val="350021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4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8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66" grpId="0"/>
      <p:bldP spid="78867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AutoShape 2">
            <a:extLst>
              <a:ext uri="{FF2B5EF4-FFF2-40B4-BE49-F238E27FC236}">
                <a16:creationId xmlns:a16="http://schemas.microsoft.com/office/drawing/2014/main" id="{0F381BA9-3C1F-4BFD-B675-84F1FE46F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02" y="2931419"/>
            <a:ext cx="7910513" cy="1219200"/>
          </a:xfrm>
          <a:prstGeom prst="bevel">
            <a:avLst>
              <a:gd name="adj" fmla="val 0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2800" b="0">
              <a:solidFill>
                <a:schemeClr val="bg1"/>
              </a:solidFill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9D76B20-59A0-4568-9E2D-839CF029B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71488"/>
            <a:ext cx="8205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二</a:t>
            </a:r>
            <a:r>
              <a:rPr lang="en-US" altLang="zh-CN" sz="2800">
                <a:solidFill>
                  <a:srgbClr val="FFFF00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薛定谔方程</a:t>
            </a:r>
            <a:r>
              <a:rPr lang="zh-CN" altLang="en-US" sz="2800">
                <a:solidFill>
                  <a:srgbClr val="FFFF99"/>
                </a:solidFill>
              </a:rPr>
              <a:t>  </a:t>
            </a:r>
            <a:r>
              <a:rPr lang="en-US" altLang="zh-CN">
                <a:solidFill>
                  <a:schemeClr val="accent1"/>
                </a:solidFill>
              </a:rPr>
              <a:t>(1926</a:t>
            </a:r>
            <a:r>
              <a:rPr lang="zh-CN" altLang="en-US">
                <a:solidFill>
                  <a:schemeClr val="accent1"/>
                </a:solidFill>
                <a:ea typeface="STZhongsong" panose="02010600040101010101" pitchFamily="2" charset="-122"/>
              </a:rPr>
              <a:t>年</a:t>
            </a:r>
            <a:r>
              <a:rPr lang="en-US" altLang="zh-CN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AA8E0729-E2B9-418B-B08E-1695C1CAD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125538"/>
            <a:ext cx="8031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描述低速的微观粒子在外力场中运动的波动微分方程 </a:t>
            </a:r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DBB4DFD0-4E60-419B-9493-D0C939331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147" y="1660525"/>
            <a:ext cx="7958138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质量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i="1" dirty="0">
                <a:solidFill>
                  <a:srgbClr val="66FFFF"/>
                </a:solidFill>
              </a:rPr>
              <a:t>m</a:t>
            </a:r>
            <a:r>
              <a:rPr lang="en-US" altLang="zh-CN" b="0" dirty="0">
                <a:solidFill>
                  <a:srgbClr val="99FFCC"/>
                </a:solidFill>
              </a:rPr>
              <a:t>  </a:t>
            </a:r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的粒子在外力场中运动，势能函数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i="1" dirty="0">
                <a:solidFill>
                  <a:srgbClr val="66FFFF"/>
                </a:solidFill>
              </a:rPr>
              <a:t>V </a:t>
            </a:r>
            <a:r>
              <a:rPr lang="en-US" altLang="zh-CN" dirty="0">
                <a:solidFill>
                  <a:srgbClr val="66FFFF"/>
                </a:solidFill>
              </a:rPr>
              <a:t>( </a:t>
            </a:r>
            <a:r>
              <a:rPr lang="en-US" altLang="zh-CN" sz="2800" i="1" dirty="0">
                <a:solidFill>
                  <a:srgbClr val="66FFFF"/>
                </a:solidFill>
              </a:rPr>
              <a:t>r , t </a:t>
            </a:r>
            <a:r>
              <a:rPr lang="en-US" altLang="zh-CN" dirty="0">
                <a:solidFill>
                  <a:srgbClr val="66FFFF"/>
                </a:solidFill>
              </a:rPr>
              <a:t>)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hlink"/>
                </a:solidFill>
              </a:rPr>
              <a:t>，</a:t>
            </a:r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薛定谔方程为</a:t>
            </a:r>
          </a:p>
        </p:txBody>
      </p:sp>
      <p:graphicFrame>
        <p:nvGraphicFramePr>
          <p:cNvPr id="92166" name="Object 6">
            <a:extLst>
              <a:ext uri="{FF2B5EF4-FFF2-40B4-BE49-F238E27FC236}">
                <a16:creationId xmlns:a16="http://schemas.microsoft.com/office/drawing/2014/main" id="{E76E9A3E-66BD-4407-837A-063F7B37A0AA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745490" y="3036194"/>
          <a:ext cx="7726362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176" name="公式" r:id="rId4" imgW="7724692" imgH="990736" progId="Equation.3">
                  <p:embed/>
                </p:oleObj>
              </mc:Choice>
              <mc:Fallback>
                <p:oleObj name="公式" r:id="rId4" imgW="7724692" imgH="990736" progId="Equation.3">
                  <p:embed/>
                  <p:pic>
                    <p:nvPicPr>
                      <p:cNvPr id="92166" name="Object 6">
                        <a:extLst>
                          <a:ext uri="{FF2B5EF4-FFF2-40B4-BE49-F238E27FC236}">
                            <a16:creationId xmlns:a16="http://schemas.microsoft.com/office/drawing/2014/main" id="{E76E9A3E-66BD-4407-837A-063F7B37A0A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490" y="3036194"/>
                        <a:ext cx="7726362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0" name="Line 10">
            <a:extLst>
              <a:ext uri="{FF2B5EF4-FFF2-40B4-BE49-F238E27FC236}">
                <a16:creationId xmlns:a16="http://schemas.microsoft.com/office/drawing/2014/main" id="{2FAE5EC9-0D7C-47BD-9B9C-1E51810F4B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1350" y="1857375"/>
            <a:ext cx="152400" cy="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0" name="灯片编号占位符 1">
            <a:extLst>
              <a:ext uri="{FF2B5EF4-FFF2-40B4-BE49-F238E27FC236}">
                <a16:creationId xmlns:a16="http://schemas.microsoft.com/office/drawing/2014/main" id="{96013DE1-F0A5-4F6C-A28A-DFB5468D5EE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0FF02D8-EF12-49DD-8160-7BD2068271AD}" type="slidenum">
              <a:rPr lang="en-US" altLang="zh-CN" b="0">
                <a:solidFill>
                  <a:srgbClr val="FF00FF"/>
                </a:solidFill>
              </a:rPr>
              <a:pPr eaLnBrk="1" hangingPunct="1"/>
              <a:t>25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7FBA1D-3F12-4B8C-8D04-83F6F4DCB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" y="4377759"/>
            <a:ext cx="8205788" cy="2099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55000"/>
              </a:spcBef>
              <a:spcAft>
                <a:spcPct val="0"/>
              </a:spcAft>
              <a:buClr>
                <a:srgbClr val="66FFFF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量子力学</a:t>
            </a:r>
            <a:r>
              <a:rPr lang="zh-CN" altLang="en-US" b="0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的基本方程，不能由更基本的原理和方法经过逻辑推理而得到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。该方程描述微观粒子运动得到了与实验一致的结果，证明了它的正确性。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55000"/>
              </a:spcBef>
              <a:spcAft>
                <a:spcPct val="0"/>
              </a:spcAft>
              <a:buClr>
                <a:srgbClr val="66FFFF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b="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量子力学中地位：</a:t>
            </a:r>
            <a:r>
              <a:rPr lang="zh-CN" altLang="en-US" b="0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相当于牛顿方程在经典力学中的地位</a:t>
            </a:r>
            <a:r>
              <a:rPr lang="zh-CN" altLang="en-US" b="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nimBg="1" autoUpdateAnimBg="0"/>
      <p:bldP spid="92165" grpId="0" autoUpdateAnimBg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E67E8B6-F633-4840-B728-63ACEFB82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144"/>
            <a:ext cx="9131840" cy="686714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>
            <a:extLst>
              <a:ext uri="{FF2B5EF4-FFF2-40B4-BE49-F238E27FC236}">
                <a16:creationId xmlns:a16="http://schemas.microsoft.com/office/drawing/2014/main" id="{F186BD05-560B-4450-B2CD-552A17C28A34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403648" y="3209826"/>
          <a:ext cx="612269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212" name="公式" r:id="rId4" imgW="6315171" imgH="971448" progId="Equation.3">
                  <p:embed/>
                </p:oleObj>
              </mc:Choice>
              <mc:Fallback>
                <p:oleObj name="公式" r:id="rId4" imgW="6315171" imgH="971448" progId="Equation.3">
                  <p:embed/>
                  <p:pic>
                    <p:nvPicPr>
                      <p:cNvPr id="24578" name="Object 2">
                        <a:extLst>
                          <a:ext uri="{FF2B5EF4-FFF2-40B4-BE49-F238E27FC236}">
                            <a16:creationId xmlns:a16="http://schemas.microsoft.com/office/drawing/2014/main" id="{F186BD05-560B-4450-B2CD-552A17C28A3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209826"/>
                        <a:ext cx="612269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Rectangle 3">
            <a:extLst>
              <a:ext uri="{FF2B5EF4-FFF2-40B4-BE49-F238E27FC236}">
                <a16:creationId xmlns:a16="http://schemas.microsoft.com/office/drawing/2014/main" id="{AA0CE52C-38D2-4E20-AE31-1D0A5F1C2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61176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定态薛定谔方程</a:t>
            </a:r>
          </a:p>
        </p:txBody>
      </p:sp>
      <p:sp>
        <p:nvSpPr>
          <p:cNvPr id="94212" name="AutoShape 4">
            <a:extLst>
              <a:ext uri="{FF2B5EF4-FFF2-40B4-BE49-F238E27FC236}">
                <a16:creationId xmlns:a16="http://schemas.microsoft.com/office/drawing/2014/main" id="{F19E4DC2-8872-4C31-9C00-9DBF097B3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441" y="2597771"/>
            <a:ext cx="1752600" cy="533400"/>
          </a:xfrm>
          <a:prstGeom prst="wedgeRoundRectCallout">
            <a:avLst>
              <a:gd name="adj1" fmla="val -440"/>
              <a:gd name="adj2" fmla="val 10628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tx2"/>
                </a:solidFill>
                <a:ea typeface="楷体_GB2312" pitchFamily="49" charset="-122"/>
              </a:rPr>
              <a:t>粒子能量</a:t>
            </a:r>
          </a:p>
        </p:txBody>
      </p:sp>
      <p:sp>
        <p:nvSpPr>
          <p:cNvPr id="94213" name="Text Box 5">
            <a:extLst>
              <a:ext uri="{FF2B5EF4-FFF2-40B4-BE49-F238E27FC236}">
                <a16:creationId xmlns:a16="http://schemas.microsoft.com/office/drawing/2014/main" id="{DF80EA38-60C1-41C3-AF3D-7A300EAB6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149080"/>
            <a:ext cx="6672263" cy="97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   求解</a:t>
            </a:r>
            <a:r>
              <a:rPr lang="zh-CN" altLang="en-US" dirty="0">
                <a:solidFill>
                  <a:srgbClr val="FFCC66"/>
                </a:solidFill>
              </a:rPr>
              <a:t>                </a:t>
            </a:r>
            <a:r>
              <a:rPr lang="en-US" altLang="zh-CN" i="1" dirty="0">
                <a:solidFill>
                  <a:srgbClr val="66FFFF"/>
                </a:solidFill>
              </a:rPr>
              <a:t>E    </a:t>
            </a:r>
            <a:r>
              <a:rPr lang="en-US" altLang="zh-CN" i="1" dirty="0">
                <a:solidFill>
                  <a:srgbClr val="99FFCC"/>
                </a:solidFill>
              </a:rPr>
              <a:t>  </a:t>
            </a:r>
            <a:r>
              <a:rPr lang="zh-CN" altLang="en-US" dirty="0">
                <a:solidFill>
                  <a:schemeClr val="hlink"/>
                </a:solidFill>
                <a:ea typeface="楷体_GB2312" pitchFamily="49" charset="-122"/>
              </a:rPr>
              <a:t>（粒子能量）</a:t>
            </a:r>
            <a:r>
              <a:rPr lang="zh-CN" altLang="en-US" dirty="0">
                <a:solidFill>
                  <a:schemeClr val="hlink"/>
                </a:solidFill>
              </a:rPr>
              <a:t> </a:t>
            </a:r>
          </a:p>
          <a:p>
            <a:pPr eaLnBrk="1" hangingPunct="1"/>
            <a:r>
              <a:rPr lang="zh-CN" altLang="en-US" sz="2800" b="0" i="1" dirty="0">
                <a:solidFill>
                  <a:srgbClr val="99FFCC"/>
                </a:solidFill>
              </a:rPr>
              <a:t>                      </a:t>
            </a:r>
            <a:r>
              <a:rPr lang="zh-CN" altLang="en-US" b="0" i="1" dirty="0">
                <a:solidFill>
                  <a:srgbClr val="66FFFF"/>
                </a:solidFill>
                <a:sym typeface="Symbol" panose="05050102010706020507" pitchFamily="18" charset="2"/>
              </a:rPr>
              <a:t></a:t>
            </a:r>
            <a:r>
              <a:rPr lang="zh-CN" altLang="en-US" i="1" dirty="0">
                <a:solidFill>
                  <a:srgbClr val="66FFFF"/>
                </a:solidFill>
              </a:rPr>
              <a:t> </a:t>
            </a:r>
            <a:r>
              <a:rPr lang="en-US" altLang="zh-CN" dirty="0">
                <a:solidFill>
                  <a:srgbClr val="66FFFF"/>
                </a:solidFill>
              </a:rPr>
              <a:t>( </a:t>
            </a:r>
            <a:r>
              <a:rPr lang="en-US" altLang="zh-CN" i="1" dirty="0">
                <a:solidFill>
                  <a:srgbClr val="66FFFF"/>
                </a:solidFill>
              </a:rPr>
              <a:t>r </a:t>
            </a:r>
            <a:r>
              <a:rPr lang="en-US" altLang="zh-CN" dirty="0">
                <a:solidFill>
                  <a:srgbClr val="66FFFF"/>
                </a:solidFill>
              </a:rPr>
              <a:t>)</a:t>
            </a:r>
            <a:r>
              <a:rPr lang="en-US" altLang="zh-CN" sz="2800" dirty="0">
                <a:solidFill>
                  <a:srgbClr val="99FFCC"/>
                </a:solidFill>
              </a:rPr>
              <a:t> </a:t>
            </a:r>
            <a:r>
              <a:rPr lang="zh-CN" altLang="en-US" sz="2800" dirty="0">
                <a:solidFill>
                  <a:schemeClr val="hlink"/>
                </a:solidFill>
                <a:ea typeface="楷体_GB2312" pitchFamily="49" charset="-122"/>
              </a:rPr>
              <a:t>（</a:t>
            </a:r>
            <a:r>
              <a:rPr lang="zh-CN" altLang="en-US" dirty="0">
                <a:solidFill>
                  <a:schemeClr val="hlink"/>
                </a:solidFill>
                <a:ea typeface="楷体_GB2312" pitchFamily="49" charset="-122"/>
              </a:rPr>
              <a:t>定态波函数）</a:t>
            </a:r>
          </a:p>
        </p:txBody>
      </p:sp>
      <p:sp>
        <p:nvSpPr>
          <p:cNvPr id="94214" name="Rectangle 6">
            <a:extLst>
              <a:ext uri="{FF2B5EF4-FFF2-40B4-BE49-F238E27FC236}">
                <a16:creationId xmlns:a16="http://schemas.microsoft.com/office/drawing/2014/main" id="{4DF7E26B-45BE-4ECA-826C-8D5857585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5204048"/>
            <a:ext cx="7461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9875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一维定态薛定谔方程（粒子在一维空间运动）</a:t>
            </a:r>
            <a:endParaRPr lang="en-US" altLang="zh-CN" dirty="0">
              <a:solidFill>
                <a:schemeClr val="hlink"/>
              </a:solidFill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graphicFrame>
        <p:nvGraphicFramePr>
          <p:cNvPr id="94216" name="Object 8">
            <a:extLst>
              <a:ext uri="{FF2B5EF4-FFF2-40B4-BE49-F238E27FC236}">
                <a16:creationId xmlns:a16="http://schemas.microsoft.com/office/drawing/2014/main" id="{AC5D685A-8361-430A-BD5F-AE7C887EE11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28875" y="5722640"/>
          <a:ext cx="3979863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213" name="公式" r:id="rId6" imgW="1885988" imgH="400152" progId="Equation.3">
                  <p:embed/>
                </p:oleObj>
              </mc:Choice>
              <mc:Fallback>
                <p:oleObj name="公式" r:id="rId6" imgW="1885988" imgH="400152" progId="Equation.3">
                  <p:embed/>
                  <p:pic>
                    <p:nvPicPr>
                      <p:cNvPr id="94216" name="Object 8">
                        <a:extLst>
                          <a:ext uri="{FF2B5EF4-FFF2-40B4-BE49-F238E27FC236}">
                            <a16:creationId xmlns:a16="http://schemas.microsoft.com/office/drawing/2014/main" id="{AC5D685A-8361-430A-BD5F-AE7C887EE1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5722640"/>
                        <a:ext cx="3979863" cy="87471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7" name="AutoShape 9">
            <a:extLst>
              <a:ext uri="{FF2B5EF4-FFF2-40B4-BE49-F238E27FC236}">
                <a16:creationId xmlns:a16="http://schemas.microsoft.com/office/drawing/2014/main" id="{E993D419-E3BA-4111-B237-44C73ED6310E}"/>
              </a:ext>
            </a:extLst>
          </p:cNvPr>
          <p:cNvSpPr>
            <a:spLocks/>
          </p:cNvSpPr>
          <p:nvPr/>
        </p:nvSpPr>
        <p:spPr bwMode="auto">
          <a:xfrm>
            <a:off x="7913688" y="2446040"/>
            <a:ext cx="544512" cy="3733800"/>
          </a:xfrm>
          <a:prstGeom prst="borderCallout2">
            <a:avLst>
              <a:gd name="adj1" fmla="val 3060"/>
              <a:gd name="adj2" fmla="val -13995"/>
              <a:gd name="adj3" fmla="val 3532"/>
              <a:gd name="adj4" fmla="val -163245"/>
              <a:gd name="adj5" fmla="val 27788"/>
              <a:gd name="adj6" fmla="val -339896"/>
            </a:avLst>
          </a:prstGeom>
          <a:solidFill>
            <a:schemeClr val="accent1"/>
          </a:solidFill>
          <a:ln w="28575">
            <a:solidFill>
              <a:srgbClr val="CCCCFF">
                <a:alpha val="63921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ea typeface="STZhongsong" panose="02010600040101010101" pitchFamily="2" charset="-122"/>
              </a:rPr>
              <a:t>描述外力场的势能函数</a:t>
            </a:r>
          </a:p>
        </p:txBody>
      </p:sp>
      <p:sp>
        <p:nvSpPr>
          <p:cNvPr id="94218" name="Line 10">
            <a:extLst>
              <a:ext uri="{FF2B5EF4-FFF2-40B4-BE49-F238E27FC236}">
                <a16:creationId xmlns:a16="http://schemas.microsoft.com/office/drawing/2014/main" id="{EEF1ABDB-A09A-424A-BD89-56626E9AFF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4688" y="4814243"/>
            <a:ext cx="152400" cy="0"/>
          </a:xfrm>
          <a:prstGeom prst="line">
            <a:avLst/>
          </a:prstGeom>
          <a:noFill/>
          <a:ln w="9525">
            <a:solidFill>
              <a:srgbClr val="66FFFF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6" name="灯片编号占位符 1">
            <a:extLst>
              <a:ext uri="{FF2B5EF4-FFF2-40B4-BE49-F238E27FC236}">
                <a16:creationId xmlns:a16="http://schemas.microsoft.com/office/drawing/2014/main" id="{B022542C-DA67-4787-9DDF-D6308599AB0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BD0CC9C-E27E-4ACC-B883-B9CD678FE2FC}" type="slidenum">
              <a:rPr lang="en-US" altLang="zh-CN" b="0">
                <a:solidFill>
                  <a:srgbClr val="FF00FF"/>
                </a:solidFill>
              </a:rPr>
              <a:pPr eaLnBrk="1" hangingPunct="1"/>
              <a:t>27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13" name="五角星 12">
            <a:extLst>
              <a:ext uri="{FF2B5EF4-FFF2-40B4-BE49-F238E27FC236}">
                <a16:creationId xmlns:a16="http://schemas.microsoft.com/office/drawing/2014/main" id="{98722293-04CA-4EEF-B8A0-D297E242F254}"/>
              </a:ext>
            </a:extLst>
          </p:cNvPr>
          <p:cNvSpPr/>
          <p:nvPr/>
        </p:nvSpPr>
        <p:spPr bwMode="auto">
          <a:xfrm>
            <a:off x="7072313" y="5132610"/>
            <a:ext cx="500062" cy="500063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36C5EBDE-7166-4578-88A2-D57455C24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32035"/>
            <a:ext cx="8024813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粒子在稳定力场中运动，势能函数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i="1" dirty="0">
                <a:solidFill>
                  <a:srgbClr val="66FFFF"/>
                </a:solidFill>
              </a:rPr>
              <a:t>V</a:t>
            </a:r>
            <a:r>
              <a:rPr lang="en-US" altLang="zh-CN" dirty="0">
                <a:solidFill>
                  <a:srgbClr val="66FFFF"/>
                </a:solidFill>
              </a:rPr>
              <a:t> (</a:t>
            </a:r>
            <a:r>
              <a:rPr lang="en-US" altLang="zh-CN" sz="3200" dirty="0">
                <a:solidFill>
                  <a:srgbClr val="66FFFF"/>
                </a:solidFill>
              </a:rPr>
              <a:t> </a:t>
            </a:r>
            <a:r>
              <a:rPr lang="en-US" altLang="zh-CN" sz="3200" i="1" dirty="0">
                <a:solidFill>
                  <a:srgbClr val="66FFFF"/>
                </a:solidFill>
              </a:rPr>
              <a:t>r</a:t>
            </a:r>
            <a:r>
              <a:rPr lang="en-US" altLang="zh-CN" sz="3200" dirty="0">
                <a:solidFill>
                  <a:srgbClr val="66FFFF"/>
                </a:solidFill>
              </a:rPr>
              <a:t> </a:t>
            </a:r>
            <a:r>
              <a:rPr lang="en-US" altLang="zh-CN" dirty="0">
                <a:solidFill>
                  <a:srgbClr val="66FFFF"/>
                </a:solidFill>
              </a:rPr>
              <a:t>)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hlink"/>
                </a:solidFill>
              </a:rPr>
              <a:t>、</a:t>
            </a:r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能量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i="1" dirty="0">
                <a:solidFill>
                  <a:srgbClr val="66FFFF"/>
                </a:solidFill>
              </a:rPr>
              <a:t>E </a:t>
            </a:r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不随时间变化，粒子处于</a:t>
            </a:r>
            <a:r>
              <a:rPr lang="zh-CN" altLang="en-US" dirty="0">
                <a:solidFill>
                  <a:srgbClr val="66FFFF"/>
                </a:solidFill>
                <a:ea typeface="STZhongsong" panose="02010600040101010101" pitchFamily="2" charset="-122"/>
              </a:rPr>
              <a:t>定态</a:t>
            </a:r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，定态波函数写为</a:t>
            </a:r>
          </a:p>
        </p:txBody>
      </p:sp>
      <p:graphicFrame>
        <p:nvGraphicFramePr>
          <p:cNvPr id="14" name="Object 8">
            <a:extLst>
              <a:ext uri="{FF2B5EF4-FFF2-40B4-BE49-F238E27FC236}">
                <a16:creationId xmlns:a16="http://schemas.microsoft.com/office/drawing/2014/main" id="{1BB72879-A968-478A-9D8A-9870275F16D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348781" y="1268760"/>
          <a:ext cx="251936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214" name="公式" r:id="rId8" imgW="2495486" imgH="704782" progId="Equation.3">
                  <p:embed/>
                </p:oleObj>
              </mc:Choice>
              <mc:Fallback>
                <p:oleObj name="公式" r:id="rId8" imgW="2495486" imgH="704782" progId="Equation.3">
                  <p:embed/>
                  <p:pic>
                    <p:nvPicPr>
                      <p:cNvPr id="14" name="Object 8">
                        <a:extLst>
                          <a:ext uri="{FF2B5EF4-FFF2-40B4-BE49-F238E27FC236}">
                            <a16:creationId xmlns:a16="http://schemas.microsoft.com/office/drawing/2014/main" id="{1BB72879-A968-478A-9D8A-9870275F16D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781" y="1268760"/>
                        <a:ext cx="251936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9">
            <a:extLst>
              <a:ext uri="{FF2B5EF4-FFF2-40B4-BE49-F238E27FC236}">
                <a16:creationId xmlns:a16="http://schemas.microsoft.com/office/drawing/2014/main" id="{B4999355-5E4D-4F55-9F82-26CEC0C72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74" y="1988840"/>
            <a:ext cx="351879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代入薛定谔方程</a:t>
            </a:r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DD6F08A3-9CA2-45BB-9C29-D3C63FB00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8144" y="404664"/>
            <a:ext cx="152400" cy="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4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4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3" presetClass="entr" presetSubtype="27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  <p:bldP spid="94212" grpId="0" animBg="1" autoUpdateAnimBg="0"/>
      <p:bldP spid="94213" grpId="0" autoUpdateAnimBg="0"/>
      <p:bldP spid="94214" grpId="0" autoUpdateAnimBg="0"/>
      <p:bldP spid="94217" grpId="0" animBg="1" autoUpdateAnimBg="0"/>
      <p:bldP spid="12" grpId="0" autoUpdateAnimBg="0"/>
      <p:bldP spid="1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DA67C2D-F285-4EC6-ABD3-853AFF33B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0" y="1038225"/>
            <a:ext cx="1524000" cy="23622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56A2EED-07F5-451F-997F-78B41937E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500063"/>
            <a:ext cx="472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三</a:t>
            </a:r>
            <a:r>
              <a:rPr lang="en-US" altLang="zh-CN" sz="2800">
                <a:solidFill>
                  <a:srgbClr val="FFFF00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一维无限深势阱中的粒子 </a:t>
            </a:r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EBA2192F-BC98-43B7-B18B-7756B886C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4614863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66FFFF"/>
                </a:solidFill>
              </a:rPr>
              <a:t>0 &lt; </a:t>
            </a:r>
            <a:r>
              <a:rPr lang="en-US" altLang="zh-CN" i="1">
                <a:solidFill>
                  <a:srgbClr val="66FFFF"/>
                </a:solidFill>
              </a:rPr>
              <a:t>x </a:t>
            </a:r>
            <a:r>
              <a:rPr lang="en-US" altLang="zh-CN">
                <a:solidFill>
                  <a:srgbClr val="66FFFF"/>
                </a:solidFill>
              </a:rPr>
              <a:t>&lt; </a:t>
            </a:r>
            <a:r>
              <a:rPr lang="en-US" altLang="zh-CN" i="1">
                <a:solidFill>
                  <a:srgbClr val="66FFFF"/>
                </a:solidFill>
              </a:rPr>
              <a:t>a</a:t>
            </a:r>
            <a:r>
              <a:rPr lang="en-US" altLang="zh-CN">
                <a:solidFill>
                  <a:srgbClr val="00FF99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区域，定态薛定谔方程为</a:t>
            </a:r>
          </a:p>
        </p:txBody>
      </p:sp>
      <p:sp>
        <p:nvSpPr>
          <p:cNvPr id="28677" name="Line 5">
            <a:extLst>
              <a:ext uri="{FF2B5EF4-FFF2-40B4-BE49-F238E27FC236}">
                <a16:creationId xmlns:a16="http://schemas.microsoft.com/office/drawing/2014/main" id="{067FD416-45A7-4274-AA1C-B68AC8F364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72100" y="3400425"/>
            <a:ext cx="3086100" cy="0"/>
          </a:xfrm>
          <a:prstGeom prst="line">
            <a:avLst/>
          </a:prstGeom>
          <a:noFill/>
          <a:ln w="9525">
            <a:solidFill>
              <a:srgbClr val="00FF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8" name="Line 6">
            <a:extLst>
              <a:ext uri="{FF2B5EF4-FFF2-40B4-BE49-F238E27FC236}">
                <a16:creationId xmlns:a16="http://schemas.microsoft.com/office/drawing/2014/main" id="{EA4CD652-59DE-44E2-94C8-80641FAC38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952625"/>
            <a:ext cx="0" cy="14478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9" name="Line 7">
            <a:extLst>
              <a:ext uri="{FF2B5EF4-FFF2-40B4-BE49-F238E27FC236}">
                <a16:creationId xmlns:a16="http://schemas.microsoft.com/office/drawing/2014/main" id="{0860EBCC-D551-431E-8C6C-C7B24CD965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038225"/>
            <a:ext cx="0" cy="914400"/>
          </a:xfrm>
          <a:prstGeom prst="line">
            <a:avLst/>
          </a:prstGeom>
          <a:noFill/>
          <a:ln w="38100">
            <a:solidFill>
              <a:schemeClr val="hlink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0" name="Line 8">
            <a:extLst>
              <a:ext uri="{FF2B5EF4-FFF2-40B4-BE49-F238E27FC236}">
                <a16:creationId xmlns:a16="http://schemas.microsoft.com/office/drawing/2014/main" id="{B318B311-CDC4-43B2-9664-434665A3D6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1952625"/>
            <a:ext cx="0" cy="14478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1" name="Line 9">
            <a:extLst>
              <a:ext uri="{FF2B5EF4-FFF2-40B4-BE49-F238E27FC236}">
                <a16:creationId xmlns:a16="http://schemas.microsoft.com/office/drawing/2014/main" id="{DA4B0E4D-DBD5-475C-9CAE-FA43E367C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1038225"/>
            <a:ext cx="0" cy="914400"/>
          </a:xfrm>
          <a:prstGeom prst="line">
            <a:avLst/>
          </a:prstGeom>
          <a:noFill/>
          <a:ln w="38100">
            <a:solidFill>
              <a:schemeClr val="hlink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2" name="Text Box 10">
            <a:extLst>
              <a:ext uri="{FF2B5EF4-FFF2-40B4-BE49-F238E27FC236}">
                <a16:creationId xmlns:a16="http://schemas.microsoft.com/office/drawing/2014/main" id="{142EB7B0-9125-4B2E-92D1-F59E65FB2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1850" y="309562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i="1">
                <a:solidFill>
                  <a:schemeClr val="hlink"/>
                </a:solidFill>
              </a:rPr>
              <a:t>x</a:t>
            </a:r>
          </a:p>
        </p:txBody>
      </p:sp>
      <p:sp>
        <p:nvSpPr>
          <p:cNvPr id="28683" name="Text Box 11">
            <a:extLst>
              <a:ext uri="{FF2B5EF4-FFF2-40B4-BE49-F238E27FC236}">
                <a16:creationId xmlns:a16="http://schemas.microsoft.com/office/drawing/2014/main" id="{A9A77E00-B543-4662-A208-9EAB9BAF7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5" y="3357563"/>
            <a:ext cx="178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</a:rPr>
              <a:t>0</a:t>
            </a:r>
            <a:r>
              <a:rPr lang="en-US" altLang="zh-CN">
                <a:solidFill>
                  <a:srgbClr val="FFFF99"/>
                </a:solidFill>
              </a:rPr>
              <a:t>                 </a:t>
            </a:r>
            <a:r>
              <a:rPr lang="en-US" altLang="zh-CN" i="1">
                <a:solidFill>
                  <a:schemeClr val="hlink"/>
                </a:solidFill>
              </a:rPr>
              <a:t>a</a:t>
            </a:r>
          </a:p>
        </p:txBody>
      </p:sp>
      <p:sp>
        <p:nvSpPr>
          <p:cNvPr id="28684" name="Line 12">
            <a:extLst>
              <a:ext uri="{FF2B5EF4-FFF2-40B4-BE49-F238E27FC236}">
                <a16:creationId xmlns:a16="http://schemas.microsoft.com/office/drawing/2014/main" id="{41B8B647-C889-40E4-829A-F7FCDAC554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762000"/>
            <a:ext cx="0" cy="76200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5" name="Rectangle 13">
            <a:extLst>
              <a:ext uri="{FF2B5EF4-FFF2-40B4-BE49-F238E27FC236}">
                <a16:creationId xmlns:a16="http://schemas.microsoft.com/office/drawing/2014/main" id="{91023982-B716-464A-A04A-B65220274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55625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00CCFF"/>
                </a:solidFill>
              </a:rPr>
              <a:t>V</a:t>
            </a:r>
            <a:r>
              <a:rPr lang="en-US" altLang="zh-CN">
                <a:solidFill>
                  <a:srgbClr val="00CCFF"/>
                </a:solidFill>
              </a:rPr>
              <a:t> ( </a:t>
            </a:r>
            <a:r>
              <a:rPr lang="en-US" altLang="zh-CN" i="1">
                <a:solidFill>
                  <a:srgbClr val="00CCFF"/>
                </a:solidFill>
              </a:rPr>
              <a:t>x </a:t>
            </a:r>
            <a:r>
              <a:rPr lang="en-US" altLang="zh-CN">
                <a:solidFill>
                  <a:srgbClr val="00CCFF"/>
                </a:solidFill>
              </a:rPr>
              <a:t>)</a:t>
            </a:r>
          </a:p>
        </p:txBody>
      </p:sp>
      <p:sp>
        <p:nvSpPr>
          <p:cNvPr id="28686" name="Text Box 14">
            <a:extLst>
              <a:ext uri="{FF2B5EF4-FFF2-40B4-BE49-F238E27FC236}">
                <a16:creationId xmlns:a16="http://schemas.microsoft.com/office/drawing/2014/main" id="{577E1BE3-476C-419B-9290-99ADD9B09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57200"/>
            <a:ext cx="438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0">
                <a:solidFill>
                  <a:srgbClr val="FFFF99"/>
                </a:solidFill>
                <a:sym typeface="Symbol" panose="05050102010706020507" pitchFamily="18" charset="2"/>
              </a:rPr>
              <a:t></a:t>
            </a:r>
            <a:endParaRPr lang="zh-CN" altLang="en-US" sz="2800" b="0">
              <a:solidFill>
                <a:srgbClr val="FFFF99"/>
              </a:solidFill>
            </a:endParaRPr>
          </a:p>
        </p:txBody>
      </p:sp>
      <p:sp>
        <p:nvSpPr>
          <p:cNvPr id="28687" name="Text Box 15">
            <a:extLst>
              <a:ext uri="{FF2B5EF4-FFF2-40B4-BE49-F238E27FC236}">
                <a16:creationId xmlns:a16="http://schemas.microsoft.com/office/drawing/2014/main" id="{D212AF19-203D-4E18-864A-20DA7EAF0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6150" y="457200"/>
            <a:ext cx="438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0">
                <a:solidFill>
                  <a:srgbClr val="FFFF99"/>
                </a:solidFill>
                <a:sym typeface="Symbol" panose="05050102010706020507" pitchFamily="18" charset="2"/>
              </a:rPr>
              <a:t></a:t>
            </a:r>
            <a:endParaRPr lang="zh-CN" altLang="en-US" sz="2800" b="0">
              <a:solidFill>
                <a:srgbClr val="FFFF99"/>
              </a:solidFill>
            </a:endParaRPr>
          </a:p>
        </p:txBody>
      </p:sp>
      <p:sp>
        <p:nvSpPr>
          <p:cNvPr id="28688" name="Oval 16">
            <a:extLst>
              <a:ext uri="{FF2B5EF4-FFF2-40B4-BE49-F238E27FC236}">
                <a16:creationId xmlns:a16="http://schemas.microsoft.com/office/drawing/2014/main" id="{4B648182-9A25-49F2-AD3B-CB8AA199A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8" y="2005013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99995C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2800" b="0">
              <a:solidFill>
                <a:srgbClr val="FFFF99"/>
              </a:solidFill>
            </a:endParaRPr>
          </a:p>
        </p:txBody>
      </p:sp>
      <p:sp>
        <p:nvSpPr>
          <p:cNvPr id="4118" name="Rectangle 17">
            <a:extLst>
              <a:ext uri="{FF2B5EF4-FFF2-40B4-BE49-F238E27FC236}">
                <a16:creationId xmlns:a16="http://schemas.microsoft.com/office/drawing/2014/main" id="{0CC249FD-C0EF-49AE-A023-CC0E81033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130300"/>
            <a:ext cx="4171950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假设粒子沿 </a:t>
            </a:r>
            <a:r>
              <a:rPr lang="en-US" altLang="zh-CN" i="1">
                <a:solidFill>
                  <a:srgbClr val="FFFF00"/>
                </a:solidFill>
                <a:ea typeface="STZhongsong" panose="02010600040101010101" pitchFamily="2" charset="-122"/>
              </a:rPr>
              <a:t>x </a:t>
            </a: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轴的一维运动</a:t>
            </a:r>
            <a:endParaRPr lang="en-US" altLang="zh-CN">
              <a:solidFill>
                <a:schemeClr val="hlink"/>
              </a:solidFill>
              <a:ea typeface="STZhongsong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势能函数</a:t>
            </a:r>
          </a:p>
        </p:txBody>
      </p:sp>
      <p:graphicFrame>
        <p:nvGraphicFramePr>
          <p:cNvPr id="96275" name="Object 19">
            <a:extLst>
              <a:ext uri="{FF2B5EF4-FFF2-40B4-BE49-F238E27FC236}">
                <a16:creationId xmlns:a16="http://schemas.microsoft.com/office/drawing/2014/main" id="{80E09017-7EFD-4C73-B914-C0CA1497F5CE}"/>
              </a:ext>
            </a:extLst>
          </p:cNvPr>
          <p:cNvGraphicFramePr>
            <a:graphicFrameLocks/>
          </p:cNvGraphicFramePr>
          <p:nvPr/>
        </p:nvGraphicFramePr>
        <p:xfrm>
          <a:off x="1500188" y="5429250"/>
          <a:ext cx="3200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248" name="公式" r:id="rId4" imgW="3181439" imgH="857250" progId="Equation.3">
                  <p:embed/>
                </p:oleObj>
              </mc:Choice>
              <mc:Fallback>
                <p:oleObj name="公式" r:id="rId4" imgW="3181439" imgH="857250" progId="Equation.3">
                  <p:embed/>
                  <p:pic>
                    <p:nvPicPr>
                      <p:cNvPr id="96275" name="Object 19">
                        <a:extLst>
                          <a:ext uri="{FF2B5EF4-FFF2-40B4-BE49-F238E27FC236}">
                            <a16:creationId xmlns:a16="http://schemas.microsoft.com/office/drawing/2014/main" id="{80E09017-7EFD-4C73-B914-C0CA1497F5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5429250"/>
                        <a:ext cx="32004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6" name="Object 20">
            <a:extLst>
              <a:ext uri="{FF2B5EF4-FFF2-40B4-BE49-F238E27FC236}">
                <a16:creationId xmlns:a16="http://schemas.microsoft.com/office/drawing/2014/main" id="{26A53B45-38D5-45B4-ABA7-AC7D5FDEEB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3175" y="5473700"/>
          <a:ext cx="15049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249" name="Equation" r:id="rId6" imgW="1409827" imgH="799998" progId="Equation.3">
                  <p:embed/>
                </p:oleObj>
              </mc:Choice>
              <mc:Fallback>
                <p:oleObj name="Equation" r:id="rId6" imgW="1409827" imgH="799998" progId="Equation.3">
                  <p:embed/>
                  <p:pic>
                    <p:nvPicPr>
                      <p:cNvPr id="96276" name="Object 20">
                        <a:extLst>
                          <a:ext uri="{FF2B5EF4-FFF2-40B4-BE49-F238E27FC236}">
                            <a16:creationId xmlns:a16="http://schemas.microsoft.com/office/drawing/2014/main" id="{26A53B45-38D5-45B4-ABA7-AC7D5FDEEB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3175" y="5473700"/>
                        <a:ext cx="15049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7" name="Text Box 21">
            <a:extLst>
              <a:ext uri="{FF2B5EF4-FFF2-40B4-BE49-F238E27FC236}">
                <a16:creationId xmlns:a16="http://schemas.microsoft.com/office/drawing/2014/main" id="{500A4746-974C-454E-9666-00F4E9DF3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975" y="56149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令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C3314B57-B0E8-4F6E-9B10-3E15049CAEEE}"/>
              </a:ext>
            </a:extLst>
          </p:cNvPr>
          <p:cNvGrpSpPr>
            <a:grpSpLocks/>
          </p:cNvGrpSpPr>
          <p:nvPr/>
        </p:nvGrpSpPr>
        <p:grpSpPr bwMode="auto">
          <a:xfrm>
            <a:off x="806450" y="2220913"/>
            <a:ext cx="3640138" cy="1147762"/>
            <a:chOff x="240" y="1520"/>
            <a:chExt cx="2293" cy="723"/>
          </a:xfrm>
        </p:grpSpPr>
        <p:sp>
          <p:nvSpPr>
            <p:cNvPr id="28700" name="Text Box 23">
              <a:extLst>
                <a:ext uri="{FF2B5EF4-FFF2-40B4-BE49-F238E27FC236}">
                  <a16:creationId xmlns:a16="http://schemas.microsoft.com/office/drawing/2014/main" id="{94ED78D4-41E1-4CE2-A76D-5DE17CED0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520"/>
              <a:ext cx="19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hlink"/>
                  </a:solidFill>
                </a:rPr>
                <a:t>V </a:t>
              </a:r>
              <a:r>
                <a:rPr lang="en-US" altLang="zh-CN">
                  <a:solidFill>
                    <a:schemeClr val="hlink"/>
                  </a:solidFill>
                </a:rPr>
                <a:t>(</a:t>
              </a:r>
              <a:r>
                <a:rPr lang="en-US" altLang="zh-CN" i="1">
                  <a:solidFill>
                    <a:schemeClr val="hlink"/>
                  </a:solidFill>
                </a:rPr>
                <a:t>x</a:t>
              </a:r>
              <a:r>
                <a:rPr lang="en-US" altLang="zh-CN">
                  <a:solidFill>
                    <a:schemeClr val="hlink"/>
                  </a:solidFill>
                </a:rPr>
                <a:t>) = 0</a:t>
              </a:r>
              <a:r>
                <a:rPr lang="en-US" altLang="zh-CN">
                  <a:solidFill>
                    <a:srgbClr val="FFCC66"/>
                  </a:solidFill>
                </a:rPr>
                <a:t>          </a:t>
              </a:r>
              <a:r>
                <a:rPr lang="en-US" altLang="zh-CN">
                  <a:solidFill>
                    <a:srgbClr val="66FFFF"/>
                  </a:solidFill>
                </a:rPr>
                <a:t>0 &lt; </a:t>
              </a:r>
              <a:r>
                <a:rPr lang="en-US" altLang="zh-CN" i="1">
                  <a:solidFill>
                    <a:srgbClr val="66FFFF"/>
                  </a:solidFill>
                </a:rPr>
                <a:t>x </a:t>
              </a:r>
              <a:r>
                <a:rPr lang="en-US" altLang="zh-CN">
                  <a:solidFill>
                    <a:srgbClr val="66FFFF"/>
                  </a:solidFill>
                </a:rPr>
                <a:t>&lt; </a:t>
              </a:r>
              <a:r>
                <a:rPr lang="en-US" altLang="zh-CN" i="1">
                  <a:solidFill>
                    <a:srgbClr val="66FFFF"/>
                  </a:solidFill>
                </a:rPr>
                <a:t>a</a:t>
              </a:r>
            </a:p>
          </p:txBody>
        </p:sp>
        <p:sp>
          <p:nvSpPr>
            <p:cNvPr id="28701" name="Text Box 24">
              <a:extLst>
                <a:ext uri="{FF2B5EF4-FFF2-40B4-BE49-F238E27FC236}">
                  <a16:creationId xmlns:a16="http://schemas.microsoft.com/office/drawing/2014/main" id="{403BC63A-C362-43B6-B7B2-5080C2D0D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952"/>
              <a:ext cx="219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hlink"/>
                  </a:solidFill>
                </a:rPr>
                <a:t>V </a:t>
              </a:r>
              <a:r>
                <a:rPr lang="en-US" altLang="zh-CN">
                  <a:solidFill>
                    <a:schemeClr val="hlink"/>
                  </a:solidFill>
                </a:rPr>
                <a:t>(</a:t>
              </a:r>
              <a:r>
                <a:rPr lang="en-US" altLang="zh-CN" i="1">
                  <a:solidFill>
                    <a:schemeClr val="hlink"/>
                  </a:solidFill>
                </a:rPr>
                <a:t>x</a:t>
              </a:r>
              <a:r>
                <a:rPr lang="en-US" altLang="zh-CN">
                  <a:solidFill>
                    <a:schemeClr val="hlink"/>
                  </a:solidFill>
                </a:rPr>
                <a:t>) = ∞</a:t>
              </a:r>
              <a:r>
                <a:rPr lang="en-US" altLang="zh-CN">
                  <a:solidFill>
                    <a:srgbClr val="FFCC66"/>
                  </a:solidFill>
                </a:rPr>
                <a:t>     </a:t>
              </a:r>
              <a:r>
                <a:rPr lang="en-US" altLang="zh-CN" i="1">
                  <a:solidFill>
                    <a:srgbClr val="66FFFF"/>
                  </a:solidFill>
                </a:rPr>
                <a:t>x </a:t>
              </a:r>
              <a:r>
                <a:rPr lang="en-US" altLang="zh-CN">
                  <a:solidFill>
                    <a:srgbClr val="66FFFF"/>
                  </a:solidFill>
                </a:rPr>
                <a:t>&lt; 0 </a:t>
              </a:r>
              <a:r>
                <a:rPr lang="zh-CN" altLang="en-US">
                  <a:solidFill>
                    <a:schemeClr val="hlink"/>
                  </a:solidFill>
                  <a:ea typeface="STZhongsong" panose="02010600040101010101" pitchFamily="2" charset="-122"/>
                </a:rPr>
                <a:t>或</a:t>
              </a:r>
              <a:r>
                <a:rPr lang="zh-CN" altLang="en-US">
                  <a:solidFill>
                    <a:srgbClr val="66FFFF"/>
                  </a:solidFill>
                </a:rPr>
                <a:t> </a:t>
              </a:r>
              <a:r>
                <a:rPr lang="en-US" altLang="zh-CN" i="1">
                  <a:solidFill>
                    <a:srgbClr val="66FFFF"/>
                  </a:solidFill>
                </a:rPr>
                <a:t>x </a:t>
              </a:r>
              <a:r>
                <a:rPr lang="en-US" altLang="zh-CN">
                  <a:solidFill>
                    <a:srgbClr val="66FFFF"/>
                  </a:solidFill>
                </a:rPr>
                <a:t>&gt; </a:t>
              </a:r>
              <a:r>
                <a:rPr lang="en-US" altLang="zh-CN" i="1">
                  <a:solidFill>
                    <a:srgbClr val="66FFFF"/>
                  </a:solidFill>
                </a:rPr>
                <a:t>a</a:t>
              </a:r>
            </a:p>
          </p:txBody>
        </p:sp>
        <p:sp>
          <p:nvSpPr>
            <p:cNvPr id="28702" name="AutoShape 25">
              <a:extLst>
                <a:ext uri="{FF2B5EF4-FFF2-40B4-BE49-F238E27FC236}">
                  <a16:creationId xmlns:a16="http://schemas.microsoft.com/office/drawing/2014/main" id="{DF4BD8D0-B243-4DE0-83DE-0022A6E85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" y="1584"/>
              <a:ext cx="77" cy="624"/>
            </a:xfrm>
            <a:prstGeom prst="leftBrace">
              <a:avLst>
                <a:gd name="adj1" fmla="val 108315"/>
                <a:gd name="adj2" fmla="val 50000"/>
              </a:avLst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96282" name="Object 26">
            <a:extLst>
              <a:ext uri="{FF2B5EF4-FFF2-40B4-BE49-F238E27FC236}">
                <a16:creationId xmlns:a16="http://schemas.microsoft.com/office/drawing/2014/main" id="{BDD4E4E1-74F7-4E68-BBF9-A9801EEA5892}"/>
              </a:ext>
            </a:extLst>
          </p:cNvPr>
          <p:cNvGraphicFramePr>
            <a:graphicFrameLocks/>
          </p:cNvGraphicFramePr>
          <p:nvPr/>
        </p:nvGraphicFramePr>
        <p:xfrm>
          <a:off x="7715250" y="1905000"/>
          <a:ext cx="10858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250" name="公式" r:id="rId8" imgW="1181075" imgH="371373" progId="Equation.3">
                  <p:embed/>
                </p:oleObj>
              </mc:Choice>
              <mc:Fallback>
                <p:oleObj name="公式" r:id="rId8" imgW="1181075" imgH="371373" progId="Equation.3">
                  <p:embed/>
                  <p:pic>
                    <p:nvPicPr>
                      <p:cNvPr id="96282" name="Object 26">
                        <a:extLst>
                          <a:ext uri="{FF2B5EF4-FFF2-40B4-BE49-F238E27FC236}">
                            <a16:creationId xmlns:a16="http://schemas.microsoft.com/office/drawing/2014/main" id="{BDD4E4E1-74F7-4E68-BBF9-A9801EEA589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1905000"/>
                        <a:ext cx="10858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3" name="Object 27">
            <a:extLst>
              <a:ext uri="{FF2B5EF4-FFF2-40B4-BE49-F238E27FC236}">
                <a16:creationId xmlns:a16="http://schemas.microsoft.com/office/drawing/2014/main" id="{33F54E0C-6C21-4F10-87AA-B03E9706FF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33925" y="1924050"/>
          <a:ext cx="10985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251" name="公式" r:id="rId10" imgW="1181075" imgH="371373" progId="Equation.3">
                  <p:embed/>
                </p:oleObj>
              </mc:Choice>
              <mc:Fallback>
                <p:oleObj name="公式" r:id="rId10" imgW="1181075" imgH="371373" progId="Equation.3">
                  <p:embed/>
                  <p:pic>
                    <p:nvPicPr>
                      <p:cNvPr id="96283" name="Object 27">
                        <a:extLst>
                          <a:ext uri="{FF2B5EF4-FFF2-40B4-BE49-F238E27FC236}">
                            <a16:creationId xmlns:a16="http://schemas.microsoft.com/office/drawing/2014/main" id="{33F54E0C-6C21-4F10-87AA-B03E9706FF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25" y="1924050"/>
                        <a:ext cx="10985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84" name="Rectangle 28">
            <a:extLst>
              <a:ext uri="{FF2B5EF4-FFF2-40B4-BE49-F238E27FC236}">
                <a16:creationId xmlns:a16="http://schemas.microsoft.com/office/drawing/2014/main" id="{5EADFDA6-2249-4C7C-993A-7A81376DF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3857625"/>
            <a:ext cx="2843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66FFFF"/>
                </a:solidFill>
              </a:rPr>
              <a:t>x &lt; </a:t>
            </a:r>
            <a:r>
              <a:rPr lang="en-US" altLang="zh-CN">
                <a:solidFill>
                  <a:srgbClr val="66FFFF"/>
                </a:solidFill>
              </a:rPr>
              <a:t>0 </a:t>
            </a:r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或</a:t>
            </a:r>
            <a:r>
              <a:rPr lang="zh-CN" altLang="en-US">
                <a:solidFill>
                  <a:schemeClr val="hlink"/>
                </a:solidFill>
              </a:rPr>
              <a:t> </a:t>
            </a:r>
            <a:r>
              <a:rPr lang="zh-CN" altLang="en-US" i="1">
                <a:solidFill>
                  <a:srgbClr val="66FFFF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x &gt;</a:t>
            </a:r>
            <a:r>
              <a:rPr lang="en-US" altLang="zh-CN">
                <a:solidFill>
                  <a:srgbClr val="66FFFF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a</a:t>
            </a:r>
            <a:r>
              <a:rPr lang="en-US" altLang="zh-CN">
                <a:solidFill>
                  <a:srgbClr val="00FF99"/>
                </a:solidFill>
              </a:rPr>
              <a:t>   </a:t>
            </a: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区域</a:t>
            </a:r>
          </a:p>
        </p:txBody>
      </p:sp>
      <p:graphicFrame>
        <p:nvGraphicFramePr>
          <p:cNvPr id="96285" name="Object 29">
            <a:extLst>
              <a:ext uri="{FF2B5EF4-FFF2-40B4-BE49-F238E27FC236}">
                <a16:creationId xmlns:a16="http://schemas.microsoft.com/office/drawing/2014/main" id="{CC5C5DFB-AE68-4830-A97D-84419AD5F7E3}"/>
              </a:ext>
            </a:extLst>
          </p:cNvPr>
          <p:cNvGraphicFramePr>
            <a:graphicFrameLocks/>
          </p:cNvGraphicFramePr>
          <p:nvPr/>
        </p:nvGraphicFramePr>
        <p:xfrm>
          <a:off x="4859338" y="3897313"/>
          <a:ext cx="1223962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252" name="公式" r:id="rId12" imgW="1181075" imgH="371373" progId="Equation.3">
                  <p:embed/>
                </p:oleObj>
              </mc:Choice>
              <mc:Fallback>
                <p:oleObj name="公式" r:id="rId12" imgW="1181075" imgH="371373" progId="Equation.3">
                  <p:embed/>
                  <p:pic>
                    <p:nvPicPr>
                      <p:cNvPr id="96285" name="Object 29">
                        <a:extLst>
                          <a:ext uri="{FF2B5EF4-FFF2-40B4-BE49-F238E27FC236}">
                            <a16:creationId xmlns:a16="http://schemas.microsoft.com/office/drawing/2014/main" id="{CC5C5DFB-AE68-4830-A97D-84419AD5F7E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897313"/>
                        <a:ext cx="1223962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8" name="灯片编号占位符 1">
            <a:extLst>
              <a:ext uri="{FF2B5EF4-FFF2-40B4-BE49-F238E27FC236}">
                <a16:creationId xmlns:a16="http://schemas.microsoft.com/office/drawing/2014/main" id="{FDC84DBD-EB1D-4943-A605-72B603AB1B2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474B6A-F38C-4163-8E0C-98508D5D6497}" type="slidenum">
              <a:rPr lang="en-US" altLang="zh-CN" b="0">
                <a:solidFill>
                  <a:srgbClr val="FF00FF"/>
                </a:solidFill>
              </a:rPr>
              <a:pPr eaLnBrk="1" hangingPunct="1"/>
              <a:t>28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28699" name="任意多边形 33">
            <a:extLst>
              <a:ext uri="{FF2B5EF4-FFF2-40B4-BE49-F238E27FC236}">
                <a16:creationId xmlns:a16="http://schemas.microsoft.com/office/drawing/2014/main" id="{7B40D8DC-2BAB-4E82-B9AC-058E14580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2000250"/>
            <a:ext cx="773112" cy="284163"/>
          </a:xfrm>
          <a:custGeom>
            <a:avLst/>
            <a:gdLst>
              <a:gd name="T0" fmla="*/ 0 w 773723"/>
              <a:gd name="T1" fmla="*/ 132236 h 284285"/>
              <a:gd name="T2" fmla="*/ 144249 w 773723"/>
              <a:gd name="T3" fmla="*/ 2886 h 284285"/>
              <a:gd name="T4" fmla="*/ 280014 w 773723"/>
              <a:gd name="T5" fmla="*/ 114987 h 284285"/>
              <a:gd name="T6" fmla="*/ 415776 w 773723"/>
              <a:gd name="T7" fmla="*/ 278846 h 284285"/>
              <a:gd name="T8" fmla="*/ 551542 w 773723"/>
              <a:gd name="T9" fmla="*/ 114987 h 284285"/>
              <a:gd name="T10" fmla="*/ 746699 w 773723"/>
              <a:gd name="T11" fmla="*/ 97742 h 2842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73723"/>
              <a:gd name="T19" fmla="*/ 0 h 284285"/>
              <a:gd name="T20" fmla="*/ 773723 w 773723"/>
              <a:gd name="T21" fmla="*/ 284285 h 2842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73723" h="284285">
                <a:moveTo>
                  <a:pt x="0" y="134816"/>
                </a:moveTo>
                <a:cubicBezTo>
                  <a:pt x="50555" y="70339"/>
                  <a:pt x="101111" y="5862"/>
                  <a:pt x="149469" y="2931"/>
                </a:cubicBezTo>
                <a:cubicBezTo>
                  <a:pt x="197827" y="0"/>
                  <a:pt x="243254" y="70339"/>
                  <a:pt x="290146" y="117231"/>
                </a:cubicBezTo>
                <a:cubicBezTo>
                  <a:pt x="337038" y="164123"/>
                  <a:pt x="383931" y="284285"/>
                  <a:pt x="430823" y="284285"/>
                </a:cubicBezTo>
                <a:cubicBezTo>
                  <a:pt x="477715" y="284285"/>
                  <a:pt x="514350" y="148004"/>
                  <a:pt x="571500" y="117231"/>
                </a:cubicBezTo>
                <a:cubicBezTo>
                  <a:pt x="628650" y="86458"/>
                  <a:pt x="701186" y="93052"/>
                  <a:pt x="773723" y="99647"/>
                </a:cubicBezTo>
              </a:path>
            </a:pathLst>
          </a:custGeom>
          <a:noFill/>
          <a:ln w="1270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6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6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6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6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6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autoUpdateAnimBg="0"/>
      <p:bldP spid="4118" grpId="0"/>
      <p:bldP spid="96277" grpId="0" autoUpdateAnimBg="0"/>
      <p:bldP spid="9628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5DCB7524-1A7F-43A3-ACDF-767C5628FFFA}"/>
              </a:ext>
            </a:extLst>
          </p:cNvPr>
          <p:cNvGraphicFramePr>
            <a:graphicFrameLocks/>
          </p:cNvGraphicFramePr>
          <p:nvPr/>
        </p:nvGraphicFramePr>
        <p:xfrm>
          <a:off x="3000375" y="479425"/>
          <a:ext cx="2771775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14" name="公式" r:id="rId4" imgW="2762161" imgH="857250" progId="Equation.3">
                  <p:embed/>
                </p:oleObj>
              </mc:Choice>
              <mc:Fallback>
                <p:oleObj name="公式" r:id="rId4" imgW="2762161" imgH="857250" progId="Equation.3">
                  <p:embed/>
                  <p:pic>
                    <p:nvPicPr>
                      <p:cNvPr id="5122" name="Object 2">
                        <a:extLst>
                          <a:ext uri="{FF2B5EF4-FFF2-40B4-BE49-F238E27FC236}">
                            <a16:creationId xmlns:a16="http://schemas.microsoft.com/office/drawing/2014/main" id="{5DCB7524-1A7F-43A3-ACDF-767C5628FF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479425"/>
                        <a:ext cx="2771775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7" name="Rectangle 3">
            <a:extLst>
              <a:ext uri="{FF2B5EF4-FFF2-40B4-BE49-F238E27FC236}">
                <a16:creationId xmlns:a16="http://schemas.microsoft.com/office/drawing/2014/main" id="{6A66719F-2629-48C8-9F01-806D487A6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2971800"/>
            <a:ext cx="3970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波函数在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x</a:t>
            </a:r>
            <a:r>
              <a:rPr lang="en-US" altLang="zh-CN">
                <a:solidFill>
                  <a:srgbClr val="66FFFF"/>
                </a:solidFill>
              </a:rPr>
              <a:t> = 0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处连续</a:t>
            </a:r>
          </a:p>
        </p:txBody>
      </p:sp>
      <p:graphicFrame>
        <p:nvGraphicFramePr>
          <p:cNvPr id="98308" name="Object 4">
            <a:extLst>
              <a:ext uri="{FF2B5EF4-FFF2-40B4-BE49-F238E27FC236}">
                <a16:creationId xmlns:a16="http://schemas.microsoft.com/office/drawing/2014/main" id="{493ACAD3-C25B-44C5-81DC-20DC7DD686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963" y="3667125"/>
          <a:ext cx="419735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15" name="公式" r:id="rId6" imgW="4524292" imgH="380864" progId="Equation.3">
                  <p:embed/>
                </p:oleObj>
              </mc:Choice>
              <mc:Fallback>
                <p:oleObj name="公式" r:id="rId6" imgW="4524292" imgH="380864" progId="Equation.3">
                  <p:embed/>
                  <p:pic>
                    <p:nvPicPr>
                      <p:cNvPr id="98308" name="Object 4">
                        <a:extLst>
                          <a:ext uri="{FF2B5EF4-FFF2-40B4-BE49-F238E27FC236}">
                            <a16:creationId xmlns:a16="http://schemas.microsoft.com/office/drawing/2014/main" id="{493ACAD3-C25B-44C5-81DC-20DC7DD686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3" y="3667125"/>
                        <a:ext cx="419735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9" name="Rectangle 5">
            <a:extLst>
              <a:ext uri="{FF2B5EF4-FFF2-40B4-BE49-F238E27FC236}">
                <a16:creationId xmlns:a16="http://schemas.microsoft.com/office/drawing/2014/main" id="{655616A5-7E08-4D8F-BCD2-D0B8A8AAF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5786438"/>
            <a:ext cx="3033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在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x </a:t>
            </a:r>
            <a:r>
              <a:rPr lang="en-US" altLang="zh-CN">
                <a:solidFill>
                  <a:srgbClr val="66FFFF"/>
                </a:solidFill>
              </a:rPr>
              <a:t>= </a:t>
            </a:r>
            <a:r>
              <a:rPr lang="en-US" altLang="zh-CN" i="1">
                <a:solidFill>
                  <a:srgbClr val="66FFFF"/>
                </a:solidFill>
              </a:rPr>
              <a:t>a</a:t>
            </a:r>
            <a:r>
              <a:rPr lang="en-US" altLang="zh-CN" sz="3200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处连续</a:t>
            </a:r>
          </a:p>
        </p:txBody>
      </p:sp>
      <p:graphicFrame>
        <p:nvGraphicFramePr>
          <p:cNvPr id="98310" name="Object 6">
            <a:extLst>
              <a:ext uri="{FF2B5EF4-FFF2-40B4-BE49-F238E27FC236}">
                <a16:creationId xmlns:a16="http://schemas.microsoft.com/office/drawing/2014/main" id="{88F4AFA0-ECDB-4C37-A5AF-F1AB7582C85B}"/>
              </a:ext>
            </a:extLst>
          </p:cNvPr>
          <p:cNvGraphicFramePr>
            <a:graphicFrameLocks/>
          </p:cNvGraphicFramePr>
          <p:nvPr/>
        </p:nvGraphicFramePr>
        <p:xfrm>
          <a:off x="1143000" y="5184775"/>
          <a:ext cx="20732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16" name="公式" r:id="rId8" imgW="2047767" imgH="380864" progId="Equation.3">
                  <p:embed/>
                </p:oleObj>
              </mc:Choice>
              <mc:Fallback>
                <p:oleObj name="公式" r:id="rId8" imgW="2047767" imgH="380864" progId="Equation.3">
                  <p:embed/>
                  <p:pic>
                    <p:nvPicPr>
                      <p:cNvPr id="98310" name="Object 6">
                        <a:extLst>
                          <a:ext uri="{FF2B5EF4-FFF2-40B4-BE49-F238E27FC236}">
                            <a16:creationId xmlns:a16="http://schemas.microsoft.com/office/drawing/2014/main" id="{88F4AFA0-ECDB-4C37-A5AF-F1AB7582C85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184775"/>
                        <a:ext cx="20732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1" name="Object 7">
            <a:extLst>
              <a:ext uri="{FF2B5EF4-FFF2-40B4-BE49-F238E27FC236}">
                <a16:creationId xmlns:a16="http://schemas.microsoft.com/office/drawing/2014/main" id="{90797491-B570-450D-BFD1-D8DD804926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4149725"/>
          <a:ext cx="256063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17" name="公式" r:id="rId10" imgW="2609863" imgH="380864" progId="Equation.3">
                  <p:embed/>
                </p:oleObj>
              </mc:Choice>
              <mc:Fallback>
                <p:oleObj name="公式" r:id="rId10" imgW="2609863" imgH="380864" progId="Equation.3">
                  <p:embed/>
                  <p:pic>
                    <p:nvPicPr>
                      <p:cNvPr id="98311" name="Object 7">
                        <a:extLst>
                          <a:ext uri="{FF2B5EF4-FFF2-40B4-BE49-F238E27FC236}">
                            <a16:creationId xmlns:a16="http://schemas.microsoft.com/office/drawing/2014/main" id="{90797491-B570-450D-BFD1-D8DD804926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149725"/>
                        <a:ext cx="256063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2" name="Object 8">
            <a:extLst>
              <a:ext uri="{FF2B5EF4-FFF2-40B4-BE49-F238E27FC236}">
                <a16:creationId xmlns:a16="http://schemas.microsoft.com/office/drawing/2014/main" id="{306F9BFD-CA2B-4F0E-ADCD-ABE3040EF1BB}"/>
              </a:ext>
            </a:extLst>
          </p:cNvPr>
          <p:cNvGraphicFramePr>
            <a:graphicFrameLocks/>
          </p:cNvGraphicFramePr>
          <p:nvPr/>
        </p:nvGraphicFramePr>
        <p:xfrm>
          <a:off x="6200775" y="5680075"/>
          <a:ext cx="1443038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18" name="Equation" r:id="rId12" imgW="1428788" imgH="799998" progId="Equation.3">
                  <p:embed/>
                </p:oleObj>
              </mc:Choice>
              <mc:Fallback>
                <p:oleObj name="Equation" r:id="rId12" imgW="1428788" imgH="799998" progId="Equation.3">
                  <p:embed/>
                  <p:pic>
                    <p:nvPicPr>
                      <p:cNvPr id="98312" name="Object 8">
                        <a:extLst>
                          <a:ext uri="{FF2B5EF4-FFF2-40B4-BE49-F238E27FC236}">
                            <a16:creationId xmlns:a16="http://schemas.microsoft.com/office/drawing/2014/main" id="{306F9BFD-CA2B-4F0E-ADCD-ABE3040EF1B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0775" y="5680075"/>
                        <a:ext cx="1443038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3" name="Object 9">
            <a:extLst>
              <a:ext uri="{FF2B5EF4-FFF2-40B4-BE49-F238E27FC236}">
                <a16:creationId xmlns:a16="http://schemas.microsoft.com/office/drawing/2014/main" id="{19040D59-6186-4F99-88BB-7744DDDA31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7888" y="4786313"/>
          <a:ext cx="2757487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19" name="公式" r:id="rId14" imgW="1295451" imgH="371373" progId="Equation.3">
                  <p:embed/>
                </p:oleObj>
              </mc:Choice>
              <mc:Fallback>
                <p:oleObj name="公式" r:id="rId14" imgW="1295451" imgH="371373" progId="Equation.3">
                  <p:embed/>
                  <p:pic>
                    <p:nvPicPr>
                      <p:cNvPr id="98313" name="Object 9">
                        <a:extLst>
                          <a:ext uri="{FF2B5EF4-FFF2-40B4-BE49-F238E27FC236}">
                            <a16:creationId xmlns:a16="http://schemas.microsoft.com/office/drawing/2014/main" id="{19040D59-6186-4F99-88BB-7744DDDA31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7888" y="4786313"/>
                        <a:ext cx="2757487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4" name="Text Box 10">
            <a:extLst>
              <a:ext uri="{FF2B5EF4-FFF2-40B4-BE49-F238E27FC236}">
                <a16:creationId xmlns:a16="http://schemas.microsoft.com/office/drawing/2014/main" id="{5679E127-728A-49AF-99D0-4A31731E8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4962525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所以</a:t>
            </a:r>
          </a:p>
        </p:txBody>
      </p:sp>
      <p:sp>
        <p:nvSpPr>
          <p:cNvPr id="30731" name="Rectangle 11">
            <a:extLst>
              <a:ext uri="{FF2B5EF4-FFF2-40B4-BE49-F238E27FC236}">
                <a16:creationId xmlns:a16="http://schemas.microsoft.com/office/drawing/2014/main" id="{895F0362-658E-4E28-AD28-250751C86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038225"/>
            <a:ext cx="1524000" cy="23622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732" name="Object 12">
            <a:extLst>
              <a:ext uri="{FF2B5EF4-FFF2-40B4-BE49-F238E27FC236}">
                <a16:creationId xmlns:a16="http://schemas.microsoft.com/office/drawing/2014/main" id="{1D7ED2D9-5CF4-4B62-84F8-3F93CB386108}"/>
              </a:ext>
            </a:extLst>
          </p:cNvPr>
          <p:cNvGraphicFramePr>
            <a:graphicFrameLocks/>
          </p:cNvGraphicFramePr>
          <p:nvPr/>
        </p:nvGraphicFramePr>
        <p:xfrm>
          <a:off x="7772400" y="1857375"/>
          <a:ext cx="10858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20" name="公式" r:id="rId16" imgW="1181075" imgH="371373" progId="Equation.3">
                  <p:embed/>
                </p:oleObj>
              </mc:Choice>
              <mc:Fallback>
                <p:oleObj name="公式" r:id="rId16" imgW="1181075" imgH="371373" progId="Equation.3">
                  <p:embed/>
                  <p:pic>
                    <p:nvPicPr>
                      <p:cNvPr id="30732" name="Object 12">
                        <a:extLst>
                          <a:ext uri="{FF2B5EF4-FFF2-40B4-BE49-F238E27FC236}">
                            <a16:creationId xmlns:a16="http://schemas.microsoft.com/office/drawing/2014/main" id="{1D7ED2D9-5CF4-4B62-84F8-3F93CB38610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857375"/>
                        <a:ext cx="10858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3" name="Line 13">
            <a:extLst>
              <a:ext uri="{FF2B5EF4-FFF2-40B4-BE49-F238E27FC236}">
                <a16:creationId xmlns:a16="http://schemas.microsoft.com/office/drawing/2014/main" id="{4616FD49-526F-4F8B-BE05-A8BFDF9C03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72100" y="3400425"/>
            <a:ext cx="3086100" cy="0"/>
          </a:xfrm>
          <a:prstGeom prst="line">
            <a:avLst/>
          </a:prstGeom>
          <a:noFill/>
          <a:ln w="9525">
            <a:solidFill>
              <a:srgbClr val="00FF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4" name="Line 14">
            <a:extLst>
              <a:ext uri="{FF2B5EF4-FFF2-40B4-BE49-F238E27FC236}">
                <a16:creationId xmlns:a16="http://schemas.microsoft.com/office/drawing/2014/main" id="{F47AB664-A2F5-4D10-8252-EA9C69BBC7F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038225"/>
            <a:ext cx="0" cy="914400"/>
          </a:xfrm>
          <a:prstGeom prst="line">
            <a:avLst/>
          </a:prstGeom>
          <a:noFill/>
          <a:ln w="38100">
            <a:solidFill>
              <a:schemeClr val="hlink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5" name="Line 15">
            <a:extLst>
              <a:ext uri="{FF2B5EF4-FFF2-40B4-BE49-F238E27FC236}">
                <a16:creationId xmlns:a16="http://schemas.microsoft.com/office/drawing/2014/main" id="{EE87B95D-347F-4AAC-A3DD-297B91348E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1038225"/>
            <a:ext cx="0" cy="914400"/>
          </a:xfrm>
          <a:prstGeom prst="line">
            <a:avLst/>
          </a:prstGeom>
          <a:noFill/>
          <a:ln w="38100">
            <a:solidFill>
              <a:schemeClr val="hlink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6" name="Text Box 16">
            <a:extLst>
              <a:ext uri="{FF2B5EF4-FFF2-40B4-BE49-F238E27FC236}">
                <a16:creationId xmlns:a16="http://schemas.microsoft.com/office/drawing/2014/main" id="{ED24EF69-4943-4553-AB74-8F808429F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1850" y="309562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i="1">
                <a:solidFill>
                  <a:schemeClr val="hlink"/>
                </a:solidFill>
              </a:rPr>
              <a:t>x</a:t>
            </a:r>
          </a:p>
        </p:txBody>
      </p:sp>
      <p:sp>
        <p:nvSpPr>
          <p:cNvPr id="30737" name="Text Box 17">
            <a:extLst>
              <a:ext uri="{FF2B5EF4-FFF2-40B4-BE49-F238E27FC236}">
                <a16:creationId xmlns:a16="http://schemas.microsoft.com/office/drawing/2014/main" id="{4FF4ABC6-C772-458E-8A07-4C2FEB855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357563"/>
            <a:ext cx="186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>
                <a:solidFill>
                  <a:schemeClr val="hlink"/>
                </a:solidFill>
              </a:rPr>
              <a:t>0</a:t>
            </a:r>
            <a:r>
              <a:rPr lang="en-US" altLang="zh-CN" b="0">
                <a:solidFill>
                  <a:srgbClr val="FFFF99"/>
                </a:solidFill>
              </a:rPr>
              <a:t>                  </a:t>
            </a:r>
            <a:r>
              <a:rPr lang="en-US" altLang="zh-CN" i="1">
                <a:solidFill>
                  <a:schemeClr val="hlink"/>
                </a:solidFill>
              </a:rPr>
              <a:t>a</a:t>
            </a:r>
          </a:p>
        </p:txBody>
      </p:sp>
      <p:sp>
        <p:nvSpPr>
          <p:cNvPr id="30738" name="Line 18">
            <a:extLst>
              <a:ext uri="{FF2B5EF4-FFF2-40B4-BE49-F238E27FC236}">
                <a16:creationId xmlns:a16="http://schemas.microsoft.com/office/drawing/2014/main" id="{67EFC9DF-B683-4C09-A5A3-F160E4EA91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762000"/>
            <a:ext cx="0" cy="76200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9" name="Text Box 19">
            <a:extLst>
              <a:ext uri="{FF2B5EF4-FFF2-40B4-BE49-F238E27FC236}">
                <a16:creationId xmlns:a16="http://schemas.microsoft.com/office/drawing/2014/main" id="{3606D05E-99AF-4966-BB50-CA46CF91D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57200"/>
            <a:ext cx="438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0">
                <a:solidFill>
                  <a:srgbClr val="FFFF99"/>
                </a:solidFill>
                <a:sym typeface="Symbol" panose="05050102010706020507" pitchFamily="18" charset="2"/>
              </a:rPr>
              <a:t></a:t>
            </a:r>
            <a:endParaRPr lang="zh-CN" altLang="en-US" sz="2800" b="0">
              <a:solidFill>
                <a:srgbClr val="FFFF99"/>
              </a:solidFill>
            </a:endParaRPr>
          </a:p>
        </p:txBody>
      </p:sp>
      <p:sp>
        <p:nvSpPr>
          <p:cNvPr id="30740" name="Text Box 20">
            <a:extLst>
              <a:ext uri="{FF2B5EF4-FFF2-40B4-BE49-F238E27FC236}">
                <a16:creationId xmlns:a16="http://schemas.microsoft.com/office/drawing/2014/main" id="{EDDE3B3C-CDEA-475F-A89B-5AE4F19CB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6150" y="457200"/>
            <a:ext cx="438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0">
                <a:solidFill>
                  <a:srgbClr val="FFFF99"/>
                </a:solidFill>
                <a:sym typeface="Symbol" panose="05050102010706020507" pitchFamily="18" charset="2"/>
              </a:rPr>
              <a:t></a:t>
            </a:r>
            <a:endParaRPr lang="zh-CN" altLang="en-US" sz="2800" b="0">
              <a:solidFill>
                <a:srgbClr val="FFFF99"/>
              </a:solidFill>
            </a:endParaRPr>
          </a:p>
        </p:txBody>
      </p:sp>
      <p:graphicFrame>
        <p:nvGraphicFramePr>
          <p:cNvPr id="30741" name="Object 21">
            <a:extLst>
              <a:ext uri="{FF2B5EF4-FFF2-40B4-BE49-F238E27FC236}">
                <a16:creationId xmlns:a16="http://schemas.microsoft.com/office/drawing/2014/main" id="{36E4AC61-FC56-49A3-8470-DD326DF2E9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4875" y="1897063"/>
          <a:ext cx="10985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21" name="公式" r:id="rId18" imgW="1181075" imgH="371373" progId="Equation.3">
                  <p:embed/>
                </p:oleObj>
              </mc:Choice>
              <mc:Fallback>
                <p:oleObj name="公式" r:id="rId18" imgW="1181075" imgH="371373" progId="Equation.3">
                  <p:embed/>
                  <p:pic>
                    <p:nvPicPr>
                      <p:cNvPr id="30741" name="Object 21">
                        <a:extLst>
                          <a:ext uri="{FF2B5EF4-FFF2-40B4-BE49-F238E27FC236}">
                            <a16:creationId xmlns:a16="http://schemas.microsoft.com/office/drawing/2014/main" id="{36E4AC61-FC56-49A3-8470-DD326DF2E9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1897063"/>
                        <a:ext cx="10985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6" name="Object 22">
            <a:extLst>
              <a:ext uri="{FF2B5EF4-FFF2-40B4-BE49-F238E27FC236}">
                <a16:creationId xmlns:a16="http://schemas.microsoft.com/office/drawing/2014/main" id="{367BDC4E-E8B1-4589-A664-A1C6B2D1997D}"/>
              </a:ext>
            </a:extLst>
          </p:cNvPr>
          <p:cNvGraphicFramePr>
            <a:graphicFrameLocks/>
          </p:cNvGraphicFramePr>
          <p:nvPr/>
        </p:nvGraphicFramePr>
        <p:xfrm>
          <a:off x="6429375" y="1857375"/>
          <a:ext cx="760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22" name="公式" r:id="rId20" imgW="742835" imgH="371373" progId="Equation.3">
                  <p:embed/>
                </p:oleObj>
              </mc:Choice>
              <mc:Fallback>
                <p:oleObj name="公式" r:id="rId20" imgW="742835" imgH="371373" progId="Equation.3">
                  <p:embed/>
                  <p:pic>
                    <p:nvPicPr>
                      <p:cNvPr id="98326" name="Object 22">
                        <a:extLst>
                          <a:ext uri="{FF2B5EF4-FFF2-40B4-BE49-F238E27FC236}">
                            <a16:creationId xmlns:a16="http://schemas.microsoft.com/office/drawing/2014/main" id="{367BDC4E-E8B1-4589-A664-A1C6B2D1997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75" y="1857375"/>
                        <a:ext cx="760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7" name="Object 23">
            <a:extLst>
              <a:ext uri="{FF2B5EF4-FFF2-40B4-BE49-F238E27FC236}">
                <a16:creationId xmlns:a16="http://schemas.microsoft.com/office/drawing/2014/main" id="{C0647C38-9CD3-4FA3-8009-0B447B3C61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2306638"/>
          <a:ext cx="352742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23" name="公式" r:id="rId22" imgW="3486035" imgH="380864" progId="Equation.3">
                  <p:embed/>
                </p:oleObj>
              </mc:Choice>
              <mc:Fallback>
                <p:oleObj name="公式" r:id="rId22" imgW="3486035" imgH="380864" progId="Equation.3">
                  <p:embed/>
                  <p:pic>
                    <p:nvPicPr>
                      <p:cNvPr id="98327" name="Object 23">
                        <a:extLst>
                          <a:ext uri="{FF2B5EF4-FFF2-40B4-BE49-F238E27FC236}">
                            <a16:creationId xmlns:a16="http://schemas.microsoft.com/office/drawing/2014/main" id="{C0647C38-9CD3-4FA3-8009-0B447B3C61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2306638"/>
                        <a:ext cx="352742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66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28" name="Text Box 24">
            <a:extLst>
              <a:ext uri="{FF2B5EF4-FFF2-40B4-BE49-F238E27FC236}">
                <a16:creationId xmlns:a16="http://schemas.microsoft.com/office/drawing/2014/main" id="{D8A1FA91-1EB4-4950-8F58-890DCD92A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1577975"/>
            <a:ext cx="1979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通解为</a:t>
            </a:r>
          </a:p>
        </p:txBody>
      </p:sp>
      <p:sp>
        <p:nvSpPr>
          <p:cNvPr id="30745" name="Line 25">
            <a:extLst>
              <a:ext uri="{FF2B5EF4-FFF2-40B4-BE49-F238E27FC236}">
                <a16:creationId xmlns:a16="http://schemas.microsoft.com/office/drawing/2014/main" id="{E7F1B4BC-4F65-413F-9D63-364D22994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952625"/>
            <a:ext cx="0" cy="14478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6" name="Line 26">
            <a:extLst>
              <a:ext uri="{FF2B5EF4-FFF2-40B4-BE49-F238E27FC236}">
                <a16:creationId xmlns:a16="http://schemas.microsoft.com/office/drawing/2014/main" id="{4AECC7B6-8ED9-464E-ACF6-1602FC84E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1952625"/>
            <a:ext cx="0" cy="14478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31" name="Text Box 27">
            <a:extLst>
              <a:ext uri="{FF2B5EF4-FFF2-40B4-BE49-F238E27FC236}">
                <a16:creationId xmlns:a16="http://schemas.microsoft.com/office/drawing/2014/main" id="{5D01EAA7-CC4F-47BF-A4AE-D8407FBA6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5826125"/>
            <a:ext cx="920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而</a:t>
            </a:r>
          </a:p>
        </p:txBody>
      </p:sp>
      <p:sp>
        <p:nvSpPr>
          <p:cNvPr id="98333" name="Line 29">
            <a:extLst>
              <a:ext uri="{FF2B5EF4-FFF2-40B4-BE49-F238E27FC236}">
                <a16:creationId xmlns:a16="http://schemas.microsoft.com/office/drawing/2014/main" id="{3120DEC1-3409-4B8F-8253-8353DB6FA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338" y="4005263"/>
            <a:ext cx="0" cy="2519362"/>
          </a:xfrm>
          <a:prstGeom prst="line">
            <a:avLst/>
          </a:prstGeom>
          <a:noFill/>
          <a:ln w="19050">
            <a:solidFill>
              <a:srgbClr val="00FF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8334" name="Object 30">
            <a:extLst>
              <a:ext uri="{FF2B5EF4-FFF2-40B4-BE49-F238E27FC236}">
                <a16:creationId xmlns:a16="http://schemas.microsoft.com/office/drawing/2014/main" id="{5BE20FC3-04BC-457E-93F9-1E4AD7C030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357688"/>
          <a:ext cx="13017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24" name="公式" r:id="rId24" imgW="1323892" imgH="295139" progId="Equation.3">
                  <p:embed/>
                </p:oleObj>
              </mc:Choice>
              <mc:Fallback>
                <p:oleObj name="公式" r:id="rId24" imgW="1323892" imgH="295139" progId="Equation.3">
                  <p:embed/>
                  <p:pic>
                    <p:nvPicPr>
                      <p:cNvPr id="98334" name="Object 30">
                        <a:extLst>
                          <a:ext uri="{FF2B5EF4-FFF2-40B4-BE49-F238E27FC236}">
                            <a16:creationId xmlns:a16="http://schemas.microsoft.com/office/drawing/2014/main" id="{5BE20FC3-04BC-457E-93F9-1E4AD7C030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357688"/>
                        <a:ext cx="13017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66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0" name="Rectangle 31">
            <a:extLst>
              <a:ext uri="{FF2B5EF4-FFF2-40B4-BE49-F238E27FC236}">
                <a16:creationId xmlns:a16="http://schemas.microsoft.com/office/drawing/2014/main" id="{CA11655A-8FC7-468A-A415-2360DA634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55625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00CCFF"/>
                </a:solidFill>
              </a:rPr>
              <a:t>V</a:t>
            </a:r>
            <a:r>
              <a:rPr lang="en-US" altLang="zh-CN">
                <a:solidFill>
                  <a:srgbClr val="00CCFF"/>
                </a:solidFill>
              </a:rPr>
              <a:t> ( </a:t>
            </a:r>
            <a:r>
              <a:rPr lang="en-US" altLang="zh-CN" i="1">
                <a:solidFill>
                  <a:srgbClr val="00CCFF"/>
                </a:solidFill>
              </a:rPr>
              <a:t>x </a:t>
            </a:r>
            <a:r>
              <a:rPr lang="en-US" altLang="zh-CN">
                <a:solidFill>
                  <a:srgbClr val="00CCFF"/>
                </a:solidFill>
              </a:rPr>
              <a:t>)</a:t>
            </a:r>
          </a:p>
        </p:txBody>
      </p:sp>
      <p:sp>
        <p:nvSpPr>
          <p:cNvPr id="30751" name="灯片编号占位符 1">
            <a:extLst>
              <a:ext uri="{FF2B5EF4-FFF2-40B4-BE49-F238E27FC236}">
                <a16:creationId xmlns:a16="http://schemas.microsoft.com/office/drawing/2014/main" id="{C66734C6-AE07-463F-A8F6-8A6C5660350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F3766F7-2DF9-4159-BDC9-4D8661D5A644}" type="slidenum">
              <a:rPr lang="en-US" altLang="zh-CN" b="0">
                <a:solidFill>
                  <a:srgbClr val="FF00FF"/>
                </a:solidFill>
              </a:rPr>
              <a:pPr eaLnBrk="1" hangingPunct="1"/>
              <a:t>29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37" name="任意多边形 36">
            <a:extLst>
              <a:ext uri="{FF2B5EF4-FFF2-40B4-BE49-F238E27FC236}">
                <a16:creationId xmlns:a16="http://schemas.microsoft.com/office/drawing/2014/main" id="{9CA38F53-608E-4D63-B388-067B7A025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2428875"/>
            <a:ext cx="762000" cy="2982913"/>
          </a:xfrm>
          <a:custGeom>
            <a:avLst/>
            <a:gdLst>
              <a:gd name="T0" fmla="*/ 357554 w 762000"/>
              <a:gd name="T1" fmla="*/ 0 h 2870688"/>
              <a:gd name="T2" fmla="*/ 137746 w 762000"/>
              <a:gd name="T3" fmla="*/ 967817 h 2870688"/>
              <a:gd name="T4" fmla="*/ 14654 w 762000"/>
              <a:gd name="T5" fmla="*/ 4531172 h 2870688"/>
              <a:gd name="T6" fmla="*/ 49823 w 762000"/>
              <a:gd name="T7" fmla="*/ 8710375 h 2870688"/>
              <a:gd name="T8" fmla="*/ 172915 w 762000"/>
              <a:gd name="T9" fmla="*/ 12097694 h 2870688"/>
              <a:gd name="T10" fmla="*/ 348761 w 762000"/>
              <a:gd name="T11" fmla="*/ 13989352 h 2870688"/>
              <a:gd name="T12" fmla="*/ 762000 w 762000"/>
              <a:gd name="T13" fmla="*/ 14341287 h 28706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62000"/>
              <a:gd name="T22" fmla="*/ 0 h 2870688"/>
              <a:gd name="T23" fmla="*/ 762000 w 762000"/>
              <a:gd name="T24" fmla="*/ 2870688 h 28706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62000" h="2870688">
                <a:moveTo>
                  <a:pt x="357554" y="0"/>
                </a:moveTo>
                <a:cubicBezTo>
                  <a:pt x="276225" y="21248"/>
                  <a:pt x="194896" y="42496"/>
                  <a:pt x="137746" y="193431"/>
                </a:cubicBezTo>
                <a:cubicBezTo>
                  <a:pt x="80596" y="344366"/>
                  <a:pt x="29308" y="647700"/>
                  <a:pt x="14654" y="905608"/>
                </a:cubicBezTo>
                <a:cubicBezTo>
                  <a:pt x="0" y="1163516"/>
                  <a:pt x="23446" y="1488831"/>
                  <a:pt x="49823" y="1740877"/>
                </a:cubicBezTo>
                <a:cubicBezTo>
                  <a:pt x="76200" y="1992923"/>
                  <a:pt x="123092" y="2242039"/>
                  <a:pt x="172915" y="2417885"/>
                </a:cubicBezTo>
                <a:cubicBezTo>
                  <a:pt x="222738" y="2593731"/>
                  <a:pt x="250580" y="2721220"/>
                  <a:pt x="348761" y="2795954"/>
                </a:cubicBezTo>
                <a:cubicBezTo>
                  <a:pt x="446942" y="2870688"/>
                  <a:pt x="604471" y="2868490"/>
                  <a:pt x="762000" y="2866292"/>
                </a:cubicBezTo>
              </a:path>
            </a:pathLst>
          </a:custGeom>
          <a:noFill/>
          <a:ln w="1905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" name="Object 20">
            <a:extLst>
              <a:ext uri="{FF2B5EF4-FFF2-40B4-BE49-F238E27FC236}">
                <a16:creationId xmlns:a16="http://schemas.microsoft.com/office/drawing/2014/main" id="{D4B9DF27-63A7-4D9F-9288-456B3EF352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500063"/>
          <a:ext cx="15049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25" name="Equation" r:id="rId26" imgW="1409827" imgH="799998" progId="Equation.3">
                  <p:embed/>
                </p:oleObj>
              </mc:Choice>
              <mc:Fallback>
                <p:oleObj name="Equation" r:id="rId26" imgW="1409827" imgH="799998" progId="Equation.3">
                  <p:embed/>
                  <p:pic>
                    <p:nvPicPr>
                      <p:cNvPr id="33" name="Object 20">
                        <a:extLst>
                          <a:ext uri="{FF2B5EF4-FFF2-40B4-BE49-F238E27FC236}">
                            <a16:creationId xmlns:a16="http://schemas.microsoft.com/office/drawing/2014/main" id="{D4B9DF27-63A7-4D9F-9288-456B3EF352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500063"/>
                        <a:ext cx="15049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右箭头 34">
            <a:extLst>
              <a:ext uri="{FF2B5EF4-FFF2-40B4-BE49-F238E27FC236}">
                <a16:creationId xmlns:a16="http://schemas.microsoft.com/office/drawing/2014/main" id="{2AA39AB7-C795-4012-BBF5-6CA0EDF99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785813"/>
            <a:ext cx="714375" cy="285750"/>
          </a:xfrm>
          <a:prstGeom prst="rightArrow">
            <a:avLst>
              <a:gd name="adj1" fmla="val 50000"/>
              <a:gd name="adj2" fmla="val 9266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8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8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8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8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8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8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98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8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9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autoUpdateAnimBg="0"/>
      <p:bldP spid="98309" grpId="0" autoUpdateAnimBg="0"/>
      <p:bldP spid="98314" grpId="0" autoUpdateAnimBg="0"/>
      <p:bldP spid="98328" grpId="0"/>
      <p:bldP spid="98331" grpId="0" autoUpdateAnimBg="0"/>
      <p:bldP spid="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2">
            <a:extLst>
              <a:ext uri="{FF2B5EF4-FFF2-40B4-BE49-F238E27FC236}">
                <a16:creationId xmlns:a16="http://schemas.microsoft.com/office/drawing/2014/main" id="{02D7AC3E-4772-4EF2-84FF-B052058BD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9738" y="4471988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hlink"/>
                </a:solidFill>
              </a:rPr>
              <a:t>波函数</a:t>
            </a:r>
          </a:p>
        </p:txBody>
      </p:sp>
      <p:sp>
        <p:nvSpPr>
          <p:cNvPr id="100355" name="Text Box 3">
            <a:extLst>
              <a:ext uri="{FF2B5EF4-FFF2-40B4-BE49-F238E27FC236}">
                <a16:creationId xmlns:a16="http://schemas.microsoft.com/office/drawing/2014/main" id="{28636DE7-60CD-409E-B6FD-C3332FA01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4454525"/>
            <a:ext cx="1200150" cy="396875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hlink"/>
                </a:solidFill>
                <a:ea typeface="STZhongsong" panose="02010600040101010101" pitchFamily="2" charset="-122"/>
              </a:rPr>
              <a:t>概率分布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8AB0B62-D11A-4F64-BC4D-0A84C6F8CA03}"/>
              </a:ext>
            </a:extLst>
          </p:cNvPr>
          <p:cNvGrpSpPr>
            <a:grpSpLocks/>
          </p:cNvGrpSpPr>
          <p:nvPr/>
        </p:nvGrpSpPr>
        <p:grpSpPr bwMode="auto">
          <a:xfrm>
            <a:off x="6443663" y="676275"/>
            <a:ext cx="1800225" cy="3184525"/>
            <a:chOff x="4048" y="436"/>
            <a:chExt cx="1134" cy="2006"/>
          </a:xfrm>
        </p:grpSpPr>
        <p:sp>
          <p:nvSpPr>
            <p:cNvPr id="32810" name="Freeform 5">
              <a:extLst>
                <a:ext uri="{FF2B5EF4-FFF2-40B4-BE49-F238E27FC236}">
                  <a16:creationId xmlns:a16="http://schemas.microsoft.com/office/drawing/2014/main" id="{231B0D52-5380-4930-A0FF-C7C68FBB7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" y="2214"/>
              <a:ext cx="1124" cy="228"/>
            </a:xfrm>
            <a:custGeom>
              <a:avLst/>
              <a:gdLst>
                <a:gd name="T0" fmla="*/ 0 w 2355"/>
                <a:gd name="T1" fmla="*/ 1 h 333"/>
                <a:gd name="T2" fmla="*/ 0 w 2355"/>
                <a:gd name="T3" fmla="*/ 0 h 333"/>
                <a:gd name="T4" fmla="*/ 0 w 2355"/>
                <a:gd name="T5" fmla="*/ 1 h 333"/>
                <a:gd name="T6" fmla="*/ 0 60000 65536"/>
                <a:gd name="T7" fmla="*/ 0 60000 65536"/>
                <a:gd name="T8" fmla="*/ 0 60000 65536"/>
                <a:gd name="T9" fmla="*/ 0 w 2355"/>
                <a:gd name="T10" fmla="*/ 0 h 333"/>
                <a:gd name="T11" fmla="*/ 2355 w 2355"/>
                <a:gd name="T12" fmla="*/ 333 h 3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5" h="333">
                  <a:moveTo>
                    <a:pt x="0" y="295"/>
                  </a:moveTo>
                  <a:cubicBezTo>
                    <a:pt x="678" y="256"/>
                    <a:pt x="525" y="13"/>
                    <a:pt x="1152" y="0"/>
                  </a:cubicBezTo>
                  <a:cubicBezTo>
                    <a:pt x="1728" y="0"/>
                    <a:pt x="1830" y="333"/>
                    <a:pt x="2355" y="295"/>
                  </a:cubicBezTo>
                </a:path>
              </a:pathLst>
            </a:custGeom>
            <a:solidFill>
              <a:schemeClr val="hlink"/>
            </a:solidFill>
            <a:ln w="19050">
              <a:solidFill>
                <a:srgbClr val="FFFF99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1" name="Freeform 6">
              <a:extLst>
                <a:ext uri="{FF2B5EF4-FFF2-40B4-BE49-F238E27FC236}">
                  <a16:creationId xmlns:a16="http://schemas.microsoft.com/office/drawing/2014/main" id="{62EC938D-0BA1-47D5-8ABB-B10C2104D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" y="1582"/>
              <a:ext cx="1124" cy="220"/>
            </a:xfrm>
            <a:custGeom>
              <a:avLst/>
              <a:gdLst>
                <a:gd name="T0" fmla="*/ 0 w 2355"/>
                <a:gd name="T1" fmla="*/ 1 h 322"/>
                <a:gd name="T2" fmla="*/ 0 w 2355"/>
                <a:gd name="T3" fmla="*/ 0 h 322"/>
                <a:gd name="T4" fmla="*/ 0 w 2355"/>
                <a:gd name="T5" fmla="*/ 1 h 322"/>
                <a:gd name="T6" fmla="*/ 0 w 2355"/>
                <a:gd name="T7" fmla="*/ 0 h 322"/>
                <a:gd name="T8" fmla="*/ 0 w 2355"/>
                <a:gd name="T9" fmla="*/ 1 h 3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5"/>
                <a:gd name="T16" fmla="*/ 0 h 322"/>
                <a:gd name="T17" fmla="*/ 2355 w 2355"/>
                <a:gd name="T18" fmla="*/ 322 h 3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5" h="322">
                  <a:moveTo>
                    <a:pt x="0" y="296"/>
                  </a:moveTo>
                  <a:cubicBezTo>
                    <a:pt x="294" y="283"/>
                    <a:pt x="230" y="15"/>
                    <a:pt x="568" y="0"/>
                  </a:cubicBezTo>
                  <a:cubicBezTo>
                    <a:pt x="819" y="2"/>
                    <a:pt x="883" y="296"/>
                    <a:pt x="1139" y="309"/>
                  </a:cubicBezTo>
                  <a:cubicBezTo>
                    <a:pt x="1485" y="309"/>
                    <a:pt x="1421" y="15"/>
                    <a:pt x="1793" y="0"/>
                  </a:cubicBezTo>
                  <a:cubicBezTo>
                    <a:pt x="2048" y="2"/>
                    <a:pt x="2060" y="322"/>
                    <a:pt x="2355" y="296"/>
                  </a:cubicBezTo>
                </a:path>
              </a:pathLst>
            </a:custGeom>
            <a:solidFill>
              <a:schemeClr val="hlink"/>
            </a:solidFill>
            <a:ln w="19050">
              <a:solidFill>
                <a:srgbClr val="FFFF99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2" name="Freeform 7">
              <a:extLst>
                <a:ext uri="{FF2B5EF4-FFF2-40B4-BE49-F238E27FC236}">
                  <a16:creationId xmlns:a16="http://schemas.microsoft.com/office/drawing/2014/main" id="{999EF94F-5D5E-4AD5-AC64-A171EE0D8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" y="436"/>
              <a:ext cx="1125" cy="236"/>
            </a:xfrm>
            <a:custGeom>
              <a:avLst/>
              <a:gdLst>
                <a:gd name="T0" fmla="*/ 0 w 2359"/>
                <a:gd name="T1" fmla="*/ 1 h 345"/>
                <a:gd name="T2" fmla="*/ 0 w 2359"/>
                <a:gd name="T3" fmla="*/ 1 h 345"/>
                <a:gd name="T4" fmla="*/ 0 w 2359"/>
                <a:gd name="T5" fmla="*/ 1 h 345"/>
                <a:gd name="T6" fmla="*/ 0 w 2359"/>
                <a:gd name="T7" fmla="*/ 1 h 345"/>
                <a:gd name="T8" fmla="*/ 0 w 2359"/>
                <a:gd name="T9" fmla="*/ 1 h 345"/>
                <a:gd name="T10" fmla="*/ 0 w 2359"/>
                <a:gd name="T11" fmla="*/ 1 h 345"/>
                <a:gd name="T12" fmla="*/ 0 w 2359"/>
                <a:gd name="T13" fmla="*/ 1 h 3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59"/>
                <a:gd name="T22" fmla="*/ 0 h 345"/>
                <a:gd name="T23" fmla="*/ 2359 w 2359"/>
                <a:gd name="T24" fmla="*/ 345 h 34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59" h="345">
                  <a:moveTo>
                    <a:pt x="0" y="333"/>
                  </a:moveTo>
                  <a:cubicBezTo>
                    <a:pt x="239" y="268"/>
                    <a:pt x="188" y="12"/>
                    <a:pt x="380" y="25"/>
                  </a:cubicBezTo>
                  <a:cubicBezTo>
                    <a:pt x="602" y="34"/>
                    <a:pt x="598" y="332"/>
                    <a:pt x="771" y="333"/>
                  </a:cubicBezTo>
                  <a:cubicBezTo>
                    <a:pt x="969" y="320"/>
                    <a:pt x="995" y="0"/>
                    <a:pt x="1180" y="16"/>
                  </a:cubicBezTo>
                  <a:cubicBezTo>
                    <a:pt x="1353" y="0"/>
                    <a:pt x="1391" y="332"/>
                    <a:pt x="1583" y="332"/>
                  </a:cubicBezTo>
                  <a:cubicBezTo>
                    <a:pt x="1737" y="332"/>
                    <a:pt x="1814" y="0"/>
                    <a:pt x="1980" y="25"/>
                  </a:cubicBezTo>
                  <a:cubicBezTo>
                    <a:pt x="2159" y="12"/>
                    <a:pt x="2211" y="345"/>
                    <a:pt x="2359" y="333"/>
                  </a:cubicBezTo>
                </a:path>
              </a:pathLst>
            </a:custGeom>
            <a:solidFill>
              <a:schemeClr val="hlink"/>
            </a:solidFill>
            <a:ln w="19050">
              <a:solidFill>
                <a:srgbClr val="FFFF99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0360" name="Rectangle 8">
            <a:extLst>
              <a:ext uri="{FF2B5EF4-FFF2-40B4-BE49-F238E27FC236}">
                <a16:creationId xmlns:a16="http://schemas.microsoft.com/office/drawing/2014/main" id="{6E068DAD-42A3-43ED-9958-C265047DA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3071813"/>
            <a:ext cx="4460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量子数为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n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的定态波函数</a:t>
            </a:r>
          </a:p>
        </p:txBody>
      </p:sp>
      <p:graphicFrame>
        <p:nvGraphicFramePr>
          <p:cNvPr id="100361" name="Object 9">
            <a:extLst>
              <a:ext uri="{FF2B5EF4-FFF2-40B4-BE49-F238E27FC236}">
                <a16:creationId xmlns:a16="http://schemas.microsoft.com/office/drawing/2014/main" id="{F1EAB736-5746-4A36-998F-78CD8DFD4CCF}"/>
              </a:ext>
            </a:extLst>
          </p:cNvPr>
          <p:cNvGraphicFramePr>
            <a:graphicFrameLocks/>
          </p:cNvGraphicFramePr>
          <p:nvPr/>
        </p:nvGraphicFramePr>
        <p:xfrm>
          <a:off x="1212850" y="3586163"/>
          <a:ext cx="2654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14" name="公式" r:id="rId4" imgW="2628824" imgH="799998" progId="Equation.3">
                  <p:embed/>
                </p:oleObj>
              </mc:Choice>
              <mc:Fallback>
                <p:oleObj name="公式" r:id="rId4" imgW="2628824" imgH="799998" progId="Equation.3">
                  <p:embed/>
                  <p:pic>
                    <p:nvPicPr>
                      <p:cNvPr id="100361" name="Object 9">
                        <a:extLst>
                          <a:ext uri="{FF2B5EF4-FFF2-40B4-BE49-F238E27FC236}">
                            <a16:creationId xmlns:a16="http://schemas.microsoft.com/office/drawing/2014/main" id="{F1EAB736-5746-4A36-998F-78CD8DFD4CC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0" y="3586163"/>
                        <a:ext cx="2654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2" name="Rectangle 10">
            <a:extLst>
              <a:ext uri="{FF2B5EF4-FFF2-40B4-BE49-F238E27FC236}">
                <a16:creationId xmlns:a16="http://schemas.microsoft.com/office/drawing/2014/main" id="{16F0871A-4271-4A2C-BC6E-15C52879D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499" y="4500563"/>
            <a:ext cx="273838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由归一化条件</a:t>
            </a:r>
          </a:p>
        </p:txBody>
      </p:sp>
      <p:graphicFrame>
        <p:nvGraphicFramePr>
          <p:cNvPr id="100363" name="Object 11">
            <a:extLst>
              <a:ext uri="{FF2B5EF4-FFF2-40B4-BE49-F238E27FC236}">
                <a16:creationId xmlns:a16="http://schemas.microsoft.com/office/drawing/2014/main" id="{77C7B877-E5FE-4721-84E6-738284EBC8AC}"/>
              </a:ext>
            </a:extLst>
          </p:cNvPr>
          <p:cNvGraphicFramePr>
            <a:graphicFrameLocks/>
          </p:cNvGraphicFramePr>
          <p:nvPr/>
        </p:nvGraphicFramePr>
        <p:xfrm>
          <a:off x="1071563" y="5110163"/>
          <a:ext cx="240506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15" name="公式" r:id="rId6" imgW="2390896" imgH="666818" progId="Equation.3">
                  <p:embed/>
                </p:oleObj>
              </mc:Choice>
              <mc:Fallback>
                <p:oleObj name="公式" r:id="rId6" imgW="2390896" imgH="666818" progId="Equation.3">
                  <p:embed/>
                  <p:pic>
                    <p:nvPicPr>
                      <p:cNvPr id="100363" name="Object 11">
                        <a:extLst>
                          <a:ext uri="{FF2B5EF4-FFF2-40B4-BE49-F238E27FC236}">
                            <a16:creationId xmlns:a16="http://schemas.microsoft.com/office/drawing/2014/main" id="{77C7B877-E5FE-4721-84E6-738284EBC8A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5110163"/>
                        <a:ext cx="2405062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4" name="Object 12">
            <a:extLst>
              <a:ext uri="{FF2B5EF4-FFF2-40B4-BE49-F238E27FC236}">
                <a16:creationId xmlns:a16="http://schemas.microsoft.com/office/drawing/2014/main" id="{2D6F6819-475C-4123-810F-9A3F144E6689}"/>
              </a:ext>
            </a:extLst>
          </p:cNvPr>
          <p:cNvGraphicFramePr>
            <a:graphicFrameLocks/>
          </p:cNvGraphicFramePr>
          <p:nvPr/>
        </p:nvGraphicFramePr>
        <p:xfrm>
          <a:off x="1814513" y="6000750"/>
          <a:ext cx="168592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16" name="Equation" r:id="rId8" imgW="1771612" imgH="438116" progId="Equation.3">
                  <p:embed/>
                </p:oleObj>
              </mc:Choice>
              <mc:Fallback>
                <p:oleObj name="Equation" r:id="rId8" imgW="1771612" imgH="438116" progId="Equation.3">
                  <p:embed/>
                  <p:pic>
                    <p:nvPicPr>
                      <p:cNvPr id="100364" name="Object 12">
                        <a:extLst>
                          <a:ext uri="{FF2B5EF4-FFF2-40B4-BE49-F238E27FC236}">
                            <a16:creationId xmlns:a16="http://schemas.microsoft.com/office/drawing/2014/main" id="{2D6F6819-475C-4123-810F-9A3F144E668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13" y="6000750"/>
                        <a:ext cx="168592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5" name="AutoShape 13">
            <a:extLst>
              <a:ext uri="{FF2B5EF4-FFF2-40B4-BE49-F238E27FC236}">
                <a16:creationId xmlns:a16="http://schemas.microsoft.com/office/drawing/2014/main" id="{BE2A4DFF-3C00-4D3D-8B4C-64E86C31C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150" y="5478463"/>
            <a:ext cx="3429000" cy="914400"/>
          </a:xfrm>
          <a:prstGeom prst="bevel">
            <a:avLst>
              <a:gd name="adj" fmla="val 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0366" name="Object 14">
            <a:extLst>
              <a:ext uri="{FF2B5EF4-FFF2-40B4-BE49-F238E27FC236}">
                <a16:creationId xmlns:a16="http://schemas.microsoft.com/office/drawing/2014/main" id="{ED49A8F0-4200-434C-B8CB-1C1DB1AA1A3F}"/>
              </a:ext>
            </a:extLst>
          </p:cNvPr>
          <p:cNvGraphicFramePr>
            <a:graphicFrameLocks/>
          </p:cNvGraphicFramePr>
          <p:nvPr/>
        </p:nvGraphicFramePr>
        <p:xfrm>
          <a:off x="5643563" y="5500688"/>
          <a:ext cx="3005137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17" name="公式" r:id="rId10" imgW="2971953" imgH="857250" progId="Equation.3">
                  <p:embed/>
                </p:oleObj>
              </mc:Choice>
              <mc:Fallback>
                <p:oleObj name="公式" r:id="rId10" imgW="2971953" imgH="857250" progId="Equation.3">
                  <p:embed/>
                  <p:pic>
                    <p:nvPicPr>
                      <p:cNvPr id="100366" name="Object 14">
                        <a:extLst>
                          <a:ext uri="{FF2B5EF4-FFF2-40B4-BE49-F238E27FC236}">
                            <a16:creationId xmlns:a16="http://schemas.microsoft.com/office/drawing/2014/main" id="{ED49A8F0-4200-434C-B8CB-1C1DB1AA1A3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5500688"/>
                        <a:ext cx="3005137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7" name="Rectangle 15">
            <a:extLst>
              <a:ext uri="{FF2B5EF4-FFF2-40B4-BE49-F238E27FC236}">
                <a16:creationId xmlns:a16="http://schemas.microsoft.com/office/drawing/2014/main" id="{CAE0ECA0-B905-41DE-BA9C-848AEEF7A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8" y="4889500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STZhongsong" panose="02010600040101010101" pitchFamily="2" charset="-122"/>
              </a:rPr>
              <a:t>波函数</a:t>
            </a:r>
          </a:p>
        </p:txBody>
      </p:sp>
      <p:sp>
        <p:nvSpPr>
          <p:cNvPr id="100368" name="Rectangle 16">
            <a:extLst>
              <a:ext uri="{FF2B5EF4-FFF2-40B4-BE49-F238E27FC236}">
                <a16:creationId xmlns:a16="http://schemas.microsoft.com/office/drawing/2014/main" id="{51984583-0A73-4A0A-852C-10A451520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59944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可得</a:t>
            </a:r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B611B706-D6E7-4FEE-9D4A-BA9708B76BC4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833438"/>
            <a:ext cx="1144587" cy="3189287"/>
            <a:chOff x="3161" y="525"/>
            <a:chExt cx="803" cy="2009"/>
          </a:xfrm>
        </p:grpSpPr>
        <p:graphicFrame>
          <p:nvGraphicFramePr>
            <p:cNvPr id="32807" name="Object 18">
              <a:extLst>
                <a:ext uri="{FF2B5EF4-FFF2-40B4-BE49-F238E27FC236}">
                  <a16:creationId xmlns:a16="http://schemas.microsoft.com/office/drawing/2014/main" id="{E55CBE92-7563-4B83-B902-B905B30ED64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763" y="2296"/>
            <a:ext cx="194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318" name="公式" r:id="rId12" imgW="323863" imgH="400152" progId="Equation.3">
                    <p:embed/>
                  </p:oleObj>
                </mc:Choice>
                <mc:Fallback>
                  <p:oleObj name="公式" r:id="rId12" imgW="323863" imgH="400152" progId="Equation.3">
                    <p:embed/>
                    <p:pic>
                      <p:nvPicPr>
                        <p:cNvPr id="32807" name="Object 18">
                          <a:extLst>
                            <a:ext uri="{FF2B5EF4-FFF2-40B4-BE49-F238E27FC236}">
                              <a16:creationId xmlns:a16="http://schemas.microsoft.com/office/drawing/2014/main" id="{E55CBE92-7563-4B83-B902-B905B30ED64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3" y="2296"/>
                          <a:ext cx="194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66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08" name="Object 19">
              <a:extLst>
                <a:ext uri="{FF2B5EF4-FFF2-40B4-BE49-F238E27FC236}">
                  <a16:creationId xmlns:a16="http://schemas.microsoft.com/office/drawing/2014/main" id="{84C04838-EB8A-4ABF-BCFD-EC5ED1A9C97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72" y="525"/>
            <a:ext cx="782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319" name="公式" r:id="rId14" imgW="1352639" imgH="457098" progId="Equation.3">
                    <p:embed/>
                  </p:oleObj>
                </mc:Choice>
                <mc:Fallback>
                  <p:oleObj name="公式" r:id="rId14" imgW="1352639" imgH="457098" progId="Equation.3">
                    <p:embed/>
                    <p:pic>
                      <p:nvPicPr>
                        <p:cNvPr id="32808" name="Object 19">
                          <a:extLst>
                            <a:ext uri="{FF2B5EF4-FFF2-40B4-BE49-F238E27FC236}">
                              <a16:creationId xmlns:a16="http://schemas.microsoft.com/office/drawing/2014/main" id="{84C04838-EB8A-4ABF-BCFD-EC5ED1A9C97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2" y="525"/>
                          <a:ext cx="782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09" name="Object 20">
              <a:extLst>
                <a:ext uri="{FF2B5EF4-FFF2-40B4-BE49-F238E27FC236}">
                  <a16:creationId xmlns:a16="http://schemas.microsoft.com/office/drawing/2014/main" id="{B12CB706-7D24-4234-8FED-76A2DA45ECF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61" y="1661"/>
            <a:ext cx="803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320" name="公式" r:id="rId16" imgW="1390561" imgH="447607" progId="Equation.3">
                    <p:embed/>
                  </p:oleObj>
                </mc:Choice>
                <mc:Fallback>
                  <p:oleObj name="公式" r:id="rId16" imgW="1390561" imgH="447607" progId="Equation.3">
                    <p:embed/>
                    <p:pic>
                      <p:nvPicPr>
                        <p:cNvPr id="32809" name="Object 20">
                          <a:extLst>
                            <a:ext uri="{FF2B5EF4-FFF2-40B4-BE49-F238E27FC236}">
                              <a16:creationId xmlns:a16="http://schemas.microsoft.com/office/drawing/2014/main" id="{B12CB706-7D24-4234-8FED-76A2DA45ECF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1" y="1661"/>
                          <a:ext cx="803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83" name="Line 21">
            <a:extLst>
              <a:ext uri="{FF2B5EF4-FFF2-40B4-BE49-F238E27FC236}">
                <a16:creationId xmlns:a16="http://schemas.microsoft.com/office/drawing/2014/main" id="{7D809ED2-77F2-41A1-A9A7-83BC396FE180}"/>
              </a:ext>
            </a:extLst>
          </p:cNvPr>
          <p:cNvSpPr>
            <a:spLocks noChangeShapeType="1"/>
          </p:cNvSpPr>
          <p:nvPr/>
        </p:nvSpPr>
        <p:spPr bwMode="auto">
          <a:xfrm>
            <a:off x="8964613" y="365125"/>
            <a:ext cx="0" cy="42672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150" name="Object 23">
            <a:extLst>
              <a:ext uri="{FF2B5EF4-FFF2-40B4-BE49-F238E27FC236}">
                <a16:creationId xmlns:a16="http://schemas.microsoft.com/office/drawing/2014/main" id="{2C05B7CD-4B5F-4774-A560-D24459533E1D}"/>
              </a:ext>
            </a:extLst>
          </p:cNvPr>
          <p:cNvGraphicFramePr>
            <a:graphicFrameLocks/>
          </p:cNvGraphicFramePr>
          <p:nvPr/>
        </p:nvGraphicFramePr>
        <p:xfrm>
          <a:off x="995363" y="1071563"/>
          <a:ext cx="2905125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21" name="Equation" r:id="rId18" imgW="2886018" imgH="857250" progId="Equation.3">
                  <p:embed/>
                </p:oleObj>
              </mc:Choice>
              <mc:Fallback>
                <p:oleObj name="Equation" r:id="rId18" imgW="2886018" imgH="857250" progId="Equation.3">
                  <p:embed/>
                  <p:pic>
                    <p:nvPicPr>
                      <p:cNvPr id="6150" name="Object 23">
                        <a:extLst>
                          <a:ext uri="{FF2B5EF4-FFF2-40B4-BE49-F238E27FC236}">
                            <a16:creationId xmlns:a16="http://schemas.microsoft.com/office/drawing/2014/main" id="{2C05B7CD-4B5F-4774-A560-D24459533E1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1071563"/>
                        <a:ext cx="2905125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5" name="Text Box 24">
            <a:extLst>
              <a:ext uri="{FF2B5EF4-FFF2-40B4-BE49-F238E27FC236}">
                <a16:creationId xmlns:a16="http://schemas.microsoft.com/office/drawing/2014/main" id="{70010191-2D29-4AEC-A44D-120790304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6250"/>
            <a:ext cx="1508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STZhongsong" panose="02010600040101010101" pitchFamily="2" charset="-122"/>
              </a:rPr>
              <a:t>粒子能量</a:t>
            </a:r>
          </a:p>
        </p:txBody>
      </p:sp>
      <p:sp>
        <p:nvSpPr>
          <p:cNvPr id="100377" name="Text Box 25">
            <a:extLst>
              <a:ext uri="{FF2B5EF4-FFF2-40B4-BE49-F238E27FC236}">
                <a16:creationId xmlns:a16="http://schemas.microsoft.com/office/drawing/2014/main" id="{D3B2B71A-6971-4CF4-B05A-E2FA62219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251075"/>
            <a:ext cx="4929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STZhongsong" panose="02010600040101010101" pitchFamily="2" charset="-122"/>
              </a:rPr>
              <a:t>能量是量子化的    </a:t>
            </a:r>
            <a:r>
              <a:rPr lang="en-US" altLang="zh-CN" i="1">
                <a:solidFill>
                  <a:srgbClr val="FFFF00"/>
                </a:solidFill>
                <a:ea typeface="STZhongsong" panose="02010600040101010101" pitchFamily="2" charset="-122"/>
              </a:rPr>
              <a:t>n</a:t>
            </a:r>
            <a:r>
              <a:rPr lang="en-US" altLang="zh-CN">
                <a:solidFill>
                  <a:srgbClr val="FFFF00"/>
                </a:solidFill>
                <a:ea typeface="STZhongsong" panose="02010600040101010101" pitchFamily="2" charset="-122"/>
              </a:rPr>
              <a:t>=1,2,3, …</a:t>
            </a:r>
            <a:endParaRPr lang="zh-CN" altLang="en-US">
              <a:solidFill>
                <a:srgbClr val="FFFF00"/>
              </a:solidFill>
              <a:ea typeface="STZhongsong" panose="02010600040101010101" pitchFamily="2" charset="-122"/>
            </a:endParaRPr>
          </a:p>
        </p:txBody>
      </p:sp>
      <p:sp>
        <p:nvSpPr>
          <p:cNvPr id="100379" name="Line 27">
            <a:extLst>
              <a:ext uri="{FF2B5EF4-FFF2-40B4-BE49-F238E27FC236}">
                <a16:creationId xmlns:a16="http://schemas.microsoft.com/office/drawing/2014/main" id="{54802148-9E0B-41D9-9207-F6AAC8AABD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4724400"/>
            <a:ext cx="0" cy="1800225"/>
          </a:xfrm>
          <a:prstGeom prst="line">
            <a:avLst/>
          </a:prstGeom>
          <a:noFill/>
          <a:ln w="19050">
            <a:solidFill>
              <a:srgbClr val="00FF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80" name="Rectangle 28">
            <a:extLst>
              <a:ext uri="{FF2B5EF4-FFF2-40B4-BE49-F238E27FC236}">
                <a16:creationId xmlns:a16="http://schemas.microsoft.com/office/drawing/2014/main" id="{6CEC9A4F-29F2-4254-8EA0-03A953CF8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614363"/>
            <a:ext cx="1800225" cy="3671887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0381" name="Freeform 29">
            <a:extLst>
              <a:ext uri="{FF2B5EF4-FFF2-40B4-BE49-F238E27FC236}">
                <a16:creationId xmlns:a16="http://schemas.microsoft.com/office/drawing/2014/main" id="{1BAC4789-B8CB-49E1-B79D-19B004131651}"/>
              </a:ext>
            </a:extLst>
          </p:cNvPr>
          <p:cNvSpPr>
            <a:spLocks/>
          </p:cNvSpPr>
          <p:nvPr/>
        </p:nvSpPr>
        <p:spPr bwMode="auto">
          <a:xfrm>
            <a:off x="6430963" y="3587750"/>
            <a:ext cx="1771650" cy="273050"/>
          </a:xfrm>
          <a:custGeom>
            <a:avLst/>
            <a:gdLst>
              <a:gd name="T0" fmla="*/ 0 w 2339"/>
              <a:gd name="T1" fmla="*/ 2147483646 h 252"/>
              <a:gd name="T2" fmla="*/ 2147483646 w 2339"/>
              <a:gd name="T3" fmla="*/ 0 h 252"/>
              <a:gd name="T4" fmla="*/ 2147483646 w 2339"/>
              <a:gd name="T5" fmla="*/ 2147483646 h 252"/>
              <a:gd name="T6" fmla="*/ 0 60000 65536"/>
              <a:gd name="T7" fmla="*/ 0 60000 65536"/>
              <a:gd name="T8" fmla="*/ 0 60000 65536"/>
              <a:gd name="T9" fmla="*/ 0 w 2339"/>
              <a:gd name="T10" fmla="*/ 0 h 252"/>
              <a:gd name="T11" fmla="*/ 2339 w 2339"/>
              <a:gd name="T12" fmla="*/ 252 h 2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39" h="252">
                <a:moveTo>
                  <a:pt x="0" y="252"/>
                </a:moveTo>
                <a:cubicBezTo>
                  <a:pt x="388" y="118"/>
                  <a:pt x="600" y="12"/>
                  <a:pt x="1176" y="0"/>
                </a:cubicBezTo>
                <a:cubicBezTo>
                  <a:pt x="1692" y="0"/>
                  <a:pt x="2028" y="108"/>
                  <a:pt x="2339" y="242"/>
                </a:cubicBezTo>
              </a:path>
            </a:pathLst>
          </a:custGeom>
          <a:solidFill>
            <a:schemeClr val="hlink"/>
          </a:solidFill>
          <a:ln w="19050">
            <a:solidFill>
              <a:srgbClr val="FFFF99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382" name="Freeform 30">
            <a:extLst>
              <a:ext uri="{FF2B5EF4-FFF2-40B4-BE49-F238E27FC236}">
                <a16:creationId xmlns:a16="http://schemas.microsoft.com/office/drawing/2014/main" id="{8B2AEF34-FBF4-49E7-96D9-1706CA900E25}"/>
              </a:ext>
            </a:extLst>
          </p:cNvPr>
          <p:cNvSpPr>
            <a:spLocks/>
          </p:cNvSpPr>
          <p:nvPr/>
        </p:nvSpPr>
        <p:spPr bwMode="auto">
          <a:xfrm>
            <a:off x="6440488" y="2595563"/>
            <a:ext cx="1771650" cy="546100"/>
          </a:xfrm>
          <a:custGeom>
            <a:avLst/>
            <a:gdLst>
              <a:gd name="T0" fmla="*/ 0 w 2340"/>
              <a:gd name="T1" fmla="*/ 2147483646 h 504"/>
              <a:gd name="T2" fmla="*/ 2147483646 w 2340"/>
              <a:gd name="T3" fmla="*/ 0 h 504"/>
              <a:gd name="T4" fmla="*/ 2147483646 w 2340"/>
              <a:gd name="T5" fmla="*/ 2147483646 h 504"/>
              <a:gd name="T6" fmla="*/ 2147483646 w 2340"/>
              <a:gd name="T7" fmla="*/ 2147483646 h 504"/>
              <a:gd name="T8" fmla="*/ 2147483646 w 2340"/>
              <a:gd name="T9" fmla="*/ 2147483646 h 5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40"/>
              <a:gd name="T16" fmla="*/ 0 h 504"/>
              <a:gd name="T17" fmla="*/ 2340 w 2340"/>
              <a:gd name="T18" fmla="*/ 504 h 5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40" h="504">
                <a:moveTo>
                  <a:pt x="0" y="240"/>
                </a:moveTo>
                <a:cubicBezTo>
                  <a:pt x="207" y="69"/>
                  <a:pt x="324" y="0"/>
                  <a:pt x="600" y="0"/>
                </a:cubicBezTo>
                <a:cubicBezTo>
                  <a:pt x="851" y="2"/>
                  <a:pt x="1056" y="156"/>
                  <a:pt x="1200" y="276"/>
                </a:cubicBezTo>
                <a:cubicBezTo>
                  <a:pt x="1320" y="396"/>
                  <a:pt x="1524" y="504"/>
                  <a:pt x="1776" y="492"/>
                </a:cubicBezTo>
                <a:cubicBezTo>
                  <a:pt x="2031" y="494"/>
                  <a:pt x="2196" y="408"/>
                  <a:pt x="2340" y="243"/>
                </a:cubicBezTo>
              </a:path>
            </a:pathLst>
          </a:custGeom>
          <a:solidFill>
            <a:schemeClr val="hlink"/>
          </a:solidFill>
          <a:ln w="19050">
            <a:solidFill>
              <a:srgbClr val="FFFF99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383" name="Freeform 31">
            <a:extLst>
              <a:ext uri="{FF2B5EF4-FFF2-40B4-BE49-F238E27FC236}">
                <a16:creationId xmlns:a16="http://schemas.microsoft.com/office/drawing/2014/main" id="{FC8CF8A9-1717-4C45-BB96-D70F423C5545}"/>
              </a:ext>
            </a:extLst>
          </p:cNvPr>
          <p:cNvSpPr>
            <a:spLocks/>
          </p:cNvSpPr>
          <p:nvPr/>
        </p:nvSpPr>
        <p:spPr bwMode="auto">
          <a:xfrm>
            <a:off x="6440488" y="765175"/>
            <a:ext cx="1789112" cy="533400"/>
          </a:xfrm>
          <a:custGeom>
            <a:avLst/>
            <a:gdLst>
              <a:gd name="T0" fmla="*/ 0 w 1127"/>
              <a:gd name="T1" fmla="*/ 2147483646 h 336"/>
              <a:gd name="T2" fmla="*/ 2147483646 w 1127"/>
              <a:gd name="T3" fmla="*/ 0 h 336"/>
              <a:gd name="T4" fmla="*/ 2147483646 w 1127"/>
              <a:gd name="T5" fmla="*/ 2147483646 h 336"/>
              <a:gd name="T6" fmla="*/ 2147483646 w 1127"/>
              <a:gd name="T7" fmla="*/ 2147483646 h 336"/>
              <a:gd name="T8" fmla="*/ 2147483646 w 1127"/>
              <a:gd name="T9" fmla="*/ 2147483646 h 336"/>
              <a:gd name="T10" fmla="*/ 2147483646 w 1127"/>
              <a:gd name="T11" fmla="*/ 0 h 336"/>
              <a:gd name="T12" fmla="*/ 2147483646 w 1127"/>
              <a:gd name="T13" fmla="*/ 2147483646 h 3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27"/>
              <a:gd name="T22" fmla="*/ 0 h 336"/>
              <a:gd name="T23" fmla="*/ 1127 w 1127"/>
              <a:gd name="T24" fmla="*/ 336 h 3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27" h="336">
                <a:moveTo>
                  <a:pt x="0" y="164"/>
                </a:moveTo>
                <a:cubicBezTo>
                  <a:pt x="97" y="8"/>
                  <a:pt x="109" y="0"/>
                  <a:pt x="189" y="0"/>
                </a:cubicBezTo>
                <a:cubicBezTo>
                  <a:pt x="275" y="0"/>
                  <a:pt x="326" y="90"/>
                  <a:pt x="372" y="172"/>
                </a:cubicBezTo>
                <a:cubicBezTo>
                  <a:pt x="452" y="303"/>
                  <a:pt x="473" y="325"/>
                  <a:pt x="561" y="336"/>
                </a:cubicBezTo>
                <a:cubicBezTo>
                  <a:pt x="644" y="325"/>
                  <a:pt x="698" y="287"/>
                  <a:pt x="738" y="171"/>
                </a:cubicBezTo>
                <a:cubicBezTo>
                  <a:pt x="813" y="57"/>
                  <a:pt x="847" y="0"/>
                  <a:pt x="939" y="0"/>
                </a:cubicBezTo>
                <a:cubicBezTo>
                  <a:pt x="1025" y="8"/>
                  <a:pt x="1075" y="39"/>
                  <a:pt x="1127" y="178"/>
                </a:cubicBezTo>
              </a:path>
            </a:pathLst>
          </a:custGeom>
          <a:solidFill>
            <a:schemeClr val="hlink"/>
          </a:solidFill>
          <a:ln w="19050">
            <a:solidFill>
              <a:srgbClr val="FFFF99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384" name="Freeform 32">
            <a:extLst>
              <a:ext uri="{FF2B5EF4-FFF2-40B4-BE49-F238E27FC236}">
                <a16:creationId xmlns:a16="http://schemas.microsoft.com/office/drawing/2014/main" id="{541D630C-4B77-40C4-AC77-BF2EFF5C8EC9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6443663" y="3860800"/>
            <a:ext cx="1771650" cy="273050"/>
          </a:xfrm>
          <a:custGeom>
            <a:avLst/>
            <a:gdLst>
              <a:gd name="T0" fmla="*/ 0 w 2339"/>
              <a:gd name="T1" fmla="*/ 2147483646 h 252"/>
              <a:gd name="T2" fmla="*/ 2147483646 w 2339"/>
              <a:gd name="T3" fmla="*/ 0 h 252"/>
              <a:gd name="T4" fmla="*/ 2147483646 w 2339"/>
              <a:gd name="T5" fmla="*/ 2147483646 h 252"/>
              <a:gd name="T6" fmla="*/ 0 60000 65536"/>
              <a:gd name="T7" fmla="*/ 0 60000 65536"/>
              <a:gd name="T8" fmla="*/ 0 60000 65536"/>
              <a:gd name="T9" fmla="*/ 0 w 2339"/>
              <a:gd name="T10" fmla="*/ 0 h 252"/>
              <a:gd name="T11" fmla="*/ 2339 w 2339"/>
              <a:gd name="T12" fmla="*/ 252 h 2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39" h="252">
                <a:moveTo>
                  <a:pt x="0" y="252"/>
                </a:moveTo>
                <a:cubicBezTo>
                  <a:pt x="388" y="118"/>
                  <a:pt x="600" y="12"/>
                  <a:pt x="1176" y="0"/>
                </a:cubicBezTo>
                <a:cubicBezTo>
                  <a:pt x="1692" y="0"/>
                  <a:pt x="2028" y="108"/>
                  <a:pt x="2339" y="242"/>
                </a:cubicBezTo>
              </a:path>
            </a:pathLst>
          </a:custGeom>
          <a:noFill/>
          <a:ln w="19050">
            <a:solidFill>
              <a:srgbClr val="FFFF9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85" name="Freeform 33">
            <a:extLst>
              <a:ext uri="{FF2B5EF4-FFF2-40B4-BE49-F238E27FC236}">
                <a16:creationId xmlns:a16="http://schemas.microsoft.com/office/drawing/2014/main" id="{76C7A944-0F59-49DF-A69F-843F3DC462C2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6443663" y="2565400"/>
            <a:ext cx="1771650" cy="546100"/>
          </a:xfrm>
          <a:custGeom>
            <a:avLst/>
            <a:gdLst>
              <a:gd name="T0" fmla="*/ 0 w 2340"/>
              <a:gd name="T1" fmla="*/ 2147483646 h 504"/>
              <a:gd name="T2" fmla="*/ 2147483646 w 2340"/>
              <a:gd name="T3" fmla="*/ 0 h 504"/>
              <a:gd name="T4" fmla="*/ 2147483646 w 2340"/>
              <a:gd name="T5" fmla="*/ 2147483646 h 504"/>
              <a:gd name="T6" fmla="*/ 2147483646 w 2340"/>
              <a:gd name="T7" fmla="*/ 2147483646 h 504"/>
              <a:gd name="T8" fmla="*/ 2147483646 w 2340"/>
              <a:gd name="T9" fmla="*/ 2147483646 h 5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40"/>
              <a:gd name="T16" fmla="*/ 0 h 504"/>
              <a:gd name="T17" fmla="*/ 2340 w 2340"/>
              <a:gd name="T18" fmla="*/ 504 h 5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40" h="504">
                <a:moveTo>
                  <a:pt x="0" y="240"/>
                </a:moveTo>
                <a:cubicBezTo>
                  <a:pt x="207" y="69"/>
                  <a:pt x="324" y="0"/>
                  <a:pt x="600" y="0"/>
                </a:cubicBezTo>
                <a:cubicBezTo>
                  <a:pt x="851" y="2"/>
                  <a:pt x="1056" y="156"/>
                  <a:pt x="1200" y="276"/>
                </a:cubicBezTo>
                <a:cubicBezTo>
                  <a:pt x="1320" y="396"/>
                  <a:pt x="1524" y="504"/>
                  <a:pt x="1776" y="492"/>
                </a:cubicBezTo>
                <a:cubicBezTo>
                  <a:pt x="2031" y="494"/>
                  <a:pt x="2196" y="408"/>
                  <a:pt x="2340" y="243"/>
                </a:cubicBezTo>
              </a:path>
            </a:pathLst>
          </a:custGeom>
          <a:noFill/>
          <a:ln w="19050">
            <a:solidFill>
              <a:srgbClr val="FFFF9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86" name="Freeform 34">
            <a:extLst>
              <a:ext uri="{FF2B5EF4-FFF2-40B4-BE49-F238E27FC236}">
                <a16:creationId xmlns:a16="http://schemas.microsoft.com/office/drawing/2014/main" id="{5815F632-B86F-4D1F-95FC-9EEAD705A680}"/>
              </a:ext>
            </a:extLst>
          </p:cNvPr>
          <p:cNvSpPr>
            <a:spLocks/>
          </p:cNvSpPr>
          <p:nvPr/>
        </p:nvSpPr>
        <p:spPr bwMode="auto">
          <a:xfrm>
            <a:off x="6419850" y="765175"/>
            <a:ext cx="1824038" cy="533400"/>
          </a:xfrm>
          <a:custGeom>
            <a:avLst/>
            <a:gdLst>
              <a:gd name="T0" fmla="*/ 0 w 1149"/>
              <a:gd name="T1" fmla="*/ 2147483646 h 336"/>
              <a:gd name="T2" fmla="*/ 2147483646 w 1149"/>
              <a:gd name="T3" fmla="*/ 2147483646 h 336"/>
              <a:gd name="T4" fmla="*/ 2147483646 w 1149"/>
              <a:gd name="T5" fmla="*/ 2147483646 h 336"/>
              <a:gd name="T6" fmla="*/ 2147483646 w 1149"/>
              <a:gd name="T7" fmla="*/ 0 h 336"/>
              <a:gd name="T8" fmla="*/ 2147483646 w 1149"/>
              <a:gd name="T9" fmla="*/ 2147483646 h 336"/>
              <a:gd name="T10" fmla="*/ 2147483646 w 1149"/>
              <a:gd name="T11" fmla="*/ 2147483646 h 336"/>
              <a:gd name="T12" fmla="*/ 2147483646 w 1149"/>
              <a:gd name="T13" fmla="*/ 2147483646 h 3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49"/>
              <a:gd name="T22" fmla="*/ 0 h 336"/>
              <a:gd name="T23" fmla="*/ 1149 w 1149"/>
              <a:gd name="T24" fmla="*/ 336 h 3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49" h="336">
                <a:moveTo>
                  <a:pt x="0" y="172"/>
                </a:moveTo>
                <a:cubicBezTo>
                  <a:pt x="97" y="328"/>
                  <a:pt x="109" y="336"/>
                  <a:pt x="189" y="336"/>
                </a:cubicBezTo>
                <a:cubicBezTo>
                  <a:pt x="275" y="336"/>
                  <a:pt x="326" y="246"/>
                  <a:pt x="372" y="164"/>
                </a:cubicBezTo>
                <a:cubicBezTo>
                  <a:pt x="452" y="33"/>
                  <a:pt x="473" y="11"/>
                  <a:pt x="561" y="0"/>
                </a:cubicBezTo>
                <a:cubicBezTo>
                  <a:pt x="644" y="11"/>
                  <a:pt x="698" y="49"/>
                  <a:pt x="738" y="165"/>
                </a:cubicBezTo>
                <a:cubicBezTo>
                  <a:pt x="813" y="279"/>
                  <a:pt x="847" y="336"/>
                  <a:pt x="939" y="336"/>
                </a:cubicBezTo>
                <a:cubicBezTo>
                  <a:pt x="1025" y="328"/>
                  <a:pt x="1097" y="317"/>
                  <a:pt x="1149" y="178"/>
                </a:cubicBezTo>
              </a:path>
            </a:pathLst>
          </a:custGeom>
          <a:noFill/>
          <a:ln w="19050">
            <a:solidFill>
              <a:srgbClr val="FFFF9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2795" name="Group 35">
            <a:extLst>
              <a:ext uri="{FF2B5EF4-FFF2-40B4-BE49-F238E27FC236}">
                <a16:creationId xmlns:a16="http://schemas.microsoft.com/office/drawing/2014/main" id="{A2BE7717-901F-4D13-9ED6-110D1C56418A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404813"/>
            <a:ext cx="2952750" cy="4273550"/>
            <a:chOff x="3696" y="255"/>
            <a:chExt cx="1860" cy="2692"/>
          </a:xfrm>
        </p:grpSpPr>
        <p:sp>
          <p:nvSpPr>
            <p:cNvPr id="32801" name="Text Box 36">
              <a:extLst>
                <a:ext uri="{FF2B5EF4-FFF2-40B4-BE49-F238E27FC236}">
                  <a16:creationId xmlns:a16="http://schemas.microsoft.com/office/drawing/2014/main" id="{37E4E8F5-6CAC-44A4-86B1-7867C5BA01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5" y="2523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0" i="1">
                  <a:solidFill>
                    <a:schemeClr val="hlink"/>
                  </a:solidFill>
                </a:rPr>
                <a:t>x</a:t>
              </a:r>
            </a:p>
          </p:txBody>
        </p:sp>
        <p:grpSp>
          <p:nvGrpSpPr>
            <p:cNvPr id="32802" name="Group 37">
              <a:extLst>
                <a:ext uri="{FF2B5EF4-FFF2-40B4-BE49-F238E27FC236}">
                  <a16:creationId xmlns:a16="http://schemas.microsoft.com/office/drawing/2014/main" id="{64CEB612-14BE-46BB-9C6E-E5BFF42504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255"/>
              <a:ext cx="1679" cy="2692"/>
              <a:chOff x="3696" y="255"/>
              <a:chExt cx="1679" cy="2692"/>
            </a:xfrm>
          </p:grpSpPr>
          <p:sp>
            <p:nvSpPr>
              <p:cNvPr id="32803" name="Line 38">
                <a:extLst>
                  <a:ext uri="{FF2B5EF4-FFF2-40B4-BE49-F238E27FC236}">
                    <a16:creationId xmlns:a16="http://schemas.microsoft.com/office/drawing/2014/main" id="{8A2A1FD4-2167-4AFE-B992-A82449085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69" y="255"/>
                <a:ext cx="0" cy="2449"/>
              </a:xfrm>
              <a:prstGeom prst="line">
                <a:avLst/>
              </a:prstGeom>
              <a:noFill/>
              <a:ln w="28575">
                <a:solidFill>
                  <a:srgbClr val="00CCFF">
                    <a:alpha val="94116"/>
                  </a:srgb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4" name="Line 39">
                <a:extLst>
                  <a:ext uri="{FF2B5EF4-FFF2-40B4-BE49-F238E27FC236}">
                    <a16:creationId xmlns:a16="http://schemas.microsoft.com/office/drawing/2014/main" id="{B7DD0888-007F-429A-AA32-15E9DC11F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03" y="255"/>
                <a:ext cx="0" cy="2449"/>
              </a:xfrm>
              <a:prstGeom prst="line">
                <a:avLst/>
              </a:prstGeom>
              <a:noFill/>
              <a:ln w="28575">
                <a:solidFill>
                  <a:srgbClr val="00CCFF">
                    <a:alpha val="92940"/>
                  </a:srgb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5" name="Line 40">
                <a:extLst>
                  <a:ext uri="{FF2B5EF4-FFF2-40B4-BE49-F238E27FC236}">
                    <a16:creationId xmlns:a16="http://schemas.microsoft.com/office/drawing/2014/main" id="{78E493D4-86B9-4980-822B-8C99D8BB29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704"/>
                <a:ext cx="1679" cy="0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6" name="Text Box 41">
                <a:extLst>
                  <a:ext uri="{FF2B5EF4-FFF2-40B4-BE49-F238E27FC236}">
                    <a16:creationId xmlns:a16="http://schemas.microsoft.com/office/drawing/2014/main" id="{C4DD9782-5911-4C45-9758-F457AAC30E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5" y="2659"/>
                <a:ext cx="134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0" i="1">
                    <a:solidFill>
                      <a:schemeClr val="hlink"/>
                    </a:solidFill>
                  </a:rPr>
                  <a:t>0</a:t>
                </a:r>
                <a:r>
                  <a:rPr lang="en-US" altLang="zh-CN" b="0" i="1">
                    <a:solidFill>
                      <a:schemeClr val="hlink"/>
                    </a:solidFill>
                  </a:rPr>
                  <a:t>                      a</a:t>
                </a:r>
              </a:p>
            </p:txBody>
          </p:sp>
        </p:grpSp>
      </p:grpSp>
      <p:grpSp>
        <p:nvGrpSpPr>
          <p:cNvPr id="6" name="Group 42">
            <a:extLst>
              <a:ext uri="{FF2B5EF4-FFF2-40B4-BE49-F238E27FC236}">
                <a16:creationId xmlns:a16="http://schemas.microsoft.com/office/drawing/2014/main" id="{64E78E35-2ADB-43F9-A3C5-0765C89C69B0}"/>
              </a:ext>
            </a:extLst>
          </p:cNvPr>
          <p:cNvGrpSpPr>
            <a:grpSpLocks/>
          </p:cNvGrpSpPr>
          <p:nvPr/>
        </p:nvGrpSpPr>
        <p:grpSpPr bwMode="auto">
          <a:xfrm>
            <a:off x="6426200" y="1052513"/>
            <a:ext cx="1800225" cy="2808287"/>
            <a:chOff x="3969" y="663"/>
            <a:chExt cx="1134" cy="1769"/>
          </a:xfrm>
        </p:grpSpPr>
        <p:sp>
          <p:nvSpPr>
            <p:cNvPr id="32798" name="Line 43">
              <a:extLst>
                <a:ext uri="{FF2B5EF4-FFF2-40B4-BE49-F238E27FC236}">
                  <a16:creationId xmlns:a16="http://schemas.microsoft.com/office/drawing/2014/main" id="{F587DE99-7F57-42B2-84F8-5E1EA51BFD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2432"/>
              <a:ext cx="113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9" name="Line 44">
              <a:extLst>
                <a:ext uri="{FF2B5EF4-FFF2-40B4-BE49-F238E27FC236}">
                  <a16:creationId xmlns:a16="http://schemas.microsoft.com/office/drawing/2014/main" id="{FDBD9E08-51FB-4B74-8F3C-7EFF51336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797"/>
              <a:ext cx="113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0" name="Line 45">
              <a:extLst>
                <a:ext uri="{FF2B5EF4-FFF2-40B4-BE49-F238E27FC236}">
                  <a16:creationId xmlns:a16="http://schemas.microsoft.com/office/drawing/2014/main" id="{310385F5-A4DF-435B-865B-701BE686A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663"/>
              <a:ext cx="113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797" name="灯片编号占位符 1">
            <a:extLst>
              <a:ext uri="{FF2B5EF4-FFF2-40B4-BE49-F238E27FC236}">
                <a16:creationId xmlns:a16="http://schemas.microsoft.com/office/drawing/2014/main" id="{6D50EE30-1877-440D-9091-2D9367F6EA0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F1AB8B1-708B-4CEB-864D-C0975299E83A}" type="slidenum">
              <a:rPr lang="en-US" altLang="zh-CN" b="0">
                <a:solidFill>
                  <a:srgbClr val="FF00FF"/>
                </a:solidFill>
              </a:rPr>
              <a:pPr eaLnBrk="1" hangingPunct="1"/>
              <a:t>30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0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0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0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0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00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0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00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100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100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000"/>
                                        <p:tgtEl>
                                          <p:spTgt spid="100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00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10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8" dur="500"/>
                                        <p:tgtEl>
                                          <p:spTgt spid="100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1" dur="500"/>
                                        <p:tgtEl>
                                          <p:spTgt spid="100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4" dur="500"/>
                                        <p:tgtEl>
                                          <p:spTgt spid="100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7" dur="500"/>
                                        <p:tgtEl>
                                          <p:spTgt spid="100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0" dur="500"/>
                                        <p:tgtEl>
                                          <p:spTgt spid="100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3" dur="500"/>
                                        <p:tgtEl>
                                          <p:spTgt spid="100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autoUpdateAnimBg="0"/>
      <p:bldP spid="100355" grpId="0" animBg="1" autoUpdateAnimBg="0"/>
      <p:bldP spid="100360" grpId="0" autoUpdateAnimBg="0"/>
      <p:bldP spid="100362" grpId="0" autoUpdateAnimBg="0"/>
      <p:bldP spid="100365" grpId="0" animBg="1"/>
      <p:bldP spid="100367" grpId="0" autoUpdateAnimBg="0"/>
      <p:bldP spid="100368" grpId="0" autoUpdateAnimBg="0"/>
      <p:bldP spid="6165" grpId="0"/>
      <p:bldP spid="100377" grpId="0" autoUpdateAnimBg="0"/>
      <p:bldP spid="10038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24099</TotalTime>
  <Words>1927</Words>
  <Application>Microsoft Office PowerPoint</Application>
  <PresentationFormat>全屏显示(4:3)</PresentationFormat>
  <Paragraphs>257</Paragraphs>
  <Slides>30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30</vt:i4>
      </vt:variant>
    </vt:vector>
  </HeadingPairs>
  <TitlesOfParts>
    <vt:vector size="50" baseType="lpstr">
      <vt:lpstr>等线</vt:lpstr>
      <vt:lpstr>仿宋_GB2312</vt:lpstr>
      <vt:lpstr>SimHei</vt:lpstr>
      <vt:lpstr>华文仿宋</vt:lpstr>
      <vt:lpstr>华文中宋</vt:lpstr>
      <vt:lpstr>华文中宋</vt:lpstr>
      <vt:lpstr>楷体</vt:lpstr>
      <vt:lpstr>楷体_GB2312</vt:lpstr>
      <vt:lpstr>宋体</vt:lpstr>
      <vt:lpstr>Arial</vt:lpstr>
      <vt:lpstr>Calibri</vt:lpstr>
      <vt:lpstr>Cambria Math</vt:lpstr>
      <vt:lpstr>Symbol</vt:lpstr>
      <vt:lpstr>Times New Roman</vt:lpstr>
      <vt:lpstr>Wingdings</vt:lpstr>
      <vt:lpstr>默认设计模板</vt:lpstr>
      <vt:lpstr>Equation.3</vt:lpstr>
      <vt:lpstr>Equation.DSMT4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需要我们注意的是：     1.在经典力学中，只要知道初始条件，就可以求解出方程，即可给出粒子在任何时刻的位置与动量。这就是经典物理中的“决定性观念”、或“严格的因果率”；它们在宏观世界中，已经取得了巨大的成功。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1525</cp:revision>
  <cp:lastPrinted>2025-12-01T02:49:05Z</cp:lastPrinted>
  <dcterms:created xsi:type="dcterms:W3CDTF">1998-11-21T01:35:00Z</dcterms:created>
  <dcterms:modified xsi:type="dcterms:W3CDTF">2025-12-15T14:11:47Z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