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ctiveX/activeX1.xml" ContentType="application/vnd.ms-office.activeX+xml"/>
  <Override PartName="/ppt/activeX/activeX1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39" r:id="rId2"/>
    <p:sldId id="623" r:id="rId3"/>
    <p:sldId id="663" r:id="rId4"/>
    <p:sldId id="664" r:id="rId5"/>
    <p:sldId id="665" r:id="rId6"/>
    <p:sldId id="666" r:id="rId7"/>
    <p:sldId id="667" r:id="rId8"/>
    <p:sldId id="668" r:id="rId9"/>
    <p:sldId id="669" r:id="rId10"/>
    <p:sldId id="670" r:id="rId11"/>
    <p:sldId id="624" r:id="rId12"/>
    <p:sldId id="625" r:id="rId13"/>
    <p:sldId id="626" r:id="rId14"/>
    <p:sldId id="627" r:id="rId15"/>
    <p:sldId id="628" r:id="rId16"/>
    <p:sldId id="630" r:id="rId17"/>
    <p:sldId id="631" r:id="rId18"/>
    <p:sldId id="686" r:id="rId19"/>
    <p:sldId id="633" r:id="rId20"/>
  </p:sldIdLst>
  <p:sldSz cx="9144000" cy="6858000" type="screen4x3"/>
  <p:notesSz cx="6797675" cy="9928225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Relationship Id="rId9" Type="http://schemas.openxmlformats.org/officeDocument/2006/relationships/image" Target="../media/image40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4" Type="http://schemas.openxmlformats.org/officeDocument/2006/relationships/image" Target="../media/image5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68.emf"/><Relationship Id="rId7" Type="http://schemas.openxmlformats.org/officeDocument/2006/relationships/image" Target="../media/image72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emf"/><Relationship Id="rId11" Type="http://schemas.openxmlformats.org/officeDocument/2006/relationships/image" Target="../media/image76.emf"/><Relationship Id="rId5" Type="http://schemas.openxmlformats.org/officeDocument/2006/relationships/image" Target="../media/image70.emf"/><Relationship Id="rId10" Type="http://schemas.openxmlformats.org/officeDocument/2006/relationships/image" Target="../media/image75.emf"/><Relationship Id="rId4" Type="http://schemas.openxmlformats.org/officeDocument/2006/relationships/image" Target="../media/image69.emf"/><Relationship Id="rId9" Type="http://schemas.openxmlformats.org/officeDocument/2006/relationships/image" Target="../media/image7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4" Type="http://schemas.openxmlformats.org/officeDocument/2006/relationships/image" Target="../media/image9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image" Target="../media/image95.emf"/><Relationship Id="rId7" Type="http://schemas.openxmlformats.org/officeDocument/2006/relationships/image" Target="../media/image99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0E73AAB-6754-403C-9A24-408BA591C67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64C3740-CB08-4858-BEDD-4EA8F9D3AF07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4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302687D-EEC6-4DF1-80B5-C71203D899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415F2F7-2334-41B3-BD76-56F0EBBC6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4C7EC1C-6AA3-4F67-B060-2A6664A8BDD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E764BA-E552-4E20-B7FB-7DB4A0DABE4A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7F7C4AC-67B3-4F57-9790-BA20B0193B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8CC02C3-6D41-4979-9A27-9B44F0E95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713CDD56-7D6F-4599-B883-22F3D33A721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E59A50-B156-4BE6-A80F-278262138138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E8AA082-ADD1-4973-9554-5D4C96D83F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E8D14D5-74DA-4291-8B7F-D12FA4909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A80A95F6-F186-4C15-AB4E-D597B943383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55DFF76-5698-41A2-A103-B3139F394927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55DE00F-586E-4949-8F01-8FC9DFBE2F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D7A0C0E4-DE6B-4368-8EF3-43E564A29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rgbClr val="00FF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0FF12179-A18D-4B0E-8DCB-6E82FD6D1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CFEC7EAC-D23B-4A44-84D5-5D3335F11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CB214148-91C3-41FB-A590-3CA371701DA5}"/>
              </a:ext>
            </a:extLst>
          </p:cNvPr>
          <p:cNvSpPr txBox="1">
            <a:spLocks noGrp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18AB511-2C11-4996-9A65-8E0D5BD135B4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D6F7211-73BA-4477-B4CC-7043415D77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D51A90B-9FB3-4CB3-BED2-E14BE5D67ECA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A614B42-591F-4220-967F-87F0A8E623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7F959EC-5597-4E5C-905C-E45F41E2B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2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emf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emf"/><Relationship Id="rId19" Type="http://schemas.openxmlformats.org/officeDocument/2006/relationships/image" Target="../media/image13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1.e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8.e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.emf"/><Relationship Id="rId20" Type="http://schemas.openxmlformats.org/officeDocument/2006/relationships/image" Target="../media/image22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7.e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23.jpeg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0.e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7.e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6.emf"/><Relationship Id="rId4" Type="http://schemas.openxmlformats.org/officeDocument/2006/relationships/image" Target="../media/image31.jpeg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39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6.e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emf"/><Relationship Id="rId20" Type="http://schemas.openxmlformats.org/officeDocument/2006/relationships/image" Target="../media/image40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35.e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32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4.emf"/><Relationship Id="rId18" Type="http://schemas.openxmlformats.org/officeDocument/2006/relationships/image" Target="../media/image51.png"/><Relationship Id="rId26" Type="http://schemas.openxmlformats.org/officeDocument/2006/relationships/image" Target="../media/image49.emf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43.bin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6.emf"/><Relationship Id="rId25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.bin"/><Relationship Id="rId20" Type="http://schemas.openxmlformats.org/officeDocument/2006/relationships/image" Target="../media/image53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3.emf"/><Relationship Id="rId24" Type="http://schemas.openxmlformats.org/officeDocument/2006/relationships/image" Target="../media/image48.emf"/><Relationship Id="rId5" Type="http://schemas.openxmlformats.org/officeDocument/2006/relationships/image" Target="../media/image50.jpeg"/><Relationship Id="rId15" Type="http://schemas.openxmlformats.org/officeDocument/2006/relationships/image" Target="../media/image45.emf"/><Relationship Id="rId23" Type="http://schemas.openxmlformats.org/officeDocument/2006/relationships/oleObject" Target="../embeddings/oleObject44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52.png"/><Relationship Id="rId4" Type="http://schemas.openxmlformats.org/officeDocument/2006/relationships/audio" Target="../media/audio1.wav"/><Relationship Id="rId9" Type="http://schemas.openxmlformats.org/officeDocument/2006/relationships/image" Target="../media/image42.emf"/><Relationship Id="rId14" Type="http://schemas.openxmlformats.org/officeDocument/2006/relationships/oleObject" Target="../embeddings/oleObject41.bin"/><Relationship Id="rId22" Type="http://schemas.openxmlformats.org/officeDocument/2006/relationships/image" Target="../media/image4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hyperlink" Target="../&#26032;&#24314;&#25991;&#20214;&#22841;/&#21160;&#30011;/&#24377;&#31783;&#25391;&#23376;1(&#21147;&#30340;&#21464;&#21270;&#65289;.swf" TargetMode="External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6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8.emf"/><Relationship Id="rId4" Type="http://schemas.openxmlformats.org/officeDocument/2006/relationships/image" Target="../media/image60.png"/><Relationship Id="rId9" Type="http://schemas.openxmlformats.org/officeDocument/2006/relationships/oleObject" Target="../embeddings/oleObject50.bin"/><Relationship Id="rId14" Type="http://schemas.openxmlformats.org/officeDocument/2006/relationships/hyperlink" Target="&#24800;&#26356;&#26031;&#21407;&#29702;.swf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3.bin"/><Relationship Id="rId11" Type="http://schemas.openxmlformats.org/officeDocument/2006/relationships/hyperlink" Target="file:///H:\2017&#22823;&#23398;&#29289;&#29702;\&#19979;&#20876;\&#25240;&#23556;.swf" TargetMode="External"/><Relationship Id="rId5" Type="http://schemas.openxmlformats.org/officeDocument/2006/relationships/image" Target="../media/image61.emf"/><Relationship Id="rId10" Type="http://schemas.openxmlformats.org/officeDocument/2006/relationships/hyperlink" Target="file:///H:\2017&#22823;&#23398;&#29289;&#29702;\&#19979;&#20876;\&#21453;&#23556;1.swf" TargetMode="External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H:\2017&#22823;&#23398;&#29289;&#29702;\&#19979;&#20876;\&#27874;&#29420;&#31435;&#20256;&#25773;&#30340;&#28436;&#31034;4.sw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65.jpeg"/><Relationship Id="rId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73.emf"/><Relationship Id="rId3" Type="http://schemas.openxmlformats.org/officeDocument/2006/relationships/oleObject" Target="../embeddings/oleObject56.bin"/><Relationship Id="rId21" Type="http://schemas.openxmlformats.org/officeDocument/2006/relationships/oleObject" Target="../embeddings/oleObject65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70.e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emf"/><Relationship Id="rId20" Type="http://schemas.openxmlformats.org/officeDocument/2006/relationships/image" Target="../media/image7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60.bin"/><Relationship Id="rId24" Type="http://schemas.openxmlformats.org/officeDocument/2006/relationships/image" Target="../media/image76.emf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23" Type="http://schemas.openxmlformats.org/officeDocument/2006/relationships/oleObject" Target="../embeddings/oleObject66.bin"/><Relationship Id="rId10" Type="http://schemas.openxmlformats.org/officeDocument/2006/relationships/image" Target="../media/image69.emf"/><Relationship Id="rId19" Type="http://schemas.openxmlformats.org/officeDocument/2006/relationships/oleObject" Target="../embeddings/oleObject64.bin"/><Relationship Id="rId4" Type="http://schemas.openxmlformats.org/officeDocument/2006/relationships/image" Target="../media/image66.e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71.emf"/><Relationship Id="rId22" Type="http://schemas.openxmlformats.org/officeDocument/2006/relationships/image" Target="../media/image7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8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7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8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8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0.emf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92.emf"/><Relationship Id="rId4" Type="http://schemas.openxmlformats.org/officeDocument/2006/relationships/image" Target="../media/image89.emf"/><Relationship Id="rId9" Type="http://schemas.openxmlformats.org/officeDocument/2006/relationships/oleObject" Target="../embeddings/oleObject8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100.e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7.emf"/><Relationship Id="rId17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4.e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10" Type="http://schemas.openxmlformats.org/officeDocument/2006/relationships/image" Target="../media/image96.e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01.wmf"/><Relationship Id="rId4" Type="http://schemas.openxmlformats.org/officeDocument/2006/relationships/image" Target="../media/image10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4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06.emf"/><Relationship Id="rId4" Type="http://schemas.openxmlformats.org/officeDocument/2006/relationships/image" Target="../media/image103.emf"/><Relationship Id="rId9" Type="http://schemas.openxmlformats.org/officeDocument/2006/relationships/oleObject" Target="../embeddings/oleObject9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25,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6D37219E-558C-4CED-B97E-5E7521D27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35496"/>
            <a:ext cx="854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回顾：波的能量，介质中任意一个质元的动能和势能同步变化</a:t>
            </a:r>
          </a:p>
        </p:txBody>
      </p:sp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CC6B523D-CBA3-4B33-8388-84BA28310BF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683420-6B8B-4231-96A8-D80CA4A64A93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CED471F8-4CBF-4941-BE95-84419E896C3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785938" y="1700808"/>
          <a:ext cx="449897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0" name="公式" r:id="rId3" imgW="4457624" imgH="781016" progId="Equation.3">
                  <p:embed/>
                </p:oleObj>
              </mc:Choice>
              <mc:Fallback>
                <p:oleObj name="公式" r:id="rId3" imgW="4457624" imgH="781016" progId="Equation.3">
                  <p:embed/>
                  <p:pic>
                    <p:nvPicPr>
                      <p:cNvPr id="23555" name="Object 3">
                        <a:extLst>
                          <a:ext uri="{FF2B5EF4-FFF2-40B4-BE49-F238E27FC236}">
                            <a16:creationId xmlns:a16="http://schemas.microsoft.com/office/drawing/2014/main" id="{CED471F8-4CBF-4941-BE95-84419E896C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1700808"/>
                        <a:ext cx="449897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E7D630F4-5C41-4E98-B71F-3B821C146AE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95400" y="764704"/>
          <a:ext cx="24320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1" name="公式" r:id="rId5" imgW="2314441" imgH="781016" progId="Equation.3">
                  <p:embed/>
                </p:oleObj>
              </mc:Choice>
              <mc:Fallback>
                <p:oleObj name="公式" r:id="rId5" imgW="2314441" imgH="781016" progId="Equation.3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E7D630F4-5C41-4E98-B71F-3B821C146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764704"/>
                        <a:ext cx="24320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0879B251-AF5A-4A0E-818C-C2CF574B9D8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13163" y="788517"/>
          <a:ext cx="30019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2" name="公式" r:id="rId7" imgW="1333373" imgH="342900" progId="Equation.3">
                  <p:embed/>
                </p:oleObj>
              </mc:Choice>
              <mc:Fallback>
                <p:oleObj name="公式" r:id="rId7" imgW="1333373" imgH="342900" progId="Equation.3">
                  <p:embed/>
                  <p:pic>
                    <p:nvPicPr>
                      <p:cNvPr id="23557" name="Object 5">
                        <a:extLst>
                          <a:ext uri="{FF2B5EF4-FFF2-40B4-BE49-F238E27FC236}">
                            <a16:creationId xmlns:a16="http://schemas.microsoft.com/office/drawing/2014/main" id="{0879B251-AF5A-4A0E-818C-C2CF574B9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788517"/>
                        <a:ext cx="300196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>
            <a:extLst>
              <a:ext uri="{FF2B5EF4-FFF2-40B4-BE49-F238E27FC236}">
                <a16:creationId xmlns:a16="http://schemas.microsoft.com/office/drawing/2014/main" id="{1EA9B178-FB0E-44ED-A9B3-AEF6EDF3889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143125" y="2564904"/>
          <a:ext cx="607218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3" name="Equation" r:id="rId9" imgW="6162567" imgH="781016" progId="Equation.3">
                  <p:embed/>
                </p:oleObj>
              </mc:Choice>
              <mc:Fallback>
                <p:oleObj name="Equation" r:id="rId9" imgW="6162567" imgH="781016" progId="Equation.3">
                  <p:embed/>
                  <p:pic>
                    <p:nvPicPr>
                      <p:cNvPr id="20" name="Object 2">
                        <a:extLst>
                          <a:ext uri="{FF2B5EF4-FFF2-40B4-BE49-F238E27FC236}">
                            <a16:creationId xmlns:a16="http://schemas.microsoft.com/office/drawing/2014/main" id="{1EA9B178-FB0E-44ED-A9B3-AEF6EDF388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2564904"/>
                        <a:ext cx="607218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8">
            <a:extLst>
              <a:ext uri="{FF2B5EF4-FFF2-40B4-BE49-F238E27FC236}">
                <a16:creationId xmlns:a16="http://schemas.microsoft.com/office/drawing/2014/main" id="{34B77074-E7D6-4AB0-B13A-C4C81FC1B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699842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机械能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lang="zh-CN" altLang="en-US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Text Box 63">
            <a:extLst>
              <a:ext uri="{FF2B5EF4-FFF2-40B4-BE49-F238E27FC236}">
                <a16:creationId xmlns:a16="http://schemas.microsoft.com/office/drawing/2014/main" id="{C42CD4EB-0769-4A5A-A125-4B39C0BEF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3429000"/>
            <a:ext cx="8081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平衡位置：</a:t>
            </a:r>
            <a:r>
              <a:rPr lang="zh-CN" altLang="en-US">
                <a:solidFill>
                  <a:schemeClr val="bg1"/>
                </a:solidFill>
              </a:rPr>
              <a:t>质元速度最大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W</a:t>
            </a:r>
            <a:r>
              <a:rPr lang="en-US" altLang="zh-CN" baseline="-25000">
                <a:solidFill>
                  <a:srgbClr val="FFFF00"/>
                </a:solidFill>
              </a:rPr>
              <a:t>k</a:t>
            </a:r>
            <a:r>
              <a:rPr lang="zh-CN" altLang="en-US">
                <a:solidFill>
                  <a:schemeClr val="bg1"/>
                </a:solidFill>
              </a:rPr>
              <a:t>最大；形变最大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W</a:t>
            </a:r>
            <a:r>
              <a:rPr lang="en-US" altLang="zh-CN" baseline="-25000">
                <a:solidFill>
                  <a:srgbClr val="FFFF00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最大</a:t>
            </a:r>
          </a:p>
        </p:txBody>
      </p:sp>
      <p:sp>
        <p:nvSpPr>
          <p:cNvPr id="31" name="Text Box 63">
            <a:extLst>
              <a:ext uri="{FF2B5EF4-FFF2-40B4-BE49-F238E27FC236}">
                <a16:creationId xmlns:a16="http://schemas.microsoft.com/office/drawing/2014/main" id="{FE567C66-483F-4AD0-A915-F15E25447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143375"/>
            <a:ext cx="8081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位移最大：</a:t>
            </a:r>
            <a:r>
              <a:rPr lang="zh-CN" altLang="en-US">
                <a:solidFill>
                  <a:schemeClr val="bg1"/>
                </a:solidFill>
              </a:rPr>
              <a:t>质元速度为 </a:t>
            </a:r>
            <a:r>
              <a:rPr lang="en-US" altLang="zh-CN">
                <a:solidFill>
                  <a:schemeClr val="bg1"/>
                </a:solidFill>
              </a:rPr>
              <a:t>0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W</a:t>
            </a:r>
            <a:r>
              <a:rPr lang="en-US" altLang="zh-CN" baseline="-25000">
                <a:solidFill>
                  <a:srgbClr val="FFFF00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=0</a:t>
            </a:r>
            <a:r>
              <a:rPr lang="zh-CN" altLang="en-US">
                <a:solidFill>
                  <a:schemeClr val="bg1"/>
                </a:solidFill>
              </a:rPr>
              <a:t>；形变为 </a:t>
            </a:r>
            <a:r>
              <a:rPr lang="en-US" altLang="zh-CN">
                <a:solidFill>
                  <a:schemeClr val="bg1"/>
                </a:solidFill>
              </a:rPr>
              <a:t>0 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W</a:t>
            </a:r>
            <a:r>
              <a:rPr lang="en-US" altLang="zh-CN" baseline="-25000">
                <a:solidFill>
                  <a:srgbClr val="FFFF00"/>
                </a:solidFill>
              </a:rPr>
              <a:t>p</a:t>
            </a:r>
            <a:r>
              <a:rPr lang="en-US" altLang="zh-CN">
                <a:solidFill>
                  <a:schemeClr val="bg1"/>
                </a:solidFill>
              </a:rPr>
              <a:t>=0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左大括号 31">
            <a:extLst>
              <a:ext uri="{FF2B5EF4-FFF2-40B4-BE49-F238E27FC236}">
                <a16:creationId xmlns:a16="http://schemas.microsoft.com/office/drawing/2014/main" id="{0A49E274-CB3B-498E-8C4E-B73A6A2F6291}"/>
              </a:ext>
            </a:extLst>
          </p:cNvPr>
          <p:cNvSpPr>
            <a:spLocks/>
          </p:cNvSpPr>
          <p:nvPr/>
        </p:nvSpPr>
        <p:spPr bwMode="auto">
          <a:xfrm>
            <a:off x="428625" y="3600450"/>
            <a:ext cx="214313" cy="1571625"/>
          </a:xfrm>
          <a:prstGeom prst="leftBrace">
            <a:avLst>
              <a:gd name="adj1" fmla="val 53336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6" name="Text Box 63">
            <a:extLst>
              <a:ext uri="{FF2B5EF4-FFF2-40B4-BE49-F238E27FC236}">
                <a16:creationId xmlns:a16="http://schemas.microsoft.com/office/drawing/2014/main" id="{AC5B0DE3-28F0-4BFD-9480-E06D73C3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857750"/>
            <a:ext cx="828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其他位置：</a:t>
            </a:r>
            <a:r>
              <a:rPr lang="zh-CN" altLang="en-US">
                <a:solidFill>
                  <a:schemeClr val="bg1"/>
                </a:solidFill>
              </a:rPr>
              <a:t>质元有动能和势能；距平衡位置越近能量越大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9FE478E-FC1E-45A0-8A0D-038DDAE80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983" y="5445224"/>
            <a:ext cx="8545513" cy="115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仿宋_GB2312" pitchFamily="49" charset="-122"/>
                <a:ea typeface="楷体_GB2312" pitchFamily="49" charset="-122"/>
              </a:rPr>
              <a:t>波动过程是能量的传播过程（介质质元不断吸收和放出能量）</a:t>
            </a:r>
            <a:endParaRPr lang="en-US" altLang="zh-CN" dirty="0">
              <a:solidFill>
                <a:srgbClr val="FFFF00"/>
              </a:solidFill>
              <a:latin typeface="仿宋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仿宋_GB2312" pitchFamily="49" charset="-122"/>
                <a:ea typeface="楷体_GB2312" pitchFamily="49" charset="-122"/>
              </a:rPr>
              <a:t>具有振动状态传递和能量传播的的波称作为</a:t>
            </a:r>
            <a:r>
              <a:rPr lang="zh-CN" altLang="en-US" dirty="0">
                <a:solidFill>
                  <a:srgbClr val="FFFF00"/>
                </a:solidFill>
                <a:latin typeface="仿宋_GB2312" pitchFamily="49" charset="-122"/>
                <a:ea typeface="楷体_GB2312" pitchFamily="49" charset="-122"/>
              </a:rPr>
              <a:t>行波</a:t>
            </a:r>
            <a:endParaRPr lang="zh-CN" altLang="en-US" dirty="0">
              <a:solidFill>
                <a:schemeClr val="bg1"/>
              </a:solidFill>
              <a:latin typeface="仿宋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21" grpId="0" autoUpdateAnimBg="0"/>
      <p:bldP spid="23" grpId="0"/>
      <p:bldP spid="31" grpId="0"/>
      <p:bldP spid="32" grpId="0" animBg="1"/>
      <p:bldP spid="16" grpId="0"/>
      <p:bldP spid="1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E7DB8D29-29F2-4FC0-A797-BDFC8099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85750"/>
            <a:ext cx="5357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能流密度</a:t>
            </a:r>
            <a:r>
              <a:rPr lang="zh-CN" altLang="en-US">
                <a:solidFill>
                  <a:schemeClr val="bg1"/>
                </a:solidFill>
              </a:rPr>
              <a:t>（波的能量传播）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4FD3C92F-316F-4DAD-9937-AB689700C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857250"/>
            <a:ext cx="407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Bookman Old Style" panose="02050604050505020204" pitchFamily="18" charset="0"/>
              </a:rPr>
              <a:t>能量密度</a:t>
            </a:r>
          </a:p>
        </p:txBody>
      </p:sp>
      <p:graphicFrame>
        <p:nvGraphicFramePr>
          <p:cNvPr id="25613" name="Object 2">
            <a:extLst>
              <a:ext uri="{FF2B5EF4-FFF2-40B4-BE49-F238E27FC236}">
                <a16:creationId xmlns:a16="http://schemas.microsoft.com/office/drawing/2014/main" id="{E095ADE2-38D1-489E-A025-3E39A2CA955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000375" y="5842000"/>
          <a:ext cx="33940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4" name="公式" r:id="rId3" imgW="3324257" imgH="752543" progId="Equation.3">
                  <p:embed/>
                </p:oleObj>
              </mc:Choice>
              <mc:Fallback>
                <p:oleObj name="公式" r:id="rId3" imgW="3324257" imgH="752543" progId="Equation.3">
                  <p:embed/>
                  <p:pic>
                    <p:nvPicPr>
                      <p:cNvPr id="25613" name="Object 2">
                        <a:extLst>
                          <a:ext uri="{FF2B5EF4-FFF2-40B4-BE49-F238E27FC236}">
                            <a16:creationId xmlns:a16="http://schemas.microsoft.com/office/drawing/2014/main" id="{E095ADE2-38D1-489E-A025-3E39A2CA95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842000"/>
                        <a:ext cx="33940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8" name="Text Box 18">
            <a:extLst>
              <a:ext uri="{FF2B5EF4-FFF2-40B4-BE49-F238E27FC236}">
                <a16:creationId xmlns:a16="http://schemas.microsoft.com/office/drawing/2014/main" id="{25C54F9C-B724-4AB9-BDB9-FD32D3658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2428875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设绳子的横截面为 </a:t>
            </a:r>
            <a:r>
              <a:rPr lang="en-US" altLang="zh-CN" i="1">
                <a:solidFill>
                  <a:srgbClr val="66FFFF"/>
                </a:solidFill>
              </a:rPr>
              <a:t>S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，体密度为</a:t>
            </a:r>
          </a:p>
        </p:txBody>
      </p:sp>
      <p:graphicFrame>
        <p:nvGraphicFramePr>
          <p:cNvPr id="25619" name="Object 3">
            <a:extLst>
              <a:ext uri="{FF2B5EF4-FFF2-40B4-BE49-F238E27FC236}">
                <a16:creationId xmlns:a16="http://schemas.microsoft.com/office/drawing/2014/main" id="{F1F59F59-1B3C-4F4F-925E-6ADCF7E92A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27088" y="3889375"/>
          <a:ext cx="11541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5" name="公式" r:id="rId5" imgW="1076178" imgH="752543" progId="Equation.3">
                  <p:embed/>
                </p:oleObj>
              </mc:Choice>
              <mc:Fallback>
                <p:oleObj name="公式" r:id="rId5" imgW="1076178" imgH="752543" progId="Equation.3">
                  <p:embed/>
                  <p:pic>
                    <p:nvPicPr>
                      <p:cNvPr id="25619" name="Object 3">
                        <a:extLst>
                          <a:ext uri="{FF2B5EF4-FFF2-40B4-BE49-F238E27FC236}">
                            <a16:creationId xmlns:a16="http://schemas.microsoft.com/office/drawing/2014/main" id="{F1F59F59-1B3C-4F4F-925E-6ADCF7E92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89375"/>
                        <a:ext cx="11541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4">
            <a:extLst>
              <a:ext uri="{FF2B5EF4-FFF2-40B4-BE49-F238E27FC236}">
                <a16:creationId xmlns:a16="http://schemas.microsoft.com/office/drawing/2014/main" id="{68DC3D81-6272-4401-878B-3CF5C4D5274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072063" y="2527300"/>
          <a:ext cx="3206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6" name="Equation" r:id="rId7" imgW="76149" imgH="85725" progId="Equation.3">
                  <p:embed/>
                </p:oleObj>
              </mc:Choice>
              <mc:Fallback>
                <p:oleObj name="Equation" r:id="rId7" imgW="76149" imgH="85725" progId="Equation.3">
                  <p:embed/>
                  <p:pic>
                    <p:nvPicPr>
                      <p:cNvPr id="25621" name="Object 4">
                        <a:extLst>
                          <a:ext uri="{FF2B5EF4-FFF2-40B4-BE49-F238E27FC236}">
                            <a16:creationId xmlns:a16="http://schemas.microsoft.com/office/drawing/2014/main" id="{68DC3D81-6272-4401-878B-3CF5C4D527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2527300"/>
                        <a:ext cx="3206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Text Box 22">
            <a:extLst>
              <a:ext uri="{FF2B5EF4-FFF2-40B4-BE49-F238E27FC236}">
                <a16:creationId xmlns:a16="http://schemas.microsoft.com/office/drawing/2014/main" id="{C3214BFF-84F5-4F25-85F8-FCCE91DB1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9850" y="2428875"/>
            <a:ext cx="3779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，则线元单位体积</a:t>
            </a:r>
            <a:r>
              <a:rPr lang="zh-CN" altLang="en-US">
                <a:solidFill>
                  <a:schemeClr val="bg1"/>
                </a:solidFill>
              </a:rPr>
              <a:t>中的</a:t>
            </a:r>
          </a:p>
        </p:txBody>
      </p:sp>
      <p:sp>
        <p:nvSpPr>
          <p:cNvPr id="25623" name="Rectangle 23">
            <a:extLst>
              <a:ext uri="{FF2B5EF4-FFF2-40B4-BE49-F238E27FC236}">
                <a16:creationId xmlns:a16="http://schemas.microsoft.com/office/drawing/2014/main" id="{C8BA64DB-A50D-4FD7-BB65-00245058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3114675"/>
            <a:ext cx="447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机械能（</a:t>
            </a:r>
            <a:r>
              <a:rPr lang="zh-CN" altLang="en-US">
                <a:solidFill>
                  <a:srgbClr val="FFFF00"/>
                </a:solidFill>
              </a:rPr>
              <a:t>能量密度</a:t>
            </a:r>
            <a:r>
              <a:rPr lang="zh-CN" altLang="en-US">
                <a:solidFill>
                  <a:schemeClr val="bg1"/>
                </a:solidFill>
              </a:rPr>
              <a:t>）：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5625" name="Rectangle 25">
            <a:extLst>
              <a:ext uri="{FF2B5EF4-FFF2-40B4-BE49-F238E27FC236}">
                <a16:creationId xmlns:a16="http://schemas.microsoft.com/office/drawing/2014/main" id="{7FB090A4-CA49-4BD2-89DD-72D16235B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5472113"/>
            <a:ext cx="3008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平均能量密度</a:t>
            </a:r>
          </a:p>
        </p:txBody>
      </p:sp>
      <p:graphicFrame>
        <p:nvGraphicFramePr>
          <p:cNvPr id="25627" name="Object 5">
            <a:extLst>
              <a:ext uri="{FF2B5EF4-FFF2-40B4-BE49-F238E27FC236}">
                <a16:creationId xmlns:a16="http://schemas.microsoft.com/office/drawing/2014/main" id="{027043B7-17DE-438C-B69F-A2702D9F67C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19925" y="5067300"/>
          <a:ext cx="1217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7" name="公式" r:id="rId9" imgW="1143153" imgH="314427" progId="Equation.3">
                  <p:embed/>
                </p:oleObj>
              </mc:Choice>
              <mc:Fallback>
                <p:oleObj name="公式" r:id="rId9" imgW="1143153" imgH="314427" progId="Equation.3">
                  <p:embed/>
                  <p:pic>
                    <p:nvPicPr>
                      <p:cNvPr id="25627" name="Object 5">
                        <a:extLst>
                          <a:ext uri="{FF2B5EF4-FFF2-40B4-BE49-F238E27FC236}">
                            <a16:creationId xmlns:a16="http://schemas.microsoft.com/office/drawing/2014/main" id="{027043B7-17DE-438C-B69F-A2702D9F6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067300"/>
                        <a:ext cx="12176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Object 6">
            <a:extLst>
              <a:ext uri="{FF2B5EF4-FFF2-40B4-BE49-F238E27FC236}">
                <a16:creationId xmlns:a16="http://schemas.microsoft.com/office/drawing/2014/main" id="{367D12A3-3EF0-429B-AC46-573751C04BF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51050" y="3889375"/>
          <a:ext cx="9128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8" name="公式" r:id="rId11" imgW="838251" imgH="752543" progId="Equation.3">
                  <p:embed/>
                </p:oleObj>
              </mc:Choice>
              <mc:Fallback>
                <p:oleObj name="公式" r:id="rId11" imgW="838251" imgH="752543" progId="Equation.3">
                  <p:embed/>
                  <p:pic>
                    <p:nvPicPr>
                      <p:cNvPr id="25628" name="Object 6">
                        <a:extLst>
                          <a:ext uri="{FF2B5EF4-FFF2-40B4-BE49-F238E27FC236}">
                            <a16:creationId xmlns:a16="http://schemas.microsoft.com/office/drawing/2014/main" id="{367D12A3-3EF0-429B-AC46-573751C04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889375"/>
                        <a:ext cx="9128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7">
            <a:extLst>
              <a:ext uri="{FF2B5EF4-FFF2-40B4-BE49-F238E27FC236}">
                <a16:creationId xmlns:a16="http://schemas.microsoft.com/office/drawing/2014/main" id="{2AD79FF5-2B74-44EB-B2F0-5AE445E0EE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67050" y="4818063"/>
          <a:ext cx="39036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9" name="公式" r:id="rId13" imgW="3838645" imgH="752543" progId="Equation.3">
                  <p:embed/>
                </p:oleObj>
              </mc:Choice>
              <mc:Fallback>
                <p:oleObj name="公式" r:id="rId13" imgW="3838645" imgH="752543" progId="Equation.3">
                  <p:embed/>
                  <p:pic>
                    <p:nvPicPr>
                      <p:cNvPr id="25629" name="Object 7">
                        <a:extLst>
                          <a:ext uri="{FF2B5EF4-FFF2-40B4-BE49-F238E27FC236}">
                            <a16:creationId xmlns:a16="http://schemas.microsoft.com/office/drawing/2014/main" id="{2AD79FF5-2B74-44EB-B2F0-5AE445E0EE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4818063"/>
                        <a:ext cx="39036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8">
            <a:extLst>
              <a:ext uri="{FF2B5EF4-FFF2-40B4-BE49-F238E27FC236}">
                <a16:creationId xmlns:a16="http://schemas.microsoft.com/office/drawing/2014/main" id="{786195EF-2F8C-4F1D-8356-B2AE05BED23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59113" y="3562350"/>
          <a:ext cx="417036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0" name="公式" r:id="rId15" imgW="4238657" imgH="1152389" progId="Equation.3">
                  <p:embed/>
                </p:oleObj>
              </mc:Choice>
              <mc:Fallback>
                <p:oleObj name="公式" r:id="rId15" imgW="4238657" imgH="1152389" progId="Equation.3">
                  <p:embed/>
                  <p:pic>
                    <p:nvPicPr>
                      <p:cNvPr id="25630" name="Object 8">
                        <a:extLst>
                          <a:ext uri="{FF2B5EF4-FFF2-40B4-BE49-F238E27FC236}">
                            <a16:creationId xmlns:a16="http://schemas.microsoft.com/office/drawing/2014/main" id="{786195EF-2F8C-4F1D-8356-B2AE05BED2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562350"/>
                        <a:ext cx="417036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灯片编号占位符 1">
            <a:extLst>
              <a:ext uri="{FF2B5EF4-FFF2-40B4-BE49-F238E27FC236}">
                <a16:creationId xmlns:a16="http://schemas.microsoft.com/office/drawing/2014/main" id="{3D56C10F-5174-4FB9-8F91-A944037C70D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4AF7F1-A9AB-4F35-88AF-94F279B65909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pic>
        <p:nvPicPr>
          <p:cNvPr id="16" name="Picture 53" descr="H:\下册\2013年\素材\绳波.gif">
            <a:extLst>
              <a:ext uri="{FF2B5EF4-FFF2-40B4-BE49-F238E27FC236}">
                <a16:creationId xmlns:a16="http://schemas.microsoft.com/office/drawing/2014/main" id="{4614D20E-8709-4DBE-B71C-F307C83FF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428625"/>
            <a:ext cx="37147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17BF3BC6-666A-487F-BC40-9CF68E4724C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500313" y="1500188"/>
          <a:ext cx="62150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81" name="Equation" r:id="rId18" imgW="6134125" imgH="752543" progId="Equation.3">
                  <p:embed/>
                </p:oleObj>
              </mc:Choice>
              <mc:Fallback>
                <p:oleObj name="Equation" r:id="rId18" imgW="6134125" imgH="752543" progId="Equation.3">
                  <p:embed/>
                  <p:pic>
                    <p:nvPicPr>
                      <p:cNvPr id="17" name="Object 9">
                        <a:extLst>
                          <a:ext uri="{FF2B5EF4-FFF2-40B4-BE49-F238E27FC236}">
                            <a16:creationId xmlns:a16="http://schemas.microsoft.com/office/drawing/2014/main" id="{17BF3BC6-666A-487F-BC40-9CF68E4724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500188"/>
                        <a:ext cx="62150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8">
            <a:extLst>
              <a:ext uri="{FF2B5EF4-FFF2-40B4-BE49-F238E27FC236}">
                <a16:creationId xmlns:a16="http://schemas.microsoft.com/office/drawing/2014/main" id="{7BE19AC9-6952-40F1-B813-004A4665D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635125"/>
            <a:ext cx="2100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线元能量：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05" grpId="0" autoUpdateAnimBg="0"/>
      <p:bldP spid="25618" grpId="0" autoUpdateAnimBg="0"/>
      <p:bldP spid="25622" grpId="0" autoUpdateAnimBg="0"/>
      <p:bldP spid="25623" grpId="0" autoUpdateAnimBg="0"/>
      <p:bldP spid="25625" grpId="0" autoUpdateAnimBg="0"/>
      <p:bldP spid="1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Text Box 7">
            <a:extLst>
              <a:ext uri="{FF2B5EF4-FFF2-40B4-BE49-F238E27FC236}">
                <a16:creationId xmlns:a16="http://schemas.microsoft.com/office/drawing/2014/main" id="{7AECDDD0-A919-4631-8FF2-B8E878398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28625"/>
            <a:ext cx="380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Bookman Old Style" panose="02050604050505020204" pitchFamily="18" charset="0"/>
              </a:rPr>
              <a:t>能流密度</a:t>
            </a: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（波强）</a:t>
            </a:r>
            <a:endParaRPr lang="en-US" altLang="zh-CN">
              <a:solidFill>
                <a:srgbClr val="FFFF00"/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0099F820-5ADC-4135-AF6B-A7E8F6D151E8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955800"/>
            <a:ext cx="3422650" cy="2171700"/>
            <a:chOff x="3505" y="1224"/>
            <a:chExt cx="1916" cy="1368"/>
          </a:xfrm>
        </p:grpSpPr>
        <p:pic>
          <p:nvPicPr>
            <p:cNvPr id="7195" name="Picture 11" descr="平行四边形">
              <a:extLst>
                <a:ext uri="{FF2B5EF4-FFF2-40B4-BE49-F238E27FC236}">
                  <a16:creationId xmlns:a16="http://schemas.microsoft.com/office/drawing/2014/main" id="{1322A2A0-CFE5-49D2-A229-C9ABF83685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336598"/>
                </a:clrFrom>
                <a:clrTo>
                  <a:srgbClr val="33659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03" t="16104" r="17853" b="17911"/>
            <a:stretch>
              <a:fillRect/>
            </a:stretch>
          </p:blipFill>
          <p:spPr bwMode="auto">
            <a:xfrm>
              <a:off x="4499" y="1224"/>
              <a:ext cx="922" cy="1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96" name="Line 12">
              <a:extLst>
                <a:ext uri="{FF2B5EF4-FFF2-40B4-BE49-F238E27FC236}">
                  <a16:creationId xmlns:a16="http://schemas.microsoft.com/office/drawing/2014/main" id="{06F27184-477A-4127-A5D1-4CB41D127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1331"/>
              <a:ext cx="1187" cy="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7" name="Line 13">
              <a:extLst>
                <a:ext uri="{FF2B5EF4-FFF2-40B4-BE49-F238E27FC236}">
                  <a16:creationId xmlns:a16="http://schemas.microsoft.com/office/drawing/2014/main" id="{9A2EE3B2-CE3C-41CB-AF74-B4BFE6BDF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" y="1647"/>
              <a:ext cx="1179" cy="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8" name="Line 14">
              <a:extLst>
                <a:ext uri="{FF2B5EF4-FFF2-40B4-BE49-F238E27FC236}">
                  <a16:creationId xmlns:a16="http://schemas.microsoft.com/office/drawing/2014/main" id="{8E721473-22C3-4C5B-AAA0-060F7B806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9" y="1656"/>
              <a:ext cx="0" cy="726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Line 15">
              <a:extLst>
                <a:ext uri="{FF2B5EF4-FFF2-40B4-BE49-F238E27FC236}">
                  <a16:creationId xmlns:a16="http://schemas.microsoft.com/office/drawing/2014/main" id="{49C36860-B3B3-466C-AFDA-EECABC94B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9" y="2363"/>
              <a:ext cx="1179" cy="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Line 16">
              <a:extLst>
                <a:ext uri="{FF2B5EF4-FFF2-40B4-BE49-F238E27FC236}">
                  <a16:creationId xmlns:a16="http://schemas.microsoft.com/office/drawing/2014/main" id="{577015B6-5D5B-4FD6-A3E8-8C1DABCCF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1368"/>
              <a:ext cx="0" cy="672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1" name="Line 17">
              <a:extLst>
                <a:ext uri="{FF2B5EF4-FFF2-40B4-BE49-F238E27FC236}">
                  <a16:creationId xmlns:a16="http://schemas.microsoft.com/office/drawing/2014/main" id="{C8909CF4-EAE4-4301-9C2D-F23329268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0" y="2040"/>
              <a:ext cx="1117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2" name="Line 18">
              <a:extLst>
                <a:ext uri="{FF2B5EF4-FFF2-40B4-BE49-F238E27FC236}">
                  <a16:creationId xmlns:a16="http://schemas.microsoft.com/office/drawing/2014/main" id="{4C97261A-B98F-4BC8-BFAD-20B958150B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1483" flipH="1">
              <a:off x="3505" y="1345"/>
              <a:ext cx="384" cy="298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3" name="Line 19">
              <a:extLst>
                <a:ext uri="{FF2B5EF4-FFF2-40B4-BE49-F238E27FC236}">
                  <a16:creationId xmlns:a16="http://schemas.microsoft.com/office/drawing/2014/main" id="{738F5772-45EA-4A22-98F5-6B62290A97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1483" flipH="1">
              <a:off x="3517" y="2027"/>
              <a:ext cx="384" cy="298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644" name="Line 20">
            <a:extLst>
              <a:ext uri="{FF2B5EF4-FFF2-40B4-BE49-F238E27FC236}">
                <a16:creationId xmlns:a16="http://schemas.microsoft.com/office/drawing/2014/main" id="{6FB08998-9CAE-4750-A86B-E0C621B08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563" y="2924175"/>
            <a:ext cx="6794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645" name="Object 2">
            <a:extLst>
              <a:ext uri="{FF2B5EF4-FFF2-40B4-BE49-F238E27FC236}">
                <a16:creationId xmlns:a16="http://schemas.microsoft.com/office/drawing/2014/main" id="{0097781F-4E14-40EC-812B-3A777154F03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92938" y="2679700"/>
          <a:ext cx="3095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98" name="Equation" r:id="rId5" imgW="47708" imgH="85725" progId="Equation.3">
                  <p:embed/>
                </p:oleObj>
              </mc:Choice>
              <mc:Fallback>
                <p:oleObj name="Equation" r:id="rId5" imgW="47708" imgH="85725" progId="Equation.3">
                  <p:embed/>
                  <p:pic>
                    <p:nvPicPr>
                      <p:cNvPr id="26645" name="Object 2">
                        <a:extLst>
                          <a:ext uri="{FF2B5EF4-FFF2-40B4-BE49-F238E27FC236}">
                            <a16:creationId xmlns:a16="http://schemas.microsoft.com/office/drawing/2014/main" id="{0097781F-4E14-40EC-812B-3A777154F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2679700"/>
                        <a:ext cx="3095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6" name="Text Box 22">
            <a:extLst>
              <a:ext uri="{FF2B5EF4-FFF2-40B4-BE49-F238E27FC236}">
                <a16:creationId xmlns:a16="http://schemas.microsoft.com/office/drawing/2014/main" id="{B4EF39AF-C47F-4783-A681-132942B95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513" y="2451100"/>
            <a:ext cx="339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/>
              <a:t>s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19F8609D-3EB5-482A-9C21-3A702D2D7AE4}"/>
              </a:ext>
            </a:extLst>
          </p:cNvPr>
          <p:cNvGrpSpPr>
            <a:grpSpLocks/>
          </p:cNvGrpSpPr>
          <p:nvPr/>
        </p:nvGrpSpPr>
        <p:grpSpPr bwMode="auto">
          <a:xfrm>
            <a:off x="5414963" y="3760788"/>
            <a:ext cx="2106612" cy="454025"/>
            <a:chOff x="3632" y="1730"/>
            <a:chExt cx="1327" cy="286"/>
          </a:xfrm>
        </p:grpSpPr>
        <p:sp>
          <p:nvSpPr>
            <p:cNvPr id="7191" name="Line 24">
              <a:extLst>
                <a:ext uri="{FF2B5EF4-FFF2-40B4-BE49-F238E27FC236}">
                  <a16:creationId xmlns:a16="http://schemas.microsoft.com/office/drawing/2014/main" id="{9BA24711-9A39-41DD-B3C4-689257E98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2" y="1745"/>
              <a:ext cx="0" cy="27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" name="Line 25">
              <a:extLst>
                <a:ext uri="{FF2B5EF4-FFF2-40B4-BE49-F238E27FC236}">
                  <a16:creationId xmlns:a16="http://schemas.microsoft.com/office/drawing/2014/main" id="{4B336800-1BF0-430F-858C-D1D01AADB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899"/>
              <a:ext cx="447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Line 26">
              <a:extLst>
                <a:ext uri="{FF2B5EF4-FFF2-40B4-BE49-F238E27FC236}">
                  <a16:creationId xmlns:a16="http://schemas.microsoft.com/office/drawing/2014/main" id="{A7B9304E-26BF-431B-A0EA-27F1BCF28B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2" y="1880"/>
              <a:ext cx="496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" name="Line 27">
              <a:extLst>
                <a:ext uri="{FF2B5EF4-FFF2-40B4-BE49-F238E27FC236}">
                  <a16:creationId xmlns:a16="http://schemas.microsoft.com/office/drawing/2014/main" id="{A9D471A7-3394-4CA2-BC52-016EE2804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9" y="1730"/>
              <a:ext cx="0" cy="27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52" name="Rectangle 28">
            <a:extLst>
              <a:ext uri="{FF2B5EF4-FFF2-40B4-BE49-F238E27FC236}">
                <a16:creationId xmlns:a16="http://schemas.microsoft.com/office/drawing/2014/main" id="{DC40420C-78A2-473E-A5C9-298C137A3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163" y="375761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i="1">
                <a:solidFill>
                  <a:srgbClr val="FFFF66"/>
                </a:solidFill>
                <a:ea typeface="仿宋_GB2312" pitchFamily="49" charset="-122"/>
              </a:rPr>
              <a:t>u△t</a:t>
            </a:r>
          </a:p>
        </p:txBody>
      </p:sp>
      <p:graphicFrame>
        <p:nvGraphicFramePr>
          <p:cNvPr id="26653" name="Object 3">
            <a:extLst>
              <a:ext uri="{FF2B5EF4-FFF2-40B4-BE49-F238E27FC236}">
                <a16:creationId xmlns:a16="http://schemas.microsoft.com/office/drawing/2014/main" id="{D6125867-0B82-4911-9A95-C403CD3F3D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31913" y="2782888"/>
          <a:ext cx="18430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99" name="公式" r:id="rId7" imgW="685953" imgH="104707" progId="Equation.3">
                  <p:embed/>
                </p:oleObj>
              </mc:Choice>
              <mc:Fallback>
                <p:oleObj name="公式" r:id="rId7" imgW="685953" imgH="104707" progId="Equation.3">
                  <p:embed/>
                  <p:pic>
                    <p:nvPicPr>
                      <p:cNvPr id="26653" name="Object 3">
                        <a:extLst>
                          <a:ext uri="{FF2B5EF4-FFF2-40B4-BE49-F238E27FC236}">
                            <a16:creationId xmlns:a16="http://schemas.microsoft.com/office/drawing/2014/main" id="{D6125867-0B82-4911-9A95-C403CD3F3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82888"/>
                        <a:ext cx="18430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8" name="Object 6">
            <a:extLst>
              <a:ext uri="{FF2B5EF4-FFF2-40B4-BE49-F238E27FC236}">
                <a16:creationId xmlns:a16="http://schemas.microsoft.com/office/drawing/2014/main" id="{08EC413C-2C1D-4451-BDCA-746F24766A6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95513" y="4411663"/>
          <a:ext cx="94615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0" name="公式" r:id="rId9" imgW="390531" imgH="104707" progId="Equation.3">
                  <p:embed/>
                </p:oleObj>
              </mc:Choice>
              <mc:Fallback>
                <p:oleObj name="公式" r:id="rId9" imgW="390531" imgH="104707" progId="Equation.3">
                  <p:embed/>
                  <p:pic>
                    <p:nvPicPr>
                      <p:cNvPr id="26658" name="Object 6">
                        <a:extLst>
                          <a:ext uri="{FF2B5EF4-FFF2-40B4-BE49-F238E27FC236}">
                            <a16:creationId xmlns:a16="http://schemas.microsoft.com/office/drawing/2014/main" id="{08EC413C-2C1D-4451-BDCA-746F24766A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411663"/>
                        <a:ext cx="94615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9" name="Rectangle 35">
            <a:extLst>
              <a:ext uri="{FF2B5EF4-FFF2-40B4-BE49-F238E27FC236}">
                <a16:creationId xmlns:a16="http://schemas.microsoft.com/office/drawing/2014/main" id="{9940324C-F652-4E82-AC24-F45444FB9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4329113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大小：</a:t>
            </a:r>
          </a:p>
        </p:txBody>
      </p:sp>
      <p:sp>
        <p:nvSpPr>
          <p:cNvPr id="26665" name="Text Box 41">
            <a:extLst>
              <a:ext uri="{FF2B5EF4-FFF2-40B4-BE49-F238E27FC236}">
                <a16:creationId xmlns:a16="http://schemas.microsoft.com/office/drawing/2014/main" id="{6A51D545-E783-44B5-9457-8805ABEA1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5043488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方向：波的传播方向</a:t>
            </a:r>
          </a:p>
        </p:txBody>
      </p:sp>
      <p:graphicFrame>
        <p:nvGraphicFramePr>
          <p:cNvPr id="26666" name="Object 7">
            <a:extLst>
              <a:ext uri="{FF2B5EF4-FFF2-40B4-BE49-F238E27FC236}">
                <a16:creationId xmlns:a16="http://schemas.microsoft.com/office/drawing/2014/main" id="{F83C6FBB-E0B6-4DC7-83CE-C3433DB8EE2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43663" y="4981575"/>
          <a:ext cx="10747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1" name="公式" r:id="rId11" imgW="418973" imgH="142977" progId="Equation.3">
                  <p:embed/>
                </p:oleObj>
              </mc:Choice>
              <mc:Fallback>
                <p:oleObj name="公式" r:id="rId11" imgW="418973" imgH="142977" progId="Equation.3">
                  <p:embed/>
                  <p:pic>
                    <p:nvPicPr>
                      <p:cNvPr id="26666" name="Object 7">
                        <a:extLst>
                          <a:ext uri="{FF2B5EF4-FFF2-40B4-BE49-F238E27FC236}">
                            <a16:creationId xmlns:a16="http://schemas.microsoft.com/office/drawing/2014/main" id="{F83C6FBB-E0B6-4DC7-83CE-C3433DB8EE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981575"/>
                        <a:ext cx="107473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7" name="Text Box 43">
            <a:extLst>
              <a:ext uri="{FF2B5EF4-FFF2-40B4-BE49-F238E27FC236}">
                <a16:creationId xmlns:a16="http://schemas.microsoft.com/office/drawing/2014/main" id="{ED6E357C-D187-4BD2-8123-6938A39B5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263" y="5014913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矢量表示式：</a:t>
            </a:r>
          </a:p>
        </p:txBody>
      </p:sp>
      <p:sp>
        <p:nvSpPr>
          <p:cNvPr id="26680" name="Text Box 56">
            <a:extLst>
              <a:ext uri="{FF2B5EF4-FFF2-40B4-BE49-F238E27FC236}">
                <a16:creationId xmlns:a16="http://schemas.microsoft.com/office/drawing/2014/main" id="{3C44E042-BD45-4D16-B23C-103EE197D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928688"/>
            <a:ext cx="728662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在单位时间内，沿着波线方向</a:t>
            </a:r>
            <a:r>
              <a:rPr lang="zh-CN" altLang="en-US" dirty="0">
                <a:solidFill>
                  <a:schemeClr val="bg1"/>
                </a:solidFill>
              </a:rPr>
              <a:t>垂直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通过</a:t>
            </a:r>
            <a:r>
              <a:rPr lang="zh-CN" altLang="en-US" dirty="0">
                <a:solidFill>
                  <a:schemeClr val="bg1"/>
                </a:solidFill>
              </a:rPr>
              <a:t>单位面积上的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平均能量。</a:t>
            </a:r>
          </a:p>
        </p:txBody>
      </p:sp>
      <p:graphicFrame>
        <p:nvGraphicFramePr>
          <p:cNvPr id="6" name="Object 48">
            <a:extLst>
              <a:ext uri="{FF2B5EF4-FFF2-40B4-BE49-F238E27FC236}">
                <a16:creationId xmlns:a16="http://schemas.microsoft.com/office/drawing/2014/main" id="{432B076B-0071-4B76-BECF-86526D1C7A2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116013" y="5822950"/>
          <a:ext cx="12350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2" name="公式" r:id="rId13" imgW="390531" imgH="104707" progId="Equation.3">
                  <p:embed/>
                </p:oleObj>
              </mc:Choice>
              <mc:Fallback>
                <p:oleObj name="公式" r:id="rId13" imgW="390531" imgH="104707" progId="Equation.3">
                  <p:embed/>
                  <p:pic>
                    <p:nvPicPr>
                      <p:cNvPr id="6" name="Object 48">
                        <a:extLst>
                          <a:ext uri="{FF2B5EF4-FFF2-40B4-BE49-F238E27FC236}">
                            <a16:creationId xmlns:a16="http://schemas.microsoft.com/office/drawing/2014/main" id="{432B076B-0071-4B76-BECF-86526D1C7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822950"/>
                        <a:ext cx="12350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9">
            <a:extLst>
              <a:ext uri="{FF2B5EF4-FFF2-40B4-BE49-F238E27FC236}">
                <a16:creationId xmlns:a16="http://schemas.microsoft.com/office/drawing/2014/main" id="{53FCAF75-402E-4EA9-A3A7-CB6EC57F951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93950" y="5673725"/>
          <a:ext cx="16732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3" name="Equation" r:id="rId15" imgW="1590567" imgH="752543" progId="Equation.3">
                  <p:embed/>
                </p:oleObj>
              </mc:Choice>
              <mc:Fallback>
                <p:oleObj name="Equation" r:id="rId15" imgW="1590567" imgH="752543" progId="Equation.3">
                  <p:embed/>
                  <p:pic>
                    <p:nvPicPr>
                      <p:cNvPr id="27652" name="Object 49">
                        <a:extLst>
                          <a:ext uri="{FF2B5EF4-FFF2-40B4-BE49-F238E27FC236}">
                            <a16:creationId xmlns:a16="http://schemas.microsoft.com/office/drawing/2014/main" id="{53FCAF75-402E-4EA9-A3A7-CB6EC57F95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5673725"/>
                        <a:ext cx="16732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0">
            <a:extLst>
              <a:ext uri="{FF2B5EF4-FFF2-40B4-BE49-F238E27FC236}">
                <a16:creationId xmlns:a16="http://schemas.microsoft.com/office/drawing/2014/main" id="{27B13488-F57C-4AF5-B045-0FCA5FEB19D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14813" y="5800725"/>
          <a:ext cx="917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4" name="公式" r:id="rId17" imgW="838251" imgH="390661" progId="Equation.3">
                  <p:embed/>
                </p:oleObj>
              </mc:Choice>
              <mc:Fallback>
                <p:oleObj name="公式" r:id="rId17" imgW="838251" imgH="390661" progId="Equation.3">
                  <p:embed/>
                  <p:pic>
                    <p:nvPicPr>
                      <p:cNvPr id="27653" name="Object 50">
                        <a:extLst>
                          <a:ext uri="{FF2B5EF4-FFF2-40B4-BE49-F238E27FC236}">
                            <a16:creationId xmlns:a16="http://schemas.microsoft.com/office/drawing/2014/main" id="{27B13488-F57C-4AF5-B045-0FCA5FEB19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5800725"/>
                        <a:ext cx="9175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5">
            <a:extLst>
              <a:ext uri="{FF2B5EF4-FFF2-40B4-BE49-F238E27FC236}">
                <a16:creationId xmlns:a16="http://schemas.microsoft.com/office/drawing/2014/main" id="{32280D63-C2C4-41BD-A4C9-78478CA58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2185988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长方体中波的能量：</a:t>
            </a: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173AB47B-CBC4-4F08-A87C-1490E6E7064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68513" y="3351213"/>
          <a:ext cx="23606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05" name="公式" r:id="rId19" imgW="1000029" imgH="314427" progId="Equation.3">
                  <p:embed/>
                </p:oleObj>
              </mc:Choice>
              <mc:Fallback>
                <p:oleObj name="公式" r:id="rId19" imgW="1000029" imgH="314427" progId="Equation.3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173AB47B-CBC4-4F08-A87C-1490E6E706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351213"/>
                        <a:ext cx="23606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5">
            <a:extLst>
              <a:ext uri="{FF2B5EF4-FFF2-40B4-BE49-F238E27FC236}">
                <a16:creationId xmlns:a16="http://schemas.microsoft.com/office/drawing/2014/main" id="{2B513598-A529-46A8-B47C-12986F0CC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3494088"/>
            <a:ext cx="129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波强：</a:t>
            </a:r>
          </a:p>
        </p:txBody>
      </p:sp>
      <p:sp>
        <p:nvSpPr>
          <p:cNvPr id="7190" name="灯片编号占位符 1">
            <a:extLst>
              <a:ext uri="{FF2B5EF4-FFF2-40B4-BE49-F238E27FC236}">
                <a16:creationId xmlns:a16="http://schemas.microsoft.com/office/drawing/2014/main" id="{67D39865-9856-4B57-9773-1B4708F2C90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538CC0-B779-4D2B-9FCF-E8A43B76136F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300"/>
                                        <p:tgtEl>
                                          <p:spTgt spid="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utoUpdateAnimBg="0"/>
      <p:bldP spid="26646" grpId="0" autoUpdateAnimBg="0"/>
      <p:bldP spid="26652" grpId="0" autoUpdateAnimBg="0"/>
      <p:bldP spid="26659" grpId="0" autoUpdateAnimBg="0"/>
      <p:bldP spid="26665" grpId="0" autoUpdateAnimBg="0"/>
      <p:bldP spid="26667" grpId="0" autoUpdateAnimBg="0"/>
      <p:bldP spid="26680" grpId="0" autoUpdateAnimBg="0"/>
      <p:bldP spid="2" grpId="0" autoUpdateAnimBg="0"/>
      <p:bldP spid="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4" name="Picture 6" descr="波前2">
            <a:extLst>
              <a:ext uri="{FF2B5EF4-FFF2-40B4-BE49-F238E27FC236}">
                <a16:creationId xmlns:a16="http://schemas.microsoft.com/office/drawing/2014/main" id="{2B605E3F-923E-4285-9E8D-A55F58557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336598"/>
              </a:clrFrom>
              <a:clrTo>
                <a:srgbClr val="33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6" t="10088" r="12421" b="12390"/>
          <a:stretch>
            <a:fillRect/>
          </a:stretch>
        </p:blipFill>
        <p:spPr bwMode="auto">
          <a:xfrm>
            <a:off x="5300663" y="1817688"/>
            <a:ext cx="3200400" cy="20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7">
            <a:extLst>
              <a:ext uri="{FF2B5EF4-FFF2-40B4-BE49-F238E27FC236}">
                <a16:creationId xmlns:a16="http://schemas.microsoft.com/office/drawing/2014/main" id="{D3543499-1BBC-4080-BD8F-ABCB124C5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00063"/>
            <a:ext cx="48371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平面波和球面波的振幅</a:t>
            </a:r>
            <a:endParaRPr lang="zh-CN" altLang="en-US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FD7D801B-A42E-496E-9933-583E9E026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1143000"/>
            <a:ext cx="2400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平面波</a:t>
            </a:r>
          </a:p>
        </p:txBody>
      </p:sp>
      <p:graphicFrame>
        <p:nvGraphicFramePr>
          <p:cNvPr id="27658" name="Object 5">
            <a:extLst>
              <a:ext uri="{FF2B5EF4-FFF2-40B4-BE49-F238E27FC236}">
                <a16:creationId xmlns:a16="http://schemas.microsoft.com/office/drawing/2014/main" id="{9C12B6F9-6665-4479-A5D0-39622186FBB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138863" y="2786063"/>
          <a:ext cx="3746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3" name="Equation" r:id="rId5" imgW="85629" imgH="142977" progId="Equation.3">
                  <p:embed/>
                </p:oleObj>
              </mc:Choice>
              <mc:Fallback>
                <p:oleObj name="Equation" r:id="rId5" imgW="85629" imgH="142977" progId="Equation.3">
                  <p:embed/>
                  <p:pic>
                    <p:nvPicPr>
                      <p:cNvPr id="27658" name="Object 5">
                        <a:extLst>
                          <a:ext uri="{FF2B5EF4-FFF2-40B4-BE49-F238E27FC236}">
                            <a16:creationId xmlns:a16="http://schemas.microsoft.com/office/drawing/2014/main" id="{9C12B6F9-6665-4479-A5D0-39622186FB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8863" y="2786063"/>
                        <a:ext cx="3746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6">
            <a:extLst>
              <a:ext uri="{FF2B5EF4-FFF2-40B4-BE49-F238E27FC236}">
                <a16:creationId xmlns:a16="http://schemas.microsoft.com/office/drawing/2014/main" id="{2392E20F-E8E6-4D6F-AFDA-877B12F1BFF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65938" y="2800350"/>
          <a:ext cx="3492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4" name="Equation" r:id="rId7" imgW="104896" imgH="142977" progId="Equation.3">
                  <p:embed/>
                </p:oleObj>
              </mc:Choice>
              <mc:Fallback>
                <p:oleObj name="Equation" r:id="rId7" imgW="104896" imgH="142977" progId="Equation.3">
                  <p:embed/>
                  <p:pic>
                    <p:nvPicPr>
                      <p:cNvPr id="27659" name="Object 6">
                        <a:extLst>
                          <a:ext uri="{FF2B5EF4-FFF2-40B4-BE49-F238E27FC236}">
                            <a16:creationId xmlns:a16="http://schemas.microsoft.com/office/drawing/2014/main" id="{2392E20F-E8E6-4D6F-AFDA-877B12F1BF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5938" y="2800350"/>
                        <a:ext cx="34925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4416F7C4-FD07-4993-A933-9B71ED19F9DE}"/>
              </a:ext>
            </a:extLst>
          </p:cNvPr>
          <p:cNvGrpSpPr>
            <a:grpSpLocks/>
          </p:cNvGrpSpPr>
          <p:nvPr/>
        </p:nvGrpSpPr>
        <p:grpSpPr bwMode="auto">
          <a:xfrm>
            <a:off x="6403975" y="1476375"/>
            <a:ext cx="985838" cy="452438"/>
            <a:chOff x="4275" y="1107"/>
            <a:chExt cx="621" cy="285"/>
          </a:xfrm>
        </p:grpSpPr>
        <p:graphicFrame>
          <p:nvGraphicFramePr>
            <p:cNvPr id="9234" name="Object 11">
              <a:extLst>
                <a:ext uri="{FF2B5EF4-FFF2-40B4-BE49-F238E27FC236}">
                  <a16:creationId xmlns:a16="http://schemas.microsoft.com/office/drawing/2014/main" id="{1155061A-A15E-46EA-972F-90A2F98E0B6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608" y="1107"/>
            <a:ext cx="28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15" name="Equation" r:id="rId9" imgW="47708" imgH="85725" progId="Equation.3">
                    <p:embed/>
                  </p:oleObj>
                </mc:Choice>
                <mc:Fallback>
                  <p:oleObj name="Equation" r:id="rId9" imgW="47708" imgH="85725" progId="Equation.3">
                    <p:embed/>
                    <p:pic>
                      <p:nvPicPr>
                        <p:cNvPr id="9234" name="Object 11">
                          <a:extLst>
                            <a:ext uri="{FF2B5EF4-FFF2-40B4-BE49-F238E27FC236}">
                              <a16:creationId xmlns:a16="http://schemas.microsoft.com/office/drawing/2014/main" id="{1155061A-A15E-46EA-972F-90A2F98E0B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107"/>
                          <a:ext cx="288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5" name="Line 14">
              <a:extLst>
                <a:ext uri="{FF2B5EF4-FFF2-40B4-BE49-F238E27FC236}">
                  <a16:creationId xmlns:a16="http://schemas.microsoft.com/office/drawing/2014/main" id="{7C2B40A6-5575-48C9-AC8E-3C201524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1248"/>
              <a:ext cx="333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9C854658-6945-4CBC-95DA-D0D2C522B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500063"/>
            <a:ext cx="290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>
                <a:solidFill>
                  <a:schemeClr val="bg1"/>
                </a:solidFill>
              </a:rPr>
              <a:t> (</a:t>
            </a:r>
            <a:r>
              <a:rPr lang="zh-CN" altLang="en-US" dirty="0">
                <a:solidFill>
                  <a:schemeClr val="bg1"/>
                </a:solidFill>
              </a:rPr>
              <a:t>介质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不吸收能量</a:t>
            </a:r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27664" name="Object 7">
            <a:extLst>
              <a:ext uri="{FF2B5EF4-FFF2-40B4-BE49-F238E27FC236}">
                <a16:creationId xmlns:a16="http://schemas.microsoft.com/office/drawing/2014/main" id="{93752D1F-BB54-4F70-A183-EA30D57C99B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357688" y="4429125"/>
          <a:ext cx="11049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6" name="公式" r:id="rId11" imgW="1028776" imgH="342900" progId="Equation.3">
                  <p:embed/>
                </p:oleObj>
              </mc:Choice>
              <mc:Fallback>
                <p:oleObj name="公式" r:id="rId11" imgW="1028776" imgH="342900" progId="Equation.3">
                  <p:embed/>
                  <p:pic>
                    <p:nvPicPr>
                      <p:cNvPr id="27664" name="Object 7">
                        <a:extLst>
                          <a:ext uri="{FF2B5EF4-FFF2-40B4-BE49-F238E27FC236}">
                            <a16:creationId xmlns:a16="http://schemas.microsoft.com/office/drawing/2014/main" id="{93752D1F-BB54-4F70-A183-EA30D57C99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4429125"/>
                        <a:ext cx="11049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8">
            <a:extLst>
              <a:ext uri="{FF2B5EF4-FFF2-40B4-BE49-F238E27FC236}">
                <a16:creationId xmlns:a16="http://schemas.microsoft.com/office/drawing/2014/main" id="{3335391A-EE8D-407F-A258-04C2E6FC6AB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843213" y="5097463"/>
          <a:ext cx="10366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7" name="公式" r:id="rId13" imgW="962108" imgH="342900" progId="Equation.3">
                  <p:embed/>
                </p:oleObj>
              </mc:Choice>
              <mc:Fallback>
                <p:oleObj name="公式" r:id="rId13" imgW="962108" imgH="342900" progId="Equation.3">
                  <p:embed/>
                  <p:pic>
                    <p:nvPicPr>
                      <p:cNvPr id="27665" name="Object 8">
                        <a:extLst>
                          <a:ext uri="{FF2B5EF4-FFF2-40B4-BE49-F238E27FC236}">
                            <a16:creationId xmlns:a16="http://schemas.microsoft.com/office/drawing/2014/main" id="{3335391A-EE8D-407F-A258-04C2E6FC6A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097463"/>
                        <a:ext cx="1036637" cy="4175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Text Box 18">
            <a:extLst>
              <a:ext uri="{FF2B5EF4-FFF2-40B4-BE49-F238E27FC236}">
                <a16:creationId xmlns:a16="http://schemas.microsoft.com/office/drawing/2014/main" id="{972139F5-259B-41E4-A658-DC61EB7A4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4394200"/>
            <a:ext cx="341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介质不吸收波的能量</a:t>
            </a:r>
          </a:p>
        </p:txBody>
      </p:sp>
      <p:sp>
        <p:nvSpPr>
          <p:cNvPr id="27667" name="Text Box 19">
            <a:extLst>
              <a:ext uri="{FF2B5EF4-FFF2-40B4-BE49-F238E27FC236}">
                <a16:creationId xmlns:a16="http://schemas.microsoft.com/office/drawing/2014/main" id="{C9B43D5F-BBE8-4C6C-BDA7-34F67BC4D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5072063"/>
            <a:ext cx="124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得</a:t>
            </a:r>
          </a:p>
        </p:txBody>
      </p:sp>
      <p:graphicFrame>
        <p:nvGraphicFramePr>
          <p:cNvPr id="27668" name="Object 9">
            <a:extLst>
              <a:ext uri="{FF2B5EF4-FFF2-40B4-BE49-F238E27FC236}">
                <a16:creationId xmlns:a16="http://schemas.microsoft.com/office/drawing/2014/main" id="{A8D18C7D-1EEB-4454-AE96-FC1C9E71E61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58838" y="2401888"/>
          <a:ext cx="42497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8" name="Equation" r:id="rId15" imgW="4162508" imgH="752543" progId="Equation.3">
                  <p:embed/>
                </p:oleObj>
              </mc:Choice>
              <mc:Fallback>
                <p:oleObj name="Equation" r:id="rId15" imgW="4162508" imgH="752543" progId="Equation.3">
                  <p:embed/>
                  <p:pic>
                    <p:nvPicPr>
                      <p:cNvPr id="27668" name="Object 9">
                        <a:extLst>
                          <a:ext uri="{FF2B5EF4-FFF2-40B4-BE49-F238E27FC236}">
                            <a16:creationId xmlns:a16="http://schemas.microsoft.com/office/drawing/2014/main" id="{A8D18C7D-1EEB-4454-AE96-FC1C9E71E6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2401888"/>
                        <a:ext cx="42497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10">
            <a:extLst>
              <a:ext uri="{FF2B5EF4-FFF2-40B4-BE49-F238E27FC236}">
                <a16:creationId xmlns:a16="http://schemas.microsoft.com/office/drawing/2014/main" id="{A3A43677-9286-4408-8FF6-2A1D6AED078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6450" y="3294063"/>
          <a:ext cx="44084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9" name="Equation" r:id="rId17" imgW="4333767" imgH="752543" progId="Equation.3">
                  <p:embed/>
                </p:oleObj>
              </mc:Choice>
              <mc:Fallback>
                <p:oleObj name="Equation" r:id="rId17" imgW="4333767" imgH="752543" progId="Equation.3">
                  <p:embed/>
                  <p:pic>
                    <p:nvPicPr>
                      <p:cNvPr id="27669" name="Object 10">
                        <a:extLst>
                          <a:ext uri="{FF2B5EF4-FFF2-40B4-BE49-F238E27FC236}">
                            <a16:creationId xmlns:a16="http://schemas.microsoft.com/office/drawing/2014/main" id="{A3A43677-9286-4408-8FF6-2A1D6AED07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3294063"/>
                        <a:ext cx="440848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1" name="Rectangle 43">
            <a:extLst>
              <a:ext uri="{FF2B5EF4-FFF2-40B4-BE49-F238E27FC236}">
                <a16:creationId xmlns:a16="http://schemas.microsoft.com/office/drawing/2014/main" id="{234418D3-EE57-4053-BC49-59518D4B7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689600"/>
            <a:ext cx="860425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平面波在介质不吸收能量的情况下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振幅不变（波强不变）</a:t>
            </a: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171AF10C-0ABE-4F46-80FA-1852D4573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757363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单位时间通过平面的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能量：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9233" name="灯片编号占位符 1">
            <a:extLst>
              <a:ext uri="{FF2B5EF4-FFF2-40B4-BE49-F238E27FC236}">
                <a16:creationId xmlns:a16="http://schemas.microsoft.com/office/drawing/2014/main" id="{C6C634EE-B9ED-40E1-8ED6-9CFC958E95D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357D61-77C9-4C30-A8DE-59ABC936E051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utoUpdateAnimBg="0"/>
      <p:bldP spid="27656" grpId="0" autoUpdateAnimBg="0"/>
      <p:bldP spid="27663" grpId="0" autoUpdateAnimBg="0"/>
      <p:bldP spid="27666" grpId="0" autoUpdateAnimBg="0"/>
      <p:bldP spid="27667" grpId="0" autoUpdateAnimBg="0"/>
      <p:bldP spid="27691" grpId="0" autoUpdateAnimBg="0"/>
      <p:bldP spid="2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>
            <a:extLst>
              <a:ext uri="{FF2B5EF4-FFF2-40B4-BE49-F238E27FC236}">
                <a16:creationId xmlns:a16="http://schemas.microsoft.com/office/drawing/2014/main" id="{6ACC4577-34DA-4256-914F-4EE58A90E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563" y="584200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49" name="Rectangle 9">
            <a:extLst>
              <a:ext uri="{FF2B5EF4-FFF2-40B4-BE49-F238E27FC236}">
                <a16:creationId xmlns:a16="http://schemas.microsoft.com/office/drawing/2014/main" id="{CAA4107E-E7D4-40F4-A3B5-CD447D87B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00050"/>
            <a:ext cx="1985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球面波</a:t>
            </a:r>
          </a:p>
        </p:txBody>
      </p:sp>
      <p:graphicFrame>
        <p:nvGraphicFramePr>
          <p:cNvPr id="35850" name="Object 2">
            <a:extLst>
              <a:ext uri="{FF2B5EF4-FFF2-40B4-BE49-F238E27FC236}">
                <a16:creationId xmlns:a16="http://schemas.microsoft.com/office/drawing/2014/main" id="{01B49940-6C5A-4FC2-A422-9DD67F470BD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500188" y="957263"/>
          <a:ext cx="36639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5" name="公式" r:id="rId3" imgW="3581451" imgH="752543" progId="Equation.3">
                  <p:embed/>
                </p:oleObj>
              </mc:Choice>
              <mc:Fallback>
                <p:oleObj name="公式" r:id="rId3" imgW="3581451" imgH="752543" progId="Equation.3">
                  <p:embed/>
                  <p:pic>
                    <p:nvPicPr>
                      <p:cNvPr id="35850" name="Object 2">
                        <a:extLst>
                          <a:ext uri="{FF2B5EF4-FFF2-40B4-BE49-F238E27FC236}">
                            <a16:creationId xmlns:a16="http://schemas.microsoft.com/office/drawing/2014/main" id="{01B49940-6C5A-4FC2-A422-9DD67F470B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957263"/>
                        <a:ext cx="36639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Rectangle 11">
            <a:extLst>
              <a:ext uri="{FF2B5EF4-FFF2-40B4-BE49-F238E27FC236}">
                <a16:creationId xmlns:a16="http://schemas.microsoft.com/office/drawing/2014/main" id="{3A7FC2C1-84EE-46D7-A462-D680F0992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1103313"/>
            <a:ext cx="61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由</a:t>
            </a:r>
          </a:p>
        </p:txBody>
      </p:sp>
      <p:graphicFrame>
        <p:nvGraphicFramePr>
          <p:cNvPr id="35852" name="Object 3">
            <a:extLst>
              <a:ext uri="{FF2B5EF4-FFF2-40B4-BE49-F238E27FC236}">
                <a16:creationId xmlns:a16="http://schemas.microsoft.com/office/drawing/2014/main" id="{81F8F08A-87A1-4A89-A297-1BFCDC4D1C9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383463" y="1068388"/>
          <a:ext cx="3302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6" name="Equation" r:id="rId5" imgW="85629" imgH="142977" progId="Equation.3">
                  <p:embed/>
                </p:oleObj>
              </mc:Choice>
              <mc:Fallback>
                <p:oleObj name="Equation" r:id="rId5" imgW="85629" imgH="142977" progId="Equation.3">
                  <p:embed/>
                  <p:pic>
                    <p:nvPicPr>
                      <p:cNvPr id="35852" name="Object 3">
                        <a:extLst>
                          <a:ext uri="{FF2B5EF4-FFF2-40B4-BE49-F238E27FC236}">
                            <a16:creationId xmlns:a16="http://schemas.microsoft.com/office/drawing/2014/main" id="{81F8F08A-87A1-4A89-A297-1BFCDC4D1C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463" y="1068388"/>
                        <a:ext cx="3302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4">
            <a:extLst>
              <a:ext uri="{FF2B5EF4-FFF2-40B4-BE49-F238E27FC236}">
                <a16:creationId xmlns:a16="http://schemas.microsoft.com/office/drawing/2014/main" id="{A74B25B8-D186-4018-A24C-D22EB3D017C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54925" y="708025"/>
          <a:ext cx="3556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7" name="Equation" r:id="rId7" imgW="104896" imgH="142977" progId="Equation.3">
                  <p:embed/>
                </p:oleObj>
              </mc:Choice>
              <mc:Fallback>
                <p:oleObj name="Equation" r:id="rId7" imgW="104896" imgH="142977" progId="Equation.3">
                  <p:embed/>
                  <p:pic>
                    <p:nvPicPr>
                      <p:cNvPr id="35853" name="Object 4">
                        <a:extLst>
                          <a:ext uri="{FF2B5EF4-FFF2-40B4-BE49-F238E27FC236}">
                            <a16:creationId xmlns:a16="http://schemas.microsoft.com/office/drawing/2014/main" id="{A74B25B8-D186-4018-A24C-D22EB3D017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4925" y="708025"/>
                        <a:ext cx="3556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Line 14">
            <a:extLst>
              <a:ext uri="{FF2B5EF4-FFF2-40B4-BE49-F238E27FC236}">
                <a16:creationId xmlns:a16="http://schemas.microsoft.com/office/drawing/2014/main" id="{8FBB2DBF-F6FF-4A71-9F23-E17EAFEBDEB8}"/>
              </a:ext>
            </a:extLst>
          </p:cNvPr>
          <p:cNvSpPr>
            <a:spLocks noChangeShapeType="1"/>
          </p:cNvSpPr>
          <p:nvPr/>
        </p:nvSpPr>
        <p:spPr bwMode="auto">
          <a:xfrm rot="-2790391">
            <a:off x="7403306" y="1766095"/>
            <a:ext cx="111125" cy="43656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5" name="Line 15">
            <a:extLst>
              <a:ext uri="{FF2B5EF4-FFF2-40B4-BE49-F238E27FC236}">
                <a16:creationId xmlns:a16="http://schemas.microsoft.com/office/drawing/2014/main" id="{757AB7FF-A001-446A-9E86-4A6044F3C7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2613" y="1862138"/>
            <a:ext cx="306387" cy="8413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856" name="Object 5">
            <a:extLst>
              <a:ext uri="{FF2B5EF4-FFF2-40B4-BE49-F238E27FC236}">
                <a16:creationId xmlns:a16="http://schemas.microsoft.com/office/drawing/2014/main" id="{12F31BC6-7FB0-40B6-8878-4232274D4D0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738" y="1897063"/>
          <a:ext cx="2111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8" name="Equation" r:id="rId9" imgW="47708" imgH="142977" progId="Equation.3">
                  <p:embed/>
                </p:oleObj>
              </mc:Choice>
              <mc:Fallback>
                <p:oleObj name="Equation" r:id="rId9" imgW="47708" imgH="142977" progId="Equation.3">
                  <p:embed/>
                  <p:pic>
                    <p:nvPicPr>
                      <p:cNvPr id="35856" name="Object 5">
                        <a:extLst>
                          <a:ext uri="{FF2B5EF4-FFF2-40B4-BE49-F238E27FC236}">
                            <a16:creationId xmlns:a16="http://schemas.microsoft.com/office/drawing/2014/main" id="{12F31BC6-7FB0-40B6-8878-4232274D4D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738" y="1897063"/>
                        <a:ext cx="2111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7" name="Object 6">
            <a:extLst>
              <a:ext uri="{FF2B5EF4-FFF2-40B4-BE49-F238E27FC236}">
                <a16:creationId xmlns:a16="http://schemas.microsoft.com/office/drawing/2014/main" id="{C912BEF0-DBE2-460F-B3CC-F3CC712FF5D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83388" y="2200275"/>
          <a:ext cx="231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9" name="Equation" r:id="rId11" imgW="66669" imgH="142977" progId="Equation.3">
                  <p:embed/>
                </p:oleObj>
              </mc:Choice>
              <mc:Fallback>
                <p:oleObj name="Equation" r:id="rId11" imgW="66669" imgH="142977" progId="Equation.3">
                  <p:embed/>
                  <p:pic>
                    <p:nvPicPr>
                      <p:cNvPr id="35857" name="Object 6">
                        <a:extLst>
                          <a:ext uri="{FF2B5EF4-FFF2-40B4-BE49-F238E27FC236}">
                            <a16:creationId xmlns:a16="http://schemas.microsoft.com/office/drawing/2014/main" id="{C912BEF0-DBE2-460F-B3CC-F3CC712FF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3388" y="2200275"/>
                        <a:ext cx="23177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Oval 18">
            <a:extLst>
              <a:ext uri="{FF2B5EF4-FFF2-40B4-BE49-F238E27FC236}">
                <a16:creationId xmlns:a16="http://schemas.microsoft.com/office/drawing/2014/main" id="{AC6A28BF-BF98-4203-9C43-838F20655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1344613"/>
            <a:ext cx="1009650" cy="1009650"/>
          </a:xfrm>
          <a:prstGeom prst="ellipse">
            <a:avLst/>
          </a:prstGeom>
          <a:noFill/>
          <a:ln w="38100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5859" name="Oval 19">
            <a:extLst>
              <a:ext uri="{FF2B5EF4-FFF2-40B4-BE49-F238E27FC236}">
                <a16:creationId xmlns:a16="http://schemas.microsoft.com/office/drawing/2014/main" id="{142BA5FD-BDCC-46C2-8FB5-3F9EC8AE6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013" y="925513"/>
            <a:ext cx="1800225" cy="1800225"/>
          </a:xfrm>
          <a:prstGeom prst="ellips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2096192C-0693-4725-B081-CEF7DF19D4B0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528638"/>
            <a:ext cx="2597150" cy="2540000"/>
            <a:chOff x="3768" y="2566"/>
            <a:chExt cx="1636" cy="1600"/>
          </a:xfrm>
        </p:grpSpPr>
        <p:sp>
          <p:nvSpPr>
            <p:cNvPr id="11289" name="Line 21">
              <a:extLst>
                <a:ext uri="{FF2B5EF4-FFF2-40B4-BE49-F238E27FC236}">
                  <a16:creationId xmlns:a16="http://schemas.microsoft.com/office/drawing/2014/main" id="{EF4902A1-C9DC-4290-A614-6FB3C68D9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3406"/>
              <a:ext cx="1636" cy="0"/>
            </a:xfrm>
            <a:prstGeom prst="line">
              <a:avLst/>
            </a:prstGeom>
            <a:noFill/>
            <a:ln w="19050">
              <a:solidFill>
                <a:srgbClr val="99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0" name="Line 22">
              <a:extLst>
                <a:ext uri="{FF2B5EF4-FFF2-40B4-BE49-F238E27FC236}">
                  <a16:creationId xmlns:a16="http://schemas.microsoft.com/office/drawing/2014/main" id="{0C402552-3028-42CD-9A95-D596303663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92" y="3359"/>
              <a:ext cx="1587" cy="1"/>
            </a:xfrm>
            <a:prstGeom prst="line">
              <a:avLst/>
            </a:prstGeom>
            <a:noFill/>
            <a:ln w="19050">
              <a:solidFill>
                <a:srgbClr val="99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1" name="Line 23">
              <a:extLst>
                <a:ext uri="{FF2B5EF4-FFF2-40B4-BE49-F238E27FC236}">
                  <a16:creationId xmlns:a16="http://schemas.microsoft.com/office/drawing/2014/main" id="{691ECFE4-4EB0-43F4-B7AE-5A0F380413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2700000">
              <a:off x="3823" y="3386"/>
              <a:ext cx="1563" cy="1"/>
            </a:xfrm>
            <a:prstGeom prst="line">
              <a:avLst/>
            </a:prstGeom>
            <a:noFill/>
            <a:ln w="19050">
              <a:solidFill>
                <a:srgbClr val="99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2" name="Line 24">
              <a:extLst>
                <a:ext uri="{FF2B5EF4-FFF2-40B4-BE49-F238E27FC236}">
                  <a16:creationId xmlns:a16="http://schemas.microsoft.com/office/drawing/2014/main" id="{17FB25ED-0232-422A-A4A6-B763C38F3F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792" y="3388"/>
              <a:ext cx="1555" cy="1"/>
            </a:xfrm>
            <a:prstGeom prst="line">
              <a:avLst/>
            </a:prstGeom>
            <a:noFill/>
            <a:ln w="19050">
              <a:solidFill>
                <a:srgbClr val="99FF99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5866" name="Object 7">
            <a:extLst>
              <a:ext uri="{FF2B5EF4-FFF2-40B4-BE49-F238E27FC236}">
                <a16:creationId xmlns:a16="http://schemas.microsoft.com/office/drawing/2014/main" id="{30417214-8512-4EBA-8231-5AC4DA8E516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908175" y="1989138"/>
          <a:ext cx="3040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0" name="公式" r:id="rId13" imgW="1247743" imgH="152468" progId="Equation.3">
                  <p:embed/>
                </p:oleObj>
              </mc:Choice>
              <mc:Fallback>
                <p:oleObj name="公式" r:id="rId13" imgW="1247743" imgH="152468" progId="Equation.3">
                  <p:embed/>
                  <p:pic>
                    <p:nvPicPr>
                      <p:cNvPr id="35866" name="Object 7">
                        <a:extLst>
                          <a:ext uri="{FF2B5EF4-FFF2-40B4-BE49-F238E27FC236}">
                            <a16:creationId xmlns:a16="http://schemas.microsoft.com/office/drawing/2014/main" id="{30417214-8512-4EBA-8231-5AC4DA8E516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989138"/>
                        <a:ext cx="30400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7" name="Object 8">
            <a:extLst>
              <a:ext uri="{FF2B5EF4-FFF2-40B4-BE49-F238E27FC236}">
                <a16:creationId xmlns:a16="http://schemas.microsoft.com/office/drawing/2014/main" id="{A8C3D4BC-651B-4DB4-835C-21DD5166377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49550" y="2722563"/>
          <a:ext cx="14620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1" name="公式" r:id="rId15" imgW="1381080" imgH="342900" progId="Equation.3">
                  <p:embed/>
                </p:oleObj>
              </mc:Choice>
              <mc:Fallback>
                <p:oleObj name="公式" r:id="rId15" imgW="1381080" imgH="342900" progId="Equation.3">
                  <p:embed/>
                  <p:pic>
                    <p:nvPicPr>
                      <p:cNvPr id="35867" name="Object 8">
                        <a:extLst>
                          <a:ext uri="{FF2B5EF4-FFF2-40B4-BE49-F238E27FC236}">
                            <a16:creationId xmlns:a16="http://schemas.microsoft.com/office/drawing/2014/main" id="{A8C3D4BC-651B-4DB4-835C-21DD516637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2722563"/>
                        <a:ext cx="14620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8" name="Object 9">
            <a:extLst>
              <a:ext uri="{FF2B5EF4-FFF2-40B4-BE49-F238E27FC236}">
                <a16:creationId xmlns:a16="http://schemas.microsoft.com/office/drawing/2014/main" id="{1E0D3D55-B7C9-43A4-A1F2-1B0EC5B42F1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71625" y="4676775"/>
          <a:ext cx="57165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2" name="公式" r:id="rId17" imgW="5638698" imgH="752543" progId="Equation.3">
                  <p:embed/>
                </p:oleObj>
              </mc:Choice>
              <mc:Fallback>
                <p:oleObj name="公式" r:id="rId17" imgW="5638698" imgH="752543" progId="Equation.3">
                  <p:embed/>
                  <p:pic>
                    <p:nvPicPr>
                      <p:cNvPr id="35868" name="Object 9">
                        <a:extLst>
                          <a:ext uri="{FF2B5EF4-FFF2-40B4-BE49-F238E27FC236}">
                            <a16:creationId xmlns:a16="http://schemas.microsoft.com/office/drawing/2014/main" id="{1E0D3D55-B7C9-43A4-A1F2-1B0EC5B42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676775"/>
                        <a:ext cx="5716588" cy="8239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9" name="Text Box 29">
            <a:extLst>
              <a:ext uri="{FF2B5EF4-FFF2-40B4-BE49-F238E27FC236}">
                <a16:creationId xmlns:a16="http://schemas.microsoft.com/office/drawing/2014/main" id="{C63AAC54-AC6A-4E70-BA09-17718985F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3403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令</a:t>
            </a:r>
          </a:p>
        </p:txBody>
      </p:sp>
      <p:sp>
        <p:nvSpPr>
          <p:cNvPr id="35870" name="Rectangle 30">
            <a:extLst>
              <a:ext uri="{FF2B5EF4-FFF2-40B4-BE49-F238E27FC236}">
                <a16:creationId xmlns:a16="http://schemas.microsoft.com/office/drawing/2014/main" id="{A4AC4D05-515A-4B6D-83E0-B254CD062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0605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得</a:t>
            </a:r>
          </a:p>
        </p:txBody>
      </p:sp>
      <p:sp>
        <p:nvSpPr>
          <p:cNvPr id="35871" name="Rectangle 31">
            <a:extLst>
              <a:ext uri="{FF2B5EF4-FFF2-40B4-BE49-F238E27FC236}">
                <a16:creationId xmlns:a16="http://schemas.microsoft.com/office/drawing/2014/main" id="{9DE24762-7F25-4ADF-BB3F-66215BBD9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759450"/>
            <a:ext cx="8459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球面波在介质不吸收能量的情况下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其振幅随 </a:t>
            </a:r>
            <a:r>
              <a:rPr lang="en-US" altLang="zh-CN" i="1">
                <a:solidFill>
                  <a:srgbClr val="00FFFF"/>
                </a:solidFill>
                <a:ea typeface="楷体_GB2312" pitchFamily="49" charset="-122"/>
              </a:rPr>
              <a:t>r</a:t>
            </a: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增大而减小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872" name="Rectangle 32">
            <a:extLst>
              <a:ext uri="{FF2B5EF4-FFF2-40B4-BE49-F238E27FC236}">
                <a16:creationId xmlns:a16="http://schemas.microsoft.com/office/drawing/2014/main" id="{EC180110-BA80-403C-8224-FA024A37D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3962400"/>
            <a:ext cx="444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球面简谐波的波函数为</a:t>
            </a:r>
          </a:p>
        </p:txBody>
      </p:sp>
      <p:graphicFrame>
        <p:nvGraphicFramePr>
          <p:cNvPr id="35873" name="Object 10">
            <a:extLst>
              <a:ext uri="{FF2B5EF4-FFF2-40B4-BE49-F238E27FC236}">
                <a16:creationId xmlns:a16="http://schemas.microsoft.com/office/drawing/2014/main" id="{98A58FB0-7DB7-4386-B41A-408DDB3FC18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799138" y="3497263"/>
          <a:ext cx="1130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3" name="公式" r:id="rId19" imgW="1057218" imgH="352391" progId="Equation.3">
                  <p:embed/>
                </p:oleObj>
              </mc:Choice>
              <mc:Fallback>
                <p:oleObj name="公式" r:id="rId19" imgW="1057218" imgH="352391" progId="Equation.3">
                  <p:embed/>
                  <p:pic>
                    <p:nvPicPr>
                      <p:cNvPr id="35873" name="Object 10">
                        <a:extLst>
                          <a:ext uri="{FF2B5EF4-FFF2-40B4-BE49-F238E27FC236}">
                            <a16:creationId xmlns:a16="http://schemas.microsoft.com/office/drawing/2014/main" id="{98A58FB0-7DB7-4386-B41A-408DDB3FC1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3497263"/>
                        <a:ext cx="1130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74" name="Rectangle 34">
            <a:extLst>
              <a:ext uri="{FF2B5EF4-FFF2-40B4-BE49-F238E27FC236}">
                <a16:creationId xmlns:a16="http://schemas.microsoft.com/office/drawing/2014/main" id="{D57D7E46-B7D9-489A-A155-19819C04C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3398838"/>
            <a:ext cx="5843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rgbClr val="00FFFF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00FFFF"/>
                </a:solidFill>
                <a:ea typeface="楷体_GB2312" pitchFamily="49" charset="-122"/>
              </a:rPr>
              <a:t>0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为距波源单位距离处波的振幅</a:t>
            </a:r>
          </a:p>
        </p:txBody>
      </p:sp>
      <p:sp>
        <p:nvSpPr>
          <p:cNvPr id="11288" name="灯片编号占位符 1">
            <a:extLst>
              <a:ext uri="{FF2B5EF4-FFF2-40B4-BE49-F238E27FC236}">
                <a16:creationId xmlns:a16="http://schemas.microsoft.com/office/drawing/2014/main" id="{7A59245A-7688-4FEB-BC03-AE896CD5557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6D5162-62DA-4926-8C72-14B08694D697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3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300"/>
                                        <p:tgtEl>
                                          <p:spTgt spid="3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9" grpId="0" autoUpdateAnimBg="0"/>
      <p:bldP spid="35851" grpId="0" autoUpdateAnimBg="0"/>
      <p:bldP spid="35858" grpId="0" animBg="1"/>
      <p:bldP spid="35859" grpId="0" animBg="1"/>
      <p:bldP spid="35869" grpId="0" autoUpdateAnimBg="0"/>
      <p:bldP spid="35870" grpId="0" autoUpdateAnimBg="0"/>
      <p:bldP spid="35871" grpId="0" autoUpdateAnimBg="0"/>
      <p:bldP spid="35872" grpId="0" autoUpdateAnimBg="0"/>
      <p:bldP spid="3587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53" name="Picture 37" descr="波的吸收4">
            <a:extLst>
              <a:ext uri="{FF2B5EF4-FFF2-40B4-BE49-F238E27FC236}">
                <a16:creationId xmlns:a16="http://schemas.microsoft.com/office/drawing/2014/main" id="{576DF2B1-56C7-48CA-8C63-DFC7DD803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96598"/>
              </a:clrFrom>
              <a:clrTo>
                <a:srgbClr val="09659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3949700"/>
            <a:ext cx="2500313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AutoShape 4">
            <a:extLst>
              <a:ext uri="{FF2B5EF4-FFF2-40B4-BE49-F238E27FC236}">
                <a16:creationId xmlns:a16="http://schemas.microsoft.com/office/drawing/2014/main" id="{1E534A8F-FFA0-4051-B431-6CFCBBFB7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500063"/>
            <a:ext cx="1512887" cy="1943100"/>
          </a:xfrm>
          <a:prstGeom prst="cube">
            <a:avLst>
              <a:gd name="adj" fmla="val 25588"/>
            </a:avLst>
          </a:prstGeom>
          <a:gradFill rotWithShape="1">
            <a:gsLst>
              <a:gs pos="0">
                <a:srgbClr val="3399FF">
                  <a:alpha val="51999"/>
                </a:srgbClr>
              </a:gs>
              <a:gs pos="100000">
                <a:srgbClr val="184776">
                  <a:alpha val="62000"/>
                </a:srgbClr>
              </a:gs>
            </a:gsLst>
            <a:lin ang="5400000" scaled="1"/>
          </a:gra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479E9B22-9B17-49DD-A06D-CF889AE09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14313"/>
            <a:ext cx="4954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四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波的吸收</a:t>
            </a:r>
          </a:p>
        </p:txBody>
      </p:sp>
      <p:sp>
        <p:nvSpPr>
          <p:cNvPr id="34822" name="Text Box 6">
            <a:extLst>
              <a:ext uri="{FF2B5EF4-FFF2-40B4-BE49-F238E27FC236}">
                <a16:creationId xmlns:a16="http://schemas.microsoft.com/office/drawing/2014/main" id="{F5140331-4085-4C5D-BB6E-6B70A68C8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714375"/>
            <a:ext cx="5357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实验：波在吸收介质中传播时</a:t>
            </a:r>
          </a:p>
        </p:txBody>
      </p:sp>
      <p:graphicFrame>
        <p:nvGraphicFramePr>
          <p:cNvPr id="34823" name="Object 2">
            <a:extLst>
              <a:ext uri="{FF2B5EF4-FFF2-40B4-BE49-F238E27FC236}">
                <a16:creationId xmlns:a16="http://schemas.microsoft.com/office/drawing/2014/main" id="{3E4801C1-DBB0-490B-8ABF-BB0376FE3E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86000" y="1285875"/>
          <a:ext cx="157956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79" name="公式" r:id="rId6" imgW="1495457" imgH="238193" progId="Equation.3">
                  <p:embed/>
                </p:oleObj>
              </mc:Choice>
              <mc:Fallback>
                <p:oleObj name="公式" r:id="rId6" imgW="1495457" imgH="238193" progId="Equation.3">
                  <p:embed/>
                  <p:pic>
                    <p:nvPicPr>
                      <p:cNvPr id="34823" name="Object 2">
                        <a:extLst>
                          <a:ext uri="{FF2B5EF4-FFF2-40B4-BE49-F238E27FC236}">
                            <a16:creationId xmlns:a16="http://schemas.microsoft.com/office/drawing/2014/main" id="{3E4801C1-DBB0-490B-8ABF-BB0376FE3E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285875"/>
                        <a:ext cx="157956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4">
            <a:extLst>
              <a:ext uri="{FF2B5EF4-FFF2-40B4-BE49-F238E27FC236}">
                <a16:creationId xmlns:a16="http://schemas.microsoft.com/office/drawing/2014/main" id="{99CAF3FA-30D7-4A26-A9D3-CE8B6C91757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668963" y="654050"/>
          <a:ext cx="420687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0" name="Equation" r:id="rId8" imgW="85629" imgH="152468" progId="Equation.3">
                  <p:embed/>
                </p:oleObj>
              </mc:Choice>
              <mc:Fallback>
                <p:oleObj name="Equation" r:id="rId8" imgW="85629" imgH="152468" progId="Equation.3">
                  <p:embed/>
                  <p:pic>
                    <p:nvPicPr>
                      <p:cNvPr id="34825" name="Object 4">
                        <a:extLst>
                          <a:ext uri="{FF2B5EF4-FFF2-40B4-BE49-F238E27FC236}">
                            <a16:creationId xmlns:a16="http://schemas.microsoft.com/office/drawing/2014/main" id="{99CAF3FA-30D7-4A26-A9D3-CE8B6C917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8963" y="654050"/>
                        <a:ext cx="420687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5">
            <a:extLst>
              <a:ext uri="{FF2B5EF4-FFF2-40B4-BE49-F238E27FC236}">
                <a16:creationId xmlns:a16="http://schemas.microsoft.com/office/drawing/2014/main" id="{E0EC7B7E-A63C-4746-BFAC-DB8B2278B42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34375" y="2293938"/>
          <a:ext cx="3063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1" name="Equation" r:id="rId10" imgW="47708" imgH="66743" progId="Equation.3">
                  <p:embed/>
                </p:oleObj>
              </mc:Choice>
              <mc:Fallback>
                <p:oleObj name="Equation" r:id="rId10" imgW="47708" imgH="66743" progId="Equation.3">
                  <p:embed/>
                  <p:pic>
                    <p:nvPicPr>
                      <p:cNvPr id="34826" name="Object 5">
                        <a:extLst>
                          <a:ext uri="{FF2B5EF4-FFF2-40B4-BE49-F238E27FC236}">
                            <a16:creationId xmlns:a16="http://schemas.microsoft.com/office/drawing/2014/main" id="{E0EC7B7E-A63C-4746-BFAC-DB8B2278B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75" y="2293938"/>
                        <a:ext cx="30638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AutoShape 11">
            <a:extLst>
              <a:ext uri="{FF2B5EF4-FFF2-40B4-BE49-F238E27FC236}">
                <a16:creationId xmlns:a16="http://schemas.microsoft.com/office/drawing/2014/main" id="{07BC23E1-889B-4A04-A88C-D3896B04E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763" y="1214438"/>
            <a:ext cx="762000" cy="563562"/>
          </a:xfrm>
          <a:prstGeom prst="rightArrow">
            <a:avLst>
              <a:gd name="adj1" fmla="val 50000"/>
              <a:gd name="adj2" fmla="val 38786"/>
            </a:avLst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4828" name="Object 6">
            <a:extLst>
              <a:ext uri="{FF2B5EF4-FFF2-40B4-BE49-F238E27FC236}">
                <a16:creationId xmlns:a16="http://schemas.microsoft.com/office/drawing/2014/main" id="{56145113-2D2C-48FB-A041-42EA55C35ED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183563" y="846138"/>
          <a:ext cx="3222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2" name="Equation" r:id="rId12" imgW="47708" imgH="85725" progId="Equation.3">
                  <p:embed/>
                </p:oleObj>
              </mc:Choice>
              <mc:Fallback>
                <p:oleObj name="Equation" r:id="rId12" imgW="47708" imgH="85725" progId="Equation.3">
                  <p:embed/>
                  <p:pic>
                    <p:nvPicPr>
                      <p:cNvPr id="34828" name="Object 6">
                        <a:extLst>
                          <a:ext uri="{FF2B5EF4-FFF2-40B4-BE49-F238E27FC236}">
                            <a16:creationId xmlns:a16="http://schemas.microsoft.com/office/drawing/2014/main" id="{56145113-2D2C-48FB-A041-42EA55C35E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846138"/>
                        <a:ext cx="3222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>
            <a:extLst>
              <a:ext uri="{FF2B5EF4-FFF2-40B4-BE49-F238E27FC236}">
                <a16:creationId xmlns:a16="http://schemas.microsoft.com/office/drawing/2014/main" id="{DF82D7B0-6C9F-4C94-9027-BBC8F60AE135}"/>
              </a:ext>
            </a:extLst>
          </p:cNvPr>
          <p:cNvGrpSpPr>
            <a:grpSpLocks/>
          </p:cNvGrpSpPr>
          <p:nvPr/>
        </p:nvGrpSpPr>
        <p:grpSpPr bwMode="auto">
          <a:xfrm>
            <a:off x="6502400" y="2470150"/>
            <a:ext cx="1128713" cy="469900"/>
            <a:chOff x="3620" y="1497"/>
            <a:chExt cx="711" cy="296"/>
          </a:xfrm>
        </p:grpSpPr>
        <p:sp>
          <p:nvSpPr>
            <p:cNvPr id="12329" name="Line 14">
              <a:extLst>
                <a:ext uri="{FF2B5EF4-FFF2-40B4-BE49-F238E27FC236}">
                  <a16:creationId xmlns:a16="http://schemas.microsoft.com/office/drawing/2014/main" id="{DAC7FFD5-EA9B-43F4-8861-470778B01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0" y="1497"/>
              <a:ext cx="0" cy="212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0" name="Line 15">
              <a:extLst>
                <a:ext uri="{FF2B5EF4-FFF2-40B4-BE49-F238E27FC236}">
                  <a16:creationId xmlns:a16="http://schemas.microsoft.com/office/drawing/2014/main" id="{4F3B7CC4-5C88-4B28-9416-1D83C33E5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1505"/>
              <a:ext cx="0" cy="214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Line 16">
              <a:extLst>
                <a:ext uri="{FF2B5EF4-FFF2-40B4-BE49-F238E27FC236}">
                  <a16:creationId xmlns:a16="http://schemas.microsoft.com/office/drawing/2014/main" id="{5365DE71-E25E-47BC-AC00-2FCB7B283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0" y="1570"/>
              <a:ext cx="711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2" name="Object 9">
              <a:extLst>
                <a:ext uri="{FF2B5EF4-FFF2-40B4-BE49-F238E27FC236}">
                  <a16:creationId xmlns:a16="http://schemas.microsoft.com/office/drawing/2014/main" id="{5D3605B2-F290-4D9D-82AC-E4C4998D08F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845" y="1560"/>
            <a:ext cx="22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983" name="Equation" r:id="rId14" imgW="47708" imgH="66743" progId="Equation.3">
                    <p:embed/>
                  </p:oleObj>
                </mc:Choice>
                <mc:Fallback>
                  <p:oleObj name="Equation" r:id="rId14" imgW="47708" imgH="66743" progId="Equation.3">
                    <p:embed/>
                    <p:pic>
                      <p:nvPicPr>
                        <p:cNvPr id="12332" name="Object 9">
                          <a:extLst>
                            <a:ext uri="{FF2B5EF4-FFF2-40B4-BE49-F238E27FC236}">
                              <a16:creationId xmlns:a16="http://schemas.microsoft.com/office/drawing/2014/main" id="{5D3605B2-F290-4D9D-82AC-E4C4998D08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5" y="1560"/>
                          <a:ext cx="220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4" name="Text Box 18">
            <a:extLst>
              <a:ext uri="{FF2B5EF4-FFF2-40B4-BE49-F238E27FC236}">
                <a16:creationId xmlns:a16="http://schemas.microsoft.com/office/drawing/2014/main" id="{04E21D32-9268-4D23-A044-C09805FCD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076450"/>
            <a:ext cx="471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i="1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34835" name="AutoShape 19">
            <a:extLst>
              <a:ext uri="{FF2B5EF4-FFF2-40B4-BE49-F238E27FC236}">
                <a16:creationId xmlns:a16="http://schemas.microsoft.com/office/drawing/2014/main" id="{4E5963E5-8406-43CE-B6BD-A3DC60567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263" y="1395413"/>
            <a:ext cx="657225" cy="247650"/>
          </a:xfrm>
          <a:prstGeom prst="rightArrow">
            <a:avLst>
              <a:gd name="adj1" fmla="val 50000"/>
              <a:gd name="adj2" fmla="val 49993"/>
            </a:avLst>
          </a:prstGeom>
          <a:solidFill>
            <a:srgbClr val="FFFF99"/>
          </a:solidFill>
          <a:ln w="9525">
            <a:solidFill>
              <a:srgbClr val="FFFF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4836" name="Object 7">
            <a:extLst>
              <a:ext uri="{FF2B5EF4-FFF2-40B4-BE49-F238E27FC236}">
                <a16:creationId xmlns:a16="http://schemas.microsoft.com/office/drawing/2014/main" id="{094E47CC-15BE-421E-BFB5-D03F1FE51C5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86563" y="2011363"/>
          <a:ext cx="3968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4" name="Equation" r:id="rId16" imgW="114376" imgH="104707" progId="Equation.3">
                  <p:embed/>
                </p:oleObj>
              </mc:Choice>
              <mc:Fallback>
                <p:oleObj name="Equation" r:id="rId16" imgW="114376" imgH="104707" progId="Equation.3">
                  <p:embed/>
                  <p:pic>
                    <p:nvPicPr>
                      <p:cNvPr id="34836" name="Object 7">
                        <a:extLst>
                          <a:ext uri="{FF2B5EF4-FFF2-40B4-BE49-F238E27FC236}">
                            <a16:creationId xmlns:a16="http://schemas.microsoft.com/office/drawing/2014/main" id="{094E47CC-15BE-421E-BFB5-D03F1FE51C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011363"/>
                        <a:ext cx="3968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>
            <a:extLst>
              <a:ext uri="{FF2B5EF4-FFF2-40B4-BE49-F238E27FC236}">
                <a16:creationId xmlns:a16="http://schemas.microsoft.com/office/drawing/2014/main" id="{DAC08233-F650-4B28-B624-A4F6D94AC4BD}"/>
              </a:ext>
            </a:extLst>
          </p:cNvPr>
          <p:cNvGrpSpPr>
            <a:grpSpLocks/>
          </p:cNvGrpSpPr>
          <p:nvPr/>
        </p:nvGrpSpPr>
        <p:grpSpPr bwMode="auto">
          <a:xfrm>
            <a:off x="6643688" y="219075"/>
            <a:ext cx="927100" cy="2230438"/>
            <a:chOff x="3721" y="2251"/>
            <a:chExt cx="584" cy="1405"/>
          </a:xfrm>
        </p:grpSpPr>
        <p:sp>
          <p:nvSpPr>
            <p:cNvPr id="12326" name="AutoShape 22" descr="深色横线">
              <a:extLst>
                <a:ext uri="{FF2B5EF4-FFF2-40B4-BE49-F238E27FC236}">
                  <a16:creationId xmlns:a16="http://schemas.microsoft.com/office/drawing/2014/main" id="{DD474366-2A31-4860-B180-372B4554D4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372065">
              <a:off x="3844" y="2329"/>
              <a:ext cx="86" cy="431"/>
            </a:xfrm>
            <a:prstGeom prst="parallelogram">
              <a:avLst>
                <a:gd name="adj" fmla="val 25000"/>
              </a:avLst>
            </a:prstGeom>
            <a:blipFill dpi="0" rotWithShape="0">
              <a:blip r:embed="rId1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327" name="Rectangle 23" descr="宽上对角线">
              <a:extLst>
                <a:ext uri="{FF2B5EF4-FFF2-40B4-BE49-F238E27FC236}">
                  <a16:creationId xmlns:a16="http://schemas.microsoft.com/office/drawing/2014/main" id="{4EDDBAD6-1A08-4558-B474-B36A0749D8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5400000">
              <a:off x="3271" y="3127"/>
              <a:ext cx="979" cy="79"/>
            </a:xfrm>
            <a:prstGeom prst="rect">
              <a:avLst/>
            </a:prstGeom>
            <a:blipFill dpi="0" rotWithShape="0">
              <a:blip r:embed="rId1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328" name="Rectangle 24">
              <a:extLst>
                <a:ext uri="{FF2B5EF4-FFF2-40B4-BE49-F238E27FC236}">
                  <a16:creationId xmlns:a16="http://schemas.microsoft.com/office/drawing/2014/main" id="{A51F1C3F-D185-4C91-85EE-07178399ED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30" y="2251"/>
              <a:ext cx="375" cy="169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4841" name="Line 25">
            <a:extLst>
              <a:ext uri="{FF2B5EF4-FFF2-40B4-BE49-F238E27FC236}">
                <a16:creationId xmlns:a16="http://schemas.microsoft.com/office/drawing/2014/main" id="{370F9755-D645-4457-A689-DA5BB3B55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7163" y="2447925"/>
            <a:ext cx="1839912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3" name="Rectangle 27">
            <a:extLst>
              <a:ext uri="{FF2B5EF4-FFF2-40B4-BE49-F238E27FC236}">
                <a16:creationId xmlns:a16="http://schemas.microsoft.com/office/drawing/2014/main" id="{D8FD3134-C577-4686-9D6B-A347FE6E5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714500"/>
            <a:ext cx="5072062" cy="1016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 typeface="Symbol" panose="05050102010706020507" pitchFamily="18" charset="2"/>
              <a:buChar char="a"/>
            </a:pPr>
            <a:r>
              <a:rPr lang="zh-CN" altLang="en-US">
                <a:solidFill>
                  <a:schemeClr val="bg1"/>
                </a:solidFill>
              </a:rPr>
              <a:t> 为介质吸收系数，与介质的性质、温度、及波的频率有关</a:t>
            </a:r>
          </a:p>
        </p:txBody>
      </p:sp>
      <p:sp>
        <p:nvSpPr>
          <p:cNvPr id="34844" name="Text Box 28">
            <a:extLst>
              <a:ext uri="{FF2B5EF4-FFF2-40B4-BE49-F238E27FC236}">
                <a16:creationId xmlns:a16="http://schemas.microsoft.com/office/drawing/2014/main" id="{FD195EC5-167A-4C48-95A1-733308898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4662488"/>
            <a:ext cx="31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I</a:t>
            </a:r>
          </a:p>
        </p:txBody>
      </p:sp>
      <p:sp>
        <p:nvSpPr>
          <p:cNvPr id="34845" name="Text Box 29">
            <a:extLst>
              <a:ext uri="{FF2B5EF4-FFF2-40B4-BE49-F238E27FC236}">
                <a16:creationId xmlns:a16="http://schemas.microsoft.com/office/drawing/2014/main" id="{4632B36B-AF0D-46DB-9199-996626A39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4060825"/>
            <a:ext cx="57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x</a:t>
            </a:r>
          </a:p>
        </p:txBody>
      </p:sp>
      <p:sp>
        <p:nvSpPr>
          <p:cNvPr id="34846" name="Text Box 30">
            <a:extLst>
              <a:ext uri="{FF2B5EF4-FFF2-40B4-BE49-F238E27FC236}">
                <a16:creationId xmlns:a16="http://schemas.microsoft.com/office/drawing/2014/main" id="{74ACC4E1-CB7B-46C8-A833-A76E69B54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663" y="3471863"/>
            <a:ext cx="41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I</a:t>
            </a:r>
          </a:p>
        </p:txBody>
      </p:sp>
      <p:sp>
        <p:nvSpPr>
          <p:cNvPr id="34847" name="Rectangle 31">
            <a:extLst>
              <a:ext uri="{FF2B5EF4-FFF2-40B4-BE49-F238E27FC236}">
                <a16:creationId xmlns:a16="http://schemas.microsoft.com/office/drawing/2014/main" id="{D1A36805-E6DA-44B4-A2A5-69626132A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263" y="5264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x</a:t>
            </a:r>
          </a:p>
        </p:txBody>
      </p:sp>
      <p:sp>
        <p:nvSpPr>
          <p:cNvPr id="34848" name="Line 32">
            <a:extLst>
              <a:ext uri="{FF2B5EF4-FFF2-40B4-BE49-F238E27FC236}">
                <a16:creationId xmlns:a16="http://schemas.microsoft.com/office/drawing/2014/main" id="{B36C95A9-62F2-477F-9060-62D636411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5463" y="3700463"/>
            <a:ext cx="1587" cy="18002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9" name="Line 33">
            <a:extLst>
              <a:ext uri="{FF2B5EF4-FFF2-40B4-BE49-F238E27FC236}">
                <a16:creationId xmlns:a16="http://schemas.microsoft.com/office/drawing/2014/main" id="{CA4DB7D1-2F17-4DA3-884A-49762037D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5463" y="5492750"/>
            <a:ext cx="14478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4850" name="Picture 34" descr="图形5">
            <a:extLst>
              <a:ext uri="{FF2B5EF4-FFF2-40B4-BE49-F238E27FC236}">
                <a16:creationId xmlns:a16="http://schemas.microsoft.com/office/drawing/2014/main" id="{5A2E78E2-2794-4102-9073-ED8BE4227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4302125"/>
            <a:ext cx="28717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51" name="Text Box 35">
            <a:extLst>
              <a:ext uri="{FF2B5EF4-FFF2-40B4-BE49-F238E27FC236}">
                <a16:creationId xmlns:a16="http://schemas.microsoft.com/office/drawing/2014/main" id="{523E9DCA-C97A-4497-8637-1760F7883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4781550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I</a:t>
            </a:r>
            <a:r>
              <a:rPr lang="en-US" altLang="zh-CN" baseline="-25000">
                <a:solidFill>
                  <a:schemeClr val="bg1"/>
                </a:solidFill>
                <a:ea typeface="仿宋_GB2312" pitchFamily="49" charset="-122"/>
              </a:rPr>
              <a:t>0</a:t>
            </a:r>
          </a:p>
        </p:txBody>
      </p:sp>
      <p:sp>
        <p:nvSpPr>
          <p:cNvPr id="34852" name="Text Box 36">
            <a:extLst>
              <a:ext uri="{FF2B5EF4-FFF2-40B4-BE49-F238E27FC236}">
                <a16:creationId xmlns:a16="http://schemas.microsoft.com/office/drawing/2014/main" id="{D14AB83C-01B0-49C8-A010-553ABEE46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275" y="4214813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  <a:ea typeface="仿宋_GB2312" pitchFamily="49" charset="-122"/>
              </a:rPr>
              <a:t>I</a:t>
            </a:r>
            <a:r>
              <a:rPr lang="en-US" altLang="zh-CN" baseline="-25000">
                <a:solidFill>
                  <a:schemeClr val="bg1"/>
                </a:solidFill>
                <a:ea typeface="仿宋_GB2312" pitchFamily="49" charset="-122"/>
              </a:rPr>
              <a:t>0</a:t>
            </a:r>
          </a:p>
        </p:txBody>
      </p:sp>
      <p:graphicFrame>
        <p:nvGraphicFramePr>
          <p:cNvPr id="34854" name="Object 8">
            <a:extLst>
              <a:ext uri="{FF2B5EF4-FFF2-40B4-BE49-F238E27FC236}">
                <a16:creationId xmlns:a16="http://schemas.microsoft.com/office/drawing/2014/main" id="{15E052CC-97DF-4134-95CA-36E45895187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95750" y="4581525"/>
          <a:ext cx="3968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5" name="Equation" r:id="rId21" imgW="47708" imgH="66743" progId="Equation.3">
                  <p:embed/>
                </p:oleObj>
              </mc:Choice>
              <mc:Fallback>
                <p:oleObj name="Equation" r:id="rId21" imgW="47708" imgH="66743" progId="Equation.3">
                  <p:embed/>
                  <p:pic>
                    <p:nvPicPr>
                      <p:cNvPr id="34854" name="Object 8">
                        <a:extLst>
                          <a:ext uri="{FF2B5EF4-FFF2-40B4-BE49-F238E27FC236}">
                            <a16:creationId xmlns:a16="http://schemas.microsoft.com/office/drawing/2014/main" id="{15E052CC-97DF-4134-95CA-36E4589518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4581525"/>
                        <a:ext cx="3968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5" name="Text Box 39">
            <a:extLst>
              <a:ext uri="{FF2B5EF4-FFF2-40B4-BE49-F238E27FC236}">
                <a16:creationId xmlns:a16="http://schemas.microsoft.com/office/drawing/2014/main" id="{46E74D10-E5F5-4CAC-AF0B-0786D9817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3898900"/>
            <a:ext cx="471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i="1">
                <a:solidFill>
                  <a:schemeClr val="bg1"/>
                </a:solidFill>
              </a:rPr>
              <a:t>O</a:t>
            </a:r>
          </a:p>
        </p:txBody>
      </p:sp>
      <p:sp>
        <p:nvSpPr>
          <p:cNvPr id="34856" name="Rectangle 40">
            <a:extLst>
              <a:ext uri="{FF2B5EF4-FFF2-40B4-BE49-F238E27FC236}">
                <a16:creationId xmlns:a16="http://schemas.microsoft.com/office/drawing/2014/main" id="{AC27BA4A-AF29-4309-A0DB-9F6F84366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3714750"/>
            <a:ext cx="1042987" cy="1785938"/>
          </a:xfrm>
          <a:prstGeom prst="rect">
            <a:avLst/>
          </a:prstGeom>
          <a:solidFill>
            <a:srgbClr val="3399FF">
              <a:alpha val="54117"/>
            </a:srgbClr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4857" name="Line 41">
            <a:extLst>
              <a:ext uri="{FF2B5EF4-FFF2-40B4-BE49-F238E27FC236}">
                <a16:creationId xmlns:a16="http://schemas.microsoft.com/office/drawing/2014/main" id="{71753081-3B2F-4F0F-9B3C-91E2BA6CAD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4595813"/>
            <a:ext cx="2808287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663" name="Object 39">
            <a:extLst>
              <a:ext uri="{FF2B5EF4-FFF2-40B4-BE49-F238E27FC236}">
                <a16:creationId xmlns:a16="http://schemas.microsoft.com/office/drawing/2014/main" id="{4D168895-6C8B-47AD-ADAA-402D2022A73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72188" y="2946400"/>
          <a:ext cx="1346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6" name="公式" r:id="rId23" imgW="1266704" imgH="409643" progId="Equation.3">
                  <p:embed/>
                </p:oleObj>
              </mc:Choice>
              <mc:Fallback>
                <p:oleObj name="公式" r:id="rId23" imgW="1266704" imgH="409643" progId="Equation.3">
                  <p:embed/>
                  <p:pic>
                    <p:nvPicPr>
                      <p:cNvPr id="26663" name="Object 39">
                        <a:extLst>
                          <a:ext uri="{FF2B5EF4-FFF2-40B4-BE49-F238E27FC236}">
                            <a16:creationId xmlns:a16="http://schemas.microsoft.com/office/drawing/2014/main" id="{4D168895-6C8B-47AD-ADAA-402D2022A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2946400"/>
                        <a:ext cx="1346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4" name="Object 40">
            <a:extLst>
              <a:ext uri="{FF2B5EF4-FFF2-40B4-BE49-F238E27FC236}">
                <a16:creationId xmlns:a16="http://schemas.microsoft.com/office/drawing/2014/main" id="{C725BE30-E328-424A-A364-BC02F5B546B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28938" y="2786063"/>
          <a:ext cx="220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87" name="公式" r:id="rId25" imgW="2133702" imgH="752543" progId="Equation.3">
                  <p:embed/>
                </p:oleObj>
              </mc:Choice>
              <mc:Fallback>
                <p:oleObj name="公式" r:id="rId25" imgW="2133702" imgH="752543" progId="Equation.3">
                  <p:embed/>
                  <p:pic>
                    <p:nvPicPr>
                      <p:cNvPr id="26664" name="Object 40">
                        <a:extLst>
                          <a:ext uri="{FF2B5EF4-FFF2-40B4-BE49-F238E27FC236}">
                            <a16:creationId xmlns:a16="http://schemas.microsoft.com/office/drawing/2014/main" id="{C725BE30-E328-424A-A364-BC02F5B546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2786063"/>
                        <a:ext cx="220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051">
            <a:extLst>
              <a:ext uri="{FF2B5EF4-FFF2-40B4-BE49-F238E27FC236}">
                <a16:creationId xmlns:a16="http://schemas.microsoft.com/office/drawing/2014/main" id="{D2A6638F-3F9A-42EF-9DEA-25E07C470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4" y="5572125"/>
            <a:ext cx="83839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solidFill>
                  <a:srgbClr val="00FFFF"/>
                </a:solidFill>
                <a:sym typeface="Symbol" panose="05050102010706020507" pitchFamily="18" charset="2"/>
              </a:rPr>
              <a:t> </a:t>
            </a:r>
            <a:r>
              <a:rPr kumimoji="0"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</a:t>
            </a:r>
            <a:r>
              <a:rPr kumimoji="0" lang="zh-CN" altLang="en-US" baseline="-25000" dirty="0">
                <a:solidFill>
                  <a:srgbClr val="FFFF00"/>
                </a:solidFill>
                <a:sym typeface="Symbol" panose="05050102010706020507" pitchFamily="18" charset="2"/>
              </a:rPr>
              <a:t>固 </a:t>
            </a:r>
            <a:r>
              <a:rPr kumimoji="0"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&lt; </a:t>
            </a:r>
            <a:r>
              <a:rPr kumimoji="0" lang="zh-CN" altLang="en-US" baseline="-25000" dirty="0">
                <a:solidFill>
                  <a:srgbClr val="FFFF00"/>
                </a:solidFill>
                <a:sym typeface="Symbol" panose="05050102010706020507" pitchFamily="18" charset="2"/>
              </a:rPr>
              <a:t>液 </a:t>
            </a:r>
            <a:r>
              <a:rPr kumimoji="0" lang="en-US" altLang="zh-CN" dirty="0">
                <a:solidFill>
                  <a:srgbClr val="FFFF00"/>
                </a:solidFill>
                <a:sym typeface="Symbol" panose="05050102010706020507" pitchFamily="18" charset="2"/>
              </a:rPr>
              <a:t>&lt; </a:t>
            </a:r>
            <a:r>
              <a:rPr kumimoji="0" lang="zh-CN" altLang="en-US" baseline="-25000" dirty="0">
                <a:solidFill>
                  <a:srgbClr val="FFFF00"/>
                </a:solidFill>
                <a:sym typeface="Symbol" panose="05050102010706020507" pitchFamily="18" charset="2"/>
              </a:rPr>
              <a:t>气</a:t>
            </a:r>
            <a:r>
              <a:rPr kumimoji="0" lang="zh-CN" altLang="en-US" dirty="0">
                <a:solidFill>
                  <a:schemeClr val="bg1"/>
                </a:solidFill>
                <a:sym typeface="Symbol" panose="05050102010706020507" pitchFamily="18" charset="2"/>
              </a:rPr>
              <a:t>（通过铁轨来判断远处行驶来的火车）</a:t>
            </a:r>
            <a:endParaRPr kumimoji="0" lang="en-US" altLang="zh-CN" dirty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sp>
        <p:nvSpPr>
          <p:cNvPr id="41" name="Text Box 2052">
            <a:extLst>
              <a:ext uri="{FF2B5EF4-FFF2-40B4-BE49-F238E27FC236}">
                <a16:creationId xmlns:a16="http://schemas.microsoft.com/office/drawing/2014/main" id="{E47930C2-328D-493B-9ED2-CB8E36249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6072188"/>
            <a:ext cx="1735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  <a:sym typeface="Symbol" panose="05050102010706020507" pitchFamily="18" charset="2"/>
              </a:rPr>
              <a:t> </a:t>
            </a:r>
            <a:r>
              <a:rPr kumimoji="0" lang="en-US" altLang="zh-CN">
                <a:solidFill>
                  <a:srgbClr val="FFFF00"/>
                </a:solidFill>
                <a:sym typeface="Symbol" panose="05050102010706020507" pitchFamily="18" charset="2"/>
              </a:rPr>
              <a:t> </a:t>
            </a:r>
            <a:r>
              <a:rPr kumimoji="0" lang="zh-CN" altLang="en-US">
                <a:solidFill>
                  <a:srgbClr val="FFFF00"/>
                </a:solidFill>
                <a:sym typeface="Symbol" panose="05050102010706020507" pitchFamily="18" charset="2"/>
              </a:rPr>
              <a:t>则 </a:t>
            </a:r>
          </a:p>
        </p:txBody>
      </p:sp>
      <p:sp>
        <p:nvSpPr>
          <p:cNvPr id="42" name="Text Box 2053">
            <a:extLst>
              <a:ext uri="{FF2B5EF4-FFF2-40B4-BE49-F238E27FC236}">
                <a16:creationId xmlns:a16="http://schemas.microsoft.com/office/drawing/2014/main" id="{0EEC8845-5C98-4213-9D81-F74A29716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6064250"/>
            <a:ext cx="6643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（广场上乐队演奏，在远处只听到大鼓声）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43" name="右箭头 42">
            <a:extLst>
              <a:ext uri="{FF2B5EF4-FFF2-40B4-BE49-F238E27FC236}">
                <a16:creationId xmlns:a16="http://schemas.microsoft.com/office/drawing/2014/main" id="{32D7CC47-9B8E-407D-824A-556997EC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3071813"/>
            <a:ext cx="571500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2325" name="灯片编号占位符 1">
            <a:extLst>
              <a:ext uri="{FF2B5EF4-FFF2-40B4-BE49-F238E27FC236}">
                <a16:creationId xmlns:a16="http://schemas.microsoft.com/office/drawing/2014/main" id="{A6545599-7A3A-45F0-9C1E-D0DA157E6BE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2BE3B6-383E-4391-985D-8D3606CED629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  <p:bldP spid="34821" grpId="0" autoUpdateAnimBg="0"/>
      <p:bldP spid="34822" grpId="0" autoUpdateAnimBg="0"/>
      <p:bldP spid="34827" grpId="0" animBg="1"/>
      <p:bldP spid="34834" grpId="0" autoUpdateAnimBg="0"/>
      <p:bldP spid="34835" grpId="0" animBg="1"/>
      <p:bldP spid="34843" grpId="0" animBg="1" autoUpdateAnimBg="0"/>
      <p:bldP spid="34844" grpId="0" autoUpdateAnimBg="0"/>
      <p:bldP spid="34845" grpId="0" autoUpdateAnimBg="0"/>
      <p:bldP spid="34846" grpId="0" autoUpdateAnimBg="0"/>
      <p:bldP spid="34847" grpId="0" autoUpdateAnimBg="0"/>
      <p:bldP spid="34851" grpId="0" autoUpdateAnimBg="0"/>
      <p:bldP spid="34852" grpId="0" autoUpdateAnimBg="0"/>
      <p:bldP spid="34855" grpId="0" autoUpdateAnimBg="0"/>
      <p:bldP spid="34856" grpId="0" animBg="1"/>
      <p:bldP spid="40" grpId="0" autoUpdateAnimBg="0"/>
      <p:bldP spid="41" grpId="0" autoUpdateAnimBg="0"/>
      <p:bldP spid="42" grpId="0" autoUpdateAnimBg="0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>
            <a:extLst>
              <a:ext uri="{FF2B5EF4-FFF2-40B4-BE49-F238E27FC236}">
                <a16:creationId xmlns:a16="http://schemas.microsoft.com/office/drawing/2014/main" id="{F8FDE87F-8168-489B-85B5-8DB73BB11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79400"/>
            <a:ext cx="80645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一平面简谐波在弹性介质中传播，在某一瞬时，介质中某质元正处于平衡位置，此时它的能量是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8F196390-0586-404E-9976-F7875D36C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328613"/>
            <a:ext cx="82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</a:rPr>
              <a:t>例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BC4B86CE-AEA9-4E1E-8D2D-869C48F91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1844675"/>
            <a:ext cx="512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 </a:t>
            </a:r>
            <a:r>
              <a:rPr lang="zh-CN" altLang="en-US">
                <a:solidFill>
                  <a:schemeClr val="bg1"/>
                </a:solidFill>
              </a:rPr>
              <a:t>动能为零，势能最大。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09572DCC-EEEF-4ECC-9165-D20D75704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2420938"/>
            <a:ext cx="527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zh-CN" altLang="en-US">
                <a:solidFill>
                  <a:schemeClr val="bg1"/>
                </a:solidFill>
              </a:rPr>
              <a:t>动能为零，势能为零。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E9548501-0BCE-489C-ACD7-6C7D0A4D4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2981325"/>
            <a:ext cx="505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 </a:t>
            </a:r>
            <a:r>
              <a:rPr lang="zh-CN" altLang="en-US">
                <a:solidFill>
                  <a:schemeClr val="bg1"/>
                </a:solidFill>
              </a:rPr>
              <a:t>动能最大，势能最大。</a:t>
            </a:r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78B1212A-5CA3-440A-96C3-6F6969348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3544888"/>
            <a:ext cx="512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(4)  </a:t>
            </a:r>
            <a:r>
              <a:rPr lang="zh-CN" altLang="en-US">
                <a:solidFill>
                  <a:schemeClr val="bg1"/>
                </a:solidFill>
              </a:rPr>
              <a:t>动能最大，势能为零。</a:t>
            </a:r>
          </a:p>
        </p:txBody>
      </p:sp>
      <p:sp>
        <p:nvSpPr>
          <p:cNvPr id="46122" name="Rectangle 42">
            <a:extLst>
              <a:ext uri="{FF2B5EF4-FFF2-40B4-BE49-F238E27FC236}">
                <a16:creationId xmlns:a16="http://schemas.microsoft.com/office/drawing/2014/main" id="{091FD7E5-B6E1-42A4-A32C-376685185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3960812" cy="503238"/>
          </a:xfrm>
          <a:prstGeom prst="rect">
            <a:avLst/>
          </a:prstGeom>
          <a:solidFill>
            <a:srgbClr val="00CC99">
              <a:alpha val="4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4345" name="灯片编号占位符 1">
            <a:extLst>
              <a:ext uri="{FF2B5EF4-FFF2-40B4-BE49-F238E27FC236}">
                <a16:creationId xmlns:a16="http://schemas.microsoft.com/office/drawing/2014/main" id="{225C2023-C5FC-4099-95EE-746FD1A3236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151EB53-6586-4DF2-A4EA-B2B619A34CFD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3626DFA3-52E5-451B-AC04-82641E6E67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887941" y="2098677"/>
          <a:ext cx="23606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0" name="公式" r:id="rId3" imgW="2324227" imgH="790507" progId="Equation.3">
                  <p:embed/>
                </p:oleObj>
              </mc:Choice>
              <mc:Fallback>
                <p:oleObj name="公式" r:id="rId3" imgW="2324227" imgH="790507" progId="Equation.3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3626DFA3-52E5-451B-AC04-82641E6E67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7941" y="2098677"/>
                        <a:ext cx="236061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F6D80A48-2C42-4402-BB71-006054F6D4D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881688" y="3161118"/>
          <a:ext cx="23542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1" name="公式" r:id="rId5" imgW="2314441" imgH="790507" progId="Equation.3">
                  <p:embed/>
                </p:oleObj>
              </mc:Choice>
              <mc:Fallback>
                <p:oleObj name="公式" r:id="rId5" imgW="2314441" imgH="790507" progId="Equation.3">
                  <p:embed/>
                  <p:pic>
                    <p:nvPicPr>
                      <p:cNvPr id="11" name="Object 5">
                        <a:extLst>
                          <a:ext uri="{FF2B5EF4-FFF2-40B4-BE49-F238E27FC236}">
                            <a16:creationId xmlns:a16="http://schemas.microsoft.com/office/drawing/2014/main" id="{F6D80A48-2C42-4402-BB71-006054F6D4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3161118"/>
                        <a:ext cx="23542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等于号 20">
            <a:extLst>
              <a:ext uri="{FF2B5EF4-FFF2-40B4-BE49-F238E27FC236}">
                <a16:creationId xmlns:a16="http://schemas.microsoft.com/office/drawing/2014/main" id="{37C41A31-5356-495E-B507-C4E00ABFFCD8}"/>
              </a:ext>
            </a:extLst>
          </p:cNvPr>
          <p:cNvSpPr/>
          <p:nvPr/>
        </p:nvSpPr>
        <p:spPr bwMode="auto">
          <a:xfrm rot="5400000">
            <a:off x="5825332" y="2900567"/>
            <a:ext cx="463550" cy="285750"/>
          </a:xfrm>
          <a:prstGeom prst="mathEqual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4" grpId="0"/>
      <p:bldP spid="46085" grpId="0"/>
      <p:bldP spid="46086" grpId="0"/>
      <p:bldP spid="46087" grpId="0"/>
      <p:bldP spid="461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3">
            <a:extLst>
              <a:ext uri="{FF2B5EF4-FFF2-40B4-BE49-F238E27FC236}">
                <a16:creationId xmlns:a16="http://schemas.microsoft.com/office/drawing/2014/main" id="{9CBC6431-9987-4D5D-9EE5-BA6947566B0A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1533525"/>
            <a:ext cx="1725613" cy="1573213"/>
            <a:chOff x="4202" y="966"/>
            <a:chExt cx="1087" cy="991"/>
          </a:xfrm>
        </p:grpSpPr>
        <p:grpSp>
          <p:nvGrpSpPr>
            <p:cNvPr id="15428" name="Group 3">
              <a:extLst>
                <a:ext uri="{FF2B5EF4-FFF2-40B4-BE49-F238E27FC236}">
                  <a16:creationId xmlns:a16="http://schemas.microsoft.com/office/drawing/2014/main" id="{BE531E95-7887-4064-8CFC-9939ADB59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7" y="966"/>
              <a:ext cx="982" cy="956"/>
              <a:chOff x="3216" y="192"/>
              <a:chExt cx="1344" cy="1296"/>
            </a:xfrm>
          </p:grpSpPr>
          <p:sp>
            <p:nvSpPr>
              <p:cNvPr id="15430" name="Oval 4">
                <a:extLst>
                  <a:ext uri="{FF2B5EF4-FFF2-40B4-BE49-F238E27FC236}">
                    <a16:creationId xmlns:a16="http://schemas.microsoft.com/office/drawing/2014/main" id="{9A325958-DC89-4A2D-B250-B96C2C20F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84"/>
                <a:ext cx="960" cy="912"/>
              </a:xfrm>
              <a:prstGeom prst="ellips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31" name="Oval 5">
                <a:extLst>
                  <a:ext uri="{FF2B5EF4-FFF2-40B4-BE49-F238E27FC236}">
                    <a16:creationId xmlns:a16="http://schemas.microsoft.com/office/drawing/2014/main" id="{D57532CD-6C49-45B1-89F7-975A19B44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576"/>
                <a:ext cx="576" cy="528"/>
              </a:xfrm>
              <a:prstGeom prst="ellips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32" name="Oval 6">
                <a:extLst>
                  <a:ext uri="{FF2B5EF4-FFF2-40B4-BE49-F238E27FC236}">
                    <a16:creationId xmlns:a16="http://schemas.microsoft.com/office/drawing/2014/main" id="{43B53824-2CBC-42FC-9E1B-77A1B9A16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192"/>
                <a:ext cx="1344" cy="1296"/>
              </a:xfrm>
              <a:prstGeom prst="ellips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429" name="Rectangle 7">
              <a:extLst>
                <a:ext uri="{FF2B5EF4-FFF2-40B4-BE49-F238E27FC236}">
                  <a16:creationId xmlns:a16="http://schemas.microsoft.com/office/drawing/2014/main" id="{7E5D298A-286D-4313-82BC-BCA2E655F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966"/>
              <a:ext cx="596" cy="99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6872" name="Rectangle 8" descr="宽下对角线">
            <a:extLst>
              <a:ext uri="{FF2B5EF4-FFF2-40B4-BE49-F238E27FC236}">
                <a16:creationId xmlns:a16="http://schemas.microsoft.com/office/drawing/2014/main" id="{DA7FF162-8886-4FFD-BCA5-E1AB7E1A6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1196975"/>
            <a:ext cx="111125" cy="10668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CD4FF5E4-2912-46F6-8D91-A4F244E62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7888" y="1196975"/>
            <a:ext cx="0" cy="2190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20C9CBCD-E231-4F12-9E66-89078735AA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5638" y="1196975"/>
            <a:ext cx="0" cy="2190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1">
            <a:extLst>
              <a:ext uri="{FF2B5EF4-FFF2-40B4-BE49-F238E27FC236}">
                <a16:creationId xmlns:a16="http://schemas.microsoft.com/office/drawing/2014/main" id="{3109C9F6-D921-4988-93A8-92B163D284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196975"/>
            <a:ext cx="0" cy="2190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Line 12">
            <a:extLst>
              <a:ext uri="{FF2B5EF4-FFF2-40B4-BE49-F238E27FC236}">
                <a16:creationId xmlns:a16="http://schemas.microsoft.com/office/drawing/2014/main" id="{99E89460-81B8-48D8-A885-4236E1F93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9550" y="1196975"/>
            <a:ext cx="0" cy="219075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072C9266-FBDC-43F7-8CD4-11D9CE2F9CE8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1477963"/>
            <a:ext cx="1225550" cy="1685925"/>
            <a:chOff x="288" y="480"/>
            <a:chExt cx="1056" cy="1440"/>
          </a:xfrm>
        </p:grpSpPr>
        <p:sp>
          <p:nvSpPr>
            <p:cNvPr id="15421" name="Line 14">
              <a:extLst>
                <a:ext uri="{FF2B5EF4-FFF2-40B4-BE49-F238E27FC236}">
                  <a16:creationId xmlns:a16="http://schemas.microsoft.com/office/drawing/2014/main" id="{AB70276A-DFBD-40DB-8FEB-5A4641520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20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Line 15">
              <a:extLst>
                <a:ext uri="{FF2B5EF4-FFF2-40B4-BE49-F238E27FC236}">
                  <a16:creationId xmlns:a16="http://schemas.microsoft.com/office/drawing/2014/main" id="{2F06F83F-98AE-498D-9AE0-DCD7D2F0D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44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16">
              <a:extLst>
                <a:ext uri="{FF2B5EF4-FFF2-40B4-BE49-F238E27FC236}">
                  <a16:creationId xmlns:a16="http://schemas.microsoft.com/office/drawing/2014/main" id="{B5204F81-575E-484D-BA7D-E7A34CED1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72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17">
              <a:extLst>
                <a:ext uri="{FF2B5EF4-FFF2-40B4-BE49-F238E27FC236}">
                  <a16:creationId xmlns:a16="http://schemas.microsoft.com/office/drawing/2014/main" id="{15DCFA49-48ED-457D-A0E5-7B704C0F3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96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18">
              <a:extLst>
                <a:ext uri="{FF2B5EF4-FFF2-40B4-BE49-F238E27FC236}">
                  <a16:creationId xmlns:a16="http://schemas.microsoft.com/office/drawing/2014/main" id="{89FA7444-4986-4AA8-9DBB-7799AF0D2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68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19">
              <a:extLst>
                <a:ext uri="{FF2B5EF4-FFF2-40B4-BE49-F238E27FC236}">
                  <a16:creationId xmlns:a16="http://schemas.microsoft.com/office/drawing/2014/main" id="{174CE533-566A-4A34-AF68-EF88D79DA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48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Line 20">
              <a:extLst>
                <a:ext uri="{FF2B5EF4-FFF2-40B4-BE49-F238E27FC236}">
                  <a16:creationId xmlns:a16="http://schemas.microsoft.com/office/drawing/2014/main" id="{4CE9B0A3-89BB-4DE2-A75B-DE701559A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920"/>
              <a:ext cx="1056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45AC60B6-8CD8-403B-90B2-5E19CF734BC4}"/>
              </a:ext>
            </a:extLst>
          </p:cNvPr>
          <p:cNvGrpSpPr>
            <a:grpSpLocks/>
          </p:cNvGrpSpPr>
          <p:nvPr/>
        </p:nvGrpSpPr>
        <p:grpSpPr bwMode="auto">
          <a:xfrm>
            <a:off x="7562850" y="1533525"/>
            <a:ext cx="1112838" cy="1573213"/>
            <a:chOff x="4525" y="852"/>
            <a:chExt cx="851" cy="1191"/>
          </a:xfrm>
        </p:grpSpPr>
        <p:sp>
          <p:nvSpPr>
            <p:cNvPr id="15418" name="Line 22">
              <a:extLst>
                <a:ext uri="{FF2B5EF4-FFF2-40B4-BE49-F238E27FC236}">
                  <a16:creationId xmlns:a16="http://schemas.microsoft.com/office/drawing/2014/main" id="{32EACF89-49EA-4AA5-A3FE-4CD03CFA3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8" y="852"/>
              <a:ext cx="680" cy="59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Line 23">
              <a:extLst>
                <a:ext uri="{FF2B5EF4-FFF2-40B4-BE49-F238E27FC236}">
                  <a16:creationId xmlns:a16="http://schemas.microsoft.com/office/drawing/2014/main" id="{47182FB2-3F38-4483-AD73-CBEE80721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448"/>
              <a:ext cx="680" cy="59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Line 24">
              <a:extLst>
                <a:ext uri="{FF2B5EF4-FFF2-40B4-BE49-F238E27FC236}">
                  <a16:creationId xmlns:a16="http://schemas.microsoft.com/office/drawing/2014/main" id="{429AFC50-0B40-45AC-8B6D-D319E48D6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" y="1448"/>
              <a:ext cx="85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889" name="Rectangle 25" descr="宽下对角线">
            <a:extLst>
              <a:ext uri="{FF2B5EF4-FFF2-40B4-BE49-F238E27FC236}">
                <a16:creationId xmlns:a16="http://schemas.microsoft.com/office/drawing/2014/main" id="{5D4E9057-F9AC-4817-B496-FE732DFD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8" y="2433638"/>
            <a:ext cx="111125" cy="1066800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6890" name="Rectangle 26">
            <a:extLst>
              <a:ext uri="{FF2B5EF4-FFF2-40B4-BE49-F238E27FC236}">
                <a16:creationId xmlns:a16="http://schemas.microsoft.com/office/drawing/2014/main" id="{206817B2-F35B-45AE-B29F-1BFE15072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5060950"/>
            <a:ext cx="31527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知某一时刻波前，可用几何方法决定下一时刻波前；</a:t>
            </a:r>
          </a:p>
        </p:txBody>
      </p:sp>
      <p:sp>
        <p:nvSpPr>
          <p:cNvPr id="36891" name="Rectangle 27">
            <a:extLst>
              <a:ext uri="{FF2B5EF4-FFF2-40B4-BE49-F238E27FC236}">
                <a16:creationId xmlns:a16="http://schemas.microsoft.com/office/drawing/2014/main" id="{A6559D3B-73A7-4F2A-BA5F-E33D7E18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4648200"/>
            <a:ext cx="167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36894" name="Text Box 30">
            <a:extLst>
              <a:ext uri="{FF2B5EF4-FFF2-40B4-BE49-F238E27FC236}">
                <a16:creationId xmlns:a16="http://schemas.microsoft.com/office/drawing/2014/main" id="{EA7BBAF1-0716-46FF-BC4B-D75859D23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88" y="4767263"/>
            <a:ext cx="515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>
                <a:solidFill>
                  <a:schemeClr val="bg1"/>
                </a:solidFill>
              </a:rPr>
              <a:t>S</a:t>
            </a:r>
            <a:r>
              <a:rPr lang="en-US" altLang="zh-CN" sz="20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6895" name="Text Box 31">
            <a:extLst>
              <a:ext uri="{FF2B5EF4-FFF2-40B4-BE49-F238E27FC236}">
                <a16:creationId xmlns:a16="http://schemas.microsoft.com/office/drawing/2014/main" id="{A6D3603C-D95C-475C-B9CA-A96F97353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388" y="4143375"/>
            <a:ext cx="646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>
                <a:solidFill>
                  <a:schemeClr val="bg1"/>
                </a:solidFill>
              </a:rPr>
              <a:t>S</a:t>
            </a:r>
            <a:r>
              <a:rPr lang="en-US" altLang="zh-CN" sz="20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896" name="Text Box 32">
            <a:extLst>
              <a:ext uri="{FF2B5EF4-FFF2-40B4-BE49-F238E27FC236}">
                <a16:creationId xmlns:a16="http://schemas.microsoft.com/office/drawing/2014/main" id="{9DE09763-B068-4104-8518-9F36C3AB7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286375"/>
            <a:ext cx="56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O</a:t>
            </a:r>
            <a:endParaRPr lang="en-US" altLang="zh-CN" baseline="-25000">
              <a:solidFill>
                <a:schemeClr val="bg1"/>
              </a:solidFill>
            </a:endParaRPr>
          </a:p>
        </p:txBody>
      </p:sp>
      <p:graphicFrame>
        <p:nvGraphicFramePr>
          <p:cNvPr id="36897" name="Object 2">
            <a:extLst>
              <a:ext uri="{FF2B5EF4-FFF2-40B4-BE49-F238E27FC236}">
                <a16:creationId xmlns:a16="http://schemas.microsoft.com/office/drawing/2014/main" id="{6EF10512-C2B2-48B7-B31A-85541026A6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8463" y="4216400"/>
          <a:ext cx="3571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4" name="Equation" r:id="rId5" imgW="114376" imgH="171450" progId="Equation.3">
                  <p:embed/>
                </p:oleObj>
              </mc:Choice>
              <mc:Fallback>
                <p:oleObj name="Equation" r:id="rId5" imgW="114376" imgH="171450" progId="Equation.3">
                  <p:embed/>
                  <p:pic>
                    <p:nvPicPr>
                      <p:cNvPr id="36897" name="Object 2">
                        <a:extLst>
                          <a:ext uri="{FF2B5EF4-FFF2-40B4-BE49-F238E27FC236}">
                            <a16:creationId xmlns:a16="http://schemas.microsoft.com/office/drawing/2014/main" id="{6EF10512-C2B2-48B7-B31A-85541026A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4216400"/>
                        <a:ext cx="3571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8" name="Object 3">
            <a:extLst>
              <a:ext uri="{FF2B5EF4-FFF2-40B4-BE49-F238E27FC236}">
                <a16:creationId xmlns:a16="http://schemas.microsoft.com/office/drawing/2014/main" id="{6D98AF77-E38F-4D46-9AC1-991BF355C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8250" y="4314825"/>
          <a:ext cx="431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5" name="Equation" r:id="rId7" imgW="133337" imgH="171450" progId="Equation.3">
                  <p:embed/>
                </p:oleObj>
              </mc:Choice>
              <mc:Fallback>
                <p:oleObj name="Equation" r:id="rId7" imgW="133337" imgH="171450" progId="Equation.3">
                  <p:embed/>
                  <p:pic>
                    <p:nvPicPr>
                      <p:cNvPr id="36898" name="Object 3">
                        <a:extLst>
                          <a:ext uri="{FF2B5EF4-FFF2-40B4-BE49-F238E27FC236}">
                            <a16:creationId xmlns:a16="http://schemas.microsoft.com/office/drawing/2014/main" id="{6D98AF77-E38F-4D46-9AC1-991BF355C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4314825"/>
                        <a:ext cx="4318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99" name="Object 4">
            <a:extLst>
              <a:ext uri="{FF2B5EF4-FFF2-40B4-BE49-F238E27FC236}">
                <a16:creationId xmlns:a16="http://schemas.microsoft.com/office/drawing/2014/main" id="{D064C128-37F5-48D0-97DB-A99A6A130D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7050" y="6143625"/>
          <a:ext cx="2000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6" name="Equation" r:id="rId9" imgW="38227" imgH="104707" progId="Equation.3">
                  <p:embed/>
                </p:oleObj>
              </mc:Choice>
              <mc:Fallback>
                <p:oleObj name="Equation" r:id="rId9" imgW="38227" imgH="104707" progId="Equation.3">
                  <p:embed/>
                  <p:pic>
                    <p:nvPicPr>
                      <p:cNvPr id="36899" name="Object 4">
                        <a:extLst>
                          <a:ext uri="{FF2B5EF4-FFF2-40B4-BE49-F238E27FC236}">
                            <a16:creationId xmlns:a16="http://schemas.microsoft.com/office/drawing/2014/main" id="{D064C128-37F5-48D0-97DB-A99A6A130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050" y="6143625"/>
                        <a:ext cx="20002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0" name="Object 5">
            <a:extLst>
              <a:ext uri="{FF2B5EF4-FFF2-40B4-BE49-F238E27FC236}">
                <a16:creationId xmlns:a16="http://schemas.microsoft.com/office/drawing/2014/main" id="{68188A25-A8D4-4C5E-ADAC-E07B332649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2850" y="6143625"/>
          <a:ext cx="6270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7" name="Equation" r:id="rId11" imgW="333343" imgH="133486" progId="Equation.3">
                  <p:embed/>
                </p:oleObj>
              </mc:Choice>
              <mc:Fallback>
                <p:oleObj name="Equation" r:id="rId11" imgW="333343" imgH="133486" progId="Equation.3">
                  <p:embed/>
                  <p:pic>
                    <p:nvPicPr>
                      <p:cNvPr id="36900" name="Object 5">
                        <a:extLst>
                          <a:ext uri="{FF2B5EF4-FFF2-40B4-BE49-F238E27FC236}">
                            <a16:creationId xmlns:a16="http://schemas.microsoft.com/office/drawing/2014/main" id="{68188A25-A8D4-4C5E-ADAC-E07B332649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6143625"/>
                        <a:ext cx="6270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7">
            <a:extLst>
              <a:ext uri="{FF2B5EF4-FFF2-40B4-BE49-F238E27FC236}">
                <a16:creationId xmlns:a16="http://schemas.microsoft.com/office/drawing/2014/main" id="{5DFA8B0C-E8EB-45D1-B990-B794877B778B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4776788"/>
            <a:ext cx="438150" cy="1262062"/>
            <a:chOff x="2900" y="2979"/>
            <a:chExt cx="276" cy="795"/>
          </a:xfrm>
        </p:grpSpPr>
        <p:sp>
          <p:nvSpPr>
            <p:cNvPr id="15413" name="Line 38">
              <a:extLst>
                <a:ext uri="{FF2B5EF4-FFF2-40B4-BE49-F238E27FC236}">
                  <a16:creationId xmlns:a16="http://schemas.microsoft.com/office/drawing/2014/main" id="{9C5D15E3-5AE8-4E77-8F21-29B4FAAC0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2979"/>
              <a:ext cx="276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4" name="Line 39">
              <a:extLst>
                <a:ext uri="{FF2B5EF4-FFF2-40B4-BE49-F238E27FC236}">
                  <a16:creationId xmlns:a16="http://schemas.microsoft.com/office/drawing/2014/main" id="{EC738583-AB4D-43A8-B392-771CF63FB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377"/>
              <a:ext cx="276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5" name="Line 40">
              <a:extLst>
                <a:ext uri="{FF2B5EF4-FFF2-40B4-BE49-F238E27FC236}">
                  <a16:creationId xmlns:a16="http://schemas.microsoft.com/office/drawing/2014/main" id="{7D5B1F5C-4915-409E-97C2-94F3392C2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586"/>
              <a:ext cx="276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6" name="Line 41">
              <a:extLst>
                <a:ext uri="{FF2B5EF4-FFF2-40B4-BE49-F238E27FC236}">
                  <a16:creationId xmlns:a16="http://schemas.microsoft.com/office/drawing/2014/main" id="{45D7661C-8A80-4BCA-A6DE-138EB2E2D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774"/>
              <a:ext cx="276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7" name="Line 42">
              <a:extLst>
                <a:ext uri="{FF2B5EF4-FFF2-40B4-BE49-F238E27FC236}">
                  <a16:creationId xmlns:a16="http://schemas.microsoft.com/office/drawing/2014/main" id="{13426091-1518-4DC0-AB74-DE854E3F1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0" y="3184"/>
              <a:ext cx="276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08" name="Rectangle 44">
            <a:extLst>
              <a:ext uri="{FF2B5EF4-FFF2-40B4-BE49-F238E27FC236}">
                <a16:creationId xmlns:a16="http://schemas.microsoft.com/office/drawing/2014/main" id="{8650710C-9B33-43AF-83F9-746766039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3" y="160338"/>
            <a:ext cx="44862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3000">
                <a:solidFill>
                  <a:srgbClr val="00FF00"/>
                </a:solidFill>
                <a:ea typeface="黑体" panose="02010609060101010101" pitchFamily="49" charset="-122"/>
              </a:rPr>
              <a:t>§13.4   </a:t>
            </a:r>
            <a:r>
              <a:rPr lang="zh-CN" altLang="en-US" sz="3000">
                <a:solidFill>
                  <a:srgbClr val="00FF00"/>
                </a:solidFill>
                <a:ea typeface="黑体" panose="02010609060101010101" pitchFamily="49" charset="-122"/>
              </a:rPr>
              <a:t>惠更斯原理</a:t>
            </a:r>
          </a:p>
        </p:txBody>
      </p:sp>
      <p:sp>
        <p:nvSpPr>
          <p:cNvPr id="36909" name="Rectangle 45">
            <a:extLst>
              <a:ext uri="{FF2B5EF4-FFF2-40B4-BE49-F238E27FC236}">
                <a16:creationId xmlns:a16="http://schemas.microsoft.com/office/drawing/2014/main" id="{700BCD6F-F7C0-4BDE-9970-94A8155D5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714375"/>
            <a:ext cx="59912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1690</a:t>
            </a:r>
            <a:r>
              <a:rPr lang="zh-CN" altLang="en-US">
                <a:solidFill>
                  <a:schemeClr val="bg1"/>
                </a:solidFill>
              </a:rPr>
              <a:t>年，荷兰物理学家惠更斯提出：</a:t>
            </a:r>
          </a:p>
        </p:txBody>
      </p:sp>
      <p:sp>
        <p:nvSpPr>
          <p:cNvPr id="36910" name="Rectangle 46">
            <a:extLst>
              <a:ext uri="{FF2B5EF4-FFF2-40B4-BE49-F238E27FC236}">
                <a16:creationId xmlns:a16="http://schemas.microsoft.com/office/drawing/2014/main" id="{081370E7-4337-4758-AFC1-D58FB66BA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196975"/>
            <a:ext cx="48180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1325" indent="-441325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00FFFF"/>
                </a:solidFill>
              </a:rPr>
              <a:t>(1) </a:t>
            </a:r>
            <a:r>
              <a:rPr lang="zh-CN" altLang="en-US">
                <a:solidFill>
                  <a:srgbClr val="00FFFF"/>
                </a:solidFill>
              </a:rPr>
              <a:t>行进中的波面上任意一点都可看作是新的子波源；</a:t>
            </a:r>
          </a:p>
        </p:txBody>
      </p:sp>
      <p:sp>
        <p:nvSpPr>
          <p:cNvPr id="36911" name="Rectangle 47">
            <a:extLst>
              <a:ext uri="{FF2B5EF4-FFF2-40B4-BE49-F238E27FC236}">
                <a16:creationId xmlns:a16="http://schemas.microsoft.com/office/drawing/2014/main" id="{97E4292B-4CAD-48BD-9371-77F76FE58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86100"/>
            <a:ext cx="481806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00FFFF"/>
                </a:solidFill>
              </a:rPr>
              <a:t>(3) </a:t>
            </a:r>
            <a:r>
              <a:rPr lang="zh-CN" altLang="en-US">
                <a:solidFill>
                  <a:srgbClr val="00FFFF"/>
                </a:solidFill>
              </a:rPr>
              <a:t>各个子波所形成的包络面，就是原波面在一定时间内所传播到的新波面。</a:t>
            </a:r>
          </a:p>
        </p:txBody>
      </p:sp>
      <p:sp>
        <p:nvSpPr>
          <p:cNvPr id="36912" name="Rectangle 48">
            <a:extLst>
              <a:ext uri="{FF2B5EF4-FFF2-40B4-BE49-F238E27FC236}">
                <a16:creationId xmlns:a16="http://schemas.microsoft.com/office/drawing/2014/main" id="{7F4359AD-66FB-4136-85CD-006A00A34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71700"/>
            <a:ext cx="4673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00FFFF"/>
                </a:solidFill>
              </a:rPr>
              <a:t>(2) </a:t>
            </a:r>
            <a:r>
              <a:rPr lang="zh-CN" altLang="en-US">
                <a:solidFill>
                  <a:srgbClr val="00FFFF"/>
                </a:solidFill>
              </a:rPr>
              <a:t>所有子波源各自向外发出许多子波；</a:t>
            </a:r>
          </a:p>
        </p:txBody>
      </p:sp>
      <p:sp>
        <p:nvSpPr>
          <p:cNvPr id="36914" name="AutoShape 50">
            <a:extLst>
              <a:ext uri="{FF2B5EF4-FFF2-40B4-BE49-F238E27FC236}">
                <a16:creationId xmlns:a16="http://schemas.microsoft.com/office/drawing/2014/main" id="{017970A7-B6CC-40A7-B6B5-09A9BE3A9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4586288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7" name="Group 51">
            <a:extLst>
              <a:ext uri="{FF2B5EF4-FFF2-40B4-BE49-F238E27FC236}">
                <a16:creationId xmlns:a16="http://schemas.microsoft.com/office/drawing/2014/main" id="{1AFC4A4A-35EC-41E5-A45D-D2AF011AF668}"/>
              </a:ext>
            </a:extLst>
          </p:cNvPr>
          <p:cNvGrpSpPr>
            <a:grpSpLocks/>
          </p:cNvGrpSpPr>
          <p:nvPr/>
        </p:nvGrpSpPr>
        <p:grpSpPr bwMode="auto">
          <a:xfrm>
            <a:off x="5608638" y="3832225"/>
            <a:ext cx="431800" cy="292100"/>
            <a:chOff x="5012" y="3612"/>
            <a:chExt cx="272" cy="184"/>
          </a:xfrm>
          <a:solidFill>
            <a:srgbClr val="00FF00">
              <a:alpha val="54000"/>
            </a:srgbClr>
          </a:solidFill>
        </p:grpSpPr>
        <p:grpSp>
          <p:nvGrpSpPr>
            <p:cNvPr id="8" name="Group 52">
              <a:extLst>
                <a:ext uri="{FF2B5EF4-FFF2-40B4-BE49-F238E27FC236}">
                  <a16:creationId xmlns:a16="http://schemas.microsoft.com/office/drawing/2014/main" id="{F3B13AE9-DF55-498A-BC90-2E6A89A6B3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0" y="3621"/>
              <a:ext cx="248" cy="175"/>
              <a:chOff x="4958" y="1120"/>
              <a:chExt cx="248" cy="175"/>
            </a:xfrm>
            <a:grpFill/>
          </p:grpSpPr>
          <p:sp>
            <p:nvSpPr>
              <p:cNvPr id="20539" name="AutoShape 53">
                <a:hlinkClick r:id="rId13" action="ppaction://hlinkfile"/>
                <a:extLst>
                  <a:ext uri="{FF2B5EF4-FFF2-40B4-BE49-F238E27FC236}">
                    <a16:creationId xmlns:a16="http://schemas.microsoft.com/office/drawing/2014/main" id="{5E2C5017-D0E8-4BD2-A3A7-4F840BF45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8" y="1120"/>
                <a:ext cx="248" cy="175"/>
              </a:xfrm>
              <a:prstGeom prst="roundRect">
                <a:avLst>
                  <a:gd name="adj" fmla="val 19116"/>
                </a:avLst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40" name="AutoShape 54">
                <a:extLst>
                  <a:ext uri="{FF2B5EF4-FFF2-40B4-BE49-F238E27FC236}">
                    <a16:creationId xmlns:a16="http://schemas.microsoft.com/office/drawing/2014/main" id="{C89F1C33-8806-45F4-9069-B308C1081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1" y="1154"/>
                <a:ext cx="179" cy="104"/>
              </a:xfrm>
              <a:prstGeom prst="roundRect">
                <a:avLst>
                  <a:gd name="adj" fmla="val 22079"/>
                </a:avLst>
              </a:prstGeom>
              <a:grpFill/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41" name="AutoShape 55">
                <a:extLst>
                  <a:ext uri="{FF2B5EF4-FFF2-40B4-BE49-F238E27FC236}">
                    <a16:creationId xmlns:a16="http://schemas.microsoft.com/office/drawing/2014/main" id="{0C8E4304-2F1A-4809-8689-21D13602B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054" y="1174"/>
                <a:ext cx="66" cy="66"/>
              </a:xfrm>
              <a:prstGeom prst="triangle">
                <a:avLst>
                  <a:gd name="adj" fmla="val 50000"/>
                </a:avLst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42" name="Line 56">
                <a:extLst>
                  <a:ext uri="{FF2B5EF4-FFF2-40B4-BE49-F238E27FC236}">
                    <a16:creationId xmlns:a16="http://schemas.microsoft.com/office/drawing/2014/main" id="{E1D64BEE-AC91-4104-A110-5C5C892F3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5" y="1177"/>
                <a:ext cx="0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0538" name="Rectangle 57">
              <a:hlinkClick r:id="rId14" action="ppaction://hlinkfile" tooltip="点击播放动画"/>
              <a:extLst>
                <a:ext uri="{FF2B5EF4-FFF2-40B4-BE49-F238E27FC236}">
                  <a16:creationId xmlns:a16="http://schemas.microsoft.com/office/drawing/2014/main" id="{6978FF48-4345-41E1-B4BC-E89A5726C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2"/>
              <a:ext cx="272" cy="181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kumimoji="0"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6922" name="Oval 58">
            <a:extLst>
              <a:ext uri="{FF2B5EF4-FFF2-40B4-BE49-F238E27FC236}">
                <a16:creationId xmlns:a16="http://schemas.microsoft.com/office/drawing/2014/main" id="{9B6F7259-C4D2-4E12-8B48-F792C94FA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4778375"/>
            <a:ext cx="1006475" cy="1004888"/>
          </a:xfrm>
          <a:prstGeom prst="ellipse">
            <a:avLst/>
          </a:prstGeom>
          <a:noFill/>
          <a:ln w="3810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6923" name="Oval 59">
            <a:extLst>
              <a:ext uri="{FF2B5EF4-FFF2-40B4-BE49-F238E27FC236}">
                <a16:creationId xmlns:a16="http://schemas.microsoft.com/office/drawing/2014/main" id="{FE24935A-026C-4ED8-ACA5-4580E6FC6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4191000"/>
            <a:ext cx="2190750" cy="2190750"/>
          </a:xfrm>
          <a:prstGeom prst="ellipse">
            <a:avLst/>
          </a:prstGeom>
          <a:noFill/>
          <a:ln w="3810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6926" name="Line 62">
            <a:extLst>
              <a:ext uri="{FF2B5EF4-FFF2-40B4-BE49-F238E27FC236}">
                <a16:creationId xmlns:a16="http://schemas.microsoft.com/office/drawing/2014/main" id="{E2B00CF2-B8E6-4464-8964-D6F0F5677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4433888"/>
            <a:ext cx="0" cy="2047875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7" name="Line 63">
            <a:extLst>
              <a:ext uri="{FF2B5EF4-FFF2-40B4-BE49-F238E27FC236}">
                <a16:creationId xmlns:a16="http://schemas.microsoft.com/office/drawing/2014/main" id="{24CBC7AD-193D-4362-8663-8386BE94C0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4863" y="4433888"/>
            <a:ext cx="0" cy="2047875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64">
            <a:extLst>
              <a:ext uri="{FF2B5EF4-FFF2-40B4-BE49-F238E27FC236}">
                <a16:creationId xmlns:a16="http://schemas.microsoft.com/office/drawing/2014/main" id="{4E55C2E5-F681-4889-B2B4-D217B67104D3}"/>
              </a:ext>
            </a:extLst>
          </p:cNvPr>
          <p:cNvGrpSpPr>
            <a:grpSpLocks/>
          </p:cNvGrpSpPr>
          <p:nvPr/>
        </p:nvGrpSpPr>
        <p:grpSpPr bwMode="auto">
          <a:xfrm>
            <a:off x="6207125" y="4224338"/>
            <a:ext cx="2109788" cy="2103437"/>
            <a:chOff x="3910" y="2589"/>
            <a:chExt cx="1329" cy="1325"/>
          </a:xfrm>
        </p:grpSpPr>
        <p:sp>
          <p:nvSpPr>
            <p:cNvPr id="15404" name="Arc 65">
              <a:extLst>
                <a:ext uri="{FF2B5EF4-FFF2-40B4-BE49-F238E27FC236}">
                  <a16:creationId xmlns:a16="http://schemas.microsoft.com/office/drawing/2014/main" id="{3AC2EC7C-328C-4ACB-B26F-CC9B0882983F}"/>
                </a:ext>
              </a:extLst>
            </p:cNvPr>
            <p:cNvSpPr>
              <a:spLocks/>
            </p:cNvSpPr>
            <p:nvPr/>
          </p:nvSpPr>
          <p:spPr bwMode="auto">
            <a:xfrm rot="7543660" flipH="1">
              <a:off x="4295" y="2557"/>
              <a:ext cx="624" cy="687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5" name="Arc 66">
              <a:extLst>
                <a:ext uri="{FF2B5EF4-FFF2-40B4-BE49-F238E27FC236}">
                  <a16:creationId xmlns:a16="http://schemas.microsoft.com/office/drawing/2014/main" id="{18EFB329-8978-47E8-B4F4-05934491236C}"/>
                </a:ext>
              </a:extLst>
            </p:cNvPr>
            <p:cNvSpPr>
              <a:spLocks/>
            </p:cNvSpPr>
            <p:nvPr/>
          </p:nvSpPr>
          <p:spPr bwMode="auto">
            <a:xfrm rot="14961412" flipH="1">
              <a:off x="4542" y="3121"/>
              <a:ext cx="624" cy="687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6" name="Arc 67">
              <a:extLst>
                <a:ext uri="{FF2B5EF4-FFF2-40B4-BE49-F238E27FC236}">
                  <a16:creationId xmlns:a16="http://schemas.microsoft.com/office/drawing/2014/main" id="{7A973CE1-0A9B-48B7-8566-BA562AD3A93A}"/>
                </a:ext>
              </a:extLst>
            </p:cNvPr>
            <p:cNvSpPr>
              <a:spLocks/>
            </p:cNvSpPr>
            <p:nvPr/>
          </p:nvSpPr>
          <p:spPr bwMode="auto">
            <a:xfrm rot="561731" flipH="1">
              <a:off x="3923" y="3053"/>
              <a:ext cx="624" cy="686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7" name="Arc 68">
              <a:extLst>
                <a:ext uri="{FF2B5EF4-FFF2-40B4-BE49-F238E27FC236}">
                  <a16:creationId xmlns:a16="http://schemas.microsoft.com/office/drawing/2014/main" id="{BAA9E9F8-77C8-44E0-AD93-7CDAD527925F}"/>
                </a:ext>
              </a:extLst>
            </p:cNvPr>
            <p:cNvSpPr>
              <a:spLocks/>
            </p:cNvSpPr>
            <p:nvPr/>
          </p:nvSpPr>
          <p:spPr bwMode="auto">
            <a:xfrm rot="20013391" flipH="1">
              <a:off x="4076" y="3213"/>
              <a:ext cx="624" cy="687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8" name="Arc 69">
              <a:extLst>
                <a:ext uri="{FF2B5EF4-FFF2-40B4-BE49-F238E27FC236}">
                  <a16:creationId xmlns:a16="http://schemas.microsoft.com/office/drawing/2014/main" id="{EAD3F9B4-66DC-46C0-AD2C-2C6A2E30AF24}"/>
                </a:ext>
              </a:extLst>
            </p:cNvPr>
            <p:cNvSpPr>
              <a:spLocks/>
            </p:cNvSpPr>
            <p:nvPr/>
          </p:nvSpPr>
          <p:spPr bwMode="auto">
            <a:xfrm rot="2685447" flipH="1">
              <a:off x="3910" y="2836"/>
              <a:ext cx="624" cy="686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9" name="Arc 70">
              <a:extLst>
                <a:ext uri="{FF2B5EF4-FFF2-40B4-BE49-F238E27FC236}">
                  <a16:creationId xmlns:a16="http://schemas.microsoft.com/office/drawing/2014/main" id="{45626CCC-CEFF-4BE2-9E65-E63FE0F65BD1}"/>
                </a:ext>
              </a:extLst>
            </p:cNvPr>
            <p:cNvSpPr>
              <a:spLocks/>
            </p:cNvSpPr>
            <p:nvPr/>
          </p:nvSpPr>
          <p:spPr bwMode="auto">
            <a:xfrm rot="9854458" flipH="1">
              <a:off x="4504" y="2654"/>
              <a:ext cx="624" cy="686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0" name="Arc 71">
              <a:extLst>
                <a:ext uri="{FF2B5EF4-FFF2-40B4-BE49-F238E27FC236}">
                  <a16:creationId xmlns:a16="http://schemas.microsoft.com/office/drawing/2014/main" id="{3255F155-BF1B-4101-9966-65B1E0DE96FE}"/>
                </a:ext>
              </a:extLst>
            </p:cNvPr>
            <p:cNvSpPr>
              <a:spLocks/>
            </p:cNvSpPr>
            <p:nvPr/>
          </p:nvSpPr>
          <p:spPr bwMode="auto">
            <a:xfrm rot="12831138" flipH="1">
              <a:off x="4615" y="2919"/>
              <a:ext cx="624" cy="686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Arc 72">
              <a:extLst>
                <a:ext uri="{FF2B5EF4-FFF2-40B4-BE49-F238E27FC236}">
                  <a16:creationId xmlns:a16="http://schemas.microsoft.com/office/drawing/2014/main" id="{612CE622-4C19-45D4-A9AD-23073768CF50}"/>
                </a:ext>
              </a:extLst>
            </p:cNvPr>
            <p:cNvSpPr>
              <a:spLocks/>
            </p:cNvSpPr>
            <p:nvPr/>
          </p:nvSpPr>
          <p:spPr bwMode="auto">
            <a:xfrm rot="17147607" flipH="1">
              <a:off x="4360" y="3259"/>
              <a:ext cx="624" cy="686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2" name="Arc 73">
              <a:extLst>
                <a:ext uri="{FF2B5EF4-FFF2-40B4-BE49-F238E27FC236}">
                  <a16:creationId xmlns:a16="http://schemas.microsoft.com/office/drawing/2014/main" id="{9B276AAF-6841-4940-9FD4-F4AB4B7FB771}"/>
                </a:ext>
              </a:extLst>
            </p:cNvPr>
            <p:cNvSpPr>
              <a:spLocks/>
            </p:cNvSpPr>
            <p:nvPr/>
          </p:nvSpPr>
          <p:spPr bwMode="auto">
            <a:xfrm rot="5512661" flipH="1">
              <a:off x="4097" y="2598"/>
              <a:ext cx="624" cy="686"/>
            </a:xfrm>
            <a:custGeom>
              <a:avLst/>
              <a:gdLst>
                <a:gd name="T0" fmla="*/ 0 w 41147"/>
                <a:gd name="T1" fmla="*/ 0 h 43200"/>
                <a:gd name="T2" fmla="*/ 0 w 41147"/>
                <a:gd name="T3" fmla="*/ 0 h 43200"/>
                <a:gd name="T4" fmla="*/ 0 w 41147"/>
                <a:gd name="T5" fmla="*/ 0 h 43200"/>
                <a:gd name="T6" fmla="*/ 0 60000 65536"/>
                <a:gd name="T7" fmla="*/ 0 60000 65536"/>
                <a:gd name="T8" fmla="*/ 0 60000 65536"/>
                <a:gd name="T9" fmla="*/ 0 w 41147"/>
                <a:gd name="T10" fmla="*/ 0 h 43200"/>
                <a:gd name="T11" fmla="*/ 41147 w 4114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47" h="43200" fill="none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</a:path>
                <a:path w="41147" h="43200" stroke="0" extrusionOk="0">
                  <a:moveTo>
                    <a:pt x="19546" y="0"/>
                  </a:moveTo>
                  <a:cubicBezTo>
                    <a:pt x="31476" y="0"/>
                    <a:pt x="41147" y="9670"/>
                    <a:pt x="41147" y="21600"/>
                  </a:cubicBezTo>
                  <a:cubicBezTo>
                    <a:pt x="41147" y="33529"/>
                    <a:pt x="31476" y="43200"/>
                    <a:pt x="19547" y="43200"/>
                  </a:cubicBezTo>
                  <a:cubicBezTo>
                    <a:pt x="11177" y="43200"/>
                    <a:pt x="3561" y="38365"/>
                    <a:pt x="0" y="30791"/>
                  </a:cubicBezTo>
                  <a:lnTo>
                    <a:pt x="19547" y="21600"/>
                  </a:lnTo>
                  <a:lnTo>
                    <a:pt x="19546" y="0"/>
                  </a:lnTo>
                  <a:close/>
                </a:path>
              </a:pathLst>
            </a:custGeom>
            <a:noFill/>
            <a:ln w="12700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38" name="Oval 74">
            <a:extLst>
              <a:ext uri="{FF2B5EF4-FFF2-40B4-BE49-F238E27FC236}">
                <a16:creationId xmlns:a16="http://schemas.microsoft.com/office/drawing/2014/main" id="{BDFF59A4-819F-41A0-ADED-A5827B6D12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1063" y="5253038"/>
            <a:ext cx="71437" cy="71437"/>
          </a:xfrm>
          <a:prstGeom prst="ellipse">
            <a:avLst/>
          </a:prstGeom>
          <a:solidFill>
            <a:srgbClr val="FFFF99"/>
          </a:solidFill>
          <a:ln w="9525">
            <a:solidFill>
              <a:srgbClr val="FFFF99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pSp>
        <p:nvGrpSpPr>
          <p:cNvPr id="10" name="Group 75">
            <a:extLst>
              <a:ext uri="{FF2B5EF4-FFF2-40B4-BE49-F238E27FC236}">
                <a16:creationId xmlns:a16="http://schemas.microsoft.com/office/drawing/2014/main" id="{731D1A5C-4FF8-487B-8168-00CF559EF453}"/>
              </a:ext>
            </a:extLst>
          </p:cNvPr>
          <p:cNvGrpSpPr>
            <a:grpSpLocks/>
          </p:cNvGrpSpPr>
          <p:nvPr/>
        </p:nvGrpSpPr>
        <p:grpSpPr bwMode="auto">
          <a:xfrm>
            <a:off x="4632325" y="4427538"/>
            <a:ext cx="328613" cy="2065337"/>
            <a:chOff x="2360" y="2744"/>
            <a:chExt cx="207" cy="1301"/>
          </a:xfrm>
        </p:grpSpPr>
        <p:sp>
          <p:nvSpPr>
            <p:cNvPr id="15397" name="Arc 76">
              <a:extLst>
                <a:ext uri="{FF2B5EF4-FFF2-40B4-BE49-F238E27FC236}">
                  <a16:creationId xmlns:a16="http://schemas.microsoft.com/office/drawing/2014/main" id="{1DA21DEC-6FA2-4D34-AF3C-9B38E0DD6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2744"/>
              <a:ext cx="204" cy="266"/>
            </a:xfrm>
            <a:custGeom>
              <a:avLst/>
              <a:gdLst>
                <a:gd name="T0" fmla="*/ 0 w 21987"/>
                <a:gd name="T1" fmla="*/ 0 h 28433"/>
                <a:gd name="T2" fmla="*/ 0 w 21987"/>
                <a:gd name="T3" fmla="*/ 0 h 28433"/>
                <a:gd name="T4" fmla="*/ 0 w 21987"/>
                <a:gd name="T5" fmla="*/ 0 h 28433"/>
                <a:gd name="T6" fmla="*/ 0 60000 65536"/>
                <a:gd name="T7" fmla="*/ 0 60000 65536"/>
                <a:gd name="T8" fmla="*/ 0 60000 65536"/>
                <a:gd name="T9" fmla="*/ 0 w 21987"/>
                <a:gd name="T10" fmla="*/ 0 h 28433"/>
                <a:gd name="T11" fmla="*/ 21987 w 21987"/>
                <a:gd name="T12" fmla="*/ 28433 h 28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87" h="28433" fill="none" extrusionOk="0">
                  <a:moveTo>
                    <a:pt x="20877" y="0"/>
                  </a:moveTo>
                  <a:cubicBezTo>
                    <a:pt x="21612" y="2203"/>
                    <a:pt x="21987" y="4510"/>
                    <a:pt x="21987" y="6833"/>
                  </a:cubicBezTo>
                  <a:cubicBezTo>
                    <a:pt x="21987" y="18762"/>
                    <a:pt x="12316" y="28433"/>
                    <a:pt x="387" y="28433"/>
                  </a:cubicBezTo>
                  <a:cubicBezTo>
                    <a:pt x="257" y="28433"/>
                    <a:pt x="128" y="28431"/>
                    <a:pt x="0" y="28429"/>
                  </a:cubicBezTo>
                </a:path>
                <a:path w="21987" h="28433" stroke="0" extrusionOk="0">
                  <a:moveTo>
                    <a:pt x="20877" y="0"/>
                  </a:moveTo>
                  <a:cubicBezTo>
                    <a:pt x="21612" y="2203"/>
                    <a:pt x="21987" y="4510"/>
                    <a:pt x="21987" y="6833"/>
                  </a:cubicBezTo>
                  <a:cubicBezTo>
                    <a:pt x="21987" y="18762"/>
                    <a:pt x="12316" y="28433"/>
                    <a:pt x="387" y="28433"/>
                  </a:cubicBezTo>
                  <a:cubicBezTo>
                    <a:pt x="257" y="28433"/>
                    <a:pt x="128" y="28431"/>
                    <a:pt x="0" y="28429"/>
                  </a:cubicBezTo>
                  <a:lnTo>
                    <a:pt x="387" y="6833"/>
                  </a:lnTo>
                  <a:lnTo>
                    <a:pt x="20877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8" name="Arc 77">
              <a:extLst>
                <a:ext uri="{FF2B5EF4-FFF2-40B4-BE49-F238E27FC236}">
                  <a16:creationId xmlns:a16="http://schemas.microsoft.com/office/drawing/2014/main" id="{A41F1669-635A-4DD5-87AA-F3EDFA9B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" y="2786"/>
              <a:ext cx="204" cy="404"/>
            </a:xfrm>
            <a:custGeom>
              <a:avLst/>
              <a:gdLst>
                <a:gd name="T0" fmla="*/ 0 w 21987"/>
                <a:gd name="T1" fmla="*/ 0 h 43200"/>
                <a:gd name="T2" fmla="*/ 0 w 21987"/>
                <a:gd name="T3" fmla="*/ 0 h 43200"/>
                <a:gd name="T4" fmla="*/ 0 w 21987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87"/>
                <a:gd name="T10" fmla="*/ 0 h 43200"/>
                <a:gd name="T11" fmla="*/ 21987 w 2198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87" h="43200" fill="none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</a:path>
                <a:path w="21987" h="43200" stroke="0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  <a:lnTo>
                    <a:pt x="387" y="2160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9" name="Arc 78">
              <a:extLst>
                <a:ext uri="{FF2B5EF4-FFF2-40B4-BE49-F238E27FC236}">
                  <a16:creationId xmlns:a16="http://schemas.microsoft.com/office/drawing/2014/main" id="{69B5850E-4B93-4909-9847-145F66D69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3012"/>
              <a:ext cx="204" cy="404"/>
            </a:xfrm>
            <a:custGeom>
              <a:avLst/>
              <a:gdLst>
                <a:gd name="T0" fmla="*/ 0 w 21987"/>
                <a:gd name="T1" fmla="*/ 0 h 43200"/>
                <a:gd name="T2" fmla="*/ 0 w 21987"/>
                <a:gd name="T3" fmla="*/ 0 h 43200"/>
                <a:gd name="T4" fmla="*/ 0 w 21987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87"/>
                <a:gd name="T10" fmla="*/ 0 h 43200"/>
                <a:gd name="T11" fmla="*/ 21987 w 2198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87" h="43200" fill="none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</a:path>
                <a:path w="21987" h="43200" stroke="0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  <a:lnTo>
                    <a:pt x="387" y="2160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0" name="Arc 79">
              <a:extLst>
                <a:ext uri="{FF2B5EF4-FFF2-40B4-BE49-F238E27FC236}">
                  <a16:creationId xmlns:a16="http://schemas.microsoft.com/office/drawing/2014/main" id="{E3D7FFA8-BFBC-4E2E-8024-315F516AF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3188"/>
              <a:ext cx="204" cy="404"/>
            </a:xfrm>
            <a:custGeom>
              <a:avLst/>
              <a:gdLst>
                <a:gd name="T0" fmla="*/ 0 w 21987"/>
                <a:gd name="T1" fmla="*/ 0 h 43200"/>
                <a:gd name="T2" fmla="*/ 0 w 21987"/>
                <a:gd name="T3" fmla="*/ 0 h 43200"/>
                <a:gd name="T4" fmla="*/ 0 w 21987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87"/>
                <a:gd name="T10" fmla="*/ 0 h 43200"/>
                <a:gd name="T11" fmla="*/ 21987 w 2198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87" h="43200" fill="none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</a:path>
                <a:path w="21987" h="43200" stroke="0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  <a:lnTo>
                    <a:pt x="387" y="2160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1" name="Arc 80">
              <a:extLst>
                <a:ext uri="{FF2B5EF4-FFF2-40B4-BE49-F238E27FC236}">
                  <a16:creationId xmlns:a16="http://schemas.microsoft.com/office/drawing/2014/main" id="{2B4AF120-FED3-44AF-B143-9E9E273D1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" y="3415"/>
              <a:ext cx="204" cy="404"/>
            </a:xfrm>
            <a:custGeom>
              <a:avLst/>
              <a:gdLst>
                <a:gd name="T0" fmla="*/ 0 w 21987"/>
                <a:gd name="T1" fmla="*/ 0 h 43200"/>
                <a:gd name="T2" fmla="*/ 0 w 21987"/>
                <a:gd name="T3" fmla="*/ 0 h 43200"/>
                <a:gd name="T4" fmla="*/ 0 w 21987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87"/>
                <a:gd name="T10" fmla="*/ 0 h 43200"/>
                <a:gd name="T11" fmla="*/ 21987 w 2198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87" h="43200" fill="none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</a:path>
                <a:path w="21987" h="43200" stroke="0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  <a:lnTo>
                    <a:pt x="387" y="2160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2" name="Arc 81">
              <a:extLst>
                <a:ext uri="{FF2B5EF4-FFF2-40B4-BE49-F238E27FC236}">
                  <a16:creationId xmlns:a16="http://schemas.microsoft.com/office/drawing/2014/main" id="{ECBF0E3C-4BA0-4C1B-A5AD-205173BC6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3593"/>
              <a:ext cx="204" cy="404"/>
            </a:xfrm>
            <a:custGeom>
              <a:avLst/>
              <a:gdLst>
                <a:gd name="T0" fmla="*/ 0 w 21987"/>
                <a:gd name="T1" fmla="*/ 0 h 43200"/>
                <a:gd name="T2" fmla="*/ 0 w 21987"/>
                <a:gd name="T3" fmla="*/ 0 h 43200"/>
                <a:gd name="T4" fmla="*/ 0 w 21987"/>
                <a:gd name="T5" fmla="*/ 0 h 43200"/>
                <a:gd name="T6" fmla="*/ 0 60000 65536"/>
                <a:gd name="T7" fmla="*/ 0 60000 65536"/>
                <a:gd name="T8" fmla="*/ 0 60000 65536"/>
                <a:gd name="T9" fmla="*/ 0 w 21987"/>
                <a:gd name="T10" fmla="*/ 0 h 43200"/>
                <a:gd name="T11" fmla="*/ 21987 w 2198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87" h="43200" fill="none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</a:path>
                <a:path w="21987" h="43200" stroke="0" extrusionOk="0">
                  <a:moveTo>
                    <a:pt x="386" y="0"/>
                  </a:moveTo>
                  <a:cubicBezTo>
                    <a:pt x="12316" y="0"/>
                    <a:pt x="21987" y="9670"/>
                    <a:pt x="21987" y="21600"/>
                  </a:cubicBezTo>
                  <a:cubicBezTo>
                    <a:pt x="21987" y="33529"/>
                    <a:pt x="12316" y="43200"/>
                    <a:pt x="387" y="43200"/>
                  </a:cubicBezTo>
                  <a:cubicBezTo>
                    <a:pt x="257" y="43200"/>
                    <a:pt x="128" y="43198"/>
                    <a:pt x="0" y="43196"/>
                  </a:cubicBezTo>
                  <a:lnTo>
                    <a:pt x="387" y="21600"/>
                  </a:lnTo>
                  <a:lnTo>
                    <a:pt x="386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3" name="Arc 82">
              <a:extLst>
                <a:ext uri="{FF2B5EF4-FFF2-40B4-BE49-F238E27FC236}">
                  <a16:creationId xmlns:a16="http://schemas.microsoft.com/office/drawing/2014/main" id="{B7E8FE54-1781-41FD-B6F2-CC012695C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3816"/>
              <a:ext cx="200" cy="229"/>
            </a:xfrm>
            <a:custGeom>
              <a:avLst/>
              <a:gdLst>
                <a:gd name="T0" fmla="*/ 0 w 21600"/>
                <a:gd name="T1" fmla="*/ 0 h 24523"/>
                <a:gd name="T2" fmla="*/ 0 w 21600"/>
                <a:gd name="T3" fmla="*/ 0 h 24523"/>
                <a:gd name="T4" fmla="*/ 0 w 21600"/>
                <a:gd name="T5" fmla="*/ 0 h 245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523"/>
                <a:gd name="T11" fmla="*/ 21600 w 21600"/>
                <a:gd name="T12" fmla="*/ 24523 h 245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52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577"/>
                    <a:pt x="21533" y="23554"/>
                    <a:pt x="21401" y="24523"/>
                  </a:cubicBezTo>
                </a:path>
                <a:path w="21600" h="2452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577"/>
                    <a:pt x="21533" y="23554"/>
                    <a:pt x="21401" y="2452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Rectangle 45">
            <a:extLst>
              <a:ext uri="{FF2B5EF4-FFF2-40B4-BE49-F238E27FC236}">
                <a16:creationId xmlns:a16="http://schemas.microsoft.com/office/drawing/2014/main" id="{A271884D-B057-4604-8F06-D4449114D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3500438"/>
            <a:ext cx="17145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>
                <a:solidFill>
                  <a:schemeClr val="bg1"/>
                </a:solidFill>
              </a:rPr>
              <a:t>衍射现象</a:t>
            </a:r>
          </a:p>
        </p:txBody>
      </p:sp>
      <p:sp>
        <p:nvSpPr>
          <p:cNvPr id="15396" name="灯片编号占位符 1">
            <a:extLst>
              <a:ext uri="{FF2B5EF4-FFF2-40B4-BE49-F238E27FC236}">
                <a16:creationId xmlns:a16="http://schemas.microsoft.com/office/drawing/2014/main" id="{76E3E3EF-1A34-4066-BE1D-7450C6D22B8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E525A3-B1A8-447B-B5F7-E5B919C1BF19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6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3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 animBg="1"/>
      <p:bldP spid="36889" grpId="0" animBg="1"/>
      <p:bldP spid="36890" grpId="0" autoUpdateAnimBg="0"/>
      <p:bldP spid="36891" grpId="0" autoUpdateAnimBg="0"/>
      <p:bldP spid="36894" grpId="0" autoUpdateAnimBg="0"/>
      <p:bldP spid="36896" grpId="0" autoUpdateAnimBg="0"/>
      <p:bldP spid="36908" grpId="0" autoUpdateAnimBg="0"/>
      <p:bldP spid="36909" grpId="0" autoUpdateAnimBg="0"/>
      <p:bldP spid="36910" grpId="0" autoUpdateAnimBg="0"/>
      <p:bldP spid="36911" grpId="0" autoUpdateAnimBg="0"/>
      <p:bldP spid="36912" grpId="0" autoUpdateAnimBg="0"/>
      <p:bldP spid="36914" grpId="0" animBg="1"/>
      <p:bldP spid="36922" grpId="0" animBg="1"/>
      <p:bldP spid="36923" grpId="0" animBg="1"/>
      <p:bldP spid="36938" grpId="0" animBg="1"/>
      <p:bldP spid="8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3">
            <a:extLst>
              <a:ext uri="{FF2B5EF4-FFF2-40B4-BE49-F238E27FC236}">
                <a16:creationId xmlns:a16="http://schemas.microsoft.com/office/drawing/2014/main" id="{00ABD63B-8D42-4D96-8DAB-E63195F95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4510088"/>
            <a:ext cx="43608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不足之处：未涉及振幅，相位等的分布规律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51036AF0-6214-4D44-8106-FFD7FE249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00063"/>
            <a:ext cx="626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解释波的衍射、折射、反射现象</a:t>
            </a:r>
          </a:p>
        </p:txBody>
      </p:sp>
      <p:graphicFrame>
        <p:nvGraphicFramePr>
          <p:cNvPr id="37893" name="Object 2">
            <a:extLst>
              <a:ext uri="{FF2B5EF4-FFF2-40B4-BE49-F238E27FC236}">
                <a16:creationId xmlns:a16="http://schemas.microsoft.com/office/drawing/2014/main" id="{39475F38-BB76-477E-9F01-DA41EAE6D7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785938"/>
          <a:ext cx="24415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2" name="Equation" r:id="rId4" imgW="2390896" imgH="866741" progId="Equation.3">
                  <p:embed/>
                </p:oleObj>
              </mc:Choice>
              <mc:Fallback>
                <p:oleObj name="Equation" r:id="rId4" imgW="2390896" imgH="866741" progId="Equation.3">
                  <p:embed/>
                  <p:pic>
                    <p:nvPicPr>
                      <p:cNvPr id="37893" name="Object 2">
                        <a:extLst>
                          <a:ext uri="{FF2B5EF4-FFF2-40B4-BE49-F238E27FC236}">
                            <a16:creationId xmlns:a16="http://schemas.microsoft.com/office/drawing/2014/main" id="{39475F38-BB76-477E-9F01-DA41EAE6D7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85938"/>
                        <a:ext cx="24415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Oval 6">
            <a:extLst>
              <a:ext uri="{FF2B5EF4-FFF2-40B4-BE49-F238E27FC236}">
                <a16:creationId xmlns:a16="http://schemas.microsoft.com/office/drawing/2014/main" id="{753131E0-CC00-4133-B48F-32A7C6D9C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1987550"/>
            <a:ext cx="2005012" cy="2239963"/>
          </a:xfrm>
          <a:prstGeom prst="ellipse">
            <a:avLst/>
          </a:prstGeom>
          <a:noFill/>
          <a:ln w="19050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821DA497-F1E3-4FFB-8EC7-273C7D9D9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1643063"/>
            <a:ext cx="2803525" cy="1439862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896" name="Oval 8">
            <a:extLst>
              <a:ext uri="{FF2B5EF4-FFF2-40B4-BE49-F238E27FC236}">
                <a16:creationId xmlns:a16="http://schemas.microsoft.com/office/drawing/2014/main" id="{3A58A19F-3E3F-4720-B0D9-B9D81BDDD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2636838"/>
            <a:ext cx="715963" cy="798512"/>
          </a:xfrm>
          <a:prstGeom prst="ellipse">
            <a:avLst/>
          </a:prstGeom>
          <a:noFill/>
          <a:ln w="19050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7416" name="Rectangle 9">
            <a:extLst>
              <a:ext uri="{FF2B5EF4-FFF2-40B4-BE49-F238E27FC236}">
                <a16:creationId xmlns:a16="http://schemas.microsoft.com/office/drawing/2014/main" id="{7BB15603-9216-4FAF-A3E0-F6EB51BCC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2536825"/>
            <a:ext cx="811213" cy="585788"/>
          </a:xfrm>
          <a:prstGeom prst="rect">
            <a:avLst/>
          </a:prstGeom>
          <a:solidFill>
            <a:srgbClr val="003366"/>
          </a:solidFill>
          <a:ln w="28575">
            <a:solidFill>
              <a:srgbClr val="006699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898" name="Oval 10">
            <a:extLst>
              <a:ext uri="{FF2B5EF4-FFF2-40B4-BE49-F238E27FC236}">
                <a16:creationId xmlns:a16="http://schemas.microsoft.com/office/drawing/2014/main" id="{7DB7CE9E-D8DC-4C72-AA52-CB170F49B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2325688"/>
            <a:ext cx="1338263" cy="1493837"/>
          </a:xfrm>
          <a:prstGeom prst="ellipse">
            <a:avLst/>
          </a:prstGeom>
          <a:noFill/>
          <a:ln w="19050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7418" name="Rectangle 11">
            <a:extLst>
              <a:ext uri="{FF2B5EF4-FFF2-40B4-BE49-F238E27FC236}">
                <a16:creationId xmlns:a16="http://schemas.microsoft.com/office/drawing/2014/main" id="{638EDE88-7348-48A4-9A6C-6E103F02C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0" y="2111375"/>
            <a:ext cx="1624013" cy="960438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900" name="Oval 12">
            <a:extLst>
              <a:ext uri="{FF2B5EF4-FFF2-40B4-BE49-F238E27FC236}">
                <a16:creationId xmlns:a16="http://schemas.microsoft.com/office/drawing/2014/main" id="{97FDBEAA-68E4-45B5-BE74-3EE1FFD32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913" y="2636838"/>
            <a:ext cx="715962" cy="798512"/>
          </a:xfrm>
          <a:prstGeom prst="ellipse">
            <a:avLst/>
          </a:prstGeom>
          <a:noFill/>
          <a:ln w="19050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7420" name="Rectangle 13">
            <a:extLst>
              <a:ext uri="{FF2B5EF4-FFF2-40B4-BE49-F238E27FC236}">
                <a16:creationId xmlns:a16="http://schemas.microsoft.com/office/drawing/2014/main" id="{46008355-6801-4BA4-A38C-F9C793BEB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875" y="2560638"/>
            <a:ext cx="811213" cy="585787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902" name="Oval 14">
            <a:extLst>
              <a:ext uri="{FF2B5EF4-FFF2-40B4-BE49-F238E27FC236}">
                <a16:creationId xmlns:a16="http://schemas.microsoft.com/office/drawing/2014/main" id="{2FDC3351-5C76-4C0B-91B1-823125BD8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2338388"/>
            <a:ext cx="1338262" cy="1493837"/>
          </a:xfrm>
          <a:prstGeom prst="ellipse">
            <a:avLst/>
          </a:prstGeom>
          <a:noFill/>
          <a:ln w="19050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7422" name="Rectangle 15">
            <a:extLst>
              <a:ext uri="{FF2B5EF4-FFF2-40B4-BE49-F238E27FC236}">
                <a16:creationId xmlns:a16="http://schemas.microsoft.com/office/drawing/2014/main" id="{EEF94E28-04F5-4CCA-B10A-BBEBBA161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2124075"/>
            <a:ext cx="1624012" cy="960438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904" name="Oval 16">
            <a:extLst>
              <a:ext uri="{FF2B5EF4-FFF2-40B4-BE49-F238E27FC236}">
                <a16:creationId xmlns:a16="http://schemas.microsoft.com/office/drawing/2014/main" id="{ADD1BE86-1ECA-45DD-8D32-F8567339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350" y="2679700"/>
            <a:ext cx="715963" cy="798513"/>
          </a:xfrm>
          <a:prstGeom prst="ellipse">
            <a:avLst/>
          </a:prstGeom>
          <a:solidFill>
            <a:srgbClr val="003366"/>
          </a:solidFill>
          <a:ln w="19050">
            <a:solidFill>
              <a:srgbClr val="FFFF66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7424" name="Rectangle 17">
            <a:extLst>
              <a:ext uri="{FF2B5EF4-FFF2-40B4-BE49-F238E27FC236}">
                <a16:creationId xmlns:a16="http://schemas.microsoft.com/office/drawing/2014/main" id="{6E863A00-DEAA-4221-A7C4-FF4C2E9BD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950" y="2497138"/>
            <a:ext cx="811213" cy="585787"/>
          </a:xfrm>
          <a:prstGeom prst="rect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906" name="Line 18">
            <a:extLst>
              <a:ext uri="{FF2B5EF4-FFF2-40B4-BE49-F238E27FC236}">
                <a16:creationId xmlns:a16="http://schemas.microsoft.com/office/drawing/2014/main" id="{6ABB084A-5EDC-4916-AF19-5C88E3D19D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7300" y="2205038"/>
            <a:ext cx="755650" cy="901700"/>
          </a:xfrm>
          <a:prstGeom prst="line">
            <a:avLst/>
          </a:prstGeom>
          <a:noFill/>
          <a:ln w="1905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6C0A7968-DB38-40AA-8586-8BB42E0D8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088" y="1722438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7908" name="Text Box 20">
            <a:extLst>
              <a:ext uri="{FF2B5EF4-FFF2-40B4-BE49-F238E27FC236}">
                <a16:creationId xmlns:a16="http://schemas.microsoft.com/office/drawing/2014/main" id="{F55C2D87-DFA6-4666-BB19-A3B9337A5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513" y="2865438"/>
            <a:ext cx="36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7909" name="Line 21">
            <a:extLst>
              <a:ext uri="{FF2B5EF4-FFF2-40B4-BE49-F238E27FC236}">
                <a16:creationId xmlns:a16="http://schemas.microsoft.com/office/drawing/2014/main" id="{108E2F3C-D0E6-4A3C-874E-9F0BE4335B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6825" y="2322513"/>
            <a:ext cx="0" cy="1744662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910" name="Object 3">
            <a:extLst>
              <a:ext uri="{FF2B5EF4-FFF2-40B4-BE49-F238E27FC236}">
                <a16:creationId xmlns:a16="http://schemas.microsoft.com/office/drawing/2014/main" id="{F3A9AFA5-78F5-4E09-95F3-001AD8B6C1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8700" y="2489200"/>
          <a:ext cx="1920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3" name="Equation" r:id="rId6" imgW="38227" imgH="114198" progId="Equation.3">
                  <p:embed/>
                </p:oleObj>
              </mc:Choice>
              <mc:Fallback>
                <p:oleObj name="Equation" r:id="rId6" imgW="38227" imgH="114198" progId="Equation.3">
                  <p:embed/>
                  <p:pic>
                    <p:nvPicPr>
                      <p:cNvPr id="37910" name="Object 3">
                        <a:extLst>
                          <a:ext uri="{FF2B5EF4-FFF2-40B4-BE49-F238E27FC236}">
                            <a16:creationId xmlns:a16="http://schemas.microsoft.com/office/drawing/2014/main" id="{F3A9AFA5-78F5-4E09-95F3-001AD8B6C1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2489200"/>
                        <a:ext cx="19208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4">
            <a:extLst>
              <a:ext uri="{FF2B5EF4-FFF2-40B4-BE49-F238E27FC236}">
                <a16:creationId xmlns:a16="http://schemas.microsoft.com/office/drawing/2014/main" id="{7F740077-DCF5-46DA-A8F1-36116564C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3502025"/>
          <a:ext cx="33496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4" name="公式" r:id="rId8" imgW="76149" imgH="114198" progId="Equation.3">
                  <p:embed/>
                </p:oleObj>
              </mc:Choice>
              <mc:Fallback>
                <p:oleObj name="公式" r:id="rId8" imgW="76149" imgH="114198" progId="Equation.3">
                  <p:embed/>
                  <p:pic>
                    <p:nvPicPr>
                      <p:cNvPr id="37911" name="Object 4">
                        <a:extLst>
                          <a:ext uri="{FF2B5EF4-FFF2-40B4-BE49-F238E27FC236}">
                            <a16:creationId xmlns:a16="http://schemas.microsoft.com/office/drawing/2014/main" id="{7F740077-DCF5-46DA-A8F1-36116564C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02025"/>
                        <a:ext cx="334963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>
            <a:extLst>
              <a:ext uri="{FF2B5EF4-FFF2-40B4-BE49-F238E27FC236}">
                <a16:creationId xmlns:a16="http://schemas.microsoft.com/office/drawing/2014/main" id="{79FBE577-680E-469D-ACF1-29BD576915AF}"/>
              </a:ext>
            </a:extLst>
          </p:cNvPr>
          <p:cNvGrpSpPr>
            <a:grpSpLocks/>
          </p:cNvGrpSpPr>
          <p:nvPr/>
        </p:nvGrpSpPr>
        <p:grpSpPr bwMode="auto">
          <a:xfrm>
            <a:off x="5632450" y="2062163"/>
            <a:ext cx="2592388" cy="1038225"/>
            <a:chOff x="3379" y="2187"/>
            <a:chExt cx="1633" cy="654"/>
          </a:xfrm>
        </p:grpSpPr>
        <p:grpSp>
          <p:nvGrpSpPr>
            <p:cNvPr id="17464" name="Group 25">
              <a:extLst>
                <a:ext uri="{FF2B5EF4-FFF2-40B4-BE49-F238E27FC236}">
                  <a16:creationId xmlns:a16="http://schemas.microsoft.com/office/drawing/2014/main" id="{C23CD8EB-E4F0-44BF-8A64-C201AE2C2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9" y="2478"/>
              <a:ext cx="454" cy="363"/>
              <a:chOff x="748" y="3022"/>
              <a:chExt cx="454" cy="363"/>
            </a:xfrm>
          </p:grpSpPr>
          <p:sp>
            <p:nvSpPr>
              <p:cNvPr id="17474" name="Line 26">
                <a:extLst>
                  <a:ext uri="{FF2B5EF4-FFF2-40B4-BE49-F238E27FC236}">
                    <a16:creationId xmlns:a16="http://schemas.microsoft.com/office/drawing/2014/main" id="{0F43D5AE-7918-46CE-AA20-BEB931B90D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3022"/>
                <a:ext cx="454" cy="363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75" name="Line 27">
                <a:extLst>
                  <a:ext uri="{FF2B5EF4-FFF2-40B4-BE49-F238E27FC236}">
                    <a16:creationId xmlns:a16="http://schemas.microsoft.com/office/drawing/2014/main" id="{644DE92E-270D-45B6-AE2A-6724FBA20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6" y="3210"/>
                <a:ext cx="136" cy="109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65" name="Group 28">
              <a:extLst>
                <a:ext uri="{FF2B5EF4-FFF2-40B4-BE49-F238E27FC236}">
                  <a16:creationId xmlns:a16="http://schemas.microsoft.com/office/drawing/2014/main" id="{76E38C26-3A65-4E0C-8643-6317D0A482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2369"/>
              <a:ext cx="566" cy="453"/>
              <a:chOff x="748" y="3022"/>
              <a:chExt cx="454" cy="363"/>
            </a:xfrm>
          </p:grpSpPr>
          <p:sp>
            <p:nvSpPr>
              <p:cNvPr id="17472" name="Line 29">
                <a:extLst>
                  <a:ext uri="{FF2B5EF4-FFF2-40B4-BE49-F238E27FC236}">
                    <a16:creationId xmlns:a16="http://schemas.microsoft.com/office/drawing/2014/main" id="{B4391872-FBA9-492A-8DCF-5C871CECA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3022"/>
                <a:ext cx="454" cy="363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73" name="Line 30">
                <a:extLst>
                  <a:ext uri="{FF2B5EF4-FFF2-40B4-BE49-F238E27FC236}">
                    <a16:creationId xmlns:a16="http://schemas.microsoft.com/office/drawing/2014/main" id="{8A35ED64-32BD-485C-A027-27832F793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6" y="3210"/>
                <a:ext cx="136" cy="109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66" name="Group 31">
              <a:extLst>
                <a:ext uri="{FF2B5EF4-FFF2-40B4-BE49-F238E27FC236}">
                  <a16:creationId xmlns:a16="http://schemas.microsoft.com/office/drawing/2014/main" id="{35933AA0-3D95-4B27-B154-F81F37729B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2187"/>
              <a:ext cx="817" cy="653"/>
              <a:chOff x="748" y="3022"/>
              <a:chExt cx="454" cy="363"/>
            </a:xfrm>
          </p:grpSpPr>
          <p:sp>
            <p:nvSpPr>
              <p:cNvPr id="17470" name="Line 32">
                <a:extLst>
                  <a:ext uri="{FF2B5EF4-FFF2-40B4-BE49-F238E27FC236}">
                    <a16:creationId xmlns:a16="http://schemas.microsoft.com/office/drawing/2014/main" id="{80E13099-4E1D-4F89-A6A3-15EF41E83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3022"/>
                <a:ext cx="454" cy="363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71" name="Line 33">
                <a:extLst>
                  <a:ext uri="{FF2B5EF4-FFF2-40B4-BE49-F238E27FC236}">
                    <a16:creationId xmlns:a16="http://schemas.microsoft.com/office/drawing/2014/main" id="{BFF5335C-2A33-4A0C-9E23-0C22E17C8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6" y="3210"/>
                <a:ext cx="136" cy="109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67" name="Group 34">
              <a:extLst>
                <a:ext uri="{FF2B5EF4-FFF2-40B4-BE49-F238E27FC236}">
                  <a16:creationId xmlns:a16="http://schemas.microsoft.com/office/drawing/2014/main" id="{8298F3CD-C3B8-4521-9BAD-A7BF481C4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8" y="2251"/>
              <a:ext cx="726" cy="575"/>
              <a:chOff x="748" y="3022"/>
              <a:chExt cx="454" cy="363"/>
            </a:xfrm>
          </p:grpSpPr>
          <p:sp>
            <p:nvSpPr>
              <p:cNvPr id="17468" name="Line 35">
                <a:extLst>
                  <a:ext uri="{FF2B5EF4-FFF2-40B4-BE49-F238E27FC236}">
                    <a16:creationId xmlns:a16="http://schemas.microsoft.com/office/drawing/2014/main" id="{EE93C5A0-3EE2-4B44-B739-65964A7C7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8" y="3022"/>
                <a:ext cx="454" cy="363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9" name="Line 36">
                <a:extLst>
                  <a:ext uri="{FF2B5EF4-FFF2-40B4-BE49-F238E27FC236}">
                    <a16:creationId xmlns:a16="http://schemas.microsoft.com/office/drawing/2014/main" id="{96952FD6-C481-46E5-8628-1AC9B88DA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6" y="3210"/>
                <a:ext cx="136" cy="109"/>
              </a:xfrm>
              <a:prstGeom prst="line">
                <a:avLst/>
              </a:prstGeom>
              <a:noFill/>
              <a:ln w="38100">
                <a:solidFill>
                  <a:srgbClr val="99FF66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925" name="Text Box 37">
            <a:extLst>
              <a:ext uri="{FF2B5EF4-FFF2-40B4-BE49-F238E27FC236}">
                <a16:creationId xmlns:a16="http://schemas.microsoft.com/office/drawing/2014/main" id="{6CEB5412-4060-4234-9A2D-D7AC9919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275" y="2713038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7926" name="Line 38">
            <a:extLst>
              <a:ext uri="{FF2B5EF4-FFF2-40B4-BE49-F238E27FC236}">
                <a16:creationId xmlns:a16="http://schemas.microsoft.com/office/drawing/2014/main" id="{61813A1E-F85C-4C4F-B008-652471A8C2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0238" y="2781300"/>
            <a:ext cx="260350" cy="32385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7" name="Line 39">
            <a:extLst>
              <a:ext uri="{FF2B5EF4-FFF2-40B4-BE49-F238E27FC236}">
                <a16:creationId xmlns:a16="http://schemas.microsoft.com/office/drawing/2014/main" id="{594D9F6A-2C1D-4E71-A0D7-E7BBAA60D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2000" y="1917700"/>
            <a:ext cx="250825" cy="30003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8" name="Line 40">
            <a:extLst>
              <a:ext uri="{FF2B5EF4-FFF2-40B4-BE49-F238E27FC236}">
                <a16:creationId xmlns:a16="http://schemas.microsoft.com/office/drawing/2014/main" id="{2FA58A4D-FE24-49DC-99B0-ED9FDBA266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5825" y="2071688"/>
            <a:ext cx="1103313" cy="92075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9" name="Line 41">
            <a:extLst>
              <a:ext uri="{FF2B5EF4-FFF2-40B4-BE49-F238E27FC236}">
                <a16:creationId xmlns:a16="http://schemas.microsoft.com/office/drawing/2014/main" id="{8FB53ADD-BD27-40CD-8606-C030EC9889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2725" y="3111500"/>
            <a:ext cx="1060450" cy="70643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0" name="Line 42">
            <a:extLst>
              <a:ext uri="{FF2B5EF4-FFF2-40B4-BE49-F238E27FC236}">
                <a16:creationId xmlns:a16="http://schemas.microsoft.com/office/drawing/2014/main" id="{196A4481-5E47-498C-A394-0ADFFEAFFD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49888" y="3730625"/>
            <a:ext cx="274637" cy="4572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1" name="Line 43">
            <a:extLst>
              <a:ext uri="{FF2B5EF4-FFF2-40B4-BE49-F238E27FC236}">
                <a16:creationId xmlns:a16="http://schemas.microsoft.com/office/drawing/2014/main" id="{17C78999-B4F3-4226-92EA-1C4F8E5354D5}"/>
              </a:ext>
            </a:extLst>
          </p:cNvPr>
          <p:cNvSpPr>
            <a:spLocks noChangeShapeType="1"/>
          </p:cNvSpPr>
          <p:nvPr/>
        </p:nvSpPr>
        <p:spPr bwMode="auto">
          <a:xfrm rot="-230762">
            <a:off x="5867400" y="4381500"/>
            <a:ext cx="134938" cy="271463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32" name="Text Box 44">
            <a:extLst>
              <a:ext uri="{FF2B5EF4-FFF2-40B4-BE49-F238E27FC236}">
                <a16:creationId xmlns:a16="http://schemas.microsoft.com/office/drawing/2014/main" id="{03B1233E-D5E1-4036-9808-BA69142F5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071563"/>
            <a:ext cx="37623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00FFFF"/>
                </a:solidFill>
                <a:ea typeface="仿宋_GB2312" pitchFamily="49" charset="-122"/>
              </a:rPr>
              <a:t>由几何关系知：</a:t>
            </a:r>
          </a:p>
        </p:txBody>
      </p:sp>
      <p:grpSp>
        <p:nvGrpSpPr>
          <p:cNvPr id="7" name="Group 45">
            <a:extLst>
              <a:ext uri="{FF2B5EF4-FFF2-40B4-BE49-F238E27FC236}">
                <a16:creationId xmlns:a16="http://schemas.microsoft.com/office/drawing/2014/main" id="{BAC51AC4-6297-44BF-81B5-7A5E28CB6D8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267075"/>
            <a:ext cx="1573213" cy="1108075"/>
            <a:chOff x="4272" y="1535"/>
            <a:chExt cx="991" cy="698"/>
          </a:xfrm>
        </p:grpSpPr>
        <p:sp>
          <p:nvSpPr>
            <p:cNvPr id="17461" name="Text Box 46">
              <a:extLst>
                <a:ext uri="{FF2B5EF4-FFF2-40B4-BE49-F238E27FC236}">
                  <a16:creationId xmlns:a16="http://schemas.microsoft.com/office/drawing/2014/main" id="{53C284EE-8237-4E1F-8690-C9A67F022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45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7462" name="Text Box 47">
              <a:extLst>
                <a:ext uri="{FF2B5EF4-FFF2-40B4-BE49-F238E27FC236}">
                  <a16:creationId xmlns:a16="http://schemas.microsoft.com/office/drawing/2014/main" id="{4766E110-3542-454B-8CC2-F9FAFDA60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" y="1727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17463" name="Text Box 48">
              <a:extLst>
                <a:ext uri="{FF2B5EF4-FFF2-40B4-BE49-F238E27FC236}">
                  <a16:creationId xmlns:a16="http://schemas.microsoft.com/office/drawing/2014/main" id="{571FB1E3-A699-4245-8C8E-002F29811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535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bg1"/>
                  </a:solidFill>
                </a:rPr>
                <a:t>F</a:t>
              </a:r>
            </a:p>
          </p:txBody>
        </p:sp>
      </p:grpSp>
      <p:sp>
        <p:nvSpPr>
          <p:cNvPr id="37937" name="Rectangle 49">
            <a:extLst>
              <a:ext uri="{FF2B5EF4-FFF2-40B4-BE49-F238E27FC236}">
                <a16:creationId xmlns:a16="http://schemas.microsoft.com/office/drawing/2014/main" id="{589DD2FB-E118-4DAB-8045-A696C0B9B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52675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938" name="Rectangle 50">
            <a:extLst>
              <a:ext uri="{FF2B5EF4-FFF2-40B4-BE49-F238E27FC236}">
                <a16:creationId xmlns:a16="http://schemas.microsoft.com/office/drawing/2014/main" id="{20830CE4-49BA-4757-B684-02C9E5463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267075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939" name="Rectangle 51">
            <a:extLst>
              <a:ext uri="{FF2B5EF4-FFF2-40B4-BE49-F238E27FC236}">
                <a16:creationId xmlns:a16="http://schemas.microsoft.com/office/drawing/2014/main" id="{8EDF9E2A-C7F9-41D3-B196-880BB4277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0" y="4076700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5000">
                <a:solidFill>
                  <a:schemeClr val="bg1"/>
                </a:solidFill>
              </a:rPr>
              <a:t>2</a:t>
            </a:r>
            <a:r>
              <a:rPr lang="en-US" altLang="zh-CN" sz="2000">
                <a:solidFill>
                  <a:schemeClr val="bg1"/>
                </a:solidFill>
              </a:rPr>
              <a:t>△</a:t>
            </a:r>
            <a:r>
              <a:rPr lang="en-US" altLang="zh-CN" i="1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37940" name="Rectangle 52">
            <a:extLst>
              <a:ext uri="{FF2B5EF4-FFF2-40B4-BE49-F238E27FC236}">
                <a16:creationId xmlns:a16="http://schemas.microsoft.com/office/drawing/2014/main" id="{87DE6F69-F603-4350-BBC4-AB620B99A1B5}"/>
              </a:ext>
            </a:extLst>
          </p:cNvPr>
          <p:cNvSpPr>
            <a:spLocks noChangeArrowheads="1"/>
          </p:cNvSpPr>
          <p:nvPr/>
        </p:nvSpPr>
        <p:spPr bwMode="auto">
          <a:xfrm rot="2212148">
            <a:off x="7308850" y="2205038"/>
            <a:ext cx="150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d </a:t>
            </a:r>
            <a:r>
              <a:rPr lang="en-US" altLang="zh-CN" sz="2000" i="1">
                <a:solidFill>
                  <a:schemeClr val="bg1"/>
                </a:solidFill>
              </a:rPr>
              <a:t>= </a:t>
            </a:r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5000">
                <a:solidFill>
                  <a:schemeClr val="bg1"/>
                </a:solidFill>
              </a:rPr>
              <a:t>1</a:t>
            </a:r>
            <a:r>
              <a:rPr lang="en-US" altLang="zh-CN" sz="2000">
                <a:solidFill>
                  <a:schemeClr val="bg1"/>
                </a:solidFill>
              </a:rPr>
              <a:t>△</a:t>
            </a:r>
            <a:r>
              <a:rPr lang="en-US" altLang="zh-CN" i="1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37948" name="Arc 60">
            <a:extLst>
              <a:ext uri="{FF2B5EF4-FFF2-40B4-BE49-F238E27FC236}">
                <a16:creationId xmlns:a16="http://schemas.microsoft.com/office/drawing/2014/main" id="{330B672E-37F9-4758-A914-FF74D997812B}"/>
              </a:ext>
            </a:extLst>
          </p:cNvPr>
          <p:cNvSpPr>
            <a:spLocks/>
          </p:cNvSpPr>
          <p:nvPr/>
        </p:nvSpPr>
        <p:spPr bwMode="auto">
          <a:xfrm flipH="1">
            <a:off x="6162675" y="2857500"/>
            <a:ext cx="195263" cy="323850"/>
          </a:xfrm>
          <a:custGeom>
            <a:avLst/>
            <a:gdLst>
              <a:gd name="T0" fmla="*/ 0 w 13673"/>
              <a:gd name="T1" fmla="*/ 0 h 21600"/>
              <a:gd name="T2" fmla="*/ 2147483646 w 13673"/>
              <a:gd name="T3" fmla="*/ 2147483646 h 21600"/>
              <a:gd name="T4" fmla="*/ 2147483646 w 13673"/>
              <a:gd name="T5" fmla="*/ 2147483646 h 21600"/>
              <a:gd name="T6" fmla="*/ 0 60000 65536"/>
              <a:gd name="T7" fmla="*/ 0 60000 65536"/>
              <a:gd name="T8" fmla="*/ 0 60000 65536"/>
              <a:gd name="T9" fmla="*/ 0 w 13673"/>
              <a:gd name="T10" fmla="*/ 0 h 21600"/>
              <a:gd name="T11" fmla="*/ 13673 w 1367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73" h="21600" fill="none" extrusionOk="0">
                <a:moveTo>
                  <a:pt x="0" y="0"/>
                </a:moveTo>
                <a:cubicBezTo>
                  <a:pt x="12" y="0"/>
                  <a:pt x="24" y="-1"/>
                  <a:pt x="37" y="0"/>
                </a:cubicBezTo>
                <a:cubicBezTo>
                  <a:pt x="5004" y="0"/>
                  <a:pt x="9820" y="1712"/>
                  <a:pt x="13672" y="4848"/>
                </a:cubicBezTo>
              </a:path>
              <a:path w="13673" h="21600" stroke="0" extrusionOk="0">
                <a:moveTo>
                  <a:pt x="0" y="0"/>
                </a:moveTo>
                <a:cubicBezTo>
                  <a:pt x="12" y="0"/>
                  <a:pt x="24" y="-1"/>
                  <a:pt x="37" y="0"/>
                </a:cubicBezTo>
                <a:cubicBezTo>
                  <a:pt x="5004" y="0"/>
                  <a:pt x="9820" y="1712"/>
                  <a:pt x="13672" y="4848"/>
                </a:cubicBezTo>
                <a:lnTo>
                  <a:pt x="37" y="21600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49" name="Arc 61">
            <a:extLst>
              <a:ext uri="{FF2B5EF4-FFF2-40B4-BE49-F238E27FC236}">
                <a16:creationId xmlns:a16="http://schemas.microsoft.com/office/drawing/2014/main" id="{39687030-3FBF-4B18-A4E3-AC1E0E8C00D2}"/>
              </a:ext>
            </a:extLst>
          </p:cNvPr>
          <p:cNvSpPr>
            <a:spLocks/>
          </p:cNvSpPr>
          <p:nvPr/>
        </p:nvSpPr>
        <p:spPr bwMode="auto">
          <a:xfrm rot="10460764" flipH="1">
            <a:off x="6313488" y="3197225"/>
            <a:ext cx="195262" cy="323850"/>
          </a:xfrm>
          <a:custGeom>
            <a:avLst/>
            <a:gdLst>
              <a:gd name="T0" fmla="*/ 0 w 13673"/>
              <a:gd name="T1" fmla="*/ 0 h 21600"/>
              <a:gd name="T2" fmla="*/ 2147483646 w 13673"/>
              <a:gd name="T3" fmla="*/ 2147483646 h 21600"/>
              <a:gd name="T4" fmla="*/ 2147483646 w 13673"/>
              <a:gd name="T5" fmla="*/ 2147483646 h 21600"/>
              <a:gd name="T6" fmla="*/ 0 60000 65536"/>
              <a:gd name="T7" fmla="*/ 0 60000 65536"/>
              <a:gd name="T8" fmla="*/ 0 60000 65536"/>
              <a:gd name="T9" fmla="*/ 0 w 13673"/>
              <a:gd name="T10" fmla="*/ 0 h 21600"/>
              <a:gd name="T11" fmla="*/ 13673 w 1367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73" h="21600" fill="none" extrusionOk="0">
                <a:moveTo>
                  <a:pt x="0" y="0"/>
                </a:moveTo>
                <a:cubicBezTo>
                  <a:pt x="12" y="0"/>
                  <a:pt x="24" y="-1"/>
                  <a:pt x="37" y="0"/>
                </a:cubicBezTo>
                <a:cubicBezTo>
                  <a:pt x="5004" y="0"/>
                  <a:pt x="9820" y="1712"/>
                  <a:pt x="13672" y="4848"/>
                </a:cubicBezTo>
              </a:path>
              <a:path w="13673" h="21600" stroke="0" extrusionOk="0">
                <a:moveTo>
                  <a:pt x="0" y="0"/>
                </a:moveTo>
                <a:cubicBezTo>
                  <a:pt x="12" y="0"/>
                  <a:pt x="24" y="-1"/>
                  <a:pt x="37" y="0"/>
                </a:cubicBezTo>
                <a:cubicBezTo>
                  <a:pt x="5004" y="0"/>
                  <a:pt x="9820" y="1712"/>
                  <a:pt x="13672" y="4848"/>
                </a:cubicBezTo>
                <a:lnTo>
                  <a:pt x="37" y="21600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50" name="Line 62">
            <a:extLst>
              <a:ext uri="{FF2B5EF4-FFF2-40B4-BE49-F238E27FC236}">
                <a16:creationId xmlns:a16="http://schemas.microsoft.com/office/drawing/2014/main" id="{68C9EA4B-DE8F-4FF0-9405-F59D5ABAF2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1375" y="3103563"/>
            <a:ext cx="2330450" cy="1608137"/>
          </a:xfrm>
          <a:prstGeom prst="line">
            <a:avLst/>
          </a:prstGeom>
          <a:noFill/>
          <a:ln w="1905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63">
            <a:extLst>
              <a:ext uri="{FF2B5EF4-FFF2-40B4-BE49-F238E27FC236}">
                <a16:creationId xmlns:a16="http://schemas.microsoft.com/office/drawing/2014/main" id="{D53C8FD4-C27F-4EF4-BF47-0215092B6DE2}"/>
              </a:ext>
            </a:extLst>
          </p:cNvPr>
          <p:cNvGrpSpPr>
            <a:grpSpLocks/>
          </p:cNvGrpSpPr>
          <p:nvPr/>
        </p:nvGrpSpPr>
        <p:grpSpPr bwMode="auto">
          <a:xfrm>
            <a:off x="6459538" y="3009900"/>
            <a:ext cx="1800225" cy="1544638"/>
            <a:chOff x="4059" y="1349"/>
            <a:chExt cx="1134" cy="973"/>
          </a:xfrm>
        </p:grpSpPr>
        <p:sp>
          <p:nvSpPr>
            <p:cNvPr id="17458" name="Line 64">
              <a:extLst>
                <a:ext uri="{FF2B5EF4-FFF2-40B4-BE49-F238E27FC236}">
                  <a16:creationId xmlns:a16="http://schemas.microsoft.com/office/drawing/2014/main" id="{5931A938-47C6-451A-B33E-4096BEFFE7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799496">
              <a:off x="4868" y="1349"/>
              <a:ext cx="325" cy="932"/>
            </a:xfrm>
            <a:prstGeom prst="line">
              <a:avLst/>
            </a:prstGeom>
            <a:noFill/>
            <a:ln w="38100">
              <a:solidFill>
                <a:srgbClr val="99FF66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Line 65">
              <a:extLst>
                <a:ext uri="{FF2B5EF4-FFF2-40B4-BE49-F238E27FC236}">
                  <a16:creationId xmlns:a16="http://schemas.microsoft.com/office/drawing/2014/main" id="{84DB8850-96CA-4407-BC89-43B407BDA3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73902">
              <a:off x="4479" y="1375"/>
              <a:ext cx="351" cy="938"/>
            </a:xfrm>
            <a:prstGeom prst="line">
              <a:avLst/>
            </a:prstGeom>
            <a:noFill/>
            <a:ln w="38100">
              <a:solidFill>
                <a:srgbClr val="99FF66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Line 66">
              <a:extLst>
                <a:ext uri="{FF2B5EF4-FFF2-40B4-BE49-F238E27FC236}">
                  <a16:creationId xmlns:a16="http://schemas.microsoft.com/office/drawing/2014/main" id="{2484FD98-DC42-4A80-B610-A68C31B0FB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36819">
              <a:off x="4059" y="1389"/>
              <a:ext cx="372" cy="933"/>
            </a:xfrm>
            <a:prstGeom prst="line">
              <a:avLst/>
            </a:prstGeom>
            <a:noFill/>
            <a:ln w="38100">
              <a:solidFill>
                <a:srgbClr val="99FF66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955" name="Line 67">
            <a:extLst>
              <a:ext uri="{FF2B5EF4-FFF2-40B4-BE49-F238E27FC236}">
                <a16:creationId xmlns:a16="http://schemas.microsoft.com/office/drawing/2014/main" id="{2F988931-EF18-427E-ADC5-C8C6002B9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3097213"/>
            <a:ext cx="3470275" cy="0"/>
          </a:xfrm>
          <a:prstGeom prst="line">
            <a:avLst/>
          </a:prstGeom>
          <a:noFill/>
          <a:ln w="381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63" name="Rectangle 75">
            <a:extLst>
              <a:ext uri="{FF2B5EF4-FFF2-40B4-BE49-F238E27FC236}">
                <a16:creationId xmlns:a16="http://schemas.microsoft.com/office/drawing/2014/main" id="{074162DB-C622-4004-BFD3-597CDB7D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303588"/>
            <a:ext cx="1311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反射</a:t>
            </a: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:</a:t>
            </a:r>
            <a:endParaRPr kumimoji="0"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964" name="AutoShape 76">
            <a:hlinkClick r:id="rId10" action="ppaction://hlinkfile" highlightClick="1"/>
            <a:extLst>
              <a:ext uri="{FF2B5EF4-FFF2-40B4-BE49-F238E27FC236}">
                <a16:creationId xmlns:a16="http://schemas.microsoft.com/office/drawing/2014/main" id="{06C10544-6714-42F2-B27C-8B0EF65E5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3354388"/>
            <a:ext cx="431800" cy="360362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7965" name="AutoShape 77">
            <a:hlinkClick r:id="rId11" action="ppaction://hlinkfile" highlightClick="1"/>
            <a:extLst>
              <a:ext uri="{FF2B5EF4-FFF2-40B4-BE49-F238E27FC236}">
                <a16:creationId xmlns:a16="http://schemas.microsoft.com/office/drawing/2014/main" id="{FA92199C-AE03-4C75-9109-4FC8426C5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4581525"/>
            <a:ext cx="431800" cy="360363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64" name="Rectangle 14">
            <a:extLst>
              <a:ext uri="{FF2B5EF4-FFF2-40B4-BE49-F238E27FC236}">
                <a16:creationId xmlns:a16="http://schemas.microsoft.com/office/drawing/2014/main" id="{D891981B-8013-468F-ACC4-4E06AA4B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17145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③</a:t>
            </a: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3AD088E4-5290-4916-8CD2-4774DB7DF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19288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66" name="Rectangle 14">
            <a:extLst>
              <a:ext uri="{FF2B5EF4-FFF2-40B4-BE49-F238E27FC236}">
                <a16:creationId xmlns:a16="http://schemas.microsoft.com/office/drawing/2014/main" id="{51815019-3BD8-43A1-94D7-2A09C43F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21431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①</a:t>
            </a:r>
          </a:p>
        </p:txBody>
      </p:sp>
      <p:sp>
        <p:nvSpPr>
          <p:cNvPr id="67" name="Rectangle 14">
            <a:extLst>
              <a:ext uri="{FF2B5EF4-FFF2-40B4-BE49-F238E27FC236}">
                <a16:creationId xmlns:a16="http://schemas.microsoft.com/office/drawing/2014/main" id="{3100857C-D97C-4882-A946-F9B62D698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15430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④</a:t>
            </a:r>
          </a:p>
        </p:txBody>
      </p:sp>
      <p:sp>
        <p:nvSpPr>
          <p:cNvPr id="17457" name="灯片编号占位符 1">
            <a:extLst>
              <a:ext uri="{FF2B5EF4-FFF2-40B4-BE49-F238E27FC236}">
                <a16:creationId xmlns:a16="http://schemas.microsoft.com/office/drawing/2014/main" id="{074E73F2-F636-4FC0-919E-6FC967D53CA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4F9A08-84BB-4DAC-B2C4-E6195C4B550F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3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3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3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utoUpdateAnimBg="0"/>
      <p:bldP spid="37892" grpId="0" autoUpdateAnimBg="0"/>
      <p:bldP spid="37894" grpId="0" animBg="1"/>
      <p:bldP spid="37896" grpId="0" animBg="1"/>
      <p:bldP spid="37898" grpId="0" animBg="1"/>
      <p:bldP spid="37900" grpId="0" animBg="1"/>
      <p:bldP spid="37902" grpId="0" animBg="1"/>
      <p:bldP spid="37904" grpId="0" animBg="1"/>
      <p:bldP spid="37907" grpId="0" autoUpdateAnimBg="0"/>
      <p:bldP spid="37908" grpId="0" autoUpdateAnimBg="0"/>
      <p:bldP spid="37925" grpId="0" autoUpdateAnimBg="0"/>
      <p:bldP spid="37932" grpId="0" autoUpdateAnimBg="0"/>
      <p:bldP spid="37937" grpId="0" autoUpdateAnimBg="0"/>
      <p:bldP spid="37938" grpId="0" autoUpdateAnimBg="0"/>
      <p:bldP spid="37939" grpId="0" autoUpdateAnimBg="0"/>
      <p:bldP spid="37940" grpId="0" autoUpdateAnimBg="0"/>
      <p:bldP spid="37963" grpId="0"/>
      <p:bldP spid="37964" grpId="0" animBg="1"/>
      <p:bldP spid="37965" grpId="0" animBg="1"/>
      <p:bldP spid="64" grpId="0" autoUpdateAnimBg="0"/>
      <p:bldP spid="65" grpId="0" autoUpdateAnimBg="0"/>
      <p:bldP spid="66" grpId="0" autoUpdateAnimBg="0"/>
      <p:bldP spid="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8C96802-DAD1-45FE-9079-4771F21D1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28613"/>
            <a:ext cx="46958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3000">
                <a:solidFill>
                  <a:srgbClr val="00FF00"/>
                </a:solidFill>
              </a:rPr>
              <a:t>§13.5</a:t>
            </a:r>
            <a:r>
              <a:rPr lang="en-US" altLang="zh-CN" sz="3000">
                <a:solidFill>
                  <a:srgbClr val="00FF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0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波的干涉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1C4BD98-28D6-4528-89FF-135C78FA7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890588"/>
            <a:ext cx="4027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波的传播规律</a:t>
            </a:r>
            <a:endParaRPr lang="zh-CN" altLang="en-US" sz="280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89DE74BA-A156-40D7-852D-D461FCE84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1471613"/>
            <a:ext cx="374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波传播的独立性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10581175-401E-4D58-B0F9-88E3C2BCD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573463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叠加原理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8531542D-A8FD-43D2-B4A6-9C58FCAB6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989138"/>
            <a:ext cx="7888288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当几列波在传播过程中在某一区域相遇后再行分开，各波的传播情况与未相遇一样，仍保持它们各自的</a:t>
            </a: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频率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、</a:t>
            </a: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波长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、</a:t>
            </a: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振动方向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等特性继续沿原来的传播方向前进。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D39E8188-A407-40BC-A1DB-296EB5C37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125913"/>
            <a:ext cx="82153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bg1"/>
                </a:solidFill>
                <a:latin typeface="Bookman Old Style" panose="02050604050505020204" pitchFamily="18" charset="0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在波相遇区域内，任一质点的振动，为各波单独存在时所引起的</a:t>
            </a:r>
            <a:r>
              <a:rPr lang="zh-CN" altLang="en-US" dirty="0">
                <a:solidFill>
                  <a:srgbClr val="00FFFF"/>
                </a:solidFill>
                <a:latin typeface="Bookman Old Style" panose="02050604050505020204" pitchFamily="18" charset="0"/>
              </a:rPr>
              <a:t>振动的合振动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。</a:t>
            </a:r>
          </a:p>
        </p:txBody>
      </p:sp>
      <p:sp>
        <p:nvSpPr>
          <p:cNvPr id="38933" name="Rectangle 21">
            <a:extLst>
              <a:ext uri="{FF2B5EF4-FFF2-40B4-BE49-F238E27FC236}">
                <a16:creationId xmlns:a16="http://schemas.microsoft.com/office/drawing/2014/main" id="{AA737EF4-E267-441C-AEC3-EDB1AD0E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50" y="574992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注意：</a:t>
            </a:r>
          </a:p>
        </p:txBody>
      </p:sp>
      <p:sp>
        <p:nvSpPr>
          <p:cNvPr id="38934" name="Rectangle 22">
            <a:extLst>
              <a:ext uri="{FF2B5EF4-FFF2-40B4-BE49-F238E27FC236}">
                <a16:creationId xmlns:a16="http://schemas.microsoft.com/office/drawing/2014/main" id="{0E5AA8E2-3C26-4149-8AED-A6604E2C1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7" y="5757863"/>
            <a:ext cx="7019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波的叠加原理仅适用于线性波的问题</a:t>
            </a:r>
          </a:p>
        </p:txBody>
      </p:sp>
      <p:sp>
        <p:nvSpPr>
          <p:cNvPr id="38935" name="AutoShape 23">
            <a:hlinkClick r:id="rId3" action="ppaction://hlinkfile" highlightClick="1"/>
            <a:extLst>
              <a:ext uri="{FF2B5EF4-FFF2-40B4-BE49-F238E27FC236}">
                <a16:creationId xmlns:a16="http://schemas.microsoft.com/office/drawing/2014/main" id="{22FBB96C-77C4-41D7-9757-CBAA50979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5300663"/>
            <a:ext cx="431800" cy="360362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67" name="灯片编号占位符 1">
            <a:extLst>
              <a:ext uri="{FF2B5EF4-FFF2-40B4-BE49-F238E27FC236}">
                <a16:creationId xmlns:a16="http://schemas.microsoft.com/office/drawing/2014/main" id="{7963F866-41B9-40E7-BC3A-A4E6158C4CF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2316E8-2BC6-4D49-BE8C-92D71E489E3A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utoUpdateAnimBg="0"/>
      <p:bldP spid="38916" grpId="0" autoUpdateAnimBg="0"/>
      <p:bldP spid="38917" grpId="0" autoUpdateAnimBg="0"/>
      <p:bldP spid="38918" grpId="0" autoUpdateAnimBg="0"/>
      <p:bldP spid="38919" grpId="0" autoUpdateAnimBg="0"/>
      <p:bldP spid="38933" grpId="0" autoUpdateAnimBg="0"/>
      <p:bldP spid="38934" grpId="0" autoUpdateAnimBg="0"/>
      <p:bldP spid="389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49697AA-9635-40CA-84AD-9A197781A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8" y="333375"/>
            <a:ext cx="3122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相干波与相干条件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A13FDC3-36CF-4EF5-840F-689614332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8" y="863600"/>
            <a:ext cx="193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干涉现象 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D1FC20FA-DA75-4E33-A5C3-EC4B5AA47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805488"/>
            <a:ext cx="1641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相干波：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653FEBD4-F28A-42AF-ADD1-8802CD4D7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5072063"/>
            <a:ext cx="2255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相干条件：</a:t>
            </a:r>
          </a:p>
        </p:txBody>
      </p:sp>
      <p:graphicFrame>
        <p:nvGraphicFramePr>
          <p:cNvPr id="21510" name="Object 2">
            <a:extLst>
              <a:ext uri="{FF2B5EF4-FFF2-40B4-BE49-F238E27FC236}">
                <a16:creationId xmlns:a16="http://schemas.microsoft.com/office/drawing/2014/main" id="{CF0D9A59-E82E-49AA-8BC9-A224CF431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8863" y="540702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4" name="Equation" r:id="rId3" imgW="114151" imgH="215619" progId="Equation.3">
                  <p:embed/>
                </p:oleObj>
              </mc:Choice>
              <mc:Fallback>
                <p:oleObj name="Equation" r:id="rId3" imgW="114151" imgH="215619" progId="Equation.3">
                  <p:embed/>
                  <p:pic>
                    <p:nvPicPr>
                      <p:cNvPr id="21510" name="Object 2">
                        <a:extLst>
                          <a:ext uri="{FF2B5EF4-FFF2-40B4-BE49-F238E27FC236}">
                            <a16:creationId xmlns:a16="http://schemas.microsoft.com/office/drawing/2014/main" id="{CF0D9A59-E82E-49AA-8BC9-A224CF431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863" y="540702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Rectangle 7">
            <a:extLst>
              <a:ext uri="{FF2B5EF4-FFF2-40B4-BE49-F238E27FC236}">
                <a16:creationId xmlns:a16="http://schemas.microsoft.com/office/drawing/2014/main" id="{8AB70606-B36A-4755-A0BD-36F9D1881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7588" y="5072063"/>
            <a:ext cx="6316662" cy="4667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FF00"/>
                </a:solidFill>
              </a:rPr>
              <a:t>1, </a:t>
            </a:r>
            <a:r>
              <a:rPr lang="zh-CN" altLang="en-US">
                <a:solidFill>
                  <a:srgbClr val="FFFF00"/>
                </a:solidFill>
              </a:rPr>
              <a:t>频率相同  </a:t>
            </a:r>
            <a:r>
              <a:rPr lang="en-US" altLang="zh-CN">
                <a:solidFill>
                  <a:srgbClr val="FFFF00"/>
                </a:solidFill>
              </a:rPr>
              <a:t>2, </a:t>
            </a:r>
            <a:r>
              <a:rPr lang="zh-CN" altLang="en-US">
                <a:solidFill>
                  <a:srgbClr val="FFFF00"/>
                </a:solidFill>
              </a:rPr>
              <a:t>振动方向相同  </a:t>
            </a:r>
            <a:r>
              <a:rPr lang="en-US" altLang="zh-CN">
                <a:solidFill>
                  <a:srgbClr val="FFFF00"/>
                </a:solidFill>
              </a:rPr>
              <a:t>3, </a:t>
            </a:r>
            <a:r>
              <a:rPr lang="zh-CN" altLang="en-US">
                <a:solidFill>
                  <a:srgbClr val="FFFF00"/>
                </a:solidFill>
              </a:rPr>
              <a:t>相位差恒定</a:t>
            </a:r>
          </a:p>
        </p:txBody>
      </p:sp>
      <p:sp>
        <p:nvSpPr>
          <p:cNvPr id="39944" name="Rectangle 8">
            <a:extLst>
              <a:ext uri="{FF2B5EF4-FFF2-40B4-BE49-F238E27FC236}">
                <a16:creationId xmlns:a16="http://schemas.microsoft.com/office/drawing/2014/main" id="{D3D2BD12-B1C1-4763-B647-2A7E6AEE3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357313"/>
            <a:ext cx="8382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一般情况下，各个波的振动方向和频率均不同，相位关系不确定，叠加的合成波较为复杂。</a:t>
            </a:r>
          </a:p>
        </p:txBody>
      </p:sp>
      <p:sp>
        <p:nvSpPr>
          <p:cNvPr id="39945" name="Rectangle 9">
            <a:extLst>
              <a:ext uri="{FF2B5EF4-FFF2-40B4-BE49-F238E27FC236}">
                <a16:creationId xmlns:a16="http://schemas.microsoft.com/office/drawing/2014/main" id="{71C2EE78-6807-404F-846B-20C65D32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492375"/>
            <a:ext cx="4643438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当两列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或多列</a:t>
            </a:r>
            <a:r>
              <a:rPr lang="en-US" altLang="zh-CN">
                <a:solidFill>
                  <a:schemeClr val="bg1"/>
                </a:solidFill>
              </a:rPr>
              <a:t>) 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相干波叠加的结果，其合振幅 </a:t>
            </a:r>
            <a:r>
              <a:rPr lang="en-US" altLang="zh-CN" i="1">
                <a:solidFill>
                  <a:srgbClr val="00FFFF"/>
                </a:solidFill>
              </a:rPr>
              <a:t>A 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和合强度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00FFFF"/>
                </a:solidFill>
              </a:rPr>
              <a:t>I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将在空间形成一种</a:t>
            </a:r>
            <a:r>
              <a:rPr lang="zh-CN" altLang="en-US">
                <a:solidFill>
                  <a:srgbClr val="FFFF66"/>
                </a:solidFill>
                <a:latin typeface="Bookman Old Style" panose="02050604050505020204" pitchFamily="18" charset="0"/>
              </a:rPr>
              <a:t>稳定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的分布，即某些点上的振动</a:t>
            </a:r>
            <a:r>
              <a:rPr lang="zh-CN" altLang="en-US">
                <a:solidFill>
                  <a:srgbClr val="FFFF66"/>
                </a:solidFill>
                <a:latin typeface="Bookman Old Style" panose="02050604050505020204" pitchFamily="18" charset="0"/>
              </a:rPr>
              <a:t>始终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加强，某些点上的振动</a:t>
            </a:r>
            <a:r>
              <a:rPr lang="zh-CN" altLang="en-US">
                <a:solidFill>
                  <a:srgbClr val="FFFF66"/>
                </a:solidFill>
                <a:latin typeface="Bookman Old Style" panose="02050604050505020204" pitchFamily="18" charset="0"/>
              </a:rPr>
              <a:t>始终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减弱</a:t>
            </a:r>
          </a:p>
        </p:txBody>
      </p:sp>
      <p:sp>
        <p:nvSpPr>
          <p:cNvPr id="39946" name="Rectangle 10">
            <a:extLst>
              <a:ext uri="{FF2B5EF4-FFF2-40B4-BE49-F238E27FC236}">
                <a16:creationId xmlns:a16="http://schemas.microsoft.com/office/drawing/2014/main" id="{957BCAEB-DEBC-4B2D-B8DC-BAC4E31C9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400550"/>
            <a:ext cx="242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66"/>
                </a:solidFill>
              </a:rPr>
              <a:t>—— </a:t>
            </a:r>
            <a:r>
              <a:rPr lang="zh-CN" altLang="en-US">
                <a:solidFill>
                  <a:srgbClr val="FFFF66"/>
                </a:solidFill>
                <a:latin typeface="Bookman Old Style" panose="02050604050505020204" pitchFamily="18" charset="0"/>
              </a:rPr>
              <a:t>波的干涉</a:t>
            </a:r>
          </a:p>
        </p:txBody>
      </p:sp>
      <p:sp>
        <p:nvSpPr>
          <p:cNvPr id="39950" name="Rectangle 14">
            <a:extLst>
              <a:ext uri="{FF2B5EF4-FFF2-40B4-BE49-F238E27FC236}">
                <a16:creationId xmlns:a16="http://schemas.microsoft.com/office/drawing/2014/main" id="{8AD2AA4A-9046-4D87-AB93-6D573382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805488"/>
            <a:ext cx="1909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相干波源：</a:t>
            </a:r>
          </a:p>
        </p:txBody>
      </p:sp>
      <p:sp>
        <p:nvSpPr>
          <p:cNvPr id="39951" name="Rectangle 15">
            <a:extLst>
              <a:ext uri="{FF2B5EF4-FFF2-40B4-BE49-F238E27FC236}">
                <a16:creationId xmlns:a16="http://schemas.microsoft.com/office/drawing/2014/main" id="{E23B3C49-068A-4D7B-824F-7D8C5D48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5824538"/>
            <a:ext cx="362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满足相干条件的波</a:t>
            </a:r>
          </a:p>
        </p:txBody>
      </p:sp>
      <p:sp>
        <p:nvSpPr>
          <p:cNvPr id="39952" name="Rectangle 16">
            <a:extLst>
              <a:ext uri="{FF2B5EF4-FFF2-40B4-BE49-F238E27FC236}">
                <a16:creationId xmlns:a16="http://schemas.microsoft.com/office/drawing/2014/main" id="{E8497E88-2F8B-4894-9A65-98559923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863" y="5805488"/>
            <a:ext cx="279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产生相干波的波源</a:t>
            </a:r>
          </a:p>
        </p:txBody>
      </p:sp>
      <p:pic>
        <p:nvPicPr>
          <p:cNvPr id="18" name="Picture 28" descr="02">
            <a:extLst>
              <a:ext uri="{FF2B5EF4-FFF2-40B4-BE49-F238E27FC236}">
                <a16:creationId xmlns:a16="http://schemas.microsoft.com/office/drawing/2014/main" id="{E933EF14-AC31-4D51-B016-E6692D643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919" y="2311814"/>
            <a:ext cx="3280833" cy="2460625"/>
          </a:xfrm>
          <a:prstGeom prst="rect">
            <a:avLst/>
          </a:prstGeom>
          <a:noFill/>
          <a:ln w="28575">
            <a:solidFill>
              <a:srgbClr val="00FFFF">
                <a:alpha val="39999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21" name="AutoShape 17">
            <a:extLst>
              <a:ext uri="{FF2B5EF4-FFF2-40B4-BE49-F238E27FC236}">
                <a16:creationId xmlns:a16="http://schemas.microsoft.com/office/drawing/2014/main" id="{2422DD87-BE44-49DA-A200-0BEA6D961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084763"/>
            <a:ext cx="360363" cy="358775"/>
          </a:xfrm>
          <a:prstGeom prst="star5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1520" name="灯片编号占位符 1">
            <a:extLst>
              <a:ext uri="{FF2B5EF4-FFF2-40B4-BE49-F238E27FC236}">
                <a16:creationId xmlns:a16="http://schemas.microsoft.com/office/drawing/2014/main" id="{2D0D41CC-4F15-4595-8A34-0FD13C68634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DCE002-0BA3-4F84-8E89-160F1CBFA35B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39" grpId="0" autoUpdateAnimBg="0"/>
      <p:bldP spid="39940" grpId="0" autoUpdateAnimBg="0"/>
      <p:bldP spid="39941" grpId="0" autoUpdateAnimBg="0"/>
      <p:bldP spid="39943" grpId="0" animBg="1" autoUpdateAnimBg="0"/>
      <p:bldP spid="39944" grpId="0" autoUpdateAnimBg="0"/>
      <p:bldP spid="39946" grpId="0" autoUpdateAnimBg="0"/>
      <p:bldP spid="39950" grpId="0" autoUpdateAnimBg="0"/>
      <p:bldP spid="39951" grpId="0" autoUpdateAnimBg="0"/>
      <p:bldP spid="3995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3327AB6-5045-4D39-8D52-888F83BD6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07975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三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干涉规律</a:t>
            </a:r>
          </a:p>
        </p:txBody>
      </p:sp>
      <p:graphicFrame>
        <p:nvGraphicFramePr>
          <p:cNvPr id="40963" name="Object 2">
            <a:extLst>
              <a:ext uri="{FF2B5EF4-FFF2-40B4-BE49-F238E27FC236}">
                <a16:creationId xmlns:a16="http://schemas.microsoft.com/office/drawing/2014/main" id="{9FF0E068-1500-4860-94B2-02CB282BC7E6}"/>
              </a:ext>
            </a:extLst>
          </p:cNvPr>
          <p:cNvGraphicFramePr>
            <a:graphicFrameLocks/>
          </p:cNvGraphicFramePr>
          <p:nvPr/>
        </p:nvGraphicFramePr>
        <p:xfrm>
          <a:off x="1403350" y="860425"/>
          <a:ext cx="28654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8" name="Equation" r:id="rId3" imgW="2819349" imgH="380864" progId="Equation.3">
                  <p:embed/>
                </p:oleObj>
              </mc:Choice>
              <mc:Fallback>
                <p:oleObj name="Equation" r:id="rId3" imgW="2819349" imgH="380864" progId="Equation.3">
                  <p:embed/>
                  <p:pic>
                    <p:nvPicPr>
                      <p:cNvPr id="40963" name="Object 2">
                        <a:extLst>
                          <a:ext uri="{FF2B5EF4-FFF2-40B4-BE49-F238E27FC236}">
                            <a16:creationId xmlns:a16="http://schemas.microsoft.com/office/drawing/2014/main" id="{9FF0E068-1500-4860-94B2-02CB282BC7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60425"/>
                        <a:ext cx="28654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3">
            <a:extLst>
              <a:ext uri="{FF2B5EF4-FFF2-40B4-BE49-F238E27FC236}">
                <a16:creationId xmlns:a16="http://schemas.microsoft.com/office/drawing/2014/main" id="{19A34F7B-65EA-4D9C-AB1C-0AA22EB2FC98}"/>
              </a:ext>
            </a:extLst>
          </p:cNvPr>
          <p:cNvGraphicFramePr>
            <a:graphicFrameLocks/>
          </p:cNvGraphicFramePr>
          <p:nvPr/>
        </p:nvGraphicFramePr>
        <p:xfrm>
          <a:off x="1549400" y="1976438"/>
          <a:ext cx="37353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09" name="Equation" r:id="rId5" imgW="3686041" imgH="781016" progId="Equation.3">
                  <p:embed/>
                </p:oleObj>
              </mc:Choice>
              <mc:Fallback>
                <p:oleObj name="Equation" r:id="rId5" imgW="3686041" imgH="781016" progId="Equation.3">
                  <p:embed/>
                  <p:pic>
                    <p:nvPicPr>
                      <p:cNvPr id="40964" name="Object 3">
                        <a:extLst>
                          <a:ext uri="{FF2B5EF4-FFF2-40B4-BE49-F238E27FC236}">
                            <a16:creationId xmlns:a16="http://schemas.microsoft.com/office/drawing/2014/main" id="{19A34F7B-65EA-4D9C-AB1C-0AA22EB2FC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976438"/>
                        <a:ext cx="37353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4">
            <a:extLst>
              <a:ext uri="{FF2B5EF4-FFF2-40B4-BE49-F238E27FC236}">
                <a16:creationId xmlns:a16="http://schemas.microsoft.com/office/drawing/2014/main" id="{A2BC0F5F-6D42-4954-B021-B15252AD1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7363" y="5053013"/>
          <a:ext cx="65182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0" name="Equation" r:id="rId7" imgW="6439027" imgH="781016" progId="Equation.3">
                  <p:embed/>
                </p:oleObj>
              </mc:Choice>
              <mc:Fallback>
                <p:oleObj name="Equation" r:id="rId7" imgW="6439027" imgH="781016" progId="Equation.3">
                  <p:embed/>
                  <p:pic>
                    <p:nvPicPr>
                      <p:cNvPr id="40965" name="Object 4">
                        <a:extLst>
                          <a:ext uri="{FF2B5EF4-FFF2-40B4-BE49-F238E27FC236}">
                            <a16:creationId xmlns:a16="http://schemas.microsoft.com/office/drawing/2014/main" id="{A2BC0F5F-6D42-4954-B021-B15252AD1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5053013"/>
                        <a:ext cx="6518275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5">
            <a:extLst>
              <a:ext uri="{FF2B5EF4-FFF2-40B4-BE49-F238E27FC236}">
                <a16:creationId xmlns:a16="http://schemas.microsoft.com/office/drawing/2014/main" id="{28559F97-33B1-4072-9997-F36D17EDFF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149725"/>
          <a:ext cx="37719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1" name="公式" r:id="rId9" imgW="3733749" imgH="371373" progId="Equation.3">
                  <p:embed/>
                </p:oleObj>
              </mc:Choice>
              <mc:Fallback>
                <p:oleObj name="公式" r:id="rId9" imgW="3733749" imgH="371373" progId="Equation.3">
                  <p:embed/>
                  <p:pic>
                    <p:nvPicPr>
                      <p:cNvPr id="40966" name="Object 5">
                        <a:extLst>
                          <a:ext uri="{FF2B5EF4-FFF2-40B4-BE49-F238E27FC236}">
                            <a16:creationId xmlns:a16="http://schemas.microsoft.com/office/drawing/2014/main" id="{28559F97-33B1-4072-9997-F36D17EDFF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149725"/>
                        <a:ext cx="37719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Text Box 7">
            <a:extLst>
              <a:ext uri="{FF2B5EF4-FFF2-40B4-BE49-F238E27FC236}">
                <a16:creationId xmlns:a16="http://schemas.microsoft.com/office/drawing/2014/main" id="{E1C20FC4-2083-410F-8BFE-91B7562BA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76638"/>
            <a:ext cx="589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Bookman Old Style" panose="02050604050505020204" pitchFamily="18" charset="0"/>
              </a:rPr>
              <a:t>根据叠加原理，</a:t>
            </a:r>
            <a:r>
              <a:rPr lang="en-US" altLang="zh-CN" i="1">
                <a:solidFill>
                  <a:srgbClr val="FFFF00"/>
                </a:solidFill>
              </a:rPr>
              <a:t>P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点的合振动方程</a:t>
            </a:r>
          </a:p>
        </p:txBody>
      </p:sp>
      <p:graphicFrame>
        <p:nvGraphicFramePr>
          <p:cNvPr id="40968" name="Object 6">
            <a:extLst>
              <a:ext uri="{FF2B5EF4-FFF2-40B4-BE49-F238E27FC236}">
                <a16:creationId xmlns:a16="http://schemas.microsoft.com/office/drawing/2014/main" id="{9A2E8682-B74D-4153-8A4C-9F9FE1E9B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1650" y="1268413"/>
          <a:ext cx="3111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2" name="Equation" r:id="rId11" imgW="76149" imgH="171450" progId="Equation.3">
                  <p:embed/>
                </p:oleObj>
              </mc:Choice>
              <mc:Fallback>
                <p:oleObj name="Equation" r:id="rId11" imgW="76149" imgH="171450" progId="Equation.3">
                  <p:embed/>
                  <p:pic>
                    <p:nvPicPr>
                      <p:cNvPr id="40968" name="Object 6">
                        <a:extLst>
                          <a:ext uri="{FF2B5EF4-FFF2-40B4-BE49-F238E27FC236}">
                            <a16:creationId xmlns:a16="http://schemas.microsoft.com/office/drawing/2014/main" id="{9A2E8682-B74D-4153-8A4C-9F9FE1E9B3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1268413"/>
                        <a:ext cx="3111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7">
            <a:extLst>
              <a:ext uri="{FF2B5EF4-FFF2-40B4-BE49-F238E27FC236}">
                <a16:creationId xmlns:a16="http://schemas.microsoft.com/office/drawing/2014/main" id="{FBE83F2D-FCE7-47DA-BBD5-B52AE5A0B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2128838"/>
          <a:ext cx="3952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3" name="Equation" r:id="rId13" imgW="95110" imgH="171450" progId="Equation.3">
                  <p:embed/>
                </p:oleObj>
              </mc:Choice>
              <mc:Fallback>
                <p:oleObj name="Equation" r:id="rId13" imgW="95110" imgH="171450" progId="Equation.3">
                  <p:embed/>
                  <p:pic>
                    <p:nvPicPr>
                      <p:cNvPr id="40969" name="Object 7">
                        <a:extLst>
                          <a:ext uri="{FF2B5EF4-FFF2-40B4-BE49-F238E27FC236}">
                            <a16:creationId xmlns:a16="http://schemas.microsoft.com/office/drawing/2014/main" id="{FBE83F2D-FCE7-47DA-BBD5-B52AE5A0BB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128838"/>
                        <a:ext cx="3952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Line 10">
            <a:extLst>
              <a:ext uri="{FF2B5EF4-FFF2-40B4-BE49-F238E27FC236}">
                <a16:creationId xmlns:a16="http://schemas.microsoft.com/office/drawing/2014/main" id="{52A7C5C4-DB3D-4006-849C-290DD9E821DB}"/>
              </a:ext>
            </a:extLst>
          </p:cNvPr>
          <p:cNvSpPr>
            <a:spLocks noChangeShapeType="1"/>
          </p:cNvSpPr>
          <p:nvPr/>
        </p:nvSpPr>
        <p:spPr bwMode="auto">
          <a:xfrm rot="1117454" flipV="1">
            <a:off x="6454775" y="1293813"/>
            <a:ext cx="1524000" cy="92551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Line 11">
            <a:extLst>
              <a:ext uri="{FF2B5EF4-FFF2-40B4-BE49-F238E27FC236}">
                <a16:creationId xmlns:a16="http://schemas.microsoft.com/office/drawing/2014/main" id="{C08B9392-1F5E-4719-97D6-2A3F94557072}"/>
              </a:ext>
            </a:extLst>
          </p:cNvPr>
          <p:cNvSpPr>
            <a:spLocks noChangeShapeType="1"/>
          </p:cNvSpPr>
          <p:nvPr/>
        </p:nvSpPr>
        <p:spPr bwMode="auto">
          <a:xfrm rot="1115349" flipV="1">
            <a:off x="6577013" y="1300163"/>
            <a:ext cx="1309687" cy="1624012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972" name="Object 8">
            <a:extLst>
              <a:ext uri="{FF2B5EF4-FFF2-40B4-BE49-F238E27FC236}">
                <a16:creationId xmlns:a16="http://schemas.microsoft.com/office/drawing/2014/main" id="{C96F4AD1-3E5D-48EE-B02F-1CAEC6AC8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4238" y="1674813"/>
          <a:ext cx="328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4" name="Equation" r:id="rId15" imgW="114376" imgH="171450" progId="Equation.3">
                  <p:embed/>
                </p:oleObj>
              </mc:Choice>
              <mc:Fallback>
                <p:oleObj name="Equation" r:id="rId15" imgW="114376" imgH="171450" progId="Equation.3">
                  <p:embed/>
                  <p:pic>
                    <p:nvPicPr>
                      <p:cNvPr id="40972" name="Object 8">
                        <a:extLst>
                          <a:ext uri="{FF2B5EF4-FFF2-40B4-BE49-F238E27FC236}">
                            <a16:creationId xmlns:a16="http://schemas.microsoft.com/office/drawing/2014/main" id="{C96F4AD1-3E5D-48EE-B02F-1CAEC6AC8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4238" y="1674813"/>
                        <a:ext cx="3286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3" name="Oval 13">
            <a:extLst>
              <a:ext uri="{FF2B5EF4-FFF2-40B4-BE49-F238E27FC236}">
                <a16:creationId xmlns:a16="http://schemas.microsoft.com/office/drawing/2014/main" id="{C63A83D1-4393-4DC0-81EF-228BB5C98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1879600"/>
            <a:ext cx="149225" cy="152400"/>
          </a:xfrm>
          <a:prstGeom prst="ellipse">
            <a:avLst/>
          </a:prstGeom>
          <a:solidFill>
            <a:srgbClr val="00FF00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0974" name="Object 9">
            <a:extLst>
              <a:ext uri="{FF2B5EF4-FFF2-40B4-BE49-F238E27FC236}">
                <a16:creationId xmlns:a16="http://schemas.microsoft.com/office/drawing/2014/main" id="{E349AB2F-B4FD-4DA2-ABC6-BCC1EF922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9788" y="2360613"/>
          <a:ext cx="39528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5" name="Equation" r:id="rId17" imgW="133337" imgH="171450" progId="Equation.3">
                  <p:embed/>
                </p:oleObj>
              </mc:Choice>
              <mc:Fallback>
                <p:oleObj name="Equation" r:id="rId17" imgW="133337" imgH="171450" progId="Equation.3">
                  <p:embed/>
                  <p:pic>
                    <p:nvPicPr>
                      <p:cNvPr id="40974" name="Object 9">
                        <a:extLst>
                          <a:ext uri="{FF2B5EF4-FFF2-40B4-BE49-F238E27FC236}">
                            <a16:creationId xmlns:a16="http://schemas.microsoft.com/office/drawing/2014/main" id="{E349AB2F-B4FD-4DA2-ABC6-BCC1EF922E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8" y="2360613"/>
                        <a:ext cx="39528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Oval 15">
            <a:extLst>
              <a:ext uri="{FF2B5EF4-FFF2-40B4-BE49-F238E27FC236}">
                <a16:creationId xmlns:a16="http://schemas.microsoft.com/office/drawing/2014/main" id="{23A14DD5-EA25-4920-BF46-D5CBF67D6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2565400"/>
            <a:ext cx="149225" cy="152400"/>
          </a:xfrm>
          <a:prstGeom prst="ellipse">
            <a:avLst/>
          </a:prstGeom>
          <a:solidFill>
            <a:srgbClr val="66FF33"/>
          </a:solidFill>
          <a:ln w="63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0976" name="Text Box 16">
            <a:extLst>
              <a:ext uri="{FF2B5EF4-FFF2-40B4-BE49-F238E27FC236}">
                <a16:creationId xmlns:a16="http://schemas.microsoft.com/office/drawing/2014/main" id="{11112B3D-15C0-4D6F-9471-A05DB5E4B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822325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S</a:t>
            </a:r>
            <a:r>
              <a:rPr lang="en-US" altLang="zh-CN" sz="2800" baseline="-25000">
                <a:solidFill>
                  <a:schemeClr val="bg1"/>
                </a:solidFill>
              </a:rPr>
              <a:t>1</a:t>
            </a:r>
            <a:r>
              <a:rPr lang="zh-CN" altLang="en-US" sz="280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40977" name="Text Box 17">
            <a:extLst>
              <a:ext uri="{FF2B5EF4-FFF2-40B4-BE49-F238E27FC236}">
                <a16:creationId xmlns:a16="http://schemas.microsoft.com/office/drawing/2014/main" id="{5C6D1125-430E-4151-AA52-789F6389F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12875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S</a:t>
            </a:r>
            <a:r>
              <a:rPr lang="en-US" altLang="zh-CN" sz="2800" baseline="-25000">
                <a:solidFill>
                  <a:schemeClr val="bg1"/>
                </a:solidFill>
              </a:rPr>
              <a:t>2</a:t>
            </a:r>
            <a:r>
              <a:rPr lang="zh-CN" altLang="en-US" sz="280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22546" name="Rectangle 18">
            <a:extLst>
              <a:ext uri="{FF2B5EF4-FFF2-40B4-BE49-F238E27FC236}">
                <a16:creationId xmlns:a16="http://schemas.microsoft.com/office/drawing/2014/main" id="{557426E2-4070-47EB-97A6-0BCB7CEEC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8" y="2047875"/>
            <a:ext cx="727392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0979" name="Object 10">
            <a:extLst>
              <a:ext uri="{FF2B5EF4-FFF2-40B4-BE49-F238E27FC236}">
                <a16:creationId xmlns:a16="http://schemas.microsoft.com/office/drawing/2014/main" id="{8668C544-5DD1-4D94-8400-4021E6AABBF5}"/>
              </a:ext>
            </a:extLst>
          </p:cNvPr>
          <p:cNvGraphicFramePr>
            <a:graphicFrameLocks/>
          </p:cNvGraphicFramePr>
          <p:nvPr/>
        </p:nvGraphicFramePr>
        <p:xfrm>
          <a:off x="1547813" y="2738438"/>
          <a:ext cx="3886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6" name="Equation" r:id="rId19" imgW="3838645" imgH="781016" progId="Equation.3">
                  <p:embed/>
                </p:oleObj>
              </mc:Choice>
              <mc:Fallback>
                <p:oleObj name="Equation" r:id="rId19" imgW="3838645" imgH="781016" progId="Equation.3">
                  <p:embed/>
                  <p:pic>
                    <p:nvPicPr>
                      <p:cNvPr id="40979" name="Object 10">
                        <a:extLst>
                          <a:ext uri="{FF2B5EF4-FFF2-40B4-BE49-F238E27FC236}">
                            <a16:creationId xmlns:a16="http://schemas.microsoft.com/office/drawing/2014/main" id="{8668C544-5DD1-4D94-8400-4021E6AABB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738438"/>
                        <a:ext cx="3886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Rectangle 20">
            <a:extLst>
              <a:ext uri="{FF2B5EF4-FFF2-40B4-BE49-F238E27FC236}">
                <a16:creationId xmlns:a16="http://schemas.microsoft.com/office/drawing/2014/main" id="{DBB32DC9-E958-4A01-A59B-258868C01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627563"/>
            <a:ext cx="302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latin typeface="Bookman Old Style" panose="02050604050505020204" pitchFamily="18" charset="0"/>
              </a:rPr>
              <a:t>• </a:t>
            </a: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合振动的振幅</a:t>
            </a:r>
          </a:p>
        </p:txBody>
      </p:sp>
      <p:sp>
        <p:nvSpPr>
          <p:cNvPr id="40981" name="Oval 21">
            <a:extLst>
              <a:ext uri="{FF2B5EF4-FFF2-40B4-BE49-F238E27FC236}">
                <a16:creationId xmlns:a16="http://schemas.microsoft.com/office/drawing/2014/main" id="{B97E1CE6-6264-4074-A4B5-2C130AE56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0850" y="1446213"/>
            <a:ext cx="152400" cy="15240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0982" name="Object 11">
            <a:extLst>
              <a:ext uri="{FF2B5EF4-FFF2-40B4-BE49-F238E27FC236}">
                <a16:creationId xmlns:a16="http://schemas.microsoft.com/office/drawing/2014/main" id="{484F2990-1617-4C44-BC2D-3C3D61DC4B23}"/>
              </a:ext>
            </a:extLst>
          </p:cNvPr>
          <p:cNvGraphicFramePr>
            <a:graphicFrameLocks/>
          </p:cNvGraphicFramePr>
          <p:nvPr/>
        </p:nvGraphicFramePr>
        <p:xfrm>
          <a:off x="1403350" y="1470025"/>
          <a:ext cx="29654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7" name="Equation" r:id="rId21" imgW="2924245" imgH="380864" progId="Equation.3">
                  <p:embed/>
                </p:oleObj>
              </mc:Choice>
              <mc:Fallback>
                <p:oleObj name="Equation" r:id="rId21" imgW="2924245" imgH="380864" progId="Equation.3">
                  <p:embed/>
                  <p:pic>
                    <p:nvPicPr>
                      <p:cNvPr id="40982" name="Object 11">
                        <a:extLst>
                          <a:ext uri="{FF2B5EF4-FFF2-40B4-BE49-F238E27FC236}">
                            <a16:creationId xmlns:a16="http://schemas.microsoft.com/office/drawing/2014/main" id="{484F2990-1617-4C44-BC2D-3C3D61DC4B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470025"/>
                        <a:ext cx="29654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Text Box 23">
            <a:extLst>
              <a:ext uri="{FF2B5EF4-FFF2-40B4-BE49-F238E27FC236}">
                <a16:creationId xmlns:a16="http://schemas.microsoft.com/office/drawing/2014/main" id="{0A7B0269-998D-4D29-937C-7D41947C1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3160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0984" name="Text Box 24">
            <a:extLst>
              <a:ext uri="{FF2B5EF4-FFF2-40B4-BE49-F238E27FC236}">
                <a16:creationId xmlns:a16="http://schemas.microsoft.com/office/drawing/2014/main" id="{9E79491E-4AB9-4F0E-8326-1F0A1891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20503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P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27" name="AutoShape 28">
            <a:extLst>
              <a:ext uri="{FF2B5EF4-FFF2-40B4-BE49-F238E27FC236}">
                <a16:creationId xmlns:a16="http://schemas.microsoft.com/office/drawing/2014/main" id="{59218F66-328E-4C30-9240-493AA41A6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450850"/>
            <a:ext cx="4248150" cy="817563"/>
          </a:xfrm>
          <a:prstGeom prst="wedgeRectCallout">
            <a:avLst>
              <a:gd name="adj1" fmla="val -60366"/>
              <a:gd name="adj2" fmla="val 57769"/>
            </a:avLst>
          </a:prstGeom>
          <a:solidFill>
            <a:schemeClr val="accent1"/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满足相干条件（频率相同、振动方向相同、相位差恒定）</a:t>
            </a: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38401EBE-35DD-418B-ADE4-65A4F68D6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300" y="5881688"/>
            <a:ext cx="2016125" cy="6477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9" name="Object 27">
            <a:extLst>
              <a:ext uri="{FF2B5EF4-FFF2-40B4-BE49-F238E27FC236}">
                <a16:creationId xmlns:a16="http://schemas.microsoft.com/office/drawing/2014/main" id="{18EA7571-7031-4AA2-B07A-7537C15FB9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5625" y="5989638"/>
          <a:ext cx="3721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8" name="公式" r:id="rId23" imgW="3676561" imgH="409643" progId="Equation.3">
                  <p:embed/>
                </p:oleObj>
              </mc:Choice>
              <mc:Fallback>
                <p:oleObj name="公式" r:id="rId23" imgW="3676561" imgH="409643" progId="Equation.3">
                  <p:embed/>
                  <p:pic>
                    <p:nvPicPr>
                      <p:cNvPr id="29" name="Object 27">
                        <a:extLst>
                          <a:ext uri="{FF2B5EF4-FFF2-40B4-BE49-F238E27FC236}">
                            <a16:creationId xmlns:a16="http://schemas.microsoft.com/office/drawing/2014/main" id="{18EA7571-7031-4AA2-B07A-7537C15FB9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5989638"/>
                        <a:ext cx="3721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27">
            <a:extLst>
              <a:ext uri="{FF2B5EF4-FFF2-40B4-BE49-F238E27FC236}">
                <a16:creationId xmlns:a16="http://schemas.microsoft.com/office/drawing/2014/main" id="{E842FDFE-F5DB-4FAF-B0C0-9C3EE4D2D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6000750"/>
            <a:ext cx="287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rgbClr val="FFFF00"/>
                </a:solidFill>
              </a:rPr>
              <a:t>•</a:t>
            </a:r>
            <a:r>
              <a:rPr kumimoji="0" lang="en-US" altLang="zh-CN" i="1">
                <a:solidFill>
                  <a:srgbClr val="FFFF00"/>
                </a:solidFill>
              </a:rPr>
              <a:t> P </a:t>
            </a:r>
            <a:r>
              <a:rPr kumimoji="0" lang="zh-CN" altLang="en-US">
                <a:solidFill>
                  <a:srgbClr val="FFFF00"/>
                </a:solidFill>
              </a:rPr>
              <a:t>点处波的强度</a:t>
            </a:r>
          </a:p>
        </p:txBody>
      </p:sp>
      <p:sp>
        <p:nvSpPr>
          <p:cNvPr id="31" name="AutoShape 29">
            <a:extLst>
              <a:ext uri="{FF2B5EF4-FFF2-40B4-BE49-F238E27FC236}">
                <a16:creationId xmlns:a16="http://schemas.microsoft.com/office/drawing/2014/main" id="{8C6CD64B-686F-4D26-83CC-125059CE3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5954713"/>
            <a:ext cx="1331913" cy="504825"/>
          </a:xfrm>
          <a:prstGeom prst="wedgeRectCallout">
            <a:avLst>
              <a:gd name="adj1" fmla="val -93028"/>
              <a:gd name="adj2" fmla="val -28931"/>
            </a:avLst>
          </a:prstGeom>
          <a:solidFill>
            <a:schemeClr val="accent1"/>
          </a:solidFill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r>
              <a:rPr kumimoji="0"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干涉项</a:t>
            </a:r>
          </a:p>
        </p:txBody>
      </p:sp>
      <p:sp>
        <p:nvSpPr>
          <p:cNvPr id="22558" name="灯片编号占位符 1">
            <a:extLst>
              <a:ext uri="{FF2B5EF4-FFF2-40B4-BE49-F238E27FC236}">
                <a16:creationId xmlns:a16="http://schemas.microsoft.com/office/drawing/2014/main" id="{8EF7E8BF-DAAF-4EA4-ADC4-E966A6BF95E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647754-BD02-4AA6-B6A4-E8355614267F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7" grpId="0" autoUpdateAnimBg="0"/>
      <p:bldP spid="40973" grpId="0" animBg="1"/>
      <p:bldP spid="40975" grpId="0" animBg="1"/>
      <p:bldP spid="40976" grpId="0" autoUpdateAnimBg="0"/>
      <p:bldP spid="40977" grpId="0" autoUpdateAnimBg="0"/>
      <p:bldP spid="40980" grpId="0" autoUpdateAnimBg="0"/>
      <p:bldP spid="40981" grpId="0" animBg="1"/>
      <p:bldP spid="40983" grpId="0" autoUpdateAnimBg="0"/>
      <p:bldP spid="40984" grpId="0" autoUpdateAnimBg="0"/>
      <p:bldP spid="27" grpId="0" animBg="1"/>
      <p:bldP spid="28" grpId="0" animBg="1"/>
      <p:bldP spid="30" grpId="0" autoUpdateAnimBg="0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>
            <a:extLst>
              <a:ext uri="{FF2B5EF4-FFF2-40B4-BE49-F238E27FC236}">
                <a16:creationId xmlns:a16="http://schemas.microsoft.com/office/drawing/2014/main" id="{2B37F1DF-76E9-42DA-9D8B-402539772D5C}"/>
              </a:ext>
            </a:extLst>
          </p:cNvPr>
          <p:cNvGraphicFramePr>
            <a:graphicFrameLocks/>
          </p:cNvGraphicFramePr>
          <p:nvPr/>
        </p:nvGraphicFramePr>
        <p:xfrm>
          <a:off x="1285875" y="1714500"/>
          <a:ext cx="705326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6" name="公式" r:id="rId3" imgW="7029565" imgH="781016" progId="Equation.3">
                  <p:embed/>
                </p:oleObj>
              </mc:Choice>
              <mc:Fallback>
                <p:oleObj name="公式" r:id="rId3" imgW="7029565" imgH="781016" progId="Equation.3">
                  <p:embed/>
                  <p:pic>
                    <p:nvPicPr>
                      <p:cNvPr id="41986" name="Object 2">
                        <a:extLst>
                          <a:ext uri="{FF2B5EF4-FFF2-40B4-BE49-F238E27FC236}">
                            <a16:creationId xmlns:a16="http://schemas.microsoft.com/office/drawing/2014/main" id="{2B37F1DF-76E9-42DA-9D8B-402539772D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1714500"/>
                        <a:ext cx="705326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>
            <a:extLst>
              <a:ext uri="{FF2B5EF4-FFF2-40B4-BE49-F238E27FC236}">
                <a16:creationId xmlns:a16="http://schemas.microsoft.com/office/drawing/2014/main" id="{497EDD89-05E5-443C-B9E1-35CECB8C0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4838" y="2825750"/>
          <a:ext cx="564991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7" name="公式" r:id="rId5" imgW="5619737" imgH="409643" progId="Equation.3">
                  <p:embed/>
                </p:oleObj>
              </mc:Choice>
              <mc:Fallback>
                <p:oleObj name="公式" r:id="rId5" imgW="5619737" imgH="409643" progId="Equation.3">
                  <p:embed/>
                  <p:pic>
                    <p:nvPicPr>
                      <p:cNvPr id="41987" name="Object 3">
                        <a:extLst>
                          <a:ext uri="{FF2B5EF4-FFF2-40B4-BE49-F238E27FC236}">
                            <a16:creationId xmlns:a16="http://schemas.microsoft.com/office/drawing/2014/main" id="{497EDD89-05E5-443C-B9E1-35CECB8C0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2825750"/>
                        <a:ext cx="564991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>
            <a:extLst>
              <a:ext uri="{FF2B5EF4-FFF2-40B4-BE49-F238E27FC236}">
                <a16:creationId xmlns:a16="http://schemas.microsoft.com/office/drawing/2014/main" id="{BB5B9828-8D1A-4FBB-9C0D-0B5D1454D8D2}"/>
              </a:ext>
            </a:extLst>
          </p:cNvPr>
          <p:cNvGraphicFramePr>
            <a:graphicFrameLocks/>
          </p:cNvGraphicFramePr>
          <p:nvPr/>
        </p:nvGraphicFramePr>
        <p:xfrm>
          <a:off x="1331913" y="4114800"/>
          <a:ext cx="748823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8" name="公式" r:id="rId7" imgW="7715212" imgH="781016" progId="Equation.3">
                  <p:embed/>
                </p:oleObj>
              </mc:Choice>
              <mc:Fallback>
                <p:oleObj name="公式" r:id="rId7" imgW="7715212" imgH="781016" progId="Equation.3">
                  <p:embed/>
                  <p:pic>
                    <p:nvPicPr>
                      <p:cNvPr id="41988" name="Object 4">
                        <a:extLst>
                          <a:ext uri="{FF2B5EF4-FFF2-40B4-BE49-F238E27FC236}">
                            <a16:creationId xmlns:a16="http://schemas.microsoft.com/office/drawing/2014/main" id="{BB5B9828-8D1A-4FBB-9C0D-0B5D1454D8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114800"/>
                        <a:ext cx="748823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>
            <a:extLst>
              <a:ext uri="{FF2B5EF4-FFF2-40B4-BE49-F238E27FC236}">
                <a16:creationId xmlns:a16="http://schemas.microsoft.com/office/drawing/2014/main" id="{1275CA0A-AD94-4C25-987A-7D6297F90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5084763"/>
          <a:ext cx="56689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9" name="公式" r:id="rId9" imgW="2457565" imgH="209414" progId="Equation.3">
                  <p:embed/>
                </p:oleObj>
              </mc:Choice>
              <mc:Fallback>
                <p:oleObj name="公式" r:id="rId9" imgW="2457565" imgH="209414" progId="Equation.3">
                  <p:embed/>
                  <p:pic>
                    <p:nvPicPr>
                      <p:cNvPr id="41989" name="Object 5">
                        <a:extLst>
                          <a:ext uri="{FF2B5EF4-FFF2-40B4-BE49-F238E27FC236}">
                            <a16:creationId xmlns:a16="http://schemas.microsoft.com/office/drawing/2014/main" id="{1275CA0A-AD94-4C25-987A-7D6297F90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084763"/>
                        <a:ext cx="566896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>
            <a:extLst>
              <a:ext uri="{FF2B5EF4-FFF2-40B4-BE49-F238E27FC236}">
                <a16:creationId xmlns:a16="http://schemas.microsoft.com/office/drawing/2014/main" id="{A6229601-59CA-493C-B9FB-34B4910E77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41325"/>
          <a:ext cx="33004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00" name="公式" r:id="rId11" imgW="3562490" imgH="781016" progId="Equation.3">
                  <p:embed/>
                </p:oleObj>
              </mc:Choice>
              <mc:Fallback>
                <p:oleObj name="公式" r:id="rId11" imgW="3562490" imgH="781016" progId="Equation.3">
                  <p:embed/>
                  <p:pic>
                    <p:nvPicPr>
                      <p:cNvPr id="41990" name="Object 6">
                        <a:extLst>
                          <a:ext uri="{FF2B5EF4-FFF2-40B4-BE49-F238E27FC236}">
                            <a16:creationId xmlns:a16="http://schemas.microsoft.com/office/drawing/2014/main" id="{A6229601-59CA-493C-B9FB-34B4910E77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41325"/>
                        <a:ext cx="3300412" cy="755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>
            <a:extLst>
              <a:ext uri="{FF2B5EF4-FFF2-40B4-BE49-F238E27FC236}">
                <a16:creationId xmlns:a16="http://schemas.microsoft.com/office/drawing/2014/main" id="{D09E2E4B-A51E-4B69-969D-4CD71DCF6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95313"/>
            <a:ext cx="168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相位差</a:t>
            </a:r>
          </a:p>
        </p:txBody>
      </p:sp>
      <p:sp>
        <p:nvSpPr>
          <p:cNvPr id="41992" name="Text Box 8">
            <a:extLst>
              <a:ext uri="{FF2B5EF4-FFF2-40B4-BE49-F238E27FC236}">
                <a16:creationId xmlns:a16="http://schemas.microsoft.com/office/drawing/2014/main" id="{3777615D-17B7-451A-93E4-109064C4E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18923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当</a:t>
            </a:r>
          </a:p>
        </p:txBody>
      </p:sp>
      <p:sp>
        <p:nvSpPr>
          <p:cNvPr id="41993" name="Text Box 9">
            <a:extLst>
              <a:ext uri="{FF2B5EF4-FFF2-40B4-BE49-F238E27FC236}">
                <a16:creationId xmlns:a16="http://schemas.microsoft.com/office/drawing/2014/main" id="{1BE22395-F6E0-418A-A971-5B95384A9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548063"/>
            <a:ext cx="3313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干涉相长（加强）</a:t>
            </a:r>
          </a:p>
        </p:txBody>
      </p:sp>
      <p:sp>
        <p:nvSpPr>
          <p:cNvPr id="41994" name="Rectangle 10">
            <a:extLst>
              <a:ext uri="{FF2B5EF4-FFF2-40B4-BE49-F238E27FC236}">
                <a16:creationId xmlns:a16="http://schemas.microsoft.com/office/drawing/2014/main" id="{6883A8F7-799D-4F1F-8934-F188F3A52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42957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当</a:t>
            </a:r>
          </a:p>
        </p:txBody>
      </p:sp>
      <p:sp>
        <p:nvSpPr>
          <p:cNvPr id="41995" name="Rectangle 11">
            <a:extLst>
              <a:ext uri="{FF2B5EF4-FFF2-40B4-BE49-F238E27FC236}">
                <a16:creationId xmlns:a16="http://schemas.microsoft.com/office/drawing/2014/main" id="{C9176794-1530-4A1F-9E84-F53232EED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876925"/>
            <a:ext cx="367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</a:rPr>
              <a:t>干涉相消（减弱）</a:t>
            </a:r>
          </a:p>
        </p:txBody>
      </p:sp>
      <p:sp>
        <p:nvSpPr>
          <p:cNvPr id="41996" name="Rectangle 12">
            <a:extLst>
              <a:ext uri="{FF2B5EF4-FFF2-40B4-BE49-F238E27FC236}">
                <a16:creationId xmlns:a16="http://schemas.microsoft.com/office/drawing/2014/main" id="{2B1EA574-E6C1-4F30-8F63-1057F418E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8" y="1243013"/>
            <a:ext cx="517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Bookman Old Style" panose="02050604050505020204" pitchFamily="18" charset="0"/>
              </a:rPr>
              <a:t>• </a:t>
            </a: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</a:rPr>
              <a:t>空间点振动的情况分析</a:t>
            </a:r>
          </a:p>
        </p:txBody>
      </p:sp>
      <p:sp>
        <p:nvSpPr>
          <p:cNvPr id="23565" name="灯片编号占位符 1">
            <a:extLst>
              <a:ext uri="{FF2B5EF4-FFF2-40B4-BE49-F238E27FC236}">
                <a16:creationId xmlns:a16="http://schemas.microsoft.com/office/drawing/2014/main" id="{F9AC37D4-25C3-495C-90E9-908894B10FE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7B022B1-2EBF-4484-9608-1145DBF7EEEA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 autoUpdateAnimBg="0"/>
      <p:bldP spid="41992" grpId="0" autoUpdateAnimBg="0"/>
      <p:bldP spid="41993" grpId="0" autoUpdateAnimBg="0"/>
      <p:bldP spid="41994" grpId="0" autoUpdateAnimBg="0"/>
      <p:bldP spid="41995" grpId="0" autoUpdateAnimBg="0"/>
      <p:bldP spid="4199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51099F4B-1CDA-4354-A28B-A4DDF3034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307975"/>
            <a:ext cx="1660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graphicFrame>
        <p:nvGraphicFramePr>
          <p:cNvPr id="43011" name="Object 2">
            <a:extLst>
              <a:ext uri="{FF2B5EF4-FFF2-40B4-BE49-F238E27FC236}">
                <a16:creationId xmlns:a16="http://schemas.microsoft.com/office/drawing/2014/main" id="{EF041708-980A-4C7E-A265-7A399BE871E0}"/>
              </a:ext>
            </a:extLst>
          </p:cNvPr>
          <p:cNvGraphicFramePr>
            <a:graphicFrameLocks/>
          </p:cNvGraphicFramePr>
          <p:nvPr/>
        </p:nvGraphicFramePr>
        <p:xfrm>
          <a:off x="1962150" y="1341438"/>
          <a:ext cx="47402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39" name="公式" r:id="rId3" imgW="4686376" imgH="371373" progId="Equation.3">
                  <p:embed/>
                </p:oleObj>
              </mc:Choice>
              <mc:Fallback>
                <p:oleObj name="公式" r:id="rId3" imgW="4686376" imgH="371373" progId="Equation.3">
                  <p:embed/>
                  <p:pic>
                    <p:nvPicPr>
                      <p:cNvPr id="43011" name="Object 2">
                        <a:extLst>
                          <a:ext uri="{FF2B5EF4-FFF2-40B4-BE49-F238E27FC236}">
                            <a16:creationId xmlns:a16="http://schemas.microsoft.com/office/drawing/2014/main" id="{EF041708-980A-4C7E-A265-7A399BE871E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1341438"/>
                        <a:ext cx="474027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3">
            <a:extLst>
              <a:ext uri="{FF2B5EF4-FFF2-40B4-BE49-F238E27FC236}">
                <a16:creationId xmlns:a16="http://schemas.microsoft.com/office/drawing/2014/main" id="{F5DBFD56-12CB-44B4-A52F-7F28CF92D4FA}"/>
              </a:ext>
            </a:extLst>
          </p:cNvPr>
          <p:cNvGraphicFramePr>
            <a:graphicFrameLocks/>
          </p:cNvGraphicFramePr>
          <p:nvPr/>
        </p:nvGraphicFramePr>
        <p:xfrm>
          <a:off x="1666875" y="779463"/>
          <a:ext cx="10334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0" name="公式" r:id="rId5" imgW="981069" imgH="371373" progId="Equation.3">
                  <p:embed/>
                </p:oleObj>
              </mc:Choice>
              <mc:Fallback>
                <p:oleObj name="公式" r:id="rId5" imgW="981069" imgH="371373" progId="Equation.3">
                  <p:embed/>
                  <p:pic>
                    <p:nvPicPr>
                      <p:cNvPr id="43012" name="Object 3">
                        <a:extLst>
                          <a:ext uri="{FF2B5EF4-FFF2-40B4-BE49-F238E27FC236}">
                            <a16:creationId xmlns:a16="http://schemas.microsoft.com/office/drawing/2014/main" id="{F5DBFD56-12CB-44B4-A52F-7F28CF92D4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779463"/>
                        <a:ext cx="10334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5">
            <a:extLst>
              <a:ext uri="{FF2B5EF4-FFF2-40B4-BE49-F238E27FC236}">
                <a16:creationId xmlns:a16="http://schemas.microsoft.com/office/drawing/2014/main" id="{00A5110D-3DDD-47B8-96A5-B417D61DA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1341438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干涉相长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54449F05-220F-49AA-A812-AAF59F1BA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8112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id="{6F47A06A-047D-4C5E-8213-750AC3B95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2613025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</a:p>
        </p:txBody>
      </p:sp>
      <p:graphicFrame>
        <p:nvGraphicFramePr>
          <p:cNvPr id="43016" name="Object 4">
            <a:extLst>
              <a:ext uri="{FF2B5EF4-FFF2-40B4-BE49-F238E27FC236}">
                <a16:creationId xmlns:a16="http://schemas.microsoft.com/office/drawing/2014/main" id="{C547FC85-7174-442B-AF86-6F7A0C03A9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2649538"/>
          <a:ext cx="16779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1" name="公式" r:id="rId7" imgW="1628794" imgH="371373" progId="Equation.3">
                  <p:embed/>
                </p:oleObj>
              </mc:Choice>
              <mc:Fallback>
                <p:oleObj name="公式" r:id="rId7" imgW="1628794" imgH="371373" progId="Equation.3">
                  <p:embed/>
                  <p:pic>
                    <p:nvPicPr>
                      <p:cNvPr id="43016" name="Object 4">
                        <a:extLst>
                          <a:ext uri="{FF2B5EF4-FFF2-40B4-BE49-F238E27FC236}">
                            <a16:creationId xmlns:a16="http://schemas.microsoft.com/office/drawing/2014/main" id="{C547FC85-7174-442B-AF86-6F7A0C03A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2649538"/>
                        <a:ext cx="16779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5">
            <a:extLst>
              <a:ext uri="{FF2B5EF4-FFF2-40B4-BE49-F238E27FC236}">
                <a16:creationId xmlns:a16="http://schemas.microsoft.com/office/drawing/2014/main" id="{4A8F0A36-EB8B-40D7-BA13-3F17BB67C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812925"/>
          <a:ext cx="56864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2" name="公式" r:id="rId9" imgW="5667445" imgH="781016" progId="Equation.3">
                  <p:embed/>
                </p:oleObj>
              </mc:Choice>
              <mc:Fallback>
                <p:oleObj name="公式" r:id="rId9" imgW="5667445" imgH="781016" progId="Equation.3">
                  <p:embed/>
                  <p:pic>
                    <p:nvPicPr>
                      <p:cNvPr id="43017" name="Object 5">
                        <a:extLst>
                          <a:ext uri="{FF2B5EF4-FFF2-40B4-BE49-F238E27FC236}">
                            <a16:creationId xmlns:a16="http://schemas.microsoft.com/office/drawing/2014/main" id="{4A8F0A36-EB8B-40D7-BA13-3F17BB67C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812925"/>
                        <a:ext cx="568642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8" name="Rectangle 10">
            <a:extLst>
              <a:ext uri="{FF2B5EF4-FFF2-40B4-BE49-F238E27FC236}">
                <a16:creationId xmlns:a16="http://schemas.microsoft.com/office/drawing/2014/main" id="{A56D391E-4AAB-4C19-BD6D-88DD1E46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1963738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干涉相消</a:t>
            </a:r>
          </a:p>
        </p:txBody>
      </p:sp>
      <p:graphicFrame>
        <p:nvGraphicFramePr>
          <p:cNvPr id="43019" name="Object 6">
            <a:extLst>
              <a:ext uri="{FF2B5EF4-FFF2-40B4-BE49-F238E27FC236}">
                <a16:creationId xmlns:a16="http://schemas.microsoft.com/office/drawing/2014/main" id="{8FB52E8B-4ED7-4161-9F23-870BC21AAFD1}"/>
              </a:ext>
            </a:extLst>
          </p:cNvPr>
          <p:cNvGraphicFramePr>
            <a:graphicFrameLocks/>
          </p:cNvGraphicFramePr>
          <p:nvPr/>
        </p:nvGraphicFramePr>
        <p:xfrm>
          <a:off x="2484438" y="3789363"/>
          <a:ext cx="31908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3" name="公式" r:id="rId11" imgW="3105290" imgH="371373" progId="Equation.3">
                  <p:embed/>
                </p:oleObj>
              </mc:Choice>
              <mc:Fallback>
                <p:oleObj name="公式" r:id="rId11" imgW="3105290" imgH="371373" progId="Equation.3">
                  <p:embed/>
                  <p:pic>
                    <p:nvPicPr>
                      <p:cNvPr id="43019" name="Object 6">
                        <a:extLst>
                          <a:ext uri="{FF2B5EF4-FFF2-40B4-BE49-F238E27FC236}">
                            <a16:creationId xmlns:a16="http://schemas.microsoft.com/office/drawing/2014/main" id="{8FB52E8B-4ED7-4161-9F23-870BC21AAF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789363"/>
                        <a:ext cx="31908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7">
            <a:extLst>
              <a:ext uri="{FF2B5EF4-FFF2-40B4-BE49-F238E27FC236}">
                <a16:creationId xmlns:a16="http://schemas.microsoft.com/office/drawing/2014/main" id="{64E61F22-5494-460F-99B8-7E1F09558A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3214688"/>
          <a:ext cx="3546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4" name="公式" r:id="rId13" imgW="3495822" imgH="380864" progId="Equation.3">
                  <p:embed/>
                </p:oleObj>
              </mc:Choice>
              <mc:Fallback>
                <p:oleObj name="公式" r:id="rId13" imgW="3495822" imgH="380864" progId="Equation.3">
                  <p:embed/>
                  <p:pic>
                    <p:nvPicPr>
                      <p:cNvPr id="43020" name="Object 7">
                        <a:extLst>
                          <a:ext uri="{FF2B5EF4-FFF2-40B4-BE49-F238E27FC236}">
                            <a16:creationId xmlns:a16="http://schemas.microsoft.com/office/drawing/2014/main" id="{64E61F22-5494-460F-99B8-7E1F09558A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3214688"/>
                        <a:ext cx="35464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1" name="Rectangle 13">
            <a:extLst>
              <a:ext uri="{FF2B5EF4-FFF2-40B4-BE49-F238E27FC236}">
                <a16:creationId xmlns:a16="http://schemas.microsoft.com/office/drawing/2014/main" id="{6ABAC68F-BC5A-4FB3-A1E2-2EA54F069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141663"/>
            <a:ext cx="1849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干涉相长</a:t>
            </a:r>
          </a:p>
        </p:txBody>
      </p:sp>
      <p:sp>
        <p:nvSpPr>
          <p:cNvPr id="43022" name="Rectangle 14">
            <a:extLst>
              <a:ext uri="{FF2B5EF4-FFF2-40B4-BE49-F238E27FC236}">
                <a16:creationId xmlns:a16="http://schemas.microsoft.com/office/drawing/2014/main" id="{ED2AC3FB-A3B4-47DD-959E-23498993C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789363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干涉相消</a:t>
            </a:r>
          </a:p>
        </p:txBody>
      </p:sp>
      <p:sp>
        <p:nvSpPr>
          <p:cNvPr id="43023" name="Text Box 15">
            <a:extLst>
              <a:ext uri="{FF2B5EF4-FFF2-40B4-BE49-F238E27FC236}">
                <a16:creationId xmlns:a16="http://schemas.microsoft.com/office/drawing/2014/main" id="{43329BDB-BCF2-4A60-8F24-9402DE5C5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500563"/>
            <a:ext cx="7808912" cy="1936750"/>
          </a:xfrm>
          <a:prstGeom prst="rect">
            <a:avLst/>
          </a:prstGeom>
          <a:noFill/>
          <a:ln w="158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能量：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当两相干波发生干涉时，在两波交叠的区域，合成波在空间各处的强度并不等于两个分波强度之和，而是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发生重新分布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。这种新的强度分布是时间上稳定的、空间上强弱相间具有周期性的一种分布。</a:t>
            </a:r>
          </a:p>
        </p:txBody>
      </p:sp>
      <p:sp>
        <p:nvSpPr>
          <p:cNvPr id="43024" name="AutoShape 16">
            <a:extLst>
              <a:ext uri="{FF2B5EF4-FFF2-40B4-BE49-F238E27FC236}">
                <a16:creationId xmlns:a16="http://schemas.microsoft.com/office/drawing/2014/main" id="{95AE7321-AB8B-414C-A132-9BB7F2B2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4593" name="Object 17">
            <a:extLst>
              <a:ext uri="{FF2B5EF4-FFF2-40B4-BE49-F238E27FC236}">
                <a16:creationId xmlns:a16="http://schemas.microsoft.com/office/drawing/2014/main" id="{0BCC5C12-3CD1-46F9-BDBC-69C1A7B6E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73063"/>
          <a:ext cx="35988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5" name="公式" r:id="rId15" imgW="3562490" imgH="781016" progId="Equation.3">
                  <p:embed/>
                </p:oleObj>
              </mc:Choice>
              <mc:Fallback>
                <p:oleObj name="公式" r:id="rId15" imgW="3562490" imgH="781016" progId="Equation.3">
                  <p:embed/>
                  <p:pic>
                    <p:nvPicPr>
                      <p:cNvPr id="24593" name="Object 17">
                        <a:extLst>
                          <a:ext uri="{FF2B5EF4-FFF2-40B4-BE49-F238E27FC236}">
                            <a16:creationId xmlns:a16="http://schemas.microsoft.com/office/drawing/2014/main" id="{0BCC5C12-3CD1-46F9-BDBC-69C1A7B6E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73063"/>
                        <a:ext cx="3598863" cy="8239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CC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灯片编号占位符 1">
            <a:extLst>
              <a:ext uri="{FF2B5EF4-FFF2-40B4-BE49-F238E27FC236}">
                <a16:creationId xmlns:a16="http://schemas.microsoft.com/office/drawing/2014/main" id="{65334428-59EE-4150-93D9-6A5142BB40E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EE74E9E-8B43-447E-82D0-AD4C3640A1E2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3" grpId="0" autoUpdateAnimBg="0"/>
      <p:bldP spid="43014" grpId="0" autoUpdateAnimBg="0"/>
      <p:bldP spid="43015" grpId="0" autoUpdateAnimBg="0"/>
      <p:bldP spid="43018" grpId="0" autoUpdateAnimBg="0"/>
      <p:bldP spid="43021" grpId="0" autoUpdateAnimBg="0"/>
      <p:bldP spid="43022" grpId="0" autoUpdateAnimBg="0"/>
      <p:bldP spid="43023" grpId="0" animBg="1"/>
      <p:bldP spid="430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EC55B1D-3391-4749-BAE4-07DD52DF0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357188"/>
            <a:ext cx="7991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i="1">
                <a:solidFill>
                  <a:srgbClr val="FFFF00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rgbClr val="FFFF00"/>
                </a:solidFill>
              </a:rPr>
              <a:t>B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为两相干波源，距离为 </a:t>
            </a:r>
            <a:r>
              <a:rPr lang="en-US" altLang="zh-CN">
                <a:solidFill>
                  <a:srgbClr val="FFFF00"/>
                </a:solidFill>
              </a:rPr>
              <a:t>30 m</a:t>
            </a:r>
            <a:r>
              <a:rPr lang="en-US" altLang="zh-CN">
                <a:solidFill>
                  <a:srgbClr val="FFFF66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振幅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相同，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</a:t>
            </a:r>
            <a:r>
              <a:rPr lang="zh-CN" altLang="en-US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相同，初相差为</a:t>
            </a:r>
            <a:r>
              <a:rPr lang="zh-CN" altLang="en-US">
                <a:solidFill>
                  <a:srgbClr val="FFFF00"/>
                </a:solidFill>
                <a:sym typeface="Symbol" panose="05050102010706020507" pitchFamily="18" charset="2"/>
              </a:rPr>
              <a:t>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en-US" altLang="zh-CN" i="1">
                <a:solidFill>
                  <a:srgbClr val="FFFF00"/>
                </a:solidFill>
              </a:rPr>
              <a:t>u </a:t>
            </a:r>
            <a:r>
              <a:rPr lang="en-US" altLang="zh-CN">
                <a:solidFill>
                  <a:srgbClr val="FFFF00"/>
                </a:solidFill>
              </a:rPr>
              <a:t>= 400 m/s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i="1">
                <a:solidFill>
                  <a:srgbClr val="FFFF00"/>
                </a:solidFill>
              </a:rPr>
              <a:t>f  </a:t>
            </a:r>
            <a:r>
              <a:rPr lang="en-US" altLang="zh-CN">
                <a:solidFill>
                  <a:srgbClr val="FFFF00"/>
                </a:solidFill>
              </a:rPr>
              <a:t>=100 Hz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EC1650ED-6D30-483F-AED3-704834B00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44C79CB3-7FBE-40C0-A372-AB72E5265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400175"/>
            <a:ext cx="6269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chemeClr val="bg1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chemeClr val="bg1"/>
                </a:solidFill>
              </a:rPr>
              <a:t>B </a:t>
            </a:r>
            <a:r>
              <a:rPr lang="zh-CN" altLang="en-US">
                <a:solidFill>
                  <a:schemeClr val="bg1"/>
                </a:solidFill>
              </a:rPr>
              <a:t>连线上因干涉而静止的各点位置？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D4FCE634-0E01-43EC-93FF-F12951CD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4128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graphicFrame>
        <p:nvGraphicFramePr>
          <p:cNvPr id="44038" name="Object 2">
            <a:extLst>
              <a:ext uri="{FF2B5EF4-FFF2-40B4-BE49-F238E27FC236}">
                <a16:creationId xmlns:a16="http://schemas.microsoft.com/office/drawing/2014/main" id="{4D9BE985-8F24-4E13-B133-9F3C80F07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857625"/>
          <a:ext cx="2725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8" name="公式" r:id="rId3" imgW="2686012" imgH="371373" progId="Equation.3">
                  <p:embed/>
                </p:oleObj>
              </mc:Choice>
              <mc:Fallback>
                <p:oleObj name="公式" r:id="rId3" imgW="2686012" imgH="371373" progId="Equation.3">
                  <p:embed/>
                  <p:pic>
                    <p:nvPicPr>
                      <p:cNvPr id="44038" name="Object 2">
                        <a:extLst>
                          <a:ext uri="{FF2B5EF4-FFF2-40B4-BE49-F238E27FC236}">
                            <a16:creationId xmlns:a16="http://schemas.microsoft.com/office/drawing/2014/main" id="{4D9BE985-8F24-4E13-B133-9F3C80F07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857625"/>
                        <a:ext cx="27257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Text Box 7">
            <a:extLst>
              <a:ext uri="{FF2B5EF4-FFF2-40B4-BE49-F238E27FC236}">
                <a16:creationId xmlns:a16="http://schemas.microsoft.com/office/drawing/2014/main" id="{AB942D1D-6D12-4AD2-9B70-CE2E03B83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605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44040" name="Line 8">
            <a:extLst>
              <a:ext uri="{FF2B5EF4-FFF2-40B4-BE49-F238E27FC236}">
                <a16:creationId xmlns:a16="http://schemas.microsoft.com/office/drawing/2014/main" id="{374536F5-C59A-435E-9267-32E73DA49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688" y="3271838"/>
            <a:ext cx="3429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1" name="Oval 9">
            <a:extLst>
              <a:ext uri="{FF2B5EF4-FFF2-40B4-BE49-F238E27FC236}">
                <a16:creationId xmlns:a16="http://schemas.microsoft.com/office/drawing/2014/main" id="{C02EFF56-6B2C-40B9-9CAF-C878613C76F3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7837488" y="3195638"/>
            <a:ext cx="76200" cy="152400"/>
          </a:xfrm>
          <a:prstGeom prst="ellipse">
            <a:avLst/>
          </a:prstGeom>
          <a:solidFill>
            <a:srgbClr val="00FFFF"/>
          </a:solidFill>
          <a:ln w="0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4042" name="Text Box 10">
            <a:extLst>
              <a:ext uri="{FF2B5EF4-FFF2-40B4-BE49-F238E27FC236}">
                <a16:creationId xmlns:a16="http://schemas.microsoft.com/office/drawing/2014/main" id="{B6A47F49-D1ED-4C23-8741-CA1432D2F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88" y="32718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i="1">
                <a:solidFill>
                  <a:srgbClr val="FFFF00"/>
                </a:solidFill>
              </a:rPr>
              <a:t>B</a:t>
            </a:r>
          </a:p>
        </p:txBody>
      </p:sp>
      <p:sp>
        <p:nvSpPr>
          <p:cNvPr id="44043" name="Text Box 11">
            <a:extLst>
              <a:ext uri="{FF2B5EF4-FFF2-40B4-BE49-F238E27FC236}">
                <a16:creationId xmlns:a16="http://schemas.microsoft.com/office/drawing/2014/main" id="{9660FE23-A203-4D5D-9FC1-56031E4D2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88" y="32718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i="1">
                <a:solidFill>
                  <a:srgbClr val="FFFF00"/>
                </a:solidFill>
              </a:rPr>
              <a:t>A</a:t>
            </a:r>
          </a:p>
        </p:txBody>
      </p:sp>
      <p:sp>
        <p:nvSpPr>
          <p:cNvPr id="44044" name="Line 12">
            <a:extLst>
              <a:ext uri="{FF2B5EF4-FFF2-40B4-BE49-F238E27FC236}">
                <a16:creationId xmlns:a16="http://schemas.microsoft.com/office/drawing/2014/main" id="{4ECEC6EE-1ADE-4011-892C-C0CDED89BB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4213" y="2890838"/>
            <a:ext cx="0" cy="381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CB3E3CDA-42EA-452D-A6CF-91993EE72A45}"/>
              </a:ext>
            </a:extLst>
          </p:cNvPr>
          <p:cNvGrpSpPr>
            <a:grpSpLocks/>
          </p:cNvGrpSpPr>
          <p:nvPr/>
        </p:nvGrpSpPr>
        <p:grpSpPr bwMode="auto">
          <a:xfrm>
            <a:off x="5399088" y="3195638"/>
            <a:ext cx="609600" cy="533400"/>
            <a:chOff x="3264" y="864"/>
            <a:chExt cx="384" cy="336"/>
          </a:xfrm>
        </p:grpSpPr>
        <p:sp>
          <p:nvSpPr>
            <p:cNvPr id="26662" name="Oval 14">
              <a:extLst>
                <a:ext uri="{FF2B5EF4-FFF2-40B4-BE49-F238E27FC236}">
                  <a16:creationId xmlns:a16="http://schemas.microsoft.com/office/drawing/2014/main" id="{1AFAEE79-982E-4FFC-98D0-E4CF1C73A2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3408" y="864"/>
              <a:ext cx="48" cy="96"/>
            </a:xfrm>
            <a:prstGeom prst="ellipse">
              <a:avLst/>
            </a:prstGeom>
            <a:solidFill>
              <a:srgbClr val="00FFFF"/>
            </a:solidFill>
            <a:ln w="0">
              <a:solidFill>
                <a:srgbClr val="00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663" name="Text Box 15">
              <a:extLst>
                <a:ext uri="{FF2B5EF4-FFF2-40B4-BE49-F238E27FC236}">
                  <a16:creationId xmlns:a16="http://schemas.microsoft.com/office/drawing/2014/main" id="{FE183AC0-725C-4B3F-BF5C-1EED9F4F3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FFFF00"/>
                  </a:solidFill>
                </a:rPr>
                <a:t>P</a:t>
              </a:r>
            </a:p>
          </p:txBody>
        </p:sp>
      </p:grpSp>
      <p:sp>
        <p:nvSpPr>
          <p:cNvPr id="44048" name="Line 16">
            <a:extLst>
              <a:ext uri="{FF2B5EF4-FFF2-40B4-BE49-F238E27FC236}">
                <a16:creationId xmlns:a16="http://schemas.microsoft.com/office/drawing/2014/main" id="{6C9EF42D-C1F6-4C9A-9281-CC8614344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75" y="3043238"/>
            <a:ext cx="8128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47F03599-8E24-4975-A0C7-60B06192E9EC}"/>
              </a:ext>
            </a:extLst>
          </p:cNvPr>
          <p:cNvGrpSpPr>
            <a:grpSpLocks/>
          </p:cNvGrpSpPr>
          <p:nvPr/>
        </p:nvGrpSpPr>
        <p:grpSpPr bwMode="auto">
          <a:xfrm>
            <a:off x="5675313" y="3043238"/>
            <a:ext cx="1350962" cy="69850"/>
            <a:chOff x="3438" y="768"/>
            <a:chExt cx="867" cy="0"/>
          </a:xfrm>
        </p:grpSpPr>
        <p:sp>
          <p:nvSpPr>
            <p:cNvPr id="26660" name="Line 18">
              <a:extLst>
                <a:ext uri="{FF2B5EF4-FFF2-40B4-BE49-F238E27FC236}">
                  <a16:creationId xmlns:a16="http://schemas.microsoft.com/office/drawing/2014/main" id="{121FF9A1-8BE4-4716-BA81-F4CAD1969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3" y="768"/>
              <a:ext cx="432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Line 19">
              <a:extLst>
                <a:ext uri="{FF2B5EF4-FFF2-40B4-BE49-F238E27FC236}">
                  <a16:creationId xmlns:a16="http://schemas.microsoft.com/office/drawing/2014/main" id="{34B5759B-7900-4F3A-978A-76F779B7B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8" y="768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52" name="Line 20">
            <a:extLst>
              <a:ext uri="{FF2B5EF4-FFF2-40B4-BE49-F238E27FC236}">
                <a16:creationId xmlns:a16="http://schemas.microsoft.com/office/drawing/2014/main" id="{6C40731B-F302-4759-8E7C-7490227513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5313" y="2357438"/>
            <a:ext cx="0" cy="83978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3" name="Oval 21">
            <a:extLst>
              <a:ext uri="{FF2B5EF4-FFF2-40B4-BE49-F238E27FC236}">
                <a16:creationId xmlns:a16="http://schemas.microsoft.com/office/drawing/2014/main" id="{0A6265FF-64FF-4DDB-814C-36AFA13A4218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6999288" y="3195638"/>
            <a:ext cx="76200" cy="152400"/>
          </a:xfrm>
          <a:prstGeom prst="ellipse">
            <a:avLst/>
          </a:prstGeom>
          <a:solidFill>
            <a:srgbClr val="00FFFF"/>
          </a:solidFill>
          <a:ln w="0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4054" name="Line 22">
            <a:extLst>
              <a:ext uri="{FF2B5EF4-FFF2-40B4-BE49-F238E27FC236}">
                <a16:creationId xmlns:a16="http://schemas.microsoft.com/office/drawing/2014/main" id="{380119FA-4A78-4FA4-90DC-6CF3ACDCD7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3525" y="2357438"/>
            <a:ext cx="0" cy="838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5" name="Text Box 23">
            <a:extLst>
              <a:ext uri="{FF2B5EF4-FFF2-40B4-BE49-F238E27FC236}">
                <a16:creationId xmlns:a16="http://schemas.microsoft.com/office/drawing/2014/main" id="{9282E4CE-40A3-491B-8C23-27519128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586038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FF00"/>
                </a:solidFill>
              </a:rPr>
              <a:t>30m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13CBA0A1-9008-47B9-B3F8-EF146ADDF18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80075" y="2511425"/>
            <a:ext cx="2184400" cy="69850"/>
            <a:chOff x="3441" y="432"/>
            <a:chExt cx="1392" cy="0"/>
          </a:xfrm>
        </p:grpSpPr>
        <p:sp>
          <p:nvSpPr>
            <p:cNvPr id="26658" name="Line 25">
              <a:extLst>
                <a:ext uri="{FF2B5EF4-FFF2-40B4-BE49-F238E27FC236}">
                  <a16:creationId xmlns:a16="http://schemas.microsoft.com/office/drawing/2014/main" id="{AD491878-56F9-4A73-BBBF-180A50BE2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432"/>
              <a:ext cx="576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Line 26">
              <a:extLst>
                <a:ext uri="{FF2B5EF4-FFF2-40B4-BE49-F238E27FC236}">
                  <a16:creationId xmlns:a16="http://schemas.microsoft.com/office/drawing/2014/main" id="{5037E7B0-A46A-40F6-8E63-034F776D5C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1" y="432"/>
              <a:ext cx="432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4059" name="Object 3">
            <a:extLst>
              <a:ext uri="{FF2B5EF4-FFF2-40B4-BE49-F238E27FC236}">
                <a16:creationId xmlns:a16="http://schemas.microsoft.com/office/drawing/2014/main" id="{70263F38-E685-4AD5-B53C-B17AEB33C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1857375"/>
          <a:ext cx="18430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9" name="公式" r:id="rId5" imgW="752622" imgH="371373" progId="Equation.3">
                  <p:embed/>
                </p:oleObj>
              </mc:Choice>
              <mc:Fallback>
                <p:oleObj name="公式" r:id="rId5" imgW="752622" imgH="371373" progId="Equation.3">
                  <p:embed/>
                  <p:pic>
                    <p:nvPicPr>
                      <p:cNvPr id="44059" name="Object 3">
                        <a:extLst>
                          <a:ext uri="{FF2B5EF4-FFF2-40B4-BE49-F238E27FC236}">
                            <a16:creationId xmlns:a16="http://schemas.microsoft.com/office/drawing/2014/main" id="{70263F38-E685-4AD5-B53C-B17AEB33C5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857375"/>
                        <a:ext cx="18430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4">
            <a:extLst>
              <a:ext uri="{FF2B5EF4-FFF2-40B4-BE49-F238E27FC236}">
                <a16:creationId xmlns:a16="http://schemas.microsoft.com/office/drawing/2014/main" id="{DC33A113-14C5-4B7A-83B1-8A80B2678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4814888"/>
          <a:ext cx="527843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0" name="公式" r:id="rId7" imgW="5219725" imgH="914502" progId="Equation.3">
                  <p:embed/>
                </p:oleObj>
              </mc:Choice>
              <mc:Fallback>
                <p:oleObj name="公式" r:id="rId7" imgW="5219725" imgH="914502" progId="Equation.3">
                  <p:embed/>
                  <p:pic>
                    <p:nvPicPr>
                      <p:cNvPr id="44060" name="Object 4">
                        <a:extLst>
                          <a:ext uri="{FF2B5EF4-FFF2-40B4-BE49-F238E27FC236}">
                            <a16:creationId xmlns:a16="http://schemas.microsoft.com/office/drawing/2014/main" id="{DC33A113-14C5-4B7A-83B1-8A80B26787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814888"/>
                        <a:ext cx="527843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1" name="Text Box 29">
            <a:extLst>
              <a:ext uri="{FF2B5EF4-FFF2-40B4-BE49-F238E27FC236}">
                <a16:creationId xmlns:a16="http://schemas.microsoft.com/office/drawing/2014/main" id="{00A52F37-D62D-48BF-87BB-D1372E2DC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5286375"/>
            <a:ext cx="253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 i="1">
                <a:solidFill>
                  <a:schemeClr val="bg1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>
                <a:solidFill>
                  <a:schemeClr val="bg1"/>
                </a:solidFill>
              </a:rPr>
              <a:t>A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左侧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4062" name="Text Box 30">
            <a:extLst>
              <a:ext uri="{FF2B5EF4-FFF2-40B4-BE49-F238E27FC236}">
                <a16:creationId xmlns:a16="http://schemas.microsoft.com/office/drawing/2014/main" id="{F8563A4C-CF57-4350-8EB0-1FAA500DA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4714875"/>
            <a:ext cx="253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en-US" altLang="zh-CN" i="1">
                <a:solidFill>
                  <a:schemeClr val="bg1"/>
                </a:solidFill>
                <a:ea typeface="黑体" panose="02010609060101010101" pitchFamily="49" charset="-122"/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>
                <a:solidFill>
                  <a:schemeClr val="bg1"/>
                </a:solidFill>
              </a:rPr>
              <a:t>B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右侧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44063" name="Object 5">
            <a:extLst>
              <a:ext uri="{FF2B5EF4-FFF2-40B4-BE49-F238E27FC236}">
                <a16:creationId xmlns:a16="http://schemas.microsoft.com/office/drawing/2014/main" id="{D5F13D7A-0C2D-48C9-8DB1-AB60EEAFA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995988"/>
          <a:ext cx="1090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1" name="公式" r:id="rId9" imgW="1047737" imgH="380864" progId="Equation.3">
                  <p:embed/>
                </p:oleObj>
              </mc:Choice>
              <mc:Fallback>
                <p:oleObj name="公式" r:id="rId9" imgW="1047737" imgH="380864" progId="Equation.3">
                  <p:embed/>
                  <p:pic>
                    <p:nvPicPr>
                      <p:cNvPr id="44063" name="Object 5">
                        <a:extLst>
                          <a:ext uri="{FF2B5EF4-FFF2-40B4-BE49-F238E27FC236}">
                            <a16:creationId xmlns:a16="http://schemas.microsoft.com/office/drawing/2014/main" id="{D5F13D7A-0C2D-48C9-8DB1-AB60EEAFA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995988"/>
                        <a:ext cx="10906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4" name="Text Box 32">
            <a:extLst>
              <a:ext uri="{FF2B5EF4-FFF2-40B4-BE49-F238E27FC236}">
                <a16:creationId xmlns:a16="http://schemas.microsoft.com/office/drawing/2014/main" id="{392E130E-9B15-49D0-8B40-B805FBC12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5972175"/>
            <a:ext cx="5900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即在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两侧干涉相长，不会出现静止点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4065" name="Text Box 33">
            <a:extLst>
              <a:ext uri="{FF2B5EF4-FFF2-40B4-BE49-F238E27FC236}">
                <a16:creationId xmlns:a16="http://schemas.microsoft.com/office/drawing/2014/main" id="{EF08921F-3B75-436C-BCF5-A5D408F29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8688" y="267652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>
                <a:solidFill>
                  <a:schemeClr val="bg1"/>
                </a:solidFill>
              </a:rPr>
              <a:t>r</a:t>
            </a:r>
            <a:r>
              <a:rPr lang="en-US" altLang="zh-CN" sz="2800" baseline="-25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4066" name="Rectangle 34">
            <a:extLst>
              <a:ext uri="{FF2B5EF4-FFF2-40B4-BE49-F238E27FC236}">
                <a16:creationId xmlns:a16="http://schemas.microsoft.com/office/drawing/2014/main" id="{6ED55D21-7A4B-47F7-BAFB-2860F1052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2266950"/>
            <a:ext cx="442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bg1"/>
                </a:solidFill>
              </a:rPr>
              <a:t>r</a:t>
            </a:r>
            <a:r>
              <a:rPr lang="en-US" altLang="zh-CN" sz="2800" baseline="-250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4067" name="Text Box 35">
            <a:extLst>
              <a:ext uri="{FF2B5EF4-FFF2-40B4-BE49-F238E27FC236}">
                <a16:creationId xmlns:a16="http://schemas.microsoft.com/office/drawing/2014/main" id="{1303BA30-E3D0-439E-B765-8448A2B23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781300"/>
            <a:ext cx="375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rgbClr val="00FFFF"/>
                </a:solidFill>
              </a:rPr>
              <a:t>P</a:t>
            </a:r>
            <a:r>
              <a:rPr lang="en-US" altLang="zh-CN" i="1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>
                <a:solidFill>
                  <a:schemeClr val="bg1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chemeClr val="bg1"/>
                </a:solidFill>
              </a:rPr>
              <a:t>B </a:t>
            </a:r>
            <a:r>
              <a:rPr lang="zh-CN" altLang="en-US">
                <a:solidFill>
                  <a:schemeClr val="bg1"/>
                </a:solidFill>
              </a:rPr>
              <a:t>两侧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44070" name="Text Box 38">
            <a:extLst>
              <a:ext uri="{FF2B5EF4-FFF2-40B4-BE49-F238E27FC236}">
                <a16:creationId xmlns:a16="http://schemas.microsoft.com/office/drawing/2014/main" id="{4DA5C8EE-49DC-4DE3-AE89-42BD50F95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3286125"/>
            <a:ext cx="4284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两波到</a:t>
            </a:r>
            <a:r>
              <a:rPr kumimoji="0" lang="en-US" altLang="zh-CN">
                <a:solidFill>
                  <a:schemeClr val="bg1"/>
                </a:solidFill>
              </a:rPr>
              <a:t>P</a:t>
            </a:r>
            <a:r>
              <a:rPr kumimoji="0" lang="zh-CN" altLang="en-US">
                <a:solidFill>
                  <a:schemeClr val="bg1"/>
                </a:solidFill>
              </a:rPr>
              <a:t>点的波程差</a:t>
            </a:r>
          </a:p>
        </p:txBody>
      </p:sp>
      <p:sp>
        <p:nvSpPr>
          <p:cNvPr id="44071" name="Rectangle 39">
            <a:extLst>
              <a:ext uri="{FF2B5EF4-FFF2-40B4-BE49-F238E27FC236}">
                <a16:creationId xmlns:a16="http://schemas.microsoft.com/office/drawing/2014/main" id="{8CB7705D-119B-4EBE-8A7D-78482AA36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3" y="4341813"/>
            <a:ext cx="4691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对应的相位差</a:t>
            </a:r>
          </a:p>
        </p:txBody>
      </p:sp>
      <p:sp>
        <p:nvSpPr>
          <p:cNvPr id="44072" name="Rectangle 40">
            <a:extLst>
              <a:ext uri="{FF2B5EF4-FFF2-40B4-BE49-F238E27FC236}">
                <a16:creationId xmlns:a16="http://schemas.microsoft.com/office/drawing/2014/main" id="{5F96312B-F05A-4554-8FFD-B3220D200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765425"/>
            <a:ext cx="290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•</a:t>
            </a:r>
          </a:p>
        </p:txBody>
      </p:sp>
      <p:sp>
        <p:nvSpPr>
          <p:cNvPr id="26657" name="灯片编号占位符 1">
            <a:extLst>
              <a:ext uri="{FF2B5EF4-FFF2-40B4-BE49-F238E27FC236}">
                <a16:creationId xmlns:a16="http://schemas.microsoft.com/office/drawing/2014/main" id="{9A1F17DB-DF02-490D-8AD4-CB6DA25CF82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FFD1DB-E8F2-48F6-A6B2-AF79783141C4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36" grpId="0" autoUpdateAnimBg="0"/>
      <p:bldP spid="44037" grpId="0" autoUpdateAnimBg="0"/>
      <p:bldP spid="44039" grpId="0" autoUpdateAnimBg="0"/>
      <p:bldP spid="44041" grpId="0" animBg="1"/>
      <p:bldP spid="44042" grpId="0" autoUpdateAnimBg="0"/>
      <p:bldP spid="44043" grpId="0" autoUpdateAnimBg="0"/>
      <p:bldP spid="44053" grpId="0" animBg="1"/>
      <p:bldP spid="44055" grpId="0" autoUpdateAnimBg="0"/>
      <p:bldP spid="44061" grpId="0" autoUpdateAnimBg="0"/>
      <p:bldP spid="44062" grpId="0" autoUpdateAnimBg="0"/>
      <p:bldP spid="44064" grpId="0" autoUpdateAnimBg="0"/>
      <p:bldP spid="44065" grpId="0" autoUpdateAnimBg="0"/>
      <p:bldP spid="44066" grpId="0" autoUpdateAnimBg="0"/>
      <p:bldP spid="44067" grpId="0" autoUpdateAnimBg="0"/>
      <p:bldP spid="44070" grpId="0"/>
      <p:bldP spid="44071" grpId="0"/>
      <p:bldP spid="4407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>
            <a:extLst>
              <a:ext uri="{FF2B5EF4-FFF2-40B4-BE49-F238E27FC236}">
                <a16:creationId xmlns:a16="http://schemas.microsoft.com/office/drawing/2014/main" id="{8595C2EE-32BF-4DA7-8EBC-D0D3AFDB7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930275"/>
          <a:ext cx="20335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86" name="公式" r:id="rId3" imgW="1981098" imgH="781016" progId="Equation.3">
                  <p:embed/>
                </p:oleObj>
              </mc:Choice>
              <mc:Fallback>
                <p:oleObj name="公式" r:id="rId3" imgW="1981098" imgH="781016" progId="Equation.3">
                  <p:embed/>
                  <p:pic>
                    <p:nvPicPr>
                      <p:cNvPr id="45058" name="Object 2">
                        <a:extLst>
                          <a:ext uri="{FF2B5EF4-FFF2-40B4-BE49-F238E27FC236}">
                            <a16:creationId xmlns:a16="http://schemas.microsoft.com/office/drawing/2014/main" id="{8595C2EE-32BF-4DA7-8EBC-D0D3AFDB7B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930275"/>
                        <a:ext cx="20335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>
            <a:extLst>
              <a:ext uri="{FF2B5EF4-FFF2-40B4-BE49-F238E27FC236}">
                <a16:creationId xmlns:a16="http://schemas.microsoft.com/office/drawing/2014/main" id="{1404150B-D523-45C1-B473-4BD4D04D57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0388" y="1139825"/>
          <a:ext cx="18034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87" name="公式" r:id="rId5" imgW="1752651" imgH="371373" progId="Equation.3">
                  <p:embed/>
                </p:oleObj>
              </mc:Choice>
              <mc:Fallback>
                <p:oleObj name="公式" r:id="rId5" imgW="1752651" imgH="371373" progId="Equation.3">
                  <p:embed/>
                  <p:pic>
                    <p:nvPicPr>
                      <p:cNvPr id="45059" name="Object 3">
                        <a:extLst>
                          <a:ext uri="{FF2B5EF4-FFF2-40B4-BE49-F238E27FC236}">
                            <a16:creationId xmlns:a16="http://schemas.microsoft.com/office/drawing/2014/main" id="{1404150B-D523-45C1-B473-4BD4D04D57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1139825"/>
                        <a:ext cx="18034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>
            <a:extLst>
              <a:ext uri="{FF2B5EF4-FFF2-40B4-BE49-F238E27FC236}">
                <a16:creationId xmlns:a16="http://schemas.microsoft.com/office/drawing/2014/main" id="{94251F3E-4FA1-469F-9BBE-8DE860E79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25" y="1143000"/>
          <a:ext cx="16954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88" name="公式" r:id="rId7" imgW="647725" imgH="152468" progId="Equation.3">
                  <p:embed/>
                </p:oleObj>
              </mc:Choice>
              <mc:Fallback>
                <p:oleObj name="公式" r:id="rId7" imgW="647725" imgH="152468" progId="Equation.3">
                  <p:embed/>
                  <p:pic>
                    <p:nvPicPr>
                      <p:cNvPr id="45060" name="Object 4">
                        <a:extLst>
                          <a:ext uri="{FF2B5EF4-FFF2-40B4-BE49-F238E27FC236}">
                            <a16:creationId xmlns:a16="http://schemas.microsoft.com/office/drawing/2014/main" id="{94251F3E-4FA1-469F-9BBE-8DE860E798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1143000"/>
                        <a:ext cx="16954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Rectangle 5">
            <a:extLst>
              <a:ext uri="{FF2B5EF4-FFF2-40B4-BE49-F238E27FC236}">
                <a16:creationId xmlns:a16="http://schemas.microsoft.com/office/drawing/2014/main" id="{43AF1414-4AF2-43DC-B607-EBAFF815F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138" y="1082675"/>
            <a:ext cx="166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干涉相消</a:t>
            </a:r>
          </a:p>
        </p:txBody>
      </p:sp>
      <p:graphicFrame>
        <p:nvGraphicFramePr>
          <p:cNvPr id="45062" name="Object 5">
            <a:extLst>
              <a:ext uri="{FF2B5EF4-FFF2-40B4-BE49-F238E27FC236}">
                <a16:creationId xmlns:a16="http://schemas.microsoft.com/office/drawing/2014/main" id="{1FA8C75A-4F78-4223-B363-903F5FBECC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1857375"/>
          <a:ext cx="20367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89" name="公式" r:id="rId9" imgW="971588" imgH="171450" progId="Equation.3">
                  <p:embed/>
                </p:oleObj>
              </mc:Choice>
              <mc:Fallback>
                <p:oleObj name="公式" r:id="rId9" imgW="971588" imgH="171450" progId="Equation.3">
                  <p:embed/>
                  <p:pic>
                    <p:nvPicPr>
                      <p:cNvPr id="45062" name="Object 5">
                        <a:extLst>
                          <a:ext uri="{FF2B5EF4-FFF2-40B4-BE49-F238E27FC236}">
                            <a16:creationId xmlns:a16="http://schemas.microsoft.com/office/drawing/2014/main" id="{1FA8C75A-4F78-4223-B363-903F5FBECC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1857375"/>
                        <a:ext cx="20367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6">
            <a:extLst>
              <a:ext uri="{FF2B5EF4-FFF2-40B4-BE49-F238E27FC236}">
                <a16:creationId xmlns:a16="http://schemas.microsoft.com/office/drawing/2014/main" id="{AB637E6C-5DDA-4F73-91D5-E922D6F23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2063" y="1857375"/>
          <a:ext cx="22098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0" name="公式" r:id="rId11" imgW="1095445" imgH="152468" progId="Equation.3">
                  <p:embed/>
                </p:oleObj>
              </mc:Choice>
              <mc:Fallback>
                <p:oleObj name="公式" r:id="rId11" imgW="1095445" imgH="152468" progId="Equation.3">
                  <p:embed/>
                  <p:pic>
                    <p:nvPicPr>
                      <p:cNvPr id="45063" name="Object 6">
                        <a:extLst>
                          <a:ext uri="{FF2B5EF4-FFF2-40B4-BE49-F238E27FC236}">
                            <a16:creationId xmlns:a16="http://schemas.microsoft.com/office/drawing/2014/main" id="{AB637E6C-5DDA-4F73-91D5-E922D6F23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1857375"/>
                        <a:ext cx="22098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Rectangle 8">
            <a:extLst>
              <a:ext uri="{FF2B5EF4-FFF2-40B4-BE49-F238E27FC236}">
                <a16:creationId xmlns:a16="http://schemas.microsoft.com/office/drawing/2014/main" id="{858A757C-1132-453B-BB39-D98194AE7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439988"/>
            <a:ext cx="8358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i="1">
                <a:solidFill>
                  <a:schemeClr val="bg1"/>
                </a:solidFill>
              </a:rPr>
              <a:t>A, B 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之间距离</a:t>
            </a:r>
            <a:r>
              <a:rPr kumimoji="0" lang="en-US" altLang="zh-CN" i="1">
                <a:solidFill>
                  <a:schemeClr val="bg1"/>
                </a:solidFill>
              </a:rPr>
              <a:t>A 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点为 </a:t>
            </a:r>
            <a:r>
              <a:rPr kumimoji="0" lang="en-US" altLang="zh-CN" i="1">
                <a:solidFill>
                  <a:srgbClr val="FFFF00"/>
                </a:solidFill>
              </a:rPr>
              <a:t>r</a:t>
            </a:r>
            <a:r>
              <a:rPr kumimoji="0" lang="en-US" altLang="zh-CN" baseline="-25000">
                <a:solidFill>
                  <a:srgbClr val="FFFF00"/>
                </a:solidFill>
              </a:rPr>
              <a:t>1 </a:t>
            </a:r>
            <a:r>
              <a:rPr kumimoji="0" lang="en-US" altLang="zh-CN">
                <a:solidFill>
                  <a:srgbClr val="FFFF00"/>
                </a:solidFill>
              </a:rPr>
              <a:t>=1,3,5,…,29 m</a:t>
            </a:r>
            <a:r>
              <a:rPr kumimoji="0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处出现静止点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45065" name="Text Box 9">
            <a:extLst>
              <a:ext uri="{FF2B5EF4-FFF2-40B4-BE49-F238E27FC236}">
                <a16:creationId xmlns:a16="http://schemas.microsoft.com/office/drawing/2014/main" id="{57D83E01-99BB-468F-9BFB-3121106CA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368300"/>
            <a:ext cx="2532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rgbClr val="00FFFF"/>
                </a:solidFill>
              </a:rPr>
              <a:t>P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i="1">
                <a:solidFill>
                  <a:schemeClr val="bg1"/>
                </a:solidFill>
              </a:rPr>
              <a:t>A</a:t>
            </a:r>
            <a:r>
              <a:rPr lang="zh-CN" altLang="en-US" i="1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chemeClr val="bg1"/>
                </a:solidFill>
              </a:rPr>
              <a:t>B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中间</a:t>
            </a:r>
          </a:p>
        </p:txBody>
      </p:sp>
      <p:graphicFrame>
        <p:nvGraphicFramePr>
          <p:cNvPr id="45066" name="Object 7">
            <a:extLst>
              <a:ext uri="{FF2B5EF4-FFF2-40B4-BE49-F238E27FC236}">
                <a16:creationId xmlns:a16="http://schemas.microsoft.com/office/drawing/2014/main" id="{1997B91A-692C-4C31-87D7-233CF367AA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407988"/>
          <a:ext cx="13430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1" name="公式" r:id="rId13" imgW="1295451" imgH="371373" progId="Equation.3">
                  <p:embed/>
                </p:oleObj>
              </mc:Choice>
              <mc:Fallback>
                <p:oleObj name="公式" r:id="rId13" imgW="1295451" imgH="371373" progId="Equation.3">
                  <p:embed/>
                  <p:pic>
                    <p:nvPicPr>
                      <p:cNvPr id="45066" name="Object 7">
                        <a:extLst>
                          <a:ext uri="{FF2B5EF4-FFF2-40B4-BE49-F238E27FC236}">
                            <a16:creationId xmlns:a16="http://schemas.microsoft.com/office/drawing/2014/main" id="{1997B91A-692C-4C31-87D7-233CF367AA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407988"/>
                        <a:ext cx="13430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7" name="Object 8">
            <a:extLst>
              <a:ext uri="{FF2B5EF4-FFF2-40B4-BE49-F238E27FC236}">
                <a16:creationId xmlns:a16="http://schemas.microsoft.com/office/drawing/2014/main" id="{DDAA50B0-52B2-425F-BA6A-7087F35ABB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9363" y="407988"/>
          <a:ext cx="31670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2" name="公式" r:id="rId15" imgW="3124251" imgH="371373" progId="Equation.3">
                  <p:embed/>
                </p:oleObj>
              </mc:Choice>
              <mc:Fallback>
                <p:oleObj name="公式" r:id="rId15" imgW="3124251" imgH="371373" progId="Equation.3">
                  <p:embed/>
                  <p:pic>
                    <p:nvPicPr>
                      <p:cNvPr id="45067" name="Object 8">
                        <a:extLst>
                          <a:ext uri="{FF2B5EF4-FFF2-40B4-BE49-F238E27FC236}">
                            <a16:creationId xmlns:a16="http://schemas.microsoft.com/office/drawing/2014/main" id="{DDAA50B0-52B2-425F-BA6A-7087F35ABB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3" y="407988"/>
                        <a:ext cx="316706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8" name="Rectangle 12">
            <a:extLst>
              <a:ext uri="{FF2B5EF4-FFF2-40B4-BE49-F238E27FC236}">
                <a16:creationId xmlns:a16="http://schemas.microsoft.com/office/drawing/2014/main" id="{096B370F-9C72-46B7-AEFE-5111DF71E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35718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•</a:t>
            </a:r>
          </a:p>
        </p:txBody>
      </p:sp>
      <p:sp>
        <p:nvSpPr>
          <p:cNvPr id="13" name="Line 2057">
            <a:extLst>
              <a:ext uri="{FF2B5EF4-FFF2-40B4-BE49-F238E27FC236}">
                <a16:creationId xmlns:a16="http://schemas.microsoft.com/office/drawing/2014/main" id="{779266ED-4F06-4049-B174-941FE7582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3148013"/>
            <a:ext cx="0" cy="1828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2058">
            <a:extLst>
              <a:ext uri="{FF2B5EF4-FFF2-40B4-BE49-F238E27FC236}">
                <a16:creationId xmlns:a16="http://schemas.microsoft.com/office/drawing/2014/main" id="{24B24A12-F95A-4301-AAF3-7EECBF2BB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3148013"/>
            <a:ext cx="0" cy="1828800"/>
          </a:xfrm>
          <a:prstGeom prst="line">
            <a:avLst/>
          </a:prstGeom>
          <a:noFill/>
          <a:ln w="19050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059">
            <a:extLst>
              <a:ext uri="{FF2B5EF4-FFF2-40B4-BE49-F238E27FC236}">
                <a16:creationId xmlns:a16="http://schemas.microsoft.com/office/drawing/2014/main" id="{8ACB0205-4596-48D5-B000-FA1329979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3148013"/>
            <a:ext cx="0" cy="1828800"/>
          </a:xfrm>
          <a:prstGeom prst="line">
            <a:avLst/>
          </a:prstGeom>
          <a:noFill/>
          <a:ln w="19050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060">
            <a:extLst>
              <a:ext uri="{FF2B5EF4-FFF2-40B4-BE49-F238E27FC236}">
                <a16:creationId xmlns:a16="http://schemas.microsoft.com/office/drawing/2014/main" id="{00EEC639-398E-4505-9A89-E0BBF1204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7300" y="3148013"/>
            <a:ext cx="0" cy="1828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061">
            <a:extLst>
              <a:ext uri="{FF2B5EF4-FFF2-40B4-BE49-F238E27FC236}">
                <a16:creationId xmlns:a16="http://schemas.microsoft.com/office/drawing/2014/main" id="{BF323210-354D-4997-A99B-BCC38DAC5F91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800850" y="4794250"/>
            <a:ext cx="0" cy="19431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062">
            <a:extLst>
              <a:ext uri="{FF2B5EF4-FFF2-40B4-BE49-F238E27FC236}">
                <a16:creationId xmlns:a16="http://schemas.microsoft.com/office/drawing/2014/main" id="{9AC464FB-8E94-444F-B036-71224F7688DF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800850" y="5175250"/>
            <a:ext cx="0" cy="19431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064">
            <a:extLst>
              <a:ext uri="{FF2B5EF4-FFF2-40B4-BE49-F238E27FC236}">
                <a16:creationId xmlns:a16="http://schemas.microsoft.com/office/drawing/2014/main" id="{043F14CE-7425-40EC-8C8C-D36D927DF613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800850" y="5556250"/>
            <a:ext cx="0" cy="19431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063">
            <a:extLst>
              <a:ext uri="{FF2B5EF4-FFF2-40B4-BE49-F238E27FC236}">
                <a16:creationId xmlns:a16="http://schemas.microsoft.com/office/drawing/2014/main" id="{0AE1AE2C-2D74-402B-BCEF-912F52DB7592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800850" y="4413250"/>
            <a:ext cx="0" cy="19431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102">
            <a:extLst>
              <a:ext uri="{FF2B5EF4-FFF2-40B4-BE49-F238E27FC236}">
                <a16:creationId xmlns:a16="http://schemas.microsoft.com/office/drawing/2014/main" id="{EFE40D1C-D5D3-4A35-8680-A71BD7C5E08A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3068638"/>
            <a:ext cx="1981200" cy="1981200"/>
            <a:chOff x="3792" y="2064"/>
            <a:chExt cx="1248" cy="1248"/>
          </a:xfrm>
        </p:grpSpPr>
        <p:grpSp>
          <p:nvGrpSpPr>
            <p:cNvPr id="27686" name="Group 2079">
              <a:extLst>
                <a:ext uri="{FF2B5EF4-FFF2-40B4-BE49-F238E27FC236}">
                  <a16:creationId xmlns:a16="http://schemas.microsoft.com/office/drawing/2014/main" id="{CD299E53-7226-4DCA-B4E7-A5223F307F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112"/>
              <a:ext cx="1200" cy="1152"/>
              <a:chOff x="4224" y="2112"/>
              <a:chExt cx="1200" cy="1152"/>
            </a:xfrm>
          </p:grpSpPr>
          <p:sp>
            <p:nvSpPr>
              <p:cNvPr id="27694" name="Line 2065">
                <a:extLst>
                  <a:ext uri="{FF2B5EF4-FFF2-40B4-BE49-F238E27FC236}">
                    <a16:creationId xmlns:a16="http://schemas.microsoft.com/office/drawing/2014/main" id="{45AD496E-03A1-4A15-9F49-814267A51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812" y="1524"/>
                <a:ext cx="0" cy="117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5" name="Line 2069">
                <a:extLst>
                  <a:ext uri="{FF2B5EF4-FFF2-40B4-BE49-F238E27FC236}">
                    <a16:creationId xmlns:a16="http://schemas.microsoft.com/office/drawing/2014/main" id="{0B9AB38A-4B9B-48D5-8C53-9634BD38E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836" y="1812"/>
                <a:ext cx="0" cy="117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6" name="Line 2070">
                <a:extLst>
                  <a:ext uri="{FF2B5EF4-FFF2-40B4-BE49-F238E27FC236}">
                    <a16:creationId xmlns:a16="http://schemas.microsoft.com/office/drawing/2014/main" id="{E67EB53A-9F4E-4CCB-BCD8-496F8B924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836" y="2100"/>
                <a:ext cx="0" cy="117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7" name="Line 2071">
                <a:extLst>
                  <a:ext uri="{FF2B5EF4-FFF2-40B4-BE49-F238E27FC236}">
                    <a16:creationId xmlns:a16="http://schemas.microsoft.com/office/drawing/2014/main" id="{A32BEA4E-2810-40C4-866B-A3496981B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836" y="2388"/>
                <a:ext cx="0" cy="117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8" name="Line 2072">
                <a:extLst>
                  <a:ext uri="{FF2B5EF4-FFF2-40B4-BE49-F238E27FC236}">
                    <a16:creationId xmlns:a16="http://schemas.microsoft.com/office/drawing/2014/main" id="{C1562A4C-8054-4C51-83E5-E15EAD44E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836" y="2676"/>
                <a:ext cx="0" cy="117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9" name="Line 2073">
                <a:extLst>
                  <a:ext uri="{FF2B5EF4-FFF2-40B4-BE49-F238E27FC236}">
                    <a16:creationId xmlns:a16="http://schemas.microsoft.com/office/drawing/2014/main" id="{3349428C-0A3F-45F7-BB54-2A58F08D4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4248" y="211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0" name="Line 2074">
                <a:extLst>
                  <a:ext uri="{FF2B5EF4-FFF2-40B4-BE49-F238E27FC236}">
                    <a16:creationId xmlns:a16="http://schemas.microsoft.com/office/drawing/2014/main" id="{5FC2D1C3-9FCD-4016-9555-431E4FDF1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4536" y="211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1" name="Line 2075">
                <a:extLst>
                  <a:ext uri="{FF2B5EF4-FFF2-40B4-BE49-F238E27FC236}">
                    <a16:creationId xmlns:a16="http://schemas.microsoft.com/office/drawing/2014/main" id="{5146A620-ED40-485E-82ED-2EA5858ECF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4824" y="211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2" name="Line 2076">
                <a:extLst>
                  <a:ext uri="{FF2B5EF4-FFF2-40B4-BE49-F238E27FC236}">
                    <a16:creationId xmlns:a16="http://schemas.microsoft.com/office/drawing/2014/main" id="{FFC5C466-DC4D-4BD5-83C6-6D3711554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5112" y="211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3" name="Line 2077">
                <a:extLst>
                  <a:ext uri="{FF2B5EF4-FFF2-40B4-BE49-F238E27FC236}">
                    <a16:creationId xmlns:a16="http://schemas.microsoft.com/office/drawing/2014/main" id="{21BC83CE-125A-428D-92CB-DCC38F02F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5400" y="2112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687" name="Line 2080">
              <a:extLst>
                <a:ext uri="{FF2B5EF4-FFF2-40B4-BE49-F238E27FC236}">
                  <a16:creationId xmlns:a16="http://schemas.microsoft.com/office/drawing/2014/main" id="{45DE9B16-14A4-433F-8961-B4D3569B4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2112"/>
              <a:ext cx="1200" cy="1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Line 2081">
              <a:extLst>
                <a:ext uri="{FF2B5EF4-FFF2-40B4-BE49-F238E27FC236}">
                  <a16:creationId xmlns:a16="http://schemas.microsoft.com/office/drawing/2014/main" id="{B2F53A13-53EC-4005-90A2-28BA247DC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064"/>
              <a:ext cx="672" cy="67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Line 2082">
              <a:extLst>
                <a:ext uri="{FF2B5EF4-FFF2-40B4-BE49-F238E27FC236}">
                  <a16:creationId xmlns:a16="http://schemas.microsoft.com/office/drawing/2014/main" id="{2C0C254E-6AFD-4290-8626-175D29E82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2448"/>
              <a:ext cx="816" cy="81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0" name="Line 2083">
              <a:extLst>
                <a:ext uri="{FF2B5EF4-FFF2-40B4-BE49-F238E27FC236}">
                  <a16:creationId xmlns:a16="http://schemas.microsoft.com/office/drawing/2014/main" id="{13006F88-E6E7-46D5-9503-B986427D2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2112"/>
              <a:ext cx="912" cy="9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1" name="Line 2084">
              <a:extLst>
                <a:ext uri="{FF2B5EF4-FFF2-40B4-BE49-F238E27FC236}">
                  <a16:creationId xmlns:a16="http://schemas.microsoft.com/office/drawing/2014/main" id="{4F9A0E8B-A92A-4C0D-AD26-C4EB449AE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2688"/>
              <a:ext cx="624" cy="6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2" name="Line 2085">
              <a:extLst>
                <a:ext uri="{FF2B5EF4-FFF2-40B4-BE49-F238E27FC236}">
                  <a16:creationId xmlns:a16="http://schemas.microsoft.com/office/drawing/2014/main" id="{777583DF-1530-4C12-A5F7-A688D3AAD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8" y="2112"/>
              <a:ext cx="288" cy="28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3" name="Line 2086">
              <a:extLst>
                <a:ext uri="{FF2B5EF4-FFF2-40B4-BE49-F238E27FC236}">
                  <a16:creationId xmlns:a16="http://schemas.microsoft.com/office/drawing/2014/main" id="{D34B7F06-31E8-4A5E-8A41-EE6C8DE51A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2" y="2976"/>
              <a:ext cx="288" cy="28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AutoShape 2087">
            <a:extLst>
              <a:ext uri="{FF2B5EF4-FFF2-40B4-BE49-F238E27FC236}">
                <a16:creationId xmlns:a16="http://schemas.microsoft.com/office/drawing/2014/main" id="{29A03840-4152-4013-83EB-B9264E0AC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757613"/>
            <a:ext cx="990600" cy="533400"/>
          </a:xfrm>
          <a:prstGeom prst="rightArrow">
            <a:avLst>
              <a:gd name="adj1" fmla="val 50000"/>
              <a:gd name="adj2" fmla="val 46429"/>
            </a:avLst>
          </a:prstGeom>
          <a:noFill/>
          <a:ln w="222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1" name="AutoShape 2088">
            <a:extLst>
              <a:ext uri="{FF2B5EF4-FFF2-40B4-BE49-F238E27FC236}">
                <a16:creationId xmlns:a16="http://schemas.microsoft.com/office/drawing/2014/main" id="{032DD83C-381A-48FD-99D5-2C90399A2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5068888"/>
            <a:ext cx="457200" cy="990600"/>
          </a:xfrm>
          <a:prstGeom prst="upArrow">
            <a:avLst>
              <a:gd name="adj1" fmla="val 50000"/>
              <a:gd name="adj2" fmla="val 54167"/>
            </a:avLst>
          </a:prstGeom>
          <a:noFill/>
          <a:ln w="222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42" name="Text Box 2089">
            <a:extLst>
              <a:ext uri="{FF2B5EF4-FFF2-40B4-BE49-F238E27FC236}">
                <a16:creationId xmlns:a16="http://schemas.microsoft.com/office/drawing/2014/main" id="{6A1EEA65-9348-41E6-B9D7-AD68101D7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491648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峰</a:t>
            </a:r>
          </a:p>
        </p:txBody>
      </p:sp>
      <p:sp>
        <p:nvSpPr>
          <p:cNvPr id="43" name="Rectangle 2090">
            <a:extLst>
              <a:ext uri="{FF2B5EF4-FFF2-40B4-BE49-F238E27FC236}">
                <a16:creationId xmlns:a16="http://schemas.microsoft.com/office/drawing/2014/main" id="{0C84E7D1-4A1B-4D2C-A5D1-3CC9BC55A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49164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峰</a:t>
            </a:r>
          </a:p>
        </p:txBody>
      </p:sp>
      <p:sp>
        <p:nvSpPr>
          <p:cNvPr id="44" name="Rectangle 2091">
            <a:extLst>
              <a:ext uri="{FF2B5EF4-FFF2-40B4-BE49-F238E27FC236}">
                <a16:creationId xmlns:a16="http://schemas.microsoft.com/office/drawing/2014/main" id="{75890DD6-FBF0-4CF7-961E-98EA5E79F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55229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峰</a:t>
            </a:r>
          </a:p>
        </p:txBody>
      </p:sp>
      <p:sp>
        <p:nvSpPr>
          <p:cNvPr id="45" name="Rectangle 2092">
            <a:extLst>
              <a:ext uri="{FF2B5EF4-FFF2-40B4-BE49-F238E27FC236}">
                <a16:creationId xmlns:a16="http://schemas.microsoft.com/office/drawing/2014/main" id="{CD62985D-DBE2-4CD6-9310-6C3A0C145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62849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峰</a:t>
            </a:r>
          </a:p>
        </p:txBody>
      </p:sp>
      <p:sp>
        <p:nvSpPr>
          <p:cNvPr id="46" name="Rectangle 2093">
            <a:extLst>
              <a:ext uri="{FF2B5EF4-FFF2-40B4-BE49-F238E27FC236}">
                <a16:creationId xmlns:a16="http://schemas.microsoft.com/office/drawing/2014/main" id="{F4C5B965-A43D-4566-8BBE-74F6C1013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9164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谷</a:t>
            </a:r>
          </a:p>
        </p:txBody>
      </p:sp>
      <p:sp>
        <p:nvSpPr>
          <p:cNvPr id="47" name="Rectangle 2094">
            <a:extLst>
              <a:ext uri="{FF2B5EF4-FFF2-40B4-BE49-F238E27FC236}">
                <a16:creationId xmlns:a16="http://schemas.microsoft.com/office/drawing/2014/main" id="{6A7C211D-AF16-4D57-9C52-4D2D8F40F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49164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谷</a:t>
            </a:r>
          </a:p>
        </p:txBody>
      </p:sp>
      <p:sp>
        <p:nvSpPr>
          <p:cNvPr id="48" name="Rectangle 2095">
            <a:extLst>
              <a:ext uri="{FF2B5EF4-FFF2-40B4-BE49-F238E27FC236}">
                <a16:creationId xmlns:a16="http://schemas.microsoft.com/office/drawing/2014/main" id="{4EF52EE8-08C0-477D-8481-82ED88418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51419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谷</a:t>
            </a:r>
          </a:p>
        </p:txBody>
      </p:sp>
      <p:sp>
        <p:nvSpPr>
          <p:cNvPr id="49" name="Rectangle 2096">
            <a:extLst>
              <a:ext uri="{FF2B5EF4-FFF2-40B4-BE49-F238E27FC236}">
                <a16:creationId xmlns:a16="http://schemas.microsoft.com/office/drawing/2014/main" id="{0A6E1738-0936-4B54-8668-56F710ED7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938" y="59039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谷</a:t>
            </a:r>
          </a:p>
        </p:txBody>
      </p:sp>
      <p:sp>
        <p:nvSpPr>
          <p:cNvPr id="50" name="AutoShape 2099">
            <a:extLst>
              <a:ext uri="{FF2B5EF4-FFF2-40B4-BE49-F238E27FC236}">
                <a16:creationId xmlns:a16="http://schemas.microsoft.com/office/drawing/2014/main" id="{405B636B-9ABF-492D-91FC-946210C7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9100" y="3148013"/>
            <a:ext cx="461963" cy="1676400"/>
          </a:xfrm>
          <a:prstGeom prst="wedgeRectCallout">
            <a:avLst>
              <a:gd name="adj1" fmla="val -155532"/>
              <a:gd name="adj2" fmla="val -35125"/>
            </a:avLst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干</a:t>
            </a:r>
          </a:p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涉</a:t>
            </a:r>
          </a:p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条</a:t>
            </a:r>
          </a:p>
          <a:p>
            <a:pPr algn="ctr" eaLnBrk="1" hangingPunct="1"/>
            <a:r>
              <a:rPr kumimoji="0" lang="zh-CN" altLang="en-US">
                <a:solidFill>
                  <a:schemeClr val="hlink"/>
                </a:solidFill>
              </a:rPr>
              <a:t>纹</a:t>
            </a:r>
          </a:p>
        </p:txBody>
      </p:sp>
      <p:sp>
        <p:nvSpPr>
          <p:cNvPr id="51" name="Rectangle 2097">
            <a:extLst>
              <a:ext uri="{FF2B5EF4-FFF2-40B4-BE49-F238E27FC236}">
                <a16:creationId xmlns:a16="http://schemas.microsoft.com/office/drawing/2014/main" id="{086B2923-07A9-4582-98AE-9E9E6E767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043238"/>
            <a:ext cx="349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例：两个相干平面波</a:t>
            </a:r>
          </a:p>
        </p:txBody>
      </p:sp>
      <p:sp>
        <p:nvSpPr>
          <p:cNvPr id="52" name="Rectangle 2098">
            <a:extLst>
              <a:ext uri="{FF2B5EF4-FFF2-40B4-BE49-F238E27FC236}">
                <a16:creationId xmlns:a16="http://schemas.microsoft.com/office/drawing/2014/main" id="{2278EAB8-2F14-48E7-9C32-C720A06FE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662363"/>
            <a:ext cx="314325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200">
                <a:solidFill>
                  <a:schemeClr val="hlink"/>
                </a:solidFill>
              </a:rPr>
              <a:t>        </a:t>
            </a:r>
            <a:r>
              <a:rPr kumimoji="0" lang="zh-CN" altLang="en-US" sz="2200">
                <a:solidFill>
                  <a:schemeClr val="bg1"/>
                </a:solidFill>
              </a:rPr>
              <a:t>峰与峰，谷与谷相交点是</a:t>
            </a:r>
            <a:r>
              <a:rPr kumimoji="0" lang="zh-CN" altLang="en-US" sz="2200">
                <a:solidFill>
                  <a:srgbClr val="FFFF00"/>
                </a:solidFill>
              </a:rPr>
              <a:t>相长点</a:t>
            </a:r>
            <a:r>
              <a:rPr kumimoji="0" lang="zh-CN" altLang="en-US" sz="2200">
                <a:solidFill>
                  <a:schemeClr val="bg1"/>
                </a:solidFill>
              </a:rPr>
              <a:t>，峰与谷相交点是</a:t>
            </a:r>
            <a:r>
              <a:rPr kumimoji="0" lang="zh-CN" altLang="en-US" sz="2200">
                <a:solidFill>
                  <a:srgbClr val="FFFF00"/>
                </a:solidFill>
              </a:rPr>
              <a:t>相消点</a:t>
            </a:r>
            <a:r>
              <a:rPr kumimoji="0" lang="zh-CN" altLang="en-US" sz="2200">
                <a:solidFill>
                  <a:schemeClr val="bg1"/>
                </a:solidFill>
              </a:rPr>
              <a:t>。这些相长点和相消点在空间形成各自的曲面簇，彼此相间排列。</a:t>
            </a:r>
          </a:p>
        </p:txBody>
      </p:sp>
      <p:sp>
        <p:nvSpPr>
          <p:cNvPr id="53" name="Rectangle 2100">
            <a:extLst>
              <a:ext uri="{FF2B5EF4-FFF2-40B4-BE49-F238E27FC236}">
                <a16:creationId xmlns:a16="http://schemas.microsoft.com/office/drawing/2014/main" id="{B2C9C54A-3CF6-4E3B-A2C6-2A0EC9C26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13" y="5934075"/>
            <a:ext cx="262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非相干波的叠加：</a:t>
            </a:r>
          </a:p>
        </p:txBody>
      </p:sp>
      <p:graphicFrame>
        <p:nvGraphicFramePr>
          <p:cNvPr id="54" name="Object 13">
            <a:extLst>
              <a:ext uri="{FF2B5EF4-FFF2-40B4-BE49-F238E27FC236}">
                <a16:creationId xmlns:a16="http://schemas.microsoft.com/office/drawing/2014/main" id="{FE67DE8D-5A9A-4D80-8686-0277A71B43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0863" y="5872163"/>
          <a:ext cx="1981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3" name="Equation" r:id="rId17" imgW="609498" imgH="171450" progId="Equation.3">
                  <p:embed/>
                </p:oleObj>
              </mc:Choice>
              <mc:Fallback>
                <p:oleObj name="Equation" r:id="rId17" imgW="609498" imgH="171450" progId="Equation.3">
                  <p:embed/>
                  <p:pic>
                    <p:nvPicPr>
                      <p:cNvPr id="54" name="Object 13">
                        <a:extLst>
                          <a:ext uri="{FF2B5EF4-FFF2-40B4-BE49-F238E27FC236}">
                            <a16:creationId xmlns:a16="http://schemas.microsoft.com/office/drawing/2014/main" id="{FE67DE8D-5A9A-4D80-8686-0277A71B43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5872163"/>
                        <a:ext cx="1981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5" name="灯片编号占位符 1">
            <a:extLst>
              <a:ext uri="{FF2B5EF4-FFF2-40B4-BE49-F238E27FC236}">
                <a16:creationId xmlns:a16="http://schemas.microsoft.com/office/drawing/2014/main" id="{5878EACD-F29B-43BE-BBA4-157BFB845E9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105EB0-0C83-407C-8A38-59692FB9D942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utoUpdateAnimBg="0"/>
      <p:bldP spid="45064" grpId="0" autoUpdateAnimBg="0"/>
      <p:bldP spid="45065" grpId="0" autoUpdateAnimBg="0"/>
      <p:bldP spid="45068" grpId="0"/>
      <p:bldP spid="40" grpId="0" animBg="1"/>
      <p:bldP spid="41" grpId="0" animBg="1"/>
      <p:bldP spid="42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7" grpId="0" autoUpdateAnimBg="0"/>
      <p:bldP spid="48" grpId="0" autoUpdateAnimBg="0"/>
      <p:bldP spid="49" grpId="0" autoUpdateAnimBg="0"/>
      <p:bldP spid="50" grpId="0" animBg="1" autoUpdateAnimBg="0"/>
      <p:bldP spid="51" grpId="0" autoUpdateAnimBg="0"/>
      <p:bldP spid="52" grpId="0" autoUpdateAnimBg="0"/>
      <p:bldP spid="5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6"/>
          <p:cNvSpPr txBox="1"/>
          <p:nvPr/>
        </p:nvSpPr>
        <p:spPr>
          <a:xfrm>
            <a:off x="528638" y="1895475"/>
            <a:ext cx="40433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一</a:t>
            </a:r>
            <a:r>
              <a:rPr lang="en-US" altLang="zh-CN" dirty="0">
                <a:solidFill>
                  <a:srgbClr val="00FFFF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 驻波的产生</a:t>
            </a: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2857500" y="142875"/>
            <a:ext cx="4500563" cy="55403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tx2"/>
            </a:outerShdw>
          </a:effectLst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000" kern="1200" cap="none" spc="0" normalizeH="0" baseline="0" noProof="0" dirty="0">
                <a:solidFill>
                  <a:srgbClr val="66FF33"/>
                </a:solidFill>
                <a:latin typeface="+mn-lt"/>
                <a:ea typeface="宋体" panose="02010600030101010101" pitchFamily="2" charset="-122"/>
                <a:cs typeface="+mn-cs"/>
              </a:rPr>
              <a:t>§13.6  </a:t>
            </a:r>
            <a:r>
              <a:rPr kumimoji="1" lang="zh-CN" altLang="en-US" sz="3000" kern="1200" cap="none" spc="0" normalizeH="0" baseline="0" noProof="0" dirty="0">
                <a:solidFill>
                  <a:srgbClr val="66FF33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驻  波</a:t>
            </a:r>
          </a:p>
        </p:txBody>
      </p:sp>
      <p:sp>
        <p:nvSpPr>
          <p:cNvPr id="5" name="Rectangle 3"/>
          <p:cNvSpPr/>
          <p:nvPr/>
        </p:nvSpPr>
        <p:spPr>
          <a:xfrm>
            <a:off x="685800" y="790575"/>
            <a:ext cx="27432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满足相干条件</a:t>
            </a:r>
          </a:p>
        </p:txBody>
      </p:sp>
      <p:sp>
        <p:nvSpPr>
          <p:cNvPr id="6" name="AutoShape 4"/>
          <p:cNvSpPr/>
          <p:nvPr/>
        </p:nvSpPr>
        <p:spPr>
          <a:xfrm>
            <a:off x="2676525" y="866775"/>
            <a:ext cx="609600" cy="304800"/>
          </a:xfrm>
          <a:prstGeom prst="rightArrow">
            <a:avLst>
              <a:gd name="adj1" fmla="val 50000"/>
              <a:gd name="adj2" fmla="val 75000"/>
            </a:avLst>
          </a:prstGeom>
          <a:noFill/>
          <a:ln w="222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3309938" y="790575"/>
            <a:ext cx="27432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形成波的干涉</a:t>
            </a:r>
          </a:p>
        </p:txBody>
      </p:sp>
      <p:sp>
        <p:nvSpPr>
          <p:cNvPr id="8" name="AutoShape 6"/>
          <p:cNvSpPr/>
          <p:nvPr/>
        </p:nvSpPr>
        <p:spPr>
          <a:xfrm>
            <a:off x="5364163" y="866775"/>
            <a:ext cx="636587" cy="304800"/>
          </a:xfrm>
          <a:prstGeom prst="rightArrow">
            <a:avLst>
              <a:gd name="adj1" fmla="val 50000"/>
              <a:gd name="adj2" fmla="val 74994"/>
            </a:avLst>
          </a:prstGeom>
          <a:noFill/>
          <a:ln w="222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6113463" y="790575"/>
            <a:ext cx="2601912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特殊振动状态</a:t>
            </a:r>
          </a:p>
        </p:txBody>
      </p:sp>
      <p:sp>
        <p:nvSpPr>
          <p:cNvPr id="10" name="Rectangle 8"/>
          <p:cNvSpPr/>
          <p:nvPr/>
        </p:nvSpPr>
        <p:spPr>
          <a:xfrm>
            <a:off x="665163" y="1357313"/>
            <a:ext cx="7621587" cy="430212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两列等振幅相干波沿相反方向传播时叠加而形成 </a:t>
            </a:r>
            <a:r>
              <a:rPr lang="en-US" altLang="zh-CN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—— 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驻波</a:t>
            </a:r>
          </a:p>
        </p:txBody>
      </p:sp>
      <p:grpSp>
        <p:nvGrpSpPr>
          <p:cNvPr id="2" name="组合 10"/>
          <p:cNvGrpSpPr>
            <a:grpSpLocks noChangeAspect="1"/>
          </p:cNvGrpSpPr>
          <p:nvPr/>
        </p:nvGrpSpPr>
        <p:grpSpPr>
          <a:xfrm>
            <a:off x="5357813" y="1982788"/>
            <a:ext cx="3143250" cy="2160587"/>
            <a:chOff x="4495800" y="2438400"/>
            <a:chExt cx="4343400" cy="3725863"/>
          </a:xfrm>
        </p:grpSpPr>
        <p:pic>
          <p:nvPicPr>
            <p:cNvPr id="7182" name="Picture 10" descr="驻波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495800" y="2438400"/>
              <a:ext cx="4343400" cy="37258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3" name="Line 12"/>
            <p:cNvSpPr/>
            <p:nvPr/>
          </p:nvSpPr>
          <p:spPr>
            <a:xfrm>
              <a:off x="5562600" y="2514600"/>
              <a:ext cx="762000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4" name="Line 13"/>
            <p:cNvSpPr/>
            <p:nvPr/>
          </p:nvSpPr>
          <p:spPr>
            <a:xfrm flipH="1">
              <a:off x="6553200" y="2514600"/>
              <a:ext cx="762000" cy="0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" name="Rectangle 11"/>
          <p:cNvSpPr/>
          <p:nvPr/>
        </p:nvSpPr>
        <p:spPr>
          <a:xfrm>
            <a:off x="590550" y="2428875"/>
            <a:ext cx="4624388" cy="1463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</a:pPr>
            <a:r>
              <a:rPr lang="zh-CN" altLang="en-US" sz="2200" dirty="0">
                <a:solidFill>
                  <a:srgbClr val="FFFF00"/>
                </a:solidFill>
                <a:latin typeface="Times New Roman" panose="02020603050405020304" pitchFamily="18" charset="0"/>
              </a:rPr>
              <a:t>实验现象：</a:t>
            </a:r>
            <a:r>
              <a:rPr lang="zh-CN" altLang="en-US" sz="2200" dirty="0">
                <a:solidFill>
                  <a:schemeClr val="bg1"/>
                </a:solidFill>
                <a:latin typeface="Times New Roman" panose="02020603050405020304" pitchFamily="18" charset="0"/>
              </a:rPr>
              <a:t>驻波中，一些介质质点始终保持静止，一些介质质点却始终保持振动最大</a:t>
            </a:r>
          </a:p>
        </p:txBody>
      </p:sp>
      <p:sp>
        <p:nvSpPr>
          <p:cNvPr id="7180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18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/24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92168" r:id="rId2" imgW="7272337" imgH="2592388"/>
        </mc:Choice>
        <mc:Fallback>
          <p:control r:id="rId2" imgW="7272337" imgH="2592388">
            <p:pic>
              <p:nvPicPr>
                <p:cNvPr id="3" name="ShockwaveFlash1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0113" y="4076700"/>
                  <a:ext cx="7272337" cy="2592388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4" grpId="0"/>
      <p:bldP spid="5" grpId="0"/>
      <p:bldP spid="6" grpId="0" animBg="1"/>
      <p:bldP spid="7" grpId="0"/>
      <p:bldP spid="8" grpId="0" animBg="1"/>
      <p:bldP spid="9" grpId="0"/>
      <p:bldP spid="10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30" name="Rectangle 14">
            <a:extLst>
              <a:ext uri="{FF2B5EF4-FFF2-40B4-BE49-F238E27FC236}">
                <a16:creationId xmlns:a16="http://schemas.microsoft.com/office/drawing/2014/main" id="{C480E6A7-BE5B-42A6-B748-AC2E7C3D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57188"/>
            <a:ext cx="62880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二</a:t>
            </a:r>
            <a:r>
              <a:rPr lang="en-US" altLang="zh-CN" sz="2200">
                <a:solidFill>
                  <a:srgbClr val="FFFF00"/>
                </a:solidFill>
              </a:rPr>
              <a:t>.   </a:t>
            </a:r>
            <a:r>
              <a:rPr lang="zh-CN" altLang="en-US" sz="2200">
                <a:solidFill>
                  <a:srgbClr val="FFFF00"/>
                </a:solidFill>
              </a:rPr>
              <a:t>驻波的定量分析</a:t>
            </a:r>
          </a:p>
        </p:txBody>
      </p:sp>
      <p:graphicFrame>
        <p:nvGraphicFramePr>
          <p:cNvPr id="521231" name="Object 2">
            <a:extLst>
              <a:ext uri="{FF2B5EF4-FFF2-40B4-BE49-F238E27FC236}">
                <a16:creationId xmlns:a16="http://schemas.microsoft.com/office/drawing/2014/main" id="{562F28C3-2A5B-4F01-ADA8-DABE31ECE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8375" y="1357313"/>
          <a:ext cx="324643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6" name="公式" r:id="rId3" imgW="1285971" imgH="352391" progId="Equation.3">
                  <p:embed/>
                </p:oleObj>
              </mc:Choice>
              <mc:Fallback>
                <p:oleObj name="公式" r:id="rId3" imgW="1285971" imgH="352391" progId="Equation.3">
                  <p:embed/>
                  <p:pic>
                    <p:nvPicPr>
                      <p:cNvPr id="521231" name="Object 2">
                        <a:extLst>
                          <a:ext uri="{FF2B5EF4-FFF2-40B4-BE49-F238E27FC236}">
                            <a16:creationId xmlns:a16="http://schemas.microsoft.com/office/drawing/2014/main" id="{562F28C3-2A5B-4F01-ADA8-DABE31ECE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1357313"/>
                        <a:ext cx="3246438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32" name="Object 3">
            <a:extLst>
              <a:ext uri="{FF2B5EF4-FFF2-40B4-BE49-F238E27FC236}">
                <a16:creationId xmlns:a16="http://schemas.microsoft.com/office/drawing/2014/main" id="{51855844-9B80-41D4-A3D8-4C1F1AA05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1357313"/>
          <a:ext cx="31353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7" name="公式" r:id="rId5" imgW="1295451" imgH="352391" progId="Equation.3">
                  <p:embed/>
                </p:oleObj>
              </mc:Choice>
              <mc:Fallback>
                <p:oleObj name="公式" r:id="rId5" imgW="1295451" imgH="352391" progId="Equation.3">
                  <p:embed/>
                  <p:pic>
                    <p:nvPicPr>
                      <p:cNvPr id="521232" name="Object 3">
                        <a:extLst>
                          <a:ext uri="{FF2B5EF4-FFF2-40B4-BE49-F238E27FC236}">
                            <a16:creationId xmlns:a16="http://schemas.microsoft.com/office/drawing/2014/main" id="{51855844-9B80-41D4-A3D8-4C1F1AA05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1357313"/>
                        <a:ext cx="3135313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33" name="Rectangle 17">
            <a:extLst>
              <a:ext uri="{FF2B5EF4-FFF2-40B4-BE49-F238E27FC236}">
                <a16:creationId xmlns:a16="http://schemas.microsoft.com/office/drawing/2014/main" id="{5FE22899-03A5-4380-9DFD-ABE3284A0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857250"/>
            <a:ext cx="7889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sz="2200">
                <a:solidFill>
                  <a:schemeClr val="bg1"/>
                </a:solidFill>
              </a:rPr>
              <a:t>设两频率相同，振幅相同，初相相同的右行波和左行波：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3B6453AC-67C3-40E2-B070-A713DC7F8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284413"/>
            <a:ext cx="56499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按叠加原理，合成波的波函数</a:t>
            </a: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82C528FF-ECF0-43D0-A024-55209BFF5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2714625"/>
          <a:ext cx="688181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8" name="公式" r:id="rId7" imgW="5629218" imgH="685800" progId="Equation.3">
                  <p:embed/>
                </p:oleObj>
              </mc:Choice>
              <mc:Fallback>
                <p:oleObj name="公式" r:id="rId7" imgW="5629218" imgH="685800" progId="Equation.3">
                  <p:embed/>
                  <p:pic>
                    <p:nvPicPr>
                      <p:cNvPr id="16" name="Object 4">
                        <a:extLst>
                          <a:ext uri="{FF2B5EF4-FFF2-40B4-BE49-F238E27FC236}">
                            <a16:creationId xmlns:a16="http://schemas.microsoft.com/office/drawing/2014/main" id="{82C528FF-ECF0-43D0-A024-55209BFF5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714625"/>
                        <a:ext cx="6881812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F75260CD-2F00-4016-9543-09C6EA10A8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3559175"/>
          <a:ext cx="35052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9" name="公式" r:id="rId9" imgW="3038622" imgH="685800" progId="Equation.3">
                  <p:embed/>
                </p:oleObj>
              </mc:Choice>
              <mc:Fallback>
                <p:oleObj name="公式" r:id="rId9" imgW="3038622" imgH="685800" progId="Equation.3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F75260CD-2F00-4016-9543-09C6EA10A8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559175"/>
                        <a:ext cx="35052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6CAF26A7-574A-4799-94EB-A0908A1D9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4613" y="4568825"/>
          <a:ext cx="20843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20" name="公式" r:id="rId11" imgW="800024" imgH="161959" progId="Equation.3">
                  <p:embed/>
                </p:oleObj>
              </mc:Choice>
              <mc:Fallback>
                <p:oleObj name="公式" r:id="rId11" imgW="800024" imgH="161959" progId="Equation.3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6CAF26A7-574A-4799-94EB-A0908A1D9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4568825"/>
                        <a:ext cx="20843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6">
            <a:extLst>
              <a:ext uri="{FF2B5EF4-FFF2-40B4-BE49-F238E27FC236}">
                <a16:creationId xmlns:a16="http://schemas.microsoft.com/office/drawing/2014/main" id="{E97E66DC-5CE8-43D9-A28B-D985C4B28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4495800"/>
            <a:ext cx="1600200" cy="1219200"/>
          </a:xfrm>
          <a:prstGeom prst="wedgeRectCallout">
            <a:avLst>
              <a:gd name="adj1" fmla="val -93352"/>
              <a:gd name="adj2" fmla="val -26282"/>
            </a:avLst>
          </a:prstGeom>
          <a:noFill/>
          <a:ln w="254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chemeClr val="bg1"/>
                </a:solidFill>
              </a:rPr>
              <a:t>驻波方程</a:t>
            </a:r>
          </a:p>
          <a:p>
            <a:pPr algn="ctr" eaLnBrk="1" hangingPunct="1"/>
            <a:r>
              <a:rPr lang="zh-CN" altLang="en-US" sz="2200">
                <a:solidFill>
                  <a:schemeClr val="bg1"/>
                </a:solidFill>
              </a:rPr>
              <a:t>＝</a:t>
            </a:r>
          </a:p>
          <a:p>
            <a:pPr algn="ctr" eaLnBrk="1" hangingPunct="1"/>
            <a:r>
              <a:rPr lang="zh-CN" altLang="en-US" sz="2200">
                <a:solidFill>
                  <a:schemeClr val="bg1"/>
                </a:solidFill>
              </a:rPr>
              <a:t>振动方程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BCE4ED1D-D53E-429E-A883-5C812E17A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5859463"/>
            <a:ext cx="72278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结论：</a:t>
            </a:r>
            <a:r>
              <a:rPr lang="zh-CN" altLang="en-US" sz="2200">
                <a:solidFill>
                  <a:schemeClr val="bg1"/>
                </a:solidFill>
              </a:rPr>
              <a:t>驻波实质上是一种特殊的振动，不是行波</a:t>
            </a:r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5AEA6AC0-AF66-441D-A392-AC9B79599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786438"/>
            <a:ext cx="457200" cy="457200"/>
          </a:xfrm>
          <a:prstGeom prst="star5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205" name="灯片编号占位符 1">
            <a:extLst>
              <a:ext uri="{FF2B5EF4-FFF2-40B4-BE49-F238E27FC236}">
                <a16:creationId xmlns:a16="http://schemas.microsoft.com/office/drawing/2014/main" id="{9098C1F8-D508-4D4C-88D5-679820AA7EB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965267-879E-445F-8D11-20B4148739E6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30" grpId="0" autoUpdateAnimBg="0"/>
      <p:bldP spid="521233" grpId="0" autoUpdateAnimBg="0"/>
      <p:bldP spid="15" grpId="0" autoUpdateAnimBg="0"/>
      <p:bldP spid="19" grpId="0" animBg="1" autoUpdateAnimBg="0"/>
      <p:bldP spid="20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5363</TotalTime>
  <Words>1264</Words>
  <Application>Microsoft Office PowerPoint</Application>
  <PresentationFormat>全屏显示(4:3)</PresentationFormat>
  <Paragraphs>210</Paragraphs>
  <Slides>19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仿宋_GB2312</vt:lpstr>
      <vt:lpstr>黑体</vt:lpstr>
      <vt:lpstr>华文仿宋</vt:lpstr>
      <vt:lpstr>楷体_GB2312</vt:lpstr>
      <vt:lpstr>宋体</vt:lpstr>
      <vt:lpstr>Arial</vt:lpstr>
      <vt:lpstr>Bookman Old Style</vt:lpstr>
      <vt:lpstr>Symbol</vt:lpstr>
      <vt:lpstr>Times New Roman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1308</cp:revision>
  <cp:lastPrinted>2025-09-17T08:04:51Z</cp:lastPrinted>
  <dcterms:created xsi:type="dcterms:W3CDTF">1998-11-21T01:35:00Z</dcterms:created>
  <dcterms:modified xsi:type="dcterms:W3CDTF">2025-09-25T08:38:04Z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