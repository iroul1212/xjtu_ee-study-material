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528" r:id="rId2"/>
    <p:sldId id="529" r:id="rId3"/>
    <p:sldId id="530" r:id="rId4"/>
    <p:sldId id="531" r:id="rId5"/>
    <p:sldId id="532" r:id="rId6"/>
    <p:sldId id="533" r:id="rId7"/>
    <p:sldId id="534" r:id="rId8"/>
    <p:sldId id="535" r:id="rId9"/>
    <p:sldId id="536" r:id="rId10"/>
    <p:sldId id="537" r:id="rId11"/>
    <p:sldId id="538" r:id="rId12"/>
    <p:sldId id="539" r:id="rId13"/>
    <p:sldId id="540" r:id="rId14"/>
    <p:sldId id="541" r:id="rId15"/>
  </p:sldIdLst>
  <p:sldSz cx="9144000" cy="6858000" type="screen4x3"/>
  <p:notesSz cx="7077075" cy="8412163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E2FD"/>
    <a:srgbClr val="00FF00"/>
    <a:srgbClr val="FF0000"/>
    <a:srgbClr val="00F26D"/>
    <a:srgbClr val="1B51A1"/>
    <a:srgbClr val="0000CC"/>
    <a:srgbClr val="FF99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0919"/>
    <p:restoredTop sz="94830"/>
  </p:normalViewPr>
  <p:slideViewPr>
    <p:cSldViewPr showGuides="1">
      <p:cViewPr varScale="1">
        <p:scale>
          <a:sx n="110" d="100"/>
          <a:sy n="110" d="100"/>
        </p:scale>
        <p:origin x="1158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4" Type="http://schemas.openxmlformats.org/officeDocument/2006/relationships/image" Target="../media/image4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20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0025" y="0"/>
            <a:ext cx="3067050" cy="420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7991475"/>
            <a:ext cx="3067050" cy="420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0025" y="7991475"/>
            <a:ext cx="3067050" cy="420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AA0DB4-4D60-45C0-B37A-93C7A29A0B3B}" type="slidenum"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20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0025" y="0"/>
            <a:ext cx="3067050" cy="420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435100" y="630238"/>
            <a:ext cx="4206875" cy="31543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2975" y="3995738"/>
            <a:ext cx="5191125" cy="3786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7991475"/>
            <a:ext cx="3067050" cy="420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0025" y="7991475"/>
            <a:ext cx="3067050" cy="420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86F2F-5E30-4C92-B5AD-94519A0E705C}" type="slidenum"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xfrm>
            <a:off x="942975" y="3995738"/>
            <a:ext cx="5191125" cy="3786187"/>
          </a:xfrm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10025" y="7991475"/>
            <a:ext cx="3067050" cy="4206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b="1" dirty="0"/>
              <a:t>1</a:t>
            </a:fld>
            <a:endParaRPr lang="en-US" altLang="zh-CN" b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e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4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2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e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8.emf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6.emf"/><Relationship Id="rId4" Type="http://schemas.openxmlformats.org/officeDocument/2006/relationships/image" Target="../media/image33.emf"/><Relationship Id="rId9" Type="http://schemas.openxmlformats.org/officeDocument/2006/relationships/oleObject" Target="../embeddings/oleObject3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AutoShape 2"/>
          <p:cNvSpPr>
            <a:spLocks noChangeArrowheads="1"/>
          </p:cNvSpPr>
          <p:nvPr/>
        </p:nvSpPr>
        <p:spPr bwMode="auto">
          <a:xfrm>
            <a:off x="1674813" y="1347788"/>
            <a:ext cx="4191000" cy="685800"/>
          </a:xfrm>
          <a:prstGeom prst="cube">
            <a:avLst>
              <a:gd name="adj" fmla="val 1696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buNone/>
            </a:pP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itchFamily="49" charset="-122"/>
                <a:ea typeface="华文中宋" panose="02010600040101010101" pitchFamily="2" charset="-122"/>
              </a:rPr>
              <a:t>热力学与气体动理论</a:t>
            </a:r>
          </a:p>
        </p:txBody>
      </p:sp>
      <p:sp>
        <p:nvSpPr>
          <p:cNvPr id="733187" name="AutoShape 3"/>
          <p:cNvSpPr>
            <a:spLocks noChangeArrowheads="1"/>
          </p:cNvSpPr>
          <p:nvPr/>
        </p:nvSpPr>
        <p:spPr bwMode="auto">
          <a:xfrm>
            <a:off x="1674813" y="2992438"/>
            <a:ext cx="4191000" cy="609600"/>
          </a:xfrm>
          <a:prstGeom prst="cube">
            <a:avLst>
              <a:gd name="adj" fmla="val 16963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仿宋_GB2312" pitchFamily="49" charset="-122"/>
                <a:ea typeface="华文中宋" panose="02010600040101010101" pitchFamily="2" charset="-122"/>
                <a:cs typeface="+mn-cs"/>
              </a:rPr>
              <a:t>机械波</a:t>
            </a:r>
          </a:p>
        </p:txBody>
      </p:sp>
      <p:sp>
        <p:nvSpPr>
          <p:cNvPr id="733188" name="AutoShape 4"/>
          <p:cNvSpPr>
            <a:spLocks noChangeArrowheads="1"/>
          </p:cNvSpPr>
          <p:nvPr/>
        </p:nvSpPr>
        <p:spPr bwMode="auto">
          <a:xfrm>
            <a:off x="1674813" y="2154238"/>
            <a:ext cx="4191000" cy="685800"/>
          </a:xfrm>
          <a:prstGeom prst="cube">
            <a:avLst>
              <a:gd name="adj" fmla="val 16963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buNone/>
            </a:pP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itchFamily="49" charset="-122"/>
                <a:ea typeface="华文中宋" panose="02010600040101010101" pitchFamily="2" charset="-122"/>
              </a:rPr>
              <a:t>机械振动</a:t>
            </a:r>
          </a:p>
        </p:txBody>
      </p:sp>
      <p:sp>
        <p:nvSpPr>
          <p:cNvPr id="733189" name="AutoShape 5"/>
          <p:cNvSpPr>
            <a:spLocks noChangeArrowheads="1"/>
          </p:cNvSpPr>
          <p:nvPr/>
        </p:nvSpPr>
        <p:spPr bwMode="auto">
          <a:xfrm>
            <a:off x="1674813" y="3767138"/>
            <a:ext cx="4191000" cy="609600"/>
          </a:xfrm>
          <a:prstGeom prst="cube">
            <a:avLst>
              <a:gd name="adj" fmla="val 16963"/>
            </a:avLst>
          </a:prstGeom>
          <a:solidFill>
            <a:srgbClr val="339966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buNone/>
            </a:pP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itchFamily="49" charset="-122"/>
                <a:ea typeface="华文中宋" panose="02010600040101010101" pitchFamily="2" charset="-122"/>
              </a:rPr>
              <a:t>波动光学</a:t>
            </a:r>
          </a:p>
        </p:txBody>
      </p:sp>
      <p:sp>
        <p:nvSpPr>
          <p:cNvPr id="4102" name="AutoShape 6"/>
          <p:cNvSpPr/>
          <p:nvPr/>
        </p:nvSpPr>
        <p:spPr>
          <a:xfrm>
            <a:off x="1674813" y="4548188"/>
            <a:ext cx="4191000" cy="685800"/>
          </a:xfrm>
          <a:prstGeom prst="cube">
            <a:avLst>
              <a:gd name="adj" fmla="val 16963"/>
            </a:avLst>
          </a:prstGeom>
          <a:solidFill>
            <a:srgbClr val="00468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r>
              <a:rPr lang="zh-CN" altLang="en-US" sz="2800" dirty="0">
                <a:solidFill>
                  <a:schemeClr val="bg1"/>
                </a:solidFill>
                <a:latin typeface="仿宋_GB2312" pitchFamily="49" charset="-122"/>
                <a:ea typeface="华文中宋" panose="02010600040101010101" pitchFamily="2" charset="-122"/>
              </a:rPr>
              <a:t>量子物理基础</a:t>
            </a:r>
          </a:p>
        </p:txBody>
      </p:sp>
      <p:sp>
        <p:nvSpPr>
          <p:cNvPr id="4103" name="Rectangle 7"/>
          <p:cNvSpPr/>
          <p:nvPr/>
        </p:nvSpPr>
        <p:spPr>
          <a:xfrm>
            <a:off x="6627813" y="3030538"/>
            <a:ext cx="22098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整体相关性</a:t>
            </a:r>
          </a:p>
        </p:txBody>
      </p:sp>
      <p:sp>
        <p:nvSpPr>
          <p:cNvPr id="4104" name="Rectangle 8"/>
          <p:cNvSpPr/>
          <p:nvPr/>
        </p:nvSpPr>
        <p:spPr>
          <a:xfrm>
            <a:off x="6627813" y="1423988"/>
            <a:ext cx="22098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宏观与微观</a:t>
            </a:r>
          </a:p>
        </p:txBody>
      </p:sp>
      <p:sp>
        <p:nvSpPr>
          <p:cNvPr id="4105" name="Line 9"/>
          <p:cNvSpPr/>
          <p:nvPr/>
        </p:nvSpPr>
        <p:spPr>
          <a:xfrm flipH="1">
            <a:off x="5865813" y="1685925"/>
            <a:ext cx="609600" cy="0"/>
          </a:xfrm>
          <a:prstGeom prst="line">
            <a:avLst/>
          </a:prstGeom>
          <a:ln w="34925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06" name="Rectangle 10"/>
          <p:cNvSpPr/>
          <p:nvPr/>
        </p:nvSpPr>
        <p:spPr>
          <a:xfrm>
            <a:off x="6627813" y="5081588"/>
            <a:ext cx="22098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整体相关性</a:t>
            </a:r>
          </a:p>
        </p:txBody>
      </p:sp>
      <p:sp>
        <p:nvSpPr>
          <p:cNvPr id="4107" name="AutoShape 11"/>
          <p:cNvSpPr/>
          <p:nvPr/>
        </p:nvSpPr>
        <p:spPr>
          <a:xfrm>
            <a:off x="1674813" y="5386388"/>
            <a:ext cx="4191000" cy="685800"/>
          </a:xfrm>
          <a:prstGeom prst="cube">
            <a:avLst>
              <a:gd name="adj" fmla="val 16963"/>
            </a:avLst>
          </a:prstGeom>
          <a:solidFill>
            <a:srgbClr val="6600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激光、固体能带理论</a:t>
            </a:r>
          </a:p>
        </p:txBody>
      </p:sp>
      <p:grpSp>
        <p:nvGrpSpPr>
          <p:cNvPr id="4108" name="Group 12"/>
          <p:cNvGrpSpPr/>
          <p:nvPr/>
        </p:nvGrpSpPr>
        <p:grpSpPr>
          <a:xfrm>
            <a:off x="5865813" y="4929188"/>
            <a:ext cx="609600" cy="762000"/>
            <a:chOff x="3744" y="1392"/>
            <a:chExt cx="576" cy="480"/>
          </a:xfrm>
        </p:grpSpPr>
        <p:sp>
          <p:nvSpPr>
            <p:cNvPr id="4118" name="Line 13"/>
            <p:cNvSpPr/>
            <p:nvPr/>
          </p:nvSpPr>
          <p:spPr>
            <a:xfrm flipH="1">
              <a:off x="3744" y="1392"/>
              <a:ext cx="576" cy="0"/>
            </a:xfrm>
            <a:prstGeom prst="line">
              <a:avLst/>
            </a:prstGeom>
            <a:ln w="3492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19" name="Line 14"/>
            <p:cNvSpPr/>
            <p:nvPr/>
          </p:nvSpPr>
          <p:spPr>
            <a:xfrm flipH="1">
              <a:off x="3744" y="1872"/>
              <a:ext cx="576" cy="0"/>
            </a:xfrm>
            <a:prstGeom prst="line">
              <a:avLst/>
            </a:prstGeom>
            <a:ln w="3492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20" name="Line 15"/>
            <p:cNvSpPr/>
            <p:nvPr/>
          </p:nvSpPr>
          <p:spPr>
            <a:xfrm>
              <a:off x="4320" y="1392"/>
              <a:ext cx="0" cy="480"/>
            </a:xfrm>
            <a:prstGeom prst="line">
              <a:avLst/>
            </a:prstGeom>
            <a:ln w="3492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09" name="Rectangle 16"/>
          <p:cNvSpPr/>
          <p:nvPr/>
        </p:nvSpPr>
        <p:spPr>
          <a:xfrm>
            <a:off x="684213" y="3625850"/>
            <a:ext cx="574675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仿宋_GB2312" pitchFamily="49" charset="-122"/>
                <a:ea typeface="华文中宋" panose="02010600040101010101" pitchFamily="2" charset="-122"/>
              </a:rPr>
              <a:t>覆</a:t>
            </a:r>
          </a:p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仿宋_GB2312" pitchFamily="49" charset="-122"/>
                <a:ea typeface="华文中宋" panose="02010600040101010101" pitchFamily="2" charset="-122"/>
              </a:rPr>
              <a:t>盖</a:t>
            </a:r>
          </a:p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仿宋_GB2312" pitchFamily="49" charset="-122"/>
                <a:ea typeface="华文中宋" panose="02010600040101010101" pitchFamily="2" charset="-122"/>
              </a:rPr>
              <a:t>面</a:t>
            </a:r>
          </a:p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仿宋_GB2312" pitchFamily="49" charset="-122"/>
                <a:ea typeface="华文中宋" panose="02010600040101010101" pitchFamily="2" charset="-122"/>
              </a:rPr>
              <a:t>宽</a:t>
            </a:r>
          </a:p>
        </p:txBody>
      </p:sp>
      <p:sp>
        <p:nvSpPr>
          <p:cNvPr id="4110" name="Rectangle 17"/>
          <p:cNvSpPr/>
          <p:nvPr/>
        </p:nvSpPr>
        <p:spPr>
          <a:xfrm>
            <a:off x="684213" y="1890713"/>
            <a:ext cx="574675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仿宋_GB2312" pitchFamily="49" charset="-122"/>
                <a:ea typeface="华文中宋" panose="02010600040101010101" pitchFamily="2" charset="-122"/>
              </a:rPr>
              <a:t>内</a:t>
            </a:r>
          </a:p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仿宋_GB2312" pitchFamily="49" charset="-122"/>
                <a:ea typeface="华文中宋" panose="02010600040101010101" pitchFamily="2" charset="-122"/>
              </a:rPr>
              <a:t>容</a:t>
            </a:r>
          </a:p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仿宋_GB2312" pitchFamily="49" charset="-122"/>
                <a:ea typeface="华文中宋" panose="02010600040101010101" pitchFamily="2" charset="-122"/>
              </a:rPr>
              <a:t>多</a:t>
            </a:r>
          </a:p>
        </p:txBody>
      </p:sp>
      <p:grpSp>
        <p:nvGrpSpPr>
          <p:cNvPr id="4111" name="Group 18"/>
          <p:cNvGrpSpPr/>
          <p:nvPr/>
        </p:nvGrpSpPr>
        <p:grpSpPr>
          <a:xfrm>
            <a:off x="5865813" y="2490788"/>
            <a:ext cx="609600" cy="1530350"/>
            <a:chOff x="3744" y="1484"/>
            <a:chExt cx="384" cy="964"/>
          </a:xfrm>
        </p:grpSpPr>
        <p:sp>
          <p:nvSpPr>
            <p:cNvPr id="4114" name="Line 19"/>
            <p:cNvSpPr/>
            <p:nvPr/>
          </p:nvSpPr>
          <p:spPr>
            <a:xfrm flipH="1">
              <a:off x="3744" y="1484"/>
              <a:ext cx="384" cy="0"/>
            </a:xfrm>
            <a:prstGeom prst="line">
              <a:avLst/>
            </a:prstGeom>
            <a:ln w="3492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15" name="Line 20"/>
            <p:cNvSpPr/>
            <p:nvPr/>
          </p:nvSpPr>
          <p:spPr>
            <a:xfrm flipH="1">
              <a:off x="3744" y="1964"/>
              <a:ext cx="384" cy="0"/>
            </a:xfrm>
            <a:prstGeom prst="line">
              <a:avLst/>
            </a:prstGeom>
            <a:ln w="3492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16" name="Line 21"/>
            <p:cNvSpPr/>
            <p:nvPr/>
          </p:nvSpPr>
          <p:spPr>
            <a:xfrm>
              <a:off x="4128" y="1484"/>
              <a:ext cx="0" cy="964"/>
            </a:xfrm>
            <a:prstGeom prst="line">
              <a:avLst/>
            </a:prstGeom>
            <a:ln w="3492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7" name="Line 22"/>
            <p:cNvSpPr/>
            <p:nvPr/>
          </p:nvSpPr>
          <p:spPr>
            <a:xfrm flipH="1">
              <a:off x="3744" y="2448"/>
              <a:ext cx="384" cy="0"/>
            </a:xfrm>
            <a:prstGeom prst="line">
              <a:avLst/>
            </a:prstGeom>
            <a:ln w="3492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112" name="Rectangle 8"/>
          <p:cNvSpPr/>
          <p:nvPr/>
        </p:nvSpPr>
        <p:spPr>
          <a:xfrm>
            <a:off x="3143250" y="500063"/>
            <a:ext cx="23574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期 末 复 习</a:t>
            </a:r>
          </a:p>
        </p:txBody>
      </p:sp>
      <p:sp>
        <p:nvSpPr>
          <p:cNvPr id="4113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1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Rectangle 4"/>
          <p:cNvSpPr/>
          <p:nvPr/>
        </p:nvSpPr>
        <p:spPr>
          <a:xfrm>
            <a:off x="182563" y="288925"/>
            <a:ext cx="5562600" cy="523875"/>
          </a:xfrm>
          <a:prstGeom prst="rect">
            <a:avLst/>
          </a:prstGeom>
          <a:noFill/>
          <a:ln w="9525">
            <a:noFill/>
          </a:ln>
        </p:spPr>
        <p:txBody>
          <a:bodyPr tIns="76176" bIns="76176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66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一、基本要求</a:t>
            </a:r>
          </a:p>
        </p:txBody>
      </p:sp>
      <p:sp>
        <p:nvSpPr>
          <p:cNvPr id="277509" name="Rectangle 5"/>
          <p:cNvSpPr/>
          <p:nvPr/>
        </p:nvSpPr>
        <p:spPr>
          <a:xfrm>
            <a:off x="457200" y="908050"/>
            <a:ext cx="2914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）抓</a:t>
            </a:r>
            <a:r>
              <a:rPr lang="zh-CN" altLang="en-US" dirty="0">
                <a:solidFill>
                  <a:srgbClr val="FF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r>
              <a:rPr lang="zh-CN" altLang="en-US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77510" name="Rectangle 6"/>
          <p:cNvSpPr/>
          <p:nvPr/>
        </p:nvSpPr>
        <p:spPr>
          <a:xfrm>
            <a:off x="2438400" y="908050"/>
            <a:ext cx="6477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平衡态，可逆与不可逆，熵与熵增，波粒二象性，能带，激光工作原理等。</a:t>
            </a:r>
          </a:p>
        </p:txBody>
      </p:sp>
      <p:sp>
        <p:nvSpPr>
          <p:cNvPr id="277511" name="Rectangle 7"/>
          <p:cNvSpPr/>
          <p:nvPr/>
        </p:nvSpPr>
        <p:spPr>
          <a:xfrm>
            <a:off x="2843213" y="1844675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明确定义、表述、条件等。</a:t>
            </a:r>
          </a:p>
        </p:txBody>
      </p:sp>
      <p:sp>
        <p:nvSpPr>
          <p:cNvPr id="277512" name="Rectangle 8"/>
          <p:cNvSpPr/>
          <p:nvPr/>
        </p:nvSpPr>
        <p:spPr>
          <a:xfrm>
            <a:off x="457200" y="2420938"/>
            <a:ext cx="3810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）抓</a:t>
            </a:r>
            <a:r>
              <a:rPr lang="zh-CN" altLang="en-US" dirty="0">
                <a:solidFill>
                  <a:srgbClr val="FF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基本方法</a:t>
            </a:r>
            <a:r>
              <a:rPr lang="zh-CN" altLang="en-US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77513" name="Rectangle 9"/>
          <p:cNvSpPr/>
          <p:nvPr/>
        </p:nvSpPr>
        <p:spPr>
          <a:xfrm>
            <a:off x="3048000" y="2420938"/>
            <a:ext cx="586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CCCC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计算方法、推导证明方法、表述方法等。</a:t>
            </a:r>
          </a:p>
        </p:txBody>
      </p:sp>
      <p:sp>
        <p:nvSpPr>
          <p:cNvPr id="277514" name="Rectangle 10"/>
          <p:cNvSpPr/>
          <p:nvPr/>
        </p:nvSpPr>
        <p:spPr>
          <a:xfrm>
            <a:off x="684213" y="2924175"/>
            <a:ext cx="8135937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C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●  </a:t>
            </a:r>
            <a:r>
              <a:rPr lang="zh-CN" altLang="en-US" dirty="0">
                <a:solidFill>
                  <a:srgbClr val="FFC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推导证明：压强公式，绝热方程，康普顿效应公式，</a:t>
            </a:r>
            <a:endParaRPr lang="en-US" altLang="zh-CN" dirty="0">
              <a:solidFill>
                <a:srgbClr val="FFC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FFC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一维无限深势阱下的粒子能量，</a:t>
            </a:r>
            <a:r>
              <a:rPr lang="en-US" altLang="zh-CN" dirty="0">
                <a:solidFill>
                  <a:srgbClr val="FFC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…</a:t>
            </a:r>
            <a:endParaRPr lang="zh-CN" altLang="en-US" dirty="0">
              <a:solidFill>
                <a:srgbClr val="FFC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7515" name="Rectangle 11"/>
          <p:cNvSpPr/>
          <p:nvPr/>
        </p:nvSpPr>
        <p:spPr>
          <a:xfrm>
            <a:off x="684213" y="3789363"/>
            <a:ext cx="8231187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● </a:t>
            </a:r>
            <a:r>
              <a:rPr lang="zh-CN" altLang="en-US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表述方法：热二定律的两种表述，波函数统计解释， </a:t>
            </a:r>
            <a:endParaRPr lang="en-US" altLang="zh-CN" dirty="0">
              <a:solidFill>
                <a:srgbClr val="FFFF9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</a:t>
            </a:r>
            <a:r>
              <a:rPr lang="zh-CN" altLang="en-US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惠更斯</a:t>
            </a:r>
            <a:r>
              <a:rPr lang="en-US" altLang="zh-CN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菲涅尔原理，普朗克能量子假设，</a:t>
            </a:r>
            <a:endParaRPr lang="en-US" altLang="zh-CN" dirty="0">
              <a:solidFill>
                <a:srgbClr val="FFFF9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玻尔氢原子描述，物质波的描述，</a:t>
            </a:r>
            <a:r>
              <a:rPr lang="en-US" altLang="zh-CN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…</a:t>
            </a:r>
            <a:endParaRPr lang="zh-CN" altLang="en-US" dirty="0">
              <a:solidFill>
                <a:srgbClr val="FFFF9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7516" name="Rectangle 12"/>
          <p:cNvSpPr/>
          <p:nvPr/>
        </p:nvSpPr>
        <p:spPr>
          <a:xfrm>
            <a:off x="442913" y="5013325"/>
            <a:ext cx="3810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）抓</a:t>
            </a:r>
            <a:r>
              <a:rPr lang="zh-CN" altLang="en-US" dirty="0">
                <a:solidFill>
                  <a:srgbClr val="FF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r>
              <a:rPr lang="zh-CN" altLang="en-US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dirty="0">
                <a:solidFill>
                  <a:srgbClr val="FF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</a:t>
            </a:r>
            <a:r>
              <a:rPr lang="zh-CN" altLang="en-US" dirty="0">
                <a:solidFill>
                  <a:srgbClr val="99F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77517" name="AutoShape 13"/>
          <p:cNvSpPr/>
          <p:nvPr/>
        </p:nvSpPr>
        <p:spPr>
          <a:xfrm rot="5400000">
            <a:off x="1562100" y="1171575"/>
            <a:ext cx="838200" cy="1371600"/>
          </a:xfrm>
          <a:custGeom>
            <a:avLst/>
            <a:gdLst>
              <a:gd name="txL" fmla="*/ 0 w 21600"/>
              <a:gd name="txT" fmla="*/ 14400 h 21600"/>
              <a:gd name="txR" fmla="*/ 18514 w 21600"/>
              <a:gd name="txB" fmla="*/ 21600 h 21600"/>
            </a:gdLst>
            <a:ahLst/>
            <a:cxnLst>
              <a:cxn ang="17694720">
                <a:pos x="2147483646" y="0"/>
              </a:cxn>
              <a:cxn ang="11796480">
                <a:pos x="2147483646" y="2147483646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noFill/>
          <a:ln w="22225" cap="flat" cmpd="sng">
            <a:solidFill>
              <a:srgbClr val="FFCC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7518" name="Rectangle 14"/>
          <p:cNvSpPr/>
          <p:nvPr/>
        </p:nvSpPr>
        <p:spPr>
          <a:xfrm>
            <a:off x="971550" y="5564188"/>
            <a:ext cx="8064946" cy="4572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例如：波动中的波程差，光学中的光程差 → 干涉与衍射。</a:t>
            </a:r>
          </a:p>
        </p:txBody>
      </p:sp>
      <p:sp>
        <p:nvSpPr>
          <p:cNvPr id="15" name="Rectangle 2"/>
          <p:cNvSpPr/>
          <p:nvPr/>
        </p:nvSpPr>
        <p:spPr>
          <a:xfrm>
            <a:off x="971550" y="6067425"/>
            <a:ext cx="70564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例如：热力学中的两个基本定律 → 循环与转换。</a:t>
            </a:r>
          </a:p>
        </p:txBody>
      </p:sp>
      <p:sp>
        <p:nvSpPr>
          <p:cNvPr id="6158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2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7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7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7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/>
      <p:bldP spid="277509" grpId="0"/>
      <p:bldP spid="277510" grpId="0"/>
      <p:bldP spid="277511" grpId="0"/>
      <p:bldP spid="277512" grpId="0"/>
      <p:bldP spid="277513" grpId="0"/>
      <p:bldP spid="277514" grpId="0"/>
      <p:bldP spid="277515" grpId="0"/>
      <p:bldP spid="277516" grpId="0"/>
      <p:bldP spid="277518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1" name="Rectangle 3"/>
          <p:cNvSpPr/>
          <p:nvPr/>
        </p:nvSpPr>
        <p:spPr>
          <a:xfrm>
            <a:off x="323850" y="431800"/>
            <a:ext cx="525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考试的特点：</a:t>
            </a:r>
          </a:p>
        </p:txBody>
      </p:sp>
      <p:sp>
        <p:nvSpPr>
          <p:cNvPr id="278532" name="Rectangle 4"/>
          <p:cNvSpPr/>
          <p:nvPr/>
        </p:nvSpPr>
        <p:spPr>
          <a:xfrm>
            <a:off x="2411413" y="450850"/>
            <a:ext cx="36147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☆ </a:t>
            </a:r>
            <a:r>
              <a:rPr lang="zh-CN" altLang="en-US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涉及面宽，内容较多。</a:t>
            </a:r>
          </a:p>
        </p:txBody>
      </p:sp>
      <p:sp>
        <p:nvSpPr>
          <p:cNvPr id="278533" name="Rectangle 5"/>
          <p:cNvSpPr/>
          <p:nvPr/>
        </p:nvSpPr>
        <p:spPr>
          <a:xfrm>
            <a:off x="2428875" y="971550"/>
            <a:ext cx="4733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☆ </a:t>
            </a:r>
            <a:r>
              <a:rPr lang="zh-CN" altLang="en-US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概念题，分析题，计算题等。</a:t>
            </a:r>
          </a:p>
        </p:txBody>
      </p:sp>
      <p:sp>
        <p:nvSpPr>
          <p:cNvPr id="278534" name="Line 6"/>
          <p:cNvSpPr/>
          <p:nvPr/>
        </p:nvSpPr>
        <p:spPr>
          <a:xfrm>
            <a:off x="276225" y="1476375"/>
            <a:ext cx="8591550" cy="0"/>
          </a:xfrm>
          <a:prstGeom prst="line">
            <a:avLst/>
          </a:prstGeom>
          <a:ln w="222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35" name="Rectangle 7"/>
          <p:cNvSpPr/>
          <p:nvPr/>
        </p:nvSpPr>
        <p:spPr>
          <a:xfrm>
            <a:off x="250825" y="1671638"/>
            <a:ext cx="5562600" cy="523875"/>
          </a:xfrm>
          <a:prstGeom prst="rect">
            <a:avLst/>
          </a:prstGeom>
          <a:noFill/>
          <a:ln w="9525">
            <a:noFill/>
          </a:ln>
        </p:spPr>
        <p:txBody>
          <a:bodyPr tIns="76176" bIns="76176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66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二、基本内容与要求</a:t>
            </a:r>
          </a:p>
        </p:txBody>
      </p:sp>
      <p:sp>
        <p:nvSpPr>
          <p:cNvPr id="278536" name="Rectangle 8"/>
          <p:cNvSpPr/>
          <p:nvPr/>
        </p:nvSpPr>
        <p:spPr>
          <a:xfrm>
            <a:off x="381000" y="2281238"/>
            <a:ext cx="21605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en-US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热力学基础</a:t>
            </a:r>
          </a:p>
        </p:txBody>
      </p:sp>
      <p:sp>
        <p:nvSpPr>
          <p:cNvPr id="278537" name="Rectangle 9"/>
          <p:cNvSpPr/>
          <p:nvPr/>
        </p:nvSpPr>
        <p:spPr>
          <a:xfrm>
            <a:off x="533400" y="2738438"/>
            <a:ext cx="459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）第一定律的定义与应用</a:t>
            </a:r>
          </a:p>
        </p:txBody>
      </p:sp>
      <p:graphicFrame>
        <p:nvGraphicFramePr>
          <p:cNvPr id="293888" name="Object 2"/>
          <p:cNvGraphicFramePr>
            <a:graphicFrameLocks noChangeAspect="1"/>
          </p:cNvGraphicFramePr>
          <p:nvPr/>
        </p:nvGraphicFramePr>
        <p:xfrm>
          <a:off x="1476375" y="3357563"/>
          <a:ext cx="18288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r:id="rId3" imgW="695325" imgH="161925" progId="Equation.3">
                  <p:embed/>
                </p:oleObj>
              </mc:Choice>
              <mc:Fallback>
                <p:oleObj r:id="rId3" imgW="695325" imgH="16192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3357563"/>
                        <a:ext cx="1828800" cy="473075"/>
                      </a:xfrm>
                      <a:prstGeom prst="rect">
                        <a:avLst/>
                      </a:prstGeom>
                      <a:noFill/>
                      <a:ln w="22225" cap="flat" cmpd="sng">
                        <a:solidFill>
                          <a:srgbClr val="FF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>
          <a:xfrm>
            <a:off x="1066800" y="3271838"/>
            <a:ext cx="533400" cy="914400"/>
            <a:chOff x="1536" y="1824"/>
            <a:chExt cx="625" cy="576"/>
          </a:xfrm>
        </p:grpSpPr>
        <p:sp>
          <p:nvSpPr>
            <p:cNvPr id="7194" name="Line 12"/>
            <p:cNvSpPr/>
            <p:nvPr/>
          </p:nvSpPr>
          <p:spPr>
            <a:xfrm>
              <a:off x="1537" y="2400"/>
              <a:ext cx="624" cy="0"/>
            </a:xfrm>
            <a:prstGeom prst="line">
              <a:avLst/>
            </a:prstGeom>
            <a:ln w="22225" cap="flat" cmpd="sng">
              <a:solidFill>
                <a:srgbClr val="FFCC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5" name="Line 13"/>
            <p:cNvSpPr/>
            <p:nvPr/>
          </p:nvSpPr>
          <p:spPr>
            <a:xfrm>
              <a:off x="1536" y="1824"/>
              <a:ext cx="0" cy="576"/>
            </a:xfrm>
            <a:prstGeom prst="line">
              <a:avLst/>
            </a:prstGeom>
            <a:ln w="2222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78542" name="Rectangle 14"/>
          <p:cNvSpPr/>
          <p:nvPr/>
        </p:nvSpPr>
        <p:spPr>
          <a:xfrm>
            <a:off x="1676400" y="3957638"/>
            <a:ext cx="3276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平衡态，准静态过程</a:t>
            </a:r>
          </a:p>
        </p:txBody>
      </p:sp>
      <p:sp>
        <p:nvSpPr>
          <p:cNvPr id="278543" name="Rectangle 15"/>
          <p:cNvSpPr/>
          <p:nvPr/>
        </p:nvSpPr>
        <p:spPr>
          <a:xfrm>
            <a:off x="4859338" y="3141663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三个等值过程：等</a:t>
            </a:r>
          </a:p>
        </p:txBody>
      </p:sp>
      <p:graphicFrame>
        <p:nvGraphicFramePr>
          <p:cNvPr id="293889" name="Object 3"/>
          <p:cNvGraphicFramePr>
            <a:graphicFrameLocks noChangeAspect="1"/>
          </p:cNvGraphicFramePr>
          <p:nvPr/>
        </p:nvGraphicFramePr>
        <p:xfrm>
          <a:off x="7450138" y="3141663"/>
          <a:ext cx="106362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r:id="rId5" imgW="381000" imgH="142875" progId="Equation.3">
                  <p:embed/>
                </p:oleObj>
              </mc:Choice>
              <mc:Fallback>
                <p:oleObj r:id="rId5" imgW="381000" imgH="14287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50138" y="3141663"/>
                        <a:ext cx="1063625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5" name="Rectangle 17"/>
          <p:cNvSpPr/>
          <p:nvPr/>
        </p:nvSpPr>
        <p:spPr>
          <a:xfrm>
            <a:off x="4914900" y="3576638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82FD4B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绝热过程</a:t>
            </a:r>
          </a:p>
        </p:txBody>
      </p:sp>
      <p:sp>
        <p:nvSpPr>
          <p:cNvPr id="278546" name="Rectangle 18"/>
          <p:cNvSpPr/>
          <p:nvPr/>
        </p:nvSpPr>
        <p:spPr>
          <a:xfrm>
            <a:off x="6499225" y="3576638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会定</a:t>
            </a:r>
          </a:p>
        </p:txBody>
      </p:sp>
      <p:graphicFrame>
        <p:nvGraphicFramePr>
          <p:cNvPr id="293890" name="Object 4"/>
          <p:cNvGraphicFramePr>
            <a:graphicFrameLocks noChangeAspect="1"/>
          </p:cNvGraphicFramePr>
          <p:nvPr/>
        </p:nvGraphicFramePr>
        <p:xfrm>
          <a:off x="7218363" y="3548063"/>
          <a:ext cx="13763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r:id="rId7" imgW="542925" imgH="200025" progId="Equation.3">
                  <p:embed/>
                </p:oleObj>
              </mc:Choice>
              <mc:Fallback>
                <p:oleObj r:id="rId7" imgW="542925" imgH="20002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18363" y="3548063"/>
                        <a:ext cx="1376362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8" name="Rectangle 20"/>
          <p:cNvSpPr/>
          <p:nvPr/>
        </p:nvSpPr>
        <p:spPr>
          <a:xfrm>
            <a:off x="1058863" y="4833938"/>
            <a:ext cx="228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循环过程</a:t>
            </a:r>
          </a:p>
        </p:txBody>
      </p:sp>
      <p:sp>
        <p:nvSpPr>
          <p:cNvPr id="278549" name="AutoShape 21"/>
          <p:cNvSpPr/>
          <p:nvPr/>
        </p:nvSpPr>
        <p:spPr>
          <a:xfrm>
            <a:off x="2576513" y="4646613"/>
            <a:ext cx="700087" cy="844550"/>
          </a:xfrm>
          <a:prstGeom prst="rightArrow">
            <a:avLst>
              <a:gd name="adj1" fmla="val 50000"/>
              <a:gd name="adj2" fmla="val 45000"/>
            </a:avLst>
          </a:prstGeom>
          <a:noFill/>
          <a:ln w="22225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eaLnBrk="1" hangingPunct="1"/>
            <a:endParaRPr lang="zh-CN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550" name="Rectangle 22"/>
          <p:cNvSpPr/>
          <p:nvPr/>
        </p:nvSpPr>
        <p:spPr>
          <a:xfrm>
            <a:off x="3276600" y="47244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热机，求</a:t>
            </a:r>
          </a:p>
        </p:txBody>
      </p:sp>
      <p:graphicFrame>
        <p:nvGraphicFramePr>
          <p:cNvPr id="293891" name="Object 5"/>
          <p:cNvGraphicFramePr>
            <a:graphicFrameLocks noChangeAspect="1"/>
          </p:cNvGraphicFramePr>
          <p:nvPr/>
        </p:nvGraphicFramePr>
        <p:xfrm>
          <a:off x="4649788" y="4781550"/>
          <a:ext cx="2698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r:id="rId9" imgW="85725" imgH="123825" progId="Equation.3">
                  <p:embed/>
                </p:oleObj>
              </mc:Choice>
              <mc:Fallback>
                <p:oleObj r:id="rId9" imgW="85725" imgH="12382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49788" y="4781550"/>
                        <a:ext cx="269875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52" name="Rectangle 24"/>
          <p:cNvSpPr/>
          <p:nvPr/>
        </p:nvSpPr>
        <p:spPr>
          <a:xfrm>
            <a:off x="3344863" y="5197475"/>
            <a:ext cx="2141537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82FD4B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致冷</a:t>
            </a:r>
          </a:p>
          <a:p>
            <a:pPr eaLnBrk="1" hangingPunct="1"/>
            <a:r>
              <a:rPr lang="zh-CN" altLang="en-US" dirty="0">
                <a:solidFill>
                  <a:srgbClr val="82FD4B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→致冷系数</a:t>
            </a:r>
          </a:p>
        </p:txBody>
      </p:sp>
      <p:sp>
        <p:nvSpPr>
          <p:cNvPr id="278553" name="Rectangle 25"/>
          <p:cNvSpPr/>
          <p:nvPr/>
        </p:nvSpPr>
        <p:spPr>
          <a:xfrm>
            <a:off x="5645150" y="50673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82FD4B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卡诺循环</a:t>
            </a:r>
          </a:p>
        </p:txBody>
      </p:sp>
      <p:graphicFrame>
        <p:nvGraphicFramePr>
          <p:cNvPr id="293892" name="Object 6"/>
          <p:cNvGraphicFramePr>
            <a:graphicFrameLocks noChangeAspect="1"/>
          </p:cNvGraphicFramePr>
          <p:nvPr/>
        </p:nvGraphicFramePr>
        <p:xfrm>
          <a:off x="7092950" y="4797425"/>
          <a:ext cx="14478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r:id="rId11" imgW="581025" imgH="390525" progId="">
                  <p:embed/>
                </p:oleObj>
              </mc:Choice>
              <mc:Fallback>
                <p:oleObj r:id="rId11" imgW="581025" imgH="390525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92950" y="4797425"/>
                        <a:ext cx="1447800" cy="954088"/>
                      </a:xfrm>
                      <a:prstGeom prst="rect">
                        <a:avLst/>
                      </a:prstGeom>
                      <a:noFill/>
                      <a:ln w="22225" cap="flat" cmpd="sng">
                        <a:solidFill>
                          <a:srgbClr val="FF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56" name="AutoShape 28"/>
          <p:cNvSpPr/>
          <p:nvPr/>
        </p:nvSpPr>
        <p:spPr>
          <a:xfrm>
            <a:off x="4841875" y="3336925"/>
            <a:ext cx="85725" cy="536575"/>
          </a:xfrm>
          <a:prstGeom prst="leftBrace">
            <a:avLst>
              <a:gd name="adj1" fmla="val 144658"/>
              <a:gd name="adj2" fmla="val 50000"/>
            </a:avLst>
          </a:prstGeom>
          <a:noFill/>
          <a:ln w="222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eaLnBrk="1" hangingPunct="1"/>
            <a:endParaRPr lang="zh-CN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3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3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78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9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7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9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7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7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7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7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7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7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7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7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/>
      <p:bldP spid="278532" grpId="0"/>
      <p:bldP spid="278533" grpId="0"/>
      <p:bldP spid="278535" grpId="0" build="allAtOnce"/>
      <p:bldP spid="278536" grpId="0"/>
      <p:bldP spid="278537" grpId="0"/>
      <p:bldP spid="278542" grpId="0"/>
      <p:bldP spid="278543" grpId="0"/>
      <p:bldP spid="278545" grpId="0"/>
      <p:bldP spid="278546" grpId="0"/>
      <p:bldP spid="278548" grpId="0"/>
      <p:bldP spid="278549" grpId="0" animBg="1"/>
      <p:bldP spid="278550" grpId="0"/>
      <p:bldP spid="278552" grpId="0"/>
      <p:bldP spid="278553" grpId="0"/>
      <p:bldP spid="2785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57" name="Rectangle 29"/>
          <p:cNvSpPr/>
          <p:nvPr/>
        </p:nvSpPr>
        <p:spPr>
          <a:xfrm>
            <a:off x="463550" y="47625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注意：</a:t>
            </a:r>
          </a:p>
        </p:txBody>
      </p:sp>
      <p:sp>
        <p:nvSpPr>
          <p:cNvPr id="278558" name="Rectangle 30"/>
          <p:cNvSpPr/>
          <p:nvPr/>
        </p:nvSpPr>
        <p:spPr>
          <a:xfrm>
            <a:off x="1301750" y="523875"/>
            <a:ext cx="459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① 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判断热机与致冷循环</a:t>
            </a:r>
          </a:p>
        </p:txBody>
      </p:sp>
      <p:sp>
        <p:nvSpPr>
          <p:cNvPr id="278559" name="Rectangle 31"/>
          <p:cNvSpPr/>
          <p:nvPr/>
        </p:nvSpPr>
        <p:spPr>
          <a:xfrm>
            <a:off x="1301750" y="1387475"/>
            <a:ext cx="459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② 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确定热容量的正负</a:t>
            </a:r>
          </a:p>
        </p:txBody>
      </p:sp>
      <p:graphicFrame>
        <p:nvGraphicFramePr>
          <p:cNvPr id="293893" name="Object 2"/>
          <p:cNvGraphicFramePr>
            <a:graphicFrameLocks noChangeAspect="1"/>
          </p:cNvGraphicFramePr>
          <p:nvPr/>
        </p:nvGraphicFramePr>
        <p:xfrm>
          <a:off x="1784350" y="1871663"/>
          <a:ext cx="19034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r:id="rId3" imgW="774065" imgH="203200" progId="">
                  <p:embed/>
                </p:oleObj>
              </mc:Choice>
              <mc:Fallback>
                <p:oleObj r:id="rId3" imgW="774065" imgH="203200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84350" y="1871663"/>
                        <a:ext cx="1903413" cy="561975"/>
                      </a:xfrm>
                      <a:prstGeom prst="rect">
                        <a:avLst/>
                      </a:prstGeom>
                      <a:noFill/>
                      <a:ln w="22225" cap="flat" cmpd="sng">
                        <a:solidFill>
                          <a:srgbClr val="FF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4" name="Object 3"/>
          <p:cNvGraphicFramePr>
            <a:graphicFrameLocks noChangeAspect="1"/>
          </p:cNvGraphicFramePr>
          <p:nvPr/>
        </p:nvGraphicFramePr>
        <p:xfrm>
          <a:off x="2239963" y="977900"/>
          <a:ext cx="33051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r:id="rId5" imgW="1346200" imgH="203200" progId="">
                  <p:embed/>
                </p:oleObj>
              </mc:Choice>
              <mc:Fallback>
                <p:oleObj r:id="rId5" imgW="1346200" imgH="20320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39963" y="977900"/>
                        <a:ext cx="3305175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5" name="Object 4"/>
          <p:cNvGraphicFramePr>
            <a:graphicFrameLocks noChangeAspect="1"/>
          </p:cNvGraphicFramePr>
          <p:nvPr/>
        </p:nvGraphicFramePr>
        <p:xfrm>
          <a:off x="3713163" y="1649413"/>
          <a:ext cx="3408362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r:id="rId7" imgW="1548765" imgH="393700" progId="">
                  <p:embed/>
                </p:oleObj>
              </mc:Choice>
              <mc:Fallback>
                <p:oleObj r:id="rId7" imgW="1548765" imgH="39370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13163" y="1649413"/>
                        <a:ext cx="3408362" cy="976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57" name="Rectangle 5"/>
          <p:cNvSpPr/>
          <p:nvPr/>
        </p:nvSpPr>
        <p:spPr>
          <a:xfrm>
            <a:off x="228600" y="2722563"/>
            <a:ext cx="459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）第二定律</a:t>
            </a:r>
          </a:p>
        </p:txBody>
      </p:sp>
      <p:sp>
        <p:nvSpPr>
          <p:cNvPr id="279558" name="Line 6"/>
          <p:cNvSpPr/>
          <p:nvPr/>
        </p:nvSpPr>
        <p:spPr>
          <a:xfrm>
            <a:off x="1600200" y="3179763"/>
            <a:ext cx="0" cy="457200"/>
          </a:xfrm>
          <a:prstGeom prst="line">
            <a:avLst/>
          </a:prstGeom>
          <a:ln w="22225" cap="flat" cmpd="sng">
            <a:solidFill>
              <a:srgbClr val="FFCC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9559" name="Rectangle 7"/>
          <p:cNvSpPr/>
          <p:nvPr/>
        </p:nvSpPr>
        <p:spPr>
          <a:xfrm>
            <a:off x="533400" y="3636963"/>
            <a:ext cx="459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自然过程的方向性</a:t>
            </a:r>
          </a:p>
        </p:txBody>
      </p:sp>
      <p:sp>
        <p:nvSpPr>
          <p:cNvPr id="279560" name="Line 8"/>
          <p:cNvSpPr/>
          <p:nvPr/>
        </p:nvSpPr>
        <p:spPr>
          <a:xfrm>
            <a:off x="1600200" y="4094163"/>
            <a:ext cx="0" cy="457200"/>
          </a:xfrm>
          <a:prstGeom prst="line">
            <a:avLst/>
          </a:prstGeom>
          <a:ln w="22225" cap="flat" cmpd="sng">
            <a:solidFill>
              <a:srgbClr val="FFCC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9561" name="Rectangle 9"/>
          <p:cNvSpPr/>
          <p:nvPr/>
        </p:nvSpPr>
        <p:spPr>
          <a:xfrm>
            <a:off x="561975" y="4627563"/>
            <a:ext cx="459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可逆与不可逆</a:t>
            </a:r>
          </a:p>
        </p:txBody>
      </p:sp>
      <p:sp>
        <p:nvSpPr>
          <p:cNvPr id="279562" name="Rectangle 10"/>
          <p:cNvSpPr/>
          <p:nvPr/>
        </p:nvSpPr>
        <p:spPr>
          <a:xfrm>
            <a:off x="3546475" y="2781300"/>
            <a:ext cx="495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82FD4B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两种表述，证明两者的一致性</a:t>
            </a:r>
          </a:p>
        </p:txBody>
      </p:sp>
      <p:sp>
        <p:nvSpPr>
          <p:cNvPr id="279563" name="Rectangle 11"/>
          <p:cNvSpPr/>
          <p:nvPr/>
        </p:nvSpPr>
        <p:spPr>
          <a:xfrm>
            <a:off x="3546475" y="3500438"/>
            <a:ext cx="5597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宏观描述（熵变），微观描述（概率）</a:t>
            </a:r>
          </a:p>
        </p:txBody>
      </p:sp>
      <p:sp>
        <p:nvSpPr>
          <p:cNvPr id="279564" name="Rectangle 12"/>
          <p:cNvSpPr/>
          <p:nvPr/>
        </p:nvSpPr>
        <p:spPr>
          <a:xfrm>
            <a:off x="3546475" y="3957638"/>
            <a:ext cx="4359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EDFE4A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熵增原理的描述</a:t>
            </a:r>
          </a:p>
        </p:txBody>
      </p:sp>
      <p:sp>
        <p:nvSpPr>
          <p:cNvPr id="279565" name="Rectangle 13"/>
          <p:cNvSpPr/>
          <p:nvPr/>
        </p:nvSpPr>
        <p:spPr>
          <a:xfrm>
            <a:off x="3470275" y="4414838"/>
            <a:ext cx="4359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卡诺定理的表述</a:t>
            </a:r>
          </a:p>
        </p:txBody>
      </p:sp>
      <p:sp>
        <p:nvSpPr>
          <p:cNvPr id="279566" name="AutoShape 14"/>
          <p:cNvSpPr/>
          <p:nvPr/>
        </p:nvSpPr>
        <p:spPr>
          <a:xfrm>
            <a:off x="3276600" y="3756025"/>
            <a:ext cx="303213" cy="500063"/>
          </a:xfrm>
          <a:prstGeom prst="leftBrace">
            <a:avLst>
              <a:gd name="adj1" fmla="val 15537"/>
              <a:gd name="adj2" fmla="val 18838"/>
            </a:avLst>
          </a:prstGeom>
          <a:noFill/>
          <a:ln w="222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eaLnBrk="1" hangingPunct="1"/>
            <a:endParaRPr lang="zh-CN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9567" name="Rectangle 15"/>
          <p:cNvSpPr/>
          <p:nvPr/>
        </p:nvSpPr>
        <p:spPr>
          <a:xfrm>
            <a:off x="476250" y="5254625"/>
            <a:ext cx="533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注意：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用第二定律证明有关问题</a:t>
            </a:r>
          </a:p>
        </p:txBody>
      </p:sp>
      <p:sp>
        <p:nvSpPr>
          <p:cNvPr id="279569" name="Rectangle 17"/>
          <p:cNvSpPr/>
          <p:nvPr/>
        </p:nvSpPr>
        <p:spPr>
          <a:xfrm>
            <a:off x="1371600" y="59245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热力学第一定律与第二定律的关系</a:t>
            </a:r>
          </a:p>
        </p:txBody>
      </p:sp>
      <p:sp>
        <p:nvSpPr>
          <p:cNvPr id="8212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4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9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7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7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7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7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7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7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7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7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57" grpId="0"/>
      <p:bldP spid="278558" grpId="0"/>
      <p:bldP spid="278559" grpId="0"/>
      <p:bldP spid="279557" grpId="0"/>
      <p:bldP spid="279559" grpId="0"/>
      <p:bldP spid="279561" grpId="0"/>
      <p:bldP spid="279562" grpId="0"/>
      <p:bldP spid="279563" grpId="0"/>
      <p:bldP spid="279564" grpId="0"/>
      <p:bldP spid="279565" grpId="0"/>
      <p:bldP spid="279566" grpId="0" animBg="1"/>
      <p:bldP spid="279567" grpId="0"/>
      <p:bldP spid="2795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70" name="Rectangle 18"/>
          <p:cNvSpPr/>
          <p:nvPr/>
        </p:nvSpPr>
        <p:spPr>
          <a:xfrm>
            <a:off x="371475" y="333375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气体动理论</a:t>
            </a:r>
          </a:p>
        </p:txBody>
      </p:sp>
      <p:sp>
        <p:nvSpPr>
          <p:cNvPr id="279571" name="Rectangle 19"/>
          <p:cNvSpPr/>
          <p:nvPr/>
        </p:nvSpPr>
        <p:spPr>
          <a:xfrm>
            <a:off x="193675" y="806450"/>
            <a:ext cx="746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）统计方法以及对平衡态中理想气体的规律</a:t>
            </a:r>
          </a:p>
        </p:txBody>
      </p:sp>
      <p:graphicFrame>
        <p:nvGraphicFramePr>
          <p:cNvPr id="294912" name="Object 2"/>
          <p:cNvGraphicFramePr>
            <a:graphicFrameLocks noChangeAspect="1"/>
          </p:cNvGraphicFramePr>
          <p:nvPr/>
        </p:nvGraphicFramePr>
        <p:xfrm>
          <a:off x="1258888" y="1279525"/>
          <a:ext cx="20510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r:id="rId3" imgW="952500" imgH="228600" progId="">
                  <p:embed/>
                </p:oleObj>
              </mc:Choice>
              <mc:Fallback>
                <p:oleObj r:id="rId3" imgW="952500" imgH="228600" progId="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8888" y="1279525"/>
                        <a:ext cx="2051050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3" name="Object 3"/>
          <p:cNvGraphicFramePr>
            <a:graphicFrameLocks noChangeAspect="1"/>
          </p:cNvGraphicFramePr>
          <p:nvPr/>
        </p:nvGraphicFramePr>
        <p:xfrm>
          <a:off x="3824288" y="1263650"/>
          <a:ext cx="24669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r:id="rId5" imgW="1162050" imgH="266700" progId="">
                  <p:embed/>
                </p:oleObj>
              </mc:Choice>
              <mc:Fallback>
                <p:oleObj r:id="rId5" imgW="1162050" imgH="266700" progId="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24288" y="1263650"/>
                        <a:ext cx="2466975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78" name="Rectangle 2"/>
          <p:cNvSpPr/>
          <p:nvPr/>
        </p:nvSpPr>
        <p:spPr>
          <a:xfrm>
            <a:off x="611188" y="1844675"/>
            <a:ext cx="792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压强公式（会推导，包括统计解释）</a:t>
            </a:r>
          </a:p>
        </p:txBody>
      </p:sp>
      <p:sp>
        <p:nvSpPr>
          <p:cNvPr id="280579" name="Rectangle 3"/>
          <p:cNvSpPr/>
          <p:nvPr/>
        </p:nvSpPr>
        <p:spPr>
          <a:xfrm>
            <a:off x="622300" y="2466975"/>
            <a:ext cx="5749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温度公式（会推导，包括统计解释）</a:t>
            </a:r>
          </a:p>
        </p:txBody>
      </p:sp>
      <p:sp>
        <p:nvSpPr>
          <p:cNvPr id="280580" name="AutoShape 4"/>
          <p:cNvSpPr/>
          <p:nvPr/>
        </p:nvSpPr>
        <p:spPr>
          <a:xfrm>
            <a:off x="6084888" y="2209800"/>
            <a:ext cx="206375" cy="498475"/>
          </a:xfrm>
          <a:prstGeom prst="rightBrace">
            <a:avLst>
              <a:gd name="adj1" fmla="val 20128"/>
              <a:gd name="adj2" fmla="val 50000"/>
            </a:avLst>
          </a:prstGeom>
          <a:noFill/>
          <a:ln w="22225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 eaLnBrk="1" hangingPunct="1"/>
            <a:endParaRPr lang="zh-CN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0581" name="Rectangle 5"/>
          <p:cNvSpPr/>
          <p:nvPr/>
        </p:nvSpPr>
        <p:spPr>
          <a:xfrm>
            <a:off x="6300788" y="22050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统计结果</a:t>
            </a:r>
          </a:p>
        </p:txBody>
      </p:sp>
      <p:sp>
        <p:nvSpPr>
          <p:cNvPr id="280582" name="Rectangle 6"/>
          <p:cNvSpPr/>
          <p:nvPr/>
        </p:nvSpPr>
        <p:spPr>
          <a:xfrm>
            <a:off x="179388" y="3060700"/>
            <a:ext cx="3446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）麦氏速率分布律</a:t>
            </a:r>
          </a:p>
        </p:txBody>
      </p:sp>
      <p:graphicFrame>
        <p:nvGraphicFramePr>
          <p:cNvPr id="295936" name="Object 4"/>
          <p:cNvGraphicFramePr>
            <a:graphicFrameLocks noChangeAspect="1"/>
          </p:cNvGraphicFramePr>
          <p:nvPr/>
        </p:nvGraphicFramePr>
        <p:xfrm>
          <a:off x="838200" y="3732213"/>
          <a:ext cx="22860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r:id="rId7" imgW="990600" imgH="161925" progId="Equation.3">
                  <p:embed/>
                </p:oleObj>
              </mc:Choice>
              <mc:Fallback>
                <p:oleObj r:id="rId7" imgW="990600" imgH="161925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8200" y="3732213"/>
                        <a:ext cx="2286000" cy="449262"/>
                      </a:xfrm>
                      <a:prstGeom prst="rect">
                        <a:avLst/>
                      </a:prstGeom>
                      <a:noFill/>
                      <a:ln w="22225" cap="flat" cmpd="sng">
                        <a:solidFill>
                          <a:srgbClr val="FF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4" name="Rectangle 8"/>
          <p:cNvSpPr/>
          <p:nvPr/>
        </p:nvSpPr>
        <p:spPr>
          <a:xfrm>
            <a:off x="755650" y="4437063"/>
            <a:ext cx="34115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82FD4B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其中包括：</a:t>
            </a:r>
          </a:p>
        </p:txBody>
      </p:sp>
      <p:sp>
        <p:nvSpPr>
          <p:cNvPr id="280585" name="Rectangle 9"/>
          <p:cNvSpPr/>
          <p:nvPr/>
        </p:nvSpPr>
        <p:spPr>
          <a:xfrm>
            <a:off x="900113" y="5084763"/>
            <a:ext cx="548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① 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物理意义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295937" name="Object 5"/>
          <p:cNvGraphicFramePr>
            <a:graphicFrameLocks noChangeAspect="1"/>
          </p:cNvGraphicFramePr>
          <p:nvPr/>
        </p:nvGraphicFramePr>
        <p:xfrm>
          <a:off x="2916238" y="5013325"/>
          <a:ext cx="40909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r:id="rId9" imgW="1714500" imgH="314325" progId="Equation.3">
                  <p:embed/>
                </p:oleObj>
              </mc:Choice>
              <mc:Fallback>
                <p:oleObj r:id="rId9" imgW="1714500" imgH="31432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16238" y="5013325"/>
                        <a:ext cx="4090987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38" name="Object 6"/>
          <p:cNvGraphicFramePr>
            <a:graphicFrameLocks noChangeAspect="1"/>
          </p:cNvGraphicFramePr>
          <p:nvPr/>
        </p:nvGraphicFramePr>
        <p:xfrm>
          <a:off x="2916238" y="5876925"/>
          <a:ext cx="217805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r:id="rId11" imgW="923925" imgH="295275" progId="Equation.3">
                  <p:embed/>
                </p:oleObj>
              </mc:Choice>
              <mc:Fallback>
                <p:oleObj r:id="rId11" imgW="923925" imgH="29527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16238" y="5876925"/>
                        <a:ext cx="2178050" cy="725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5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9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5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95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70" grpId="0"/>
      <p:bldP spid="279571" grpId="0"/>
      <p:bldP spid="280578" grpId="0"/>
      <p:bldP spid="280579" grpId="0"/>
      <p:bldP spid="280580" grpId="0" animBg="1"/>
      <p:bldP spid="280581" grpId="0"/>
      <p:bldP spid="280582" grpId="0"/>
      <p:bldP spid="280584" grpId="0"/>
      <p:bldP spid="2805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91" name="Rectangle 15"/>
          <p:cNvSpPr/>
          <p:nvPr/>
        </p:nvSpPr>
        <p:spPr>
          <a:xfrm>
            <a:off x="304800" y="1765300"/>
            <a:ext cx="533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注意：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用归一化条件解题</a:t>
            </a:r>
          </a:p>
        </p:txBody>
      </p:sp>
      <p:graphicFrame>
        <p:nvGraphicFramePr>
          <p:cNvPr id="295939" name="Object 2"/>
          <p:cNvGraphicFramePr>
            <a:graphicFrameLocks noChangeAspect="1"/>
          </p:cNvGraphicFramePr>
          <p:nvPr/>
        </p:nvGraphicFramePr>
        <p:xfrm>
          <a:off x="1835150" y="2268538"/>
          <a:ext cx="218281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r:id="rId3" imgW="800100" imgH="295275" progId="Equation.3">
                  <p:embed/>
                </p:oleObj>
              </mc:Choice>
              <mc:Fallback>
                <p:oleObj r:id="rId3" imgW="800100" imgH="295275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150" y="2268538"/>
                        <a:ext cx="2182813" cy="728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93" name="Rectangle 17"/>
          <p:cNvSpPr/>
          <p:nvPr/>
        </p:nvSpPr>
        <p:spPr>
          <a:xfrm>
            <a:off x="1258888" y="3068638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由速率分布律求能量分布律</a:t>
            </a:r>
          </a:p>
        </p:txBody>
      </p:sp>
      <p:sp>
        <p:nvSpPr>
          <p:cNvPr id="280594" name="Rectangle 18"/>
          <p:cNvSpPr/>
          <p:nvPr/>
        </p:nvSpPr>
        <p:spPr>
          <a:xfrm>
            <a:off x="304800" y="3789363"/>
            <a:ext cx="340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）能量均分原理</a:t>
            </a:r>
          </a:p>
        </p:txBody>
      </p:sp>
      <p:sp>
        <p:nvSpPr>
          <p:cNvPr id="280596" name="Rectangle 20"/>
          <p:cNvSpPr/>
          <p:nvPr/>
        </p:nvSpPr>
        <p:spPr>
          <a:xfrm>
            <a:off x="1058863" y="4365625"/>
            <a:ext cx="495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82FD4B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其核心：</a:t>
            </a:r>
          </a:p>
        </p:txBody>
      </p:sp>
      <p:graphicFrame>
        <p:nvGraphicFramePr>
          <p:cNvPr id="295941" name="Object 3"/>
          <p:cNvGraphicFramePr>
            <a:graphicFrameLocks noChangeAspect="1"/>
          </p:cNvGraphicFramePr>
          <p:nvPr/>
        </p:nvGraphicFramePr>
        <p:xfrm>
          <a:off x="2309813" y="4221163"/>
          <a:ext cx="893762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r:id="rId5" imgW="304800" imgH="352425" progId="Equation.3">
                  <p:embed/>
                </p:oleObj>
              </mc:Choice>
              <mc:Fallback>
                <p:oleObj r:id="rId5" imgW="304800" imgH="35242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09813" y="4221163"/>
                        <a:ext cx="893762" cy="868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98" name="Rectangle 22"/>
          <p:cNvSpPr/>
          <p:nvPr/>
        </p:nvSpPr>
        <p:spPr>
          <a:xfrm>
            <a:off x="2411413" y="5300663"/>
            <a:ext cx="556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→  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平均平动动能，平均动能，内能</a:t>
            </a:r>
          </a:p>
        </p:txBody>
      </p:sp>
      <p:graphicFrame>
        <p:nvGraphicFramePr>
          <p:cNvPr id="295942" name="Object 4"/>
          <p:cNvGraphicFramePr>
            <a:graphicFrameLocks noChangeAspect="1"/>
          </p:cNvGraphicFramePr>
          <p:nvPr/>
        </p:nvGraphicFramePr>
        <p:xfrm>
          <a:off x="3276600" y="5840413"/>
          <a:ext cx="10604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r:id="rId7" imgW="419100" imgH="142875" progId="Equation.3">
                  <p:embed/>
                </p:oleObj>
              </mc:Choice>
              <mc:Fallback>
                <p:oleObj r:id="rId7" imgW="419100" imgH="14287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6600" y="5840413"/>
                        <a:ext cx="106045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3" name="Object 5"/>
          <p:cNvGraphicFramePr>
            <a:graphicFrameLocks noChangeAspect="1"/>
          </p:cNvGraphicFramePr>
          <p:nvPr/>
        </p:nvGraphicFramePr>
        <p:xfrm>
          <a:off x="5219700" y="5840413"/>
          <a:ext cx="9683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r:id="rId9" imgW="381000" imgH="142875" progId="Equation.3">
                  <p:embed/>
                </p:oleObj>
              </mc:Choice>
              <mc:Fallback>
                <p:oleObj r:id="rId9" imgW="381000" imgH="142875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19700" y="5840413"/>
                        <a:ext cx="968375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4" name="Object 6"/>
          <p:cNvGraphicFramePr>
            <a:graphicFrameLocks noChangeAspect="1"/>
          </p:cNvGraphicFramePr>
          <p:nvPr/>
        </p:nvGraphicFramePr>
        <p:xfrm>
          <a:off x="6659563" y="5840413"/>
          <a:ext cx="11747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r:id="rId11" imgW="466725" imgH="142875" progId="Equation.3">
                  <p:embed/>
                </p:oleObj>
              </mc:Choice>
              <mc:Fallback>
                <p:oleObj r:id="rId11" imgW="466725" imgH="14287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59563" y="5840413"/>
                        <a:ext cx="117475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8" name="Rectangle 12"/>
          <p:cNvSpPr/>
          <p:nvPr/>
        </p:nvSpPr>
        <p:spPr>
          <a:xfrm>
            <a:off x="755650" y="404813"/>
            <a:ext cx="548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② 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分布曲线的意义和变化</a:t>
            </a:r>
          </a:p>
        </p:txBody>
      </p:sp>
      <p:sp>
        <p:nvSpPr>
          <p:cNvPr id="280589" name="Rectangle 13"/>
          <p:cNvSpPr/>
          <p:nvPr/>
        </p:nvSpPr>
        <p:spPr>
          <a:xfrm>
            <a:off x="755650" y="1027113"/>
            <a:ext cx="502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③ 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三种典型速率的数值与用途</a:t>
            </a:r>
          </a:p>
        </p:txBody>
      </p:sp>
      <p:sp>
        <p:nvSpPr>
          <p:cNvPr id="10254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6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0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9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91" grpId="0"/>
      <p:bldP spid="280593" grpId="0"/>
      <p:bldP spid="280594" grpId="0"/>
      <p:bldP spid="280596" grpId="0"/>
      <p:bldP spid="280598" grpId="0"/>
      <p:bldP spid="280588" grpId="0"/>
      <p:bldP spid="28058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/>
          <p:nvPr/>
        </p:nvSpPr>
        <p:spPr>
          <a:xfrm>
            <a:off x="349250" y="476250"/>
            <a:ext cx="533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注意：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内能公式的应用</a:t>
            </a:r>
          </a:p>
        </p:txBody>
      </p:sp>
      <p:graphicFrame>
        <p:nvGraphicFramePr>
          <p:cNvPr id="281603" name="Object 2"/>
          <p:cNvGraphicFramePr>
            <a:graphicFrameLocks noChangeAspect="1"/>
          </p:cNvGraphicFramePr>
          <p:nvPr/>
        </p:nvGraphicFramePr>
        <p:xfrm>
          <a:off x="4006850" y="333375"/>
          <a:ext cx="201771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r:id="rId3" imgW="733425" imgH="352425" progId="Equation.3">
                  <p:embed/>
                </p:oleObj>
              </mc:Choice>
              <mc:Fallback>
                <p:oleObj r:id="rId3" imgW="733425" imgH="35242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6850" y="333375"/>
                        <a:ext cx="2017713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4" name="Rectangle 4"/>
          <p:cNvSpPr/>
          <p:nvPr/>
        </p:nvSpPr>
        <p:spPr>
          <a:xfrm>
            <a:off x="1263650" y="1125538"/>
            <a:ext cx="533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内能不同于机械能</a:t>
            </a:r>
          </a:p>
        </p:txBody>
      </p:sp>
      <p:sp>
        <p:nvSpPr>
          <p:cNvPr id="281605" name="Rectangle 5"/>
          <p:cNvSpPr/>
          <p:nvPr/>
        </p:nvSpPr>
        <p:spPr>
          <a:xfrm>
            <a:off x="1263650" y="1762125"/>
            <a:ext cx="601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③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能均分原理的条件 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平衡态</a:t>
            </a:r>
          </a:p>
        </p:txBody>
      </p:sp>
      <p:sp>
        <p:nvSpPr>
          <p:cNvPr id="281606" name="Rectangle 6"/>
          <p:cNvSpPr/>
          <p:nvPr/>
        </p:nvSpPr>
        <p:spPr>
          <a:xfrm>
            <a:off x="395288" y="2636838"/>
            <a:ext cx="746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）玻氏能量分布律</a:t>
            </a:r>
          </a:p>
        </p:txBody>
      </p:sp>
      <p:graphicFrame>
        <p:nvGraphicFramePr>
          <p:cNvPr id="281607" name="Object 3"/>
          <p:cNvGraphicFramePr>
            <a:graphicFrameLocks noChangeAspect="1"/>
          </p:cNvGraphicFramePr>
          <p:nvPr/>
        </p:nvGraphicFramePr>
        <p:xfrm>
          <a:off x="3570288" y="2432050"/>
          <a:ext cx="45720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r:id="rId5" imgW="2095500" imgH="352425" progId="Equation.3">
                  <p:embed/>
                </p:oleObj>
              </mc:Choice>
              <mc:Fallback>
                <p:oleObj r:id="rId5" imgW="2095500" imgH="352425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70288" y="2432050"/>
                        <a:ext cx="4572000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8" name="Rectangle 8"/>
          <p:cNvSpPr/>
          <p:nvPr/>
        </p:nvSpPr>
        <p:spPr>
          <a:xfrm>
            <a:off x="1979613" y="3500438"/>
            <a:ext cx="15843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99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重力场中的规律：</a:t>
            </a:r>
          </a:p>
        </p:txBody>
      </p:sp>
      <p:graphicFrame>
        <p:nvGraphicFramePr>
          <p:cNvPr id="281609" name="Object 4"/>
          <p:cNvGraphicFramePr>
            <a:graphicFrameLocks noChangeAspect="1"/>
          </p:cNvGraphicFramePr>
          <p:nvPr/>
        </p:nvGraphicFramePr>
        <p:xfrm>
          <a:off x="3563938" y="3408363"/>
          <a:ext cx="24765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r:id="rId7" imgW="1114425" imgH="352425" progId="Equation.3">
                  <p:embed/>
                </p:oleObj>
              </mc:Choice>
              <mc:Fallback>
                <p:oleObj r:id="rId7" imgW="1114425" imgH="352425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63938" y="3408363"/>
                        <a:ext cx="2476500" cy="868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0" name="Object 5"/>
          <p:cNvGraphicFramePr>
            <a:graphicFrameLocks noChangeAspect="1"/>
          </p:cNvGraphicFramePr>
          <p:nvPr/>
        </p:nvGraphicFramePr>
        <p:xfrm>
          <a:off x="6227763" y="3470275"/>
          <a:ext cx="25304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r:id="rId9" imgW="1143000" imgH="352425" progId="Equation.3">
                  <p:embed/>
                </p:oleObj>
              </mc:Choice>
              <mc:Fallback>
                <p:oleObj r:id="rId9" imgW="1143000" imgH="35242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27763" y="3470275"/>
                        <a:ext cx="2530475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1" name="Rectangle 11"/>
          <p:cNvSpPr/>
          <p:nvPr/>
        </p:nvSpPr>
        <p:spPr>
          <a:xfrm>
            <a:off x="438150" y="4398963"/>
            <a:ext cx="746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）碰撞规律</a:t>
            </a:r>
          </a:p>
        </p:txBody>
      </p:sp>
      <p:sp>
        <p:nvSpPr>
          <p:cNvPr id="281612" name="Rectangle 12"/>
          <p:cNvSpPr/>
          <p:nvPr/>
        </p:nvSpPr>
        <p:spPr>
          <a:xfrm>
            <a:off x="1184275" y="4941888"/>
            <a:ext cx="533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平均碰撞的规律</a:t>
            </a:r>
          </a:p>
        </p:txBody>
      </p:sp>
      <p:sp>
        <p:nvSpPr>
          <p:cNvPr id="281613" name="Rectangle 13"/>
          <p:cNvSpPr/>
          <p:nvPr/>
        </p:nvSpPr>
        <p:spPr>
          <a:xfrm>
            <a:off x="1187450" y="5708650"/>
            <a:ext cx="533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平均自由程</a:t>
            </a:r>
          </a:p>
        </p:txBody>
      </p:sp>
      <p:graphicFrame>
        <p:nvGraphicFramePr>
          <p:cNvPr id="281614" name="Object 6"/>
          <p:cNvGraphicFramePr>
            <a:graphicFrameLocks noChangeAspect="1"/>
          </p:cNvGraphicFramePr>
          <p:nvPr/>
        </p:nvGraphicFramePr>
        <p:xfrm>
          <a:off x="5580063" y="5527675"/>
          <a:ext cx="16033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r:id="rId11" imgW="657225" imgH="381000" progId="Equation.3">
                  <p:embed/>
                </p:oleObj>
              </mc:Choice>
              <mc:Fallback>
                <p:oleObj r:id="rId11" imgW="657225" imgH="3810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80063" y="5527675"/>
                        <a:ext cx="1603375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5" name="Object 7"/>
          <p:cNvGraphicFramePr>
            <a:graphicFrameLocks noChangeAspect="1"/>
          </p:cNvGraphicFramePr>
          <p:nvPr/>
        </p:nvGraphicFramePr>
        <p:xfrm>
          <a:off x="3708400" y="5516563"/>
          <a:ext cx="1858963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r:id="rId13" imgW="762000" imgH="381000" progId="Equation.3">
                  <p:embed/>
                </p:oleObj>
              </mc:Choice>
              <mc:Fallback>
                <p:oleObj r:id="rId13" imgW="762000" imgH="3810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08400" y="5516563"/>
                        <a:ext cx="1858963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7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8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8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2" grpId="0"/>
      <p:bldP spid="281604" grpId="0"/>
      <p:bldP spid="281605" grpId="0"/>
      <p:bldP spid="281606" grpId="0"/>
      <p:bldP spid="281608" grpId="0"/>
      <p:bldP spid="281611" grpId="0"/>
      <p:bldP spid="281612" grpId="0"/>
      <p:bldP spid="2816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15"/>
          <p:cNvSpPr txBox="1"/>
          <p:nvPr/>
        </p:nvSpPr>
        <p:spPr>
          <a:xfrm>
            <a:off x="250825" y="404813"/>
            <a:ext cx="3168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机械振动</a:t>
            </a:r>
          </a:p>
        </p:txBody>
      </p:sp>
      <p:sp>
        <p:nvSpPr>
          <p:cNvPr id="20" name="Text Box 16"/>
          <p:cNvSpPr txBox="1"/>
          <p:nvPr/>
        </p:nvSpPr>
        <p:spPr>
          <a:xfrm>
            <a:off x="541338" y="1387475"/>
            <a:ext cx="2590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分析振动系统</a:t>
            </a:r>
          </a:p>
        </p:txBody>
      </p:sp>
      <p:sp>
        <p:nvSpPr>
          <p:cNvPr id="21" name="Rectangle 17"/>
          <p:cNvSpPr/>
          <p:nvPr/>
        </p:nvSpPr>
        <p:spPr>
          <a:xfrm>
            <a:off x="2674938" y="1366838"/>
            <a:ext cx="24733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简谐振动</a:t>
            </a:r>
          </a:p>
        </p:txBody>
      </p:sp>
      <p:sp>
        <p:nvSpPr>
          <p:cNvPr id="12293" name="Text Box 19"/>
          <p:cNvSpPr txBox="1"/>
          <p:nvPr/>
        </p:nvSpPr>
        <p:spPr>
          <a:xfrm>
            <a:off x="768350" y="393858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3" name="Object 2"/>
          <p:cNvGraphicFramePr>
            <a:graphicFrameLocks noChangeAspect="1"/>
          </p:cNvGraphicFramePr>
          <p:nvPr/>
        </p:nvGraphicFramePr>
        <p:xfrm>
          <a:off x="5303838" y="765175"/>
          <a:ext cx="14716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r:id="rId3" imgW="495300" imgH="161925" progId="Equation.3">
                  <p:embed/>
                </p:oleObj>
              </mc:Choice>
              <mc:Fallback>
                <p:oleObj r:id="rId3" imgW="495300" imgH="161925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3838" y="765175"/>
                        <a:ext cx="1471612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/>
          <p:cNvGraphicFramePr>
            <a:graphicFrameLocks noChangeAspect="1"/>
          </p:cNvGraphicFramePr>
          <p:nvPr/>
        </p:nvGraphicFramePr>
        <p:xfrm>
          <a:off x="5303838" y="1222375"/>
          <a:ext cx="16891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r:id="rId5" imgW="571500" imgH="161925" progId="Equation.3">
                  <p:embed/>
                </p:oleObj>
              </mc:Choice>
              <mc:Fallback>
                <p:oleObj r:id="rId5" imgW="571500" imgH="16192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03838" y="1222375"/>
                        <a:ext cx="168910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5303838" y="1831975"/>
          <a:ext cx="29257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r:id="rId7" imgW="1000125" imgH="200025" progId="Equation.3">
                  <p:embed/>
                </p:oleObj>
              </mc:Choice>
              <mc:Fallback>
                <p:oleObj r:id="rId7" imgW="1000125" imgH="200025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03838" y="1831975"/>
                        <a:ext cx="2925762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AutoShape 23"/>
          <p:cNvSpPr/>
          <p:nvPr/>
        </p:nvSpPr>
        <p:spPr>
          <a:xfrm>
            <a:off x="4803775" y="831850"/>
            <a:ext cx="381000" cy="1447800"/>
          </a:xfrm>
          <a:prstGeom prst="leftBrace">
            <a:avLst>
              <a:gd name="adj1" fmla="val 31666"/>
              <a:gd name="adj2" fmla="val 50000"/>
            </a:avLst>
          </a:prstGeom>
          <a:noFill/>
          <a:ln w="28575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zh-CN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Text Box 24"/>
          <p:cNvSpPr txBox="1"/>
          <p:nvPr/>
        </p:nvSpPr>
        <p:spPr>
          <a:xfrm>
            <a:off x="541338" y="2276475"/>
            <a:ext cx="33099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建立动力学方程</a:t>
            </a:r>
          </a:p>
        </p:txBody>
      </p:sp>
      <p:graphicFrame>
        <p:nvGraphicFramePr>
          <p:cNvPr id="28" name="Object 5"/>
          <p:cNvGraphicFramePr>
            <a:graphicFrameLocks noChangeAspect="1"/>
          </p:cNvGraphicFramePr>
          <p:nvPr/>
        </p:nvGraphicFramePr>
        <p:xfrm>
          <a:off x="755650" y="2852738"/>
          <a:ext cx="19462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r:id="rId9" imgW="676275" imgH="238125" progId="Equation.3">
                  <p:embed/>
                </p:oleObj>
              </mc:Choice>
              <mc:Fallback>
                <p:oleObj r:id="rId9" imgW="676275" imgH="23812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5650" y="2852738"/>
                        <a:ext cx="1946275" cy="72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AutoShape 26"/>
          <p:cNvSpPr/>
          <p:nvPr/>
        </p:nvSpPr>
        <p:spPr>
          <a:xfrm>
            <a:off x="3117850" y="3209925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zh-CN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0" name="Object 6"/>
          <p:cNvGraphicFramePr>
            <a:graphicFrameLocks noChangeAspect="1"/>
          </p:cNvGraphicFramePr>
          <p:nvPr/>
        </p:nvGraphicFramePr>
        <p:xfrm>
          <a:off x="3879850" y="3209925"/>
          <a:ext cx="4206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r:id="rId11" imgW="114300" imgH="104775" progId="Equation.3">
                  <p:embed/>
                </p:oleObj>
              </mc:Choice>
              <mc:Fallback>
                <p:oleObj r:id="rId11" imgW="114300" imgH="10477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79850" y="3209925"/>
                        <a:ext cx="420688" cy="390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28"/>
          <p:cNvSpPr txBox="1"/>
          <p:nvPr/>
        </p:nvSpPr>
        <p:spPr>
          <a:xfrm>
            <a:off x="539750" y="4035425"/>
            <a:ext cx="3311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求解运动学方程</a:t>
            </a:r>
          </a:p>
        </p:txBody>
      </p:sp>
      <p:graphicFrame>
        <p:nvGraphicFramePr>
          <p:cNvPr id="32" name="Object 7"/>
          <p:cNvGraphicFramePr>
            <a:graphicFrameLocks noChangeAspect="1"/>
          </p:cNvGraphicFramePr>
          <p:nvPr/>
        </p:nvGraphicFramePr>
        <p:xfrm>
          <a:off x="3130550" y="3959225"/>
          <a:ext cx="29337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r:id="rId13" imgW="1028700" imgH="180975" progId="Equation.3">
                  <p:embed/>
                </p:oleObj>
              </mc:Choice>
              <mc:Fallback>
                <p:oleObj r:id="rId13" imgW="1028700" imgH="18097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30550" y="3959225"/>
                        <a:ext cx="2933700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/>
          <p:cNvGrpSpPr/>
          <p:nvPr/>
        </p:nvGrpSpPr>
        <p:grpSpPr>
          <a:xfrm rot="5400000" flipV="1">
            <a:off x="4603750" y="3203575"/>
            <a:ext cx="457200" cy="838200"/>
            <a:chOff x="480" y="528"/>
            <a:chExt cx="432" cy="1104"/>
          </a:xfrm>
        </p:grpSpPr>
        <p:sp>
          <p:nvSpPr>
            <p:cNvPr id="12309" name="Line 31"/>
            <p:cNvSpPr/>
            <p:nvPr/>
          </p:nvSpPr>
          <p:spPr>
            <a:xfrm>
              <a:off x="480" y="528"/>
              <a:ext cx="0" cy="1104"/>
            </a:xfrm>
            <a:prstGeom prst="line">
              <a:avLst/>
            </a:prstGeom>
            <a:ln w="254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0" name="Line 32"/>
            <p:cNvSpPr/>
            <p:nvPr/>
          </p:nvSpPr>
          <p:spPr>
            <a:xfrm>
              <a:off x="480" y="1632"/>
              <a:ext cx="432" cy="0"/>
            </a:xfrm>
            <a:prstGeom prst="line">
              <a:avLst/>
            </a:prstGeom>
            <a:ln w="25400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37" name="Object 8"/>
          <p:cNvGraphicFramePr>
            <a:graphicFrameLocks noChangeAspect="1"/>
          </p:cNvGraphicFramePr>
          <p:nvPr/>
        </p:nvGraphicFramePr>
        <p:xfrm>
          <a:off x="1068388" y="5424488"/>
          <a:ext cx="64230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r:id="rId15" imgW="2286000" imgH="390525" progId="">
                  <p:embed/>
                </p:oleObj>
              </mc:Choice>
              <mc:Fallback>
                <p:oleObj r:id="rId15" imgW="2286000" imgH="390525" progId="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68388" y="5424488"/>
                        <a:ext cx="6423025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9"/>
          <p:cNvGraphicFramePr>
            <a:graphicFrameLocks noChangeAspect="1"/>
          </p:cNvGraphicFramePr>
          <p:nvPr/>
        </p:nvGraphicFramePr>
        <p:xfrm>
          <a:off x="1077913" y="4856163"/>
          <a:ext cx="114617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r:id="rId17" imgW="390525" imgH="152400" progId="">
                  <p:embed/>
                </p:oleObj>
              </mc:Choice>
              <mc:Fallback>
                <p:oleObj r:id="rId17" imgW="390525" imgH="152400" progId="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77913" y="4856163"/>
                        <a:ext cx="1146175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5"/>
          <p:cNvSpPr/>
          <p:nvPr/>
        </p:nvSpPr>
        <p:spPr>
          <a:xfrm>
            <a:off x="2209800" y="4827588"/>
            <a:ext cx="358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三者的关系</a:t>
            </a:r>
          </a:p>
        </p:txBody>
      </p:sp>
      <p:sp>
        <p:nvSpPr>
          <p:cNvPr id="12308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8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6" grpId="0" animBg="1"/>
      <p:bldP spid="27" grpId="0"/>
      <p:bldP spid="29" grpId="0" animBg="1"/>
      <p:bldP spid="31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32" name="Text Box 12"/>
          <p:cNvSpPr txBox="1"/>
          <p:nvPr/>
        </p:nvSpPr>
        <p:spPr>
          <a:xfrm>
            <a:off x="304800" y="2428875"/>
            <a:ext cx="4038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简谐振动的合成</a:t>
            </a:r>
          </a:p>
        </p:txBody>
      </p:sp>
      <p:sp>
        <p:nvSpPr>
          <p:cNvPr id="465934" name="Text Box 14"/>
          <p:cNvSpPr txBox="1"/>
          <p:nvPr/>
        </p:nvSpPr>
        <p:spPr>
          <a:xfrm>
            <a:off x="0" y="2857500"/>
            <a:ext cx="548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同方向、同频率谐振动的合成</a:t>
            </a:r>
          </a:p>
        </p:txBody>
      </p:sp>
      <p:sp>
        <p:nvSpPr>
          <p:cNvPr id="465935" name="AutoShape 15"/>
          <p:cNvSpPr/>
          <p:nvPr/>
        </p:nvSpPr>
        <p:spPr>
          <a:xfrm>
            <a:off x="4800600" y="3038475"/>
            <a:ext cx="762000" cy="228600"/>
          </a:xfrm>
          <a:prstGeom prst="rightArrow">
            <a:avLst>
              <a:gd name="adj1" fmla="val 50000"/>
              <a:gd name="adj2" fmla="val 8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65936" name="Rectangle 16"/>
          <p:cNvSpPr/>
          <p:nvPr/>
        </p:nvSpPr>
        <p:spPr>
          <a:xfrm>
            <a:off x="5638800" y="2886075"/>
            <a:ext cx="1670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谐振动</a:t>
            </a:r>
          </a:p>
        </p:txBody>
      </p:sp>
      <p:graphicFrame>
        <p:nvGraphicFramePr>
          <p:cNvPr id="465937" name="Object 2"/>
          <p:cNvGraphicFramePr>
            <a:graphicFrameLocks noChangeAspect="1"/>
          </p:cNvGraphicFramePr>
          <p:nvPr/>
        </p:nvGraphicFramePr>
        <p:xfrm>
          <a:off x="6781800" y="2903538"/>
          <a:ext cx="74771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r:id="rId3" imgW="257175" imgH="161925" progId="">
                  <p:embed/>
                </p:oleObj>
              </mc:Choice>
              <mc:Fallback>
                <p:oleObj r:id="rId3" imgW="257175" imgH="161925" progId="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81800" y="2903538"/>
                        <a:ext cx="747713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38" name="Text Box 18"/>
          <p:cNvSpPr txBox="1"/>
          <p:nvPr/>
        </p:nvSpPr>
        <p:spPr>
          <a:xfrm>
            <a:off x="0" y="3357563"/>
            <a:ext cx="563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同方向、不同频率谐振动的合成</a:t>
            </a:r>
          </a:p>
        </p:txBody>
      </p:sp>
      <p:sp>
        <p:nvSpPr>
          <p:cNvPr id="465939" name="AutoShape 19"/>
          <p:cNvSpPr/>
          <p:nvPr/>
        </p:nvSpPr>
        <p:spPr>
          <a:xfrm>
            <a:off x="5105400" y="3571875"/>
            <a:ext cx="762000" cy="228600"/>
          </a:xfrm>
          <a:prstGeom prst="rightArrow">
            <a:avLst>
              <a:gd name="adj1" fmla="val 50000"/>
              <a:gd name="adj2" fmla="val 8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65940" name="Rectangle 20"/>
          <p:cNvSpPr/>
          <p:nvPr/>
        </p:nvSpPr>
        <p:spPr>
          <a:xfrm>
            <a:off x="5867400" y="3476625"/>
            <a:ext cx="6492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拍</a:t>
            </a:r>
          </a:p>
        </p:txBody>
      </p:sp>
      <p:graphicFrame>
        <p:nvGraphicFramePr>
          <p:cNvPr id="465941" name="Object 3"/>
          <p:cNvGraphicFramePr>
            <a:graphicFrameLocks noChangeAspect="1"/>
          </p:cNvGraphicFramePr>
          <p:nvPr/>
        </p:nvGraphicFramePr>
        <p:xfrm>
          <a:off x="6496050" y="3417888"/>
          <a:ext cx="18208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r:id="rId5" imgW="676275" imgH="219075" progId="">
                  <p:embed/>
                </p:oleObj>
              </mc:Choice>
              <mc:Fallback>
                <p:oleObj r:id="rId5" imgW="676275" imgH="219075" progId="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6050" y="3417888"/>
                        <a:ext cx="1820863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42" name="Text Box 22"/>
          <p:cNvSpPr txBox="1"/>
          <p:nvPr/>
        </p:nvSpPr>
        <p:spPr>
          <a:xfrm>
            <a:off x="0" y="3890963"/>
            <a:ext cx="571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不同方向、同频率谐振动的合成</a:t>
            </a:r>
          </a:p>
        </p:txBody>
      </p:sp>
      <p:sp>
        <p:nvSpPr>
          <p:cNvPr id="465943" name="AutoShape 23"/>
          <p:cNvSpPr/>
          <p:nvPr/>
        </p:nvSpPr>
        <p:spPr>
          <a:xfrm>
            <a:off x="304800" y="2886075"/>
            <a:ext cx="304800" cy="1524000"/>
          </a:xfrm>
          <a:prstGeom prst="leftBrace">
            <a:avLst>
              <a:gd name="adj1" fmla="val 41666"/>
              <a:gd name="adj2" fmla="val 50000"/>
            </a:avLst>
          </a:prstGeom>
          <a:noFill/>
          <a:ln w="349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65944" name="Rectangle 24"/>
          <p:cNvSpPr/>
          <p:nvPr/>
        </p:nvSpPr>
        <p:spPr>
          <a:xfrm>
            <a:off x="5724525" y="3952875"/>
            <a:ext cx="320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谐振动、椭圆振动等</a:t>
            </a:r>
          </a:p>
        </p:txBody>
      </p:sp>
      <p:sp>
        <p:nvSpPr>
          <p:cNvPr id="465945" name="AutoShape 25"/>
          <p:cNvSpPr/>
          <p:nvPr/>
        </p:nvSpPr>
        <p:spPr>
          <a:xfrm>
            <a:off x="5105400" y="4105275"/>
            <a:ext cx="762000" cy="228600"/>
          </a:xfrm>
          <a:prstGeom prst="rightArrow">
            <a:avLst>
              <a:gd name="adj1" fmla="val 50000"/>
              <a:gd name="adj2" fmla="val 8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9" name="Rectangle 16"/>
          <p:cNvSpPr/>
          <p:nvPr/>
        </p:nvSpPr>
        <p:spPr>
          <a:xfrm>
            <a:off x="242888" y="4500563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机械波</a:t>
            </a:r>
          </a:p>
        </p:txBody>
      </p:sp>
      <p:sp>
        <p:nvSpPr>
          <p:cNvPr id="40" name="Rectangle 17"/>
          <p:cNvSpPr/>
          <p:nvPr/>
        </p:nvSpPr>
        <p:spPr>
          <a:xfrm>
            <a:off x="371475" y="4957763"/>
            <a:ext cx="861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建立波函数 （振动方程，波动曲线，初始条件，振动曲线）</a:t>
            </a:r>
          </a:p>
        </p:txBody>
      </p:sp>
      <p:graphicFrame>
        <p:nvGraphicFramePr>
          <p:cNvPr id="41" name="Object 4"/>
          <p:cNvGraphicFramePr>
            <a:graphicFrameLocks noChangeAspect="1"/>
          </p:cNvGraphicFramePr>
          <p:nvPr/>
        </p:nvGraphicFramePr>
        <p:xfrm>
          <a:off x="1362075" y="5338763"/>
          <a:ext cx="3351213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r:id="rId7" imgW="1457325" imgH="352425" progId="Equation.3">
                  <p:embed/>
                </p:oleObj>
              </mc:Choice>
              <mc:Fallback>
                <p:oleObj r:id="rId7" imgW="1457325" imgH="352425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62075" y="5338763"/>
                        <a:ext cx="3351213" cy="868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19"/>
          <p:cNvSpPr/>
          <p:nvPr/>
        </p:nvSpPr>
        <p:spPr>
          <a:xfrm>
            <a:off x="4638675" y="5567363"/>
            <a:ext cx="434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rgbClr val="76FB4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与坐标的关系（超前与落后）</a:t>
            </a:r>
          </a:p>
        </p:txBody>
      </p:sp>
      <p:grpSp>
        <p:nvGrpSpPr>
          <p:cNvPr id="2" name="Group 20"/>
          <p:cNvGrpSpPr/>
          <p:nvPr/>
        </p:nvGrpSpPr>
        <p:grpSpPr>
          <a:xfrm>
            <a:off x="1057275" y="5491163"/>
            <a:ext cx="838200" cy="914400"/>
            <a:chOff x="768" y="3552"/>
            <a:chExt cx="528" cy="480"/>
          </a:xfrm>
        </p:grpSpPr>
        <p:sp>
          <p:nvSpPr>
            <p:cNvPr id="13342" name="Line 21"/>
            <p:cNvSpPr/>
            <p:nvPr/>
          </p:nvSpPr>
          <p:spPr>
            <a:xfrm>
              <a:off x="768" y="3552"/>
              <a:ext cx="0" cy="480"/>
            </a:xfrm>
            <a:prstGeom prst="line">
              <a:avLst/>
            </a:prstGeom>
            <a:ln w="222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43" name="Line 22"/>
            <p:cNvSpPr/>
            <p:nvPr/>
          </p:nvSpPr>
          <p:spPr>
            <a:xfrm>
              <a:off x="768" y="4032"/>
              <a:ext cx="528" cy="0"/>
            </a:xfrm>
            <a:prstGeom prst="line">
              <a:avLst/>
            </a:prstGeom>
            <a:ln w="2222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6" name="Rectangle 23"/>
          <p:cNvSpPr/>
          <p:nvPr/>
        </p:nvSpPr>
        <p:spPr>
          <a:xfrm>
            <a:off x="1971675" y="6100763"/>
            <a:ext cx="27638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波动方程</a:t>
            </a:r>
          </a:p>
        </p:txBody>
      </p:sp>
      <p:graphicFrame>
        <p:nvGraphicFramePr>
          <p:cNvPr id="47" name="Object 5"/>
          <p:cNvGraphicFramePr>
            <a:graphicFrameLocks noChangeAspect="1"/>
          </p:cNvGraphicFramePr>
          <p:nvPr/>
        </p:nvGraphicFramePr>
        <p:xfrm>
          <a:off x="2928938" y="1484313"/>
          <a:ext cx="24384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r:id="rId9" imgW="914400" imgH="428625" progId="">
                  <p:embed/>
                </p:oleObj>
              </mc:Choice>
              <mc:Fallback>
                <p:oleObj r:id="rId9" imgW="914400" imgH="428625" progId="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8938" y="1484313"/>
                        <a:ext cx="2438400" cy="1139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6"/>
          <p:cNvGraphicFramePr>
            <a:graphicFrameLocks noChangeAspect="1"/>
          </p:cNvGraphicFramePr>
          <p:nvPr/>
        </p:nvGraphicFramePr>
        <p:xfrm>
          <a:off x="5929313" y="1531938"/>
          <a:ext cx="22431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r:id="rId11" imgW="838200" imgH="390525" progId="">
                  <p:embed/>
                </p:oleObj>
              </mc:Choice>
              <mc:Fallback>
                <p:oleObj r:id="rId11" imgW="838200" imgH="390525" progId="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29313" y="1531938"/>
                        <a:ext cx="2243137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7"/>
          <p:cNvSpPr txBox="1"/>
          <p:nvPr/>
        </p:nvSpPr>
        <p:spPr>
          <a:xfrm>
            <a:off x="228600" y="142875"/>
            <a:ext cx="777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• 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确定运动学方程中的三个重要方法</a:t>
            </a:r>
          </a:p>
        </p:txBody>
      </p:sp>
      <p:sp>
        <p:nvSpPr>
          <p:cNvPr id="50" name="Rectangle 8"/>
          <p:cNvSpPr/>
          <p:nvPr/>
        </p:nvSpPr>
        <p:spPr>
          <a:xfrm>
            <a:off x="609600" y="1819275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初始条件法</a:t>
            </a:r>
          </a:p>
        </p:txBody>
      </p:sp>
      <p:sp>
        <p:nvSpPr>
          <p:cNvPr id="51" name="Rectangle 9"/>
          <p:cNvSpPr/>
          <p:nvPr/>
        </p:nvSpPr>
        <p:spPr>
          <a:xfrm>
            <a:off x="609600" y="1100138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旋转矢量法</a:t>
            </a:r>
          </a:p>
        </p:txBody>
      </p:sp>
      <p:sp>
        <p:nvSpPr>
          <p:cNvPr id="52" name="Rectangle 10"/>
          <p:cNvSpPr/>
          <p:nvPr/>
        </p:nvSpPr>
        <p:spPr>
          <a:xfrm>
            <a:off x="609600" y="600075"/>
            <a:ext cx="342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振动曲线分析法</a:t>
            </a:r>
          </a:p>
        </p:txBody>
      </p:sp>
      <p:sp>
        <p:nvSpPr>
          <p:cNvPr id="53" name="Text Box 11"/>
          <p:cNvSpPr txBox="1"/>
          <p:nvPr/>
        </p:nvSpPr>
        <p:spPr>
          <a:xfrm>
            <a:off x="2286000" y="1100138"/>
            <a:ext cx="548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确定初相位较为方便</a:t>
            </a:r>
          </a:p>
        </p:txBody>
      </p:sp>
      <p:sp>
        <p:nvSpPr>
          <p:cNvPr id="54" name="Text Box 13"/>
          <p:cNvSpPr txBox="1"/>
          <p:nvPr/>
        </p:nvSpPr>
        <p:spPr>
          <a:xfrm>
            <a:off x="2771775" y="600075"/>
            <a:ext cx="624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（两个以上简谐振动的相位关系的分析）</a:t>
            </a:r>
          </a:p>
        </p:txBody>
      </p:sp>
      <p:sp>
        <p:nvSpPr>
          <p:cNvPr id="13341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9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65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6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65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65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65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65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6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6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6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6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6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6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6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34" grpId="0"/>
      <p:bldP spid="465935" grpId="0" animBg="1"/>
      <p:bldP spid="465936" grpId="0"/>
      <p:bldP spid="465938" grpId="0"/>
      <p:bldP spid="465939" grpId="0" animBg="1"/>
      <p:bldP spid="465940" grpId="0"/>
      <p:bldP spid="465942" grpId="0"/>
      <p:bldP spid="465943" grpId="0" animBg="1"/>
      <p:bldP spid="465944" grpId="0"/>
      <p:bldP spid="465945" grpId="0" animBg="1"/>
      <p:bldP spid="39" grpId="0"/>
      <p:bldP spid="40" grpId="0"/>
      <p:bldP spid="42" grpId="0"/>
      <p:bldP spid="46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/>
          <p:nvPr/>
        </p:nvSpPr>
        <p:spPr>
          <a:xfrm>
            <a:off x="304800" y="152400"/>
            <a:ext cx="868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波的干涉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（相干条件，叠加原理）</a:t>
            </a:r>
            <a:endParaRPr lang="zh-CN" altLang="en-US" dirty="0">
              <a:solidFill>
                <a:srgbClr val="FFFF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2627" name="Rectangle 3"/>
          <p:cNvSpPr/>
          <p:nvPr/>
        </p:nvSpPr>
        <p:spPr>
          <a:xfrm>
            <a:off x="762000" y="609600"/>
            <a:ext cx="533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一般干涉条件</a:t>
            </a:r>
          </a:p>
        </p:txBody>
      </p:sp>
      <p:graphicFrame>
        <p:nvGraphicFramePr>
          <p:cNvPr id="296960" name="Object 2"/>
          <p:cNvGraphicFramePr>
            <a:graphicFrameLocks noChangeAspect="1"/>
          </p:cNvGraphicFramePr>
          <p:nvPr/>
        </p:nvGraphicFramePr>
        <p:xfrm>
          <a:off x="1797050" y="1014413"/>
          <a:ext cx="32099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r:id="rId3" imgW="1244600" imgH="203200" progId="">
                  <p:embed/>
                </p:oleObj>
              </mc:Choice>
              <mc:Fallback>
                <p:oleObj r:id="rId3" imgW="1244600" imgH="203200" progId="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7050" y="1014413"/>
                        <a:ext cx="3209925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1" name="Object 3"/>
          <p:cNvGraphicFramePr>
            <a:graphicFrameLocks noChangeAspect="1"/>
          </p:cNvGraphicFramePr>
          <p:nvPr/>
        </p:nvGraphicFramePr>
        <p:xfrm>
          <a:off x="5213350" y="787400"/>
          <a:ext cx="302260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r:id="rId5" imgW="1167765" imgH="393700" progId="">
                  <p:embed/>
                </p:oleObj>
              </mc:Choice>
              <mc:Fallback>
                <p:oleObj r:id="rId5" imgW="1167765" imgH="393700" progId="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13350" y="787400"/>
                        <a:ext cx="3022600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1447800" y="1066800"/>
            <a:ext cx="914400" cy="685800"/>
            <a:chOff x="912" y="624"/>
            <a:chExt cx="576" cy="432"/>
          </a:xfrm>
        </p:grpSpPr>
        <p:sp>
          <p:nvSpPr>
            <p:cNvPr id="14358" name="Line 7"/>
            <p:cNvSpPr/>
            <p:nvPr/>
          </p:nvSpPr>
          <p:spPr>
            <a:xfrm>
              <a:off x="912" y="624"/>
              <a:ext cx="0" cy="432"/>
            </a:xfrm>
            <a:prstGeom prst="line">
              <a:avLst/>
            </a:prstGeom>
            <a:ln w="2222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9" name="Line 8"/>
            <p:cNvSpPr/>
            <p:nvPr/>
          </p:nvSpPr>
          <p:spPr>
            <a:xfrm>
              <a:off x="912" y="1056"/>
              <a:ext cx="576" cy="0"/>
            </a:xfrm>
            <a:prstGeom prst="line">
              <a:avLst/>
            </a:prstGeom>
            <a:ln w="22225" cap="flat" cmpd="sng">
              <a:solidFill>
                <a:srgbClr val="FFCC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82633" name="Rectangle 9"/>
          <p:cNvSpPr/>
          <p:nvPr/>
        </p:nvSpPr>
        <p:spPr>
          <a:xfrm>
            <a:off x="2438400" y="1524000"/>
            <a:ext cx="44402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82FD4B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波程差与相位差的关系</a:t>
            </a:r>
          </a:p>
        </p:txBody>
      </p:sp>
      <p:sp>
        <p:nvSpPr>
          <p:cNvPr id="282634" name="Rectangle 10"/>
          <p:cNvSpPr/>
          <p:nvPr/>
        </p:nvSpPr>
        <p:spPr>
          <a:xfrm>
            <a:off x="762000" y="1981200"/>
            <a:ext cx="838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驻波（现象，波腹和波节的位置，相位特征，能量分布）</a:t>
            </a:r>
          </a:p>
        </p:txBody>
      </p:sp>
      <p:sp>
        <p:nvSpPr>
          <p:cNvPr id="282635" name="Rectangle 11"/>
          <p:cNvSpPr/>
          <p:nvPr/>
        </p:nvSpPr>
        <p:spPr>
          <a:xfrm>
            <a:off x="762000" y="2438400"/>
            <a:ext cx="838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③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半波损失（含义，图示，公式表示）</a:t>
            </a:r>
          </a:p>
        </p:txBody>
      </p:sp>
      <p:sp>
        <p:nvSpPr>
          <p:cNvPr id="282636" name="Rectangle 12"/>
          <p:cNvSpPr/>
          <p:nvPr/>
        </p:nvSpPr>
        <p:spPr>
          <a:xfrm>
            <a:off x="762000" y="2895600"/>
            <a:ext cx="36353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④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惠更斯原理（会作图）</a:t>
            </a:r>
          </a:p>
        </p:txBody>
      </p:sp>
      <p:sp>
        <p:nvSpPr>
          <p:cNvPr id="282637" name="Rectangle 13"/>
          <p:cNvSpPr/>
          <p:nvPr/>
        </p:nvSpPr>
        <p:spPr>
          <a:xfrm>
            <a:off x="304800" y="3352800"/>
            <a:ext cx="883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波的能量（特征，            的关系，与总能量守恒的关系）</a:t>
            </a:r>
          </a:p>
        </p:txBody>
      </p:sp>
      <p:graphicFrame>
        <p:nvGraphicFramePr>
          <p:cNvPr id="296962" name="Object 4"/>
          <p:cNvGraphicFramePr>
            <a:graphicFrameLocks noChangeAspect="1"/>
          </p:cNvGraphicFramePr>
          <p:nvPr/>
        </p:nvGraphicFramePr>
        <p:xfrm>
          <a:off x="3059113" y="3357563"/>
          <a:ext cx="10826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r:id="rId7" imgW="390525" imgH="190500" progId="Equation.3">
                  <p:embed/>
                </p:oleObj>
              </mc:Choice>
              <mc:Fallback>
                <p:oleObj r:id="rId7" imgW="390525" imgH="1905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9113" y="3357563"/>
                        <a:ext cx="108267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9" name="Rectangle 15"/>
          <p:cNvSpPr/>
          <p:nvPr/>
        </p:nvSpPr>
        <p:spPr>
          <a:xfrm>
            <a:off x="323850" y="4292600"/>
            <a:ext cx="838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多普勒效应</a:t>
            </a:r>
          </a:p>
        </p:txBody>
      </p:sp>
      <p:sp>
        <p:nvSpPr>
          <p:cNvPr id="282640" name="Rectangle 16"/>
          <p:cNvSpPr/>
          <p:nvPr/>
        </p:nvSpPr>
        <p:spPr>
          <a:xfrm>
            <a:off x="1066800" y="4724400"/>
            <a:ext cx="586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9933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★</a:t>
            </a:r>
            <a:r>
              <a:rPr lang="zh-CN" altLang="en-US" dirty="0">
                <a:solidFill>
                  <a:srgbClr val="FF9933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分清楚波源与观测者→应用：“拍频”</a:t>
            </a:r>
          </a:p>
        </p:txBody>
      </p:sp>
      <p:sp>
        <p:nvSpPr>
          <p:cNvPr id="282641" name="Rectangle 17"/>
          <p:cNvSpPr/>
          <p:nvPr/>
        </p:nvSpPr>
        <p:spPr>
          <a:xfrm>
            <a:off x="755650" y="3860800"/>
            <a:ext cx="459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平均能流密度</a:t>
            </a:r>
          </a:p>
        </p:txBody>
      </p:sp>
      <p:sp>
        <p:nvSpPr>
          <p:cNvPr id="282642" name="Rectangle 18"/>
          <p:cNvSpPr/>
          <p:nvPr/>
        </p:nvSpPr>
        <p:spPr>
          <a:xfrm>
            <a:off x="3276600" y="38354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强度关系</a:t>
            </a:r>
          </a:p>
        </p:txBody>
      </p:sp>
      <p:sp>
        <p:nvSpPr>
          <p:cNvPr id="282643" name="Rectangle 19"/>
          <p:cNvSpPr/>
          <p:nvPr/>
        </p:nvSpPr>
        <p:spPr>
          <a:xfrm>
            <a:off x="304800" y="5181600"/>
            <a:ext cx="6553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注意：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振动能量与波动能量的区别</a:t>
            </a:r>
          </a:p>
        </p:txBody>
      </p:sp>
      <p:sp>
        <p:nvSpPr>
          <p:cNvPr id="282644" name="Rectangle 20"/>
          <p:cNvSpPr/>
          <p:nvPr/>
        </p:nvSpPr>
        <p:spPr>
          <a:xfrm>
            <a:off x="1219200" y="5638800"/>
            <a:ext cx="6553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波速与振动速度的区别</a:t>
            </a:r>
          </a:p>
        </p:txBody>
      </p:sp>
      <p:sp>
        <p:nvSpPr>
          <p:cNvPr id="282645" name="Rectangle 21"/>
          <p:cNvSpPr/>
          <p:nvPr/>
        </p:nvSpPr>
        <p:spPr>
          <a:xfrm>
            <a:off x="1219200" y="6096000"/>
            <a:ext cx="396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③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振动与波动不可分</a:t>
            </a:r>
          </a:p>
        </p:txBody>
      </p:sp>
      <p:sp>
        <p:nvSpPr>
          <p:cNvPr id="282646" name="Rectangle 22"/>
          <p:cNvSpPr/>
          <p:nvPr/>
        </p:nvSpPr>
        <p:spPr>
          <a:xfrm>
            <a:off x="4267200" y="6096000"/>
            <a:ext cx="487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④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反射波函数的确定，波的叠加</a:t>
            </a:r>
          </a:p>
        </p:txBody>
      </p:sp>
      <p:sp>
        <p:nvSpPr>
          <p:cNvPr id="14357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10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9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6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2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2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2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8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82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2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8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8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8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8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6" grpId="0"/>
      <p:bldP spid="282627" grpId="0"/>
      <p:bldP spid="282633" grpId="0"/>
      <p:bldP spid="282634" grpId="0"/>
      <p:bldP spid="282635" grpId="0"/>
      <p:bldP spid="282636" grpId="0"/>
      <p:bldP spid="282637" grpId="0"/>
      <p:bldP spid="282639" grpId="0"/>
      <p:bldP spid="282640" grpId="0"/>
      <p:bldP spid="282641" grpId="0"/>
      <p:bldP spid="282642" grpId="0"/>
      <p:bldP spid="282643" grpId="0"/>
      <p:bldP spid="282644" grpId="0"/>
      <p:bldP spid="282645" grpId="0"/>
      <p:bldP spid="2826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/>
          <p:nvPr/>
        </p:nvSpPr>
        <p:spPr>
          <a:xfrm>
            <a:off x="323850" y="26035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波动光学</a:t>
            </a:r>
          </a:p>
        </p:txBody>
      </p:sp>
      <p:sp>
        <p:nvSpPr>
          <p:cNvPr id="283651" name="Rectangle 3"/>
          <p:cNvSpPr/>
          <p:nvPr/>
        </p:nvSpPr>
        <p:spPr>
          <a:xfrm>
            <a:off x="457200" y="728663"/>
            <a:ext cx="868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电磁波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（性质，能量关系，电场与磁场的关系）</a:t>
            </a:r>
            <a:endParaRPr lang="zh-CN" altLang="en-US" dirty="0">
              <a:solidFill>
                <a:srgbClr val="FFFF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3652" name="Rectangle 4"/>
          <p:cNvSpPr/>
          <p:nvPr/>
        </p:nvSpPr>
        <p:spPr>
          <a:xfrm>
            <a:off x="457200" y="1185863"/>
            <a:ext cx="868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干涉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（核心是光程差）</a:t>
            </a:r>
            <a:endParaRPr lang="zh-CN" altLang="en-US" dirty="0">
              <a:solidFill>
                <a:schemeClr val="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3653" name="Rectangle 5"/>
          <p:cNvSpPr/>
          <p:nvPr/>
        </p:nvSpPr>
        <p:spPr>
          <a:xfrm>
            <a:off x="990600" y="1643063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</a:t>
            </a:r>
            <a:r>
              <a:rPr lang="zh-CN" altLang="en-US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双缝干涉（包括干涉公式，特征等）</a:t>
            </a:r>
          </a:p>
        </p:txBody>
      </p:sp>
      <p:sp>
        <p:nvSpPr>
          <p:cNvPr id="283654" name="Rectangle 6"/>
          <p:cNvSpPr/>
          <p:nvPr/>
        </p:nvSpPr>
        <p:spPr>
          <a:xfrm>
            <a:off x="1981200" y="2100263"/>
            <a:ext cx="6324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★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双缝干涉的拓展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洛埃镜的应用</a:t>
            </a:r>
          </a:p>
        </p:txBody>
      </p:sp>
      <p:sp>
        <p:nvSpPr>
          <p:cNvPr id="283655" name="Rectangle 7"/>
          <p:cNvSpPr/>
          <p:nvPr/>
        </p:nvSpPr>
        <p:spPr>
          <a:xfrm>
            <a:off x="1981200" y="2557463"/>
            <a:ext cx="6324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★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确定明纹和暗纹间距</a:t>
            </a:r>
          </a:p>
        </p:txBody>
      </p:sp>
      <p:sp>
        <p:nvSpPr>
          <p:cNvPr id="283656" name="Rectangle 8"/>
          <p:cNvSpPr/>
          <p:nvPr/>
        </p:nvSpPr>
        <p:spPr>
          <a:xfrm>
            <a:off x="1981200" y="3014663"/>
            <a:ext cx="701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★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条纹的移动（</a:t>
            </a:r>
            <a:r>
              <a:rPr lang="zh-CN" altLang="en-US" dirty="0">
                <a:solidFill>
                  <a:srgbClr val="FF9933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移动狭缝，加介质，斜入射等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283657" name="Rectangle 9"/>
          <p:cNvSpPr/>
          <p:nvPr/>
        </p:nvSpPr>
        <p:spPr>
          <a:xfrm>
            <a:off x="1981200" y="3471863"/>
            <a:ext cx="6324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★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分辨本领（复色光或白光照射）</a:t>
            </a:r>
          </a:p>
        </p:txBody>
      </p:sp>
      <p:sp>
        <p:nvSpPr>
          <p:cNvPr id="283658" name="Rectangle 10"/>
          <p:cNvSpPr/>
          <p:nvPr/>
        </p:nvSpPr>
        <p:spPr>
          <a:xfrm>
            <a:off x="990600" y="3929063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</a:t>
            </a:r>
            <a:r>
              <a:rPr lang="zh-CN" altLang="en-US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等倾干涉在垂直入射时，增反与增透膜的条件</a:t>
            </a:r>
          </a:p>
        </p:txBody>
      </p:sp>
      <p:sp>
        <p:nvSpPr>
          <p:cNvPr id="283659" name="Rectangle 11"/>
          <p:cNvSpPr/>
          <p:nvPr/>
        </p:nvSpPr>
        <p:spPr>
          <a:xfrm>
            <a:off x="990600" y="4386263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③ </a:t>
            </a:r>
            <a:r>
              <a:rPr lang="zh-CN" altLang="en-US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等厚干涉（劈尖，牛顿环）</a:t>
            </a:r>
          </a:p>
        </p:txBody>
      </p:sp>
      <p:sp>
        <p:nvSpPr>
          <p:cNvPr id="283660" name="Rectangle 12"/>
          <p:cNvSpPr/>
          <p:nvPr/>
        </p:nvSpPr>
        <p:spPr>
          <a:xfrm>
            <a:off x="1600200" y="4843463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涉及条纹移动，测量微小厚度，工件检测应用问题</a:t>
            </a:r>
          </a:p>
        </p:txBody>
      </p:sp>
      <p:sp>
        <p:nvSpPr>
          <p:cNvPr id="283661" name="Rectangle 13"/>
          <p:cNvSpPr/>
          <p:nvPr/>
        </p:nvSpPr>
        <p:spPr>
          <a:xfrm>
            <a:off x="990600" y="5300663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④ </a:t>
            </a:r>
            <a:r>
              <a:rPr lang="zh-CN" altLang="en-US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迈克尔孙干涉仪的工作原理及其应用，测</a:t>
            </a:r>
          </a:p>
        </p:txBody>
      </p:sp>
      <p:graphicFrame>
        <p:nvGraphicFramePr>
          <p:cNvPr id="297984" name="Object 2"/>
          <p:cNvGraphicFramePr>
            <a:graphicFrameLocks noChangeAspect="1"/>
          </p:cNvGraphicFramePr>
          <p:nvPr/>
        </p:nvGraphicFramePr>
        <p:xfrm>
          <a:off x="7092950" y="5195888"/>
          <a:ext cx="762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r:id="rId3" imgW="238125" imgH="161925" progId="Equation.3">
                  <p:embed/>
                </p:oleObj>
              </mc:Choice>
              <mc:Fallback>
                <p:oleObj r:id="rId3" imgW="238125" imgH="16192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92950" y="5195888"/>
                        <a:ext cx="7620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3" name="Rectangle 15"/>
          <p:cNvSpPr/>
          <p:nvPr/>
        </p:nvSpPr>
        <p:spPr>
          <a:xfrm>
            <a:off x="304800" y="5924550"/>
            <a:ext cx="883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注意：半波损失的分析（尤其是劈尖的棱边情况）</a:t>
            </a:r>
          </a:p>
        </p:txBody>
      </p:sp>
      <p:sp>
        <p:nvSpPr>
          <p:cNvPr id="15376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11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3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3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3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3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9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8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0" grpId="0"/>
      <p:bldP spid="283651" grpId="0"/>
      <p:bldP spid="283652" grpId="0"/>
      <p:bldP spid="283653" grpId="0"/>
      <p:bldP spid="283654" grpId="0"/>
      <p:bldP spid="283655" grpId="0"/>
      <p:bldP spid="283656" grpId="0"/>
      <p:bldP spid="283657" grpId="0"/>
      <p:bldP spid="283658" grpId="0"/>
      <p:bldP spid="283659" grpId="0"/>
      <p:bldP spid="283660" grpId="0"/>
      <p:bldP spid="283661" grpId="0"/>
      <p:bldP spid="2836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6" name="Rectangle 4"/>
          <p:cNvSpPr/>
          <p:nvPr/>
        </p:nvSpPr>
        <p:spPr>
          <a:xfrm>
            <a:off x="228600" y="404813"/>
            <a:ext cx="868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衍射</a:t>
            </a:r>
          </a:p>
        </p:txBody>
      </p:sp>
      <p:sp>
        <p:nvSpPr>
          <p:cNvPr id="284677" name="Rectangle 5"/>
          <p:cNvSpPr/>
          <p:nvPr/>
        </p:nvSpPr>
        <p:spPr>
          <a:xfrm>
            <a:off x="1476375" y="692150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）惠</a:t>
            </a:r>
            <a:r>
              <a:rPr lang="en-US" altLang="zh-CN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菲原理的表述和作用以及物理意义</a:t>
            </a:r>
          </a:p>
        </p:txBody>
      </p:sp>
      <p:sp>
        <p:nvSpPr>
          <p:cNvPr id="284678" name="Rectangle 6"/>
          <p:cNvSpPr/>
          <p:nvPr/>
        </p:nvSpPr>
        <p:spPr>
          <a:xfrm>
            <a:off x="1524000" y="1316038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）单缝夫琅禾费衍射（半波带法），求</a:t>
            </a:r>
          </a:p>
        </p:txBody>
      </p:sp>
      <p:graphicFrame>
        <p:nvGraphicFramePr>
          <p:cNvPr id="284679" name="Object 2"/>
          <p:cNvGraphicFramePr>
            <a:graphicFrameLocks noChangeAspect="1"/>
          </p:cNvGraphicFramePr>
          <p:nvPr/>
        </p:nvGraphicFramePr>
        <p:xfrm>
          <a:off x="3124200" y="1892300"/>
          <a:ext cx="25288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r:id="rId3" imgW="885825" imgH="161925" progId="Equation.3">
                  <p:embed/>
                </p:oleObj>
              </mc:Choice>
              <mc:Fallback>
                <p:oleObj r:id="rId3" imgW="885825" imgH="16192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1892300"/>
                        <a:ext cx="2528888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0" name="Rectangle 8"/>
          <p:cNvSpPr/>
          <p:nvPr/>
        </p:nvSpPr>
        <p:spPr>
          <a:xfrm>
            <a:off x="1524000" y="2514600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）瑞利判据表述和分辨本领公式应用</a:t>
            </a:r>
          </a:p>
        </p:txBody>
      </p:sp>
      <p:sp>
        <p:nvSpPr>
          <p:cNvPr id="284681" name="Rectangle 9"/>
          <p:cNvSpPr/>
          <p:nvPr/>
        </p:nvSpPr>
        <p:spPr>
          <a:xfrm>
            <a:off x="1524000" y="2971800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）光栅公式（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包括光栅衍射的特征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284682" name="Rectangle 10"/>
          <p:cNvSpPr/>
          <p:nvPr/>
        </p:nvSpPr>
        <p:spPr>
          <a:xfrm>
            <a:off x="2209800" y="3548063"/>
            <a:ext cx="693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注意：斜入射，缺级条件，最大级次等变化条件</a:t>
            </a:r>
          </a:p>
        </p:txBody>
      </p:sp>
      <p:sp>
        <p:nvSpPr>
          <p:cNvPr id="284686" name="Rectangle 14"/>
          <p:cNvSpPr/>
          <p:nvPr/>
        </p:nvSpPr>
        <p:spPr>
          <a:xfrm>
            <a:off x="304800" y="4267200"/>
            <a:ext cx="883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注意：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光栅衍射中主极大，次级大，暗纹之间的关系</a:t>
            </a:r>
          </a:p>
        </p:txBody>
      </p:sp>
      <p:sp>
        <p:nvSpPr>
          <p:cNvPr id="284687" name="Rectangle 15"/>
          <p:cNvSpPr/>
          <p:nvPr/>
        </p:nvSpPr>
        <p:spPr>
          <a:xfrm>
            <a:off x="1219200" y="4772025"/>
            <a:ext cx="769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光栅衍射现象的描述，光栅的暗纹公式和分析方法</a:t>
            </a:r>
          </a:p>
        </p:txBody>
      </p:sp>
      <p:sp>
        <p:nvSpPr>
          <p:cNvPr id="284688" name="Rectangle 16"/>
          <p:cNvSpPr/>
          <p:nvPr/>
        </p:nvSpPr>
        <p:spPr>
          <a:xfrm>
            <a:off x="1219200" y="5348288"/>
            <a:ext cx="746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③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明纹宽度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两个暗纹（相邻）的间距</a:t>
            </a:r>
          </a:p>
        </p:txBody>
      </p:sp>
      <p:sp>
        <p:nvSpPr>
          <p:cNvPr id="16396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12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4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4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6" grpId="0"/>
      <p:bldP spid="284677" grpId="0"/>
      <p:bldP spid="284678" grpId="0"/>
      <p:bldP spid="284680" grpId="0"/>
      <p:bldP spid="284681" grpId="0"/>
      <p:bldP spid="284682" grpId="0"/>
      <p:bldP spid="284686" grpId="0"/>
      <p:bldP spid="284687" grpId="0"/>
      <p:bldP spid="28468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/>
          <p:nvPr/>
        </p:nvSpPr>
        <p:spPr>
          <a:xfrm>
            <a:off x="228600" y="1027113"/>
            <a:ext cx="868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）自然光，偏振光，部分偏振光的表述和起偏检偏方法</a:t>
            </a:r>
          </a:p>
        </p:txBody>
      </p:sp>
      <p:sp>
        <p:nvSpPr>
          <p:cNvPr id="286723" name="Rectangle 3"/>
          <p:cNvSpPr/>
          <p:nvPr/>
        </p:nvSpPr>
        <p:spPr>
          <a:xfrm>
            <a:off x="228600" y="1531938"/>
            <a:ext cx="609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）马吕斯定理和布儒斯特定律</a:t>
            </a:r>
          </a:p>
        </p:txBody>
      </p:sp>
      <p:sp>
        <p:nvSpPr>
          <p:cNvPr id="286724" name="Rectangle 4"/>
          <p:cNvSpPr/>
          <p:nvPr/>
        </p:nvSpPr>
        <p:spPr>
          <a:xfrm>
            <a:off x="228600" y="1963738"/>
            <a:ext cx="868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）双折射现象（主要是定性的）</a:t>
            </a:r>
          </a:p>
        </p:txBody>
      </p:sp>
      <p:sp>
        <p:nvSpPr>
          <p:cNvPr id="286725" name="Rectangle 5"/>
          <p:cNvSpPr/>
          <p:nvPr/>
        </p:nvSpPr>
        <p:spPr>
          <a:xfrm>
            <a:off x="914400" y="2466975"/>
            <a:ext cx="7162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寻常光与非常光的规律（主平面，偏振化方向）</a:t>
            </a:r>
          </a:p>
        </p:txBody>
      </p:sp>
      <p:sp>
        <p:nvSpPr>
          <p:cNvPr id="286726" name="Rectangle 6"/>
          <p:cNvSpPr/>
          <p:nvPr/>
        </p:nvSpPr>
        <p:spPr>
          <a:xfrm>
            <a:off x="914400" y="2971800"/>
            <a:ext cx="746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惠更斯作图法（</a:t>
            </a:r>
            <a:r>
              <a:rPr lang="zh-CN" altLang="en-US" dirty="0">
                <a:solidFill>
                  <a:srgbClr val="4DEAFB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正负晶体，光轴取向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286727" name="Rectangle 7"/>
          <p:cNvSpPr/>
          <p:nvPr/>
        </p:nvSpPr>
        <p:spPr>
          <a:xfrm>
            <a:off x="228600" y="3476625"/>
            <a:ext cx="868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）偏振光的干涉</a:t>
            </a:r>
          </a:p>
        </p:txBody>
      </p:sp>
      <p:sp>
        <p:nvSpPr>
          <p:cNvPr id="286728" name="Rectangle 8"/>
          <p:cNvSpPr/>
          <p:nvPr/>
        </p:nvSpPr>
        <p:spPr>
          <a:xfrm>
            <a:off x="914400" y="3979863"/>
            <a:ext cx="7761288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 </a:t>
            </a:r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如何形成偏振光的干涉（相干条件）</a:t>
            </a:r>
            <a:endParaRPr lang="en-US" altLang="zh-CN" dirty="0">
              <a:solidFill>
                <a:srgbClr val="EDFE4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② 基本概念（色偏振、波片、光弹效应等）</a:t>
            </a:r>
            <a:endParaRPr lang="en-US" altLang="zh-CN" dirty="0">
              <a:solidFill>
                <a:srgbClr val="EDFE4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EDFE4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③ 描述圆偏振、椭圆偏振、线偏振等现象和形成过程</a:t>
            </a:r>
          </a:p>
        </p:txBody>
      </p:sp>
      <p:sp>
        <p:nvSpPr>
          <p:cNvPr id="9" name="Rectangle 17"/>
          <p:cNvSpPr/>
          <p:nvPr/>
        </p:nvSpPr>
        <p:spPr>
          <a:xfrm>
            <a:off x="304800" y="404813"/>
            <a:ext cx="868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偏振 （与电磁波的偏振性统一）</a:t>
            </a:r>
          </a:p>
        </p:txBody>
      </p:sp>
      <p:sp>
        <p:nvSpPr>
          <p:cNvPr id="17418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13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/>
      <p:bldP spid="286723" grpId="0"/>
      <p:bldP spid="286724" grpId="0"/>
      <p:bldP spid="286725" grpId="0"/>
      <p:bldP spid="286726" grpId="0"/>
      <p:bldP spid="286727" grpId="0"/>
      <p:bldP spid="28672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/>
          <p:nvPr/>
        </p:nvSpPr>
        <p:spPr>
          <a:xfrm>
            <a:off x="557213" y="26035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量子物理</a:t>
            </a:r>
          </a:p>
        </p:txBody>
      </p:sp>
      <p:sp>
        <p:nvSpPr>
          <p:cNvPr id="283651" name="Rectangle 3"/>
          <p:cNvSpPr/>
          <p:nvPr/>
        </p:nvSpPr>
        <p:spPr>
          <a:xfrm>
            <a:off x="655638" y="811213"/>
            <a:ext cx="70294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黑体辐射、光电效应、康普顿散射、氢原子光谱</a:t>
            </a:r>
          </a:p>
        </p:txBody>
      </p:sp>
      <p:sp>
        <p:nvSpPr>
          <p:cNvPr id="2" name="Rectangle 3"/>
          <p:cNvSpPr/>
          <p:nvPr/>
        </p:nvSpPr>
        <p:spPr>
          <a:xfrm>
            <a:off x="690563" y="1341438"/>
            <a:ext cx="5534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能量子假说、光量子假说</a:t>
            </a:r>
          </a:p>
        </p:txBody>
      </p:sp>
      <p:sp>
        <p:nvSpPr>
          <p:cNvPr id="3" name="Rectangle 3"/>
          <p:cNvSpPr/>
          <p:nvPr/>
        </p:nvSpPr>
        <p:spPr>
          <a:xfrm>
            <a:off x="690563" y="1844675"/>
            <a:ext cx="6994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光的波</a:t>
            </a:r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粒二象性和微观粒子的波</a:t>
            </a:r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粒二象性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90563" y="3068638"/>
            <a:ext cx="6994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物质波的统计解释和不确定关系</a:t>
            </a:r>
          </a:p>
        </p:txBody>
      </p:sp>
      <p:graphicFrame>
        <p:nvGraphicFramePr>
          <p:cNvPr id="1580046" name="Object 2"/>
          <p:cNvGraphicFramePr>
            <a:graphicFrameLocks noChangeAspect="1"/>
          </p:cNvGraphicFramePr>
          <p:nvPr/>
        </p:nvGraphicFramePr>
        <p:xfrm>
          <a:off x="3941763" y="2420938"/>
          <a:ext cx="18335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r:id="rId3" imgW="1962150" imgH="371475" progId="Equation.3">
                  <p:embed/>
                </p:oleObj>
              </mc:Choice>
              <mc:Fallback>
                <p:oleObj r:id="rId3" imgW="1962150" imgH="371475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41763" y="2420938"/>
                        <a:ext cx="1833562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0049" name="Object 3"/>
          <p:cNvGraphicFramePr>
            <a:graphicFrameLocks noChangeAspect="1"/>
          </p:cNvGraphicFramePr>
          <p:nvPr/>
        </p:nvGraphicFramePr>
        <p:xfrm>
          <a:off x="1636713" y="2205038"/>
          <a:ext cx="1828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r:id="rId5" imgW="1685925" imgH="809625" progId="">
                  <p:embed/>
                </p:oleObj>
              </mc:Choice>
              <mc:Fallback>
                <p:oleObj r:id="rId5" imgW="1685925" imgH="809625" progId="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36713" y="2205038"/>
                        <a:ext cx="18288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0059" name="Object 4"/>
          <p:cNvGraphicFramePr>
            <a:graphicFrameLocks noChangeAspect="1"/>
          </p:cNvGraphicFramePr>
          <p:nvPr/>
        </p:nvGraphicFramePr>
        <p:xfrm>
          <a:off x="1925638" y="3544888"/>
          <a:ext cx="18240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r:id="rId7" imgW="1571625" imgH="809625" progId="Equation.3">
                  <p:embed/>
                </p:oleObj>
              </mc:Choice>
              <mc:Fallback>
                <p:oleObj r:id="rId7" imgW="1571625" imgH="809625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25638" y="3544888"/>
                        <a:ext cx="1824037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0060" name="Object 5"/>
          <p:cNvGraphicFramePr>
            <a:graphicFrameLocks noChangeAspect="1"/>
          </p:cNvGraphicFramePr>
          <p:nvPr/>
        </p:nvGraphicFramePr>
        <p:xfrm>
          <a:off x="4518025" y="3544888"/>
          <a:ext cx="15763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r:id="rId9" imgW="1352550" imgH="809625" progId="Equation.3">
                  <p:embed/>
                </p:oleObj>
              </mc:Choice>
              <mc:Fallback>
                <p:oleObj r:id="rId9" imgW="1352550" imgH="80962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18025" y="3544888"/>
                        <a:ext cx="1576388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/>
          <p:nvPr/>
        </p:nvSpPr>
        <p:spPr>
          <a:xfrm>
            <a:off x="690563" y="4411663"/>
            <a:ext cx="6994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物质波波函数和薛定谔方程</a:t>
            </a:r>
          </a:p>
        </p:txBody>
      </p:sp>
      <p:sp>
        <p:nvSpPr>
          <p:cNvPr id="1580062" name="Rectangle 30"/>
          <p:cNvSpPr/>
          <p:nvPr/>
        </p:nvSpPr>
        <p:spPr>
          <a:xfrm>
            <a:off x="1660525" y="4916488"/>
            <a:ext cx="6911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概率密度 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单值、有限、连续，归一化</a:t>
            </a:r>
          </a:p>
        </p:txBody>
      </p:sp>
      <p:sp>
        <p:nvSpPr>
          <p:cNvPr id="16" name="Rectangle 3"/>
          <p:cNvSpPr/>
          <p:nvPr/>
        </p:nvSpPr>
        <p:spPr>
          <a:xfrm>
            <a:off x="690563" y="6067425"/>
            <a:ext cx="6994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自旋和四个量子数，原子的壳层分布</a:t>
            </a:r>
          </a:p>
        </p:txBody>
      </p:sp>
      <p:sp>
        <p:nvSpPr>
          <p:cNvPr id="17" name="Rectangle 3"/>
          <p:cNvSpPr/>
          <p:nvPr/>
        </p:nvSpPr>
        <p:spPr>
          <a:xfrm>
            <a:off x="719138" y="5445125"/>
            <a:ext cx="69961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▲ 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一维无限深势阱；谐振子模型和氢原子模型</a:t>
            </a:r>
          </a:p>
        </p:txBody>
      </p:sp>
      <p:sp>
        <p:nvSpPr>
          <p:cNvPr id="18447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14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3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3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8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8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8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58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8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0" grpId="0"/>
      <p:bldP spid="283651" grpId="0"/>
      <p:bldP spid="2" grpId="0"/>
      <p:bldP spid="3" grpId="0"/>
      <p:bldP spid="4" grpId="0"/>
      <p:bldP spid="5" grpId="0"/>
      <p:bldP spid="1580062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1162</Words>
  <Application>Microsoft Office PowerPoint</Application>
  <PresentationFormat>全屏显示(4:3)</PresentationFormat>
  <Paragraphs>175</Paragraphs>
  <Slides>14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仿宋_GB2312</vt:lpstr>
      <vt:lpstr>华文中宋</vt:lpstr>
      <vt:lpstr>宋体</vt:lpstr>
      <vt:lpstr>微软雅黑</vt:lpstr>
      <vt:lpstr>Times New Roman</vt:lpstr>
      <vt:lpstr>Wingdings</vt:lpstr>
      <vt:lpstr>默认设计模板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yzhang</cp:lastModifiedBy>
  <cp:revision>3</cp:revision>
  <cp:lastPrinted>2021-12-29T11:25:20Z</cp:lastPrinted>
  <dcterms:created xsi:type="dcterms:W3CDTF">1998-11-21T01:35:42Z</dcterms:created>
  <dcterms:modified xsi:type="dcterms:W3CDTF">2024-12-25T01:19:08Z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17AA4D5AFAD6431AB5BEFEB36AF15EA8_13</vt:lpwstr>
  </property>
  <property fmtid="{D5CDD505-2E9C-101B-9397-08002B2CF9AE}" pid="3" name="KSOProductBuildVer">
    <vt:lpwstr>2052-12.1.0.16120</vt:lpwstr>
  </property>
</Properties>
</file>