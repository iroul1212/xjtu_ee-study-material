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wav" ContentType="audio/x-wav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6"/>
  </p:notesMasterIdLst>
  <p:handoutMasterIdLst>
    <p:handoutMasterId r:id="rId37"/>
  </p:handoutMasterIdLst>
  <p:sldIdLst>
    <p:sldId id="439" r:id="rId2"/>
    <p:sldId id="482" r:id="rId3"/>
    <p:sldId id="490" r:id="rId4"/>
    <p:sldId id="491" r:id="rId5"/>
    <p:sldId id="492" r:id="rId6"/>
    <p:sldId id="493" r:id="rId7"/>
    <p:sldId id="494" r:id="rId8"/>
    <p:sldId id="496" r:id="rId9"/>
    <p:sldId id="497" r:id="rId10"/>
    <p:sldId id="498" r:id="rId11"/>
    <p:sldId id="499" r:id="rId12"/>
    <p:sldId id="500" r:id="rId13"/>
    <p:sldId id="502" r:id="rId14"/>
    <p:sldId id="503" r:id="rId15"/>
    <p:sldId id="504" r:id="rId16"/>
    <p:sldId id="505" r:id="rId17"/>
    <p:sldId id="508" r:id="rId18"/>
    <p:sldId id="509" r:id="rId19"/>
    <p:sldId id="510" r:id="rId20"/>
    <p:sldId id="511" r:id="rId21"/>
    <p:sldId id="512" r:id="rId22"/>
    <p:sldId id="513" r:id="rId23"/>
    <p:sldId id="514" r:id="rId24"/>
    <p:sldId id="515" r:id="rId25"/>
    <p:sldId id="516" r:id="rId26"/>
    <p:sldId id="517" r:id="rId27"/>
    <p:sldId id="518" r:id="rId28"/>
    <p:sldId id="519" r:id="rId29"/>
    <p:sldId id="520" r:id="rId30"/>
    <p:sldId id="522" r:id="rId31"/>
    <p:sldId id="468" r:id="rId32"/>
    <p:sldId id="469" r:id="rId33"/>
    <p:sldId id="470" r:id="rId34"/>
    <p:sldId id="471" r:id="rId35"/>
  </p:sldIdLst>
  <p:sldSz cx="9144000" cy="6858000" type="screen4x3"/>
  <p:notesSz cx="6797675" cy="9928225"/>
  <p:custDataLst>
    <p:tags r:id="rId38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23" userDrawn="1">
          <p15:clr>
            <a:srgbClr val="A4A3A4"/>
          </p15:clr>
        </p15:guide>
        <p15:guide id="2" pos="50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CC99"/>
    <a:srgbClr val="FFFF00"/>
    <a:srgbClr val="0000FF"/>
    <a:srgbClr val="800000"/>
    <a:srgbClr val="CC6600"/>
    <a:srgbClr val="009999"/>
    <a:srgbClr val="FF00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32" autoAdjust="0"/>
    <p:restoredTop sz="93420" autoAdjust="0"/>
  </p:normalViewPr>
  <p:slideViewPr>
    <p:cSldViewPr showGuides="1">
      <p:cViewPr varScale="1">
        <p:scale>
          <a:sx n="103" d="100"/>
          <a:sy n="103" d="100"/>
        </p:scale>
        <p:origin x="1692" y="72"/>
      </p:cViewPr>
      <p:guideLst>
        <p:guide orient="horz" pos="2523"/>
        <p:guide pos="50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-1764" y="-84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gs" Target="tags/tag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image" Target="../media/image2.emf"/><Relationship Id="rId4" Type="http://schemas.openxmlformats.org/officeDocument/2006/relationships/image" Target="../media/image5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emf"/><Relationship Id="rId1" Type="http://schemas.openxmlformats.org/officeDocument/2006/relationships/image" Target="../media/image9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image" Target="../media/image13.emf"/><Relationship Id="rId5" Type="http://schemas.openxmlformats.org/officeDocument/2006/relationships/image" Target="../media/image17.emf"/><Relationship Id="rId4" Type="http://schemas.openxmlformats.org/officeDocument/2006/relationships/image" Target="../media/image16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image" Target="../media/image18.e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image" Target="../media/image20.e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7" Type="http://schemas.openxmlformats.org/officeDocument/2006/relationships/image" Target="../media/image29.emf"/><Relationship Id="rId2" Type="http://schemas.openxmlformats.org/officeDocument/2006/relationships/image" Target="../media/image24.emf"/><Relationship Id="rId1" Type="http://schemas.openxmlformats.org/officeDocument/2006/relationships/image" Target="../media/image23.emf"/><Relationship Id="rId6" Type="http://schemas.openxmlformats.org/officeDocument/2006/relationships/image" Target="../media/image28.emf"/><Relationship Id="rId5" Type="http://schemas.openxmlformats.org/officeDocument/2006/relationships/image" Target="../media/image27.emf"/><Relationship Id="rId4" Type="http://schemas.openxmlformats.org/officeDocument/2006/relationships/image" Target="../media/image26.e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7" Type="http://schemas.openxmlformats.org/officeDocument/2006/relationships/image" Target="../media/image37.emf"/><Relationship Id="rId2" Type="http://schemas.openxmlformats.org/officeDocument/2006/relationships/image" Target="../media/image32.emf"/><Relationship Id="rId1" Type="http://schemas.openxmlformats.org/officeDocument/2006/relationships/image" Target="../media/image31.emf"/><Relationship Id="rId6" Type="http://schemas.openxmlformats.org/officeDocument/2006/relationships/image" Target="../media/image36.emf"/><Relationship Id="rId5" Type="http://schemas.openxmlformats.org/officeDocument/2006/relationships/image" Target="../media/image35.emf"/><Relationship Id="rId4" Type="http://schemas.openxmlformats.org/officeDocument/2006/relationships/image" Target="../media/image34.e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image" Target="../media/image38.e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7" Type="http://schemas.openxmlformats.org/officeDocument/2006/relationships/image" Target="../media/image46.emf"/><Relationship Id="rId2" Type="http://schemas.openxmlformats.org/officeDocument/2006/relationships/image" Target="../media/image41.emf"/><Relationship Id="rId1" Type="http://schemas.openxmlformats.org/officeDocument/2006/relationships/image" Target="../media/image40.emf"/><Relationship Id="rId6" Type="http://schemas.openxmlformats.org/officeDocument/2006/relationships/image" Target="../media/image45.emf"/><Relationship Id="rId5" Type="http://schemas.openxmlformats.org/officeDocument/2006/relationships/image" Target="../media/image44.emf"/><Relationship Id="rId4" Type="http://schemas.openxmlformats.org/officeDocument/2006/relationships/image" Target="../media/image43.e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56.wmf"/><Relationship Id="rId3" Type="http://schemas.openxmlformats.org/officeDocument/2006/relationships/image" Target="../media/image51.wmf"/><Relationship Id="rId7" Type="http://schemas.openxmlformats.org/officeDocument/2006/relationships/image" Target="../media/image55.wmf"/><Relationship Id="rId2" Type="http://schemas.openxmlformats.org/officeDocument/2006/relationships/image" Target="../media/image50.wmf"/><Relationship Id="rId1" Type="http://schemas.openxmlformats.org/officeDocument/2006/relationships/image" Target="../media/image49.wmf"/><Relationship Id="rId6" Type="http://schemas.openxmlformats.org/officeDocument/2006/relationships/image" Target="../media/image54.emf"/><Relationship Id="rId5" Type="http://schemas.openxmlformats.org/officeDocument/2006/relationships/image" Target="../media/image53.emf"/><Relationship Id="rId4" Type="http://schemas.openxmlformats.org/officeDocument/2006/relationships/image" Target="../media/image52.emf"/><Relationship Id="rId9" Type="http://schemas.openxmlformats.org/officeDocument/2006/relationships/image" Target="../media/image57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2.e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3.emf"/><Relationship Id="rId2" Type="http://schemas.openxmlformats.org/officeDocument/2006/relationships/image" Target="../media/image62.emf"/><Relationship Id="rId1" Type="http://schemas.openxmlformats.org/officeDocument/2006/relationships/image" Target="../media/image61.emf"/><Relationship Id="rId4" Type="http://schemas.openxmlformats.org/officeDocument/2006/relationships/image" Target="../media/image64.e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73.wmf"/><Relationship Id="rId3" Type="http://schemas.openxmlformats.org/officeDocument/2006/relationships/image" Target="../media/image68.emf"/><Relationship Id="rId7" Type="http://schemas.openxmlformats.org/officeDocument/2006/relationships/image" Target="../media/image72.wmf"/><Relationship Id="rId2" Type="http://schemas.openxmlformats.org/officeDocument/2006/relationships/image" Target="../media/image67.emf"/><Relationship Id="rId1" Type="http://schemas.openxmlformats.org/officeDocument/2006/relationships/image" Target="../media/image66.emf"/><Relationship Id="rId6" Type="http://schemas.openxmlformats.org/officeDocument/2006/relationships/image" Target="../media/image71.emf"/><Relationship Id="rId5" Type="http://schemas.openxmlformats.org/officeDocument/2006/relationships/image" Target="../media/image70.emf"/><Relationship Id="rId10" Type="http://schemas.openxmlformats.org/officeDocument/2006/relationships/image" Target="../media/image75.wmf"/><Relationship Id="rId4" Type="http://schemas.openxmlformats.org/officeDocument/2006/relationships/image" Target="../media/image69.emf"/><Relationship Id="rId9" Type="http://schemas.openxmlformats.org/officeDocument/2006/relationships/image" Target="../media/image74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83.emf"/><Relationship Id="rId3" Type="http://schemas.openxmlformats.org/officeDocument/2006/relationships/image" Target="../media/image78.wmf"/><Relationship Id="rId7" Type="http://schemas.openxmlformats.org/officeDocument/2006/relationships/image" Target="../media/image82.emf"/><Relationship Id="rId2" Type="http://schemas.openxmlformats.org/officeDocument/2006/relationships/image" Target="../media/image77.wmf"/><Relationship Id="rId1" Type="http://schemas.openxmlformats.org/officeDocument/2006/relationships/image" Target="../media/image76.wmf"/><Relationship Id="rId6" Type="http://schemas.openxmlformats.org/officeDocument/2006/relationships/image" Target="../media/image81.wmf"/><Relationship Id="rId5" Type="http://schemas.openxmlformats.org/officeDocument/2006/relationships/image" Target="../media/image80.wmf"/><Relationship Id="rId4" Type="http://schemas.openxmlformats.org/officeDocument/2006/relationships/image" Target="../media/image79.wmf"/><Relationship Id="rId9" Type="http://schemas.openxmlformats.org/officeDocument/2006/relationships/image" Target="../media/image84.e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92.emf"/><Relationship Id="rId3" Type="http://schemas.openxmlformats.org/officeDocument/2006/relationships/image" Target="../media/image87.emf"/><Relationship Id="rId7" Type="http://schemas.openxmlformats.org/officeDocument/2006/relationships/image" Target="../media/image91.emf"/><Relationship Id="rId2" Type="http://schemas.openxmlformats.org/officeDocument/2006/relationships/image" Target="../media/image86.emf"/><Relationship Id="rId1" Type="http://schemas.openxmlformats.org/officeDocument/2006/relationships/image" Target="../media/image85.emf"/><Relationship Id="rId6" Type="http://schemas.openxmlformats.org/officeDocument/2006/relationships/image" Target="../media/image90.emf"/><Relationship Id="rId5" Type="http://schemas.openxmlformats.org/officeDocument/2006/relationships/image" Target="../media/image89.emf"/><Relationship Id="rId4" Type="http://schemas.openxmlformats.org/officeDocument/2006/relationships/image" Target="../media/image88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93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5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2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2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1338"/>
            <a:ext cx="2946400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2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31338"/>
            <a:ext cx="2946400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37FF4DE6-1985-490C-B7E0-EDBA30F6E0FB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84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84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3" y="4716463"/>
            <a:ext cx="4984750" cy="44672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484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1338"/>
            <a:ext cx="2946400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84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31338"/>
            <a:ext cx="2946400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16216DFA-5E0B-4E3C-A3A7-5CFDC691FED5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95DD51D9-9AF5-4708-8C45-0A0F237EC0B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F6DCB830-8294-4F11-BDBA-FD5E96F71F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79450" y="4716463"/>
            <a:ext cx="5438775" cy="44672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47AA2049-EC21-44D6-A396-F56AB794C0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731BE927-F88A-4136-9752-EEEEB8F44F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79450" y="4716463"/>
            <a:ext cx="5438775" cy="44672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33747708-5750-4A06-A2A1-B82BF550622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2898DCB1-C1E0-47C9-84EE-F2ED724872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79450" y="4716463"/>
            <a:ext cx="5438775" cy="44672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幻灯片图像占位符 1">
            <a:extLst>
              <a:ext uri="{FF2B5EF4-FFF2-40B4-BE49-F238E27FC236}">
                <a16:creationId xmlns:a16="http://schemas.microsoft.com/office/drawing/2014/main" id="{42B74E04-D82D-4205-9A76-549F8BA2D29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备注占位符 2">
            <a:extLst>
              <a:ext uri="{FF2B5EF4-FFF2-40B4-BE49-F238E27FC236}">
                <a16:creationId xmlns:a16="http://schemas.microsoft.com/office/drawing/2014/main" id="{85F58C7E-9DB7-4EE8-9552-270DF42897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08" name="灯片编号占位符 3">
            <a:extLst>
              <a:ext uri="{FF2B5EF4-FFF2-40B4-BE49-F238E27FC236}">
                <a16:creationId xmlns:a16="http://schemas.microsoft.com/office/drawing/2014/main" id="{E86F8968-8A95-4738-9AA9-B010AEB14E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9EBDC77D-53BD-4472-9915-A4C5CDF51AE9}" type="slidenum">
              <a:rPr lang="en-US" altLang="zh-CN"/>
              <a:pPr>
                <a:spcBef>
                  <a:spcPct val="0"/>
                </a:spcBef>
              </a:pPr>
              <a:t>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A7355BD7-8D63-4279-A482-5C850B21C3E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A94EDD17-061E-48A2-8EF3-0A72DFE89F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79450" y="4716463"/>
            <a:ext cx="5438775" cy="44672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922FCA97-34CB-4FB1-966C-A8F62F46E2D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1DF3BE97-CA7E-41E9-AAC2-1512EE750E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79450" y="4716463"/>
            <a:ext cx="5438775" cy="44672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60AAD309-6401-4322-B856-CB92639BDBF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C1BB2B6C-B84C-472D-A291-66F06E0A68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79450" y="4716463"/>
            <a:ext cx="5438775" cy="44672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608CD63A-F16C-40C7-9BD8-5CCCC194C9A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CA53DB3E-41BA-4013-9EF1-90E3CBBFC9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79450" y="4716463"/>
            <a:ext cx="5438775" cy="44672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幻灯片图像占位符 1">
            <a:extLst>
              <a:ext uri="{FF2B5EF4-FFF2-40B4-BE49-F238E27FC236}">
                <a16:creationId xmlns:a16="http://schemas.microsoft.com/office/drawing/2014/main" id="{93E1DDB2-FA2E-4F65-A4AB-5A4558DEDFA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备注占位符 2">
            <a:extLst>
              <a:ext uri="{FF2B5EF4-FFF2-40B4-BE49-F238E27FC236}">
                <a16:creationId xmlns:a16="http://schemas.microsoft.com/office/drawing/2014/main" id="{1A021EB1-9B2F-4E46-8960-3EA1A3F5FE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844" name="灯片编号占位符 3">
            <a:extLst>
              <a:ext uri="{FF2B5EF4-FFF2-40B4-BE49-F238E27FC236}">
                <a16:creationId xmlns:a16="http://schemas.microsoft.com/office/drawing/2014/main" id="{DD124148-CAD3-40DA-858B-10DBFE852B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CB4B0AB5-93D4-414E-8021-C7DA053DF077}" type="slidenum">
              <a:rPr lang="en-US" altLang="zh-CN"/>
              <a:pPr>
                <a:spcBef>
                  <a:spcPct val="0"/>
                </a:spcBef>
              </a:pPr>
              <a:t>14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幻灯片图像占位符 1">
            <a:extLst>
              <a:ext uri="{FF2B5EF4-FFF2-40B4-BE49-F238E27FC236}">
                <a16:creationId xmlns:a16="http://schemas.microsoft.com/office/drawing/2014/main" id="{F4BB0130-FB5D-4BD0-8118-3666BE3F522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备注占位符 2">
            <a:extLst>
              <a:ext uri="{FF2B5EF4-FFF2-40B4-BE49-F238E27FC236}">
                <a16:creationId xmlns:a16="http://schemas.microsoft.com/office/drawing/2014/main" id="{A715F0AD-32D6-4699-B276-E8EF8A990E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/>
              <a:t>通过弹性碰撞和非弹性碰撞的理论，法兰克和赫兹给予了这实验合理的解释。</a:t>
            </a:r>
            <a:endParaRPr lang="en-US" altLang="zh-CN" dirty="0"/>
          </a:p>
          <a:p>
            <a:r>
              <a:rPr lang="en-US" altLang="zh-CN" b="1" dirty="0"/>
              <a:t>1</a:t>
            </a:r>
            <a:r>
              <a:rPr lang="zh-CN" altLang="en-US" b="1" dirty="0"/>
              <a:t>）</a:t>
            </a:r>
            <a:r>
              <a:rPr lang="zh-CN" altLang="en-US" dirty="0"/>
              <a:t>当电压较小时，被加速的电子只能获得较小的能量。此时，电子只能与水银原子进行弹性碰撞。这是因为</a:t>
            </a:r>
            <a:r>
              <a:rPr lang="zh-CN" altLang="en-US" b="1" dirty="0">
                <a:solidFill>
                  <a:srgbClr val="FF0000"/>
                </a:solidFill>
              </a:rPr>
              <a:t>量子力学不允许一个原子吸收任何小于能级跃迁所需要的最小能量，除非碰撞能量大于将电子跃迁至较高的能量量子态所需的能量</a:t>
            </a:r>
            <a:r>
              <a:rPr lang="zh-CN" altLang="en-US" dirty="0"/>
              <a:t>。由于是弹性碰撞，再加上电子的质量远远小于水银原子的质量，碰撞后，电子的动能几乎不发生变化。增加电压会使得从阴极发射出来的电子，在正向电压的加速下，获得更大的能量冲向栅极。所以，大多数的电子会冲过栅极，抵达阳极。因此电流随着电压的增大单调递增。</a:t>
            </a:r>
          </a:p>
          <a:p>
            <a:r>
              <a:rPr lang="en-US" altLang="zh-CN" b="1" dirty="0"/>
              <a:t>2</a:t>
            </a:r>
            <a:r>
              <a:rPr lang="zh-CN" altLang="en-US" b="1" dirty="0"/>
              <a:t>）</a:t>
            </a:r>
            <a:r>
              <a:rPr lang="zh-CN" altLang="en-US" dirty="0"/>
              <a:t>当加速电压升到 </a:t>
            </a:r>
            <a:r>
              <a:rPr lang="en-US" altLang="zh-CN" dirty="0"/>
              <a:t>4.9 V</a:t>
            </a:r>
            <a:r>
              <a:rPr lang="zh-CN" altLang="en-US" dirty="0"/>
              <a:t>时，每一个移动至栅极的出射电子拥有至少 </a:t>
            </a:r>
            <a:r>
              <a:rPr lang="en-US" altLang="zh-CN" dirty="0"/>
              <a:t>4.9 eV</a:t>
            </a:r>
            <a:r>
              <a:rPr lang="zh-CN" altLang="en-US" dirty="0"/>
              <a:t>动能。此时，电子与水银原子会发生非弹性碰撞。电子的动能激发水银原子从基态跃迁至较高的能量量子态。但是，经过这次非弹性碰撞，自由电子失去了 </a:t>
            </a:r>
            <a:r>
              <a:rPr lang="en-US" altLang="zh-CN" dirty="0"/>
              <a:t>4.9eV </a:t>
            </a:r>
            <a:r>
              <a:rPr lang="zh-CN" altLang="en-US" dirty="0"/>
              <a:t>动能，不再能克服栅极与阳极之间的反向电压。大多数的自由电子会被栅极吸收。因此，抵达阳极的电子数瞬间减少，电流会猛烈地降低。</a:t>
            </a:r>
          </a:p>
          <a:p>
            <a:r>
              <a:rPr lang="en-US" altLang="zh-CN" b="1" dirty="0"/>
              <a:t>3</a:t>
            </a:r>
            <a:r>
              <a:rPr lang="zh-CN" altLang="en-US" b="1" dirty="0"/>
              <a:t>）</a:t>
            </a:r>
            <a:r>
              <a:rPr lang="zh-CN" altLang="en-US" b="0" dirty="0"/>
              <a:t>当</a:t>
            </a:r>
            <a:r>
              <a:rPr lang="zh-CN" altLang="en-US" dirty="0"/>
              <a:t>加速电压大于 </a:t>
            </a:r>
            <a:r>
              <a:rPr lang="en-US" altLang="zh-CN" dirty="0"/>
              <a:t>4.9 V</a:t>
            </a:r>
            <a:r>
              <a:rPr lang="zh-CN" altLang="en-US" dirty="0"/>
              <a:t>，被加速的电子会在在阴极至栅极的路途中，与水银原子发生一次非弹性碰撞，失去 </a:t>
            </a:r>
            <a:r>
              <a:rPr lang="en-US" altLang="zh-CN" dirty="0"/>
              <a:t>4.9 eV</a:t>
            </a:r>
            <a:r>
              <a:rPr lang="zh-CN" altLang="en-US" dirty="0"/>
              <a:t>，然后继续被加速。照着这方式，在电压超过 </a:t>
            </a:r>
            <a:r>
              <a:rPr lang="en-US" altLang="zh-CN" dirty="0"/>
              <a:t>4.9 V</a:t>
            </a:r>
            <a:r>
              <a:rPr lang="zh-CN" altLang="en-US" dirty="0"/>
              <a:t>后，电流重新单调递增。当电压达到 </a:t>
            </a:r>
            <a:r>
              <a:rPr lang="en-US" altLang="zh-CN" dirty="0"/>
              <a:t>9.8 V</a:t>
            </a:r>
            <a:r>
              <a:rPr lang="zh-CN" altLang="en-US" dirty="0"/>
              <a:t>时：每一个电子有足够的能量与水银原子发生两次非弹性碰撞，共失去 </a:t>
            </a:r>
            <a:r>
              <a:rPr lang="en-US" altLang="zh-CN" dirty="0"/>
              <a:t>9.8eV </a:t>
            </a:r>
            <a:r>
              <a:rPr lang="zh-CN" altLang="en-US" dirty="0"/>
              <a:t>的能量，不再能克服栅极与阳极之间的反向电压。大多数的自由电子会被栅极吸收，无法抵达阳极，电流会猛烈地降低。</a:t>
            </a:r>
            <a:endParaRPr lang="en-US" altLang="zh-CN" dirty="0"/>
          </a:p>
          <a:p>
            <a:r>
              <a:rPr lang="en-US" altLang="zh-CN" b="1" dirty="0"/>
              <a:t>4</a:t>
            </a:r>
            <a:r>
              <a:rPr lang="zh-CN" altLang="en-US" b="1" dirty="0"/>
              <a:t>）</a:t>
            </a:r>
            <a:r>
              <a:rPr lang="zh-CN" altLang="en-US" dirty="0"/>
              <a:t>由此可见，当电压每增加 </a:t>
            </a:r>
            <a:r>
              <a:rPr lang="en-US" altLang="zh-CN" dirty="0"/>
              <a:t>4.9 V</a:t>
            </a:r>
            <a:r>
              <a:rPr lang="zh-CN" altLang="en-US" dirty="0"/>
              <a:t>，被加速的电子就会与水银原子发生一次非弹性碰撞，损失</a:t>
            </a:r>
            <a:r>
              <a:rPr lang="en-US" altLang="zh-CN" dirty="0"/>
              <a:t>4.9 eV</a:t>
            </a:r>
            <a:r>
              <a:rPr lang="zh-CN" altLang="en-US" dirty="0"/>
              <a:t> 动能；当电子在电压的加速下再次获得</a:t>
            </a:r>
            <a:r>
              <a:rPr lang="en-US" altLang="zh-CN" dirty="0"/>
              <a:t>4.9 eV</a:t>
            </a:r>
            <a:r>
              <a:rPr lang="zh-CN" altLang="en-US" dirty="0"/>
              <a:t>的能量后，就会与水银原子发生再一次的非弹性碰撞，此时电流又会瞬间下降。</a:t>
            </a:r>
          </a:p>
        </p:txBody>
      </p:sp>
      <p:sp>
        <p:nvSpPr>
          <p:cNvPr id="38916" name="灯片编号占位符 3">
            <a:extLst>
              <a:ext uri="{FF2B5EF4-FFF2-40B4-BE49-F238E27FC236}">
                <a16:creationId xmlns:a16="http://schemas.microsoft.com/office/drawing/2014/main" id="{454C19DE-B8A8-4674-924A-3B3CFC4644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20E81BE-ECA5-4034-AE1F-DDA6ECA76F0E}" type="slidenum">
              <a:rPr lang="en-US" altLang="zh-CN"/>
              <a:pPr>
                <a:spcBef>
                  <a:spcPct val="0"/>
                </a:spcBef>
              </a:pPr>
              <a:t>16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7">
            <a:extLst>
              <a:ext uri="{FF2B5EF4-FFF2-40B4-BE49-F238E27FC236}">
                <a16:creationId xmlns:a16="http://schemas.microsoft.com/office/drawing/2014/main" id="{64406ED3-15B3-466A-8DB0-500C4E40EEA6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algn="r"/>
            <a:fld id="{B9DFCBD5-E226-431D-8417-990316A2CD49}" type="slidenum">
              <a:rPr lang="en-US" altLang="zh-CN">
                <a:latin typeface="Arial" panose="020B0604020202020204" pitchFamily="34" charset="0"/>
              </a:rPr>
              <a:pPr algn="r"/>
              <a:t>20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7650" name="Rectangle 2">
            <a:extLst>
              <a:ext uri="{FF2B5EF4-FFF2-40B4-BE49-F238E27FC236}">
                <a16:creationId xmlns:a16="http://schemas.microsoft.com/office/drawing/2014/main" id="{C4CC7F5E-1F3B-4BE2-B3EB-CFAC3E285764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BB66CD52-E0AD-45F0-B03F-C11C2070B3B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7">
            <a:extLst>
              <a:ext uri="{FF2B5EF4-FFF2-40B4-BE49-F238E27FC236}">
                <a16:creationId xmlns:a16="http://schemas.microsoft.com/office/drawing/2014/main" id="{A5EB451E-16D4-46A7-8CED-2F2F47FF7FD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6A6AE0B7-F75D-4AC2-BED4-3BF9F79C096A}" type="slidenum">
              <a:rPr lang="en-US" altLang="zh-CN"/>
              <a:pPr/>
              <a:t>22</a:t>
            </a:fld>
            <a:endParaRPr lang="en-US" altLang="zh-CN"/>
          </a:p>
        </p:txBody>
      </p:sp>
      <p:sp>
        <p:nvSpPr>
          <p:cNvPr id="30722" name="Rectangle 2">
            <a:extLst>
              <a:ext uri="{FF2B5EF4-FFF2-40B4-BE49-F238E27FC236}">
                <a16:creationId xmlns:a16="http://schemas.microsoft.com/office/drawing/2014/main" id="{C49B960C-14C4-4204-B091-880B1C1AD78C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BC75A6F9-311A-4E44-A4D0-5DECD02D935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zh-CN" altLang="en-US" dirty="0"/>
              <a:t>实验值：设定级次</a:t>
            </a:r>
            <a:r>
              <a:rPr lang="en-US" altLang="zh-CN" i="1" dirty="0"/>
              <a:t>n</a:t>
            </a:r>
            <a:r>
              <a:rPr lang="en-US" altLang="zh-CN" dirty="0"/>
              <a:t>=1</a:t>
            </a:r>
            <a:r>
              <a:rPr lang="zh-CN" altLang="en-US" dirty="0"/>
              <a:t>，</a:t>
            </a:r>
            <a:r>
              <a:rPr lang="en-US" altLang="zh-CN" i="1" dirty="0"/>
              <a:t>d</a:t>
            </a:r>
            <a:r>
              <a:rPr lang="en-US" altLang="zh-CN" dirty="0"/>
              <a:t>=0.091nm</a:t>
            </a:r>
            <a:r>
              <a:rPr lang="zh-CN" altLang="en-US" dirty="0"/>
              <a:t>为镍晶体表面的原子间距，</a:t>
            </a:r>
            <a:r>
              <a:rPr lang="el-GR" altLang="zh-CN" i="1" dirty="0">
                <a:solidFill>
                  <a:srgbClr val="FFFF00"/>
                </a:solidFill>
              </a:rPr>
              <a:t>θ</a:t>
            </a:r>
            <a:r>
              <a:rPr lang="en-US" altLang="zh-CN" dirty="0">
                <a:solidFill>
                  <a:srgbClr val="FFFF00"/>
                </a:solidFill>
              </a:rPr>
              <a:t>=50</a:t>
            </a:r>
            <a:r>
              <a:rPr lang="en-US" altLang="zh-CN" baseline="30000" dirty="0">
                <a:solidFill>
                  <a:srgbClr val="FFFF00"/>
                </a:solidFill>
              </a:rPr>
              <a:t>°</a:t>
            </a:r>
            <a:r>
              <a:rPr lang="zh-CN" altLang="en-US" dirty="0">
                <a:solidFill>
                  <a:schemeClr val="bg1"/>
                </a:solidFill>
              </a:rPr>
              <a:t>时，可得电子束波长为</a:t>
            </a:r>
            <a:r>
              <a:rPr lang="en-US" altLang="zh-CN" dirty="0">
                <a:solidFill>
                  <a:schemeClr val="bg1"/>
                </a:solidFill>
              </a:rPr>
              <a:t>0.165nm</a:t>
            </a:r>
            <a:r>
              <a:rPr lang="zh-CN" altLang="en-US" dirty="0">
                <a:solidFill>
                  <a:schemeClr val="bg1"/>
                </a:solidFill>
              </a:rPr>
              <a:t>；</a:t>
            </a:r>
            <a:endParaRPr lang="en-US" altLang="zh-CN" dirty="0">
              <a:solidFill>
                <a:schemeClr val="bg1"/>
              </a:solidFill>
            </a:endParaRPr>
          </a:p>
          <a:p>
            <a:r>
              <a:rPr lang="zh-CN" altLang="en-US" dirty="0"/>
              <a:t>理论值：根据德布罗意关系计算得到的波长和实验值相一致。为德布罗意物质波假设提供了直接的实验证据。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幻灯片图像占位符 1">
            <a:extLst>
              <a:ext uri="{FF2B5EF4-FFF2-40B4-BE49-F238E27FC236}">
                <a16:creationId xmlns:a16="http://schemas.microsoft.com/office/drawing/2014/main" id="{B1F90062-FB51-4346-90D2-AC880EBED30D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32770" name="备注占位符 2">
            <a:extLst>
              <a:ext uri="{FF2B5EF4-FFF2-40B4-BE49-F238E27FC236}">
                <a16:creationId xmlns:a16="http://schemas.microsoft.com/office/drawing/2014/main" id="{E706745B-8905-42C4-AA74-7031E7699B0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2771" name="灯片编号占位符 3">
            <a:extLst>
              <a:ext uri="{FF2B5EF4-FFF2-40B4-BE49-F238E27FC236}">
                <a16:creationId xmlns:a16="http://schemas.microsoft.com/office/drawing/2014/main" id="{933ED671-62FF-43CE-8AAE-12579AB24F3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A7F21B9E-31AB-49BB-AB85-A13708AB6D3C}" type="slidenum">
              <a:rPr lang="en-US" altLang="zh-CN"/>
              <a:pPr/>
              <a:t>23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7">
            <a:extLst>
              <a:ext uri="{FF2B5EF4-FFF2-40B4-BE49-F238E27FC236}">
                <a16:creationId xmlns:a16="http://schemas.microsoft.com/office/drawing/2014/main" id="{958300A9-56D0-4578-946D-B1BFA18902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0B43E191-6A81-489B-9BC0-EE5253EB7372}" type="slidenum">
              <a:rPr lang="en-US" altLang="zh-CN"/>
              <a:pPr/>
              <a:t>29</a:t>
            </a:fld>
            <a:endParaRPr lang="en-US" altLang="zh-CN"/>
          </a:p>
        </p:txBody>
      </p:sp>
      <p:sp>
        <p:nvSpPr>
          <p:cNvPr id="39938" name="Rectangle 2">
            <a:extLst>
              <a:ext uri="{FF2B5EF4-FFF2-40B4-BE49-F238E27FC236}">
                <a16:creationId xmlns:a16="http://schemas.microsoft.com/office/drawing/2014/main" id="{1301A6F7-D63F-42CC-8A25-17007EB5270B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FD87B9E0-1EA5-44D8-BB0A-6ECB1A3EBFE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幻灯片图像占位符 1">
            <a:extLst>
              <a:ext uri="{FF2B5EF4-FFF2-40B4-BE49-F238E27FC236}">
                <a16:creationId xmlns:a16="http://schemas.microsoft.com/office/drawing/2014/main" id="{ED7B4492-972A-423B-BD33-7DDAE1CBBCF2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44034" name="备注占位符 2">
            <a:extLst>
              <a:ext uri="{FF2B5EF4-FFF2-40B4-BE49-F238E27FC236}">
                <a16:creationId xmlns:a16="http://schemas.microsoft.com/office/drawing/2014/main" id="{712C2460-A0BD-4273-AD1F-1A37D4667D6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zh-CN" altLang="en-US"/>
              <a:t>波包：一般的波是由若干种以至无限多种谐波叠加而成的，往往仍然是非局域性的。但是，在特定条件下，叠加后的波有可能是局域性的，犹如被某种曲面包裹住那样。这种局域性的波就叫做“波包”。</a:t>
            </a:r>
            <a:endParaRPr lang="en-US" altLang="zh-CN"/>
          </a:p>
          <a:p>
            <a:r>
              <a:rPr lang="zh-CN" altLang="en-US"/>
              <a:t>例子：取一根均匀而又较长的橡皮绳，让它的一端固定，另一端握在手中，拉直。起初，该系统处于静止状态。后来，握绳的手突然抖动了一下后又回到了原来的位置并重新静止下来。此后就会看到绳上有一个隆起的形状在移动，这个隆起的部分就叫做“波包”。</a:t>
            </a:r>
          </a:p>
        </p:txBody>
      </p:sp>
      <p:sp>
        <p:nvSpPr>
          <p:cNvPr id="44035" name="灯片编号占位符 3">
            <a:extLst>
              <a:ext uri="{FF2B5EF4-FFF2-40B4-BE49-F238E27FC236}">
                <a16:creationId xmlns:a16="http://schemas.microsoft.com/office/drawing/2014/main" id="{BFA557C5-B9FA-438A-940C-75015EE76A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92A0CDE2-91F3-444A-8D62-095A8ACC38AF}" type="slidenum">
              <a:rPr lang="en-US" altLang="zh-CN"/>
              <a:pPr/>
              <a:t>30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7">
            <a:extLst>
              <a:ext uri="{FF2B5EF4-FFF2-40B4-BE49-F238E27FC236}">
                <a16:creationId xmlns:a16="http://schemas.microsoft.com/office/drawing/2014/main" id="{2FA0E29E-FBC2-43A5-BC9E-3A11F37B0C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4559A34C-DF2F-45C7-BDFE-325B170C3254}" type="slidenum">
              <a:rPr lang="en-US" altLang="zh-CN"/>
              <a:pPr/>
              <a:t>32</a:t>
            </a:fld>
            <a:endParaRPr lang="en-US" altLang="zh-CN"/>
          </a:p>
        </p:txBody>
      </p:sp>
      <p:sp>
        <p:nvSpPr>
          <p:cNvPr id="47106" name="Rectangle 2">
            <a:extLst>
              <a:ext uri="{FF2B5EF4-FFF2-40B4-BE49-F238E27FC236}">
                <a16:creationId xmlns:a16="http://schemas.microsoft.com/office/drawing/2014/main" id="{7E6DF56E-ADAE-4F5B-A7CE-7C949C7F6905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2AD176F1-E12C-448D-97EE-0B7A74A5E38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fourObj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182F"/>
            </a:gs>
            <a:gs pos="100000">
              <a:srgbClr val="00336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AutoShape 7"/>
          <p:cNvSpPr>
            <a:spLocks noChangeArrowheads="1"/>
          </p:cNvSpPr>
          <p:nvPr/>
        </p:nvSpPr>
        <p:spPr bwMode="auto">
          <a:xfrm>
            <a:off x="-25400" y="0"/>
            <a:ext cx="9204325" cy="6858000"/>
          </a:xfrm>
          <a:prstGeom prst="bevel">
            <a:avLst>
              <a:gd name="adj" fmla="val 1273"/>
            </a:avLst>
          </a:prstGeom>
          <a:solidFill>
            <a:srgbClr val="006699"/>
          </a:solidFill>
          <a:ln w="9525">
            <a:solidFill>
              <a:srgbClr val="006699"/>
            </a:solidFill>
            <a:miter lim="800000"/>
          </a:ln>
        </p:spPr>
        <p:txBody>
          <a:bodyPr wrap="none" anchor="ctr"/>
          <a:lstStyle>
            <a:lvl1pPr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27" name="Rectangle 8"/>
          <p:cNvSpPr>
            <a:spLocks noChangeArrowheads="1"/>
          </p:cNvSpPr>
          <p:nvPr/>
        </p:nvSpPr>
        <p:spPr bwMode="auto">
          <a:xfrm>
            <a:off x="250825" y="265113"/>
            <a:ext cx="8626475" cy="6330950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3.emf"/><Relationship Id="rId12" Type="http://schemas.openxmlformats.org/officeDocument/2006/relationships/image" Target="../media/image7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5.emf"/><Relationship Id="rId5" Type="http://schemas.openxmlformats.org/officeDocument/2006/relationships/image" Target="../media/image2.e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4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gif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0.e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9.emf"/><Relationship Id="rId10" Type="http://schemas.openxmlformats.org/officeDocument/2006/relationships/image" Target="../media/image11.wmf"/><Relationship Id="rId4" Type="http://schemas.openxmlformats.org/officeDocument/2006/relationships/oleObject" Target="../embeddings/oleObject5.bin"/><Relationship Id="rId9" Type="http://schemas.openxmlformats.org/officeDocument/2006/relationships/oleObject" Target="../embeddings/oleObject7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emf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12" Type="http://schemas.openxmlformats.org/officeDocument/2006/relationships/image" Target="../media/image17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4.emf"/><Relationship Id="rId11" Type="http://schemas.openxmlformats.org/officeDocument/2006/relationships/oleObject" Target="../embeddings/oleObject12.bin"/><Relationship Id="rId5" Type="http://schemas.openxmlformats.org/officeDocument/2006/relationships/oleObject" Target="../embeddings/oleObject9.bin"/><Relationship Id="rId10" Type="http://schemas.openxmlformats.org/officeDocument/2006/relationships/image" Target="../media/image16.emf"/><Relationship Id="rId4" Type="http://schemas.openxmlformats.org/officeDocument/2006/relationships/image" Target="../media/image13.emf"/><Relationship Id="rId9" Type="http://schemas.openxmlformats.org/officeDocument/2006/relationships/oleObject" Target="../embeddings/oleObject11.bin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9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4.bin"/><Relationship Id="rId5" Type="http://schemas.openxmlformats.org/officeDocument/2006/relationships/image" Target="../media/image18.emf"/><Relationship Id="rId4" Type="http://schemas.openxmlformats.org/officeDocument/2006/relationships/oleObject" Target="../embeddings/oleObject13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emf"/><Relationship Id="rId3" Type="http://schemas.openxmlformats.org/officeDocument/2006/relationships/notesSlide" Target="../notesSlides/notesSlide5.xml"/><Relationship Id="rId7" Type="http://schemas.openxmlformats.org/officeDocument/2006/relationships/oleObject" Target="../embeddings/oleObject1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0.emf"/><Relationship Id="rId5" Type="http://schemas.openxmlformats.org/officeDocument/2006/relationships/oleObject" Target="../embeddings/oleObject15.bin"/><Relationship Id="rId4" Type="http://schemas.openxmlformats.org/officeDocument/2006/relationships/audio" Target="../media/audio1.wav"/><Relationship Id="rId9" Type="http://schemas.openxmlformats.org/officeDocument/2006/relationships/image" Target="../media/image22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emf"/><Relationship Id="rId13" Type="http://schemas.openxmlformats.org/officeDocument/2006/relationships/oleObject" Target="../embeddings/oleObject20.bin"/><Relationship Id="rId18" Type="http://schemas.openxmlformats.org/officeDocument/2006/relationships/image" Target="../media/image28.emf"/><Relationship Id="rId3" Type="http://schemas.openxmlformats.org/officeDocument/2006/relationships/notesSlide" Target="../notesSlides/notesSlide6.xml"/><Relationship Id="rId7" Type="http://schemas.openxmlformats.org/officeDocument/2006/relationships/oleObject" Target="../embeddings/oleObject17.bin"/><Relationship Id="rId12" Type="http://schemas.openxmlformats.org/officeDocument/2006/relationships/image" Target="../media/image25.emf"/><Relationship Id="rId17" Type="http://schemas.openxmlformats.org/officeDocument/2006/relationships/oleObject" Target="../embeddings/oleObject2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7.emf"/><Relationship Id="rId20" Type="http://schemas.openxmlformats.org/officeDocument/2006/relationships/image" Target="../media/image29.e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30.jpeg"/><Relationship Id="rId11" Type="http://schemas.openxmlformats.org/officeDocument/2006/relationships/oleObject" Target="../embeddings/oleObject19.bin"/><Relationship Id="rId5" Type="http://schemas.openxmlformats.org/officeDocument/2006/relationships/image" Target="../media/image22.jpeg"/><Relationship Id="rId15" Type="http://schemas.openxmlformats.org/officeDocument/2006/relationships/oleObject" Target="../embeddings/oleObject21.bin"/><Relationship Id="rId10" Type="http://schemas.openxmlformats.org/officeDocument/2006/relationships/image" Target="../media/image24.emf"/><Relationship Id="rId19" Type="http://schemas.openxmlformats.org/officeDocument/2006/relationships/oleObject" Target="../embeddings/oleObject23.bin"/><Relationship Id="rId4" Type="http://schemas.openxmlformats.org/officeDocument/2006/relationships/audio" Target="../media/audio1.wav"/><Relationship Id="rId9" Type="http://schemas.openxmlformats.org/officeDocument/2006/relationships/oleObject" Target="../embeddings/oleObject18.bin"/><Relationship Id="rId14" Type="http://schemas.openxmlformats.org/officeDocument/2006/relationships/image" Target="../media/image26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.bin"/><Relationship Id="rId13" Type="http://schemas.openxmlformats.org/officeDocument/2006/relationships/image" Target="../media/image35.emf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32.emf"/><Relationship Id="rId12" Type="http://schemas.openxmlformats.org/officeDocument/2006/relationships/oleObject" Target="../embeddings/oleObject28.bin"/><Relationship Id="rId17" Type="http://schemas.openxmlformats.org/officeDocument/2006/relationships/image" Target="../media/image37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0.bin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25.bin"/><Relationship Id="rId11" Type="http://schemas.openxmlformats.org/officeDocument/2006/relationships/image" Target="../media/image34.emf"/><Relationship Id="rId5" Type="http://schemas.openxmlformats.org/officeDocument/2006/relationships/image" Target="../media/image31.emf"/><Relationship Id="rId15" Type="http://schemas.openxmlformats.org/officeDocument/2006/relationships/image" Target="../media/image36.emf"/><Relationship Id="rId10" Type="http://schemas.openxmlformats.org/officeDocument/2006/relationships/oleObject" Target="../embeddings/oleObject27.bin"/><Relationship Id="rId4" Type="http://schemas.openxmlformats.org/officeDocument/2006/relationships/oleObject" Target="../embeddings/oleObject24.bin"/><Relationship Id="rId9" Type="http://schemas.openxmlformats.org/officeDocument/2006/relationships/image" Target="../media/image33.emf"/><Relationship Id="rId14" Type="http://schemas.openxmlformats.org/officeDocument/2006/relationships/oleObject" Target="../embeddings/oleObject29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7" Type="http://schemas.openxmlformats.org/officeDocument/2006/relationships/image" Target="../media/image39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32.bin"/><Relationship Id="rId5" Type="http://schemas.openxmlformats.org/officeDocument/2006/relationships/image" Target="../media/image38.emf"/><Relationship Id="rId4" Type="http://schemas.openxmlformats.org/officeDocument/2006/relationships/oleObject" Target="../embeddings/oleObject31.bin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emf"/><Relationship Id="rId13" Type="http://schemas.openxmlformats.org/officeDocument/2006/relationships/oleObject" Target="../embeddings/oleObject38.bin"/><Relationship Id="rId3" Type="http://schemas.openxmlformats.org/officeDocument/2006/relationships/oleObject" Target="../embeddings/oleObject33.bin"/><Relationship Id="rId7" Type="http://schemas.openxmlformats.org/officeDocument/2006/relationships/oleObject" Target="../embeddings/oleObject35.bin"/><Relationship Id="rId12" Type="http://schemas.openxmlformats.org/officeDocument/2006/relationships/image" Target="../media/image44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6.e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41.emf"/><Relationship Id="rId11" Type="http://schemas.openxmlformats.org/officeDocument/2006/relationships/oleObject" Target="../embeddings/oleObject37.bin"/><Relationship Id="rId5" Type="http://schemas.openxmlformats.org/officeDocument/2006/relationships/oleObject" Target="../embeddings/oleObject34.bin"/><Relationship Id="rId15" Type="http://schemas.openxmlformats.org/officeDocument/2006/relationships/oleObject" Target="../embeddings/oleObject39.bin"/><Relationship Id="rId10" Type="http://schemas.openxmlformats.org/officeDocument/2006/relationships/image" Target="../media/image43.emf"/><Relationship Id="rId4" Type="http://schemas.openxmlformats.org/officeDocument/2006/relationships/image" Target="../media/image40.emf"/><Relationship Id="rId9" Type="http://schemas.openxmlformats.org/officeDocument/2006/relationships/oleObject" Target="../embeddings/oleObject36.bin"/><Relationship Id="rId14" Type="http://schemas.openxmlformats.org/officeDocument/2006/relationships/image" Target="../media/image45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8.jpe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wmf"/><Relationship Id="rId13" Type="http://schemas.openxmlformats.org/officeDocument/2006/relationships/oleObject" Target="../embeddings/oleObject45.bin"/><Relationship Id="rId18" Type="http://schemas.openxmlformats.org/officeDocument/2006/relationships/oleObject" Target="../embeddings/oleObject48.bin"/><Relationship Id="rId3" Type="http://schemas.openxmlformats.org/officeDocument/2006/relationships/oleObject" Target="../embeddings/oleObject40.bin"/><Relationship Id="rId21" Type="http://schemas.openxmlformats.org/officeDocument/2006/relationships/image" Target="../media/image57.wmf"/><Relationship Id="rId7" Type="http://schemas.openxmlformats.org/officeDocument/2006/relationships/oleObject" Target="../embeddings/oleObject42.bin"/><Relationship Id="rId12" Type="http://schemas.openxmlformats.org/officeDocument/2006/relationships/image" Target="../media/image53.emf"/><Relationship Id="rId17" Type="http://schemas.openxmlformats.org/officeDocument/2006/relationships/oleObject" Target="../embeddings/oleObject4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5.wmf"/><Relationship Id="rId20" Type="http://schemas.openxmlformats.org/officeDocument/2006/relationships/oleObject" Target="../embeddings/oleObject49.bin"/><Relationship Id="rId1" Type="http://schemas.openxmlformats.org/officeDocument/2006/relationships/vmlDrawing" Target="../drawings/vmlDrawing10.vml"/><Relationship Id="rId6" Type="http://schemas.openxmlformats.org/officeDocument/2006/relationships/image" Target="../media/image50.wmf"/><Relationship Id="rId11" Type="http://schemas.openxmlformats.org/officeDocument/2006/relationships/oleObject" Target="../embeddings/oleObject44.bin"/><Relationship Id="rId5" Type="http://schemas.openxmlformats.org/officeDocument/2006/relationships/oleObject" Target="../embeddings/oleObject41.bin"/><Relationship Id="rId15" Type="http://schemas.openxmlformats.org/officeDocument/2006/relationships/oleObject" Target="../embeddings/oleObject46.bin"/><Relationship Id="rId10" Type="http://schemas.openxmlformats.org/officeDocument/2006/relationships/image" Target="../media/image52.emf"/><Relationship Id="rId19" Type="http://schemas.openxmlformats.org/officeDocument/2006/relationships/image" Target="../media/image56.wmf"/><Relationship Id="rId4" Type="http://schemas.openxmlformats.org/officeDocument/2006/relationships/image" Target="../media/image49.wmf"/><Relationship Id="rId9" Type="http://schemas.openxmlformats.org/officeDocument/2006/relationships/oleObject" Target="../embeddings/oleObject43.bin"/><Relationship Id="rId14" Type="http://schemas.openxmlformats.org/officeDocument/2006/relationships/image" Target="../media/image54.emf"/><Relationship Id="rId22" Type="http://schemas.openxmlformats.org/officeDocument/2006/relationships/image" Target="../media/image5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60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52.emf"/><Relationship Id="rId5" Type="http://schemas.openxmlformats.org/officeDocument/2006/relationships/oleObject" Target="../embeddings/oleObject50.bin"/><Relationship Id="rId4" Type="http://schemas.openxmlformats.org/officeDocument/2006/relationships/image" Target="../media/image5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emf"/><Relationship Id="rId3" Type="http://schemas.openxmlformats.org/officeDocument/2006/relationships/oleObject" Target="../embeddings/oleObject51.bin"/><Relationship Id="rId7" Type="http://schemas.openxmlformats.org/officeDocument/2006/relationships/oleObject" Target="../embeddings/oleObject5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62.emf"/><Relationship Id="rId5" Type="http://schemas.openxmlformats.org/officeDocument/2006/relationships/oleObject" Target="../embeddings/oleObject52.bin"/><Relationship Id="rId10" Type="http://schemas.openxmlformats.org/officeDocument/2006/relationships/image" Target="../media/image64.emf"/><Relationship Id="rId4" Type="http://schemas.openxmlformats.org/officeDocument/2006/relationships/image" Target="../media/image61.emf"/><Relationship Id="rId9" Type="http://schemas.openxmlformats.org/officeDocument/2006/relationships/oleObject" Target="../embeddings/oleObject54.bin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emf"/><Relationship Id="rId13" Type="http://schemas.openxmlformats.org/officeDocument/2006/relationships/oleObject" Target="../embeddings/oleObject60.bin"/><Relationship Id="rId18" Type="http://schemas.openxmlformats.org/officeDocument/2006/relationships/image" Target="../media/image73.wmf"/><Relationship Id="rId3" Type="http://schemas.openxmlformats.org/officeDocument/2006/relationships/oleObject" Target="../embeddings/oleObject55.bin"/><Relationship Id="rId21" Type="http://schemas.openxmlformats.org/officeDocument/2006/relationships/oleObject" Target="../embeddings/oleObject64.bin"/><Relationship Id="rId7" Type="http://schemas.openxmlformats.org/officeDocument/2006/relationships/oleObject" Target="../embeddings/oleObject57.bin"/><Relationship Id="rId12" Type="http://schemas.openxmlformats.org/officeDocument/2006/relationships/image" Target="../media/image70.emf"/><Relationship Id="rId17" Type="http://schemas.openxmlformats.org/officeDocument/2006/relationships/oleObject" Target="../embeddings/oleObject6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2.wmf"/><Relationship Id="rId20" Type="http://schemas.openxmlformats.org/officeDocument/2006/relationships/image" Target="../media/image74.wmf"/><Relationship Id="rId1" Type="http://schemas.openxmlformats.org/officeDocument/2006/relationships/vmlDrawing" Target="../drawings/vmlDrawing13.vml"/><Relationship Id="rId6" Type="http://schemas.openxmlformats.org/officeDocument/2006/relationships/image" Target="../media/image67.emf"/><Relationship Id="rId11" Type="http://schemas.openxmlformats.org/officeDocument/2006/relationships/oleObject" Target="../embeddings/oleObject59.bin"/><Relationship Id="rId5" Type="http://schemas.openxmlformats.org/officeDocument/2006/relationships/oleObject" Target="../embeddings/oleObject56.bin"/><Relationship Id="rId15" Type="http://schemas.openxmlformats.org/officeDocument/2006/relationships/oleObject" Target="../embeddings/oleObject61.bin"/><Relationship Id="rId10" Type="http://schemas.openxmlformats.org/officeDocument/2006/relationships/image" Target="../media/image69.emf"/><Relationship Id="rId19" Type="http://schemas.openxmlformats.org/officeDocument/2006/relationships/oleObject" Target="../embeddings/oleObject63.bin"/><Relationship Id="rId4" Type="http://schemas.openxmlformats.org/officeDocument/2006/relationships/image" Target="../media/image66.emf"/><Relationship Id="rId9" Type="http://schemas.openxmlformats.org/officeDocument/2006/relationships/oleObject" Target="../embeddings/oleObject58.bin"/><Relationship Id="rId14" Type="http://schemas.openxmlformats.org/officeDocument/2006/relationships/image" Target="../media/image71.emf"/><Relationship Id="rId22" Type="http://schemas.openxmlformats.org/officeDocument/2006/relationships/image" Target="../media/image75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7.bin"/><Relationship Id="rId13" Type="http://schemas.openxmlformats.org/officeDocument/2006/relationships/image" Target="../media/image80.wmf"/><Relationship Id="rId18" Type="http://schemas.openxmlformats.org/officeDocument/2006/relationships/oleObject" Target="../embeddings/oleObject72.bin"/><Relationship Id="rId3" Type="http://schemas.openxmlformats.org/officeDocument/2006/relationships/notesSlide" Target="../notesSlides/notesSlide11.xml"/><Relationship Id="rId21" Type="http://schemas.openxmlformats.org/officeDocument/2006/relationships/image" Target="../media/image84.emf"/><Relationship Id="rId7" Type="http://schemas.openxmlformats.org/officeDocument/2006/relationships/image" Target="../media/image77.wmf"/><Relationship Id="rId12" Type="http://schemas.openxmlformats.org/officeDocument/2006/relationships/oleObject" Target="../embeddings/oleObject69.bin"/><Relationship Id="rId17" Type="http://schemas.openxmlformats.org/officeDocument/2006/relationships/image" Target="../media/image82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71.bin"/><Relationship Id="rId20" Type="http://schemas.openxmlformats.org/officeDocument/2006/relationships/oleObject" Target="../embeddings/oleObject73.bin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66.bin"/><Relationship Id="rId11" Type="http://schemas.openxmlformats.org/officeDocument/2006/relationships/image" Target="../media/image79.wmf"/><Relationship Id="rId5" Type="http://schemas.openxmlformats.org/officeDocument/2006/relationships/image" Target="../media/image76.wmf"/><Relationship Id="rId15" Type="http://schemas.openxmlformats.org/officeDocument/2006/relationships/image" Target="../media/image81.wmf"/><Relationship Id="rId10" Type="http://schemas.openxmlformats.org/officeDocument/2006/relationships/oleObject" Target="../embeddings/oleObject68.bin"/><Relationship Id="rId19" Type="http://schemas.openxmlformats.org/officeDocument/2006/relationships/image" Target="../media/image83.emf"/><Relationship Id="rId4" Type="http://schemas.openxmlformats.org/officeDocument/2006/relationships/oleObject" Target="../embeddings/oleObject65.bin"/><Relationship Id="rId9" Type="http://schemas.openxmlformats.org/officeDocument/2006/relationships/image" Target="../media/image78.wmf"/><Relationship Id="rId14" Type="http://schemas.openxmlformats.org/officeDocument/2006/relationships/oleObject" Target="../embeddings/oleObject70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emf"/><Relationship Id="rId13" Type="http://schemas.openxmlformats.org/officeDocument/2006/relationships/oleObject" Target="../embeddings/oleObject79.bin"/><Relationship Id="rId18" Type="http://schemas.openxmlformats.org/officeDocument/2006/relationships/image" Target="../media/image92.emf"/><Relationship Id="rId3" Type="http://schemas.openxmlformats.org/officeDocument/2006/relationships/oleObject" Target="../embeddings/oleObject74.bin"/><Relationship Id="rId7" Type="http://schemas.openxmlformats.org/officeDocument/2006/relationships/oleObject" Target="../embeddings/oleObject76.bin"/><Relationship Id="rId12" Type="http://schemas.openxmlformats.org/officeDocument/2006/relationships/image" Target="../media/image89.emf"/><Relationship Id="rId17" Type="http://schemas.openxmlformats.org/officeDocument/2006/relationships/oleObject" Target="../embeddings/oleObject8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91.emf"/><Relationship Id="rId1" Type="http://schemas.openxmlformats.org/officeDocument/2006/relationships/vmlDrawing" Target="../drawings/vmlDrawing15.vml"/><Relationship Id="rId6" Type="http://schemas.openxmlformats.org/officeDocument/2006/relationships/image" Target="../media/image86.emf"/><Relationship Id="rId11" Type="http://schemas.openxmlformats.org/officeDocument/2006/relationships/oleObject" Target="../embeddings/oleObject78.bin"/><Relationship Id="rId5" Type="http://schemas.openxmlformats.org/officeDocument/2006/relationships/oleObject" Target="../embeddings/oleObject75.bin"/><Relationship Id="rId15" Type="http://schemas.openxmlformats.org/officeDocument/2006/relationships/oleObject" Target="../embeddings/oleObject80.bin"/><Relationship Id="rId10" Type="http://schemas.openxmlformats.org/officeDocument/2006/relationships/image" Target="../media/image88.emf"/><Relationship Id="rId4" Type="http://schemas.openxmlformats.org/officeDocument/2006/relationships/image" Target="../media/image85.emf"/><Relationship Id="rId9" Type="http://schemas.openxmlformats.org/officeDocument/2006/relationships/oleObject" Target="../embeddings/oleObject77.bin"/><Relationship Id="rId14" Type="http://schemas.openxmlformats.org/officeDocument/2006/relationships/image" Target="../media/image90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94.png"/><Relationship Id="rId5" Type="http://schemas.openxmlformats.org/officeDocument/2006/relationships/image" Target="../media/image93.emf"/><Relationship Id="rId4" Type="http://schemas.openxmlformats.org/officeDocument/2006/relationships/oleObject" Target="../embeddings/oleObject82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http:/cai.tongji.edu.cn/jiaoan_little/wutiangang/ershizhang/Image345.gif" TargetMode="External"/><Relationship Id="rId5" Type="http://schemas.openxmlformats.org/officeDocument/2006/relationships/image" Target="../media/image97.png"/><Relationship Id="rId4" Type="http://schemas.openxmlformats.org/officeDocument/2006/relationships/image" Target="../media/image96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107.jpe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06.jpeg"/><Relationship Id="rId5" Type="http://schemas.openxmlformats.org/officeDocument/2006/relationships/image" Target="../media/image105.emf"/><Relationship Id="rId4" Type="http://schemas.openxmlformats.org/officeDocument/2006/relationships/oleObject" Target="../embeddings/oleObject83.bin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jpeg"/><Relationship Id="rId7" Type="http://schemas.openxmlformats.org/officeDocument/2006/relationships/hyperlink" Target="file:///H:\2017&#22823;&#23398;&#29289;&#29702;\&#19979;&#20876;\14%20&#21128;&#23574;&#24178;&#28041;.swf" TargetMode="External"/><Relationship Id="rId2" Type="http://schemas.openxmlformats.org/officeDocument/2006/relationships/image" Target="../media/image109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3.jpeg"/><Relationship Id="rId5" Type="http://schemas.openxmlformats.org/officeDocument/2006/relationships/image" Target="../media/image112.jpeg"/><Relationship Id="rId4" Type="http://schemas.openxmlformats.org/officeDocument/2006/relationships/image" Target="../media/image111.jpe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5">
            <a:extLst>
              <a:ext uri="{FF2B5EF4-FFF2-40B4-BE49-F238E27FC236}">
                <a16:creationId xmlns:a16="http://schemas.microsoft.com/office/drawing/2014/main" id="{07E43EF3-D066-4373-A94E-07BA3884BEF6}"/>
              </a:ext>
            </a:extLst>
          </p:cNvPr>
          <p:cNvGrpSpPr>
            <a:grpSpLocks/>
          </p:cNvGrpSpPr>
          <p:nvPr/>
        </p:nvGrpSpPr>
        <p:grpSpPr bwMode="auto">
          <a:xfrm>
            <a:off x="-571500" y="0"/>
            <a:ext cx="10293350" cy="6858000"/>
            <a:chOff x="-571500" y="0"/>
            <a:chExt cx="10293350" cy="685802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454AEDA-DF76-464B-B275-DA37D0B06A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571500" y="0"/>
              <a:ext cx="10293350" cy="685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矩形 4">
              <a:extLst>
                <a:ext uri="{FF2B5EF4-FFF2-40B4-BE49-F238E27FC236}">
                  <a16:creationId xmlns:a16="http://schemas.microsoft.com/office/drawing/2014/main" id="{957412E8-7F55-49AC-9415-861153D003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4208" y="6457914"/>
              <a:ext cx="261962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b="0" dirty="0">
                  <a:solidFill>
                    <a:srgbClr val="FF0000"/>
                  </a:solidFill>
                </a:rPr>
                <a:t>Yosemite National Park</a:t>
              </a:r>
              <a:endParaRPr lang="zh-CN" altLang="en-US" sz="2000" dirty="0">
                <a:solidFill>
                  <a:srgbClr val="FF0000"/>
                </a:solidFill>
              </a:endParaRPr>
            </a:p>
          </p:txBody>
        </p:sp>
      </p:grpSp>
      <p:sp>
        <p:nvSpPr>
          <p:cNvPr id="7" name="Text Box 1039"/>
          <p:cNvSpPr txBox="1">
            <a:spLocks noChangeArrowheads="1"/>
          </p:cNvSpPr>
          <p:nvPr/>
        </p:nvSpPr>
        <p:spPr bwMode="auto">
          <a:xfrm>
            <a:off x="1295400" y="3705225"/>
            <a:ext cx="6705600" cy="17589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 eaLnBrk="1" hangingPunct="1">
              <a:lnSpc>
                <a:spcPct val="75000"/>
              </a:lnSpc>
              <a:defRPr/>
            </a:pPr>
            <a:r>
              <a:rPr lang="en-US" altLang="zh-CN" sz="40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Xi’an  </a:t>
            </a:r>
            <a:r>
              <a:rPr lang="en-US" altLang="zh-CN" sz="400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Jiaotong</a:t>
            </a:r>
            <a:r>
              <a:rPr lang="en-US" altLang="zh-CN" sz="40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University</a:t>
            </a:r>
          </a:p>
          <a:p>
            <a:pPr algn="ctr" eaLnBrk="1" hangingPunct="1">
              <a:lnSpc>
                <a:spcPct val="75000"/>
              </a:lnSpc>
              <a:defRPr/>
            </a:pPr>
            <a:endParaRPr lang="zh-CN" altLang="en-US" sz="400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楷体_GB2312" pitchFamily="49" charset="-122"/>
            </a:endParaRPr>
          </a:p>
          <a:p>
            <a:pPr algn="ctr" eaLnBrk="1" hangingPunct="1">
              <a:lnSpc>
                <a:spcPct val="75000"/>
              </a:lnSpc>
              <a:defRPr/>
            </a:pPr>
            <a:endParaRPr lang="en-US" altLang="zh-CN" sz="280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华文仿宋" panose="02010600040101010101" pitchFamily="17" charset="-122"/>
            </a:endParaRPr>
          </a:p>
          <a:p>
            <a:pPr algn="ctr" eaLnBrk="1" hangingPunct="1">
              <a:lnSpc>
                <a:spcPct val="75000"/>
              </a:lnSpc>
              <a:defRPr/>
            </a:pPr>
            <a:r>
              <a:rPr lang="en-US" altLang="zh-CN" sz="36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仿宋" panose="02010600040101010101" pitchFamily="17" charset="-122"/>
              </a:rPr>
              <a:t>Dec. 11, 2025</a:t>
            </a:r>
          </a:p>
        </p:txBody>
      </p:sp>
      <p:sp>
        <p:nvSpPr>
          <p:cNvPr id="4099" name="WordArt 1044"/>
          <p:cNvSpPr>
            <a:spLocks noChangeArrowheads="1" noChangeShapeType="1" noTextEdit="1"/>
          </p:cNvSpPr>
          <p:nvPr/>
        </p:nvSpPr>
        <p:spPr bwMode="auto">
          <a:xfrm>
            <a:off x="539750" y="1268413"/>
            <a:ext cx="8077200" cy="1296987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altLang="zh-CN" sz="4800" i="1" kern="10" dirty="0">
                <a:solidFill>
                  <a:srgbClr val="FF0000"/>
                </a:solidFill>
                <a:effectLst>
                  <a:outerShdw dist="35921" dir="2700000" algn="ctr" rotWithShape="0">
                    <a:srgbClr val="808080"/>
                  </a:outerShdw>
                </a:effectLst>
                <a:cs typeface="Times New Roman" panose="02020603050405020304" pitchFamily="18" charset="0"/>
              </a:rPr>
              <a:t>University Physics</a:t>
            </a:r>
            <a:endParaRPr lang="zh-CN" altLang="en-US" sz="4800" i="1" kern="10" dirty="0">
              <a:solidFill>
                <a:srgbClr val="FF0000"/>
              </a:solidFill>
              <a:effectLst>
                <a:outerShdw dist="35921" dir="2700000" algn="ctr" rotWithShape="0">
                  <a:srgbClr val="808080"/>
                </a:outerShdw>
              </a:effectLst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2" name="Text Box 25">
            <a:extLst>
              <a:ext uri="{FF2B5EF4-FFF2-40B4-BE49-F238E27FC236}">
                <a16:creationId xmlns:a16="http://schemas.microsoft.com/office/drawing/2014/main" id="{0351C5C5-B100-431C-8EA2-22C4F10E1B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6238" y="5420569"/>
            <a:ext cx="1346201" cy="457200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dirty="0">
                <a:solidFill>
                  <a:schemeClr val="hlink"/>
                </a:solidFill>
                <a:ea typeface="楷体_GB2312" pitchFamily="49" charset="-122"/>
              </a:rPr>
              <a:t>X</a:t>
            </a:r>
            <a:r>
              <a:rPr lang="zh-CN" altLang="en-US" dirty="0">
                <a:solidFill>
                  <a:schemeClr val="hlink"/>
                </a:solidFill>
                <a:ea typeface="楷体_GB2312" pitchFamily="49" charset="-122"/>
              </a:rPr>
              <a:t>光子</a:t>
            </a:r>
          </a:p>
        </p:txBody>
      </p:sp>
      <p:sp>
        <p:nvSpPr>
          <p:cNvPr id="6163" name="Text Box 26">
            <a:extLst>
              <a:ext uri="{FF2B5EF4-FFF2-40B4-BE49-F238E27FC236}">
                <a16:creationId xmlns:a16="http://schemas.microsoft.com/office/drawing/2014/main" id="{0F375734-99F8-4E35-9189-9BE5816975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3613" y="5839311"/>
            <a:ext cx="1431925" cy="457200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dirty="0">
                <a:solidFill>
                  <a:schemeClr val="hlink"/>
                </a:solidFill>
                <a:ea typeface="楷体_GB2312" pitchFamily="49" charset="-122"/>
              </a:rPr>
              <a:t>内层电子</a:t>
            </a:r>
          </a:p>
        </p:txBody>
      </p:sp>
      <p:sp>
        <p:nvSpPr>
          <p:cNvPr id="6164" name="Text Box 27">
            <a:extLst>
              <a:ext uri="{FF2B5EF4-FFF2-40B4-BE49-F238E27FC236}">
                <a16:creationId xmlns:a16="http://schemas.microsoft.com/office/drawing/2014/main" id="{8BEB7919-3E5F-48D1-B27F-8A9A4B4DAB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3613" y="5030149"/>
            <a:ext cx="1431925" cy="455613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dirty="0">
                <a:solidFill>
                  <a:schemeClr val="hlink"/>
                </a:solidFill>
                <a:ea typeface="楷体_GB2312" pitchFamily="49" charset="-122"/>
              </a:rPr>
              <a:t>外层电子</a:t>
            </a:r>
          </a:p>
        </p:txBody>
      </p:sp>
      <p:grpSp>
        <p:nvGrpSpPr>
          <p:cNvPr id="6165" name="Group 28">
            <a:extLst>
              <a:ext uri="{FF2B5EF4-FFF2-40B4-BE49-F238E27FC236}">
                <a16:creationId xmlns:a16="http://schemas.microsoft.com/office/drawing/2014/main" id="{B994A735-40D4-4922-A220-F56E026584A5}"/>
              </a:ext>
            </a:extLst>
          </p:cNvPr>
          <p:cNvGrpSpPr>
            <a:grpSpLocks/>
          </p:cNvGrpSpPr>
          <p:nvPr/>
        </p:nvGrpSpPr>
        <p:grpSpPr bwMode="auto">
          <a:xfrm>
            <a:off x="3140076" y="5250706"/>
            <a:ext cx="234950" cy="771525"/>
            <a:chOff x="2052" y="3534"/>
            <a:chExt cx="148" cy="486"/>
          </a:xfrm>
        </p:grpSpPr>
        <p:sp>
          <p:nvSpPr>
            <p:cNvPr id="6166" name="Line 29">
              <a:extLst>
                <a:ext uri="{FF2B5EF4-FFF2-40B4-BE49-F238E27FC236}">
                  <a16:creationId xmlns:a16="http://schemas.microsoft.com/office/drawing/2014/main" id="{E79328F3-FAF8-43F7-9282-EDA130EE2FA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52" y="3534"/>
              <a:ext cx="148" cy="259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67" name="Line 30">
              <a:extLst>
                <a:ext uri="{FF2B5EF4-FFF2-40B4-BE49-F238E27FC236}">
                  <a16:creationId xmlns:a16="http://schemas.microsoft.com/office/drawing/2014/main" id="{F4C59603-1043-4ABE-8851-17FFE8ECCD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52" y="3793"/>
              <a:ext cx="136" cy="227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160" name="Rectangle 33">
            <a:extLst>
              <a:ext uri="{FF2B5EF4-FFF2-40B4-BE49-F238E27FC236}">
                <a16:creationId xmlns:a16="http://schemas.microsoft.com/office/drawing/2014/main" id="{FFAA4FE0-1933-46FE-9F41-17D22036F6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209" y="5013598"/>
            <a:ext cx="2622866" cy="457875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dirty="0">
                <a:solidFill>
                  <a:schemeClr val="hlink"/>
                </a:solidFill>
                <a:ea typeface="楷体_GB2312" pitchFamily="49" charset="-122"/>
              </a:rPr>
              <a:t>波长变大的散射线</a:t>
            </a:r>
          </a:p>
        </p:txBody>
      </p:sp>
      <p:sp>
        <p:nvSpPr>
          <p:cNvPr id="6161" name="Line 34">
            <a:extLst>
              <a:ext uri="{FF2B5EF4-FFF2-40B4-BE49-F238E27FC236}">
                <a16:creationId xmlns:a16="http://schemas.microsoft.com/office/drawing/2014/main" id="{5F67252C-2CB1-4B07-AE09-8364C25FB9BB}"/>
              </a:ext>
            </a:extLst>
          </p:cNvPr>
          <p:cNvSpPr>
            <a:spLocks noChangeShapeType="1"/>
          </p:cNvSpPr>
          <p:nvPr/>
        </p:nvSpPr>
        <p:spPr bwMode="auto">
          <a:xfrm>
            <a:off x="5148263" y="5235598"/>
            <a:ext cx="45948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58" name="Rectangle 35">
            <a:extLst>
              <a:ext uri="{FF2B5EF4-FFF2-40B4-BE49-F238E27FC236}">
                <a16:creationId xmlns:a16="http://schemas.microsoft.com/office/drawing/2014/main" id="{809CD0C2-0378-48C0-BAC1-87DAA26B92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209" y="5851867"/>
            <a:ext cx="2622866" cy="457875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dirty="0">
                <a:solidFill>
                  <a:schemeClr val="hlink"/>
                </a:solidFill>
                <a:ea typeface="楷体_GB2312" pitchFamily="49" charset="-122"/>
              </a:rPr>
              <a:t>波长不变的散射线</a:t>
            </a:r>
          </a:p>
        </p:txBody>
      </p:sp>
      <p:sp>
        <p:nvSpPr>
          <p:cNvPr id="6159" name="Line 36">
            <a:extLst>
              <a:ext uri="{FF2B5EF4-FFF2-40B4-BE49-F238E27FC236}">
                <a16:creationId xmlns:a16="http://schemas.microsoft.com/office/drawing/2014/main" id="{D2789EA9-52B9-4BC8-87E4-1ED96A11D79A}"/>
              </a:ext>
            </a:extLst>
          </p:cNvPr>
          <p:cNvSpPr>
            <a:spLocks noChangeShapeType="1"/>
          </p:cNvSpPr>
          <p:nvPr/>
        </p:nvSpPr>
        <p:spPr bwMode="auto">
          <a:xfrm>
            <a:off x="5148263" y="6106173"/>
            <a:ext cx="45948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38" name="Rectangle 38">
            <a:extLst>
              <a:ext uri="{FF2B5EF4-FFF2-40B4-BE49-F238E27FC236}">
                <a16:creationId xmlns:a16="http://schemas.microsoft.com/office/drawing/2014/main" id="{52434E13-6060-4526-A0C8-374D61C0D5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938" y="5420568"/>
            <a:ext cx="10033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FFFF00"/>
                </a:solidFill>
                <a:ea typeface="华文中宋" panose="02010600040101010101" pitchFamily="2" charset="-122"/>
              </a:rPr>
              <a:t>解释：</a:t>
            </a:r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8199BFB5-A1E9-4045-BD14-B7E35E924C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772816"/>
            <a:ext cx="34274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dirty="0">
                <a:solidFill>
                  <a:schemeClr val="bg1"/>
                </a:solidFill>
                <a:latin typeface="华文中宋" panose="02010600040101010101" pitchFamily="2" charset="-122"/>
              </a:rPr>
              <a:t>2. </a:t>
            </a:r>
            <a:r>
              <a:rPr lang="zh-CN" altLang="en-US" sz="2800" dirty="0">
                <a:solidFill>
                  <a:schemeClr val="bg1"/>
                </a:solidFill>
                <a:latin typeface="华文中宋" panose="02010600040101010101" pitchFamily="2" charset="-122"/>
              </a:rPr>
              <a:t>康普顿效应</a:t>
            </a:r>
          </a:p>
        </p:txBody>
      </p:sp>
      <p:graphicFrame>
        <p:nvGraphicFramePr>
          <p:cNvPr id="22" name="Object 2">
            <a:extLst>
              <a:ext uri="{FF2B5EF4-FFF2-40B4-BE49-F238E27FC236}">
                <a16:creationId xmlns:a16="http://schemas.microsoft.com/office/drawing/2014/main" id="{E0088DD8-E38E-4229-82C9-6EFA6826E05A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872678" y="4040485"/>
          <a:ext cx="3843338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5410" name="Equation" r:id="rId4" imgW="3352698" imgH="790507" progId="Equation.DSMT4">
                  <p:embed/>
                </p:oleObj>
              </mc:Choice>
              <mc:Fallback>
                <p:oleObj name="Equation" r:id="rId4" imgW="3352698" imgH="790507" progId="Equation.DSMT4">
                  <p:embed/>
                  <p:pic>
                    <p:nvPicPr>
                      <p:cNvPr id="22" name="Object 2">
                        <a:extLst>
                          <a:ext uri="{FF2B5EF4-FFF2-40B4-BE49-F238E27FC236}">
                            <a16:creationId xmlns:a16="http://schemas.microsoft.com/office/drawing/2014/main" id="{E0088DD8-E38E-4229-82C9-6EFA6826E05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2678" y="4040485"/>
                        <a:ext cx="3843338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Rectangle 35">
            <a:extLst>
              <a:ext uri="{FF2B5EF4-FFF2-40B4-BE49-F238E27FC236}">
                <a16:creationId xmlns:a16="http://schemas.microsoft.com/office/drawing/2014/main" id="{F8E2003A-C36C-4C33-BF70-C5E773B79A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36" y="2420888"/>
            <a:ext cx="856895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>
                <a:solidFill>
                  <a:srgbClr val="FFCC66"/>
                </a:solidFill>
                <a:ea typeface="楷体_GB2312" pitchFamily="49" charset="-122"/>
              </a:rPr>
              <a:t> </a:t>
            </a:r>
            <a:r>
              <a:rPr lang="en-US" altLang="zh-CN" i="1" dirty="0">
                <a:solidFill>
                  <a:srgbClr val="FFFF00"/>
                </a:solidFill>
                <a:ea typeface="楷体_GB2312" pitchFamily="49" charset="-122"/>
              </a:rPr>
              <a:t>X </a:t>
            </a:r>
            <a:r>
              <a:rPr lang="zh-CN" altLang="en-US" dirty="0">
                <a:solidFill>
                  <a:srgbClr val="FFFF00"/>
                </a:solidFill>
                <a:ea typeface="楷体_GB2312" pitchFamily="49" charset="-122"/>
              </a:rPr>
              <a:t>射线光子</a:t>
            </a:r>
            <a:r>
              <a:rPr lang="zh-CN" altLang="en-US" dirty="0">
                <a:solidFill>
                  <a:srgbClr val="FFFFFF"/>
                </a:solidFill>
                <a:ea typeface="楷体_GB2312" pitchFamily="49" charset="-122"/>
              </a:rPr>
              <a:t>照射石墨，散射谱线中除与原</a:t>
            </a:r>
            <a:r>
              <a:rPr lang="zh-CN" altLang="en-US" dirty="0">
                <a:solidFill>
                  <a:srgbClr val="FFFF00"/>
                </a:solidFill>
                <a:ea typeface="楷体_GB2312" pitchFamily="49" charset="-122"/>
              </a:rPr>
              <a:t>入射光波长相同</a:t>
            </a:r>
            <a:r>
              <a:rPr lang="zh-CN" altLang="en-US" dirty="0">
                <a:solidFill>
                  <a:srgbClr val="FFFFFF"/>
                </a:solidFill>
                <a:ea typeface="楷体_GB2312" pitchFamily="49" charset="-122"/>
              </a:rPr>
              <a:t>的成</a:t>
            </a:r>
          </a:p>
        </p:txBody>
      </p:sp>
      <p:sp>
        <p:nvSpPr>
          <p:cNvPr id="25" name="Rectangle 36">
            <a:extLst>
              <a:ext uri="{FF2B5EF4-FFF2-40B4-BE49-F238E27FC236}">
                <a16:creationId xmlns:a16="http://schemas.microsoft.com/office/drawing/2014/main" id="{743B314A-51DB-4A19-B1F5-E0E68E0382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544" y="2900214"/>
            <a:ext cx="5562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FFFFFF"/>
                </a:solidFill>
                <a:ea typeface="楷体_GB2312" pitchFamily="49" charset="-122"/>
              </a:rPr>
              <a:t>分外，还包括</a:t>
            </a:r>
            <a:r>
              <a:rPr lang="zh-CN" altLang="en-US" dirty="0">
                <a:solidFill>
                  <a:srgbClr val="FFFF00"/>
                </a:solidFill>
                <a:ea typeface="楷体_GB2312" pitchFamily="49" charset="-122"/>
              </a:rPr>
              <a:t>波长变长</a:t>
            </a:r>
            <a:r>
              <a:rPr lang="zh-CN" altLang="en-US" dirty="0">
                <a:solidFill>
                  <a:srgbClr val="FFFFFF"/>
                </a:solidFill>
                <a:ea typeface="楷体_GB2312" pitchFamily="49" charset="-122"/>
              </a:rPr>
              <a:t>的成分</a:t>
            </a:r>
          </a:p>
        </p:txBody>
      </p:sp>
      <p:sp>
        <p:nvSpPr>
          <p:cNvPr id="26" name="Rectangle 37">
            <a:extLst>
              <a:ext uri="{FF2B5EF4-FFF2-40B4-BE49-F238E27FC236}">
                <a16:creationId xmlns:a16="http://schemas.microsoft.com/office/drawing/2014/main" id="{0DE9D6EF-2963-4C43-89F0-2EBBF7BD2C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6360" y="2900214"/>
            <a:ext cx="3038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FFFF"/>
                </a:solidFill>
                <a:ea typeface="楷体_GB2312" pitchFamily="49" charset="-122"/>
              </a:rPr>
              <a:t>——</a:t>
            </a:r>
            <a:r>
              <a:rPr lang="en-US" altLang="zh-CN">
                <a:solidFill>
                  <a:srgbClr val="0000FF"/>
                </a:solidFill>
                <a:ea typeface="楷体_GB2312" pitchFamily="49" charset="-122"/>
              </a:rPr>
              <a:t> </a:t>
            </a:r>
            <a:r>
              <a:rPr lang="zh-CN" altLang="en-US">
                <a:solidFill>
                  <a:srgbClr val="FFFF00"/>
                </a:solidFill>
                <a:ea typeface="楷体_GB2312" pitchFamily="49" charset="-122"/>
              </a:rPr>
              <a:t>康普顿效应</a:t>
            </a:r>
          </a:p>
        </p:txBody>
      </p:sp>
      <p:sp>
        <p:nvSpPr>
          <p:cNvPr id="27" name="Rectangle 35">
            <a:extLst>
              <a:ext uri="{FF2B5EF4-FFF2-40B4-BE49-F238E27FC236}">
                <a16:creationId xmlns:a16="http://schemas.microsoft.com/office/drawing/2014/main" id="{F5642D17-DAE9-49F7-ACE6-3753A830AA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4" y="3493103"/>
            <a:ext cx="82801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>
                <a:solidFill>
                  <a:srgbClr val="FFCC66"/>
                </a:solidFill>
                <a:ea typeface="楷体_GB2312" pitchFamily="49" charset="-122"/>
              </a:rPr>
              <a:t> </a:t>
            </a:r>
            <a:r>
              <a:rPr lang="zh-CN" altLang="en-US" dirty="0">
                <a:solidFill>
                  <a:srgbClr val="FFCC66"/>
                </a:solidFill>
                <a:ea typeface="楷体_GB2312" pitchFamily="49" charset="-122"/>
              </a:rPr>
              <a:t>结果：</a:t>
            </a:r>
            <a:r>
              <a:rPr lang="zh-CN" altLang="en-US" dirty="0">
                <a:solidFill>
                  <a:srgbClr val="FFFF00"/>
                </a:solidFill>
                <a:ea typeface="楷体_GB2312" pitchFamily="49" charset="-122"/>
              </a:rPr>
              <a:t>波长差只取决于散射角，而与入射光、散射物质无关</a:t>
            </a:r>
          </a:p>
        </p:txBody>
      </p:sp>
      <p:sp>
        <p:nvSpPr>
          <p:cNvPr id="33" name="Rectangle 2">
            <a:extLst>
              <a:ext uri="{FF2B5EF4-FFF2-40B4-BE49-F238E27FC236}">
                <a16:creationId xmlns:a16="http://schemas.microsoft.com/office/drawing/2014/main" id="{B9EC3BE6-B941-4078-96B9-0E04771F54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544" y="415503"/>
            <a:ext cx="70008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dirty="0">
                <a:solidFill>
                  <a:schemeClr val="bg1"/>
                </a:solidFill>
                <a:latin typeface="华文中宋" panose="02010600040101010101" pitchFamily="2" charset="-122"/>
              </a:rPr>
              <a:t>1. </a:t>
            </a:r>
            <a:r>
              <a:rPr lang="zh-CN" altLang="en-US" sz="2800" dirty="0">
                <a:solidFill>
                  <a:schemeClr val="bg1"/>
                </a:solidFill>
                <a:latin typeface="华文中宋" panose="02010600040101010101" pitchFamily="2" charset="-122"/>
              </a:rPr>
              <a:t>光的波粒二象性：</a:t>
            </a:r>
            <a:r>
              <a:rPr lang="zh-CN" altLang="en-US" dirty="0">
                <a:solidFill>
                  <a:schemeClr val="bg1"/>
                </a:solidFill>
                <a:latin typeface="华文中宋" panose="02010600040101010101" pitchFamily="2" charset="-122"/>
              </a:rPr>
              <a:t>波动性和粒子性</a:t>
            </a:r>
          </a:p>
        </p:txBody>
      </p:sp>
      <p:graphicFrame>
        <p:nvGraphicFramePr>
          <p:cNvPr id="34" name="Object 14">
            <a:extLst>
              <a:ext uri="{FF2B5EF4-FFF2-40B4-BE49-F238E27FC236}">
                <a16:creationId xmlns:a16="http://schemas.microsoft.com/office/drawing/2014/main" id="{36280C3F-0FB8-41A4-950B-3C6F3E18FE2D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499047" y="1040978"/>
          <a:ext cx="1928812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5411" name="公式" r:id="rId6" imgW="838251" imgH="161959" progId="Equation.3">
                  <p:embed/>
                </p:oleObj>
              </mc:Choice>
              <mc:Fallback>
                <p:oleObj name="公式" r:id="rId6" imgW="838251" imgH="161959" progId="Equation.3">
                  <p:embed/>
                  <p:pic>
                    <p:nvPicPr>
                      <p:cNvPr id="34" name="Object 14">
                        <a:extLst>
                          <a:ext uri="{FF2B5EF4-FFF2-40B4-BE49-F238E27FC236}">
                            <a16:creationId xmlns:a16="http://schemas.microsoft.com/office/drawing/2014/main" id="{36280C3F-0FB8-41A4-950B-3C6F3E18FE2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9047" y="1040978"/>
                        <a:ext cx="1928812" cy="446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Line 13">
            <a:extLst>
              <a:ext uri="{FF2B5EF4-FFF2-40B4-BE49-F238E27FC236}">
                <a16:creationId xmlns:a16="http://schemas.microsoft.com/office/drawing/2014/main" id="{8312343A-5834-4914-B347-A9447B279478}"/>
              </a:ext>
            </a:extLst>
          </p:cNvPr>
          <p:cNvSpPr>
            <a:spLocks noChangeShapeType="1"/>
          </p:cNvSpPr>
          <p:nvPr/>
        </p:nvSpPr>
        <p:spPr bwMode="auto">
          <a:xfrm>
            <a:off x="3754884" y="1331491"/>
            <a:ext cx="458788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6" name="Object 23">
            <a:extLst>
              <a:ext uri="{FF2B5EF4-FFF2-40B4-BE49-F238E27FC236}">
                <a16:creationId xmlns:a16="http://schemas.microsoft.com/office/drawing/2014/main" id="{A177DD5A-F252-4F2B-8DB5-9A1DC5079A9F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499422" y="907628"/>
          <a:ext cx="1089025" cy="865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5412" name="公式" r:id="rId8" imgW="457200" imgH="352391" progId="Equation.3">
                  <p:embed/>
                </p:oleObj>
              </mc:Choice>
              <mc:Fallback>
                <p:oleObj name="公式" r:id="rId8" imgW="457200" imgH="352391" progId="Equation.3">
                  <p:embed/>
                  <p:pic>
                    <p:nvPicPr>
                      <p:cNvPr id="36" name="Object 23">
                        <a:extLst>
                          <a:ext uri="{FF2B5EF4-FFF2-40B4-BE49-F238E27FC236}">
                            <a16:creationId xmlns:a16="http://schemas.microsoft.com/office/drawing/2014/main" id="{A177DD5A-F252-4F2B-8DB5-9A1DC5079A9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9422" y="907628"/>
                        <a:ext cx="1089025" cy="865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24">
            <a:extLst>
              <a:ext uri="{FF2B5EF4-FFF2-40B4-BE49-F238E27FC236}">
                <a16:creationId xmlns:a16="http://schemas.microsoft.com/office/drawing/2014/main" id="{03B2062F-6ED0-40F2-8C6F-A116D9CC5A33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007547" y="907628"/>
          <a:ext cx="920750" cy="865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5413" name="公式" r:id="rId10" imgW="381051" imgH="352391" progId="Equation.3">
                  <p:embed/>
                </p:oleObj>
              </mc:Choice>
              <mc:Fallback>
                <p:oleObj name="公式" r:id="rId10" imgW="381051" imgH="352391" progId="Equation.3">
                  <p:embed/>
                  <p:pic>
                    <p:nvPicPr>
                      <p:cNvPr id="37" name="Object 24">
                        <a:extLst>
                          <a:ext uri="{FF2B5EF4-FFF2-40B4-BE49-F238E27FC236}">
                            <a16:creationId xmlns:a16="http://schemas.microsoft.com/office/drawing/2014/main" id="{03B2062F-6ED0-40F2-8C6F-A116D9CC5A3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7547" y="907628"/>
                        <a:ext cx="920750" cy="865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bject 10">
                <a:extLst>
                  <a:ext uri="{FF2B5EF4-FFF2-40B4-BE49-F238E27FC236}">
                    <a16:creationId xmlns:a16="http://schemas.microsoft.com/office/drawing/2014/main" id="{176F2F9D-7305-4873-A49B-AEF175BEDEE2}"/>
                  </a:ext>
                </a:extLst>
              </p:cNvPr>
              <p:cNvSpPr txBox="1"/>
              <p:nvPr/>
            </p:nvSpPr>
            <p:spPr bwMode="auto">
              <a:xfrm>
                <a:off x="5220072" y="4046538"/>
                <a:ext cx="3378721" cy="874712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  <a:ex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lang="zh-CN" altLang="en-US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0024</m:t>
                      </m:r>
                      <m:r>
                        <a:rPr lang="zh-CN" altLang="en-US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𝑛𝑚</m:t>
                      </m:r>
                    </m:oMath>
                  </m:oMathPara>
                </a14:m>
                <a:endParaRPr lang="zh-CN" altLang="en-US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28" name="Object 10">
                <a:extLst>
                  <a:ext uri="{FF2B5EF4-FFF2-40B4-BE49-F238E27FC236}">
                    <a16:creationId xmlns:a16="http://schemas.microsoft.com/office/drawing/2014/main" id="{176F2F9D-7305-4873-A49B-AEF175BEDE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20072" y="4046538"/>
                <a:ext cx="3378721" cy="87471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灯片编号占位符 1">
            <a:extLst>
              <a:ext uri="{FF2B5EF4-FFF2-40B4-BE49-F238E27FC236}">
                <a16:creationId xmlns:a16="http://schemas.microsoft.com/office/drawing/2014/main" id="{B647DD4E-887C-455F-B6B4-34F46BD5C0E0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/>
            <a:fld id="{D576E691-5116-4FBA-9B84-E9D18BAAAC14}" type="slidenum">
              <a:rPr lang="en-US" altLang="zh-CN" b="0" smtClean="0">
                <a:solidFill>
                  <a:srgbClr val="FF00FF"/>
                </a:solidFill>
              </a:rPr>
              <a:pPr eaLnBrk="1" hangingPunct="1"/>
              <a:t>2</a:t>
            </a:fld>
            <a:r>
              <a:rPr lang="en-US" altLang="zh-CN" b="0" dirty="0">
                <a:solidFill>
                  <a:srgbClr val="FF00FF"/>
                </a:solidFill>
              </a:rPr>
              <a:t>/28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6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6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6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6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6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6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000"/>
                            </p:stCondLst>
                            <p:childTnLst>
                              <p:par>
                                <p:cTn id="9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62" grpId="0" animBg="1"/>
      <p:bldP spid="6163" grpId="0" animBg="1"/>
      <p:bldP spid="6164" grpId="0" animBg="1"/>
      <p:bldP spid="6160" grpId="0" animBg="1"/>
      <p:bldP spid="6161" grpId="0" animBg="1"/>
      <p:bldP spid="6158" grpId="0" animBg="1"/>
      <p:bldP spid="6159" grpId="0" animBg="1"/>
      <p:bldP spid="25638" grpId="0" autoUpdateAnimBg="0"/>
      <p:bldP spid="21" grpId="0"/>
      <p:bldP spid="24" grpId="0" autoUpdateAnimBg="0"/>
      <p:bldP spid="25" grpId="0" autoUpdateAnimBg="0"/>
      <p:bldP spid="26" grpId="0" autoUpdateAnimBg="0"/>
      <p:bldP spid="27" grpId="0" autoUpdateAnimBg="0"/>
      <p:bldP spid="33" grpId="0"/>
      <p:bldP spid="2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2E3D85A8-2A72-411B-9381-1D1170F1A0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9563" y="2492400"/>
            <a:ext cx="1727200" cy="1079500"/>
          </a:xfrm>
          <a:prstGeom prst="rect">
            <a:avLst/>
          </a:prstGeom>
          <a:gradFill rotWithShape="1">
            <a:gsLst>
              <a:gs pos="0">
                <a:schemeClr val="accent2">
                  <a:gamma/>
                  <a:shade val="46275"/>
                  <a:invGamma/>
                </a:schemeClr>
              </a:gs>
              <a:gs pos="50000">
                <a:schemeClr val="accent2"/>
              </a:gs>
              <a:gs pos="100000">
                <a:schemeClr val="accent2">
                  <a:gamma/>
                  <a:shade val="46275"/>
                  <a:invGamma/>
                </a:schemeClr>
              </a:gs>
            </a:gsLst>
            <a:lin ang="27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7D8C96D7-01DC-4AB2-BE79-48D7AD70E5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916137"/>
            <a:ext cx="8353425" cy="4321175"/>
          </a:xfrm>
          <a:prstGeom prst="rect">
            <a:avLst/>
          </a:prstGeom>
          <a:gradFill rotWithShape="1">
            <a:gsLst>
              <a:gs pos="0">
                <a:srgbClr val="003366">
                  <a:alpha val="29999"/>
                </a:srgbClr>
              </a:gs>
              <a:gs pos="100000">
                <a:srgbClr val="000000">
                  <a:alpha val="7999"/>
                </a:srgbClr>
              </a:gs>
            </a:gsLst>
            <a:lin ang="18900000" scaled="1"/>
          </a:gradFill>
          <a:ln w="9525">
            <a:solidFill>
              <a:srgbClr val="000000">
                <a:alpha val="30980"/>
              </a:srgbClr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33796" name="Picture 4" descr="氢光谱实验3（底板）">
            <a:extLst>
              <a:ext uri="{FF2B5EF4-FFF2-40B4-BE49-F238E27FC236}">
                <a16:creationId xmlns:a16="http://schemas.microsoft.com/office/drawing/2014/main" id="{9C94D04A-70A3-4682-ACE2-6694C38C71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346585"/>
              </a:clrFrom>
              <a:clrTo>
                <a:srgbClr val="346585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25"/>
          <a:stretch>
            <a:fillRect/>
          </a:stretch>
        </p:blipFill>
        <p:spPr bwMode="auto">
          <a:xfrm>
            <a:off x="5076825" y="2132037"/>
            <a:ext cx="3382963" cy="273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797" name="Picture 5" descr="彩插1">
            <a:extLst>
              <a:ext uri="{FF2B5EF4-FFF2-40B4-BE49-F238E27FC236}">
                <a16:creationId xmlns:a16="http://schemas.microsoft.com/office/drawing/2014/main" id="{451EE024-B453-4E9F-9BED-A20AB90B6A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288" y="4954612"/>
            <a:ext cx="2376488" cy="62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2" name="Line 6">
            <a:extLst>
              <a:ext uri="{FF2B5EF4-FFF2-40B4-BE49-F238E27FC236}">
                <a16:creationId xmlns:a16="http://schemas.microsoft.com/office/drawing/2014/main" id="{CD5E2BA1-8E97-489E-93C9-2793E5090FB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60925" y="4381525"/>
            <a:ext cx="935038" cy="288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799" name="Text Box 7">
            <a:extLst>
              <a:ext uri="{FF2B5EF4-FFF2-40B4-BE49-F238E27FC236}">
                <a16:creationId xmlns:a16="http://schemas.microsoft.com/office/drawing/2014/main" id="{96415FA2-657E-431D-812A-6D046E3C23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8638" y="5678512"/>
            <a:ext cx="36464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chemeClr val="hlink"/>
                </a:solidFill>
                <a:ea typeface="华文中宋" panose="02010600040101010101" pitchFamily="2" charset="-122"/>
              </a:rPr>
              <a:t>记录氢原子光谱原理示意图</a:t>
            </a:r>
          </a:p>
        </p:txBody>
      </p:sp>
      <p:sp>
        <p:nvSpPr>
          <p:cNvPr id="33800" name="AutoShape 8">
            <a:extLst>
              <a:ext uri="{FF2B5EF4-FFF2-40B4-BE49-F238E27FC236}">
                <a16:creationId xmlns:a16="http://schemas.microsoft.com/office/drawing/2014/main" id="{685EDC64-F8AB-481E-8EDC-5FB81FD8EEFA}"/>
              </a:ext>
            </a:extLst>
          </p:cNvPr>
          <p:cNvSpPr>
            <a:spLocks noChangeArrowheads="1"/>
          </p:cNvSpPr>
          <p:nvPr/>
        </p:nvSpPr>
        <p:spPr bwMode="auto">
          <a:xfrm rot="20636500" flipV="1">
            <a:off x="4932363" y="3279800"/>
            <a:ext cx="925512" cy="579437"/>
          </a:xfrm>
          <a:prstGeom prst="triangle">
            <a:avLst>
              <a:gd name="adj" fmla="val 52222"/>
            </a:avLst>
          </a:prstGeom>
          <a:gradFill rotWithShape="1">
            <a:gsLst>
              <a:gs pos="0">
                <a:srgbClr val="00CCFF">
                  <a:alpha val="37999"/>
                </a:srgbClr>
              </a:gs>
              <a:gs pos="100000">
                <a:srgbClr val="005E76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1993" name="Line 9">
            <a:extLst>
              <a:ext uri="{FF2B5EF4-FFF2-40B4-BE49-F238E27FC236}">
                <a16:creationId xmlns:a16="http://schemas.microsoft.com/office/drawing/2014/main" id="{83F70196-485F-4E35-90E1-C9FA46E7106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59338" y="3140100"/>
            <a:ext cx="935037" cy="288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02" name="AutoShape 10">
            <a:extLst>
              <a:ext uri="{FF2B5EF4-FFF2-40B4-BE49-F238E27FC236}">
                <a16:creationId xmlns:a16="http://schemas.microsoft.com/office/drawing/2014/main" id="{2839693C-BF48-42D1-B877-1805E7B0B55A}"/>
              </a:ext>
            </a:extLst>
          </p:cNvPr>
          <p:cNvSpPr>
            <a:spLocks noChangeArrowheads="1"/>
          </p:cNvSpPr>
          <p:nvPr/>
        </p:nvSpPr>
        <p:spPr bwMode="auto">
          <a:xfrm rot="16200000" flipH="1">
            <a:off x="4679157" y="3967981"/>
            <a:ext cx="1944687" cy="288925"/>
          </a:xfrm>
          <a:prstGeom prst="parallelogram">
            <a:avLst>
              <a:gd name="adj" fmla="val 241747"/>
            </a:avLst>
          </a:prstGeom>
          <a:gradFill rotWithShape="1">
            <a:gsLst>
              <a:gs pos="0">
                <a:srgbClr val="00CCFF">
                  <a:alpha val="39000"/>
                </a:srgbClr>
              </a:gs>
              <a:gs pos="50000">
                <a:srgbClr val="00CCFF">
                  <a:gamma/>
                  <a:shade val="46275"/>
                  <a:invGamma/>
                  <a:alpha val="35001"/>
                </a:srgbClr>
              </a:gs>
              <a:gs pos="100000">
                <a:srgbClr val="00CCFF">
                  <a:alpha val="39000"/>
                </a:srgbClr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33803" name="AutoShape 11">
            <a:extLst>
              <a:ext uri="{FF2B5EF4-FFF2-40B4-BE49-F238E27FC236}">
                <a16:creationId xmlns:a16="http://schemas.microsoft.com/office/drawing/2014/main" id="{53A80623-299F-4C20-9C2B-E3929AA42CA8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352925" y="3932262"/>
            <a:ext cx="1657350" cy="647700"/>
          </a:xfrm>
          <a:prstGeom prst="parallelogram">
            <a:avLst>
              <a:gd name="adj" fmla="val 64456"/>
            </a:avLst>
          </a:prstGeom>
          <a:gradFill rotWithShape="1">
            <a:gsLst>
              <a:gs pos="0">
                <a:srgbClr val="005E76">
                  <a:alpha val="37999"/>
                </a:srgbClr>
              </a:gs>
              <a:gs pos="100000">
                <a:srgbClr val="00CCFF">
                  <a:alpha val="20000"/>
                </a:srgbClr>
              </a:gs>
            </a:gsLst>
            <a:lin ang="27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3804" name="Rectangle 12">
            <a:extLst>
              <a:ext uri="{FF2B5EF4-FFF2-40B4-BE49-F238E27FC236}">
                <a16:creationId xmlns:a16="http://schemas.microsoft.com/office/drawing/2014/main" id="{24E2FC97-0BA5-4614-9876-1B0BE8EDE6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5725" y="3895750"/>
            <a:ext cx="1452563" cy="647700"/>
          </a:xfrm>
          <a:prstGeom prst="rect">
            <a:avLst/>
          </a:prstGeom>
          <a:gradFill rotWithShape="1">
            <a:gsLst>
              <a:gs pos="0">
                <a:srgbClr val="76762F">
                  <a:alpha val="53000"/>
                </a:srgbClr>
              </a:gs>
              <a:gs pos="100000">
                <a:srgbClr val="FFFF66">
                  <a:alpha val="53000"/>
                </a:srgbClr>
              </a:gs>
            </a:gsLst>
            <a:lin ang="27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3805" name="AutoShape 13">
            <a:extLst>
              <a:ext uri="{FF2B5EF4-FFF2-40B4-BE49-F238E27FC236}">
                <a16:creationId xmlns:a16="http://schemas.microsoft.com/office/drawing/2014/main" id="{71BBD3C2-D8AF-4AC2-B2EC-424981E1D52D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591594" y="3752081"/>
            <a:ext cx="2449513" cy="936625"/>
          </a:xfrm>
          <a:prstGeom prst="parallelogram">
            <a:avLst>
              <a:gd name="adj" fmla="val 66435"/>
            </a:avLst>
          </a:prstGeom>
          <a:gradFill rotWithShape="1">
            <a:gsLst>
              <a:gs pos="0">
                <a:srgbClr val="008080">
                  <a:gamma/>
                  <a:shade val="46275"/>
                  <a:invGamma/>
                  <a:alpha val="88000"/>
                </a:srgbClr>
              </a:gs>
              <a:gs pos="50000">
                <a:srgbClr val="008080">
                  <a:alpha val="87000"/>
                </a:srgbClr>
              </a:gs>
              <a:gs pos="100000">
                <a:srgbClr val="008080">
                  <a:gamma/>
                  <a:shade val="46275"/>
                  <a:invGamma/>
                  <a:alpha val="88000"/>
                </a:srgbClr>
              </a:gs>
            </a:gsLst>
            <a:lin ang="189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33806" name="Rectangle 14">
            <a:extLst>
              <a:ext uri="{FF2B5EF4-FFF2-40B4-BE49-F238E27FC236}">
                <a16:creationId xmlns:a16="http://schemas.microsoft.com/office/drawing/2014/main" id="{FE7905C6-7BE0-4DB0-ADC0-1FF67CD273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1413" y="3644925"/>
            <a:ext cx="1368425" cy="1079500"/>
          </a:xfrm>
          <a:prstGeom prst="rect">
            <a:avLst/>
          </a:prstGeom>
          <a:gradFill rotWithShape="1">
            <a:gsLst>
              <a:gs pos="0">
                <a:srgbClr val="76762F">
                  <a:alpha val="67998"/>
                </a:srgbClr>
              </a:gs>
              <a:gs pos="100000">
                <a:srgbClr val="FFFF66">
                  <a:alpha val="51999"/>
                </a:srgbClr>
              </a:gs>
            </a:gsLst>
            <a:lin ang="27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3807" name="Oval 15">
            <a:extLst>
              <a:ext uri="{FF2B5EF4-FFF2-40B4-BE49-F238E27FC236}">
                <a16:creationId xmlns:a16="http://schemas.microsoft.com/office/drawing/2014/main" id="{9B370152-7956-4AF4-89CD-6AEDEED002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7425" y="3644925"/>
            <a:ext cx="576263" cy="1079500"/>
          </a:xfrm>
          <a:prstGeom prst="ellipse">
            <a:avLst/>
          </a:prstGeom>
          <a:gradFill rotWithShape="1">
            <a:gsLst>
              <a:gs pos="0">
                <a:srgbClr val="FFFF66">
                  <a:alpha val="53000"/>
                </a:srgbClr>
              </a:gs>
              <a:gs pos="100000">
                <a:srgbClr val="76762F"/>
              </a:gs>
            </a:gsLst>
            <a:path path="shape">
              <a:fillToRect l="50000" t="50000" r="50000" b="50000"/>
            </a:path>
          </a:gradFill>
          <a:ln w="3175">
            <a:solidFill>
              <a:srgbClr val="000000">
                <a:alpha val="49019"/>
              </a:srgbClr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2" name="Group 16">
            <a:extLst>
              <a:ext uri="{FF2B5EF4-FFF2-40B4-BE49-F238E27FC236}">
                <a16:creationId xmlns:a16="http://schemas.microsoft.com/office/drawing/2014/main" id="{90A4ABC0-78D8-4C2C-AD3F-07DB781AE472}"/>
              </a:ext>
            </a:extLst>
          </p:cNvPr>
          <p:cNvGrpSpPr>
            <a:grpSpLocks/>
          </p:cNvGrpSpPr>
          <p:nvPr/>
        </p:nvGrpSpPr>
        <p:grpSpPr bwMode="auto">
          <a:xfrm>
            <a:off x="5341938" y="3776687"/>
            <a:ext cx="382587" cy="936625"/>
            <a:chOff x="3696" y="2931"/>
            <a:chExt cx="241" cy="590"/>
          </a:xfrm>
        </p:grpSpPr>
        <p:sp>
          <p:nvSpPr>
            <p:cNvPr id="14386" name="AutoShape 17">
              <a:extLst>
                <a:ext uri="{FF2B5EF4-FFF2-40B4-BE49-F238E27FC236}">
                  <a16:creationId xmlns:a16="http://schemas.microsoft.com/office/drawing/2014/main" id="{07C14143-C007-4D4B-8890-31E67116516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0636500" flipV="1">
              <a:off x="3696" y="2976"/>
              <a:ext cx="241" cy="129"/>
            </a:xfrm>
            <a:prstGeom prst="triangle">
              <a:avLst>
                <a:gd name="adj" fmla="val 52222"/>
              </a:avLst>
            </a:prstGeom>
            <a:gradFill rotWithShape="1">
              <a:gsLst>
                <a:gs pos="0">
                  <a:srgbClr val="76762F">
                    <a:alpha val="37999"/>
                  </a:srgbClr>
                </a:gs>
                <a:gs pos="50000">
                  <a:srgbClr val="FFFF66">
                    <a:alpha val="37999"/>
                  </a:srgbClr>
                </a:gs>
                <a:gs pos="100000">
                  <a:srgbClr val="76762F">
                    <a:alpha val="37999"/>
                  </a:srgbClr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4387" name="AutoShape 18">
              <a:extLst>
                <a:ext uri="{FF2B5EF4-FFF2-40B4-BE49-F238E27FC236}">
                  <a16:creationId xmlns:a16="http://schemas.microsoft.com/office/drawing/2014/main" id="{83045AEB-43B8-4A8F-8908-61ADC6CC748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514" y="3201"/>
              <a:ext cx="502" cy="137"/>
            </a:xfrm>
            <a:prstGeom prst="parallelogram">
              <a:avLst>
                <a:gd name="adj" fmla="val 67144"/>
              </a:avLst>
            </a:prstGeom>
            <a:gradFill rotWithShape="1">
              <a:gsLst>
                <a:gs pos="0">
                  <a:srgbClr val="76762F">
                    <a:alpha val="37999"/>
                  </a:srgbClr>
                </a:gs>
                <a:gs pos="50000">
                  <a:srgbClr val="FFFF66">
                    <a:alpha val="37999"/>
                  </a:srgbClr>
                </a:gs>
                <a:gs pos="100000">
                  <a:srgbClr val="76762F">
                    <a:alpha val="37999"/>
                  </a:srgbClr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4388" name="AutoShape 19">
              <a:extLst>
                <a:ext uri="{FF2B5EF4-FFF2-40B4-BE49-F238E27FC236}">
                  <a16:creationId xmlns:a16="http://schemas.microsoft.com/office/drawing/2014/main" id="{49BC1125-7929-4443-AED9-36A84CC7DD3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 flipH="1">
              <a:off x="3583" y="3181"/>
              <a:ext cx="589" cy="90"/>
            </a:xfrm>
            <a:prstGeom prst="parallelogram">
              <a:avLst>
                <a:gd name="adj" fmla="val 202211"/>
              </a:avLst>
            </a:prstGeom>
            <a:gradFill rotWithShape="1">
              <a:gsLst>
                <a:gs pos="0">
                  <a:srgbClr val="76762F">
                    <a:alpha val="37999"/>
                  </a:srgbClr>
                </a:gs>
                <a:gs pos="50000">
                  <a:srgbClr val="FFFF66">
                    <a:alpha val="37999"/>
                  </a:srgbClr>
                </a:gs>
                <a:gs pos="100000">
                  <a:srgbClr val="76762F">
                    <a:alpha val="37999"/>
                  </a:srgbClr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3" name="Group 20">
            <a:extLst>
              <a:ext uri="{FF2B5EF4-FFF2-40B4-BE49-F238E27FC236}">
                <a16:creationId xmlns:a16="http://schemas.microsoft.com/office/drawing/2014/main" id="{D8CF1DC1-7062-4FA3-BE45-2381649F4342}"/>
              </a:ext>
            </a:extLst>
          </p:cNvPr>
          <p:cNvGrpSpPr>
            <a:grpSpLocks/>
          </p:cNvGrpSpPr>
          <p:nvPr/>
        </p:nvGrpSpPr>
        <p:grpSpPr bwMode="auto">
          <a:xfrm>
            <a:off x="1041400" y="2276500"/>
            <a:ext cx="936625" cy="3744912"/>
            <a:chOff x="476" y="1389"/>
            <a:chExt cx="590" cy="2359"/>
          </a:xfrm>
        </p:grpSpPr>
        <p:grpSp>
          <p:nvGrpSpPr>
            <p:cNvPr id="14369" name="Group 21">
              <a:extLst>
                <a:ext uri="{FF2B5EF4-FFF2-40B4-BE49-F238E27FC236}">
                  <a16:creationId xmlns:a16="http://schemas.microsoft.com/office/drawing/2014/main" id="{737C8D30-3293-4109-B832-85A1FD47FC6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30" y="1707"/>
              <a:ext cx="136" cy="1723"/>
              <a:chOff x="975" y="1570"/>
              <a:chExt cx="136" cy="1723"/>
            </a:xfrm>
          </p:grpSpPr>
          <p:grpSp>
            <p:nvGrpSpPr>
              <p:cNvPr id="14378" name="Group 22">
                <a:extLst>
                  <a:ext uri="{FF2B5EF4-FFF2-40B4-BE49-F238E27FC236}">
                    <a16:creationId xmlns:a16="http://schemas.microsoft.com/office/drawing/2014/main" id="{4F2CDEAC-EB87-470F-9807-D6E13A7C21E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75" y="1570"/>
                <a:ext cx="136" cy="1723"/>
                <a:chOff x="748" y="1616"/>
                <a:chExt cx="182" cy="1723"/>
              </a:xfrm>
            </p:grpSpPr>
            <p:sp>
              <p:nvSpPr>
                <p:cNvPr id="14381" name="AutoShape 23">
                  <a:extLst>
                    <a:ext uri="{FF2B5EF4-FFF2-40B4-BE49-F238E27FC236}">
                      <a16:creationId xmlns:a16="http://schemas.microsoft.com/office/drawing/2014/main" id="{9F73711A-A6AF-49D9-BC4E-61AF994CD9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48" y="2795"/>
                  <a:ext cx="182" cy="54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FFFF00">
                        <a:alpha val="85001"/>
                      </a:srgbClr>
                    </a:gs>
                    <a:gs pos="100000">
                      <a:srgbClr val="FF6600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4382" name="AutoShape 24">
                  <a:extLst>
                    <a:ext uri="{FF2B5EF4-FFF2-40B4-BE49-F238E27FC236}">
                      <a16:creationId xmlns:a16="http://schemas.microsoft.com/office/drawing/2014/main" id="{1598DC2B-7CF9-41E2-9E36-B1D3280DA53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48" y="1616"/>
                  <a:ext cx="182" cy="54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FFFF00">
                        <a:alpha val="85001"/>
                      </a:srgbClr>
                    </a:gs>
                    <a:gs pos="100000">
                      <a:srgbClr val="FF6600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4383" name="Rectangle 25">
                  <a:extLst>
                    <a:ext uri="{FF2B5EF4-FFF2-40B4-BE49-F238E27FC236}">
                      <a16:creationId xmlns:a16="http://schemas.microsoft.com/office/drawing/2014/main" id="{F551FDE8-AB4B-4BE0-8774-CD50C84E5E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93" y="2115"/>
                  <a:ext cx="91" cy="726"/>
                </a:xfrm>
                <a:prstGeom prst="rect">
                  <a:avLst/>
                </a:prstGeom>
                <a:gradFill rotWithShape="1">
                  <a:gsLst>
                    <a:gs pos="0">
                      <a:srgbClr val="FFFF66">
                        <a:alpha val="85001"/>
                      </a:srgbClr>
                    </a:gs>
                    <a:gs pos="100000">
                      <a:srgbClr val="FF660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SimSun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4384" name="Line 26">
                  <a:extLst>
                    <a:ext uri="{FF2B5EF4-FFF2-40B4-BE49-F238E27FC236}">
                      <a16:creationId xmlns:a16="http://schemas.microsoft.com/office/drawing/2014/main" id="{7F82E2EF-C955-4611-B6AC-A7938E172D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93" y="2160"/>
                  <a:ext cx="0" cy="63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385" name="Line 27">
                  <a:extLst>
                    <a:ext uri="{FF2B5EF4-FFF2-40B4-BE49-F238E27FC236}">
                      <a16:creationId xmlns:a16="http://schemas.microsoft.com/office/drawing/2014/main" id="{DBCD049F-9D89-44F5-8AED-0556C1DE349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84" y="2160"/>
                  <a:ext cx="0" cy="63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4379" name="Line 28">
                <a:extLst>
                  <a:ext uri="{FF2B5EF4-FFF2-40B4-BE49-F238E27FC236}">
                    <a16:creationId xmlns:a16="http://schemas.microsoft.com/office/drawing/2014/main" id="{97C8BE25-4285-43A3-8F54-CFF5CE2105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9" y="1661"/>
                <a:ext cx="69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80" name="Line 29">
                <a:extLst>
                  <a:ext uri="{FF2B5EF4-FFF2-40B4-BE49-F238E27FC236}">
                    <a16:creationId xmlns:a16="http://schemas.microsoft.com/office/drawing/2014/main" id="{28A9DCC4-08C1-40B1-8CC8-A405E7EFF5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9" y="3203"/>
                <a:ext cx="69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4370" name="Line 30">
              <a:extLst>
                <a:ext uri="{FF2B5EF4-FFF2-40B4-BE49-F238E27FC236}">
                  <a16:creationId xmlns:a16="http://schemas.microsoft.com/office/drawing/2014/main" id="{B5D1EA86-4CF6-4859-B4AD-417BD1F464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98" y="1389"/>
              <a:ext cx="0" cy="408"/>
            </a:xfrm>
            <a:prstGeom prst="line">
              <a:avLst/>
            </a:prstGeom>
            <a:noFill/>
            <a:ln w="9525">
              <a:solidFill>
                <a:srgbClr val="00CC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71" name="Line 31">
              <a:extLst>
                <a:ext uri="{FF2B5EF4-FFF2-40B4-BE49-F238E27FC236}">
                  <a16:creationId xmlns:a16="http://schemas.microsoft.com/office/drawing/2014/main" id="{1864E680-644B-4856-B7B1-9E9A45E7C6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98" y="3339"/>
              <a:ext cx="0" cy="408"/>
            </a:xfrm>
            <a:prstGeom prst="line">
              <a:avLst/>
            </a:prstGeom>
            <a:noFill/>
            <a:ln w="9525">
              <a:solidFill>
                <a:srgbClr val="00CC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72" name="Line 32">
              <a:extLst>
                <a:ext uri="{FF2B5EF4-FFF2-40B4-BE49-F238E27FC236}">
                  <a16:creationId xmlns:a16="http://schemas.microsoft.com/office/drawing/2014/main" id="{56CFA757-DF35-4C9E-9170-905A0311B2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9" y="1389"/>
              <a:ext cx="499" cy="0"/>
            </a:xfrm>
            <a:prstGeom prst="line">
              <a:avLst/>
            </a:prstGeom>
            <a:noFill/>
            <a:ln w="9525">
              <a:solidFill>
                <a:srgbClr val="00CC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73" name="Line 33">
              <a:extLst>
                <a:ext uri="{FF2B5EF4-FFF2-40B4-BE49-F238E27FC236}">
                  <a16:creationId xmlns:a16="http://schemas.microsoft.com/office/drawing/2014/main" id="{7B2CA12A-8EBB-4003-B6DF-A0BBB34111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9" y="3748"/>
              <a:ext cx="499" cy="0"/>
            </a:xfrm>
            <a:prstGeom prst="line">
              <a:avLst/>
            </a:prstGeom>
            <a:noFill/>
            <a:ln w="9525">
              <a:solidFill>
                <a:srgbClr val="00CC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74" name="Line 34">
              <a:extLst>
                <a:ext uri="{FF2B5EF4-FFF2-40B4-BE49-F238E27FC236}">
                  <a16:creationId xmlns:a16="http://schemas.microsoft.com/office/drawing/2014/main" id="{5E64C155-DFC9-46AE-BEDA-26C81D9D1E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" y="1389"/>
              <a:ext cx="0" cy="907"/>
            </a:xfrm>
            <a:prstGeom prst="line">
              <a:avLst/>
            </a:prstGeom>
            <a:noFill/>
            <a:ln w="9525">
              <a:solidFill>
                <a:srgbClr val="00CC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75" name="Line 35">
              <a:extLst>
                <a:ext uri="{FF2B5EF4-FFF2-40B4-BE49-F238E27FC236}">
                  <a16:creationId xmlns:a16="http://schemas.microsoft.com/office/drawing/2014/main" id="{9C562B81-4FF4-4C95-82E5-0A2E4B1141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" y="2795"/>
              <a:ext cx="0" cy="953"/>
            </a:xfrm>
            <a:prstGeom prst="line">
              <a:avLst/>
            </a:prstGeom>
            <a:noFill/>
            <a:ln w="9525">
              <a:solidFill>
                <a:srgbClr val="00CC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76" name="Oval 36">
              <a:extLst>
                <a:ext uri="{FF2B5EF4-FFF2-40B4-BE49-F238E27FC236}">
                  <a16:creationId xmlns:a16="http://schemas.microsoft.com/office/drawing/2014/main" id="{E11D95C3-2047-4061-BAD6-BE3360358F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" y="2296"/>
              <a:ext cx="45" cy="45"/>
            </a:xfrm>
            <a:prstGeom prst="ellipse">
              <a:avLst/>
            </a:prstGeom>
            <a:noFill/>
            <a:ln w="9525">
              <a:solidFill>
                <a:srgbClr val="00FF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4377" name="Oval 37">
              <a:extLst>
                <a:ext uri="{FF2B5EF4-FFF2-40B4-BE49-F238E27FC236}">
                  <a16:creationId xmlns:a16="http://schemas.microsoft.com/office/drawing/2014/main" id="{F2F158A5-6F32-40C6-8416-F4FB3CB4E1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" y="2750"/>
              <a:ext cx="45" cy="45"/>
            </a:xfrm>
            <a:prstGeom prst="ellipse">
              <a:avLst/>
            </a:prstGeom>
            <a:noFill/>
            <a:ln w="9525">
              <a:solidFill>
                <a:srgbClr val="00FF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33830" name="Text Box 38">
            <a:extLst>
              <a:ext uri="{FF2B5EF4-FFF2-40B4-BE49-F238E27FC236}">
                <a16:creationId xmlns:a16="http://schemas.microsoft.com/office/drawing/2014/main" id="{7602D98E-6405-41AF-8E0F-FCD5056248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1050" y="2046312"/>
            <a:ext cx="457200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0">
                <a:solidFill>
                  <a:srgbClr val="99FFCC"/>
                </a:solidFill>
                <a:latin typeface="楷体_GB2312" pitchFamily="49" charset="-122"/>
                <a:ea typeface="楷体_GB2312" pitchFamily="49" charset="-122"/>
              </a:rPr>
              <a:t>氢放电管</a:t>
            </a:r>
          </a:p>
        </p:txBody>
      </p:sp>
      <p:sp>
        <p:nvSpPr>
          <p:cNvPr id="33831" name="Text Box 39">
            <a:extLst>
              <a:ext uri="{FF2B5EF4-FFF2-40B4-BE49-F238E27FC236}">
                <a16:creationId xmlns:a16="http://schemas.microsoft.com/office/drawing/2014/main" id="{978F9133-DFAB-4E2A-9580-4A49D9A740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775" y="3933850"/>
            <a:ext cx="9509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0">
                <a:solidFill>
                  <a:srgbClr val="99FFCC"/>
                </a:solidFill>
              </a:rPr>
              <a:t>2~3 kV</a:t>
            </a:r>
          </a:p>
        </p:txBody>
      </p:sp>
      <p:sp>
        <p:nvSpPr>
          <p:cNvPr id="33832" name="Text Box 40">
            <a:extLst>
              <a:ext uri="{FF2B5EF4-FFF2-40B4-BE49-F238E27FC236}">
                <a16:creationId xmlns:a16="http://schemas.microsoft.com/office/drawing/2014/main" id="{5B79E548-3AF9-42C6-96A5-F0D8592B19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2527325"/>
            <a:ext cx="692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0">
                <a:solidFill>
                  <a:srgbClr val="99FFCC"/>
                </a:solidFill>
                <a:latin typeface="楷体_GB2312" pitchFamily="49" charset="-122"/>
                <a:ea typeface="楷体_GB2312" pitchFamily="49" charset="-122"/>
              </a:rPr>
              <a:t>光阑</a:t>
            </a:r>
          </a:p>
        </p:txBody>
      </p:sp>
      <p:sp>
        <p:nvSpPr>
          <p:cNvPr id="33833" name="Text Box 41">
            <a:extLst>
              <a:ext uri="{FF2B5EF4-FFF2-40B4-BE49-F238E27FC236}">
                <a16:creationId xmlns:a16="http://schemas.microsoft.com/office/drawing/2014/main" id="{75395E6D-416D-4284-9EC3-47459858ED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2788" y="2039962"/>
            <a:ext cx="9540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0">
                <a:solidFill>
                  <a:srgbClr val="99FFCC"/>
                </a:solidFill>
                <a:latin typeface="楷体_GB2312" pitchFamily="49" charset="-122"/>
                <a:ea typeface="楷体_GB2312" pitchFamily="49" charset="-122"/>
              </a:rPr>
              <a:t>接收屏</a:t>
            </a:r>
          </a:p>
        </p:txBody>
      </p:sp>
      <p:sp>
        <p:nvSpPr>
          <p:cNvPr id="33834" name="Text Box 42">
            <a:extLst>
              <a:ext uri="{FF2B5EF4-FFF2-40B4-BE49-F238E27FC236}">
                <a16:creationId xmlns:a16="http://schemas.microsoft.com/office/drawing/2014/main" id="{FB9D062B-6B39-4346-B6AD-FE82822455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3438" y="2349525"/>
            <a:ext cx="14541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0">
                <a:solidFill>
                  <a:srgbClr val="99FFCC"/>
                </a:solidFill>
                <a:latin typeface="楷体_GB2312" pitchFamily="49" charset="-122"/>
                <a:ea typeface="楷体_GB2312" pitchFamily="49" charset="-122"/>
              </a:rPr>
              <a:t>  三棱镜</a:t>
            </a:r>
          </a:p>
          <a:p>
            <a:pPr eaLnBrk="1" hangingPunct="1"/>
            <a:r>
              <a:rPr lang="zh-CN" altLang="en-US" sz="2000" b="0">
                <a:solidFill>
                  <a:srgbClr val="99FFCC"/>
                </a:solidFill>
                <a:latin typeface="楷体_GB2312" pitchFamily="49" charset="-122"/>
                <a:ea typeface="楷体_GB2312" pitchFamily="49" charset="-122"/>
              </a:rPr>
              <a:t>（或光栅）</a:t>
            </a:r>
          </a:p>
        </p:txBody>
      </p:sp>
      <p:sp>
        <p:nvSpPr>
          <p:cNvPr id="42011" name="AutoShape 43">
            <a:extLst>
              <a:ext uri="{FF2B5EF4-FFF2-40B4-BE49-F238E27FC236}">
                <a16:creationId xmlns:a16="http://schemas.microsoft.com/office/drawing/2014/main" id="{E94C7BA1-7D60-4329-82F3-31D05FD250F0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455988" y="4184675"/>
            <a:ext cx="719137" cy="71437"/>
          </a:xfrm>
          <a:prstGeom prst="parallelogram">
            <a:avLst>
              <a:gd name="adj" fmla="val 56952"/>
            </a:avLst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3836" name="Text Box 44">
            <a:extLst>
              <a:ext uri="{FF2B5EF4-FFF2-40B4-BE49-F238E27FC236}">
                <a16:creationId xmlns:a16="http://schemas.microsoft.com/office/drawing/2014/main" id="{60AEB0C1-AAF5-493F-A058-F9D698C7E0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8175" y="3716362"/>
            <a:ext cx="523875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0">
                <a:solidFill>
                  <a:srgbClr val="99FFCC"/>
                </a:solidFill>
                <a:ea typeface="楷体_GB2312" pitchFamily="49" charset="-122"/>
              </a:rPr>
              <a:t>光</a:t>
            </a:r>
          </a:p>
          <a:p>
            <a:pPr eaLnBrk="1" hangingPunct="1"/>
            <a:r>
              <a:rPr lang="zh-CN" altLang="en-US" sz="2000" b="0">
                <a:solidFill>
                  <a:srgbClr val="99FFCC"/>
                </a:solidFill>
                <a:ea typeface="楷体_GB2312" pitchFamily="49" charset="-122"/>
              </a:rPr>
              <a:t>   源</a:t>
            </a:r>
          </a:p>
        </p:txBody>
      </p:sp>
      <p:pic>
        <p:nvPicPr>
          <p:cNvPr id="60430" name="Picture 14" descr="sun6[1]">
            <a:extLst>
              <a:ext uri="{FF2B5EF4-FFF2-40B4-BE49-F238E27FC236}">
                <a16:creationId xmlns:a16="http://schemas.microsoft.com/office/drawing/2014/main" id="{513E6F26-2296-459E-93AE-C5D347A4085D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3570312"/>
            <a:ext cx="1141413" cy="98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66" name="Rectangle 46">
            <a:extLst>
              <a:ext uri="{FF2B5EF4-FFF2-40B4-BE49-F238E27FC236}">
                <a16:creationId xmlns:a16="http://schemas.microsoft.com/office/drawing/2014/main" id="{81CF40E8-6089-44AC-A6BE-A2FA3A42D7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209" y="339726"/>
            <a:ext cx="7929563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algn="ctr"/>
            <a:r>
              <a:rPr lang="en-US" altLang="zh-CN" sz="3200" dirty="0">
                <a:solidFill>
                  <a:srgbClr val="00FF00"/>
                </a:solidFill>
                <a:ea typeface="黑体" panose="02010609060101010101" pitchFamily="49" charset="-122"/>
              </a:rPr>
              <a:t>§16.4</a:t>
            </a:r>
            <a:r>
              <a:rPr lang="en-US" altLang="zh-CN" sz="3200" dirty="0">
                <a:solidFill>
                  <a:srgbClr val="00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3200" dirty="0">
                <a:solidFill>
                  <a:srgbClr val="00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氢原子光谱  玻尔的氢原子理论</a:t>
            </a:r>
            <a:endParaRPr lang="zh-CN" altLang="en-US" sz="3200" b="0" dirty="0">
              <a:solidFill>
                <a:srgbClr val="00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0" name="Rectangle 47">
            <a:extLst>
              <a:ext uri="{FF2B5EF4-FFF2-40B4-BE49-F238E27FC236}">
                <a16:creationId xmlns:a16="http://schemas.microsoft.com/office/drawing/2014/main" id="{EE0D14ED-660F-4E95-8782-95793D0561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873" y="1108284"/>
            <a:ext cx="6647974" cy="45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bIns="0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氢原子光谱为什么是一些</a:t>
            </a:r>
            <a:r>
              <a:rPr lang="zh-CN" altLang="en-US" dirty="0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分立</a:t>
            </a:r>
            <a:r>
              <a:rPr lang="zh-CN" altLang="en-US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的、</a:t>
            </a:r>
            <a:r>
              <a:rPr lang="zh-CN" altLang="en-US" dirty="0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线状</a:t>
            </a:r>
            <a:r>
              <a:rPr lang="zh-CN" altLang="en-US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的谱线？</a:t>
            </a:r>
          </a:p>
        </p:txBody>
      </p:sp>
      <p:sp>
        <p:nvSpPr>
          <p:cNvPr id="51" name="灯片编号占位符 1">
            <a:extLst>
              <a:ext uri="{FF2B5EF4-FFF2-40B4-BE49-F238E27FC236}">
                <a16:creationId xmlns:a16="http://schemas.microsoft.com/office/drawing/2014/main" id="{16074FEA-CBFA-48E1-9FE8-DAB586180821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/>
            <a:fld id="{D576E691-5116-4FBA-9B84-E9D18BAAAC14}" type="slidenum">
              <a:rPr lang="en-US" altLang="zh-CN" b="0" smtClean="0">
                <a:solidFill>
                  <a:srgbClr val="FF00FF"/>
                </a:solidFill>
              </a:rPr>
              <a:pPr eaLnBrk="1" hangingPunct="1"/>
              <a:t>3</a:t>
            </a:fld>
            <a:r>
              <a:rPr lang="en-US" altLang="zh-CN" b="0" dirty="0">
                <a:solidFill>
                  <a:srgbClr val="FF00FF"/>
                </a:solidFill>
              </a:rPr>
              <a:t>/28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3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3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60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3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42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1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3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33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33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33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3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33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33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24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1000"/>
                                        <p:tgtEl>
                                          <p:spTgt spid="33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33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1000"/>
                                        <p:tgtEl>
                                          <p:spTgt spid="33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1000"/>
                                        <p:tgtEl>
                                          <p:spTgt spid="33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4" dur="500"/>
                                        <p:tgtEl>
                                          <p:spTgt spid="338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1000"/>
                                        <p:tgtEl>
                                          <p:spTgt spid="33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1000"/>
                                        <p:tgtEl>
                                          <p:spTgt spid="33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4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92" dur="500"/>
                                        <p:tgtEl>
                                          <p:spTgt spid="33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4" grpId="0" animBg="1"/>
      <p:bldP spid="33795" grpId="0" animBg="1"/>
      <p:bldP spid="33799" grpId="0" autoUpdateAnimBg="0"/>
      <p:bldP spid="33800" grpId="0" animBg="1"/>
      <p:bldP spid="33803" grpId="0" animBg="1"/>
      <p:bldP spid="33804" grpId="0" animBg="1"/>
      <p:bldP spid="33806" grpId="0" animBg="1"/>
      <p:bldP spid="33807" grpId="0" animBg="1"/>
      <p:bldP spid="33830" grpId="0"/>
      <p:bldP spid="33831" grpId="0"/>
      <p:bldP spid="33832" grpId="0"/>
      <p:bldP spid="33833" grpId="0"/>
      <p:bldP spid="33834" grpId="0"/>
      <p:bldP spid="42011" grpId="0" animBg="1"/>
      <p:bldP spid="33836" grpId="0"/>
      <p:bldP spid="33836" grpId="1"/>
      <p:bldP spid="5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842" name="Object 2">
            <a:extLst>
              <a:ext uri="{FF2B5EF4-FFF2-40B4-BE49-F238E27FC236}">
                <a16:creationId xmlns:a16="http://schemas.microsoft.com/office/drawing/2014/main" id="{96F79F53-261F-4A94-99F6-4D004802A7B4}"/>
              </a:ext>
            </a:extLst>
          </p:cNvPr>
          <p:cNvGraphicFramePr>
            <a:graphicFrameLocks/>
          </p:cNvGraphicFramePr>
          <p:nvPr/>
        </p:nvGraphicFramePr>
        <p:xfrm>
          <a:off x="1692275" y="4643438"/>
          <a:ext cx="2986088" cy="750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4156" name="Equation" r:id="rId4" imgW="2943206" imgH="790507" progId="Equation.3">
                  <p:embed/>
                </p:oleObj>
              </mc:Choice>
              <mc:Fallback>
                <p:oleObj name="Equation" r:id="rId4" imgW="2943206" imgH="790507" progId="Equation.3">
                  <p:embed/>
                  <p:pic>
                    <p:nvPicPr>
                      <p:cNvPr id="35842" name="Object 2">
                        <a:extLst>
                          <a:ext uri="{FF2B5EF4-FFF2-40B4-BE49-F238E27FC236}">
                            <a16:creationId xmlns:a16="http://schemas.microsoft.com/office/drawing/2014/main" id="{96F79F53-261F-4A94-99F6-4D004802A7B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4643438"/>
                        <a:ext cx="2986088" cy="750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3" name="Rectangle 3">
            <a:extLst>
              <a:ext uri="{FF2B5EF4-FFF2-40B4-BE49-F238E27FC236}">
                <a16:creationId xmlns:a16="http://schemas.microsoft.com/office/drawing/2014/main" id="{93F38B09-3EEF-4392-9395-C1E5D9BF71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1563" y="5451475"/>
            <a:ext cx="4038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氢光谱的里德伯常量</a:t>
            </a:r>
            <a:r>
              <a:rPr lang="zh-CN" altLang="en-US" b="0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</a:p>
        </p:txBody>
      </p:sp>
      <p:graphicFrame>
        <p:nvGraphicFramePr>
          <p:cNvPr id="35844" name="Object 4">
            <a:extLst>
              <a:ext uri="{FF2B5EF4-FFF2-40B4-BE49-F238E27FC236}">
                <a16:creationId xmlns:a16="http://schemas.microsoft.com/office/drawing/2014/main" id="{901F0E15-D23D-4ED9-9B03-34159721386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40200" y="5445125"/>
          <a:ext cx="3448050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4157" name="Equation" r:id="rId6" imgW="3914794" imgH="428625" progId="Equation.3">
                  <p:embed/>
                </p:oleObj>
              </mc:Choice>
              <mc:Fallback>
                <p:oleObj name="Equation" r:id="rId6" imgW="3914794" imgH="428625" progId="Equation.3">
                  <p:embed/>
                  <p:pic>
                    <p:nvPicPr>
                      <p:cNvPr id="35844" name="Object 4">
                        <a:extLst>
                          <a:ext uri="{FF2B5EF4-FFF2-40B4-BE49-F238E27FC236}">
                            <a16:creationId xmlns:a16="http://schemas.microsoft.com/office/drawing/2014/main" id="{901F0E15-D23D-4ED9-9B03-34159721386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0200" y="5445125"/>
                        <a:ext cx="3448050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5" name="Rectangle 5">
            <a:extLst>
              <a:ext uri="{FF2B5EF4-FFF2-40B4-BE49-F238E27FC236}">
                <a16:creationId xmlns:a16="http://schemas.microsoft.com/office/drawing/2014/main" id="{255D91C5-64AF-4A6B-A084-9420796FA4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4076700"/>
            <a:ext cx="799338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>
                <a:solidFill>
                  <a:schemeClr val="hlink"/>
                </a:solidFill>
              </a:rPr>
              <a:t>(2) </a:t>
            </a:r>
            <a:r>
              <a:rPr lang="zh-CN" altLang="en-US" dirty="0">
                <a:solidFill>
                  <a:schemeClr val="hlink"/>
                </a:solidFill>
                <a:ea typeface="华文中宋" panose="02010600040101010101" pitchFamily="2" charset="-122"/>
              </a:rPr>
              <a:t>每条光谱线的</a:t>
            </a:r>
            <a:r>
              <a:rPr lang="zh-CN" altLang="en-US" dirty="0">
                <a:solidFill>
                  <a:srgbClr val="FFFF00"/>
                </a:solidFill>
                <a:ea typeface="华文中宋" panose="02010600040101010101" pitchFamily="2" charset="-122"/>
              </a:rPr>
              <a:t>波数 </a:t>
            </a:r>
            <a:r>
              <a:rPr lang="en-US" altLang="zh-CN" dirty="0">
                <a:solidFill>
                  <a:schemeClr val="hlink"/>
                </a:solidFill>
                <a:ea typeface="华文中宋" panose="02010600040101010101" pitchFamily="2" charset="-122"/>
              </a:rPr>
              <a:t>(</a:t>
            </a:r>
            <a:r>
              <a:rPr lang="zh-CN" altLang="en-US" dirty="0">
                <a:solidFill>
                  <a:schemeClr val="hlink"/>
                </a:solidFill>
                <a:ea typeface="华文中宋" panose="02010600040101010101" pitchFamily="2" charset="-122"/>
              </a:rPr>
              <a:t>波长的倒数</a:t>
            </a:r>
            <a:r>
              <a:rPr lang="en-US" altLang="zh-CN" dirty="0">
                <a:solidFill>
                  <a:schemeClr val="hlink"/>
                </a:solidFill>
                <a:ea typeface="华文中宋" panose="02010600040101010101" pitchFamily="2" charset="-122"/>
              </a:rPr>
              <a:t>) </a:t>
            </a:r>
            <a:r>
              <a:rPr lang="zh-CN" altLang="en-US" dirty="0">
                <a:solidFill>
                  <a:schemeClr val="hlink"/>
                </a:solidFill>
                <a:ea typeface="华文中宋" panose="02010600040101010101" pitchFamily="2" charset="-122"/>
              </a:rPr>
              <a:t>可表示为两项之差</a:t>
            </a:r>
          </a:p>
        </p:txBody>
      </p:sp>
      <p:pic>
        <p:nvPicPr>
          <p:cNvPr id="9223" name="Picture 6" descr="氢光谱">
            <a:extLst>
              <a:ext uri="{FF2B5EF4-FFF2-40B4-BE49-F238E27FC236}">
                <a16:creationId xmlns:a16="http://schemas.microsoft.com/office/drawing/2014/main" id="{BDD80B96-9671-4D21-9032-F423AEFDA0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927100"/>
            <a:ext cx="7848600" cy="1638300"/>
          </a:xfrm>
          <a:prstGeom prst="rect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7" name="Rectangle 7">
            <a:extLst>
              <a:ext uri="{FF2B5EF4-FFF2-40B4-BE49-F238E27FC236}">
                <a16:creationId xmlns:a16="http://schemas.microsoft.com/office/drawing/2014/main" id="{6D3AA1D4-0242-4E71-BCC0-EFF7D8BBB6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500" y="3500438"/>
            <a:ext cx="3962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hlink"/>
                </a:solidFill>
              </a:rPr>
              <a:t>(1) </a:t>
            </a:r>
            <a:r>
              <a:rPr lang="zh-CN" altLang="en-US">
                <a:solidFill>
                  <a:schemeClr val="hlink"/>
                </a:solidFill>
                <a:ea typeface="华文中宋" panose="02010600040101010101" pitchFamily="2" charset="-122"/>
              </a:rPr>
              <a:t>谱线为分立线状光谱</a:t>
            </a:r>
          </a:p>
        </p:txBody>
      </p:sp>
      <p:sp>
        <p:nvSpPr>
          <p:cNvPr id="9225" name="Text Box 8">
            <a:extLst>
              <a:ext uri="{FF2B5EF4-FFF2-40B4-BE49-F238E27FC236}">
                <a16:creationId xmlns:a16="http://schemas.microsoft.com/office/drawing/2014/main" id="{B9871CC7-C5BC-4790-94A2-F54EE64C5C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1760" y="2636838"/>
            <a:ext cx="540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99FFCC"/>
                </a:solidFill>
                <a:ea typeface="楷体_GB2312" pitchFamily="49" charset="-122"/>
              </a:rPr>
              <a:t>氢原子的巴耳末线系照片</a:t>
            </a:r>
            <a:r>
              <a:rPr lang="zh-CN" altLang="en-US" dirty="0">
                <a:solidFill>
                  <a:schemeClr val="hlink"/>
                </a:solidFill>
              </a:rPr>
              <a:t>（</a:t>
            </a:r>
            <a:r>
              <a:rPr lang="en-US" altLang="zh-CN" dirty="0">
                <a:solidFill>
                  <a:schemeClr val="hlink"/>
                </a:solidFill>
              </a:rPr>
              <a:t>1885</a:t>
            </a:r>
            <a:r>
              <a:rPr lang="zh-CN" altLang="en-US" dirty="0">
                <a:solidFill>
                  <a:schemeClr val="hlink"/>
                </a:solidFill>
                <a:ea typeface="华文中宋" panose="02010600040101010101" pitchFamily="2" charset="-122"/>
              </a:rPr>
              <a:t>年</a:t>
            </a:r>
            <a:r>
              <a:rPr lang="zh-CN" altLang="en-US" dirty="0">
                <a:solidFill>
                  <a:schemeClr val="hlink"/>
                </a:solidFill>
              </a:rPr>
              <a:t>）</a:t>
            </a:r>
            <a:endParaRPr lang="zh-CN" altLang="en-US" dirty="0">
              <a:solidFill>
                <a:srgbClr val="99FFCC"/>
              </a:solidFill>
              <a:ea typeface="楷体_GB2312" pitchFamily="49" charset="-122"/>
            </a:endParaRPr>
          </a:p>
        </p:txBody>
      </p:sp>
      <p:sp>
        <p:nvSpPr>
          <p:cNvPr id="9226" name="Text Box 9">
            <a:extLst>
              <a:ext uri="{FF2B5EF4-FFF2-40B4-BE49-F238E27FC236}">
                <a16:creationId xmlns:a16="http://schemas.microsoft.com/office/drawing/2014/main" id="{18E4CAEB-C804-4352-9FEA-912CC8BC9B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333375"/>
            <a:ext cx="2590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一</a:t>
            </a:r>
            <a:r>
              <a:rPr lang="en-US" altLang="zh-CN" sz="2800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. </a:t>
            </a:r>
            <a:r>
              <a:rPr lang="zh-CN" altLang="en-US" sz="2800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实验规律</a:t>
            </a:r>
          </a:p>
        </p:txBody>
      </p:sp>
      <p:sp>
        <p:nvSpPr>
          <p:cNvPr id="9227" name="Text Box 10">
            <a:extLst>
              <a:ext uri="{FF2B5EF4-FFF2-40B4-BE49-F238E27FC236}">
                <a16:creationId xmlns:a16="http://schemas.microsoft.com/office/drawing/2014/main" id="{E3E1FF09-5CEE-428D-B9CB-4B67C2D5CB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947988"/>
            <a:ext cx="18351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sz="2600">
                <a:solidFill>
                  <a:srgbClr val="00FFFF"/>
                </a:solidFill>
                <a:ea typeface="华文中宋" panose="02010600040101010101" pitchFamily="2" charset="-122"/>
              </a:rPr>
              <a:t>谱线特征：</a:t>
            </a:r>
          </a:p>
        </p:txBody>
      </p:sp>
      <p:sp>
        <p:nvSpPr>
          <p:cNvPr id="35851" name="Rectangle 11">
            <a:extLst>
              <a:ext uri="{FF2B5EF4-FFF2-40B4-BE49-F238E27FC236}">
                <a16:creationId xmlns:a16="http://schemas.microsoft.com/office/drawing/2014/main" id="{2CC6645A-2BBF-448A-A677-A1230F6E78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7725" y="6000750"/>
            <a:ext cx="815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00FFFF"/>
                </a:solidFill>
                <a:cs typeface="Times New Roman" panose="02020603050405020304" pitchFamily="18" charset="0"/>
              </a:rPr>
              <a:t>→ </a:t>
            </a:r>
            <a:r>
              <a:rPr lang="en-US" altLang="zh-CN" i="1" dirty="0">
                <a:solidFill>
                  <a:srgbClr val="00FFFF"/>
                </a:solidFill>
              </a:rPr>
              <a:t>k </a:t>
            </a:r>
            <a:r>
              <a:rPr lang="en-US" altLang="zh-CN" dirty="0">
                <a:solidFill>
                  <a:srgbClr val="00FFFF"/>
                </a:solidFill>
              </a:rPr>
              <a:t>= 2  (</a:t>
            </a:r>
            <a:r>
              <a:rPr lang="en-US" altLang="zh-CN" i="1" dirty="0">
                <a:solidFill>
                  <a:srgbClr val="00FFFF"/>
                </a:solidFill>
              </a:rPr>
              <a:t>n </a:t>
            </a:r>
            <a:r>
              <a:rPr lang="en-US" altLang="zh-CN" dirty="0">
                <a:solidFill>
                  <a:srgbClr val="00FFFF"/>
                </a:solidFill>
              </a:rPr>
              <a:t>= 3, 4, 5, … )</a:t>
            </a:r>
            <a:r>
              <a:rPr lang="en-US" altLang="zh-CN" b="0" dirty="0">
                <a:solidFill>
                  <a:schemeClr val="bg1"/>
                </a:solidFill>
              </a:rPr>
              <a:t>  </a:t>
            </a:r>
            <a:r>
              <a:rPr lang="zh-CN" altLang="en-US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谱线系 </a:t>
            </a:r>
            <a:r>
              <a:rPr lang="en-US" altLang="zh-CN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—— </a:t>
            </a:r>
            <a:r>
              <a:rPr lang="zh-CN" altLang="en-US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巴耳末谱系</a:t>
            </a:r>
            <a:endParaRPr lang="zh-CN" altLang="en-US" dirty="0">
              <a:solidFill>
                <a:schemeClr val="hlink"/>
              </a:solidFill>
            </a:endParaRPr>
          </a:p>
        </p:txBody>
      </p:sp>
      <p:graphicFrame>
        <p:nvGraphicFramePr>
          <p:cNvPr id="16396" name="Object 12">
            <a:extLst>
              <a:ext uri="{FF2B5EF4-FFF2-40B4-BE49-F238E27FC236}">
                <a16:creationId xmlns:a16="http://schemas.microsoft.com/office/drawing/2014/main" id="{7ED3EBEE-70FB-466D-A281-2F7DD83FEBA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14850" y="3340100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4158" name="Equation" r:id="rId9" imgW="114102" imgH="177492" progId="Equation.DSMT4">
                  <p:embed/>
                </p:oleObj>
              </mc:Choice>
              <mc:Fallback>
                <p:oleObj name="Equation" r:id="rId9" imgW="114102" imgH="177492" progId="Equation.DSMT4">
                  <p:embed/>
                  <p:pic>
                    <p:nvPicPr>
                      <p:cNvPr id="16396" name="Object 12">
                        <a:extLst>
                          <a:ext uri="{FF2B5EF4-FFF2-40B4-BE49-F238E27FC236}">
                            <a16:creationId xmlns:a16="http://schemas.microsoft.com/office/drawing/2014/main" id="{7ED3EBEE-70FB-466D-A281-2F7DD83FEBA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3340100"/>
                        <a:ext cx="1143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3">
            <a:extLst>
              <a:ext uri="{FF2B5EF4-FFF2-40B4-BE49-F238E27FC236}">
                <a16:creationId xmlns:a16="http://schemas.microsoft.com/office/drawing/2014/main" id="{B59D27C8-B7A3-46E6-BE20-B3474FED8E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7450" y="4772025"/>
            <a:ext cx="4038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里德伯</a:t>
            </a:r>
            <a:r>
              <a:rPr lang="en-US" altLang="zh-CN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-</a:t>
            </a:r>
            <a:r>
              <a:rPr lang="zh-CN" altLang="en-US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里兹并合原则</a:t>
            </a:r>
            <a:endParaRPr lang="zh-CN" altLang="en-US" b="0" dirty="0">
              <a:solidFill>
                <a:schemeClr val="hlink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5" name="灯片编号占位符 1">
            <a:extLst>
              <a:ext uri="{FF2B5EF4-FFF2-40B4-BE49-F238E27FC236}">
                <a16:creationId xmlns:a16="http://schemas.microsoft.com/office/drawing/2014/main" id="{9995C196-45AA-408E-84D9-C8AE08B6A6A2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/>
            <a:fld id="{D576E691-5116-4FBA-9B84-E9D18BAAAC14}" type="slidenum">
              <a:rPr lang="en-US" altLang="zh-CN" b="0" smtClean="0">
                <a:solidFill>
                  <a:srgbClr val="FF00FF"/>
                </a:solidFill>
              </a:rPr>
              <a:pPr eaLnBrk="1" hangingPunct="1"/>
              <a:t>4</a:t>
            </a:fld>
            <a:r>
              <a:rPr lang="en-US" altLang="zh-CN" b="0" dirty="0">
                <a:solidFill>
                  <a:srgbClr val="FF00FF"/>
                </a:solidFill>
              </a:rPr>
              <a:t>/28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9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9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9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5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5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5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5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5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5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3" grpId="0" autoUpdateAnimBg="0"/>
      <p:bldP spid="35845" grpId="0" autoUpdateAnimBg="0"/>
      <p:bldP spid="35847" grpId="0" autoUpdateAnimBg="0"/>
      <p:bldP spid="9225" grpId="0"/>
      <p:bldP spid="9226" grpId="0"/>
      <p:bldP spid="9227" grpId="0"/>
      <p:bldP spid="35851" grpId="0" autoUpdateAnimBg="0"/>
      <p:bldP spid="14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890" name="Object 2">
            <a:extLst>
              <a:ext uri="{FF2B5EF4-FFF2-40B4-BE49-F238E27FC236}">
                <a16:creationId xmlns:a16="http://schemas.microsoft.com/office/drawing/2014/main" id="{7769EDD2-77EC-4E12-9789-53DB8E4B978E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099954" y="169892"/>
          <a:ext cx="4084286" cy="90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5208" name="公式" r:id="rId3" imgW="1876508" imgH="371373" progId="Equation.3">
                  <p:embed/>
                </p:oleObj>
              </mc:Choice>
              <mc:Fallback>
                <p:oleObj name="公式" r:id="rId3" imgW="1876508" imgH="371373" progId="Equation.3">
                  <p:embed/>
                  <p:pic>
                    <p:nvPicPr>
                      <p:cNvPr id="37890" name="Object 2">
                        <a:extLst>
                          <a:ext uri="{FF2B5EF4-FFF2-40B4-BE49-F238E27FC236}">
                            <a16:creationId xmlns:a16="http://schemas.microsoft.com/office/drawing/2014/main" id="{7769EDD2-77EC-4E12-9789-53DB8E4B978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9954" y="169892"/>
                        <a:ext cx="4084286" cy="90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1" name="Object 3">
            <a:extLst>
              <a:ext uri="{FF2B5EF4-FFF2-40B4-BE49-F238E27FC236}">
                <a16:creationId xmlns:a16="http://schemas.microsoft.com/office/drawing/2014/main" id="{AFFE8C98-7518-4394-ABDD-27E9E0B58FE7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099954" y="1087326"/>
          <a:ext cx="4188190" cy="90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5209" name="公式" r:id="rId5" imgW="1933696" imgH="371373" progId="Equation.3">
                  <p:embed/>
                </p:oleObj>
              </mc:Choice>
              <mc:Fallback>
                <p:oleObj name="公式" r:id="rId5" imgW="1933696" imgH="371373" progId="Equation.3">
                  <p:embed/>
                  <p:pic>
                    <p:nvPicPr>
                      <p:cNvPr id="37891" name="Object 3">
                        <a:extLst>
                          <a:ext uri="{FF2B5EF4-FFF2-40B4-BE49-F238E27FC236}">
                            <a16:creationId xmlns:a16="http://schemas.microsoft.com/office/drawing/2014/main" id="{AFFE8C98-7518-4394-ABDD-27E9E0B58FE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9954" y="1087326"/>
                        <a:ext cx="4188190" cy="90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2" name="Object 4">
            <a:extLst>
              <a:ext uri="{FF2B5EF4-FFF2-40B4-BE49-F238E27FC236}">
                <a16:creationId xmlns:a16="http://schemas.microsoft.com/office/drawing/2014/main" id="{30FF86B7-B4E3-4350-8770-CDE69D1113A1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099954" y="2065426"/>
          <a:ext cx="4196738" cy="90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5210" name="公式" r:id="rId7" imgW="1933696" imgH="371373" progId="Equation.3">
                  <p:embed/>
                </p:oleObj>
              </mc:Choice>
              <mc:Fallback>
                <p:oleObj name="公式" r:id="rId7" imgW="1933696" imgH="371373" progId="Equation.3">
                  <p:embed/>
                  <p:pic>
                    <p:nvPicPr>
                      <p:cNvPr id="37892" name="Object 4">
                        <a:extLst>
                          <a:ext uri="{FF2B5EF4-FFF2-40B4-BE49-F238E27FC236}">
                            <a16:creationId xmlns:a16="http://schemas.microsoft.com/office/drawing/2014/main" id="{30FF86B7-B4E3-4350-8770-CDE69D1113A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9954" y="2065426"/>
                        <a:ext cx="4196738" cy="90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3" name="Object 5">
            <a:extLst>
              <a:ext uri="{FF2B5EF4-FFF2-40B4-BE49-F238E27FC236}">
                <a16:creationId xmlns:a16="http://schemas.microsoft.com/office/drawing/2014/main" id="{A20669A8-1661-456D-BD01-A3F01C221CB7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109715" y="2982860"/>
          <a:ext cx="4257212" cy="90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5211" name="公式" r:id="rId9" imgW="1971618" imgH="371373" progId="Equation.3">
                  <p:embed/>
                </p:oleObj>
              </mc:Choice>
              <mc:Fallback>
                <p:oleObj name="公式" r:id="rId9" imgW="1971618" imgH="371373" progId="Equation.3">
                  <p:embed/>
                  <p:pic>
                    <p:nvPicPr>
                      <p:cNvPr id="37893" name="Object 5">
                        <a:extLst>
                          <a:ext uri="{FF2B5EF4-FFF2-40B4-BE49-F238E27FC236}">
                            <a16:creationId xmlns:a16="http://schemas.microsoft.com/office/drawing/2014/main" id="{A20669A8-1661-456D-BD01-A3F01C221CB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09715" y="2982860"/>
                        <a:ext cx="4257212" cy="90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4" name="Text Box 6">
            <a:extLst>
              <a:ext uri="{FF2B5EF4-FFF2-40B4-BE49-F238E27FC236}">
                <a16:creationId xmlns:a16="http://schemas.microsoft.com/office/drawing/2014/main" id="{1331CD86-0848-41A0-B3A5-2692CCEFCB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838" y="406501"/>
            <a:ext cx="3673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chemeClr val="bg1"/>
                </a:solidFill>
                <a:ea typeface="华文中宋" panose="02010600040101010101" pitchFamily="2" charset="-122"/>
              </a:rPr>
              <a:t>赖曼系</a:t>
            </a:r>
            <a:r>
              <a:rPr lang="en-US" altLang="zh-CN" dirty="0">
                <a:solidFill>
                  <a:schemeClr val="bg1"/>
                </a:solidFill>
                <a:ea typeface="楷体_GB2312" pitchFamily="49" charset="-122"/>
              </a:rPr>
              <a:t>(1914)</a:t>
            </a:r>
            <a:r>
              <a:rPr lang="zh-CN" altLang="zh-CN" dirty="0">
                <a:solidFill>
                  <a:schemeClr val="bg1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紫外部分</a:t>
            </a:r>
            <a:endParaRPr lang="zh-CN" altLang="en-US" dirty="0">
              <a:solidFill>
                <a:schemeClr val="bg1"/>
              </a:solidFill>
              <a:ea typeface="华文中宋" panose="020106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37895" name="Text Box 7">
            <a:extLst>
              <a:ext uri="{FF2B5EF4-FFF2-40B4-BE49-F238E27FC236}">
                <a16:creationId xmlns:a16="http://schemas.microsoft.com/office/drawing/2014/main" id="{43809635-43D5-4BB2-9D5B-5C378B09B0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401" y="1309488"/>
            <a:ext cx="35829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chemeClr val="bg1"/>
                </a:solidFill>
                <a:ea typeface="华文中宋" panose="02010600040101010101" pitchFamily="2" charset="-122"/>
              </a:rPr>
              <a:t>帕邢系</a:t>
            </a:r>
            <a:r>
              <a:rPr lang="en-US" altLang="zh-CN" dirty="0">
                <a:solidFill>
                  <a:schemeClr val="bg1"/>
                </a:solidFill>
                <a:ea typeface="楷体_GB2312" pitchFamily="49" charset="-122"/>
              </a:rPr>
              <a:t>(1908)</a:t>
            </a:r>
            <a:r>
              <a:rPr lang="zh-CN" altLang="zh-CN" dirty="0">
                <a:solidFill>
                  <a:schemeClr val="bg1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可见光</a:t>
            </a:r>
            <a:endParaRPr lang="zh-CN" altLang="en-US" dirty="0">
              <a:solidFill>
                <a:schemeClr val="bg1"/>
              </a:solidFill>
              <a:ea typeface="华文中宋" panose="020106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37896" name="Text Box 8">
            <a:extLst>
              <a:ext uri="{FF2B5EF4-FFF2-40B4-BE49-F238E27FC236}">
                <a16:creationId xmlns:a16="http://schemas.microsoft.com/office/drawing/2014/main" id="{50839ADB-EFED-464E-8EFE-05374837D6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338" y="2287588"/>
            <a:ext cx="434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chemeClr val="bg1"/>
                </a:solidFill>
                <a:ea typeface="华文中宋" panose="02010600040101010101" pitchFamily="2" charset="-122"/>
              </a:rPr>
              <a:t>布喇开系</a:t>
            </a:r>
            <a:r>
              <a:rPr lang="en-US" altLang="zh-CN" dirty="0">
                <a:solidFill>
                  <a:schemeClr val="bg1"/>
                </a:solidFill>
                <a:ea typeface="楷体_GB2312" pitchFamily="49" charset="-122"/>
              </a:rPr>
              <a:t>(1922)</a:t>
            </a:r>
            <a:r>
              <a:rPr lang="zh-CN" altLang="zh-CN" dirty="0">
                <a:solidFill>
                  <a:schemeClr val="bg1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近红外部分</a:t>
            </a:r>
            <a:endParaRPr lang="zh-CN" altLang="en-US" dirty="0">
              <a:solidFill>
                <a:schemeClr val="bg1"/>
              </a:solidFill>
              <a:ea typeface="华文中宋" panose="020106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37897" name="Text Box 9">
            <a:extLst>
              <a:ext uri="{FF2B5EF4-FFF2-40B4-BE49-F238E27FC236}">
                <a16:creationId xmlns:a16="http://schemas.microsoft.com/office/drawing/2014/main" id="{A0CEE3B4-C34D-4B60-98C0-9BF16069A8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838" y="3222625"/>
            <a:ext cx="4038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chemeClr val="bg1"/>
                </a:solidFill>
                <a:ea typeface="华文中宋" panose="02010600040101010101" pitchFamily="2" charset="-122"/>
              </a:rPr>
              <a:t>普丰德系</a:t>
            </a:r>
            <a:r>
              <a:rPr lang="en-US" altLang="zh-CN" dirty="0">
                <a:solidFill>
                  <a:schemeClr val="bg1"/>
                </a:solidFill>
                <a:ea typeface="楷体_GB2312" pitchFamily="49" charset="-122"/>
              </a:rPr>
              <a:t>(1924)</a:t>
            </a:r>
            <a:r>
              <a:rPr lang="zh-CN" altLang="zh-CN" dirty="0">
                <a:solidFill>
                  <a:schemeClr val="bg1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红外部分</a:t>
            </a:r>
            <a:endParaRPr lang="zh-CN" altLang="en-US" dirty="0">
              <a:solidFill>
                <a:schemeClr val="bg1"/>
              </a:solidFill>
              <a:ea typeface="华文中宋" panose="02010600040101010101" pitchFamily="2" charset="-122"/>
              <a:sym typeface="Symbol" panose="05050102010706020507" pitchFamily="18" charset="2"/>
            </a:endParaRPr>
          </a:p>
        </p:txBody>
      </p:sp>
      <p:graphicFrame>
        <p:nvGraphicFramePr>
          <p:cNvPr id="37898" name="Object 10">
            <a:extLst>
              <a:ext uri="{FF2B5EF4-FFF2-40B4-BE49-F238E27FC236}">
                <a16:creationId xmlns:a16="http://schemas.microsoft.com/office/drawing/2014/main" id="{DD7BB8CF-8B64-477C-8B6E-8F6791251C80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139952" y="3931337"/>
          <a:ext cx="4257207" cy="90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5212" name="公式" r:id="rId11" imgW="1971618" imgH="371373" progId="Equation.3">
                  <p:embed/>
                </p:oleObj>
              </mc:Choice>
              <mc:Fallback>
                <p:oleObj name="公式" r:id="rId11" imgW="1971618" imgH="371373" progId="Equation.3">
                  <p:embed/>
                  <p:pic>
                    <p:nvPicPr>
                      <p:cNvPr id="37898" name="Object 10">
                        <a:extLst>
                          <a:ext uri="{FF2B5EF4-FFF2-40B4-BE49-F238E27FC236}">
                            <a16:creationId xmlns:a16="http://schemas.microsoft.com/office/drawing/2014/main" id="{DD7BB8CF-8B64-477C-8B6E-8F6791251C8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9952" y="3931337"/>
                        <a:ext cx="4257207" cy="90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9" name="Text Box 11">
            <a:extLst>
              <a:ext uri="{FF2B5EF4-FFF2-40B4-BE49-F238E27FC236}">
                <a16:creationId xmlns:a16="http://schemas.microsoft.com/office/drawing/2014/main" id="{A65710DB-8A77-4ED2-8864-A4E5E9BEA5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838" y="4165400"/>
            <a:ext cx="411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chemeClr val="bg1"/>
                </a:solidFill>
                <a:ea typeface="华文中宋" panose="02010600040101010101" pitchFamily="2" charset="-122"/>
              </a:rPr>
              <a:t>汉弗莱系</a:t>
            </a:r>
            <a:r>
              <a:rPr lang="en-US" altLang="zh-CN" dirty="0">
                <a:solidFill>
                  <a:schemeClr val="bg1"/>
                </a:solidFill>
                <a:ea typeface="楷体_GB2312" pitchFamily="49" charset="-122"/>
              </a:rPr>
              <a:t>(1953)</a:t>
            </a:r>
            <a:r>
              <a:rPr lang="zh-CN" altLang="zh-CN" dirty="0">
                <a:solidFill>
                  <a:schemeClr val="bg1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远红外部分</a:t>
            </a:r>
            <a:endParaRPr lang="zh-CN" altLang="en-US" dirty="0">
              <a:solidFill>
                <a:schemeClr val="bg1"/>
              </a:solidFill>
              <a:ea typeface="华文中宋" panose="020106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37900" name="Text Box 12">
            <a:extLst>
              <a:ext uri="{FF2B5EF4-FFF2-40B4-BE49-F238E27FC236}">
                <a16:creationId xmlns:a16="http://schemas.microsoft.com/office/drawing/2014/main" id="{5D1FA0A5-C920-4D88-A3A8-22514A3C68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182" y="5108175"/>
            <a:ext cx="8469635" cy="1196975"/>
          </a:xfrm>
          <a:prstGeom prst="rect">
            <a:avLst/>
          </a:prstGeom>
          <a:noFill/>
          <a:ln w="9525">
            <a:solidFill>
              <a:srgbClr val="FF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r>
              <a:rPr lang="zh-CN" altLang="en-US" dirty="0">
                <a:solidFill>
                  <a:srgbClr val="FFFF00"/>
                </a:solidFill>
                <a:ea typeface="华文中宋" panose="02010600040101010101" pitchFamily="2" charset="-122"/>
              </a:rPr>
              <a:t>        如此繁杂的光谱线可以用如此简单的公式表示，这是一项出色的成果。但是它是凭经验凑出来的，为什么与实验符合得如此之好，在公式问世将近三十年内，一直是个谜</a:t>
            </a:r>
          </a:p>
        </p:txBody>
      </p:sp>
      <p:sp>
        <p:nvSpPr>
          <p:cNvPr id="14" name="灯片编号占位符 1">
            <a:extLst>
              <a:ext uri="{FF2B5EF4-FFF2-40B4-BE49-F238E27FC236}">
                <a16:creationId xmlns:a16="http://schemas.microsoft.com/office/drawing/2014/main" id="{F4887746-90D7-42AD-8549-329F2AC1D019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/>
            <a:fld id="{D576E691-5116-4FBA-9B84-E9D18BAAAC14}" type="slidenum">
              <a:rPr lang="en-US" altLang="zh-CN" b="0" smtClean="0">
                <a:solidFill>
                  <a:srgbClr val="FF00FF"/>
                </a:solidFill>
              </a:rPr>
              <a:pPr eaLnBrk="1" hangingPunct="1"/>
              <a:t>5</a:t>
            </a:fld>
            <a:r>
              <a:rPr lang="en-US" altLang="zh-CN" b="0" dirty="0">
                <a:solidFill>
                  <a:srgbClr val="FF00FF"/>
                </a:solidFill>
              </a:rPr>
              <a:t>/28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7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7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7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7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7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7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7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37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37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37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3790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379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4" grpId="0" autoUpdateAnimBg="0"/>
      <p:bldP spid="37895" grpId="0" autoUpdateAnimBg="0"/>
      <p:bldP spid="37896" grpId="0" autoUpdateAnimBg="0"/>
      <p:bldP spid="37897" grpId="0" autoUpdateAnimBg="0"/>
      <p:bldP spid="37899" grpId="0" autoUpdateAnimBg="0"/>
      <p:bldP spid="37900" grpId="0" build="p" animBg="1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2">
            <a:extLst>
              <a:ext uri="{FF2B5EF4-FFF2-40B4-BE49-F238E27FC236}">
                <a16:creationId xmlns:a16="http://schemas.microsoft.com/office/drawing/2014/main" id="{0A24A004-48E6-4BDE-8B7F-2AF2AEAF4E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214313"/>
            <a:ext cx="5562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r>
              <a:rPr lang="zh-CN" altLang="en-US" sz="2800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二</a:t>
            </a:r>
            <a:r>
              <a:rPr lang="en-US" altLang="zh-CN" sz="2800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. </a:t>
            </a:r>
            <a:r>
              <a:rPr lang="zh-CN" altLang="en-US" sz="2800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卢瑟福的原子有核模型</a:t>
            </a:r>
          </a:p>
        </p:txBody>
      </p:sp>
      <p:sp>
        <p:nvSpPr>
          <p:cNvPr id="39939" name="Text Box 3">
            <a:extLst>
              <a:ext uri="{FF2B5EF4-FFF2-40B4-BE49-F238E27FC236}">
                <a16:creationId xmlns:a16="http://schemas.microsoft.com/office/drawing/2014/main" id="{F3C72436-A5B4-4389-9EC7-3B49215A1C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038" y="1268413"/>
            <a:ext cx="5105400" cy="157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>
                <a:solidFill>
                  <a:schemeClr val="hlink"/>
                </a:solidFill>
              </a:rPr>
              <a:t>1903</a:t>
            </a:r>
            <a:r>
              <a:rPr lang="zh-CN" altLang="en-US" dirty="0">
                <a:solidFill>
                  <a:schemeClr val="hlink"/>
                </a:solidFill>
                <a:ea typeface="华文中宋" panose="02010600040101010101" pitchFamily="2" charset="-122"/>
              </a:rPr>
              <a:t>年</a:t>
            </a:r>
            <a:r>
              <a:rPr lang="en-US" altLang="zh-CN" dirty="0">
                <a:solidFill>
                  <a:schemeClr val="hlink"/>
                </a:solidFill>
              </a:rPr>
              <a:t>J. J. </a:t>
            </a:r>
            <a:r>
              <a:rPr lang="zh-CN" altLang="en-US" dirty="0">
                <a:solidFill>
                  <a:schemeClr val="hlink"/>
                </a:solidFill>
                <a:ea typeface="华文中宋" panose="02010600040101010101" pitchFamily="2" charset="-122"/>
              </a:rPr>
              <a:t>汤姆逊提出：原子中的</a:t>
            </a:r>
            <a:r>
              <a:rPr lang="zh-CN" altLang="en-US" dirty="0">
                <a:solidFill>
                  <a:srgbClr val="FFFF00"/>
                </a:solidFill>
                <a:ea typeface="华文中宋" panose="02010600040101010101" pitchFamily="2" charset="-122"/>
              </a:rPr>
              <a:t>正电荷和原子的质量均匀地分布在</a:t>
            </a:r>
            <a:r>
              <a:rPr lang="zh-CN" altLang="en-US" dirty="0">
                <a:solidFill>
                  <a:schemeClr val="hlink"/>
                </a:solidFill>
                <a:ea typeface="华文中宋" panose="02010600040101010101" pitchFamily="2" charset="-122"/>
              </a:rPr>
              <a:t>半径为</a:t>
            </a:r>
            <a:r>
              <a:rPr lang="en-US" altLang="zh-CN" dirty="0">
                <a:solidFill>
                  <a:srgbClr val="FFFF00"/>
                </a:solidFill>
              </a:rPr>
              <a:t>10</a:t>
            </a:r>
            <a:r>
              <a:rPr lang="en-US" altLang="zh-CN" baseline="30000" dirty="0">
                <a:solidFill>
                  <a:srgbClr val="FFFF00"/>
                </a:solidFill>
              </a:rPr>
              <a:t>-10</a:t>
            </a:r>
            <a:r>
              <a:rPr lang="en-US" altLang="zh-CN" dirty="0">
                <a:solidFill>
                  <a:srgbClr val="FFFF00"/>
                </a:solidFill>
              </a:rPr>
              <a:t>m </a:t>
            </a:r>
            <a:r>
              <a:rPr lang="zh-CN" altLang="zh-CN" dirty="0">
                <a:solidFill>
                  <a:schemeClr val="hlink"/>
                </a:solidFill>
                <a:ea typeface="华文中宋" panose="02010600040101010101" pitchFamily="2" charset="-122"/>
              </a:rPr>
              <a:t>的</a:t>
            </a:r>
            <a:r>
              <a:rPr lang="zh-CN" altLang="zh-CN" dirty="0">
                <a:solidFill>
                  <a:srgbClr val="FFFF00"/>
                </a:solidFill>
                <a:ea typeface="华文中宋" panose="02010600040101010101" pitchFamily="2" charset="-122"/>
              </a:rPr>
              <a:t>球体</a:t>
            </a:r>
            <a:r>
              <a:rPr lang="zh-CN" altLang="en-US" dirty="0">
                <a:solidFill>
                  <a:schemeClr val="hlink"/>
                </a:solidFill>
                <a:ea typeface="华文中宋" panose="02010600040101010101" pitchFamily="2" charset="-122"/>
              </a:rPr>
              <a:t>中，而</a:t>
            </a:r>
            <a:r>
              <a:rPr lang="zh-CN" altLang="en-US" dirty="0">
                <a:solidFill>
                  <a:srgbClr val="FFFF00"/>
                </a:solidFill>
                <a:ea typeface="华文中宋" panose="02010600040101010101" pitchFamily="2" charset="-122"/>
              </a:rPr>
              <a:t>电子就像西瓜籽一样“镶嵌”在球体</a:t>
            </a:r>
            <a:r>
              <a:rPr lang="zh-CN" altLang="en-US" dirty="0">
                <a:solidFill>
                  <a:schemeClr val="hlink"/>
                </a:solidFill>
                <a:ea typeface="华文中宋" panose="02010600040101010101" pitchFamily="2" charset="-122"/>
              </a:rPr>
              <a:t>中。</a:t>
            </a:r>
          </a:p>
        </p:txBody>
      </p:sp>
      <p:sp>
        <p:nvSpPr>
          <p:cNvPr id="39940" name="Text Box 4">
            <a:extLst>
              <a:ext uri="{FF2B5EF4-FFF2-40B4-BE49-F238E27FC236}">
                <a16:creationId xmlns:a16="http://schemas.microsoft.com/office/drawing/2014/main" id="{0BCB5786-4EE9-4955-A7F4-12421FC2AF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563" y="741363"/>
            <a:ext cx="4706937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en-US" altLang="zh-CN" sz="2500">
                <a:solidFill>
                  <a:srgbClr val="00FFFF"/>
                </a:solidFill>
                <a:latin typeface="SimSun" panose="02010600030101010101" pitchFamily="2" charset="-122"/>
              </a:rPr>
              <a:t>1.</a:t>
            </a:r>
            <a:r>
              <a:rPr lang="zh-CN" altLang="en-US" sz="2500">
                <a:solidFill>
                  <a:srgbClr val="00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原子的西瓜模型</a:t>
            </a:r>
            <a:endParaRPr lang="zh-CN" altLang="en-US" sz="2500" b="0">
              <a:solidFill>
                <a:srgbClr val="00FFFF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9941" name="Oval 5">
            <a:extLst>
              <a:ext uri="{FF2B5EF4-FFF2-40B4-BE49-F238E27FC236}">
                <a16:creationId xmlns:a16="http://schemas.microsoft.com/office/drawing/2014/main" id="{A50D9DFE-FF84-466D-80BE-07496F5522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0650" y="609600"/>
            <a:ext cx="2133600" cy="2133600"/>
          </a:xfrm>
          <a:prstGeom prst="ellips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9942" name="Oval 6">
            <a:extLst>
              <a:ext uri="{FF2B5EF4-FFF2-40B4-BE49-F238E27FC236}">
                <a16:creationId xmlns:a16="http://schemas.microsoft.com/office/drawing/2014/main" id="{D1566097-6798-4F21-B99F-2DA014136B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6913" y="928688"/>
            <a:ext cx="228600" cy="228600"/>
          </a:xfrm>
          <a:prstGeom prst="ellipse">
            <a:avLst/>
          </a:prstGeom>
          <a:solidFill>
            <a:srgbClr val="FFFF00"/>
          </a:solidFill>
          <a:ln w="19050">
            <a:solidFill>
              <a:srgbClr val="FFFF00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9943" name="Oval 7">
            <a:extLst>
              <a:ext uri="{FF2B5EF4-FFF2-40B4-BE49-F238E27FC236}">
                <a16:creationId xmlns:a16="http://schemas.microsoft.com/office/drawing/2014/main" id="{73A96263-983E-4023-ABFB-862519559C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9725" y="1285875"/>
            <a:ext cx="228600" cy="228600"/>
          </a:xfrm>
          <a:prstGeom prst="ellipse">
            <a:avLst/>
          </a:prstGeom>
          <a:solidFill>
            <a:srgbClr val="FFFF00"/>
          </a:solidFill>
          <a:ln w="19050">
            <a:solidFill>
              <a:srgbClr val="FFFF00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9944" name="Oval 8">
            <a:extLst>
              <a:ext uri="{FF2B5EF4-FFF2-40B4-BE49-F238E27FC236}">
                <a16:creationId xmlns:a16="http://schemas.microsoft.com/office/drawing/2014/main" id="{474CA488-B883-48B2-8AA2-73219D6E1C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4013" y="1857375"/>
            <a:ext cx="228600" cy="228600"/>
          </a:xfrm>
          <a:prstGeom prst="ellipse">
            <a:avLst/>
          </a:prstGeom>
          <a:solidFill>
            <a:srgbClr val="FFFF00"/>
          </a:solidFill>
          <a:ln w="19050">
            <a:solidFill>
              <a:srgbClr val="FFFF00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9945" name="Oval 9">
            <a:extLst>
              <a:ext uri="{FF2B5EF4-FFF2-40B4-BE49-F238E27FC236}">
                <a16:creationId xmlns:a16="http://schemas.microsoft.com/office/drawing/2014/main" id="{7CBF4572-B86C-4132-90C8-431D721FA1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6913" y="2214563"/>
            <a:ext cx="228600" cy="228600"/>
          </a:xfrm>
          <a:prstGeom prst="ellipse">
            <a:avLst/>
          </a:prstGeom>
          <a:solidFill>
            <a:srgbClr val="FFFF00"/>
          </a:solidFill>
          <a:ln w="19050">
            <a:solidFill>
              <a:srgbClr val="FFFF00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9946" name="Oval 10">
            <a:extLst>
              <a:ext uri="{FF2B5EF4-FFF2-40B4-BE49-F238E27FC236}">
                <a16:creationId xmlns:a16="http://schemas.microsoft.com/office/drawing/2014/main" id="{8E8C5756-F232-4919-8D8B-B4D91D1415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5538" y="1928813"/>
            <a:ext cx="228600" cy="228600"/>
          </a:xfrm>
          <a:prstGeom prst="ellipse">
            <a:avLst/>
          </a:prstGeom>
          <a:solidFill>
            <a:srgbClr val="FFFF00"/>
          </a:solidFill>
          <a:ln w="19050">
            <a:solidFill>
              <a:srgbClr val="FFFF00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9947" name="Oval 11">
            <a:extLst>
              <a:ext uri="{FF2B5EF4-FFF2-40B4-BE49-F238E27FC236}">
                <a16:creationId xmlns:a16="http://schemas.microsoft.com/office/drawing/2014/main" id="{437FAEF9-B427-40D4-9762-4945339560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8350" y="1600200"/>
            <a:ext cx="228600" cy="228600"/>
          </a:xfrm>
          <a:prstGeom prst="ellipse">
            <a:avLst/>
          </a:prstGeom>
          <a:solidFill>
            <a:srgbClr val="FFFF00"/>
          </a:solidFill>
          <a:ln w="19050">
            <a:solidFill>
              <a:srgbClr val="FFFF00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9948" name="Oval 12">
            <a:extLst>
              <a:ext uri="{FF2B5EF4-FFF2-40B4-BE49-F238E27FC236}">
                <a16:creationId xmlns:a16="http://schemas.microsoft.com/office/drawing/2014/main" id="{7597B5AC-5616-42F5-B47A-AD2ACBC2DA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5538" y="1271588"/>
            <a:ext cx="228600" cy="228600"/>
          </a:xfrm>
          <a:prstGeom prst="ellipse">
            <a:avLst/>
          </a:prstGeom>
          <a:solidFill>
            <a:srgbClr val="FFFF00"/>
          </a:solidFill>
          <a:ln w="19050">
            <a:solidFill>
              <a:srgbClr val="FFFF00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9949" name="Oval 13">
            <a:extLst>
              <a:ext uri="{FF2B5EF4-FFF2-40B4-BE49-F238E27FC236}">
                <a16:creationId xmlns:a16="http://schemas.microsoft.com/office/drawing/2014/main" id="{EC03D1DD-5A91-4F80-8587-72D3A39A22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8450" y="928688"/>
            <a:ext cx="228600" cy="228600"/>
          </a:xfrm>
          <a:prstGeom prst="ellipse">
            <a:avLst/>
          </a:prstGeom>
          <a:solidFill>
            <a:srgbClr val="FFFF00"/>
          </a:solidFill>
          <a:ln w="19050">
            <a:solidFill>
              <a:srgbClr val="FFFF00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9950" name="Oval 14">
            <a:extLst>
              <a:ext uri="{FF2B5EF4-FFF2-40B4-BE49-F238E27FC236}">
                <a16:creationId xmlns:a16="http://schemas.microsoft.com/office/drawing/2014/main" id="{7A505C7E-F9AE-42ED-85F4-9E2FD6AC1E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4200" y="1285875"/>
            <a:ext cx="228600" cy="228600"/>
          </a:xfrm>
          <a:prstGeom prst="ellipse">
            <a:avLst/>
          </a:prstGeom>
          <a:solidFill>
            <a:srgbClr val="FFFF00"/>
          </a:solidFill>
          <a:ln w="19050">
            <a:solidFill>
              <a:srgbClr val="FFFF00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9951" name="Oval 15">
            <a:extLst>
              <a:ext uri="{FF2B5EF4-FFF2-40B4-BE49-F238E27FC236}">
                <a16:creationId xmlns:a16="http://schemas.microsoft.com/office/drawing/2014/main" id="{4AE7E374-542E-4A43-BEAF-A6635A2F30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4200" y="1857375"/>
            <a:ext cx="228600" cy="228600"/>
          </a:xfrm>
          <a:prstGeom prst="ellipse">
            <a:avLst/>
          </a:prstGeom>
          <a:solidFill>
            <a:srgbClr val="FFFF00"/>
          </a:solidFill>
          <a:ln w="19050">
            <a:solidFill>
              <a:srgbClr val="FFFF00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9952" name="Oval 16">
            <a:extLst>
              <a:ext uri="{FF2B5EF4-FFF2-40B4-BE49-F238E27FC236}">
                <a16:creationId xmlns:a16="http://schemas.microsoft.com/office/drawing/2014/main" id="{A019E4BE-1688-4595-9880-078D9F7C3A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7013" y="1571625"/>
            <a:ext cx="228600" cy="228600"/>
          </a:xfrm>
          <a:prstGeom prst="ellipse">
            <a:avLst/>
          </a:prstGeom>
          <a:solidFill>
            <a:srgbClr val="FFFF00"/>
          </a:solidFill>
          <a:ln w="19050">
            <a:solidFill>
              <a:srgbClr val="FFFF00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9953" name="Oval 17">
            <a:extLst>
              <a:ext uri="{FF2B5EF4-FFF2-40B4-BE49-F238E27FC236}">
                <a16:creationId xmlns:a16="http://schemas.microsoft.com/office/drawing/2014/main" id="{25436B9A-0C66-4D8D-AB51-053B1E4A79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8450" y="2214563"/>
            <a:ext cx="228600" cy="228600"/>
          </a:xfrm>
          <a:prstGeom prst="ellipse">
            <a:avLst/>
          </a:prstGeom>
          <a:solidFill>
            <a:srgbClr val="FFFF00"/>
          </a:solidFill>
          <a:ln w="19050">
            <a:solidFill>
              <a:srgbClr val="FFFF00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9954" name="Oval 18">
            <a:extLst>
              <a:ext uri="{FF2B5EF4-FFF2-40B4-BE49-F238E27FC236}">
                <a16:creationId xmlns:a16="http://schemas.microsoft.com/office/drawing/2014/main" id="{DA9B8C7F-DE00-43AD-A520-37BF9E69DA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9825" y="2414588"/>
            <a:ext cx="228600" cy="228600"/>
          </a:xfrm>
          <a:prstGeom prst="ellipse">
            <a:avLst/>
          </a:prstGeom>
          <a:solidFill>
            <a:srgbClr val="FFFF00"/>
          </a:solidFill>
          <a:ln w="19050">
            <a:solidFill>
              <a:srgbClr val="FFFF00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9955" name="Oval 19">
            <a:extLst>
              <a:ext uri="{FF2B5EF4-FFF2-40B4-BE49-F238E27FC236}">
                <a16:creationId xmlns:a16="http://schemas.microsoft.com/office/drawing/2014/main" id="{51248E54-A00E-4C17-9EB9-C10782CDBE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5538" y="762000"/>
            <a:ext cx="228600" cy="228600"/>
          </a:xfrm>
          <a:prstGeom prst="ellipse">
            <a:avLst/>
          </a:prstGeom>
          <a:solidFill>
            <a:srgbClr val="FFFF00"/>
          </a:solidFill>
          <a:ln w="19050">
            <a:solidFill>
              <a:srgbClr val="FFFF00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9956" name="Text Box 20">
            <a:extLst>
              <a:ext uri="{FF2B5EF4-FFF2-40B4-BE49-F238E27FC236}">
                <a16:creationId xmlns:a16="http://schemas.microsoft.com/office/drawing/2014/main" id="{087E3473-E4B0-4A11-9BDE-C2936E5932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163" y="2846388"/>
            <a:ext cx="519271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00FFFF"/>
                </a:solidFill>
                <a:ea typeface="华文中宋" panose="02010600040101010101" pitchFamily="2" charset="-122"/>
              </a:rPr>
              <a:t>缺点：</a:t>
            </a:r>
            <a:endParaRPr lang="en-US" altLang="zh-CN" dirty="0">
              <a:solidFill>
                <a:srgbClr val="00FFFF"/>
              </a:solidFill>
              <a:ea typeface="华文中宋" panose="02010600040101010101" pitchFamily="2" charset="-122"/>
            </a:endParaRPr>
          </a:p>
          <a:p>
            <a:pPr eaLnBrk="1" hangingPunct="1"/>
            <a:r>
              <a:rPr lang="en-US" altLang="zh-CN" dirty="0">
                <a:solidFill>
                  <a:srgbClr val="00FFFF"/>
                </a:solidFill>
                <a:ea typeface="华文中宋" panose="02010600040101010101" pitchFamily="2" charset="-122"/>
              </a:rPr>
              <a:t>    </a:t>
            </a:r>
            <a:r>
              <a:rPr lang="zh-CN" altLang="en-US" dirty="0">
                <a:solidFill>
                  <a:schemeClr val="hlink"/>
                </a:solidFill>
                <a:ea typeface="华文中宋" panose="02010600040101010101" pitchFamily="2" charset="-122"/>
              </a:rPr>
              <a:t>不能解释氢原子分立的线状谱</a:t>
            </a:r>
          </a:p>
        </p:txBody>
      </p:sp>
      <p:sp>
        <p:nvSpPr>
          <p:cNvPr id="39957" name="Text Box 21">
            <a:extLst>
              <a:ext uri="{FF2B5EF4-FFF2-40B4-BE49-F238E27FC236}">
                <a16:creationId xmlns:a16="http://schemas.microsoft.com/office/drawing/2014/main" id="{3DC1164D-0F36-47B7-A414-08A8505281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063" y="3929063"/>
            <a:ext cx="5357812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zh-CN" sz="2500" dirty="0">
                <a:solidFill>
                  <a:srgbClr val="00FFFF"/>
                </a:solidFill>
                <a:latin typeface="SimSun" panose="02010600030101010101" pitchFamily="2" charset="-122"/>
              </a:rPr>
              <a:t>2.</a:t>
            </a:r>
            <a:r>
              <a:rPr lang="en-US" altLang="zh-CN" sz="2500" i="1" dirty="0">
                <a:solidFill>
                  <a:srgbClr val="00FFFF"/>
                </a:solidFill>
              </a:rPr>
              <a:t>α </a:t>
            </a:r>
            <a:r>
              <a:rPr lang="zh-CN" altLang="en-US" sz="2500" dirty="0">
                <a:solidFill>
                  <a:srgbClr val="00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粒子散射实验（轰击金箔）</a:t>
            </a:r>
          </a:p>
        </p:txBody>
      </p:sp>
      <p:grpSp>
        <p:nvGrpSpPr>
          <p:cNvPr id="2" name="Group 22">
            <a:extLst>
              <a:ext uri="{FF2B5EF4-FFF2-40B4-BE49-F238E27FC236}">
                <a16:creationId xmlns:a16="http://schemas.microsoft.com/office/drawing/2014/main" id="{33230036-CF9A-4F7A-A9EC-642821ECAD93}"/>
              </a:ext>
            </a:extLst>
          </p:cNvPr>
          <p:cNvGrpSpPr>
            <a:grpSpLocks/>
          </p:cNvGrpSpPr>
          <p:nvPr/>
        </p:nvGrpSpPr>
        <p:grpSpPr bwMode="auto">
          <a:xfrm>
            <a:off x="5508625" y="2781300"/>
            <a:ext cx="3529013" cy="1536700"/>
            <a:chOff x="2544" y="2654"/>
            <a:chExt cx="2577" cy="1103"/>
          </a:xfrm>
        </p:grpSpPr>
        <p:sp>
          <p:nvSpPr>
            <p:cNvPr id="19513" name="Line 23">
              <a:extLst>
                <a:ext uri="{FF2B5EF4-FFF2-40B4-BE49-F238E27FC236}">
                  <a16:creationId xmlns:a16="http://schemas.microsoft.com/office/drawing/2014/main" id="{49397B57-8EF8-43FA-BFB1-BCC6B195A4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2" y="2976"/>
              <a:ext cx="0" cy="336"/>
            </a:xfrm>
            <a:prstGeom prst="line">
              <a:avLst/>
            </a:prstGeom>
            <a:noFill/>
            <a:ln w="5715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14" name="Line 24">
              <a:extLst>
                <a:ext uri="{FF2B5EF4-FFF2-40B4-BE49-F238E27FC236}">
                  <a16:creationId xmlns:a16="http://schemas.microsoft.com/office/drawing/2014/main" id="{871FB291-8D35-4467-8093-E772DAA00F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2" y="3408"/>
              <a:ext cx="0" cy="336"/>
            </a:xfrm>
            <a:prstGeom prst="line">
              <a:avLst/>
            </a:prstGeom>
            <a:noFill/>
            <a:ln w="5715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61" name="AutoShape 25">
              <a:extLst>
                <a:ext uri="{FF2B5EF4-FFF2-40B4-BE49-F238E27FC236}">
                  <a16:creationId xmlns:a16="http://schemas.microsoft.com/office/drawing/2014/main" id="{106A4FE1-4261-4D5F-A51F-177085218C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3216"/>
              <a:ext cx="255" cy="238"/>
            </a:xfrm>
            <a:prstGeom prst="star5">
              <a:avLst/>
            </a:prstGeom>
            <a:solidFill>
              <a:srgbClr val="FF0000"/>
            </a:solidFill>
            <a:ln w="19050">
              <a:solidFill>
                <a:schemeClr val="hlink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9516" name="Line 26">
              <a:extLst>
                <a:ext uri="{FF2B5EF4-FFF2-40B4-BE49-F238E27FC236}">
                  <a16:creationId xmlns:a16="http://schemas.microsoft.com/office/drawing/2014/main" id="{46F16298-16CD-4D47-A908-97B740C2EC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8" y="3040"/>
              <a:ext cx="0" cy="336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17" name="Line 27">
              <a:extLst>
                <a:ext uri="{FF2B5EF4-FFF2-40B4-BE49-F238E27FC236}">
                  <a16:creationId xmlns:a16="http://schemas.microsoft.com/office/drawing/2014/main" id="{62EA03D5-5F3E-4D8D-8C87-E33F6E6CEA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8" y="3351"/>
              <a:ext cx="0" cy="384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18" name="Line 28">
              <a:extLst>
                <a:ext uri="{FF2B5EF4-FFF2-40B4-BE49-F238E27FC236}">
                  <a16:creationId xmlns:a16="http://schemas.microsoft.com/office/drawing/2014/main" id="{1A8E8D00-00A6-4947-A9B3-8E3AA330BD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51" y="3360"/>
              <a:ext cx="1296" cy="0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19" name="Line 29">
              <a:extLst>
                <a:ext uri="{FF2B5EF4-FFF2-40B4-BE49-F238E27FC236}">
                  <a16:creationId xmlns:a16="http://schemas.microsoft.com/office/drawing/2014/main" id="{B3F8680B-1680-4D2D-9245-A3B181D44F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6" y="3360"/>
              <a:ext cx="864" cy="0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20" name="Line 30">
              <a:extLst>
                <a:ext uri="{FF2B5EF4-FFF2-40B4-BE49-F238E27FC236}">
                  <a16:creationId xmlns:a16="http://schemas.microsoft.com/office/drawing/2014/main" id="{87F86CC9-016E-49C1-8364-6F19C3B077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28" y="3055"/>
              <a:ext cx="528" cy="305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21" name="Line 31">
              <a:extLst>
                <a:ext uri="{FF2B5EF4-FFF2-40B4-BE49-F238E27FC236}">
                  <a16:creationId xmlns:a16="http://schemas.microsoft.com/office/drawing/2014/main" id="{7D09DE4A-4D81-48D7-8988-51AFBC0613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3024"/>
              <a:ext cx="48" cy="96"/>
            </a:xfrm>
            <a:prstGeom prst="line">
              <a:avLst/>
            </a:prstGeom>
            <a:noFill/>
            <a:ln w="5715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22" name="Line 32">
              <a:extLst>
                <a:ext uri="{FF2B5EF4-FFF2-40B4-BE49-F238E27FC236}">
                  <a16:creationId xmlns:a16="http://schemas.microsoft.com/office/drawing/2014/main" id="{13AA0EC1-0D69-4916-AEEC-BD2AD55AAB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3168"/>
              <a:ext cx="48" cy="96"/>
            </a:xfrm>
            <a:prstGeom prst="line">
              <a:avLst/>
            </a:prstGeom>
            <a:noFill/>
            <a:ln w="5715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23" name="Line 33">
              <a:extLst>
                <a:ext uri="{FF2B5EF4-FFF2-40B4-BE49-F238E27FC236}">
                  <a16:creationId xmlns:a16="http://schemas.microsoft.com/office/drawing/2014/main" id="{4B053B69-EAE6-4409-A0A2-B32672A90B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04" y="2958"/>
              <a:ext cx="240" cy="161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24" name="Line 34">
              <a:extLst>
                <a:ext uri="{FF2B5EF4-FFF2-40B4-BE49-F238E27FC236}">
                  <a16:creationId xmlns:a16="http://schemas.microsoft.com/office/drawing/2014/main" id="{EB3B4EFF-5EE0-4A2F-A6B1-BC51DA224D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08" y="2832"/>
              <a:ext cx="240" cy="161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25" name="Line 35">
              <a:extLst>
                <a:ext uri="{FF2B5EF4-FFF2-40B4-BE49-F238E27FC236}">
                  <a16:creationId xmlns:a16="http://schemas.microsoft.com/office/drawing/2014/main" id="{3E747AD1-E67F-4373-838C-A85A91ADD2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2975"/>
              <a:ext cx="83" cy="144"/>
            </a:xfrm>
            <a:prstGeom prst="line">
              <a:avLst/>
            </a:prstGeom>
            <a:noFill/>
            <a:ln w="7620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26" name="Text Box 36">
              <a:extLst>
                <a:ext uri="{FF2B5EF4-FFF2-40B4-BE49-F238E27FC236}">
                  <a16:creationId xmlns:a16="http://schemas.microsoft.com/office/drawing/2014/main" id="{9327917B-7342-4451-882B-44074D4E82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3429"/>
              <a:ext cx="296" cy="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zh-CN">
                  <a:solidFill>
                    <a:srgbClr val="FFFF00"/>
                  </a:solidFill>
                  <a:ea typeface="楷体_GB2312" pitchFamily="49" charset="-122"/>
                </a:rPr>
                <a:t>R</a:t>
              </a:r>
              <a:endParaRPr lang="en-US" altLang="zh-CN" sz="3600">
                <a:solidFill>
                  <a:srgbClr val="FFFF00"/>
                </a:solidFill>
                <a:ea typeface="楷体_GB2312" pitchFamily="49" charset="-122"/>
              </a:endParaRPr>
            </a:p>
          </p:txBody>
        </p:sp>
        <p:sp>
          <p:nvSpPr>
            <p:cNvPr id="19527" name="Text Box 37">
              <a:extLst>
                <a:ext uri="{FF2B5EF4-FFF2-40B4-BE49-F238E27FC236}">
                  <a16:creationId xmlns:a16="http://schemas.microsoft.com/office/drawing/2014/main" id="{C064C71C-A004-459C-9EBD-4A0346DB75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0" y="3018"/>
              <a:ext cx="279" cy="3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zh-CN" sz="2800">
                  <a:solidFill>
                    <a:srgbClr val="FFFF00"/>
                  </a:solidFill>
                  <a:ea typeface="楷体_GB2312" pitchFamily="49" charset="-122"/>
                </a:rPr>
                <a:t>S</a:t>
              </a:r>
              <a:endParaRPr lang="en-US" altLang="zh-CN" sz="3600">
                <a:solidFill>
                  <a:srgbClr val="FFFF00"/>
                </a:solidFill>
                <a:ea typeface="楷体_GB2312" pitchFamily="49" charset="-122"/>
              </a:endParaRPr>
            </a:p>
          </p:txBody>
        </p:sp>
        <p:sp>
          <p:nvSpPr>
            <p:cNvPr id="19528" name="Text Box 39">
              <a:extLst>
                <a:ext uri="{FF2B5EF4-FFF2-40B4-BE49-F238E27FC236}">
                  <a16:creationId xmlns:a16="http://schemas.microsoft.com/office/drawing/2014/main" id="{6892D3A1-1F4A-414C-AF28-74B8249AE4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22" y="2762"/>
              <a:ext cx="270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zh-CN">
                  <a:solidFill>
                    <a:srgbClr val="FFFF00"/>
                  </a:solidFill>
                  <a:ea typeface="楷体_GB2312" pitchFamily="49" charset="-122"/>
                </a:rPr>
                <a:t>F</a:t>
              </a:r>
              <a:endParaRPr lang="en-US" altLang="zh-CN" sz="3600">
                <a:solidFill>
                  <a:srgbClr val="FFFF00"/>
                </a:solidFill>
                <a:ea typeface="楷体_GB2312" pitchFamily="49" charset="-122"/>
              </a:endParaRPr>
            </a:p>
          </p:txBody>
        </p:sp>
        <p:sp>
          <p:nvSpPr>
            <p:cNvPr id="19529" name="Text Box 40">
              <a:extLst>
                <a:ext uri="{FF2B5EF4-FFF2-40B4-BE49-F238E27FC236}">
                  <a16:creationId xmlns:a16="http://schemas.microsoft.com/office/drawing/2014/main" id="{B834EE5F-8B65-420A-B0CF-2F65B207D1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0" y="2784"/>
              <a:ext cx="270" cy="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zh-CN">
                  <a:solidFill>
                    <a:srgbClr val="FFFF00"/>
                  </a:solidFill>
                  <a:ea typeface="楷体_GB2312" pitchFamily="49" charset="-122"/>
                </a:rPr>
                <a:t>P</a:t>
              </a:r>
              <a:endParaRPr lang="en-US" altLang="zh-CN" sz="3600">
                <a:solidFill>
                  <a:srgbClr val="FFFF00"/>
                </a:solidFill>
                <a:ea typeface="楷体_GB2312" pitchFamily="49" charset="-122"/>
              </a:endParaRPr>
            </a:p>
          </p:txBody>
        </p:sp>
        <p:sp>
          <p:nvSpPr>
            <p:cNvPr id="19530" name="Text Box 41">
              <a:extLst>
                <a:ext uri="{FF2B5EF4-FFF2-40B4-BE49-F238E27FC236}">
                  <a16:creationId xmlns:a16="http://schemas.microsoft.com/office/drawing/2014/main" id="{FC1A9955-6A9F-466C-A222-66D42BEBF3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38" y="2654"/>
              <a:ext cx="283" cy="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zh-CN">
                  <a:solidFill>
                    <a:srgbClr val="FFFF00"/>
                  </a:solidFill>
                  <a:ea typeface="楷体_GB2312" pitchFamily="49" charset="-122"/>
                </a:rPr>
                <a:t>T</a:t>
              </a:r>
              <a:endParaRPr lang="en-US" altLang="zh-CN" sz="3600">
                <a:solidFill>
                  <a:srgbClr val="FFFF00"/>
                </a:solidFill>
                <a:ea typeface="楷体_GB2312" pitchFamily="49" charset="-122"/>
              </a:endParaRPr>
            </a:p>
          </p:txBody>
        </p:sp>
        <p:sp>
          <p:nvSpPr>
            <p:cNvPr id="19531" name="Text Box 42">
              <a:extLst>
                <a:ext uri="{FF2B5EF4-FFF2-40B4-BE49-F238E27FC236}">
                  <a16:creationId xmlns:a16="http://schemas.microsoft.com/office/drawing/2014/main" id="{F3929E3B-11C2-45B0-870D-36BCFB8215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0" y="3119"/>
              <a:ext cx="357" cy="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zh-CN" b="0">
                  <a:solidFill>
                    <a:schemeClr val="hlink"/>
                  </a:solidFill>
                  <a:latin typeface="SimSun" panose="02010600030101010101" pitchFamily="2" charset="-122"/>
                </a:rPr>
                <a:t>θ</a:t>
              </a:r>
            </a:p>
          </p:txBody>
        </p:sp>
      </p:grpSp>
      <p:sp>
        <p:nvSpPr>
          <p:cNvPr id="39979" name="Text Box 43">
            <a:extLst>
              <a:ext uri="{FF2B5EF4-FFF2-40B4-BE49-F238E27FC236}">
                <a16:creationId xmlns:a16="http://schemas.microsoft.com/office/drawing/2014/main" id="{22B17BD4-F603-4A1E-B95E-670968EEF3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15175" y="4676775"/>
            <a:ext cx="188595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zh-CN" sz="2000" dirty="0">
                <a:solidFill>
                  <a:srgbClr val="FFFF00"/>
                </a:solidFill>
              </a:rPr>
              <a:t> </a:t>
            </a:r>
            <a:r>
              <a:rPr lang="zh-CN" altLang="en-US" sz="2000" dirty="0">
                <a:solidFill>
                  <a:srgbClr val="FFFF00"/>
                </a:solidFill>
              </a:rPr>
              <a:t>少量</a:t>
            </a:r>
            <a:r>
              <a:rPr lang="en-US" altLang="zh-CN" sz="2000" dirty="0">
                <a:solidFill>
                  <a:srgbClr val="FFFF00"/>
                </a:solidFill>
              </a:rPr>
              <a:t>α </a:t>
            </a:r>
            <a:r>
              <a:rPr lang="zh-CN" altLang="en-US" sz="2000" dirty="0">
                <a:solidFill>
                  <a:srgbClr val="FFFF00"/>
                </a:solidFill>
                <a:ea typeface="华文中宋" panose="02010600040101010101" pitchFamily="2" charset="-122"/>
              </a:rPr>
              <a:t>粒子大角度散射否定了汤姆逊的原子模型</a:t>
            </a:r>
          </a:p>
        </p:txBody>
      </p:sp>
      <p:grpSp>
        <p:nvGrpSpPr>
          <p:cNvPr id="3" name="Group 44">
            <a:extLst>
              <a:ext uri="{FF2B5EF4-FFF2-40B4-BE49-F238E27FC236}">
                <a16:creationId xmlns:a16="http://schemas.microsoft.com/office/drawing/2014/main" id="{42D842CB-53DC-4D15-AC97-C0B91EA77761}"/>
              </a:ext>
            </a:extLst>
          </p:cNvPr>
          <p:cNvGrpSpPr>
            <a:grpSpLocks/>
          </p:cNvGrpSpPr>
          <p:nvPr/>
        </p:nvGrpSpPr>
        <p:grpSpPr bwMode="auto">
          <a:xfrm>
            <a:off x="4821238" y="4148138"/>
            <a:ext cx="2271712" cy="2459037"/>
            <a:chOff x="2688" y="1007"/>
            <a:chExt cx="2343" cy="2648"/>
          </a:xfrm>
        </p:grpSpPr>
        <p:sp>
          <p:nvSpPr>
            <p:cNvPr id="19485" name="Oval 45">
              <a:extLst>
                <a:ext uri="{FF2B5EF4-FFF2-40B4-BE49-F238E27FC236}">
                  <a16:creationId xmlns:a16="http://schemas.microsoft.com/office/drawing/2014/main" id="{9745E3FC-CD78-40E2-A128-C7B70D792A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0" y="1644"/>
              <a:ext cx="1440" cy="1248"/>
            </a:xfrm>
            <a:prstGeom prst="ellipse">
              <a:avLst/>
            </a:prstGeom>
            <a:noFill/>
            <a:ln w="4127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9486" name="Freeform 46">
              <a:extLst>
                <a:ext uri="{FF2B5EF4-FFF2-40B4-BE49-F238E27FC236}">
                  <a16:creationId xmlns:a16="http://schemas.microsoft.com/office/drawing/2014/main" id="{B9A2D35F-0906-40C6-A200-FBD5C2B83D4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5" y="1458"/>
              <a:ext cx="1629" cy="837"/>
            </a:xfrm>
            <a:custGeom>
              <a:avLst/>
              <a:gdLst>
                <a:gd name="T0" fmla="*/ 0 w 1629"/>
                <a:gd name="T1" fmla="*/ 818 h 837"/>
                <a:gd name="T2" fmla="*/ 297 w 1629"/>
                <a:gd name="T3" fmla="*/ 815 h 837"/>
                <a:gd name="T4" fmla="*/ 1369 w 1629"/>
                <a:gd name="T5" fmla="*/ 701 h 837"/>
                <a:gd name="T6" fmla="*/ 1040 w 1629"/>
                <a:gd name="T7" fmla="*/ 0 h 8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29"/>
                <a:gd name="T13" fmla="*/ 0 h 837"/>
                <a:gd name="T14" fmla="*/ 1629 w 1629"/>
                <a:gd name="T15" fmla="*/ 837 h 8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29" h="837">
                  <a:moveTo>
                    <a:pt x="0" y="818"/>
                  </a:moveTo>
                  <a:cubicBezTo>
                    <a:pt x="52" y="818"/>
                    <a:pt x="69" y="834"/>
                    <a:pt x="297" y="815"/>
                  </a:cubicBezTo>
                  <a:cubicBezTo>
                    <a:pt x="525" y="796"/>
                    <a:pt x="1245" y="837"/>
                    <a:pt x="1369" y="701"/>
                  </a:cubicBezTo>
                  <a:cubicBezTo>
                    <a:pt x="1629" y="511"/>
                    <a:pt x="1109" y="146"/>
                    <a:pt x="1040" y="0"/>
                  </a:cubicBezTo>
                </a:path>
              </a:pathLst>
            </a:custGeom>
            <a:noFill/>
            <a:ln w="47625">
              <a:solidFill>
                <a:srgbClr val="00FF00"/>
              </a:solidFill>
              <a:round/>
              <a:headEnd/>
              <a:tailEnd type="arrow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87" name="Freeform 47">
              <a:extLst>
                <a:ext uri="{FF2B5EF4-FFF2-40B4-BE49-F238E27FC236}">
                  <a16:creationId xmlns:a16="http://schemas.microsoft.com/office/drawing/2014/main" id="{2B744856-F018-43B8-831E-1C9E3647364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9" y="1008"/>
              <a:ext cx="1675" cy="1188"/>
            </a:xfrm>
            <a:custGeom>
              <a:avLst/>
              <a:gdLst>
                <a:gd name="T0" fmla="*/ 0 w 1675"/>
                <a:gd name="T1" fmla="*/ 1154 h 1188"/>
                <a:gd name="T2" fmla="*/ 400 w 1675"/>
                <a:gd name="T3" fmla="*/ 1157 h 1188"/>
                <a:gd name="T4" fmla="*/ 1415 w 1675"/>
                <a:gd name="T5" fmla="*/ 971 h 1188"/>
                <a:gd name="T6" fmla="*/ 1658 w 1675"/>
                <a:gd name="T7" fmla="*/ 0 h 118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5"/>
                <a:gd name="T13" fmla="*/ 0 h 1188"/>
                <a:gd name="T14" fmla="*/ 1675 w 1675"/>
                <a:gd name="T15" fmla="*/ 1188 h 118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5" h="1188">
                  <a:moveTo>
                    <a:pt x="0" y="1154"/>
                  </a:moveTo>
                  <a:cubicBezTo>
                    <a:pt x="67" y="1152"/>
                    <a:pt x="164" y="1188"/>
                    <a:pt x="400" y="1157"/>
                  </a:cubicBezTo>
                  <a:cubicBezTo>
                    <a:pt x="700" y="1157"/>
                    <a:pt x="1203" y="1164"/>
                    <a:pt x="1415" y="971"/>
                  </a:cubicBezTo>
                  <a:cubicBezTo>
                    <a:pt x="1675" y="781"/>
                    <a:pt x="1608" y="202"/>
                    <a:pt x="1658" y="0"/>
                  </a:cubicBezTo>
                </a:path>
              </a:pathLst>
            </a:custGeom>
            <a:noFill/>
            <a:ln w="47625">
              <a:solidFill>
                <a:srgbClr val="00FF00"/>
              </a:solidFill>
              <a:round/>
              <a:headEnd/>
              <a:tailEnd type="arrow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88" name="Freeform 48">
              <a:extLst>
                <a:ext uri="{FF2B5EF4-FFF2-40B4-BE49-F238E27FC236}">
                  <a16:creationId xmlns:a16="http://schemas.microsoft.com/office/drawing/2014/main" id="{B7BDF18C-DAC7-45A7-B5CE-D2FA05C3071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8" y="1233"/>
              <a:ext cx="2343" cy="833"/>
            </a:xfrm>
            <a:custGeom>
              <a:avLst/>
              <a:gdLst>
                <a:gd name="T0" fmla="*/ 0 w 2343"/>
                <a:gd name="T1" fmla="*/ 800 h 833"/>
                <a:gd name="T2" fmla="*/ 546 w 2343"/>
                <a:gd name="T3" fmla="*/ 805 h 833"/>
                <a:gd name="T4" fmla="*/ 1543 w 2343"/>
                <a:gd name="T5" fmla="*/ 629 h 833"/>
                <a:gd name="T6" fmla="*/ 2343 w 2343"/>
                <a:gd name="T7" fmla="*/ 0 h 83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343"/>
                <a:gd name="T13" fmla="*/ 0 h 833"/>
                <a:gd name="T14" fmla="*/ 2343 w 2343"/>
                <a:gd name="T15" fmla="*/ 833 h 83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343" h="833">
                  <a:moveTo>
                    <a:pt x="0" y="800"/>
                  </a:moveTo>
                  <a:cubicBezTo>
                    <a:pt x="93" y="801"/>
                    <a:pt x="289" y="833"/>
                    <a:pt x="546" y="805"/>
                  </a:cubicBezTo>
                  <a:cubicBezTo>
                    <a:pt x="803" y="777"/>
                    <a:pt x="1244" y="763"/>
                    <a:pt x="1543" y="629"/>
                  </a:cubicBezTo>
                  <a:cubicBezTo>
                    <a:pt x="1803" y="439"/>
                    <a:pt x="2176" y="131"/>
                    <a:pt x="2343" y="0"/>
                  </a:cubicBezTo>
                </a:path>
              </a:pathLst>
            </a:custGeom>
            <a:noFill/>
            <a:ln w="47625">
              <a:solidFill>
                <a:srgbClr val="00FF00"/>
              </a:solidFill>
              <a:round/>
              <a:headEnd/>
              <a:tailEnd type="arrow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89" name="Freeform 49">
              <a:extLst>
                <a:ext uri="{FF2B5EF4-FFF2-40B4-BE49-F238E27FC236}">
                  <a16:creationId xmlns:a16="http://schemas.microsoft.com/office/drawing/2014/main" id="{35C059D4-8B7A-4377-842B-9ABEA2B789F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5" y="2365"/>
              <a:ext cx="1636" cy="837"/>
            </a:xfrm>
            <a:custGeom>
              <a:avLst/>
              <a:gdLst>
                <a:gd name="T0" fmla="*/ 0 w 1636"/>
                <a:gd name="T1" fmla="*/ 11 h 837"/>
                <a:gd name="T2" fmla="*/ 304 w 1636"/>
                <a:gd name="T3" fmla="*/ 22 h 837"/>
                <a:gd name="T4" fmla="*/ 1376 w 1636"/>
                <a:gd name="T5" fmla="*/ 136 h 837"/>
                <a:gd name="T6" fmla="*/ 1047 w 1636"/>
                <a:gd name="T7" fmla="*/ 837 h 8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36"/>
                <a:gd name="T13" fmla="*/ 0 h 837"/>
                <a:gd name="T14" fmla="*/ 1636 w 1636"/>
                <a:gd name="T15" fmla="*/ 837 h 8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36" h="837">
                  <a:moveTo>
                    <a:pt x="0" y="11"/>
                  </a:moveTo>
                  <a:cubicBezTo>
                    <a:pt x="53" y="13"/>
                    <a:pt x="75" y="1"/>
                    <a:pt x="304" y="22"/>
                  </a:cubicBezTo>
                  <a:cubicBezTo>
                    <a:pt x="533" y="43"/>
                    <a:pt x="1252" y="0"/>
                    <a:pt x="1376" y="136"/>
                  </a:cubicBezTo>
                  <a:cubicBezTo>
                    <a:pt x="1636" y="326"/>
                    <a:pt x="1116" y="691"/>
                    <a:pt x="1047" y="837"/>
                  </a:cubicBezTo>
                </a:path>
              </a:pathLst>
            </a:custGeom>
            <a:noFill/>
            <a:ln w="47625">
              <a:solidFill>
                <a:srgbClr val="00FF00"/>
              </a:solidFill>
              <a:round/>
              <a:headEnd/>
              <a:tailEnd type="arrow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90" name="Freeform 50">
              <a:extLst>
                <a:ext uri="{FF2B5EF4-FFF2-40B4-BE49-F238E27FC236}">
                  <a16:creationId xmlns:a16="http://schemas.microsoft.com/office/drawing/2014/main" id="{87EA85A2-789C-4262-B81C-13B4A1907C2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1" y="2461"/>
              <a:ext cx="1710" cy="1191"/>
            </a:xfrm>
            <a:custGeom>
              <a:avLst/>
              <a:gdLst>
                <a:gd name="T0" fmla="*/ 0 w 1710"/>
                <a:gd name="T1" fmla="*/ 15 h 1191"/>
                <a:gd name="T2" fmla="*/ 435 w 1710"/>
                <a:gd name="T3" fmla="*/ 34 h 1191"/>
                <a:gd name="T4" fmla="*/ 1450 w 1710"/>
                <a:gd name="T5" fmla="*/ 220 h 1191"/>
                <a:gd name="T6" fmla="*/ 1693 w 1710"/>
                <a:gd name="T7" fmla="*/ 1191 h 119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10"/>
                <a:gd name="T13" fmla="*/ 0 h 1191"/>
                <a:gd name="T14" fmla="*/ 1710 w 1710"/>
                <a:gd name="T15" fmla="*/ 1191 h 119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10" h="1191">
                  <a:moveTo>
                    <a:pt x="0" y="15"/>
                  </a:moveTo>
                  <a:cubicBezTo>
                    <a:pt x="72" y="20"/>
                    <a:pt x="193" y="0"/>
                    <a:pt x="435" y="34"/>
                  </a:cubicBezTo>
                  <a:cubicBezTo>
                    <a:pt x="735" y="34"/>
                    <a:pt x="1238" y="27"/>
                    <a:pt x="1450" y="220"/>
                  </a:cubicBezTo>
                  <a:cubicBezTo>
                    <a:pt x="1710" y="410"/>
                    <a:pt x="1643" y="989"/>
                    <a:pt x="1693" y="1191"/>
                  </a:cubicBezTo>
                </a:path>
              </a:pathLst>
            </a:custGeom>
            <a:noFill/>
            <a:ln w="47625">
              <a:solidFill>
                <a:srgbClr val="00FF00"/>
              </a:solidFill>
              <a:round/>
              <a:headEnd/>
              <a:tailEnd type="arrow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91" name="Freeform 51">
              <a:extLst>
                <a:ext uri="{FF2B5EF4-FFF2-40B4-BE49-F238E27FC236}">
                  <a16:creationId xmlns:a16="http://schemas.microsoft.com/office/drawing/2014/main" id="{297D13CA-39F2-4ED0-A6E3-17E0077B90F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6" y="2555"/>
              <a:ext cx="2272" cy="907"/>
            </a:xfrm>
            <a:custGeom>
              <a:avLst/>
              <a:gdLst>
                <a:gd name="T0" fmla="*/ 0 w 2272"/>
                <a:gd name="T1" fmla="*/ 35 h 907"/>
                <a:gd name="T2" fmla="*/ 525 w 2272"/>
                <a:gd name="T3" fmla="*/ 39 h 907"/>
                <a:gd name="T4" fmla="*/ 1550 w 2272"/>
                <a:gd name="T5" fmla="*/ 267 h 907"/>
                <a:gd name="T6" fmla="*/ 2272 w 2272"/>
                <a:gd name="T7" fmla="*/ 907 h 90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272"/>
                <a:gd name="T13" fmla="*/ 0 h 907"/>
                <a:gd name="T14" fmla="*/ 2272 w 2272"/>
                <a:gd name="T15" fmla="*/ 907 h 90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272" h="907">
                  <a:moveTo>
                    <a:pt x="0" y="35"/>
                  </a:moveTo>
                  <a:cubicBezTo>
                    <a:pt x="90" y="36"/>
                    <a:pt x="267" y="0"/>
                    <a:pt x="525" y="39"/>
                  </a:cubicBezTo>
                  <a:cubicBezTo>
                    <a:pt x="783" y="78"/>
                    <a:pt x="1259" y="122"/>
                    <a:pt x="1550" y="267"/>
                  </a:cubicBezTo>
                  <a:cubicBezTo>
                    <a:pt x="1810" y="457"/>
                    <a:pt x="2122" y="774"/>
                    <a:pt x="2272" y="907"/>
                  </a:cubicBezTo>
                </a:path>
              </a:pathLst>
            </a:custGeom>
            <a:noFill/>
            <a:ln w="47625">
              <a:solidFill>
                <a:srgbClr val="00FF00"/>
              </a:solidFill>
              <a:round/>
              <a:headEnd/>
              <a:tailEnd type="arrow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92" name="Oval 52">
              <a:extLst>
                <a:ext uri="{FF2B5EF4-FFF2-40B4-BE49-F238E27FC236}">
                  <a16:creationId xmlns:a16="http://schemas.microsoft.com/office/drawing/2014/main" id="{D6C6B350-0B17-496C-AFD3-8749CFC87E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2" y="2220"/>
              <a:ext cx="147" cy="147"/>
            </a:xfrm>
            <a:prstGeom prst="ellipse">
              <a:avLst/>
            </a:prstGeom>
            <a:solidFill>
              <a:srgbClr val="FF6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pSp>
          <p:nvGrpSpPr>
            <p:cNvPr id="19493" name="Group 53">
              <a:extLst>
                <a:ext uri="{FF2B5EF4-FFF2-40B4-BE49-F238E27FC236}">
                  <a16:creationId xmlns:a16="http://schemas.microsoft.com/office/drawing/2014/main" id="{37CB1D4F-D00C-4F3B-9B35-5262129A061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91" y="2309"/>
              <a:ext cx="199" cy="199"/>
              <a:chOff x="1146" y="1584"/>
              <a:chExt cx="199" cy="199"/>
            </a:xfrm>
          </p:grpSpPr>
          <p:sp>
            <p:nvSpPr>
              <p:cNvPr id="19511" name="Line 54">
                <a:extLst>
                  <a:ext uri="{FF2B5EF4-FFF2-40B4-BE49-F238E27FC236}">
                    <a16:creationId xmlns:a16="http://schemas.microsoft.com/office/drawing/2014/main" id="{0824D980-E0D2-4891-B322-B91AF44203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46" y="1686"/>
                <a:ext cx="199" cy="0"/>
              </a:xfrm>
              <a:prstGeom prst="line">
                <a:avLst/>
              </a:prstGeom>
              <a:noFill/>
              <a:ln w="412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512" name="Line 55">
                <a:extLst>
                  <a:ext uri="{FF2B5EF4-FFF2-40B4-BE49-F238E27FC236}">
                    <a16:creationId xmlns:a16="http://schemas.microsoft.com/office/drawing/2014/main" id="{5A19464A-76B7-4D21-BF40-E4E74F0D10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48" y="1584"/>
                <a:ext cx="0" cy="199"/>
              </a:xfrm>
              <a:prstGeom prst="line">
                <a:avLst/>
              </a:prstGeom>
              <a:noFill/>
              <a:ln w="41275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9494" name="Group 56">
              <a:extLst>
                <a:ext uri="{FF2B5EF4-FFF2-40B4-BE49-F238E27FC236}">
                  <a16:creationId xmlns:a16="http://schemas.microsoft.com/office/drawing/2014/main" id="{B69E9C64-29E2-404A-AEAC-33E4AA3652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85" y="2309"/>
              <a:ext cx="199" cy="199"/>
              <a:chOff x="1146" y="1584"/>
              <a:chExt cx="199" cy="199"/>
            </a:xfrm>
          </p:grpSpPr>
          <p:sp>
            <p:nvSpPr>
              <p:cNvPr id="19509" name="Line 57">
                <a:extLst>
                  <a:ext uri="{FF2B5EF4-FFF2-40B4-BE49-F238E27FC236}">
                    <a16:creationId xmlns:a16="http://schemas.microsoft.com/office/drawing/2014/main" id="{E7800E29-ECE0-4616-AC15-442733E070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46" y="1686"/>
                <a:ext cx="199" cy="0"/>
              </a:xfrm>
              <a:prstGeom prst="line">
                <a:avLst/>
              </a:prstGeom>
              <a:noFill/>
              <a:ln w="412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510" name="Line 58">
                <a:extLst>
                  <a:ext uri="{FF2B5EF4-FFF2-40B4-BE49-F238E27FC236}">
                    <a16:creationId xmlns:a16="http://schemas.microsoft.com/office/drawing/2014/main" id="{55FDBE7B-F835-4152-8017-272B401703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48" y="1584"/>
                <a:ext cx="0" cy="199"/>
              </a:xfrm>
              <a:prstGeom prst="line">
                <a:avLst/>
              </a:prstGeom>
              <a:noFill/>
              <a:ln w="41275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9495" name="Group 59">
              <a:extLst>
                <a:ext uri="{FF2B5EF4-FFF2-40B4-BE49-F238E27FC236}">
                  <a16:creationId xmlns:a16="http://schemas.microsoft.com/office/drawing/2014/main" id="{D9116434-17B7-41A0-AF86-B6040F7F697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85" y="2035"/>
              <a:ext cx="199" cy="199"/>
              <a:chOff x="1146" y="1584"/>
              <a:chExt cx="199" cy="199"/>
            </a:xfrm>
          </p:grpSpPr>
          <p:sp>
            <p:nvSpPr>
              <p:cNvPr id="19507" name="Line 60">
                <a:extLst>
                  <a:ext uri="{FF2B5EF4-FFF2-40B4-BE49-F238E27FC236}">
                    <a16:creationId xmlns:a16="http://schemas.microsoft.com/office/drawing/2014/main" id="{254A1F6D-724E-4374-AD22-6469E2DD7A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46" y="1686"/>
                <a:ext cx="199" cy="0"/>
              </a:xfrm>
              <a:prstGeom prst="line">
                <a:avLst/>
              </a:prstGeom>
              <a:noFill/>
              <a:ln w="412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508" name="Line 61">
                <a:extLst>
                  <a:ext uri="{FF2B5EF4-FFF2-40B4-BE49-F238E27FC236}">
                    <a16:creationId xmlns:a16="http://schemas.microsoft.com/office/drawing/2014/main" id="{85E69874-0079-49AC-B0AF-D5D59E2DA8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48" y="1584"/>
                <a:ext cx="0" cy="199"/>
              </a:xfrm>
              <a:prstGeom prst="line">
                <a:avLst/>
              </a:prstGeom>
              <a:noFill/>
              <a:ln w="41275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9496" name="Group 62">
              <a:extLst>
                <a:ext uri="{FF2B5EF4-FFF2-40B4-BE49-F238E27FC236}">
                  <a16:creationId xmlns:a16="http://schemas.microsoft.com/office/drawing/2014/main" id="{F9FD1D6E-5C89-4E31-BBBF-3A8F950784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91" y="2028"/>
              <a:ext cx="199" cy="199"/>
              <a:chOff x="1146" y="1584"/>
              <a:chExt cx="199" cy="199"/>
            </a:xfrm>
          </p:grpSpPr>
          <p:sp>
            <p:nvSpPr>
              <p:cNvPr id="19505" name="Line 63">
                <a:extLst>
                  <a:ext uri="{FF2B5EF4-FFF2-40B4-BE49-F238E27FC236}">
                    <a16:creationId xmlns:a16="http://schemas.microsoft.com/office/drawing/2014/main" id="{1C14CA45-8107-4687-B82E-2787A16E42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46" y="1686"/>
                <a:ext cx="199" cy="0"/>
              </a:xfrm>
              <a:prstGeom prst="line">
                <a:avLst/>
              </a:prstGeom>
              <a:noFill/>
              <a:ln w="412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506" name="Line 64">
                <a:extLst>
                  <a:ext uri="{FF2B5EF4-FFF2-40B4-BE49-F238E27FC236}">
                    <a16:creationId xmlns:a16="http://schemas.microsoft.com/office/drawing/2014/main" id="{4198DEB0-9D61-4302-8854-5ADD6AD0DC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48" y="1584"/>
                <a:ext cx="0" cy="199"/>
              </a:xfrm>
              <a:prstGeom prst="line">
                <a:avLst/>
              </a:prstGeom>
              <a:noFill/>
              <a:ln w="41275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9497" name="Text Box 65">
              <a:extLst>
                <a:ext uri="{FF2B5EF4-FFF2-40B4-BE49-F238E27FC236}">
                  <a16:creationId xmlns:a16="http://schemas.microsoft.com/office/drawing/2014/main" id="{5B90EB95-702C-4E1D-AE51-B407A828A7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22" y="3031"/>
              <a:ext cx="456" cy="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3200">
                  <a:solidFill>
                    <a:schemeClr val="hlink"/>
                  </a:solidFill>
                  <a:sym typeface="Symbol" panose="05050102010706020507" pitchFamily="18" charset="2"/>
                </a:rPr>
                <a:t></a:t>
              </a:r>
              <a:endParaRPr lang="zh-CN" altLang="en-US" sz="3200" b="0">
                <a:solidFill>
                  <a:schemeClr val="hlink"/>
                </a:solidFill>
                <a:sym typeface="Symbol" panose="05050102010706020507" pitchFamily="18" charset="2"/>
              </a:endParaRPr>
            </a:p>
          </p:txBody>
        </p:sp>
        <p:sp>
          <p:nvSpPr>
            <p:cNvPr id="19498" name="Text Box 66">
              <a:extLst>
                <a:ext uri="{FF2B5EF4-FFF2-40B4-BE49-F238E27FC236}">
                  <a16:creationId xmlns:a16="http://schemas.microsoft.com/office/drawing/2014/main" id="{689BD7CA-D2E5-49A0-BC69-3A198D0634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8" y="1007"/>
              <a:ext cx="456" cy="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3200">
                  <a:solidFill>
                    <a:schemeClr val="hlink"/>
                  </a:solidFill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19499" name="Oval 67">
              <a:extLst>
                <a:ext uri="{FF2B5EF4-FFF2-40B4-BE49-F238E27FC236}">
                  <a16:creationId xmlns:a16="http://schemas.microsoft.com/office/drawing/2014/main" id="{54CAFF91-3D6E-47AD-96C9-76C8415D08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8" y="1344"/>
              <a:ext cx="86" cy="8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9500" name="Oval 68">
              <a:extLst>
                <a:ext uri="{FF2B5EF4-FFF2-40B4-BE49-F238E27FC236}">
                  <a16:creationId xmlns:a16="http://schemas.microsoft.com/office/drawing/2014/main" id="{4596286C-622F-4715-B6B1-A9131B10A0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0" y="3082"/>
              <a:ext cx="86" cy="8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9501" name="Oval 69">
              <a:extLst>
                <a:ext uri="{FF2B5EF4-FFF2-40B4-BE49-F238E27FC236}">
                  <a16:creationId xmlns:a16="http://schemas.microsoft.com/office/drawing/2014/main" id="{D9D441D1-3832-4E9D-97B9-563B527D69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2" y="1392"/>
              <a:ext cx="86" cy="8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9502" name="Oval 70">
              <a:extLst>
                <a:ext uri="{FF2B5EF4-FFF2-40B4-BE49-F238E27FC236}">
                  <a16:creationId xmlns:a16="http://schemas.microsoft.com/office/drawing/2014/main" id="{2D611C88-61B8-498B-830C-919B053F5B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1546"/>
              <a:ext cx="86" cy="8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9503" name="Oval 71">
              <a:extLst>
                <a:ext uri="{FF2B5EF4-FFF2-40B4-BE49-F238E27FC236}">
                  <a16:creationId xmlns:a16="http://schemas.microsoft.com/office/drawing/2014/main" id="{7DA63C94-EC53-46A8-BCB1-56440AE4A8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6" y="2938"/>
              <a:ext cx="86" cy="8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9504" name="Oval 72">
              <a:extLst>
                <a:ext uri="{FF2B5EF4-FFF2-40B4-BE49-F238E27FC236}">
                  <a16:creationId xmlns:a16="http://schemas.microsoft.com/office/drawing/2014/main" id="{2F10A6EE-1648-4D7D-9ED2-833F9FC46B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3178"/>
              <a:ext cx="86" cy="8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40009" name="Text Box 73">
            <a:extLst>
              <a:ext uri="{FF2B5EF4-FFF2-40B4-BE49-F238E27FC236}">
                <a16:creationId xmlns:a16="http://schemas.microsoft.com/office/drawing/2014/main" id="{E9641734-2253-41C5-AC02-23069FFAEF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4508500"/>
            <a:ext cx="4584700" cy="1938338"/>
          </a:xfrm>
          <a:prstGeom prst="rect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zh-CN" altLang="en-US">
                <a:solidFill>
                  <a:schemeClr val="hlink"/>
                </a:solidFill>
                <a:ea typeface="华文中宋" panose="02010600040101010101" pitchFamily="2" charset="-122"/>
              </a:rPr>
              <a:t>大部分 </a:t>
            </a:r>
            <a:r>
              <a:rPr lang="en-US" altLang="zh-CN">
                <a:solidFill>
                  <a:schemeClr val="hlink"/>
                </a:solidFill>
              </a:rPr>
              <a:t>α </a:t>
            </a:r>
            <a:r>
              <a:rPr lang="zh-CN" altLang="en-US">
                <a:solidFill>
                  <a:schemeClr val="hlink"/>
                </a:solidFill>
                <a:ea typeface="华文中宋" panose="02010600040101010101" pitchFamily="2" charset="-122"/>
              </a:rPr>
              <a:t>粒子穿过金箔后只偏转很小的角度；但是在实验中竟然发现有少量 </a:t>
            </a:r>
            <a:r>
              <a:rPr lang="en-US" altLang="zh-CN">
                <a:solidFill>
                  <a:schemeClr val="hlink"/>
                </a:solidFill>
              </a:rPr>
              <a:t>α </a:t>
            </a:r>
            <a:r>
              <a:rPr lang="zh-CN" altLang="en-US">
                <a:solidFill>
                  <a:schemeClr val="hlink"/>
                </a:solidFill>
                <a:ea typeface="华文中宋" panose="02010600040101010101" pitchFamily="2" charset="-122"/>
              </a:rPr>
              <a:t>粒子的偏转角度大于</a:t>
            </a:r>
            <a:r>
              <a:rPr lang="en-US" altLang="zh-CN">
                <a:solidFill>
                  <a:schemeClr val="hlink"/>
                </a:solidFill>
              </a:rPr>
              <a:t>90</a:t>
            </a:r>
            <a:r>
              <a:rPr lang="en-US" altLang="zh-CN">
                <a:solidFill>
                  <a:schemeClr val="hlink"/>
                </a:solidFill>
                <a:cs typeface="Times New Roman" panose="02020603050405020304" pitchFamily="18" charset="0"/>
              </a:rPr>
              <a:t>°</a:t>
            </a:r>
            <a:r>
              <a:rPr lang="zh-CN" altLang="en-US">
                <a:solidFill>
                  <a:schemeClr val="hlink"/>
                </a:solidFill>
              </a:rPr>
              <a:t>，</a:t>
            </a:r>
            <a:r>
              <a:rPr lang="zh-CN" altLang="en-US">
                <a:solidFill>
                  <a:schemeClr val="hlink"/>
                </a:solidFill>
                <a:ea typeface="华文中宋" panose="02010600040101010101" pitchFamily="2" charset="-122"/>
              </a:rPr>
              <a:t>甚至约有几万分之一的粒子被向后散射了</a:t>
            </a:r>
            <a:r>
              <a:rPr lang="zh-CN" altLang="en-US">
                <a:solidFill>
                  <a:schemeClr val="hlink"/>
                </a:solidFill>
              </a:rPr>
              <a:t>。</a:t>
            </a:r>
          </a:p>
        </p:txBody>
      </p:sp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1CA99417-BA91-4734-B09A-27FAF242C2AA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>
            <a:off x="6704013" y="1000125"/>
            <a:ext cx="857250" cy="714375"/>
          </a:xfrm>
          <a:prstGeom prst="line">
            <a:avLst/>
          </a:prstGeom>
          <a:noFill/>
          <a:ln w="28575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7" name="矩形 76">
            <a:extLst>
              <a:ext uri="{FF2B5EF4-FFF2-40B4-BE49-F238E27FC236}">
                <a16:creationId xmlns:a16="http://schemas.microsoft.com/office/drawing/2014/main" id="{46AEFBF2-3893-4588-84CD-641263C862F7}"/>
              </a:ext>
            </a:extLst>
          </p:cNvPr>
          <p:cNvSpPr/>
          <p:nvPr/>
        </p:nvSpPr>
        <p:spPr>
          <a:xfrm>
            <a:off x="5559425" y="476250"/>
            <a:ext cx="1298575" cy="415925"/>
          </a:xfrm>
          <a:prstGeom prst="rect">
            <a:avLst/>
          </a:prstGeom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r>
              <a:rPr lang="en-US" altLang="zh-CN" sz="2100">
                <a:solidFill>
                  <a:srgbClr val="47FFD1"/>
                </a:solidFill>
              </a:rPr>
              <a:t>r =10</a:t>
            </a:r>
            <a:r>
              <a:rPr lang="en-US" altLang="zh-CN" sz="2100" baseline="30000">
                <a:solidFill>
                  <a:srgbClr val="47FFD1"/>
                </a:solidFill>
              </a:rPr>
              <a:t>-10 </a:t>
            </a:r>
            <a:r>
              <a:rPr lang="en-US" altLang="zh-CN" sz="2100">
                <a:solidFill>
                  <a:srgbClr val="47FFD1"/>
                </a:solidFill>
              </a:rPr>
              <a:t>m</a:t>
            </a:r>
            <a:endParaRPr lang="zh-CN" altLang="en-US" sz="2100">
              <a:solidFill>
                <a:srgbClr val="47FFD1"/>
              </a:solidFill>
            </a:endParaRPr>
          </a:p>
        </p:txBody>
      </p:sp>
      <p:sp>
        <p:nvSpPr>
          <p:cNvPr id="76" name="灯片编号占位符 1">
            <a:extLst>
              <a:ext uri="{FF2B5EF4-FFF2-40B4-BE49-F238E27FC236}">
                <a16:creationId xmlns:a16="http://schemas.microsoft.com/office/drawing/2014/main" id="{4F91B23D-C148-4C8B-914C-69BB545B9FA2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/>
            <a:fld id="{D576E691-5116-4FBA-9B84-E9D18BAAAC14}" type="slidenum">
              <a:rPr lang="en-US" altLang="zh-CN" b="0" smtClean="0">
                <a:solidFill>
                  <a:srgbClr val="FF00FF"/>
                </a:solidFill>
              </a:rPr>
              <a:pPr eaLnBrk="1" hangingPunct="1"/>
              <a:t>6</a:t>
            </a:fld>
            <a:r>
              <a:rPr lang="en-US" altLang="zh-CN" b="0" dirty="0">
                <a:solidFill>
                  <a:srgbClr val="FF00FF"/>
                </a:solidFill>
              </a:rPr>
              <a:t>/28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9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9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9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9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9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9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9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39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9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39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39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39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39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39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39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39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99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99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39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40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39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9" grpId="0" autoUpdateAnimBg="0"/>
      <p:bldP spid="39940" grpId="0" autoUpdateAnimBg="0"/>
      <p:bldP spid="39941" grpId="0" animBg="1"/>
      <p:bldP spid="39942" grpId="0" animBg="1"/>
      <p:bldP spid="39943" grpId="0" animBg="1"/>
      <p:bldP spid="39944" grpId="0" animBg="1"/>
      <p:bldP spid="39945" grpId="0" animBg="1"/>
      <p:bldP spid="39946" grpId="0" animBg="1"/>
      <p:bldP spid="39947" grpId="0" animBg="1"/>
      <p:bldP spid="39948" grpId="0" animBg="1"/>
      <p:bldP spid="39949" grpId="0" animBg="1"/>
      <p:bldP spid="39950" grpId="0" animBg="1"/>
      <p:bldP spid="39951" grpId="0" animBg="1"/>
      <p:bldP spid="39952" grpId="0" animBg="1"/>
      <p:bldP spid="39953" grpId="0" animBg="1"/>
      <p:bldP spid="39954" grpId="0" animBg="1"/>
      <p:bldP spid="39955" grpId="0" animBg="1"/>
      <p:bldP spid="39956" grpId="0" uiExpand="1" build="p" bldLvl="2" autoUpdateAnimBg="0"/>
      <p:bldP spid="39957" grpId="0" autoUpdateAnimBg="0"/>
      <p:bldP spid="39979" grpId="0" autoUpdateAnimBg="0"/>
      <p:bldP spid="40009" grpId="0" animBg="1" autoUpdateAnimBg="0"/>
      <p:bldP spid="7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2">
            <a:extLst>
              <a:ext uri="{FF2B5EF4-FFF2-40B4-BE49-F238E27FC236}">
                <a16:creationId xmlns:a16="http://schemas.microsoft.com/office/drawing/2014/main" id="{325AEA45-3679-407E-96F6-0ADCF63AF9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8463" y="241300"/>
            <a:ext cx="6673850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en-US" altLang="zh-CN" sz="2500">
                <a:solidFill>
                  <a:srgbClr val="00FFFF"/>
                </a:solidFill>
                <a:latin typeface="SimSun" panose="02010600030101010101" pitchFamily="2" charset="-122"/>
                <a:sym typeface="Symbol" panose="05050102010706020507" pitchFamily="18" charset="2"/>
              </a:rPr>
              <a:t>3.</a:t>
            </a:r>
            <a:r>
              <a:rPr lang="zh-CN" altLang="en-US" sz="2500">
                <a:solidFill>
                  <a:srgbClr val="00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卢瑟福的原子有核模型或行星模型</a:t>
            </a:r>
          </a:p>
        </p:txBody>
      </p:sp>
      <p:sp>
        <p:nvSpPr>
          <p:cNvPr id="40963" name="Text Box 3">
            <a:extLst>
              <a:ext uri="{FF2B5EF4-FFF2-40B4-BE49-F238E27FC236}">
                <a16:creationId xmlns:a16="http://schemas.microsoft.com/office/drawing/2014/main" id="{9DF1E0A9-7B41-4C2A-8F6D-922E8EFD7B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900" y="762000"/>
            <a:ext cx="6423025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1911</a:t>
            </a:r>
            <a:r>
              <a:rPr lang="zh-CN" altLang="en-US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年，</a:t>
            </a:r>
            <a:r>
              <a:rPr lang="zh-CN" altLang="en-US" dirty="0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卢瑟福</a:t>
            </a:r>
            <a:r>
              <a:rPr lang="zh-CN" altLang="en-US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提出原子</a:t>
            </a:r>
            <a:r>
              <a:rPr lang="zh-CN" altLang="en-US" dirty="0">
                <a:solidFill>
                  <a:srgbClr val="00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有核模型</a:t>
            </a:r>
            <a:r>
              <a:rPr lang="zh-CN" altLang="en-US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或称</a:t>
            </a:r>
            <a:r>
              <a:rPr lang="zh-CN" altLang="en-US" dirty="0">
                <a:solidFill>
                  <a:srgbClr val="00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行星模型</a:t>
            </a:r>
            <a:r>
              <a:rPr lang="zh-CN" altLang="en-US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：原子的中心有一个带正电的原子核，它几乎集中了原子的全部质量，电子围绕这个核旋转，核的大小与整个原子相比是很小的。</a:t>
            </a:r>
          </a:p>
        </p:txBody>
      </p:sp>
      <p:sp>
        <p:nvSpPr>
          <p:cNvPr id="40964" name="Text Box 4">
            <a:extLst>
              <a:ext uri="{FF2B5EF4-FFF2-40B4-BE49-F238E27FC236}">
                <a16:creationId xmlns:a16="http://schemas.microsoft.com/office/drawing/2014/main" id="{6F3F52C5-98B0-4762-9669-117B6D73BC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2362200"/>
            <a:ext cx="631825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chemeClr val="hlink"/>
                </a:solidFill>
                <a:ea typeface="华文中宋" panose="02010600040101010101" pitchFamily="2" charset="-122"/>
              </a:rPr>
              <a:t>原子的有核模型可以“解释粒子的大角度散射问题”。</a:t>
            </a:r>
          </a:p>
        </p:txBody>
      </p:sp>
      <p:grpSp>
        <p:nvGrpSpPr>
          <p:cNvPr id="2" name="Group 5">
            <a:extLst>
              <a:ext uri="{FF2B5EF4-FFF2-40B4-BE49-F238E27FC236}">
                <a16:creationId xmlns:a16="http://schemas.microsoft.com/office/drawing/2014/main" id="{9D9DC3A8-8997-4559-862D-2EF1A6C4E561}"/>
              </a:ext>
            </a:extLst>
          </p:cNvPr>
          <p:cNvGrpSpPr>
            <a:grpSpLocks/>
          </p:cNvGrpSpPr>
          <p:nvPr/>
        </p:nvGrpSpPr>
        <p:grpSpPr bwMode="auto">
          <a:xfrm>
            <a:off x="6948488" y="609600"/>
            <a:ext cx="1746250" cy="1739900"/>
            <a:chOff x="4416" y="336"/>
            <a:chExt cx="1008" cy="1008"/>
          </a:xfrm>
        </p:grpSpPr>
        <p:sp>
          <p:nvSpPr>
            <p:cNvPr id="20498" name="Oval 6">
              <a:extLst>
                <a:ext uri="{FF2B5EF4-FFF2-40B4-BE49-F238E27FC236}">
                  <a16:creationId xmlns:a16="http://schemas.microsoft.com/office/drawing/2014/main" id="{61C0F751-AE1F-4E86-9F60-DC09EC756A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336"/>
              <a:ext cx="1008" cy="1008"/>
            </a:xfrm>
            <a:prstGeom prst="ellips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0499" name="Oval 7">
              <a:extLst>
                <a:ext uri="{FF2B5EF4-FFF2-40B4-BE49-F238E27FC236}">
                  <a16:creationId xmlns:a16="http://schemas.microsoft.com/office/drawing/2014/main" id="{70FD5715-D40D-46D1-9B2F-BB00995356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6" y="816"/>
              <a:ext cx="95" cy="95"/>
            </a:xfrm>
            <a:prstGeom prst="ellipse">
              <a:avLst/>
            </a:prstGeom>
            <a:solidFill>
              <a:srgbClr val="00FF00"/>
            </a:solidFill>
            <a:ln w="19050">
              <a:solidFill>
                <a:srgbClr val="00FF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0500" name="Line 8">
              <a:extLst>
                <a:ext uri="{FF2B5EF4-FFF2-40B4-BE49-F238E27FC236}">
                  <a16:creationId xmlns:a16="http://schemas.microsoft.com/office/drawing/2014/main" id="{C8519427-BEC1-44B0-9258-5E077A5ED4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308" y="336"/>
              <a:ext cx="116" cy="432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01" name="Line 9">
              <a:extLst>
                <a:ext uri="{FF2B5EF4-FFF2-40B4-BE49-F238E27FC236}">
                  <a16:creationId xmlns:a16="http://schemas.microsoft.com/office/drawing/2014/main" id="{9A1BEAF5-755B-479B-A41C-42D489B400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44" y="812"/>
              <a:ext cx="192" cy="52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02" name="Line 10">
              <a:extLst>
                <a:ext uri="{FF2B5EF4-FFF2-40B4-BE49-F238E27FC236}">
                  <a16:creationId xmlns:a16="http://schemas.microsoft.com/office/drawing/2014/main" id="{97EF01F3-0FC0-4F3E-A8A0-F5889771522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2" y="768"/>
              <a:ext cx="192" cy="48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0971" name="Text Box 11">
            <a:extLst>
              <a:ext uri="{FF2B5EF4-FFF2-40B4-BE49-F238E27FC236}">
                <a16:creationId xmlns:a16="http://schemas.microsoft.com/office/drawing/2014/main" id="{B85C3680-FA9D-4DA5-BE2F-0C4523DE5B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8" y="3243263"/>
            <a:ext cx="6794500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en-US" altLang="zh-CN" sz="2500">
                <a:solidFill>
                  <a:srgbClr val="00FFFF"/>
                </a:solidFill>
                <a:latin typeface="SimSun" panose="02010600030101010101" pitchFamily="2" charset="-122"/>
              </a:rPr>
              <a:t>4.</a:t>
            </a:r>
            <a:r>
              <a:rPr lang="zh-CN" altLang="en-US" sz="2500">
                <a:solidFill>
                  <a:srgbClr val="00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经典原子有核模型的困难</a:t>
            </a:r>
          </a:p>
        </p:txBody>
      </p:sp>
      <p:sp>
        <p:nvSpPr>
          <p:cNvPr id="40972" name="Rectangle 12">
            <a:extLst>
              <a:ext uri="{FF2B5EF4-FFF2-40B4-BE49-F238E27FC236}">
                <a16:creationId xmlns:a16="http://schemas.microsoft.com/office/drawing/2014/main" id="{40394883-BBB0-4F91-846B-B02EE5CECA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" y="3716338"/>
            <a:ext cx="6858000" cy="267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lvl="1" eaLnBrk="1" hangingPunct="1"/>
            <a:r>
              <a:rPr lang="zh-CN" altLang="en-US" dirty="0">
                <a:solidFill>
                  <a:srgbClr val="FFFF00"/>
                </a:solidFill>
                <a:ea typeface="华文中宋" panose="02010600040101010101" pitchFamily="2" charset="-122"/>
              </a:rPr>
              <a:t>经典电磁理论：</a:t>
            </a:r>
            <a:r>
              <a:rPr lang="zh-CN" altLang="en-US" dirty="0">
                <a:solidFill>
                  <a:schemeClr val="hlink"/>
                </a:solidFill>
                <a:ea typeface="华文中宋" panose="02010600040101010101" pitchFamily="2" charset="-122"/>
              </a:rPr>
              <a:t>作加速运动的电子不断向外辐射电磁波，其频率等于电子绕核旋转的频率。</a:t>
            </a:r>
          </a:p>
          <a:p>
            <a:pPr lvl="1" eaLnBrk="1" hangingPunct="1"/>
            <a:r>
              <a:rPr lang="zh-CN" altLang="en-US" dirty="0">
                <a:solidFill>
                  <a:schemeClr val="hlink"/>
                </a:solidFill>
                <a:ea typeface="华文中宋" panose="02010600040101010101" pitchFamily="2" charset="-122"/>
              </a:rPr>
              <a:t>由于原子不断地向外辐射电磁波，其能量会逐渐减少，电子绕核旋转的频率也要逐渐地改变，因而原子发射的光谱应该是</a:t>
            </a:r>
            <a:r>
              <a:rPr lang="zh-CN" altLang="en-US" dirty="0">
                <a:solidFill>
                  <a:srgbClr val="00FFFF"/>
                </a:solidFill>
                <a:ea typeface="华文中宋" panose="02010600040101010101" pitchFamily="2" charset="-122"/>
              </a:rPr>
              <a:t>连续光谱</a:t>
            </a:r>
            <a:r>
              <a:rPr lang="zh-CN" altLang="en-US" dirty="0">
                <a:solidFill>
                  <a:schemeClr val="hlink"/>
                </a:solidFill>
                <a:ea typeface="华文中宋" panose="02010600040101010101" pitchFamily="2" charset="-122"/>
              </a:rPr>
              <a:t>。</a:t>
            </a:r>
          </a:p>
          <a:p>
            <a:pPr lvl="1" eaLnBrk="1" hangingPunct="1"/>
            <a:r>
              <a:rPr lang="zh-CN" altLang="en-US" dirty="0">
                <a:solidFill>
                  <a:schemeClr val="hlink"/>
                </a:solidFill>
                <a:ea typeface="华文中宋" panose="02010600040101010101" pitchFamily="2" charset="-122"/>
              </a:rPr>
              <a:t>由于原子总能量的减少，电子将逐渐接近原子核而导致电子会</a:t>
            </a:r>
            <a:r>
              <a:rPr lang="zh-CN" altLang="en-US" dirty="0">
                <a:solidFill>
                  <a:srgbClr val="00FFFF"/>
                </a:solidFill>
                <a:ea typeface="华文中宋" panose="02010600040101010101" pitchFamily="2" charset="-122"/>
              </a:rPr>
              <a:t>落到原子核</a:t>
            </a:r>
            <a:r>
              <a:rPr lang="zh-CN" altLang="en-US" dirty="0">
                <a:solidFill>
                  <a:schemeClr val="hlink"/>
                </a:solidFill>
                <a:ea typeface="华文中宋" panose="02010600040101010101" pitchFamily="2" charset="-122"/>
              </a:rPr>
              <a:t>上。</a:t>
            </a:r>
          </a:p>
        </p:txBody>
      </p:sp>
      <p:grpSp>
        <p:nvGrpSpPr>
          <p:cNvPr id="3" name="Group 13">
            <a:extLst>
              <a:ext uri="{FF2B5EF4-FFF2-40B4-BE49-F238E27FC236}">
                <a16:creationId xmlns:a16="http://schemas.microsoft.com/office/drawing/2014/main" id="{43CA3D09-273E-4F5D-8242-9B946D6023E1}"/>
              </a:ext>
            </a:extLst>
          </p:cNvPr>
          <p:cNvGrpSpPr>
            <a:grpSpLocks/>
          </p:cNvGrpSpPr>
          <p:nvPr/>
        </p:nvGrpSpPr>
        <p:grpSpPr bwMode="auto">
          <a:xfrm>
            <a:off x="6948488" y="4076700"/>
            <a:ext cx="2033587" cy="1752600"/>
            <a:chOff x="3696" y="2544"/>
            <a:chExt cx="1872" cy="1536"/>
          </a:xfrm>
        </p:grpSpPr>
        <p:sp>
          <p:nvSpPr>
            <p:cNvPr id="20490" name="Rectangle 14">
              <a:extLst>
                <a:ext uri="{FF2B5EF4-FFF2-40B4-BE49-F238E27FC236}">
                  <a16:creationId xmlns:a16="http://schemas.microsoft.com/office/drawing/2014/main" id="{44E3F406-07F6-45E5-98E3-B571B18558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2544"/>
              <a:ext cx="1872" cy="15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0491" name="Freeform 15">
              <a:extLst>
                <a:ext uri="{FF2B5EF4-FFF2-40B4-BE49-F238E27FC236}">
                  <a16:creationId xmlns:a16="http://schemas.microsoft.com/office/drawing/2014/main" id="{C764B8A5-9373-4D73-991F-AB867CED54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6" y="2981"/>
              <a:ext cx="1399" cy="905"/>
            </a:xfrm>
            <a:custGeom>
              <a:avLst/>
              <a:gdLst>
                <a:gd name="T0" fmla="*/ 0 w 1399"/>
                <a:gd name="T1" fmla="*/ 4 h 905"/>
                <a:gd name="T2" fmla="*/ 66 w 1399"/>
                <a:gd name="T3" fmla="*/ 277 h 905"/>
                <a:gd name="T4" fmla="*/ 198 w 1399"/>
                <a:gd name="T5" fmla="*/ 559 h 905"/>
                <a:gd name="T6" fmla="*/ 504 w 1399"/>
                <a:gd name="T7" fmla="*/ 817 h 905"/>
                <a:gd name="T8" fmla="*/ 972 w 1399"/>
                <a:gd name="T9" fmla="*/ 883 h 905"/>
                <a:gd name="T10" fmla="*/ 1314 w 1399"/>
                <a:gd name="T11" fmla="*/ 685 h 905"/>
                <a:gd name="T12" fmla="*/ 1398 w 1399"/>
                <a:gd name="T13" fmla="*/ 403 h 905"/>
                <a:gd name="T14" fmla="*/ 1308 w 1399"/>
                <a:gd name="T15" fmla="*/ 127 h 905"/>
                <a:gd name="T16" fmla="*/ 1134 w 1399"/>
                <a:gd name="T17" fmla="*/ 19 h 905"/>
                <a:gd name="T18" fmla="*/ 954 w 1399"/>
                <a:gd name="T19" fmla="*/ 13 h 905"/>
                <a:gd name="T20" fmla="*/ 828 w 1399"/>
                <a:gd name="T21" fmla="*/ 91 h 905"/>
                <a:gd name="T22" fmla="*/ 774 w 1399"/>
                <a:gd name="T23" fmla="*/ 199 h 905"/>
                <a:gd name="T24" fmla="*/ 774 w 1399"/>
                <a:gd name="T25" fmla="*/ 319 h 905"/>
                <a:gd name="T26" fmla="*/ 821 w 1399"/>
                <a:gd name="T27" fmla="*/ 475 h 90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1399"/>
                <a:gd name="T43" fmla="*/ 0 h 905"/>
                <a:gd name="T44" fmla="*/ 1399 w 1399"/>
                <a:gd name="T45" fmla="*/ 905 h 905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1399" h="905">
                  <a:moveTo>
                    <a:pt x="0" y="4"/>
                  </a:moveTo>
                  <a:cubicBezTo>
                    <a:pt x="11" y="49"/>
                    <a:pt x="33" y="185"/>
                    <a:pt x="66" y="277"/>
                  </a:cubicBezTo>
                  <a:cubicBezTo>
                    <a:pt x="99" y="369"/>
                    <a:pt x="125" y="469"/>
                    <a:pt x="198" y="559"/>
                  </a:cubicBezTo>
                  <a:cubicBezTo>
                    <a:pt x="271" y="649"/>
                    <a:pt x="375" y="763"/>
                    <a:pt x="504" y="817"/>
                  </a:cubicBezTo>
                  <a:cubicBezTo>
                    <a:pt x="633" y="871"/>
                    <a:pt x="837" y="905"/>
                    <a:pt x="972" y="883"/>
                  </a:cubicBezTo>
                  <a:cubicBezTo>
                    <a:pt x="1107" y="861"/>
                    <a:pt x="1243" y="765"/>
                    <a:pt x="1314" y="685"/>
                  </a:cubicBezTo>
                  <a:cubicBezTo>
                    <a:pt x="1385" y="605"/>
                    <a:pt x="1399" y="496"/>
                    <a:pt x="1398" y="403"/>
                  </a:cubicBezTo>
                  <a:cubicBezTo>
                    <a:pt x="1397" y="310"/>
                    <a:pt x="1352" y="191"/>
                    <a:pt x="1308" y="127"/>
                  </a:cubicBezTo>
                  <a:cubicBezTo>
                    <a:pt x="1264" y="63"/>
                    <a:pt x="1193" y="38"/>
                    <a:pt x="1134" y="19"/>
                  </a:cubicBezTo>
                  <a:cubicBezTo>
                    <a:pt x="1075" y="0"/>
                    <a:pt x="1005" y="1"/>
                    <a:pt x="954" y="13"/>
                  </a:cubicBezTo>
                  <a:cubicBezTo>
                    <a:pt x="903" y="25"/>
                    <a:pt x="858" y="60"/>
                    <a:pt x="828" y="91"/>
                  </a:cubicBezTo>
                  <a:cubicBezTo>
                    <a:pt x="798" y="122"/>
                    <a:pt x="783" y="161"/>
                    <a:pt x="774" y="199"/>
                  </a:cubicBezTo>
                  <a:cubicBezTo>
                    <a:pt x="765" y="237"/>
                    <a:pt x="766" y="273"/>
                    <a:pt x="774" y="319"/>
                  </a:cubicBezTo>
                  <a:cubicBezTo>
                    <a:pt x="782" y="365"/>
                    <a:pt x="811" y="443"/>
                    <a:pt x="821" y="475"/>
                  </a:cubicBezTo>
                </a:path>
              </a:pathLst>
            </a:custGeom>
            <a:noFill/>
            <a:ln w="28575">
              <a:solidFill>
                <a:srgbClr val="00FF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0492" name="Object 16">
              <a:extLst>
                <a:ext uri="{FF2B5EF4-FFF2-40B4-BE49-F238E27FC236}">
                  <a16:creationId xmlns:a16="http://schemas.microsoft.com/office/drawing/2014/main" id="{ACAE3A66-76E9-460B-8734-92D8C5BCF8D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81" y="2674"/>
            <a:ext cx="443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6190" name="Equation" r:id="rId4" imgW="295422" imgH="152468" progId="Equation.3">
                    <p:embed/>
                  </p:oleObj>
                </mc:Choice>
                <mc:Fallback>
                  <p:oleObj name="Equation" r:id="rId4" imgW="295422" imgH="152468" progId="Equation.3">
                    <p:embed/>
                    <p:pic>
                      <p:nvPicPr>
                        <p:cNvPr id="20492" name="Object 16">
                          <a:extLst>
                            <a:ext uri="{FF2B5EF4-FFF2-40B4-BE49-F238E27FC236}">
                              <a16:creationId xmlns:a16="http://schemas.microsoft.com/office/drawing/2014/main" id="{ACAE3A66-76E9-460B-8734-92D8C5BCF8D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81" y="2674"/>
                          <a:ext cx="443" cy="2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0493" name="Group 17">
              <a:extLst>
                <a:ext uri="{FF2B5EF4-FFF2-40B4-BE49-F238E27FC236}">
                  <a16:creationId xmlns:a16="http://schemas.microsoft.com/office/drawing/2014/main" id="{2B11A91A-25A3-4518-940E-A603C7D1B80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71" y="3408"/>
              <a:ext cx="199" cy="400"/>
              <a:chOff x="4416" y="1536"/>
              <a:chExt cx="199" cy="400"/>
            </a:xfrm>
          </p:grpSpPr>
          <p:sp>
            <p:nvSpPr>
              <p:cNvPr id="20496" name="Oval 18">
                <a:extLst>
                  <a:ext uri="{FF2B5EF4-FFF2-40B4-BE49-F238E27FC236}">
                    <a16:creationId xmlns:a16="http://schemas.microsoft.com/office/drawing/2014/main" id="{7DBDB65F-BD10-485F-A988-054B87B8FC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23" y="1584"/>
                <a:ext cx="192" cy="192"/>
              </a:xfrm>
              <a:prstGeom prst="ellipse">
                <a:avLst/>
              </a:prstGeom>
              <a:gradFill rotWithShape="0">
                <a:gsLst>
                  <a:gs pos="0">
                    <a:schemeClr val="bg1"/>
                  </a:gs>
                  <a:gs pos="100000">
                    <a:srgbClr val="FF9999"/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SimSun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SimSun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SimSun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SimSun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SimSun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497" name="Text Box 19">
                <a:extLst>
                  <a:ext uri="{FF2B5EF4-FFF2-40B4-BE49-F238E27FC236}">
                    <a16:creationId xmlns:a16="http://schemas.microsoft.com/office/drawing/2014/main" id="{681119D2-5A20-43E9-8611-D35BB00B84A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1536"/>
                <a:ext cx="170" cy="4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SimSun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SimSun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SimSun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SimSun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SimSun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endParaRPr lang="zh-CN" altLang="en-US"/>
              </a:p>
            </p:txBody>
          </p:sp>
        </p:grpSp>
        <p:sp>
          <p:nvSpPr>
            <p:cNvPr id="20494" name="Oval 20">
              <a:extLst>
                <a:ext uri="{FF2B5EF4-FFF2-40B4-BE49-F238E27FC236}">
                  <a16:creationId xmlns:a16="http://schemas.microsoft.com/office/drawing/2014/main" id="{61388486-9BBF-433C-84B5-7795ADCE08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2928"/>
              <a:ext cx="96" cy="96"/>
            </a:xfrm>
            <a:prstGeom prst="ellipse">
              <a:avLst/>
            </a:prstGeom>
            <a:solidFill>
              <a:srgbClr val="FFFF00"/>
            </a:solidFill>
            <a:ln w="28575">
              <a:solidFill>
                <a:srgbClr val="FFFF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aphicFrame>
          <p:nvGraphicFramePr>
            <p:cNvPr id="20495" name="Object 21">
              <a:extLst>
                <a:ext uri="{FF2B5EF4-FFF2-40B4-BE49-F238E27FC236}">
                  <a16:creationId xmlns:a16="http://schemas.microsoft.com/office/drawing/2014/main" id="{076CE09A-D1CB-4597-9A42-ECA82B36FFA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24" y="3312"/>
            <a:ext cx="441" cy="2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6191" name="公式" r:id="rId6" imgW="304902" imgH="161959" progId="Equation.3">
                    <p:embed/>
                  </p:oleObj>
                </mc:Choice>
                <mc:Fallback>
                  <p:oleObj name="公式" r:id="rId6" imgW="304902" imgH="161959" progId="Equation.3">
                    <p:embed/>
                    <p:pic>
                      <p:nvPicPr>
                        <p:cNvPr id="20495" name="Object 21">
                          <a:extLst>
                            <a:ext uri="{FF2B5EF4-FFF2-40B4-BE49-F238E27FC236}">
                              <a16:creationId xmlns:a16="http://schemas.microsoft.com/office/drawing/2014/main" id="{076CE09A-D1CB-4597-9A42-ECA82B36FFA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24" y="3312"/>
                          <a:ext cx="441" cy="2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3" name="灯片编号占位符 1">
            <a:extLst>
              <a:ext uri="{FF2B5EF4-FFF2-40B4-BE49-F238E27FC236}">
                <a16:creationId xmlns:a16="http://schemas.microsoft.com/office/drawing/2014/main" id="{D0C8B14D-E393-498A-A713-8082D6C178B3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/>
            <a:fld id="{D576E691-5116-4FBA-9B84-E9D18BAAAC14}" type="slidenum">
              <a:rPr lang="en-US" altLang="zh-CN" b="0" smtClean="0">
                <a:solidFill>
                  <a:srgbClr val="FF00FF"/>
                </a:solidFill>
              </a:rPr>
              <a:pPr eaLnBrk="1" hangingPunct="1"/>
              <a:t>7</a:t>
            </a:fld>
            <a:r>
              <a:rPr lang="en-US" altLang="zh-CN" b="0" dirty="0">
                <a:solidFill>
                  <a:srgbClr val="FF00FF"/>
                </a:solidFill>
              </a:rPr>
              <a:t>/28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0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0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0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3" grpId="0" autoUpdateAnimBg="0"/>
      <p:bldP spid="40964" grpId="0" autoUpdateAnimBg="0"/>
      <p:bldP spid="40971" grpId="0" build="p" bldLvl="2" autoUpdateAnimBg="0"/>
      <p:bldP spid="4097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3010" name="Object 2">
            <a:extLst>
              <a:ext uri="{FF2B5EF4-FFF2-40B4-BE49-F238E27FC236}">
                <a16:creationId xmlns:a16="http://schemas.microsoft.com/office/drawing/2014/main" id="{82349192-0303-40C5-8786-ECC08413A00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28813" y="5638800"/>
          <a:ext cx="1389062" cy="719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7214" name="公式" r:id="rId5" imgW="723875" imgH="352391" progId="Equation.3">
                  <p:embed/>
                </p:oleObj>
              </mc:Choice>
              <mc:Fallback>
                <p:oleObj name="公式" r:id="rId5" imgW="723875" imgH="352391" progId="Equation.3">
                  <p:embed/>
                  <p:pic>
                    <p:nvPicPr>
                      <p:cNvPr id="43010" name="Object 2">
                        <a:extLst>
                          <a:ext uri="{FF2B5EF4-FFF2-40B4-BE49-F238E27FC236}">
                            <a16:creationId xmlns:a16="http://schemas.microsoft.com/office/drawing/2014/main" id="{82349192-0303-40C5-8786-ECC08413A00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8813" y="5638800"/>
                        <a:ext cx="1389062" cy="719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>
            <a:extLst>
              <a:ext uri="{FF2B5EF4-FFF2-40B4-BE49-F238E27FC236}">
                <a16:creationId xmlns:a16="http://schemas.microsoft.com/office/drawing/2014/main" id="{56796384-8769-4AC1-BC02-1E4A02939748}"/>
              </a:ext>
            </a:extLst>
          </p:cNvPr>
          <p:cNvGrpSpPr>
            <a:grpSpLocks/>
          </p:cNvGrpSpPr>
          <p:nvPr/>
        </p:nvGrpSpPr>
        <p:grpSpPr bwMode="auto">
          <a:xfrm>
            <a:off x="5918200" y="4989513"/>
            <a:ext cx="2052638" cy="1511300"/>
            <a:chOff x="3728" y="2832"/>
            <a:chExt cx="1293" cy="952"/>
          </a:xfrm>
        </p:grpSpPr>
        <p:sp>
          <p:nvSpPr>
            <p:cNvPr id="23570" name="Line 5">
              <a:extLst>
                <a:ext uri="{FF2B5EF4-FFF2-40B4-BE49-F238E27FC236}">
                  <a16:creationId xmlns:a16="http://schemas.microsoft.com/office/drawing/2014/main" id="{18495D06-52DD-4AEE-8C06-38DA0C340C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13" y="2912"/>
              <a:ext cx="1008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71" name="Line 6">
              <a:extLst>
                <a:ext uri="{FF2B5EF4-FFF2-40B4-BE49-F238E27FC236}">
                  <a16:creationId xmlns:a16="http://schemas.microsoft.com/office/drawing/2014/main" id="{27338A30-CB1B-4AB8-A427-7E00D73C14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13" y="3680"/>
              <a:ext cx="1008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3572" name="Object 7">
              <a:extLst>
                <a:ext uri="{FF2B5EF4-FFF2-40B4-BE49-F238E27FC236}">
                  <a16:creationId xmlns:a16="http://schemas.microsoft.com/office/drawing/2014/main" id="{28DEA0D4-75CF-4534-B905-0B81CB46CEC5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728" y="2832"/>
            <a:ext cx="240" cy="9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7215" name="Equation" r:id="rId7" imgW="342824" imgH="1476307" progId="Equation.3">
                    <p:embed/>
                  </p:oleObj>
                </mc:Choice>
                <mc:Fallback>
                  <p:oleObj name="Equation" r:id="rId7" imgW="342824" imgH="1476307" progId="Equation.3">
                    <p:embed/>
                    <p:pic>
                      <p:nvPicPr>
                        <p:cNvPr id="23572" name="Object 7">
                          <a:extLst>
                            <a:ext uri="{FF2B5EF4-FFF2-40B4-BE49-F238E27FC236}">
                              <a16:creationId xmlns:a16="http://schemas.microsoft.com/office/drawing/2014/main" id="{28DEA0D4-75CF-4534-B905-0B81CB46CEC5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28" y="2832"/>
                          <a:ext cx="240" cy="9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3016" name="Line 8">
            <a:extLst>
              <a:ext uri="{FF2B5EF4-FFF2-40B4-BE49-F238E27FC236}">
                <a16:creationId xmlns:a16="http://schemas.microsoft.com/office/drawing/2014/main" id="{65087019-C50F-4CCA-9B48-DD4CB065BD9F}"/>
              </a:ext>
            </a:extLst>
          </p:cNvPr>
          <p:cNvSpPr>
            <a:spLocks noChangeShapeType="1"/>
          </p:cNvSpPr>
          <p:nvPr/>
        </p:nvSpPr>
        <p:spPr bwMode="auto">
          <a:xfrm>
            <a:off x="6996113" y="5349875"/>
            <a:ext cx="0" cy="838200"/>
          </a:xfrm>
          <a:prstGeom prst="line">
            <a:avLst/>
          </a:prstGeom>
          <a:noFill/>
          <a:ln w="38100">
            <a:solidFill>
              <a:srgbClr val="00FF9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" name="Group 9">
            <a:extLst>
              <a:ext uri="{FF2B5EF4-FFF2-40B4-BE49-F238E27FC236}">
                <a16:creationId xmlns:a16="http://schemas.microsoft.com/office/drawing/2014/main" id="{D6486C76-D1BC-4C26-A34E-9D24AF0195AD}"/>
              </a:ext>
            </a:extLst>
          </p:cNvPr>
          <p:cNvGrpSpPr>
            <a:grpSpLocks/>
          </p:cNvGrpSpPr>
          <p:nvPr/>
        </p:nvGrpSpPr>
        <p:grpSpPr bwMode="auto">
          <a:xfrm>
            <a:off x="7307263" y="5578475"/>
            <a:ext cx="1152525" cy="288925"/>
            <a:chOff x="2562" y="1570"/>
            <a:chExt cx="3539" cy="1815"/>
          </a:xfrm>
        </p:grpSpPr>
        <p:sp>
          <p:nvSpPr>
            <p:cNvPr id="23568" name="Freeform 10">
              <a:extLst>
                <a:ext uri="{FF2B5EF4-FFF2-40B4-BE49-F238E27FC236}">
                  <a16:creationId xmlns:a16="http://schemas.microsoft.com/office/drawing/2014/main" id="{D0AFFB2D-A295-49E3-A832-401FC4A3EC24}"/>
                </a:ext>
              </a:extLst>
            </p:cNvPr>
            <p:cNvSpPr>
              <a:spLocks/>
            </p:cNvSpPr>
            <p:nvPr/>
          </p:nvSpPr>
          <p:spPr bwMode="auto">
            <a:xfrm rot="10773799">
              <a:off x="2562" y="1570"/>
              <a:ext cx="2569" cy="1815"/>
            </a:xfrm>
            <a:custGeom>
              <a:avLst/>
              <a:gdLst>
                <a:gd name="T0" fmla="*/ 3655 w 2544"/>
                <a:gd name="T1" fmla="*/ 2147483646 h 880"/>
                <a:gd name="T2" fmla="*/ 3308 w 2544"/>
                <a:gd name="T3" fmla="*/ 2147483646 h 880"/>
                <a:gd name="T4" fmla="*/ 2895 w 2544"/>
                <a:gd name="T5" fmla="*/ 2147483646 h 880"/>
                <a:gd name="T6" fmla="*/ 2414 w 2544"/>
                <a:gd name="T7" fmla="*/ 2147483646 h 880"/>
                <a:gd name="T8" fmla="*/ 1930 w 2544"/>
                <a:gd name="T9" fmla="*/ 2147483646 h 880"/>
                <a:gd name="T10" fmla="*/ 1584 w 2544"/>
                <a:gd name="T11" fmla="*/ 2147483646 h 880"/>
                <a:gd name="T12" fmla="*/ 1170 w 2544"/>
                <a:gd name="T13" fmla="*/ 2147483646 h 880"/>
                <a:gd name="T14" fmla="*/ 756 w 2544"/>
                <a:gd name="T15" fmla="*/ 0 h 880"/>
                <a:gd name="T16" fmla="*/ 271 w 2544"/>
                <a:gd name="T17" fmla="*/ 2147483646 h 880"/>
                <a:gd name="T18" fmla="*/ 0 w 2544"/>
                <a:gd name="T19" fmla="*/ 2147483646 h 88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544"/>
                <a:gd name="T31" fmla="*/ 0 h 880"/>
                <a:gd name="T32" fmla="*/ 2544 w 2544"/>
                <a:gd name="T33" fmla="*/ 880 h 88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544" h="880">
                  <a:moveTo>
                    <a:pt x="2544" y="816"/>
                  </a:moveTo>
                  <a:cubicBezTo>
                    <a:pt x="2468" y="432"/>
                    <a:pt x="2392" y="48"/>
                    <a:pt x="2304" y="48"/>
                  </a:cubicBezTo>
                  <a:cubicBezTo>
                    <a:pt x="2216" y="48"/>
                    <a:pt x="2120" y="816"/>
                    <a:pt x="2016" y="816"/>
                  </a:cubicBezTo>
                  <a:cubicBezTo>
                    <a:pt x="1912" y="816"/>
                    <a:pt x="1792" y="48"/>
                    <a:pt x="1680" y="48"/>
                  </a:cubicBezTo>
                  <a:cubicBezTo>
                    <a:pt x="1568" y="48"/>
                    <a:pt x="1440" y="816"/>
                    <a:pt x="1344" y="816"/>
                  </a:cubicBezTo>
                  <a:cubicBezTo>
                    <a:pt x="1248" y="816"/>
                    <a:pt x="1192" y="48"/>
                    <a:pt x="1104" y="48"/>
                  </a:cubicBezTo>
                  <a:cubicBezTo>
                    <a:pt x="1016" y="48"/>
                    <a:pt x="912" y="824"/>
                    <a:pt x="816" y="816"/>
                  </a:cubicBezTo>
                  <a:cubicBezTo>
                    <a:pt x="720" y="808"/>
                    <a:pt x="632" y="0"/>
                    <a:pt x="528" y="0"/>
                  </a:cubicBezTo>
                  <a:cubicBezTo>
                    <a:pt x="424" y="0"/>
                    <a:pt x="280" y="752"/>
                    <a:pt x="192" y="816"/>
                  </a:cubicBezTo>
                  <a:cubicBezTo>
                    <a:pt x="104" y="880"/>
                    <a:pt x="32" y="456"/>
                    <a:pt x="0" y="384"/>
                  </a:cubicBezTo>
                </a:path>
              </a:pathLst>
            </a:cu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69" name="Line 11">
              <a:extLst>
                <a:ext uri="{FF2B5EF4-FFF2-40B4-BE49-F238E27FC236}">
                  <a16:creationId xmlns:a16="http://schemas.microsoft.com/office/drawing/2014/main" id="{4717BAA2-203B-4F1E-BA9A-3BA3EADDC0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38" y="2568"/>
              <a:ext cx="963" cy="0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3558" name="Text Box 12">
            <a:extLst>
              <a:ext uri="{FF2B5EF4-FFF2-40B4-BE49-F238E27FC236}">
                <a16:creationId xmlns:a16="http://schemas.microsoft.com/office/drawing/2014/main" id="{F2552FE7-DAAF-4CBE-B804-CA06193146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488" y="428625"/>
            <a:ext cx="54419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三</a:t>
            </a:r>
            <a:r>
              <a:rPr lang="en-US" altLang="zh-CN" sz="2800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. </a:t>
            </a:r>
            <a:r>
              <a:rPr lang="zh-CN" altLang="en-US" sz="2800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玻尔氢原子理论 </a:t>
            </a:r>
            <a:r>
              <a:rPr lang="en-US" altLang="zh-CN" sz="2800">
                <a:solidFill>
                  <a:schemeClr val="bg1"/>
                </a:solidFill>
                <a:ea typeface="华文中宋" panose="02010600040101010101" pitchFamily="2" charset="-122"/>
              </a:rPr>
              <a:t>(1913</a:t>
            </a:r>
            <a:r>
              <a:rPr lang="zh-CN" altLang="en-US" sz="2800">
                <a:solidFill>
                  <a:schemeClr val="bg1"/>
                </a:solidFill>
                <a:ea typeface="华文中宋" panose="02010600040101010101" pitchFamily="2" charset="-122"/>
              </a:rPr>
              <a:t>年</a:t>
            </a:r>
            <a:r>
              <a:rPr lang="en-US" altLang="zh-CN" sz="2800">
                <a:solidFill>
                  <a:schemeClr val="bg1"/>
                </a:solidFill>
                <a:ea typeface="华文中宋" panose="02010600040101010101" pitchFamily="2" charset="-122"/>
              </a:rPr>
              <a:t>)</a:t>
            </a:r>
            <a:endParaRPr lang="zh-CN" altLang="en-US" sz="2800">
              <a:solidFill>
                <a:schemeClr val="bg1"/>
              </a:solidFill>
              <a:ea typeface="华文中宋" panose="02010600040101010101" pitchFamily="2" charset="-122"/>
            </a:endParaRPr>
          </a:p>
        </p:txBody>
      </p:sp>
      <p:pic>
        <p:nvPicPr>
          <p:cNvPr id="43021" name="Picture 13" descr="原子轨道">
            <a:extLst>
              <a:ext uri="{FF2B5EF4-FFF2-40B4-BE49-F238E27FC236}">
                <a16:creationId xmlns:a16="http://schemas.microsoft.com/office/drawing/2014/main" id="{F0FC3344-C757-4FD9-84EE-160F884FB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clrChange>
              <a:clrFrom>
                <a:srgbClr val="336799"/>
              </a:clrFrom>
              <a:clrTo>
                <a:srgbClr val="33679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8838" y="928688"/>
            <a:ext cx="2705100" cy="293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22" name="Rectangle 14">
            <a:extLst>
              <a:ext uri="{FF2B5EF4-FFF2-40B4-BE49-F238E27FC236}">
                <a16:creationId xmlns:a16="http://schemas.microsoft.com/office/drawing/2014/main" id="{747A0276-1CC5-4AAA-8B1F-3B1F9B538B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063" y="1000125"/>
            <a:ext cx="5357812" cy="906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dirty="0">
                <a:solidFill>
                  <a:srgbClr val="66FFFF"/>
                </a:solidFill>
              </a:rPr>
              <a:t>1. </a:t>
            </a:r>
            <a:r>
              <a:rPr lang="zh-CN" altLang="en-US" dirty="0">
                <a:solidFill>
                  <a:srgbClr val="66FFFF"/>
                </a:solidFill>
                <a:ea typeface="华文中宋" panose="02010600040101010101" pitchFamily="2" charset="-122"/>
              </a:rPr>
              <a:t>定态假设</a:t>
            </a:r>
            <a:r>
              <a:rPr lang="en-US" altLang="zh-CN" dirty="0">
                <a:solidFill>
                  <a:srgbClr val="66FFFF"/>
                </a:solidFill>
                <a:ea typeface="华文中宋" panose="02010600040101010101" pitchFamily="2" charset="-122"/>
              </a:rPr>
              <a:t>:  </a:t>
            </a:r>
            <a:r>
              <a:rPr lang="zh-CN" altLang="en-US" sz="2200" dirty="0">
                <a:solidFill>
                  <a:schemeClr val="bg1"/>
                </a:solidFill>
                <a:ea typeface="华文中宋" panose="02010600040101010101" pitchFamily="2" charset="-122"/>
              </a:rPr>
              <a:t>原子处于一系列不连续而又稳定的能量状态</a:t>
            </a:r>
          </a:p>
        </p:txBody>
      </p:sp>
      <p:sp>
        <p:nvSpPr>
          <p:cNvPr id="43025" name="Rectangle 17">
            <a:extLst>
              <a:ext uri="{FF2B5EF4-FFF2-40B4-BE49-F238E27FC236}">
                <a16:creationId xmlns:a16="http://schemas.microsoft.com/office/drawing/2014/main" id="{1962B8AF-BFBF-4D23-8CC0-EEA26203A2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75" y="3200400"/>
            <a:ext cx="39592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>
              <a:buFontTx/>
              <a:buChar char="•"/>
            </a:pPr>
            <a:r>
              <a:rPr lang="zh-CN" altLang="en-US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这些定态的能量不连续</a:t>
            </a:r>
          </a:p>
        </p:txBody>
      </p:sp>
      <p:sp>
        <p:nvSpPr>
          <p:cNvPr id="43026" name="Rectangle 18">
            <a:extLst>
              <a:ext uri="{FF2B5EF4-FFF2-40B4-BE49-F238E27FC236}">
                <a16:creationId xmlns:a16="http://schemas.microsoft.com/office/drawing/2014/main" id="{A68E804C-C65B-4253-8946-7B78CE8983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75" y="2590800"/>
            <a:ext cx="3071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zh-CN" altLang="en-US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不辐射电磁波</a:t>
            </a:r>
          </a:p>
        </p:txBody>
      </p:sp>
      <p:sp>
        <p:nvSpPr>
          <p:cNvPr id="43027" name="Rectangle 19">
            <a:extLst>
              <a:ext uri="{FF2B5EF4-FFF2-40B4-BE49-F238E27FC236}">
                <a16:creationId xmlns:a16="http://schemas.microsoft.com/office/drawing/2014/main" id="{4C0E4CF7-3F55-4708-8F9C-AB0C784546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75" y="1981200"/>
            <a:ext cx="3095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>
              <a:buFontTx/>
              <a:buChar char="•"/>
            </a:pPr>
            <a:r>
              <a:rPr lang="zh-CN" altLang="en-US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电子作圆周运动</a:t>
            </a:r>
          </a:p>
        </p:txBody>
      </p:sp>
      <p:sp>
        <p:nvSpPr>
          <p:cNvPr id="43028" name="Text Box 20">
            <a:extLst>
              <a:ext uri="{FF2B5EF4-FFF2-40B4-BE49-F238E27FC236}">
                <a16:creationId xmlns:a16="http://schemas.microsoft.com/office/drawing/2014/main" id="{7F5BAF1A-5BB7-4663-9502-D43E435DD5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15313" y="5157788"/>
            <a:ext cx="6096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0" i="1">
                <a:solidFill>
                  <a:srgbClr val="FF6600"/>
                </a:solidFill>
              </a:rPr>
              <a:t>v</a:t>
            </a:r>
          </a:p>
        </p:txBody>
      </p:sp>
      <p:sp>
        <p:nvSpPr>
          <p:cNvPr id="43029" name="Rectangle 21">
            <a:extLst>
              <a:ext uri="{FF2B5EF4-FFF2-40B4-BE49-F238E27FC236}">
                <a16:creationId xmlns:a16="http://schemas.microsoft.com/office/drawing/2014/main" id="{7DCFFFE8-5AB1-41A3-B74D-1779975217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7375" y="4972050"/>
            <a:ext cx="18573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>
                <a:solidFill>
                  <a:schemeClr val="hlink"/>
                </a:solidFill>
                <a:ea typeface="华文中宋" panose="02010600040101010101" pitchFamily="2" charset="-122"/>
              </a:rPr>
              <a:t>光子频率：</a:t>
            </a:r>
          </a:p>
        </p:txBody>
      </p:sp>
      <p:sp>
        <p:nvSpPr>
          <p:cNvPr id="22" name="Rectangle 49">
            <a:extLst>
              <a:ext uri="{FF2B5EF4-FFF2-40B4-BE49-F238E27FC236}">
                <a16:creationId xmlns:a16="http://schemas.microsoft.com/office/drawing/2014/main" id="{8A6595F2-FB93-4D9F-A415-5B5B6408D1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" y="3857625"/>
            <a:ext cx="8334375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 dirty="0">
                <a:solidFill>
                  <a:srgbClr val="56F8DD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2. </a:t>
            </a:r>
            <a:r>
              <a:rPr lang="zh-CN" altLang="en-US" dirty="0">
                <a:solidFill>
                  <a:srgbClr val="56F8DD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跃迁假设：</a:t>
            </a:r>
            <a:r>
              <a:rPr lang="zh-CN" altLang="en-US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原子能量的发生变化（辐射或吸收电磁波），仅在两个定态间发生跃迁</a:t>
            </a:r>
          </a:p>
        </p:txBody>
      </p:sp>
      <p:sp>
        <p:nvSpPr>
          <p:cNvPr id="21" name="灯片编号占位符 1">
            <a:extLst>
              <a:ext uri="{FF2B5EF4-FFF2-40B4-BE49-F238E27FC236}">
                <a16:creationId xmlns:a16="http://schemas.microsoft.com/office/drawing/2014/main" id="{DCEB56A7-7B3D-428A-B674-6AC607DFF7B6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/>
            <a:fld id="{D576E691-5116-4FBA-9B84-E9D18BAAAC14}" type="slidenum">
              <a:rPr lang="en-US" altLang="zh-CN" b="0" smtClean="0">
                <a:solidFill>
                  <a:srgbClr val="FF00FF"/>
                </a:solidFill>
              </a:rPr>
              <a:pPr eaLnBrk="1" hangingPunct="1"/>
              <a:t>8</a:t>
            </a:fld>
            <a:r>
              <a:rPr lang="en-US" altLang="zh-CN" b="0" dirty="0">
                <a:solidFill>
                  <a:srgbClr val="FF00FF"/>
                </a:solidFill>
              </a:rPr>
              <a:t>/28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3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430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3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3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43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8" dur="500"/>
                                        <p:tgtEl>
                                          <p:spTgt spid="43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3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2" dur="500"/>
                                        <p:tgtEl>
                                          <p:spTgt spid="43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22" grpId="0"/>
      <p:bldP spid="43026" grpId="0" autoUpdateAnimBg="0"/>
      <p:bldP spid="43027" grpId="0" autoUpdateAnimBg="0"/>
      <p:bldP spid="43029" grpId="0"/>
      <p:bldP spid="22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708F0F7-AC08-4FD6-9BC4-F39904A110ED}"/>
              </a:ext>
            </a:extLst>
          </p:cNvPr>
          <p:cNvGrpSpPr>
            <a:grpSpLocks/>
          </p:cNvGrpSpPr>
          <p:nvPr/>
        </p:nvGrpSpPr>
        <p:grpSpPr bwMode="auto">
          <a:xfrm>
            <a:off x="6156325" y="2924175"/>
            <a:ext cx="2386013" cy="2655888"/>
            <a:chOff x="4128" y="1824"/>
            <a:chExt cx="1503" cy="1673"/>
          </a:xfrm>
        </p:grpSpPr>
        <p:pic>
          <p:nvPicPr>
            <p:cNvPr id="25619" name="Picture 3" descr="原子轨道">
              <a:extLst>
                <a:ext uri="{FF2B5EF4-FFF2-40B4-BE49-F238E27FC236}">
                  <a16:creationId xmlns:a16="http://schemas.microsoft.com/office/drawing/2014/main" id="{4C77DA5F-4035-4789-BEA7-29E325827D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clrChange>
                <a:clrFrom>
                  <a:srgbClr val="336799"/>
                </a:clrFrom>
                <a:clrTo>
                  <a:srgbClr val="336799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28" y="1824"/>
              <a:ext cx="1503" cy="16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620" name="Rectangle 4">
              <a:extLst>
                <a:ext uri="{FF2B5EF4-FFF2-40B4-BE49-F238E27FC236}">
                  <a16:creationId xmlns:a16="http://schemas.microsoft.com/office/drawing/2014/main" id="{C2987ED4-56F9-4B77-9C76-DDFFE59EEF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0" y="2928"/>
              <a:ext cx="450" cy="19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9pPr>
            </a:lstStyle>
            <a:p>
              <a:pPr algn="ctr" eaLnBrk="1" hangingPunct="1"/>
              <a:endParaRPr lang="en-US" altLang="zh-CN" baseline="-20000">
                <a:solidFill>
                  <a:srgbClr val="FFFF99"/>
                </a:solidFill>
              </a:endParaRPr>
            </a:p>
          </p:txBody>
        </p:sp>
        <p:sp>
          <p:nvSpPr>
            <p:cNvPr id="25621" name="Rectangle 5">
              <a:extLst>
                <a:ext uri="{FF2B5EF4-FFF2-40B4-BE49-F238E27FC236}">
                  <a16:creationId xmlns:a16="http://schemas.microsoft.com/office/drawing/2014/main" id="{2F20BB10-F253-4FA1-8A66-67575350C3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0" y="2863"/>
              <a:ext cx="51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b="0" i="1">
                  <a:solidFill>
                    <a:srgbClr val="FFFF99"/>
                  </a:solidFill>
                </a:rPr>
                <a:t>r</a:t>
              </a:r>
              <a:r>
                <a:rPr lang="en-US" altLang="zh-CN" sz="2000" b="0" baseline="-20000">
                  <a:solidFill>
                    <a:srgbClr val="FFFF99"/>
                  </a:solidFill>
                </a:rPr>
                <a:t>2</a:t>
              </a:r>
              <a:r>
                <a:rPr lang="en-US" altLang="zh-CN" sz="2000" b="0">
                  <a:solidFill>
                    <a:srgbClr val="FFFF99"/>
                  </a:solidFill>
                </a:rPr>
                <a:t>=4</a:t>
              </a:r>
              <a:r>
                <a:rPr lang="en-US" altLang="zh-CN" sz="2000" b="0" i="1">
                  <a:solidFill>
                    <a:srgbClr val="FFFF99"/>
                  </a:solidFill>
                </a:rPr>
                <a:t>r</a:t>
              </a:r>
              <a:r>
                <a:rPr lang="en-US" altLang="zh-CN" sz="2000" b="0" baseline="-20000">
                  <a:solidFill>
                    <a:srgbClr val="FFFF99"/>
                  </a:solidFill>
                </a:rPr>
                <a:t>1</a:t>
              </a:r>
            </a:p>
          </p:txBody>
        </p:sp>
        <p:sp>
          <p:nvSpPr>
            <p:cNvPr id="25622" name="Rectangle 6">
              <a:extLst>
                <a:ext uri="{FF2B5EF4-FFF2-40B4-BE49-F238E27FC236}">
                  <a16:creationId xmlns:a16="http://schemas.microsoft.com/office/drawing/2014/main" id="{6232B0E2-B89F-46A4-A2CF-7CF3AB4D46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2" y="3312"/>
              <a:ext cx="528" cy="18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5623" name="Rectangle 7">
              <a:extLst>
                <a:ext uri="{FF2B5EF4-FFF2-40B4-BE49-F238E27FC236}">
                  <a16:creationId xmlns:a16="http://schemas.microsoft.com/office/drawing/2014/main" id="{F3EAD9F4-0180-47E2-AFCF-8C84B9C302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0" y="3247"/>
              <a:ext cx="51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b="0" i="1">
                  <a:solidFill>
                    <a:srgbClr val="FFFF99"/>
                  </a:solidFill>
                </a:rPr>
                <a:t>r</a:t>
              </a:r>
              <a:r>
                <a:rPr lang="en-US" altLang="zh-CN" sz="2000" b="0" baseline="-20000">
                  <a:solidFill>
                    <a:srgbClr val="FFFF99"/>
                  </a:solidFill>
                </a:rPr>
                <a:t>3</a:t>
              </a:r>
              <a:r>
                <a:rPr lang="en-US" altLang="zh-CN" sz="2000" b="0">
                  <a:solidFill>
                    <a:srgbClr val="FFFF99"/>
                  </a:solidFill>
                </a:rPr>
                <a:t>=9</a:t>
              </a:r>
              <a:r>
                <a:rPr lang="en-US" altLang="zh-CN" sz="2000" b="0" i="1">
                  <a:solidFill>
                    <a:srgbClr val="FFFF99"/>
                  </a:solidFill>
                </a:rPr>
                <a:t>r</a:t>
              </a:r>
              <a:r>
                <a:rPr lang="en-US" altLang="zh-CN" sz="2000" b="0" baseline="-20000">
                  <a:solidFill>
                    <a:srgbClr val="FFFF99"/>
                  </a:solidFill>
                </a:rPr>
                <a:t>1</a:t>
              </a:r>
            </a:p>
          </p:txBody>
        </p:sp>
      </p:grpSp>
      <p:pic>
        <p:nvPicPr>
          <p:cNvPr id="25603" name="Picture 8" descr="电子的圆周运动">
            <a:extLst>
              <a:ext uri="{FF2B5EF4-FFF2-40B4-BE49-F238E27FC236}">
                <a16:creationId xmlns:a16="http://schemas.microsoft.com/office/drawing/2014/main" id="{BC4A9A4E-8EDD-4D86-B804-6ACAEAA057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336799"/>
              </a:clrFrom>
              <a:clrTo>
                <a:srgbClr val="33679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388938"/>
            <a:ext cx="2681288" cy="2430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5604" name="Object 9">
            <a:extLst>
              <a:ext uri="{FF2B5EF4-FFF2-40B4-BE49-F238E27FC236}">
                <a16:creationId xmlns:a16="http://schemas.microsoft.com/office/drawing/2014/main" id="{9C1F25A3-2345-46E0-9A67-652CD0BF09A9}"/>
              </a:ext>
            </a:extLst>
          </p:cNvPr>
          <p:cNvGraphicFramePr>
            <a:graphicFrameLocks/>
          </p:cNvGraphicFramePr>
          <p:nvPr/>
        </p:nvGraphicFramePr>
        <p:xfrm>
          <a:off x="8532813" y="1049338"/>
          <a:ext cx="184150" cy="24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8308" name="公式" r:id="rId7" imgW="190525" imgH="266666" progId="Equation.3">
                  <p:embed/>
                </p:oleObj>
              </mc:Choice>
              <mc:Fallback>
                <p:oleObj name="公式" r:id="rId7" imgW="190525" imgH="266666" progId="Equation.3">
                  <p:embed/>
                  <p:pic>
                    <p:nvPicPr>
                      <p:cNvPr id="25604" name="Object 9">
                        <a:extLst>
                          <a:ext uri="{FF2B5EF4-FFF2-40B4-BE49-F238E27FC236}">
                            <a16:creationId xmlns:a16="http://schemas.microsoft.com/office/drawing/2014/main" id="{9C1F25A3-2345-46E0-9A67-652CD0BF09A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32813" y="1049338"/>
                        <a:ext cx="184150" cy="244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5" name="Text Box 10">
            <a:extLst>
              <a:ext uri="{FF2B5EF4-FFF2-40B4-BE49-F238E27FC236}">
                <a16:creationId xmlns:a16="http://schemas.microsoft.com/office/drawing/2014/main" id="{0270914A-8FC7-4CBC-8EC7-876F5AD831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37438" y="665163"/>
            <a:ext cx="3032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en-US" altLang="zh-CN" b="0" i="1">
                <a:solidFill>
                  <a:srgbClr val="99FFCC"/>
                </a:solidFill>
              </a:rPr>
              <a:t>r</a:t>
            </a:r>
          </a:p>
        </p:txBody>
      </p:sp>
      <p:sp>
        <p:nvSpPr>
          <p:cNvPr id="45067" name="Rectangle 11">
            <a:extLst>
              <a:ext uri="{FF2B5EF4-FFF2-40B4-BE49-F238E27FC236}">
                <a16:creationId xmlns:a16="http://schemas.microsoft.com/office/drawing/2014/main" id="{F59700E0-BAC6-4D53-BA91-BEFD76163F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338" y="2152650"/>
            <a:ext cx="2667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向心力是库仑力 </a:t>
            </a:r>
          </a:p>
        </p:txBody>
      </p:sp>
      <p:graphicFrame>
        <p:nvGraphicFramePr>
          <p:cNvPr id="45068" name="Object 12">
            <a:extLst>
              <a:ext uri="{FF2B5EF4-FFF2-40B4-BE49-F238E27FC236}">
                <a16:creationId xmlns:a16="http://schemas.microsoft.com/office/drawing/2014/main" id="{7621579A-754F-43D3-BEC9-DE317F2FC823}"/>
              </a:ext>
            </a:extLst>
          </p:cNvPr>
          <p:cNvGraphicFramePr>
            <a:graphicFrameLocks/>
          </p:cNvGraphicFramePr>
          <p:nvPr/>
        </p:nvGraphicFramePr>
        <p:xfrm>
          <a:off x="3143250" y="1928813"/>
          <a:ext cx="2198688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8309" name="Equation" r:id="rId9" imgW="2162143" imgH="923993" progId="Equation.3">
                  <p:embed/>
                </p:oleObj>
              </mc:Choice>
              <mc:Fallback>
                <p:oleObj name="Equation" r:id="rId9" imgW="2162143" imgH="923993" progId="Equation.3">
                  <p:embed/>
                  <p:pic>
                    <p:nvPicPr>
                      <p:cNvPr id="45068" name="Object 12">
                        <a:extLst>
                          <a:ext uri="{FF2B5EF4-FFF2-40B4-BE49-F238E27FC236}">
                            <a16:creationId xmlns:a16="http://schemas.microsoft.com/office/drawing/2014/main" id="{7621579A-754F-43D3-BEC9-DE317F2FC82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3250" y="1928813"/>
                        <a:ext cx="2198688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9" name="Object 13">
            <a:extLst>
              <a:ext uri="{FF2B5EF4-FFF2-40B4-BE49-F238E27FC236}">
                <a16:creationId xmlns:a16="http://schemas.microsoft.com/office/drawing/2014/main" id="{CBC5D480-D1D4-43D5-9306-5E948F7D7143}"/>
              </a:ext>
            </a:extLst>
          </p:cNvPr>
          <p:cNvGraphicFramePr>
            <a:graphicFrameLocks/>
          </p:cNvGraphicFramePr>
          <p:nvPr/>
        </p:nvGraphicFramePr>
        <p:xfrm>
          <a:off x="2701925" y="958850"/>
          <a:ext cx="2370138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8310" name="公式" r:id="rId11" imgW="2181104" imgH="790507" progId="Equation.3">
                  <p:embed/>
                </p:oleObj>
              </mc:Choice>
              <mc:Fallback>
                <p:oleObj name="公式" r:id="rId11" imgW="2181104" imgH="790507" progId="Equation.3">
                  <p:embed/>
                  <p:pic>
                    <p:nvPicPr>
                      <p:cNvPr id="45069" name="Object 13">
                        <a:extLst>
                          <a:ext uri="{FF2B5EF4-FFF2-40B4-BE49-F238E27FC236}">
                            <a16:creationId xmlns:a16="http://schemas.microsoft.com/office/drawing/2014/main" id="{CBC5D480-D1D4-43D5-9306-5E948F7D714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1925" y="958850"/>
                        <a:ext cx="2370138" cy="827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70" name="Rectangle 14">
            <a:extLst>
              <a:ext uri="{FF2B5EF4-FFF2-40B4-BE49-F238E27FC236}">
                <a16:creationId xmlns:a16="http://schemas.microsoft.com/office/drawing/2014/main" id="{A9AB0D1F-A435-4209-9E0A-6756EC5D15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2971800"/>
            <a:ext cx="5638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由上两式得</a:t>
            </a:r>
            <a:r>
              <a:rPr lang="en-US" altLang="zh-CN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, </a:t>
            </a:r>
            <a:r>
              <a:rPr lang="zh-CN" altLang="en-US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第</a:t>
            </a:r>
            <a:r>
              <a:rPr lang="zh-CN" altLang="en-US" dirty="0">
                <a:solidFill>
                  <a:schemeClr val="bg1"/>
                </a:solidFill>
                <a:latin typeface="SimSun" panose="02010600030101010101" pitchFamily="2" charset="-122"/>
              </a:rPr>
              <a:t> </a:t>
            </a:r>
            <a:r>
              <a:rPr lang="en-US" altLang="zh-CN" i="1" dirty="0">
                <a:solidFill>
                  <a:srgbClr val="00FFFF"/>
                </a:solidFill>
              </a:rPr>
              <a:t>n</a:t>
            </a:r>
            <a:r>
              <a:rPr lang="en-US" altLang="zh-CN" i="1" dirty="0">
                <a:solidFill>
                  <a:srgbClr val="99FFCC"/>
                </a:solidFill>
              </a:rPr>
              <a:t> </a:t>
            </a:r>
            <a:r>
              <a:rPr lang="zh-CN" altLang="en-US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个定态的轨道半径为</a:t>
            </a:r>
            <a:r>
              <a:rPr lang="zh-CN" altLang="en-US" dirty="0">
                <a:solidFill>
                  <a:schemeClr val="bg1"/>
                </a:solidFill>
                <a:latin typeface="SimSun" panose="02010600030101010101" pitchFamily="2" charset="-122"/>
              </a:rPr>
              <a:t> </a:t>
            </a:r>
          </a:p>
        </p:txBody>
      </p:sp>
      <p:graphicFrame>
        <p:nvGraphicFramePr>
          <p:cNvPr id="45071" name="Object 15">
            <a:extLst>
              <a:ext uri="{FF2B5EF4-FFF2-40B4-BE49-F238E27FC236}">
                <a16:creationId xmlns:a16="http://schemas.microsoft.com/office/drawing/2014/main" id="{ECD75410-86C3-49B9-A72F-24799DE89C0F}"/>
              </a:ext>
            </a:extLst>
          </p:cNvPr>
          <p:cNvGraphicFramePr>
            <a:graphicFrameLocks/>
          </p:cNvGraphicFramePr>
          <p:nvPr/>
        </p:nvGraphicFramePr>
        <p:xfrm>
          <a:off x="809625" y="3479800"/>
          <a:ext cx="4841875" cy="877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8311" name="Equation" r:id="rId13" imgW="4800753" imgH="838268" progId="Equation.3">
                  <p:embed/>
                </p:oleObj>
              </mc:Choice>
              <mc:Fallback>
                <p:oleObj name="Equation" r:id="rId13" imgW="4800753" imgH="838268" progId="Equation.3">
                  <p:embed/>
                  <p:pic>
                    <p:nvPicPr>
                      <p:cNvPr id="45071" name="Object 15">
                        <a:extLst>
                          <a:ext uri="{FF2B5EF4-FFF2-40B4-BE49-F238E27FC236}">
                            <a16:creationId xmlns:a16="http://schemas.microsoft.com/office/drawing/2014/main" id="{ECD75410-86C3-49B9-A72F-24799DE89C0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9625" y="3479800"/>
                        <a:ext cx="4841875" cy="877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11" name="Rectangle 16">
            <a:extLst>
              <a:ext uri="{FF2B5EF4-FFF2-40B4-BE49-F238E27FC236}">
                <a16:creationId xmlns:a16="http://schemas.microsoft.com/office/drawing/2014/main" id="{1F39F850-D308-4F91-AA17-279AAAB82F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471488"/>
            <a:ext cx="3519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>
                <a:solidFill>
                  <a:srgbClr val="66FFFF"/>
                </a:solidFill>
              </a:rPr>
              <a:t>3.  </a:t>
            </a:r>
            <a:r>
              <a:rPr lang="zh-CN" altLang="en-US">
                <a:solidFill>
                  <a:srgbClr val="66FFFF"/>
                </a:solidFill>
                <a:ea typeface="华文中宋" panose="02010600040101010101" pitchFamily="2" charset="-122"/>
              </a:rPr>
              <a:t>角动量量子化假设</a:t>
            </a:r>
            <a:r>
              <a:rPr lang="zh-CN" altLang="en-US">
                <a:solidFill>
                  <a:srgbClr val="FFFF99"/>
                </a:solidFill>
              </a:rPr>
              <a:t>     </a:t>
            </a:r>
          </a:p>
        </p:txBody>
      </p:sp>
      <p:graphicFrame>
        <p:nvGraphicFramePr>
          <p:cNvPr id="45073" name="Object 17">
            <a:extLst>
              <a:ext uri="{FF2B5EF4-FFF2-40B4-BE49-F238E27FC236}">
                <a16:creationId xmlns:a16="http://schemas.microsoft.com/office/drawing/2014/main" id="{8A9E793B-8EF9-46EA-BA4F-26DB2EED6E2B}"/>
              </a:ext>
            </a:extLst>
          </p:cNvPr>
          <p:cNvGraphicFramePr>
            <a:graphicFrameLocks/>
          </p:cNvGraphicFramePr>
          <p:nvPr/>
        </p:nvGraphicFramePr>
        <p:xfrm>
          <a:off x="2484438" y="4511675"/>
          <a:ext cx="2108200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8312" name="公式" r:id="rId15" imgW="2067033" imgH="380864" progId="Equation.3">
                  <p:embed/>
                </p:oleObj>
              </mc:Choice>
              <mc:Fallback>
                <p:oleObj name="公式" r:id="rId15" imgW="2067033" imgH="380864" progId="Equation.3">
                  <p:embed/>
                  <p:pic>
                    <p:nvPicPr>
                      <p:cNvPr id="45073" name="Object 17">
                        <a:extLst>
                          <a:ext uri="{FF2B5EF4-FFF2-40B4-BE49-F238E27FC236}">
                            <a16:creationId xmlns:a16="http://schemas.microsoft.com/office/drawing/2014/main" id="{8A9E793B-8EF9-46EA-BA4F-26DB2EED6E2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4511675"/>
                        <a:ext cx="2108200" cy="417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3366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74" name="Object 18">
            <a:extLst>
              <a:ext uri="{FF2B5EF4-FFF2-40B4-BE49-F238E27FC236}">
                <a16:creationId xmlns:a16="http://schemas.microsoft.com/office/drawing/2014/main" id="{5DCCD5D5-1B68-464A-A8FB-0B198A039FC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4375" y="5672138"/>
          <a:ext cx="5070475" cy="900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8313" name="Equation" r:id="rId17" imgW="5495880" imgH="923993" progId="Equation.3">
                  <p:embed/>
                </p:oleObj>
              </mc:Choice>
              <mc:Fallback>
                <p:oleObj name="Equation" r:id="rId17" imgW="5495880" imgH="923993" progId="Equation.3">
                  <p:embed/>
                  <p:pic>
                    <p:nvPicPr>
                      <p:cNvPr id="45074" name="Object 18">
                        <a:extLst>
                          <a:ext uri="{FF2B5EF4-FFF2-40B4-BE49-F238E27FC236}">
                            <a16:creationId xmlns:a16="http://schemas.microsoft.com/office/drawing/2014/main" id="{5DCCD5D5-1B68-464A-A8FB-0B198A039FC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375" y="5672138"/>
                        <a:ext cx="5070475" cy="900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75" name="Rectangle 19">
            <a:extLst>
              <a:ext uri="{FF2B5EF4-FFF2-40B4-BE49-F238E27FC236}">
                <a16:creationId xmlns:a16="http://schemas.microsoft.com/office/drawing/2014/main" id="{7757DB49-9774-4566-A530-3990EDE833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563" y="5114925"/>
            <a:ext cx="27384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氢原子的能量</a:t>
            </a:r>
          </a:p>
        </p:txBody>
      </p:sp>
      <p:sp>
        <p:nvSpPr>
          <p:cNvPr id="45077" name="Rectangle 21">
            <a:extLst>
              <a:ext uri="{FF2B5EF4-FFF2-40B4-BE49-F238E27FC236}">
                <a16:creationId xmlns:a16="http://schemas.microsoft.com/office/drawing/2014/main" id="{32147FCE-CFE9-4E9B-9DA7-40AC6428C9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088" y="1114425"/>
            <a:ext cx="18557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ea typeface="华文中宋" panose="02010600040101010101" pitchFamily="2" charset="-122"/>
              </a:rPr>
              <a:t>轨道角动量</a:t>
            </a:r>
          </a:p>
        </p:txBody>
      </p:sp>
      <p:sp>
        <p:nvSpPr>
          <p:cNvPr id="45078" name="Rectangle 22">
            <a:extLst>
              <a:ext uri="{FF2B5EF4-FFF2-40B4-BE49-F238E27FC236}">
                <a16:creationId xmlns:a16="http://schemas.microsoft.com/office/drawing/2014/main" id="{1E94B12A-4211-4BEA-A3D7-1D19CDA410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75" y="4508500"/>
            <a:ext cx="17287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玻尔半径</a:t>
            </a:r>
          </a:p>
        </p:txBody>
      </p:sp>
      <p:graphicFrame>
        <p:nvGraphicFramePr>
          <p:cNvPr id="3" name="Object 23">
            <a:extLst>
              <a:ext uri="{FF2B5EF4-FFF2-40B4-BE49-F238E27FC236}">
                <a16:creationId xmlns:a16="http://schemas.microsoft.com/office/drawing/2014/main" id="{F23D068F-0A24-46BF-A979-6A14D0FFA0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51563" y="5745163"/>
          <a:ext cx="2778125" cy="827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8314" name="公式" r:id="rId19" imgW="1523898" imgH="419134" progId="Equation.3">
                  <p:embed/>
                </p:oleObj>
              </mc:Choice>
              <mc:Fallback>
                <p:oleObj name="公式" r:id="rId19" imgW="1523898" imgH="419134" progId="Equation.3">
                  <p:embed/>
                  <p:pic>
                    <p:nvPicPr>
                      <p:cNvPr id="3" name="Object 23">
                        <a:extLst>
                          <a:ext uri="{FF2B5EF4-FFF2-40B4-BE49-F238E27FC236}">
                            <a16:creationId xmlns:a16="http://schemas.microsoft.com/office/drawing/2014/main" id="{F23D068F-0A24-46BF-A979-6A14D0FFA04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1563" y="5745163"/>
                        <a:ext cx="2778125" cy="827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灯片编号占位符 1">
            <a:extLst>
              <a:ext uri="{FF2B5EF4-FFF2-40B4-BE49-F238E27FC236}">
                <a16:creationId xmlns:a16="http://schemas.microsoft.com/office/drawing/2014/main" id="{81016366-C6AE-41A5-AD97-434CAB10A20B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/>
            <a:fld id="{D576E691-5116-4FBA-9B84-E9D18BAAAC14}" type="slidenum">
              <a:rPr lang="en-US" altLang="zh-CN" b="0" smtClean="0">
                <a:solidFill>
                  <a:srgbClr val="FF00FF"/>
                </a:solidFill>
              </a:rPr>
              <a:pPr eaLnBrk="1" hangingPunct="1"/>
              <a:t>9</a:t>
            </a:fld>
            <a:r>
              <a:rPr lang="en-US" altLang="zh-CN" b="0" dirty="0">
                <a:solidFill>
                  <a:srgbClr val="FF00FF"/>
                </a:solidFill>
              </a:rPr>
              <a:t>/28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5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5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5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5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5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5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45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5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0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5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67" grpId="0" autoUpdateAnimBg="0"/>
      <p:bldP spid="45070" grpId="0" autoUpdateAnimBg="0"/>
      <p:bldP spid="45075" grpId="0" autoUpdateAnimBg="0"/>
      <p:bldP spid="45077" grpId="0"/>
      <p:bldP spid="4507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106" name="Object 2">
            <a:extLst>
              <a:ext uri="{FF2B5EF4-FFF2-40B4-BE49-F238E27FC236}">
                <a16:creationId xmlns:a16="http://schemas.microsoft.com/office/drawing/2014/main" id="{6FA0DE3F-314E-4C9D-AB65-51435BABB5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14500" y="1785938"/>
          <a:ext cx="2170113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9332" name="公式" r:id="rId4" imgW="904920" imgH="390661" progId="Equation.3">
                  <p:embed/>
                </p:oleObj>
              </mc:Choice>
              <mc:Fallback>
                <p:oleObj name="公式" r:id="rId4" imgW="904920" imgH="390661" progId="Equation.3">
                  <p:embed/>
                  <p:pic>
                    <p:nvPicPr>
                      <p:cNvPr id="47106" name="Object 2">
                        <a:extLst>
                          <a:ext uri="{FF2B5EF4-FFF2-40B4-BE49-F238E27FC236}">
                            <a16:creationId xmlns:a16="http://schemas.microsoft.com/office/drawing/2014/main" id="{6FA0DE3F-314E-4C9D-AB65-51435BABB50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4500" y="1785938"/>
                        <a:ext cx="2170113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2" name="Rectangle 3">
            <a:extLst>
              <a:ext uri="{FF2B5EF4-FFF2-40B4-BE49-F238E27FC236}">
                <a16:creationId xmlns:a16="http://schemas.microsoft.com/office/drawing/2014/main" id="{BF48162C-D5C8-4835-B4D4-F9414036CC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428625"/>
            <a:ext cx="4248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olidFill>
                  <a:srgbClr val="FFFF00"/>
                </a:solidFill>
                <a:ea typeface="华文中宋" panose="02010600040101010101" pitchFamily="2" charset="-122"/>
              </a:rPr>
              <a:t>电子跃迁辐射规律</a:t>
            </a:r>
          </a:p>
        </p:txBody>
      </p:sp>
      <p:graphicFrame>
        <p:nvGraphicFramePr>
          <p:cNvPr id="47108" name="Object 4">
            <a:extLst>
              <a:ext uri="{FF2B5EF4-FFF2-40B4-BE49-F238E27FC236}">
                <a16:creationId xmlns:a16="http://schemas.microsoft.com/office/drawing/2014/main" id="{72E12F8B-55DF-49A0-B916-6BBCD06511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63938" y="5662613"/>
          <a:ext cx="442595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9333" name="公式" r:id="rId6" imgW="4105320" imgH="466589" progId="Equation.3">
                  <p:embed/>
                </p:oleObj>
              </mc:Choice>
              <mc:Fallback>
                <p:oleObj name="公式" r:id="rId6" imgW="4105320" imgH="466589" progId="Equation.3">
                  <p:embed/>
                  <p:pic>
                    <p:nvPicPr>
                      <p:cNvPr id="47108" name="Object 4">
                        <a:extLst>
                          <a:ext uri="{FF2B5EF4-FFF2-40B4-BE49-F238E27FC236}">
                            <a16:creationId xmlns:a16="http://schemas.microsoft.com/office/drawing/2014/main" id="{72E12F8B-55DF-49A0-B916-6BBCD06511E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938" y="5662613"/>
                        <a:ext cx="442595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09" name="Text Box 5">
            <a:extLst>
              <a:ext uri="{FF2B5EF4-FFF2-40B4-BE49-F238E27FC236}">
                <a16:creationId xmlns:a16="http://schemas.microsoft.com/office/drawing/2014/main" id="{6308D206-3BC0-45A5-8308-3A81EF6B09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9850" y="5697538"/>
            <a:ext cx="1403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hlink"/>
                </a:solidFill>
                <a:ea typeface="华文中宋" panose="02010600040101010101" pitchFamily="2" charset="-122"/>
              </a:rPr>
              <a:t>实验测得</a:t>
            </a:r>
          </a:p>
        </p:txBody>
      </p:sp>
      <p:graphicFrame>
        <p:nvGraphicFramePr>
          <p:cNvPr id="47110" name="Object 6">
            <a:extLst>
              <a:ext uri="{FF2B5EF4-FFF2-40B4-BE49-F238E27FC236}">
                <a16:creationId xmlns:a16="http://schemas.microsoft.com/office/drawing/2014/main" id="{8DC01FB9-32AC-4FF6-83FA-F6FF102727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00500" y="1744663"/>
          <a:ext cx="2138363" cy="827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9334" name="公式" r:id="rId8" imgW="885959" imgH="352391" progId="Equation.3">
                  <p:embed/>
                </p:oleObj>
              </mc:Choice>
              <mc:Fallback>
                <p:oleObj name="公式" r:id="rId8" imgW="885959" imgH="352391" progId="Equation.3">
                  <p:embed/>
                  <p:pic>
                    <p:nvPicPr>
                      <p:cNvPr id="47110" name="Object 6">
                        <a:extLst>
                          <a:ext uri="{FF2B5EF4-FFF2-40B4-BE49-F238E27FC236}">
                            <a16:creationId xmlns:a16="http://schemas.microsoft.com/office/drawing/2014/main" id="{8DC01FB9-32AC-4FF6-83FA-F6FF1027271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0500" y="1744663"/>
                        <a:ext cx="2138363" cy="827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1" name="Object 7">
            <a:extLst>
              <a:ext uri="{FF2B5EF4-FFF2-40B4-BE49-F238E27FC236}">
                <a16:creationId xmlns:a16="http://schemas.microsoft.com/office/drawing/2014/main" id="{3811B280-FC2B-4D68-A46B-D829C4E9A2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17900" y="4786313"/>
          <a:ext cx="4394200" cy="496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9335" name="公式" r:id="rId10" imgW="4048131" imgH="457098" progId="Equation.3">
                  <p:embed/>
                </p:oleObj>
              </mc:Choice>
              <mc:Fallback>
                <p:oleObj name="公式" r:id="rId10" imgW="4048131" imgH="457098" progId="Equation.3">
                  <p:embed/>
                  <p:pic>
                    <p:nvPicPr>
                      <p:cNvPr id="47111" name="Object 7">
                        <a:extLst>
                          <a:ext uri="{FF2B5EF4-FFF2-40B4-BE49-F238E27FC236}">
                            <a16:creationId xmlns:a16="http://schemas.microsoft.com/office/drawing/2014/main" id="{3811B280-FC2B-4D68-A46B-D829C4E9A28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7900" y="4786313"/>
                        <a:ext cx="4394200" cy="496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12" name="Text Box 8">
            <a:extLst>
              <a:ext uri="{FF2B5EF4-FFF2-40B4-BE49-F238E27FC236}">
                <a16:creationId xmlns:a16="http://schemas.microsoft.com/office/drawing/2014/main" id="{BD346459-1E9A-44F2-B7A1-516DE975F8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8863" y="4827588"/>
            <a:ext cx="2012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hlink"/>
                </a:solidFill>
                <a:ea typeface="华文中宋" panose="02010600040101010101" pitchFamily="2" charset="-122"/>
              </a:rPr>
              <a:t>其中计算得到</a:t>
            </a:r>
          </a:p>
        </p:txBody>
      </p:sp>
      <p:sp>
        <p:nvSpPr>
          <p:cNvPr id="47113" name="Rectangle 9">
            <a:extLst>
              <a:ext uri="{FF2B5EF4-FFF2-40B4-BE49-F238E27FC236}">
                <a16:creationId xmlns:a16="http://schemas.microsoft.com/office/drawing/2014/main" id="{7690095C-EE3C-4BF5-9F03-C9912E8235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625" y="1152525"/>
            <a:ext cx="5675313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sz="260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发射电磁波的波数</a:t>
            </a:r>
            <a:r>
              <a:rPr lang="zh-CN" altLang="en-US" sz="2600">
                <a:solidFill>
                  <a:srgbClr val="00FF99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（波长的倒数）</a:t>
            </a:r>
            <a:endParaRPr lang="zh-CN" altLang="en-US" sz="2600">
              <a:solidFill>
                <a:schemeClr val="hlink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aphicFrame>
        <p:nvGraphicFramePr>
          <p:cNvPr id="43010" name="Object 10">
            <a:extLst>
              <a:ext uri="{FF2B5EF4-FFF2-40B4-BE49-F238E27FC236}">
                <a16:creationId xmlns:a16="http://schemas.microsoft.com/office/drawing/2014/main" id="{CBDCBC27-33C1-4A04-950D-D964C0835A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71938" y="285750"/>
          <a:ext cx="1809750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9336" name="公式" r:id="rId12" imgW="828771" imgH="352391" progId="Equation.3">
                  <p:embed/>
                </p:oleObj>
              </mc:Choice>
              <mc:Fallback>
                <p:oleObj name="公式" r:id="rId12" imgW="828771" imgH="352391" progId="Equation.3">
                  <p:embed/>
                  <p:pic>
                    <p:nvPicPr>
                      <p:cNvPr id="43010" name="Object 10">
                        <a:extLst>
                          <a:ext uri="{FF2B5EF4-FFF2-40B4-BE49-F238E27FC236}">
                            <a16:creationId xmlns:a16="http://schemas.microsoft.com/office/drawing/2014/main" id="{CBDCBC27-33C1-4A04-950D-D964C0835A2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1938" y="285750"/>
                        <a:ext cx="1809750" cy="827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1">
            <a:extLst>
              <a:ext uri="{FF2B5EF4-FFF2-40B4-BE49-F238E27FC236}">
                <a16:creationId xmlns:a16="http://schemas.microsoft.com/office/drawing/2014/main" id="{9DE42854-1A9B-4427-8D6E-89347A5286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33838" y="2786063"/>
          <a:ext cx="2681287" cy="1798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9337" name="公式" r:id="rId14" imgW="1066698" imgH="771525" progId="Equation.3">
                  <p:embed/>
                </p:oleObj>
              </mc:Choice>
              <mc:Fallback>
                <p:oleObj name="公式" r:id="rId14" imgW="1066698" imgH="771525" progId="Equation.3">
                  <p:embed/>
                  <p:pic>
                    <p:nvPicPr>
                      <p:cNvPr id="2" name="Object 11">
                        <a:extLst>
                          <a:ext uri="{FF2B5EF4-FFF2-40B4-BE49-F238E27FC236}">
                            <a16:creationId xmlns:a16="http://schemas.microsoft.com/office/drawing/2014/main" id="{9DE42854-1A9B-4427-8D6E-89347A5286C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3838" y="2786063"/>
                        <a:ext cx="2681287" cy="1798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74" name="Object 18">
            <a:extLst>
              <a:ext uri="{FF2B5EF4-FFF2-40B4-BE49-F238E27FC236}">
                <a16:creationId xmlns:a16="http://schemas.microsoft.com/office/drawing/2014/main" id="{6808AF43-7FCA-4E6C-943F-D3EAA06BDD9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27838" y="2171700"/>
          <a:ext cx="1101725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9338" name="公式" r:id="rId16" imgW="495427" imgH="352391" progId="Equation.3">
                  <p:embed/>
                </p:oleObj>
              </mc:Choice>
              <mc:Fallback>
                <p:oleObj name="公式" r:id="rId16" imgW="495427" imgH="352391" progId="Equation.3">
                  <p:embed/>
                  <p:pic>
                    <p:nvPicPr>
                      <p:cNvPr id="45074" name="Object 18">
                        <a:extLst>
                          <a:ext uri="{FF2B5EF4-FFF2-40B4-BE49-F238E27FC236}">
                            <a16:creationId xmlns:a16="http://schemas.microsoft.com/office/drawing/2014/main" id="{6808AF43-7FCA-4E6C-943F-D3EAA06BDD9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27838" y="2171700"/>
                        <a:ext cx="1101725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灯片编号占位符 1">
            <a:extLst>
              <a:ext uri="{FF2B5EF4-FFF2-40B4-BE49-F238E27FC236}">
                <a16:creationId xmlns:a16="http://schemas.microsoft.com/office/drawing/2014/main" id="{53FACC29-B333-4959-A596-3E05798DFD7C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/>
            <a:fld id="{D576E691-5116-4FBA-9B84-E9D18BAAAC14}" type="slidenum">
              <a:rPr lang="en-US" altLang="zh-CN" b="0" smtClean="0">
                <a:solidFill>
                  <a:srgbClr val="FF00FF"/>
                </a:solidFill>
              </a:rPr>
              <a:pPr eaLnBrk="1" hangingPunct="1"/>
              <a:t>10</a:t>
            </a:fld>
            <a:r>
              <a:rPr lang="en-US" altLang="zh-CN" b="0" dirty="0">
                <a:solidFill>
                  <a:srgbClr val="FF00FF"/>
                </a:solidFill>
              </a:rPr>
              <a:t>/28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3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7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7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7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5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7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7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2" grpId="0"/>
      <p:bldP spid="47109" grpId="0" autoUpdateAnimBg="0"/>
      <p:bldP spid="47112" grpId="0" autoUpdateAnimBg="0"/>
      <p:bldP spid="4711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2">
            <a:extLst>
              <a:ext uri="{FF2B5EF4-FFF2-40B4-BE49-F238E27FC236}">
                <a16:creationId xmlns:a16="http://schemas.microsoft.com/office/drawing/2014/main" id="{D40BE05C-C503-4E7F-AF96-7DB61F511A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76238"/>
            <a:ext cx="9937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i="1">
                <a:solidFill>
                  <a:srgbClr val="00FFFF"/>
                </a:solidFill>
              </a:rPr>
              <a:t>E</a:t>
            </a:r>
            <a:r>
              <a:rPr lang="en-US" altLang="zh-CN" sz="2000" baseline="-18000">
                <a:solidFill>
                  <a:srgbClr val="00FFFF"/>
                </a:solidFill>
              </a:rPr>
              <a:t>n </a:t>
            </a:r>
            <a:r>
              <a:rPr lang="en-US" altLang="zh-CN" sz="2000" b="0">
                <a:solidFill>
                  <a:srgbClr val="00FFFF"/>
                </a:solidFill>
              </a:rPr>
              <a:t>(</a:t>
            </a:r>
            <a:r>
              <a:rPr lang="en-US" altLang="zh-CN" sz="2000" baseline="-18000">
                <a:solidFill>
                  <a:srgbClr val="00FFFF"/>
                </a:solidFill>
              </a:rPr>
              <a:t> </a:t>
            </a:r>
            <a:r>
              <a:rPr lang="en-US" altLang="zh-CN" sz="2000">
                <a:solidFill>
                  <a:srgbClr val="00FFFF"/>
                </a:solidFill>
              </a:rPr>
              <a:t>eV</a:t>
            </a:r>
            <a:r>
              <a:rPr lang="en-US" altLang="zh-CN" sz="2000" b="0">
                <a:solidFill>
                  <a:srgbClr val="00FFFF"/>
                </a:solidFill>
              </a:rPr>
              <a:t>)</a:t>
            </a:r>
          </a:p>
        </p:txBody>
      </p:sp>
      <p:sp>
        <p:nvSpPr>
          <p:cNvPr id="29699" name="Text Box 3">
            <a:extLst>
              <a:ext uri="{FF2B5EF4-FFF2-40B4-BE49-F238E27FC236}">
                <a16:creationId xmlns:a16="http://schemas.microsoft.com/office/drawing/2014/main" id="{6042378E-CE09-4CDD-AE9E-6BABED86E1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7200" y="3163888"/>
            <a:ext cx="438150" cy="192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chemeClr val="hlink"/>
                </a:solidFill>
                <a:ea typeface="华文中宋" panose="02010600040101010101" pitchFamily="2" charset="-122"/>
              </a:rPr>
              <a:t>氢原子能级图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87C85328-11B2-4E0C-B7C3-45FBD47C8153}"/>
              </a:ext>
            </a:extLst>
          </p:cNvPr>
          <p:cNvGrpSpPr>
            <a:grpSpLocks/>
          </p:cNvGrpSpPr>
          <p:nvPr/>
        </p:nvGrpSpPr>
        <p:grpSpPr bwMode="auto">
          <a:xfrm>
            <a:off x="1763713" y="5876925"/>
            <a:ext cx="1027112" cy="620713"/>
            <a:chOff x="861" y="3783"/>
            <a:chExt cx="647" cy="391"/>
          </a:xfrm>
        </p:grpSpPr>
        <p:sp>
          <p:nvSpPr>
            <p:cNvPr id="29754" name="AutoShape 5">
              <a:extLst>
                <a:ext uri="{FF2B5EF4-FFF2-40B4-BE49-F238E27FC236}">
                  <a16:creationId xmlns:a16="http://schemas.microsoft.com/office/drawing/2014/main" id="{50F949BE-0B32-4DC6-B5A6-86E82547A912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1136" y="3591"/>
              <a:ext cx="95" cy="480"/>
            </a:xfrm>
            <a:prstGeom prst="leftBrace">
              <a:avLst>
                <a:gd name="adj1" fmla="val 42105"/>
                <a:gd name="adj2" fmla="val 50000"/>
              </a:avLst>
            </a:prstGeom>
            <a:noFill/>
            <a:ln w="1905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9755" name="Text Box 6">
              <a:extLst>
                <a:ext uri="{FF2B5EF4-FFF2-40B4-BE49-F238E27FC236}">
                  <a16:creationId xmlns:a16="http://schemas.microsoft.com/office/drawing/2014/main" id="{03EB5E65-FA95-4C88-81C7-FF700E7AFF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1" y="3905"/>
              <a:ext cx="647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200">
                  <a:solidFill>
                    <a:schemeClr val="hlink"/>
                  </a:solidFill>
                  <a:ea typeface="楷体_GB2312" pitchFamily="49" charset="-122"/>
                </a:rPr>
                <a:t>莱曼系</a:t>
              </a:r>
            </a:p>
          </p:txBody>
        </p:sp>
      </p:grpSp>
      <p:grpSp>
        <p:nvGrpSpPr>
          <p:cNvPr id="3" name="Group 7">
            <a:extLst>
              <a:ext uri="{FF2B5EF4-FFF2-40B4-BE49-F238E27FC236}">
                <a16:creationId xmlns:a16="http://schemas.microsoft.com/office/drawing/2014/main" id="{29830175-2251-4EB4-9D94-045DA4D63C2B}"/>
              </a:ext>
            </a:extLst>
          </p:cNvPr>
          <p:cNvGrpSpPr>
            <a:grpSpLocks/>
          </p:cNvGrpSpPr>
          <p:nvPr/>
        </p:nvGrpSpPr>
        <p:grpSpPr bwMode="auto">
          <a:xfrm>
            <a:off x="3203575" y="5876925"/>
            <a:ext cx="1308100" cy="604838"/>
            <a:chOff x="1786" y="3793"/>
            <a:chExt cx="824" cy="381"/>
          </a:xfrm>
        </p:grpSpPr>
        <p:sp>
          <p:nvSpPr>
            <p:cNvPr id="29752" name="AutoShape 8">
              <a:extLst>
                <a:ext uri="{FF2B5EF4-FFF2-40B4-BE49-F238E27FC236}">
                  <a16:creationId xmlns:a16="http://schemas.microsoft.com/office/drawing/2014/main" id="{E0A5BB1F-8FDC-4B14-8A01-2B74717DA193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2150" y="3601"/>
              <a:ext cx="95" cy="480"/>
            </a:xfrm>
            <a:prstGeom prst="leftBrace">
              <a:avLst>
                <a:gd name="adj1" fmla="val 42105"/>
                <a:gd name="adj2" fmla="val 50000"/>
              </a:avLst>
            </a:prstGeom>
            <a:noFill/>
            <a:ln w="1905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9753" name="Text Box 9">
              <a:extLst>
                <a:ext uri="{FF2B5EF4-FFF2-40B4-BE49-F238E27FC236}">
                  <a16:creationId xmlns:a16="http://schemas.microsoft.com/office/drawing/2014/main" id="{B23686F9-56BB-488C-929D-BF5039F6AD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86" y="3905"/>
              <a:ext cx="824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200">
                  <a:solidFill>
                    <a:schemeClr val="hlink"/>
                  </a:solidFill>
                  <a:ea typeface="楷体_GB2312" pitchFamily="49" charset="-122"/>
                </a:rPr>
                <a:t>巴耳末系</a:t>
              </a:r>
            </a:p>
          </p:txBody>
        </p:sp>
      </p:grpSp>
      <p:grpSp>
        <p:nvGrpSpPr>
          <p:cNvPr id="4" name="Group 10">
            <a:extLst>
              <a:ext uri="{FF2B5EF4-FFF2-40B4-BE49-F238E27FC236}">
                <a16:creationId xmlns:a16="http://schemas.microsoft.com/office/drawing/2014/main" id="{45CF48D0-EB35-42FD-83CD-202AC49FEF33}"/>
              </a:ext>
            </a:extLst>
          </p:cNvPr>
          <p:cNvGrpSpPr>
            <a:grpSpLocks/>
          </p:cNvGrpSpPr>
          <p:nvPr/>
        </p:nvGrpSpPr>
        <p:grpSpPr bwMode="auto">
          <a:xfrm>
            <a:off x="4932363" y="5876925"/>
            <a:ext cx="1027112" cy="606425"/>
            <a:chOff x="2855" y="3792"/>
            <a:chExt cx="647" cy="382"/>
          </a:xfrm>
        </p:grpSpPr>
        <p:sp>
          <p:nvSpPr>
            <p:cNvPr id="29750" name="AutoShape 11">
              <a:extLst>
                <a:ext uri="{FF2B5EF4-FFF2-40B4-BE49-F238E27FC236}">
                  <a16:creationId xmlns:a16="http://schemas.microsoft.com/office/drawing/2014/main" id="{AD637BF2-121C-4433-8AD8-A35BC6C2C376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3130" y="3600"/>
              <a:ext cx="95" cy="480"/>
            </a:xfrm>
            <a:prstGeom prst="leftBrace">
              <a:avLst>
                <a:gd name="adj1" fmla="val 42105"/>
                <a:gd name="adj2" fmla="val 50000"/>
              </a:avLst>
            </a:prstGeom>
            <a:noFill/>
            <a:ln w="1905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9751" name="Text Box 12">
              <a:extLst>
                <a:ext uri="{FF2B5EF4-FFF2-40B4-BE49-F238E27FC236}">
                  <a16:creationId xmlns:a16="http://schemas.microsoft.com/office/drawing/2014/main" id="{3D677CB9-4A57-4380-9F53-039ACF8324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55" y="3905"/>
              <a:ext cx="647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200">
                  <a:solidFill>
                    <a:schemeClr val="hlink"/>
                  </a:solidFill>
                  <a:ea typeface="楷体_GB2312" pitchFamily="49" charset="-122"/>
                </a:rPr>
                <a:t>帕邢系</a:t>
              </a:r>
            </a:p>
          </p:txBody>
        </p:sp>
      </p:grpSp>
      <p:grpSp>
        <p:nvGrpSpPr>
          <p:cNvPr id="5" name="Group 13">
            <a:extLst>
              <a:ext uri="{FF2B5EF4-FFF2-40B4-BE49-F238E27FC236}">
                <a16:creationId xmlns:a16="http://schemas.microsoft.com/office/drawing/2014/main" id="{E59FE731-1771-4D52-BB80-197328CDA684}"/>
              </a:ext>
            </a:extLst>
          </p:cNvPr>
          <p:cNvGrpSpPr>
            <a:grpSpLocks/>
          </p:cNvGrpSpPr>
          <p:nvPr/>
        </p:nvGrpSpPr>
        <p:grpSpPr bwMode="auto">
          <a:xfrm>
            <a:off x="6300788" y="5876925"/>
            <a:ext cx="1308100" cy="606425"/>
            <a:chOff x="3774" y="3792"/>
            <a:chExt cx="824" cy="382"/>
          </a:xfrm>
        </p:grpSpPr>
        <p:sp>
          <p:nvSpPr>
            <p:cNvPr id="29748" name="AutoShape 14">
              <a:extLst>
                <a:ext uri="{FF2B5EF4-FFF2-40B4-BE49-F238E27FC236}">
                  <a16:creationId xmlns:a16="http://schemas.microsoft.com/office/drawing/2014/main" id="{1B6AFE4B-2B7C-4733-B4AF-4AB76C81CEA1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4138" y="3600"/>
              <a:ext cx="95" cy="480"/>
            </a:xfrm>
            <a:prstGeom prst="leftBrace">
              <a:avLst>
                <a:gd name="adj1" fmla="val 42105"/>
                <a:gd name="adj2" fmla="val 50000"/>
              </a:avLst>
            </a:prstGeom>
            <a:noFill/>
            <a:ln w="1905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9749" name="Text Box 15">
              <a:extLst>
                <a:ext uri="{FF2B5EF4-FFF2-40B4-BE49-F238E27FC236}">
                  <a16:creationId xmlns:a16="http://schemas.microsoft.com/office/drawing/2014/main" id="{A6C498FD-FEFF-4CEF-955A-2F585B4F5F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4" y="3905"/>
              <a:ext cx="824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200">
                  <a:solidFill>
                    <a:schemeClr val="hlink"/>
                  </a:solidFill>
                  <a:ea typeface="楷体_GB2312" pitchFamily="49" charset="-122"/>
                </a:rPr>
                <a:t>布喇开系</a:t>
              </a:r>
            </a:p>
          </p:txBody>
        </p:sp>
      </p:grpSp>
      <p:sp>
        <p:nvSpPr>
          <p:cNvPr id="49168" name="Line 16">
            <a:extLst>
              <a:ext uri="{FF2B5EF4-FFF2-40B4-BE49-F238E27FC236}">
                <a16:creationId xmlns:a16="http://schemas.microsoft.com/office/drawing/2014/main" id="{666984E8-8D44-4130-A18E-5F7A8AE89E49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8175" y="2471738"/>
            <a:ext cx="26988" cy="3298825"/>
          </a:xfrm>
          <a:prstGeom prst="line">
            <a:avLst/>
          </a:prstGeom>
          <a:noFill/>
          <a:ln w="19050">
            <a:solidFill>
              <a:srgbClr val="FF9966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169" name="Line 17">
            <a:extLst>
              <a:ext uri="{FF2B5EF4-FFF2-40B4-BE49-F238E27FC236}">
                <a16:creationId xmlns:a16="http://schemas.microsoft.com/office/drawing/2014/main" id="{0EB2212E-CBD1-4256-912A-4BB51BEEE92C}"/>
              </a:ext>
            </a:extLst>
          </p:cNvPr>
          <p:cNvSpPr>
            <a:spLocks noChangeShapeType="1"/>
          </p:cNvSpPr>
          <p:nvPr/>
        </p:nvSpPr>
        <p:spPr bwMode="auto">
          <a:xfrm>
            <a:off x="2085975" y="1752600"/>
            <a:ext cx="1588" cy="4022725"/>
          </a:xfrm>
          <a:prstGeom prst="line">
            <a:avLst/>
          </a:prstGeom>
          <a:noFill/>
          <a:ln w="19050">
            <a:solidFill>
              <a:srgbClr val="FF9966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170" name="Line 18">
            <a:extLst>
              <a:ext uri="{FF2B5EF4-FFF2-40B4-BE49-F238E27FC236}">
                <a16:creationId xmlns:a16="http://schemas.microsoft.com/office/drawing/2014/main" id="{5C2F5813-240D-44BE-9AB7-48D04D4AEFEE}"/>
              </a:ext>
            </a:extLst>
          </p:cNvPr>
          <p:cNvSpPr>
            <a:spLocks noChangeShapeType="1"/>
          </p:cNvSpPr>
          <p:nvPr/>
        </p:nvSpPr>
        <p:spPr bwMode="auto">
          <a:xfrm>
            <a:off x="2251075" y="1412875"/>
            <a:ext cx="1588" cy="4362450"/>
          </a:xfrm>
          <a:prstGeom prst="line">
            <a:avLst/>
          </a:prstGeom>
          <a:noFill/>
          <a:ln w="19050">
            <a:solidFill>
              <a:srgbClr val="FF9966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171" name="Line 19">
            <a:extLst>
              <a:ext uri="{FF2B5EF4-FFF2-40B4-BE49-F238E27FC236}">
                <a16:creationId xmlns:a16="http://schemas.microsoft.com/office/drawing/2014/main" id="{A13663E6-D657-4719-B323-CD827DCF09FC}"/>
              </a:ext>
            </a:extLst>
          </p:cNvPr>
          <p:cNvSpPr>
            <a:spLocks noChangeShapeType="1"/>
          </p:cNvSpPr>
          <p:nvPr/>
        </p:nvSpPr>
        <p:spPr bwMode="auto">
          <a:xfrm>
            <a:off x="2403475" y="1290638"/>
            <a:ext cx="1588" cy="4484687"/>
          </a:xfrm>
          <a:prstGeom prst="line">
            <a:avLst/>
          </a:prstGeom>
          <a:noFill/>
          <a:ln w="19050">
            <a:solidFill>
              <a:srgbClr val="FF9966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172" name="Line 20">
            <a:extLst>
              <a:ext uri="{FF2B5EF4-FFF2-40B4-BE49-F238E27FC236}">
                <a16:creationId xmlns:a16="http://schemas.microsoft.com/office/drawing/2014/main" id="{B8C49FF0-3A54-4ACC-A571-630224875109}"/>
              </a:ext>
            </a:extLst>
          </p:cNvPr>
          <p:cNvSpPr>
            <a:spLocks noChangeShapeType="1"/>
          </p:cNvSpPr>
          <p:nvPr/>
        </p:nvSpPr>
        <p:spPr bwMode="auto">
          <a:xfrm>
            <a:off x="2589213" y="1214438"/>
            <a:ext cx="1587" cy="4560887"/>
          </a:xfrm>
          <a:prstGeom prst="line">
            <a:avLst/>
          </a:prstGeom>
          <a:noFill/>
          <a:ln w="19050">
            <a:solidFill>
              <a:srgbClr val="FF9966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173" name="Line 21">
            <a:extLst>
              <a:ext uri="{FF2B5EF4-FFF2-40B4-BE49-F238E27FC236}">
                <a16:creationId xmlns:a16="http://schemas.microsoft.com/office/drawing/2014/main" id="{9D5BC30B-F811-4BBA-9125-CF56B844B5AA}"/>
              </a:ext>
            </a:extLst>
          </p:cNvPr>
          <p:cNvSpPr>
            <a:spLocks noChangeShapeType="1"/>
          </p:cNvSpPr>
          <p:nvPr/>
        </p:nvSpPr>
        <p:spPr bwMode="auto">
          <a:xfrm>
            <a:off x="3533775" y="1752600"/>
            <a:ext cx="1588" cy="757238"/>
          </a:xfrm>
          <a:prstGeom prst="line">
            <a:avLst/>
          </a:prstGeom>
          <a:noFill/>
          <a:ln w="19050">
            <a:solidFill>
              <a:srgbClr val="FF9966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174" name="Line 22">
            <a:extLst>
              <a:ext uri="{FF2B5EF4-FFF2-40B4-BE49-F238E27FC236}">
                <a16:creationId xmlns:a16="http://schemas.microsoft.com/office/drawing/2014/main" id="{8EBE5974-2AD6-483E-B2B3-A788755EE972}"/>
              </a:ext>
            </a:extLst>
          </p:cNvPr>
          <p:cNvSpPr>
            <a:spLocks noChangeShapeType="1"/>
          </p:cNvSpPr>
          <p:nvPr/>
        </p:nvSpPr>
        <p:spPr bwMode="auto">
          <a:xfrm>
            <a:off x="3684588" y="1412875"/>
            <a:ext cx="1587" cy="1096963"/>
          </a:xfrm>
          <a:prstGeom prst="line">
            <a:avLst/>
          </a:prstGeom>
          <a:noFill/>
          <a:ln w="19050">
            <a:solidFill>
              <a:srgbClr val="FF9966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175" name="Line 23">
            <a:extLst>
              <a:ext uri="{FF2B5EF4-FFF2-40B4-BE49-F238E27FC236}">
                <a16:creationId xmlns:a16="http://schemas.microsoft.com/office/drawing/2014/main" id="{4D689D47-2D7D-4673-A407-68A5EB08B806}"/>
              </a:ext>
            </a:extLst>
          </p:cNvPr>
          <p:cNvSpPr>
            <a:spLocks noChangeShapeType="1"/>
          </p:cNvSpPr>
          <p:nvPr/>
        </p:nvSpPr>
        <p:spPr bwMode="auto">
          <a:xfrm>
            <a:off x="3989388" y="1214438"/>
            <a:ext cx="1587" cy="1295400"/>
          </a:xfrm>
          <a:prstGeom prst="line">
            <a:avLst/>
          </a:prstGeom>
          <a:noFill/>
          <a:ln w="19050">
            <a:solidFill>
              <a:srgbClr val="FF9966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176" name="Line 24">
            <a:extLst>
              <a:ext uri="{FF2B5EF4-FFF2-40B4-BE49-F238E27FC236}">
                <a16:creationId xmlns:a16="http://schemas.microsoft.com/office/drawing/2014/main" id="{B243F549-52A1-4318-B97F-509CB50B8928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5400" y="1412875"/>
            <a:ext cx="0" cy="334963"/>
          </a:xfrm>
          <a:prstGeom prst="line">
            <a:avLst/>
          </a:prstGeom>
          <a:noFill/>
          <a:ln w="19050">
            <a:solidFill>
              <a:srgbClr val="FF9966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177" name="Line 25">
            <a:extLst>
              <a:ext uri="{FF2B5EF4-FFF2-40B4-BE49-F238E27FC236}">
                <a16:creationId xmlns:a16="http://schemas.microsoft.com/office/drawing/2014/main" id="{84FAA3F7-1B76-4E70-A698-BED595EA0CDD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1287463"/>
            <a:ext cx="0" cy="460375"/>
          </a:xfrm>
          <a:prstGeom prst="line">
            <a:avLst/>
          </a:prstGeom>
          <a:noFill/>
          <a:ln w="19050">
            <a:solidFill>
              <a:srgbClr val="FF9966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178" name="Line 26">
            <a:extLst>
              <a:ext uri="{FF2B5EF4-FFF2-40B4-BE49-F238E27FC236}">
                <a16:creationId xmlns:a16="http://schemas.microsoft.com/office/drawing/2014/main" id="{EF4077B2-9B39-4B03-9D27-8740600DAC7B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1212850"/>
            <a:ext cx="0" cy="534988"/>
          </a:xfrm>
          <a:prstGeom prst="line">
            <a:avLst/>
          </a:prstGeom>
          <a:noFill/>
          <a:ln w="19050">
            <a:solidFill>
              <a:srgbClr val="FF9966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179" name="Line 27">
            <a:extLst>
              <a:ext uri="{FF2B5EF4-FFF2-40B4-BE49-F238E27FC236}">
                <a16:creationId xmlns:a16="http://schemas.microsoft.com/office/drawing/2014/main" id="{A1920C12-01ED-44C1-AEA4-36F833C5FFE6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2600" y="1138238"/>
            <a:ext cx="0" cy="609600"/>
          </a:xfrm>
          <a:prstGeom prst="line">
            <a:avLst/>
          </a:prstGeom>
          <a:noFill/>
          <a:ln w="19050">
            <a:solidFill>
              <a:srgbClr val="FF9966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180" name="Line 28">
            <a:extLst>
              <a:ext uri="{FF2B5EF4-FFF2-40B4-BE49-F238E27FC236}">
                <a16:creationId xmlns:a16="http://schemas.microsoft.com/office/drawing/2014/main" id="{E23D0DB1-407E-4655-AECE-03253666A64E}"/>
              </a:ext>
            </a:extLst>
          </p:cNvPr>
          <p:cNvSpPr>
            <a:spLocks noChangeShapeType="1"/>
          </p:cNvSpPr>
          <p:nvPr/>
        </p:nvSpPr>
        <p:spPr bwMode="auto">
          <a:xfrm>
            <a:off x="3838575" y="1290638"/>
            <a:ext cx="0" cy="1211262"/>
          </a:xfrm>
          <a:prstGeom prst="line">
            <a:avLst/>
          </a:prstGeom>
          <a:noFill/>
          <a:ln w="19050">
            <a:solidFill>
              <a:srgbClr val="FF9966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181" name="Text Box 29">
            <a:extLst>
              <a:ext uri="{FF2B5EF4-FFF2-40B4-BE49-F238E27FC236}">
                <a16:creationId xmlns:a16="http://schemas.microsoft.com/office/drawing/2014/main" id="{B86AECEB-484E-4986-AE32-4BE1985260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125" y="5611813"/>
            <a:ext cx="7127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>
                <a:solidFill>
                  <a:srgbClr val="FFCC66"/>
                </a:solidFill>
              </a:rPr>
              <a:t>-13.6</a:t>
            </a:r>
          </a:p>
        </p:txBody>
      </p:sp>
      <p:sp>
        <p:nvSpPr>
          <p:cNvPr id="49182" name="Text Box 30">
            <a:extLst>
              <a:ext uri="{FF2B5EF4-FFF2-40B4-BE49-F238E27FC236}">
                <a16:creationId xmlns:a16="http://schemas.microsoft.com/office/drawing/2014/main" id="{4BD75EBD-E2A9-43DD-B7DE-D2CBA6DD28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075" y="1568450"/>
            <a:ext cx="7127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>
                <a:solidFill>
                  <a:srgbClr val="FFCC66"/>
                </a:solidFill>
              </a:rPr>
              <a:t>-1.51</a:t>
            </a:r>
          </a:p>
        </p:txBody>
      </p:sp>
      <p:sp>
        <p:nvSpPr>
          <p:cNvPr id="49183" name="Text Box 31">
            <a:extLst>
              <a:ext uri="{FF2B5EF4-FFF2-40B4-BE49-F238E27FC236}">
                <a16:creationId xmlns:a16="http://schemas.microsoft.com/office/drawing/2014/main" id="{404A7101-89F8-4CD4-8CCD-0443B88AEE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075" y="2254250"/>
            <a:ext cx="7127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>
                <a:solidFill>
                  <a:srgbClr val="FFCC66"/>
                </a:solidFill>
              </a:rPr>
              <a:t>-3.39</a:t>
            </a:r>
          </a:p>
        </p:txBody>
      </p:sp>
      <p:sp>
        <p:nvSpPr>
          <p:cNvPr id="49184" name="Text Box 32">
            <a:extLst>
              <a:ext uri="{FF2B5EF4-FFF2-40B4-BE49-F238E27FC236}">
                <a16:creationId xmlns:a16="http://schemas.microsoft.com/office/drawing/2014/main" id="{A0C7E949-4747-4BE2-B946-802A511277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4875" y="642938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>
                <a:solidFill>
                  <a:srgbClr val="FFCC66"/>
                </a:solidFill>
              </a:rPr>
              <a:t>0</a:t>
            </a:r>
          </a:p>
        </p:txBody>
      </p:sp>
      <p:graphicFrame>
        <p:nvGraphicFramePr>
          <p:cNvPr id="49185" name="Object 33">
            <a:extLst>
              <a:ext uri="{FF2B5EF4-FFF2-40B4-BE49-F238E27FC236}">
                <a16:creationId xmlns:a16="http://schemas.microsoft.com/office/drawing/2014/main" id="{0503B197-08FC-49D8-86B4-4EB8225F09F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0063" y="3536950"/>
          <a:ext cx="1133475" cy="820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0286" name="Equation" r:id="rId4" imgW="1095445" imgH="790507" progId="Equation.3">
                  <p:embed/>
                </p:oleObj>
              </mc:Choice>
              <mc:Fallback>
                <p:oleObj name="Equation" r:id="rId4" imgW="1095445" imgH="790507" progId="Equation.3">
                  <p:embed/>
                  <p:pic>
                    <p:nvPicPr>
                      <p:cNvPr id="49185" name="Object 33">
                        <a:extLst>
                          <a:ext uri="{FF2B5EF4-FFF2-40B4-BE49-F238E27FC236}">
                            <a16:creationId xmlns:a16="http://schemas.microsoft.com/office/drawing/2014/main" id="{0503B197-08FC-49D8-86B4-4EB8225F09F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063" y="3536950"/>
                        <a:ext cx="1133475" cy="820738"/>
                      </a:xfrm>
                      <a:prstGeom prst="rect">
                        <a:avLst/>
                      </a:prstGeom>
                      <a:solidFill>
                        <a:srgbClr val="000000">
                          <a:alpha val="34117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34">
            <a:extLst>
              <a:ext uri="{FF2B5EF4-FFF2-40B4-BE49-F238E27FC236}">
                <a16:creationId xmlns:a16="http://schemas.microsoft.com/office/drawing/2014/main" id="{98B2A783-7FA2-469B-AFC3-ACC7158EC5DE}"/>
              </a:ext>
            </a:extLst>
          </p:cNvPr>
          <p:cNvGrpSpPr>
            <a:grpSpLocks/>
          </p:cNvGrpSpPr>
          <p:nvPr/>
        </p:nvGrpSpPr>
        <p:grpSpPr bwMode="auto">
          <a:xfrm>
            <a:off x="3619500" y="3429000"/>
            <a:ext cx="3238500" cy="838200"/>
            <a:chOff x="2373" y="2160"/>
            <a:chExt cx="2040" cy="528"/>
          </a:xfrm>
        </p:grpSpPr>
        <p:sp>
          <p:nvSpPr>
            <p:cNvPr id="29745" name="Rectangle 35">
              <a:extLst>
                <a:ext uri="{FF2B5EF4-FFF2-40B4-BE49-F238E27FC236}">
                  <a16:creationId xmlns:a16="http://schemas.microsoft.com/office/drawing/2014/main" id="{D6800C24-952C-4147-B716-C80B6956DC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3" y="2160"/>
              <a:ext cx="2040" cy="528"/>
            </a:xfrm>
            <a:prstGeom prst="rect">
              <a:avLst/>
            </a:prstGeom>
            <a:solidFill>
              <a:srgbClr val="000000">
                <a:alpha val="3215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aphicFrame>
          <p:nvGraphicFramePr>
            <p:cNvPr id="29746" name="Object 36">
              <a:extLst>
                <a:ext uri="{FF2B5EF4-FFF2-40B4-BE49-F238E27FC236}">
                  <a16:creationId xmlns:a16="http://schemas.microsoft.com/office/drawing/2014/main" id="{6A7F1ED4-1032-4BA2-B46F-FDB5999C112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30" y="2160"/>
            <a:ext cx="1038" cy="5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0287" name="公式" r:id="rId6" imgW="828771" imgH="352391" progId="Equation.3">
                    <p:embed/>
                  </p:oleObj>
                </mc:Choice>
                <mc:Fallback>
                  <p:oleObj name="公式" r:id="rId6" imgW="828771" imgH="352391" progId="Equation.3">
                    <p:embed/>
                    <p:pic>
                      <p:nvPicPr>
                        <p:cNvPr id="29746" name="Object 36">
                          <a:extLst>
                            <a:ext uri="{FF2B5EF4-FFF2-40B4-BE49-F238E27FC236}">
                              <a16:creationId xmlns:a16="http://schemas.microsoft.com/office/drawing/2014/main" id="{6A7F1ED4-1032-4BA2-B46F-FDB5999C112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30" y="2160"/>
                          <a:ext cx="1038" cy="5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000000">
                                  <a:alpha val="27843"/>
                                </a:srgbClr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47" name="Text Box 37">
              <a:extLst>
                <a:ext uri="{FF2B5EF4-FFF2-40B4-BE49-F238E27FC236}">
                  <a16:creationId xmlns:a16="http://schemas.microsoft.com/office/drawing/2014/main" id="{369CC378-421F-4E58-B1DE-4183A7E244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73" y="2277"/>
              <a:ext cx="945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>
                  <a:solidFill>
                    <a:srgbClr val="66FFFF"/>
                  </a:solidFill>
                  <a:ea typeface="华文中宋" panose="02010600040101010101" pitchFamily="2" charset="-122"/>
                </a:rPr>
                <a:t>光子频率</a:t>
              </a:r>
            </a:p>
          </p:txBody>
        </p:sp>
      </p:grpSp>
      <p:sp>
        <p:nvSpPr>
          <p:cNvPr id="29723" name="Line 38">
            <a:extLst>
              <a:ext uri="{FF2B5EF4-FFF2-40B4-BE49-F238E27FC236}">
                <a16:creationId xmlns:a16="http://schemas.microsoft.com/office/drawing/2014/main" id="{839B4E0F-E488-4B9B-9C28-8E02D9D1700C}"/>
              </a:ext>
            </a:extLst>
          </p:cNvPr>
          <p:cNvSpPr>
            <a:spLocks noChangeShapeType="1"/>
          </p:cNvSpPr>
          <p:nvPr/>
        </p:nvSpPr>
        <p:spPr bwMode="auto">
          <a:xfrm>
            <a:off x="1403350" y="1752600"/>
            <a:ext cx="6408738" cy="0"/>
          </a:xfrm>
          <a:prstGeom prst="line">
            <a:avLst/>
          </a:prstGeom>
          <a:noFill/>
          <a:ln w="19050">
            <a:solidFill>
              <a:srgbClr val="00CC99">
                <a:alpha val="85881"/>
              </a:srgb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24" name="Line 39">
            <a:extLst>
              <a:ext uri="{FF2B5EF4-FFF2-40B4-BE49-F238E27FC236}">
                <a16:creationId xmlns:a16="http://schemas.microsoft.com/office/drawing/2014/main" id="{73E27F47-01DC-4F7E-B510-48F80BF49F5E}"/>
              </a:ext>
            </a:extLst>
          </p:cNvPr>
          <p:cNvSpPr>
            <a:spLocks noChangeShapeType="1"/>
          </p:cNvSpPr>
          <p:nvPr/>
        </p:nvSpPr>
        <p:spPr bwMode="auto">
          <a:xfrm>
            <a:off x="1403350" y="1412875"/>
            <a:ext cx="6408738" cy="0"/>
          </a:xfrm>
          <a:prstGeom prst="line">
            <a:avLst/>
          </a:prstGeom>
          <a:noFill/>
          <a:ln w="19050">
            <a:solidFill>
              <a:srgbClr val="00CC99">
                <a:alpha val="83136"/>
              </a:srgb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25" name="Line 40">
            <a:extLst>
              <a:ext uri="{FF2B5EF4-FFF2-40B4-BE49-F238E27FC236}">
                <a16:creationId xmlns:a16="http://schemas.microsoft.com/office/drawing/2014/main" id="{3053B77C-98EF-4BA1-A485-EF4BBFB7AD44}"/>
              </a:ext>
            </a:extLst>
          </p:cNvPr>
          <p:cNvSpPr>
            <a:spLocks noChangeShapeType="1"/>
          </p:cNvSpPr>
          <p:nvPr/>
        </p:nvSpPr>
        <p:spPr bwMode="auto">
          <a:xfrm>
            <a:off x="1403350" y="1284288"/>
            <a:ext cx="6408738" cy="0"/>
          </a:xfrm>
          <a:prstGeom prst="line">
            <a:avLst/>
          </a:prstGeom>
          <a:noFill/>
          <a:ln w="19050">
            <a:solidFill>
              <a:srgbClr val="00CC99">
                <a:alpha val="83136"/>
              </a:srgb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26" name="Line 41">
            <a:extLst>
              <a:ext uri="{FF2B5EF4-FFF2-40B4-BE49-F238E27FC236}">
                <a16:creationId xmlns:a16="http://schemas.microsoft.com/office/drawing/2014/main" id="{50A35901-ADFA-4759-B5B7-9A1FF8E5765C}"/>
              </a:ext>
            </a:extLst>
          </p:cNvPr>
          <p:cNvSpPr>
            <a:spLocks noChangeShapeType="1"/>
          </p:cNvSpPr>
          <p:nvPr/>
        </p:nvSpPr>
        <p:spPr bwMode="auto">
          <a:xfrm>
            <a:off x="1403350" y="1196975"/>
            <a:ext cx="6408738" cy="0"/>
          </a:xfrm>
          <a:prstGeom prst="line">
            <a:avLst/>
          </a:prstGeom>
          <a:noFill/>
          <a:ln w="19050">
            <a:solidFill>
              <a:srgbClr val="00CC99">
                <a:alpha val="83136"/>
              </a:srgb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27" name="Line 42">
            <a:extLst>
              <a:ext uri="{FF2B5EF4-FFF2-40B4-BE49-F238E27FC236}">
                <a16:creationId xmlns:a16="http://schemas.microsoft.com/office/drawing/2014/main" id="{AD47CB49-A9B0-4886-92BF-11F269EA0416}"/>
              </a:ext>
            </a:extLst>
          </p:cNvPr>
          <p:cNvSpPr>
            <a:spLocks noChangeShapeType="1"/>
          </p:cNvSpPr>
          <p:nvPr/>
        </p:nvSpPr>
        <p:spPr bwMode="auto">
          <a:xfrm>
            <a:off x="1403350" y="1139825"/>
            <a:ext cx="6408738" cy="0"/>
          </a:xfrm>
          <a:prstGeom prst="line">
            <a:avLst/>
          </a:prstGeom>
          <a:noFill/>
          <a:ln w="19050">
            <a:solidFill>
              <a:srgbClr val="00CC99">
                <a:alpha val="83136"/>
              </a:srgb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28" name="Line 43">
            <a:extLst>
              <a:ext uri="{FF2B5EF4-FFF2-40B4-BE49-F238E27FC236}">
                <a16:creationId xmlns:a16="http://schemas.microsoft.com/office/drawing/2014/main" id="{10920CAC-985A-4A06-BEB4-50E2FFB5F75D}"/>
              </a:ext>
            </a:extLst>
          </p:cNvPr>
          <p:cNvSpPr>
            <a:spLocks noChangeShapeType="1"/>
          </p:cNvSpPr>
          <p:nvPr/>
        </p:nvSpPr>
        <p:spPr bwMode="auto">
          <a:xfrm>
            <a:off x="1403350" y="2492375"/>
            <a:ext cx="6408738" cy="0"/>
          </a:xfrm>
          <a:prstGeom prst="line">
            <a:avLst/>
          </a:prstGeom>
          <a:noFill/>
          <a:ln w="19050">
            <a:solidFill>
              <a:srgbClr val="00CC99">
                <a:alpha val="85881"/>
              </a:srgb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29" name="Line 44">
            <a:extLst>
              <a:ext uri="{FF2B5EF4-FFF2-40B4-BE49-F238E27FC236}">
                <a16:creationId xmlns:a16="http://schemas.microsoft.com/office/drawing/2014/main" id="{59F9BC8D-35AD-40C2-AA3B-4C925DA21F18}"/>
              </a:ext>
            </a:extLst>
          </p:cNvPr>
          <p:cNvSpPr>
            <a:spLocks noChangeShapeType="1"/>
          </p:cNvSpPr>
          <p:nvPr/>
        </p:nvSpPr>
        <p:spPr bwMode="auto">
          <a:xfrm>
            <a:off x="1403350" y="5805488"/>
            <a:ext cx="6408738" cy="0"/>
          </a:xfrm>
          <a:prstGeom prst="line">
            <a:avLst/>
          </a:prstGeom>
          <a:noFill/>
          <a:ln w="19050">
            <a:solidFill>
              <a:srgbClr val="00CC99">
                <a:alpha val="85881"/>
              </a:srgb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197" name="Rectangle 45">
            <a:extLst>
              <a:ext uri="{FF2B5EF4-FFF2-40B4-BE49-F238E27FC236}">
                <a16:creationId xmlns:a16="http://schemas.microsoft.com/office/drawing/2014/main" id="{0347EDD7-3B0E-4F12-9D4A-52D56A8FFF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836613"/>
            <a:ext cx="6408738" cy="288925"/>
          </a:xfrm>
          <a:prstGeom prst="rect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  <a:alpha val="58000"/>
                </a:schemeClr>
              </a:gs>
              <a:gs pos="100000">
                <a:schemeClr val="accent1">
                  <a:alpha val="73000"/>
                </a:schemeClr>
              </a:gs>
            </a:gsLst>
            <a:lin ang="5400000" scaled="1"/>
          </a:gradFill>
          <a:ln w="19050">
            <a:noFill/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49198" name="Line 46">
            <a:extLst>
              <a:ext uri="{FF2B5EF4-FFF2-40B4-BE49-F238E27FC236}">
                <a16:creationId xmlns:a16="http://schemas.microsoft.com/office/drawing/2014/main" id="{2BC35C7F-E037-4473-B022-B7AE092D17E0}"/>
              </a:ext>
            </a:extLst>
          </p:cNvPr>
          <p:cNvSpPr>
            <a:spLocks noChangeShapeType="1"/>
          </p:cNvSpPr>
          <p:nvPr/>
        </p:nvSpPr>
        <p:spPr bwMode="auto">
          <a:xfrm>
            <a:off x="6804025" y="1268413"/>
            <a:ext cx="0" cy="144462"/>
          </a:xfrm>
          <a:prstGeom prst="line">
            <a:avLst/>
          </a:prstGeom>
          <a:noFill/>
          <a:ln w="19050">
            <a:solidFill>
              <a:srgbClr val="FF99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199" name="Line 47">
            <a:extLst>
              <a:ext uri="{FF2B5EF4-FFF2-40B4-BE49-F238E27FC236}">
                <a16:creationId xmlns:a16="http://schemas.microsoft.com/office/drawing/2014/main" id="{455E9D07-4C1A-4E8C-9808-41BFBA83B4F5}"/>
              </a:ext>
            </a:extLst>
          </p:cNvPr>
          <p:cNvSpPr>
            <a:spLocks noChangeShapeType="1"/>
          </p:cNvSpPr>
          <p:nvPr/>
        </p:nvSpPr>
        <p:spPr bwMode="auto">
          <a:xfrm>
            <a:off x="6948488" y="1196975"/>
            <a:ext cx="0" cy="215900"/>
          </a:xfrm>
          <a:prstGeom prst="line">
            <a:avLst/>
          </a:prstGeom>
          <a:noFill/>
          <a:ln w="19050">
            <a:solidFill>
              <a:srgbClr val="FF99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200" name="Line 48">
            <a:extLst>
              <a:ext uri="{FF2B5EF4-FFF2-40B4-BE49-F238E27FC236}">
                <a16:creationId xmlns:a16="http://schemas.microsoft.com/office/drawing/2014/main" id="{A9FA3B1A-D369-4702-9057-A7EEB7B80BDF}"/>
              </a:ext>
            </a:extLst>
          </p:cNvPr>
          <p:cNvSpPr>
            <a:spLocks noChangeShapeType="1"/>
          </p:cNvSpPr>
          <p:nvPr/>
        </p:nvSpPr>
        <p:spPr bwMode="auto">
          <a:xfrm>
            <a:off x="7092950" y="1125538"/>
            <a:ext cx="0" cy="287337"/>
          </a:xfrm>
          <a:prstGeom prst="line">
            <a:avLst/>
          </a:prstGeom>
          <a:noFill/>
          <a:ln w="19050">
            <a:solidFill>
              <a:srgbClr val="FF99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34" name="Text Box 49">
            <a:extLst>
              <a:ext uri="{FF2B5EF4-FFF2-40B4-BE49-F238E27FC236}">
                <a16:creationId xmlns:a16="http://schemas.microsoft.com/office/drawing/2014/main" id="{FA08A98B-0B4B-481D-ACDB-939D0DE2C3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16863" y="5589588"/>
            <a:ext cx="7239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i="1">
                <a:solidFill>
                  <a:schemeClr val="hlink"/>
                </a:solidFill>
              </a:rPr>
              <a:t>n</a:t>
            </a:r>
            <a:r>
              <a:rPr lang="en-US" altLang="zh-CN" sz="2000">
                <a:solidFill>
                  <a:schemeClr val="hlink"/>
                </a:solidFill>
              </a:rPr>
              <a:t> = 1</a:t>
            </a:r>
          </a:p>
        </p:txBody>
      </p:sp>
      <p:sp>
        <p:nvSpPr>
          <p:cNvPr id="29735" name="Text Box 50">
            <a:extLst>
              <a:ext uri="{FF2B5EF4-FFF2-40B4-BE49-F238E27FC236}">
                <a16:creationId xmlns:a16="http://schemas.microsoft.com/office/drawing/2014/main" id="{FB93989F-D59E-4D79-9BF1-908BB3A6BB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6550" y="2305050"/>
            <a:ext cx="7239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i="1">
                <a:solidFill>
                  <a:schemeClr val="hlink"/>
                </a:solidFill>
              </a:rPr>
              <a:t>n</a:t>
            </a:r>
            <a:r>
              <a:rPr lang="en-US" altLang="zh-CN" sz="2000">
                <a:solidFill>
                  <a:schemeClr val="hlink"/>
                </a:solidFill>
              </a:rPr>
              <a:t> = 2</a:t>
            </a:r>
          </a:p>
        </p:txBody>
      </p:sp>
      <p:sp>
        <p:nvSpPr>
          <p:cNvPr id="29736" name="Text Box 51">
            <a:extLst>
              <a:ext uri="{FF2B5EF4-FFF2-40B4-BE49-F238E27FC236}">
                <a16:creationId xmlns:a16="http://schemas.microsoft.com/office/drawing/2014/main" id="{9A139741-A750-4612-AEA6-B6BA0F5CCF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9725" y="1857375"/>
            <a:ext cx="7239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i="1">
                <a:solidFill>
                  <a:schemeClr val="hlink"/>
                </a:solidFill>
              </a:rPr>
              <a:t>n</a:t>
            </a:r>
            <a:r>
              <a:rPr lang="en-US" altLang="zh-CN" sz="2000">
                <a:solidFill>
                  <a:schemeClr val="hlink"/>
                </a:solidFill>
              </a:rPr>
              <a:t> = 3</a:t>
            </a:r>
          </a:p>
        </p:txBody>
      </p:sp>
      <p:sp>
        <p:nvSpPr>
          <p:cNvPr id="29737" name="Text Box 52">
            <a:extLst>
              <a:ext uri="{FF2B5EF4-FFF2-40B4-BE49-F238E27FC236}">
                <a16:creationId xmlns:a16="http://schemas.microsoft.com/office/drawing/2014/main" id="{ADDE0F52-0D62-4AF9-9F22-868070E13F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9725" y="1425575"/>
            <a:ext cx="7239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i="1">
                <a:solidFill>
                  <a:schemeClr val="hlink"/>
                </a:solidFill>
              </a:rPr>
              <a:t>n</a:t>
            </a:r>
            <a:r>
              <a:rPr lang="en-US" altLang="zh-CN" sz="2000">
                <a:solidFill>
                  <a:schemeClr val="hlink"/>
                </a:solidFill>
              </a:rPr>
              <a:t> = 4</a:t>
            </a:r>
          </a:p>
        </p:txBody>
      </p:sp>
      <p:sp>
        <p:nvSpPr>
          <p:cNvPr id="29738" name="Text Box 53">
            <a:extLst>
              <a:ext uri="{FF2B5EF4-FFF2-40B4-BE49-F238E27FC236}">
                <a16:creationId xmlns:a16="http://schemas.microsoft.com/office/drawing/2014/main" id="{235DF1B8-872D-4916-98CC-65A04E297F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9725" y="1081088"/>
            <a:ext cx="7239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i="1">
                <a:solidFill>
                  <a:schemeClr val="hlink"/>
                </a:solidFill>
              </a:rPr>
              <a:t>n</a:t>
            </a:r>
            <a:r>
              <a:rPr lang="en-US" altLang="zh-CN" sz="2000">
                <a:solidFill>
                  <a:schemeClr val="hlink"/>
                </a:solidFill>
              </a:rPr>
              <a:t> = 5</a:t>
            </a:r>
          </a:p>
        </p:txBody>
      </p:sp>
      <p:sp>
        <p:nvSpPr>
          <p:cNvPr id="29739" name="Text Box 54">
            <a:extLst>
              <a:ext uri="{FF2B5EF4-FFF2-40B4-BE49-F238E27FC236}">
                <a16:creationId xmlns:a16="http://schemas.microsoft.com/office/drawing/2014/main" id="{D42F69BE-0799-4E9C-B3FC-800250D841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6550" y="706438"/>
            <a:ext cx="7239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i="1">
                <a:solidFill>
                  <a:schemeClr val="hlink"/>
                </a:solidFill>
              </a:rPr>
              <a:t>n</a:t>
            </a:r>
            <a:r>
              <a:rPr lang="en-US" altLang="zh-CN" sz="2000">
                <a:solidFill>
                  <a:schemeClr val="hlink"/>
                </a:solidFill>
              </a:rPr>
              <a:t> = 6</a:t>
            </a:r>
          </a:p>
        </p:txBody>
      </p:sp>
      <p:sp>
        <p:nvSpPr>
          <p:cNvPr id="29740" name="Line 55">
            <a:extLst>
              <a:ext uri="{FF2B5EF4-FFF2-40B4-BE49-F238E27FC236}">
                <a16:creationId xmlns:a16="http://schemas.microsoft.com/office/drawing/2014/main" id="{21011AA6-F6DD-461E-B71C-92AAA5749DC7}"/>
              </a:ext>
            </a:extLst>
          </p:cNvPr>
          <p:cNvSpPr>
            <a:spLocks noChangeShapeType="1"/>
          </p:cNvSpPr>
          <p:nvPr/>
        </p:nvSpPr>
        <p:spPr bwMode="auto">
          <a:xfrm>
            <a:off x="7812088" y="1773238"/>
            <a:ext cx="215900" cy="287337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41" name="Line 56">
            <a:extLst>
              <a:ext uri="{FF2B5EF4-FFF2-40B4-BE49-F238E27FC236}">
                <a16:creationId xmlns:a16="http://schemas.microsoft.com/office/drawing/2014/main" id="{1E67CA66-BC81-41B8-93C4-D0FAC85D7A86}"/>
              </a:ext>
            </a:extLst>
          </p:cNvPr>
          <p:cNvSpPr>
            <a:spLocks noChangeShapeType="1"/>
          </p:cNvSpPr>
          <p:nvPr/>
        </p:nvSpPr>
        <p:spPr bwMode="auto">
          <a:xfrm>
            <a:off x="7812088" y="1412875"/>
            <a:ext cx="215900" cy="21590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42" name="Line 57">
            <a:extLst>
              <a:ext uri="{FF2B5EF4-FFF2-40B4-BE49-F238E27FC236}">
                <a16:creationId xmlns:a16="http://schemas.microsoft.com/office/drawing/2014/main" id="{D6B24B80-66E3-4BF1-B741-E13F2E8A6B07}"/>
              </a:ext>
            </a:extLst>
          </p:cNvPr>
          <p:cNvSpPr>
            <a:spLocks noChangeShapeType="1"/>
          </p:cNvSpPr>
          <p:nvPr/>
        </p:nvSpPr>
        <p:spPr bwMode="auto">
          <a:xfrm>
            <a:off x="7812088" y="1295400"/>
            <a:ext cx="215900" cy="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43" name="Line 58">
            <a:extLst>
              <a:ext uri="{FF2B5EF4-FFF2-40B4-BE49-F238E27FC236}">
                <a16:creationId xmlns:a16="http://schemas.microsoft.com/office/drawing/2014/main" id="{54308E50-E4BF-4D13-B7DB-E1310D2A664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812088" y="981075"/>
            <a:ext cx="215900" cy="21590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" name="灯片编号占位符 1">
            <a:extLst>
              <a:ext uri="{FF2B5EF4-FFF2-40B4-BE49-F238E27FC236}">
                <a16:creationId xmlns:a16="http://schemas.microsoft.com/office/drawing/2014/main" id="{4E51F35E-83C2-4519-9068-09AC9E61FB7E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/>
            <a:fld id="{D576E691-5116-4FBA-9B84-E9D18BAAAC14}" type="slidenum">
              <a:rPr lang="en-US" altLang="zh-CN" b="0" smtClean="0">
                <a:solidFill>
                  <a:srgbClr val="FF00FF"/>
                </a:solidFill>
              </a:rPr>
              <a:pPr eaLnBrk="1" hangingPunct="1"/>
              <a:t>11</a:t>
            </a:fld>
            <a:r>
              <a:rPr lang="en-US" altLang="zh-CN" b="0" dirty="0">
                <a:solidFill>
                  <a:srgbClr val="FF00FF"/>
                </a:solidFill>
              </a:rPr>
              <a:t>/28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9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49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9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9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49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2000" fill="hold"/>
                                        <p:tgtEl>
                                          <p:spTgt spid="491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2000" fill="hold"/>
                                        <p:tgtEl>
                                          <p:spTgt spid="491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000" fill="hold"/>
                                        <p:tgtEl>
                                          <p:spTgt spid="491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2000" fill="hold"/>
                                        <p:tgtEl>
                                          <p:spTgt spid="491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9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2000" fill="hold"/>
                                        <p:tgtEl>
                                          <p:spTgt spid="49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000" fill="hold"/>
                                        <p:tgtEl>
                                          <p:spTgt spid="49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000" fill="hold"/>
                                        <p:tgtEl>
                                          <p:spTgt spid="491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2000" fill="hold"/>
                                        <p:tgtEl>
                                          <p:spTgt spid="491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6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2000" fill="hold"/>
                                        <p:tgtEl>
                                          <p:spTgt spid="49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2000" fill="hold"/>
                                        <p:tgtEl>
                                          <p:spTgt spid="49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2000" fill="hold"/>
                                        <p:tgtEl>
                                          <p:spTgt spid="491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000" fill="hold"/>
                                        <p:tgtEl>
                                          <p:spTgt spid="491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53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2000" fill="hold"/>
                                        <p:tgtEl>
                                          <p:spTgt spid="49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2000" fill="hold"/>
                                        <p:tgtEl>
                                          <p:spTgt spid="49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2000" fill="hold"/>
                                        <p:tgtEl>
                                          <p:spTgt spid="491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2000" fill="hold"/>
                                        <p:tgtEl>
                                          <p:spTgt spid="491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60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2000" fill="hold"/>
                                        <p:tgtEl>
                                          <p:spTgt spid="49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2000" fill="hold"/>
                                        <p:tgtEl>
                                          <p:spTgt spid="49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2000" fill="hold"/>
                                        <p:tgtEl>
                                          <p:spTgt spid="491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2000" fill="hold"/>
                                        <p:tgtEl>
                                          <p:spTgt spid="491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6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49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49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491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491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8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49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49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491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491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5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491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49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491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491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92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49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49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491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491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9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49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49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491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491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0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49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49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491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491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7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49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49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491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491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24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49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49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491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491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3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6" dur="500"/>
                                        <p:tgtEl>
                                          <p:spTgt spid="49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9" dur="500"/>
                                        <p:tgtEl>
                                          <p:spTgt spid="49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2" dur="500"/>
                                        <p:tgtEl>
                                          <p:spTgt spid="49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4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81" grpId="0" autoUpdateAnimBg="0"/>
      <p:bldP spid="49182" grpId="0" autoUpdateAnimBg="0"/>
      <p:bldP spid="49183" grpId="0" autoUpdateAnimBg="0"/>
      <p:bldP spid="49184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 Box 2">
            <a:extLst>
              <a:ext uri="{FF2B5EF4-FFF2-40B4-BE49-F238E27FC236}">
                <a16:creationId xmlns:a16="http://schemas.microsoft.com/office/drawing/2014/main" id="{3F29E103-BF77-4886-B9D9-5641AB0140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750" y="292100"/>
            <a:ext cx="5581650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zh-CN" altLang="en-US" sz="2500">
                <a:solidFill>
                  <a:srgbClr val="00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玻尔氢原子理论的成绩</a:t>
            </a:r>
            <a:endParaRPr lang="zh-CN" altLang="en-US" sz="2500" b="0">
              <a:solidFill>
                <a:srgbClr val="00FFFF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53251" name="Text Box 3">
            <a:extLst>
              <a:ext uri="{FF2B5EF4-FFF2-40B4-BE49-F238E27FC236}">
                <a16:creationId xmlns:a16="http://schemas.microsoft.com/office/drawing/2014/main" id="{4B55DA82-23E7-47F8-B798-5EAE5A1925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852488"/>
            <a:ext cx="8318500" cy="253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algn="just" eaLnBrk="1" hangingPunct="1">
              <a:lnSpc>
                <a:spcPct val="110000"/>
              </a:lnSpc>
              <a:buFontTx/>
              <a:buChar char="•"/>
            </a:pPr>
            <a:r>
              <a:rPr lang="zh-CN" altLang="en-US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成功地解释了</a:t>
            </a:r>
            <a:r>
              <a:rPr lang="zh-CN" altLang="en-US" dirty="0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原子的稳定性、大小及氢原子光谱的规律性</a:t>
            </a:r>
            <a:r>
              <a:rPr lang="zh-CN" altLang="en-US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。</a:t>
            </a:r>
          </a:p>
          <a:p>
            <a:pPr algn="just" eaLnBrk="1" hangingPunct="1">
              <a:lnSpc>
                <a:spcPct val="110000"/>
              </a:lnSpc>
              <a:buFontTx/>
              <a:buChar char="•"/>
            </a:pPr>
            <a:r>
              <a:rPr lang="zh-CN" altLang="en-US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从理论上计算了里德伯常量；解决了近</a:t>
            </a:r>
            <a:r>
              <a:rPr lang="en-US" altLang="zh-CN" dirty="0">
                <a:solidFill>
                  <a:schemeClr val="hlink"/>
                </a:solidFill>
                <a:ea typeface="华文中宋" panose="02010600040101010101" pitchFamily="2" charset="-122"/>
              </a:rPr>
              <a:t>30</a:t>
            </a:r>
            <a:r>
              <a:rPr lang="zh-CN" altLang="en-US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年之久的巴耳末公式之迷，打开了人们认识原子结构的大门，而且玻尔提出的一些概念，如</a:t>
            </a:r>
            <a:r>
              <a:rPr lang="zh-CN" altLang="en-US" dirty="0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能量量子化</a:t>
            </a:r>
            <a:r>
              <a:rPr lang="zh-CN" altLang="en-US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、</a:t>
            </a:r>
            <a:r>
              <a:rPr lang="zh-CN" altLang="en-US" dirty="0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量子跃迁</a:t>
            </a:r>
            <a:r>
              <a:rPr lang="zh-CN" altLang="en-US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及</a:t>
            </a:r>
            <a:r>
              <a:rPr lang="zh-CN" altLang="en-US" dirty="0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频率</a:t>
            </a:r>
            <a:r>
              <a:rPr lang="zh-CN" altLang="en-US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条件等，至今仍然是正确的。</a:t>
            </a:r>
          </a:p>
          <a:p>
            <a:pPr algn="just" eaLnBrk="1" hangingPunct="1">
              <a:lnSpc>
                <a:spcPct val="110000"/>
              </a:lnSpc>
              <a:buFontTx/>
              <a:buChar char="•"/>
            </a:pPr>
            <a:r>
              <a:rPr lang="zh-CN" altLang="en-US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能对类氢原子的光谱给予说明</a:t>
            </a:r>
          </a:p>
        </p:txBody>
      </p:sp>
      <p:sp>
        <p:nvSpPr>
          <p:cNvPr id="53252" name="Text Box 4">
            <a:extLst>
              <a:ext uri="{FF2B5EF4-FFF2-40B4-BE49-F238E27FC236}">
                <a16:creationId xmlns:a16="http://schemas.microsoft.com/office/drawing/2014/main" id="{7CD07E49-EDB1-44DD-891D-B5B2ADC4F4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8" y="3500438"/>
            <a:ext cx="4575175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zh-CN" altLang="en-US" sz="2500">
                <a:solidFill>
                  <a:srgbClr val="00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玻尔氢原子理论的困难</a:t>
            </a:r>
            <a:endParaRPr lang="zh-CN" altLang="en-US" sz="2500" b="0">
              <a:solidFill>
                <a:srgbClr val="00FFFF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53253" name="Text Box 5">
            <a:extLst>
              <a:ext uri="{FF2B5EF4-FFF2-40B4-BE49-F238E27FC236}">
                <a16:creationId xmlns:a16="http://schemas.microsoft.com/office/drawing/2014/main" id="{20D520A2-EDF2-4D29-BB3A-4A4928FF09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" y="4083050"/>
            <a:ext cx="8281988" cy="127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  <a:buFontTx/>
              <a:buChar char="•"/>
            </a:pPr>
            <a:r>
              <a:rPr lang="zh-CN" altLang="en-US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不能解释多电子原子的光谱，不能解释谱线的强度和宽度；</a:t>
            </a:r>
          </a:p>
          <a:p>
            <a:pPr algn="just" eaLnBrk="1" hangingPunct="1">
              <a:spcBef>
                <a:spcPct val="20000"/>
              </a:spcBef>
              <a:buFontTx/>
              <a:buChar char="•"/>
            </a:pPr>
            <a:r>
              <a:rPr lang="zh-CN" altLang="en-US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在</a:t>
            </a:r>
            <a:r>
              <a:rPr lang="zh-CN" altLang="en-US" dirty="0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逻辑上也存在矛盾</a:t>
            </a:r>
            <a:r>
              <a:rPr lang="zh-CN" altLang="en-US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：把微观粒子看成是遵守经典力学规律的质点，又赋予它们量子化的特征。</a:t>
            </a:r>
            <a:endParaRPr lang="en-US" altLang="zh-CN" dirty="0">
              <a:solidFill>
                <a:schemeClr val="hlink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7" name="灯片编号占位符 1">
            <a:extLst>
              <a:ext uri="{FF2B5EF4-FFF2-40B4-BE49-F238E27FC236}">
                <a16:creationId xmlns:a16="http://schemas.microsoft.com/office/drawing/2014/main" id="{FAF0BA45-E9D9-4FC1-BDB5-B94A55C94E3D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/>
            <a:fld id="{D576E691-5116-4FBA-9B84-E9D18BAAAC14}" type="slidenum">
              <a:rPr lang="en-US" altLang="zh-CN" b="0" smtClean="0">
                <a:solidFill>
                  <a:srgbClr val="FF00FF"/>
                </a:solidFill>
              </a:rPr>
              <a:pPr eaLnBrk="1" hangingPunct="1"/>
              <a:t>12</a:t>
            </a:fld>
            <a:r>
              <a:rPr lang="en-US" altLang="zh-CN" b="0" dirty="0">
                <a:solidFill>
                  <a:srgbClr val="FF00FF"/>
                </a:solidFill>
              </a:rPr>
              <a:t>/28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3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32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53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1" grpId="0"/>
      <p:bldP spid="53252" grpId="0" build="p" autoUpdateAnimBg="0"/>
      <p:bldP spid="5325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 Box 5">
            <a:extLst>
              <a:ext uri="{FF2B5EF4-FFF2-40B4-BE49-F238E27FC236}">
                <a16:creationId xmlns:a16="http://schemas.microsoft.com/office/drawing/2014/main" id="{5B979D5A-37A2-4995-AD37-2F195B119F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" y="514350"/>
            <a:ext cx="7929563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>
                <a:solidFill>
                  <a:srgbClr val="FFFF00"/>
                </a:solidFill>
              </a:rPr>
              <a:t>例</a:t>
            </a:r>
            <a:r>
              <a:rPr lang="en-US" altLang="zh-CN">
                <a:solidFill>
                  <a:srgbClr val="FFFF00"/>
                </a:solidFill>
              </a:rPr>
              <a:t>: </a:t>
            </a:r>
            <a:r>
              <a:rPr lang="zh-CN" altLang="en-US">
                <a:solidFill>
                  <a:schemeClr val="bg1"/>
                </a:solidFill>
              </a:rPr>
              <a:t>用动能为</a:t>
            </a:r>
            <a:r>
              <a:rPr lang="en-US" altLang="zh-CN" b="0">
                <a:solidFill>
                  <a:srgbClr val="FFFF00"/>
                </a:solidFill>
              </a:rPr>
              <a:t>12.2 eV</a:t>
            </a:r>
            <a:r>
              <a:rPr lang="zh-CN" altLang="en-US">
                <a:solidFill>
                  <a:schemeClr val="bg1"/>
                </a:solidFill>
              </a:rPr>
              <a:t>电子轰击处于基态的氢原子，试求氢原子被激发后可能发出的谱线波长</a:t>
            </a:r>
            <a:r>
              <a:rPr lang="en-US" altLang="zh-CN">
                <a:solidFill>
                  <a:schemeClr val="bg1"/>
                </a:solidFill>
              </a:rPr>
              <a:t>?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5" name="Text Box 13">
            <a:extLst>
              <a:ext uri="{FF2B5EF4-FFF2-40B4-BE49-F238E27FC236}">
                <a16:creationId xmlns:a16="http://schemas.microsoft.com/office/drawing/2014/main" id="{11671D06-807B-4F09-9787-DF326504DA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" y="1922463"/>
            <a:ext cx="8032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rgbClr val="FFFF00"/>
                </a:solidFill>
                <a:latin typeface="Arial" panose="020B0604020202020204" pitchFamily="34" charset="0"/>
              </a:rPr>
              <a:t>解：</a:t>
            </a:r>
          </a:p>
        </p:txBody>
      </p:sp>
      <p:graphicFrame>
        <p:nvGraphicFramePr>
          <p:cNvPr id="1354776" name="Object 3">
            <a:extLst>
              <a:ext uri="{FF2B5EF4-FFF2-40B4-BE49-F238E27FC236}">
                <a16:creationId xmlns:a16="http://schemas.microsoft.com/office/drawing/2014/main" id="{D80F74A7-DB45-4F7F-A870-DF7E121DBFE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57563" y="1779588"/>
          <a:ext cx="4799012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380" name="公式" r:id="rId3" imgW="2438298" imgH="361882" progId="Equation.3">
                  <p:embed/>
                </p:oleObj>
              </mc:Choice>
              <mc:Fallback>
                <p:oleObj name="公式" r:id="rId3" imgW="2438298" imgH="361882" progId="Equation.3">
                  <p:embed/>
                  <p:pic>
                    <p:nvPicPr>
                      <p:cNvPr id="1354776" name="Object 3">
                        <a:extLst>
                          <a:ext uri="{FF2B5EF4-FFF2-40B4-BE49-F238E27FC236}">
                            <a16:creationId xmlns:a16="http://schemas.microsoft.com/office/drawing/2014/main" id="{D80F74A7-DB45-4F7F-A870-DF7E121DBFE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7563" y="1779588"/>
                        <a:ext cx="4799012" cy="792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13">
            <a:extLst>
              <a:ext uri="{FF2B5EF4-FFF2-40B4-BE49-F238E27FC236}">
                <a16:creationId xmlns:a16="http://schemas.microsoft.com/office/drawing/2014/main" id="{2C6D9BDD-5AB3-43DC-80D7-7DB31BDA08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1922463"/>
            <a:ext cx="2357438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r>
              <a:rPr lang="zh-CN" altLang="en-US">
                <a:solidFill>
                  <a:schemeClr val="bg1"/>
                </a:solidFill>
                <a:latin typeface="Arial" panose="020B0604020202020204" pitchFamily="34" charset="0"/>
              </a:rPr>
              <a:t>根据</a:t>
            </a:r>
            <a:r>
              <a:rPr lang="en-US" altLang="zh-CN">
                <a:solidFill>
                  <a:schemeClr val="bg1"/>
                </a:solidFill>
              </a:rPr>
              <a:t>Bohr</a:t>
            </a:r>
            <a:r>
              <a:rPr lang="zh-CN" altLang="en-US">
                <a:solidFill>
                  <a:schemeClr val="bg1"/>
                </a:solidFill>
                <a:latin typeface="Arial" panose="020B0604020202020204" pitchFamily="34" charset="0"/>
              </a:rPr>
              <a:t>能级</a:t>
            </a: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73888EFF-8EA3-4F98-872B-FFD05C5B288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14438" y="2786063"/>
          <a:ext cx="3700462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381" name="公式" r:id="rId5" imgW="2019325" imgH="199923" progId="Equation.3">
                  <p:embed/>
                </p:oleObj>
              </mc:Choice>
              <mc:Fallback>
                <p:oleObj name="公式" r:id="rId5" imgW="2019325" imgH="199923" progId="Equation.3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73888EFF-8EA3-4F98-872B-FFD05C5B288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4438" y="2786063"/>
                        <a:ext cx="3700462" cy="439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6">
            <a:extLst>
              <a:ext uri="{FF2B5EF4-FFF2-40B4-BE49-F238E27FC236}">
                <a16:creationId xmlns:a16="http://schemas.microsoft.com/office/drawing/2014/main" id="{FF2D1615-7154-4368-A4AD-21B884CD70F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15000" y="2797175"/>
          <a:ext cx="1954213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382" name="公式" r:id="rId7" imgW="1047737" imgH="199923" progId="Equation.3">
                  <p:embed/>
                </p:oleObj>
              </mc:Choice>
              <mc:Fallback>
                <p:oleObj name="公式" r:id="rId7" imgW="1047737" imgH="199923" progId="Equation.3">
                  <p:embed/>
                  <p:pic>
                    <p:nvPicPr>
                      <p:cNvPr id="9" name="Object 6">
                        <a:extLst>
                          <a:ext uri="{FF2B5EF4-FFF2-40B4-BE49-F238E27FC236}">
                            <a16:creationId xmlns:a16="http://schemas.microsoft.com/office/drawing/2014/main" id="{FF2D1615-7154-4368-A4AD-21B884CD70F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2797175"/>
                        <a:ext cx="1954213" cy="439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130D4175-1BAB-4D37-B3A0-FBAB5F3D14B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715000" y="4070350"/>
            <a:ext cx="1785938" cy="1588"/>
          </a:xfrm>
          <a:prstGeom prst="line">
            <a:avLst/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349B2590-18BA-4F94-9E45-2912756F266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715000" y="4713288"/>
            <a:ext cx="1785938" cy="1587"/>
          </a:xfrm>
          <a:prstGeom prst="line">
            <a:avLst/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5D74E137-A524-4C95-94E6-08C5309F5BB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715000" y="6142038"/>
            <a:ext cx="1785938" cy="1587"/>
          </a:xfrm>
          <a:prstGeom prst="line">
            <a:avLst/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" name="Text Box 49">
            <a:extLst>
              <a:ext uri="{FF2B5EF4-FFF2-40B4-BE49-F238E27FC236}">
                <a16:creationId xmlns:a16="http://schemas.microsoft.com/office/drawing/2014/main" id="{BE856B73-ED05-447A-8DC8-268EE1EC1D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81900" y="4500563"/>
            <a:ext cx="7239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i="1">
                <a:solidFill>
                  <a:schemeClr val="hlink"/>
                </a:solidFill>
              </a:rPr>
              <a:t>n</a:t>
            </a:r>
            <a:r>
              <a:rPr lang="en-US" altLang="zh-CN" sz="2000">
                <a:solidFill>
                  <a:schemeClr val="hlink"/>
                </a:solidFill>
              </a:rPr>
              <a:t> = 2</a:t>
            </a:r>
          </a:p>
        </p:txBody>
      </p:sp>
      <p:sp>
        <p:nvSpPr>
          <p:cNvPr id="16" name="Text Box 49">
            <a:extLst>
              <a:ext uri="{FF2B5EF4-FFF2-40B4-BE49-F238E27FC236}">
                <a16:creationId xmlns:a16="http://schemas.microsoft.com/office/drawing/2014/main" id="{ADA20A7C-A27B-4CB1-BDF5-5F507C76C1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81900" y="5961063"/>
            <a:ext cx="7239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i="1">
                <a:solidFill>
                  <a:schemeClr val="hlink"/>
                </a:solidFill>
              </a:rPr>
              <a:t>n</a:t>
            </a:r>
            <a:r>
              <a:rPr lang="en-US" altLang="zh-CN" sz="2000">
                <a:solidFill>
                  <a:schemeClr val="hlink"/>
                </a:solidFill>
              </a:rPr>
              <a:t> = 1</a:t>
            </a:r>
          </a:p>
        </p:txBody>
      </p:sp>
      <p:sp>
        <p:nvSpPr>
          <p:cNvPr id="17" name="Text Box 49">
            <a:extLst>
              <a:ext uri="{FF2B5EF4-FFF2-40B4-BE49-F238E27FC236}">
                <a16:creationId xmlns:a16="http://schemas.microsoft.com/office/drawing/2014/main" id="{3B445346-C7B7-4445-8EF0-C1CAB8EA97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2375" y="3817938"/>
            <a:ext cx="7239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i="1">
                <a:solidFill>
                  <a:schemeClr val="hlink"/>
                </a:solidFill>
              </a:rPr>
              <a:t>n</a:t>
            </a:r>
            <a:r>
              <a:rPr lang="en-US" altLang="zh-CN" sz="2000">
                <a:solidFill>
                  <a:schemeClr val="hlink"/>
                </a:solidFill>
              </a:rPr>
              <a:t> = 3</a:t>
            </a:r>
          </a:p>
        </p:txBody>
      </p:sp>
      <p:sp>
        <p:nvSpPr>
          <p:cNvPr id="18" name="Text Box 13">
            <a:extLst>
              <a:ext uri="{FF2B5EF4-FFF2-40B4-BE49-F238E27FC236}">
                <a16:creationId xmlns:a16="http://schemas.microsoft.com/office/drawing/2014/main" id="{3EF59F92-751B-472A-8EDB-F76301A4D1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1563" y="3500438"/>
            <a:ext cx="442912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r>
              <a:rPr lang="zh-CN" altLang="en-US">
                <a:solidFill>
                  <a:schemeClr val="bg1"/>
                </a:solidFill>
                <a:latin typeface="Arial" panose="020B0604020202020204" pitchFamily="34" charset="0"/>
              </a:rPr>
              <a:t>最多被激发到 </a:t>
            </a:r>
            <a:r>
              <a:rPr lang="en-US" altLang="zh-CN" i="1">
                <a:solidFill>
                  <a:srgbClr val="FFFF00"/>
                </a:solidFill>
              </a:rPr>
              <a:t>n</a:t>
            </a:r>
            <a:r>
              <a:rPr lang="en-US" altLang="zh-CN">
                <a:solidFill>
                  <a:srgbClr val="FFFF00"/>
                </a:solidFill>
              </a:rPr>
              <a:t> = 3 </a:t>
            </a:r>
            <a:r>
              <a:rPr lang="zh-CN" altLang="en-US">
                <a:solidFill>
                  <a:schemeClr val="bg1"/>
                </a:solidFill>
                <a:latin typeface="Arial" panose="020B0604020202020204" pitchFamily="34" charset="0"/>
              </a:rPr>
              <a:t>的激发态</a:t>
            </a:r>
          </a:p>
        </p:txBody>
      </p:sp>
      <p:graphicFrame>
        <p:nvGraphicFramePr>
          <p:cNvPr id="10" name="Object 7">
            <a:extLst>
              <a:ext uri="{FF2B5EF4-FFF2-40B4-BE49-F238E27FC236}">
                <a16:creationId xmlns:a16="http://schemas.microsoft.com/office/drawing/2014/main" id="{81C81572-11A6-42A2-9B6A-1592B6DD521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27250" y="4243388"/>
          <a:ext cx="1436688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383" name="公式" r:id="rId9" imgW="742835" imgH="400152" progId="Equation.3">
                  <p:embed/>
                </p:oleObj>
              </mc:Choice>
              <mc:Fallback>
                <p:oleObj name="公式" r:id="rId9" imgW="742835" imgH="400152" progId="Equation.3">
                  <p:embed/>
                  <p:pic>
                    <p:nvPicPr>
                      <p:cNvPr id="10" name="Object 7">
                        <a:extLst>
                          <a:ext uri="{FF2B5EF4-FFF2-40B4-BE49-F238E27FC236}">
                            <a16:creationId xmlns:a16="http://schemas.microsoft.com/office/drawing/2014/main" id="{81C81572-11A6-42A2-9B6A-1592B6DD521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7250" y="4243388"/>
                        <a:ext cx="1436688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181ECD5A-0022-4D23-8376-1F41A5B823C7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5037138" y="5108575"/>
            <a:ext cx="2071688" cy="1587"/>
          </a:xfrm>
          <a:prstGeom prst="straightConnector1">
            <a:avLst/>
          </a:prstGeom>
          <a:noFill/>
          <a:ln w="19050" algn="ctr">
            <a:solidFill>
              <a:srgbClr val="FFFF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19" name="Object 8">
            <a:extLst>
              <a:ext uri="{FF2B5EF4-FFF2-40B4-BE49-F238E27FC236}">
                <a16:creationId xmlns:a16="http://schemas.microsoft.com/office/drawing/2014/main" id="{10F00F3E-816C-46F3-AC15-FC91694759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43000" y="5357813"/>
          <a:ext cx="1619250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384" name="公式" r:id="rId11" imgW="885959" imgH="209414" progId="Equation.3">
                  <p:embed/>
                </p:oleObj>
              </mc:Choice>
              <mc:Fallback>
                <p:oleObj name="公式" r:id="rId11" imgW="885959" imgH="209414" progId="Equation.3">
                  <p:embed/>
                  <p:pic>
                    <p:nvPicPr>
                      <p:cNvPr id="19" name="Object 8">
                        <a:extLst>
                          <a:ext uri="{FF2B5EF4-FFF2-40B4-BE49-F238E27FC236}">
                            <a16:creationId xmlns:a16="http://schemas.microsoft.com/office/drawing/2014/main" id="{10F00F3E-816C-46F3-AC15-FC91694759B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5357813"/>
                        <a:ext cx="1619250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9">
            <a:extLst>
              <a:ext uri="{FF2B5EF4-FFF2-40B4-BE49-F238E27FC236}">
                <a16:creationId xmlns:a16="http://schemas.microsoft.com/office/drawing/2014/main" id="{856BE657-6C60-40F0-B738-E8EEB0EBE5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86125" y="5357813"/>
          <a:ext cx="1663700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385" name="公式" r:id="rId13" imgW="914400" imgH="209414" progId="Equation.3">
                  <p:embed/>
                </p:oleObj>
              </mc:Choice>
              <mc:Fallback>
                <p:oleObj name="公式" r:id="rId13" imgW="914400" imgH="209414" progId="Equation.3">
                  <p:embed/>
                  <p:pic>
                    <p:nvPicPr>
                      <p:cNvPr id="22" name="Object 9">
                        <a:extLst>
                          <a:ext uri="{FF2B5EF4-FFF2-40B4-BE49-F238E27FC236}">
                            <a16:creationId xmlns:a16="http://schemas.microsoft.com/office/drawing/2014/main" id="{856BE657-6C60-40F0-B738-E8EEB0EBE5D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6125" y="5357813"/>
                        <a:ext cx="1663700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10">
            <a:extLst>
              <a:ext uri="{FF2B5EF4-FFF2-40B4-BE49-F238E27FC236}">
                <a16:creationId xmlns:a16="http://schemas.microsoft.com/office/drawing/2014/main" id="{3B2F174F-B5C0-44D0-B1F0-4C690E7AD57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14563" y="5986463"/>
          <a:ext cx="1619250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386" name="公式" r:id="rId15" imgW="885959" imgH="209414" progId="Equation.3">
                  <p:embed/>
                </p:oleObj>
              </mc:Choice>
              <mc:Fallback>
                <p:oleObj name="公式" r:id="rId15" imgW="885959" imgH="209414" progId="Equation.3">
                  <p:embed/>
                  <p:pic>
                    <p:nvPicPr>
                      <p:cNvPr id="23" name="Object 10">
                        <a:extLst>
                          <a:ext uri="{FF2B5EF4-FFF2-40B4-BE49-F238E27FC236}">
                            <a16:creationId xmlns:a16="http://schemas.microsoft.com/office/drawing/2014/main" id="{3B2F174F-B5C0-44D0-B1F0-4C690E7AD57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4563" y="5986463"/>
                        <a:ext cx="1619250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813F8EF0-C43A-4ED4-958E-09BAA1678DCE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6251575" y="4394200"/>
            <a:ext cx="642938" cy="1588"/>
          </a:xfrm>
          <a:prstGeom prst="straightConnector1">
            <a:avLst/>
          </a:prstGeom>
          <a:noFill/>
          <a:ln w="19050" algn="ctr">
            <a:solidFill>
              <a:srgbClr val="FFFF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AD66F92E-D8A6-4B91-83B9-B85D251A228E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6358732" y="5430044"/>
            <a:ext cx="1428750" cy="1587"/>
          </a:xfrm>
          <a:prstGeom prst="straightConnector1">
            <a:avLst/>
          </a:prstGeom>
          <a:noFill/>
          <a:ln w="19050" algn="ctr">
            <a:solidFill>
              <a:srgbClr val="FFFF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3814" name="灯片编号占位符 1">
            <a:extLst>
              <a:ext uri="{FF2B5EF4-FFF2-40B4-BE49-F238E27FC236}">
                <a16:creationId xmlns:a16="http://schemas.microsoft.com/office/drawing/2014/main" id="{92A1014A-3A87-4BA8-BC57-C5E193159FF2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/>
            <a:fld id="{EFE757DA-9C16-4EED-9E42-1304FBDE687B}" type="slidenum">
              <a:rPr lang="en-US" altLang="zh-CN" b="0" smtClean="0">
                <a:solidFill>
                  <a:srgbClr val="FF00FF"/>
                </a:solidFill>
              </a:rPr>
              <a:pPr eaLnBrk="1" hangingPunct="1"/>
              <a:t>13</a:t>
            </a:fld>
            <a:r>
              <a:rPr lang="en-US" altLang="zh-CN" b="0" dirty="0">
                <a:solidFill>
                  <a:srgbClr val="FF00FF"/>
                </a:solidFill>
              </a:rPr>
              <a:t>/28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4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354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15" grpId="0"/>
      <p:bldP spid="16" grpId="0"/>
      <p:bldP spid="17" grpId="0"/>
      <p:bldP spid="1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图片 4">
            <a:extLst>
              <a:ext uri="{FF2B5EF4-FFF2-40B4-BE49-F238E27FC236}">
                <a16:creationId xmlns:a16="http://schemas.microsoft.com/office/drawing/2014/main" id="{1C190E73-3C4D-4241-817C-37DFB90727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338" y="71438"/>
            <a:ext cx="1800225" cy="270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19" name="Rectangle 4">
            <a:extLst>
              <a:ext uri="{FF2B5EF4-FFF2-40B4-BE49-F238E27FC236}">
                <a16:creationId xmlns:a16="http://schemas.microsoft.com/office/drawing/2014/main" id="{998081A6-B62B-4A6C-8E8F-6991D41B84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425" y="2786063"/>
            <a:ext cx="184785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000">
                <a:solidFill>
                  <a:schemeClr val="bg1"/>
                </a:solidFill>
              </a:rPr>
              <a:t>詹姆斯</a:t>
            </a:r>
            <a:r>
              <a:rPr lang="en-US" altLang="zh-CN" sz="2000">
                <a:solidFill>
                  <a:schemeClr val="bg1"/>
                </a:solidFill>
              </a:rPr>
              <a:t>·</a:t>
            </a:r>
            <a:r>
              <a:rPr lang="zh-CN" altLang="en-US" sz="2000">
                <a:solidFill>
                  <a:schemeClr val="bg1"/>
                </a:solidFill>
              </a:rPr>
              <a:t>弗兰克</a:t>
            </a:r>
            <a:endParaRPr lang="en-US" altLang="zh-CN" sz="2000">
              <a:solidFill>
                <a:schemeClr val="bg1"/>
              </a:solidFill>
            </a:endParaRPr>
          </a:p>
          <a:p>
            <a:pPr algn="ctr" eaLnBrk="1" hangingPunct="1"/>
            <a:r>
              <a:rPr lang="en-US" altLang="zh-CN" sz="2000" b="0">
                <a:solidFill>
                  <a:schemeClr val="bg1"/>
                </a:solidFill>
              </a:rPr>
              <a:t>1882-1964</a:t>
            </a:r>
            <a:endParaRPr lang="zh-CN" altLang="en-US" sz="2000" b="0">
              <a:solidFill>
                <a:schemeClr val="bg1"/>
              </a:solidFill>
            </a:endParaRPr>
          </a:p>
        </p:txBody>
      </p:sp>
      <p:pic>
        <p:nvPicPr>
          <p:cNvPr id="34820" name="图片 6">
            <a:extLst>
              <a:ext uri="{FF2B5EF4-FFF2-40B4-BE49-F238E27FC236}">
                <a16:creationId xmlns:a16="http://schemas.microsoft.com/office/drawing/2014/main" id="{7A48D9B3-BA1E-43A6-94AC-713FFF3ED3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050" y="3500438"/>
            <a:ext cx="1800225" cy="270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21" name="Rectangle 4">
            <a:extLst>
              <a:ext uri="{FF2B5EF4-FFF2-40B4-BE49-F238E27FC236}">
                <a16:creationId xmlns:a16="http://schemas.microsoft.com/office/drawing/2014/main" id="{302DA2CC-D900-40FD-8FF0-B25CDF6B75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425" y="6149975"/>
            <a:ext cx="184785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000">
                <a:solidFill>
                  <a:schemeClr val="bg1"/>
                </a:solidFill>
              </a:rPr>
              <a:t>古斯塔夫</a:t>
            </a:r>
            <a:r>
              <a:rPr lang="en-US" altLang="zh-CN" sz="2000">
                <a:solidFill>
                  <a:schemeClr val="bg1"/>
                </a:solidFill>
              </a:rPr>
              <a:t>·</a:t>
            </a:r>
            <a:r>
              <a:rPr lang="zh-CN" altLang="en-US" sz="2000">
                <a:solidFill>
                  <a:schemeClr val="bg1"/>
                </a:solidFill>
              </a:rPr>
              <a:t>赫兹</a:t>
            </a:r>
            <a:r>
              <a:rPr lang="en-US" altLang="zh-CN" sz="2000" b="0">
                <a:solidFill>
                  <a:schemeClr val="bg1"/>
                </a:solidFill>
              </a:rPr>
              <a:t>1887-1975</a:t>
            </a:r>
            <a:endParaRPr lang="zh-CN" altLang="en-US" sz="2000" b="0">
              <a:solidFill>
                <a:schemeClr val="bg1"/>
              </a:solidFill>
            </a:endParaRPr>
          </a:p>
        </p:txBody>
      </p:sp>
      <p:sp>
        <p:nvSpPr>
          <p:cNvPr id="34822" name="矩形 8">
            <a:extLst>
              <a:ext uri="{FF2B5EF4-FFF2-40B4-BE49-F238E27FC236}">
                <a16:creationId xmlns:a16="http://schemas.microsoft.com/office/drawing/2014/main" id="{73BD8503-19F2-41C8-86BE-02162E1E3E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5200" y="454025"/>
            <a:ext cx="6480175" cy="5761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algn="just" eaLnBrk="1" hangingPunct="1">
              <a:lnSpc>
                <a:spcPts val="38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zh-CN" sz="2600">
                <a:solidFill>
                  <a:srgbClr val="00FF00"/>
                </a:solidFill>
              </a:rPr>
              <a:t>1914</a:t>
            </a:r>
            <a:r>
              <a:rPr lang="zh-CN" altLang="en-US" sz="2600">
                <a:solidFill>
                  <a:srgbClr val="00FF00"/>
                </a:solidFill>
              </a:rPr>
              <a:t>年</a:t>
            </a:r>
            <a:r>
              <a:rPr lang="zh-CN" altLang="en-US" sz="2600">
                <a:solidFill>
                  <a:schemeClr val="bg1"/>
                </a:solidFill>
              </a:rPr>
              <a:t>，德国科学家</a:t>
            </a:r>
            <a:r>
              <a:rPr lang="zh-CN" altLang="en-US" sz="2600">
                <a:solidFill>
                  <a:srgbClr val="00FF00"/>
                </a:solidFill>
              </a:rPr>
              <a:t>詹姆斯</a:t>
            </a:r>
            <a:r>
              <a:rPr lang="en-US" altLang="zh-CN" sz="2600">
                <a:solidFill>
                  <a:srgbClr val="00FF00"/>
                </a:solidFill>
              </a:rPr>
              <a:t>·</a:t>
            </a:r>
            <a:r>
              <a:rPr lang="zh-CN" altLang="en-US" sz="2600">
                <a:solidFill>
                  <a:srgbClr val="00FF00"/>
                </a:solidFill>
              </a:rPr>
              <a:t>弗兰克</a:t>
            </a:r>
            <a:r>
              <a:rPr lang="zh-CN" altLang="en-US" sz="2600">
                <a:solidFill>
                  <a:schemeClr val="bg1"/>
                </a:solidFill>
              </a:rPr>
              <a:t>和</a:t>
            </a:r>
            <a:r>
              <a:rPr lang="zh-CN" altLang="en-US" sz="2600">
                <a:solidFill>
                  <a:srgbClr val="00FF00"/>
                </a:solidFill>
              </a:rPr>
              <a:t>古斯塔夫</a:t>
            </a:r>
            <a:r>
              <a:rPr lang="en-US" altLang="zh-CN" sz="2600">
                <a:solidFill>
                  <a:srgbClr val="00FF00"/>
                </a:solidFill>
              </a:rPr>
              <a:t>·</a:t>
            </a:r>
            <a:r>
              <a:rPr lang="zh-CN" altLang="en-US" sz="2600">
                <a:solidFill>
                  <a:srgbClr val="00FF00"/>
                </a:solidFill>
              </a:rPr>
              <a:t>路德维希</a:t>
            </a:r>
            <a:r>
              <a:rPr lang="en-US" altLang="zh-CN" sz="2600">
                <a:solidFill>
                  <a:srgbClr val="00FF00"/>
                </a:solidFill>
              </a:rPr>
              <a:t>·</a:t>
            </a:r>
            <a:r>
              <a:rPr lang="zh-CN" altLang="en-US" sz="2600">
                <a:solidFill>
                  <a:srgbClr val="00FF00"/>
                </a:solidFill>
              </a:rPr>
              <a:t>赫兹</a:t>
            </a:r>
            <a:r>
              <a:rPr lang="zh-CN" altLang="en-US" sz="2600">
                <a:solidFill>
                  <a:schemeClr val="bg1"/>
                </a:solidFill>
              </a:rPr>
              <a:t>研究气体放电中低能电子与原子相互作用时，发现：</a:t>
            </a:r>
            <a:r>
              <a:rPr lang="zh-CN" altLang="en-US" sz="2600">
                <a:solidFill>
                  <a:srgbClr val="FFFF00"/>
                </a:solidFill>
              </a:rPr>
              <a:t>透过汞蒸汽的电子流随电子的能量呈现有规律的周期性变化</a:t>
            </a:r>
            <a:r>
              <a:rPr lang="zh-CN" altLang="en-US" sz="2600"/>
              <a:t>。</a:t>
            </a:r>
            <a:endParaRPr lang="en-US" altLang="zh-CN" sz="2600"/>
          </a:p>
          <a:p>
            <a:pPr algn="just" eaLnBrk="1" hangingPunct="1">
              <a:lnSpc>
                <a:spcPts val="38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sz="2600">
                <a:solidFill>
                  <a:srgbClr val="FF0000"/>
                </a:solidFill>
              </a:rPr>
              <a:t>实验证实</a:t>
            </a:r>
            <a:r>
              <a:rPr lang="zh-CN" altLang="en-US" sz="2600">
                <a:solidFill>
                  <a:schemeClr val="bg1"/>
                </a:solidFill>
              </a:rPr>
              <a:t>了原子内部的能量是量子化的，是对</a:t>
            </a:r>
            <a:r>
              <a:rPr lang="zh-CN" altLang="en-US" sz="2600">
                <a:solidFill>
                  <a:srgbClr val="FFFF00"/>
                </a:solidFill>
              </a:rPr>
              <a:t>玻尔原子能量量子化理论</a:t>
            </a:r>
            <a:r>
              <a:rPr lang="zh-CN" altLang="en-US" sz="2600">
                <a:solidFill>
                  <a:schemeClr val="bg1"/>
                </a:solidFill>
              </a:rPr>
              <a:t>的</a:t>
            </a:r>
            <a:r>
              <a:rPr lang="zh-CN" altLang="en-US" sz="2600">
                <a:solidFill>
                  <a:srgbClr val="FF0000"/>
                </a:solidFill>
              </a:rPr>
              <a:t>第一个决定性的证据</a:t>
            </a:r>
            <a:r>
              <a:rPr lang="zh-CN" altLang="en-US" sz="2600">
                <a:solidFill>
                  <a:schemeClr val="bg1"/>
                </a:solidFill>
              </a:rPr>
              <a:t>！</a:t>
            </a:r>
            <a:endParaRPr lang="en-US" altLang="zh-CN" sz="2600">
              <a:solidFill>
                <a:schemeClr val="bg1"/>
              </a:solidFill>
            </a:endParaRPr>
          </a:p>
          <a:p>
            <a:pPr algn="just" eaLnBrk="1" hangingPunct="1">
              <a:lnSpc>
                <a:spcPts val="38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sz="2600">
                <a:solidFill>
                  <a:schemeClr val="bg1"/>
                </a:solidFill>
              </a:rPr>
              <a:t>同获</a:t>
            </a:r>
            <a:r>
              <a:rPr lang="en-US" altLang="zh-CN" sz="2600">
                <a:solidFill>
                  <a:srgbClr val="00FF00"/>
                </a:solidFill>
              </a:rPr>
              <a:t>1925</a:t>
            </a:r>
            <a:r>
              <a:rPr lang="zh-CN" altLang="en-US" sz="2600">
                <a:solidFill>
                  <a:srgbClr val="00FF00"/>
                </a:solidFill>
              </a:rPr>
              <a:t>年诺贝尔物理学奖</a:t>
            </a:r>
            <a:r>
              <a:rPr lang="en-US" altLang="zh-CN" sz="2600">
                <a:solidFill>
                  <a:srgbClr val="FFFF00"/>
                </a:solidFill>
              </a:rPr>
              <a:t>"for their discovery of the laws governing the impact of an electron upon an atom." </a:t>
            </a:r>
            <a:endParaRPr lang="zh-CN" altLang="en-US" sz="2600">
              <a:solidFill>
                <a:srgbClr val="FFFF00"/>
              </a:solidFill>
            </a:endParaRPr>
          </a:p>
        </p:txBody>
      </p:sp>
      <p:sp>
        <p:nvSpPr>
          <p:cNvPr id="34823" name="灯片编号占位符 1">
            <a:extLst>
              <a:ext uri="{FF2B5EF4-FFF2-40B4-BE49-F238E27FC236}">
                <a16:creationId xmlns:a16="http://schemas.microsoft.com/office/drawing/2014/main" id="{1F82BEB7-8DE5-42BC-B787-03DCB91B849C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/>
            <a:fld id="{884A592C-78C0-42C1-AFB0-230DDF31B15F}" type="slidenum">
              <a:rPr lang="en-US" altLang="zh-CN" b="0" smtClean="0">
                <a:solidFill>
                  <a:srgbClr val="FF00FF"/>
                </a:solidFill>
              </a:rPr>
              <a:pPr eaLnBrk="1" hangingPunct="1"/>
              <a:t>14</a:t>
            </a:fld>
            <a:r>
              <a:rPr lang="en-US" altLang="zh-CN" b="0" dirty="0">
                <a:solidFill>
                  <a:srgbClr val="FF00FF"/>
                </a:solidFill>
              </a:rPr>
              <a:t>/28</a:t>
            </a: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8B7818C4-2E1B-4966-8BF9-F6FCE7A58E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" y="928688"/>
            <a:ext cx="4051300" cy="24066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B6CB4F4-44BB-43FA-B0A8-6851AB2232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6613" y="1265238"/>
            <a:ext cx="144462" cy="7683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5682636-B056-4F2F-9A90-D7F2A5A4B2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2488" y="1262063"/>
            <a:ext cx="1249362" cy="773112"/>
          </a:xfrm>
          <a:prstGeom prst="rect">
            <a:avLst/>
          </a:prstGeom>
          <a:solidFill>
            <a:srgbClr val="A3B2C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6" name="Object 2">
            <a:extLst>
              <a:ext uri="{FF2B5EF4-FFF2-40B4-BE49-F238E27FC236}">
                <a16:creationId xmlns:a16="http://schemas.microsoft.com/office/drawing/2014/main" id="{B0169BB4-A2EA-45C0-9E66-F28433B3394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14513" y="1074738"/>
          <a:ext cx="2413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446" name="Equation" r:id="rId3" imgW="241300" imgH="228600" progId="">
                  <p:embed/>
                </p:oleObj>
              </mc:Choice>
              <mc:Fallback>
                <p:oleObj name="Equation" r:id="rId3" imgW="241300" imgH="228600" progId="">
                  <p:embed/>
                  <p:pic>
                    <p:nvPicPr>
                      <p:cNvPr id="6" name="Object 2">
                        <a:extLst>
                          <a:ext uri="{FF2B5EF4-FFF2-40B4-BE49-F238E27FC236}">
                            <a16:creationId xmlns:a16="http://schemas.microsoft.com/office/drawing/2014/main" id="{B0169BB4-A2EA-45C0-9E66-F28433B3394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4513" y="1074738"/>
                        <a:ext cx="241300" cy="22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3">
            <a:extLst>
              <a:ext uri="{FF2B5EF4-FFF2-40B4-BE49-F238E27FC236}">
                <a16:creationId xmlns:a16="http://schemas.microsoft.com/office/drawing/2014/main" id="{E2E2122D-3372-4126-96FD-B1D2695902C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14688" y="928688"/>
          <a:ext cx="2286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447" name="Equation" r:id="rId5" imgW="228600" imgH="241300" progId="">
                  <p:embed/>
                </p:oleObj>
              </mc:Choice>
              <mc:Fallback>
                <p:oleObj name="Equation" r:id="rId5" imgW="228600" imgH="241300" progId="">
                  <p:embed/>
                  <p:pic>
                    <p:nvPicPr>
                      <p:cNvPr id="7" name="Object 3">
                        <a:extLst>
                          <a:ext uri="{FF2B5EF4-FFF2-40B4-BE49-F238E27FC236}">
                            <a16:creationId xmlns:a16="http://schemas.microsoft.com/office/drawing/2014/main" id="{E2E2122D-3372-4126-96FD-B1D2695902C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4688" y="928688"/>
                        <a:ext cx="22860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4">
            <a:extLst>
              <a:ext uri="{FF2B5EF4-FFF2-40B4-BE49-F238E27FC236}">
                <a16:creationId xmlns:a16="http://schemas.microsoft.com/office/drawing/2014/main" id="{D1E9CD8A-C524-4A86-AAE1-869E988B07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36938" y="962025"/>
          <a:ext cx="2286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448" name="Equation" r:id="rId7" imgW="228600" imgH="228600" progId="">
                  <p:embed/>
                </p:oleObj>
              </mc:Choice>
              <mc:Fallback>
                <p:oleObj name="Equation" r:id="rId7" imgW="228600" imgH="228600" progId="">
                  <p:embed/>
                  <p:pic>
                    <p:nvPicPr>
                      <p:cNvPr id="8" name="Object 4">
                        <a:extLst>
                          <a:ext uri="{FF2B5EF4-FFF2-40B4-BE49-F238E27FC236}">
                            <a16:creationId xmlns:a16="http://schemas.microsoft.com/office/drawing/2014/main" id="{D1E9CD8A-C524-4A86-AAE1-869E988B07D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6938" y="962025"/>
                        <a:ext cx="228600" cy="22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9">
            <a:extLst>
              <a:ext uri="{FF2B5EF4-FFF2-40B4-BE49-F238E27FC236}">
                <a16:creationId xmlns:a16="http://schemas.microsoft.com/office/drawing/2014/main" id="{19A36A1E-3B84-49B0-9F26-CF0364B21C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928688"/>
            <a:ext cx="3713162" cy="430212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r>
              <a:rPr lang="en-US" altLang="zh-CN" sz="22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imSun" panose="02010600030101010101" pitchFamily="2" charset="-122"/>
              </a:rPr>
              <a:t>    K</a:t>
            </a:r>
            <a:r>
              <a:rPr lang="zh-CN" altLang="en-US" sz="22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imSun" panose="02010600030101010101" pitchFamily="2" charset="-122"/>
              </a:rPr>
              <a:t>：</a:t>
            </a:r>
            <a:r>
              <a:rPr lang="zh-CN" altLang="en-US" sz="22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imSun" panose="02010600030101010101" pitchFamily="2" charset="-122"/>
              </a:rPr>
              <a:t>热阴极，发射电子</a:t>
            </a:r>
          </a:p>
        </p:txBody>
      </p:sp>
      <p:sp>
        <p:nvSpPr>
          <p:cNvPr id="10" name="Text Box 10">
            <a:extLst>
              <a:ext uri="{FF2B5EF4-FFF2-40B4-BE49-F238E27FC236}">
                <a16:creationId xmlns:a16="http://schemas.microsoft.com/office/drawing/2014/main" id="{E9869E98-3F22-43EF-A74E-B4C8A27BD0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5025" y="1427163"/>
            <a:ext cx="4203700" cy="430212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>
            <a:lvl1pPr marL="1082675" indent="-1082675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r>
              <a:rPr lang="en-US" altLang="zh-CN" sz="22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imSun" panose="02010600030101010101" pitchFamily="2" charset="-122"/>
              </a:rPr>
              <a:t>KG</a:t>
            </a:r>
            <a:r>
              <a:rPr lang="zh-CN" altLang="en-US" sz="22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imSun" panose="02010600030101010101" pitchFamily="2" charset="-122"/>
              </a:rPr>
              <a:t>区：</a:t>
            </a:r>
            <a:r>
              <a:rPr lang="zh-CN" altLang="en-US" sz="22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imSun" panose="02010600030101010101" pitchFamily="2" charset="-122"/>
              </a:rPr>
              <a:t>电子加速</a:t>
            </a:r>
            <a:r>
              <a:rPr lang="en-US" altLang="zh-CN" sz="22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imSun" panose="02010600030101010101" pitchFamily="2" charset="-122"/>
              </a:rPr>
              <a:t>, </a:t>
            </a:r>
            <a:r>
              <a:rPr lang="zh-CN" altLang="en-US" sz="22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imSun" panose="02010600030101010101" pitchFamily="2" charset="-122"/>
              </a:rPr>
              <a:t>与</a:t>
            </a:r>
            <a:r>
              <a:rPr lang="en-US" altLang="zh-CN" sz="22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imSun" panose="02010600030101010101" pitchFamily="2" charset="-122"/>
              </a:rPr>
              <a:t>Hg</a:t>
            </a:r>
            <a:r>
              <a:rPr lang="zh-CN" altLang="en-US" sz="22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imSun" panose="02010600030101010101" pitchFamily="2" charset="-122"/>
              </a:rPr>
              <a:t>原子碰撞</a:t>
            </a:r>
          </a:p>
        </p:txBody>
      </p:sp>
      <p:sp>
        <p:nvSpPr>
          <p:cNvPr id="11" name="Text Box 11">
            <a:extLst>
              <a:ext uri="{FF2B5EF4-FFF2-40B4-BE49-F238E27FC236}">
                <a16:creationId xmlns:a16="http://schemas.microsoft.com/office/drawing/2014/main" id="{1B63D133-8F9C-45AA-925D-0343A196BF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5025" y="1857375"/>
            <a:ext cx="3998913" cy="147796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>
            <a:lvl1pPr marL="1082675" indent="-1082675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>
              <a:lnSpc>
                <a:spcPts val="3600"/>
              </a:lnSpc>
            </a:pPr>
            <a:r>
              <a:rPr lang="en-US" altLang="zh-CN" sz="22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imSun" panose="02010600030101010101" pitchFamily="2" charset="-122"/>
              </a:rPr>
              <a:t>GA</a:t>
            </a:r>
            <a:r>
              <a:rPr lang="zh-CN" altLang="en-US" sz="22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imSun" panose="02010600030101010101" pitchFamily="2" charset="-122"/>
              </a:rPr>
              <a:t>区：</a:t>
            </a:r>
            <a:r>
              <a:rPr lang="zh-CN" altLang="en-US" sz="22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imSun" panose="02010600030101010101" pitchFamily="2" charset="-122"/>
              </a:rPr>
              <a:t>电子减速</a:t>
            </a:r>
            <a:r>
              <a:rPr lang="en-US" altLang="zh-CN" sz="22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imSun" panose="02010600030101010101" pitchFamily="2" charset="-122"/>
              </a:rPr>
              <a:t>, </a:t>
            </a:r>
            <a:r>
              <a:rPr lang="zh-CN" altLang="en-US" sz="22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imSun" panose="02010600030101010101" pitchFamily="2" charset="-122"/>
              </a:rPr>
              <a:t>能量大于</a:t>
            </a:r>
            <a:r>
              <a:rPr lang="en-US" altLang="zh-CN" sz="22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imSun" panose="02010600030101010101" pitchFamily="2" charset="-122"/>
              </a:rPr>
              <a:t>0.5 </a:t>
            </a:r>
          </a:p>
          <a:p>
            <a:pPr>
              <a:lnSpc>
                <a:spcPts val="3600"/>
              </a:lnSpc>
            </a:pPr>
            <a:r>
              <a:rPr lang="en-US" altLang="zh-CN" sz="22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imSun" panose="02010600030101010101" pitchFamily="2" charset="-122"/>
              </a:rPr>
              <a:t>      eV</a:t>
            </a:r>
            <a:r>
              <a:rPr lang="zh-CN" altLang="en-US" sz="22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imSun" panose="02010600030101010101" pitchFamily="2" charset="-122"/>
              </a:rPr>
              <a:t>的电子可克服反向偏</a:t>
            </a:r>
            <a:endParaRPr lang="en-US" altLang="zh-CN" sz="220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SimSun" panose="02010600030101010101" pitchFamily="2" charset="-122"/>
            </a:endParaRPr>
          </a:p>
          <a:p>
            <a:pPr>
              <a:lnSpc>
                <a:spcPts val="3600"/>
              </a:lnSpc>
            </a:pPr>
            <a:r>
              <a:rPr lang="en-US" altLang="zh-CN" sz="22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imSun" panose="02010600030101010101" pitchFamily="2" charset="-122"/>
              </a:rPr>
              <a:t>      </a:t>
            </a:r>
            <a:r>
              <a:rPr lang="zh-CN" altLang="en-US" sz="22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imSun" panose="02010600030101010101" pitchFamily="2" charset="-122"/>
              </a:rPr>
              <a:t>压</a:t>
            </a:r>
            <a:r>
              <a:rPr lang="en-US" altLang="zh-CN" sz="22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imSun" panose="02010600030101010101" pitchFamily="2" charset="-122"/>
              </a:rPr>
              <a:t>,</a:t>
            </a:r>
            <a:r>
              <a:rPr lang="zh-CN" altLang="en-US" sz="22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imSun" panose="02010600030101010101" pitchFamily="2" charset="-122"/>
              </a:rPr>
              <a:t>产生电流。</a:t>
            </a:r>
          </a:p>
        </p:txBody>
      </p:sp>
      <p:grpSp>
        <p:nvGrpSpPr>
          <p:cNvPr id="3" name="Group 12">
            <a:extLst>
              <a:ext uri="{FF2B5EF4-FFF2-40B4-BE49-F238E27FC236}">
                <a16:creationId xmlns:a16="http://schemas.microsoft.com/office/drawing/2014/main" id="{F132CA0B-D6C1-4B4B-8828-45E44BAB6F39}"/>
              </a:ext>
            </a:extLst>
          </p:cNvPr>
          <p:cNvGrpSpPr>
            <a:grpSpLocks/>
          </p:cNvGrpSpPr>
          <p:nvPr/>
        </p:nvGrpSpPr>
        <p:grpSpPr bwMode="auto">
          <a:xfrm>
            <a:off x="3457575" y="4268788"/>
            <a:ext cx="2114550" cy="2446337"/>
            <a:chOff x="4049" y="1661"/>
            <a:chExt cx="1332" cy="1541"/>
          </a:xfrm>
        </p:grpSpPr>
        <p:grpSp>
          <p:nvGrpSpPr>
            <p:cNvPr id="36930" name="Group 13">
              <a:extLst>
                <a:ext uri="{FF2B5EF4-FFF2-40B4-BE49-F238E27FC236}">
                  <a16:creationId xmlns:a16="http://schemas.microsoft.com/office/drawing/2014/main" id="{905D3BFB-BB94-4A41-A32A-AF1885858BC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36" y="1874"/>
              <a:ext cx="616" cy="1328"/>
              <a:chOff x="732" y="1489"/>
              <a:chExt cx="616" cy="1328"/>
            </a:xfrm>
          </p:grpSpPr>
          <p:sp>
            <p:nvSpPr>
              <p:cNvPr id="36937" name="Line 14">
                <a:extLst>
                  <a:ext uri="{FF2B5EF4-FFF2-40B4-BE49-F238E27FC236}">
                    <a16:creationId xmlns:a16="http://schemas.microsoft.com/office/drawing/2014/main" id="{4B970846-0158-4587-A4A5-CF629F48CE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48" y="2097"/>
                <a:ext cx="0" cy="510"/>
              </a:xfrm>
              <a:prstGeom prst="line">
                <a:avLst/>
              </a:prstGeom>
              <a:noFill/>
              <a:ln w="12700">
                <a:solidFill>
                  <a:srgbClr val="66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6938" name="Line 15">
                <a:extLst>
                  <a:ext uri="{FF2B5EF4-FFF2-40B4-BE49-F238E27FC236}">
                    <a16:creationId xmlns:a16="http://schemas.microsoft.com/office/drawing/2014/main" id="{DF4AFC2C-864E-467E-87FF-DA3F7F42A4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38" y="1811"/>
                <a:ext cx="0" cy="799"/>
              </a:xfrm>
              <a:prstGeom prst="line">
                <a:avLst/>
              </a:prstGeom>
              <a:noFill/>
              <a:ln w="12700">
                <a:solidFill>
                  <a:srgbClr val="66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6939" name="Line 16">
                <a:extLst>
                  <a:ext uri="{FF2B5EF4-FFF2-40B4-BE49-F238E27FC236}">
                    <a16:creationId xmlns:a16="http://schemas.microsoft.com/office/drawing/2014/main" id="{69062E90-61AB-4F39-A8C1-6F691930EF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48" y="1489"/>
                <a:ext cx="0" cy="1127"/>
              </a:xfrm>
              <a:prstGeom prst="line">
                <a:avLst/>
              </a:prstGeom>
              <a:noFill/>
              <a:ln w="12700">
                <a:solidFill>
                  <a:srgbClr val="66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6940" name="Line 17">
                <a:extLst>
                  <a:ext uri="{FF2B5EF4-FFF2-40B4-BE49-F238E27FC236}">
                    <a16:creationId xmlns:a16="http://schemas.microsoft.com/office/drawing/2014/main" id="{4064E7E2-FFE5-4116-97FB-6F8E1B65D0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32" y="2546"/>
                <a:ext cx="305" cy="0"/>
              </a:xfrm>
              <a:prstGeom prst="line">
                <a:avLst/>
              </a:prstGeom>
              <a:noFill/>
              <a:ln w="12700">
                <a:solidFill>
                  <a:srgbClr val="66FFFF"/>
                </a:solidFill>
                <a:round/>
                <a:headEnd type="triangle" w="sm" len="lg"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6941" name="Line 18">
                <a:extLst>
                  <a:ext uri="{FF2B5EF4-FFF2-40B4-BE49-F238E27FC236}">
                    <a16:creationId xmlns:a16="http://schemas.microsoft.com/office/drawing/2014/main" id="{81868C94-9297-4A82-AFEC-44FA368713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42" y="2546"/>
                <a:ext cx="305" cy="0"/>
              </a:xfrm>
              <a:prstGeom prst="line">
                <a:avLst/>
              </a:prstGeom>
              <a:noFill/>
              <a:ln w="12700">
                <a:solidFill>
                  <a:srgbClr val="66FFFF"/>
                </a:solidFill>
                <a:round/>
                <a:headEnd type="triangle" w="sm" len="lg"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graphicFrame>
            <p:nvGraphicFramePr>
              <p:cNvPr id="36942" name="Object 5">
                <a:extLst>
                  <a:ext uri="{FF2B5EF4-FFF2-40B4-BE49-F238E27FC236}">
                    <a16:creationId xmlns:a16="http://schemas.microsoft.com/office/drawing/2014/main" id="{D285AA25-EFB7-4775-8480-BC57F8B186E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77" y="2633"/>
              <a:ext cx="384" cy="1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82449" name="Equation" r:id="rId9" imgW="673200" imgH="276120" progId="">
                      <p:embed/>
                    </p:oleObj>
                  </mc:Choice>
                  <mc:Fallback>
                    <p:oleObj name="Equation" r:id="rId9" imgW="673200" imgH="276120" progId="">
                      <p:embed/>
                      <p:pic>
                        <p:nvPicPr>
                          <p:cNvPr id="36942" name="Object 5">
                            <a:extLst>
                              <a:ext uri="{FF2B5EF4-FFF2-40B4-BE49-F238E27FC236}">
                                <a16:creationId xmlns:a16="http://schemas.microsoft.com/office/drawing/2014/main" id="{D285AA25-EFB7-4775-8480-BC57F8B186E3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77" y="2633"/>
                            <a:ext cx="384" cy="18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66FFFF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36931" name="Freeform 20">
              <a:extLst>
                <a:ext uri="{FF2B5EF4-FFF2-40B4-BE49-F238E27FC236}">
                  <a16:creationId xmlns:a16="http://schemas.microsoft.com/office/drawing/2014/main" id="{AB0054B4-8481-48DF-AF62-1BACCBB79EBE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247" y="1827"/>
              <a:ext cx="874" cy="953"/>
            </a:xfrm>
            <a:custGeom>
              <a:avLst/>
              <a:gdLst>
                <a:gd name="T0" fmla="*/ 0 w 1350"/>
                <a:gd name="T1" fmla="*/ 1 h 1406"/>
                <a:gd name="T2" fmla="*/ 1 w 1350"/>
                <a:gd name="T3" fmla="*/ 1 h 1406"/>
                <a:gd name="T4" fmla="*/ 1 w 1350"/>
                <a:gd name="T5" fmla="*/ 1 h 1406"/>
                <a:gd name="T6" fmla="*/ 1 w 1350"/>
                <a:gd name="T7" fmla="*/ 1 h 1406"/>
                <a:gd name="T8" fmla="*/ 1 w 1350"/>
                <a:gd name="T9" fmla="*/ 1 h 1406"/>
                <a:gd name="T10" fmla="*/ 1 w 1350"/>
                <a:gd name="T11" fmla="*/ 1 h 1406"/>
                <a:gd name="T12" fmla="*/ 1 w 1350"/>
                <a:gd name="T13" fmla="*/ 1 h 1406"/>
                <a:gd name="T14" fmla="*/ 1 w 1350"/>
                <a:gd name="T15" fmla="*/ 1 h 140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350"/>
                <a:gd name="T25" fmla="*/ 0 h 1406"/>
                <a:gd name="T26" fmla="*/ 1350 w 1350"/>
                <a:gd name="T27" fmla="*/ 1406 h 140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350" h="1406">
                  <a:moveTo>
                    <a:pt x="0" y="1406"/>
                  </a:moveTo>
                  <a:cubicBezTo>
                    <a:pt x="67" y="1368"/>
                    <a:pt x="135" y="1331"/>
                    <a:pt x="189" y="1257"/>
                  </a:cubicBezTo>
                  <a:cubicBezTo>
                    <a:pt x="243" y="1183"/>
                    <a:pt x="278" y="965"/>
                    <a:pt x="321" y="961"/>
                  </a:cubicBezTo>
                  <a:cubicBezTo>
                    <a:pt x="364" y="957"/>
                    <a:pt x="371" y="1306"/>
                    <a:pt x="445" y="1233"/>
                  </a:cubicBezTo>
                  <a:cubicBezTo>
                    <a:pt x="519" y="1160"/>
                    <a:pt x="690" y="556"/>
                    <a:pt x="765" y="525"/>
                  </a:cubicBezTo>
                  <a:cubicBezTo>
                    <a:pt x="840" y="494"/>
                    <a:pt x="822" y="1119"/>
                    <a:pt x="897" y="1044"/>
                  </a:cubicBezTo>
                  <a:cubicBezTo>
                    <a:pt x="972" y="969"/>
                    <a:pt x="1143" y="146"/>
                    <a:pt x="1218" y="73"/>
                  </a:cubicBezTo>
                  <a:cubicBezTo>
                    <a:pt x="1293" y="0"/>
                    <a:pt x="1321" y="303"/>
                    <a:pt x="1350" y="607"/>
                  </a:cubicBezTo>
                </a:path>
              </a:pathLst>
            </a:cu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36932" name="Group 21">
              <a:extLst>
                <a:ext uri="{FF2B5EF4-FFF2-40B4-BE49-F238E27FC236}">
                  <a16:creationId xmlns:a16="http://schemas.microsoft.com/office/drawing/2014/main" id="{6ADD1A32-6974-4B9F-92EB-3A8121E482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49" y="1661"/>
              <a:ext cx="1332" cy="1341"/>
              <a:chOff x="4049" y="1691"/>
              <a:chExt cx="1332" cy="1341"/>
            </a:xfrm>
          </p:grpSpPr>
          <p:sp>
            <p:nvSpPr>
              <p:cNvPr id="36933" name="Line 22">
                <a:extLst>
                  <a:ext uri="{FF2B5EF4-FFF2-40B4-BE49-F238E27FC236}">
                    <a16:creationId xmlns:a16="http://schemas.microsoft.com/office/drawing/2014/main" id="{4EE20939-E1C7-4A9E-9447-20B8526C2C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47" y="1691"/>
                <a:ext cx="0" cy="1127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6934" name="Line 23">
                <a:extLst>
                  <a:ext uri="{FF2B5EF4-FFF2-40B4-BE49-F238E27FC236}">
                    <a16:creationId xmlns:a16="http://schemas.microsoft.com/office/drawing/2014/main" id="{0AA14361-0EC0-4E25-9A58-4EEFFA3461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V="1">
                <a:off x="4813" y="2248"/>
                <a:ext cx="0" cy="1127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graphicFrame>
            <p:nvGraphicFramePr>
              <p:cNvPr id="36935" name="Object 6">
                <a:extLst>
                  <a:ext uri="{FF2B5EF4-FFF2-40B4-BE49-F238E27FC236}">
                    <a16:creationId xmlns:a16="http://schemas.microsoft.com/office/drawing/2014/main" id="{03D283DB-8FD3-4823-9DFA-D4D8AE61423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049" y="1706"/>
              <a:ext cx="125" cy="17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82450" name="Equation" r:id="rId11" imgW="138240" imgH="204840" progId="">
                      <p:embed/>
                    </p:oleObj>
                  </mc:Choice>
                  <mc:Fallback>
                    <p:oleObj name="Equation" r:id="rId11" imgW="138240" imgH="204840" progId="">
                      <p:embed/>
                      <p:pic>
                        <p:nvPicPr>
                          <p:cNvPr id="36935" name="Object 6">
                            <a:extLst>
                              <a:ext uri="{FF2B5EF4-FFF2-40B4-BE49-F238E27FC236}">
                                <a16:creationId xmlns:a16="http://schemas.microsoft.com/office/drawing/2014/main" id="{03D283DB-8FD3-4823-9DFA-D4D8AE61423B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49" y="1706"/>
                            <a:ext cx="125" cy="17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bg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6936" name="Object 7">
                <a:extLst>
                  <a:ext uri="{FF2B5EF4-FFF2-40B4-BE49-F238E27FC236}">
                    <a16:creationId xmlns:a16="http://schemas.microsoft.com/office/drawing/2014/main" id="{E5C02610-C50E-4C71-9BA4-1CDA761AE6E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199" y="2850"/>
              <a:ext cx="182" cy="1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82451" name="Equation" r:id="rId13" imgW="230760" imgH="222480" progId="">
                      <p:embed/>
                    </p:oleObj>
                  </mc:Choice>
                  <mc:Fallback>
                    <p:oleObj name="Equation" r:id="rId13" imgW="230760" imgH="222480" progId="">
                      <p:embed/>
                      <p:pic>
                        <p:nvPicPr>
                          <p:cNvPr id="36936" name="Object 7">
                            <a:extLst>
                              <a:ext uri="{FF2B5EF4-FFF2-40B4-BE49-F238E27FC236}">
                                <a16:creationId xmlns:a16="http://schemas.microsoft.com/office/drawing/2014/main" id="{E5C02610-C50E-4C71-9BA4-1CDA761AE6E9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199" y="2850"/>
                            <a:ext cx="182" cy="18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bg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26" name="Rectangle 26">
            <a:extLst>
              <a:ext uri="{FF2B5EF4-FFF2-40B4-BE49-F238E27FC236}">
                <a16:creationId xmlns:a16="http://schemas.microsoft.com/office/drawing/2014/main" id="{22C7D2E2-4D43-48CA-B849-6BFCF1CE34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375" y="3857625"/>
            <a:ext cx="25828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algn="just" eaLnBrk="1" hangingPunct="1">
              <a:buClr>
                <a:srgbClr val="FFFF00"/>
              </a:buClr>
              <a:buFontTx/>
              <a:buChar char="•"/>
            </a:pPr>
            <a:r>
              <a:rPr lang="en-US" altLang="zh-CN" dirty="0">
                <a:solidFill>
                  <a:srgbClr val="66FFFF"/>
                </a:solidFill>
                <a:latin typeface="SimSun" panose="02010600030101010101" pitchFamily="2" charset="-122"/>
                <a:ea typeface="仿宋_GB2312" pitchFamily="49" charset="-122"/>
              </a:rPr>
              <a:t> </a:t>
            </a:r>
            <a:r>
              <a:rPr lang="zh-CN" altLang="en-US" dirty="0">
                <a:solidFill>
                  <a:srgbClr val="66FFFF"/>
                </a:solidFill>
                <a:latin typeface="SimSun" panose="02010600030101010101" pitchFamily="2" charset="-122"/>
                <a:ea typeface="仿宋_GB2312" pitchFamily="49" charset="-122"/>
              </a:rPr>
              <a:t>实验结果</a:t>
            </a:r>
          </a:p>
        </p:txBody>
      </p:sp>
      <p:sp>
        <p:nvSpPr>
          <p:cNvPr id="27" name="Rectangle 27">
            <a:extLst>
              <a:ext uri="{FF2B5EF4-FFF2-40B4-BE49-F238E27FC236}">
                <a16:creationId xmlns:a16="http://schemas.microsoft.com/office/drawing/2014/main" id="{BC6CC008-5E28-4A4D-AEFC-B08C5A2E55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938" y="4357688"/>
            <a:ext cx="2736850" cy="2271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algn="just" eaLnBrk="1" hangingPunct="1">
              <a:lnSpc>
                <a:spcPts val="3400"/>
              </a:lnSpc>
            </a:pPr>
            <a:r>
              <a:rPr lang="zh-CN" altLang="en-US" sz="2200">
                <a:solidFill>
                  <a:schemeClr val="bg1"/>
                </a:solidFill>
                <a:latin typeface="SimSun" panose="02010600030101010101" pitchFamily="2" charset="-122"/>
                <a:ea typeface="仿宋_GB2312" pitchFamily="49" charset="-122"/>
              </a:rPr>
              <a:t>电流突然下降时的电压相差都是</a:t>
            </a:r>
            <a:r>
              <a:rPr lang="en-US" altLang="zh-CN" sz="2200">
                <a:solidFill>
                  <a:srgbClr val="FFFF00"/>
                </a:solidFill>
                <a:latin typeface="SimSun" panose="02010600030101010101" pitchFamily="2" charset="-122"/>
                <a:cs typeface="Times New Roman" panose="02020603050405020304" pitchFamily="18" charset="0"/>
              </a:rPr>
              <a:t>4.9V</a:t>
            </a:r>
            <a:r>
              <a:rPr lang="zh-CN" altLang="en-US" sz="2200">
                <a:solidFill>
                  <a:schemeClr val="bg1"/>
                </a:solidFill>
                <a:latin typeface="SimSun" panose="02010600030101010101" pitchFamily="2" charset="-122"/>
                <a:ea typeface="仿宋_GB2312" pitchFamily="49" charset="-122"/>
              </a:rPr>
              <a:t>，即</a:t>
            </a:r>
            <a:r>
              <a:rPr lang="en-US" altLang="zh-CN" sz="2200">
                <a:solidFill>
                  <a:srgbClr val="66FFFF"/>
                </a:solidFill>
                <a:latin typeface="SimSun" panose="02010600030101010101" pitchFamily="2" charset="-122"/>
                <a:ea typeface="仿宋_GB2312" pitchFamily="49" charset="-122"/>
              </a:rPr>
              <a:t>KG</a:t>
            </a:r>
            <a:r>
              <a:rPr lang="zh-CN" altLang="en-US" sz="2200">
                <a:solidFill>
                  <a:schemeClr val="bg1"/>
                </a:solidFill>
                <a:latin typeface="SimSun" panose="02010600030101010101" pitchFamily="2" charset="-122"/>
                <a:ea typeface="仿宋_GB2312" pitchFamily="49" charset="-122"/>
              </a:rPr>
              <a:t>间的电压为</a:t>
            </a:r>
            <a:r>
              <a:rPr lang="en-US" altLang="zh-CN" sz="2200">
                <a:solidFill>
                  <a:srgbClr val="FFFF00"/>
                </a:solidFill>
                <a:latin typeface="SimSun" panose="02010600030101010101" pitchFamily="2" charset="-122"/>
                <a:ea typeface="仿宋_GB2312" pitchFamily="49" charset="-122"/>
              </a:rPr>
              <a:t>4.9V</a:t>
            </a:r>
            <a:r>
              <a:rPr lang="zh-CN" altLang="en-US" sz="2200">
                <a:solidFill>
                  <a:schemeClr val="bg1"/>
                </a:solidFill>
                <a:latin typeface="SimSun" panose="02010600030101010101" pitchFamily="2" charset="-122"/>
                <a:ea typeface="仿宋_GB2312" pitchFamily="49" charset="-122"/>
              </a:rPr>
              <a:t>的整数倍时，电流突然下降。 </a:t>
            </a:r>
          </a:p>
        </p:txBody>
      </p:sp>
      <p:grpSp>
        <p:nvGrpSpPr>
          <p:cNvPr id="14" name="Group 29">
            <a:extLst>
              <a:ext uri="{FF2B5EF4-FFF2-40B4-BE49-F238E27FC236}">
                <a16:creationId xmlns:a16="http://schemas.microsoft.com/office/drawing/2014/main" id="{59D7172E-1194-44D7-95A2-FBD12556F4D4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1241425"/>
            <a:ext cx="3805238" cy="1917700"/>
            <a:chOff x="115" y="4292"/>
            <a:chExt cx="2397" cy="1208"/>
          </a:xfrm>
        </p:grpSpPr>
        <p:grpSp>
          <p:nvGrpSpPr>
            <p:cNvPr id="36883" name="Group 30">
              <a:extLst>
                <a:ext uri="{FF2B5EF4-FFF2-40B4-BE49-F238E27FC236}">
                  <a16:creationId xmlns:a16="http://schemas.microsoft.com/office/drawing/2014/main" id="{06C0D40F-3402-47CA-B240-A29F3F5FB6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1" y="5316"/>
              <a:ext cx="257" cy="184"/>
              <a:chOff x="531" y="5316"/>
              <a:chExt cx="257" cy="184"/>
            </a:xfrm>
          </p:grpSpPr>
          <p:grpSp>
            <p:nvGrpSpPr>
              <p:cNvPr id="36921" name="Group 31">
                <a:extLst>
                  <a:ext uri="{FF2B5EF4-FFF2-40B4-BE49-F238E27FC236}">
                    <a16:creationId xmlns:a16="http://schemas.microsoft.com/office/drawing/2014/main" id="{2AAE14FC-ABC4-44B5-9F0A-01572F94C48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5400000">
                <a:off x="460" y="5387"/>
                <a:ext cx="184" cy="42"/>
                <a:chOff x="2095" y="2145"/>
                <a:chExt cx="184" cy="42"/>
              </a:xfrm>
            </p:grpSpPr>
            <p:sp>
              <p:nvSpPr>
                <p:cNvPr id="36928" name="Line 32">
                  <a:extLst>
                    <a:ext uri="{FF2B5EF4-FFF2-40B4-BE49-F238E27FC236}">
                      <a16:creationId xmlns:a16="http://schemas.microsoft.com/office/drawing/2014/main" id="{9CBF3DB6-5FCE-42AD-8321-4CC359EF13C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95" y="2145"/>
                  <a:ext cx="184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6929" name="Line 33">
                  <a:extLst>
                    <a:ext uri="{FF2B5EF4-FFF2-40B4-BE49-F238E27FC236}">
                      <a16:creationId xmlns:a16="http://schemas.microsoft.com/office/drawing/2014/main" id="{55D1359A-CB4A-46A9-8536-8EB2EBA9A13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29" y="2187"/>
                  <a:ext cx="117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6922" name="Group 34">
                <a:extLst>
                  <a:ext uri="{FF2B5EF4-FFF2-40B4-BE49-F238E27FC236}">
                    <a16:creationId xmlns:a16="http://schemas.microsoft.com/office/drawing/2014/main" id="{DDF8FE1C-553B-4623-BD15-E17638F3285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5400000">
                <a:off x="567" y="5387"/>
                <a:ext cx="184" cy="42"/>
                <a:chOff x="2095" y="2145"/>
                <a:chExt cx="184" cy="42"/>
              </a:xfrm>
            </p:grpSpPr>
            <p:sp>
              <p:nvSpPr>
                <p:cNvPr id="36926" name="Line 35">
                  <a:extLst>
                    <a:ext uri="{FF2B5EF4-FFF2-40B4-BE49-F238E27FC236}">
                      <a16:creationId xmlns:a16="http://schemas.microsoft.com/office/drawing/2014/main" id="{D87F6EC0-7B86-4A69-9EBA-9DDEC223B2C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95" y="2145"/>
                  <a:ext cx="184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6927" name="Line 36">
                  <a:extLst>
                    <a:ext uri="{FF2B5EF4-FFF2-40B4-BE49-F238E27FC236}">
                      <a16:creationId xmlns:a16="http://schemas.microsoft.com/office/drawing/2014/main" id="{FDE5DB89-3A74-4ED3-8C0D-5A585DB3DC7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29" y="2187"/>
                  <a:ext cx="117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6923" name="Group 37">
                <a:extLst>
                  <a:ext uri="{FF2B5EF4-FFF2-40B4-BE49-F238E27FC236}">
                    <a16:creationId xmlns:a16="http://schemas.microsoft.com/office/drawing/2014/main" id="{2067A88D-9CD9-4A6C-9517-1A3A3BE309E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5400000">
                <a:off x="675" y="5387"/>
                <a:ext cx="184" cy="42"/>
                <a:chOff x="2095" y="2145"/>
                <a:chExt cx="184" cy="42"/>
              </a:xfrm>
            </p:grpSpPr>
            <p:sp>
              <p:nvSpPr>
                <p:cNvPr id="36924" name="Line 38">
                  <a:extLst>
                    <a:ext uri="{FF2B5EF4-FFF2-40B4-BE49-F238E27FC236}">
                      <a16:creationId xmlns:a16="http://schemas.microsoft.com/office/drawing/2014/main" id="{0C42B47B-5E92-4E48-BB45-352359D879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95" y="2145"/>
                  <a:ext cx="184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6925" name="Line 39">
                  <a:extLst>
                    <a:ext uri="{FF2B5EF4-FFF2-40B4-BE49-F238E27FC236}">
                      <a16:creationId xmlns:a16="http://schemas.microsoft.com/office/drawing/2014/main" id="{A1DAE93A-2FEC-4B37-93D1-BF40323D130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29" y="2187"/>
                  <a:ext cx="117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36884" name="AutoShape 40">
              <a:extLst>
                <a:ext uri="{FF2B5EF4-FFF2-40B4-BE49-F238E27FC236}">
                  <a16:creationId xmlns:a16="http://schemas.microsoft.com/office/drawing/2014/main" id="{8C58C2CC-F656-4997-966E-DD30F5057B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5" y="4292"/>
              <a:ext cx="1237" cy="51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pSp>
          <p:nvGrpSpPr>
            <p:cNvPr id="36885" name="Group 41">
              <a:extLst>
                <a:ext uri="{FF2B5EF4-FFF2-40B4-BE49-F238E27FC236}">
                  <a16:creationId xmlns:a16="http://schemas.microsoft.com/office/drawing/2014/main" id="{5EF54F80-7208-44D3-95C4-81015984E3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39" y="4417"/>
              <a:ext cx="68" cy="267"/>
              <a:chOff x="1953" y="2145"/>
              <a:chExt cx="143" cy="351"/>
            </a:xfrm>
          </p:grpSpPr>
          <p:sp>
            <p:nvSpPr>
              <p:cNvPr id="36918" name="Freeform 42">
                <a:extLst>
                  <a:ext uri="{FF2B5EF4-FFF2-40B4-BE49-F238E27FC236}">
                    <a16:creationId xmlns:a16="http://schemas.microsoft.com/office/drawing/2014/main" id="{C79C4E19-FDC3-4818-9607-32C6435ED2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53" y="2145"/>
                <a:ext cx="143" cy="117"/>
              </a:xfrm>
              <a:custGeom>
                <a:avLst/>
                <a:gdLst>
                  <a:gd name="T0" fmla="*/ 0 w 143"/>
                  <a:gd name="T1" fmla="*/ 0 h 117"/>
                  <a:gd name="T2" fmla="*/ 142 w 143"/>
                  <a:gd name="T3" fmla="*/ 59 h 117"/>
                  <a:gd name="T4" fmla="*/ 9 w 143"/>
                  <a:gd name="T5" fmla="*/ 117 h 117"/>
                  <a:gd name="T6" fmla="*/ 0 60000 65536"/>
                  <a:gd name="T7" fmla="*/ 0 60000 65536"/>
                  <a:gd name="T8" fmla="*/ 0 60000 65536"/>
                  <a:gd name="T9" fmla="*/ 0 w 143"/>
                  <a:gd name="T10" fmla="*/ 0 h 117"/>
                  <a:gd name="T11" fmla="*/ 143 w 143"/>
                  <a:gd name="T12" fmla="*/ 117 h 11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43" h="117">
                    <a:moveTo>
                      <a:pt x="0" y="0"/>
                    </a:moveTo>
                    <a:cubicBezTo>
                      <a:pt x="70" y="20"/>
                      <a:pt x="141" y="40"/>
                      <a:pt x="142" y="59"/>
                    </a:cubicBezTo>
                    <a:cubicBezTo>
                      <a:pt x="143" y="78"/>
                      <a:pt x="31" y="107"/>
                      <a:pt x="9" y="117"/>
                    </a:cubicBez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6919" name="Freeform 43">
                <a:extLst>
                  <a:ext uri="{FF2B5EF4-FFF2-40B4-BE49-F238E27FC236}">
                    <a16:creationId xmlns:a16="http://schemas.microsoft.com/office/drawing/2014/main" id="{23E2A80C-AB1E-4377-9E99-C8B88B54AD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53" y="2266"/>
                <a:ext cx="143" cy="117"/>
              </a:xfrm>
              <a:custGeom>
                <a:avLst/>
                <a:gdLst>
                  <a:gd name="T0" fmla="*/ 0 w 143"/>
                  <a:gd name="T1" fmla="*/ 0 h 117"/>
                  <a:gd name="T2" fmla="*/ 142 w 143"/>
                  <a:gd name="T3" fmla="*/ 59 h 117"/>
                  <a:gd name="T4" fmla="*/ 9 w 143"/>
                  <a:gd name="T5" fmla="*/ 117 h 117"/>
                  <a:gd name="T6" fmla="*/ 0 60000 65536"/>
                  <a:gd name="T7" fmla="*/ 0 60000 65536"/>
                  <a:gd name="T8" fmla="*/ 0 60000 65536"/>
                  <a:gd name="T9" fmla="*/ 0 w 143"/>
                  <a:gd name="T10" fmla="*/ 0 h 117"/>
                  <a:gd name="T11" fmla="*/ 143 w 143"/>
                  <a:gd name="T12" fmla="*/ 117 h 11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43" h="117">
                    <a:moveTo>
                      <a:pt x="0" y="0"/>
                    </a:moveTo>
                    <a:cubicBezTo>
                      <a:pt x="70" y="20"/>
                      <a:pt x="141" y="40"/>
                      <a:pt x="142" y="59"/>
                    </a:cubicBezTo>
                    <a:cubicBezTo>
                      <a:pt x="143" y="78"/>
                      <a:pt x="31" y="107"/>
                      <a:pt x="9" y="117"/>
                    </a:cubicBez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6920" name="Freeform 44">
                <a:extLst>
                  <a:ext uri="{FF2B5EF4-FFF2-40B4-BE49-F238E27FC236}">
                    <a16:creationId xmlns:a16="http://schemas.microsoft.com/office/drawing/2014/main" id="{7DD583EB-D4B0-4C4C-9A69-9E7C81C8B0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53" y="2379"/>
                <a:ext cx="143" cy="117"/>
              </a:xfrm>
              <a:custGeom>
                <a:avLst/>
                <a:gdLst>
                  <a:gd name="T0" fmla="*/ 0 w 143"/>
                  <a:gd name="T1" fmla="*/ 0 h 117"/>
                  <a:gd name="T2" fmla="*/ 142 w 143"/>
                  <a:gd name="T3" fmla="*/ 59 h 117"/>
                  <a:gd name="T4" fmla="*/ 9 w 143"/>
                  <a:gd name="T5" fmla="*/ 117 h 117"/>
                  <a:gd name="T6" fmla="*/ 0 60000 65536"/>
                  <a:gd name="T7" fmla="*/ 0 60000 65536"/>
                  <a:gd name="T8" fmla="*/ 0 60000 65536"/>
                  <a:gd name="T9" fmla="*/ 0 w 143"/>
                  <a:gd name="T10" fmla="*/ 0 h 117"/>
                  <a:gd name="T11" fmla="*/ 143 w 143"/>
                  <a:gd name="T12" fmla="*/ 117 h 11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43" h="117">
                    <a:moveTo>
                      <a:pt x="0" y="0"/>
                    </a:moveTo>
                    <a:cubicBezTo>
                      <a:pt x="70" y="20"/>
                      <a:pt x="141" y="40"/>
                      <a:pt x="142" y="59"/>
                    </a:cubicBezTo>
                    <a:cubicBezTo>
                      <a:pt x="143" y="78"/>
                      <a:pt x="31" y="107"/>
                      <a:pt x="9" y="117"/>
                    </a:cubicBez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36886" name="Line 45">
              <a:extLst>
                <a:ext uri="{FF2B5EF4-FFF2-40B4-BE49-F238E27FC236}">
                  <a16:creationId xmlns:a16="http://schemas.microsoft.com/office/drawing/2014/main" id="{A14E3905-C1E0-4D7C-ABE6-2C306F6FFA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5" y="4417"/>
              <a:ext cx="434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36887" name="Group 46">
              <a:extLst>
                <a:ext uri="{FF2B5EF4-FFF2-40B4-BE49-F238E27FC236}">
                  <a16:creationId xmlns:a16="http://schemas.microsoft.com/office/drawing/2014/main" id="{7D55B8F4-450E-4406-95E8-820C900D898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6" y="4534"/>
              <a:ext cx="184" cy="42"/>
              <a:chOff x="2095" y="2145"/>
              <a:chExt cx="184" cy="42"/>
            </a:xfrm>
          </p:grpSpPr>
          <p:sp>
            <p:nvSpPr>
              <p:cNvPr id="36916" name="Line 47">
                <a:extLst>
                  <a:ext uri="{FF2B5EF4-FFF2-40B4-BE49-F238E27FC236}">
                    <a16:creationId xmlns:a16="http://schemas.microsoft.com/office/drawing/2014/main" id="{1413853D-B767-4793-A013-3AC3FB21FF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95" y="2145"/>
                <a:ext cx="184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6917" name="Line 48">
                <a:extLst>
                  <a:ext uri="{FF2B5EF4-FFF2-40B4-BE49-F238E27FC236}">
                    <a16:creationId xmlns:a16="http://schemas.microsoft.com/office/drawing/2014/main" id="{28390B0D-7392-4D4C-A8BB-D27817DB42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29" y="2187"/>
                <a:ext cx="117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36888" name="Line 49">
              <a:extLst>
                <a:ext uri="{FF2B5EF4-FFF2-40B4-BE49-F238E27FC236}">
                  <a16:creationId xmlns:a16="http://schemas.microsoft.com/office/drawing/2014/main" id="{6D655097-08B5-4CD1-85A6-12E80656E1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8" y="4417"/>
              <a:ext cx="0" cy="10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36889" name="Line 50">
              <a:extLst>
                <a:ext uri="{FF2B5EF4-FFF2-40B4-BE49-F238E27FC236}">
                  <a16:creationId xmlns:a16="http://schemas.microsoft.com/office/drawing/2014/main" id="{5130FCDB-ABC5-42AB-B10C-6D2B14782A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8" y="4580"/>
              <a:ext cx="0" cy="10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36890" name="Line 51">
              <a:extLst>
                <a:ext uri="{FF2B5EF4-FFF2-40B4-BE49-F238E27FC236}">
                  <a16:creationId xmlns:a16="http://schemas.microsoft.com/office/drawing/2014/main" id="{151A2489-2102-4B59-9BF6-AAAE407A02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7" y="4675"/>
              <a:ext cx="0" cy="45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36891" name="Line 52">
              <a:extLst>
                <a:ext uri="{FF2B5EF4-FFF2-40B4-BE49-F238E27FC236}">
                  <a16:creationId xmlns:a16="http://schemas.microsoft.com/office/drawing/2014/main" id="{E95D3F42-1B06-4EE7-AD46-BCA2B2902C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04" y="4316"/>
              <a:ext cx="0" cy="499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36892" name="Line 53">
              <a:extLst>
                <a:ext uri="{FF2B5EF4-FFF2-40B4-BE49-F238E27FC236}">
                  <a16:creationId xmlns:a16="http://schemas.microsoft.com/office/drawing/2014/main" id="{A23FFBE3-8AA8-4313-9CCE-D0F6BA97F8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7" y="4333"/>
              <a:ext cx="0" cy="43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36893" name="Rectangle 54">
              <a:extLst>
                <a:ext uri="{FF2B5EF4-FFF2-40B4-BE49-F238E27FC236}">
                  <a16:creationId xmlns:a16="http://schemas.microsoft.com/office/drawing/2014/main" id="{04D8D1AF-D772-4085-AE21-D911F4F7D1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" y="5134"/>
              <a:ext cx="301" cy="56"/>
            </a:xfrm>
            <a:prstGeom prst="rect">
              <a:avLst/>
            </a:prstGeom>
            <a:noFill/>
            <a:ln w="28575" algn="ctr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6894" name="Oval 55">
              <a:extLst>
                <a:ext uri="{FF2B5EF4-FFF2-40B4-BE49-F238E27FC236}">
                  <a16:creationId xmlns:a16="http://schemas.microsoft.com/office/drawing/2014/main" id="{33BD884A-59C2-4868-ABE2-0661BA6E46F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023" y="4867"/>
              <a:ext cx="224" cy="224"/>
            </a:xfrm>
            <a:prstGeom prst="ellipse">
              <a:avLst/>
            </a:prstGeom>
            <a:noFill/>
            <a:ln w="2857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aphicFrame>
          <p:nvGraphicFramePr>
            <p:cNvPr id="36895" name="Object 8">
              <a:extLst>
                <a:ext uri="{FF2B5EF4-FFF2-40B4-BE49-F238E27FC236}">
                  <a16:creationId xmlns:a16="http://schemas.microsoft.com/office/drawing/2014/main" id="{BC994874-0FE3-4FA4-B34C-67456077CC4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58" y="4905"/>
            <a:ext cx="144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2452" name="Equation" r:id="rId15" imgW="228600" imgH="241300" progId="">
                    <p:embed/>
                  </p:oleObj>
                </mc:Choice>
                <mc:Fallback>
                  <p:oleObj name="Equation" r:id="rId15" imgW="228600" imgH="241300" progId="">
                    <p:embed/>
                    <p:pic>
                      <p:nvPicPr>
                        <p:cNvPr id="36895" name="Object 8">
                          <a:extLst>
                            <a:ext uri="{FF2B5EF4-FFF2-40B4-BE49-F238E27FC236}">
                              <a16:creationId xmlns:a16="http://schemas.microsoft.com/office/drawing/2014/main" id="{BC994874-0FE3-4FA4-B34C-67456077CC4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8" y="4905"/>
                          <a:ext cx="144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896" name="Line 57">
              <a:extLst>
                <a:ext uri="{FF2B5EF4-FFF2-40B4-BE49-F238E27FC236}">
                  <a16:creationId xmlns:a16="http://schemas.microsoft.com/office/drawing/2014/main" id="{40FABB54-0E9B-4AB2-B409-D5D4E6F3C5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7" y="4991"/>
              <a:ext cx="51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6897" name="Line 58">
              <a:extLst>
                <a:ext uri="{FF2B5EF4-FFF2-40B4-BE49-F238E27FC236}">
                  <a16:creationId xmlns:a16="http://schemas.microsoft.com/office/drawing/2014/main" id="{E559501D-9075-473A-A452-2C7BF6D2E3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9" y="5159"/>
              <a:ext cx="1166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6898" name="Line 59">
              <a:extLst>
                <a:ext uri="{FF2B5EF4-FFF2-40B4-BE49-F238E27FC236}">
                  <a16:creationId xmlns:a16="http://schemas.microsoft.com/office/drawing/2014/main" id="{945D607A-C8D8-4271-8DDB-C38C5D35BC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6" y="5156"/>
              <a:ext cx="21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36899" name="Line 60">
              <a:extLst>
                <a:ext uri="{FF2B5EF4-FFF2-40B4-BE49-F238E27FC236}">
                  <a16:creationId xmlns:a16="http://schemas.microsoft.com/office/drawing/2014/main" id="{69E5B386-1ECE-4883-B519-B76EB6BF69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1" y="5150"/>
              <a:ext cx="0" cy="25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6900" name="Line 61">
              <a:extLst>
                <a:ext uri="{FF2B5EF4-FFF2-40B4-BE49-F238E27FC236}">
                  <a16:creationId xmlns:a16="http://schemas.microsoft.com/office/drawing/2014/main" id="{E5924E39-701E-4D72-9946-1251738A24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" y="5409"/>
              <a:ext cx="406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36901" name="Group 62">
              <a:extLst>
                <a:ext uri="{FF2B5EF4-FFF2-40B4-BE49-F238E27FC236}">
                  <a16:creationId xmlns:a16="http://schemas.microsoft.com/office/drawing/2014/main" id="{A9B3EABB-D6BB-4398-9238-C13FBA3E9316}"/>
                </a:ext>
              </a:extLst>
            </p:cNvPr>
            <p:cNvGrpSpPr>
              <a:grpSpLocks/>
            </p:cNvGrpSpPr>
            <p:nvPr/>
          </p:nvGrpSpPr>
          <p:grpSpPr bwMode="auto">
            <a:xfrm rot="-5400000">
              <a:off x="1995" y="5381"/>
              <a:ext cx="184" cy="42"/>
              <a:chOff x="2095" y="2145"/>
              <a:chExt cx="184" cy="42"/>
            </a:xfrm>
          </p:grpSpPr>
          <p:sp>
            <p:nvSpPr>
              <p:cNvPr id="36914" name="Line 63">
                <a:extLst>
                  <a:ext uri="{FF2B5EF4-FFF2-40B4-BE49-F238E27FC236}">
                    <a16:creationId xmlns:a16="http://schemas.microsoft.com/office/drawing/2014/main" id="{4E801791-C113-4DA8-8845-DD53750BF0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95" y="2145"/>
                <a:ext cx="184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6915" name="Line 64">
                <a:extLst>
                  <a:ext uri="{FF2B5EF4-FFF2-40B4-BE49-F238E27FC236}">
                    <a16:creationId xmlns:a16="http://schemas.microsoft.com/office/drawing/2014/main" id="{F27F04C6-0C44-40D8-BB27-E5E672B98B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29" y="2187"/>
                <a:ext cx="117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36902" name="Line 65">
              <a:extLst>
                <a:ext uri="{FF2B5EF4-FFF2-40B4-BE49-F238E27FC236}">
                  <a16:creationId xmlns:a16="http://schemas.microsoft.com/office/drawing/2014/main" id="{6FF21FF9-C43B-45D0-9D51-6767EC4321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8" y="4550"/>
              <a:ext cx="484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36903" name="Line 66">
              <a:extLst>
                <a:ext uri="{FF2B5EF4-FFF2-40B4-BE49-F238E27FC236}">
                  <a16:creationId xmlns:a16="http://schemas.microsoft.com/office/drawing/2014/main" id="{F0A8352F-0EC2-4DD2-A49E-D81243F8F6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3" y="5402"/>
              <a:ext cx="1272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6904" name="Line 67">
              <a:extLst>
                <a:ext uri="{FF2B5EF4-FFF2-40B4-BE49-F238E27FC236}">
                  <a16:creationId xmlns:a16="http://schemas.microsoft.com/office/drawing/2014/main" id="{354AFBF9-0824-42CA-A40A-7A4CE7268C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05" y="4790"/>
              <a:ext cx="0" cy="61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6905" name="Line 68">
              <a:extLst>
                <a:ext uri="{FF2B5EF4-FFF2-40B4-BE49-F238E27FC236}">
                  <a16:creationId xmlns:a16="http://schemas.microsoft.com/office/drawing/2014/main" id="{A0178475-F1D3-4FEC-9764-E6D740B12E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6" y="5401"/>
              <a:ext cx="284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36906" name="Oval 69">
              <a:extLst>
                <a:ext uri="{FF2B5EF4-FFF2-40B4-BE49-F238E27FC236}">
                  <a16:creationId xmlns:a16="http://schemas.microsoft.com/office/drawing/2014/main" id="{54985447-B112-4FB0-BB3B-4ABB9DE2B06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288" y="4839"/>
              <a:ext cx="224" cy="224"/>
            </a:xfrm>
            <a:prstGeom prst="ellipse">
              <a:avLst/>
            </a:prstGeom>
            <a:noFill/>
            <a:ln w="28575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aphicFrame>
          <p:nvGraphicFramePr>
            <p:cNvPr id="36907" name="Object 9">
              <a:extLst>
                <a:ext uri="{FF2B5EF4-FFF2-40B4-BE49-F238E27FC236}">
                  <a16:creationId xmlns:a16="http://schemas.microsoft.com/office/drawing/2014/main" id="{37F6B62E-03A5-4C74-93D4-A4945F99B21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324" y="4865"/>
            <a:ext cx="144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2453" name="Equation" r:id="rId17" imgW="228600" imgH="228600" progId="">
                    <p:embed/>
                  </p:oleObj>
                </mc:Choice>
                <mc:Fallback>
                  <p:oleObj name="Equation" r:id="rId17" imgW="228600" imgH="228600" progId="">
                    <p:embed/>
                    <p:pic>
                      <p:nvPicPr>
                        <p:cNvPr id="36907" name="Object 9">
                          <a:extLst>
                            <a:ext uri="{FF2B5EF4-FFF2-40B4-BE49-F238E27FC236}">
                              <a16:creationId xmlns:a16="http://schemas.microsoft.com/office/drawing/2014/main" id="{37F6B62E-03A5-4C74-93D4-A4945F99B21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24" y="4865"/>
                          <a:ext cx="144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908" name="Line 71">
              <a:extLst>
                <a:ext uri="{FF2B5EF4-FFF2-40B4-BE49-F238E27FC236}">
                  <a16:creationId xmlns:a16="http://schemas.microsoft.com/office/drawing/2014/main" id="{038839A1-DBA0-4C79-9C00-82B7C22B42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0" y="4550"/>
              <a:ext cx="0" cy="2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36909" name="Line 72">
              <a:extLst>
                <a:ext uri="{FF2B5EF4-FFF2-40B4-BE49-F238E27FC236}">
                  <a16:creationId xmlns:a16="http://schemas.microsoft.com/office/drawing/2014/main" id="{1FE07693-2EA9-46FD-8022-BB84B679FA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0" y="5067"/>
              <a:ext cx="0" cy="32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36910" name="Object 10">
              <a:extLst>
                <a:ext uri="{FF2B5EF4-FFF2-40B4-BE49-F238E27FC236}">
                  <a16:creationId xmlns:a16="http://schemas.microsoft.com/office/drawing/2014/main" id="{0E66A3F1-6B72-4CBE-A5D3-55F1BD808D3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04" y="5124"/>
            <a:ext cx="376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2454" name="Equation" r:id="rId18" imgW="596900" imgH="292100" progId="">
                    <p:embed/>
                  </p:oleObj>
                </mc:Choice>
                <mc:Fallback>
                  <p:oleObj name="Equation" r:id="rId18" imgW="596900" imgH="292100" progId="">
                    <p:embed/>
                    <p:pic>
                      <p:nvPicPr>
                        <p:cNvPr id="36910" name="Object 10">
                          <a:extLst>
                            <a:ext uri="{FF2B5EF4-FFF2-40B4-BE49-F238E27FC236}">
                              <a16:creationId xmlns:a16="http://schemas.microsoft.com/office/drawing/2014/main" id="{0E66A3F1-6B72-4CBE-A5D3-55F1BD808D3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04" y="5124"/>
                          <a:ext cx="376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911" name="Object 11">
              <a:extLst>
                <a:ext uri="{FF2B5EF4-FFF2-40B4-BE49-F238E27FC236}">
                  <a16:creationId xmlns:a16="http://schemas.microsoft.com/office/drawing/2014/main" id="{1416DA98-9BEF-4486-9798-6764B7319D7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55" y="4446"/>
            <a:ext cx="224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2455" name="Equation" r:id="rId20" imgW="355446" imgH="291973" progId="">
                    <p:embed/>
                  </p:oleObj>
                </mc:Choice>
                <mc:Fallback>
                  <p:oleObj name="Equation" r:id="rId20" imgW="355446" imgH="291973" progId="">
                    <p:embed/>
                    <p:pic>
                      <p:nvPicPr>
                        <p:cNvPr id="36911" name="Object 11">
                          <a:extLst>
                            <a:ext uri="{FF2B5EF4-FFF2-40B4-BE49-F238E27FC236}">
                              <a16:creationId xmlns:a16="http://schemas.microsoft.com/office/drawing/2014/main" id="{1416DA98-9BEF-4486-9798-6764B7319D7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55" y="4446"/>
                          <a:ext cx="224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912" name="Line 75">
              <a:extLst>
                <a:ext uri="{FF2B5EF4-FFF2-40B4-BE49-F238E27FC236}">
                  <a16:creationId xmlns:a16="http://schemas.microsoft.com/office/drawing/2014/main" id="{FB3A2701-248F-45C3-AEF2-6409670C88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1" y="4982"/>
              <a:ext cx="55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6913" name="Line 76">
              <a:extLst>
                <a:ext uri="{FF2B5EF4-FFF2-40B4-BE49-F238E27FC236}">
                  <a16:creationId xmlns:a16="http://schemas.microsoft.com/office/drawing/2014/main" id="{60E5ACCB-9D53-4D2B-A4AD-E2FFCE9DA3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" y="4685"/>
              <a:ext cx="45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79" name="矩形 78">
            <a:extLst>
              <a:ext uri="{FF2B5EF4-FFF2-40B4-BE49-F238E27FC236}">
                <a16:creationId xmlns:a16="http://schemas.microsoft.com/office/drawing/2014/main" id="{D9CFAC84-E2C8-4AAC-ABBC-7F94B0FC98FF}"/>
              </a:ext>
            </a:extLst>
          </p:cNvPr>
          <p:cNvSpPr/>
          <p:nvPr/>
        </p:nvSpPr>
        <p:spPr>
          <a:xfrm>
            <a:off x="1692275" y="214313"/>
            <a:ext cx="5040313" cy="523875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algn="ctr"/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imSun" panose="02010600030101010101" pitchFamily="2" charset="-122"/>
              </a:rPr>
              <a:t>弗兰克</a:t>
            </a:r>
            <a:r>
              <a:rPr lang="en-US" altLang="zh-CN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imSun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imSun" panose="02010600030101010101" pitchFamily="2" charset="-122"/>
              </a:rPr>
              <a:t>赫兹实验</a:t>
            </a:r>
          </a:p>
        </p:txBody>
      </p:sp>
      <p:sp>
        <p:nvSpPr>
          <p:cNvPr id="80" name="Text Box 3">
            <a:extLst>
              <a:ext uri="{FF2B5EF4-FFF2-40B4-BE49-F238E27FC236}">
                <a16:creationId xmlns:a16="http://schemas.microsoft.com/office/drawing/2014/main" id="{C5C37850-4C65-4016-9C81-7AA04FB25F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3429000"/>
            <a:ext cx="2928938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100">
                <a:solidFill>
                  <a:schemeClr val="bg1"/>
                </a:solidFill>
              </a:rPr>
              <a:t>实验装置示意图</a:t>
            </a:r>
          </a:p>
        </p:txBody>
      </p:sp>
      <p:sp>
        <p:nvSpPr>
          <p:cNvPr id="36882" name="灯片编号占位符 1">
            <a:extLst>
              <a:ext uri="{FF2B5EF4-FFF2-40B4-BE49-F238E27FC236}">
                <a16:creationId xmlns:a16="http://schemas.microsoft.com/office/drawing/2014/main" id="{FD07ADED-6299-452C-934C-16543EBC5744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/>
            <a:fld id="{EB1D73BF-40BB-4E1C-96AD-F9C30812C08E}" type="slidenum">
              <a:rPr lang="en-US" altLang="zh-CN" b="0" smtClean="0">
                <a:solidFill>
                  <a:srgbClr val="FF00FF"/>
                </a:solidFill>
              </a:rPr>
              <a:pPr eaLnBrk="1" hangingPunct="1"/>
              <a:t>15</a:t>
            </a:fld>
            <a:r>
              <a:rPr lang="en-US" altLang="zh-CN" b="0" dirty="0">
                <a:solidFill>
                  <a:srgbClr val="FF00FF"/>
                </a:solidFill>
              </a:rPr>
              <a:t>/28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5D4832E3-84AF-4E2E-8501-1610CF42AB6C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826539" y="3489449"/>
            <a:ext cx="2816985" cy="31399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9" grpId="0"/>
      <p:bldP spid="10" grpId="0"/>
      <p:bldP spid="26" grpId="0" autoUpdateAnimBg="0"/>
      <p:bldP spid="27" grpId="0" autoUpdateAnimBg="0"/>
      <p:bldP spid="8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206A3233-A06E-4CF3-9042-C73AE0E46388}"/>
              </a:ext>
            </a:extLst>
          </p:cNvPr>
          <p:cNvSpPr/>
          <p:nvPr/>
        </p:nvSpPr>
        <p:spPr>
          <a:xfrm>
            <a:off x="468313" y="115888"/>
            <a:ext cx="5040312" cy="523875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r>
              <a:rPr lang="zh-CN" altLang="en-US" sz="2800">
                <a:solidFill>
                  <a:srgbClr val="FFFF00"/>
                </a:solidFill>
                <a:latin typeface="SimSun" panose="02010600030101010101" pitchFamily="2" charset="-122"/>
              </a:rPr>
              <a:t>实验结果分析：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0FA8E47-A3FF-4E4E-9B5A-5C5C790ECA6E}"/>
              </a:ext>
            </a:extLst>
          </p:cNvPr>
          <p:cNvSpPr/>
          <p:nvPr/>
        </p:nvSpPr>
        <p:spPr>
          <a:xfrm>
            <a:off x="107950" y="3644900"/>
            <a:ext cx="8894763" cy="2892425"/>
          </a:xfrm>
          <a:prstGeom prst="rect">
            <a:avLst/>
          </a:prstGeom>
        </p:spPr>
        <p:txBody>
          <a:bodyPr>
            <a:spAutoFit/>
          </a:bodyPr>
          <a:lstStyle>
            <a:lvl1pPr marL="342900" indent="-3429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>
              <a:lnSpc>
                <a:spcPts val="34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200" dirty="0">
                <a:solidFill>
                  <a:schemeClr val="bg1"/>
                </a:solidFill>
              </a:rPr>
              <a:t>当加速电压较低（小于 </a:t>
            </a:r>
            <a:r>
              <a:rPr lang="en-US" altLang="zh-CN" sz="2200" dirty="0">
                <a:solidFill>
                  <a:srgbClr val="66FFFF"/>
                </a:solidFill>
              </a:rPr>
              <a:t>4.9V</a:t>
            </a:r>
            <a:r>
              <a:rPr lang="zh-CN" altLang="en-US" sz="2200" dirty="0">
                <a:solidFill>
                  <a:schemeClr val="bg1"/>
                </a:solidFill>
              </a:rPr>
              <a:t>时），随着电压的增加，单位时间抵达阳极的电子数增加，电流也平稳地</a:t>
            </a:r>
            <a:r>
              <a:rPr lang="zh-CN" altLang="en-US" sz="2200" dirty="0">
                <a:solidFill>
                  <a:srgbClr val="66FFFF"/>
                </a:solidFill>
              </a:rPr>
              <a:t>单调递增</a:t>
            </a:r>
            <a:r>
              <a:rPr lang="zh-CN" altLang="en-US" sz="2200" dirty="0">
                <a:solidFill>
                  <a:schemeClr val="bg1"/>
                </a:solidFill>
              </a:rPr>
              <a:t>；</a:t>
            </a:r>
            <a:r>
              <a:rPr lang="zh-CN" altLang="en-US" sz="2200" dirty="0">
                <a:solidFill>
                  <a:srgbClr val="FFC000"/>
                </a:solidFill>
              </a:rPr>
              <a:t>（弹性碰撞）</a:t>
            </a:r>
            <a:endParaRPr lang="en-US" altLang="zh-CN" sz="2200" dirty="0">
              <a:solidFill>
                <a:srgbClr val="FFC000"/>
              </a:solidFill>
            </a:endParaRPr>
          </a:p>
          <a:p>
            <a:pPr>
              <a:lnSpc>
                <a:spcPts val="34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200" dirty="0">
                <a:solidFill>
                  <a:schemeClr val="bg1"/>
                </a:solidFill>
              </a:rPr>
              <a:t>当电压为 </a:t>
            </a:r>
            <a:r>
              <a:rPr lang="en-US" altLang="zh-CN" sz="2200" dirty="0">
                <a:solidFill>
                  <a:srgbClr val="66FFFF"/>
                </a:solidFill>
              </a:rPr>
              <a:t>4.9V</a:t>
            </a:r>
            <a:r>
              <a:rPr lang="en-US" altLang="zh-CN" sz="2200" dirty="0"/>
              <a:t> </a:t>
            </a:r>
            <a:r>
              <a:rPr lang="zh-CN" altLang="en-US" sz="2200" dirty="0">
                <a:solidFill>
                  <a:schemeClr val="bg1"/>
                </a:solidFill>
              </a:rPr>
              <a:t>时，</a:t>
            </a:r>
            <a:r>
              <a:rPr lang="zh-CN" altLang="en-US" sz="2200" dirty="0">
                <a:solidFill>
                  <a:srgbClr val="FFFF00"/>
                </a:solidFill>
                <a:latin typeface="SimSun" panose="02010600030101010101" pitchFamily="2" charset="-122"/>
              </a:rPr>
              <a:t>电流猛烈降低</a:t>
            </a:r>
            <a:r>
              <a:rPr lang="zh-CN" altLang="en-US" sz="2200" dirty="0">
                <a:solidFill>
                  <a:schemeClr val="bg1"/>
                </a:solidFill>
              </a:rPr>
              <a:t>，几乎降至 </a:t>
            </a:r>
            <a:r>
              <a:rPr lang="en-US" altLang="zh-CN" sz="2200" dirty="0">
                <a:solidFill>
                  <a:srgbClr val="66FFFF"/>
                </a:solidFill>
              </a:rPr>
              <a:t>0 </a:t>
            </a:r>
            <a:r>
              <a:rPr lang="zh-CN" altLang="en-US" sz="2200" dirty="0">
                <a:solidFill>
                  <a:schemeClr val="bg1"/>
                </a:solidFill>
              </a:rPr>
              <a:t>安；</a:t>
            </a:r>
            <a:r>
              <a:rPr lang="zh-CN" altLang="en-US" sz="2200" dirty="0">
                <a:solidFill>
                  <a:srgbClr val="FFC000"/>
                </a:solidFill>
              </a:rPr>
              <a:t>（非弹性碰撞）</a:t>
            </a:r>
            <a:endParaRPr lang="en-US" altLang="zh-CN" sz="2200" dirty="0"/>
          </a:p>
          <a:p>
            <a:pPr>
              <a:lnSpc>
                <a:spcPts val="34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200" dirty="0">
                <a:solidFill>
                  <a:schemeClr val="bg1"/>
                </a:solidFill>
              </a:rPr>
              <a:t>继续增加电压，电流也跟随着平稳地增加，直到电压达到 </a:t>
            </a:r>
            <a:r>
              <a:rPr lang="en-US" altLang="zh-CN" sz="2200" dirty="0">
                <a:solidFill>
                  <a:srgbClr val="66FFFF"/>
                </a:solidFill>
              </a:rPr>
              <a:t>9.8 V</a:t>
            </a:r>
            <a:r>
              <a:rPr lang="zh-CN" altLang="en-US" sz="2200" dirty="0">
                <a:solidFill>
                  <a:schemeClr val="bg1"/>
                </a:solidFill>
              </a:rPr>
              <a:t>，又观察到类似的电流猛烈降低。</a:t>
            </a:r>
            <a:r>
              <a:rPr lang="zh-CN" altLang="en-US" sz="2200" dirty="0">
                <a:solidFill>
                  <a:srgbClr val="FFC000"/>
                </a:solidFill>
              </a:rPr>
              <a:t>（再次非弹性碰撞）</a:t>
            </a:r>
            <a:endParaRPr lang="en-US" altLang="zh-CN" sz="2200" dirty="0">
              <a:solidFill>
                <a:srgbClr val="FFC000"/>
              </a:solidFill>
            </a:endParaRPr>
          </a:p>
          <a:p>
            <a:pPr>
              <a:lnSpc>
                <a:spcPts val="34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200" dirty="0">
                <a:solidFill>
                  <a:schemeClr val="bg1"/>
                </a:solidFill>
              </a:rPr>
              <a:t>电压每增加 </a:t>
            </a:r>
            <a:r>
              <a:rPr lang="en-US" altLang="zh-CN" sz="2200" dirty="0">
                <a:solidFill>
                  <a:srgbClr val="66FFFF"/>
                </a:solidFill>
              </a:rPr>
              <a:t>4.9V</a:t>
            </a:r>
            <a:r>
              <a:rPr lang="zh-CN" altLang="en-US" sz="2200" dirty="0">
                <a:solidFill>
                  <a:schemeClr val="bg1"/>
                </a:solidFill>
              </a:rPr>
              <a:t>，电流就会猛烈降低。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6397E97-AA72-4A73-989C-570CC76C4E8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b="16590"/>
          <a:stretch/>
        </p:blipFill>
        <p:spPr>
          <a:xfrm>
            <a:off x="983476" y="692696"/>
            <a:ext cx="7589052" cy="2880000"/>
          </a:xfrm>
          <a:prstGeom prst="rect">
            <a:avLst/>
          </a:prstGeom>
        </p:spPr>
      </p:pic>
      <p:sp>
        <p:nvSpPr>
          <p:cNvPr id="8" name="Rectangle 4">
            <a:extLst>
              <a:ext uri="{FF2B5EF4-FFF2-40B4-BE49-F238E27FC236}">
                <a16:creationId xmlns:a16="http://schemas.microsoft.com/office/drawing/2014/main" id="{E790D07A-DA1A-4334-B9A4-B1C38198D3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0232" y="5741988"/>
            <a:ext cx="2357437" cy="76993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>
            <a:lvl1pPr marL="342900" indent="-3429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>
              <a:buFont typeface="Wingdings" panose="05000000000000000000" pitchFamily="2" charset="2"/>
              <a:buChar char="à"/>
            </a:pPr>
            <a:r>
              <a:rPr lang="en-US" altLang="zh-CN" sz="2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mSun" panose="02010600030101010101" pitchFamily="2" charset="-122"/>
                <a:sym typeface="Wingdings" panose="05000000000000000000" pitchFamily="2" charset="2"/>
              </a:rPr>
              <a:t>Hg</a:t>
            </a:r>
            <a:r>
              <a:rPr lang="zh-CN" altLang="en-US" sz="2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mSun" panose="02010600030101010101" pitchFamily="2" charset="-122"/>
                <a:sym typeface="Wingdings" panose="05000000000000000000" pitchFamily="2" charset="2"/>
              </a:rPr>
              <a:t>原子只吸收</a:t>
            </a:r>
            <a:endParaRPr lang="en-US" altLang="zh-CN" sz="2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imSun" panose="02010600030101010101" pitchFamily="2" charset="-122"/>
              <a:sym typeface="Wingdings" panose="05000000000000000000" pitchFamily="2" charset="2"/>
            </a:endParaRPr>
          </a:p>
          <a:p>
            <a:r>
              <a:rPr lang="en-US" altLang="zh-CN" sz="2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mSun" panose="02010600030101010101" pitchFamily="2" charset="-122"/>
                <a:sym typeface="Wingdings" panose="05000000000000000000" pitchFamily="2" charset="2"/>
              </a:rPr>
              <a:t>   4.9 eV</a:t>
            </a:r>
            <a:r>
              <a:rPr lang="zh-CN" altLang="en-US" sz="2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mSun" panose="02010600030101010101" pitchFamily="2" charset="-122"/>
                <a:sym typeface="Wingdings" panose="05000000000000000000" pitchFamily="2" charset="2"/>
              </a:rPr>
              <a:t>的能量</a:t>
            </a:r>
            <a:endParaRPr lang="zh-CN" altLang="en-US" sz="2200" b="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imSun" panose="02010600030101010101" pitchFamily="2" charset="-122"/>
            </a:endParaRPr>
          </a:p>
        </p:txBody>
      </p:sp>
      <p:sp>
        <p:nvSpPr>
          <p:cNvPr id="37894" name="灯片编号占位符 1">
            <a:extLst>
              <a:ext uri="{FF2B5EF4-FFF2-40B4-BE49-F238E27FC236}">
                <a16:creationId xmlns:a16="http://schemas.microsoft.com/office/drawing/2014/main" id="{92F3ACD4-667F-4811-81D4-92B491DF5E81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/>
            <a:fld id="{1C2E2602-AEB7-4595-8968-7E0257215076}" type="slidenum">
              <a:rPr lang="en-US" altLang="zh-CN" b="0" smtClean="0">
                <a:solidFill>
                  <a:srgbClr val="FF00FF"/>
                </a:solidFill>
              </a:rPr>
              <a:pPr eaLnBrk="1" hangingPunct="1"/>
              <a:t>16</a:t>
            </a:fld>
            <a:r>
              <a:rPr lang="en-US" altLang="zh-CN" b="0" dirty="0">
                <a:solidFill>
                  <a:srgbClr val="FF00FF"/>
                </a:solidFill>
              </a:rPr>
              <a:t>/28</a:t>
            </a:r>
          </a:p>
        </p:txBody>
      </p:sp>
      <p:sp>
        <p:nvSpPr>
          <p:cNvPr id="37895" name="Line 14">
            <a:extLst>
              <a:ext uri="{FF2B5EF4-FFF2-40B4-BE49-F238E27FC236}">
                <a16:creationId xmlns:a16="http://schemas.microsoft.com/office/drawing/2014/main" id="{EC57BE3E-39D9-45A2-932C-566553851030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8138" y="2143125"/>
            <a:ext cx="0" cy="1079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7896" name="Line 15">
            <a:extLst>
              <a:ext uri="{FF2B5EF4-FFF2-40B4-BE49-F238E27FC236}">
                <a16:creationId xmlns:a16="http://schemas.microsoft.com/office/drawing/2014/main" id="{3359E835-78DE-4B39-A52C-3BFBBB87F23C}"/>
              </a:ext>
            </a:extLst>
          </p:cNvPr>
          <p:cNvSpPr>
            <a:spLocks noChangeShapeType="1"/>
          </p:cNvSpPr>
          <p:nvPr/>
        </p:nvSpPr>
        <p:spPr bwMode="auto">
          <a:xfrm>
            <a:off x="5892800" y="1974850"/>
            <a:ext cx="0" cy="12684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7897" name="Line 16">
            <a:extLst>
              <a:ext uri="{FF2B5EF4-FFF2-40B4-BE49-F238E27FC236}">
                <a16:creationId xmlns:a16="http://schemas.microsoft.com/office/drawing/2014/main" id="{9BD58EB1-C397-44CF-AAF1-1E661A7AE317}"/>
              </a:ext>
            </a:extLst>
          </p:cNvPr>
          <p:cNvSpPr>
            <a:spLocks noChangeShapeType="1"/>
          </p:cNvSpPr>
          <p:nvPr/>
        </p:nvSpPr>
        <p:spPr bwMode="auto">
          <a:xfrm>
            <a:off x="6364288" y="1463675"/>
            <a:ext cx="0" cy="17891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7898" name="Line 17">
            <a:extLst>
              <a:ext uri="{FF2B5EF4-FFF2-40B4-BE49-F238E27FC236}">
                <a16:creationId xmlns:a16="http://schemas.microsoft.com/office/drawing/2014/main" id="{6B7885C4-90CA-4A0D-BBC1-0D56A3261A87}"/>
              </a:ext>
            </a:extLst>
          </p:cNvPr>
          <p:cNvSpPr>
            <a:spLocks noChangeShapeType="1"/>
          </p:cNvSpPr>
          <p:nvPr/>
        </p:nvSpPr>
        <p:spPr bwMode="auto">
          <a:xfrm>
            <a:off x="5429250" y="3214688"/>
            <a:ext cx="48418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sm" len="lg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37899" name="Line 18">
            <a:extLst>
              <a:ext uri="{FF2B5EF4-FFF2-40B4-BE49-F238E27FC236}">
                <a16:creationId xmlns:a16="http://schemas.microsoft.com/office/drawing/2014/main" id="{7F99D305-B30B-4823-A900-12A8B5A1241A}"/>
              </a:ext>
            </a:extLst>
          </p:cNvPr>
          <p:cNvSpPr>
            <a:spLocks noChangeShapeType="1"/>
          </p:cNvSpPr>
          <p:nvPr/>
        </p:nvSpPr>
        <p:spPr bwMode="auto">
          <a:xfrm>
            <a:off x="5921375" y="3214688"/>
            <a:ext cx="48418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sm" len="lg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graphicFrame>
        <p:nvGraphicFramePr>
          <p:cNvPr id="37900" name="Object 5">
            <a:extLst>
              <a:ext uri="{FF2B5EF4-FFF2-40B4-BE49-F238E27FC236}">
                <a16:creationId xmlns:a16="http://schemas.microsoft.com/office/drawing/2014/main" id="{4D1C20D9-DA66-4056-A888-69FCBB68A5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43500" y="3286125"/>
          <a:ext cx="6096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3344" name="Equation" r:id="rId5" imgW="673200" imgH="276120" progId="">
                  <p:embed/>
                </p:oleObj>
              </mc:Choice>
              <mc:Fallback>
                <p:oleObj name="Equation" r:id="rId5" imgW="673200" imgH="276120" progId="">
                  <p:embed/>
                  <p:pic>
                    <p:nvPicPr>
                      <p:cNvPr id="37900" name="Object 5">
                        <a:extLst>
                          <a:ext uri="{FF2B5EF4-FFF2-40B4-BE49-F238E27FC236}">
                            <a16:creationId xmlns:a16="http://schemas.microsoft.com/office/drawing/2014/main" id="{4D1C20D9-DA66-4056-A888-69FCBB68A5D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3500" y="3286125"/>
                        <a:ext cx="609600" cy="292100"/>
                      </a:xfrm>
                      <a:prstGeom prst="rect">
                        <a:avLst/>
                      </a:prstGeom>
                      <a:solidFill>
                        <a:schemeClr val="bg2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7901" name="Picture 13">
            <a:extLst>
              <a:ext uri="{FF2B5EF4-FFF2-40B4-BE49-F238E27FC236}">
                <a16:creationId xmlns:a16="http://schemas.microsoft.com/office/drawing/2014/main" id="{9A5B22B0-11A2-4987-A3A0-B35F5F5164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3500" y="620713"/>
            <a:ext cx="3598863" cy="300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0B14BD95-1C32-4A78-B427-1FB828A894B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53100" y="699760"/>
            <a:ext cx="2588387" cy="2885144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61C98112-FFF5-4DDD-B9E3-02C1421A90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5851525"/>
            <a:ext cx="1800225" cy="7921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F5CBFDFE-7F88-450F-B1AA-58BA291356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513" y="4700588"/>
            <a:ext cx="1790700" cy="7921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3796" name="Rectangle 4">
            <a:extLst>
              <a:ext uri="{FF2B5EF4-FFF2-40B4-BE49-F238E27FC236}">
                <a16:creationId xmlns:a16="http://schemas.microsoft.com/office/drawing/2014/main" id="{5EF3F14D-C9A3-4084-8B04-AC7015F85E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925" y="2928938"/>
            <a:ext cx="80295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>
                <a:solidFill>
                  <a:srgbClr val="FFFF00"/>
                </a:solidFill>
              </a:rPr>
              <a:t>假设</a:t>
            </a:r>
            <a:r>
              <a:rPr lang="en-US" altLang="zh-CN">
                <a:solidFill>
                  <a:srgbClr val="FFFF00"/>
                </a:solidFill>
              </a:rPr>
              <a:t>:</a:t>
            </a:r>
            <a:r>
              <a:rPr lang="en-US" altLang="zh-CN">
                <a:solidFill>
                  <a:srgbClr val="FFFF99"/>
                </a:solidFill>
              </a:rPr>
              <a:t>   </a:t>
            </a:r>
            <a:r>
              <a:rPr lang="zh-CN" altLang="en-US">
                <a:solidFill>
                  <a:schemeClr val="bg1"/>
                </a:solidFill>
              </a:rPr>
              <a:t>实物粒子（电子、原子、分子）具有 波粒二象性</a:t>
            </a:r>
          </a:p>
        </p:txBody>
      </p:sp>
      <p:graphicFrame>
        <p:nvGraphicFramePr>
          <p:cNvPr id="33797" name="Object 2">
            <a:extLst>
              <a:ext uri="{FF2B5EF4-FFF2-40B4-BE49-F238E27FC236}">
                <a16:creationId xmlns:a16="http://schemas.microsoft.com/office/drawing/2014/main" id="{58BE48A5-70AC-4CFA-8CE3-3618B7AE04A6}"/>
              </a:ext>
            </a:extLst>
          </p:cNvPr>
          <p:cNvGraphicFramePr>
            <a:graphicFrameLocks/>
          </p:cNvGraphicFramePr>
          <p:nvPr/>
        </p:nvGraphicFramePr>
        <p:xfrm>
          <a:off x="4932363" y="5780088"/>
          <a:ext cx="3135312" cy="741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8482" r:id="rId3" imgW="4574880" imgH="1052640" progId="Equation.3">
                  <p:embed/>
                </p:oleObj>
              </mc:Choice>
              <mc:Fallback>
                <p:oleObj r:id="rId3" imgW="4574880" imgH="1052640" progId="Equation.3">
                  <p:embed/>
                  <p:pic>
                    <p:nvPicPr>
                      <p:cNvPr id="33797" name="Object 2">
                        <a:extLst>
                          <a:ext uri="{FF2B5EF4-FFF2-40B4-BE49-F238E27FC236}">
                            <a16:creationId xmlns:a16="http://schemas.microsoft.com/office/drawing/2014/main" id="{58BE48A5-70AC-4CFA-8CE3-3618B7AE04A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363" y="5780088"/>
                        <a:ext cx="3135312" cy="741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8" name="Object 3">
            <a:extLst>
              <a:ext uri="{FF2B5EF4-FFF2-40B4-BE49-F238E27FC236}">
                <a16:creationId xmlns:a16="http://schemas.microsoft.com/office/drawing/2014/main" id="{A67694ED-1CFA-4261-8D37-9CD32302D6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56188" y="4905375"/>
          <a:ext cx="3011487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8483" r:id="rId5" imgW="4944600" imgH="1041480" progId="Equation.3">
                  <p:embed/>
                </p:oleObj>
              </mc:Choice>
              <mc:Fallback>
                <p:oleObj r:id="rId5" imgW="4944600" imgH="1041480" progId="Equation.3">
                  <p:embed/>
                  <p:pic>
                    <p:nvPicPr>
                      <p:cNvPr id="33798" name="Object 3">
                        <a:extLst>
                          <a:ext uri="{FF2B5EF4-FFF2-40B4-BE49-F238E27FC236}">
                            <a16:creationId xmlns:a16="http://schemas.microsoft.com/office/drawing/2014/main" id="{A67694ED-1CFA-4261-8D37-9CD32302D64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6188" y="4905375"/>
                        <a:ext cx="3011487" cy="730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33" name="Group 41">
            <a:extLst>
              <a:ext uri="{FF2B5EF4-FFF2-40B4-BE49-F238E27FC236}">
                <a16:creationId xmlns:a16="http://schemas.microsoft.com/office/drawing/2014/main" id="{04120B41-FADB-4486-A573-4453CC0B6928}"/>
              </a:ext>
            </a:extLst>
          </p:cNvPr>
          <p:cNvGraphicFramePr>
            <a:graphicFrameLocks noGrp="1"/>
          </p:cNvGraphicFramePr>
          <p:nvPr/>
        </p:nvGraphicFramePr>
        <p:xfrm>
          <a:off x="1776413" y="214313"/>
          <a:ext cx="5867400" cy="1449388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307261295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447628527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204434583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00FF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CC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66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FF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波动性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FF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FF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 </a:t>
                      </a: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rgbClr val="00FF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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FF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, 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00FF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FF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CC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66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FF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粒子性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FF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FF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00FF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FF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, 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00FF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FF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CC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0818991"/>
                  </a:ext>
                </a:extLst>
              </a:tr>
              <a:tr h="5334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FF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光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CC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66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CC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66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400" b="0" i="1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CC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2094641"/>
                  </a:ext>
                </a:extLst>
              </a:tr>
              <a:tr h="4587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FF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CC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66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400" b="0" i="1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CC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66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CC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7887374"/>
                  </a:ext>
                </a:extLst>
              </a:tr>
            </a:tbl>
          </a:graphicData>
        </a:graphic>
      </p:graphicFrame>
      <p:sp>
        <p:nvSpPr>
          <p:cNvPr id="33817" name="Rectangle 25">
            <a:extLst>
              <a:ext uri="{FF2B5EF4-FFF2-40B4-BE49-F238E27FC236}">
                <a16:creationId xmlns:a16="http://schemas.microsoft.com/office/drawing/2014/main" id="{8DBAC5D2-CE15-48A8-B6CF-28CD8C87B3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588" y="2357438"/>
            <a:ext cx="59912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</a:rPr>
              <a:t>一</a:t>
            </a:r>
            <a:r>
              <a:rPr lang="en-US" altLang="zh-CN" sz="2800" dirty="0">
                <a:solidFill>
                  <a:srgbClr val="FFFF00"/>
                </a:solidFill>
              </a:rPr>
              <a:t>. </a:t>
            </a:r>
            <a:r>
              <a:rPr lang="zh-CN" altLang="en-US" sz="2800" dirty="0">
                <a:solidFill>
                  <a:srgbClr val="FFFF00"/>
                </a:solidFill>
              </a:rPr>
              <a:t>德布罗意假设  </a:t>
            </a:r>
            <a:r>
              <a:rPr lang="en-US" altLang="zh-CN" sz="2800" dirty="0">
                <a:solidFill>
                  <a:schemeClr val="accent1"/>
                </a:solidFill>
              </a:rPr>
              <a:t>(1924</a:t>
            </a:r>
            <a:r>
              <a:rPr lang="zh-CN" altLang="en-US" sz="2800" dirty="0">
                <a:solidFill>
                  <a:schemeClr val="accent1"/>
                </a:solidFill>
              </a:rPr>
              <a:t>年</a:t>
            </a:r>
            <a:r>
              <a:rPr lang="en-US" altLang="zh-CN" sz="2800" dirty="0">
                <a:solidFill>
                  <a:schemeClr val="accent1"/>
                </a:solidFill>
              </a:rPr>
              <a:t>, </a:t>
            </a:r>
            <a:r>
              <a:rPr lang="zh-CN" altLang="en-US" sz="2800" dirty="0">
                <a:solidFill>
                  <a:schemeClr val="accent1"/>
                </a:solidFill>
              </a:rPr>
              <a:t>法国</a:t>
            </a:r>
            <a:r>
              <a:rPr lang="en-US" altLang="zh-CN" sz="2800" dirty="0">
                <a:solidFill>
                  <a:schemeClr val="accent1"/>
                </a:solidFill>
              </a:rPr>
              <a:t>)</a:t>
            </a:r>
          </a:p>
        </p:txBody>
      </p:sp>
      <p:grpSp>
        <p:nvGrpSpPr>
          <p:cNvPr id="2" name="Group 26">
            <a:extLst>
              <a:ext uri="{FF2B5EF4-FFF2-40B4-BE49-F238E27FC236}">
                <a16:creationId xmlns:a16="http://schemas.microsoft.com/office/drawing/2014/main" id="{8C89ED11-58C4-404A-A5C0-71319697822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274763" y="5880100"/>
            <a:ext cx="1582737" cy="669925"/>
            <a:chOff x="624" y="3552"/>
            <a:chExt cx="1248" cy="528"/>
          </a:xfrm>
        </p:grpSpPr>
        <p:sp>
          <p:nvSpPr>
            <p:cNvPr id="23578" name="Rectangle 27">
              <a:extLst>
                <a:ext uri="{FF2B5EF4-FFF2-40B4-BE49-F238E27FC236}">
                  <a16:creationId xmlns:a16="http://schemas.microsoft.com/office/drawing/2014/main" id="{2DABD9CA-383B-4770-91F9-5DC755C8575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24" y="3552"/>
              <a:ext cx="1248" cy="5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graphicFrame>
          <p:nvGraphicFramePr>
            <p:cNvPr id="23579" name="Object 5">
              <a:extLst>
                <a:ext uri="{FF2B5EF4-FFF2-40B4-BE49-F238E27FC236}">
                  <a16:creationId xmlns:a16="http://schemas.microsoft.com/office/drawing/2014/main" id="{0A591B79-A98A-43E1-A4D3-0D035365182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70" y="3692"/>
            <a:ext cx="1155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8484" r:id="rId7" imgW="2298600" imgH="425520" progId="Equation.3">
                    <p:embed/>
                  </p:oleObj>
                </mc:Choice>
                <mc:Fallback>
                  <p:oleObj r:id="rId7" imgW="2298600" imgH="425520" progId="Equation.3">
                    <p:embed/>
                    <p:pic>
                      <p:nvPicPr>
                        <p:cNvPr id="23579" name="Object 5">
                          <a:extLst>
                            <a:ext uri="{FF2B5EF4-FFF2-40B4-BE49-F238E27FC236}">
                              <a16:creationId xmlns:a16="http://schemas.microsoft.com/office/drawing/2014/main" id="{0A591B79-A98A-43E1-A4D3-0D035365182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0" y="3692"/>
                          <a:ext cx="1155" cy="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3821" name="AutoShape 29">
            <a:extLst>
              <a:ext uri="{FF2B5EF4-FFF2-40B4-BE49-F238E27FC236}">
                <a16:creationId xmlns:a16="http://schemas.microsoft.com/office/drawing/2014/main" id="{D5B2E983-FA97-4FAD-AA39-DCCB44EEA6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5554663"/>
            <a:ext cx="990600" cy="304800"/>
          </a:xfrm>
          <a:custGeom>
            <a:avLst/>
            <a:gdLst>
              <a:gd name="T0" fmla="*/ 16200 w 21600"/>
              <a:gd name="T1" fmla="*/ 0 h 21600"/>
              <a:gd name="T2" fmla="*/ 16200 w 21600"/>
              <a:gd name="T3" fmla="*/ 5400 h 21600"/>
              <a:gd name="T4" fmla="*/ 3375 w 21600"/>
              <a:gd name="T5" fmla="*/ 5400 h 21600"/>
              <a:gd name="T6" fmla="*/ 3375 w 21600"/>
              <a:gd name="T7" fmla="*/ 16200 h 21600"/>
              <a:gd name="T8" fmla="*/ 16200 w 21600"/>
              <a:gd name="T9" fmla="*/ 16200 h 21600"/>
              <a:gd name="T10" fmla="*/ 16200 w 21600"/>
              <a:gd name="T11" fmla="*/ 21600 h 21600"/>
              <a:gd name="T12" fmla="*/ 21600 w 21600"/>
              <a:gd name="T13" fmla="*/ 10800 h 21600"/>
              <a:gd name="T14" fmla="*/ 16200 w 21600"/>
              <a:gd name="T15" fmla="*/ 0 h 21600"/>
              <a:gd name="T16" fmla="*/ 1350 w 21600"/>
              <a:gd name="T17" fmla="*/ 5400 h 21600"/>
              <a:gd name="T18" fmla="*/ 1350 w 21600"/>
              <a:gd name="T19" fmla="*/ 16200 h 21600"/>
              <a:gd name="T20" fmla="*/ 2700 w 21600"/>
              <a:gd name="T21" fmla="*/ 16200 h 21600"/>
              <a:gd name="T22" fmla="*/ 2700 w 21600"/>
              <a:gd name="T23" fmla="*/ 5400 h 21600"/>
              <a:gd name="T24" fmla="*/ 1350 w 21600"/>
              <a:gd name="T25" fmla="*/ 5400 h 21600"/>
              <a:gd name="T26" fmla="*/ 0 w 21600"/>
              <a:gd name="T27" fmla="*/ 5400 h 21600"/>
              <a:gd name="T28" fmla="*/ 0 w 21600"/>
              <a:gd name="T29" fmla="*/ 16200 h 21600"/>
              <a:gd name="T30" fmla="*/ 675 w 21600"/>
              <a:gd name="T31" fmla="*/ 16200 h 21600"/>
              <a:gd name="T32" fmla="*/ 675 w 21600"/>
              <a:gd name="T33" fmla="*/ 5400 h 21600"/>
              <a:gd name="T34" fmla="*/ 0 w 21600"/>
              <a:gd name="T35" fmla="*/ 54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FF99CC">
              <a:alpha val="85881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0" hangingPunct="0"/>
            <a:endParaRPr lang="zh-CN" altLang="en-US"/>
          </a:p>
        </p:txBody>
      </p:sp>
      <p:sp>
        <p:nvSpPr>
          <p:cNvPr id="33822" name="Rectangle 30">
            <a:extLst>
              <a:ext uri="{FF2B5EF4-FFF2-40B4-BE49-F238E27FC236}">
                <a16:creationId xmlns:a16="http://schemas.microsoft.com/office/drawing/2014/main" id="{CED25B0B-B038-47CE-9C6B-1A50895562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5938" y="1643063"/>
            <a:ext cx="5857875" cy="928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lnSpc>
                <a:spcPct val="80000"/>
              </a:lnSpc>
            </a:pPr>
            <a:r>
              <a:rPr lang="en-US" altLang="zh-CN" sz="3000">
                <a:solidFill>
                  <a:srgbClr val="00FF00"/>
                </a:solidFill>
                <a:ea typeface="黑体" panose="02010609060101010101" pitchFamily="49" charset="-122"/>
              </a:rPr>
              <a:t>§16.5 </a:t>
            </a:r>
            <a:r>
              <a:rPr lang="en-US" altLang="zh-CN" sz="3000">
                <a:solidFill>
                  <a:srgbClr val="00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3000">
                <a:solidFill>
                  <a:srgbClr val="00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微观粒子的波粒二象性</a:t>
            </a:r>
            <a:endParaRPr lang="zh-CN" altLang="en-US" sz="3000">
              <a:solidFill>
                <a:srgbClr val="FFCC66"/>
              </a:solidFill>
            </a:endParaRPr>
          </a:p>
        </p:txBody>
      </p:sp>
      <p:grpSp>
        <p:nvGrpSpPr>
          <p:cNvPr id="3" name="Group 31">
            <a:extLst>
              <a:ext uri="{FF2B5EF4-FFF2-40B4-BE49-F238E27FC236}">
                <a16:creationId xmlns:a16="http://schemas.microsoft.com/office/drawing/2014/main" id="{20ECCBCF-696D-47C7-B1B8-56853B72672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143000" y="4749800"/>
            <a:ext cx="1582738" cy="669925"/>
            <a:chOff x="624" y="2880"/>
            <a:chExt cx="1248" cy="528"/>
          </a:xfrm>
        </p:grpSpPr>
        <p:sp>
          <p:nvSpPr>
            <p:cNvPr id="23583" name="Rectangle 32">
              <a:extLst>
                <a:ext uri="{FF2B5EF4-FFF2-40B4-BE49-F238E27FC236}">
                  <a16:creationId xmlns:a16="http://schemas.microsoft.com/office/drawing/2014/main" id="{74E56826-7934-4AA8-B4A6-E9FB64D82BD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24" y="2880"/>
              <a:ext cx="1248" cy="5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graphicFrame>
          <p:nvGraphicFramePr>
            <p:cNvPr id="23584" name="Object 4">
              <a:extLst>
                <a:ext uri="{FF2B5EF4-FFF2-40B4-BE49-F238E27FC236}">
                  <a16:creationId xmlns:a16="http://schemas.microsoft.com/office/drawing/2014/main" id="{B5DE0CC4-FBF9-4D8D-AAF3-81AE3026E1D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72" y="2880"/>
            <a:ext cx="1152" cy="5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8485" r:id="rId9" imgW="1973520" imgH="940680" progId="Equation.3">
                    <p:embed/>
                  </p:oleObj>
                </mc:Choice>
                <mc:Fallback>
                  <p:oleObj r:id="rId9" imgW="1973520" imgH="940680" progId="Equation.3">
                    <p:embed/>
                    <p:pic>
                      <p:nvPicPr>
                        <p:cNvPr id="23584" name="Object 4">
                          <a:extLst>
                            <a:ext uri="{FF2B5EF4-FFF2-40B4-BE49-F238E27FC236}">
                              <a16:creationId xmlns:a16="http://schemas.microsoft.com/office/drawing/2014/main" id="{B5DE0CC4-FBF9-4D8D-AAF3-81AE3026E1D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2" y="2880"/>
                          <a:ext cx="1152" cy="5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3826" name="Rectangle 34">
            <a:extLst>
              <a:ext uri="{FF2B5EF4-FFF2-40B4-BE49-F238E27FC236}">
                <a16:creationId xmlns:a16="http://schemas.microsoft.com/office/drawing/2014/main" id="{DFA53EBC-7371-4A8D-9E11-2E8BDB1D3D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8450" y="5924550"/>
            <a:ext cx="14747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>
                <a:solidFill>
                  <a:schemeClr val="bg1"/>
                </a:solidFill>
                <a:ea typeface="华文新魏" panose="02010800040101010101" pitchFamily="2" charset="-122"/>
              </a:rPr>
              <a:t>频率</a:t>
            </a:r>
          </a:p>
        </p:txBody>
      </p:sp>
      <p:sp>
        <p:nvSpPr>
          <p:cNvPr id="33827" name="Rectangle 35">
            <a:extLst>
              <a:ext uri="{FF2B5EF4-FFF2-40B4-BE49-F238E27FC236}">
                <a16:creationId xmlns:a16="http://schemas.microsoft.com/office/drawing/2014/main" id="{2AA32AD1-B9D2-4D24-A8AF-6E8C182BB0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8450" y="4986338"/>
            <a:ext cx="793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en-US">
                <a:solidFill>
                  <a:schemeClr val="bg1"/>
                </a:solidFill>
                <a:ea typeface="华文新魏" panose="02010800040101010101" pitchFamily="2" charset="-122"/>
              </a:rPr>
              <a:t>波长</a:t>
            </a:r>
          </a:p>
        </p:txBody>
      </p:sp>
      <p:sp>
        <p:nvSpPr>
          <p:cNvPr id="33828" name="Rectangle 36">
            <a:extLst>
              <a:ext uri="{FF2B5EF4-FFF2-40B4-BE49-F238E27FC236}">
                <a16:creationId xmlns:a16="http://schemas.microsoft.com/office/drawing/2014/main" id="{78FE7D13-6A70-4EA5-90A1-EA79EF34B4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3663" y="755650"/>
            <a:ext cx="3587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altLang="zh-CN" i="1">
                <a:solidFill>
                  <a:srgbClr val="FF0000"/>
                </a:solidFill>
              </a:rPr>
              <a:t>+</a:t>
            </a:r>
          </a:p>
        </p:txBody>
      </p:sp>
      <p:sp>
        <p:nvSpPr>
          <p:cNvPr id="33829" name="Rectangle 37">
            <a:extLst>
              <a:ext uri="{FF2B5EF4-FFF2-40B4-BE49-F238E27FC236}">
                <a16:creationId xmlns:a16="http://schemas.microsoft.com/office/drawing/2014/main" id="{32F11315-CB4A-4543-AB6E-AF7DE83597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3100" y="1246188"/>
            <a:ext cx="12715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2000">
                <a:solidFill>
                  <a:srgbClr val="00FF99"/>
                </a:solidFill>
              </a:rPr>
              <a:t>实物粒子</a:t>
            </a:r>
          </a:p>
        </p:txBody>
      </p:sp>
      <p:sp>
        <p:nvSpPr>
          <p:cNvPr id="33831" name="Rectangle 39">
            <a:extLst>
              <a:ext uri="{FF2B5EF4-FFF2-40B4-BE49-F238E27FC236}">
                <a16:creationId xmlns:a16="http://schemas.microsoft.com/office/drawing/2014/main" id="{9380019A-951D-4E98-B2EC-5DCB1941E8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35450" y="1247775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altLang="zh-CN" i="1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33834" name="Rectangle 42">
            <a:extLst>
              <a:ext uri="{FF2B5EF4-FFF2-40B4-BE49-F238E27FC236}">
                <a16:creationId xmlns:a16="http://schemas.microsoft.com/office/drawing/2014/main" id="{0F93122E-089A-40D4-B9CA-8D3BD52D10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2913" y="714375"/>
            <a:ext cx="3587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altLang="zh-CN" i="1">
                <a:solidFill>
                  <a:srgbClr val="FF0000"/>
                </a:solidFill>
              </a:rPr>
              <a:t>+</a:t>
            </a:r>
          </a:p>
        </p:txBody>
      </p:sp>
      <p:sp>
        <p:nvSpPr>
          <p:cNvPr id="33835" name="Rectangle 43">
            <a:extLst>
              <a:ext uri="{FF2B5EF4-FFF2-40B4-BE49-F238E27FC236}">
                <a16:creationId xmlns:a16="http://schemas.microsoft.com/office/drawing/2014/main" id="{9D5915FE-4B0F-430F-9557-EF80D8AF96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3663" y="1260475"/>
            <a:ext cx="3587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altLang="zh-CN" i="1">
                <a:solidFill>
                  <a:srgbClr val="FF0000"/>
                </a:solidFill>
              </a:rPr>
              <a:t>+</a:t>
            </a:r>
          </a:p>
        </p:txBody>
      </p:sp>
      <p:sp>
        <p:nvSpPr>
          <p:cNvPr id="23592" name="灯片编号占位符 1">
            <a:extLst>
              <a:ext uri="{FF2B5EF4-FFF2-40B4-BE49-F238E27FC236}">
                <a16:creationId xmlns:a16="http://schemas.microsoft.com/office/drawing/2014/main" id="{36FC9EA2-6C61-4763-BA0D-7EEBFD19A5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E2755CF9-77DF-4BC2-B7C5-BA057E656726}" type="slidenum">
              <a:rPr lang="en-US" altLang="zh-CN" b="0" smtClean="0">
                <a:solidFill>
                  <a:srgbClr val="FF00FF"/>
                </a:solidFill>
              </a:rPr>
              <a:pPr/>
              <a:t>17</a:t>
            </a:fld>
            <a:r>
              <a:rPr lang="en-US" altLang="zh-CN" b="0" dirty="0">
                <a:solidFill>
                  <a:srgbClr val="FF00FF"/>
                </a:solidFill>
              </a:rPr>
              <a:t>/28</a:t>
            </a:r>
          </a:p>
        </p:txBody>
      </p:sp>
      <p:sp>
        <p:nvSpPr>
          <p:cNvPr id="25" name="Rectangle 4">
            <a:extLst>
              <a:ext uri="{FF2B5EF4-FFF2-40B4-BE49-F238E27FC236}">
                <a16:creationId xmlns:a16="http://schemas.microsoft.com/office/drawing/2014/main" id="{243A1B76-DD3A-4743-8539-4E0FB8480E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3500438"/>
            <a:ext cx="8104188" cy="101282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 algn="just">
              <a:lnSpc>
                <a:spcPts val="3800"/>
              </a:lnSpc>
            </a:pPr>
            <a:r>
              <a:rPr lang="zh-CN" altLang="en-US">
                <a:solidFill>
                  <a:schemeClr val="bg1"/>
                </a:solidFill>
                <a:latin typeface="华文中宋" panose="02010600040101010101" pitchFamily="2" charset="-122"/>
              </a:rPr>
              <a:t>质量为 </a:t>
            </a:r>
            <a:r>
              <a:rPr lang="en-US" altLang="zh-CN" i="1">
                <a:solidFill>
                  <a:srgbClr val="FFFF00"/>
                </a:solidFill>
              </a:rPr>
              <a:t>m</a:t>
            </a:r>
            <a:r>
              <a:rPr lang="en-US" altLang="zh-CN" i="1">
                <a:solidFill>
                  <a:schemeClr val="bg1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</a:rPr>
              <a:t>实物粒子以速率 </a:t>
            </a:r>
            <a:r>
              <a:rPr lang="en-US" altLang="zh-CN" i="1">
                <a:solidFill>
                  <a:srgbClr val="FFFF00"/>
                </a:solidFill>
              </a:rPr>
              <a:t>v</a:t>
            </a:r>
            <a:r>
              <a:rPr lang="en-US" altLang="zh-CN" i="1">
                <a:solidFill>
                  <a:schemeClr val="bg1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</a:rPr>
              <a:t>运动，既具有以能量 </a:t>
            </a:r>
            <a:r>
              <a:rPr lang="en-US" altLang="zh-CN" i="1">
                <a:solidFill>
                  <a:srgbClr val="FFFF00"/>
                </a:solidFill>
              </a:rPr>
              <a:t>E</a:t>
            </a:r>
            <a:r>
              <a:rPr lang="en-US" altLang="zh-CN" i="1">
                <a:solidFill>
                  <a:schemeClr val="bg1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</a:rPr>
              <a:t>和动量 </a:t>
            </a:r>
            <a:r>
              <a:rPr lang="en-US" altLang="zh-CN" i="1">
                <a:solidFill>
                  <a:srgbClr val="FFFF00"/>
                </a:solidFill>
              </a:rPr>
              <a:t>p</a:t>
            </a:r>
            <a:r>
              <a:rPr lang="en-US" altLang="zh-CN" i="1">
                <a:solidFill>
                  <a:schemeClr val="bg1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</a:rPr>
              <a:t>描述的粒子性，也具有以频率 </a:t>
            </a:r>
            <a:r>
              <a:rPr lang="el-GR" altLang="zh-CN" i="1">
                <a:solidFill>
                  <a:srgbClr val="FFFF00"/>
                </a:solidFill>
              </a:rPr>
              <a:t>ν</a:t>
            </a:r>
            <a:r>
              <a:rPr lang="en-US" altLang="zh-CN" i="1">
                <a:solidFill>
                  <a:schemeClr val="bg1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</a:rPr>
              <a:t>和波长 </a:t>
            </a:r>
            <a:r>
              <a:rPr lang="el-GR" altLang="zh-CN" i="1">
                <a:solidFill>
                  <a:srgbClr val="FFFF00"/>
                </a:solidFill>
              </a:rPr>
              <a:t>λ</a:t>
            </a:r>
            <a:r>
              <a:rPr lang="en-US" altLang="zh-CN" i="1">
                <a:solidFill>
                  <a:schemeClr val="bg1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</a:rPr>
              <a:t>描述的波动性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3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33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338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3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3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33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33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2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38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38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38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38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33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4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6" dur="500"/>
                                        <p:tgtEl>
                                          <p:spTgt spid="33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33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3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5" dur="500"/>
                                        <p:tgtEl>
                                          <p:spTgt spid="33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4" grpId="0" animBg="1"/>
      <p:bldP spid="33795" grpId="0" animBg="1"/>
      <p:bldP spid="33796" grpId="0"/>
      <p:bldP spid="33817" grpId="0"/>
      <p:bldP spid="33826" grpId="0"/>
      <p:bldP spid="33827" grpId="0"/>
      <p:bldP spid="33828" grpId="0"/>
      <p:bldP spid="33829" grpId="0"/>
      <p:bldP spid="33831" grpId="0"/>
      <p:bldP spid="33834" grpId="0"/>
      <p:bldP spid="33835" grpId="0"/>
      <p:bldP spid="2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ext Box 2">
            <a:extLst>
              <a:ext uri="{FF2B5EF4-FFF2-40B4-BE49-F238E27FC236}">
                <a16:creationId xmlns:a16="http://schemas.microsoft.com/office/drawing/2014/main" id="{9058A320-E97E-46B6-9A41-9E54A3B70D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513" y="642938"/>
            <a:ext cx="79327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</a:pPr>
            <a:r>
              <a:rPr lang="zh-CN" altLang="en-US" sz="2800">
                <a:solidFill>
                  <a:srgbClr val="00FFFF"/>
                </a:solidFill>
                <a:ea typeface="楷体_GB2312" pitchFamily="49" charset="-122"/>
              </a:rPr>
              <a:t>德布罗意 </a:t>
            </a:r>
            <a:r>
              <a:rPr lang="en-US" altLang="zh-CN" sz="2800">
                <a:solidFill>
                  <a:srgbClr val="00FFFF"/>
                </a:solidFill>
                <a:ea typeface="楷体_GB2312" pitchFamily="49" charset="-122"/>
              </a:rPr>
              <a:t>(Louis Victor due de Broglie, 1892-1987) </a:t>
            </a:r>
          </a:p>
        </p:txBody>
      </p:sp>
      <p:sp>
        <p:nvSpPr>
          <p:cNvPr id="24578" name="Line 3">
            <a:extLst>
              <a:ext uri="{FF2B5EF4-FFF2-40B4-BE49-F238E27FC236}">
                <a16:creationId xmlns:a16="http://schemas.microsoft.com/office/drawing/2014/main" id="{653C4DCD-278F-4B0C-A073-A3C738775FC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79388" y="1357313"/>
            <a:ext cx="8748712" cy="17462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4579" name="Picture 4">
            <a:extLst>
              <a:ext uri="{FF2B5EF4-FFF2-40B4-BE49-F238E27FC236}">
                <a16:creationId xmlns:a16="http://schemas.microsoft.com/office/drawing/2014/main" id="{7DBA5354-FB85-4F44-AD5A-B0CD4A359C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00" y="1857375"/>
            <a:ext cx="2454275" cy="310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0" name="Text Box 5">
            <a:extLst>
              <a:ext uri="{FF2B5EF4-FFF2-40B4-BE49-F238E27FC236}">
                <a16:creationId xmlns:a16="http://schemas.microsoft.com/office/drawing/2014/main" id="{F7EF7FD5-7CED-4E9F-99F7-E496497473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8288" y="1528763"/>
            <a:ext cx="6049962" cy="511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lang="zh-CN" altLang="en-US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    法国物理学家。</a:t>
            </a:r>
            <a:r>
              <a:rPr lang="en-US" altLang="zh-CN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1929</a:t>
            </a:r>
            <a:r>
              <a:rPr lang="zh-CN" altLang="en-US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年</a:t>
            </a:r>
            <a:r>
              <a:rPr lang="zh-CN" altLang="en-US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诺贝尔物理学奖获得者，波动力学的创始人，量子力学的奠基人之一。</a:t>
            </a:r>
            <a:r>
              <a:rPr lang="zh-CN" altLang="en-US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</a:p>
          <a:p>
            <a:pPr>
              <a:spcBef>
                <a:spcPct val="20000"/>
              </a:spcBef>
            </a:pPr>
            <a:r>
              <a:rPr lang="zh-CN" altLang="en-US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    德布罗意原来学习历史，后来改学理论物理学。他善于用历史的观点，用对比的方法分析问题。</a:t>
            </a:r>
          </a:p>
          <a:p>
            <a:pPr>
              <a:spcBef>
                <a:spcPct val="20000"/>
              </a:spcBef>
            </a:pPr>
            <a:r>
              <a:rPr lang="zh-CN" altLang="en-US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    </a:t>
            </a:r>
            <a:r>
              <a:rPr lang="en-US" altLang="zh-CN">
                <a:solidFill>
                  <a:srgbClr val="FFFF00"/>
                </a:solidFill>
                <a:ea typeface="华文中宋" panose="02010600040101010101" pitchFamily="2" charset="-122"/>
              </a:rPr>
              <a:t>1923</a:t>
            </a:r>
            <a:r>
              <a:rPr lang="zh-CN" altLang="en-US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年</a:t>
            </a:r>
            <a:r>
              <a:rPr lang="zh-CN" altLang="en-US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，德布罗意试图把粒子性和波动性统一起来。</a:t>
            </a:r>
            <a:r>
              <a:rPr lang="en-US" altLang="zh-CN">
                <a:solidFill>
                  <a:srgbClr val="FFFF00"/>
                </a:solidFill>
                <a:ea typeface="华文中宋" panose="02010600040101010101" pitchFamily="2" charset="-122"/>
              </a:rPr>
              <a:t>1924</a:t>
            </a:r>
            <a:r>
              <a:rPr lang="zh-CN" altLang="en-US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年</a:t>
            </a:r>
            <a:r>
              <a:rPr lang="zh-CN" altLang="en-US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，在博士论文</a:t>
            </a:r>
            <a:r>
              <a:rPr lang="en-US" altLang="zh-CN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《</a:t>
            </a:r>
            <a:r>
              <a:rPr lang="zh-CN" altLang="en-US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关于量子理论的研究</a:t>
            </a:r>
            <a:r>
              <a:rPr lang="en-US" altLang="zh-CN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》</a:t>
            </a:r>
            <a:r>
              <a:rPr lang="zh-CN" altLang="en-US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中</a:t>
            </a:r>
            <a:r>
              <a:rPr lang="zh-CN" altLang="en-US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提出德布罗意波</a:t>
            </a:r>
            <a:r>
              <a:rPr lang="zh-CN" altLang="en-US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，同时</a:t>
            </a:r>
            <a:r>
              <a:rPr lang="zh-CN" altLang="en-US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预言电子在晶体上作衍射实验的想法</a:t>
            </a:r>
            <a:r>
              <a:rPr lang="zh-CN" altLang="en-US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。</a:t>
            </a:r>
          </a:p>
          <a:p>
            <a:pPr>
              <a:spcBef>
                <a:spcPct val="20000"/>
              </a:spcBef>
            </a:pPr>
            <a:r>
              <a:rPr lang="zh-CN" altLang="en-US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    爱因斯坦觉察到德布罗意物质波思想的重大意义，誉之为“揭开自然界巨大帷幕的一角”。</a:t>
            </a:r>
          </a:p>
        </p:txBody>
      </p:sp>
      <p:sp>
        <p:nvSpPr>
          <p:cNvPr id="24581" name="灯片编号占位符 1">
            <a:extLst>
              <a:ext uri="{FF2B5EF4-FFF2-40B4-BE49-F238E27FC236}">
                <a16:creationId xmlns:a16="http://schemas.microsoft.com/office/drawing/2014/main" id="{E02B3A78-2362-4966-A240-1F4759F4B4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305C9B3A-27ED-4D4C-92DF-C2C60CA12102}" type="slidenum">
              <a:rPr lang="en-US" altLang="zh-CN" b="0" smtClean="0">
                <a:solidFill>
                  <a:srgbClr val="FF00FF"/>
                </a:solidFill>
              </a:rPr>
              <a:pPr/>
              <a:t>18</a:t>
            </a:fld>
            <a:r>
              <a:rPr lang="en-US" altLang="zh-CN" b="0" dirty="0">
                <a:solidFill>
                  <a:srgbClr val="FF00FF"/>
                </a:solidFill>
              </a:rPr>
              <a:t>/28</a:t>
            </a:r>
          </a:p>
        </p:txBody>
      </p:sp>
      <p:sp>
        <p:nvSpPr>
          <p:cNvPr id="24582" name="Text Box 2">
            <a:extLst>
              <a:ext uri="{FF2B5EF4-FFF2-40B4-BE49-F238E27FC236}">
                <a16:creationId xmlns:a16="http://schemas.microsoft.com/office/drawing/2014/main" id="{AE34E075-8A7D-4580-A477-18DF2C8DF0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263" y="5148263"/>
            <a:ext cx="1870075" cy="1138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0" hangingPunct="0">
              <a:spcBef>
                <a:spcPct val="20000"/>
              </a:spcBef>
            </a:pPr>
            <a:r>
              <a:rPr lang="zh-CN" altLang="en-US" sz="2000">
                <a:solidFill>
                  <a:schemeClr val="bg1"/>
                </a:solidFill>
                <a:latin typeface="宋体" panose="02010600030101010101" pitchFamily="2" charset="-122"/>
              </a:rPr>
              <a:t>德布罗意</a:t>
            </a:r>
            <a:endParaRPr lang="en-US" altLang="zh-CN" sz="2000">
              <a:solidFill>
                <a:schemeClr val="bg1"/>
              </a:solidFill>
              <a:latin typeface="宋体" panose="02010600030101010101" pitchFamily="2" charset="-122"/>
            </a:endParaRPr>
          </a:p>
          <a:p>
            <a:pPr algn="ctr" eaLnBrk="0" hangingPunct="0">
              <a:spcBef>
                <a:spcPct val="20000"/>
              </a:spcBef>
            </a:pPr>
            <a:r>
              <a:rPr lang="zh-CN" altLang="en-US" sz="2000">
                <a:solidFill>
                  <a:schemeClr val="bg1"/>
                </a:solidFill>
                <a:latin typeface="宋体" panose="02010600030101010101" pitchFamily="2" charset="-122"/>
              </a:rPr>
              <a:t>法国物理学家 </a:t>
            </a:r>
            <a:endParaRPr lang="en-US" altLang="zh-CN" sz="2000">
              <a:solidFill>
                <a:schemeClr val="bg1"/>
              </a:solidFill>
              <a:latin typeface="宋体" panose="02010600030101010101" pitchFamily="2" charset="-122"/>
            </a:endParaRPr>
          </a:p>
          <a:p>
            <a:pPr algn="ctr" eaLnBrk="0" hangingPunct="0">
              <a:spcBef>
                <a:spcPct val="20000"/>
              </a:spcBef>
            </a:pPr>
            <a:r>
              <a:rPr lang="zh-CN" altLang="en-US" sz="2000">
                <a:solidFill>
                  <a:schemeClr val="bg1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2000">
                <a:solidFill>
                  <a:schemeClr val="bg1"/>
                </a:solidFill>
                <a:latin typeface="宋体" panose="02010600030101010101" pitchFamily="2" charset="-122"/>
              </a:rPr>
              <a:t>1892-1987</a:t>
            </a:r>
            <a:r>
              <a:rPr lang="zh-CN" altLang="en-US" sz="2000">
                <a:solidFill>
                  <a:schemeClr val="bg1"/>
                </a:solidFill>
                <a:latin typeface="宋体" panose="02010600030101010101" pitchFamily="2" charset="-122"/>
              </a:rPr>
              <a:t>）</a:t>
            </a:r>
            <a:endParaRPr lang="en-US" altLang="zh-CN" sz="2000">
              <a:solidFill>
                <a:schemeClr val="bg1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14" name="Rectangle 10">
            <a:extLst>
              <a:ext uri="{FF2B5EF4-FFF2-40B4-BE49-F238E27FC236}">
                <a16:creationId xmlns:a16="http://schemas.microsoft.com/office/drawing/2014/main" id="{6FDD658D-2BFB-4B85-AAE5-78E33A6570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768600"/>
            <a:ext cx="8029575" cy="1089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>
              <a:lnSpc>
                <a:spcPct val="135000"/>
              </a:lnSpc>
            </a:pPr>
            <a:r>
              <a:rPr lang="zh-CN" altLang="en-US">
                <a:solidFill>
                  <a:srgbClr val="FFFFFF"/>
                </a:solidFill>
              </a:rPr>
              <a:t>计算经过电势差 </a:t>
            </a:r>
            <a:r>
              <a:rPr lang="en-US" altLang="zh-CN" i="1">
                <a:solidFill>
                  <a:srgbClr val="00FFFF"/>
                </a:solidFill>
              </a:rPr>
              <a:t>U</a:t>
            </a:r>
            <a:r>
              <a:rPr lang="en-US" altLang="zh-CN" baseline="-20000">
                <a:solidFill>
                  <a:srgbClr val="00FFFF"/>
                </a:solidFill>
              </a:rPr>
              <a:t>1</a:t>
            </a:r>
            <a:r>
              <a:rPr lang="en-US" altLang="zh-CN" i="1">
                <a:solidFill>
                  <a:srgbClr val="00FFFF"/>
                </a:solidFill>
              </a:rPr>
              <a:t> </a:t>
            </a:r>
            <a:r>
              <a:rPr lang="en-US" altLang="zh-CN">
                <a:solidFill>
                  <a:srgbClr val="00FFFF"/>
                </a:solidFill>
              </a:rPr>
              <a:t>=150 V</a:t>
            </a:r>
            <a:r>
              <a:rPr lang="en-US" altLang="zh-CN">
                <a:solidFill>
                  <a:srgbClr val="FFFF00"/>
                </a:solidFill>
              </a:rPr>
              <a:t> </a:t>
            </a:r>
            <a:r>
              <a:rPr lang="zh-CN" altLang="en-US">
                <a:solidFill>
                  <a:srgbClr val="FFFFFF"/>
                </a:solidFill>
              </a:rPr>
              <a:t>和 </a:t>
            </a:r>
            <a:r>
              <a:rPr lang="en-US" altLang="zh-CN" i="1">
                <a:solidFill>
                  <a:srgbClr val="00FFFF"/>
                </a:solidFill>
              </a:rPr>
              <a:t>U</a:t>
            </a:r>
            <a:r>
              <a:rPr lang="en-US" altLang="zh-CN" baseline="-20000">
                <a:solidFill>
                  <a:srgbClr val="00FFFF"/>
                </a:solidFill>
              </a:rPr>
              <a:t>2 </a:t>
            </a:r>
            <a:r>
              <a:rPr lang="en-US" altLang="zh-CN">
                <a:solidFill>
                  <a:srgbClr val="00FFFF"/>
                </a:solidFill>
              </a:rPr>
              <a:t>=10</a:t>
            </a:r>
            <a:r>
              <a:rPr lang="en-US" altLang="zh-CN" baseline="30000">
                <a:solidFill>
                  <a:srgbClr val="00FFFF"/>
                </a:solidFill>
              </a:rPr>
              <a:t>4  </a:t>
            </a:r>
            <a:r>
              <a:rPr lang="en-US" altLang="zh-CN">
                <a:solidFill>
                  <a:srgbClr val="00FFFF"/>
                </a:solidFill>
              </a:rPr>
              <a:t>V</a:t>
            </a:r>
            <a:r>
              <a:rPr lang="en-US" altLang="zh-CN">
                <a:solidFill>
                  <a:srgbClr val="FFFF00"/>
                </a:solidFill>
              </a:rPr>
              <a:t> </a:t>
            </a:r>
            <a:r>
              <a:rPr lang="zh-CN" altLang="en-US">
                <a:solidFill>
                  <a:srgbClr val="FFFFFF"/>
                </a:solidFill>
              </a:rPr>
              <a:t>加速的电子的德布罗意波长（不考虑相对论效应）。</a:t>
            </a:r>
          </a:p>
        </p:txBody>
      </p:sp>
      <p:sp>
        <p:nvSpPr>
          <p:cNvPr id="72715" name="Rectangle 11">
            <a:extLst>
              <a:ext uri="{FF2B5EF4-FFF2-40B4-BE49-F238E27FC236}">
                <a16:creationId xmlns:a16="http://schemas.microsoft.com/office/drawing/2014/main" id="{0D4BCEC9-9305-4FDD-BCFC-9E6C35DCE8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388" y="2882900"/>
            <a:ext cx="5762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zh-CN" altLang="en-US">
                <a:solidFill>
                  <a:srgbClr val="FFFF00"/>
                </a:solidFill>
                <a:latin typeface="Arial" panose="020B0604020202020204" pitchFamily="34" charset="0"/>
              </a:rPr>
              <a:t>例</a:t>
            </a:r>
            <a:r>
              <a:rPr lang="zh-CN" altLang="en-US" b="0">
                <a:solidFill>
                  <a:srgbClr val="FFFF00"/>
                </a:solidFill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72716" name="Rectangle 12">
            <a:extLst>
              <a:ext uri="{FF2B5EF4-FFF2-40B4-BE49-F238E27FC236}">
                <a16:creationId xmlns:a16="http://schemas.microsoft.com/office/drawing/2014/main" id="{ACD988F4-74D1-404D-9DF7-3A428D5CAD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941763"/>
            <a:ext cx="5762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zh-CN" altLang="en-US">
                <a:solidFill>
                  <a:srgbClr val="FFFF00"/>
                </a:solidFill>
                <a:latin typeface="Arial" panose="020B0604020202020204" pitchFamily="34" charset="0"/>
              </a:rPr>
              <a:t>解</a:t>
            </a:r>
            <a:r>
              <a:rPr lang="zh-CN" altLang="en-US" b="0">
                <a:solidFill>
                  <a:srgbClr val="FFFF00"/>
                </a:solidFill>
                <a:latin typeface="Arial" panose="020B0604020202020204" pitchFamily="34" charset="0"/>
              </a:rPr>
              <a:t> </a:t>
            </a:r>
          </a:p>
        </p:txBody>
      </p:sp>
      <p:graphicFrame>
        <p:nvGraphicFramePr>
          <p:cNvPr id="72717" name="Object 5">
            <a:extLst>
              <a:ext uri="{FF2B5EF4-FFF2-40B4-BE49-F238E27FC236}">
                <a16:creationId xmlns:a16="http://schemas.microsoft.com/office/drawing/2014/main" id="{7DF4FA1E-AC4F-4907-AD8C-BF87163F300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19250" y="3871913"/>
          <a:ext cx="144145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9554" r:id="rId3" imgW="2085480" imgH="940680" progId="Equation.3">
                  <p:embed/>
                </p:oleObj>
              </mc:Choice>
              <mc:Fallback>
                <p:oleObj r:id="rId3" imgW="2085480" imgH="940680" progId="Equation.3">
                  <p:embed/>
                  <p:pic>
                    <p:nvPicPr>
                      <p:cNvPr id="72717" name="Object 5">
                        <a:extLst>
                          <a:ext uri="{FF2B5EF4-FFF2-40B4-BE49-F238E27FC236}">
                            <a16:creationId xmlns:a16="http://schemas.microsoft.com/office/drawing/2014/main" id="{7DF4FA1E-AC4F-4907-AD8C-BF87163F300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3871913"/>
                        <a:ext cx="144145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18" name="Object 6">
            <a:extLst>
              <a:ext uri="{FF2B5EF4-FFF2-40B4-BE49-F238E27FC236}">
                <a16:creationId xmlns:a16="http://schemas.microsoft.com/office/drawing/2014/main" id="{E8A30194-3E08-4CA4-9F53-7ECB1714BD7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45250" y="3857625"/>
          <a:ext cx="1198563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9555" r:id="rId5" imgW="1726560" imgH="1097640" progId="Equation.3">
                  <p:embed/>
                </p:oleObj>
              </mc:Choice>
              <mc:Fallback>
                <p:oleObj r:id="rId5" imgW="1726560" imgH="1097640" progId="Equation.3">
                  <p:embed/>
                  <p:pic>
                    <p:nvPicPr>
                      <p:cNvPr id="72718" name="Object 6">
                        <a:extLst>
                          <a:ext uri="{FF2B5EF4-FFF2-40B4-BE49-F238E27FC236}">
                            <a16:creationId xmlns:a16="http://schemas.microsoft.com/office/drawing/2014/main" id="{E8A30194-3E08-4CA4-9F53-7ECB1714BD7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5250" y="3857625"/>
                        <a:ext cx="1198563" cy="771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19" name="Object 7">
            <a:extLst>
              <a:ext uri="{FF2B5EF4-FFF2-40B4-BE49-F238E27FC236}">
                <a16:creationId xmlns:a16="http://schemas.microsoft.com/office/drawing/2014/main" id="{229A0713-0190-4415-B9B2-B3CD265E18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71625" y="5259388"/>
          <a:ext cx="3990975" cy="741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9556" r:id="rId7" imgW="5841720" imgH="1052640" progId="Equation.3">
                  <p:embed/>
                </p:oleObj>
              </mc:Choice>
              <mc:Fallback>
                <p:oleObj r:id="rId7" imgW="5841720" imgH="1052640" progId="Equation.3">
                  <p:embed/>
                  <p:pic>
                    <p:nvPicPr>
                      <p:cNvPr id="72719" name="Object 7">
                        <a:extLst>
                          <a:ext uri="{FF2B5EF4-FFF2-40B4-BE49-F238E27FC236}">
                            <a16:creationId xmlns:a16="http://schemas.microsoft.com/office/drawing/2014/main" id="{229A0713-0190-4415-B9B2-B3CD265E18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1625" y="5259388"/>
                        <a:ext cx="3990975" cy="741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20" name="Object 8">
            <a:extLst>
              <a:ext uri="{FF2B5EF4-FFF2-40B4-BE49-F238E27FC236}">
                <a16:creationId xmlns:a16="http://schemas.microsoft.com/office/drawing/2014/main" id="{1B6792ED-4F79-4ECC-9210-8393569453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57463" y="6207125"/>
          <a:ext cx="1371600" cy="334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9557" r:id="rId9" imgW="1984680" imgH="459360" progId="Equation.3">
                  <p:embed/>
                </p:oleObj>
              </mc:Choice>
              <mc:Fallback>
                <p:oleObj r:id="rId9" imgW="1984680" imgH="459360" progId="Equation.3">
                  <p:embed/>
                  <p:pic>
                    <p:nvPicPr>
                      <p:cNvPr id="72720" name="Object 8">
                        <a:extLst>
                          <a:ext uri="{FF2B5EF4-FFF2-40B4-BE49-F238E27FC236}">
                            <a16:creationId xmlns:a16="http://schemas.microsoft.com/office/drawing/2014/main" id="{1B6792ED-4F79-4ECC-9210-83935694533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7463" y="6207125"/>
                        <a:ext cx="1371600" cy="334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21" name="Object 9">
            <a:extLst>
              <a:ext uri="{FF2B5EF4-FFF2-40B4-BE49-F238E27FC236}">
                <a16:creationId xmlns:a16="http://schemas.microsoft.com/office/drawing/2014/main" id="{B62F9398-4AC5-411E-B8B0-F350CA379CE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43375" y="6208713"/>
          <a:ext cx="1838325" cy="334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9558" r:id="rId11" imgW="2668680" imgH="459360" progId="Equation.3">
                  <p:embed/>
                </p:oleObj>
              </mc:Choice>
              <mc:Fallback>
                <p:oleObj r:id="rId11" imgW="2668680" imgH="459360" progId="Equation.3">
                  <p:embed/>
                  <p:pic>
                    <p:nvPicPr>
                      <p:cNvPr id="72721" name="Object 9">
                        <a:extLst>
                          <a:ext uri="{FF2B5EF4-FFF2-40B4-BE49-F238E27FC236}">
                            <a16:creationId xmlns:a16="http://schemas.microsoft.com/office/drawing/2014/main" id="{B62F9398-4AC5-411E-B8B0-F350CA379CE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3375" y="6208713"/>
                        <a:ext cx="1838325" cy="334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22" name="Text Box 18">
            <a:extLst>
              <a:ext uri="{FF2B5EF4-FFF2-40B4-BE49-F238E27FC236}">
                <a16:creationId xmlns:a16="http://schemas.microsoft.com/office/drawing/2014/main" id="{ACEB7B20-757D-497F-ABDA-DE4F9CEA34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" y="3911600"/>
            <a:ext cx="9683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0" hangingPunct="0"/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根据</a:t>
            </a:r>
          </a:p>
        </p:txBody>
      </p:sp>
      <p:sp>
        <p:nvSpPr>
          <p:cNvPr id="72723" name="Text Box 19">
            <a:extLst>
              <a:ext uri="{FF2B5EF4-FFF2-40B4-BE49-F238E27FC236}">
                <a16:creationId xmlns:a16="http://schemas.microsoft.com/office/drawing/2014/main" id="{63C987FF-6E22-4DA8-B50E-A457E3F6AA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0375" y="3937000"/>
            <a:ext cx="32781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，加速后电子的速度为</a:t>
            </a:r>
          </a:p>
        </p:txBody>
      </p:sp>
      <p:sp>
        <p:nvSpPr>
          <p:cNvPr id="72724" name="Text Box 20">
            <a:extLst>
              <a:ext uri="{FF2B5EF4-FFF2-40B4-BE49-F238E27FC236}">
                <a16:creationId xmlns:a16="http://schemas.microsoft.com/office/drawing/2014/main" id="{F1783FAE-0E00-4183-9443-270D3BB70E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250" y="4643438"/>
            <a:ext cx="73263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根据德布罗意关系 </a:t>
            </a:r>
            <a:r>
              <a:rPr lang="en-US" altLang="zh-CN" i="1">
                <a:solidFill>
                  <a:srgbClr val="66FFFF"/>
                </a:solidFill>
              </a:rPr>
              <a:t>p </a:t>
            </a:r>
            <a:r>
              <a:rPr lang="en-US" altLang="zh-CN">
                <a:solidFill>
                  <a:srgbClr val="66FFFF"/>
                </a:solidFill>
              </a:rPr>
              <a:t>= </a:t>
            </a:r>
            <a:r>
              <a:rPr lang="en-US" altLang="zh-CN" i="1">
                <a:solidFill>
                  <a:srgbClr val="66FFFF"/>
                </a:solidFill>
              </a:rPr>
              <a:t>h</a:t>
            </a:r>
            <a:r>
              <a:rPr lang="en-US" altLang="zh-CN">
                <a:solidFill>
                  <a:srgbClr val="66FFFF"/>
                </a:solidFill>
              </a:rPr>
              <a:t> /</a:t>
            </a:r>
            <a:r>
              <a:rPr lang="en-US" altLang="zh-CN" i="1">
                <a:solidFill>
                  <a:srgbClr val="66FFFF"/>
                </a:solidFill>
              </a:rPr>
              <a:t>λ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，电子的德布罗意波长为</a:t>
            </a:r>
          </a:p>
        </p:txBody>
      </p:sp>
      <p:sp>
        <p:nvSpPr>
          <p:cNvPr id="72725" name="Text Box 21">
            <a:extLst>
              <a:ext uri="{FF2B5EF4-FFF2-40B4-BE49-F238E27FC236}">
                <a16:creationId xmlns:a16="http://schemas.microsoft.com/office/drawing/2014/main" id="{46FE4FA2-C50E-4BDC-A483-279EDCFCDA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75" y="6115050"/>
            <a:ext cx="19129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波长分别为</a:t>
            </a:r>
          </a:p>
        </p:txBody>
      </p:sp>
      <p:sp>
        <p:nvSpPr>
          <p:cNvPr id="72726" name="AutoShape 22">
            <a:extLst>
              <a:ext uri="{FF2B5EF4-FFF2-40B4-BE49-F238E27FC236}">
                <a16:creationId xmlns:a16="http://schemas.microsoft.com/office/drawing/2014/main" id="{0CF213BB-02FD-4CD0-BFE2-AA73852793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9963" y="5264150"/>
            <a:ext cx="2736850" cy="950913"/>
          </a:xfrm>
          <a:prstGeom prst="wedgeRectCallout">
            <a:avLst>
              <a:gd name="adj1" fmla="val -49533"/>
              <a:gd name="adj2" fmla="val 68939"/>
            </a:avLst>
          </a:prstGeom>
          <a:solidFill>
            <a:srgbClr val="336699"/>
          </a:solidFill>
          <a:ln w="19050">
            <a:solidFill>
              <a:srgbClr val="FFCCFF"/>
            </a:solidFill>
            <a:miter lim="800000"/>
          </a:ln>
        </p:spPr>
        <p:txBody>
          <a:bodyPr/>
          <a:lstStyle/>
          <a:p>
            <a:pPr algn="ctr" eaLnBrk="0" hangingPunct="0"/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可以通过晶体衍射证实电子的波动性</a:t>
            </a:r>
          </a:p>
        </p:txBody>
      </p:sp>
      <p:sp>
        <p:nvSpPr>
          <p:cNvPr id="25614" name="灯片编号占位符 1">
            <a:extLst>
              <a:ext uri="{FF2B5EF4-FFF2-40B4-BE49-F238E27FC236}">
                <a16:creationId xmlns:a16="http://schemas.microsoft.com/office/drawing/2014/main" id="{AD4B909B-489A-4F3D-89A2-97EE24104A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19F23A2C-DD3A-49D2-B82D-2D0D507253DE}" type="slidenum">
              <a:rPr lang="en-US" altLang="zh-CN" b="0" smtClean="0">
                <a:solidFill>
                  <a:srgbClr val="FF00FF"/>
                </a:solidFill>
              </a:rPr>
              <a:pPr/>
              <a:t>19</a:t>
            </a:fld>
            <a:r>
              <a:rPr lang="en-US" altLang="zh-CN" b="0" dirty="0">
                <a:solidFill>
                  <a:srgbClr val="FF00FF"/>
                </a:solidFill>
              </a:rPr>
              <a:t>/28</a:t>
            </a:r>
          </a:p>
        </p:txBody>
      </p:sp>
      <p:sp>
        <p:nvSpPr>
          <p:cNvPr id="22" name="Rectangle 79">
            <a:extLst>
              <a:ext uri="{FF2B5EF4-FFF2-40B4-BE49-F238E27FC236}">
                <a16:creationId xmlns:a16="http://schemas.microsoft.com/office/drawing/2014/main" id="{A47A8E9F-0E1E-433F-BFEE-08B90C21D6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4788" y="257175"/>
            <a:ext cx="31242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非相对论效应情况下</a:t>
            </a:r>
          </a:p>
        </p:txBody>
      </p:sp>
      <p:graphicFrame>
        <p:nvGraphicFramePr>
          <p:cNvPr id="23" name="Object 22">
            <a:extLst>
              <a:ext uri="{FF2B5EF4-FFF2-40B4-BE49-F238E27FC236}">
                <a16:creationId xmlns:a16="http://schemas.microsoft.com/office/drawing/2014/main" id="{3E4B1A35-9543-4AC9-9859-5672F03546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92788" y="333375"/>
          <a:ext cx="922337" cy="307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9559" r:id="rId13" imgW="482040" imgH="156960" progId="Equation.3">
                  <p:embed/>
                </p:oleObj>
              </mc:Choice>
              <mc:Fallback>
                <p:oleObj r:id="rId13" imgW="482040" imgH="156960" progId="Equation.3">
                  <p:embed/>
                  <p:pic>
                    <p:nvPicPr>
                      <p:cNvPr id="23" name="Object 22">
                        <a:extLst>
                          <a:ext uri="{FF2B5EF4-FFF2-40B4-BE49-F238E27FC236}">
                            <a16:creationId xmlns:a16="http://schemas.microsoft.com/office/drawing/2014/main" id="{3E4B1A35-9543-4AC9-9859-5672F035469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2788" y="333375"/>
                        <a:ext cx="922337" cy="307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3">
            <a:extLst>
              <a:ext uri="{FF2B5EF4-FFF2-40B4-BE49-F238E27FC236}">
                <a16:creationId xmlns:a16="http://schemas.microsoft.com/office/drawing/2014/main" id="{080CF470-E128-48BD-AB80-4D39114AB79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00250" y="857250"/>
          <a:ext cx="1506538" cy="760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9560" r:id="rId15" imgW="799753" imgH="393529" progId="Equation.3">
                  <p:embed/>
                </p:oleObj>
              </mc:Choice>
              <mc:Fallback>
                <p:oleObj r:id="rId15" imgW="799753" imgH="393529" progId="Equation.3">
                  <p:embed/>
                  <p:pic>
                    <p:nvPicPr>
                      <p:cNvPr id="24" name="Object 23">
                        <a:extLst>
                          <a:ext uri="{FF2B5EF4-FFF2-40B4-BE49-F238E27FC236}">
                            <a16:creationId xmlns:a16="http://schemas.microsoft.com/office/drawing/2014/main" id="{080CF470-E128-48BD-AB80-4D39114AB79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0250" y="857250"/>
                        <a:ext cx="1506538" cy="76041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AutoShape 82">
            <a:extLst>
              <a:ext uri="{FF2B5EF4-FFF2-40B4-BE49-F238E27FC236}">
                <a16:creationId xmlns:a16="http://schemas.microsoft.com/office/drawing/2014/main" id="{5D1068E9-577F-461D-A155-55F37C9D78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7625" y="1052513"/>
            <a:ext cx="971550" cy="304800"/>
          </a:xfrm>
          <a:prstGeom prst="rightArrow">
            <a:avLst>
              <a:gd name="adj1" fmla="val 50000"/>
              <a:gd name="adj2" fmla="val 56239"/>
            </a:avLst>
          </a:prstGeom>
          <a:noFill/>
          <a:ln w="22225">
            <a:solidFill>
              <a:srgbClr val="00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6" name="Object 24">
            <a:extLst>
              <a:ext uri="{FF2B5EF4-FFF2-40B4-BE49-F238E27FC236}">
                <a16:creationId xmlns:a16="http://schemas.microsoft.com/office/drawing/2014/main" id="{B59389BE-26FB-44AF-956F-7A196F558A9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43500" y="982663"/>
          <a:ext cx="1820863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9561" r:id="rId17" imgW="964781" imgH="266584" progId="Equation.3">
                  <p:embed/>
                </p:oleObj>
              </mc:Choice>
              <mc:Fallback>
                <p:oleObj r:id="rId17" imgW="964781" imgH="266584" progId="Equation.3">
                  <p:embed/>
                  <p:pic>
                    <p:nvPicPr>
                      <p:cNvPr id="26" name="Object 24">
                        <a:extLst>
                          <a:ext uri="{FF2B5EF4-FFF2-40B4-BE49-F238E27FC236}">
                            <a16:creationId xmlns:a16="http://schemas.microsoft.com/office/drawing/2014/main" id="{B59389BE-26FB-44AF-956F-7A196F558A9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3500" y="982663"/>
                        <a:ext cx="1820863" cy="5175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5">
            <a:extLst>
              <a:ext uri="{FF2B5EF4-FFF2-40B4-BE49-F238E27FC236}">
                <a16:creationId xmlns:a16="http://schemas.microsoft.com/office/drawing/2014/main" id="{F67C88FC-1568-46FB-A515-3E3429B72A1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57438" y="1841500"/>
          <a:ext cx="2360612" cy="871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9562" r:id="rId19" imgW="1257300" imgH="457200" progId="Equation.3">
                  <p:embed/>
                </p:oleObj>
              </mc:Choice>
              <mc:Fallback>
                <p:oleObj r:id="rId19" imgW="1257300" imgH="457200" progId="Equation.3">
                  <p:embed/>
                  <p:pic>
                    <p:nvPicPr>
                      <p:cNvPr id="27" name="Object 25">
                        <a:extLst>
                          <a:ext uri="{FF2B5EF4-FFF2-40B4-BE49-F238E27FC236}">
                            <a16:creationId xmlns:a16="http://schemas.microsoft.com/office/drawing/2014/main" id="{F67C88FC-1568-46FB-A515-3E3429B72A1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7438" y="1841500"/>
                        <a:ext cx="2360612" cy="8715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6">
            <a:extLst>
              <a:ext uri="{FF2B5EF4-FFF2-40B4-BE49-F238E27FC236}">
                <a16:creationId xmlns:a16="http://schemas.microsoft.com/office/drawing/2014/main" id="{94C60CA8-1925-41CC-BF64-7A7A822D160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14875" y="1841500"/>
          <a:ext cx="1666875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9563" r:id="rId21" imgW="812447" imgH="418918" progId="Equation.3">
                  <p:embed/>
                </p:oleObj>
              </mc:Choice>
              <mc:Fallback>
                <p:oleObj r:id="rId21" imgW="812447" imgH="418918" progId="Equation.3">
                  <p:embed/>
                  <p:pic>
                    <p:nvPicPr>
                      <p:cNvPr id="28" name="Object 26">
                        <a:extLst>
                          <a:ext uri="{FF2B5EF4-FFF2-40B4-BE49-F238E27FC236}">
                            <a16:creationId xmlns:a16="http://schemas.microsoft.com/office/drawing/2014/main" id="{94C60CA8-1925-41CC-BF64-7A7A822D160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4875" y="1841500"/>
                        <a:ext cx="1666875" cy="8731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Rectangle 79">
            <a:extLst>
              <a:ext uri="{FF2B5EF4-FFF2-40B4-BE49-F238E27FC236}">
                <a16:creationId xmlns:a16="http://schemas.microsoft.com/office/drawing/2014/main" id="{92EFC5A7-ADA8-419A-894D-244B660A5A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75" y="257175"/>
            <a:ext cx="2286000" cy="4619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静电场加速：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72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000"/>
                                        <p:tgtEl>
                                          <p:spTgt spid="72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72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72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72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72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72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72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72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72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72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14" grpId="0"/>
      <p:bldP spid="72715" grpId="0"/>
      <p:bldP spid="72716" grpId="0"/>
      <p:bldP spid="72722" grpId="0"/>
      <p:bldP spid="72723" grpId="0"/>
      <p:bldP spid="72724" grpId="0"/>
      <p:bldP spid="72725" grpId="0"/>
      <p:bldP spid="72726" grpId="0" animBg="1"/>
      <p:bldP spid="22" grpId="0"/>
      <p:bldP spid="2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6" name="Text Box 2">
            <a:extLst>
              <a:ext uri="{FF2B5EF4-FFF2-40B4-BE49-F238E27FC236}">
                <a16:creationId xmlns:a16="http://schemas.microsoft.com/office/drawing/2014/main" id="{42F1AC41-7FCF-48F2-9CC8-3A058155A2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3" y="2109788"/>
            <a:ext cx="85439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rgbClr val="FFFF66"/>
                </a:solidFill>
              </a:rPr>
              <a:t>例：</a:t>
            </a:r>
            <a:r>
              <a:rPr lang="zh-CN" altLang="en-US" dirty="0">
                <a:solidFill>
                  <a:schemeClr val="bg1"/>
                </a:solidFill>
              </a:rPr>
              <a:t>从德布罗意物质波导出氢原子玻尔理论角动量量子化条件</a:t>
            </a:r>
            <a:r>
              <a:rPr lang="en-US" altLang="zh-CN" dirty="0">
                <a:solidFill>
                  <a:schemeClr val="bg1"/>
                </a:solidFill>
              </a:rPr>
              <a:t>.</a:t>
            </a:r>
          </a:p>
        </p:txBody>
      </p:sp>
      <p:grpSp>
        <p:nvGrpSpPr>
          <p:cNvPr id="2" name="Group 3">
            <a:extLst>
              <a:ext uri="{FF2B5EF4-FFF2-40B4-BE49-F238E27FC236}">
                <a16:creationId xmlns:a16="http://schemas.microsoft.com/office/drawing/2014/main" id="{B357044F-451B-4482-8628-13FEEE8A291F}"/>
              </a:ext>
            </a:extLst>
          </p:cNvPr>
          <p:cNvGrpSpPr>
            <a:grpSpLocks/>
          </p:cNvGrpSpPr>
          <p:nvPr/>
        </p:nvGrpSpPr>
        <p:grpSpPr bwMode="auto">
          <a:xfrm>
            <a:off x="4579938" y="4397375"/>
            <a:ext cx="4029075" cy="407988"/>
            <a:chOff x="2885" y="2503"/>
            <a:chExt cx="2538" cy="257"/>
          </a:xfrm>
        </p:grpSpPr>
        <p:graphicFrame>
          <p:nvGraphicFramePr>
            <p:cNvPr id="26627" name="Object 4">
              <a:extLst>
                <a:ext uri="{FF2B5EF4-FFF2-40B4-BE49-F238E27FC236}">
                  <a16:creationId xmlns:a16="http://schemas.microsoft.com/office/drawing/2014/main" id="{7F181033-9E6B-4AC8-BD42-B97C3E72E7B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85" y="2503"/>
            <a:ext cx="950" cy="2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0579" r:id="rId4" imgW="914400" imgH="228600" progId="Equation.DSMT4">
                    <p:embed/>
                  </p:oleObj>
                </mc:Choice>
                <mc:Fallback>
                  <p:oleObj r:id="rId4" imgW="914400" imgH="228600" progId="Equation.DSMT4">
                    <p:embed/>
                    <p:pic>
                      <p:nvPicPr>
                        <p:cNvPr id="26627" name="Object 4">
                          <a:extLst>
                            <a:ext uri="{FF2B5EF4-FFF2-40B4-BE49-F238E27FC236}">
                              <a16:creationId xmlns:a16="http://schemas.microsoft.com/office/drawing/2014/main" id="{7F181033-9E6B-4AC8-BD42-B97C3E72E7B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5" y="2503"/>
                          <a:ext cx="950" cy="2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28" name="Object 5">
              <a:extLst>
                <a:ext uri="{FF2B5EF4-FFF2-40B4-BE49-F238E27FC236}">
                  <a16:creationId xmlns:a16="http://schemas.microsoft.com/office/drawing/2014/main" id="{1F9C525C-356D-46F4-AD96-2239FC74271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80" y="2523"/>
            <a:ext cx="1143" cy="2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0580" r:id="rId6" imgW="1282700" imgH="266700" progId="Equation.DSMT4">
                    <p:embed/>
                  </p:oleObj>
                </mc:Choice>
                <mc:Fallback>
                  <p:oleObj r:id="rId6" imgW="1282700" imgH="266700" progId="Equation.DSMT4">
                    <p:embed/>
                    <p:pic>
                      <p:nvPicPr>
                        <p:cNvPr id="26628" name="Object 5">
                          <a:extLst>
                            <a:ext uri="{FF2B5EF4-FFF2-40B4-BE49-F238E27FC236}">
                              <a16:creationId xmlns:a16="http://schemas.microsoft.com/office/drawing/2014/main" id="{1F9C525C-356D-46F4-AD96-2239FC74271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80" y="2523"/>
                          <a:ext cx="1143" cy="2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8006" name="Object 6">
            <a:extLst>
              <a:ext uri="{FF2B5EF4-FFF2-40B4-BE49-F238E27FC236}">
                <a16:creationId xmlns:a16="http://schemas.microsoft.com/office/drawing/2014/main" id="{9DC5E3EA-C35A-474D-A8A5-4C7B158BBB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71750" y="5586413"/>
          <a:ext cx="2289175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0581" r:id="rId8" imgW="1155700" imgH="228600" progId="Equation.DSMT4">
                  <p:embed/>
                </p:oleObj>
              </mc:Choice>
              <mc:Fallback>
                <p:oleObj r:id="rId8" imgW="1155700" imgH="228600" progId="Equation.DSMT4">
                  <p:embed/>
                  <p:pic>
                    <p:nvPicPr>
                      <p:cNvPr id="128006" name="Object 6">
                        <a:extLst>
                          <a:ext uri="{FF2B5EF4-FFF2-40B4-BE49-F238E27FC236}">
                            <a16:creationId xmlns:a16="http://schemas.microsoft.com/office/drawing/2014/main" id="{9DC5E3EA-C35A-474D-A8A5-4C7B158BBB8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1750" y="5586413"/>
                        <a:ext cx="2289175" cy="414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7">
            <a:extLst>
              <a:ext uri="{FF2B5EF4-FFF2-40B4-BE49-F238E27FC236}">
                <a16:creationId xmlns:a16="http://schemas.microsoft.com/office/drawing/2014/main" id="{6B563499-3D57-4988-A06E-BC92C798A80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61988" y="2714625"/>
            <a:ext cx="3552825" cy="2160588"/>
            <a:chOff x="240" y="1104"/>
            <a:chExt cx="2976" cy="1776"/>
          </a:xfrm>
        </p:grpSpPr>
        <p:sp>
          <p:nvSpPr>
            <p:cNvPr id="26631" name="Rectangle 8">
              <a:extLst>
                <a:ext uri="{FF2B5EF4-FFF2-40B4-BE49-F238E27FC236}">
                  <a16:creationId xmlns:a16="http://schemas.microsoft.com/office/drawing/2014/main" id="{229E249C-A8D7-4FC7-B5F0-7C3EA4A9F3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" y="1104"/>
              <a:ext cx="2976" cy="17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grpSp>
          <p:nvGrpSpPr>
            <p:cNvPr id="26632" name="Group 9">
              <a:extLst>
                <a:ext uri="{FF2B5EF4-FFF2-40B4-BE49-F238E27FC236}">
                  <a16:creationId xmlns:a16="http://schemas.microsoft.com/office/drawing/2014/main" id="{7B73E56F-F44B-43B2-8E75-87CF5BDC0AA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72" y="1248"/>
              <a:ext cx="2064" cy="337"/>
              <a:chOff x="864" y="1319"/>
              <a:chExt cx="1536" cy="337"/>
            </a:xfrm>
          </p:grpSpPr>
          <p:sp>
            <p:nvSpPr>
              <p:cNvPr id="26633" name="Line 10">
                <a:extLst>
                  <a:ext uri="{FF2B5EF4-FFF2-40B4-BE49-F238E27FC236}">
                    <a16:creationId xmlns:a16="http://schemas.microsoft.com/office/drawing/2014/main" id="{E4AA8D39-2863-4893-A14C-99161A1CCE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64" y="1488"/>
                <a:ext cx="153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34" name="Freeform 11">
                <a:extLst>
                  <a:ext uri="{FF2B5EF4-FFF2-40B4-BE49-F238E27FC236}">
                    <a16:creationId xmlns:a16="http://schemas.microsoft.com/office/drawing/2014/main" id="{7FF422BA-77B9-4C49-AB9C-41DB150A77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4" y="1319"/>
                <a:ext cx="1536" cy="337"/>
              </a:xfrm>
              <a:custGeom>
                <a:avLst/>
                <a:gdLst>
                  <a:gd name="T0" fmla="*/ 0 w 1536"/>
                  <a:gd name="T1" fmla="*/ 289 h 582"/>
                  <a:gd name="T2" fmla="*/ 184 w 1536"/>
                  <a:gd name="T3" fmla="*/ 81 h 582"/>
                  <a:gd name="T4" fmla="*/ 384 w 1536"/>
                  <a:gd name="T5" fmla="*/ 1 h 582"/>
                  <a:gd name="T6" fmla="*/ 572 w 1536"/>
                  <a:gd name="T7" fmla="*/ 85 h 582"/>
                  <a:gd name="T8" fmla="*/ 768 w 1536"/>
                  <a:gd name="T9" fmla="*/ 289 h 582"/>
                  <a:gd name="T10" fmla="*/ 932 w 1536"/>
                  <a:gd name="T11" fmla="*/ 469 h 582"/>
                  <a:gd name="T12" fmla="*/ 1152 w 1536"/>
                  <a:gd name="T13" fmla="*/ 577 h 582"/>
                  <a:gd name="T14" fmla="*/ 1348 w 1536"/>
                  <a:gd name="T15" fmla="*/ 497 h 582"/>
                  <a:gd name="T16" fmla="*/ 1536 w 1536"/>
                  <a:gd name="T17" fmla="*/ 289 h 5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36" h="582">
                    <a:moveTo>
                      <a:pt x="0" y="289"/>
                    </a:moveTo>
                    <a:cubicBezTo>
                      <a:pt x="31" y="254"/>
                      <a:pt x="120" y="129"/>
                      <a:pt x="184" y="81"/>
                    </a:cubicBezTo>
                    <a:cubicBezTo>
                      <a:pt x="248" y="33"/>
                      <a:pt x="319" y="0"/>
                      <a:pt x="384" y="1"/>
                    </a:cubicBezTo>
                    <a:cubicBezTo>
                      <a:pt x="449" y="2"/>
                      <a:pt x="508" y="37"/>
                      <a:pt x="572" y="85"/>
                    </a:cubicBezTo>
                    <a:cubicBezTo>
                      <a:pt x="636" y="133"/>
                      <a:pt x="708" y="225"/>
                      <a:pt x="768" y="289"/>
                    </a:cubicBezTo>
                    <a:cubicBezTo>
                      <a:pt x="828" y="353"/>
                      <a:pt x="868" y="421"/>
                      <a:pt x="932" y="469"/>
                    </a:cubicBezTo>
                    <a:cubicBezTo>
                      <a:pt x="996" y="517"/>
                      <a:pt x="1083" y="572"/>
                      <a:pt x="1152" y="577"/>
                    </a:cubicBezTo>
                    <a:cubicBezTo>
                      <a:pt x="1221" y="582"/>
                      <a:pt x="1284" y="545"/>
                      <a:pt x="1348" y="497"/>
                    </a:cubicBezTo>
                    <a:cubicBezTo>
                      <a:pt x="1412" y="449"/>
                      <a:pt x="1497" y="332"/>
                      <a:pt x="1536" y="289"/>
                    </a:cubicBezTo>
                  </a:path>
                </a:pathLst>
              </a:cu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/>
              </a:p>
            </p:txBody>
          </p:sp>
          <p:sp>
            <p:nvSpPr>
              <p:cNvPr id="26635" name="Freeform 12">
                <a:extLst>
                  <a:ext uri="{FF2B5EF4-FFF2-40B4-BE49-F238E27FC236}">
                    <a16:creationId xmlns:a16="http://schemas.microsoft.com/office/drawing/2014/main" id="{9A7DEAF4-C139-415C-9C0C-5A7E83E4D5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864" y="1320"/>
                <a:ext cx="1536" cy="312"/>
              </a:xfrm>
              <a:custGeom>
                <a:avLst/>
                <a:gdLst>
                  <a:gd name="T0" fmla="*/ 0 w 1536"/>
                  <a:gd name="T1" fmla="*/ 289 h 582"/>
                  <a:gd name="T2" fmla="*/ 184 w 1536"/>
                  <a:gd name="T3" fmla="*/ 81 h 582"/>
                  <a:gd name="T4" fmla="*/ 384 w 1536"/>
                  <a:gd name="T5" fmla="*/ 1 h 582"/>
                  <a:gd name="T6" fmla="*/ 572 w 1536"/>
                  <a:gd name="T7" fmla="*/ 85 h 582"/>
                  <a:gd name="T8" fmla="*/ 768 w 1536"/>
                  <a:gd name="T9" fmla="*/ 289 h 582"/>
                  <a:gd name="T10" fmla="*/ 932 w 1536"/>
                  <a:gd name="T11" fmla="*/ 469 h 582"/>
                  <a:gd name="T12" fmla="*/ 1152 w 1536"/>
                  <a:gd name="T13" fmla="*/ 577 h 582"/>
                  <a:gd name="T14" fmla="*/ 1348 w 1536"/>
                  <a:gd name="T15" fmla="*/ 497 h 582"/>
                  <a:gd name="T16" fmla="*/ 1536 w 1536"/>
                  <a:gd name="T17" fmla="*/ 289 h 5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36" h="582">
                    <a:moveTo>
                      <a:pt x="0" y="289"/>
                    </a:moveTo>
                    <a:cubicBezTo>
                      <a:pt x="31" y="254"/>
                      <a:pt x="120" y="129"/>
                      <a:pt x="184" y="81"/>
                    </a:cubicBezTo>
                    <a:cubicBezTo>
                      <a:pt x="248" y="33"/>
                      <a:pt x="319" y="0"/>
                      <a:pt x="384" y="1"/>
                    </a:cubicBezTo>
                    <a:cubicBezTo>
                      <a:pt x="449" y="2"/>
                      <a:pt x="508" y="37"/>
                      <a:pt x="572" y="85"/>
                    </a:cubicBezTo>
                    <a:cubicBezTo>
                      <a:pt x="636" y="133"/>
                      <a:pt x="708" y="225"/>
                      <a:pt x="768" y="289"/>
                    </a:cubicBezTo>
                    <a:cubicBezTo>
                      <a:pt x="828" y="353"/>
                      <a:pt x="868" y="421"/>
                      <a:pt x="932" y="469"/>
                    </a:cubicBezTo>
                    <a:cubicBezTo>
                      <a:pt x="996" y="517"/>
                      <a:pt x="1083" y="572"/>
                      <a:pt x="1152" y="577"/>
                    </a:cubicBezTo>
                    <a:cubicBezTo>
                      <a:pt x="1221" y="582"/>
                      <a:pt x="1284" y="545"/>
                      <a:pt x="1348" y="497"/>
                    </a:cubicBezTo>
                    <a:cubicBezTo>
                      <a:pt x="1412" y="449"/>
                      <a:pt x="1497" y="332"/>
                      <a:pt x="1536" y="289"/>
                    </a:cubicBezTo>
                  </a:path>
                </a:pathLst>
              </a:custGeom>
              <a:noFill/>
              <a:ln w="19050">
                <a:solidFill>
                  <a:srgbClr val="0000FF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/>
              </a:p>
            </p:txBody>
          </p:sp>
        </p:grpSp>
        <p:grpSp>
          <p:nvGrpSpPr>
            <p:cNvPr id="26636" name="Group 13">
              <a:extLst>
                <a:ext uri="{FF2B5EF4-FFF2-40B4-BE49-F238E27FC236}">
                  <a16:creationId xmlns:a16="http://schemas.microsoft.com/office/drawing/2014/main" id="{00A61597-1D81-4642-833C-3353987672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0" y="1776"/>
              <a:ext cx="1152" cy="960"/>
              <a:chOff x="1392" y="1872"/>
              <a:chExt cx="1152" cy="960"/>
            </a:xfrm>
          </p:grpSpPr>
          <p:sp>
            <p:nvSpPr>
              <p:cNvPr id="26637" name="Oval 14">
                <a:extLst>
                  <a:ext uri="{FF2B5EF4-FFF2-40B4-BE49-F238E27FC236}">
                    <a16:creationId xmlns:a16="http://schemas.microsoft.com/office/drawing/2014/main" id="{C7E7A6FB-41D3-43A6-9B2B-4CF6851A66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88" y="1872"/>
                <a:ext cx="960" cy="960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6638" name="Oval 15">
                <a:extLst>
                  <a:ext uri="{FF2B5EF4-FFF2-40B4-BE49-F238E27FC236}">
                    <a16:creationId xmlns:a16="http://schemas.microsoft.com/office/drawing/2014/main" id="{9B66AEE8-9BE3-46FF-BB3C-DB5077A1AD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84" y="1872"/>
                <a:ext cx="960" cy="960"/>
              </a:xfrm>
              <a:prstGeom prst="ellipse">
                <a:avLst/>
              </a:prstGeom>
              <a:noFill/>
              <a:ln w="19050">
                <a:solidFill>
                  <a:srgbClr val="0000FF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6639" name="Oval 16">
                <a:extLst>
                  <a:ext uri="{FF2B5EF4-FFF2-40B4-BE49-F238E27FC236}">
                    <a16:creationId xmlns:a16="http://schemas.microsoft.com/office/drawing/2014/main" id="{4FC1E2EC-4CC5-4B92-B47E-4BCCEDCCD6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92" y="1872"/>
                <a:ext cx="960" cy="960"/>
              </a:xfrm>
              <a:prstGeom prst="ellips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6640" name="Group 17">
              <a:extLst>
                <a:ext uri="{FF2B5EF4-FFF2-40B4-BE49-F238E27FC236}">
                  <a16:creationId xmlns:a16="http://schemas.microsoft.com/office/drawing/2014/main" id="{6286D6A8-CD32-4F0C-8538-D9F8FBEB60C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0" y="1824"/>
              <a:ext cx="1152" cy="1056"/>
              <a:chOff x="480" y="1824"/>
              <a:chExt cx="1152" cy="1056"/>
            </a:xfrm>
          </p:grpSpPr>
          <p:sp>
            <p:nvSpPr>
              <p:cNvPr id="26641" name="AutoShape 18">
                <a:extLst>
                  <a:ext uri="{FF2B5EF4-FFF2-40B4-BE49-F238E27FC236}">
                    <a16:creationId xmlns:a16="http://schemas.microsoft.com/office/drawing/2014/main" id="{FE00E969-79A8-4570-B7BC-EE374A0581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" y="1824"/>
                <a:ext cx="1152" cy="1056"/>
              </a:xfrm>
              <a:custGeom>
                <a:avLst/>
                <a:gdLst>
                  <a:gd name="T0" fmla="*/ 10163 w 21600"/>
                  <a:gd name="T1" fmla="*/ 11208 h 21600"/>
                  <a:gd name="T2" fmla="*/ 10043 w 21600"/>
                  <a:gd name="T3" fmla="*/ 10800 h 21600"/>
                  <a:gd name="T4" fmla="*/ 10800 w 21600"/>
                  <a:gd name="T5" fmla="*/ 10043 h 21600"/>
                  <a:gd name="T6" fmla="*/ 11557 w 21600"/>
                  <a:gd name="T7" fmla="*/ 10800 h 21600"/>
                  <a:gd name="T8" fmla="*/ 11436 w 21600"/>
                  <a:gd name="T9" fmla="*/ 11208 h 21600"/>
                  <a:gd name="T10" fmla="*/ 19887 w 21600"/>
                  <a:gd name="T11" fmla="*/ 16635 h 21600"/>
                  <a:gd name="T12" fmla="*/ 21600 w 21600"/>
                  <a:gd name="T13" fmla="*/ 10800 h 21600"/>
                  <a:gd name="T14" fmla="*/ 10800 w 21600"/>
                  <a:gd name="T15" fmla="*/ 0 h 21600"/>
                  <a:gd name="T16" fmla="*/ 0 w 21600"/>
                  <a:gd name="T17" fmla="*/ 10800 h 21600"/>
                  <a:gd name="T18" fmla="*/ 1712 w 21600"/>
                  <a:gd name="T19" fmla="*/ 16635 h 21600"/>
                  <a:gd name="T20" fmla="*/ 10163 w 21600"/>
                  <a:gd name="T21" fmla="*/ 11208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1600" h="21600">
                    <a:moveTo>
                      <a:pt x="10163" y="11208"/>
                    </a:moveTo>
                    <a:cubicBezTo>
                      <a:pt x="10084" y="11086"/>
                      <a:pt x="10043" y="10945"/>
                      <a:pt x="10043" y="10800"/>
                    </a:cubicBezTo>
                    <a:cubicBezTo>
                      <a:pt x="10043" y="10381"/>
                      <a:pt x="10381" y="10043"/>
                      <a:pt x="10800" y="10043"/>
                    </a:cubicBezTo>
                    <a:cubicBezTo>
                      <a:pt x="11218" y="10043"/>
                      <a:pt x="11557" y="10381"/>
                      <a:pt x="11557" y="10800"/>
                    </a:cubicBezTo>
                    <a:cubicBezTo>
                      <a:pt x="11557" y="10945"/>
                      <a:pt x="11515" y="11086"/>
                      <a:pt x="11436" y="11208"/>
                    </a:cubicBezTo>
                    <a:lnTo>
                      <a:pt x="19887" y="16635"/>
                    </a:lnTo>
                    <a:cubicBezTo>
                      <a:pt x="21005" y="14894"/>
                      <a:pt x="21600" y="12868"/>
                      <a:pt x="21600" y="10800"/>
                    </a:cubicBezTo>
                    <a:cubicBezTo>
                      <a:pt x="21600" y="4835"/>
                      <a:pt x="16764" y="0"/>
                      <a:pt x="10800" y="0"/>
                    </a:cubicBezTo>
                    <a:cubicBezTo>
                      <a:pt x="4835" y="0"/>
                      <a:pt x="0" y="4835"/>
                      <a:pt x="0" y="10800"/>
                    </a:cubicBezTo>
                    <a:cubicBezTo>
                      <a:pt x="-1" y="12868"/>
                      <a:pt x="594" y="14894"/>
                      <a:pt x="1712" y="16635"/>
                    </a:cubicBezTo>
                    <a:lnTo>
                      <a:pt x="10163" y="11208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/>
              </a:p>
            </p:txBody>
          </p:sp>
          <p:sp>
            <p:nvSpPr>
              <p:cNvPr id="26642" name="Rectangle 19">
                <a:extLst>
                  <a:ext uri="{FF2B5EF4-FFF2-40B4-BE49-F238E27FC236}">
                    <a16:creationId xmlns:a16="http://schemas.microsoft.com/office/drawing/2014/main" id="{A1535133-4D3B-4CF7-AFA7-397AB9D7F4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256"/>
                <a:ext cx="960" cy="4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6643" name="Group 20">
              <a:extLst>
                <a:ext uri="{FF2B5EF4-FFF2-40B4-BE49-F238E27FC236}">
                  <a16:creationId xmlns:a16="http://schemas.microsoft.com/office/drawing/2014/main" id="{F56AC41C-7897-4338-AE81-62BA8900E35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2" y="1782"/>
              <a:ext cx="1321" cy="862"/>
              <a:chOff x="392" y="1782"/>
              <a:chExt cx="1321" cy="862"/>
            </a:xfrm>
          </p:grpSpPr>
          <p:sp>
            <p:nvSpPr>
              <p:cNvPr id="26644" name="Freeform 21">
                <a:extLst>
                  <a:ext uri="{FF2B5EF4-FFF2-40B4-BE49-F238E27FC236}">
                    <a16:creationId xmlns:a16="http://schemas.microsoft.com/office/drawing/2014/main" id="{AE54F9E6-F9DC-4419-9B27-C49F4318C1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4" y="1788"/>
                <a:ext cx="1169" cy="852"/>
              </a:xfrm>
              <a:custGeom>
                <a:avLst/>
                <a:gdLst>
                  <a:gd name="T0" fmla="*/ 32 w 1169"/>
                  <a:gd name="T1" fmla="*/ 852 h 852"/>
                  <a:gd name="T2" fmla="*/ 8 w 1169"/>
                  <a:gd name="T3" fmla="*/ 584 h 852"/>
                  <a:gd name="T4" fmla="*/ 80 w 1169"/>
                  <a:gd name="T5" fmla="*/ 340 h 852"/>
                  <a:gd name="T6" fmla="*/ 240 w 1169"/>
                  <a:gd name="T7" fmla="*/ 156 h 852"/>
                  <a:gd name="T8" fmla="*/ 512 w 1169"/>
                  <a:gd name="T9" fmla="*/ 36 h 852"/>
                  <a:gd name="T10" fmla="*/ 768 w 1169"/>
                  <a:gd name="T11" fmla="*/ 8 h 852"/>
                  <a:gd name="T12" fmla="*/ 968 w 1169"/>
                  <a:gd name="T13" fmla="*/ 84 h 852"/>
                  <a:gd name="T14" fmla="*/ 1108 w 1169"/>
                  <a:gd name="T15" fmla="*/ 228 h 852"/>
                  <a:gd name="T16" fmla="*/ 1168 w 1169"/>
                  <a:gd name="T17" fmla="*/ 456 h 852"/>
                  <a:gd name="T18" fmla="*/ 1104 w 1169"/>
                  <a:gd name="T19" fmla="*/ 704 h 852"/>
                  <a:gd name="T20" fmla="*/ 992 w 1169"/>
                  <a:gd name="T21" fmla="*/ 852 h 8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169" h="852">
                    <a:moveTo>
                      <a:pt x="32" y="852"/>
                    </a:moveTo>
                    <a:cubicBezTo>
                      <a:pt x="28" y="807"/>
                      <a:pt x="0" y="669"/>
                      <a:pt x="8" y="584"/>
                    </a:cubicBezTo>
                    <a:cubicBezTo>
                      <a:pt x="16" y="499"/>
                      <a:pt x="41" y="411"/>
                      <a:pt x="80" y="340"/>
                    </a:cubicBezTo>
                    <a:cubicBezTo>
                      <a:pt x="119" y="269"/>
                      <a:pt x="168" y="207"/>
                      <a:pt x="240" y="156"/>
                    </a:cubicBezTo>
                    <a:cubicBezTo>
                      <a:pt x="312" y="105"/>
                      <a:pt x="424" y="61"/>
                      <a:pt x="512" y="36"/>
                    </a:cubicBezTo>
                    <a:cubicBezTo>
                      <a:pt x="600" y="11"/>
                      <a:pt x="692" y="0"/>
                      <a:pt x="768" y="8"/>
                    </a:cubicBezTo>
                    <a:cubicBezTo>
                      <a:pt x="844" y="16"/>
                      <a:pt x="911" y="47"/>
                      <a:pt x="968" y="84"/>
                    </a:cubicBezTo>
                    <a:cubicBezTo>
                      <a:pt x="1025" y="121"/>
                      <a:pt x="1075" y="166"/>
                      <a:pt x="1108" y="228"/>
                    </a:cubicBezTo>
                    <a:cubicBezTo>
                      <a:pt x="1141" y="290"/>
                      <a:pt x="1169" y="377"/>
                      <a:pt x="1168" y="456"/>
                    </a:cubicBezTo>
                    <a:cubicBezTo>
                      <a:pt x="1167" y="535"/>
                      <a:pt x="1133" y="638"/>
                      <a:pt x="1104" y="704"/>
                    </a:cubicBezTo>
                    <a:cubicBezTo>
                      <a:pt x="1075" y="770"/>
                      <a:pt x="1015" y="821"/>
                      <a:pt x="992" y="852"/>
                    </a:cubicBezTo>
                  </a:path>
                </a:pathLst>
              </a:custGeom>
              <a:noFill/>
              <a:ln w="19050">
                <a:solidFill>
                  <a:srgbClr val="0000FF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/>
              </a:p>
            </p:txBody>
          </p:sp>
          <p:sp>
            <p:nvSpPr>
              <p:cNvPr id="26645" name="Freeform 22">
                <a:extLst>
                  <a:ext uri="{FF2B5EF4-FFF2-40B4-BE49-F238E27FC236}">
                    <a16:creationId xmlns:a16="http://schemas.microsoft.com/office/drawing/2014/main" id="{5F77880C-E441-4A03-91F6-876B7F65AC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2" y="1782"/>
                <a:ext cx="1173" cy="862"/>
              </a:xfrm>
              <a:custGeom>
                <a:avLst/>
                <a:gdLst>
                  <a:gd name="T0" fmla="*/ 180 w 1173"/>
                  <a:gd name="T1" fmla="*/ 862 h 862"/>
                  <a:gd name="T2" fmla="*/ 20 w 1173"/>
                  <a:gd name="T3" fmla="*/ 590 h 862"/>
                  <a:gd name="T4" fmla="*/ 60 w 1173"/>
                  <a:gd name="T5" fmla="*/ 246 h 862"/>
                  <a:gd name="T6" fmla="*/ 344 w 1173"/>
                  <a:gd name="T7" fmla="*/ 34 h 862"/>
                  <a:gd name="T8" fmla="*/ 684 w 1173"/>
                  <a:gd name="T9" fmla="*/ 42 h 862"/>
                  <a:gd name="T10" fmla="*/ 880 w 1173"/>
                  <a:gd name="T11" fmla="*/ 114 h 862"/>
                  <a:gd name="T12" fmla="*/ 1000 w 1173"/>
                  <a:gd name="T13" fmla="*/ 206 h 862"/>
                  <a:gd name="T14" fmla="*/ 1084 w 1173"/>
                  <a:gd name="T15" fmla="*/ 326 h 862"/>
                  <a:gd name="T16" fmla="*/ 1148 w 1173"/>
                  <a:gd name="T17" fmla="*/ 490 h 862"/>
                  <a:gd name="T18" fmla="*/ 1172 w 1173"/>
                  <a:gd name="T19" fmla="*/ 658 h 862"/>
                  <a:gd name="T20" fmla="*/ 1152 w 1173"/>
                  <a:gd name="T21" fmla="*/ 854 h 8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173" h="862">
                    <a:moveTo>
                      <a:pt x="180" y="862"/>
                    </a:moveTo>
                    <a:cubicBezTo>
                      <a:pt x="153" y="817"/>
                      <a:pt x="40" y="693"/>
                      <a:pt x="20" y="590"/>
                    </a:cubicBezTo>
                    <a:cubicBezTo>
                      <a:pt x="0" y="487"/>
                      <a:pt x="6" y="339"/>
                      <a:pt x="60" y="246"/>
                    </a:cubicBezTo>
                    <a:cubicBezTo>
                      <a:pt x="114" y="153"/>
                      <a:pt x="240" y="68"/>
                      <a:pt x="344" y="34"/>
                    </a:cubicBezTo>
                    <a:cubicBezTo>
                      <a:pt x="448" y="0"/>
                      <a:pt x="595" y="29"/>
                      <a:pt x="684" y="42"/>
                    </a:cubicBezTo>
                    <a:cubicBezTo>
                      <a:pt x="773" y="55"/>
                      <a:pt x="827" y="87"/>
                      <a:pt x="880" y="114"/>
                    </a:cubicBezTo>
                    <a:cubicBezTo>
                      <a:pt x="933" y="141"/>
                      <a:pt x="966" y="171"/>
                      <a:pt x="1000" y="206"/>
                    </a:cubicBezTo>
                    <a:cubicBezTo>
                      <a:pt x="1034" y="241"/>
                      <a:pt x="1059" y="279"/>
                      <a:pt x="1084" y="326"/>
                    </a:cubicBezTo>
                    <a:cubicBezTo>
                      <a:pt x="1109" y="373"/>
                      <a:pt x="1133" y="435"/>
                      <a:pt x="1148" y="490"/>
                    </a:cubicBezTo>
                    <a:cubicBezTo>
                      <a:pt x="1163" y="545"/>
                      <a:pt x="1171" y="597"/>
                      <a:pt x="1172" y="658"/>
                    </a:cubicBezTo>
                    <a:cubicBezTo>
                      <a:pt x="1173" y="719"/>
                      <a:pt x="1156" y="813"/>
                      <a:pt x="1152" y="854"/>
                    </a:cubicBezTo>
                  </a:path>
                </a:pathLst>
              </a:cu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/>
              </a:p>
            </p:txBody>
          </p:sp>
        </p:grpSp>
      </p:grpSp>
      <p:sp>
        <p:nvSpPr>
          <p:cNvPr id="128023" name="Text Box 23">
            <a:extLst>
              <a:ext uri="{FF2B5EF4-FFF2-40B4-BE49-F238E27FC236}">
                <a16:creationId xmlns:a16="http://schemas.microsoft.com/office/drawing/2014/main" id="{79C732D7-568A-42DF-9DFD-88277CB087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7688" y="2643188"/>
            <a:ext cx="4157662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FFFF00"/>
                </a:solidFill>
              </a:rPr>
              <a:t>解：</a:t>
            </a:r>
            <a:r>
              <a:rPr lang="zh-CN" altLang="en-US">
                <a:solidFill>
                  <a:schemeClr val="bg1"/>
                </a:solidFill>
              </a:rPr>
              <a:t>两端固定的弦，若其长度等于波长则可形成稳定的驻波</a:t>
            </a:r>
            <a:endParaRPr lang="en-US" altLang="zh-CN">
              <a:solidFill>
                <a:schemeClr val="bg1"/>
              </a:solidFill>
            </a:endParaRPr>
          </a:p>
        </p:txBody>
      </p:sp>
      <p:grpSp>
        <p:nvGrpSpPr>
          <p:cNvPr id="8" name="Group 24">
            <a:extLst>
              <a:ext uri="{FF2B5EF4-FFF2-40B4-BE49-F238E27FC236}">
                <a16:creationId xmlns:a16="http://schemas.microsoft.com/office/drawing/2014/main" id="{66FD8586-E2B0-472D-AE9C-7D12C69B8409}"/>
              </a:ext>
            </a:extLst>
          </p:cNvPr>
          <p:cNvGrpSpPr>
            <a:grpSpLocks/>
          </p:cNvGrpSpPr>
          <p:nvPr/>
        </p:nvGrpSpPr>
        <p:grpSpPr bwMode="auto">
          <a:xfrm>
            <a:off x="4357688" y="3824288"/>
            <a:ext cx="4191000" cy="461962"/>
            <a:chOff x="2736" y="1812"/>
            <a:chExt cx="2640" cy="291"/>
          </a:xfrm>
        </p:grpSpPr>
        <p:graphicFrame>
          <p:nvGraphicFramePr>
            <p:cNvPr id="26648" name="Object 25">
              <a:extLst>
                <a:ext uri="{FF2B5EF4-FFF2-40B4-BE49-F238E27FC236}">
                  <a16:creationId xmlns:a16="http://schemas.microsoft.com/office/drawing/2014/main" id="{FB6BD394-C8DF-411B-B519-2548B6B82E2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99" y="1833"/>
            <a:ext cx="777" cy="2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0582" r:id="rId10" imgW="800100" imgH="228600" progId="Equation.DSMT4">
                    <p:embed/>
                  </p:oleObj>
                </mc:Choice>
                <mc:Fallback>
                  <p:oleObj r:id="rId10" imgW="800100" imgH="228600" progId="Equation.DSMT4">
                    <p:embed/>
                    <p:pic>
                      <p:nvPicPr>
                        <p:cNvPr id="26648" name="Object 25">
                          <a:extLst>
                            <a:ext uri="{FF2B5EF4-FFF2-40B4-BE49-F238E27FC236}">
                              <a16:creationId xmlns:a16="http://schemas.microsoft.com/office/drawing/2014/main" id="{FB6BD394-C8DF-411B-B519-2548B6B82E2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99" y="1833"/>
                          <a:ext cx="777" cy="2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649" name="Text Box 26">
              <a:extLst>
                <a:ext uri="{FF2B5EF4-FFF2-40B4-BE49-F238E27FC236}">
                  <a16:creationId xmlns:a16="http://schemas.microsoft.com/office/drawing/2014/main" id="{E4C087D6-7A4B-48E6-AD83-E7E557A6C6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6" y="1812"/>
              <a:ext cx="264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>
                  <a:solidFill>
                    <a:srgbClr val="FFFF66"/>
                  </a:solidFill>
                </a:rPr>
                <a:t>将弦弯曲成圆时</a:t>
              </a:r>
            </a:p>
          </p:txBody>
        </p:sp>
      </p:grpSp>
      <p:grpSp>
        <p:nvGrpSpPr>
          <p:cNvPr id="9" name="Group 27">
            <a:extLst>
              <a:ext uri="{FF2B5EF4-FFF2-40B4-BE49-F238E27FC236}">
                <a16:creationId xmlns:a16="http://schemas.microsoft.com/office/drawing/2014/main" id="{8FC8368D-38C2-47DE-8BC8-CBE6A86E046B}"/>
              </a:ext>
            </a:extLst>
          </p:cNvPr>
          <p:cNvGrpSpPr>
            <a:grpSpLocks/>
          </p:cNvGrpSpPr>
          <p:nvPr/>
        </p:nvGrpSpPr>
        <p:grpSpPr bwMode="auto">
          <a:xfrm>
            <a:off x="757238" y="4814888"/>
            <a:ext cx="5672137" cy="900112"/>
            <a:chOff x="632" y="2756"/>
            <a:chExt cx="3657" cy="533"/>
          </a:xfrm>
        </p:grpSpPr>
        <p:graphicFrame>
          <p:nvGraphicFramePr>
            <p:cNvPr id="26651" name="Object 28">
              <a:extLst>
                <a:ext uri="{FF2B5EF4-FFF2-40B4-BE49-F238E27FC236}">
                  <a16:creationId xmlns:a16="http://schemas.microsoft.com/office/drawing/2014/main" id="{FC949ECC-6CE1-4C2B-B598-D09A7B11BB1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614" y="2756"/>
            <a:ext cx="675" cy="5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0583" r:id="rId12" imgW="723586" imgH="571252" progId="Equation.DSMT4">
                    <p:embed/>
                  </p:oleObj>
                </mc:Choice>
                <mc:Fallback>
                  <p:oleObj r:id="rId12" imgW="723586" imgH="571252" progId="Equation.DSMT4">
                    <p:embed/>
                    <p:pic>
                      <p:nvPicPr>
                        <p:cNvPr id="26651" name="Object 28">
                          <a:extLst>
                            <a:ext uri="{FF2B5EF4-FFF2-40B4-BE49-F238E27FC236}">
                              <a16:creationId xmlns:a16="http://schemas.microsoft.com/office/drawing/2014/main" id="{FC949ECC-6CE1-4C2B-B598-D09A7B11BB1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14" y="2756"/>
                          <a:ext cx="675" cy="5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652" name="Rectangle 29">
              <a:extLst>
                <a:ext uri="{FF2B5EF4-FFF2-40B4-BE49-F238E27FC236}">
                  <a16:creationId xmlns:a16="http://schemas.microsoft.com/office/drawing/2014/main" id="{10900C87-5DAF-4606-9E41-11E8FD162D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2" y="2889"/>
              <a:ext cx="3472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>
                  <a:solidFill>
                    <a:srgbClr val="FFFF66"/>
                  </a:solidFill>
                </a:rPr>
                <a:t>电子绕核运动其德布罗意波长为</a:t>
              </a:r>
            </a:p>
          </p:txBody>
        </p:sp>
      </p:grpSp>
      <p:grpSp>
        <p:nvGrpSpPr>
          <p:cNvPr id="10" name="Group 30">
            <a:extLst>
              <a:ext uri="{FF2B5EF4-FFF2-40B4-BE49-F238E27FC236}">
                <a16:creationId xmlns:a16="http://schemas.microsoft.com/office/drawing/2014/main" id="{960B5C8B-C02F-4F8D-9DAA-6066608B58CB}"/>
              </a:ext>
            </a:extLst>
          </p:cNvPr>
          <p:cNvGrpSpPr>
            <a:grpSpLocks/>
          </p:cNvGrpSpPr>
          <p:nvPr/>
        </p:nvGrpSpPr>
        <p:grpSpPr bwMode="auto">
          <a:xfrm>
            <a:off x="857250" y="5929313"/>
            <a:ext cx="5397500" cy="900112"/>
            <a:chOff x="406" y="3506"/>
            <a:chExt cx="3298" cy="567"/>
          </a:xfrm>
        </p:grpSpPr>
        <p:graphicFrame>
          <p:nvGraphicFramePr>
            <p:cNvPr id="26654" name="Object 31">
              <a:extLst>
                <a:ext uri="{FF2B5EF4-FFF2-40B4-BE49-F238E27FC236}">
                  <a16:creationId xmlns:a16="http://schemas.microsoft.com/office/drawing/2014/main" id="{215651C9-8F38-4723-A1EC-80423673070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39" y="3506"/>
            <a:ext cx="1465" cy="5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0584" r:id="rId14" imgW="1435100" imgH="571500" progId="Equation.DSMT4">
                    <p:embed/>
                  </p:oleObj>
                </mc:Choice>
                <mc:Fallback>
                  <p:oleObj r:id="rId14" imgW="1435100" imgH="571500" progId="Equation.DSMT4">
                    <p:embed/>
                    <p:pic>
                      <p:nvPicPr>
                        <p:cNvPr id="26654" name="Object 31">
                          <a:extLst>
                            <a:ext uri="{FF2B5EF4-FFF2-40B4-BE49-F238E27FC236}">
                              <a16:creationId xmlns:a16="http://schemas.microsoft.com/office/drawing/2014/main" id="{215651C9-8F38-4723-A1EC-80423673070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39" y="3506"/>
                          <a:ext cx="1465" cy="5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655" name="Rectangle 32">
              <a:extLst>
                <a:ext uri="{FF2B5EF4-FFF2-40B4-BE49-F238E27FC236}">
                  <a16:creationId xmlns:a16="http://schemas.microsoft.com/office/drawing/2014/main" id="{61C7ADC7-707A-4A0B-A96B-7F2508C0FF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" y="3648"/>
              <a:ext cx="2139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>
                  <a:solidFill>
                    <a:schemeClr val="accent1"/>
                  </a:solidFill>
                </a:rPr>
                <a:t>角动量量子化条件：</a:t>
              </a:r>
            </a:p>
          </p:txBody>
        </p:sp>
      </p:grpSp>
      <p:sp>
        <p:nvSpPr>
          <p:cNvPr id="26656" name="灯片编号占位符 1">
            <a:extLst>
              <a:ext uri="{FF2B5EF4-FFF2-40B4-BE49-F238E27FC236}">
                <a16:creationId xmlns:a16="http://schemas.microsoft.com/office/drawing/2014/main" id="{BCA43039-1123-4581-AA7B-63D19D974D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027F31AF-D8D1-4CFB-8647-20307F2242EF}" type="slidenum">
              <a:rPr lang="en-US" altLang="zh-CN" b="0" smtClean="0">
                <a:solidFill>
                  <a:srgbClr val="FF00FF"/>
                </a:solidFill>
              </a:rPr>
              <a:pPr/>
              <a:t>20</a:t>
            </a:fld>
            <a:r>
              <a:rPr lang="en-US" altLang="zh-CN" b="0" dirty="0">
                <a:solidFill>
                  <a:srgbClr val="FF00FF"/>
                </a:solidFill>
              </a:rPr>
              <a:t>/28</a:t>
            </a:r>
          </a:p>
        </p:txBody>
      </p:sp>
      <p:sp>
        <p:nvSpPr>
          <p:cNvPr id="34" name="Text Box 4">
            <a:extLst>
              <a:ext uri="{FF2B5EF4-FFF2-40B4-BE49-F238E27FC236}">
                <a16:creationId xmlns:a16="http://schemas.microsoft.com/office/drawing/2014/main" id="{CBEB4E52-8884-47E5-A0D4-E6F4DCA7F6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" y="71438"/>
            <a:ext cx="8464550" cy="1089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35000"/>
              </a:lnSpc>
            </a:pPr>
            <a:r>
              <a:rPr lang="zh-CN" altLang="en-US">
                <a:solidFill>
                  <a:srgbClr val="FFFF66"/>
                </a:solidFill>
              </a:rPr>
              <a:t>例</a:t>
            </a:r>
            <a:r>
              <a:rPr lang="en-US" altLang="zh-CN">
                <a:solidFill>
                  <a:srgbClr val="FFFF66"/>
                </a:solidFill>
              </a:rPr>
              <a:t>:</a:t>
            </a:r>
            <a:r>
              <a:rPr lang="zh-CN" altLang="en-US">
                <a:solidFill>
                  <a:schemeClr val="bg1"/>
                </a:solidFill>
              </a:rPr>
              <a:t>    一个棒球的质量 </a:t>
            </a:r>
            <a:r>
              <a:rPr lang="en-US" altLang="zh-CN" i="1">
                <a:solidFill>
                  <a:srgbClr val="66FFFF"/>
                </a:solidFill>
              </a:rPr>
              <a:t>m</a:t>
            </a:r>
            <a:r>
              <a:rPr lang="en-US" altLang="zh-CN">
                <a:solidFill>
                  <a:srgbClr val="66FFFF"/>
                </a:solidFill>
              </a:rPr>
              <a:t>=1 kg</a:t>
            </a:r>
            <a:r>
              <a:rPr lang="zh-CN" altLang="en-US">
                <a:solidFill>
                  <a:schemeClr val="bg1"/>
                </a:solidFill>
              </a:rPr>
              <a:t>，速度 </a:t>
            </a:r>
            <a:r>
              <a:rPr lang="en-US" altLang="zh-CN" i="1">
                <a:solidFill>
                  <a:srgbClr val="66FFFF"/>
                </a:solidFill>
                <a:latin typeface="Bookman Old Style" panose="02050604050505020204" pitchFamily="18" charset="0"/>
              </a:rPr>
              <a:t>v</a:t>
            </a:r>
            <a:r>
              <a:rPr lang="en-US" altLang="zh-CN" b="0" i="1">
                <a:solidFill>
                  <a:srgbClr val="66FFFF"/>
                </a:solidFill>
              </a:rPr>
              <a:t> </a:t>
            </a:r>
            <a:r>
              <a:rPr lang="en-US" altLang="zh-CN">
                <a:solidFill>
                  <a:srgbClr val="66FFFF"/>
                </a:solidFill>
              </a:rPr>
              <a:t>=10 m/s</a:t>
            </a:r>
            <a:r>
              <a:rPr lang="en-US" altLang="zh-CN">
                <a:solidFill>
                  <a:srgbClr val="FFFF99"/>
                </a:solidFill>
              </a:rPr>
              <a:t>                           </a:t>
            </a:r>
          </a:p>
          <a:p>
            <a:pPr>
              <a:lnSpc>
                <a:spcPct val="135000"/>
              </a:lnSpc>
            </a:pPr>
            <a:r>
              <a:rPr lang="zh-CN" altLang="en-US">
                <a:solidFill>
                  <a:srgbClr val="FFFF66"/>
                </a:solidFill>
              </a:rPr>
              <a:t>求</a:t>
            </a:r>
            <a:r>
              <a:rPr lang="zh-CN" altLang="en-US">
                <a:solidFill>
                  <a:schemeClr val="bg1"/>
                </a:solidFill>
              </a:rPr>
              <a:t>    它的德布罗意波长</a:t>
            </a:r>
          </a:p>
        </p:txBody>
      </p:sp>
      <p:sp>
        <p:nvSpPr>
          <p:cNvPr id="35" name="Text Box 5">
            <a:extLst>
              <a:ext uri="{FF2B5EF4-FFF2-40B4-BE49-F238E27FC236}">
                <a16:creationId xmlns:a16="http://schemas.microsoft.com/office/drawing/2014/main" id="{6B70C5FC-7A40-4F17-BA6D-C5F1177075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300" y="1330325"/>
            <a:ext cx="7032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>
                <a:solidFill>
                  <a:srgbClr val="FFFF66"/>
                </a:solidFill>
              </a:rPr>
              <a:t>解</a:t>
            </a:r>
            <a:r>
              <a:rPr lang="en-US" altLang="zh-CN">
                <a:solidFill>
                  <a:srgbClr val="FFFF66"/>
                </a:solidFill>
              </a:rPr>
              <a:t>:</a:t>
            </a:r>
            <a:endParaRPr lang="zh-CN" altLang="en-US">
              <a:solidFill>
                <a:srgbClr val="FFFF66"/>
              </a:solidFill>
            </a:endParaRPr>
          </a:p>
        </p:txBody>
      </p:sp>
      <p:graphicFrame>
        <p:nvGraphicFramePr>
          <p:cNvPr id="36" name="Object 2">
            <a:extLst>
              <a:ext uri="{FF2B5EF4-FFF2-40B4-BE49-F238E27FC236}">
                <a16:creationId xmlns:a16="http://schemas.microsoft.com/office/drawing/2014/main" id="{B06050CC-F5E0-4FC9-B229-5831E7A938F6}"/>
              </a:ext>
            </a:extLst>
          </p:cNvPr>
          <p:cNvGraphicFramePr>
            <a:graphicFrameLocks/>
          </p:cNvGraphicFramePr>
          <p:nvPr/>
        </p:nvGraphicFramePr>
        <p:xfrm>
          <a:off x="1198563" y="1243013"/>
          <a:ext cx="750887" cy="785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0585" r:id="rId16" imgW="852120" imgH="896040" progId="Equation.3">
                  <p:embed/>
                </p:oleObj>
              </mc:Choice>
              <mc:Fallback>
                <p:oleObj r:id="rId16" imgW="852120" imgH="896040" progId="Equation.3">
                  <p:embed/>
                  <p:pic>
                    <p:nvPicPr>
                      <p:cNvPr id="36" name="Object 2">
                        <a:extLst>
                          <a:ext uri="{FF2B5EF4-FFF2-40B4-BE49-F238E27FC236}">
                            <a16:creationId xmlns:a16="http://schemas.microsoft.com/office/drawing/2014/main" id="{B06050CC-F5E0-4FC9-B229-5831E7A938F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8563" y="1243013"/>
                        <a:ext cx="750887" cy="785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3">
            <a:extLst>
              <a:ext uri="{FF2B5EF4-FFF2-40B4-BE49-F238E27FC236}">
                <a16:creationId xmlns:a16="http://schemas.microsoft.com/office/drawing/2014/main" id="{A89F3265-6718-4527-8629-92155268C041}"/>
              </a:ext>
            </a:extLst>
          </p:cNvPr>
          <p:cNvGraphicFramePr>
            <a:graphicFrameLocks/>
          </p:cNvGraphicFramePr>
          <p:nvPr/>
        </p:nvGraphicFramePr>
        <p:xfrm>
          <a:off x="1941513" y="1185863"/>
          <a:ext cx="1508125" cy="760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0586" r:id="rId18" imgW="1749240" imgH="862560" progId="Equation.3">
                  <p:embed/>
                </p:oleObj>
              </mc:Choice>
              <mc:Fallback>
                <p:oleObj r:id="rId18" imgW="1749240" imgH="862560" progId="Equation.3">
                  <p:embed/>
                  <p:pic>
                    <p:nvPicPr>
                      <p:cNvPr id="37" name="Object 3">
                        <a:extLst>
                          <a:ext uri="{FF2B5EF4-FFF2-40B4-BE49-F238E27FC236}">
                            <a16:creationId xmlns:a16="http://schemas.microsoft.com/office/drawing/2014/main" id="{A89F3265-6718-4527-8629-92155268C04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1513" y="1185863"/>
                        <a:ext cx="1508125" cy="760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36">
            <a:extLst>
              <a:ext uri="{FF2B5EF4-FFF2-40B4-BE49-F238E27FC236}">
                <a16:creationId xmlns:a16="http://schemas.microsoft.com/office/drawing/2014/main" id="{A65611B1-397B-415A-B0DF-EC765FBC48A3}"/>
              </a:ext>
            </a:extLst>
          </p:cNvPr>
          <p:cNvGraphicFramePr>
            <a:graphicFrameLocks/>
          </p:cNvGraphicFramePr>
          <p:nvPr/>
        </p:nvGraphicFramePr>
        <p:xfrm>
          <a:off x="3452813" y="1257300"/>
          <a:ext cx="1749425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0587" r:id="rId20" imgW="2029320" imgH="537480" progId="Equation.3">
                  <p:embed/>
                </p:oleObj>
              </mc:Choice>
              <mc:Fallback>
                <p:oleObj r:id="rId20" imgW="2029320" imgH="537480" progId="Equation.3">
                  <p:embed/>
                  <p:pic>
                    <p:nvPicPr>
                      <p:cNvPr id="38" name="Object 36">
                        <a:extLst>
                          <a:ext uri="{FF2B5EF4-FFF2-40B4-BE49-F238E27FC236}">
                            <a16:creationId xmlns:a16="http://schemas.microsoft.com/office/drawing/2014/main" id="{A65611B1-397B-415A-B0DF-EC765FBC48A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2813" y="1257300"/>
                        <a:ext cx="1749425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AutoShape 9">
            <a:extLst>
              <a:ext uri="{FF2B5EF4-FFF2-40B4-BE49-F238E27FC236}">
                <a16:creationId xmlns:a16="http://schemas.microsoft.com/office/drawing/2014/main" id="{25DA86EE-55B1-465D-84A4-10C7B90E4E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3450" y="981075"/>
            <a:ext cx="2378075" cy="763588"/>
          </a:xfrm>
          <a:prstGeom prst="wedgeRectCallout">
            <a:avLst>
              <a:gd name="adj1" fmla="val -79907"/>
              <a:gd name="adj2" fmla="val 28380"/>
            </a:avLst>
          </a:prstGeom>
          <a:solidFill>
            <a:srgbClr val="336699"/>
          </a:solidFill>
          <a:ln w="19050">
            <a:solidFill>
              <a:srgbClr val="FFCCFF"/>
            </a:solidFill>
            <a:miter lim="800000"/>
            <a:headEnd/>
            <a:tailEnd/>
          </a:ln>
        </p:spPr>
        <p:txBody>
          <a:bodyPr/>
          <a:lstStyle/>
          <a:p>
            <a:r>
              <a:rPr lang="zh-CN" altLang="en-US" sz="2000">
                <a:solidFill>
                  <a:schemeClr val="bg1"/>
                </a:solidFill>
                <a:ea typeface="楷体_GB2312" pitchFamily="49" charset="-122"/>
              </a:rPr>
              <a:t>当今最精密的仪器也无法测出</a:t>
            </a:r>
          </a:p>
          <a:p>
            <a:pPr algn="ctr"/>
            <a:endParaRPr lang="en-US" altLang="zh-CN" sz="2000">
              <a:solidFill>
                <a:schemeClr val="bg1"/>
              </a:solidFill>
              <a:ea typeface="楷体_GB2312" pitchFamily="49" charset="-122"/>
            </a:endParaRP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CF3E97DC-8387-4A27-8762-8468A30B437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643688" y="4987925"/>
            <a:ext cx="1738312" cy="1727200"/>
            <a:chOff x="3198" y="2795"/>
            <a:chExt cx="1416" cy="1407"/>
          </a:xfrm>
        </p:grpSpPr>
        <p:grpSp>
          <p:nvGrpSpPr>
            <p:cNvPr id="26664" name="Group 12">
              <a:extLst>
                <a:ext uri="{FF2B5EF4-FFF2-40B4-BE49-F238E27FC236}">
                  <a16:creationId xmlns:a16="http://schemas.microsoft.com/office/drawing/2014/main" id="{62DA9E67-472C-4C3D-90D3-81B2DBA64A6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98" y="2795"/>
              <a:ext cx="1416" cy="1407"/>
              <a:chOff x="1882" y="2432"/>
              <a:chExt cx="1824" cy="1770"/>
            </a:xfrm>
          </p:grpSpPr>
          <p:sp>
            <p:nvSpPr>
              <p:cNvPr id="26665" name="Oval 13">
                <a:extLst>
                  <a:ext uri="{FF2B5EF4-FFF2-40B4-BE49-F238E27FC236}">
                    <a16:creationId xmlns:a16="http://schemas.microsoft.com/office/drawing/2014/main" id="{37A425FA-946E-4F45-8740-F9F58CDDE1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64" y="2568"/>
                <a:ext cx="1454" cy="1454"/>
              </a:xfrm>
              <a:prstGeom prst="ellipse">
                <a:avLst/>
              </a:prstGeom>
              <a:noFill/>
              <a:ln w="31750">
                <a:solidFill>
                  <a:srgbClr val="FF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666" name="Freeform 14">
                <a:extLst>
                  <a:ext uri="{FF2B5EF4-FFF2-40B4-BE49-F238E27FC236}">
                    <a16:creationId xmlns:a16="http://schemas.microsoft.com/office/drawing/2014/main" id="{A840CCA8-4A0D-4A24-B086-61FA0F7975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82" y="2432"/>
                <a:ext cx="1824" cy="1770"/>
              </a:xfrm>
              <a:custGeom>
                <a:avLst/>
                <a:gdLst>
                  <a:gd name="T0" fmla="*/ 527 w 2408"/>
                  <a:gd name="T1" fmla="*/ 797 h 2337"/>
                  <a:gd name="T2" fmla="*/ 580 w 2408"/>
                  <a:gd name="T3" fmla="*/ 82 h 2337"/>
                  <a:gd name="T4" fmla="*/ 1259 w 2408"/>
                  <a:gd name="T5" fmla="*/ 373 h 2337"/>
                  <a:gd name="T6" fmla="*/ 1888 w 2408"/>
                  <a:gd name="T7" fmla="*/ 66 h 2337"/>
                  <a:gd name="T8" fmla="*/ 1917 w 2408"/>
                  <a:gd name="T9" fmla="*/ 768 h 2337"/>
                  <a:gd name="T10" fmla="*/ 2404 w 2408"/>
                  <a:gd name="T11" fmla="*/ 1138 h 2337"/>
                  <a:gd name="T12" fmla="*/ 1902 w 2408"/>
                  <a:gd name="T13" fmla="*/ 1485 h 2337"/>
                  <a:gd name="T14" fmla="*/ 1873 w 2408"/>
                  <a:gd name="T15" fmla="*/ 2261 h 2337"/>
                  <a:gd name="T16" fmla="*/ 1229 w 2408"/>
                  <a:gd name="T17" fmla="*/ 1939 h 2337"/>
                  <a:gd name="T18" fmla="*/ 585 w 2408"/>
                  <a:gd name="T19" fmla="*/ 2232 h 2337"/>
                  <a:gd name="T20" fmla="*/ 542 w 2408"/>
                  <a:gd name="T21" fmla="*/ 1529 h 2337"/>
                  <a:gd name="T22" fmla="*/ 29 w 2408"/>
                  <a:gd name="T23" fmla="*/ 1163 h 2337"/>
                  <a:gd name="T24" fmla="*/ 527 w 2408"/>
                  <a:gd name="T25" fmla="*/ 797 h 23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408" h="2337">
                    <a:moveTo>
                      <a:pt x="527" y="797"/>
                    </a:moveTo>
                    <a:cubicBezTo>
                      <a:pt x="631" y="621"/>
                      <a:pt x="458" y="153"/>
                      <a:pt x="580" y="82"/>
                    </a:cubicBezTo>
                    <a:cubicBezTo>
                      <a:pt x="702" y="11"/>
                      <a:pt x="1041" y="376"/>
                      <a:pt x="1259" y="373"/>
                    </a:cubicBezTo>
                    <a:cubicBezTo>
                      <a:pt x="1477" y="370"/>
                      <a:pt x="1778" y="0"/>
                      <a:pt x="1888" y="66"/>
                    </a:cubicBezTo>
                    <a:cubicBezTo>
                      <a:pt x="1998" y="132"/>
                      <a:pt x="1831" y="589"/>
                      <a:pt x="1917" y="768"/>
                    </a:cubicBezTo>
                    <a:cubicBezTo>
                      <a:pt x="2003" y="947"/>
                      <a:pt x="2408" y="952"/>
                      <a:pt x="2404" y="1138"/>
                    </a:cubicBezTo>
                    <a:cubicBezTo>
                      <a:pt x="2400" y="1324"/>
                      <a:pt x="1990" y="1303"/>
                      <a:pt x="1902" y="1485"/>
                    </a:cubicBezTo>
                    <a:cubicBezTo>
                      <a:pt x="1814" y="1672"/>
                      <a:pt x="1985" y="2185"/>
                      <a:pt x="1873" y="2261"/>
                    </a:cubicBezTo>
                    <a:cubicBezTo>
                      <a:pt x="1761" y="2337"/>
                      <a:pt x="1444" y="1944"/>
                      <a:pt x="1229" y="1939"/>
                    </a:cubicBezTo>
                    <a:cubicBezTo>
                      <a:pt x="1014" y="1934"/>
                      <a:pt x="700" y="2300"/>
                      <a:pt x="585" y="2232"/>
                    </a:cubicBezTo>
                    <a:cubicBezTo>
                      <a:pt x="470" y="2164"/>
                      <a:pt x="635" y="1707"/>
                      <a:pt x="542" y="1529"/>
                    </a:cubicBezTo>
                    <a:cubicBezTo>
                      <a:pt x="449" y="1351"/>
                      <a:pt x="58" y="1368"/>
                      <a:pt x="29" y="1163"/>
                    </a:cubicBezTo>
                    <a:cubicBezTo>
                      <a:pt x="0" y="958"/>
                      <a:pt x="423" y="873"/>
                      <a:pt x="527" y="797"/>
                    </a:cubicBezTo>
                    <a:close/>
                  </a:path>
                </a:pathLst>
              </a:custGeom>
              <a:noFill/>
              <a:ln w="25400">
                <a:solidFill>
                  <a:srgbClr val="FF0000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/>
              </a:p>
            </p:txBody>
          </p:sp>
        </p:grpSp>
        <p:sp>
          <p:nvSpPr>
            <p:cNvPr id="26667" name="Text Box 15">
              <a:extLst>
                <a:ext uri="{FF2B5EF4-FFF2-40B4-BE49-F238E27FC236}">
                  <a16:creationId xmlns:a16="http://schemas.microsoft.com/office/drawing/2014/main" id="{059446C4-C305-420B-8036-0D85116E85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91" y="3155"/>
              <a:ext cx="654" cy="6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2300">
                  <a:solidFill>
                    <a:srgbClr val="FF0000"/>
                  </a:solidFill>
                </a:rPr>
                <a:t>电子</a:t>
              </a:r>
              <a:endParaRPr lang="en-US" altLang="zh-CN" sz="2300">
                <a:solidFill>
                  <a:srgbClr val="FF0000"/>
                </a:solidFill>
              </a:endParaRPr>
            </a:p>
            <a:p>
              <a:pPr algn="ctr"/>
              <a:r>
                <a:rPr lang="zh-CN" altLang="en-US" sz="2300">
                  <a:solidFill>
                    <a:srgbClr val="FF0000"/>
                  </a:solidFill>
                </a:rPr>
                <a:t>驻波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7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28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128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6" grpId="0"/>
      <p:bldP spid="128023" grpId="0"/>
      <p:bldP spid="34" grpId="0"/>
      <p:bldP spid="35" grpId="0"/>
      <p:bldP spid="3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25" name="Rectangle 21">
            <a:extLst>
              <a:ext uri="{FF2B5EF4-FFF2-40B4-BE49-F238E27FC236}">
                <a16:creationId xmlns:a16="http://schemas.microsoft.com/office/drawing/2014/main" id="{F9A1568B-38BB-464D-8E72-395A58DC80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388" y="428625"/>
            <a:ext cx="8139112" cy="14779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0" hangingPunct="0">
              <a:lnSpc>
                <a:spcPts val="3600"/>
              </a:lnSpc>
            </a:pPr>
            <a:r>
              <a:rPr lang="zh-CN" altLang="en-US" dirty="0">
                <a:solidFill>
                  <a:srgbClr val="00FFFF"/>
                </a:solidFill>
                <a:latin typeface="宋体" panose="02010600030101010101" pitchFamily="2" charset="-122"/>
              </a:rPr>
              <a:t> </a:t>
            </a:r>
            <a:r>
              <a:rPr lang="zh-CN" altLang="en-US" dirty="0">
                <a:solidFill>
                  <a:srgbClr val="FFFF00"/>
                </a:solidFill>
                <a:latin typeface="宋体" panose="02010600030101010101" pitchFamily="2" charset="-122"/>
              </a:rPr>
              <a:t>例：</a:t>
            </a:r>
            <a:r>
              <a:rPr lang="zh-CN" altLang="en-US" dirty="0">
                <a:solidFill>
                  <a:srgbClr val="FFFFFF"/>
                </a:solidFill>
                <a:latin typeface="宋体" panose="02010600030101010101" pitchFamily="2" charset="-122"/>
              </a:rPr>
              <a:t>设电子的总能量可写成动能和静能之和。试推导出计</a:t>
            </a:r>
            <a:endParaRPr lang="en-US" altLang="zh-CN" dirty="0">
              <a:solidFill>
                <a:srgbClr val="FFFFFF"/>
              </a:solidFill>
              <a:latin typeface="宋体" panose="02010600030101010101" pitchFamily="2" charset="-122"/>
            </a:endParaRPr>
          </a:p>
          <a:p>
            <a:pPr eaLnBrk="0" hangingPunct="0">
              <a:lnSpc>
                <a:spcPts val="3600"/>
              </a:lnSpc>
            </a:pPr>
            <a:r>
              <a:rPr lang="en-US" altLang="zh-CN" dirty="0">
                <a:solidFill>
                  <a:srgbClr val="FFFFFF"/>
                </a:solidFill>
                <a:latin typeface="宋体" panose="02010600030101010101" pitchFamily="2" charset="-122"/>
              </a:rPr>
              <a:t>     </a:t>
            </a:r>
            <a:r>
              <a:rPr lang="zh-CN" altLang="en-US" dirty="0">
                <a:solidFill>
                  <a:srgbClr val="FFFFFF"/>
                </a:solidFill>
                <a:latin typeface="宋体" panose="02010600030101010101" pitchFamily="2" charset="-122"/>
              </a:rPr>
              <a:t>算物质波波长公式，以及当电子速度比光速小得多时</a:t>
            </a:r>
            <a:endParaRPr lang="en-US" altLang="zh-CN" dirty="0">
              <a:solidFill>
                <a:srgbClr val="FFFFFF"/>
              </a:solidFill>
              <a:latin typeface="宋体" panose="02010600030101010101" pitchFamily="2" charset="-122"/>
            </a:endParaRPr>
          </a:p>
          <a:p>
            <a:pPr eaLnBrk="0" hangingPunct="0">
              <a:lnSpc>
                <a:spcPts val="3600"/>
              </a:lnSpc>
            </a:pPr>
            <a:r>
              <a:rPr lang="en-US" altLang="zh-CN" dirty="0">
                <a:solidFill>
                  <a:srgbClr val="FFFFFF"/>
                </a:solidFill>
                <a:latin typeface="宋体" panose="02010600030101010101" pitchFamily="2" charset="-122"/>
              </a:rPr>
              <a:t>     </a:t>
            </a:r>
            <a:r>
              <a:rPr lang="zh-CN" altLang="en-US" dirty="0">
                <a:solidFill>
                  <a:srgbClr val="FFFFFF"/>
                </a:solidFill>
                <a:latin typeface="宋体" panose="02010600030101010101" pitchFamily="2" charset="-122"/>
              </a:rPr>
              <a:t>的近似式。</a:t>
            </a:r>
          </a:p>
        </p:txBody>
      </p:sp>
      <p:graphicFrame>
        <p:nvGraphicFramePr>
          <p:cNvPr id="175127" name="Object 2">
            <a:extLst>
              <a:ext uri="{FF2B5EF4-FFF2-40B4-BE49-F238E27FC236}">
                <a16:creationId xmlns:a16="http://schemas.microsoft.com/office/drawing/2014/main" id="{028EECF6-1872-4FA7-8A14-60A75F654E8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8750" y="1928813"/>
          <a:ext cx="25146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594" r:id="rId3" imgW="1334160" imgH="291240" progId="Equation.3">
                  <p:embed/>
                </p:oleObj>
              </mc:Choice>
              <mc:Fallback>
                <p:oleObj r:id="rId3" imgW="1334160" imgH="291240" progId="Equation.3">
                  <p:embed/>
                  <p:pic>
                    <p:nvPicPr>
                      <p:cNvPr id="175127" name="Object 2">
                        <a:extLst>
                          <a:ext uri="{FF2B5EF4-FFF2-40B4-BE49-F238E27FC236}">
                            <a16:creationId xmlns:a16="http://schemas.microsoft.com/office/drawing/2014/main" id="{028EECF6-1872-4FA7-8A14-60A75F654E8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lum bright="3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8750" y="1928813"/>
                        <a:ext cx="251460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5128" name="Rectangle 24">
            <a:extLst>
              <a:ext uri="{FF2B5EF4-FFF2-40B4-BE49-F238E27FC236}">
                <a16:creationId xmlns:a16="http://schemas.microsoft.com/office/drawing/2014/main" id="{7A978A9C-279C-4791-8F63-4AC95D2814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063" y="1971675"/>
            <a:ext cx="13890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>
                <a:solidFill>
                  <a:srgbClr val="FFFF00"/>
                </a:solidFill>
                <a:ea typeface="楷体_GB2312" pitchFamily="49" charset="-122"/>
              </a:rPr>
              <a:t>解：</a:t>
            </a:r>
          </a:p>
        </p:txBody>
      </p:sp>
      <p:graphicFrame>
        <p:nvGraphicFramePr>
          <p:cNvPr id="175129" name="Object 3">
            <a:extLst>
              <a:ext uri="{FF2B5EF4-FFF2-40B4-BE49-F238E27FC236}">
                <a16:creationId xmlns:a16="http://schemas.microsoft.com/office/drawing/2014/main" id="{2A1097F4-972B-48C3-98F3-78E07AA495B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71625" y="2571750"/>
          <a:ext cx="2876550" cy="865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595" r:id="rId5" imgW="1524960" imgH="447840" progId="Equation.3">
                  <p:embed/>
                </p:oleObj>
              </mc:Choice>
              <mc:Fallback>
                <p:oleObj r:id="rId5" imgW="1524960" imgH="447840" progId="Equation.3">
                  <p:embed/>
                  <p:pic>
                    <p:nvPicPr>
                      <p:cNvPr id="175129" name="Object 3">
                        <a:extLst>
                          <a:ext uri="{FF2B5EF4-FFF2-40B4-BE49-F238E27FC236}">
                            <a16:creationId xmlns:a16="http://schemas.microsoft.com/office/drawing/2014/main" id="{2A1097F4-972B-48C3-98F3-78E07AA495B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lum bright="3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1625" y="2571750"/>
                        <a:ext cx="2876550" cy="865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5130" name="Object 4">
            <a:extLst>
              <a:ext uri="{FF2B5EF4-FFF2-40B4-BE49-F238E27FC236}">
                <a16:creationId xmlns:a16="http://schemas.microsoft.com/office/drawing/2014/main" id="{19E99B25-39AD-4E22-8F84-02036EC441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29125" y="2571750"/>
          <a:ext cx="3825875" cy="865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596" r:id="rId7" imgW="2040840" imgH="447840" progId="Equation.3">
                  <p:embed/>
                </p:oleObj>
              </mc:Choice>
              <mc:Fallback>
                <p:oleObj r:id="rId7" imgW="2040840" imgH="447840" progId="Equation.3">
                  <p:embed/>
                  <p:pic>
                    <p:nvPicPr>
                      <p:cNvPr id="175130" name="Object 4">
                        <a:extLst>
                          <a:ext uri="{FF2B5EF4-FFF2-40B4-BE49-F238E27FC236}">
                            <a16:creationId xmlns:a16="http://schemas.microsoft.com/office/drawing/2014/main" id="{19E99B25-39AD-4E22-8F84-02036EC441A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lum bright="3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9125" y="2571750"/>
                        <a:ext cx="3825875" cy="865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5131" name="Object 5">
            <a:extLst>
              <a:ext uri="{FF2B5EF4-FFF2-40B4-BE49-F238E27FC236}">
                <a16:creationId xmlns:a16="http://schemas.microsoft.com/office/drawing/2014/main" id="{8A6F5BBD-EF18-4242-A529-FCF43780F5F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57375" y="3635375"/>
          <a:ext cx="2820988" cy="865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597" r:id="rId9" imgW="1502640" imgH="447840" progId="Equation.3">
                  <p:embed/>
                </p:oleObj>
              </mc:Choice>
              <mc:Fallback>
                <p:oleObj r:id="rId9" imgW="1502640" imgH="447840" progId="Equation.3">
                  <p:embed/>
                  <p:pic>
                    <p:nvPicPr>
                      <p:cNvPr id="175131" name="Object 5">
                        <a:extLst>
                          <a:ext uri="{FF2B5EF4-FFF2-40B4-BE49-F238E27FC236}">
                            <a16:creationId xmlns:a16="http://schemas.microsoft.com/office/drawing/2014/main" id="{8A6F5BBD-EF18-4242-A529-FCF43780F5F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lum bright="3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7375" y="3635375"/>
                        <a:ext cx="2820988" cy="865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5132" name="Object 6">
            <a:extLst>
              <a:ext uri="{FF2B5EF4-FFF2-40B4-BE49-F238E27FC236}">
                <a16:creationId xmlns:a16="http://schemas.microsoft.com/office/drawing/2014/main" id="{F615ECEA-FF48-4C9B-81E9-438DE900638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27138" y="5227638"/>
          <a:ext cx="1004887" cy="1008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598" r:id="rId11" imgW="482040" imgH="481680" progId="Equation.3">
                  <p:embed/>
                </p:oleObj>
              </mc:Choice>
              <mc:Fallback>
                <p:oleObj r:id="rId11" imgW="482040" imgH="481680" progId="Equation.3">
                  <p:embed/>
                  <p:pic>
                    <p:nvPicPr>
                      <p:cNvPr id="175132" name="Object 6">
                        <a:extLst>
                          <a:ext uri="{FF2B5EF4-FFF2-40B4-BE49-F238E27FC236}">
                            <a16:creationId xmlns:a16="http://schemas.microsoft.com/office/drawing/2014/main" id="{F615ECEA-FF48-4C9B-81E9-438DE900638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lum bright="3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7138" y="5227638"/>
                        <a:ext cx="1004887" cy="1008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5133" name="Rectangle 29">
            <a:extLst>
              <a:ext uri="{FF2B5EF4-FFF2-40B4-BE49-F238E27FC236}">
                <a16:creationId xmlns:a16="http://schemas.microsoft.com/office/drawing/2014/main" id="{1B524717-7CC6-4568-9B91-6FD10F725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4438" y="4614863"/>
            <a:ext cx="3681412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>
                <a:solidFill>
                  <a:srgbClr val="FFFFFF"/>
                </a:solidFill>
                <a:latin typeface="宋体" panose="02010600030101010101" pitchFamily="2" charset="-122"/>
              </a:rPr>
              <a:t>由德布罗意关系有</a:t>
            </a:r>
          </a:p>
        </p:txBody>
      </p:sp>
      <p:graphicFrame>
        <p:nvGraphicFramePr>
          <p:cNvPr id="175134" name="Object 7">
            <a:extLst>
              <a:ext uri="{FF2B5EF4-FFF2-40B4-BE49-F238E27FC236}">
                <a16:creationId xmlns:a16="http://schemas.microsoft.com/office/drawing/2014/main" id="{998DDBCB-A35F-47C8-A3F9-6735859B4F6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32025" y="5226050"/>
          <a:ext cx="2625725" cy="106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599" r:id="rId13" imgW="1390320" imgH="560160" progId="Equation.3">
                  <p:embed/>
                </p:oleObj>
              </mc:Choice>
              <mc:Fallback>
                <p:oleObj r:id="rId13" imgW="1390320" imgH="560160" progId="Equation.3">
                  <p:embed/>
                  <p:pic>
                    <p:nvPicPr>
                      <p:cNvPr id="175134" name="Object 7">
                        <a:extLst>
                          <a:ext uri="{FF2B5EF4-FFF2-40B4-BE49-F238E27FC236}">
                            <a16:creationId xmlns:a16="http://schemas.microsoft.com/office/drawing/2014/main" id="{998DDBCB-A35F-47C8-A3F9-6735859B4F6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lum bright="3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2025" y="5226050"/>
                        <a:ext cx="2625725" cy="1060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5135" name="Object 8">
            <a:extLst>
              <a:ext uri="{FF2B5EF4-FFF2-40B4-BE49-F238E27FC236}">
                <a16:creationId xmlns:a16="http://schemas.microsoft.com/office/drawing/2014/main" id="{1D7AC2EA-767B-4ACE-90CD-A98B0ED0381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72063" y="5095875"/>
          <a:ext cx="922337" cy="307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600" r:id="rId15" imgW="482040" imgH="156960" progId="Equation.3">
                  <p:embed/>
                </p:oleObj>
              </mc:Choice>
              <mc:Fallback>
                <p:oleObj r:id="rId15" imgW="482040" imgH="156960" progId="Equation.3">
                  <p:embed/>
                  <p:pic>
                    <p:nvPicPr>
                      <p:cNvPr id="175135" name="Object 8">
                        <a:extLst>
                          <a:ext uri="{FF2B5EF4-FFF2-40B4-BE49-F238E27FC236}">
                            <a16:creationId xmlns:a16="http://schemas.microsoft.com/office/drawing/2014/main" id="{1D7AC2EA-767B-4ACE-90CD-A98B0ED0381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lum bright="3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2063" y="5095875"/>
                        <a:ext cx="922337" cy="307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5136" name="Object 9">
            <a:extLst>
              <a:ext uri="{FF2B5EF4-FFF2-40B4-BE49-F238E27FC236}">
                <a16:creationId xmlns:a16="http://schemas.microsoft.com/office/drawing/2014/main" id="{1A173183-53B4-469F-A64C-380B2707481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86500" y="5214938"/>
          <a:ext cx="1843088" cy="1004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601" r:id="rId17" imgW="975600" imgH="526320" progId="Equation.3">
                  <p:embed/>
                </p:oleObj>
              </mc:Choice>
              <mc:Fallback>
                <p:oleObj r:id="rId17" imgW="975600" imgH="526320" progId="Equation.3">
                  <p:embed/>
                  <p:pic>
                    <p:nvPicPr>
                      <p:cNvPr id="175136" name="Object 9">
                        <a:extLst>
                          <a:ext uri="{FF2B5EF4-FFF2-40B4-BE49-F238E27FC236}">
                            <a16:creationId xmlns:a16="http://schemas.microsoft.com/office/drawing/2014/main" id="{1A173183-53B4-469F-A64C-380B2707481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lum bright="3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6500" y="5214938"/>
                        <a:ext cx="1843088" cy="1004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5139" name="AutoShape 35">
            <a:extLst>
              <a:ext uri="{FF2B5EF4-FFF2-40B4-BE49-F238E27FC236}">
                <a16:creationId xmlns:a16="http://schemas.microsoft.com/office/drawing/2014/main" id="{39EAD3F5-CA81-453F-AA89-D69FF1018E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2063" y="5553075"/>
            <a:ext cx="990600" cy="304800"/>
          </a:xfrm>
          <a:prstGeom prst="rightArrow">
            <a:avLst>
              <a:gd name="adj1" fmla="val 50000"/>
              <a:gd name="adj2" fmla="val 81250"/>
            </a:avLst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685" name="灯片编号占位符 1">
            <a:extLst>
              <a:ext uri="{FF2B5EF4-FFF2-40B4-BE49-F238E27FC236}">
                <a16:creationId xmlns:a16="http://schemas.microsoft.com/office/drawing/2014/main" id="{F8F698BA-9B13-4D2B-8523-960106F95E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44499085-CE3D-4602-B846-6945124F05B7}" type="slidenum">
              <a:rPr lang="en-US" altLang="zh-CN" b="0" smtClean="0">
                <a:solidFill>
                  <a:srgbClr val="FF00FF"/>
                </a:solidFill>
              </a:rPr>
              <a:pPr/>
              <a:t>21</a:t>
            </a:fld>
            <a:r>
              <a:rPr lang="en-US" altLang="zh-CN" b="0" dirty="0">
                <a:solidFill>
                  <a:srgbClr val="FF00FF"/>
                </a:solidFill>
              </a:rPr>
              <a:t>/28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175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" fill="hold"/>
                                        <p:tgtEl>
                                          <p:spTgt spid="175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7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5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5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75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5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75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5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75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5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3" presetClass="entr" presetSubtype="52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300" fill="hold"/>
                                        <p:tgtEl>
                                          <p:spTgt spid="1751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300" fill="hold"/>
                                        <p:tgtEl>
                                          <p:spTgt spid="1751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300" fill="hold"/>
                                        <p:tgtEl>
                                          <p:spTgt spid="175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300" fill="hold"/>
                                        <p:tgtEl>
                                          <p:spTgt spid="175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75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75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6" dur="500"/>
                                        <p:tgtEl>
                                          <p:spTgt spid="175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175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751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751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75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75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5128" grpId="0"/>
      <p:bldP spid="17513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538" name="Rectangle 2">
            <a:extLst>
              <a:ext uri="{FF2B5EF4-FFF2-40B4-BE49-F238E27FC236}">
                <a16:creationId xmlns:a16="http://schemas.microsoft.com/office/drawing/2014/main" id="{02D95068-3BBC-4FDB-9BEA-09D43906A5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245592"/>
            <a:ext cx="4968875" cy="519112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zh-CN" altLang="en-US" sz="2800" dirty="0">
                <a:solidFill>
                  <a:srgbClr val="FFFF00"/>
                </a:solidFill>
                <a:latin typeface="宋体" panose="02010600030101010101" pitchFamily="2" charset="-122"/>
              </a:rPr>
              <a:t>二</a:t>
            </a:r>
            <a:r>
              <a:rPr lang="en-US" altLang="zh-CN" sz="2800" dirty="0">
                <a:solidFill>
                  <a:srgbClr val="FFFF00"/>
                </a:solidFill>
                <a:latin typeface="宋体" panose="02010600030101010101" pitchFamily="2" charset="-122"/>
              </a:rPr>
              <a:t>. </a:t>
            </a:r>
            <a:r>
              <a:rPr lang="zh-CN" altLang="en-US" sz="2800" dirty="0">
                <a:solidFill>
                  <a:srgbClr val="FFFF00"/>
                </a:solidFill>
                <a:latin typeface="宋体" panose="02010600030101010101" pitchFamily="2" charset="-122"/>
              </a:rPr>
              <a:t>德布罗意波的实验验证</a:t>
            </a:r>
            <a:endParaRPr lang="zh-CN" altLang="en-US" sz="2800" dirty="0">
              <a:solidFill>
                <a:schemeClr val="accent1"/>
              </a:solidFill>
              <a:latin typeface="宋体" panose="02010600030101010101" pitchFamily="2" charset="-122"/>
            </a:endParaRPr>
          </a:p>
        </p:txBody>
      </p:sp>
      <p:sp>
        <p:nvSpPr>
          <p:cNvPr id="1345539" name="Text Box 3">
            <a:extLst>
              <a:ext uri="{FF2B5EF4-FFF2-40B4-BE49-F238E27FC236}">
                <a16:creationId xmlns:a16="http://schemas.microsoft.com/office/drawing/2014/main" id="{5E3C17FA-744E-4F66-91C6-6EF79A290D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806798"/>
            <a:ext cx="47180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dirty="0">
                <a:solidFill>
                  <a:srgbClr val="00FFFF"/>
                </a:solidFill>
              </a:rPr>
              <a:t>1. </a:t>
            </a:r>
            <a:r>
              <a:rPr lang="zh-CN" altLang="en-US" dirty="0">
                <a:solidFill>
                  <a:srgbClr val="00FFFF"/>
                </a:solidFill>
              </a:rPr>
              <a:t>戴维逊</a:t>
            </a:r>
            <a:r>
              <a:rPr lang="en-US" altLang="zh-CN" dirty="0">
                <a:solidFill>
                  <a:srgbClr val="00FFFF"/>
                </a:solidFill>
              </a:rPr>
              <a:t>-</a:t>
            </a:r>
            <a:r>
              <a:rPr lang="zh-CN" altLang="en-US" dirty="0">
                <a:solidFill>
                  <a:srgbClr val="00FFFF"/>
                </a:solidFill>
              </a:rPr>
              <a:t>革末实验</a:t>
            </a:r>
          </a:p>
        </p:txBody>
      </p:sp>
      <p:sp>
        <p:nvSpPr>
          <p:cNvPr id="1345599" name="Text Box 63">
            <a:extLst>
              <a:ext uri="{FF2B5EF4-FFF2-40B4-BE49-F238E27FC236}">
                <a16:creationId xmlns:a16="http://schemas.microsoft.com/office/drawing/2014/main" id="{5AEA41F2-51A6-4CA4-9AAD-A9B1F4B52C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1320983"/>
            <a:ext cx="8310835" cy="1891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ts val="3600"/>
              </a:lnSpc>
            </a:pPr>
            <a:r>
              <a:rPr lang="en-US" altLang="zh-CN" dirty="0">
                <a:solidFill>
                  <a:srgbClr val="FFFF00"/>
                </a:solidFill>
              </a:rPr>
              <a:t>1927</a:t>
            </a:r>
            <a:r>
              <a:rPr lang="zh-CN" altLang="en-US" dirty="0">
                <a:solidFill>
                  <a:srgbClr val="FFFF00"/>
                </a:solidFill>
              </a:rPr>
              <a:t>年</a:t>
            </a:r>
            <a:r>
              <a:rPr lang="zh-CN" altLang="en-US" dirty="0">
                <a:solidFill>
                  <a:schemeClr val="bg1"/>
                </a:solidFill>
              </a:rPr>
              <a:t>，戴维逊和革末的电子</a:t>
            </a:r>
            <a:endParaRPr lang="en-US" altLang="zh-CN" dirty="0">
              <a:solidFill>
                <a:schemeClr val="bg1"/>
              </a:solidFill>
            </a:endParaRPr>
          </a:p>
          <a:p>
            <a:pPr>
              <a:lnSpc>
                <a:spcPts val="3600"/>
              </a:lnSpc>
            </a:pPr>
            <a:r>
              <a:rPr lang="zh-CN" altLang="en-US" dirty="0">
                <a:solidFill>
                  <a:schemeClr val="bg1"/>
                </a:solidFill>
              </a:rPr>
              <a:t>散射实验是用</a:t>
            </a:r>
            <a:r>
              <a:rPr lang="zh-CN" altLang="en-US" dirty="0">
                <a:solidFill>
                  <a:srgbClr val="FFFF00"/>
                </a:solidFill>
              </a:rPr>
              <a:t>电子束</a:t>
            </a:r>
            <a:r>
              <a:rPr lang="zh-CN" altLang="en-US" dirty="0">
                <a:solidFill>
                  <a:schemeClr val="bg1"/>
                </a:solidFill>
              </a:rPr>
              <a:t>垂直投射</a:t>
            </a:r>
            <a:endParaRPr lang="en-US" altLang="zh-CN" dirty="0">
              <a:solidFill>
                <a:schemeClr val="bg1"/>
              </a:solidFill>
            </a:endParaRPr>
          </a:p>
          <a:p>
            <a:pPr>
              <a:lnSpc>
                <a:spcPts val="3600"/>
              </a:lnSpc>
            </a:pPr>
            <a:r>
              <a:rPr lang="zh-CN" altLang="en-US" dirty="0">
                <a:solidFill>
                  <a:schemeClr val="bg1"/>
                </a:solidFill>
              </a:rPr>
              <a:t>到</a:t>
            </a:r>
            <a:r>
              <a:rPr lang="zh-CN" altLang="en-US" dirty="0">
                <a:solidFill>
                  <a:srgbClr val="FFFF00"/>
                </a:solidFill>
              </a:rPr>
              <a:t>镍单晶</a:t>
            </a:r>
            <a:r>
              <a:rPr lang="zh-CN" altLang="en-US" dirty="0">
                <a:solidFill>
                  <a:schemeClr val="bg1"/>
                </a:solidFill>
              </a:rPr>
              <a:t>，电子束被散射。散射电子的强度分布可用德布罗意关系和衍射理论给以解释，从而验证了物质波的存在。</a:t>
            </a:r>
          </a:p>
        </p:txBody>
      </p:sp>
      <p:sp>
        <p:nvSpPr>
          <p:cNvPr id="1345601" name="Rectangle 65">
            <a:extLst>
              <a:ext uri="{FF2B5EF4-FFF2-40B4-BE49-F238E27FC236}">
                <a16:creationId xmlns:a16="http://schemas.microsoft.com/office/drawing/2014/main" id="{212A6C66-5E1C-4F24-8691-AF664C7363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875" y="3284984"/>
            <a:ext cx="5544613" cy="10135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ts val="3800"/>
              </a:lnSpc>
            </a:pPr>
            <a:r>
              <a:rPr lang="zh-CN" altLang="en-US" dirty="0">
                <a:solidFill>
                  <a:srgbClr val="FF0000"/>
                </a:solidFill>
              </a:rPr>
              <a:t>实验：</a:t>
            </a:r>
            <a:r>
              <a:rPr lang="zh-CN" altLang="en-US" dirty="0">
                <a:solidFill>
                  <a:schemeClr val="bg1"/>
                </a:solidFill>
              </a:rPr>
              <a:t>在加速电压</a:t>
            </a:r>
            <a:r>
              <a:rPr lang="en-US" altLang="zh-CN" dirty="0">
                <a:solidFill>
                  <a:srgbClr val="FFFF00"/>
                </a:solidFill>
              </a:rPr>
              <a:t>U= 54V</a:t>
            </a:r>
            <a:r>
              <a:rPr lang="zh-CN" altLang="en-US" dirty="0">
                <a:solidFill>
                  <a:schemeClr val="bg1"/>
                </a:solidFill>
              </a:rPr>
              <a:t>，</a:t>
            </a:r>
            <a:r>
              <a:rPr lang="el-GR" altLang="zh-CN" i="1" dirty="0">
                <a:solidFill>
                  <a:srgbClr val="FFFF00"/>
                </a:solidFill>
              </a:rPr>
              <a:t>θ</a:t>
            </a:r>
            <a:r>
              <a:rPr lang="en-US" altLang="zh-CN" dirty="0">
                <a:solidFill>
                  <a:srgbClr val="FFFF00"/>
                </a:solidFill>
              </a:rPr>
              <a:t>=50</a:t>
            </a:r>
            <a:r>
              <a:rPr lang="en-US" altLang="zh-CN" baseline="30000" dirty="0">
                <a:solidFill>
                  <a:srgbClr val="FFFF00"/>
                </a:solidFill>
              </a:rPr>
              <a:t>°</a:t>
            </a:r>
            <a:r>
              <a:rPr lang="zh-CN" altLang="en-US" dirty="0">
                <a:solidFill>
                  <a:schemeClr val="bg1"/>
                </a:solidFill>
              </a:rPr>
              <a:t>时，探测器中的电流出现极大值。</a:t>
            </a:r>
            <a:endParaRPr lang="en-US" altLang="zh-CN" dirty="0">
              <a:solidFill>
                <a:schemeClr val="bg1"/>
              </a:solidFill>
            </a:endParaRPr>
          </a:p>
        </p:txBody>
      </p:sp>
      <p:grpSp>
        <p:nvGrpSpPr>
          <p:cNvPr id="2" name="Group 71">
            <a:extLst>
              <a:ext uri="{FF2B5EF4-FFF2-40B4-BE49-F238E27FC236}">
                <a16:creationId xmlns:a16="http://schemas.microsoft.com/office/drawing/2014/main" id="{91433A10-8D62-40F4-8A49-3782B89F97B0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51520" y="4077072"/>
            <a:ext cx="3278426" cy="2514616"/>
            <a:chOff x="340" y="1797"/>
            <a:chExt cx="2425" cy="1860"/>
          </a:xfrm>
        </p:grpSpPr>
        <p:grpSp>
          <p:nvGrpSpPr>
            <p:cNvPr id="29702" name="Group 4">
              <a:extLst>
                <a:ext uri="{FF2B5EF4-FFF2-40B4-BE49-F238E27FC236}">
                  <a16:creationId xmlns:a16="http://schemas.microsoft.com/office/drawing/2014/main" id="{9D31EE79-517F-4259-AF66-C835FE96B8E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0" y="1797"/>
              <a:ext cx="2425" cy="1860"/>
              <a:chOff x="295" y="1995"/>
              <a:chExt cx="2483" cy="1897"/>
            </a:xfrm>
          </p:grpSpPr>
          <p:sp>
            <p:nvSpPr>
              <p:cNvPr id="29703" name="Line 5">
                <a:extLst>
                  <a:ext uri="{FF2B5EF4-FFF2-40B4-BE49-F238E27FC236}">
                    <a16:creationId xmlns:a16="http://schemas.microsoft.com/office/drawing/2014/main" id="{C59495B2-9525-4DCE-B286-CA4BFBA177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91" y="2357"/>
                <a:ext cx="0" cy="1104"/>
              </a:xfrm>
              <a:prstGeom prst="line">
                <a:avLst/>
              </a:prstGeom>
              <a:noFill/>
              <a:ln w="25400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29704" name="Group 6">
                <a:extLst>
                  <a:ext uri="{FF2B5EF4-FFF2-40B4-BE49-F238E27FC236}">
                    <a16:creationId xmlns:a16="http://schemas.microsoft.com/office/drawing/2014/main" id="{8697DB58-4416-4F5F-881C-A9D7738BD60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91" y="2636"/>
                <a:ext cx="816" cy="816"/>
                <a:chOff x="1872" y="2112"/>
                <a:chExt cx="816" cy="816"/>
              </a:xfrm>
            </p:grpSpPr>
            <p:sp>
              <p:nvSpPr>
                <p:cNvPr id="29705" name="Line 7">
                  <a:extLst>
                    <a:ext uri="{FF2B5EF4-FFF2-40B4-BE49-F238E27FC236}">
                      <a16:creationId xmlns:a16="http://schemas.microsoft.com/office/drawing/2014/main" id="{08F273AD-72E9-41AB-84BA-AB1BA8DA1EB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872" y="2208"/>
                  <a:ext cx="720" cy="720"/>
                </a:xfrm>
                <a:prstGeom prst="line">
                  <a:avLst/>
                </a:prstGeom>
                <a:noFill/>
                <a:ln w="25400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706" name="Line 8">
                  <a:extLst>
                    <a:ext uri="{FF2B5EF4-FFF2-40B4-BE49-F238E27FC236}">
                      <a16:creationId xmlns:a16="http://schemas.microsoft.com/office/drawing/2014/main" id="{00A4DAA6-6A1A-4CBB-8FED-DBFE898FAC2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352" y="2112"/>
                  <a:ext cx="288" cy="288"/>
                </a:xfrm>
                <a:prstGeom prst="line">
                  <a:avLst/>
                </a:prstGeom>
                <a:noFill/>
                <a:ln w="25400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707" name="Line 9">
                  <a:extLst>
                    <a:ext uri="{FF2B5EF4-FFF2-40B4-BE49-F238E27FC236}">
                      <a16:creationId xmlns:a16="http://schemas.microsoft.com/office/drawing/2014/main" id="{D5CD18B8-71CB-49D6-AA3D-FA51899C21E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352" y="2160"/>
                  <a:ext cx="288" cy="28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708" name="Line 10">
                  <a:extLst>
                    <a:ext uri="{FF2B5EF4-FFF2-40B4-BE49-F238E27FC236}">
                      <a16:creationId xmlns:a16="http://schemas.microsoft.com/office/drawing/2014/main" id="{EBC3B29F-F506-4C50-B216-7F22C195439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400" y="2160"/>
                  <a:ext cx="288" cy="288"/>
                </a:xfrm>
                <a:prstGeom prst="line">
                  <a:avLst/>
                </a:prstGeom>
                <a:noFill/>
                <a:ln w="25400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709" name="Line 11">
                  <a:extLst>
                    <a:ext uri="{FF2B5EF4-FFF2-40B4-BE49-F238E27FC236}">
                      <a16:creationId xmlns:a16="http://schemas.microsoft.com/office/drawing/2014/main" id="{40DE3E64-9FC1-4866-B6AE-B1500566B9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2" y="2400"/>
                  <a:ext cx="48" cy="48"/>
                </a:xfrm>
                <a:prstGeom prst="line">
                  <a:avLst/>
                </a:prstGeom>
                <a:noFill/>
                <a:ln w="25400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710" name="Line 12">
                  <a:extLst>
                    <a:ext uri="{FF2B5EF4-FFF2-40B4-BE49-F238E27FC236}">
                      <a16:creationId xmlns:a16="http://schemas.microsoft.com/office/drawing/2014/main" id="{2A2053B1-4691-4D24-A639-8AACE34B774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39" y="2125"/>
                  <a:ext cx="49" cy="49"/>
                </a:xfrm>
                <a:prstGeom prst="line">
                  <a:avLst/>
                </a:prstGeom>
                <a:noFill/>
                <a:ln w="25400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711" name="Group 13">
                <a:extLst>
                  <a:ext uri="{FF2B5EF4-FFF2-40B4-BE49-F238E27FC236}">
                    <a16:creationId xmlns:a16="http://schemas.microsoft.com/office/drawing/2014/main" id="{8D43B1A3-5D12-457B-96EF-4EA21B8B0A7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5" y="1995"/>
                <a:ext cx="1532" cy="1288"/>
                <a:chOff x="576" y="1510"/>
                <a:chExt cx="1532" cy="1288"/>
              </a:xfrm>
            </p:grpSpPr>
            <p:grpSp>
              <p:nvGrpSpPr>
                <p:cNvPr id="29712" name="Group 14">
                  <a:extLst>
                    <a:ext uri="{FF2B5EF4-FFF2-40B4-BE49-F238E27FC236}">
                      <a16:creationId xmlns:a16="http://schemas.microsoft.com/office/drawing/2014/main" id="{58F55F01-AD4C-4776-9225-88D98B9DDFB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628" y="2064"/>
                  <a:ext cx="480" cy="48"/>
                  <a:chOff x="1680" y="2064"/>
                  <a:chExt cx="480" cy="48"/>
                </a:xfrm>
              </p:grpSpPr>
              <p:sp>
                <p:nvSpPr>
                  <p:cNvPr id="29713" name="Line 15">
                    <a:extLst>
                      <a:ext uri="{FF2B5EF4-FFF2-40B4-BE49-F238E27FC236}">
                        <a16:creationId xmlns:a16="http://schemas.microsoft.com/office/drawing/2014/main" id="{AE0DA676-F3DE-47FC-A96A-01EFB25E160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680" y="2064"/>
                    <a:ext cx="192" cy="0"/>
                  </a:xfrm>
                  <a:prstGeom prst="line">
                    <a:avLst/>
                  </a:prstGeom>
                  <a:noFill/>
                  <a:ln w="44450">
                    <a:solidFill>
                      <a:schemeClr val="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9714" name="Line 16">
                    <a:extLst>
                      <a:ext uri="{FF2B5EF4-FFF2-40B4-BE49-F238E27FC236}">
                        <a16:creationId xmlns:a16="http://schemas.microsoft.com/office/drawing/2014/main" id="{B9A2E615-DF22-47A6-824C-61759C9913B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680" y="2112"/>
                    <a:ext cx="192" cy="0"/>
                  </a:xfrm>
                  <a:prstGeom prst="line">
                    <a:avLst/>
                  </a:prstGeom>
                  <a:noFill/>
                  <a:ln w="44450">
                    <a:solidFill>
                      <a:schemeClr val="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9715" name="Line 17">
                    <a:extLst>
                      <a:ext uri="{FF2B5EF4-FFF2-40B4-BE49-F238E27FC236}">
                        <a16:creationId xmlns:a16="http://schemas.microsoft.com/office/drawing/2014/main" id="{585D298D-3132-4D29-8A63-71C12E405D6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968" y="2064"/>
                    <a:ext cx="192" cy="0"/>
                  </a:xfrm>
                  <a:prstGeom prst="line">
                    <a:avLst/>
                  </a:prstGeom>
                  <a:noFill/>
                  <a:ln w="44450">
                    <a:solidFill>
                      <a:schemeClr val="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9716" name="Line 18">
                    <a:extLst>
                      <a:ext uri="{FF2B5EF4-FFF2-40B4-BE49-F238E27FC236}">
                        <a16:creationId xmlns:a16="http://schemas.microsoft.com/office/drawing/2014/main" id="{49D2E6D8-8F15-4EAF-B3A3-8DE8B87AC1B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968" y="2112"/>
                    <a:ext cx="192" cy="0"/>
                  </a:xfrm>
                  <a:prstGeom prst="line">
                    <a:avLst/>
                  </a:prstGeom>
                  <a:noFill/>
                  <a:ln w="44450">
                    <a:solidFill>
                      <a:schemeClr val="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9717" name="Line 19">
                  <a:extLst>
                    <a:ext uri="{FF2B5EF4-FFF2-40B4-BE49-F238E27FC236}">
                      <a16:creationId xmlns:a16="http://schemas.microsoft.com/office/drawing/2014/main" id="{7373FC78-1C3D-4264-A8C9-C95326034E3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92" y="1920"/>
                  <a:ext cx="336" cy="0"/>
                </a:xfrm>
                <a:prstGeom prst="line">
                  <a:avLst/>
                </a:prstGeom>
                <a:noFill/>
                <a:ln w="25400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718" name="Line 20">
                  <a:extLst>
                    <a:ext uri="{FF2B5EF4-FFF2-40B4-BE49-F238E27FC236}">
                      <a16:creationId xmlns:a16="http://schemas.microsoft.com/office/drawing/2014/main" id="{311DB004-DB82-4809-95A0-B33A9532D44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28" y="1920"/>
                  <a:ext cx="0" cy="144"/>
                </a:xfrm>
                <a:prstGeom prst="line">
                  <a:avLst/>
                </a:prstGeom>
                <a:noFill/>
                <a:ln w="25400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719" name="Line 21">
                  <a:extLst>
                    <a:ext uri="{FF2B5EF4-FFF2-40B4-BE49-F238E27FC236}">
                      <a16:creationId xmlns:a16="http://schemas.microsoft.com/office/drawing/2014/main" id="{131B71E4-E079-4FB4-A559-33211C65535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92" y="1920"/>
                  <a:ext cx="0" cy="336"/>
                </a:xfrm>
                <a:prstGeom prst="line">
                  <a:avLst/>
                </a:prstGeom>
                <a:noFill/>
                <a:ln w="25400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720" name="Line 22">
                  <a:extLst>
                    <a:ext uri="{FF2B5EF4-FFF2-40B4-BE49-F238E27FC236}">
                      <a16:creationId xmlns:a16="http://schemas.microsoft.com/office/drawing/2014/main" id="{6BE88BD6-5BA8-4D64-B98E-91936CCC0C7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52" y="2256"/>
                  <a:ext cx="240" cy="0"/>
                </a:xfrm>
                <a:prstGeom prst="line">
                  <a:avLst/>
                </a:prstGeom>
                <a:noFill/>
                <a:ln w="25400">
                  <a:solidFill>
                    <a:schemeClr val="hlink"/>
                  </a:solidFill>
                  <a:round/>
                  <a:headEnd type="arrow" w="med" len="lg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721" name="Rectangle 23">
                  <a:extLst>
                    <a:ext uri="{FF2B5EF4-FFF2-40B4-BE49-F238E27FC236}">
                      <a16:creationId xmlns:a16="http://schemas.microsoft.com/office/drawing/2014/main" id="{B65EAFB5-057A-487D-8B1C-5A8B16E7EA5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68" y="2112"/>
                  <a:ext cx="86" cy="528"/>
                </a:xfrm>
                <a:prstGeom prst="rect">
                  <a:avLst/>
                </a:prstGeom>
                <a:solidFill>
                  <a:srgbClr val="993300"/>
                </a:solidFill>
                <a:ln w="22225">
                  <a:solidFill>
                    <a:schemeClr val="hlink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9722" name="Line 24">
                  <a:extLst>
                    <a:ext uri="{FF2B5EF4-FFF2-40B4-BE49-F238E27FC236}">
                      <a16:creationId xmlns:a16="http://schemas.microsoft.com/office/drawing/2014/main" id="{B29AEFFF-FC56-4211-B70C-0F4FEF93C72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1872"/>
                  <a:ext cx="0" cy="240"/>
                </a:xfrm>
                <a:prstGeom prst="line">
                  <a:avLst/>
                </a:prstGeom>
                <a:noFill/>
                <a:ln w="25400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723" name="Line 25">
                  <a:extLst>
                    <a:ext uri="{FF2B5EF4-FFF2-40B4-BE49-F238E27FC236}">
                      <a16:creationId xmlns:a16="http://schemas.microsoft.com/office/drawing/2014/main" id="{1DF47B3D-66DA-4892-87D2-BCD0E63C5F5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72" y="1872"/>
                  <a:ext cx="432" cy="0"/>
                </a:xfrm>
                <a:prstGeom prst="line">
                  <a:avLst/>
                </a:prstGeom>
                <a:noFill/>
                <a:ln w="25400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724" name="Line 26">
                  <a:extLst>
                    <a:ext uri="{FF2B5EF4-FFF2-40B4-BE49-F238E27FC236}">
                      <a16:creationId xmlns:a16="http://schemas.microsoft.com/office/drawing/2014/main" id="{B1FB266F-AB67-45F7-8BF9-D6C36C9DA1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72" y="1872"/>
                  <a:ext cx="0" cy="384"/>
                </a:xfrm>
                <a:prstGeom prst="line">
                  <a:avLst/>
                </a:prstGeom>
                <a:noFill/>
                <a:ln w="25400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725" name="Line 27">
                  <a:extLst>
                    <a:ext uri="{FF2B5EF4-FFF2-40B4-BE49-F238E27FC236}">
                      <a16:creationId xmlns:a16="http://schemas.microsoft.com/office/drawing/2014/main" id="{C399B27D-3C1E-410E-8375-514EF831EDA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72" y="2414"/>
                  <a:ext cx="0" cy="384"/>
                </a:xfrm>
                <a:prstGeom prst="line">
                  <a:avLst/>
                </a:prstGeom>
                <a:noFill/>
                <a:ln w="25400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726" name="Line 28">
                  <a:extLst>
                    <a:ext uri="{FF2B5EF4-FFF2-40B4-BE49-F238E27FC236}">
                      <a16:creationId xmlns:a16="http://schemas.microsoft.com/office/drawing/2014/main" id="{AE6A264E-E3B7-4316-A071-F341CC9F348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72" y="2784"/>
                  <a:ext cx="432" cy="0"/>
                </a:xfrm>
                <a:prstGeom prst="line">
                  <a:avLst/>
                </a:prstGeom>
                <a:noFill/>
                <a:ln w="25400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727" name="Line 29">
                  <a:extLst>
                    <a:ext uri="{FF2B5EF4-FFF2-40B4-BE49-F238E27FC236}">
                      <a16:creationId xmlns:a16="http://schemas.microsoft.com/office/drawing/2014/main" id="{3312CCCB-E3A7-4710-9812-CAE2CF63785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2640"/>
                  <a:ext cx="0" cy="144"/>
                </a:xfrm>
                <a:prstGeom prst="line">
                  <a:avLst/>
                </a:prstGeom>
                <a:noFill/>
                <a:ln w="25400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29728" name="Group 30">
                  <a:extLst>
                    <a:ext uri="{FF2B5EF4-FFF2-40B4-BE49-F238E27FC236}">
                      <a16:creationId xmlns:a16="http://schemas.microsoft.com/office/drawing/2014/main" id="{4010F8AE-4E67-4F3F-BAEE-79EBC29A8A2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76" y="2256"/>
                  <a:ext cx="192" cy="157"/>
                  <a:chOff x="1536" y="3360"/>
                  <a:chExt cx="192" cy="157"/>
                </a:xfrm>
              </p:grpSpPr>
              <p:grpSp>
                <p:nvGrpSpPr>
                  <p:cNvPr id="29729" name="Group 31">
                    <a:extLst>
                      <a:ext uri="{FF2B5EF4-FFF2-40B4-BE49-F238E27FC236}">
                        <a16:creationId xmlns:a16="http://schemas.microsoft.com/office/drawing/2014/main" id="{98F1DB2F-4D02-4A00-B2D5-CDD73713DA6A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536" y="3360"/>
                    <a:ext cx="192" cy="48"/>
                    <a:chOff x="1536" y="3360"/>
                    <a:chExt cx="192" cy="48"/>
                  </a:xfrm>
                </p:grpSpPr>
                <p:sp>
                  <p:nvSpPr>
                    <p:cNvPr id="29730" name="Line 32">
                      <a:extLst>
                        <a:ext uri="{FF2B5EF4-FFF2-40B4-BE49-F238E27FC236}">
                          <a16:creationId xmlns:a16="http://schemas.microsoft.com/office/drawing/2014/main" id="{9AF9B41C-2314-4992-934D-7997299D6CE7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588" y="3360"/>
                      <a:ext cx="86" cy="0"/>
                    </a:xfrm>
                    <a:prstGeom prst="line">
                      <a:avLst/>
                    </a:prstGeom>
                    <a:noFill/>
                    <a:ln w="44450">
                      <a:solidFill>
                        <a:schemeClr val="hlink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9731" name="Line 33">
                      <a:extLst>
                        <a:ext uri="{FF2B5EF4-FFF2-40B4-BE49-F238E27FC236}">
                          <a16:creationId xmlns:a16="http://schemas.microsoft.com/office/drawing/2014/main" id="{E6940875-080C-40F9-B1FA-8B21C11D580C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536" y="3408"/>
                      <a:ext cx="192" cy="0"/>
                    </a:xfrm>
                    <a:prstGeom prst="line">
                      <a:avLst/>
                    </a:prstGeom>
                    <a:noFill/>
                    <a:ln w="44450">
                      <a:solidFill>
                        <a:schemeClr val="hlink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29732" name="Group 34">
                    <a:extLst>
                      <a:ext uri="{FF2B5EF4-FFF2-40B4-BE49-F238E27FC236}">
                        <a16:creationId xmlns:a16="http://schemas.microsoft.com/office/drawing/2014/main" id="{9AAA260A-96F6-4983-AA08-DD4A0B7E3158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536" y="3469"/>
                    <a:ext cx="192" cy="48"/>
                    <a:chOff x="1536" y="3360"/>
                    <a:chExt cx="192" cy="48"/>
                  </a:xfrm>
                </p:grpSpPr>
                <p:sp>
                  <p:nvSpPr>
                    <p:cNvPr id="29733" name="Line 35">
                      <a:extLst>
                        <a:ext uri="{FF2B5EF4-FFF2-40B4-BE49-F238E27FC236}">
                          <a16:creationId xmlns:a16="http://schemas.microsoft.com/office/drawing/2014/main" id="{852FC3BD-B234-4836-9730-D0109C96DA74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588" y="3360"/>
                      <a:ext cx="86" cy="0"/>
                    </a:xfrm>
                    <a:prstGeom prst="line">
                      <a:avLst/>
                    </a:prstGeom>
                    <a:noFill/>
                    <a:ln w="44450">
                      <a:solidFill>
                        <a:schemeClr val="hlink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9734" name="Line 36">
                      <a:extLst>
                        <a:ext uri="{FF2B5EF4-FFF2-40B4-BE49-F238E27FC236}">
                          <a16:creationId xmlns:a16="http://schemas.microsoft.com/office/drawing/2014/main" id="{2D109A46-F02D-4EE0-9626-7A11CEE943DE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536" y="3408"/>
                      <a:ext cx="192" cy="0"/>
                    </a:xfrm>
                    <a:prstGeom prst="line">
                      <a:avLst/>
                    </a:prstGeom>
                    <a:noFill/>
                    <a:ln w="44450">
                      <a:solidFill>
                        <a:schemeClr val="hlink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29735" name="Line 37">
                    <a:extLst>
                      <a:ext uri="{FF2B5EF4-FFF2-40B4-BE49-F238E27FC236}">
                        <a16:creationId xmlns:a16="http://schemas.microsoft.com/office/drawing/2014/main" id="{B3150DDE-25BC-4AA4-B9DB-724CDFECE99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632" y="3408"/>
                    <a:ext cx="0" cy="48"/>
                  </a:xfrm>
                  <a:prstGeom prst="line">
                    <a:avLst/>
                  </a:prstGeom>
                  <a:noFill/>
                  <a:ln w="9525">
                    <a:solidFill>
                      <a:schemeClr val="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9736" name="Group 38">
                  <a:extLst>
                    <a:ext uri="{FF2B5EF4-FFF2-40B4-BE49-F238E27FC236}">
                      <a16:creationId xmlns:a16="http://schemas.microsoft.com/office/drawing/2014/main" id="{E7528896-7DE2-494B-A84B-7C05A251AD4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76" y="1510"/>
                  <a:ext cx="204" cy="343"/>
                  <a:chOff x="3936" y="1865"/>
                  <a:chExt cx="204" cy="343"/>
                </a:xfrm>
              </p:grpSpPr>
              <p:sp>
                <p:nvSpPr>
                  <p:cNvPr id="29737" name="Line 39">
                    <a:extLst>
                      <a:ext uri="{FF2B5EF4-FFF2-40B4-BE49-F238E27FC236}">
                        <a16:creationId xmlns:a16="http://schemas.microsoft.com/office/drawing/2014/main" id="{6A1D4B66-C396-41CF-9C86-810C9B4E341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948" y="1865"/>
                    <a:ext cx="0" cy="199"/>
                  </a:xfrm>
                  <a:prstGeom prst="line">
                    <a:avLst/>
                  </a:prstGeom>
                  <a:noFill/>
                  <a:ln w="25400">
                    <a:solidFill>
                      <a:schemeClr val="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9738" name="Line 40">
                    <a:extLst>
                      <a:ext uri="{FF2B5EF4-FFF2-40B4-BE49-F238E27FC236}">
                        <a16:creationId xmlns:a16="http://schemas.microsoft.com/office/drawing/2014/main" id="{53388391-A4EB-43C2-82DE-DBDE849B308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128" y="1865"/>
                    <a:ext cx="0" cy="199"/>
                  </a:xfrm>
                  <a:prstGeom prst="line">
                    <a:avLst/>
                  </a:prstGeom>
                  <a:noFill/>
                  <a:ln w="25400">
                    <a:solidFill>
                      <a:schemeClr val="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29739" name="Group 41">
                    <a:extLst>
                      <a:ext uri="{FF2B5EF4-FFF2-40B4-BE49-F238E27FC236}">
                        <a16:creationId xmlns:a16="http://schemas.microsoft.com/office/drawing/2014/main" id="{12779461-7837-45B0-9B26-2CBE4D88E88F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936" y="2049"/>
                    <a:ext cx="204" cy="159"/>
                    <a:chOff x="3408" y="2904"/>
                    <a:chExt cx="204" cy="168"/>
                  </a:xfrm>
                </p:grpSpPr>
                <p:grpSp>
                  <p:nvGrpSpPr>
                    <p:cNvPr id="29740" name="Group 42">
                      <a:extLst>
                        <a:ext uri="{FF2B5EF4-FFF2-40B4-BE49-F238E27FC236}">
                          <a16:creationId xmlns:a16="http://schemas.microsoft.com/office/drawing/2014/main" id="{7B0F316E-DE4D-4631-8E9E-E39C97156FFF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408" y="2904"/>
                      <a:ext cx="192" cy="168"/>
                      <a:chOff x="3408" y="2856"/>
                      <a:chExt cx="192" cy="168"/>
                    </a:xfrm>
                  </p:grpSpPr>
                  <p:sp>
                    <p:nvSpPr>
                      <p:cNvPr id="29741" name="Freeform 43">
                        <a:extLst>
                          <a:ext uri="{FF2B5EF4-FFF2-40B4-BE49-F238E27FC236}">
                            <a16:creationId xmlns:a16="http://schemas.microsoft.com/office/drawing/2014/main" id="{9EC7EC15-C7F9-45D2-8532-4A60931013F4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 flipH="1">
                        <a:off x="3408" y="2856"/>
                        <a:ext cx="192" cy="168"/>
                      </a:xfrm>
                      <a:custGeom>
                        <a:avLst/>
                        <a:gdLst>
                          <a:gd name="T0" fmla="*/ 0 w 240"/>
                          <a:gd name="T1" fmla="*/ 24 h 222"/>
                          <a:gd name="T2" fmla="*/ 54 w 240"/>
                          <a:gd name="T3" fmla="*/ 48 h 222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</a:cxnLst>
                        <a:rect l="0" t="0" r="r" b="b"/>
                        <a:pathLst>
                          <a:path w="240" h="222">
                            <a:moveTo>
                              <a:pt x="0" y="24"/>
                            </a:moveTo>
                            <a:cubicBezTo>
                              <a:pt x="24" y="222"/>
                              <a:pt x="240" y="0"/>
                              <a:pt x="54" y="48"/>
                            </a:cubicBezTo>
                          </a:path>
                        </a:pathLst>
                      </a:custGeom>
                      <a:noFill/>
                      <a:ln w="19050">
                        <a:solidFill>
                          <a:schemeClr val="hlink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pPr eaLnBrk="0" hangingPunct="0"/>
                        <a:endParaRPr lang="zh-CN" altLang="en-US"/>
                      </a:p>
                    </p:txBody>
                  </p:sp>
                  <p:sp>
                    <p:nvSpPr>
                      <p:cNvPr id="29742" name="Freeform 44">
                        <a:extLst>
                          <a:ext uri="{FF2B5EF4-FFF2-40B4-BE49-F238E27FC236}">
                            <a16:creationId xmlns:a16="http://schemas.microsoft.com/office/drawing/2014/main" id="{AE82DBFD-0424-41F0-8698-0C3D5ECB013A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522" y="2892"/>
                        <a:ext cx="44" cy="36"/>
                      </a:xfrm>
                      <a:custGeom>
                        <a:avLst/>
                        <a:gdLst>
                          <a:gd name="T0" fmla="*/ 0 w 44"/>
                          <a:gd name="T1" fmla="*/ 0 h 36"/>
                          <a:gd name="T2" fmla="*/ 42 w 44"/>
                          <a:gd name="T3" fmla="*/ 16 h 36"/>
                          <a:gd name="T4" fmla="*/ 22 w 44"/>
                          <a:gd name="T5" fmla="*/ 34 h 36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</a:cxnLst>
                        <a:rect l="0" t="0" r="r" b="b"/>
                        <a:pathLst>
                          <a:path w="44" h="36">
                            <a:moveTo>
                              <a:pt x="0" y="0"/>
                            </a:moveTo>
                            <a:cubicBezTo>
                              <a:pt x="6" y="4"/>
                              <a:pt x="38" y="8"/>
                              <a:pt x="42" y="16"/>
                            </a:cubicBezTo>
                            <a:cubicBezTo>
                              <a:pt x="44" y="22"/>
                              <a:pt x="26" y="36"/>
                              <a:pt x="22" y="34"/>
                            </a:cubicBezTo>
                          </a:path>
                        </a:pathLst>
                      </a:custGeom>
                      <a:noFill/>
                      <a:ln w="19050">
                        <a:solidFill>
                          <a:schemeClr val="hlink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pPr eaLnBrk="0" hangingPunct="0"/>
                        <a:endParaRPr lang="zh-CN" altLang="en-US"/>
                      </a:p>
                    </p:txBody>
                  </p:sp>
                </p:grpSp>
                <p:grpSp>
                  <p:nvGrpSpPr>
                    <p:cNvPr id="29743" name="Group 45">
                      <a:extLst>
                        <a:ext uri="{FF2B5EF4-FFF2-40B4-BE49-F238E27FC236}">
                          <a16:creationId xmlns:a16="http://schemas.microsoft.com/office/drawing/2014/main" id="{79DBEC5F-ED70-4BA0-AE2C-FFA3B7EE32A7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 flipH="1">
                      <a:off x="3420" y="2904"/>
                      <a:ext cx="192" cy="168"/>
                      <a:chOff x="3408" y="2856"/>
                      <a:chExt cx="192" cy="168"/>
                    </a:xfrm>
                  </p:grpSpPr>
                  <p:sp>
                    <p:nvSpPr>
                      <p:cNvPr id="29744" name="Freeform 46">
                        <a:extLst>
                          <a:ext uri="{FF2B5EF4-FFF2-40B4-BE49-F238E27FC236}">
                            <a16:creationId xmlns:a16="http://schemas.microsoft.com/office/drawing/2014/main" id="{2B9AE449-5354-48D3-A1E2-A31BEE4109D5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 flipH="1">
                        <a:off x="3408" y="2856"/>
                        <a:ext cx="192" cy="168"/>
                      </a:xfrm>
                      <a:custGeom>
                        <a:avLst/>
                        <a:gdLst>
                          <a:gd name="T0" fmla="*/ 0 w 240"/>
                          <a:gd name="T1" fmla="*/ 24 h 222"/>
                          <a:gd name="T2" fmla="*/ 54 w 240"/>
                          <a:gd name="T3" fmla="*/ 48 h 222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</a:cxnLst>
                        <a:rect l="0" t="0" r="r" b="b"/>
                        <a:pathLst>
                          <a:path w="240" h="222">
                            <a:moveTo>
                              <a:pt x="0" y="24"/>
                            </a:moveTo>
                            <a:cubicBezTo>
                              <a:pt x="24" y="222"/>
                              <a:pt x="240" y="0"/>
                              <a:pt x="54" y="48"/>
                            </a:cubicBezTo>
                          </a:path>
                        </a:pathLst>
                      </a:custGeom>
                      <a:noFill/>
                      <a:ln w="19050">
                        <a:solidFill>
                          <a:schemeClr val="hlink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pPr eaLnBrk="0" hangingPunct="0"/>
                        <a:endParaRPr lang="zh-CN" altLang="en-US"/>
                      </a:p>
                    </p:txBody>
                  </p:sp>
                  <p:sp>
                    <p:nvSpPr>
                      <p:cNvPr id="29745" name="Freeform 47">
                        <a:extLst>
                          <a:ext uri="{FF2B5EF4-FFF2-40B4-BE49-F238E27FC236}">
                            <a16:creationId xmlns:a16="http://schemas.microsoft.com/office/drawing/2014/main" id="{82C39A02-C482-403B-93BD-3D5CA8EB2D56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522" y="2892"/>
                        <a:ext cx="44" cy="36"/>
                      </a:xfrm>
                      <a:custGeom>
                        <a:avLst/>
                        <a:gdLst>
                          <a:gd name="T0" fmla="*/ 0 w 44"/>
                          <a:gd name="T1" fmla="*/ 0 h 36"/>
                          <a:gd name="T2" fmla="*/ 42 w 44"/>
                          <a:gd name="T3" fmla="*/ 16 h 36"/>
                          <a:gd name="T4" fmla="*/ 22 w 44"/>
                          <a:gd name="T5" fmla="*/ 34 h 36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</a:cxnLst>
                        <a:rect l="0" t="0" r="r" b="b"/>
                        <a:pathLst>
                          <a:path w="44" h="36">
                            <a:moveTo>
                              <a:pt x="0" y="0"/>
                            </a:moveTo>
                            <a:cubicBezTo>
                              <a:pt x="6" y="4"/>
                              <a:pt x="38" y="8"/>
                              <a:pt x="42" y="16"/>
                            </a:cubicBezTo>
                            <a:cubicBezTo>
                              <a:pt x="44" y="22"/>
                              <a:pt x="26" y="36"/>
                              <a:pt x="22" y="34"/>
                            </a:cubicBezTo>
                          </a:path>
                        </a:pathLst>
                      </a:custGeom>
                      <a:noFill/>
                      <a:ln w="22225">
                        <a:solidFill>
                          <a:schemeClr val="hlink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pPr eaLnBrk="0" hangingPunct="0"/>
                        <a:endParaRPr lang="zh-CN" altLang="en-US"/>
                      </a:p>
                    </p:txBody>
                  </p:sp>
                </p:grpSp>
              </p:grpSp>
            </p:grpSp>
            <p:sp>
              <p:nvSpPr>
                <p:cNvPr id="29746" name="Line 48">
                  <a:extLst>
                    <a:ext uri="{FF2B5EF4-FFF2-40B4-BE49-F238E27FC236}">
                      <a16:creationId xmlns:a16="http://schemas.microsoft.com/office/drawing/2014/main" id="{A3470E13-8FFA-4E44-98CB-364B25AB2E3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864" y="1584"/>
                  <a:ext cx="0" cy="288"/>
                </a:xfrm>
                <a:prstGeom prst="line">
                  <a:avLst/>
                </a:prstGeom>
                <a:noFill/>
                <a:ln w="25400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747" name="Line 49">
                  <a:extLst>
                    <a:ext uri="{FF2B5EF4-FFF2-40B4-BE49-F238E27FC236}">
                      <a16:creationId xmlns:a16="http://schemas.microsoft.com/office/drawing/2014/main" id="{99E58D53-9E28-4B1E-9C40-66B586ED571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64" y="1584"/>
                  <a:ext cx="925" cy="0"/>
                </a:xfrm>
                <a:prstGeom prst="line">
                  <a:avLst/>
                </a:prstGeom>
                <a:noFill/>
                <a:ln w="25400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748" name="Group 50">
                <a:extLst>
                  <a:ext uri="{FF2B5EF4-FFF2-40B4-BE49-F238E27FC236}">
                    <a16:creationId xmlns:a16="http://schemas.microsoft.com/office/drawing/2014/main" id="{D8E04B63-507E-4538-8435-E7398DA9F98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81" y="2400"/>
                <a:ext cx="397" cy="1148"/>
                <a:chOff x="2662" y="1885"/>
                <a:chExt cx="397" cy="1148"/>
              </a:xfrm>
            </p:grpSpPr>
            <p:sp>
              <p:nvSpPr>
                <p:cNvPr id="29749" name="Line 51">
                  <a:extLst>
                    <a:ext uri="{FF2B5EF4-FFF2-40B4-BE49-F238E27FC236}">
                      <a16:creationId xmlns:a16="http://schemas.microsoft.com/office/drawing/2014/main" id="{5682D432-8A85-49A8-96DF-AA7867ADA72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662" y="1885"/>
                  <a:ext cx="240" cy="240"/>
                </a:xfrm>
                <a:prstGeom prst="line">
                  <a:avLst/>
                </a:prstGeom>
                <a:noFill/>
                <a:ln w="25400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750" name="Line 52">
                  <a:extLst>
                    <a:ext uri="{FF2B5EF4-FFF2-40B4-BE49-F238E27FC236}">
                      <a16:creationId xmlns:a16="http://schemas.microsoft.com/office/drawing/2014/main" id="{61140B07-CDEF-41A3-A6BF-E33A6D89F89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3" y="1898"/>
                  <a:ext cx="0" cy="494"/>
                </a:xfrm>
                <a:prstGeom prst="line">
                  <a:avLst/>
                </a:prstGeom>
                <a:noFill/>
                <a:ln w="25400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751" name="Oval 53">
                  <a:extLst>
                    <a:ext uri="{FF2B5EF4-FFF2-40B4-BE49-F238E27FC236}">
                      <a16:creationId xmlns:a16="http://schemas.microsoft.com/office/drawing/2014/main" id="{A37C6C46-B634-4C42-BF2E-1584977744B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23" y="2352"/>
                  <a:ext cx="336" cy="336"/>
                </a:xfrm>
                <a:prstGeom prst="ellipse">
                  <a:avLst/>
                </a:prstGeom>
                <a:noFill/>
                <a:ln w="38100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9752" name="Text Box 54">
                  <a:extLst>
                    <a:ext uri="{FF2B5EF4-FFF2-40B4-BE49-F238E27FC236}">
                      <a16:creationId xmlns:a16="http://schemas.microsoft.com/office/drawing/2014/main" id="{5A63BD49-0987-4D3D-A1AE-CA785F7F687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736" y="2353"/>
                  <a:ext cx="297" cy="3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800">
                      <a:solidFill>
                        <a:srgbClr val="FFFF00"/>
                      </a:solidFill>
                    </a:rPr>
                    <a:t>G</a:t>
                  </a:r>
                </a:p>
              </p:txBody>
            </p:sp>
            <p:sp>
              <p:nvSpPr>
                <p:cNvPr id="29753" name="Line 55">
                  <a:extLst>
                    <a:ext uri="{FF2B5EF4-FFF2-40B4-BE49-F238E27FC236}">
                      <a16:creationId xmlns:a16="http://schemas.microsoft.com/office/drawing/2014/main" id="{82FC96D3-4910-4AC3-A30C-5D447DD4F3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80" y="2688"/>
                  <a:ext cx="0" cy="240"/>
                </a:xfrm>
                <a:prstGeom prst="line">
                  <a:avLst/>
                </a:prstGeom>
                <a:noFill/>
                <a:ln w="25400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754" name="Line 56">
                  <a:extLst>
                    <a:ext uri="{FF2B5EF4-FFF2-40B4-BE49-F238E27FC236}">
                      <a16:creationId xmlns:a16="http://schemas.microsoft.com/office/drawing/2014/main" id="{1F035B39-D27E-4097-AF15-B1F09C6DD65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50" y="2928"/>
                  <a:ext cx="288" cy="0"/>
                </a:xfrm>
                <a:prstGeom prst="line">
                  <a:avLst/>
                </a:prstGeom>
                <a:noFill/>
                <a:ln w="25400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755" name="Line 57">
                  <a:extLst>
                    <a:ext uri="{FF2B5EF4-FFF2-40B4-BE49-F238E27FC236}">
                      <a16:creationId xmlns:a16="http://schemas.microsoft.com/office/drawing/2014/main" id="{7DA02904-F087-47DA-AC5B-9E57937209D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14" y="3033"/>
                  <a:ext cx="131" cy="0"/>
                </a:xfrm>
                <a:prstGeom prst="line">
                  <a:avLst/>
                </a:prstGeom>
                <a:noFill/>
                <a:ln w="25400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756" name="Line 58">
                  <a:extLst>
                    <a:ext uri="{FF2B5EF4-FFF2-40B4-BE49-F238E27FC236}">
                      <a16:creationId xmlns:a16="http://schemas.microsoft.com/office/drawing/2014/main" id="{2F429CBD-BD68-4CCA-804F-96B0BCC1E16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95" y="2976"/>
                  <a:ext cx="197" cy="0"/>
                </a:xfrm>
                <a:prstGeom prst="line">
                  <a:avLst/>
                </a:prstGeom>
                <a:noFill/>
                <a:ln w="25400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757" name="Group 59">
                <a:extLst>
                  <a:ext uri="{FF2B5EF4-FFF2-40B4-BE49-F238E27FC236}">
                    <a16:creationId xmlns:a16="http://schemas.microsoft.com/office/drawing/2014/main" id="{C5C58F71-1AB9-498D-B393-4BCAB062EC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55" y="3461"/>
                <a:ext cx="672" cy="431"/>
                <a:chOff x="1536" y="2976"/>
                <a:chExt cx="672" cy="431"/>
              </a:xfrm>
            </p:grpSpPr>
            <p:sp>
              <p:nvSpPr>
                <p:cNvPr id="29758" name="Rectangle 60">
                  <a:extLst>
                    <a:ext uri="{FF2B5EF4-FFF2-40B4-BE49-F238E27FC236}">
                      <a16:creationId xmlns:a16="http://schemas.microsoft.com/office/drawing/2014/main" id="{360BC86E-2DBE-4A25-B6E1-023A176757B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36" y="2976"/>
                  <a:ext cx="672" cy="144"/>
                </a:xfrm>
                <a:prstGeom prst="rect">
                  <a:avLst/>
                </a:prstGeom>
                <a:solidFill>
                  <a:srgbClr val="66FFFF"/>
                </a:solidFill>
                <a:ln w="9525">
                  <a:solidFill>
                    <a:schemeClr val="hlink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9759" name="Text Box 61">
                  <a:extLst>
                    <a:ext uri="{FF2B5EF4-FFF2-40B4-BE49-F238E27FC236}">
                      <a16:creationId xmlns:a16="http://schemas.microsoft.com/office/drawing/2014/main" id="{23443FD6-D450-48B8-8C44-FE77A4C36A9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718" y="3110"/>
                  <a:ext cx="306" cy="29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>
                      <a:solidFill>
                        <a:srgbClr val="FFFF00"/>
                      </a:solidFill>
                    </a:rPr>
                    <a:t>M</a:t>
                  </a:r>
                </a:p>
              </p:txBody>
            </p:sp>
          </p:grpSp>
          <p:sp>
            <p:nvSpPr>
              <p:cNvPr id="29760" name="Text Box 62">
                <a:extLst>
                  <a:ext uri="{FF2B5EF4-FFF2-40B4-BE49-F238E27FC236}">
                    <a16:creationId xmlns:a16="http://schemas.microsoft.com/office/drawing/2014/main" id="{044E26A8-AB80-47DA-B0AB-BB45817FC38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39" y="2053"/>
                <a:ext cx="271" cy="2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>
                    <a:solidFill>
                      <a:srgbClr val="FFFF00"/>
                    </a:solidFill>
                  </a:rPr>
                  <a:t>K</a:t>
                </a:r>
              </a:p>
            </p:txBody>
          </p:sp>
        </p:grpSp>
        <p:sp>
          <p:nvSpPr>
            <p:cNvPr id="29761" name="Freeform 66">
              <a:extLst>
                <a:ext uri="{FF2B5EF4-FFF2-40B4-BE49-F238E27FC236}">
                  <a16:creationId xmlns:a16="http://schemas.microsoft.com/office/drawing/2014/main" id="{3BDC2458-B0C0-4A67-B3C5-6BE8FDBD2F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0" y="2886"/>
              <a:ext cx="181" cy="143"/>
            </a:xfrm>
            <a:custGeom>
              <a:avLst/>
              <a:gdLst>
                <a:gd name="T0" fmla="*/ 0 w 181"/>
                <a:gd name="T1" fmla="*/ 7 h 143"/>
                <a:gd name="T2" fmla="*/ 91 w 181"/>
                <a:gd name="T3" fmla="*/ 7 h 143"/>
                <a:gd name="T4" fmla="*/ 136 w 181"/>
                <a:gd name="T5" fmla="*/ 52 h 143"/>
                <a:gd name="T6" fmla="*/ 181 w 181"/>
                <a:gd name="T7" fmla="*/ 143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1" h="143">
                  <a:moveTo>
                    <a:pt x="0" y="7"/>
                  </a:moveTo>
                  <a:cubicBezTo>
                    <a:pt x="34" y="3"/>
                    <a:pt x="68" y="0"/>
                    <a:pt x="91" y="7"/>
                  </a:cubicBezTo>
                  <a:cubicBezTo>
                    <a:pt x="114" y="14"/>
                    <a:pt x="121" y="29"/>
                    <a:pt x="136" y="52"/>
                  </a:cubicBezTo>
                  <a:cubicBezTo>
                    <a:pt x="151" y="75"/>
                    <a:pt x="174" y="128"/>
                    <a:pt x="181" y="143"/>
                  </a:cubicBezTo>
                </a:path>
              </a:pathLst>
            </a:custGeom>
            <a:noFill/>
            <a:ln w="2222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/>
            </a:p>
          </p:txBody>
        </p:sp>
        <p:sp>
          <p:nvSpPr>
            <p:cNvPr id="29762" name="Rectangle 67">
              <a:extLst>
                <a:ext uri="{FF2B5EF4-FFF2-40B4-BE49-F238E27FC236}">
                  <a16:creationId xmlns:a16="http://schemas.microsoft.com/office/drawing/2014/main" id="{663EFA55-D379-41C0-A958-BA2C5D9179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9" y="2568"/>
              <a:ext cx="34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20000"/>
                </a:spcBef>
                <a:spcAft>
                  <a:spcPct val="10000"/>
                </a:spcAft>
                <a:buFont typeface="Monotype Sorts"/>
                <a:buNone/>
              </a:pPr>
              <a:r>
                <a:rPr lang="en-US" altLang="zh-CN" sz="2800">
                  <a:solidFill>
                    <a:schemeClr val="hlink"/>
                  </a:solidFill>
                  <a:latin typeface="宋体" panose="02010600030101010101" pitchFamily="2" charset="-122"/>
                </a:rPr>
                <a:t>θ</a:t>
              </a:r>
            </a:p>
          </p:txBody>
        </p:sp>
      </p:grpSp>
      <p:graphicFrame>
        <p:nvGraphicFramePr>
          <p:cNvPr id="1345604" name="Object 2">
            <a:extLst>
              <a:ext uri="{FF2B5EF4-FFF2-40B4-BE49-F238E27FC236}">
                <a16:creationId xmlns:a16="http://schemas.microsoft.com/office/drawing/2014/main" id="{7D1EE784-FA5C-4FE9-BF06-4EFBABBDE7F1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707904" y="4437112"/>
          <a:ext cx="5070475" cy="1279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554" r:id="rId4" imgW="2820960" imgH="707760" progId="">
                  <p:embed/>
                </p:oleObj>
              </mc:Choice>
              <mc:Fallback>
                <p:oleObj r:id="rId4" imgW="2820960" imgH="707760" progId="">
                  <p:embed/>
                  <p:pic>
                    <p:nvPicPr>
                      <p:cNvPr id="1345604" name="Object 2">
                        <a:extLst>
                          <a:ext uri="{FF2B5EF4-FFF2-40B4-BE49-F238E27FC236}">
                            <a16:creationId xmlns:a16="http://schemas.microsoft.com/office/drawing/2014/main" id="{7D1EE784-FA5C-4FE9-BF06-4EFBABBDE7F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7904" y="4437112"/>
                        <a:ext cx="5070475" cy="1279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" name="Text Box 3">
            <a:extLst>
              <a:ext uri="{FF2B5EF4-FFF2-40B4-BE49-F238E27FC236}">
                <a16:creationId xmlns:a16="http://schemas.microsoft.com/office/drawing/2014/main" id="{06AC99C3-4A5A-4928-990D-B5BA18A5C2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063" y="3395663"/>
            <a:ext cx="29289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300" dirty="0">
                <a:solidFill>
                  <a:schemeClr val="bg1"/>
                </a:solidFill>
              </a:rPr>
              <a:t>实验装置示意图：</a:t>
            </a:r>
          </a:p>
        </p:txBody>
      </p:sp>
      <p:sp>
        <p:nvSpPr>
          <p:cNvPr id="29765" name="灯片编号占位符 1">
            <a:extLst>
              <a:ext uri="{FF2B5EF4-FFF2-40B4-BE49-F238E27FC236}">
                <a16:creationId xmlns:a16="http://schemas.microsoft.com/office/drawing/2014/main" id="{B3E67B46-F62B-4CEB-84BE-3BA460593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AB46ECE2-DAFB-4A87-8FA8-74A7DBD76336}" type="slidenum">
              <a:rPr lang="en-US" altLang="zh-CN" b="0" smtClean="0">
                <a:solidFill>
                  <a:srgbClr val="FF00FF"/>
                </a:solidFill>
              </a:rPr>
              <a:pPr/>
              <a:t>22</a:t>
            </a:fld>
            <a:r>
              <a:rPr lang="en-US" altLang="zh-CN" b="0" dirty="0">
                <a:solidFill>
                  <a:srgbClr val="FF00FF"/>
                </a:solidFill>
              </a:rPr>
              <a:t>/28</a:t>
            </a:r>
          </a:p>
        </p:txBody>
      </p:sp>
      <p:pic>
        <p:nvPicPr>
          <p:cNvPr id="72" name="Picture 8">
            <a:extLst>
              <a:ext uri="{FF2B5EF4-FFF2-40B4-BE49-F238E27FC236}">
                <a16:creationId xmlns:a16="http://schemas.microsoft.com/office/drawing/2014/main" id="{EC7BF250-045C-4167-9065-23CECF9C80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38" r="4338"/>
          <a:stretch>
            <a:fillRect/>
          </a:stretch>
        </p:blipFill>
        <p:spPr bwMode="auto">
          <a:xfrm>
            <a:off x="4860032" y="240556"/>
            <a:ext cx="3819276" cy="1983694"/>
          </a:xfrm>
          <a:prstGeom prst="rect">
            <a:avLst/>
          </a:prstGeom>
          <a:noFill/>
          <a:ln w="19050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3" name="Rectangle 65">
            <a:extLst>
              <a:ext uri="{FF2B5EF4-FFF2-40B4-BE49-F238E27FC236}">
                <a16:creationId xmlns:a16="http://schemas.microsoft.com/office/drawing/2014/main" id="{DC8548B8-C8B0-4495-8F84-CDFAF18F47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9911" y="5693447"/>
            <a:ext cx="5070447" cy="10135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ts val="3800"/>
              </a:lnSpc>
            </a:pPr>
            <a:r>
              <a:rPr lang="zh-CN" altLang="en-US" dirty="0">
                <a:solidFill>
                  <a:srgbClr val="FF0000"/>
                </a:solidFill>
              </a:rPr>
              <a:t>理论值</a:t>
            </a:r>
            <a:r>
              <a:rPr lang="zh-CN" altLang="en-US" dirty="0">
                <a:solidFill>
                  <a:schemeClr val="bg1"/>
                </a:solidFill>
              </a:rPr>
              <a:t>与实验结果相差很小，表明电子确实具有波动性</a:t>
            </a:r>
            <a:endParaRPr lang="en-US" altLang="zh-CN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45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45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345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3" presetClass="entr" presetSubtype="1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345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345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5538" grpId="0"/>
      <p:bldP spid="1345539" grpId="0"/>
      <p:bldP spid="1345599" grpId="0"/>
      <p:bldP spid="1345601" grpId="0"/>
      <p:bldP spid="71" grpId="0"/>
      <p:bldP spid="7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5" name="Picture 2" descr="图16">
            <a:extLst>
              <a:ext uri="{FF2B5EF4-FFF2-40B4-BE49-F238E27FC236}">
                <a16:creationId xmlns:a16="http://schemas.microsoft.com/office/drawing/2014/main" id="{D6DBA74F-6971-4F23-AD72-01D579AFE7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55"/>
          <a:stretch>
            <a:fillRect/>
          </a:stretch>
        </p:blipFill>
        <p:spPr bwMode="auto">
          <a:xfrm>
            <a:off x="4943475" y="3562350"/>
            <a:ext cx="2557463" cy="2435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46" name="Text Box 3">
            <a:extLst>
              <a:ext uri="{FF2B5EF4-FFF2-40B4-BE49-F238E27FC236}">
                <a16:creationId xmlns:a16="http://schemas.microsoft.com/office/drawing/2014/main" id="{18433920-E4D8-4033-B908-3AA28FD258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43813" y="4197350"/>
            <a:ext cx="536575" cy="1189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zh-CN">
                <a:solidFill>
                  <a:schemeClr val="bg1"/>
                </a:solidFill>
              </a:rPr>
              <a:t>X</a:t>
            </a:r>
            <a:r>
              <a:rPr lang="zh-CN" altLang="en-US">
                <a:solidFill>
                  <a:schemeClr val="bg1"/>
                </a:solidFill>
              </a:rPr>
              <a:t>射线</a:t>
            </a:r>
          </a:p>
        </p:txBody>
      </p:sp>
      <p:grpSp>
        <p:nvGrpSpPr>
          <p:cNvPr id="31747" name="Group 4">
            <a:extLst>
              <a:ext uri="{FF2B5EF4-FFF2-40B4-BE49-F238E27FC236}">
                <a16:creationId xmlns:a16="http://schemas.microsoft.com/office/drawing/2014/main" id="{75F6ADD8-7B62-4D7A-80BB-C65924512499}"/>
              </a:ext>
            </a:extLst>
          </p:cNvPr>
          <p:cNvGrpSpPr>
            <a:grpSpLocks/>
          </p:cNvGrpSpPr>
          <p:nvPr/>
        </p:nvGrpSpPr>
        <p:grpSpPr bwMode="auto">
          <a:xfrm>
            <a:off x="971550" y="3549650"/>
            <a:ext cx="3314700" cy="2408238"/>
            <a:chOff x="480" y="1152"/>
            <a:chExt cx="2266" cy="1786"/>
          </a:xfrm>
        </p:grpSpPr>
        <p:pic>
          <p:nvPicPr>
            <p:cNvPr id="31748" name="Picture 5" descr="图16">
              <a:extLst>
                <a:ext uri="{FF2B5EF4-FFF2-40B4-BE49-F238E27FC236}">
                  <a16:creationId xmlns:a16="http://schemas.microsoft.com/office/drawing/2014/main" id="{211F4B04-2A19-4D8D-AEFF-F9281B9EC2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0" y="1152"/>
              <a:ext cx="1786" cy="17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749" name="Text Box 6">
              <a:extLst>
                <a:ext uri="{FF2B5EF4-FFF2-40B4-BE49-F238E27FC236}">
                  <a16:creationId xmlns:a16="http://schemas.microsoft.com/office/drawing/2014/main" id="{88D2ADC6-344F-410F-A76F-73AAFA050C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1679"/>
              <a:ext cx="336" cy="8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>
                  <a:solidFill>
                    <a:schemeClr val="bg1"/>
                  </a:solidFill>
                </a:rPr>
                <a:t>电子束</a:t>
              </a:r>
            </a:p>
          </p:txBody>
        </p:sp>
      </p:grpSp>
      <p:sp>
        <p:nvSpPr>
          <p:cNvPr id="31752" name="Rectangle 9">
            <a:extLst>
              <a:ext uri="{FF2B5EF4-FFF2-40B4-BE49-F238E27FC236}">
                <a16:creationId xmlns:a16="http://schemas.microsoft.com/office/drawing/2014/main" id="{FF2F3EA4-B069-4B55-A2B5-4C924F6241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920" y="6115050"/>
            <a:ext cx="140937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华文中宋" panose="02010600040101010101" pitchFamily="2" charset="-122"/>
              </a:rPr>
              <a:t>衍射图样</a:t>
            </a:r>
          </a:p>
        </p:txBody>
      </p:sp>
      <p:sp>
        <p:nvSpPr>
          <p:cNvPr id="31753" name="Text Box 10">
            <a:extLst>
              <a:ext uri="{FF2B5EF4-FFF2-40B4-BE49-F238E27FC236}">
                <a16:creationId xmlns:a16="http://schemas.microsoft.com/office/drawing/2014/main" id="{17E17C6B-36F1-40E7-A794-4DAA9A04D7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8963" y="5654675"/>
            <a:ext cx="184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endParaRPr lang="en-US" altLang="zh-CN" sz="2800"/>
          </a:p>
        </p:txBody>
      </p:sp>
      <p:sp>
        <p:nvSpPr>
          <p:cNvPr id="31754" name="Text Box 11">
            <a:extLst>
              <a:ext uri="{FF2B5EF4-FFF2-40B4-BE49-F238E27FC236}">
                <a16:creationId xmlns:a16="http://schemas.microsoft.com/office/drawing/2014/main" id="{392A1301-7D69-4841-B880-A2C328E491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363" y="500063"/>
            <a:ext cx="36004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>
                <a:solidFill>
                  <a:srgbClr val="00FFFF"/>
                </a:solidFill>
              </a:rPr>
              <a:t>2. </a:t>
            </a:r>
            <a:r>
              <a:rPr lang="zh-CN" altLang="en-US">
                <a:solidFill>
                  <a:srgbClr val="00FFFF"/>
                </a:solidFill>
              </a:rPr>
              <a:t>汤姆逊实验</a:t>
            </a:r>
          </a:p>
        </p:txBody>
      </p:sp>
      <p:sp>
        <p:nvSpPr>
          <p:cNvPr id="31755" name="Text Box 12">
            <a:extLst>
              <a:ext uri="{FF2B5EF4-FFF2-40B4-BE49-F238E27FC236}">
                <a16:creationId xmlns:a16="http://schemas.microsoft.com/office/drawing/2014/main" id="{86DA266B-8312-45B5-ABE1-8F6E9D6026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75" y="1000125"/>
            <a:ext cx="4530725" cy="240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ts val="3600"/>
              </a:lnSpc>
            </a:pPr>
            <a:r>
              <a:rPr lang="en-US" altLang="zh-CN" dirty="0">
                <a:solidFill>
                  <a:srgbClr val="FFFF00"/>
                </a:solidFill>
              </a:rPr>
              <a:t>1927</a:t>
            </a:r>
            <a:r>
              <a:rPr lang="zh-CN" altLang="en-US" dirty="0">
                <a:solidFill>
                  <a:srgbClr val="FFFF00"/>
                </a:solidFill>
              </a:rPr>
              <a:t>年</a:t>
            </a:r>
            <a:r>
              <a:rPr lang="zh-CN" altLang="en-US" dirty="0">
                <a:solidFill>
                  <a:schemeClr val="bg1"/>
                </a:solidFill>
              </a:rPr>
              <a:t>，</a:t>
            </a:r>
            <a:r>
              <a:rPr lang="en-US" altLang="zh-CN" dirty="0">
                <a:solidFill>
                  <a:srgbClr val="FFFF00"/>
                </a:solidFill>
              </a:rPr>
              <a:t>G.P. </a:t>
            </a:r>
            <a:r>
              <a:rPr lang="zh-CN" altLang="en-US" dirty="0">
                <a:solidFill>
                  <a:srgbClr val="FFFF00"/>
                </a:solidFill>
              </a:rPr>
              <a:t>汤姆逊</a:t>
            </a:r>
            <a:r>
              <a:rPr lang="zh-CN" altLang="en-US" dirty="0">
                <a:solidFill>
                  <a:schemeClr val="bg1"/>
                </a:solidFill>
              </a:rPr>
              <a:t>在实验中，让</a:t>
            </a:r>
            <a:r>
              <a:rPr lang="zh-CN" altLang="en-US" dirty="0">
                <a:solidFill>
                  <a:srgbClr val="FFFF00"/>
                </a:solidFill>
              </a:rPr>
              <a:t>电子束</a:t>
            </a:r>
            <a:r>
              <a:rPr lang="zh-CN" altLang="en-US" dirty="0">
                <a:solidFill>
                  <a:schemeClr val="bg1"/>
                </a:solidFill>
              </a:rPr>
              <a:t>通过</a:t>
            </a:r>
            <a:r>
              <a:rPr lang="zh-CN" altLang="en-US" dirty="0">
                <a:solidFill>
                  <a:srgbClr val="FFFF00"/>
                </a:solidFill>
              </a:rPr>
              <a:t>薄金属层</a:t>
            </a:r>
            <a:r>
              <a:rPr lang="zh-CN" altLang="en-US" dirty="0">
                <a:solidFill>
                  <a:schemeClr val="bg1"/>
                </a:solidFill>
              </a:rPr>
              <a:t>后射到照相底板上，结果发现，与 </a:t>
            </a:r>
            <a:r>
              <a:rPr lang="en-US" altLang="zh-CN" dirty="0">
                <a:solidFill>
                  <a:srgbClr val="FFFF00"/>
                </a:solidFill>
              </a:rPr>
              <a:t>X</a:t>
            </a:r>
            <a:r>
              <a:rPr lang="zh-CN" altLang="en-US" dirty="0">
                <a:solidFill>
                  <a:srgbClr val="FFFF00"/>
                </a:solidFill>
              </a:rPr>
              <a:t>射线</a:t>
            </a:r>
            <a:r>
              <a:rPr lang="zh-CN" altLang="en-US" dirty="0">
                <a:solidFill>
                  <a:schemeClr val="bg1"/>
                </a:solidFill>
              </a:rPr>
              <a:t>通过金箔时一样，也产生了清晰的</a:t>
            </a:r>
            <a:r>
              <a:rPr lang="zh-CN" altLang="en-US" dirty="0">
                <a:solidFill>
                  <a:srgbClr val="FFFF00"/>
                </a:solidFill>
              </a:rPr>
              <a:t>电子衍射</a:t>
            </a:r>
            <a:r>
              <a:rPr lang="zh-CN" altLang="en-US" dirty="0">
                <a:solidFill>
                  <a:schemeClr val="bg1"/>
                </a:solidFill>
              </a:rPr>
              <a:t>图样。</a:t>
            </a:r>
          </a:p>
        </p:txBody>
      </p:sp>
      <p:pic>
        <p:nvPicPr>
          <p:cNvPr id="31756" name="Picture 13" descr="http://cai.tongji.edu.cn/jiaoan_little/wutiangang/ershizhang/Image345.gif">
            <a:extLst>
              <a:ext uri="{FF2B5EF4-FFF2-40B4-BE49-F238E27FC236}">
                <a16:creationId xmlns:a16="http://schemas.microsoft.com/office/drawing/2014/main" id="{E8CE6F13-99E2-44D7-A81B-2ADF457063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r:link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5588" y="1000125"/>
            <a:ext cx="2879725" cy="2357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57" name="灯片编号占位符 1">
            <a:extLst>
              <a:ext uri="{FF2B5EF4-FFF2-40B4-BE49-F238E27FC236}">
                <a16:creationId xmlns:a16="http://schemas.microsoft.com/office/drawing/2014/main" id="{051C1AC3-F5B7-4EC0-852B-D82757DDAC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7ED29170-1D99-4459-A549-45ABD368A2D0}" type="slidenum">
              <a:rPr lang="en-US" altLang="zh-CN" b="0" smtClean="0">
                <a:solidFill>
                  <a:srgbClr val="FF00FF"/>
                </a:solidFill>
              </a:rPr>
              <a:pPr/>
              <a:t>23</a:t>
            </a:fld>
            <a:r>
              <a:rPr lang="en-US" altLang="zh-CN" b="0" dirty="0">
                <a:solidFill>
                  <a:srgbClr val="FF00FF"/>
                </a:solidFill>
              </a:rPr>
              <a:t>/28</a:t>
            </a:r>
          </a:p>
        </p:txBody>
      </p:sp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Text Box 6">
            <a:extLst>
              <a:ext uri="{FF2B5EF4-FFF2-40B4-BE49-F238E27FC236}">
                <a16:creationId xmlns:a16="http://schemas.microsoft.com/office/drawing/2014/main" id="{E68D6375-A8D1-4FC2-8C8A-D8E128ED09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476250"/>
            <a:ext cx="5818187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>
                <a:solidFill>
                  <a:srgbClr val="00FFFF"/>
                </a:solidFill>
              </a:rPr>
              <a:t>3. </a:t>
            </a:r>
            <a:r>
              <a:rPr lang="zh-CN" altLang="en-US">
                <a:solidFill>
                  <a:srgbClr val="00FFFF"/>
                </a:solidFill>
              </a:rPr>
              <a:t>电子通过狭缝的衍射实验</a:t>
            </a:r>
          </a:p>
        </p:txBody>
      </p:sp>
      <p:sp>
        <p:nvSpPr>
          <p:cNvPr id="1348615" name="Rectangle 7">
            <a:extLst>
              <a:ext uri="{FF2B5EF4-FFF2-40B4-BE49-F238E27FC236}">
                <a16:creationId xmlns:a16="http://schemas.microsoft.com/office/drawing/2014/main" id="{46DC5DDD-8B92-44AB-A06C-19F7A02111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418" y="1143000"/>
            <a:ext cx="8174038" cy="1684244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lvl="1" algn="just">
              <a:lnSpc>
                <a:spcPct val="150000"/>
              </a:lnSpc>
            </a:pPr>
            <a:r>
              <a:rPr lang="en-US" altLang="zh-CN" dirty="0">
                <a:solidFill>
                  <a:srgbClr val="FFFF00"/>
                </a:solidFill>
              </a:rPr>
              <a:t>1961</a:t>
            </a:r>
            <a:r>
              <a:rPr lang="zh-CN" altLang="en-US" dirty="0">
                <a:solidFill>
                  <a:srgbClr val="FFFF00"/>
                </a:solidFill>
              </a:rPr>
              <a:t>年</a:t>
            </a:r>
            <a:r>
              <a:rPr lang="zh-CN" altLang="en-US" dirty="0">
                <a:solidFill>
                  <a:schemeClr val="bg1"/>
                </a:solidFill>
              </a:rPr>
              <a:t>，</a:t>
            </a:r>
            <a:r>
              <a:rPr lang="en-US" altLang="zh-CN" dirty="0">
                <a:solidFill>
                  <a:srgbClr val="FFFF00"/>
                </a:solidFill>
              </a:rPr>
              <a:t>Jonsson</a:t>
            </a:r>
            <a:r>
              <a:rPr lang="zh-CN" altLang="en-US" dirty="0">
                <a:solidFill>
                  <a:schemeClr val="bg1"/>
                </a:solidFill>
              </a:rPr>
              <a:t>制成长为</a:t>
            </a:r>
            <a:r>
              <a:rPr lang="en-US" altLang="zh-CN" dirty="0">
                <a:solidFill>
                  <a:schemeClr val="bg1"/>
                </a:solidFill>
              </a:rPr>
              <a:t>50 mm</a:t>
            </a:r>
            <a:r>
              <a:rPr lang="zh-CN" altLang="en-US" dirty="0">
                <a:solidFill>
                  <a:schemeClr val="bg1"/>
                </a:solidFill>
              </a:rPr>
              <a:t>，宽为</a:t>
            </a:r>
            <a:r>
              <a:rPr lang="en-US" altLang="zh-CN" dirty="0">
                <a:solidFill>
                  <a:schemeClr val="bg1"/>
                </a:solidFill>
              </a:rPr>
              <a:t>0.3 mm</a:t>
            </a:r>
            <a:r>
              <a:rPr lang="zh-CN" altLang="en-US" dirty="0">
                <a:solidFill>
                  <a:schemeClr val="bg1"/>
                </a:solidFill>
              </a:rPr>
              <a:t>，缝间距为</a:t>
            </a:r>
            <a:r>
              <a:rPr lang="en-US" altLang="zh-CN" dirty="0">
                <a:solidFill>
                  <a:schemeClr val="bg1"/>
                </a:solidFill>
              </a:rPr>
              <a:t>1.0 </a:t>
            </a:r>
            <a:r>
              <a:rPr lang="el-GR" altLang="zh-CN" dirty="0">
                <a:solidFill>
                  <a:schemeClr val="bg1"/>
                </a:solidFill>
              </a:rPr>
              <a:t>μ</a:t>
            </a:r>
            <a:r>
              <a:rPr lang="en-US" altLang="zh-CN" dirty="0">
                <a:solidFill>
                  <a:schemeClr val="bg1"/>
                </a:solidFill>
              </a:rPr>
              <a:t>m</a:t>
            </a:r>
            <a:r>
              <a:rPr lang="zh-CN" altLang="en-US" dirty="0">
                <a:solidFill>
                  <a:schemeClr val="bg1"/>
                </a:solidFill>
              </a:rPr>
              <a:t>的多缝光栅。用</a:t>
            </a:r>
            <a:r>
              <a:rPr lang="en-US" altLang="zh-CN" dirty="0">
                <a:solidFill>
                  <a:srgbClr val="FFFF00"/>
                </a:solidFill>
              </a:rPr>
              <a:t>50 kV</a:t>
            </a:r>
            <a:r>
              <a:rPr lang="zh-CN" altLang="zh-CN" dirty="0">
                <a:solidFill>
                  <a:schemeClr val="bg1"/>
                </a:solidFill>
              </a:rPr>
              <a:t>的加速电压加速电子，使电子束分别通过单缝、双缝等，均得到</a:t>
            </a:r>
            <a:r>
              <a:rPr lang="zh-CN" altLang="zh-CN" dirty="0">
                <a:solidFill>
                  <a:srgbClr val="FFFF00"/>
                </a:solidFill>
              </a:rPr>
              <a:t>衍射图样</a:t>
            </a:r>
            <a:r>
              <a:rPr lang="zh-CN" altLang="zh-CN" dirty="0">
                <a:solidFill>
                  <a:schemeClr val="bg1"/>
                </a:solidFill>
              </a:rPr>
              <a:t>。</a:t>
            </a:r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33795" name="Picture 16">
            <a:extLst>
              <a:ext uri="{FF2B5EF4-FFF2-40B4-BE49-F238E27FC236}">
                <a16:creationId xmlns:a16="http://schemas.microsoft.com/office/drawing/2014/main" id="{3A9CCCD9-C110-41C0-A2B8-F120FA3677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3" t="4024" r="1317" b="28088"/>
          <a:stretch>
            <a:fillRect/>
          </a:stretch>
        </p:blipFill>
        <p:spPr bwMode="auto">
          <a:xfrm>
            <a:off x="434975" y="3284538"/>
            <a:ext cx="8280400" cy="2090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96" name="Rectangle 12">
            <a:extLst>
              <a:ext uri="{FF2B5EF4-FFF2-40B4-BE49-F238E27FC236}">
                <a16:creationId xmlns:a16="http://schemas.microsoft.com/office/drawing/2014/main" id="{91D0F850-A41D-43B2-B6F5-837A544617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975" y="5500688"/>
            <a:ext cx="80422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>
                <a:solidFill>
                  <a:schemeClr val="bg1"/>
                </a:solidFill>
              </a:rPr>
              <a:t>   </a:t>
            </a:r>
            <a:r>
              <a:rPr lang="zh-CN" altLang="en-US">
                <a:solidFill>
                  <a:schemeClr val="bg1"/>
                </a:solidFill>
                <a:latin typeface="华文中宋" panose="02010600040101010101" pitchFamily="2" charset="-122"/>
              </a:rPr>
              <a:t>单缝</a:t>
            </a:r>
            <a:r>
              <a:rPr lang="zh-CN" altLang="en-US">
                <a:solidFill>
                  <a:schemeClr val="bg1"/>
                </a:solidFill>
              </a:rPr>
              <a:t>                       </a:t>
            </a:r>
            <a:r>
              <a:rPr lang="zh-CN" altLang="en-US">
                <a:solidFill>
                  <a:schemeClr val="bg1"/>
                </a:solidFill>
                <a:latin typeface="华文中宋" panose="02010600040101010101" pitchFamily="2" charset="-122"/>
              </a:rPr>
              <a:t>双缝</a:t>
            </a:r>
            <a:r>
              <a:rPr lang="zh-CN" altLang="en-US">
                <a:solidFill>
                  <a:schemeClr val="bg1"/>
                </a:solidFill>
              </a:rPr>
              <a:t>                      </a:t>
            </a:r>
            <a:r>
              <a:rPr lang="zh-CN" altLang="en-US">
                <a:solidFill>
                  <a:schemeClr val="bg1"/>
                </a:solidFill>
                <a:latin typeface="华文中宋" panose="02010600040101010101" pitchFamily="2" charset="-122"/>
              </a:rPr>
              <a:t>三缝</a:t>
            </a:r>
            <a:r>
              <a:rPr lang="zh-CN" altLang="en-US">
                <a:solidFill>
                  <a:schemeClr val="bg1"/>
                </a:solidFill>
              </a:rPr>
              <a:t>                 </a:t>
            </a:r>
            <a:r>
              <a:rPr lang="zh-CN" altLang="en-US">
                <a:solidFill>
                  <a:schemeClr val="bg1"/>
                </a:solidFill>
                <a:latin typeface="华文中宋" panose="02010600040101010101" pitchFamily="2" charset="-122"/>
              </a:rPr>
              <a:t>四缝</a:t>
            </a:r>
            <a:endParaRPr lang="en-US" altLang="zh-CN">
              <a:solidFill>
                <a:schemeClr val="bg1"/>
              </a:solidFill>
              <a:latin typeface="华文中宋" panose="02010600040101010101" pitchFamily="2" charset="-122"/>
            </a:endParaRPr>
          </a:p>
        </p:txBody>
      </p:sp>
      <p:sp>
        <p:nvSpPr>
          <p:cNvPr id="33797" name="灯片编号占位符 1">
            <a:extLst>
              <a:ext uri="{FF2B5EF4-FFF2-40B4-BE49-F238E27FC236}">
                <a16:creationId xmlns:a16="http://schemas.microsoft.com/office/drawing/2014/main" id="{95DD0A88-385B-4DF6-8170-4F8BF8D86D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B6583262-751B-481D-8AF3-6D0DA2BAD81F}" type="slidenum">
              <a:rPr lang="en-US" altLang="zh-CN" b="0">
                <a:solidFill>
                  <a:srgbClr val="FF00FF"/>
                </a:solidFill>
              </a:rPr>
              <a:pPr/>
              <a:t>24</a:t>
            </a:fld>
            <a:r>
              <a:rPr lang="en-US" altLang="zh-CN" b="0">
                <a:solidFill>
                  <a:srgbClr val="FF00FF"/>
                </a:solidFill>
              </a:rPr>
              <a:t>/29</a:t>
            </a:r>
          </a:p>
        </p:txBody>
      </p:sp>
    </p:spTree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Text Box 3">
            <a:extLst>
              <a:ext uri="{FF2B5EF4-FFF2-40B4-BE49-F238E27FC236}">
                <a16:creationId xmlns:a16="http://schemas.microsoft.com/office/drawing/2014/main" id="{44ABF9F8-EAE4-4F5B-AACB-D5EAD809C3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" y="285750"/>
            <a:ext cx="8429625" cy="223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b="0">
                <a:solidFill>
                  <a:schemeClr val="bg1"/>
                </a:solidFill>
                <a:ea typeface="华文中宋" panose="02010600040101010101" pitchFamily="2" charset="-122"/>
              </a:rPr>
              <a:t>此外：</a:t>
            </a:r>
          </a:p>
          <a:p>
            <a:pPr>
              <a:lnSpc>
                <a:spcPct val="120000"/>
              </a:lnSpc>
            </a:pPr>
            <a:r>
              <a:rPr lang="zh-CN" altLang="en-US" b="0">
                <a:solidFill>
                  <a:schemeClr val="bg1"/>
                </a:solidFill>
              </a:rPr>
              <a:t>       </a:t>
            </a:r>
            <a:r>
              <a:rPr lang="en-US" altLang="zh-CN" b="0">
                <a:solidFill>
                  <a:srgbClr val="FFFF00"/>
                </a:solidFill>
              </a:rPr>
              <a:t>1993</a:t>
            </a:r>
            <a:r>
              <a:rPr lang="zh-CN" altLang="en-US" b="0">
                <a:solidFill>
                  <a:srgbClr val="FFFF00"/>
                </a:solidFill>
                <a:ea typeface="华文中宋" panose="02010600040101010101" pitchFamily="2" charset="-122"/>
              </a:rPr>
              <a:t>年</a:t>
            </a:r>
            <a:r>
              <a:rPr lang="zh-CN" altLang="en-US" b="0">
                <a:solidFill>
                  <a:schemeClr val="bg1"/>
                </a:solidFill>
                <a:ea typeface="华文中宋" panose="02010600040101010101" pitchFamily="2" charset="-122"/>
              </a:rPr>
              <a:t>，</a:t>
            </a:r>
            <a:r>
              <a:rPr lang="en-US" altLang="zh-CN" b="0">
                <a:solidFill>
                  <a:srgbClr val="FFFF00"/>
                </a:solidFill>
              </a:rPr>
              <a:t>Crommie</a:t>
            </a:r>
            <a:r>
              <a:rPr lang="zh-CN" altLang="en-US" b="0">
                <a:solidFill>
                  <a:schemeClr val="bg1"/>
                </a:solidFill>
                <a:ea typeface="华文中宋" panose="02010600040101010101" pitchFamily="2" charset="-122"/>
              </a:rPr>
              <a:t>等人用</a:t>
            </a:r>
            <a:r>
              <a:rPr lang="zh-CN" altLang="en-US" b="0">
                <a:solidFill>
                  <a:srgbClr val="FFFF00"/>
                </a:solidFill>
                <a:ea typeface="华文中宋" panose="02010600040101010101" pitchFamily="2" charset="-122"/>
              </a:rPr>
              <a:t>扫描隧道显微镜技术</a:t>
            </a:r>
            <a:r>
              <a:rPr lang="zh-CN" altLang="en-US" b="0">
                <a:solidFill>
                  <a:schemeClr val="bg1"/>
                </a:solidFill>
                <a:ea typeface="华文中宋" panose="02010600040101010101" pitchFamily="2" charset="-122"/>
              </a:rPr>
              <a:t>，在铜</a:t>
            </a:r>
            <a:r>
              <a:rPr lang="en-US" altLang="zh-CN" b="0">
                <a:solidFill>
                  <a:schemeClr val="bg1"/>
                </a:solidFill>
              </a:rPr>
              <a:t>(111) </a:t>
            </a:r>
            <a:r>
              <a:rPr lang="zh-CN" altLang="en-US" b="0">
                <a:solidFill>
                  <a:schemeClr val="bg1"/>
                </a:solidFill>
                <a:ea typeface="华文中宋" panose="02010600040101010101" pitchFamily="2" charset="-122"/>
              </a:rPr>
              <a:t>表面上的铁原子排列成半径为 </a:t>
            </a:r>
            <a:r>
              <a:rPr lang="en-US" altLang="zh-CN" b="0">
                <a:solidFill>
                  <a:srgbClr val="FFFF00"/>
                </a:solidFill>
              </a:rPr>
              <a:t>7.13 nm </a:t>
            </a:r>
            <a:r>
              <a:rPr lang="zh-CN" altLang="en-US" b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的圆环形量子围栏，用实验观测到了在围栏内形成的同心圆状的驻波，直观地证实了</a:t>
            </a:r>
            <a:r>
              <a:rPr lang="zh-CN" altLang="en-US" b="0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电子的波动性</a:t>
            </a:r>
            <a:r>
              <a:rPr lang="zh-CN" altLang="en-US" b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。</a:t>
            </a:r>
          </a:p>
        </p:txBody>
      </p:sp>
      <p:sp>
        <p:nvSpPr>
          <p:cNvPr id="62468" name="Text Box 4">
            <a:extLst>
              <a:ext uri="{FF2B5EF4-FFF2-40B4-BE49-F238E27FC236}">
                <a16:creationId xmlns:a16="http://schemas.microsoft.com/office/drawing/2014/main" id="{9CDBC328-0FA5-4A2B-8B7C-A3ACF2E61F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250" y="6181725"/>
            <a:ext cx="76438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zh-CN" b="0">
                <a:solidFill>
                  <a:schemeClr val="bg1"/>
                </a:solidFill>
              </a:rPr>
              <a:t>48</a:t>
            </a:r>
            <a:r>
              <a:rPr lang="zh-CN" altLang="en-US" b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个铁原子形成“量子围栏”，围栏中形成的电子驻波</a:t>
            </a:r>
            <a:endParaRPr lang="en-US" altLang="zh-CN" b="0">
              <a:solidFill>
                <a:schemeClr val="bg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4819" name="灯片编号占位符 1">
            <a:extLst>
              <a:ext uri="{FF2B5EF4-FFF2-40B4-BE49-F238E27FC236}">
                <a16:creationId xmlns:a16="http://schemas.microsoft.com/office/drawing/2014/main" id="{AB60FC85-80BC-42D3-B0BA-93AC6FD7EF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E271B860-19DD-4592-BA02-842D9FEFED8B}" type="slidenum">
              <a:rPr lang="en-US" altLang="zh-CN" b="0">
                <a:solidFill>
                  <a:srgbClr val="FF00FF"/>
                </a:solidFill>
              </a:rPr>
              <a:pPr/>
              <a:t>25</a:t>
            </a:fld>
            <a:r>
              <a:rPr lang="en-US" altLang="zh-CN" b="0">
                <a:solidFill>
                  <a:srgbClr val="FF00FF"/>
                </a:solidFill>
              </a:rPr>
              <a:t>/29</a:t>
            </a:r>
          </a:p>
        </p:txBody>
      </p:sp>
      <p:pic>
        <p:nvPicPr>
          <p:cNvPr id="6" name="Picture 10" descr="23304563U-1">
            <a:extLst>
              <a:ext uri="{FF2B5EF4-FFF2-40B4-BE49-F238E27FC236}">
                <a16:creationId xmlns:a16="http://schemas.microsoft.com/office/drawing/2014/main" id="{EB3FD6DD-1412-4424-92C3-7550293489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50" y="2500313"/>
            <a:ext cx="4857750" cy="3640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62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5" grpId="0"/>
      <p:bldP spid="6246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1" name="图片 2">
            <a:extLst>
              <a:ext uri="{FF2B5EF4-FFF2-40B4-BE49-F238E27FC236}">
                <a16:creationId xmlns:a16="http://schemas.microsoft.com/office/drawing/2014/main" id="{9B5F8876-399E-4CDE-A080-14DFA9D6D5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263" y="3627438"/>
            <a:ext cx="4535487" cy="301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2" name="图片 3">
            <a:extLst>
              <a:ext uri="{FF2B5EF4-FFF2-40B4-BE49-F238E27FC236}">
                <a16:creationId xmlns:a16="http://schemas.microsoft.com/office/drawing/2014/main" id="{696282E5-4764-4CCF-AB04-12B359F95E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9025" y="1303338"/>
            <a:ext cx="3887788" cy="534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3" name="矩形 4">
            <a:extLst>
              <a:ext uri="{FF2B5EF4-FFF2-40B4-BE49-F238E27FC236}">
                <a16:creationId xmlns:a16="http://schemas.microsoft.com/office/drawing/2014/main" id="{DE3A7BB1-5318-4C46-BE32-A72647DF6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42875"/>
            <a:ext cx="88057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Wave–particle duality of C</a:t>
            </a:r>
            <a:r>
              <a:rPr lang="en-US" altLang="zh-CN" sz="2800" baseline="-25000" dirty="0">
                <a:solidFill>
                  <a:srgbClr val="FF0000"/>
                </a:solidFill>
              </a:rPr>
              <a:t>60</a:t>
            </a:r>
            <a:r>
              <a:rPr lang="en-US" altLang="zh-CN" sz="2800" dirty="0">
                <a:solidFill>
                  <a:srgbClr val="FF0000"/>
                </a:solidFill>
              </a:rPr>
              <a:t> molecules  </a:t>
            </a:r>
            <a:r>
              <a:rPr lang="zh-CN" altLang="en-US" dirty="0">
                <a:solidFill>
                  <a:schemeClr val="bg1"/>
                </a:solidFill>
              </a:rPr>
              <a:t>（</a:t>
            </a:r>
            <a:r>
              <a:rPr lang="zh-CN" altLang="en-US" b="0" dirty="0">
                <a:solidFill>
                  <a:schemeClr val="bg1"/>
                </a:solidFill>
              </a:rPr>
              <a:t>其它实物粒子</a:t>
            </a:r>
            <a:r>
              <a:rPr lang="zh-CN" altLang="en-US" dirty="0">
                <a:solidFill>
                  <a:schemeClr val="bg1"/>
                </a:solidFill>
              </a:rPr>
              <a:t>）</a:t>
            </a:r>
            <a:endParaRPr lang="zh-CN" altLang="en-US" b="0" dirty="0">
              <a:solidFill>
                <a:schemeClr val="bg1"/>
              </a:solidFill>
            </a:endParaRPr>
          </a:p>
        </p:txBody>
      </p:sp>
      <p:sp>
        <p:nvSpPr>
          <p:cNvPr id="35844" name="矩形 5">
            <a:extLst>
              <a:ext uri="{FF2B5EF4-FFF2-40B4-BE49-F238E27FC236}">
                <a16:creationId xmlns:a16="http://schemas.microsoft.com/office/drawing/2014/main" id="{68AB4294-5E0F-4BCD-A607-EAEF0336E3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724694"/>
            <a:ext cx="54467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000" dirty="0">
                <a:solidFill>
                  <a:srgbClr val="FFFF00"/>
                </a:solidFill>
              </a:rPr>
              <a:t>Nature 401, 680–682,</a:t>
            </a:r>
            <a:r>
              <a:rPr lang="zh-CN" altLang="en-US" sz="2000" dirty="0">
                <a:solidFill>
                  <a:srgbClr val="FFFF00"/>
                </a:solidFill>
              </a:rPr>
              <a:t> </a:t>
            </a:r>
            <a:r>
              <a:rPr lang="en-US" altLang="zh-CN" sz="2000" dirty="0">
                <a:solidFill>
                  <a:srgbClr val="FFFF00"/>
                </a:solidFill>
              </a:rPr>
              <a:t>1999 (14 October)</a:t>
            </a:r>
            <a:endParaRPr lang="zh-CN" altLang="en-US" sz="2000" dirty="0">
              <a:solidFill>
                <a:srgbClr val="FFFF00"/>
              </a:solidFill>
            </a:endParaRPr>
          </a:p>
        </p:txBody>
      </p:sp>
      <p:pic>
        <p:nvPicPr>
          <p:cNvPr id="35845" name="图片 7">
            <a:extLst>
              <a:ext uri="{FF2B5EF4-FFF2-40B4-BE49-F238E27FC236}">
                <a16:creationId xmlns:a16="http://schemas.microsoft.com/office/drawing/2014/main" id="{6DC5615D-2606-4481-9CDC-F287F5D0DE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303908"/>
            <a:ext cx="2269108" cy="2269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6" name="灯片编号占位符 1">
            <a:extLst>
              <a:ext uri="{FF2B5EF4-FFF2-40B4-BE49-F238E27FC236}">
                <a16:creationId xmlns:a16="http://schemas.microsoft.com/office/drawing/2014/main" id="{E545DCD1-C2EF-4FB0-8838-F50D0DEADA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B0FF890C-C7A7-48B2-9862-BF23B68B1552}" type="slidenum">
              <a:rPr lang="en-US" altLang="zh-CN" b="0">
                <a:solidFill>
                  <a:srgbClr val="FF00FF"/>
                </a:solidFill>
              </a:rPr>
              <a:pPr/>
              <a:t>26</a:t>
            </a:fld>
            <a:r>
              <a:rPr lang="en-US" altLang="zh-CN" b="0">
                <a:solidFill>
                  <a:srgbClr val="FF00FF"/>
                </a:solidFill>
              </a:rPr>
              <a:t>/29</a:t>
            </a:r>
          </a:p>
        </p:txBody>
      </p:sp>
      <p:sp>
        <p:nvSpPr>
          <p:cNvPr id="8" name="矩形 5">
            <a:extLst>
              <a:ext uri="{FF2B5EF4-FFF2-40B4-BE49-F238E27FC236}">
                <a16:creationId xmlns:a16="http://schemas.microsoft.com/office/drawing/2014/main" id="{B886279A-857B-46BD-BECE-D1E9E2C521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7864" y="3244974"/>
            <a:ext cx="1551161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FFFF00"/>
                </a:solidFill>
              </a:rPr>
              <a:t>D ~ 0.7nm</a:t>
            </a:r>
            <a:endParaRPr lang="zh-CN" altLang="en-US" sz="2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5" name="图片 3">
            <a:extLst>
              <a:ext uri="{FF2B5EF4-FFF2-40B4-BE49-F238E27FC236}">
                <a16:creationId xmlns:a16="http://schemas.microsoft.com/office/drawing/2014/main" id="{62B0E27F-7865-4FAF-8E70-C4AB274C32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88840"/>
            <a:ext cx="9144000" cy="38774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66" name="矩形 5">
            <a:extLst>
              <a:ext uri="{FF2B5EF4-FFF2-40B4-BE49-F238E27FC236}">
                <a16:creationId xmlns:a16="http://schemas.microsoft.com/office/drawing/2014/main" id="{B24D2CCF-EB1A-4E57-932E-7866D5FAD2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538" y="718038"/>
            <a:ext cx="8494712" cy="9827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ts val="3700"/>
              </a:lnSpc>
            </a:pPr>
            <a:r>
              <a:rPr lang="en-US" altLang="zh-CN" sz="2800" dirty="0">
                <a:solidFill>
                  <a:srgbClr val="FF0000"/>
                </a:solidFill>
              </a:rPr>
              <a:t>Controlled double-slit electron diffraction</a:t>
            </a:r>
          </a:p>
          <a:p>
            <a:pPr>
              <a:lnSpc>
                <a:spcPts val="3700"/>
              </a:lnSpc>
            </a:pPr>
            <a:r>
              <a:rPr lang="en-US" altLang="zh-CN" sz="2000" dirty="0">
                <a:solidFill>
                  <a:srgbClr val="FFFF00"/>
                </a:solidFill>
              </a:rPr>
              <a:t>                                                         New Journal of Physics, 15: 033018 (2013) </a:t>
            </a:r>
            <a:endParaRPr lang="zh-CN" altLang="en-US" sz="2000" dirty="0">
              <a:solidFill>
                <a:srgbClr val="FFFF00"/>
              </a:solidFill>
            </a:endParaRPr>
          </a:p>
        </p:txBody>
      </p:sp>
      <p:sp>
        <p:nvSpPr>
          <p:cNvPr id="36867" name="灯片编号占位符 1">
            <a:extLst>
              <a:ext uri="{FF2B5EF4-FFF2-40B4-BE49-F238E27FC236}">
                <a16:creationId xmlns:a16="http://schemas.microsoft.com/office/drawing/2014/main" id="{7567A7C3-4C73-4ACC-8C32-B260DF9A1B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16E6BF84-DBD5-49F8-9212-19741A37F8AA}" type="slidenum">
              <a:rPr lang="en-US" altLang="zh-CN" b="0">
                <a:solidFill>
                  <a:srgbClr val="FF00FF"/>
                </a:solidFill>
              </a:rPr>
              <a:pPr/>
              <a:t>27</a:t>
            </a:fld>
            <a:r>
              <a:rPr lang="en-US" altLang="zh-CN" b="0">
                <a:solidFill>
                  <a:srgbClr val="FF00FF"/>
                </a:solidFill>
              </a:rPr>
              <a:t>/29</a:t>
            </a:r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89" name="图片 3">
            <a:extLst>
              <a:ext uri="{FF2B5EF4-FFF2-40B4-BE49-F238E27FC236}">
                <a16:creationId xmlns:a16="http://schemas.microsoft.com/office/drawing/2014/main" id="{46C25576-CF3A-4626-8B12-389ACEF355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9" r="69" b="46645"/>
          <a:stretch>
            <a:fillRect/>
          </a:stretch>
        </p:blipFill>
        <p:spPr bwMode="auto">
          <a:xfrm>
            <a:off x="6350" y="1196975"/>
            <a:ext cx="4667250" cy="563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0" name="图片 4">
            <a:extLst>
              <a:ext uri="{FF2B5EF4-FFF2-40B4-BE49-F238E27FC236}">
                <a16:creationId xmlns:a16="http://schemas.microsoft.com/office/drawing/2014/main" id="{4AF8D083-ECBF-4E9A-8E82-C928B70B4D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9" t="45703" r="69"/>
          <a:stretch>
            <a:fillRect/>
          </a:stretch>
        </p:blipFill>
        <p:spPr bwMode="auto">
          <a:xfrm>
            <a:off x="4600575" y="1196975"/>
            <a:ext cx="4537075" cy="563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25268802-433A-4526-AEEC-83465F0D7102}"/>
              </a:ext>
            </a:extLst>
          </p:cNvPr>
          <p:cNvSpPr/>
          <p:nvPr/>
        </p:nvSpPr>
        <p:spPr>
          <a:xfrm>
            <a:off x="363538" y="71438"/>
            <a:ext cx="8494712" cy="982770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0" hangingPunct="0">
              <a:lnSpc>
                <a:spcPts val="3700"/>
              </a:lnSpc>
            </a:pPr>
            <a:r>
              <a:rPr lang="en-US" altLang="zh-CN" sz="2800" dirty="0">
                <a:solidFill>
                  <a:srgbClr val="FF0000"/>
                </a:solidFill>
              </a:rPr>
              <a:t>Controlled double-slit electron diffraction       </a:t>
            </a:r>
            <a:r>
              <a:rPr lang="zh-CN" altLang="en-US" i="1" dirty="0">
                <a:solidFill>
                  <a:srgbClr val="00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视频演示</a:t>
            </a:r>
            <a:endParaRPr lang="en-US" altLang="zh-CN" i="1" dirty="0">
              <a:solidFill>
                <a:srgbClr val="00FF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0" hangingPunct="0">
              <a:lnSpc>
                <a:spcPts val="3700"/>
              </a:lnSpc>
            </a:pPr>
            <a:r>
              <a:rPr lang="en-US" altLang="zh-CN" sz="2000" dirty="0">
                <a:solidFill>
                  <a:srgbClr val="FFFF00"/>
                </a:solidFill>
              </a:rPr>
              <a:t>                                                         New Journal of Physics, 15: 033018 (2013)</a:t>
            </a:r>
            <a:endParaRPr lang="zh-CN" altLang="en-US" sz="2000" dirty="0">
              <a:solidFill>
                <a:srgbClr val="FFFF00"/>
              </a:solidFill>
            </a:endParaRPr>
          </a:p>
        </p:txBody>
      </p:sp>
      <p:sp>
        <p:nvSpPr>
          <p:cNvPr id="37892" name="灯片编号占位符 1">
            <a:extLst>
              <a:ext uri="{FF2B5EF4-FFF2-40B4-BE49-F238E27FC236}">
                <a16:creationId xmlns:a16="http://schemas.microsoft.com/office/drawing/2014/main" id="{FD6E9EF5-D55D-48DD-905B-FBB062D4DA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52848A1F-BE4E-4F57-9884-49A84242F2F0}" type="slidenum">
              <a:rPr lang="en-US" altLang="zh-CN" b="0">
                <a:solidFill>
                  <a:srgbClr val="FF00FF"/>
                </a:solidFill>
              </a:rPr>
              <a:pPr/>
              <a:t>28</a:t>
            </a:fld>
            <a:r>
              <a:rPr lang="en-US" altLang="zh-CN" b="0">
                <a:solidFill>
                  <a:srgbClr val="FF00FF"/>
                </a:solidFill>
              </a:rPr>
              <a:t>/29</a:t>
            </a:r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682" name="Text Box 2">
            <a:extLst>
              <a:ext uri="{FF2B5EF4-FFF2-40B4-BE49-F238E27FC236}">
                <a16:creationId xmlns:a16="http://schemas.microsoft.com/office/drawing/2014/main" id="{DC66E9CE-A3ED-40E2-BF3C-D49FC72B88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063" y="1997075"/>
            <a:ext cx="3857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>
                <a:solidFill>
                  <a:schemeClr val="bg1"/>
                </a:solidFill>
              </a:rPr>
              <a:t>观测仪器的最小分辨角</a:t>
            </a:r>
          </a:p>
        </p:txBody>
      </p:sp>
      <p:graphicFrame>
        <p:nvGraphicFramePr>
          <p:cNvPr id="1351683" name="Object 2">
            <a:extLst>
              <a:ext uri="{FF2B5EF4-FFF2-40B4-BE49-F238E27FC236}">
                <a16:creationId xmlns:a16="http://schemas.microsoft.com/office/drawing/2014/main" id="{1F2431D2-1507-4BEF-A20E-EB1A507BE88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1588" y="1854200"/>
          <a:ext cx="1474787" cy="788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3578" r:id="rId4" imgW="726840" imgH="382680" progId="">
                  <p:embed/>
                </p:oleObj>
              </mc:Choice>
              <mc:Fallback>
                <p:oleObj r:id="rId4" imgW="726840" imgH="382680" progId="">
                  <p:embed/>
                  <p:pic>
                    <p:nvPicPr>
                      <p:cNvPr id="1351683" name="Object 2">
                        <a:extLst>
                          <a:ext uri="{FF2B5EF4-FFF2-40B4-BE49-F238E27FC236}">
                            <a16:creationId xmlns:a16="http://schemas.microsoft.com/office/drawing/2014/main" id="{1F2431D2-1507-4BEF-A20E-EB1A507BE88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1588" y="1854200"/>
                        <a:ext cx="1474787" cy="788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>
            <a:extLst>
              <a:ext uri="{FF2B5EF4-FFF2-40B4-BE49-F238E27FC236}">
                <a16:creationId xmlns:a16="http://schemas.microsoft.com/office/drawing/2014/main" id="{2DDFC632-7228-46E6-9BE3-4B2CB84B2455}"/>
              </a:ext>
            </a:extLst>
          </p:cNvPr>
          <p:cNvGrpSpPr>
            <a:grpSpLocks/>
          </p:cNvGrpSpPr>
          <p:nvPr/>
        </p:nvGrpSpPr>
        <p:grpSpPr bwMode="auto">
          <a:xfrm>
            <a:off x="612775" y="1211263"/>
            <a:ext cx="4116388" cy="487362"/>
            <a:chOff x="638" y="3830"/>
            <a:chExt cx="2412" cy="307"/>
          </a:xfrm>
        </p:grpSpPr>
        <p:sp>
          <p:nvSpPr>
            <p:cNvPr id="38916" name="Rectangle 5">
              <a:extLst>
                <a:ext uri="{FF2B5EF4-FFF2-40B4-BE49-F238E27FC236}">
                  <a16:creationId xmlns:a16="http://schemas.microsoft.com/office/drawing/2014/main" id="{E5488D46-CEA2-45C4-A480-D54095371B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8" y="3830"/>
              <a:ext cx="1087" cy="294"/>
            </a:xfrm>
            <a:prstGeom prst="rect">
              <a:avLst/>
            </a:prstGeom>
            <a:noFill/>
            <a:ln w="9525">
              <a:solidFill>
                <a:schemeClr val="fol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>
                  <a:solidFill>
                    <a:srgbClr val="00FFFF"/>
                  </a:solidFill>
                  <a:latin typeface="华文中宋" panose="02010600040101010101" pitchFamily="2" charset="-122"/>
                </a:rPr>
                <a:t>电子波波长</a:t>
              </a:r>
            </a:p>
          </p:txBody>
        </p:sp>
        <p:sp>
          <p:nvSpPr>
            <p:cNvPr id="38917" name="Rectangle 6">
              <a:extLst>
                <a:ext uri="{FF2B5EF4-FFF2-40B4-BE49-F238E27FC236}">
                  <a16:creationId xmlns:a16="http://schemas.microsoft.com/office/drawing/2014/main" id="{A7F604FD-B402-4E21-A8B8-ABF83A501B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22" y="3843"/>
              <a:ext cx="828" cy="294"/>
            </a:xfrm>
            <a:prstGeom prst="rect">
              <a:avLst/>
            </a:prstGeom>
            <a:noFill/>
            <a:ln w="9525">
              <a:solidFill>
                <a:schemeClr val="fol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>
                  <a:solidFill>
                    <a:srgbClr val="00FFFF"/>
                  </a:solidFill>
                  <a:latin typeface="华文中宋" panose="02010600040101010101" pitchFamily="2" charset="-122"/>
                </a:rPr>
                <a:t>光波波长</a:t>
              </a:r>
            </a:p>
          </p:txBody>
        </p:sp>
      </p:grpSp>
      <p:sp>
        <p:nvSpPr>
          <p:cNvPr id="1351687" name="Text Box 7">
            <a:extLst>
              <a:ext uri="{FF2B5EF4-FFF2-40B4-BE49-F238E27FC236}">
                <a16:creationId xmlns:a16="http://schemas.microsoft.com/office/drawing/2014/main" id="{D12AB5B5-A544-44BC-A415-0D8D229D4A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7313" y="1192213"/>
            <a:ext cx="5905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>
                <a:solidFill>
                  <a:srgbClr val="FFFF00"/>
                </a:solidFill>
              </a:rPr>
              <a:t>&lt;&lt;</a:t>
            </a:r>
          </a:p>
        </p:txBody>
      </p:sp>
      <p:sp>
        <p:nvSpPr>
          <p:cNvPr id="1351688" name="Text Box 8">
            <a:extLst>
              <a:ext uri="{FF2B5EF4-FFF2-40B4-BE49-F238E27FC236}">
                <a16:creationId xmlns:a16="http://schemas.microsoft.com/office/drawing/2014/main" id="{FC69EEDD-DB68-4506-852C-CDC704E0B9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6575" y="1120775"/>
            <a:ext cx="3455988" cy="140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dirty="0">
                <a:solidFill>
                  <a:schemeClr val="bg1"/>
                </a:solidFill>
              </a:rPr>
              <a:t>电子显微镜分辨率</a:t>
            </a:r>
          </a:p>
          <a:p>
            <a:pPr algn="ctr">
              <a:lnSpc>
                <a:spcPct val="120000"/>
              </a:lnSpc>
            </a:pPr>
            <a:r>
              <a:rPr lang="zh-CN" altLang="en-US" dirty="0">
                <a:solidFill>
                  <a:srgbClr val="FFFF00"/>
                </a:solidFill>
              </a:rPr>
              <a:t>远大于</a:t>
            </a:r>
          </a:p>
          <a:p>
            <a:pPr algn="ctr">
              <a:lnSpc>
                <a:spcPct val="120000"/>
              </a:lnSpc>
            </a:pPr>
            <a:r>
              <a:rPr lang="zh-CN" altLang="en-US" dirty="0">
                <a:solidFill>
                  <a:schemeClr val="bg1"/>
                </a:solidFill>
              </a:rPr>
              <a:t>光学显微镜分辨率</a:t>
            </a:r>
          </a:p>
        </p:txBody>
      </p:sp>
      <p:sp>
        <p:nvSpPr>
          <p:cNvPr id="1351689" name="AutoShape 9">
            <a:extLst>
              <a:ext uri="{FF2B5EF4-FFF2-40B4-BE49-F238E27FC236}">
                <a16:creationId xmlns:a16="http://schemas.microsoft.com/office/drawing/2014/main" id="{06A8284B-6B0F-4127-A2C9-57AD498B5527}"/>
              </a:ext>
            </a:extLst>
          </p:cNvPr>
          <p:cNvSpPr>
            <a:spLocks/>
          </p:cNvSpPr>
          <p:nvPr/>
        </p:nvSpPr>
        <p:spPr bwMode="auto">
          <a:xfrm>
            <a:off x="5427663" y="1336675"/>
            <a:ext cx="358775" cy="1066800"/>
          </a:xfrm>
          <a:prstGeom prst="rightBrace">
            <a:avLst>
              <a:gd name="adj1" fmla="val 24765"/>
              <a:gd name="adj2" fmla="val 50000"/>
            </a:avLst>
          </a:prstGeom>
          <a:noFill/>
          <a:ln w="19050">
            <a:solidFill>
              <a:srgbClr val="00FF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endParaRPr lang="en-US" altLang="zh-CN"/>
          </a:p>
        </p:txBody>
      </p:sp>
      <p:sp>
        <p:nvSpPr>
          <p:cNvPr id="1351691" name="Text Box 11">
            <a:extLst>
              <a:ext uri="{FF2B5EF4-FFF2-40B4-BE49-F238E27FC236}">
                <a16:creationId xmlns:a16="http://schemas.microsoft.com/office/drawing/2014/main" id="{00816B93-254D-4AA5-A37D-564582E2BB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404813"/>
            <a:ext cx="5040312" cy="579437"/>
          </a:xfrm>
          <a:prstGeom prst="rect">
            <a:avLst/>
          </a:prstGeom>
          <a:noFill/>
          <a:ln>
            <a:noFill/>
          </a:ln>
          <a:effectLst/>
        </p:spPr>
        <p:txBody>
          <a:bodyPr lIns="92075" tIns="46038" rIns="92075" bIns="46038" anchor="ctr"/>
          <a:lstStyle/>
          <a:p>
            <a:pPr eaLnBrk="0" hangingPunct="0"/>
            <a:r>
              <a:rPr lang="zh-CN" altLang="en-US" sz="2800" b="0" dirty="0">
                <a:solidFill>
                  <a:srgbClr val="FFFF00"/>
                </a:solidFill>
                <a:latin typeface="宋体" panose="02010600030101010101" pitchFamily="2" charset="-122"/>
              </a:rPr>
              <a:t>物质波的应用举例</a:t>
            </a:r>
          </a:p>
        </p:txBody>
      </p:sp>
      <p:sp>
        <p:nvSpPr>
          <p:cNvPr id="1351692" name="Rectangle 12">
            <a:extLst>
              <a:ext uri="{FF2B5EF4-FFF2-40B4-BE49-F238E27FC236}">
                <a16:creationId xmlns:a16="http://schemas.microsoft.com/office/drawing/2014/main" id="{3D45E57C-C30F-4C51-802E-07C3DB9FD0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063" y="2824163"/>
            <a:ext cx="83280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dirty="0">
                <a:solidFill>
                  <a:srgbClr val="FFFF00"/>
                </a:solidFill>
              </a:rPr>
              <a:t>1932</a:t>
            </a:r>
            <a:r>
              <a:rPr lang="zh-CN" altLang="en-US" dirty="0">
                <a:solidFill>
                  <a:srgbClr val="FFFF00"/>
                </a:solidFill>
              </a:rPr>
              <a:t>年</a:t>
            </a:r>
            <a:r>
              <a:rPr lang="zh-CN" altLang="en-US" dirty="0">
                <a:solidFill>
                  <a:schemeClr val="bg1"/>
                </a:solidFill>
              </a:rPr>
              <a:t>，德国的</a:t>
            </a:r>
            <a:r>
              <a:rPr lang="zh-CN" altLang="en-US" dirty="0">
                <a:solidFill>
                  <a:srgbClr val="FFFF00"/>
                </a:solidFill>
              </a:rPr>
              <a:t>鲁斯卡</a:t>
            </a:r>
            <a:r>
              <a:rPr lang="zh-CN" altLang="en-US" dirty="0">
                <a:solidFill>
                  <a:schemeClr val="bg1"/>
                </a:solidFill>
              </a:rPr>
              <a:t>研制成功第一台电子显微镜</a:t>
            </a:r>
            <a:endParaRPr lang="en-US" altLang="zh-CN" dirty="0">
              <a:solidFill>
                <a:schemeClr val="bg1"/>
              </a:solidFill>
            </a:endParaRPr>
          </a:p>
        </p:txBody>
      </p:sp>
      <p:pic>
        <p:nvPicPr>
          <p:cNvPr id="1351694" name="Picture 14" descr="188219">
            <a:extLst>
              <a:ext uri="{FF2B5EF4-FFF2-40B4-BE49-F238E27FC236}">
                <a16:creationId xmlns:a16="http://schemas.microsoft.com/office/drawing/2014/main" id="{F448185F-D842-4FF6-B453-7DD95A8088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3429000"/>
            <a:ext cx="3935412" cy="295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25" name="灯片编号占位符 1">
            <a:extLst>
              <a:ext uri="{FF2B5EF4-FFF2-40B4-BE49-F238E27FC236}">
                <a16:creationId xmlns:a16="http://schemas.microsoft.com/office/drawing/2014/main" id="{2CCF4A03-CF5B-443C-BFCC-04C8129855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4BE67292-E6C8-42AC-A07D-948AEB1E1C74}" type="slidenum">
              <a:rPr lang="en-US" altLang="zh-CN" b="0">
                <a:solidFill>
                  <a:srgbClr val="FF00FF"/>
                </a:solidFill>
              </a:rPr>
              <a:pPr/>
              <a:t>29</a:t>
            </a:fld>
            <a:r>
              <a:rPr lang="en-US" altLang="zh-CN" b="0">
                <a:solidFill>
                  <a:srgbClr val="FF00FF"/>
                </a:solidFill>
              </a:rPr>
              <a:t>/29</a:t>
            </a:r>
          </a:p>
        </p:txBody>
      </p:sp>
      <p:pic>
        <p:nvPicPr>
          <p:cNvPr id="15" name="Picture 2" descr="https://ss0.bdstatic.com/70cFuHSh_Q1YnxGkpoWK1HF6hhy/it/u=1628922507,2048719225&amp;fm=26&amp;gp=0.jpg">
            <a:extLst>
              <a:ext uri="{FF2B5EF4-FFF2-40B4-BE49-F238E27FC236}">
                <a16:creationId xmlns:a16="http://schemas.microsoft.com/office/drawing/2014/main" id="{C9E6365B-D05A-454B-BC1D-9F33804BC2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2486" y="3429000"/>
            <a:ext cx="3941762" cy="2957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51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3516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3516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51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351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51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51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351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351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1682" grpId="0"/>
      <p:bldP spid="1351687" grpId="0"/>
      <p:bldP spid="1351688" grpId="0"/>
      <p:bldP spid="1351689" grpId="0" animBg="1"/>
      <p:bldP spid="1351691" grpId="0"/>
      <p:bldP spid="135169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3730" name="Text Box 2">
            <a:extLst>
              <a:ext uri="{FF2B5EF4-FFF2-40B4-BE49-F238E27FC236}">
                <a16:creationId xmlns:a16="http://schemas.microsoft.com/office/drawing/2014/main" id="{7FF0E0D3-E3B9-4BE9-BBAE-4FC1B47255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357188"/>
            <a:ext cx="72009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3200">
                <a:solidFill>
                  <a:srgbClr val="FFFF00"/>
                </a:solidFill>
                <a:latin typeface="宋体" panose="02010600030101010101" pitchFamily="2" charset="-122"/>
              </a:rPr>
              <a:t>怎样理解物质波（德布罗意波）</a:t>
            </a:r>
            <a:r>
              <a:rPr lang="en-US" altLang="zh-CN" sz="3200">
                <a:solidFill>
                  <a:srgbClr val="FFFF00"/>
                </a:solidFill>
                <a:latin typeface="宋体" panose="02010600030101010101" pitchFamily="2" charset="-122"/>
              </a:rPr>
              <a:t>?</a:t>
            </a:r>
          </a:p>
        </p:txBody>
      </p:sp>
      <p:sp>
        <p:nvSpPr>
          <p:cNvPr id="1353731" name="Text Box 3">
            <a:extLst>
              <a:ext uri="{FF2B5EF4-FFF2-40B4-BE49-F238E27FC236}">
                <a16:creationId xmlns:a16="http://schemas.microsoft.com/office/drawing/2014/main" id="{15CDE50A-56E4-4115-8473-A717D9EA10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2297113"/>
            <a:ext cx="18732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r"/>
            <a:r>
              <a:rPr lang="zh-CN" altLang="en-US" sz="2800">
                <a:solidFill>
                  <a:srgbClr val="00FFFF"/>
                </a:solidFill>
                <a:latin typeface="华文中宋" panose="02010600040101010101" pitchFamily="2" charset="-122"/>
                <a:sym typeface="Symbol" panose="05050102010706020507" pitchFamily="18" charset="2"/>
              </a:rPr>
              <a:t>薛定谔：</a:t>
            </a:r>
            <a:endParaRPr lang="zh-CN" altLang="en-US" sz="2800">
              <a:solidFill>
                <a:srgbClr val="00FFFF"/>
              </a:solidFill>
              <a:latin typeface="华文中宋" panose="02010600040101010101" pitchFamily="2" charset="-122"/>
            </a:endParaRPr>
          </a:p>
        </p:txBody>
      </p:sp>
      <p:sp>
        <p:nvSpPr>
          <p:cNvPr id="1353732" name="Text Box 4">
            <a:extLst>
              <a:ext uri="{FF2B5EF4-FFF2-40B4-BE49-F238E27FC236}">
                <a16:creationId xmlns:a16="http://schemas.microsoft.com/office/drawing/2014/main" id="{9874D864-8A1C-47B9-94CB-5A84337FAD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3638" y="2286000"/>
            <a:ext cx="3352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chemeClr val="bg1"/>
                </a:solidFill>
                <a:latin typeface="华文中宋" panose="02010600040101010101" pitchFamily="2" charset="-122"/>
              </a:rPr>
              <a:t>波动是基本的，</a:t>
            </a:r>
          </a:p>
        </p:txBody>
      </p:sp>
      <p:sp>
        <p:nvSpPr>
          <p:cNvPr id="1353733" name="Text Box 5">
            <a:extLst>
              <a:ext uri="{FF2B5EF4-FFF2-40B4-BE49-F238E27FC236}">
                <a16:creationId xmlns:a16="http://schemas.microsoft.com/office/drawing/2014/main" id="{AD7AA32D-4123-4D5D-B8C5-C5BE7EF2E6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4550" y="2889250"/>
            <a:ext cx="65611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>
                <a:solidFill>
                  <a:schemeClr val="bg1"/>
                </a:solidFill>
                <a:latin typeface="华文中宋" panose="02010600040101010101" pitchFamily="2" charset="-122"/>
              </a:rPr>
              <a:t>    —— </a:t>
            </a:r>
            <a:r>
              <a:rPr lang="zh-CN" altLang="en-US" sz="2800">
                <a:solidFill>
                  <a:schemeClr val="bg1"/>
                </a:solidFill>
                <a:latin typeface="华文中宋" panose="02010600040101010101" pitchFamily="2" charset="-122"/>
                <a:sym typeface="Symbol" panose="05050102010706020507" pitchFamily="18" charset="2"/>
              </a:rPr>
              <a:t>夸大了波动性，抹煞了粒子性</a:t>
            </a:r>
          </a:p>
        </p:txBody>
      </p:sp>
      <p:sp>
        <p:nvSpPr>
          <p:cNvPr id="1353734" name="Text Box 6">
            <a:extLst>
              <a:ext uri="{FF2B5EF4-FFF2-40B4-BE49-F238E27FC236}">
                <a16:creationId xmlns:a16="http://schemas.microsoft.com/office/drawing/2014/main" id="{C8C8ADD5-CABA-486B-9895-422082767F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071563"/>
            <a:ext cx="22431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rgbClr val="00FFFF"/>
                </a:solidFill>
                <a:latin typeface="华文中宋" panose="02010600040101010101" pitchFamily="2" charset="-122"/>
              </a:rPr>
              <a:t>德布罗意：</a:t>
            </a:r>
          </a:p>
        </p:txBody>
      </p:sp>
      <p:sp>
        <p:nvSpPr>
          <p:cNvPr id="1353735" name="Text Box 7">
            <a:extLst>
              <a:ext uri="{FF2B5EF4-FFF2-40B4-BE49-F238E27FC236}">
                <a16:creationId xmlns:a16="http://schemas.microsoft.com/office/drawing/2014/main" id="{6A2A1ED2-F266-48F1-91BA-FE84072D73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7300" y="1090613"/>
            <a:ext cx="65452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chemeClr val="bg1"/>
                </a:solidFill>
                <a:latin typeface="华文中宋" panose="02010600040101010101" pitchFamily="2" charset="-122"/>
              </a:rPr>
              <a:t>物质波是引导粒子运动的</a:t>
            </a:r>
            <a:r>
              <a:rPr lang="zh-CN" altLang="en-US" sz="2800">
                <a:solidFill>
                  <a:srgbClr val="00FF00"/>
                </a:solidFill>
                <a:latin typeface="华文中宋" panose="02010600040101010101" pitchFamily="2" charset="-122"/>
              </a:rPr>
              <a:t>“导波”</a:t>
            </a:r>
            <a:endParaRPr lang="zh-CN" altLang="en-US" sz="2800">
              <a:latin typeface="华文中宋" panose="02010600040101010101" pitchFamily="2" charset="-122"/>
            </a:endParaRPr>
          </a:p>
        </p:txBody>
      </p:sp>
      <p:sp>
        <p:nvSpPr>
          <p:cNvPr id="1353736" name="Text Box 8">
            <a:extLst>
              <a:ext uri="{FF2B5EF4-FFF2-40B4-BE49-F238E27FC236}">
                <a16:creationId xmlns:a16="http://schemas.microsoft.com/office/drawing/2014/main" id="{2D102A80-838B-4CD2-8604-28225DB2A7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33650" y="1662113"/>
            <a:ext cx="6172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>
                <a:solidFill>
                  <a:schemeClr val="bg1"/>
                </a:solidFill>
                <a:latin typeface="华文中宋" panose="02010600040101010101" pitchFamily="2" charset="-122"/>
              </a:rPr>
              <a:t>—— </a:t>
            </a:r>
            <a:r>
              <a:rPr lang="zh-CN" altLang="en-US" sz="2800">
                <a:solidFill>
                  <a:schemeClr val="bg1"/>
                </a:solidFill>
                <a:latin typeface="华文中宋" panose="02010600040101010101" pitchFamily="2" charset="-122"/>
              </a:rPr>
              <a:t>本质是什么，不明确</a:t>
            </a:r>
          </a:p>
        </p:txBody>
      </p:sp>
      <p:sp>
        <p:nvSpPr>
          <p:cNvPr id="1353737" name="Rectangle 9">
            <a:extLst>
              <a:ext uri="{FF2B5EF4-FFF2-40B4-BE49-F238E27FC236}">
                <a16:creationId xmlns:a16="http://schemas.microsoft.com/office/drawing/2014/main" id="{54E173FC-9BAF-430A-BCD2-7C7D2C855C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7438" y="2301875"/>
            <a:ext cx="39957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800">
                <a:solidFill>
                  <a:schemeClr val="bg1"/>
                </a:solidFill>
                <a:latin typeface="华文中宋" panose="02010600040101010101" pitchFamily="2" charset="-122"/>
              </a:rPr>
              <a:t>电子是</a:t>
            </a:r>
            <a:r>
              <a:rPr lang="zh-CN" altLang="en-US" sz="2800">
                <a:solidFill>
                  <a:srgbClr val="00FF00"/>
                </a:solidFill>
                <a:latin typeface="华文中宋" panose="02010600040101010101" pitchFamily="2" charset="-122"/>
              </a:rPr>
              <a:t>“物质波包”</a:t>
            </a:r>
            <a:endParaRPr lang="zh-CN" altLang="en-US" sz="2800">
              <a:latin typeface="华文中宋" panose="02010600040101010101" pitchFamily="2" charset="-122"/>
            </a:endParaRPr>
          </a:p>
        </p:txBody>
      </p:sp>
      <p:sp>
        <p:nvSpPr>
          <p:cNvPr id="1353739" name="Text Box 11">
            <a:extLst>
              <a:ext uri="{FF2B5EF4-FFF2-40B4-BE49-F238E27FC236}">
                <a16:creationId xmlns:a16="http://schemas.microsoft.com/office/drawing/2014/main" id="{B5F9E993-8ED3-41EF-90E8-0AC0D8E66D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538" y="5429250"/>
            <a:ext cx="59848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Wingdings" panose="05000000000000000000" pitchFamily="2" charset="2"/>
              <a:buChar char="l"/>
            </a:pPr>
            <a:r>
              <a:rPr lang="en-US" altLang="zh-CN" sz="2800">
                <a:solidFill>
                  <a:schemeClr val="bg1"/>
                </a:solidFill>
                <a:latin typeface="华文中宋" panose="02010600040101010101" pitchFamily="2" charset="-122"/>
              </a:rPr>
              <a:t> </a:t>
            </a:r>
            <a:r>
              <a:rPr lang="zh-CN" altLang="en-US" sz="2800">
                <a:solidFill>
                  <a:schemeClr val="bg1"/>
                </a:solidFill>
                <a:latin typeface="华文中宋" panose="02010600040101010101" pitchFamily="2" charset="-122"/>
              </a:rPr>
              <a:t>波包总要扩散，</a:t>
            </a:r>
            <a:r>
              <a:rPr lang="zh-CN" altLang="en-US" sz="2800">
                <a:solidFill>
                  <a:schemeClr val="bg1"/>
                </a:solidFill>
                <a:latin typeface="华文中宋" panose="02010600040101010101" pitchFamily="2" charset="-122"/>
                <a:sym typeface="Symbol" panose="05050102010706020507" pitchFamily="18" charset="2"/>
              </a:rPr>
              <a:t>而电子是稳定的。</a:t>
            </a:r>
            <a:r>
              <a:rPr lang="zh-CN" altLang="en-US" sz="2800">
                <a:solidFill>
                  <a:schemeClr val="bg1"/>
                </a:solidFill>
                <a:latin typeface="华文中宋" panose="02010600040101010101" pitchFamily="2" charset="-122"/>
              </a:rPr>
              <a:t> </a:t>
            </a:r>
          </a:p>
        </p:txBody>
      </p:sp>
      <p:sp>
        <p:nvSpPr>
          <p:cNvPr id="1353740" name="Text Box 12">
            <a:extLst>
              <a:ext uri="{FF2B5EF4-FFF2-40B4-BE49-F238E27FC236}">
                <a16:creationId xmlns:a16="http://schemas.microsoft.com/office/drawing/2014/main" id="{D6A06AE1-CABB-4DA7-84FF-BAB8D12618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8" y="3497263"/>
            <a:ext cx="8313737" cy="186055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marL="446088" indent="-4460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chemeClr val="hlink"/>
                </a:solidFill>
                <a:latin typeface="宋体" panose="02010600030101010101" pitchFamily="2" charset="-122"/>
              </a:rPr>
              <a:t>通过电子衍射可以在空间不同方向上观测到波包的一部分：如果波代表实体，那就意味着能观测到电子的一部分，这与显示电子具有整体性的实验结果矛盾。 </a:t>
            </a:r>
          </a:p>
        </p:txBody>
      </p:sp>
      <p:sp>
        <p:nvSpPr>
          <p:cNvPr id="43019" name="灯片编号占位符 1">
            <a:extLst>
              <a:ext uri="{FF2B5EF4-FFF2-40B4-BE49-F238E27FC236}">
                <a16:creationId xmlns:a16="http://schemas.microsoft.com/office/drawing/2014/main" id="{FCEC8559-18E1-4101-A5E9-4883FB7FF8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7E14FC05-2F2B-4533-B7DD-E74B4D98E4F0}" type="slidenum">
              <a:rPr lang="en-US" altLang="zh-CN" b="0">
                <a:solidFill>
                  <a:srgbClr val="FF00FF"/>
                </a:solidFill>
              </a:rPr>
              <a:pPr/>
              <a:t>30</a:t>
            </a:fld>
            <a:r>
              <a:rPr lang="en-US" altLang="zh-CN" b="0">
                <a:solidFill>
                  <a:srgbClr val="FF00FF"/>
                </a:solidFill>
              </a:rPr>
              <a:t>/29</a:t>
            </a:r>
          </a:p>
        </p:txBody>
      </p:sp>
      <p:pic>
        <p:nvPicPr>
          <p:cNvPr id="62479" name="Picture 15" descr="http://pic.rmb.bdstatic.com/73d3c6d4a3a373f396eadbfedeaccfed.jpeg">
            <a:extLst>
              <a:ext uri="{FF2B5EF4-FFF2-40B4-BE49-F238E27FC236}">
                <a16:creationId xmlns:a16="http://schemas.microsoft.com/office/drawing/2014/main" id="{57EB695D-1A71-4C44-9A0A-152639BADA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3625" y="5000625"/>
            <a:ext cx="2306638" cy="1677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3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53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3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53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3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353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3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353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3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53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3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353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3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353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3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53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withGroup">
                            <p:stCondLst>
                              <p:cond delay="2000"/>
                            </p:stCondLst>
                            <p:childTnLst>
                              <p:par>
                                <p:cTn id="3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62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3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353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3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353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3730" grpId="0"/>
      <p:bldP spid="1353731" grpId="0"/>
      <p:bldP spid="1353732" grpId="0"/>
      <p:bldP spid="1353733" grpId="0"/>
      <p:bldP spid="1353734" grpId="0"/>
      <p:bldP spid="1353735" grpId="0"/>
      <p:bldP spid="1353736" grpId="0"/>
      <p:bldP spid="1353737" grpId="0"/>
      <p:bldP spid="1353739" grpId="0"/>
      <p:bldP spid="135374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754" name="Text Box 2">
            <a:extLst>
              <a:ext uri="{FF2B5EF4-FFF2-40B4-BE49-F238E27FC236}">
                <a16:creationId xmlns:a16="http://schemas.microsoft.com/office/drawing/2014/main" id="{C4B5401F-4D59-4C5B-92B7-2D63A3A052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8375" y="5815013"/>
            <a:ext cx="2286000" cy="457200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>
                <a:solidFill>
                  <a:srgbClr val="00FFFF"/>
                </a:solidFill>
              </a:rPr>
              <a:t>电子数 </a:t>
            </a:r>
            <a:r>
              <a:rPr lang="en-US" altLang="zh-CN">
                <a:solidFill>
                  <a:srgbClr val="00FFFF"/>
                </a:solidFill>
              </a:rPr>
              <a:t>N=7</a:t>
            </a:r>
          </a:p>
        </p:txBody>
      </p:sp>
      <p:sp>
        <p:nvSpPr>
          <p:cNvPr id="1354755" name="Text Box 3">
            <a:extLst>
              <a:ext uri="{FF2B5EF4-FFF2-40B4-BE49-F238E27FC236}">
                <a16:creationId xmlns:a16="http://schemas.microsoft.com/office/drawing/2014/main" id="{A3852F5F-738E-44F6-8F15-04BC58DE0A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700" y="330200"/>
            <a:ext cx="31353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rgbClr val="00FFFF"/>
                </a:solidFill>
                <a:latin typeface="华文中宋" panose="02010600040101010101" pitchFamily="2" charset="-122"/>
                <a:sym typeface="Symbol" panose="05050102010706020507" pitchFamily="18" charset="2"/>
              </a:rPr>
              <a:t>另一种理解：</a:t>
            </a:r>
            <a:endParaRPr lang="zh-CN" altLang="en-US" sz="2800">
              <a:solidFill>
                <a:srgbClr val="00FFFF"/>
              </a:solidFill>
              <a:latin typeface="华文中宋" panose="02010600040101010101" pitchFamily="2" charset="-122"/>
            </a:endParaRPr>
          </a:p>
        </p:txBody>
      </p:sp>
      <p:sp>
        <p:nvSpPr>
          <p:cNvPr id="1354756" name="Text Box 4">
            <a:extLst>
              <a:ext uri="{FF2B5EF4-FFF2-40B4-BE49-F238E27FC236}">
                <a16:creationId xmlns:a16="http://schemas.microsoft.com/office/drawing/2014/main" id="{F9D14C0D-391C-4D0B-8353-BCBAC8188F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0050" y="330200"/>
            <a:ext cx="36020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chemeClr val="bg1"/>
                </a:solidFill>
                <a:latin typeface="华文中宋" panose="02010600040101010101" pitchFamily="2" charset="-122"/>
              </a:rPr>
              <a:t>粒子是基本的，</a:t>
            </a:r>
          </a:p>
        </p:txBody>
      </p:sp>
      <p:sp>
        <p:nvSpPr>
          <p:cNvPr id="1354757" name="Rectangle 5">
            <a:extLst>
              <a:ext uri="{FF2B5EF4-FFF2-40B4-BE49-F238E27FC236}">
                <a16:creationId xmlns:a16="http://schemas.microsoft.com/office/drawing/2014/main" id="{534FAE35-D5F6-4B06-901F-4A36922677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7975" y="939800"/>
            <a:ext cx="61880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chemeClr val="bg1"/>
                </a:solidFill>
                <a:latin typeface="华文中宋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sz="2800">
                <a:solidFill>
                  <a:schemeClr val="bg1"/>
                </a:solidFill>
                <a:latin typeface="华文中宋" panose="02010600040101010101" pitchFamily="2" charset="-122"/>
              </a:rPr>
              <a:t>是大量电子相互作用形成的。</a:t>
            </a:r>
          </a:p>
        </p:txBody>
      </p:sp>
      <p:sp>
        <p:nvSpPr>
          <p:cNvPr id="1354758" name="Text Box 6">
            <a:extLst>
              <a:ext uri="{FF2B5EF4-FFF2-40B4-BE49-F238E27FC236}">
                <a16:creationId xmlns:a16="http://schemas.microsoft.com/office/drawing/2014/main" id="{553D0F85-6EB1-44B0-A4A9-70BA886972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0" y="355600"/>
            <a:ext cx="3276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chemeClr val="bg1"/>
                </a:solidFill>
                <a:latin typeface="华文中宋" panose="02010600040101010101" pitchFamily="2" charset="-122"/>
              </a:rPr>
              <a:t>电子的物质波</a:t>
            </a:r>
          </a:p>
        </p:txBody>
      </p:sp>
      <p:sp>
        <p:nvSpPr>
          <p:cNvPr id="1354759" name="Text Box 7">
            <a:extLst>
              <a:ext uri="{FF2B5EF4-FFF2-40B4-BE49-F238E27FC236}">
                <a16:creationId xmlns:a16="http://schemas.microsoft.com/office/drawing/2014/main" id="{3AC1454A-C5EA-4B7D-A602-530B9A3B4E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8" y="1498600"/>
            <a:ext cx="8474075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altLang="zh-CN">
                <a:solidFill>
                  <a:schemeClr val="bg1"/>
                </a:solidFill>
                <a:latin typeface="华文中宋" panose="02010600040101010101" pitchFamily="2" charset="-122"/>
              </a:rPr>
              <a:t>      </a:t>
            </a:r>
            <a:r>
              <a:rPr lang="zh-CN" altLang="en-US">
                <a:solidFill>
                  <a:schemeClr val="bg1"/>
                </a:solidFill>
                <a:latin typeface="华文中宋" panose="02010600040101010101" pitchFamily="2" charset="-122"/>
              </a:rPr>
              <a:t>为防止电子间发生作用，让电子一个一个地入射，发现时间足够长后的干涉图样和大量电子同时入射时完全相同。</a:t>
            </a:r>
          </a:p>
        </p:txBody>
      </p:sp>
      <p:sp>
        <p:nvSpPr>
          <p:cNvPr id="1354760" name="Rectangle 8">
            <a:extLst>
              <a:ext uri="{FF2B5EF4-FFF2-40B4-BE49-F238E27FC236}">
                <a16:creationId xmlns:a16="http://schemas.microsoft.com/office/drawing/2014/main" id="{40C98BA8-F4A1-45CC-A030-30A9C4E701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8075" y="2474913"/>
            <a:ext cx="6697663" cy="3197225"/>
          </a:xfrm>
          <a:prstGeom prst="rect">
            <a:avLst/>
          </a:prstGeom>
          <a:solidFill>
            <a:srgbClr val="4D4D4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1354761" name="Picture 9" descr="未标题-1 副本">
            <a:extLst>
              <a:ext uri="{FF2B5EF4-FFF2-40B4-BE49-F238E27FC236}">
                <a16:creationId xmlns:a16="http://schemas.microsoft.com/office/drawing/2014/main" id="{1AC1E4EE-8292-419C-B361-753E22BD72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45" b="3271"/>
          <a:stretch>
            <a:fillRect/>
          </a:stretch>
        </p:blipFill>
        <p:spPr bwMode="auto">
          <a:xfrm>
            <a:off x="1116013" y="2562225"/>
            <a:ext cx="6697662" cy="313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54762" name="Picture 10" descr="电子干涉5">
            <a:extLst>
              <a:ext uri="{FF2B5EF4-FFF2-40B4-BE49-F238E27FC236}">
                <a16:creationId xmlns:a16="http://schemas.microsoft.com/office/drawing/2014/main" id="{86F817FB-8997-420E-B5F3-400375A2EC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42"/>
          <a:stretch>
            <a:fillRect/>
          </a:stretch>
        </p:blipFill>
        <p:spPr bwMode="auto">
          <a:xfrm>
            <a:off x="1116013" y="2419350"/>
            <a:ext cx="6696075" cy="3262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54763" name="Picture 11" descr="电子干涉3">
            <a:extLst>
              <a:ext uri="{FF2B5EF4-FFF2-40B4-BE49-F238E27FC236}">
                <a16:creationId xmlns:a16="http://schemas.microsoft.com/office/drawing/2014/main" id="{44CD9A74-6604-40B1-A7CB-28F1EB9076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50"/>
          <a:stretch>
            <a:fillRect/>
          </a:stretch>
        </p:blipFill>
        <p:spPr bwMode="auto">
          <a:xfrm>
            <a:off x="1116013" y="2419350"/>
            <a:ext cx="6754812" cy="3284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54764" name="Picture 12" descr="电子干涉4">
            <a:extLst>
              <a:ext uri="{FF2B5EF4-FFF2-40B4-BE49-F238E27FC236}">
                <a16:creationId xmlns:a16="http://schemas.microsoft.com/office/drawing/2014/main" id="{CD7C19C1-1AED-41C7-9D87-E6D9F51887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59"/>
          <a:stretch>
            <a:fillRect/>
          </a:stretch>
        </p:blipFill>
        <p:spPr bwMode="auto">
          <a:xfrm>
            <a:off x="1116013" y="2408238"/>
            <a:ext cx="6757987" cy="3294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54765" name="Picture 13" descr="电子干涉5">
            <a:extLst>
              <a:ext uri="{FF2B5EF4-FFF2-40B4-BE49-F238E27FC236}">
                <a16:creationId xmlns:a16="http://schemas.microsoft.com/office/drawing/2014/main" id="{C7E65AE5-D9ED-4347-A32D-34809420FB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2374900"/>
            <a:ext cx="6769100" cy="331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54766" name="Text Box 14">
            <a:extLst>
              <a:ext uri="{FF2B5EF4-FFF2-40B4-BE49-F238E27FC236}">
                <a16:creationId xmlns:a16="http://schemas.microsoft.com/office/drawing/2014/main" id="{F59DC8F5-E703-4D3F-97AF-5CE8820939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5975" y="5805488"/>
            <a:ext cx="2590800" cy="457200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>
                <a:solidFill>
                  <a:srgbClr val="00FFFF"/>
                </a:solidFill>
              </a:rPr>
              <a:t>电子数 </a:t>
            </a:r>
            <a:r>
              <a:rPr lang="en-US" altLang="zh-CN">
                <a:solidFill>
                  <a:srgbClr val="00FFFF"/>
                </a:solidFill>
              </a:rPr>
              <a:t>N=100</a:t>
            </a:r>
          </a:p>
        </p:txBody>
      </p:sp>
      <p:sp>
        <p:nvSpPr>
          <p:cNvPr id="1354767" name="Text Box 15">
            <a:extLst>
              <a:ext uri="{FF2B5EF4-FFF2-40B4-BE49-F238E27FC236}">
                <a16:creationId xmlns:a16="http://schemas.microsoft.com/office/drawing/2014/main" id="{8C3B31FB-41B4-4B77-93BC-7FE57732C2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5975" y="5815013"/>
            <a:ext cx="2590800" cy="457200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>
                <a:solidFill>
                  <a:srgbClr val="00FFFF"/>
                </a:solidFill>
              </a:rPr>
              <a:t>电子数 </a:t>
            </a:r>
            <a:r>
              <a:rPr lang="en-US" altLang="zh-CN">
                <a:solidFill>
                  <a:srgbClr val="00FFFF"/>
                </a:solidFill>
              </a:rPr>
              <a:t>N=3000</a:t>
            </a:r>
          </a:p>
        </p:txBody>
      </p:sp>
      <p:sp>
        <p:nvSpPr>
          <p:cNvPr id="1354768" name="Text Box 16">
            <a:extLst>
              <a:ext uri="{FF2B5EF4-FFF2-40B4-BE49-F238E27FC236}">
                <a16:creationId xmlns:a16="http://schemas.microsoft.com/office/drawing/2014/main" id="{11FD81CD-7856-404B-BC40-B3B99ED9CC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3575" y="5803900"/>
            <a:ext cx="2895600" cy="457200"/>
          </a:xfrm>
          <a:prstGeom prst="rect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>
                <a:solidFill>
                  <a:srgbClr val="00FFFF"/>
                </a:solidFill>
              </a:rPr>
              <a:t>电子数 </a:t>
            </a:r>
            <a:r>
              <a:rPr lang="en-US" altLang="zh-CN">
                <a:solidFill>
                  <a:srgbClr val="00FFFF"/>
                </a:solidFill>
              </a:rPr>
              <a:t>N=20000</a:t>
            </a:r>
          </a:p>
        </p:txBody>
      </p:sp>
      <p:sp>
        <p:nvSpPr>
          <p:cNvPr id="1354769" name="Rectangle 17">
            <a:extLst>
              <a:ext uri="{FF2B5EF4-FFF2-40B4-BE49-F238E27FC236}">
                <a16:creationId xmlns:a16="http://schemas.microsoft.com/office/drawing/2014/main" id="{13E20EC8-1F85-4D1E-841F-EC67223929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050" y="2638425"/>
            <a:ext cx="685800" cy="2895600"/>
          </a:xfrm>
          <a:prstGeom prst="rect">
            <a:avLst/>
          </a:prstGeom>
          <a:noFill/>
          <a:ln w="38100">
            <a:solidFill>
              <a:srgbClr val="00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54770" name="Rectangle 18">
            <a:extLst>
              <a:ext uri="{FF2B5EF4-FFF2-40B4-BE49-F238E27FC236}">
                <a16:creationId xmlns:a16="http://schemas.microsoft.com/office/drawing/2014/main" id="{9FA18A28-F0B4-4986-84AC-9CB26312C6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1863" y="2638425"/>
            <a:ext cx="685800" cy="2895600"/>
          </a:xfrm>
          <a:prstGeom prst="rect">
            <a:avLst/>
          </a:prstGeom>
          <a:noFill/>
          <a:ln w="38100">
            <a:solidFill>
              <a:srgbClr val="00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54771" name="AutoShape 19">
            <a:extLst>
              <a:ext uri="{FF2B5EF4-FFF2-40B4-BE49-F238E27FC236}">
                <a16:creationId xmlns:a16="http://schemas.microsoft.com/office/drawing/2014/main" id="{73425985-7145-4FFF-9789-D71C417C0A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5803900"/>
            <a:ext cx="1871662" cy="431800"/>
          </a:xfrm>
          <a:prstGeom prst="wedgeRectCallout">
            <a:avLst>
              <a:gd name="adj1" fmla="val 27014"/>
              <a:gd name="adj2" fmla="val -96787"/>
            </a:avLst>
          </a:prstGeom>
          <a:noFill/>
          <a:ln w="25400">
            <a:solidFill>
              <a:srgbClr val="FF99FF"/>
            </a:solidFill>
            <a:miter lim="800000"/>
          </a:ln>
          <a:effectLst/>
        </p:spPr>
        <p:txBody>
          <a:bodyPr/>
          <a:lstStyle/>
          <a:p>
            <a:pPr algn="ctr" eaLnBrk="0" hangingPunct="0"/>
            <a:r>
              <a:rPr lang="zh-CN" altLang="en-US">
                <a:solidFill>
                  <a:srgbClr val="FF99FF"/>
                </a:solidFill>
                <a:latin typeface="宋体" panose="02010600030101010101" pitchFamily="2" charset="-122"/>
              </a:rPr>
              <a:t>电子数少</a:t>
            </a:r>
          </a:p>
        </p:txBody>
      </p:sp>
      <p:sp>
        <p:nvSpPr>
          <p:cNvPr id="1354772" name="AutoShape 20">
            <a:extLst>
              <a:ext uri="{FF2B5EF4-FFF2-40B4-BE49-F238E27FC236}">
                <a16:creationId xmlns:a16="http://schemas.microsoft.com/office/drawing/2014/main" id="{0EF9E400-5E12-4B96-9C2B-59355AC769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5803900"/>
            <a:ext cx="1835150" cy="482600"/>
          </a:xfrm>
          <a:prstGeom prst="wedgeRectCallout">
            <a:avLst>
              <a:gd name="adj1" fmla="val -54583"/>
              <a:gd name="adj2" fmla="val -98713"/>
            </a:avLst>
          </a:prstGeom>
          <a:noFill/>
          <a:ln w="25400">
            <a:solidFill>
              <a:srgbClr val="FF99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ctr"/>
            <a:r>
              <a:rPr lang="zh-CN" altLang="en-US">
                <a:solidFill>
                  <a:srgbClr val="FF99FF"/>
                </a:solidFill>
                <a:latin typeface="华文中宋" panose="02010600040101010101" pitchFamily="2" charset="-122"/>
              </a:rPr>
              <a:t>电子数多</a:t>
            </a:r>
          </a:p>
        </p:txBody>
      </p:sp>
      <p:sp>
        <p:nvSpPr>
          <p:cNvPr id="1354773" name="Rectangle 21">
            <a:extLst>
              <a:ext uri="{FF2B5EF4-FFF2-40B4-BE49-F238E27FC236}">
                <a16:creationId xmlns:a16="http://schemas.microsoft.com/office/drawing/2014/main" id="{6EF067DC-2421-426A-A281-FF014EF0AB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7038" y="2716213"/>
            <a:ext cx="574675" cy="265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2000">
                <a:solidFill>
                  <a:schemeClr val="bg1"/>
                </a:solidFill>
              </a:rPr>
              <a:t>电子双缝干涉图样</a:t>
            </a:r>
          </a:p>
        </p:txBody>
      </p:sp>
      <p:sp>
        <p:nvSpPr>
          <p:cNvPr id="1354774" name="Text Box 22">
            <a:extLst>
              <a:ext uri="{FF2B5EF4-FFF2-40B4-BE49-F238E27FC236}">
                <a16:creationId xmlns:a16="http://schemas.microsoft.com/office/drawing/2014/main" id="{303D07EA-0F1E-4BA7-82BA-7DAB9CB452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3575" y="5805488"/>
            <a:ext cx="2895600" cy="457200"/>
          </a:xfrm>
          <a:prstGeom prst="rect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>
                <a:solidFill>
                  <a:srgbClr val="00FFFF"/>
                </a:solidFill>
              </a:rPr>
              <a:t>电子数 </a:t>
            </a:r>
            <a:r>
              <a:rPr lang="en-US" altLang="zh-CN">
                <a:solidFill>
                  <a:srgbClr val="00FFFF"/>
                </a:solidFill>
              </a:rPr>
              <a:t>N=70000</a:t>
            </a:r>
          </a:p>
        </p:txBody>
      </p:sp>
      <p:sp>
        <p:nvSpPr>
          <p:cNvPr id="45078" name="灯片编号占位符 1">
            <a:extLst>
              <a:ext uri="{FF2B5EF4-FFF2-40B4-BE49-F238E27FC236}">
                <a16:creationId xmlns:a16="http://schemas.microsoft.com/office/drawing/2014/main" id="{7EA4B7BA-D20A-43E4-B9E4-2934336ED7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20679B28-7866-45F9-B3F1-67057523A66B}" type="slidenum">
              <a:rPr lang="en-US" altLang="zh-CN" b="0">
                <a:solidFill>
                  <a:srgbClr val="FF00FF"/>
                </a:solidFill>
              </a:rPr>
              <a:pPr/>
              <a:t>31</a:t>
            </a:fld>
            <a:r>
              <a:rPr lang="en-US" altLang="zh-CN" b="0">
                <a:solidFill>
                  <a:srgbClr val="FF00FF"/>
                </a:solidFill>
              </a:rPr>
              <a:t>/29</a:t>
            </a:r>
          </a:p>
        </p:txBody>
      </p:sp>
      <p:sp>
        <p:nvSpPr>
          <p:cNvPr id="24" name="AutoShape 77">
            <a:hlinkClick r:id="rId7" action="ppaction://hlinkfile" highlightClick="1"/>
            <a:extLst>
              <a:ext uri="{FF2B5EF4-FFF2-40B4-BE49-F238E27FC236}">
                <a16:creationId xmlns:a16="http://schemas.microsoft.com/office/drawing/2014/main" id="{19CA393F-36F1-4A25-BD71-AAB0EBD117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2438" y="785813"/>
            <a:ext cx="431800" cy="288925"/>
          </a:xfrm>
          <a:prstGeom prst="actionButtonForwardNext">
            <a:avLst/>
          </a:prstGeom>
          <a:solidFill>
            <a:srgbClr val="00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4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54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4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54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4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354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4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354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4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4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354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1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4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354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4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54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4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54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4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54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4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54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4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354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4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54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4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354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4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35476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54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4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354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4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354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4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1354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4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1354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4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1354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4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1354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1" presetID="5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770" decel="100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4" dur="770" decel="100000"/>
                                        <p:tgtEl>
                                          <p:spTgt spid="24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95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96" dur="77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97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98" dur="77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9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4754" grpId="0" animBg="1"/>
      <p:bldP spid="1354755" grpId="0"/>
      <p:bldP spid="1354756" grpId="0"/>
      <p:bldP spid="1354757" grpId="0"/>
      <p:bldP spid="1354758" grpId="0"/>
      <p:bldP spid="1354759" grpId="0"/>
      <p:bldP spid="1354766" grpId="0" animBg="1"/>
      <p:bldP spid="1354767" grpId="0" animBg="1"/>
      <p:bldP spid="1354768" grpId="0" animBg="1"/>
      <p:bldP spid="1354771" grpId="0" animBg="1"/>
      <p:bldP spid="1354772" grpId="0" animBg="1"/>
      <p:bldP spid="1354773" grpId="0"/>
      <p:bldP spid="1354774" grpId="0" animBg="1"/>
      <p:bldP spid="2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Text Box 2">
            <a:extLst>
              <a:ext uri="{FF2B5EF4-FFF2-40B4-BE49-F238E27FC236}">
                <a16:creationId xmlns:a16="http://schemas.microsoft.com/office/drawing/2014/main" id="{B821E648-65CC-4DE2-BE58-B034380910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592" y="3390017"/>
            <a:ext cx="676751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00FFFF"/>
                </a:solidFill>
                <a:latin typeface="华文中宋" panose="02010600040101010101" pitchFamily="2" charset="-122"/>
              </a:rPr>
              <a:t>单个电子</a:t>
            </a:r>
            <a:r>
              <a:rPr lang="zh-CN" altLang="en-US" sz="2800" dirty="0">
                <a:solidFill>
                  <a:schemeClr val="bg1"/>
                </a:solidFill>
                <a:latin typeface="华文中宋" panose="02010600040101010101" pitchFamily="2" charset="-122"/>
              </a:rPr>
              <a:t>在哪一处出现是</a:t>
            </a:r>
            <a:r>
              <a:rPr lang="zh-CN" altLang="en-US" sz="2800" dirty="0">
                <a:solidFill>
                  <a:srgbClr val="00FFFF"/>
                </a:solidFill>
                <a:latin typeface="华文中宋" panose="02010600040101010101" pitchFamily="2" charset="-122"/>
              </a:rPr>
              <a:t>偶然事件</a:t>
            </a:r>
            <a:r>
              <a:rPr lang="zh-CN" altLang="en-US" sz="2800" dirty="0">
                <a:solidFill>
                  <a:schemeClr val="bg1"/>
                </a:solidFill>
                <a:latin typeface="华文中宋" panose="02010600040101010101" pitchFamily="2" charset="-122"/>
              </a:rPr>
              <a:t>；</a:t>
            </a:r>
          </a:p>
        </p:txBody>
      </p:sp>
      <p:sp>
        <p:nvSpPr>
          <p:cNvPr id="46082" name="Rectangle 3">
            <a:extLst>
              <a:ext uri="{FF2B5EF4-FFF2-40B4-BE49-F238E27FC236}">
                <a16:creationId xmlns:a16="http://schemas.microsoft.com/office/drawing/2014/main" id="{13D19D15-4523-4BBB-9E2B-7A86B56F9C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9792" y="3913892"/>
            <a:ext cx="595547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rgbClr val="00FFFF"/>
                </a:solidFill>
                <a:latin typeface="华文中宋" panose="02010600040101010101" pitchFamily="2" charset="-122"/>
              </a:rPr>
              <a:t>大量电子</a:t>
            </a:r>
            <a:r>
              <a:rPr lang="zh-CN" altLang="en-US" sz="2800" dirty="0">
                <a:solidFill>
                  <a:schemeClr val="bg1"/>
                </a:solidFill>
                <a:latin typeface="华文中宋" panose="02010600040101010101" pitchFamily="2" charset="-122"/>
              </a:rPr>
              <a:t>的分布有确定的</a:t>
            </a:r>
            <a:r>
              <a:rPr lang="zh-CN" altLang="en-US" sz="2800" dirty="0">
                <a:solidFill>
                  <a:srgbClr val="00FFFF"/>
                </a:solidFill>
                <a:latin typeface="华文中宋" panose="02010600040101010101" pitchFamily="2" charset="-122"/>
              </a:rPr>
              <a:t>统计规律</a:t>
            </a:r>
            <a:r>
              <a:rPr lang="zh-CN" altLang="en-US" sz="2800" dirty="0">
                <a:solidFill>
                  <a:schemeClr val="bg1"/>
                </a:solidFill>
                <a:latin typeface="华文中宋" panose="02010600040101010101" pitchFamily="2" charset="-122"/>
              </a:rPr>
              <a:t>。</a:t>
            </a:r>
          </a:p>
        </p:txBody>
      </p:sp>
      <p:sp>
        <p:nvSpPr>
          <p:cNvPr id="46083" name="Text Box 4">
            <a:extLst>
              <a:ext uri="{FF2B5EF4-FFF2-40B4-BE49-F238E27FC236}">
                <a16:creationId xmlns:a16="http://schemas.microsoft.com/office/drawing/2014/main" id="{B94659D9-73E5-49F6-863F-326A4F5DD0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404813"/>
            <a:ext cx="8713788" cy="1398587"/>
          </a:xfrm>
          <a:prstGeom prst="rect">
            <a:avLst/>
          </a:prstGeom>
          <a:noFill/>
          <a:ln w="25400">
            <a:solidFill>
              <a:srgbClr val="66FF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zh-CN" altLang="en-US" sz="2800"/>
              <a:t>       </a:t>
            </a:r>
            <a:r>
              <a:rPr lang="zh-CN" altLang="en-US" sz="2800">
                <a:solidFill>
                  <a:schemeClr val="bg1"/>
                </a:solidFill>
              </a:rPr>
              <a:t>电子的波动性并不是很多电子在空间聚集在一起时相互作用的结果，而是</a:t>
            </a:r>
            <a:r>
              <a:rPr lang="zh-CN" altLang="en-US" sz="2800">
                <a:solidFill>
                  <a:srgbClr val="00FF00"/>
                </a:solidFill>
                <a:latin typeface="宋体" panose="02010600030101010101" pitchFamily="2" charset="-122"/>
              </a:rPr>
              <a:t>单个电子本身就具有波动性。</a:t>
            </a:r>
            <a:endParaRPr lang="en-US" altLang="zh-CN" sz="2800">
              <a:solidFill>
                <a:srgbClr val="00FF00"/>
              </a:solidFill>
              <a:latin typeface="宋体" panose="02010600030101010101" pitchFamily="2" charset="-122"/>
            </a:endParaRPr>
          </a:p>
          <a:p>
            <a:pPr eaLnBrk="0" hangingPunct="0"/>
            <a:r>
              <a:rPr lang="en-US" altLang="zh-CN" sz="2800">
                <a:solidFill>
                  <a:srgbClr val="00FF00"/>
                </a:solidFill>
                <a:ea typeface="微软雅黑" panose="020B0503020204020204" pitchFamily="34" charset="-122"/>
              </a:rPr>
              <a:t>       </a:t>
            </a:r>
            <a:r>
              <a:rPr lang="zh-CN" altLang="en-US" sz="2800">
                <a:solidFill>
                  <a:schemeClr val="bg1"/>
                </a:solidFill>
              </a:rPr>
              <a:t>换言之，</a:t>
            </a:r>
            <a:r>
              <a:rPr lang="zh-CN" altLang="en-US" sz="2800">
                <a:solidFill>
                  <a:srgbClr val="00FF00"/>
                </a:solidFill>
                <a:latin typeface="宋体" panose="02010600030101010101" pitchFamily="2" charset="-122"/>
              </a:rPr>
              <a:t>干涉是电子“自己和自己”的干涉。</a:t>
            </a:r>
          </a:p>
        </p:txBody>
      </p:sp>
      <p:sp>
        <p:nvSpPr>
          <p:cNvPr id="46084" name="Text Box 5">
            <a:extLst>
              <a:ext uri="{FF2B5EF4-FFF2-40B4-BE49-F238E27FC236}">
                <a16:creationId xmlns:a16="http://schemas.microsoft.com/office/drawing/2014/main" id="{93C28752-BC1F-4870-A61F-C83014B1AD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928813"/>
            <a:ext cx="8391525" cy="137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altLang="zh-CN" sz="3200">
                <a:solidFill>
                  <a:schemeClr val="bg1"/>
                </a:solidFill>
                <a:latin typeface="华文中宋" panose="02010600040101010101" pitchFamily="2" charset="-122"/>
              </a:rPr>
              <a:t>    </a:t>
            </a:r>
            <a:r>
              <a:rPr lang="zh-CN" altLang="en-US" sz="2600">
                <a:solidFill>
                  <a:schemeClr val="bg1"/>
                </a:solidFill>
                <a:latin typeface="华文中宋" panose="02010600040101010101" pitchFamily="2" charset="-122"/>
              </a:rPr>
              <a:t>无论是大量电子同时入射，还是电子一个一个地长时间地入射，都只是让单个电子干涉的效果在底片上积累并显现出来而已。</a:t>
            </a:r>
          </a:p>
        </p:txBody>
      </p:sp>
      <p:sp>
        <p:nvSpPr>
          <p:cNvPr id="1355782" name="Text Box 6">
            <a:extLst>
              <a:ext uri="{FF2B5EF4-FFF2-40B4-BE49-F238E27FC236}">
                <a16:creationId xmlns:a16="http://schemas.microsoft.com/office/drawing/2014/main" id="{7C588732-F88C-4EAB-B9F4-ECD9F78A3C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9150" y="4514850"/>
            <a:ext cx="46291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dirty="0">
                <a:solidFill>
                  <a:schemeClr val="bg1"/>
                </a:solidFill>
              </a:rPr>
              <a:t>玻恩</a:t>
            </a:r>
            <a:r>
              <a:rPr lang="zh-CN" altLang="en-US" sz="3200" dirty="0">
                <a:solidFill>
                  <a:srgbClr val="FFFF00"/>
                </a:solidFill>
              </a:rPr>
              <a:t>（</a:t>
            </a:r>
            <a:r>
              <a:rPr lang="en-US" altLang="zh-CN" sz="3200" dirty="0" err="1">
                <a:solidFill>
                  <a:srgbClr val="FFFF00"/>
                </a:solidFill>
              </a:rPr>
              <a:t>M.Born</a:t>
            </a:r>
            <a:r>
              <a:rPr lang="zh-CN" altLang="en-US" sz="3200" dirty="0">
                <a:solidFill>
                  <a:srgbClr val="FFFF00"/>
                </a:solidFill>
              </a:rPr>
              <a:t>）：</a:t>
            </a:r>
          </a:p>
        </p:txBody>
      </p:sp>
      <p:sp>
        <p:nvSpPr>
          <p:cNvPr id="1355783" name="Text Box 7">
            <a:extLst>
              <a:ext uri="{FF2B5EF4-FFF2-40B4-BE49-F238E27FC236}">
                <a16:creationId xmlns:a16="http://schemas.microsoft.com/office/drawing/2014/main" id="{D27CE0C3-4EEA-453F-82DF-FA256EE5DC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950" y="5807075"/>
            <a:ext cx="7448550" cy="68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lang="zh-CN" altLang="zh-CN" sz="3200">
                <a:solidFill>
                  <a:srgbClr val="00FF00"/>
                </a:solidFill>
                <a:latin typeface="宋体" panose="02010600030101010101" pitchFamily="2" charset="-122"/>
              </a:rPr>
              <a:t>子在空间的概率分布的“概率波”。</a:t>
            </a:r>
            <a:endParaRPr lang="zh-CN" altLang="en-US" sz="3200">
              <a:solidFill>
                <a:srgbClr val="00FF00"/>
              </a:solidFill>
              <a:latin typeface="宋体" panose="02010600030101010101" pitchFamily="2" charset="-122"/>
            </a:endParaRPr>
          </a:p>
        </p:txBody>
      </p:sp>
      <p:sp>
        <p:nvSpPr>
          <p:cNvPr id="1355784" name="Rectangle 8">
            <a:extLst>
              <a:ext uri="{FF2B5EF4-FFF2-40B4-BE49-F238E27FC236}">
                <a16:creationId xmlns:a16="http://schemas.microsoft.com/office/drawing/2014/main" id="{0C6FC043-3C6A-46E4-BE39-E7CE8A8AD4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6075" y="4525963"/>
            <a:ext cx="47371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3200">
                <a:solidFill>
                  <a:schemeClr val="bg1"/>
                </a:solidFill>
              </a:rPr>
              <a:t>德布罗意波</a:t>
            </a:r>
            <a:r>
              <a:rPr lang="zh-CN" altLang="zh-CN" sz="3200">
                <a:solidFill>
                  <a:schemeClr val="bg1"/>
                </a:solidFill>
              </a:rPr>
              <a:t>并不像经典</a:t>
            </a:r>
            <a:endParaRPr lang="zh-CN" altLang="en-US" sz="3200">
              <a:solidFill>
                <a:schemeClr val="bg1"/>
              </a:solidFill>
            </a:endParaRPr>
          </a:p>
        </p:txBody>
      </p:sp>
      <p:sp>
        <p:nvSpPr>
          <p:cNvPr id="1355785" name="Rectangle 9">
            <a:extLst>
              <a:ext uri="{FF2B5EF4-FFF2-40B4-BE49-F238E27FC236}">
                <a16:creationId xmlns:a16="http://schemas.microsoft.com/office/drawing/2014/main" id="{6470A32B-F66C-4D41-AD4D-D2DC804F3F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225" y="5211763"/>
            <a:ext cx="694848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zh-CN" sz="3200">
                <a:solidFill>
                  <a:schemeClr val="bg1"/>
                </a:solidFill>
              </a:rPr>
              <a:t>波那样是代表实在物理量的波动，</a:t>
            </a:r>
            <a:endParaRPr lang="zh-CN" altLang="en-US" sz="3200">
              <a:solidFill>
                <a:schemeClr val="bg1"/>
              </a:solidFill>
            </a:endParaRPr>
          </a:p>
        </p:txBody>
      </p:sp>
      <p:sp>
        <p:nvSpPr>
          <p:cNvPr id="1355786" name="Rectangle 10">
            <a:extLst>
              <a:ext uri="{FF2B5EF4-FFF2-40B4-BE49-F238E27FC236}">
                <a16:creationId xmlns:a16="http://schemas.microsoft.com/office/drawing/2014/main" id="{BF8538C7-0F77-418A-A0DF-D2924B2696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4925" y="5211763"/>
            <a:ext cx="2759075" cy="57943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zh-CN" altLang="zh-CN" sz="3200">
                <a:solidFill>
                  <a:schemeClr val="bg1"/>
                </a:solidFill>
              </a:rPr>
              <a:t>而是</a:t>
            </a:r>
            <a:r>
              <a:rPr lang="zh-CN" altLang="zh-CN" sz="3200">
                <a:solidFill>
                  <a:srgbClr val="00FF00"/>
                </a:solidFill>
                <a:latin typeface="宋体" panose="02010600030101010101" pitchFamily="2" charset="-122"/>
              </a:rPr>
              <a:t>描述粒</a:t>
            </a:r>
            <a:endParaRPr lang="zh-CN" altLang="en-US" sz="3200">
              <a:solidFill>
                <a:srgbClr val="00FF00"/>
              </a:solidFill>
              <a:latin typeface="宋体" panose="02010600030101010101" pitchFamily="2" charset="-122"/>
            </a:endParaRPr>
          </a:p>
        </p:txBody>
      </p:sp>
      <p:sp>
        <p:nvSpPr>
          <p:cNvPr id="46090" name="灯片编号占位符 1">
            <a:extLst>
              <a:ext uri="{FF2B5EF4-FFF2-40B4-BE49-F238E27FC236}">
                <a16:creationId xmlns:a16="http://schemas.microsoft.com/office/drawing/2014/main" id="{870B3582-1DC1-4196-8A03-35C96E3237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0D4A6621-562C-4369-914E-9D327AA2C082}" type="slidenum">
              <a:rPr lang="en-US" altLang="zh-CN" b="0">
                <a:solidFill>
                  <a:srgbClr val="FF00FF"/>
                </a:solidFill>
              </a:rPr>
              <a:pPr/>
              <a:t>32</a:t>
            </a:fld>
            <a:r>
              <a:rPr lang="en-US" altLang="zh-CN" b="0">
                <a:solidFill>
                  <a:srgbClr val="FF00FF"/>
                </a:solidFill>
              </a:rPr>
              <a:t>/29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5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55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5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55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5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355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5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355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5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355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5782" grpId="0"/>
      <p:bldP spid="1355783" grpId="0"/>
      <p:bldP spid="1355784" grpId="0"/>
      <p:bldP spid="1355785" grpId="0"/>
      <p:bldP spid="135578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Text Box 2">
            <a:extLst>
              <a:ext uri="{FF2B5EF4-FFF2-40B4-BE49-F238E27FC236}">
                <a16:creationId xmlns:a16="http://schemas.microsoft.com/office/drawing/2014/main" id="{9C77FE61-7AD7-4561-A8BC-A227AEEB3D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813" y="3492500"/>
            <a:ext cx="2895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3200">
                <a:solidFill>
                  <a:srgbClr val="00FFFF"/>
                </a:solidFill>
                <a:latin typeface="宋体" panose="02010600030101010101" pitchFamily="2" charset="-122"/>
              </a:rPr>
              <a:t>波动性：</a:t>
            </a:r>
          </a:p>
        </p:txBody>
      </p:sp>
      <p:sp>
        <p:nvSpPr>
          <p:cNvPr id="48130" name="Text Box 3">
            <a:extLst>
              <a:ext uri="{FF2B5EF4-FFF2-40B4-BE49-F238E27FC236}">
                <a16:creationId xmlns:a16="http://schemas.microsoft.com/office/drawing/2014/main" id="{329FE37B-8B35-4EA8-BD15-5577E7C2DF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4438" y="4254500"/>
            <a:ext cx="7461250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rgbClr val="0000CC"/>
              </a:buClr>
            </a:pPr>
            <a:r>
              <a:rPr lang="en-US" altLang="zh-CN" sz="3200">
                <a:solidFill>
                  <a:schemeClr val="bg1"/>
                </a:solidFill>
                <a:latin typeface="华文中宋" panose="02010600040101010101" pitchFamily="2" charset="-122"/>
              </a:rPr>
              <a:t>“</a:t>
            </a:r>
            <a:r>
              <a:rPr lang="zh-CN" altLang="en-US" sz="3200">
                <a:solidFill>
                  <a:schemeClr val="bg1"/>
                </a:solidFill>
                <a:latin typeface="华文中宋" panose="02010600040101010101" pitchFamily="2" charset="-122"/>
              </a:rPr>
              <a:t>可叠加性”</a:t>
            </a:r>
          </a:p>
          <a:p>
            <a:pPr>
              <a:spcBef>
                <a:spcPct val="50000"/>
              </a:spcBef>
              <a:buClr>
                <a:srgbClr val="0000CC"/>
              </a:buClr>
            </a:pPr>
            <a:r>
              <a:rPr lang="zh-CN" altLang="en-US" sz="3200">
                <a:solidFill>
                  <a:schemeClr val="bg1"/>
                </a:solidFill>
                <a:latin typeface="华文中宋" panose="02010600040101010101" pitchFamily="2" charset="-122"/>
              </a:rPr>
              <a:t>有“干涉”、“衍射”、“偏振”现象</a:t>
            </a:r>
            <a:endParaRPr lang="zh-CN" altLang="en-US">
              <a:solidFill>
                <a:schemeClr val="bg1"/>
              </a:solidFill>
              <a:latin typeface="华文中宋" panose="02010600040101010101" pitchFamily="2" charset="-122"/>
            </a:endParaRPr>
          </a:p>
        </p:txBody>
      </p:sp>
      <p:sp>
        <p:nvSpPr>
          <p:cNvPr id="48131" name="Text Box 4">
            <a:extLst>
              <a:ext uri="{FF2B5EF4-FFF2-40B4-BE49-F238E27FC236}">
                <a16:creationId xmlns:a16="http://schemas.microsoft.com/office/drawing/2014/main" id="{DC81790C-2575-4FD8-9361-21662BDAD3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0313" y="5702300"/>
            <a:ext cx="7620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rgbClr val="0000CC"/>
              </a:buClr>
            </a:pPr>
            <a:r>
              <a:rPr lang="zh-CN" altLang="en-US" sz="3200">
                <a:solidFill>
                  <a:schemeClr val="bg1"/>
                </a:solidFill>
                <a:latin typeface="华文中宋" panose="02010600040101010101" pitchFamily="2" charset="-122"/>
              </a:rPr>
              <a:t>不是经典的波  </a:t>
            </a:r>
            <a:r>
              <a:rPr lang="zh-CN" altLang="en-US" sz="3200">
                <a:solidFill>
                  <a:srgbClr val="FFFF00"/>
                </a:solidFill>
                <a:latin typeface="华文中宋" panose="02010600040101010101" pitchFamily="2" charset="-122"/>
              </a:rPr>
              <a:t>不代表实在物理量的波动</a:t>
            </a:r>
            <a:endParaRPr lang="zh-CN" altLang="en-US">
              <a:solidFill>
                <a:srgbClr val="FFFF00"/>
              </a:solidFill>
              <a:latin typeface="华文中宋" panose="02010600040101010101" pitchFamily="2" charset="-122"/>
            </a:endParaRPr>
          </a:p>
        </p:txBody>
      </p:sp>
      <p:sp>
        <p:nvSpPr>
          <p:cNvPr id="48132" name="Text Box 5">
            <a:extLst>
              <a:ext uri="{FF2B5EF4-FFF2-40B4-BE49-F238E27FC236}">
                <a16:creationId xmlns:a16="http://schemas.microsoft.com/office/drawing/2014/main" id="{56FEFB1B-236E-44B5-B8C7-E50FEE67AD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1268413"/>
            <a:ext cx="25908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3200">
                <a:solidFill>
                  <a:srgbClr val="00FFFF"/>
                </a:solidFill>
                <a:latin typeface="宋体" panose="02010600030101010101" pitchFamily="2" charset="-122"/>
              </a:rPr>
              <a:t>粒子性：</a:t>
            </a:r>
          </a:p>
        </p:txBody>
      </p:sp>
      <p:sp>
        <p:nvSpPr>
          <p:cNvPr id="48133" name="Text Box 6">
            <a:extLst>
              <a:ext uri="{FF2B5EF4-FFF2-40B4-BE49-F238E27FC236}">
                <a16:creationId xmlns:a16="http://schemas.microsoft.com/office/drawing/2014/main" id="{699E6C06-097B-42AD-A184-856716BEA0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1113" y="1992313"/>
            <a:ext cx="19812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rgbClr val="0000CC"/>
              </a:buClr>
            </a:pPr>
            <a:r>
              <a:rPr lang="zh-CN" altLang="en-US" sz="3200">
                <a:solidFill>
                  <a:schemeClr val="bg1"/>
                </a:solidFill>
                <a:latin typeface="华文中宋" panose="02010600040101010101" pitchFamily="2" charset="-122"/>
              </a:rPr>
              <a:t>整体性</a:t>
            </a:r>
          </a:p>
        </p:txBody>
      </p:sp>
      <p:sp>
        <p:nvSpPr>
          <p:cNvPr id="48134" name="Text Box 7">
            <a:extLst>
              <a:ext uri="{FF2B5EF4-FFF2-40B4-BE49-F238E27FC236}">
                <a16:creationId xmlns:a16="http://schemas.microsoft.com/office/drawing/2014/main" id="{E5637A41-A736-42DC-BA42-92048B713A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2708275"/>
            <a:ext cx="73945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rgbClr val="0000CC"/>
              </a:buClr>
            </a:pPr>
            <a:r>
              <a:rPr lang="zh-CN" altLang="en-US" sz="3200">
                <a:solidFill>
                  <a:schemeClr val="bg1"/>
                </a:solidFill>
                <a:latin typeface="华文中宋" panose="02010600040101010101" pitchFamily="2" charset="-122"/>
              </a:rPr>
              <a:t>不是经典的粒子  </a:t>
            </a:r>
            <a:r>
              <a:rPr lang="zh-CN" altLang="en-US" sz="3200">
                <a:solidFill>
                  <a:srgbClr val="FFFF00"/>
                </a:solidFill>
                <a:latin typeface="华文中宋" panose="02010600040101010101" pitchFamily="2" charset="-122"/>
              </a:rPr>
              <a:t>没有“轨道”概念</a:t>
            </a:r>
          </a:p>
        </p:txBody>
      </p:sp>
      <p:sp>
        <p:nvSpPr>
          <p:cNvPr id="1357832" name="Rectangle 8">
            <a:extLst>
              <a:ext uri="{FF2B5EF4-FFF2-40B4-BE49-F238E27FC236}">
                <a16:creationId xmlns:a16="http://schemas.microsoft.com/office/drawing/2014/main" id="{9C3CC5E1-546A-4191-9594-DC2FE80733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344488"/>
            <a:ext cx="8281987" cy="7016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zh-CN" altLang="en-US" sz="4000">
                <a:solidFill>
                  <a:srgbClr val="00FF00"/>
                </a:solidFill>
                <a:latin typeface="宋体" panose="02010600030101010101" pitchFamily="2" charset="-122"/>
              </a:rPr>
              <a:t>对微观粒子波粒二象性的正确理解</a:t>
            </a:r>
          </a:p>
        </p:txBody>
      </p:sp>
      <p:sp>
        <p:nvSpPr>
          <p:cNvPr id="48136" name="灯片编号占位符 1">
            <a:extLst>
              <a:ext uri="{FF2B5EF4-FFF2-40B4-BE49-F238E27FC236}">
                <a16:creationId xmlns:a16="http://schemas.microsoft.com/office/drawing/2014/main" id="{13B58BC8-FAFD-476C-9452-3F8A02ACD0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0BEB7137-5CA3-475D-B25C-337C07C33A67}" type="slidenum">
              <a:rPr lang="en-US" altLang="zh-CN" b="0">
                <a:solidFill>
                  <a:srgbClr val="FF00FF"/>
                </a:solidFill>
              </a:rPr>
              <a:pPr/>
              <a:t>33</a:t>
            </a:fld>
            <a:r>
              <a:rPr lang="en-US" altLang="zh-CN" b="0">
                <a:solidFill>
                  <a:srgbClr val="FF00FF"/>
                </a:solidFill>
              </a:rPr>
              <a:t>/29</a:t>
            </a:r>
          </a:p>
        </p:txBody>
      </p:sp>
    </p:spTree>
  </p:cSld>
  <p:clrMapOvr>
    <a:masterClrMapping/>
  </p:clrMapOvr>
  <p:transition spd="med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5">
            <a:extLst>
              <a:ext uri="{FF2B5EF4-FFF2-40B4-BE49-F238E27FC236}">
                <a16:creationId xmlns:a16="http://schemas.microsoft.com/office/drawing/2014/main" id="{E002FF7C-5887-4BBB-A75A-C96EB07440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106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90000"/>
              </a:lnSpc>
            </a:pPr>
            <a:endParaRPr lang="zh-CN" altLang="en-US" sz="1600">
              <a:latin typeface="Calibri" panose="020F0502020204030204" pitchFamily="34" charset="0"/>
            </a:endParaRP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32C30171-3E82-42BA-9059-68EC446CA9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843136"/>
            <a:ext cx="2936875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6">
            <a:extLst>
              <a:ext uri="{FF2B5EF4-FFF2-40B4-BE49-F238E27FC236}">
                <a16:creationId xmlns:a16="http://schemas.microsoft.com/office/drawing/2014/main" id="{4F46B85A-F182-4118-9E74-73468116E7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7938" y="4787304"/>
            <a:ext cx="1733550" cy="369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 eaLnBrk="0" hangingPunct="0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zh-CN" altLang="en-US" sz="20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少女？老妇？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4DD4E131-A1B5-48E7-B6B9-289AD87CEB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063" y="642938"/>
            <a:ext cx="5057775" cy="457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just">
              <a:lnSpc>
                <a:spcPts val="3500"/>
              </a:lnSpc>
            </a:pPr>
            <a:r>
              <a:rPr lang="zh-CN" altLang="en-US" dirty="0">
                <a:solidFill>
                  <a:srgbClr val="FFFF00"/>
                </a:solidFill>
                <a:latin typeface="宋体" panose="02010600030101010101" pitchFamily="2" charset="-122"/>
                <a:ea typeface="仿宋_GB2312" pitchFamily="49" charset="-122"/>
              </a:rPr>
              <a:t>微观粒子波粒二象性：</a:t>
            </a: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  <a:ea typeface="仿宋_GB2312" pitchFamily="49" charset="-122"/>
              </a:rPr>
              <a:t>微观粒子某些条件下表现出粒子性（光与物质作用），另一些条件下表现出波动性（光在空间传播），粒子性和波动性不会在同一观测中同时出现，不会在同一实验中直接冲突，</a:t>
            </a:r>
            <a:r>
              <a:rPr lang="zh-CN" altLang="en-US" dirty="0">
                <a:solidFill>
                  <a:srgbClr val="FFFF00"/>
                </a:solidFill>
                <a:latin typeface="宋体" panose="02010600030101010101" pitchFamily="2" charset="-122"/>
                <a:ea typeface="仿宋_GB2312" pitchFamily="49" charset="-122"/>
              </a:rPr>
              <a:t>互相排斥的</a:t>
            </a: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  <a:ea typeface="仿宋_GB2312" pitchFamily="49" charset="-122"/>
              </a:rPr>
              <a:t>；两种概念在描述微观现象、解释实验时又都是不可缺少的，企图放弃哪一个都不行，又是</a:t>
            </a:r>
            <a:r>
              <a:rPr lang="zh-CN" altLang="en-US" dirty="0">
                <a:solidFill>
                  <a:srgbClr val="FFFF00"/>
                </a:solidFill>
                <a:latin typeface="宋体" panose="02010600030101010101" pitchFamily="2" charset="-122"/>
                <a:ea typeface="仿宋_GB2312" pitchFamily="49" charset="-122"/>
              </a:rPr>
              <a:t>互补</a:t>
            </a: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  <a:ea typeface="仿宋_GB2312" pitchFamily="49" charset="-122"/>
              </a:rPr>
              <a:t>的。</a:t>
            </a:r>
            <a:r>
              <a:rPr lang="en-US" altLang="zh-CN" dirty="0">
                <a:solidFill>
                  <a:schemeClr val="bg1"/>
                </a:solidFill>
                <a:latin typeface="宋体" panose="02010600030101010101" pitchFamily="2" charset="-122"/>
                <a:ea typeface="仿宋_GB2312" pitchFamily="49" charset="-122"/>
              </a:rPr>
              <a:t>Bohr</a:t>
            </a: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  <a:ea typeface="仿宋_GB2312" pitchFamily="49" charset="-122"/>
              </a:rPr>
              <a:t>称之为</a:t>
            </a:r>
            <a:r>
              <a:rPr lang="zh-CN" altLang="en-US" dirty="0">
                <a:solidFill>
                  <a:srgbClr val="66FF99"/>
                </a:solidFill>
                <a:latin typeface="宋体" panose="02010600030101010101" pitchFamily="2" charset="-122"/>
                <a:ea typeface="仿宋_GB2312" pitchFamily="49" charset="-122"/>
              </a:rPr>
              <a:t>并协原理。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F27051C9-42D5-44E1-8CC5-47F8154F29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063" y="5356225"/>
            <a:ext cx="828675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>
              <a:lnSpc>
                <a:spcPts val="3500"/>
              </a:lnSpc>
            </a:pP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  <a:ea typeface="仿宋_GB2312" pitchFamily="49" charset="-122"/>
              </a:rPr>
              <a:t>波动性和粒子性实际就是微观粒子一体两面，</a:t>
            </a:r>
            <a:r>
              <a:rPr lang="zh-CN" altLang="en-US">
                <a:solidFill>
                  <a:srgbClr val="FFFF00"/>
                </a:solidFill>
                <a:latin typeface="宋体" panose="02010600030101010101" pitchFamily="2" charset="-122"/>
                <a:ea typeface="仿宋_GB2312" pitchFamily="49" charset="-122"/>
              </a:rPr>
              <a:t>既是波又是粒子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  <a:ea typeface="仿宋_GB2312" pitchFamily="49" charset="-122"/>
              </a:rPr>
              <a:t>，</a:t>
            </a:r>
            <a:r>
              <a:rPr lang="zh-CN" altLang="en-US">
                <a:solidFill>
                  <a:srgbClr val="FFFF00"/>
                </a:solidFill>
                <a:latin typeface="宋体" panose="02010600030101010101" pitchFamily="2" charset="-122"/>
                <a:ea typeface="仿宋_GB2312" pitchFamily="49" charset="-122"/>
              </a:rPr>
              <a:t>既不是波又不是粒子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  <a:ea typeface="仿宋_GB2312" pitchFamily="49" charset="-122"/>
              </a:rPr>
              <a:t>。</a:t>
            </a:r>
          </a:p>
        </p:txBody>
      </p:sp>
      <p:sp>
        <p:nvSpPr>
          <p:cNvPr id="49158" name="灯片编号占位符 1">
            <a:extLst>
              <a:ext uri="{FF2B5EF4-FFF2-40B4-BE49-F238E27FC236}">
                <a16:creationId xmlns:a16="http://schemas.microsoft.com/office/drawing/2014/main" id="{E8FCD981-4E0A-4DD5-B556-5DAB776CF5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81ED0DC1-717B-4EAC-BE29-C23F52367741}" type="slidenum">
              <a:rPr lang="en-US" altLang="zh-CN" b="0">
                <a:solidFill>
                  <a:srgbClr val="FF00FF"/>
                </a:solidFill>
              </a:rPr>
              <a:pPr/>
              <a:t>34</a:t>
            </a:fld>
            <a:r>
              <a:rPr lang="en-US" altLang="zh-CN" b="0">
                <a:solidFill>
                  <a:srgbClr val="FF00FF"/>
                </a:solidFill>
              </a:rPr>
              <a:t>/29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jkxMDYxZGYxZGIxNjIyZTIxODM5NTE1YTAzNTVjNjIifQ==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22850</TotalTime>
  <Words>3148</Words>
  <Application>Microsoft Office PowerPoint</Application>
  <PresentationFormat>全屏显示(4:3)</PresentationFormat>
  <Paragraphs>324</Paragraphs>
  <Slides>34</Slides>
  <Notes>16</Notes>
  <HiddenSlides>0</HiddenSlides>
  <MMClips>0</MMClips>
  <ScaleCrop>false</ScaleCrop>
  <HeadingPairs>
    <vt:vector size="8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34</vt:i4>
      </vt:variant>
    </vt:vector>
  </HeadingPairs>
  <TitlesOfParts>
    <vt:vector size="56" baseType="lpstr">
      <vt:lpstr>Monotype Sorts</vt:lpstr>
      <vt:lpstr>仿宋_GB2312</vt:lpstr>
      <vt:lpstr>黑体</vt:lpstr>
      <vt:lpstr>华文仿宋</vt:lpstr>
      <vt:lpstr>华文新魏</vt:lpstr>
      <vt:lpstr>华文中宋</vt:lpstr>
      <vt:lpstr>楷体_GB2312</vt:lpstr>
      <vt:lpstr>SimSun</vt:lpstr>
      <vt:lpstr>SimSun</vt:lpstr>
      <vt:lpstr>微软雅黑</vt:lpstr>
      <vt:lpstr>Arial</vt:lpstr>
      <vt:lpstr>Bookman Old Style</vt:lpstr>
      <vt:lpstr>Calibri</vt:lpstr>
      <vt:lpstr>Cambria Math</vt:lpstr>
      <vt:lpstr>Symbol</vt:lpstr>
      <vt:lpstr>Times New Roman</vt:lpstr>
      <vt:lpstr>Wingdings</vt:lpstr>
      <vt:lpstr>默认设计模板</vt:lpstr>
      <vt:lpstr>Equation</vt:lpstr>
      <vt:lpstr>公式</vt:lpstr>
      <vt:lpstr>Equation.3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xian jiaotong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下册-大学物理</dc:title>
  <dc:creator>yzhang</dc:creator>
  <cp:lastModifiedBy>yzhang</cp:lastModifiedBy>
  <cp:revision>1521</cp:revision>
  <cp:lastPrinted>2025-12-01T02:49:05Z</cp:lastPrinted>
  <dcterms:created xsi:type="dcterms:W3CDTF">1998-11-21T01:35:00Z</dcterms:created>
  <dcterms:modified xsi:type="dcterms:W3CDTF">2025-12-11T08:04:06Z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E360166CB073428B8BCB01AE86F8CFCF_12</vt:lpwstr>
  </property>
  <property fmtid="{D5CDD505-2E9C-101B-9397-08002B2CF9AE}" pid="3" name="KSOProductBuildVer">
    <vt:lpwstr>2052-12.1.0.15358</vt:lpwstr>
  </property>
</Properties>
</file>