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8"/>
  </p:notesMasterIdLst>
  <p:sldIdLst>
    <p:sldId id="908" r:id="rId2"/>
    <p:sldId id="926" r:id="rId3"/>
    <p:sldId id="794" r:id="rId4"/>
    <p:sldId id="903" r:id="rId5"/>
    <p:sldId id="904" r:id="rId6"/>
    <p:sldId id="344" r:id="rId7"/>
    <p:sldId id="887" r:id="rId8"/>
    <p:sldId id="845" r:id="rId9"/>
    <p:sldId id="669" r:id="rId10"/>
    <p:sldId id="925" r:id="rId11"/>
    <p:sldId id="846" r:id="rId12"/>
    <p:sldId id="860" r:id="rId13"/>
    <p:sldId id="861" r:id="rId14"/>
    <p:sldId id="924" r:id="rId15"/>
    <p:sldId id="893" r:id="rId16"/>
    <p:sldId id="894" r:id="rId17"/>
    <p:sldId id="895" r:id="rId18"/>
    <p:sldId id="843" r:id="rId19"/>
    <p:sldId id="844" r:id="rId20"/>
    <p:sldId id="309" r:id="rId21"/>
    <p:sldId id="310" r:id="rId22"/>
    <p:sldId id="900" r:id="rId23"/>
    <p:sldId id="901" r:id="rId24"/>
    <p:sldId id="884" r:id="rId25"/>
    <p:sldId id="885" r:id="rId26"/>
    <p:sldId id="886" r:id="rId27"/>
  </p:sldIdLst>
  <p:sldSz cx="9144000" cy="6858000" type="screen4x3"/>
  <p:notesSz cx="6858000" cy="9144000"/>
  <p:defaultTextStyle>
    <a:defPPr>
      <a:defRPr lang="zh-CN"/>
    </a:defPPr>
    <a:lvl1pPr algn="ctr" rtl="0" eaLnBrk="0" fontAlgn="base" hangingPunct="0">
      <a:lnSpc>
        <a:spcPct val="120000"/>
      </a:lnSpc>
      <a:spcBef>
        <a:spcPct val="0"/>
      </a:spcBef>
      <a:spcAft>
        <a:spcPct val="0"/>
      </a:spcAft>
      <a:buClr>
        <a:schemeClr val="tx2"/>
      </a:buClr>
      <a:buFont typeface="Monotype Sorts" pitchFamily="2" charset="2"/>
      <a:buChar char="&amp;"/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1pPr>
    <a:lvl2pPr marL="457200" algn="ctr" rtl="0" eaLnBrk="0" fontAlgn="base" hangingPunct="0">
      <a:lnSpc>
        <a:spcPct val="120000"/>
      </a:lnSpc>
      <a:spcBef>
        <a:spcPct val="0"/>
      </a:spcBef>
      <a:spcAft>
        <a:spcPct val="0"/>
      </a:spcAft>
      <a:buClr>
        <a:schemeClr val="tx2"/>
      </a:buClr>
      <a:buFont typeface="Monotype Sorts" pitchFamily="2" charset="2"/>
      <a:buChar char="&amp;"/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2pPr>
    <a:lvl3pPr marL="914400" algn="ctr" rtl="0" eaLnBrk="0" fontAlgn="base" hangingPunct="0">
      <a:lnSpc>
        <a:spcPct val="120000"/>
      </a:lnSpc>
      <a:spcBef>
        <a:spcPct val="0"/>
      </a:spcBef>
      <a:spcAft>
        <a:spcPct val="0"/>
      </a:spcAft>
      <a:buClr>
        <a:schemeClr val="tx2"/>
      </a:buClr>
      <a:buFont typeface="Monotype Sorts" pitchFamily="2" charset="2"/>
      <a:buChar char="&amp;"/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3pPr>
    <a:lvl4pPr marL="1371600" algn="ctr" rtl="0" eaLnBrk="0" fontAlgn="base" hangingPunct="0">
      <a:lnSpc>
        <a:spcPct val="120000"/>
      </a:lnSpc>
      <a:spcBef>
        <a:spcPct val="0"/>
      </a:spcBef>
      <a:spcAft>
        <a:spcPct val="0"/>
      </a:spcAft>
      <a:buClr>
        <a:schemeClr val="tx2"/>
      </a:buClr>
      <a:buFont typeface="Monotype Sorts" pitchFamily="2" charset="2"/>
      <a:buChar char="&amp;"/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4pPr>
    <a:lvl5pPr marL="1828800" algn="ctr" rtl="0" eaLnBrk="0" fontAlgn="base" hangingPunct="0">
      <a:lnSpc>
        <a:spcPct val="120000"/>
      </a:lnSpc>
      <a:spcBef>
        <a:spcPct val="0"/>
      </a:spcBef>
      <a:spcAft>
        <a:spcPct val="0"/>
      </a:spcAft>
      <a:buClr>
        <a:schemeClr val="tx2"/>
      </a:buClr>
      <a:buFont typeface="Monotype Sorts" pitchFamily="2" charset="2"/>
      <a:buChar char="&amp;"/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55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6666FF"/>
    <a:srgbClr val="FF66CC"/>
    <a:srgbClr val="FFCC00"/>
    <a:srgbClr val="33CCCC"/>
    <a:srgbClr val="FF9900"/>
    <a:srgbClr val="FFFF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93" autoAdjust="0"/>
    <p:restoredTop sz="94683" autoAdjust="0"/>
  </p:normalViewPr>
  <p:slideViewPr>
    <p:cSldViewPr snapToGrid="0" showGuides="1">
      <p:cViewPr varScale="1">
        <p:scale>
          <a:sx n="83" d="100"/>
          <a:sy n="83" d="100"/>
        </p:scale>
        <p:origin x="1819" y="62"/>
      </p:cViewPr>
      <p:guideLst>
        <p:guide orient="horz" pos="2855"/>
        <p:guide pos="29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61D79FA-8230-9A48-344A-0F9BC8FC81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FF902F9-281D-B6F3-94F4-CDE848043C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47101E00-9A6F-BAF3-DA28-0A90E3651A6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EF17C963-5E2A-E10B-8659-4572338E196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EC981CF2-6A02-76F5-EC20-EC71FD875D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EDB04195-5CBD-F7C4-0664-E6194C39EE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9A7AC125-C642-42C0-9C97-6011E04D56F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88513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9433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8358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0898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631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3928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670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812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19477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51281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88127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0389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8C4CF8E-2768-C216-C99E-8908336F8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272212"/>
          </a:xfrm>
          <a:prstGeom prst="rect">
            <a:avLst/>
          </a:prstGeom>
          <a:noFill/>
          <a:ln w="19050">
            <a:solidFill>
              <a:srgbClr val="006699">
                <a:alpha val="35001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3" name="AutoShape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6A62B3F-F095-7DF8-45CB-83922134D518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7239000" y="6602413"/>
            <a:ext cx="501650" cy="168275"/>
          </a:xfrm>
          <a:prstGeom prst="actionButtonForwardNext">
            <a:avLst/>
          </a:prstGeom>
          <a:solidFill>
            <a:srgbClr val="12607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4" name="AutoShape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B9FFCBC-BBEF-1D7F-319A-94E7C1DC99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91525" y="6602413"/>
            <a:ext cx="501650" cy="168275"/>
          </a:xfrm>
          <a:prstGeom prst="actionButtonForwardNext">
            <a:avLst/>
          </a:prstGeom>
          <a:solidFill>
            <a:srgbClr val="12607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5" name="AutoShape 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44F1BA2-7C00-B1AE-BF76-04EAF271CF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812088" y="6602413"/>
            <a:ext cx="504825" cy="161925"/>
          </a:xfrm>
          <a:prstGeom prst="actionButtonHome">
            <a:avLst/>
          </a:prstGeom>
          <a:solidFill>
            <a:srgbClr val="126072"/>
          </a:solidFill>
          <a:ln w="28575">
            <a:noFill/>
            <a:miter lim="800000"/>
            <a:headEnd/>
            <a:tailEnd type="none" w="med" len="lg"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2.emf"/><Relationship Id="rId21" Type="http://schemas.openxmlformats.org/officeDocument/2006/relationships/image" Target="../media/image11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5" Type="http://schemas.openxmlformats.org/officeDocument/2006/relationships/image" Target="../media/image8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7.emf"/><Relationship Id="rId18" Type="http://schemas.openxmlformats.org/officeDocument/2006/relationships/image" Target="../media/image20.emf"/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19.emf"/><Relationship Id="rId2" Type="http://schemas.openxmlformats.org/officeDocument/2006/relationships/oleObject" Target="../embeddings/oleObject11.bin"/><Relationship Id="rId16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6.emf"/><Relationship Id="rId5" Type="http://schemas.openxmlformats.org/officeDocument/2006/relationships/image" Target="../media/image13.emf"/><Relationship Id="rId15" Type="http://schemas.openxmlformats.org/officeDocument/2006/relationships/image" Target="../media/image18.e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emf"/><Relationship Id="rId14" Type="http://schemas.openxmlformats.org/officeDocument/2006/relationships/oleObject" Target="../embeddings/oleObject1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6.emf"/><Relationship Id="rId18" Type="http://schemas.openxmlformats.org/officeDocument/2006/relationships/oleObject" Target="../embeddings/oleObject27.bin"/><Relationship Id="rId3" Type="http://schemas.openxmlformats.org/officeDocument/2006/relationships/image" Target="../media/image21.emf"/><Relationship Id="rId21" Type="http://schemas.openxmlformats.org/officeDocument/2006/relationships/image" Target="../media/image30.emf"/><Relationship Id="rId7" Type="http://schemas.openxmlformats.org/officeDocument/2006/relationships/image" Target="../media/image23.e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8.e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5.emf"/><Relationship Id="rId5" Type="http://schemas.openxmlformats.org/officeDocument/2006/relationships/image" Target="../media/image22.emf"/><Relationship Id="rId15" Type="http://schemas.openxmlformats.org/officeDocument/2006/relationships/image" Target="../media/image27.emf"/><Relationship Id="rId23" Type="http://schemas.openxmlformats.org/officeDocument/2006/relationships/image" Target="../media/image31.e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9.e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4.e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7.emf"/><Relationship Id="rId3" Type="http://schemas.openxmlformats.org/officeDocument/2006/relationships/image" Target="../media/image32.emf"/><Relationship Id="rId7" Type="http://schemas.openxmlformats.org/officeDocument/2006/relationships/image" Target="../media/image34.emf"/><Relationship Id="rId12" Type="http://schemas.openxmlformats.org/officeDocument/2006/relationships/oleObject" Target="../embeddings/oleObject35.bin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6.emf"/><Relationship Id="rId5" Type="http://schemas.openxmlformats.org/officeDocument/2006/relationships/image" Target="../media/image33.e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image" Target="../media/image44.emf"/><Relationship Id="rId18" Type="http://schemas.openxmlformats.org/officeDocument/2006/relationships/oleObject" Target="../embeddings/oleObject43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3.emf"/><Relationship Id="rId17" Type="http://schemas.openxmlformats.org/officeDocument/2006/relationships/image" Target="../media/image46.emf"/><Relationship Id="rId2" Type="http://schemas.openxmlformats.org/officeDocument/2006/relationships/image" Target="../media/image38.jpeg"/><Relationship Id="rId16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e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image" Target="../media/image45.emf"/><Relationship Id="rId10" Type="http://schemas.openxmlformats.org/officeDocument/2006/relationships/image" Target="../media/image42.emf"/><Relationship Id="rId19" Type="http://schemas.openxmlformats.org/officeDocument/2006/relationships/image" Target="../media/image47.emf"/><Relationship Id="rId4" Type="http://schemas.openxmlformats.org/officeDocument/2006/relationships/image" Target="../media/image39.emf"/><Relationship Id="rId9" Type="http://schemas.openxmlformats.org/officeDocument/2006/relationships/oleObject" Target="../embeddings/oleObject39.bin"/><Relationship Id="rId14" Type="http://schemas.openxmlformats.org/officeDocument/2006/relationships/oleObject" Target="../embeddings/oleObject4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54.emf"/><Relationship Id="rId18" Type="http://schemas.openxmlformats.org/officeDocument/2006/relationships/oleObject" Target="../embeddings/oleObject51.bin"/><Relationship Id="rId26" Type="http://schemas.openxmlformats.org/officeDocument/2006/relationships/oleObject" Target="../embeddings/oleObject55.bin"/><Relationship Id="rId3" Type="http://schemas.openxmlformats.org/officeDocument/2006/relationships/image" Target="../media/image48.emf"/><Relationship Id="rId21" Type="http://schemas.openxmlformats.org/officeDocument/2006/relationships/image" Target="../media/image58.emf"/><Relationship Id="rId7" Type="http://schemas.openxmlformats.org/officeDocument/2006/relationships/image" Target="../media/image50.e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56.emf"/><Relationship Id="rId25" Type="http://schemas.openxmlformats.org/officeDocument/2006/relationships/image" Target="../media/image60.emf"/><Relationship Id="rId2" Type="http://schemas.openxmlformats.org/officeDocument/2006/relationships/oleObject" Target="../embeddings/oleObject44.bin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29" Type="http://schemas.openxmlformats.org/officeDocument/2006/relationships/image" Target="../media/image6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53.emf"/><Relationship Id="rId24" Type="http://schemas.openxmlformats.org/officeDocument/2006/relationships/oleObject" Target="../embeddings/oleObject54.bin"/><Relationship Id="rId5" Type="http://schemas.openxmlformats.org/officeDocument/2006/relationships/image" Target="../media/image49.emf"/><Relationship Id="rId15" Type="http://schemas.openxmlformats.org/officeDocument/2006/relationships/image" Target="../media/image55.emf"/><Relationship Id="rId23" Type="http://schemas.openxmlformats.org/officeDocument/2006/relationships/image" Target="../media/image59.emf"/><Relationship Id="rId28" Type="http://schemas.openxmlformats.org/officeDocument/2006/relationships/oleObject" Target="../embeddings/oleObject56.bin"/><Relationship Id="rId10" Type="http://schemas.openxmlformats.org/officeDocument/2006/relationships/image" Target="../media/image52.emf"/><Relationship Id="rId19" Type="http://schemas.openxmlformats.org/officeDocument/2006/relationships/image" Target="../media/image57.e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1.emf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3.bin"/><Relationship Id="rId27" Type="http://schemas.openxmlformats.org/officeDocument/2006/relationships/image" Target="../media/image6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emf"/><Relationship Id="rId4" Type="http://schemas.openxmlformats.org/officeDocument/2006/relationships/image" Target="../media/image6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82.emf"/><Relationship Id="rId18" Type="http://schemas.openxmlformats.org/officeDocument/2006/relationships/oleObject" Target="../embeddings/oleObject65.bin"/><Relationship Id="rId3" Type="http://schemas.openxmlformats.org/officeDocument/2006/relationships/image" Target="../media/image77.emf"/><Relationship Id="rId7" Type="http://schemas.openxmlformats.org/officeDocument/2006/relationships/image" Target="../media/image79.emf"/><Relationship Id="rId12" Type="http://schemas.openxmlformats.org/officeDocument/2006/relationships/oleObject" Target="../embeddings/oleObject62.bin"/><Relationship Id="rId17" Type="http://schemas.openxmlformats.org/officeDocument/2006/relationships/image" Target="../media/image84.emf"/><Relationship Id="rId2" Type="http://schemas.openxmlformats.org/officeDocument/2006/relationships/oleObject" Target="../embeddings/oleObject57.bin"/><Relationship Id="rId16" Type="http://schemas.openxmlformats.org/officeDocument/2006/relationships/oleObject" Target="../embeddings/oleObject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81.emf"/><Relationship Id="rId5" Type="http://schemas.openxmlformats.org/officeDocument/2006/relationships/image" Target="../media/image78.emf"/><Relationship Id="rId15" Type="http://schemas.openxmlformats.org/officeDocument/2006/relationships/image" Target="../media/image83.emf"/><Relationship Id="rId10" Type="http://schemas.openxmlformats.org/officeDocument/2006/relationships/oleObject" Target="../embeddings/oleObject61.bin"/><Relationship Id="rId19" Type="http://schemas.openxmlformats.org/officeDocument/2006/relationships/image" Target="../media/image85.emf"/><Relationship Id="rId4" Type="http://schemas.openxmlformats.org/officeDocument/2006/relationships/oleObject" Target="../embeddings/oleObject58.bin"/><Relationship Id="rId9" Type="http://schemas.openxmlformats.org/officeDocument/2006/relationships/image" Target="../media/image80.emf"/><Relationship Id="rId14" Type="http://schemas.openxmlformats.org/officeDocument/2006/relationships/oleObject" Target="../embeddings/oleObject63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92.emf"/><Relationship Id="rId18" Type="http://schemas.openxmlformats.org/officeDocument/2006/relationships/oleObject" Target="../embeddings/oleObject74.bin"/><Relationship Id="rId26" Type="http://schemas.openxmlformats.org/officeDocument/2006/relationships/oleObject" Target="../embeddings/oleObject78.bin"/><Relationship Id="rId3" Type="http://schemas.openxmlformats.org/officeDocument/2006/relationships/image" Target="../media/image87.emf"/><Relationship Id="rId21" Type="http://schemas.openxmlformats.org/officeDocument/2006/relationships/image" Target="../media/image96.emf"/><Relationship Id="rId7" Type="http://schemas.openxmlformats.org/officeDocument/2006/relationships/image" Target="../media/image89.e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94.emf"/><Relationship Id="rId25" Type="http://schemas.openxmlformats.org/officeDocument/2006/relationships/image" Target="../media/image98.emf"/><Relationship Id="rId2" Type="http://schemas.openxmlformats.org/officeDocument/2006/relationships/oleObject" Target="../embeddings/oleObject66.bin"/><Relationship Id="rId16" Type="http://schemas.openxmlformats.org/officeDocument/2006/relationships/oleObject" Target="../embeddings/oleObject73.bin"/><Relationship Id="rId20" Type="http://schemas.openxmlformats.org/officeDocument/2006/relationships/oleObject" Target="../embeddings/oleObject75.bin"/><Relationship Id="rId29" Type="http://schemas.openxmlformats.org/officeDocument/2006/relationships/image" Target="../media/image100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91.emf"/><Relationship Id="rId24" Type="http://schemas.openxmlformats.org/officeDocument/2006/relationships/oleObject" Target="../embeddings/oleObject77.bin"/><Relationship Id="rId5" Type="http://schemas.openxmlformats.org/officeDocument/2006/relationships/image" Target="../media/image88.emf"/><Relationship Id="rId15" Type="http://schemas.openxmlformats.org/officeDocument/2006/relationships/image" Target="../media/image93.emf"/><Relationship Id="rId23" Type="http://schemas.openxmlformats.org/officeDocument/2006/relationships/image" Target="../media/image97.emf"/><Relationship Id="rId28" Type="http://schemas.openxmlformats.org/officeDocument/2006/relationships/oleObject" Target="../embeddings/oleObject79.bin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95.emf"/><Relationship Id="rId31" Type="http://schemas.openxmlformats.org/officeDocument/2006/relationships/image" Target="../media/image102.jpeg"/><Relationship Id="rId4" Type="http://schemas.openxmlformats.org/officeDocument/2006/relationships/oleObject" Target="../embeddings/oleObject67.bin"/><Relationship Id="rId9" Type="http://schemas.openxmlformats.org/officeDocument/2006/relationships/image" Target="../media/image90.emf"/><Relationship Id="rId14" Type="http://schemas.openxmlformats.org/officeDocument/2006/relationships/oleObject" Target="../embeddings/oleObject72.bin"/><Relationship Id="rId22" Type="http://schemas.openxmlformats.org/officeDocument/2006/relationships/oleObject" Target="../embeddings/oleObject76.bin"/><Relationship Id="rId27" Type="http://schemas.openxmlformats.org/officeDocument/2006/relationships/image" Target="../media/image99.emf"/><Relationship Id="rId30" Type="http://schemas.openxmlformats.org/officeDocument/2006/relationships/image" Target="../media/image10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108.emf"/><Relationship Id="rId18" Type="http://schemas.openxmlformats.org/officeDocument/2006/relationships/oleObject" Target="../embeddings/oleObject88.bin"/><Relationship Id="rId26" Type="http://schemas.openxmlformats.org/officeDocument/2006/relationships/oleObject" Target="../embeddings/oleObject92.bin"/><Relationship Id="rId3" Type="http://schemas.openxmlformats.org/officeDocument/2006/relationships/image" Target="../media/image103.emf"/><Relationship Id="rId21" Type="http://schemas.openxmlformats.org/officeDocument/2006/relationships/image" Target="../media/image112.emf"/><Relationship Id="rId34" Type="http://schemas.openxmlformats.org/officeDocument/2006/relationships/image" Target="../media/image119.emf"/><Relationship Id="rId7" Type="http://schemas.openxmlformats.org/officeDocument/2006/relationships/image" Target="../media/image105.e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110.emf"/><Relationship Id="rId25" Type="http://schemas.openxmlformats.org/officeDocument/2006/relationships/image" Target="../media/image114.emf"/><Relationship Id="rId33" Type="http://schemas.openxmlformats.org/officeDocument/2006/relationships/oleObject" Target="../embeddings/oleObject95.bin"/><Relationship Id="rId38" Type="http://schemas.openxmlformats.org/officeDocument/2006/relationships/image" Target="../media/image121.emf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29" Type="http://schemas.openxmlformats.org/officeDocument/2006/relationships/oleObject" Target="../embeddings/oleObject9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107.emf"/><Relationship Id="rId24" Type="http://schemas.openxmlformats.org/officeDocument/2006/relationships/oleObject" Target="../embeddings/oleObject91.bin"/><Relationship Id="rId32" Type="http://schemas.openxmlformats.org/officeDocument/2006/relationships/image" Target="../media/image118.emf"/><Relationship Id="rId37" Type="http://schemas.openxmlformats.org/officeDocument/2006/relationships/oleObject" Target="../embeddings/oleObject97.bin"/><Relationship Id="rId5" Type="http://schemas.openxmlformats.org/officeDocument/2006/relationships/image" Target="../media/image104.emf"/><Relationship Id="rId15" Type="http://schemas.openxmlformats.org/officeDocument/2006/relationships/image" Target="../media/image109.emf"/><Relationship Id="rId23" Type="http://schemas.openxmlformats.org/officeDocument/2006/relationships/image" Target="../media/image113.emf"/><Relationship Id="rId28" Type="http://schemas.openxmlformats.org/officeDocument/2006/relationships/image" Target="../media/image116.emf"/><Relationship Id="rId36" Type="http://schemas.openxmlformats.org/officeDocument/2006/relationships/image" Target="../media/image120.emf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111.emf"/><Relationship Id="rId31" Type="http://schemas.openxmlformats.org/officeDocument/2006/relationships/oleObject" Target="../embeddings/oleObject94.bin"/><Relationship Id="rId4" Type="http://schemas.openxmlformats.org/officeDocument/2006/relationships/oleObject" Target="../embeddings/oleObject81.bin"/><Relationship Id="rId9" Type="http://schemas.openxmlformats.org/officeDocument/2006/relationships/image" Target="../media/image106.e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0.bin"/><Relationship Id="rId27" Type="http://schemas.openxmlformats.org/officeDocument/2006/relationships/image" Target="../media/image115.emf"/><Relationship Id="rId30" Type="http://schemas.openxmlformats.org/officeDocument/2006/relationships/image" Target="../media/image117.emf"/><Relationship Id="rId35" Type="http://schemas.openxmlformats.org/officeDocument/2006/relationships/oleObject" Target="../embeddings/oleObject9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3.emf"/><Relationship Id="rId4" Type="http://schemas.openxmlformats.org/officeDocument/2006/relationships/oleObject" Target="../embeddings/oleObject9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e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31.emf"/><Relationship Id="rId26" Type="http://schemas.openxmlformats.org/officeDocument/2006/relationships/image" Target="../media/image135.emf"/><Relationship Id="rId3" Type="http://schemas.openxmlformats.org/officeDocument/2006/relationships/oleObject" Target="../embeddings/oleObject100.bin"/><Relationship Id="rId21" Type="http://schemas.openxmlformats.org/officeDocument/2006/relationships/oleObject" Target="../embeddings/oleObject109.bin"/><Relationship Id="rId34" Type="http://schemas.openxmlformats.org/officeDocument/2006/relationships/image" Target="../media/image139.emf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28.emf"/><Relationship Id="rId17" Type="http://schemas.openxmlformats.org/officeDocument/2006/relationships/oleObject" Target="../embeddings/oleObject107.bin"/><Relationship Id="rId25" Type="http://schemas.openxmlformats.org/officeDocument/2006/relationships/oleObject" Target="../embeddings/oleObject111.bin"/><Relationship Id="rId33" Type="http://schemas.openxmlformats.org/officeDocument/2006/relationships/oleObject" Target="../embeddings/oleObject115.bin"/><Relationship Id="rId2" Type="http://schemas.openxmlformats.org/officeDocument/2006/relationships/hyperlink" Target="file:///F:\mixi\&#35838;&#20214;\zxl\&#32993;&#20854;&#22270;1.0\ZLCAI.EXE" TargetMode="External"/><Relationship Id="rId16" Type="http://schemas.openxmlformats.org/officeDocument/2006/relationships/image" Target="../media/image130.emf"/><Relationship Id="rId20" Type="http://schemas.openxmlformats.org/officeDocument/2006/relationships/image" Target="../media/image132.emf"/><Relationship Id="rId29" Type="http://schemas.openxmlformats.org/officeDocument/2006/relationships/oleObject" Target="../embeddings/oleObject11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.emf"/><Relationship Id="rId11" Type="http://schemas.openxmlformats.org/officeDocument/2006/relationships/oleObject" Target="../embeddings/oleObject104.bin"/><Relationship Id="rId24" Type="http://schemas.openxmlformats.org/officeDocument/2006/relationships/image" Target="../media/image134.emf"/><Relationship Id="rId32" Type="http://schemas.openxmlformats.org/officeDocument/2006/relationships/image" Target="../media/image138.emf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23" Type="http://schemas.openxmlformats.org/officeDocument/2006/relationships/oleObject" Target="../embeddings/oleObject110.bin"/><Relationship Id="rId28" Type="http://schemas.openxmlformats.org/officeDocument/2006/relationships/image" Target="../media/image136.emf"/><Relationship Id="rId10" Type="http://schemas.openxmlformats.org/officeDocument/2006/relationships/image" Target="../media/image127.emf"/><Relationship Id="rId19" Type="http://schemas.openxmlformats.org/officeDocument/2006/relationships/oleObject" Target="../embeddings/oleObject108.bin"/><Relationship Id="rId31" Type="http://schemas.openxmlformats.org/officeDocument/2006/relationships/oleObject" Target="../embeddings/oleObject114.bin"/><Relationship Id="rId4" Type="http://schemas.openxmlformats.org/officeDocument/2006/relationships/image" Target="../media/image124.e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29.emf"/><Relationship Id="rId22" Type="http://schemas.openxmlformats.org/officeDocument/2006/relationships/image" Target="../media/image133.emf"/><Relationship Id="rId27" Type="http://schemas.openxmlformats.org/officeDocument/2006/relationships/oleObject" Target="../embeddings/oleObject112.bin"/><Relationship Id="rId30" Type="http://schemas.openxmlformats.org/officeDocument/2006/relationships/image" Target="../media/image137.emf"/><Relationship Id="rId35" Type="http://schemas.openxmlformats.org/officeDocument/2006/relationships/image" Target="../media/image140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emf"/><Relationship Id="rId13" Type="http://schemas.openxmlformats.org/officeDocument/2006/relationships/oleObject" Target="../embeddings/oleObject121.bin"/><Relationship Id="rId18" Type="http://schemas.openxmlformats.org/officeDocument/2006/relationships/image" Target="../media/image148.emf"/><Relationship Id="rId26" Type="http://schemas.openxmlformats.org/officeDocument/2006/relationships/image" Target="../media/image152.emf"/><Relationship Id="rId3" Type="http://schemas.openxmlformats.org/officeDocument/2006/relationships/oleObject" Target="../embeddings/oleObject116.bin"/><Relationship Id="rId21" Type="http://schemas.openxmlformats.org/officeDocument/2006/relationships/oleObject" Target="../embeddings/oleObject125.bin"/><Relationship Id="rId34" Type="http://schemas.openxmlformats.org/officeDocument/2006/relationships/image" Target="../media/image156.emf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45.emf"/><Relationship Id="rId17" Type="http://schemas.openxmlformats.org/officeDocument/2006/relationships/oleObject" Target="../embeddings/oleObject123.bin"/><Relationship Id="rId25" Type="http://schemas.openxmlformats.org/officeDocument/2006/relationships/oleObject" Target="../embeddings/oleObject127.bin"/><Relationship Id="rId33" Type="http://schemas.openxmlformats.org/officeDocument/2006/relationships/oleObject" Target="../embeddings/oleObject131.bin"/><Relationship Id="rId2" Type="http://schemas.openxmlformats.org/officeDocument/2006/relationships/hyperlink" Target="file:///F:\mixi\&#35838;&#20214;\zxl\&#32993;&#20854;&#22270;1.0\ZLCAI.EXE" TargetMode="External"/><Relationship Id="rId16" Type="http://schemas.openxmlformats.org/officeDocument/2006/relationships/image" Target="../media/image147.emf"/><Relationship Id="rId20" Type="http://schemas.openxmlformats.org/officeDocument/2006/relationships/image" Target="../media/image149.emf"/><Relationship Id="rId29" Type="http://schemas.openxmlformats.org/officeDocument/2006/relationships/oleObject" Target="../embeddings/oleObject12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emf"/><Relationship Id="rId11" Type="http://schemas.openxmlformats.org/officeDocument/2006/relationships/oleObject" Target="../embeddings/oleObject120.bin"/><Relationship Id="rId24" Type="http://schemas.openxmlformats.org/officeDocument/2006/relationships/image" Target="../media/image151.emf"/><Relationship Id="rId32" Type="http://schemas.openxmlformats.org/officeDocument/2006/relationships/image" Target="../media/image155.emf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23" Type="http://schemas.openxmlformats.org/officeDocument/2006/relationships/oleObject" Target="../embeddings/oleObject126.bin"/><Relationship Id="rId28" Type="http://schemas.openxmlformats.org/officeDocument/2006/relationships/image" Target="../media/image153.emf"/><Relationship Id="rId10" Type="http://schemas.openxmlformats.org/officeDocument/2006/relationships/image" Target="../media/image144.emf"/><Relationship Id="rId19" Type="http://schemas.openxmlformats.org/officeDocument/2006/relationships/oleObject" Target="../embeddings/oleObject124.bin"/><Relationship Id="rId31" Type="http://schemas.openxmlformats.org/officeDocument/2006/relationships/oleObject" Target="../embeddings/oleObject130.bin"/><Relationship Id="rId4" Type="http://schemas.openxmlformats.org/officeDocument/2006/relationships/image" Target="../media/image141.e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46.emf"/><Relationship Id="rId22" Type="http://schemas.openxmlformats.org/officeDocument/2006/relationships/image" Target="../media/image150.emf"/><Relationship Id="rId27" Type="http://schemas.openxmlformats.org/officeDocument/2006/relationships/oleObject" Target="../embeddings/oleObject128.bin"/><Relationship Id="rId30" Type="http://schemas.openxmlformats.org/officeDocument/2006/relationships/image" Target="../media/image154.emf"/><Relationship Id="rId35" Type="http://schemas.openxmlformats.org/officeDocument/2006/relationships/image" Target="../media/image157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63.emf"/><Relationship Id="rId18" Type="http://schemas.openxmlformats.org/officeDocument/2006/relationships/oleObject" Target="../embeddings/oleObject140.bin"/><Relationship Id="rId3" Type="http://schemas.openxmlformats.org/officeDocument/2006/relationships/image" Target="../media/image158.emf"/><Relationship Id="rId21" Type="http://schemas.openxmlformats.org/officeDocument/2006/relationships/image" Target="../media/image167.emf"/><Relationship Id="rId7" Type="http://schemas.openxmlformats.org/officeDocument/2006/relationships/image" Target="../media/image160.emf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65.emf"/><Relationship Id="rId2" Type="http://schemas.openxmlformats.org/officeDocument/2006/relationships/oleObject" Target="../embeddings/oleObject132.bin"/><Relationship Id="rId16" Type="http://schemas.openxmlformats.org/officeDocument/2006/relationships/oleObject" Target="../embeddings/oleObject139.bin"/><Relationship Id="rId20" Type="http://schemas.openxmlformats.org/officeDocument/2006/relationships/oleObject" Target="../embeddings/oleObject1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62.emf"/><Relationship Id="rId5" Type="http://schemas.openxmlformats.org/officeDocument/2006/relationships/image" Target="../media/image159.emf"/><Relationship Id="rId15" Type="http://schemas.openxmlformats.org/officeDocument/2006/relationships/image" Target="../media/image164.emf"/><Relationship Id="rId23" Type="http://schemas.openxmlformats.org/officeDocument/2006/relationships/image" Target="../media/image168.emf"/><Relationship Id="rId10" Type="http://schemas.openxmlformats.org/officeDocument/2006/relationships/oleObject" Target="../embeddings/oleObject136.bin"/><Relationship Id="rId19" Type="http://schemas.openxmlformats.org/officeDocument/2006/relationships/image" Target="../media/image166.emf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61.emf"/><Relationship Id="rId14" Type="http://schemas.openxmlformats.org/officeDocument/2006/relationships/oleObject" Target="../embeddings/oleObject138.bin"/><Relationship Id="rId22" Type="http://schemas.openxmlformats.org/officeDocument/2006/relationships/oleObject" Target="../embeddings/oleObject142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4.emf"/><Relationship Id="rId18" Type="http://schemas.openxmlformats.org/officeDocument/2006/relationships/oleObject" Target="../embeddings/oleObject151.bin"/><Relationship Id="rId26" Type="http://schemas.openxmlformats.org/officeDocument/2006/relationships/oleObject" Target="../embeddings/oleObject155.bin"/><Relationship Id="rId39" Type="http://schemas.openxmlformats.org/officeDocument/2006/relationships/image" Target="../media/image187.emf"/><Relationship Id="rId21" Type="http://schemas.openxmlformats.org/officeDocument/2006/relationships/image" Target="../media/image178.emf"/><Relationship Id="rId34" Type="http://schemas.openxmlformats.org/officeDocument/2006/relationships/oleObject" Target="../embeddings/oleObject159.bin"/><Relationship Id="rId42" Type="http://schemas.openxmlformats.org/officeDocument/2006/relationships/oleObject" Target="../embeddings/oleObject163.bin"/><Relationship Id="rId47" Type="http://schemas.openxmlformats.org/officeDocument/2006/relationships/image" Target="../media/image191.emf"/><Relationship Id="rId50" Type="http://schemas.openxmlformats.org/officeDocument/2006/relationships/oleObject" Target="../embeddings/oleObject167.bin"/><Relationship Id="rId55" Type="http://schemas.openxmlformats.org/officeDocument/2006/relationships/image" Target="../media/image195.emf"/><Relationship Id="rId7" Type="http://schemas.openxmlformats.org/officeDocument/2006/relationships/image" Target="../media/image171.emf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176.emf"/><Relationship Id="rId25" Type="http://schemas.openxmlformats.org/officeDocument/2006/relationships/image" Target="../media/image180.emf"/><Relationship Id="rId33" Type="http://schemas.openxmlformats.org/officeDocument/2006/relationships/image" Target="../media/image184.emf"/><Relationship Id="rId38" Type="http://schemas.openxmlformats.org/officeDocument/2006/relationships/oleObject" Target="../embeddings/oleObject161.bin"/><Relationship Id="rId46" Type="http://schemas.openxmlformats.org/officeDocument/2006/relationships/oleObject" Target="../embeddings/oleObject165.bin"/><Relationship Id="rId59" Type="http://schemas.openxmlformats.org/officeDocument/2006/relationships/image" Target="../media/image197.emf"/><Relationship Id="rId2" Type="http://schemas.openxmlformats.org/officeDocument/2006/relationships/oleObject" Target="../embeddings/oleObject143.bin"/><Relationship Id="rId16" Type="http://schemas.openxmlformats.org/officeDocument/2006/relationships/oleObject" Target="../embeddings/oleObject150.bin"/><Relationship Id="rId20" Type="http://schemas.openxmlformats.org/officeDocument/2006/relationships/oleObject" Target="../embeddings/oleObject152.bin"/><Relationship Id="rId29" Type="http://schemas.openxmlformats.org/officeDocument/2006/relationships/image" Target="../media/image182.emf"/><Relationship Id="rId41" Type="http://schemas.openxmlformats.org/officeDocument/2006/relationships/image" Target="../media/image188.emf"/><Relationship Id="rId54" Type="http://schemas.openxmlformats.org/officeDocument/2006/relationships/oleObject" Target="../embeddings/oleObject1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73.emf"/><Relationship Id="rId24" Type="http://schemas.openxmlformats.org/officeDocument/2006/relationships/oleObject" Target="../embeddings/oleObject154.bin"/><Relationship Id="rId32" Type="http://schemas.openxmlformats.org/officeDocument/2006/relationships/oleObject" Target="../embeddings/oleObject158.bin"/><Relationship Id="rId37" Type="http://schemas.openxmlformats.org/officeDocument/2006/relationships/image" Target="../media/image186.emf"/><Relationship Id="rId40" Type="http://schemas.openxmlformats.org/officeDocument/2006/relationships/oleObject" Target="../embeddings/oleObject162.bin"/><Relationship Id="rId45" Type="http://schemas.openxmlformats.org/officeDocument/2006/relationships/image" Target="../media/image190.emf"/><Relationship Id="rId53" Type="http://schemas.openxmlformats.org/officeDocument/2006/relationships/image" Target="../media/image194.emf"/><Relationship Id="rId58" Type="http://schemas.openxmlformats.org/officeDocument/2006/relationships/oleObject" Target="../embeddings/oleObject142.bin"/><Relationship Id="rId5" Type="http://schemas.openxmlformats.org/officeDocument/2006/relationships/image" Target="../media/image170.emf"/><Relationship Id="rId15" Type="http://schemas.openxmlformats.org/officeDocument/2006/relationships/image" Target="../media/image175.emf"/><Relationship Id="rId23" Type="http://schemas.openxmlformats.org/officeDocument/2006/relationships/image" Target="../media/image179.emf"/><Relationship Id="rId28" Type="http://schemas.openxmlformats.org/officeDocument/2006/relationships/oleObject" Target="../embeddings/oleObject156.bin"/><Relationship Id="rId36" Type="http://schemas.openxmlformats.org/officeDocument/2006/relationships/oleObject" Target="../embeddings/oleObject160.bin"/><Relationship Id="rId49" Type="http://schemas.openxmlformats.org/officeDocument/2006/relationships/image" Target="../media/image192.emf"/><Relationship Id="rId57" Type="http://schemas.openxmlformats.org/officeDocument/2006/relationships/image" Target="../media/image196.emf"/><Relationship Id="rId10" Type="http://schemas.openxmlformats.org/officeDocument/2006/relationships/oleObject" Target="../embeddings/oleObject147.bin"/><Relationship Id="rId19" Type="http://schemas.openxmlformats.org/officeDocument/2006/relationships/image" Target="../media/image177.emf"/><Relationship Id="rId31" Type="http://schemas.openxmlformats.org/officeDocument/2006/relationships/image" Target="../media/image183.emf"/><Relationship Id="rId44" Type="http://schemas.openxmlformats.org/officeDocument/2006/relationships/oleObject" Target="../embeddings/oleObject164.bin"/><Relationship Id="rId52" Type="http://schemas.openxmlformats.org/officeDocument/2006/relationships/oleObject" Target="../embeddings/oleObject168.bin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72.emf"/><Relationship Id="rId14" Type="http://schemas.openxmlformats.org/officeDocument/2006/relationships/oleObject" Target="../embeddings/oleObject149.bin"/><Relationship Id="rId22" Type="http://schemas.openxmlformats.org/officeDocument/2006/relationships/oleObject" Target="../embeddings/oleObject153.bin"/><Relationship Id="rId27" Type="http://schemas.openxmlformats.org/officeDocument/2006/relationships/image" Target="../media/image181.emf"/><Relationship Id="rId30" Type="http://schemas.openxmlformats.org/officeDocument/2006/relationships/oleObject" Target="../embeddings/oleObject157.bin"/><Relationship Id="rId35" Type="http://schemas.openxmlformats.org/officeDocument/2006/relationships/image" Target="../media/image185.emf"/><Relationship Id="rId43" Type="http://schemas.openxmlformats.org/officeDocument/2006/relationships/image" Target="../media/image189.emf"/><Relationship Id="rId48" Type="http://schemas.openxmlformats.org/officeDocument/2006/relationships/oleObject" Target="../embeddings/oleObject166.bin"/><Relationship Id="rId56" Type="http://schemas.openxmlformats.org/officeDocument/2006/relationships/oleObject" Target="../embeddings/oleObject170.bin"/><Relationship Id="rId8" Type="http://schemas.openxmlformats.org/officeDocument/2006/relationships/oleObject" Target="../embeddings/oleObject146.bin"/><Relationship Id="rId51" Type="http://schemas.openxmlformats.org/officeDocument/2006/relationships/image" Target="../media/image193.emf"/><Relationship Id="rId3" Type="http://schemas.openxmlformats.org/officeDocument/2006/relationships/image" Target="../media/image16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emf"/><Relationship Id="rId7" Type="http://schemas.openxmlformats.org/officeDocument/2006/relationships/image" Target="../media/image200.emf"/><Relationship Id="rId2" Type="http://schemas.openxmlformats.org/officeDocument/2006/relationships/oleObject" Target="../embeddings/oleObject17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73.bin"/><Relationship Id="rId5" Type="http://schemas.openxmlformats.org/officeDocument/2006/relationships/image" Target="../media/image199.emf"/><Relationship Id="rId4" Type="http://schemas.openxmlformats.org/officeDocument/2006/relationships/oleObject" Target="../embeddings/oleObject17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206.emf"/><Relationship Id="rId3" Type="http://schemas.openxmlformats.org/officeDocument/2006/relationships/image" Target="../media/image201.emf"/><Relationship Id="rId7" Type="http://schemas.openxmlformats.org/officeDocument/2006/relationships/image" Target="../media/image203.emf"/><Relationship Id="rId12" Type="http://schemas.openxmlformats.org/officeDocument/2006/relationships/oleObject" Target="../embeddings/oleObject179.bin"/><Relationship Id="rId2" Type="http://schemas.openxmlformats.org/officeDocument/2006/relationships/oleObject" Target="../embeddings/oleObject174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205.emf"/><Relationship Id="rId5" Type="http://schemas.openxmlformats.org/officeDocument/2006/relationships/image" Target="../media/image202.emf"/><Relationship Id="rId15" Type="http://schemas.openxmlformats.org/officeDocument/2006/relationships/image" Target="../media/image207.emf"/><Relationship Id="rId10" Type="http://schemas.openxmlformats.org/officeDocument/2006/relationships/oleObject" Target="../embeddings/oleObject178.bin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204.emf"/><Relationship Id="rId14" Type="http://schemas.openxmlformats.org/officeDocument/2006/relationships/oleObject" Target="../embeddings/oleObject180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13" Type="http://schemas.openxmlformats.org/officeDocument/2006/relationships/image" Target="../media/image213.emf"/><Relationship Id="rId18" Type="http://schemas.openxmlformats.org/officeDocument/2006/relationships/oleObject" Target="../embeddings/oleObject189.bin"/><Relationship Id="rId3" Type="http://schemas.openxmlformats.org/officeDocument/2006/relationships/image" Target="../media/image208.emf"/><Relationship Id="rId21" Type="http://schemas.openxmlformats.org/officeDocument/2006/relationships/image" Target="../media/image217.emf"/><Relationship Id="rId7" Type="http://schemas.openxmlformats.org/officeDocument/2006/relationships/image" Target="../media/image210.emf"/><Relationship Id="rId12" Type="http://schemas.openxmlformats.org/officeDocument/2006/relationships/oleObject" Target="../embeddings/oleObject186.bin"/><Relationship Id="rId17" Type="http://schemas.openxmlformats.org/officeDocument/2006/relationships/image" Target="../media/image215.emf"/><Relationship Id="rId2" Type="http://schemas.openxmlformats.org/officeDocument/2006/relationships/oleObject" Target="../embeddings/oleObject181.bin"/><Relationship Id="rId16" Type="http://schemas.openxmlformats.org/officeDocument/2006/relationships/oleObject" Target="../embeddings/oleObject188.bin"/><Relationship Id="rId20" Type="http://schemas.openxmlformats.org/officeDocument/2006/relationships/oleObject" Target="../embeddings/oleObject1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212.emf"/><Relationship Id="rId5" Type="http://schemas.openxmlformats.org/officeDocument/2006/relationships/image" Target="../media/image209.emf"/><Relationship Id="rId15" Type="http://schemas.openxmlformats.org/officeDocument/2006/relationships/image" Target="../media/image214.emf"/><Relationship Id="rId10" Type="http://schemas.openxmlformats.org/officeDocument/2006/relationships/oleObject" Target="../embeddings/oleObject185.bin"/><Relationship Id="rId19" Type="http://schemas.openxmlformats.org/officeDocument/2006/relationships/image" Target="../media/image216.emf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211.emf"/><Relationship Id="rId14" Type="http://schemas.openxmlformats.org/officeDocument/2006/relationships/oleObject" Target="../embeddings/oleObject187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4.bin"/><Relationship Id="rId13" Type="http://schemas.openxmlformats.org/officeDocument/2006/relationships/image" Target="../media/image223.emf"/><Relationship Id="rId3" Type="http://schemas.openxmlformats.org/officeDocument/2006/relationships/image" Target="../media/image218.emf"/><Relationship Id="rId7" Type="http://schemas.openxmlformats.org/officeDocument/2006/relationships/image" Target="../media/image220.emf"/><Relationship Id="rId12" Type="http://schemas.openxmlformats.org/officeDocument/2006/relationships/oleObject" Target="../embeddings/oleObject196.bin"/><Relationship Id="rId2" Type="http://schemas.openxmlformats.org/officeDocument/2006/relationships/oleObject" Target="../embeddings/oleObject1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3.bin"/><Relationship Id="rId11" Type="http://schemas.openxmlformats.org/officeDocument/2006/relationships/image" Target="../media/image222.emf"/><Relationship Id="rId5" Type="http://schemas.openxmlformats.org/officeDocument/2006/relationships/image" Target="../media/image219.emf"/><Relationship Id="rId15" Type="http://schemas.openxmlformats.org/officeDocument/2006/relationships/image" Target="../media/image224.emf"/><Relationship Id="rId10" Type="http://schemas.openxmlformats.org/officeDocument/2006/relationships/oleObject" Target="../embeddings/oleObject195.bin"/><Relationship Id="rId4" Type="http://schemas.openxmlformats.org/officeDocument/2006/relationships/oleObject" Target="../embeddings/oleObject192.bin"/><Relationship Id="rId9" Type="http://schemas.openxmlformats.org/officeDocument/2006/relationships/image" Target="../media/image221.emf"/><Relationship Id="rId14" Type="http://schemas.openxmlformats.org/officeDocument/2006/relationships/oleObject" Target="../embeddings/oleObject19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1.bin"/><Relationship Id="rId13" Type="http://schemas.openxmlformats.org/officeDocument/2006/relationships/image" Target="../media/image230.emf"/><Relationship Id="rId3" Type="http://schemas.openxmlformats.org/officeDocument/2006/relationships/image" Target="../media/image225.emf"/><Relationship Id="rId7" Type="http://schemas.openxmlformats.org/officeDocument/2006/relationships/image" Target="../media/image227.emf"/><Relationship Id="rId12" Type="http://schemas.openxmlformats.org/officeDocument/2006/relationships/oleObject" Target="../embeddings/oleObject203.bin"/><Relationship Id="rId2" Type="http://schemas.openxmlformats.org/officeDocument/2006/relationships/oleObject" Target="../embeddings/oleObject1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0.bin"/><Relationship Id="rId11" Type="http://schemas.openxmlformats.org/officeDocument/2006/relationships/image" Target="../media/image229.emf"/><Relationship Id="rId5" Type="http://schemas.openxmlformats.org/officeDocument/2006/relationships/image" Target="../media/image226.emf"/><Relationship Id="rId15" Type="http://schemas.openxmlformats.org/officeDocument/2006/relationships/image" Target="../media/image231.emf"/><Relationship Id="rId10" Type="http://schemas.openxmlformats.org/officeDocument/2006/relationships/oleObject" Target="../embeddings/oleObject202.bin"/><Relationship Id="rId4" Type="http://schemas.openxmlformats.org/officeDocument/2006/relationships/oleObject" Target="../embeddings/oleObject199.bin"/><Relationship Id="rId9" Type="http://schemas.openxmlformats.org/officeDocument/2006/relationships/image" Target="../media/image228.emf"/><Relationship Id="rId14" Type="http://schemas.openxmlformats.org/officeDocument/2006/relationships/oleObject" Target="../embeddings/oleObject20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60515D9B-A13B-AF19-F701-65F4F0871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123" name="内容占位符 4">
            <a:extLst>
              <a:ext uri="{FF2B5EF4-FFF2-40B4-BE49-F238E27FC236}">
                <a16:creationId xmlns:a16="http://schemas.microsoft.com/office/drawing/2014/main" id="{97A0984C-434B-4B3A-9C4D-BD1BE3E3B5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274638"/>
            <a:ext cx="9055100" cy="6178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865F96AE-B631-8081-2B2B-639365E8B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687" y="229612"/>
            <a:ext cx="3681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00000"/>
              </a:lnSpc>
              <a:buClrTx/>
              <a:buFontTx/>
              <a:buNone/>
            </a:pPr>
            <a:r>
              <a:rPr lang="en-US" altLang="zh-CN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质点的动量矩</a:t>
            </a:r>
            <a:r>
              <a:rPr lang="en-US" altLang="zh-CN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点</a:t>
            </a:r>
            <a:r>
              <a:rPr lang="en-US" altLang="zh-CN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b="0" dirty="0">
              <a:solidFill>
                <a:srgbClr val="66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516B1E6-5DE7-23E2-FC70-128DA5E300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0766022"/>
              </p:ext>
            </p:extLst>
          </p:nvPr>
        </p:nvGraphicFramePr>
        <p:xfrm>
          <a:off x="1143289" y="844479"/>
          <a:ext cx="27987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93960" imgH="469800" progId="Equation.3">
                  <p:embed/>
                </p:oleObj>
              </mc:Choice>
              <mc:Fallback>
                <p:oleObj name="公式" r:id="rId2" imgW="2793960" imgH="469800" progId="Equation.3">
                  <p:embed/>
                  <p:pic>
                    <p:nvPicPr>
                      <p:cNvPr id="726020" name="Object 4">
                        <a:extLst>
                          <a:ext uri="{FF2B5EF4-FFF2-40B4-BE49-F238E27FC236}">
                            <a16:creationId xmlns:a16="http://schemas.microsoft.com/office/drawing/2014/main" id="{F32D3FC2-E85F-4093-A7A5-5EF487852D9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289" y="844479"/>
                        <a:ext cx="27987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73030AA7-47AF-A64E-16C2-785BF65332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3066329"/>
              </p:ext>
            </p:extLst>
          </p:nvPr>
        </p:nvGraphicFramePr>
        <p:xfrm>
          <a:off x="1018454" y="1409651"/>
          <a:ext cx="256540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77960" imgH="736560" progId="Equation.3">
                  <p:embed/>
                </p:oleObj>
              </mc:Choice>
              <mc:Fallback>
                <p:oleObj name="公式" r:id="rId4" imgW="2577960" imgH="736560" progId="Equation.3">
                  <p:embed/>
                  <p:pic>
                    <p:nvPicPr>
                      <p:cNvPr id="729096" name="Object 8">
                        <a:extLst>
                          <a:ext uri="{FF2B5EF4-FFF2-40B4-BE49-F238E27FC236}">
                            <a16:creationId xmlns:a16="http://schemas.microsoft.com/office/drawing/2014/main" id="{D63C0BC8-6BFD-DCC5-766D-786C6C4BA07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8454" y="1409651"/>
                        <a:ext cx="2565400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9">
            <a:extLst>
              <a:ext uri="{FF2B5EF4-FFF2-40B4-BE49-F238E27FC236}">
                <a16:creationId xmlns:a16="http://schemas.microsoft.com/office/drawing/2014/main" id="{32569188-A458-F7F7-5D87-6E5E840E4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128" y="1499057"/>
            <a:ext cx="424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dirty="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dirty="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质点动量矩定理</a:t>
            </a:r>
            <a:r>
              <a:rPr lang="en-US" altLang="zh-CN" dirty="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77C5DA24-98E7-483A-1697-1872CB238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8120385"/>
              </p:ext>
            </p:extLst>
          </p:nvPr>
        </p:nvGraphicFramePr>
        <p:xfrm>
          <a:off x="916277" y="2262066"/>
          <a:ext cx="38544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860640" imgH="406080" progId="Equation.3">
                  <p:embed/>
                </p:oleObj>
              </mc:Choice>
              <mc:Fallback>
                <p:oleObj name="公式" r:id="rId6" imgW="3860640" imgH="406080" progId="Equation.3">
                  <p:embed/>
                  <p:pic>
                    <p:nvPicPr>
                      <p:cNvPr id="730115" name="Object 3">
                        <a:extLst>
                          <a:ext uri="{FF2B5EF4-FFF2-40B4-BE49-F238E27FC236}">
                            <a16:creationId xmlns:a16="http://schemas.microsoft.com/office/drawing/2014/main" id="{7E87F5B3-BB13-7911-72AA-93C5BC9BB04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277" y="2262066"/>
                        <a:ext cx="38544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">
            <a:extLst>
              <a:ext uri="{FF2B5EF4-FFF2-40B4-BE49-F238E27FC236}">
                <a16:creationId xmlns:a16="http://schemas.microsoft.com/office/drawing/2014/main" id="{A95E578F-A984-AAD3-B079-502564678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152" y="2236666"/>
            <a:ext cx="3287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00000"/>
              </a:lnSpc>
              <a:buClrTx/>
              <a:buFontTx/>
              <a:buNone/>
            </a:pPr>
            <a:r>
              <a:rPr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──</a:t>
            </a:r>
            <a:r>
              <a:rPr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质点动量矩守恒</a:t>
            </a:r>
          </a:p>
        </p:txBody>
      </p:sp>
      <p:sp>
        <p:nvSpPr>
          <p:cNvPr id="10" name="Text Box 19">
            <a:extLst>
              <a:ext uri="{FF2B5EF4-FFF2-40B4-BE49-F238E27FC236}">
                <a16:creationId xmlns:a16="http://schemas.microsoft.com/office/drawing/2014/main" id="{84C1DE21-BEE6-554C-E51B-6D68BA4B8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639" y="3008823"/>
            <a:ext cx="3744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dirty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质点系的动量矩</a:t>
            </a:r>
          </a:p>
        </p:txBody>
      </p: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79628D2D-B385-F7B0-67A1-D97BD404C0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3284905"/>
              </p:ext>
            </p:extLst>
          </p:nvPr>
        </p:nvGraphicFramePr>
        <p:xfrm>
          <a:off x="3583854" y="3005320"/>
          <a:ext cx="20558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36760" imgH="495000" progId="Equation.3">
                  <p:embed/>
                </p:oleObj>
              </mc:Choice>
              <mc:Fallback>
                <p:oleObj name="公式" r:id="rId8" imgW="2336760" imgH="495000" progId="Equation.3">
                  <p:embed/>
                  <p:pic>
                    <p:nvPicPr>
                      <p:cNvPr id="790539" name="Object 11">
                        <a:extLst>
                          <a:ext uri="{FF2B5EF4-FFF2-40B4-BE49-F238E27FC236}">
                            <a16:creationId xmlns:a16="http://schemas.microsoft.com/office/drawing/2014/main" id="{CFC8EAB4-172E-B1EB-C7A5-CFE101606F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3854" y="3005320"/>
                        <a:ext cx="2055812" cy="4349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AEE2C924-63D5-16EF-20C1-2D61657094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8575020"/>
              </p:ext>
            </p:extLst>
          </p:nvPr>
        </p:nvGraphicFramePr>
        <p:xfrm>
          <a:off x="1543916" y="3646769"/>
          <a:ext cx="20224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98600" imgH="495000" progId="Equation.3">
                  <p:embed/>
                </p:oleObj>
              </mc:Choice>
              <mc:Fallback>
                <p:oleObj name="公式" r:id="rId10" imgW="2298600" imgH="495000" progId="Equation.3">
                  <p:embed/>
                  <p:pic>
                    <p:nvPicPr>
                      <p:cNvPr id="790540" name="Object 12">
                        <a:extLst>
                          <a:ext uri="{FF2B5EF4-FFF2-40B4-BE49-F238E27FC236}">
                            <a16:creationId xmlns:a16="http://schemas.microsoft.com/office/drawing/2014/main" id="{725E5757-32EE-C5CC-6DED-3038298E2E2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916" y="3646769"/>
                        <a:ext cx="20224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1CD077B7-8A51-A820-24AE-8619694C05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3942795"/>
              </p:ext>
            </p:extLst>
          </p:nvPr>
        </p:nvGraphicFramePr>
        <p:xfrm>
          <a:off x="4857028" y="3637244"/>
          <a:ext cx="259238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946240" imgH="507960" progId="Equation.3">
                  <p:embed/>
                </p:oleObj>
              </mc:Choice>
              <mc:Fallback>
                <p:oleObj name="公式" r:id="rId12" imgW="2946240" imgH="507960" progId="Equation.3">
                  <p:embed/>
                  <p:pic>
                    <p:nvPicPr>
                      <p:cNvPr id="790541" name="Object 13">
                        <a:extLst>
                          <a:ext uri="{FF2B5EF4-FFF2-40B4-BE49-F238E27FC236}">
                            <a16:creationId xmlns:a16="http://schemas.microsoft.com/office/drawing/2014/main" id="{31946C97-919D-C209-7EC9-CA6BDBB0FB8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028" y="3637244"/>
                        <a:ext cx="2592388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9">
            <a:extLst>
              <a:ext uri="{FF2B5EF4-FFF2-40B4-BE49-F238E27FC236}">
                <a16:creationId xmlns:a16="http://schemas.microsoft.com/office/drawing/2014/main" id="{C2933037-5F46-719A-706B-DA4FB797F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489" y="4163849"/>
            <a:ext cx="5080000" cy="49314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3.</a:t>
            </a:r>
            <a:r>
              <a:rPr lang="zh-CN" altLang="en-US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刚体绕定轴转动的角动量</a:t>
            </a:r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EF73929F-93CA-6CF2-0A2E-C9DAB8972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914" y="4656997"/>
            <a:ext cx="2882900" cy="5127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(1) 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刚体的角动量</a:t>
            </a:r>
          </a:p>
        </p:txBody>
      </p:sp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5AE1B793-CDA7-2592-2C9E-ADDF3EDCD6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586482"/>
              </p:ext>
            </p:extLst>
          </p:nvPr>
        </p:nvGraphicFramePr>
        <p:xfrm>
          <a:off x="3788064" y="4803047"/>
          <a:ext cx="901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901440" imgH="279360" progId="Equation.3">
                  <p:embed/>
                </p:oleObj>
              </mc:Choice>
              <mc:Fallback>
                <p:oleObj name="公式" r:id="rId14" imgW="901440" imgH="279360" progId="Equation.3">
                  <p:embed/>
                  <p:pic>
                    <p:nvPicPr>
                      <p:cNvPr id="27" name="Object 11">
                        <a:extLst>
                          <a:ext uri="{FF2B5EF4-FFF2-40B4-BE49-F238E27FC236}">
                            <a16:creationId xmlns:a16="http://schemas.microsoft.com/office/drawing/2014/main" id="{5AE1B793-CDA7-2592-2C9E-ADDF3EDCD6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8064" y="4803047"/>
                        <a:ext cx="9017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2">
            <a:extLst>
              <a:ext uri="{FF2B5EF4-FFF2-40B4-BE49-F238E27FC236}">
                <a16:creationId xmlns:a16="http://schemas.microsoft.com/office/drawing/2014/main" id="{5E0A2388-E973-FBE0-B0C2-51BE0EBE3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451" y="5349147"/>
            <a:ext cx="3441700" cy="5127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(2) 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刚体的角动量定理</a:t>
            </a:r>
          </a:p>
        </p:txBody>
      </p:sp>
      <p:graphicFrame>
        <p:nvGraphicFramePr>
          <p:cNvPr id="29" name="Object 9">
            <a:extLst>
              <a:ext uri="{FF2B5EF4-FFF2-40B4-BE49-F238E27FC236}">
                <a16:creationId xmlns:a16="http://schemas.microsoft.com/office/drawing/2014/main" id="{DDC9C5E1-C8BD-C639-85B9-85CA1CC538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789946"/>
              </p:ext>
            </p:extLst>
          </p:nvPr>
        </p:nvGraphicFramePr>
        <p:xfrm>
          <a:off x="4030951" y="5184047"/>
          <a:ext cx="15478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549080" imgH="723600" progId="Equation.3">
                  <p:embed/>
                </p:oleObj>
              </mc:Choice>
              <mc:Fallback>
                <p:oleObj name="公式" r:id="rId16" imgW="1549080" imgH="723600" progId="Equation.3">
                  <p:embed/>
                  <p:pic>
                    <p:nvPicPr>
                      <p:cNvPr id="29" name="Object 9">
                        <a:extLst>
                          <a:ext uri="{FF2B5EF4-FFF2-40B4-BE49-F238E27FC236}">
                            <a16:creationId xmlns:a16="http://schemas.microsoft.com/office/drawing/2014/main" id="{DDC9C5E1-C8BD-C639-85B9-85CA1CC538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951" y="5184047"/>
                        <a:ext cx="1547813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4">
            <a:extLst>
              <a:ext uri="{FF2B5EF4-FFF2-40B4-BE49-F238E27FC236}">
                <a16:creationId xmlns:a16="http://schemas.microsoft.com/office/drawing/2014/main" id="{F2BEF869-5CFF-FE40-ADA7-07844C084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451" y="6004340"/>
            <a:ext cx="3175000" cy="5127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(3) </a:t>
            </a: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角动量守恒定律</a:t>
            </a:r>
          </a:p>
        </p:txBody>
      </p:sp>
      <p:sp>
        <p:nvSpPr>
          <p:cNvPr id="31" name="Text Box 15">
            <a:extLst>
              <a:ext uri="{FF2B5EF4-FFF2-40B4-BE49-F238E27FC236}">
                <a16:creationId xmlns:a16="http://schemas.microsoft.com/office/drawing/2014/main" id="{DAC9D8B2-6D92-E322-07C7-3B18D2186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4714" y="5985289"/>
            <a:ext cx="2877560" cy="4979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当             时，</a:t>
            </a:r>
          </a:p>
        </p:txBody>
      </p:sp>
      <p:graphicFrame>
        <p:nvGraphicFramePr>
          <p:cNvPr id="32" name="Object 16">
            <a:extLst>
              <a:ext uri="{FF2B5EF4-FFF2-40B4-BE49-F238E27FC236}">
                <a16:creationId xmlns:a16="http://schemas.microsoft.com/office/drawing/2014/main" id="{A99AD809-EF0C-CF3C-9EBB-F334EBFB2F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012651"/>
              </p:ext>
            </p:extLst>
          </p:nvPr>
        </p:nvGraphicFramePr>
        <p:xfrm>
          <a:off x="4240502" y="6156739"/>
          <a:ext cx="800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799920" imgH="279360" progId="Equation.3">
                  <p:embed/>
                </p:oleObj>
              </mc:Choice>
              <mc:Fallback>
                <p:oleObj name="公式" r:id="rId18" imgW="799920" imgH="279360" progId="Equation.3">
                  <p:embed/>
                  <p:pic>
                    <p:nvPicPr>
                      <p:cNvPr id="32" name="Object 16">
                        <a:extLst>
                          <a:ext uri="{FF2B5EF4-FFF2-40B4-BE49-F238E27FC236}">
                            <a16:creationId xmlns:a16="http://schemas.microsoft.com/office/drawing/2014/main" id="{A99AD809-EF0C-CF3C-9EBB-F334EBFB2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502" y="6156739"/>
                        <a:ext cx="8001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1">
            <a:extLst>
              <a:ext uri="{FF2B5EF4-FFF2-40B4-BE49-F238E27FC236}">
                <a16:creationId xmlns:a16="http://schemas.microsoft.com/office/drawing/2014/main" id="{C5270216-30F1-A41E-0076-9AFF507386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652411"/>
              </p:ext>
            </p:extLst>
          </p:nvPr>
        </p:nvGraphicFramePr>
        <p:xfrm>
          <a:off x="6248689" y="6131339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647640" imgH="279360" progId="Equation.3">
                  <p:embed/>
                </p:oleObj>
              </mc:Choice>
              <mc:Fallback>
                <p:oleObj name="公式" r:id="rId20" imgW="647640" imgH="279360" progId="Equation.3">
                  <p:embed/>
                  <p:pic>
                    <p:nvPicPr>
                      <p:cNvPr id="33" name="Object 11">
                        <a:extLst>
                          <a:ext uri="{FF2B5EF4-FFF2-40B4-BE49-F238E27FC236}">
                            <a16:creationId xmlns:a16="http://schemas.microsoft.com/office/drawing/2014/main" id="{C5270216-30F1-A41E-0076-9AFF507386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689" y="6131339"/>
                        <a:ext cx="6477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8">
            <a:extLst>
              <a:ext uri="{FF2B5EF4-FFF2-40B4-BE49-F238E27FC236}">
                <a16:creationId xmlns:a16="http://schemas.microsoft.com/office/drawing/2014/main" id="{7B9CDAEB-3FDA-0241-4A9A-C9B88905E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114" y="5972589"/>
            <a:ext cx="10668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常量</a:t>
            </a:r>
          </a:p>
        </p:txBody>
      </p:sp>
    </p:spTree>
    <p:extLst>
      <p:ext uri="{BB962C8B-B14F-4D97-AF65-F5344CB8AC3E}">
        <p14:creationId xmlns:p14="http://schemas.microsoft.com/office/powerpoint/2010/main" val="6936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 autoUpdateAnimBg="0"/>
      <p:bldP spid="9" grpId="0" autoUpdateAnimBg="0"/>
      <p:bldP spid="10" grpId="0"/>
      <p:bldP spid="25" grpId="0"/>
      <p:bldP spid="26" grpId="0"/>
      <p:bldP spid="28" grpId="0"/>
      <p:bldP spid="30" grpId="0"/>
      <p:bldP spid="31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Rectangle 2">
            <a:extLst>
              <a:ext uri="{FF2B5EF4-FFF2-40B4-BE49-F238E27FC236}">
                <a16:creationId xmlns:a16="http://schemas.microsoft.com/office/drawing/2014/main" id="{E9F54AEB-25F7-AF4A-ABF5-17BF3997D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04813"/>
            <a:ext cx="59277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25000"/>
              </a:lnSpc>
              <a:buClrTx/>
              <a:buFontTx/>
              <a:buNone/>
            </a:pPr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zh-CN" altLang="en-US">
                <a:solidFill>
                  <a:srgbClr val="99CC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一均质棒，长度为 </a:t>
            </a:r>
            <a:r>
              <a:rPr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，质量为</a:t>
            </a:r>
            <a:r>
              <a:rPr lang="en-US" altLang="zh-CN" i="1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，现有一子弹在距轴为</a:t>
            </a: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处水平射入细棒，子弹的质量为 </a:t>
            </a:r>
            <a:r>
              <a:rPr lang="en-US" altLang="zh-CN" i="1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速度为 </a:t>
            </a:r>
            <a:r>
              <a:rPr lang="en-US" altLang="zh-CN" i="1">
                <a:solidFill>
                  <a:srgbClr val="FF99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>
                <a:solidFill>
                  <a:srgbClr val="FF99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0</a:t>
            </a:r>
            <a:r>
              <a:rPr lang="en-US" altLang="zh-CN" i="1">
                <a:solidFill>
                  <a:srgbClr val="FF99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107" name="Rectangle 3">
            <a:extLst>
              <a:ext uri="{FF2B5EF4-FFF2-40B4-BE49-F238E27FC236}">
                <a16:creationId xmlns:a16="http://schemas.microsoft.com/office/drawing/2014/main" id="{1779629A-E41D-7B4A-D0ED-348E7BE21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63738"/>
            <a:ext cx="4375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00000"/>
              </a:lnSpc>
              <a:buClrTx/>
              <a:buFontTx/>
              <a:buNone/>
            </a:pPr>
            <a:r>
              <a:rPr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 子弹细棒共同的角速度 </a:t>
            </a:r>
            <a:r>
              <a:rPr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108" name="Rectangle 4">
            <a:extLst>
              <a:ext uri="{FF2B5EF4-FFF2-40B4-BE49-F238E27FC236}">
                <a16:creationId xmlns:a16="http://schemas.microsoft.com/office/drawing/2014/main" id="{10A300FB-4B1F-E71E-3E38-EA00A02F6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25431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00000"/>
              </a:lnSpc>
              <a:buClrTx/>
              <a:buFontTx/>
              <a:buNone/>
            </a:pPr>
            <a:r>
              <a:rPr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801797" name="Object 5">
            <a:extLst>
              <a:ext uri="{FF2B5EF4-FFF2-40B4-BE49-F238E27FC236}">
                <a16:creationId xmlns:a16="http://schemas.microsoft.com/office/drawing/2014/main" id="{091FC44C-DE7E-B1B8-38C2-6D4ED72C75BB}"/>
              </a:ext>
            </a:extLst>
          </p:cNvPr>
          <p:cNvGraphicFramePr>
            <a:graphicFrameLocks/>
          </p:cNvGraphicFramePr>
          <p:nvPr/>
        </p:nvGraphicFramePr>
        <p:xfrm>
          <a:off x="1654175" y="3201988"/>
          <a:ext cx="92233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25480" imgH="431640" progId="Equation.3">
                  <p:embed/>
                </p:oleObj>
              </mc:Choice>
              <mc:Fallback>
                <p:oleObj name="公式" r:id="rId2" imgW="825480" imgH="43164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3201988"/>
                        <a:ext cx="92233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1798" name="Rectangle 6">
            <a:extLst>
              <a:ext uri="{FF2B5EF4-FFF2-40B4-BE49-F238E27FC236}">
                <a16:creationId xmlns:a16="http://schemas.microsoft.com/office/drawing/2014/main" id="{278DC288-7ECB-6B48-959D-3D43ECA28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3868738"/>
            <a:ext cx="2459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00000"/>
              </a:lnSpc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其中</a:t>
            </a:r>
            <a:endParaRPr lang="zh-CN" altLang="en-US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110" name="Group 7">
            <a:extLst>
              <a:ext uri="{FF2B5EF4-FFF2-40B4-BE49-F238E27FC236}">
                <a16:creationId xmlns:a16="http://schemas.microsoft.com/office/drawing/2014/main" id="{E092763B-717B-5F0A-4953-243328003E55}"/>
              </a:ext>
            </a:extLst>
          </p:cNvPr>
          <p:cNvGrpSpPr>
            <a:grpSpLocks/>
          </p:cNvGrpSpPr>
          <p:nvPr/>
        </p:nvGrpSpPr>
        <p:grpSpPr bwMode="auto">
          <a:xfrm>
            <a:off x="6516688" y="549275"/>
            <a:ext cx="1828800" cy="2743200"/>
            <a:chOff x="4320" y="336"/>
            <a:chExt cx="1152" cy="1728"/>
          </a:xfrm>
        </p:grpSpPr>
        <p:sp>
          <p:nvSpPr>
            <p:cNvPr id="801800" name="Line 8">
              <a:extLst>
                <a:ext uri="{FF2B5EF4-FFF2-40B4-BE49-F238E27FC236}">
                  <a16:creationId xmlns:a16="http://schemas.microsoft.com/office/drawing/2014/main" id="{E0D8B417-5B1E-ECEB-A6FD-278E6A821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36"/>
              <a:ext cx="1152" cy="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01801" name="Rectangle 9">
              <a:extLst>
                <a:ext uri="{FF2B5EF4-FFF2-40B4-BE49-F238E27FC236}">
                  <a16:creationId xmlns:a16="http://schemas.microsoft.com/office/drawing/2014/main" id="{9EE0B21A-66EF-1367-34D4-8601D7230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480"/>
              <a:ext cx="144" cy="15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01802" name="AutoShape 10">
              <a:extLst>
                <a:ext uri="{FF2B5EF4-FFF2-40B4-BE49-F238E27FC236}">
                  <a16:creationId xmlns:a16="http://schemas.microsoft.com/office/drawing/2014/main" id="{B56F15F5-7076-58B3-6211-7B13ED7510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688603">
              <a:off x="4800" y="336"/>
              <a:ext cx="144" cy="240"/>
            </a:xfrm>
            <a:prstGeom prst="triangle">
              <a:avLst>
                <a:gd name="adj" fmla="val 5000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B610E21C-A5E9-1CBC-08CD-7B58F2F09247}"/>
              </a:ext>
            </a:extLst>
          </p:cNvPr>
          <p:cNvGrpSpPr>
            <a:grpSpLocks/>
          </p:cNvGrpSpPr>
          <p:nvPr/>
        </p:nvGrpSpPr>
        <p:grpSpPr bwMode="auto">
          <a:xfrm>
            <a:off x="7354888" y="854075"/>
            <a:ext cx="1138237" cy="487363"/>
            <a:chOff x="4633" y="538"/>
            <a:chExt cx="717" cy="307"/>
          </a:xfrm>
        </p:grpSpPr>
        <p:sp>
          <p:nvSpPr>
            <p:cNvPr id="801804" name="Line 12">
              <a:extLst>
                <a:ext uri="{FF2B5EF4-FFF2-40B4-BE49-F238E27FC236}">
                  <a16:creationId xmlns:a16="http://schemas.microsoft.com/office/drawing/2014/main" id="{2F8F9874-8D98-DA65-CF39-AB3A44DA77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3" y="538"/>
              <a:ext cx="480" cy="0"/>
            </a:xfrm>
            <a:prstGeom prst="line">
              <a:avLst/>
            </a:prstGeom>
            <a:noFill/>
            <a:ln w="57150">
              <a:solidFill>
                <a:srgbClr val="FF6699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4105" name="Object 13">
              <a:extLst>
                <a:ext uri="{FF2B5EF4-FFF2-40B4-BE49-F238E27FC236}">
                  <a16:creationId xmlns:a16="http://schemas.microsoft.com/office/drawing/2014/main" id="{E3927309-5AA8-AD57-2F12-390E8944DC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7" y="538"/>
            <a:ext cx="333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15640" imgH="228600" progId="Equation.3">
                    <p:embed/>
                  </p:oleObj>
                </mc:Choice>
                <mc:Fallback>
                  <p:oleObj name="Equation" r:id="rId4" imgW="215640" imgH="2286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7" y="538"/>
                          <a:ext cx="333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01806" name="Line 14">
            <a:extLst>
              <a:ext uri="{FF2B5EF4-FFF2-40B4-BE49-F238E27FC236}">
                <a16:creationId xmlns:a16="http://schemas.microsoft.com/office/drawing/2014/main" id="{E7F6E5A0-4137-E112-D923-A3FB0FF8E9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588" y="2851150"/>
            <a:ext cx="479425" cy="0"/>
          </a:xfrm>
          <a:prstGeom prst="line">
            <a:avLst/>
          </a:prstGeom>
          <a:noFill/>
          <a:ln w="50800">
            <a:solidFill>
              <a:srgbClr val="FF6699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01807" name="Line 15">
            <a:extLst>
              <a:ext uri="{FF2B5EF4-FFF2-40B4-BE49-F238E27FC236}">
                <a16:creationId xmlns:a16="http://schemas.microsoft.com/office/drawing/2014/main" id="{4158E53C-351B-3660-69BD-B099755483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6688" y="854075"/>
            <a:ext cx="914400" cy="0"/>
          </a:xfrm>
          <a:prstGeom prst="line">
            <a:avLst/>
          </a:prstGeom>
          <a:noFill/>
          <a:ln w="22225">
            <a:solidFill>
              <a:schemeClr val="bg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01808" name="Line 16">
            <a:extLst>
              <a:ext uri="{FF2B5EF4-FFF2-40B4-BE49-F238E27FC236}">
                <a16:creationId xmlns:a16="http://schemas.microsoft.com/office/drawing/2014/main" id="{74EA6B59-46E6-81F9-371F-36FCBAAFFA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9925" y="854075"/>
            <a:ext cx="0" cy="198120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099" name="Object 17">
            <a:extLst>
              <a:ext uri="{FF2B5EF4-FFF2-40B4-BE49-F238E27FC236}">
                <a16:creationId xmlns:a16="http://schemas.microsoft.com/office/drawing/2014/main" id="{7634628D-63CA-FBCD-C0D2-A35B25DD4A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4488" y="1566863"/>
          <a:ext cx="254000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1200" imgH="304560" progId="Equation.3">
                  <p:embed/>
                </p:oleObj>
              </mc:Choice>
              <mc:Fallback>
                <p:oleObj name="公式" r:id="rId6" imgW="241200" imgH="30456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4488" y="1566863"/>
                        <a:ext cx="254000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18">
            <a:extLst>
              <a:ext uri="{FF2B5EF4-FFF2-40B4-BE49-F238E27FC236}">
                <a16:creationId xmlns:a16="http://schemas.microsoft.com/office/drawing/2014/main" id="{D62A477B-2914-2FB5-2EB9-48B72800DC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0038" y="2419350"/>
          <a:ext cx="227012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7160" imgH="431640" progId="Equation.3">
                  <p:embed/>
                </p:oleObj>
              </mc:Choice>
              <mc:Fallback>
                <p:oleObj name="公式" r:id="rId8" imgW="317160" imgH="431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038" y="2419350"/>
                        <a:ext cx="227012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1811" name="Oval 19">
            <a:extLst>
              <a:ext uri="{FF2B5EF4-FFF2-40B4-BE49-F238E27FC236}">
                <a16:creationId xmlns:a16="http://schemas.microsoft.com/office/drawing/2014/main" id="{8A643C1D-F282-1F5E-39C3-187EE0BBB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765175"/>
            <a:ext cx="152400" cy="152400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Group 20">
            <a:extLst>
              <a:ext uri="{FF2B5EF4-FFF2-40B4-BE49-F238E27FC236}">
                <a16:creationId xmlns:a16="http://schemas.microsoft.com/office/drawing/2014/main" id="{D6B733EC-F3E6-65D2-C702-E288908CEF13}"/>
              </a:ext>
            </a:extLst>
          </p:cNvPr>
          <p:cNvGrpSpPr>
            <a:grpSpLocks/>
          </p:cNvGrpSpPr>
          <p:nvPr/>
        </p:nvGrpSpPr>
        <p:grpSpPr bwMode="auto">
          <a:xfrm>
            <a:off x="6229350" y="2779713"/>
            <a:ext cx="503238" cy="144462"/>
            <a:chOff x="3606" y="2296"/>
            <a:chExt cx="408" cy="137"/>
          </a:xfrm>
        </p:grpSpPr>
        <p:sp>
          <p:nvSpPr>
            <p:cNvPr id="801813" name="AutoShape 21">
              <a:extLst>
                <a:ext uri="{FF2B5EF4-FFF2-40B4-BE49-F238E27FC236}">
                  <a16:creationId xmlns:a16="http://schemas.microsoft.com/office/drawing/2014/main" id="{5198F384-532C-A2E4-F0F9-5B53A74F4E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H="1">
              <a:off x="3855" y="2274"/>
              <a:ext cx="137" cy="181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FF9966"/>
                </a:gs>
                <a:gs pos="50000">
                  <a:srgbClr val="FFFF00"/>
                </a:gs>
                <a:gs pos="100000">
                  <a:srgbClr val="FF9966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01814" name="Rectangle 22">
              <a:extLst>
                <a:ext uri="{FF2B5EF4-FFF2-40B4-BE49-F238E27FC236}">
                  <a16:creationId xmlns:a16="http://schemas.microsoft.com/office/drawing/2014/main" id="{726A1368-420A-5D5E-7460-E2C08852B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2296"/>
              <a:ext cx="227" cy="135"/>
            </a:xfrm>
            <a:prstGeom prst="rect">
              <a:avLst/>
            </a:prstGeom>
            <a:gradFill rotWithShape="1">
              <a:gsLst>
                <a:gs pos="0">
                  <a:srgbClr val="FF9966"/>
                </a:gs>
                <a:gs pos="50000">
                  <a:srgbClr val="FFFF00"/>
                </a:gs>
                <a:gs pos="100000">
                  <a:srgbClr val="FF9966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117" name="Text Box 23">
            <a:extLst>
              <a:ext uri="{FF2B5EF4-FFF2-40B4-BE49-F238E27FC236}">
                <a16:creationId xmlns:a16="http://schemas.microsoft.com/office/drawing/2014/main" id="{9E3CF75D-4511-3E09-72DD-51BD8E41F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7988" y="290195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000" b="0" i="1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graphicFrame>
        <p:nvGraphicFramePr>
          <p:cNvPr id="801816" name="Object 24">
            <a:extLst>
              <a:ext uri="{FF2B5EF4-FFF2-40B4-BE49-F238E27FC236}">
                <a16:creationId xmlns:a16="http://schemas.microsoft.com/office/drawing/2014/main" id="{B179DE83-1884-0021-2F6F-95523251B442}"/>
              </a:ext>
            </a:extLst>
          </p:cNvPr>
          <p:cNvGraphicFramePr>
            <a:graphicFrameLocks/>
          </p:cNvGraphicFramePr>
          <p:nvPr/>
        </p:nvGraphicFramePr>
        <p:xfrm>
          <a:off x="1416050" y="3741738"/>
          <a:ext cx="390525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911400" imgH="825480" progId="Equation.3">
                  <p:embed/>
                </p:oleObj>
              </mc:Choice>
              <mc:Fallback>
                <p:oleObj name="公式" r:id="rId10" imgW="3911400" imgH="825480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3741738"/>
                        <a:ext cx="3905250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17" name="Object 25">
            <a:extLst>
              <a:ext uri="{FF2B5EF4-FFF2-40B4-BE49-F238E27FC236}">
                <a16:creationId xmlns:a16="http://schemas.microsoft.com/office/drawing/2014/main" id="{DDAEBC6F-E7B4-2353-8F02-BB5C19AEB255}"/>
              </a:ext>
            </a:extLst>
          </p:cNvPr>
          <p:cNvGraphicFramePr>
            <a:graphicFrameLocks/>
          </p:cNvGraphicFramePr>
          <p:nvPr/>
        </p:nvGraphicFramePr>
        <p:xfrm>
          <a:off x="5626100" y="3711575"/>
          <a:ext cx="30257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05040" imgH="1269720" progId="Equation.3">
                  <p:embed/>
                </p:oleObj>
              </mc:Choice>
              <mc:Fallback>
                <p:oleObj name="公式" r:id="rId12" imgW="2705040" imgH="1269720" progId="Equation.3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0" y="3711575"/>
                        <a:ext cx="3025775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1818" name="Text Box 26">
            <a:extLst>
              <a:ext uri="{FF2B5EF4-FFF2-40B4-BE49-F238E27FC236}">
                <a16:creationId xmlns:a16="http://schemas.microsoft.com/office/drawing/2014/main" id="{0141D12B-ED9C-EFF5-AB57-F2CCD82E3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5032375"/>
            <a:ext cx="404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讨论      </a:t>
            </a:r>
            <a:r>
              <a:rPr kumimoji="1" lang="zh-CN" altLang="en-US">
                <a:solidFill>
                  <a:srgbClr val="66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水平方向</a:t>
            </a:r>
            <a:r>
              <a:rPr lang="zh-CN" altLang="en-US">
                <a:solidFill>
                  <a:srgbClr val="66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动量守恒</a:t>
            </a:r>
          </a:p>
        </p:txBody>
      </p:sp>
      <p:sp>
        <p:nvSpPr>
          <p:cNvPr id="801819" name="Rectangle 27">
            <a:extLst>
              <a:ext uri="{FF2B5EF4-FFF2-40B4-BE49-F238E27FC236}">
                <a16:creationId xmlns:a16="http://schemas.microsoft.com/office/drawing/2014/main" id="{16F6F1B4-5AD2-6426-90BF-32F29B709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2505075"/>
            <a:ext cx="534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子弹、细棒系统的动量矩守恒</a:t>
            </a:r>
          </a:p>
        </p:txBody>
      </p:sp>
      <p:sp>
        <p:nvSpPr>
          <p:cNvPr id="801820" name="WordArt 28">
            <a:hlinkClick r:id="" action="ppaction://noaction"/>
            <a:extLst>
              <a:ext uri="{FF2B5EF4-FFF2-40B4-BE49-F238E27FC236}">
                <a16:creationId xmlns:a16="http://schemas.microsoft.com/office/drawing/2014/main" id="{EF536596-7D2D-215E-02B8-CC032235153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84650" y="4772025"/>
            <a:ext cx="457200" cy="863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buFont typeface="Monotype Sorts" pitchFamily="2" charset="2"/>
              <a:buNone/>
            </a:pPr>
            <a:r>
              <a:rPr lang="zh-CN" altLang="en-US" sz="3600" kern="10">
                <a:ln w="9525">
                  <a:solidFill>
                    <a:srgbClr val="66FFFF"/>
                  </a:solidFill>
                  <a:round/>
                  <a:headEnd/>
                  <a:tailEnd/>
                </a:ln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801821" name="WordArt 29">
            <a:extLst>
              <a:ext uri="{FF2B5EF4-FFF2-40B4-BE49-F238E27FC236}">
                <a16:creationId xmlns:a16="http://schemas.microsoft.com/office/drawing/2014/main" id="{E259B305-191A-B4E1-97C7-15FB1D03886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197725" y="5092700"/>
            <a:ext cx="2159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buFont typeface="Monotype Sorts" pitchFamily="2" charset="2"/>
              <a:buNone/>
            </a:pPr>
            <a:r>
              <a:rPr lang="zh-CN" altLang="en-US" sz="3600" kern="10">
                <a:ln w="9525">
                  <a:solidFill>
                    <a:srgbClr val="FF0066"/>
                  </a:solidFill>
                  <a:round/>
                  <a:headEnd/>
                  <a:tailEnd/>
                </a:ln>
                <a:solidFill>
                  <a:srgbClr val="FF99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801822" name="Line 30">
            <a:extLst>
              <a:ext uri="{FF2B5EF4-FFF2-40B4-BE49-F238E27FC236}">
                <a16:creationId xmlns:a16="http://schemas.microsoft.com/office/drawing/2014/main" id="{FC3B72F2-AAB3-F316-A0D1-41207AB3C8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29175" y="5214938"/>
            <a:ext cx="1150938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31">
            <a:extLst>
              <a:ext uri="{FF2B5EF4-FFF2-40B4-BE49-F238E27FC236}">
                <a16:creationId xmlns:a16="http://schemas.microsoft.com/office/drawing/2014/main" id="{74D8E708-F2A9-D953-FF58-3D52E66B5B19}"/>
              </a:ext>
            </a:extLst>
          </p:cNvPr>
          <p:cNvGrpSpPr>
            <a:grpSpLocks/>
          </p:cNvGrpSpPr>
          <p:nvPr/>
        </p:nvGrpSpPr>
        <p:grpSpPr bwMode="auto">
          <a:xfrm>
            <a:off x="6389688" y="4949825"/>
            <a:ext cx="1658937" cy="519113"/>
            <a:chOff x="3831" y="3067"/>
            <a:chExt cx="1045" cy="327"/>
          </a:xfrm>
        </p:grpSpPr>
        <p:graphicFrame>
          <p:nvGraphicFramePr>
            <p:cNvPr id="4104" name="Object 32">
              <a:extLst>
                <a:ext uri="{FF2B5EF4-FFF2-40B4-BE49-F238E27FC236}">
                  <a16:creationId xmlns:a16="http://schemas.microsoft.com/office/drawing/2014/main" id="{52CC83C2-5507-944B-0479-C7515FC1C4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31" y="3108"/>
            <a:ext cx="318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419040" imgH="431640" progId="Equation.3">
                    <p:embed/>
                  </p:oleObj>
                </mc:Choice>
                <mc:Fallback>
                  <p:oleObj name="公式" r:id="rId14" imgW="419040" imgH="43164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1" y="3108"/>
                          <a:ext cx="318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31" name="Group 33">
              <a:extLst>
                <a:ext uri="{FF2B5EF4-FFF2-40B4-BE49-F238E27FC236}">
                  <a16:creationId xmlns:a16="http://schemas.microsoft.com/office/drawing/2014/main" id="{0894571C-1E72-B6FB-9D36-D862E3D37C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0" y="3213"/>
              <a:ext cx="324" cy="91"/>
              <a:chOff x="1202" y="3793"/>
              <a:chExt cx="324" cy="91"/>
            </a:xfrm>
          </p:grpSpPr>
          <p:sp>
            <p:nvSpPr>
              <p:cNvPr id="801826" name="Line 34">
                <a:extLst>
                  <a:ext uri="{FF2B5EF4-FFF2-40B4-BE49-F238E27FC236}">
                    <a16:creationId xmlns:a16="http://schemas.microsoft.com/office/drawing/2014/main" id="{4F7B46B8-2076-D240-B06E-D4ECEBCF28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2" y="3793"/>
                <a:ext cx="317" cy="0"/>
              </a:xfrm>
              <a:prstGeom prst="line">
                <a:avLst/>
              </a:prstGeom>
              <a:noFill/>
              <a:ln w="9525">
                <a:solidFill>
                  <a:srgbClr val="66FF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01827" name="Line 35">
                <a:extLst>
                  <a:ext uri="{FF2B5EF4-FFF2-40B4-BE49-F238E27FC236}">
                    <a16:creationId xmlns:a16="http://schemas.microsoft.com/office/drawing/2014/main" id="{2C2AC049-43DC-2F2D-5074-57DC5A4057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9" y="3884"/>
                <a:ext cx="317" cy="0"/>
              </a:xfrm>
              <a:prstGeom prst="line">
                <a:avLst/>
              </a:prstGeom>
              <a:noFill/>
              <a:ln w="9525">
                <a:solidFill>
                  <a:srgbClr val="66FF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4132" name="Text Box 36">
              <a:extLst>
                <a:ext uri="{FF2B5EF4-FFF2-40B4-BE49-F238E27FC236}">
                  <a16:creationId xmlns:a16="http://schemas.microsoft.com/office/drawing/2014/main" id="{12DB9504-11C8-9C80-880D-DDD9AF215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" y="3067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kumimoji="1" lang="en-US" altLang="zh-CN" sz="2800" b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7" name="Group 37">
            <a:extLst>
              <a:ext uri="{FF2B5EF4-FFF2-40B4-BE49-F238E27FC236}">
                <a16:creationId xmlns:a16="http://schemas.microsoft.com/office/drawing/2014/main" id="{A0B420AB-BA38-A380-C7E0-9566E9BD6BBA}"/>
              </a:ext>
            </a:extLst>
          </p:cNvPr>
          <p:cNvGrpSpPr>
            <a:grpSpLocks/>
          </p:cNvGrpSpPr>
          <p:nvPr/>
        </p:nvGrpSpPr>
        <p:grpSpPr bwMode="auto">
          <a:xfrm>
            <a:off x="7740650" y="2781300"/>
            <a:ext cx="830263" cy="457200"/>
            <a:chOff x="4876" y="1752"/>
            <a:chExt cx="523" cy="288"/>
          </a:xfrm>
        </p:grpSpPr>
        <p:grpSp>
          <p:nvGrpSpPr>
            <p:cNvPr id="4127" name="Group 38">
              <a:extLst>
                <a:ext uri="{FF2B5EF4-FFF2-40B4-BE49-F238E27FC236}">
                  <a16:creationId xmlns:a16="http://schemas.microsoft.com/office/drawing/2014/main" id="{C7F7E578-F0EB-7842-0A8F-96061D6075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6" y="1797"/>
              <a:ext cx="272" cy="182"/>
              <a:chOff x="4876" y="1797"/>
              <a:chExt cx="272" cy="182"/>
            </a:xfrm>
          </p:grpSpPr>
          <p:sp>
            <p:nvSpPr>
              <p:cNvPr id="801831" name="Freeform 39">
                <a:extLst>
                  <a:ext uri="{FF2B5EF4-FFF2-40B4-BE49-F238E27FC236}">
                    <a16:creationId xmlns:a16="http://schemas.microsoft.com/office/drawing/2014/main" id="{03474D74-DE74-0868-1469-FAD41F11C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6" y="1842"/>
                <a:ext cx="227" cy="137"/>
              </a:xfrm>
              <a:custGeom>
                <a:avLst/>
                <a:gdLst/>
                <a:ahLst/>
                <a:cxnLst>
                  <a:cxn ang="0">
                    <a:pos x="0" y="137"/>
                  </a:cxn>
                  <a:cxn ang="0">
                    <a:pos x="227" y="91"/>
                  </a:cxn>
                  <a:cxn ang="0">
                    <a:pos x="363" y="0"/>
                  </a:cxn>
                </a:cxnLst>
                <a:rect l="0" t="0" r="r" b="b"/>
                <a:pathLst>
                  <a:path w="363" h="137">
                    <a:moveTo>
                      <a:pt x="0" y="137"/>
                    </a:moveTo>
                    <a:cubicBezTo>
                      <a:pt x="83" y="125"/>
                      <a:pt x="166" y="114"/>
                      <a:pt x="227" y="91"/>
                    </a:cubicBezTo>
                    <a:cubicBezTo>
                      <a:pt x="288" y="68"/>
                      <a:pt x="340" y="15"/>
                      <a:pt x="363" y="0"/>
                    </a:cubicBezTo>
                  </a:path>
                </a:pathLst>
              </a:custGeom>
              <a:noFill/>
              <a:ln w="38100" cap="flat" cmpd="sng">
                <a:solidFill>
                  <a:schemeClr val="hlink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01832" name="Line 40">
                <a:extLst>
                  <a:ext uri="{FF2B5EF4-FFF2-40B4-BE49-F238E27FC236}">
                    <a16:creationId xmlns:a16="http://schemas.microsoft.com/office/drawing/2014/main" id="{A7776C1B-B3EF-D6CC-CB4D-82BBD1EC8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57" y="1797"/>
                <a:ext cx="91" cy="9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4128" name="Rectangle 41">
              <a:extLst>
                <a:ext uri="{FF2B5EF4-FFF2-40B4-BE49-F238E27FC236}">
                  <a16:creationId xmlns:a16="http://schemas.microsoft.com/office/drawing/2014/main" id="{B45B06EA-9062-096B-59A3-B08CED554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" y="1752"/>
              <a:ext cx="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>
                  <a:solidFill>
                    <a:srgbClr val="66FF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</a:p>
          </p:txBody>
        </p:sp>
      </p:grpSp>
      <p:graphicFrame>
        <p:nvGraphicFramePr>
          <p:cNvPr id="801834" name="Object 42">
            <a:extLst>
              <a:ext uri="{FF2B5EF4-FFF2-40B4-BE49-F238E27FC236}">
                <a16:creationId xmlns:a16="http://schemas.microsoft.com/office/drawing/2014/main" id="{5FA78B09-D8A2-041B-9E91-17986A57962B}"/>
              </a:ext>
            </a:extLst>
          </p:cNvPr>
          <p:cNvGraphicFramePr>
            <a:graphicFrameLocks/>
          </p:cNvGraphicFramePr>
          <p:nvPr/>
        </p:nvGraphicFramePr>
        <p:xfrm>
          <a:off x="2792413" y="3287713"/>
          <a:ext cx="852487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761760" imgH="304560" progId="Equation.3">
                  <p:embed/>
                </p:oleObj>
              </mc:Choice>
              <mc:Fallback>
                <p:oleObj name="公式" r:id="rId16" imgW="761760" imgH="304560" progId="Equation.3">
                  <p:embed/>
                  <p:pic>
                    <p:nvPicPr>
                      <p:cNvPr id="0" name="Object 42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3287713"/>
                        <a:ext cx="852487" cy="27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01835" name="Picture 43" descr="j0293240">
            <a:extLst>
              <a:ext uri="{FF2B5EF4-FFF2-40B4-BE49-F238E27FC236}">
                <a16:creationId xmlns:a16="http://schemas.microsoft.com/office/drawing/2014/main" id="{B3C5CA29-5F5C-E25C-8034-0513CEBFC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813" y="6405563"/>
            <a:ext cx="611187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1839" name="Rectangle 47">
            <a:extLst>
              <a:ext uri="{FF2B5EF4-FFF2-40B4-BE49-F238E27FC236}">
                <a16:creationId xmlns:a16="http://schemas.microsoft.com/office/drawing/2014/main" id="{D276A313-BB8A-64C1-ED5E-D4B77F445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5753100"/>
            <a:ext cx="8332787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zh-CN" altLang="en-US" sz="2200"/>
              <a:t>质点与刚体的碰撞过程满足角动量守恒定律，而不是动量守恒定律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51194E-6 L 0.10643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0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0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0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01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0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01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0" fill="hold"/>
                                        <p:tgtEl>
                                          <p:spTgt spid="801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0" fill="hold"/>
                                        <p:tgtEl>
                                          <p:spTgt spid="801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80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801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01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01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801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1798" grpId="0" autoUpdateAnimBg="0"/>
      <p:bldP spid="801818" grpId="0"/>
      <p:bldP spid="801819" grpId="0"/>
      <p:bldP spid="8018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B5CEF-8864-C96C-30BD-56F09185F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22" name="Object 2">
            <a:extLst>
              <a:ext uri="{FF2B5EF4-FFF2-40B4-BE49-F238E27FC236}">
                <a16:creationId xmlns:a16="http://schemas.microsoft.com/office/drawing/2014/main" id="{7E84EF9A-37AC-64C6-43D0-FBB805C044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2327" y="609600"/>
          <a:ext cx="3159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2802" imgH="220952" progId="Equation.DSMT4">
                  <p:embed/>
                </p:oleObj>
              </mc:Choice>
              <mc:Fallback>
                <p:oleObj name="Equation" r:id="rId2" imgW="1302802" imgH="220952" progId="Equation.DSMT4">
                  <p:embed/>
                  <p:pic>
                    <p:nvPicPr>
                      <p:cNvPr id="440322" name="Object 2">
                        <a:extLst>
                          <a:ext uri="{FF2B5EF4-FFF2-40B4-BE49-F238E27FC236}">
                            <a16:creationId xmlns:a16="http://schemas.microsoft.com/office/drawing/2014/main" id="{79146596-B98A-049B-841E-A649EF7848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327" y="609600"/>
                        <a:ext cx="3159125" cy="60960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23" name="Text Box 3">
            <a:extLst>
              <a:ext uri="{FF2B5EF4-FFF2-40B4-BE49-F238E27FC236}">
                <a16:creationId xmlns:a16="http://schemas.microsoft.com/office/drawing/2014/main" id="{1F4C0064-1CFF-C021-4723-9B3C1D468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927" y="0"/>
            <a:ext cx="64008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刚体绕定轴转动 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——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动量矩守恒定律</a:t>
            </a:r>
            <a:endParaRPr lang="zh-CN" altLang="en-US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440324" name="Text Box 4">
            <a:extLst>
              <a:ext uri="{FF2B5EF4-FFF2-40B4-BE49-F238E27FC236}">
                <a16:creationId xmlns:a16="http://schemas.microsoft.com/office/drawing/2014/main" id="{65064254-F0A7-C9C7-7A00-F936EDE9D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927" y="1309688"/>
            <a:ext cx="67056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质点绕定点转动 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——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动量矩守恒定律</a:t>
            </a:r>
            <a:endParaRPr lang="zh-CN" altLang="en-US">
              <a:solidFill>
                <a:srgbClr val="FFFF00"/>
              </a:solidFill>
              <a:ea typeface="楷体_GB2312" pitchFamily="49" charset="-122"/>
            </a:endParaRPr>
          </a:p>
        </p:txBody>
      </p:sp>
      <p:graphicFrame>
        <p:nvGraphicFramePr>
          <p:cNvPr id="440325" name="Object 3">
            <a:extLst>
              <a:ext uri="{FF2B5EF4-FFF2-40B4-BE49-F238E27FC236}">
                <a16:creationId xmlns:a16="http://schemas.microsoft.com/office/drawing/2014/main" id="{AB98F687-1877-502B-EA54-1DFA008898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4877" y="1917700"/>
          <a:ext cx="491966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01358" imgH="236414" progId="Equation.DSMT4">
                  <p:embed/>
                </p:oleObj>
              </mc:Choice>
              <mc:Fallback>
                <p:oleObj name="Equation" r:id="rId4" imgW="1501358" imgH="236414" progId="Equation.DSMT4">
                  <p:embed/>
                  <p:pic>
                    <p:nvPicPr>
                      <p:cNvPr id="440325" name="Object 3">
                        <a:extLst>
                          <a:ext uri="{FF2B5EF4-FFF2-40B4-BE49-F238E27FC236}">
                            <a16:creationId xmlns:a16="http://schemas.microsoft.com/office/drawing/2014/main" id="{0A43984A-8490-7953-5141-03A33B6D9A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877" y="1917700"/>
                        <a:ext cx="4919663" cy="69215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26" name="AutoShape 6">
            <a:extLst>
              <a:ext uri="{FF2B5EF4-FFF2-40B4-BE49-F238E27FC236}">
                <a16:creationId xmlns:a16="http://schemas.microsoft.com/office/drawing/2014/main" id="{8CCB2E05-A9D7-E98A-05AE-F0764BC4D8D1}"/>
              </a:ext>
            </a:extLst>
          </p:cNvPr>
          <p:cNvSpPr>
            <a:spLocks/>
          </p:cNvSpPr>
          <p:nvPr/>
        </p:nvSpPr>
        <p:spPr bwMode="auto">
          <a:xfrm>
            <a:off x="1734127" y="76200"/>
            <a:ext cx="304800" cy="2438400"/>
          </a:xfrm>
          <a:prstGeom prst="leftBrace">
            <a:avLst>
              <a:gd name="adj1" fmla="val 66667"/>
              <a:gd name="adj2" fmla="val 49449"/>
            </a:avLst>
          </a:prstGeom>
          <a:noFill/>
          <a:ln w="63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sp>
        <p:nvSpPr>
          <p:cNvPr id="440327" name="Text Box 7">
            <a:extLst>
              <a:ext uri="{FF2B5EF4-FFF2-40B4-BE49-F238E27FC236}">
                <a16:creationId xmlns:a16="http://schemas.microsoft.com/office/drawing/2014/main" id="{A55B32B2-D05E-E9EC-D362-3A1EF6DD5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52" y="2819400"/>
            <a:ext cx="9185275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例</a:t>
            </a: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一质量为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m</a:t>
            </a: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的小球，以速度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u</a:t>
            </a: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竖直落到直棒的端点，与棒 </a:t>
            </a:r>
          </a:p>
        </p:txBody>
      </p:sp>
      <p:sp>
        <p:nvSpPr>
          <p:cNvPr id="440328" name="Text Box 8">
            <a:extLst>
              <a:ext uri="{FF2B5EF4-FFF2-40B4-BE49-F238E27FC236}">
                <a16:creationId xmlns:a16="http://schemas.microsoft.com/office/drawing/2014/main" id="{D4D18E93-9D29-2866-A57C-A61854570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27" y="3276600"/>
            <a:ext cx="42672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作完全弹性碰撞，</a:t>
            </a:r>
          </a:p>
        </p:txBody>
      </p:sp>
      <p:sp>
        <p:nvSpPr>
          <p:cNvPr id="440329" name="Text Box 9">
            <a:extLst>
              <a:ext uri="{FF2B5EF4-FFF2-40B4-BE49-F238E27FC236}">
                <a16:creationId xmlns:a16="http://schemas.microsoft.com/office/drawing/2014/main" id="{BBB0E8A0-D7ED-3CA9-FF17-607DAF24E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6127" y="3276600"/>
            <a:ext cx="67818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求小球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回跳速度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和棒绕轴转动的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角速度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？</a:t>
            </a:r>
          </a:p>
        </p:txBody>
      </p:sp>
      <p:sp>
        <p:nvSpPr>
          <p:cNvPr id="440330" name="Rectangle 10">
            <a:extLst>
              <a:ext uri="{FF2B5EF4-FFF2-40B4-BE49-F238E27FC236}">
                <a16:creationId xmlns:a16="http://schemas.microsoft.com/office/drawing/2014/main" id="{75BE0C3A-1504-7BC2-8E16-97EC1B324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527" y="4800600"/>
            <a:ext cx="3276600" cy="152400"/>
          </a:xfrm>
          <a:prstGeom prst="rect">
            <a:avLst/>
          </a:prstGeom>
          <a:gradFill rotWithShape="0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sp>
        <p:nvSpPr>
          <p:cNvPr id="440331" name="Oval 11">
            <a:extLst>
              <a:ext uri="{FF2B5EF4-FFF2-40B4-BE49-F238E27FC236}">
                <a16:creationId xmlns:a16="http://schemas.microsoft.com/office/drawing/2014/main" id="{FA9C18AB-3923-6796-3E8A-C8B298516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5927" y="3886200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sp>
        <p:nvSpPr>
          <p:cNvPr id="440332" name="Line 12">
            <a:extLst>
              <a:ext uri="{FF2B5EF4-FFF2-40B4-BE49-F238E27FC236}">
                <a16:creationId xmlns:a16="http://schemas.microsoft.com/office/drawing/2014/main" id="{1B40437C-D6E7-475C-005A-D06502D67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2127" y="4038600"/>
            <a:ext cx="0" cy="533400"/>
          </a:xfrm>
          <a:prstGeom prst="line">
            <a:avLst/>
          </a:prstGeom>
          <a:noFill/>
          <a:ln w="476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lang="zh-CN" altLang="en-US"/>
          </a:p>
        </p:txBody>
      </p:sp>
      <p:sp>
        <p:nvSpPr>
          <p:cNvPr id="440333" name="Oval 13">
            <a:extLst>
              <a:ext uri="{FF2B5EF4-FFF2-40B4-BE49-F238E27FC236}">
                <a16:creationId xmlns:a16="http://schemas.microsoft.com/office/drawing/2014/main" id="{B32E91BD-D7D5-8EAD-3B89-0E6D549B0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727" y="4800600"/>
            <a:ext cx="152400" cy="15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sp>
        <p:nvSpPr>
          <p:cNvPr id="440334" name="Rectangle 14">
            <a:extLst>
              <a:ext uri="{FF2B5EF4-FFF2-40B4-BE49-F238E27FC236}">
                <a16:creationId xmlns:a16="http://schemas.microsoft.com/office/drawing/2014/main" id="{708A7C15-EFDB-D568-15B5-C99944B56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3527" y="3429000"/>
            <a:ext cx="487634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m</a:t>
            </a:r>
          </a:p>
        </p:txBody>
      </p:sp>
      <p:sp>
        <p:nvSpPr>
          <p:cNvPr id="440335" name="Rectangle 15">
            <a:extLst>
              <a:ext uri="{FF2B5EF4-FFF2-40B4-BE49-F238E27FC236}">
                <a16:creationId xmlns:a16="http://schemas.microsoft.com/office/drawing/2014/main" id="{62CAEE8F-0371-DF47-1945-38F3312A5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927" y="4191000"/>
            <a:ext cx="383438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u</a:t>
            </a:r>
          </a:p>
        </p:txBody>
      </p:sp>
      <p:sp>
        <p:nvSpPr>
          <p:cNvPr id="440336" name="Rectangle 16">
            <a:extLst>
              <a:ext uri="{FF2B5EF4-FFF2-40B4-BE49-F238E27FC236}">
                <a16:creationId xmlns:a16="http://schemas.microsoft.com/office/drawing/2014/main" id="{4257EB69-90D8-A9FC-C059-451C65736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5127" y="4267200"/>
            <a:ext cx="6858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M</a:t>
            </a:r>
          </a:p>
        </p:txBody>
      </p:sp>
      <p:sp>
        <p:nvSpPr>
          <p:cNvPr id="440337" name="Rectangle 17">
            <a:extLst>
              <a:ext uri="{FF2B5EF4-FFF2-40B4-BE49-F238E27FC236}">
                <a16:creationId xmlns:a16="http://schemas.microsoft.com/office/drawing/2014/main" id="{304FD777-D52C-983C-0A4A-7C456685F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7202" y="4267200"/>
            <a:ext cx="6858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en-US" i="1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l</a:t>
            </a:r>
          </a:p>
        </p:txBody>
      </p:sp>
      <p:sp>
        <p:nvSpPr>
          <p:cNvPr id="440338" name="Rectangle 18">
            <a:extLst>
              <a:ext uri="{FF2B5EF4-FFF2-40B4-BE49-F238E27FC236}">
                <a16:creationId xmlns:a16="http://schemas.microsoft.com/office/drawing/2014/main" id="{F9DC161D-0231-BCA9-935C-20CD2E28E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8337" y="4850849"/>
            <a:ext cx="436338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 dirty="0">
                <a:solidFill>
                  <a:srgbClr val="FFFF00"/>
                </a:solidFill>
                <a:ea typeface="楷体_GB2312" pitchFamily="49" charset="-122"/>
              </a:rPr>
              <a:t>O</a:t>
            </a:r>
          </a:p>
        </p:txBody>
      </p:sp>
      <p:sp>
        <p:nvSpPr>
          <p:cNvPr id="440339" name="Text Box 19">
            <a:extLst>
              <a:ext uri="{FF2B5EF4-FFF2-40B4-BE49-F238E27FC236}">
                <a16:creationId xmlns:a16="http://schemas.microsoft.com/office/drawing/2014/main" id="{A973AC37-FC8E-2A7B-0081-6C35DB9A2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127" y="3810000"/>
            <a:ext cx="800219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 i="1">
                <a:solidFill>
                  <a:srgbClr val="00FF00"/>
                </a:solidFill>
                <a:ea typeface="楷体_GB2312" pitchFamily="49" charset="-122"/>
              </a:rPr>
              <a:t>解：</a:t>
            </a:r>
            <a:endParaRPr lang="zh-CN" altLang="en-US" b="0">
              <a:solidFill>
                <a:srgbClr val="00FF00"/>
              </a:solidFill>
              <a:ea typeface="楷体_GB2312" pitchFamily="49" charset="-122"/>
            </a:endParaRPr>
          </a:p>
        </p:txBody>
      </p:sp>
      <p:graphicFrame>
        <p:nvGraphicFramePr>
          <p:cNvPr id="440340" name="Object 4">
            <a:extLst>
              <a:ext uri="{FF2B5EF4-FFF2-40B4-BE49-F238E27FC236}">
                <a16:creationId xmlns:a16="http://schemas.microsoft.com/office/drawing/2014/main" id="{9C2E288F-3193-A530-C18D-F4565065CF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3402" y="3886200"/>
          <a:ext cx="15922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63818" imgH="129679" progId="Equation.DSMT4">
                  <p:embed/>
                </p:oleObj>
              </mc:Choice>
              <mc:Fallback>
                <p:oleObj name="Equation" r:id="rId6" imgW="563818" imgH="129679" progId="Equation.DSMT4">
                  <p:embed/>
                  <p:pic>
                    <p:nvPicPr>
                      <p:cNvPr id="440340" name="Object 4">
                        <a:extLst>
                          <a:ext uri="{FF2B5EF4-FFF2-40B4-BE49-F238E27FC236}">
                            <a16:creationId xmlns:a16="http://schemas.microsoft.com/office/drawing/2014/main" id="{65FC80C0-ED0E-890C-87BF-317ABCB969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402" y="3886200"/>
                        <a:ext cx="159226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41" name="Object 5">
            <a:extLst>
              <a:ext uri="{FF2B5EF4-FFF2-40B4-BE49-F238E27FC236}">
                <a16:creationId xmlns:a16="http://schemas.microsoft.com/office/drawing/2014/main" id="{26B00356-100C-1848-7664-7AB2D7D00F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3327" y="3886200"/>
          <a:ext cx="1371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72253" imgH="129679" progId="Equation.DSMT4">
                  <p:embed/>
                </p:oleObj>
              </mc:Choice>
              <mc:Fallback>
                <p:oleObj name="Equation" r:id="rId8" imgW="472253" imgH="129679" progId="Equation.DSMT4">
                  <p:embed/>
                  <p:pic>
                    <p:nvPicPr>
                      <p:cNvPr id="440341" name="Object 5">
                        <a:extLst>
                          <a:ext uri="{FF2B5EF4-FFF2-40B4-BE49-F238E27FC236}">
                            <a16:creationId xmlns:a16="http://schemas.microsoft.com/office/drawing/2014/main" id="{8DA48EB5-0FF2-0DE2-9125-A4AA483108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3327" y="3886200"/>
                        <a:ext cx="1371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42" name="Object 6">
            <a:extLst>
              <a:ext uri="{FF2B5EF4-FFF2-40B4-BE49-F238E27FC236}">
                <a16:creationId xmlns:a16="http://schemas.microsoft.com/office/drawing/2014/main" id="{2175D2BD-4D28-1D9C-2781-0B9DBFBB93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7327" y="3733800"/>
          <a:ext cx="4238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6493" imgH="167585" progId="Equation.3">
                  <p:embed/>
                </p:oleObj>
              </mc:Choice>
              <mc:Fallback>
                <p:oleObj name="公式" r:id="rId10" imgW="106493" imgH="167585" progId="Equation.3">
                  <p:embed/>
                  <p:pic>
                    <p:nvPicPr>
                      <p:cNvPr id="440342" name="Object 6">
                        <a:extLst>
                          <a:ext uri="{FF2B5EF4-FFF2-40B4-BE49-F238E27FC236}">
                            <a16:creationId xmlns:a16="http://schemas.microsoft.com/office/drawing/2014/main" id="{5790D548-9AA6-C5E7-01C5-B1D1F75B46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7327" y="3733800"/>
                        <a:ext cx="42386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43" name="AutoShape 23">
            <a:extLst>
              <a:ext uri="{FF2B5EF4-FFF2-40B4-BE49-F238E27FC236}">
                <a16:creationId xmlns:a16="http://schemas.microsoft.com/office/drawing/2014/main" id="{F3A390A5-E7E2-7A5E-0B83-60E027F3A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527" y="4191000"/>
            <a:ext cx="304800" cy="609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graphicFrame>
        <p:nvGraphicFramePr>
          <p:cNvPr id="440344" name="Object 7">
            <a:extLst>
              <a:ext uri="{FF2B5EF4-FFF2-40B4-BE49-F238E27FC236}">
                <a16:creationId xmlns:a16="http://schemas.microsoft.com/office/drawing/2014/main" id="{B22A3558-767C-F920-189B-540AAB73CB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127" y="4724400"/>
          <a:ext cx="9144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4196" imgH="167585" progId="Equation.DSMT4">
                  <p:embed/>
                </p:oleObj>
              </mc:Choice>
              <mc:Fallback>
                <p:oleObj name="Equation" r:id="rId12" imgW="274196" imgH="167585" progId="Equation.DSMT4">
                  <p:embed/>
                  <p:pic>
                    <p:nvPicPr>
                      <p:cNvPr id="440344" name="Object 7">
                        <a:extLst>
                          <a:ext uri="{FF2B5EF4-FFF2-40B4-BE49-F238E27FC236}">
                            <a16:creationId xmlns:a16="http://schemas.microsoft.com/office/drawing/2014/main" id="{0C24265A-5A1C-A820-5B26-3883FAFDA4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127" y="4724400"/>
                        <a:ext cx="9144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45" name="Text Box 25">
            <a:extLst>
              <a:ext uri="{FF2B5EF4-FFF2-40B4-BE49-F238E27FC236}">
                <a16:creationId xmlns:a16="http://schemas.microsoft.com/office/drawing/2014/main" id="{15F2C102-B397-B78C-61C0-7B3C2D1D9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27" y="4267200"/>
            <a:ext cx="43434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 i="1">
                <a:solidFill>
                  <a:schemeClr val="hlink"/>
                </a:solidFill>
                <a:ea typeface="楷体_GB2312" pitchFamily="49" charset="-122"/>
              </a:rPr>
              <a:t>碰前、碰后角动量守恒：</a:t>
            </a:r>
          </a:p>
        </p:txBody>
      </p:sp>
      <p:graphicFrame>
        <p:nvGraphicFramePr>
          <p:cNvPr id="440346" name="Object 8">
            <a:extLst>
              <a:ext uri="{FF2B5EF4-FFF2-40B4-BE49-F238E27FC236}">
                <a16:creationId xmlns:a16="http://schemas.microsoft.com/office/drawing/2014/main" id="{013FB86B-FDD7-F1F4-9C00-A1EBDF3BD2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2727" y="4724400"/>
          <a:ext cx="19050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16093" imgH="167585" progId="Equation.DSMT4">
                  <p:embed/>
                </p:oleObj>
              </mc:Choice>
              <mc:Fallback>
                <p:oleObj name="Equation" r:id="rId14" imgW="716093" imgH="167585" progId="Equation.DSMT4">
                  <p:embed/>
                  <p:pic>
                    <p:nvPicPr>
                      <p:cNvPr id="440346" name="Object 8">
                        <a:extLst>
                          <a:ext uri="{FF2B5EF4-FFF2-40B4-BE49-F238E27FC236}">
                            <a16:creationId xmlns:a16="http://schemas.microsoft.com/office/drawing/2014/main" id="{F637871C-A61B-1E7C-59BC-4BDE6EECA4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727" y="4724400"/>
                        <a:ext cx="19050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7">
            <a:extLst>
              <a:ext uri="{FF2B5EF4-FFF2-40B4-BE49-F238E27FC236}">
                <a16:creationId xmlns:a16="http://schemas.microsoft.com/office/drawing/2014/main" id="{378A563A-5BC4-C4C0-5371-F0FC5CAB63E2}"/>
              </a:ext>
            </a:extLst>
          </p:cNvPr>
          <p:cNvGrpSpPr>
            <a:grpSpLocks/>
          </p:cNvGrpSpPr>
          <p:nvPr/>
        </p:nvGrpSpPr>
        <p:grpSpPr bwMode="auto">
          <a:xfrm>
            <a:off x="1429327" y="4953000"/>
            <a:ext cx="381000" cy="76200"/>
            <a:chOff x="1248" y="3504"/>
            <a:chExt cx="336" cy="48"/>
          </a:xfrm>
        </p:grpSpPr>
        <p:sp>
          <p:nvSpPr>
            <p:cNvPr id="9254" name="Line 28">
              <a:extLst>
                <a:ext uri="{FF2B5EF4-FFF2-40B4-BE49-F238E27FC236}">
                  <a16:creationId xmlns:a16="http://schemas.microsoft.com/office/drawing/2014/main" id="{639CCEE2-1A1A-8BA4-57CF-219BCDA5ED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504"/>
              <a:ext cx="336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9255" name="Line 29">
              <a:extLst>
                <a:ext uri="{FF2B5EF4-FFF2-40B4-BE49-F238E27FC236}">
                  <a16:creationId xmlns:a16="http://schemas.microsoft.com/office/drawing/2014/main" id="{AAC7DBA5-779E-042D-F14F-8A8B44592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552"/>
              <a:ext cx="336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</p:grpSp>
      <p:sp>
        <p:nvSpPr>
          <p:cNvPr id="440350" name="Text Box 30">
            <a:extLst>
              <a:ext uri="{FF2B5EF4-FFF2-40B4-BE49-F238E27FC236}">
                <a16:creationId xmlns:a16="http://schemas.microsoft.com/office/drawing/2014/main" id="{6DBA0CB6-0FEF-D7BC-F8F5-F92CC680E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27" y="5181600"/>
            <a:ext cx="35814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 i="1">
                <a:solidFill>
                  <a:srgbClr val="00FF00"/>
                </a:solidFill>
                <a:ea typeface="楷体_GB2312" pitchFamily="49" charset="-122"/>
              </a:rPr>
              <a:t>碰前碰后的动能守恒</a:t>
            </a:r>
            <a:endParaRPr lang="zh-CN" altLang="en-US" b="0">
              <a:solidFill>
                <a:srgbClr val="00FF00"/>
              </a:solidFill>
              <a:ea typeface="楷体_GB2312" pitchFamily="49" charset="-122"/>
            </a:endParaRPr>
          </a:p>
        </p:txBody>
      </p:sp>
      <p:graphicFrame>
        <p:nvGraphicFramePr>
          <p:cNvPr id="440351" name="Object 9">
            <a:extLst>
              <a:ext uri="{FF2B5EF4-FFF2-40B4-BE49-F238E27FC236}">
                <a16:creationId xmlns:a16="http://schemas.microsoft.com/office/drawing/2014/main" id="{EC1B184D-26F9-203A-3E57-F215459794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327" y="5638800"/>
          <a:ext cx="3581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93396" imgH="388537" progId="Equation.DSMT4">
                  <p:embed/>
                </p:oleObj>
              </mc:Choice>
              <mc:Fallback>
                <p:oleObj name="Equation" r:id="rId16" imgW="1493396" imgH="388537" progId="Equation.DSMT4">
                  <p:embed/>
                  <p:pic>
                    <p:nvPicPr>
                      <p:cNvPr id="440351" name="Object 9">
                        <a:extLst>
                          <a:ext uri="{FF2B5EF4-FFF2-40B4-BE49-F238E27FC236}">
                            <a16:creationId xmlns:a16="http://schemas.microsoft.com/office/drawing/2014/main" id="{E1FC321B-5E4F-7857-BD2A-9E898CA69B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27" y="5638800"/>
                        <a:ext cx="3581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2" name="AutoShape 32">
            <a:extLst>
              <a:ext uri="{FF2B5EF4-FFF2-40B4-BE49-F238E27FC236}">
                <a16:creationId xmlns:a16="http://schemas.microsoft.com/office/drawing/2014/main" id="{70034518-2BE4-670B-7071-F45124044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424" y="4938194"/>
            <a:ext cx="1828800" cy="533400"/>
          </a:xfrm>
          <a:prstGeom prst="wedgeRectCallout">
            <a:avLst>
              <a:gd name="adj1" fmla="val -62248"/>
              <a:gd name="adj2" fmla="val 1307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zh-CN" b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440353" name="Object 10">
            <a:extLst>
              <a:ext uri="{FF2B5EF4-FFF2-40B4-BE49-F238E27FC236}">
                <a16:creationId xmlns:a16="http://schemas.microsoft.com/office/drawing/2014/main" id="{65C234FE-E5B5-2EFF-7021-16B78A61C8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4624" y="4938194"/>
          <a:ext cx="17065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31520" imgH="198009" progId="Equation.DSMT4">
                  <p:embed/>
                </p:oleObj>
              </mc:Choice>
              <mc:Fallback>
                <p:oleObj name="Equation" r:id="rId18" imgW="731520" imgH="198009" progId="Equation.DSMT4">
                  <p:embed/>
                  <p:pic>
                    <p:nvPicPr>
                      <p:cNvPr id="440353" name="Object 10">
                        <a:extLst>
                          <a:ext uri="{FF2B5EF4-FFF2-40B4-BE49-F238E27FC236}">
                            <a16:creationId xmlns:a16="http://schemas.microsoft.com/office/drawing/2014/main" id="{7C01E10C-E346-64FB-AEEE-B92B31497E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24" y="4938194"/>
                        <a:ext cx="17065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4" name="Text Box 34">
            <a:extLst>
              <a:ext uri="{FF2B5EF4-FFF2-40B4-BE49-F238E27FC236}">
                <a16:creationId xmlns:a16="http://schemas.microsoft.com/office/drawing/2014/main" id="{2AD1F3CB-8901-AFBD-A8EF-935927A31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0327" y="3733800"/>
            <a:ext cx="32766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 i="1">
                <a:solidFill>
                  <a:srgbClr val="00FF00"/>
                </a:solidFill>
                <a:ea typeface="楷体_GB2312" pitchFamily="49" charset="-122"/>
              </a:rPr>
              <a:t>系统动量不守恒 </a:t>
            </a:r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7BA7B8F7-0A5D-E058-699A-8A037DE806D4}"/>
              </a:ext>
            </a:extLst>
          </p:cNvPr>
          <p:cNvGrpSpPr>
            <a:grpSpLocks/>
          </p:cNvGrpSpPr>
          <p:nvPr/>
        </p:nvGrpSpPr>
        <p:grpSpPr bwMode="auto">
          <a:xfrm>
            <a:off x="438727" y="685800"/>
            <a:ext cx="1143000" cy="1219200"/>
            <a:chOff x="240" y="672"/>
            <a:chExt cx="720" cy="768"/>
          </a:xfrm>
        </p:grpSpPr>
        <p:sp>
          <p:nvSpPr>
            <p:cNvPr id="9252" name="AutoShape 36">
              <a:extLst>
                <a:ext uri="{FF2B5EF4-FFF2-40B4-BE49-F238E27FC236}">
                  <a16:creationId xmlns:a16="http://schemas.microsoft.com/office/drawing/2014/main" id="{E189CCBA-A96B-7415-AE51-2677B0EB0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672"/>
              <a:ext cx="720" cy="768"/>
            </a:xfrm>
            <a:prstGeom prst="flowChartPredefinedProcess">
              <a:avLst/>
            </a:prstGeom>
            <a:gradFill rotWithShape="0">
              <a:gsLst>
                <a:gs pos="0">
                  <a:srgbClr val="454545"/>
                </a:gs>
                <a:gs pos="50000">
                  <a:srgbClr val="969696"/>
                </a:gs>
                <a:gs pos="100000">
                  <a:srgbClr val="454545"/>
                </a:gs>
              </a:gsLst>
              <a:lin ang="0" scaled="1"/>
            </a:gradFill>
            <a:ln w="222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  <p:sp>
          <p:nvSpPr>
            <p:cNvPr id="9253" name="Rectangle 37">
              <a:extLst>
                <a:ext uri="{FF2B5EF4-FFF2-40B4-BE49-F238E27FC236}">
                  <a16:creationId xmlns:a16="http://schemas.microsoft.com/office/drawing/2014/main" id="{DC682FB1-1295-74B2-8822-8AA0AF424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768"/>
              <a:ext cx="310" cy="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>
                <a:buFont typeface="Monotype Sorts" pitchFamily="2" charset="2"/>
                <a:buNone/>
              </a:pPr>
              <a:r>
                <a:rPr lang="zh-CN" altLang="en-US">
                  <a:solidFill>
                    <a:srgbClr val="FFFF99"/>
                  </a:solidFill>
                  <a:ea typeface="楷体_GB2312" pitchFamily="49" charset="-122"/>
                </a:rPr>
                <a:t>明</a:t>
              </a:r>
            </a:p>
            <a:p>
              <a:pPr algn="l">
                <a:buFont typeface="Monotype Sorts" pitchFamily="2" charset="2"/>
                <a:buNone/>
              </a:pPr>
              <a:r>
                <a:rPr lang="zh-CN" altLang="en-US">
                  <a:solidFill>
                    <a:srgbClr val="FFFF99"/>
                  </a:solidFill>
                  <a:ea typeface="楷体_GB2312" pitchFamily="49" charset="-122"/>
                </a:rPr>
                <a:t>确</a:t>
              </a:r>
            </a:p>
          </p:txBody>
        </p:sp>
      </p:grpSp>
      <p:graphicFrame>
        <p:nvGraphicFramePr>
          <p:cNvPr id="440358" name="Object 11">
            <a:extLst>
              <a:ext uri="{FF2B5EF4-FFF2-40B4-BE49-F238E27FC236}">
                <a16:creationId xmlns:a16="http://schemas.microsoft.com/office/drawing/2014/main" id="{A9209AA1-0250-2E65-1E4B-C28860A56E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6284" y="5274771"/>
          <a:ext cx="2152217" cy="893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98251" imgH="388537" progId="Equation.DSMT4">
                  <p:embed/>
                </p:oleObj>
              </mc:Choice>
              <mc:Fallback>
                <p:oleObj name="Equation" r:id="rId20" imgW="998251" imgH="388537" progId="Equation.DSMT4">
                  <p:embed/>
                  <p:pic>
                    <p:nvPicPr>
                      <p:cNvPr id="440358" name="Object 11">
                        <a:extLst>
                          <a:ext uri="{FF2B5EF4-FFF2-40B4-BE49-F238E27FC236}">
                            <a16:creationId xmlns:a16="http://schemas.microsoft.com/office/drawing/2014/main" id="{C5853A8A-A1E8-2117-9623-EE362DD8AF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284" y="5274771"/>
                        <a:ext cx="2152217" cy="893626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9" name="Text Box 39">
            <a:extLst>
              <a:ext uri="{FF2B5EF4-FFF2-40B4-BE49-F238E27FC236}">
                <a16:creationId xmlns:a16="http://schemas.microsoft.com/office/drawing/2014/main" id="{5BCA2038-FA1E-4D26-71E9-601BD4022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2824" y="5479787"/>
            <a:ext cx="26670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 dirty="0">
                <a:solidFill>
                  <a:schemeClr val="hlink"/>
                </a:solidFill>
                <a:ea typeface="楷体_GB2312" pitchFamily="49" charset="-122"/>
              </a:rPr>
              <a:t>回跳速度</a:t>
            </a:r>
            <a:endParaRPr lang="zh-CN" altLang="en-US" b="0" dirty="0">
              <a:solidFill>
                <a:schemeClr val="hlink"/>
              </a:solidFill>
              <a:ea typeface="楷体_GB2312" pitchFamily="49" charset="-122"/>
            </a:endParaRPr>
          </a:p>
        </p:txBody>
      </p:sp>
      <p:graphicFrame>
        <p:nvGraphicFramePr>
          <p:cNvPr id="441346" name="Object 2">
            <a:extLst>
              <a:ext uri="{FF2B5EF4-FFF2-40B4-BE49-F238E27FC236}">
                <a16:creationId xmlns:a16="http://schemas.microsoft.com/office/drawing/2014/main" id="{003C1BAD-F474-E863-7FD0-8E11B3BBB0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1785" y="6250415"/>
          <a:ext cx="3076698" cy="379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02802" imgH="198009" progId="Equation.DSMT4">
                  <p:embed/>
                </p:oleObj>
              </mc:Choice>
              <mc:Fallback>
                <p:oleObj name="Equation" r:id="rId22" imgW="1302802" imgH="198009" progId="Equation.DSMT4">
                  <p:embed/>
                  <p:pic>
                    <p:nvPicPr>
                      <p:cNvPr id="441346" name="Object 2">
                        <a:extLst>
                          <a:ext uri="{FF2B5EF4-FFF2-40B4-BE49-F238E27FC236}">
                            <a16:creationId xmlns:a16="http://schemas.microsoft.com/office/drawing/2014/main" id="{50D983C8-C357-7242-8B70-5F6ABAF3AD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1785" y="6250415"/>
                        <a:ext cx="3076698" cy="37956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347" name="Text Box 3">
            <a:extLst>
              <a:ext uri="{FF2B5EF4-FFF2-40B4-BE49-F238E27FC236}">
                <a16:creationId xmlns:a16="http://schemas.microsoft.com/office/drawing/2014/main" id="{ECF196D0-9980-0329-7A77-BBD9AC4BA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415" y="6191216"/>
            <a:ext cx="2529682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zh-CN" altLang="en-US" dirty="0">
                <a:solidFill>
                  <a:schemeClr val="hlink"/>
                </a:solidFill>
                <a:ea typeface="楷体_GB2312" pitchFamily="49" charset="-122"/>
              </a:rPr>
              <a:t>角速度：</a:t>
            </a:r>
            <a:endParaRPr lang="zh-CN" altLang="en-US" b="0" dirty="0">
              <a:solidFill>
                <a:schemeClr val="hlink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773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300"/>
                                        <p:tgtEl>
                                          <p:spTgt spid="44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4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300"/>
                                        <p:tgtEl>
                                          <p:spTgt spid="44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4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44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0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63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300"/>
                                        <p:tgtEl>
                                          <p:spTgt spid="44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300"/>
                                        <p:tgtEl>
                                          <p:spTgt spid="440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44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4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300"/>
                                        <p:tgtEl>
                                          <p:spTgt spid="440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4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300"/>
                                        <p:tgtEl>
                                          <p:spTgt spid="44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40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44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5" dur="500"/>
                                        <p:tgtEl>
                                          <p:spTgt spid="440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4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4" dur="300"/>
                                        <p:tgtEl>
                                          <p:spTgt spid="441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4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3" grpId="0" autoUpdateAnimBg="0"/>
      <p:bldP spid="440324" grpId="0" autoUpdateAnimBg="0"/>
      <p:bldP spid="440326" grpId="0" animBg="1"/>
      <p:bldP spid="440327" grpId="0" build="p" autoUpdateAnimBg="0"/>
      <p:bldP spid="440328" grpId="0" autoUpdateAnimBg="0"/>
      <p:bldP spid="440329" grpId="0" autoUpdateAnimBg="0"/>
      <p:bldP spid="440330" grpId="0" animBg="1"/>
      <p:bldP spid="440331" grpId="0" animBg="1"/>
      <p:bldP spid="440333" grpId="0" animBg="1"/>
      <p:bldP spid="440334" grpId="0" build="p" autoUpdateAnimBg="0" advAuto="0"/>
      <p:bldP spid="440335" grpId="0" build="p" autoUpdateAnimBg="0" advAuto="0"/>
      <p:bldP spid="440336" grpId="0" build="p" autoUpdateAnimBg="0"/>
      <p:bldP spid="440337" grpId="0" build="p" autoUpdateAnimBg="0" advAuto="0"/>
      <p:bldP spid="440338" grpId="0" build="p" autoUpdateAnimBg="0" advAuto="0"/>
      <p:bldP spid="440339" grpId="0" build="p" autoUpdateAnimBg="0"/>
      <p:bldP spid="440343" grpId="0" animBg="1"/>
      <p:bldP spid="440345" grpId="0" autoUpdateAnimBg="0"/>
      <p:bldP spid="440350" grpId="0" autoUpdateAnimBg="0"/>
      <p:bldP spid="440352" grpId="0" animBg="1" autoUpdateAnimBg="0"/>
      <p:bldP spid="440354" grpId="0" build="p" autoUpdateAnimBg="0"/>
      <p:bldP spid="440359" grpId="0" build="p" autoUpdateAnimBg="0"/>
      <p:bldP spid="44134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8B5CC-89E6-2BA1-13B9-DD85F6C43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8" name="Text Box 4">
            <a:extLst>
              <a:ext uri="{FF2B5EF4-FFF2-40B4-BE49-F238E27FC236}">
                <a16:creationId xmlns:a16="http://schemas.microsoft.com/office/drawing/2014/main" id="{86AD998F-8E01-F4A2-FD61-88E528745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64" y="404095"/>
            <a:ext cx="4334841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rgbClr val="FFFF99"/>
                </a:solidFill>
                <a:ea typeface="楷体_GB2312" pitchFamily="49" charset="-122"/>
              </a:rPr>
              <a:t>例</a:t>
            </a:r>
            <a:r>
              <a:rPr lang="en-US" altLang="zh-CN">
                <a:solidFill>
                  <a:srgbClr val="FFFF99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FFFF99"/>
                </a:solidFill>
                <a:ea typeface="楷体_GB2312" pitchFamily="49" charset="-122"/>
              </a:rPr>
              <a:t>冲击摆测定子弹的速度。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   </a:t>
            </a:r>
          </a:p>
        </p:txBody>
      </p:sp>
      <p:sp>
        <p:nvSpPr>
          <p:cNvPr id="441349" name="Text Box 5">
            <a:extLst>
              <a:ext uri="{FF2B5EF4-FFF2-40B4-BE49-F238E27FC236}">
                <a16:creationId xmlns:a16="http://schemas.microsoft.com/office/drawing/2014/main" id="{57098FEB-673A-7571-9C23-F4A0219E1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6877" y="404095"/>
            <a:ext cx="446789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已知摆的质量为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M</a:t>
            </a: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，对固定轴 </a:t>
            </a:r>
          </a:p>
        </p:txBody>
      </p:sp>
      <p:sp>
        <p:nvSpPr>
          <p:cNvPr id="441350" name="Text Box 6">
            <a:extLst>
              <a:ext uri="{FF2B5EF4-FFF2-40B4-BE49-F238E27FC236}">
                <a16:creationId xmlns:a16="http://schemas.microsoft.com/office/drawing/2014/main" id="{ED76C13A-FEA1-D73F-AC19-04F79181F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39" y="861295"/>
            <a:ext cx="5214889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的转动惯量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J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，子弹的质量为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m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， </a:t>
            </a:r>
          </a:p>
        </p:txBody>
      </p:sp>
      <p:sp>
        <p:nvSpPr>
          <p:cNvPr id="441351" name="Text Box 7">
            <a:extLst>
              <a:ext uri="{FF2B5EF4-FFF2-40B4-BE49-F238E27FC236}">
                <a16:creationId xmlns:a16="http://schemas.microsoft.com/office/drawing/2014/main" id="{53F9BCEF-34EE-A72B-4468-44E8142D1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864" y="867645"/>
            <a:ext cx="4368504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子弹射入后，摆的最大角度 </a:t>
            </a:r>
          </a:p>
        </p:txBody>
      </p:sp>
      <p:sp>
        <p:nvSpPr>
          <p:cNvPr id="441352" name="Text Box 8">
            <a:extLst>
              <a:ext uri="{FF2B5EF4-FFF2-40B4-BE49-F238E27FC236}">
                <a16:creationId xmlns:a16="http://schemas.microsoft.com/office/drawing/2014/main" id="{094B0AFD-B183-1657-F1B8-0AB66D71E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64" y="1318495"/>
            <a:ext cx="1542410" cy="49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为</a:t>
            </a:r>
            <a:r>
              <a:rPr lang="zh-CN" altLang="en-US" i="1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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， </a:t>
            </a:r>
          </a:p>
        </p:txBody>
      </p:sp>
      <p:sp>
        <p:nvSpPr>
          <p:cNvPr id="441353" name="Text Box 9">
            <a:extLst>
              <a:ext uri="{FF2B5EF4-FFF2-40B4-BE49-F238E27FC236}">
                <a16:creationId xmlns:a16="http://schemas.microsoft.com/office/drawing/2014/main" id="{E2865A43-0F61-6BCB-B38D-FE339ACB4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364" y="1318495"/>
            <a:ext cx="2920992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求子弹的速度？ </a:t>
            </a:r>
          </a:p>
        </p:txBody>
      </p:sp>
      <p:sp>
        <p:nvSpPr>
          <p:cNvPr id="441354" name="Text Box 10">
            <a:extLst>
              <a:ext uri="{FF2B5EF4-FFF2-40B4-BE49-F238E27FC236}">
                <a16:creationId xmlns:a16="http://schemas.microsoft.com/office/drawing/2014/main" id="{CAB10399-A502-5BD1-277F-9532E000B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64" y="1775695"/>
            <a:ext cx="891591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解：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441355" name="Line 11">
            <a:extLst>
              <a:ext uri="{FF2B5EF4-FFF2-40B4-BE49-F238E27FC236}">
                <a16:creationId xmlns:a16="http://schemas.microsoft.com/office/drawing/2014/main" id="{615A1ABB-0588-E40D-9163-1ABAC1099E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364" y="1547095"/>
            <a:ext cx="35052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lang="zh-CN" altLang="en-US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E3546E0E-BF51-EB7B-91E6-3FD22E27BFA1}"/>
              </a:ext>
            </a:extLst>
          </p:cNvPr>
          <p:cNvGrpSpPr>
            <a:grpSpLocks/>
          </p:cNvGrpSpPr>
          <p:nvPr/>
        </p:nvGrpSpPr>
        <p:grpSpPr bwMode="auto">
          <a:xfrm>
            <a:off x="7001164" y="1547095"/>
            <a:ext cx="381000" cy="2819400"/>
            <a:chOff x="4512" y="1536"/>
            <a:chExt cx="240" cy="1584"/>
          </a:xfrm>
        </p:grpSpPr>
        <p:sp>
          <p:nvSpPr>
            <p:cNvPr id="10284" name="Rectangle 13">
              <a:extLst>
                <a:ext uri="{FF2B5EF4-FFF2-40B4-BE49-F238E27FC236}">
                  <a16:creationId xmlns:a16="http://schemas.microsoft.com/office/drawing/2014/main" id="{F5D8012D-E437-C5F9-0971-EE1A9B1ED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536"/>
              <a:ext cx="48" cy="13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  <p:sp>
          <p:nvSpPr>
            <p:cNvPr id="10285" name="Rectangle 14">
              <a:extLst>
                <a:ext uri="{FF2B5EF4-FFF2-40B4-BE49-F238E27FC236}">
                  <a16:creationId xmlns:a16="http://schemas.microsoft.com/office/drawing/2014/main" id="{A523000B-A99B-F91D-961F-C598431E4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880"/>
              <a:ext cx="240" cy="240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</p:grpSp>
      <p:sp>
        <p:nvSpPr>
          <p:cNvPr id="441359" name="AutoShape 15">
            <a:extLst>
              <a:ext uri="{FF2B5EF4-FFF2-40B4-BE49-F238E27FC236}">
                <a16:creationId xmlns:a16="http://schemas.microsoft.com/office/drawing/2014/main" id="{F03422CE-C3B4-12B5-6FCD-5F3074CE366D}"/>
              </a:ext>
            </a:extLst>
          </p:cNvPr>
          <p:cNvSpPr>
            <a:spLocks noChangeArrowheads="1"/>
          </p:cNvSpPr>
          <p:nvPr/>
        </p:nvSpPr>
        <p:spPr bwMode="auto">
          <a:xfrm rot="5308096">
            <a:off x="6543964" y="3985495"/>
            <a:ext cx="152400" cy="304800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zh-CN" b="0">
              <a:solidFill>
                <a:srgbClr val="FFFF99"/>
              </a:solidFill>
              <a:ea typeface="楷体_GB2312" pitchFamily="49" charset="-122"/>
            </a:endParaRPr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F38A01EA-D3FC-8499-4012-7B76C38077E3}"/>
              </a:ext>
            </a:extLst>
          </p:cNvPr>
          <p:cNvGrpSpPr>
            <a:grpSpLocks/>
          </p:cNvGrpSpPr>
          <p:nvPr/>
        </p:nvGrpSpPr>
        <p:grpSpPr bwMode="auto">
          <a:xfrm rot="-1967535">
            <a:off x="7729827" y="1304208"/>
            <a:ext cx="381000" cy="2679700"/>
            <a:chOff x="4512" y="1536"/>
            <a:chExt cx="240" cy="1584"/>
          </a:xfrm>
        </p:grpSpPr>
        <p:sp>
          <p:nvSpPr>
            <p:cNvPr id="10282" name="Rectangle 17">
              <a:extLst>
                <a:ext uri="{FF2B5EF4-FFF2-40B4-BE49-F238E27FC236}">
                  <a16:creationId xmlns:a16="http://schemas.microsoft.com/office/drawing/2014/main" id="{7D0C3A81-2564-29E7-B5D1-021E5AD41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536"/>
              <a:ext cx="48" cy="1344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  <p:sp>
          <p:nvSpPr>
            <p:cNvPr id="10283" name="Rectangle 18">
              <a:extLst>
                <a:ext uri="{FF2B5EF4-FFF2-40B4-BE49-F238E27FC236}">
                  <a16:creationId xmlns:a16="http://schemas.microsoft.com/office/drawing/2014/main" id="{64019B6D-2CC8-9CF8-3BC8-0990FD3AE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880"/>
              <a:ext cx="240" cy="24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</p:grpSp>
      <p:sp>
        <p:nvSpPr>
          <p:cNvPr id="441363" name="AutoShape 19">
            <a:extLst>
              <a:ext uri="{FF2B5EF4-FFF2-40B4-BE49-F238E27FC236}">
                <a16:creationId xmlns:a16="http://schemas.microsoft.com/office/drawing/2014/main" id="{CE42C43B-432D-D693-1027-6B184AAF339C}"/>
              </a:ext>
            </a:extLst>
          </p:cNvPr>
          <p:cNvSpPr>
            <a:spLocks noChangeArrowheads="1"/>
          </p:cNvSpPr>
          <p:nvPr/>
        </p:nvSpPr>
        <p:spPr bwMode="auto">
          <a:xfrm rot="3746320">
            <a:off x="8448964" y="3452095"/>
            <a:ext cx="152400" cy="304800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zh-CN" b="0">
              <a:solidFill>
                <a:srgbClr val="FFFF99"/>
              </a:solidFill>
              <a:ea typeface="楷体_GB2312" pitchFamily="49" charset="-122"/>
            </a:endParaRPr>
          </a:p>
        </p:txBody>
      </p:sp>
      <p:sp>
        <p:nvSpPr>
          <p:cNvPr id="441364" name="Rectangle 20">
            <a:extLst>
              <a:ext uri="{FF2B5EF4-FFF2-40B4-BE49-F238E27FC236}">
                <a16:creationId xmlns:a16="http://schemas.microsoft.com/office/drawing/2014/main" id="{094568B1-677C-CD7A-E34C-32AB758C2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5964" y="2232895"/>
            <a:ext cx="838200" cy="49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441365" name="Rectangle 21">
            <a:extLst>
              <a:ext uri="{FF2B5EF4-FFF2-40B4-BE49-F238E27FC236}">
                <a16:creationId xmlns:a16="http://schemas.microsoft.com/office/drawing/2014/main" id="{7C9F4F43-6631-DC13-9244-8307CEF42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1564" y="1953495"/>
            <a:ext cx="6858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41366" name="Rectangle 22">
            <a:extLst>
              <a:ext uri="{FF2B5EF4-FFF2-40B4-BE49-F238E27FC236}">
                <a16:creationId xmlns:a16="http://schemas.microsoft.com/office/drawing/2014/main" id="{2AF042E3-4784-6606-5A8A-789694AF7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964" y="2410695"/>
            <a:ext cx="6858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L</a:t>
            </a:r>
          </a:p>
        </p:txBody>
      </p:sp>
      <p:sp>
        <p:nvSpPr>
          <p:cNvPr id="441367" name="Rectangle 23">
            <a:extLst>
              <a:ext uri="{FF2B5EF4-FFF2-40B4-BE49-F238E27FC236}">
                <a16:creationId xmlns:a16="http://schemas.microsoft.com/office/drawing/2014/main" id="{B86C327E-03D6-F7BC-6470-30A9F9983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5964" y="2867895"/>
            <a:ext cx="8382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C</a:t>
            </a:r>
          </a:p>
        </p:txBody>
      </p:sp>
      <p:sp>
        <p:nvSpPr>
          <p:cNvPr id="441368" name="Rectangle 24">
            <a:extLst>
              <a:ext uri="{FF2B5EF4-FFF2-40B4-BE49-F238E27FC236}">
                <a16:creationId xmlns:a16="http://schemas.microsoft.com/office/drawing/2014/main" id="{95F8C43E-E51D-72B9-80AD-BBF59EF12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764" y="3147295"/>
            <a:ext cx="3626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v</a:t>
            </a:r>
          </a:p>
        </p:txBody>
      </p:sp>
      <p:sp>
        <p:nvSpPr>
          <p:cNvPr id="441369" name="Line 25">
            <a:extLst>
              <a:ext uri="{FF2B5EF4-FFF2-40B4-BE49-F238E27FC236}">
                <a16:creationId xmlns:a16="http://schemas.microsoft.com/office/drawing/2014/main" id="{442B5CDD-7D5B-6AAE-50F5-FA424EA7AF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1564" y="3604495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lang="zh-CN" altLang="en-US"/>
          </a:p>
        </p:txBody>
      </p:sp>
      <p:sp>
        <p:nvSpPr>
          <p:cNvPr id="441370" name="Line 26">
            <a:extLst>
              <a:ext uri="{FF2B5EF4-FFF2-40B4-BE49-F238E27FC236}">
                <a16:creationId xmlns:a16="http://schemas.microsoft.com/office/drawing/2014/main" id="{AA40EBE3-431C-A43C-C8BD-444EEBF8CF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4364" y="4137895"/>
            <a:ext cx="11430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lang="zh-CN" altLang="en-US"/>
          </a:p>
        </p:txBody>
      </p:sp>
      <p:sp>
        <p:nvSpPr>
          <p:cNvPr id="441371" name="Line 27">
            <a:extLst>
              <a:ext uri="{FF2B5EF4-FFF2-40B4-BE49-F238E27FC236}">
                <a16:creationId xmlns:a16="http://schemas.microsoft.com/office/drawing/2014/main" id="{55D5E445-D887-E38C-B70F-DC6920BE1D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9164" y="1547095"/>
            <a:ext cx="0" cy="259080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lang="zh-CN" altLang="en-US"/>
          </a:p>
        </p:txBody>
      </p:sp>
      <p:sp>
        <p:nvSpPr>
          <p:cNvPr id="441372" name="Line 28">
            <a:extLst>
              <a:ext uri="{FF2B5EF4-FFF2-40B4-BE49-F238E27FC236}">
                <a16:creationId xmlns:a16="http://schemas.microsoft.com/office/drawing/2014/main" id="{2841374A-6DAA-F82E-6A3A-3C6C98641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2564" y="1547095"/>
            <a:ext cx="0" cy="152400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lang="zh-CN" altLang="en-US"/>
          </a:p>
        </p:txBody>
      </p:sp>
      <p:sp>
        <p:nvSpPr>
          <p:cNvPr id="441373" name="Line 29">
            <a:extLst>
              <a:ext uri="{FF2B5EF4-FFF2-40B4-BE49-F238E27FC236}">
                <a16:creationId xmlns:a16="http://schemas.microsoft.com/office/drawing/2014/main" id="{462A7312-0BB7-BFE2-B82F-F69FC78EE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0164" y="3071095"/>
            <a:ext cx="609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lang="zh-CN" altLang="en-US"/>
          </a:p>
        </p:txBody>
      </p:sp>
      <p:sp>
        <p:nvSpPr>
          <p:cNvPr id="441374" name="Rectangle 30">
            <a:extLst>
              <a:ext uri="{FF2B5EF4-FFF2-40B4-BE49-F238E27FC236}">
                <a16:creationId xmlns:a16="http://schemas.microsoft.com/office/drawing/2014/main" id="{678C752D-EE01-1B1A-5C3D-89B72CB33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764" y="3604495"/>
            <a:ext cx="487634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m</a:t>
            </a:r>
          </a:p>
        </p:txBody>
      </p:sp>
      <p:sp>
        <p:nvSpPr>
          <p:cNvPr id="441375" name="Text Box 31">
            <a:extLst>
              <a:ext uri="{FF2B5EF4-FFF2-40B4-BE49-F238E27FC236}">
                <a16:creationId xmlns:a16="http://schemas.microsoft.com/office/drawing/2014/main" id="{7C20D037-2E1A-3988-9DCF-562C267BA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64" y="3680695"/>
            <a:ext cx="45720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lang="en-US" altLang="zh-CN">
                <a:solidFill>
                  <a:srgbClr val="00FF00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rgbClr val="00FF00"/>
                </a:solidFill>
                <a:ea typeface="楷体_GB2312" pitchFamily="49" charset="-122"/>
              </a:rPr>
              <a:t>系统机械能守恒：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441376" name="Object 3">
            <a:extLst>
              <a:ext uri="{FF2B5EF4-FFF2-40B4-BE49-F238E27FC236}">
                <a16:creationId xmlns:a16="http://schemas.microsoft.com/office/drawing/2014/main" id="{155399DE-F6A4-3D2D-1DF5-0B3E2CD8EF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364" y="2309095"/>
          <a:ext cx="135096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25998" imgH="167585" progId="Equation.3">
                  <p:embed/>
                </p:oleObj>
              </mc:Choice>
              <mc:Fallback>
                <p:oleObj name="公式" r:id="rId2" imgW="525998" imgH="167585" progId="Equation.3">
                  <p:embed/>
                  <p:pic>
                    <p:nvPicPr>
                      <p:cNvPr id="441376" name="Object 3">
                        <a:extLst>
                          <a:ext uri="{FF2B5EF4-FFF2-40B4-BE49-F238E27FC236}">
                            <a16:creationId xmlns:a16="http://schemas.microsoft.com/office/drawing/2014/main" id="{9E301120-45AC-98B7-0937-C0735980F6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64" y="2309095"/>
                        <a:ext cx="135096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377" name="Object 4">
            <a:extLst>
              <a:ext uri="{FF2B5EF4-FFF2-40B4-BE49-F238E27FC236}">
                <a16:creationId xmlns:a16="http://schemas.microsoft.com/office/drawing/2014/main" id="{71A9C869-13A0-FFD9-1525-293C735A88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1964" y="2232895"/>
          <a:ext cx="2590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06687" imgH="220952" progId="Equation.3">
                  <p:embed/>
                </p:oleObj>
              </mc:Choice>
              <mc:Fallback>
                <p:oleObj name="公式" r:id="rId4" imgW="906687" imgH="220952" progId="Equation.3">
                  <p:embed/>
                  <p:pic>
                    <p:nvPicPr>
                      <p:cNvPr id="441377" name="Object 4">
                        <a:extLst>
                          <a:ext uri="{FF2B5EF4-FFF2-40B4-BE49-F238E27FC236}">
                            <a16:creationId xmlns:a16="http://schemas.microsoft.com/office/drawing/2014/main" id="{A6A739A4-09C3-9B08-25F8-FE2795CDB8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964" y="2232895"/>
                        <a:ext cx="2590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378" name="Object 5">
            <a:extLst>
              <a:ext uri="{FF2B5EF4-FFF2-40B4-BE49-F238E27FC236}">
                <a16:creationId xmlns:a16="http://schemas.microsoft.com/office/drawing/2014/main" id="{13E1719F-9A5A-B328-E049-1651D8494E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3764" y="2690095"/>
          <a:ext cx="2590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67896" imgH="426942" progId="Equation.3">
                  <p:embed/>
                </p:oleObj>
              </mc:Choice>
              <mc:Fallback>
                <p:oleObj name="公式" r:id="rId6" imgW="967896" imgH="426942" progId="Equation.3">
                  <p:embed/>
                  <p:pic>
                    <p:nvPicPr>
                      <p:cNvPr id="441378" name="Object 5">
                        <a:extLst>
                          <a:ext uri="{FF2B5EF4-FFF2-40B4-BE49-F238E27FC236}">
                            <a16:creationId xmlns:a16="http://schemas.microsoft.com/office/drawing/2014/main" id="{CFE28920-C714-CB6E-6A63-9638E3483F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764" y="2690095"/>
                        <a:ext cx="25908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379" name="AutoShape 35">
            <a:extLst>
              <a:ext uri="{FF2B5EF4-FFF2-40B4-BE49-F238E27FC236}">
                <a16:creationId xmlns:a16="http://schemas.microsoft.com/office/drawing/2014/main" id="{95F59118-48C7-E609-03D3-BDEBEA5AB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64" y="2918695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graphicFrame>
        <p:nvGraphicFramePr>
          <p:cNvPr id="441380" name="Object 6">
            <a:extLst>
              <a:ext uri="{FF2B5EF4-FFF2-40B4-BE49-F238E27FC236}">
                <a16:creationId xmlns:a16="http://schemas.microsoft.com/office/drawing/2014/main" id="{9947DECF-1B0E-5ED4-C1BB-F59273EF0D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364" y="4061695"/>
          <a:ext cx="40386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05909" imgH="388537" progId="Equation.3">
                  <p:embed/>
                </p:oleObj>
              </mc:Choice>
              <mc:Fallback>
                <p:oleObj name="公式" r:id="rId8" imgW="1805909" imgH="388537" progId="Equation.3">
                  <p:embed/>
                  <p:pic>
                    <p:nvPicPr>
                      <p:cNvPr id="441380" name="Object 6">
                        <a:extLst>
                          <a:ext uri="{FF2B5EF4-FFF2-40B4-BE49-F238E27FC236}">
                            <a16:creationId xmlns:a16="http://schemas.microsoft.com/office/drawing/2014/main" id="{42E7D71F-26A8-21D5-BE5A-5E32470C2E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64" y="4061695"/>
                        <a:ext cx="40386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381" name="Object 7">
            <a:extLst>
              <a:ext uri="{FF2B5EF4-FFF2-40B4-BE49-F238E27FC236}">
                <a16:creationId xmlns:a16="http://schemas.microsoft.com/office/drawing/2014/main" id="{67BCB438-12AC-34A1-0CBD-56980F984A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8564" y="4823695"/>
          <a:ext cx="51689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16480" imgH="198009" progId="Equation.3">
                  <p:embed/>
                </p:oleObj>
              </mc:Choice>
              <mc:Fallback>
                <p:oleObj name="公式" r:id="rId10" imgW="2316480" imgH="198009" progId="Equation.3">
                  <p:embed/>
                  <p:pic>
                    <p:nvPicPr>
                      <p:cNvPr id="441381" name="Object 7">
                        <a:extLst>
                          <a:ext uri="{FF2B5EF4-FFF2-40B4-BE49-F238E27FC236}">
                            <a16:creationId xmlns:a16="http://schemas.microsoft.com/office/drawing/2014/main" id="{4C65E489-6339-9B1C-CDD9-A444DE8C16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564" y="4823695"/>
                        <a:ext cx="51689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382" name="AutoShape 38">
            <a:extLst>
              <a:ext uri="{FF2B5EF4-FFF2-40B4-BE49-F238E27FC236}">
                <a16:creationId xmlns:a16="http://schemas.microsoft.com/office/drawing/2014/main" id="{B5B697D1-BC71-C7A9-FD05-FFBD410A9FB1}"/>
              </a:ext>
            </a:extLst>
          </p:cNvPr>
          <p:cNvSpPr>
            <a:spLocks noChangeArrowheads="1"/>
          </p:cNvSpPr>
          <p:nvPr/>
        </p:nvSpPr>
        <p:spPr bwMode="auto">
          <a:xfrm rot="328844">
            <a:off x="3876964" y="3071095"/>
            <a:ext cx="533400" cy="1143000"/>
          </a:xfrm>
          <a:prstGeom prst="curvedLeftArrow">
            <a:avLst>
              <a:gd name="adj1" fmla="val 42857"/>
              <a:gd name="adj2" fmla="val 85714"/>
              <a:gd name="adj3" fmla="val 33333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sp>
        <p:nvSpPr>
          <p:cNvPr id="441383" name="Text Box 39">
            <a:extLst>
              <a:ext uri="{FF2B5EF4-FFF2-40B4-BE49-F238E27FC236}">
                <a16:creationId xmlns:a16="http://schemas.microsoft.com/office/drawing/2014/main" id="{99275283-F2EC-2154-49ED-117C11CE8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7564" y="3696570"/>
            <a:ext cx="1199367" cy="941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重力势</a:t>
            </a:r>
          </a:p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能零点 </a:t>
            </a:r>
          </a:p>
        </p:txBody>
      </p:sp>
      <p:graphicFrame>
        <p:nvGraphicFramePr>
          <p:cNvPr id="441384" name="Object 8">
            <a:extLst>
              <a:ext uri="{FF2B5EF4-FFF2-40B4-BE49-F238E27FC236}">
                <a16:creationId xmlns:a16="http://schemas.microsoft.com/office/drawing/2014/main" id="{6A977FF1-D7D8-147B-A35A-28335AEBF7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3764" y="5357095"/>
          <a:ext cx="7086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11624" imgH="388537" progId="Equation.3">
                  <p:embed/>
                </p:oleObj>
              </mc:Choice>
              <mc:Fallback>
                <p:oleObj name="公式" r:id="rId12" imgW="2811624" imgH="388537" progId="Equation.3">
                  <p:embed/>
                  <p:pic>
                    <p:nvPicPr>
                      <p:cNvPr id="441384" name="Object 8">
                        <a:extLst>
                          <a:ext uri="{FF2B5EF4-FFF2-40B4-BE49-F238E27FC236}">
                            <a16:creationId xmlns:a16="http://schemas.microsoft.com/office/drawing/2014/main" id="{4862E05A-BA76-51F1-34DF-F0746B5199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764" y="5357095"/>
                        <a:ext cx="7086600" cy="914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385" name="AutoShape 41">
            <a:extLst>
              <a:ext uri="{FF2B5EF4-FFF2-40B4-BE49-F238E27FC236}">
                <a16:creationId xmlns:a16="http://schemas.microsoft.com/office/drawing/2014/main" id="{32A49F6C-8154-B874-6B69-272068830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64" y="5585695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sp>
        <p:nvSpPr>
          <p:cNvPr id="441386" name="Text Box 42">
            <a:extLst>
              <a:ext uri="{FF2B5EF4-FFF2-40B4-BE49-F238E27FC236}">
                <a16:creationId xmlns:a16="http://schemas.microsoft.com/office/drawing/2014/main" id="{B3447494-38A1-4CEE-EF8D-72BDFB52E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4564" y="4137895"/>
            <a:ext cx="1507144" cy="941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系统总动</a:t>
            </a:r>
          </a:p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量不守恒 </a:t>
            </a:r>
          </a:p>
        </p:txBody>
      </p:sp>
      <p:sp>
        <p:nvSpPr>
          <p:cNvPr id="441387" name="Rectangle 43">
            <a:extLst>
              <a:ext uri="{FF2B5EF4-FFF2-40B4-BE49-F238E27FC236}">
                <a16:creationId xmlns:a16="http://schemas.microsoft.com/office/drawing/2014/main" id="{AB945B6D-711C-F9B1-E9A6-06D04A569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8364" y="1470895"/>
            <a:ext cx="9906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O</a:t>
            </a:r>
          </a:p>
        </p:txBody>
      </p:sp>
      <p:sp>
        <p:nvSpPr>
          <p:cNvPr id="441389" name="Rectangle 45">
            <a:extLst>
              <a:ext uri="{FF2B5EF4-FFF2-40B4-BE49-F238E27FC236}">
                <a16:creationId xmlns:a16="http://schemas.microsoft.com/office/drawing/2014/main" id="{3F8853D9-E807-1288-FE4C-F189A63FF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764" y="1775695"/>
            <a:ext cx="3048000" cy="381000"/>
          </a:xfrm>
          <a:prstGeom prst="rect">
            <a:avLst/>
          </a:prstGeom>
          <a:solidFill>
            <a:srgbClr val="002040"/>
          </a:solidFill>
          <a:ln>
            <a:noFill/>
          </a:ln>
          <a:extLs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sp>
        <p:nvSpPr>
          <p:cNvPr id="441390" name="Text Box 46">
            <a:extLst>
              <a:ext uri="{FF2B5EF4-FFF2-40B4-BE49-F238E27FC236}">
                <a16:creationId xmlns:a16="http://schemas.microsoft.com/office/drawing/2014/main" id="{A5A7ACDC-FE21-5E0E-1DBC-4EE9AF2EA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964" y="1775695"/>
            <a:ext cx="3055645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en-US" altLang="zh-CN">
                <a:solidFill>
                  <a:srgbClr val="00FF00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rgbClr val="00FF00"/>
                </a:solidFill>
                <a:ea typeface="楷体_GB2312" pitchFamily="49" charset="-122"/>
              </a:rPr>
              <a:t>系统动量矩守恒：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292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1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1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1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300"/>
                                        <p:tgtEl>
                                          <p:spTgt spid="44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300"/>
                                        <p:tgtEl>
                                          <p:spTgt spid="44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44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441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441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4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4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4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1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1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13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4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4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44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44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4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48" grpId="0" build="p" autoUpdateAnimBg="0"/>
      <p:bldP spid="441349" grpId="0" build="p" autoUpdateAnimBg="0"/>
      <p:bldP spid="441350" grpId="0" autoUpdateAnimBg="0"/>
      <p:bldP spid="441351" grpId="0" autoUpdateAnimBg="0"/>
      <p:bldP spid="441352" grpId="0" build="p" autoUpdateAnimBg="0"/>
      <p:bldP spid="441353" grpId="0" build="p" autoUpdateAnimBg="0"/>
      <p:bldP spid="441354" grpId="0" build="p" autoUpdateAnimBg="0"/>
      <p:bldP spid="441359" grpId="0" animBg="1" autoUpdateAnimBg="0"/>
      <p:bldP spid="441363" grpId="0" animBg="1" autoUpdateAnimBg="0"/>
      <p:bldP spid="441364" grpId="0" build="p" autoUpdateAnimBg="0"/>
      <p:bldP spid="441365" grpId="0" build="p" autoUpdateAnimBg="0" advAuto="0"/>
      <p:bldP spid="441366" grpId="0" build="p" autoUpdateAnimBg="0" advAuto="0"/>
      <p:bldP spid="441367" grpId="0" build="p" autoUpdateAnimBg="0"/>
      <p:bldP spid="441368" grpId="0" build="p" autoUpdateAnimBg="0" advAuto="0"/>
      <p:bldP spid="441374" grpId="0" build="p" autoUpdateAnimBg="0" advAuto="0"/>
      <p:bldP spid="441375" grpId="0" build="p" autoUpdateAnimBg="0"/>
      <p:bldP spid="441379" grpId="0" animBg="1"/>
      <p:bldP spid="441382" grpId="0" animBg="1"/>
      <p:bldP spid="441383" grpId="0" build="p" autoUpdateAnimBg="0"/>
      <p:bldP spid="441385" grpId="0" animBg="1"/>
      <p:bldP spid="441386" grpId="0" build="p" autoUpdateAnimBg="0"/>
      <p:bldP spid="441387" grpId="0" build="p" autoUpdateAnimBg="0" advAuto="0"/>
      <p:bldP spid="441389" grpId="0" animBg="1"/>
      <p:bldP spid="441390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044DF9DE-C403-8F52-29E3-0296213C0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86097"/>
            <a:ext cx="9028112" cy="1826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kumimoji="1" lang="zh-CN" altLang="en-US" dirty="0">
                <a:solidFill>
                  <a:srgbClr val="99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zh-CN" altLang="en-US" dirty="0">
                <a:solidFill>
                  <a:srgbClr val="99FF33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dirty="0">
                <a:solidFill>
                  <a:srgbClr val="FFFF99"/>
                </a:solidFill>
                <a:latin typeface="Times New Roman" panose="02020603050405020304" pitchFamily="18" charset="0"/>
              </a:rPr>
              <a:t>长为</a:t>
            </a:r>
            <a:r>
              <a:rPr kumimoji="1" lang="en-US" altLang="zh-CN" i="1" dirty="0">
                <a:solidFill>
                  <a:srgbClr val="FF9900"/>
                </a:solidFill>
                <a:latin typeface="Times New Roman" panose="02020603050405020304" pitchFamily="18" charset="0"/>
              </a:rPr>
              <a:t>l </a:t>
            </a:r>
            <a:r>
              <a:rPr kumimoji="1" lang="zh-CN" altLang="en-US" dirty="0">
                <a:solidFill>
                  <a:srgbClr val="FFFF99"/>
                </a:solidFill>
                <a:latin typeface="Times New Roman" panose="02020603050405020304" pitchFamily="18" charset="0"/>
              </a:rPr>
              <a:t>、质量为 </a:t>
            </a:r>
            <a:r>
              <a:rPr kumimoji="1" lang="en-US" altLang="zh-CN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 </a:t>
            </a:r>
            <a:r>
              <a:rPr kumimoji="1" lang="zh-CN" altLang="en-US" dirty="0">
                <a:solidFill>
                  <a:srgbClr val="FFFF99"/>
                </a:solidFill>
                <a:latin typeface="Times New Roman" panose="02020603050405020304" pitchFamily="18" charset="0"/>
              </a:rPr>
              <a:t>的均质杆，一端悬挂，可绕通过</a:t>
            </a:r>
            <a:r>
              <a:rPr kumimoji="1" lang="en-US" altLang="zh-CN" i="1" dirty="0">
                <a:solidFill>
                  <a:srgbClr val="FF9900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dirty="0">
                <a:solidFill>
                  <a:srgbClr val="FFFF99"/>
                </a:solidFill>
                <a:latin typeface="Times New Roman" panose="02020603050405020304" pitchFamily="18" charset="0"/>
              </a:rPr>
              <a:t>点垂直于纸面的轴转动。今让杆自水平位置无初速地落下，在铅垂位置与质量为 </a:t>
            </a:r>
            <a:r>
              <a:rPr kumimoji="1" lang="en-US" altLang="zh-CN" i="1" dirty="0">
                <a:solidFill>
                  <a:srgbClr val="FF9900"/>
                </a:solidFill>
                <a:latin typeface="Times New Roman" panose="02020603050405020304" pitchFamily="18" charset="0"/>
              </a:rPr>
              <a:t>m </a:t>
            </a:r>
            <a:r>
              <a:rPr kumimoji="1" lang="zh-CN" altLang="en-US" dirty="0">
                <a:solidFill>
                  <a:srgbClr val="FFFF99"/>
                </a:solidFill>
                <a:latin typeface="Times New Roman" panose="02020603050405020304" pitchFamily="18" charset="0"/>
              </a:rPr>
              <a:t>的物体 </a:t>
            </a:r>
            <a:r>
              <a:rPr kumimoji="1" lang="en-US" altLang="zh-CN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 </a:t>
            </a:r>
            <a:r>
              <a:rPr kumimoji="1" lang="zh-CN" altLang="en-US" dirty="0">
                <a:solidFill>
                  <a:srgbClr val="FFFF99"/>
                </a:solidFill>
                <a:latin typeface="Times New Roman" panose="02020603050405020304" pitchFamily="18" charset="0"/>
              </a:rPr>
              <a:t>作完全非弹性碰撞，如图所示，碰撞后物体沿摩擦系数为 </a:t>
            </a:r>
            <a:r>
              <a:rPr kumimoji="1" lang="zh-CN" altLang="en-US" i="1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kumimoji="1" lang="zh-CN" altLang="en-US" i="1" dirty="0">
                <a:solidFill>
                  <a:srgbClr val="FFFF99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dirty="0">
                <a:solidFill>
                  <a:srgbClr val="FFFF99"/>
                </a:solidFill>
                <a:latin typeface="Times New Roman" panose="02020603050405020304" pitchFamily="18" charset="0"/>
              </a:rPr>
              <a:t>的水平面滑动。</a:t>
            </a: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0AE6A3A1-D429-99CB-5C9D-59F86A15E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744" y="2231019"/>
            <a:ext cx="2403475" cy="3916362"/>
          </a:xfrm>
          <a:prstGeom prst="rect">
            <a:avLst/>
          </a:prstGeom>
          <a:solidFill>
            <a:srgbClr val="CCFFFF"/>
          </a:solidFill>
          <a:ln w="9525">
            <a:solidFill>
              <a:srgbClr val="FF3300"/>
            </a:solidFill>
            <a:miter lim="800000"/>
            <a:headEnd/>
            <a:tailEnd/>
          </a:ln>
        </p:spPr>
      </p:pic>
      <p:sp>
        <p:nvSpPr>
          <p:cNvPr id="7172" name="Rectangle 4">
            <a:extLst>
              <a:ext uri="{FF2B5EF4-FFF2-40B4-BE49-F238E27FC236}">
                <a16:creationId xmlns:a16="http://schemas.microsoft.com/office/drawing/2014/main" id="{EBED20B5-4E89-DA27-53AB-E4BE64CE9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4" y="2006187"/>
            <a:ext cx="472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/>
            <a:r>
              <a:rPr kumimoji="1" lang="zh-CN" altLang="en-US" dirty="0">
                <a:solidFill>
                  <a:srgbClr val="99FF33"/>
                </a:solidFill>
                <a:latin typeface="Times New Roman" panose="02020603050405020304" pitchFamily="18" charset="0"/>
              </a:rPr>
              <a:t>求</a:t>
            </a:r>
            <a:r>
              <a:rPr kumimoji="1" lang="en-US" altLang="zh-CN" dirty="0">
                <a:solidFill>
                  <a:srgbClr val="FFFF99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dirty="0">
                <a:solidFill>
                  <a:srgbClr val="FFFF99"/>
                </a:solidFill>
                <a:latin typeface="Times New Roman" panose="02020603050405020304" pitchFamily="18" charset="0"/>
              </a:rPr>
              <a:t>物体 </a:t>
            </a:r>
            <a:r>
              <a:rPr kumimoji="1" lang="en-US" altLang="zh-CN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 </a:t>
            </a:r>
            <a:r>
              <a:rPr kumimoji="1" lang="zh-CN" altLang="en-US" dirty="0">
                <a:solidFill>
                  <a:srgbClr val="FFFF99"/>
                </a:solidFill>
                <a:latin typeface="Times New Roman" panose="02020603050405020304" pitchFamily="18" charset="0"/>
              </a:rPr>
              <a:t>沿水平面滑动的距离。</a:t>
            </a:r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010489B9-EF47-7DAE-631E-877614D0C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63683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/>
            <a:r>
              <a:rPr kumimoji="1" lang="zh-CN" altLang="en-US">
                <a:solidFill>
                  <a:srgbClr val="99FF33"/>
                </a:solidFill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112646" name="Object 6">
            <a:extLst>
              <a:ext uri="{FF2B5EF4-FFF2-40B4-BE49-F238E27FC236}">
                <a16:creationId xmlns:a16="http://schemas.microsoft.com/office/drawing/2014/main" id="{8C418AF0-BCE8-ED92-6A0C-9160BFD752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0671041"/>
              </p:ext>
            </p:extLst>
          </p:nvPr>
        </p:nvGraphicFramePr>
        <p:xfrm>
          <a:off x="824491" y="2608117"/>
          <a:ext cx="258603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544893" imgH="655375" progId="Equation.3">
                  <p:embed/>
                </p:oleObj>
              </mc:Choice>
              <mc:Fallback>
                <p:oleObj name="公式" r:id="rId3" imgW="2544893" imgH="655375" progId="Equation.3">
                  <p:embed/>
                  <p:pic>
                    <p:nvPicPr>
                      <p:cNvPr id="112646" name="Object 6">
                        <a:extLst>
                          <a:ext uri="{FF2B5EF4-FFF2-40B4-BE49-F238E27FC236}">
                            <a16:creationId xmlns:a16="http://schemas.microsoft.com/office/drawing/2014/main" id="{8C418AF0-BCE8-ED92-6A0C-9160BFD752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491" y="2608117"/>
                        <a:ext cx="258603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7" name="Object 7">
            <a:extLst>
              <a:ext uri="{FF2B5EF4-FFF2-40B4-BE49-F238E27FC236}">
                <a16:creationId xmlns:a16="http://schemas.microsoft.com/office/drawing/2014/main" id="{3A6EA4EE-A6A5-52CC-B2F2-DEA7EB600D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9243286"/>
              </p:ext>
            </p:extLst>
          </p:nvPr>
        </p:nvGraphicFramePr>
        <p:xfrm>
          <a:off x="3634944" y="2592253"/>
          <a:ext cx="14954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55576" imgH="655375" progId="Equation.3">
                  <p:embed/>
                </p:oleObj>
              </mc:Choice>
              <mc:Fallback>
                <p:oleObj name="公式" r:id="rId5" imgW="1455576" imgH="655375" progId="Equation.3">
                  <p:embed/>
                  <p:pic>
                    <p:nvPicPr>
                      <p:cNvPr id="112647" name="Object 7">
                        <a:extLst>
                          <a:ext uri="{FF2B5EF4-FFF2-40B4-BE49-F238E27FC236}">
                            <a16:creationId xmlns:a16="http://schemas.microsoft.com/office/drawing/2014/main" id="{3A6EA4EE-A6A5-52CC-B2F2-DEA7EB600D3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4944" y="2592253"/>
                        <a:ext cx="14954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8" name="Object 8">
            <a:extLst>
              <a:ext uri="{FF2B5EF4-FFF2-40B4-BE49-F238E27FC236}">
                <a16:creationId xmlns:a16="http://schemas.microsoft.com/office/drawing/2014/main" id="{8388B80F-17BD-7385-0D8B-C12DEDB98A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862020"/>
              </p:ext>
            </p:extLst>
          </p:nvPr>
        </p:nvGraphicFramePr>
        <p:xfrm>
          <a:off x="5331800" y="2484438"/>
          <a:ext cx="117951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135598" imgH="716225" progId="Equation.3">
                  <p:embed/>
                </p:oleObj>
              </mc:Choice>
              <mc:Fallback>
                <p:oleObj name="公式" r:id="rId7" imgW="1135598" imgH="716225" progId="Equation.3">
                  <p:embed/>
                  <p:pic>
                    <p:nvPicPr>
                      <p:cNvPr id="112648" name="Object 8">
                        <a:extLst>
                          <a:ext uri="{FF2B5EF4-FFF2-40B4-BE49-F238E27FC236}">
                            <a16:creationId xmlns:a16="http://schemas.microsoft.com/office/drawing/2014/main" id="{8388B80F-17BD-7385-0D8B-C12DEDB98A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1800" y="2484438"/>
                        <a:ext cx="1179512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9" name="Object 9">
            <a:extLst>
              <a:ext uri="{FF2B5EF4-FFF2-40B4-BE49-F238E27FC236}">
                <a16:creationId xmlns:a16="http://schemas.microsoft.com/office/drawing/2014/main" id="{9C2C75A3-C007-B272-8020-2D9398C7B9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1157448"/>
              </p:ext>
            </p:extLst>
          </p:nvPr>
        </p:nvGraphicFramePr>
        <p:xfrm>
          <a:off x="354012" y="3551384"/>
          <a:ext cx="2660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621529" imgH="396018" progId="Equation.3">
                  <p:embed/>
                </p:oleObj>
              </mc:Choice>
              <mc:Fallback>
                <p:oleObj name="公式" r:id="rId9" imgW="2621529" imgH="396018" progId="Equation.3">
                  <p:embed/>
                  <p:pic>
                    <p:nvPicPr>
                      <p:cNvPr id="112649" name="Object 9">
                        <a:extLst>
                          <a:ext uri="{FF2B5EF4-FFF2-40B4-BE49-F238E27FC236}">
                            <a16:creationId xmlns:a16="http://schemas.microsoft.com/office/drawing/2014/main" id="{9C2C75A3-C007-B272-8020-2D9398C7B95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2" y="3551384"/>
                        <a:ext cx="26606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0" name="Object 10">
            <a:extLst>
              <a:ext uri="{FF2B5EF4-FFF2-40B4-BE49-F238E27FC236}">
                <a16:creationId xmlns:a16="http://schemas.microsoft.com/office/drawing/2014/main" id="{977BBEBD-A6D6-EF7B-6544-A35599604C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848305"/>
              </p:ext>
            </p:extLst>
          </p:nvPr>
        </p:nvGraphicFramePr>
        <p:xfrm>
          <a:off x="297511" y="4433316"/>
          <a:ext cx="39290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893976" imgH="754629" progId="Equation.3">
                  <p:embed/>
                </p:oleObj>
              </mc:Choice>
              <mc:Fallback>
                <p:oleObj name="公式" r:id="rId11" imgW="3893976" imgH="754629" progId="Equation.3">
                  <p:embed/>
                  <p:pic>
                    <p:nvPicPr>
                      <p:cNvPr id="112650" name="Object 10">
                        <a:extLst>
                          <a:ext uri="{FF2B5EF4-FFF2-40B4-BE49-F238E27FC236}">
                            <a16:creationId xmlns:a16="http://schemas.microsoft.com/office/drawing/2014/main" id="{977BBEBD-A6D6-EF7B-6544-A35599604CE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511" y="4433316"/>
                        <a:ext cx="392906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651" name="Picture 11">
            <a:extLst>
              <a:ext uri="{FF2B5EF4-FFF2-40B4-BE49-F238E27FC236}">
                <a16:creationId xmlns:a16="http://schemas.microsoft.com/office/drawing/2014/main" id="{9A433F89-7D50-C0D1-EAC2-B4FFFBB64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813" y="6405563"/>
            <a:ext cx="611187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0">
            <a:extLst>
              <a:ext uri="{FF2B5EF4-FFF2-40B4-BE49-F238E27FC236}">
                <a16:creationId xmlns:a16="http://schemas.microsoft.com/office/drawing/2014/main" id="{CAE8274F-64EF-0E96-CBC3-0CE15D6166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9126062"/>
              </p:ext>
            </p:extLst>
          </p:nvPr>
        </p:nvGraphicFramePr>
        <p:xfrm>
          <a:off x="4510554" y="3755889"/>
          <a:ext cx="18002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60127" imgH="1097280" progId="Equation.3">
                  <p:embed/>
                </p:oleObj>
              </mc:Choice>
              <mc:Fallback>
                <p:oleObj name="公式" r:id="rId14" imgW="1760127" imgH="1097280" progId="Equation.3">
                  <p:embed/>
                  <p:pic>
                    <p:nvPicPr>
                      <p:cNvPr id="113674" name="Object 10">
                        <a:extLst>
                          <a:ext uri="{FF2B5EF4-FFF2-40B4-BE49-F238E27FC236}">
                            <a16:creationId xmlns:a16="http://schemas.microsoft.com/office/drawing/2014/main" id="{60AB8EF4-24F1-2E08-92E8-C42CF0B1C28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554" y="3755889"/>
                        <a:ext cx="180022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9B390AAA-283E-D30E-B4E9-1AA7693752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9809585"/>
              </p:ext>
            </p:extLst>
          </p:nvPr>
        </p:nvGraphicFramePr>
        <p:xfrm>
          <a:off x="354012" y="5522633"/>
          <a:ext cx="31686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131602" imgH="655375" progId="Equation.3">
                  <p:embed/>
                </p:oleObj>
              </mc:Choice>
              <mc:Fallback>
                <p:oleObj name="公式" r:id="rId16" imgW="3131602" imgH="655375" progId="Equation.3">
                  <p:embed/>
                  <p:pic>
                    <p:nvPicPr>
                      <p:cNvPr id="113675" name="Object 11">
                        <a:extLst>
                          <a:ext uri="{FF2B5EF4-FFF2-40B4-BE49-F238E27FC236}">
                            <a16:creationId xmlns:a16="http://schemas.microsoft.com/office/drawing/2014/main" id="{7C9057E4-80C9-16B6-5956-6A1311CFD0C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2" y="5522633"/>
                        <a:ext cx="316865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6" name="Object 12">
            <a:extLst>
              <a:ext uri="{FF2B5EF4-FFF2-40B4-BE49-F238E27FC236}">
                <a16:creationId xmlns:a16="http://schemas.microsoft.com/office/drawing/2014/main" id="{7C011EF8-4503-3E24-48AA-741A8A85DC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0026002"/>
              </p:ext>
            </p:extLst>
          </p:nvPr>
        </p:nvGraphicFramePr>
        <p:xfrm>
          <a:off x="4052275" y="5420384"/>
          <a:ext cx="245903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415509" imgH="807498" progId="Equation.3">
                  <p:embed/>
                </p:oleObj>
              </mc:Choice>
              <mc:Fallback>
                <p:oleObj name="公式" r:id="rId18" imgW="2415509" imgH="807498" progId="Equation.3">
                  <p:embed/>
                  <p:pic>
                    <p:nvPicPr>
                      <p:cNvPr id="113676" name="Object 12">
                        <a:extLst>
                          <a:ext uri="{FF2B5EF4-FFF2-40B4-BE49-F238E27FC236}">
                            <a16:creationId xmlns:a16="http://schemas.microsoft.com/office/drawing/2014/main" id="{7C011EF8-4503-3E24-48AA-741A8A85DC5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2275" y="5420384"/>
                        <a:ext cx="2459037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Text Box 2">
            <a:extLst>
              <a:ext uri="{FF2B5EF4-FFF2-40B4-BE49-F238E27FC236}">
                <a16:creationId xmlns:a16="http://schemas.microsoft.com/office/drawing/2014/main" id="{AD1E084D-5751-E4CD-72E8-D9835512D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52400"/>
            <a:ext cx="411480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rgbClr val="FFFF99"/>
                </a:solidFill>
                <a:ea typeface="楷体_GB2312" pitchFamily="49" charset="-122"/>
              </a:rPr>
              <a:t>例</a:t>
            </a:r>
            <a:r>
              <a:rPr lang="en-US" altLang="zh-CN">
                <a:solidFill>
                  <a:srgbClr val="FFFF99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FFFF99"/>
                </a:solidFill>
                <a:ea typeface="楷体_GB2312" pitchFamily="49" charset="-122"/>
              </a:rPr>
              <a:t>一力学系统，如图示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。  </a:t>
            </a:r>
          </a:p>
        </p:txBody>
      </p:sp>
      <p:sp>
        <p:nvSpPr>
          <p:cNvPr id="209923" name="Text Box 3">
            <a:extLst>
              <a:ext uri="{FF2B5EF4-FFF2-40B4-BE49-F238E27FC236}">
                <a16:creationId xmlns:a16="http://schemas.microsoft.com/office/drawing/2014/main" id="{FC34D7FF-D640-FF50-8869-16CD002B3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52400"/>
            <a:ext cx="541020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已知：子弹和小球的质量均为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m</a:t>
            </a: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, </a:t>
            </a:r>
            <a:r>
              <a:rPr lang="zh-CN" altLang="zh-CN">
                <a:solidFill>
                  <a:schemeClr val="hlink"/>
                </a:solidFill>
                <a:ea typeface="楷体_GB2312" pitchFamily="49" charset="-122"/>
              </a:rPr>
              <a:t>弹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   </a:t>
            </a:r>
          </a:p>
        </p:txBody>
      </p:sp>
      <p:sp>
        <p:nvSpPr>
          <p:cNvPr id="209924" name="Text Box 4">
            <a:extLst>
              <a:ext uri="{FF2B5EF4-FFF2-40B4-BE49-F238E27FC236}">
                <a16:creationId xmlns:a16="http://schemas.microsoft.com/office/drawing/2014/main" id="{639038C5-C160-758D-0E09-B2490C0DD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09600"/>
            <a:ext cx="3200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簧的劲度系数为</a:t>
            </a:r>
            <a:r>
              <a:rPr lang="zh-CN" altLang="en-US" i="1">
                <a:solidFill>
                  <a:srgbClr val="FFFF00"/>
                </a:solidFill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k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。</a:t>
            </a:r>
          </a:p>
        </p:txBody>
      </p:sp>
      <p:sp>
        <p:nvSpPr>
          <p:cNvPr id="209925" name="Text Box 5">
            <a:extLst>
              <a:ext uri="{FF2B5EF4-FFF2-40B4-BE49-F238E27FC236}">
                <a16:creationId xmlns:a16="http://schemas.microsoft.com/office/drawing/2014/main" id="{C40BA436-E8D7-98D6-6E2E-B100D7401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09600"/>
            <a:ext cx="26590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rgbClr val="FFFF99"/>
                </a:solidFill>
                <a:ea typeface="楷体_GB2312" pitchFamily="49" charset="-122"/>
              </a:rPr>
              <a:t>求小球末态速度？</a:t>
            </a:r>
          </a:p>
        </p:txBody>
      </p:sp>
      <p:sp>
        <p:nvSpPr>
          <p:cNvPr id="209926" name="Rectangle 6">
            <a:extLst>
              <a:ext uri="{FF2B5EF4-FFF2-40B4-BE49-F238E27FC236}">
                <a16:creationId xmlns:a16="http://schemas.microsoft.com/office/drawing/2014/main" id="{74DE97DC-AC30-C06B-2B13-0137259BE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057400"/>
            <a:ext cx="4953000" cy="2438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zh-CN" b="0">
              <a:ea typeface="楷体_GB2312" pitchFamily="49" charset="-122"/>
            </a:endParaRPr>
          </a:p>
        </p:txBody>
      </p:sp>
      <p:sp>
        <p:nvSpPr>
          <p:cNvPr id="209927" name="Freeform 7">
            <a:extLst>
              <a:ext uri="{FF2B5EF4-FFF2-40B4-BE49-F238E27FC236}">
                <a16:creationId xmlns:a16="http://schemas.microsoft.com/office/drawing/2014/main" id="{8BD4AA1C-910E-A9C9-59D7-DC0058BF5CFA}"/>
              </a:ext>
            </a:extLst>
          </p:cNvPr>
          <p:cNvSpPr>
            <a:spLocks/>
          </p:cNvSpPr>
          <p:nvPr/>
        </p:nvSpPr>
        <p:spPr bwMode="auto">
          <a:xfrm rot="-61431">
            <a:off x="4953000" y="2667000"/>
            <a:ext cx="2974975" cy="158750"/>
          </a:xfrm>
          <a:custGeom>
            <a:avLst/>
            <a:gdLst>
              <a:gd name="T0" fmla="*/ 0 w 1200"/>
              <a:gd name="T1" fmla="*/ 130481824 h 104"/>
              <a:gd name="T2" fmla="*/ 590031665 w 1200"/>
              <a:gd name="T3" fmla="*/ 18640914 h 104"/>
              <a:gd name="T4" fmla="*/ 1180063330 w 1200"/>
              <a:gd name="T5" fmla="*/ 242322741 h 104"/>
              <a:gd name="T6" fmla="*/ 1770095150 w 1200"/>
              <a:gd name="T7" fmla="*/ 18640914 h 104"/>
              <a:gd name="T8" fmla="*/ 2147483647 w 1200"/>
              <a:gd name="T9" fmla="*/ 242322741 h 104"/>
              <a:gd name="T10" fmla="*/ 2147483647 w 1200"/>
              <a:gd name="T11" fmla="*/ 18640914 h 104"/>
              <a:gd name="T12" fmla="*/ 2147483647 w 1200"/>
              <a:gd name="T13" fmla="*/ 242322741 h 104"/>
              <a:gd name="T14" fmla="*/ 2147483647 w 1200"/>
              <a:gd name="T15" fmla="*/ 18640914 h 104"/>
              <a:gd name="T16" fmla="*/ 2147483647 w 1200"/>
              <a:gd name="T17" fmla="*/ 242322741 h 104"/>
              <a:gd name="T18" fmla="*/ 2147483647 w 1200"/>
              <a:gd name="T19" fmla="*/ 18640914 h 104"/>
              <a:gd name="T20" fmla="*/ 2147483647 w 1200"/>
              <a:gd name="T21" fmla="*/ 242322741 h 104"/>
              <a:gd name="T22" fmla="*/ 2147483647 w 1200"/>
              <a:gd name="T23" fmla="*/ 18640914 h 104"/>
              <a:gd name="T24" fmla="*/ 2147483647 w 1200"/>
              <a:gd name="T25" fmla="*/ 242322741 h 10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200"/>
              <a:gd name="T40" fmla="*/ 0 h 104"/>
              <a:gd name="T41" fmla="*/ 1200 w 1200"/>
              <a:gd name="T42" fmla="*/ 104 h 104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200" h="104">
                <a:moveTo>
                  <a:pt x="0" y="56"/>
                </a:moveTo>
                <a:cubicBezTo>
                  <a:pt x="32" y="28"/>
                  <a:pt x="64" y="0"/>
                  <a:pt x="96" y="8"/>
                </a:cubicBezTo>
                <a:cubicBezTo>
                  <a:pt x="128" y="16"/>
                  <a:pt x="160" y="104"/>
                  <a:pt x="192" y="104"/>
                </a:cubicBezTo>
                <a:cubicBezTo>
                  <a:pt x="224" y="104"/>
                  <a:pt x="256" y="8"/>
                  <a:pt x="288" y="8"/>
                </a:cubicBezTo>
                <a:cubicBezTo>
                  <a:pt x="320" y="8"/>
                  <a:pt x="352" y="104"/>
                  <a:pt x="384" y="104"/>
                </a:cubicBezTo>
                <a:cubicBezTo>
                  <a:pt x="416" y="104"/>
                  <a:pt x="448" y="8"/>
                  <a:pt x="480" y="8"/>
                </a:cubicBezTo>
                <a:cubicBezTo>
                  <a:pt x="512" y="8"/>
                  <a:pt x="544" y="104"/>
                  <a:pt x="576" y="104"/>
                </a:cubicBezTo>
                <a:cubicBezTo>
                  <a:pt x="608" y="104"/>
                  <a:pt x="640" y="8"/>
                  <a:pt x="672" y="8"/>
                </a:cubicBezTo>
                <a:cubicBezTo>
                  <a:pt x="704" y="8"/>
                  <a:pt x="736" y="104"/>
                  <a:pt x="768" y="104"/>
                </a:cubicBezTo>
                <a:cubicBezTo>
                  <a:pt x="800" y="104"/>
                  <a:pt x="832" y="8"/>
                  <a:pt x="864" y="8"/>
                </a:cubicBezTo>
                <a:cubicBezTo>
                  <a:pt x="896" y="8"/>
                  <a:pt x="920" y="104"/>
                  <a:pt x="960" y="104"/>
                </a:cubicBezTo>
                <a:cubicBezTo>
                  <a:pt x="1000" y="104"/>
                  <a:pt x="1064" y="8"/>
                  <a:pt x="1104" y="8"/>
                </a:cubicBezTo>
                <a:cubicBezTo>
                  <a:pt x="1144" y="8"/>
                  <a:pt x="1184" y="88"/>
                  <a:pt x="1200" y="104"/>
                </a:cubicBezTo>
              </a:path>
            </a:pathLst>
          </a:cu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928" name="Freeform 8">
            <a:extLst>
              <a:ext uri="{FF2B5EF4-FFF2-40B4-BE49-F238E27FC236}">
                <a16:creationId xmlns:a16="http://schemas.microsoft.com/office/drawing/2014/main" id="{E987B24F-3AAA-9E08-71DC-77AD8F3EF9CB}"/>
              </a:ext>
            </a:extLst>
          </p:cNvPr>
          <p:cNvSpPr>
            <a:spLocks/>
          </p:cNvSpPr>
          <p:nvPr/>
        </p:nvSpPr>
        <p:spPr bwMode="auto">
          <a:xfrm rot="5308480">
            <a:off x="4415631" y="3193257"/>
            <a:ext cx="1139825" cy="236538"/>
          </a:xfrm>
          <a:custGeom>
            <a:avLst/>
            <a:gdLst>
              <a:gd name="T0" fmla="*/ 0 w 1200"/>
              <a:gd name="T1" fmla="*/ 289683981 h 104"/>
              <a:gd name="T2" fmla="*/ 86613396 w 1200"/>
              <a:gd name="T3" fmla="*/ 41382784 h 104"/>
              <a:gd name="T4" fmla="*/ 173226793 w 1200"/>
              <a:gd name="T5" fmla="*/ 537982921 h 104"/>
              <a:gd name="T6" fmla="*/ 259840219 w 1200"/>
              <a:gd name="T7" fmla="*/ 41382784 h 104"/>
              <a:gd name="T8" fmla="*/ 346453586 w 1200"/>
              <a:gd name="T9" fmla="*/ 537982921 h 104"/>
              <a:gd name="T10" fmla="*/ 433066953 w 1200"/>
              <a:gd name="T11" fmla="*/ 41382784 h 104"/>
              <a:gd name="T12" fmla="*/ 519680438 w 1200"/>
              <a:gd name="T13" fmla="*/ 537982921 h 104"/>
              <a:gd name="T14" fmla="*/ 606293805 w 1200"/>
              <a:gd name="T15" fmla="*/ 41382784 h 104"/>
              <a:gd name="T16" fmla="*/ 692907172 w 1200"/>
              <a:gd name="T17" fmla="*/ 537982921 h 104"/>
              <a:gd name="T18" fmla="*/ 779520539 w 1200"/>
              <a:gd name="T19" fmla="*/ 41382784 h 104"/>
              <a:gd name="T20" fmla="*/ 866133905 w 1200"/>
              <a:gd name="T21" fmla="*/ 537982921 h 104"/>
              <a:gd name="T22" fmla="*/ 996054193 w 1200"/>
              <a:gd name="T23" fmla="*/ 41382784 h 104"/>
              <a:gd name="T24" fmla="*/ 1082667560 w 1200"/>
              <a:gd name="T25" fmla="*/ 537982921 h 10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200"/>
              <a:gd name="T40" fmla="*/ 0 h 104"/>
              <a:gd name="T41" fmla="*/ 1200 w 1200"/>
              <a:gd name="T42" fmla="*/ 104 h 104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200" h="104">
                <a:moveTo>
                  <a:pt x="0" y="56"/>
                </a:moveTo>
                <a:cubicBezTo>
                  <a:pt x="32" y="28"/>
                  <a:pt x="64" y="0"/>
                  <a:pt x="96" y="8"/>
                </a:cubicBezTo>
                <a:cubicBezTo>
                  <a:pt x="128" y="16"/>
                  <a:pt x="160" y="104"/>
                  <a:pt x="192" y="104"/>
                </a:cubicBezTo>
                <a:cubicBezTo>
                  <a:pt x="224" y="104"/>
                  <a:pt x="256" y="8"/>
                  <a:pt x="288" y="8"/>
                </a:cubicBezTo>
                <a:cubicBezTo>
                  <a:pt x="320" y="8"/>
                  <a:pt x="352" y="104"/>
                  <a:pt x="384" y="104"/>
                </a:cubicBezTo>
                <a:cubicBezTo>
                  <a:pt x="416" y="104"/>
                  <a:pt x="448" y="8"/>
                  <a:pt x="480" y="8"/>
                </a:cubicBezTo>
                <a:cubicBezTo>
                  <a:pt x="512" y="8"/>
                  <a:pt x="544" y="104"/>
                  <a:pt x="576" y="104"/>
                </a:cubicBezTo>
                <a:cubicBezTo>
                  <a:pt x="608" y="104"/>
                  <a:pt x="640" y="8"/>
                  <a:pt x="672" y="8"/>
                </a:cubicBezTo>
                <a:cubicBezTo>
                  <a:pt x="704" y="8"/>
                  <a:pt x="736" y="104"/>
                  <a:pt x="768" y="104"/>
                </a:cubicBezTo>
                <a:cubicBezTo>
                  <a:pt x="800" y="104"/>
                  <a:pt x="832" y="8"/>
                  <a:pt x="864" y="8"/>
                </a:cubicBezTo>
                <a:cubicBezTo>
                  <a:pt x="896" y="8"/>
                  <a:pt x="920" y="104"/>
                  <a:pt x="960" y="104"/>
                </a:cubicBezTo>
                <a:cubicBezTo>
                  <a:pt x="1000" y="104"/>
                  <a:pt x="1064" y="8"/>
                  <a:pt x="1104" y="8"/>
                </a:cubicBezTo>
                <a:cubicBezTo>
                  <a:pt x="1144" y="8"/>
                  <a:pt x="1184" y="88"/>
                  <a:pt x="1200" y="104"/>
                </a:cubicBezTo>
              </a:path>
            </a:pathLst>
          </a:cu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929" name="Oval 9">
            <a:extLst>
              <a:ext uri="{FF2B5EF4-FFF2-40B4-BE49-F238E27FC236}">
                <a16:creationId xmlns:a16="http://schemas.microsoft.com/office/drawing/2014/main" id="{45E894A1-0260-1EDF-6B15-D9E5F328A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667000"/>
            <a:ext cx="152400" cy="1555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09930" name="Oval 10">
            <a:extLst>
              <a:ext uri="{FF2B5EF4-FFF2-40B4-BE49-F238E27FC236}">
                <a16:creationId xmlns:a16="http://schemas.microsoft.com/office/drawing/2014/main" id="{24ED8D60-51A0-901A-6323-8C1B678E2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873500"/>
            <a:ext cx="381000" cy="3937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09931" name="Oval 11">
            <a:extLst>
              <a:ext uri="{FF2B5EF4-FFF2-40B4-BE49-F238E27FC236}">
                <a16:creationId xmlns:a16="http://schemas.microsoft.com/office/drawing/2014/main" id="{B1DA8EBA-6089-C524-050B-4D5BA9A06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775" y="2584450"/>
            <a:ext cx="381000" cy="3937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09932" name="Line 12">
            <a:extLst>
              <a:ext uri="{FF2B5EF4-FFF2-40B4-BE49-F238E27FC236}">
                <a16:creationId xmlns:a16="http://schemas.microsoft.com/office/drawing/2014/main" id="{D3A1DE63-4E37-7275-34D5-18D1A7DA69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7200" y="2057400"/>
            <a:ext cx="685800" cy="630238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933" name="Oval 13">
            <a:extLst>
              <a:ext uri="{FF2B5EF4-FFF2-40B4-BE49-F238E27FC236}">
                <a16:creationId xmlns:a16="http://schemas.microsoft.com/office/drawing/2014/main" id="{C17C1FA8-F1FA-0BA1-8F28-CF82D74EC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035425"/>
            <a:ext cx="228600" cy="7937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09934" name="Line 14">
            <a:extLst>
              <a:ext uri="{FF2B5EF4-FFF2-40B4-BE49-F238E27FC236}">
                <a16:creationId xmlns:a16="http://schemas.microsoft.com/office/drawing/2014/main" id="{981583BA-8EA1-39AB-0AB5-EC938387A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267200"/>
            <a:ext cx="5334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935" name="Text Box 15">
            <a:extLst>
              <a:ext uri="{FF2B5EF4-FFF2-40B4-BE49-F238E27FC236}">
                <a16:creationId xmlns:a16="http://schemas.microsoft.com/office/drawing/2014/main" id="{FFB57534-9886-B423-D01F-048FBFF64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209800"/>
            <a:ext cx="3397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ea typeface="楷体_GB2312" pitchFamily="49" charset="-122"/>
              </a:rPr>
              <a:t>O</a:t>
            </a:r>
            <a:endParaRPr lang="en-US" altLang="zh-CN" b="0">
              <a:ea typeface="楷体_GB2312" pitchFamily="49" charset="-122"/>
            </a:endParaRPr>
          </a:p>
        </p:txBody>
      </p:sp>
      <p:sp>
        <p:nvSpPr>
          <p:cNvPr id="209936" name="Text Box 16">
            <a:extLst>
              <a:ext uri="{FF2B5EF4-FFF2-40B4-BE49-F238E27FC236}">
                <a16:creationId xmlns:a16="http://schemas.microsoft.com/office/drawing/2014/main" id="{29F3F87B-0CFC-8530-9A59-0D47E3D2B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794125"/>
            <a:ext cx="3397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ea typeface="楷体_GB2312" pitchFamily="49" charset="-122"/>
              </a:rPr>
              <a:t>m</a:t>
            </a:r>
            <a:endParaRPr lang="en-US" altLang="zh-CN" b="0">
              <a:ea typeface="楷体_GB2312" pitchFamily="49" charset="-122"/>
            </a:endParaRPr>
          </a:p>
        </p:txBody>
      </p:sp>
      <p:sp>
        <p:nvSpPr>
          <p:cNvPr id="209937" name="Oval 17">
            <a:extLst>
              <a:ext uri="{FF2B5EF4-FFF2-40B4-BE49-F238E27FC236}">
                <a16:creationId xmlns:a16="http://schemas.microsoft.com/office/drawing/2014/main" id="{B398C9B8-A6CD-3F40-8BE5-FA7464D391A8}"/>
              </a:ext>
            </a:extLst>
          </p:cNvPr>
          <p:cNvSpPr>
            <a:spLocks noChangeArrowheads="1"/>
          </p:cNvSpPr>
          <p:nvPr/>
        </p:nvSpPr>
        <p:spPr bwMode="auto">
          <a:xfrm rot="-5173042">
            <a:off x="7924006" y="2745582"/>
            <a:ext cx="236537" cy="762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09938" name="Text Box 18">
            <a:extLst>
              <a:ext uri="{FF2B5EF4-FFF2-40B4-BE49-F238E27FC236}">
                <a16:creationId xmlns:a16="http://schemas.microsoft.com/office/drawing/2014/main" id="{9FC6D4E5-BB81-E090-D655-E27EB23CB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209800"/>
            <a:ext cx="3397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ea typeface="楷体_GB2312" pitchFamily="49" charset="-122"/>
              </a:rPr>
              <a:t>k</a:t>
            </a:r>
            <a:endParaRPr lang="en-US" altLang="zh-CN" b="0">
              <a:ea typeface="楷体_GB2312" pitchFamily="49" charset="-122"/>
            </a:endParaRPr>
          </a:p>
        </p:txBody>
      </p:sp>
      <p:sp>
        <p:nvSpPr>
          <p:cNvPr id="209939" name="Text Box 19">
            <a:extLst>
              <a:ext uri="{FF2B5EF4-FFF2-40B4-BE49-F238E27FC236}">
                <a16:creationId xmlns:a16="http://schemas.microsoft.com/office/drawing/2014/main" id="{9066D6E8-F1DD-0ABF-C95E-B125C1E85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066800"/>
            <a:ext cx="9588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解：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209940" name="Text Box 20">
            <a:extLst>
              <a:ext uri="{FF2B5EF4-FFF2-40B4-BE49-F238E27FC236}">
                <a16:creationId xmlns:a16="http://schemas.microsoft.com/office/drawing/2014/main" id="{B33CBABA-A36A-2388-7FB2-03722D78A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087438"/>
            <a:ext cx="3352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00FF00"/>
                </a:solidFill>
                <a:ea typeface="楷体_GB2312" pitchFamily="49" charset="-122"/>
              </a:rPr>
              <a:t>• </a:t>
            </a:r>
            <a:r>
              <a:rPr lang="zh-CN" altLang="en-US" i="1">
                <a:solidFill>
                  <a:srgbClr val="00FF00"/>
                </a:solidFill>
                <a:ea typeface="楷体_GB2312" pitchFamily="49" charset="-122"/>
              </a:rPr>
              <a:t>初态，</a:t>
            </a:r>
            <a:r>
              <a:rPr lang="zh-CN" altLang="en-US" i="1">
                <a:solidFill>
                  <a:schemeClr val="hlink"/>
                </a:solidFill>
                <a:ea typeface="楷体_GB2312" pitchFamily="49" charset="-122"/>
              </a:rPr>
              <a:t>子弹速度</a:t>
            </a:r>
            <a:endParaRPr lang="zh-CN" altLang="en-US" b="0">
              <a:solidFill>
                <a:schemeClr val="hlink"/>
              </a:solidFill>
              <a:ea typeface="楷体_GB2312" pitchFamily="49" charset="-122"/>
            </a:endParaRPr>
          </a:p>
        </p:txBody>
      </p:sp>
      <p:graphicFrame>
        <p:nvGraphicFramePr>
          <p:cNvPr id="209941" name="Object 2">
            <a:extLst>
              <a:ext uri="{FF2B5EF4-FFF2-40B4-BE49-F238E27FC236}">
                <a16:creationId xmlns:a16="http://schemas.microsoft.com/office/drawing/2014/main" id="{89293F4B-193E-6A41-884D-AEB4DC9AA2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3750" y="990600"/>
          <a:ext cx="4000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215640" progId="Equation.3">
                  <p:embed/>
                </p:oleObj>
              </mc:Choice>
              <mc:Fallback>
                <p:oleObj name="Equation" r:id="rId2" imgW="152280" imgH="215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990600"/>
                        <a:ext cx="40005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42" name="Text Box 22">
            <a:extLst>
              <a:ext uri="{FF2B5EF4-FFF2-40B4-BE49-F238E27FC236}">
                <a16:creationId xmlns:a16="http://schemas.microsoft.com/office/drawing/2014/main" id="{C38B47B1-26D5-93E2-98E2-367DE5BDF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524000"/>
            <a:ext cx="2514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 i="1">
                <a:solidFill>
                  <a:schemeClr val="hlink"/>
                </a:solidFill>
                <a:ea typeface="楷体_GB2312" pitchFamily="49" charset="-122"/>
              </a:rPr>
              <a:t>弹簧为原长</a:t>
            </a:r>
            <a:endParaRPr lang="zh-CN" altLang="en-US" b="0">
              <a:solidFill>
                <a:schemeClr val="hlink"/>
              </a:solidFill>
              <a:ea typeface="楷体_GB2312" pitchFamily="49" charset="-122"/>
            </a:endParaRPr>
          </a:p>
        </p:txBody>
      </p:sp>
      <p:graphicFrame>
        <p:nvGraphicFramePr>
          <p:cNvPr id="209943" name="Object 3">
            <a:extLst>
              <a:ext uri="{FF2B5EF4-FFF2-40B4-BE49-F238E27FC236}">
                <a16:creationId xmlns:a16="http://schemas.microsoft.com/office/drawing/2014/main" id="{1F3BAC53-C7FB-96F0-CEA1-5FD2D3A10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1524000"/>
          <a:ext cx="37147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9680" imgH="228600" progId="Equation.3">
                  <p:embed/>
                </p:oleObj>
              </mc:Choice>
              <mc:Fallback>
                <p:oleObj name="公式" r:id="rId4" imgW="13968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524000"/>
                        <a:ext cx="37147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44" name="Rectangle 24">
            <a:extLst>
              <a:ext uri="{FF2B5EF4-FFF2-40B4-BE49-F238E27FC236}">
                <a16:creationId xmlns:a16="http://schemas.microsoft.com/office/drawing/2014/main" id="{B5AF6000-267F-67D9-3CFC-3BFC2C41A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066800"/>
            <a:ext cx="3352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00FF00"/>
                </a:solidFill>
                <a:ea typeface="楷体_GB2312" pitchFamily="49" charset="-122"/>
              </a:rPr>
              <a:t>• </a:t>
            </a:r>
            <a:r>
              <a:rPr lang="zh-CN" altLang="en-US" i="1">
                <a:solidFill>
                  <a:srgbClr val="00FF00"/>
                </a:solidFill>
                <a:ea typeface="楷体_GB2312" pitchFamily="49" charset="-122"/>
              </a:rPr>
              <a:t>末态，</a:t>
            </a:r>
            <a:r>
              <a:rPr lang="zh-CN" altLang="en-US" i="1">
                <a:solidFill>
                  <a:schemeClr val="hlink"/>
                </a:solidFill>
                <a:ea typeface="楷体_GB2312" pitchFamily="49" charset="-122"/>
              </a:rPr>
              <a:t>系统速度 </a:t>
            </a:r>
          </a:p>
        </p:txBody>
      </p:sp>
      <p:graphicFrame>
        <p:nvGraphicFramePr>
          <p:cNvPr id="209945" name="Object 4">
            <a:extLst>
              <a:ext uri="{FF2B5EF4-FFF2-40B4-BE49-F238E27FC236}">
                <a16:creationId xmlns:a16="http://schemas.microsoft.com/office/drawing/2014/main" id="{3461F4F6-FC78-5FD0-FAC7-95CA9C9FCF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990600"/>
          <a:ext cx="433388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15640" progId="Equation.3">
                  <p:embed/>
                </p:oleObj>
              </mc:Choice>
              <mc:Fallback>
                <p:oleObj name="Equation" r:id="rId6" imgW="16488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990600"/>
                        <a:ext cx="433388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46" name="Text Box 26">
            <a:extLst>
              <a:ext uri="{FF2B5EF4-FFF2-40B4-BE49-F238E27FC236}">
                <a16:creationId xmlns:a16="http://schemas.microsoft.com/office/drawing/2014/main" id="{99A1B087-C2F0-6C99-7786-77B06FDD3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524000"/>
            <a:ext cx="2514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 i="1">
                <a:solidFill>
                  <a:schemeClr val="hlink"/>
                </a:solidFill>
                <a:ea typeface="楷体_GB2312" pitchFamily="49" charset="-122"/>
              </a:rPr>
              <a:t>弹簧长度为</a:t>
            </a:r>
            <a:endParaRPr lang="zh-CN" altLang="en-US" b="0">
              <a:solidFill>
                <a:schemeClr val="hlink"/>
              </a:solidFill>
              <a:ea typeface="楷体_GB2312" pitchFamily="49" charset="-122"/>
            </a:endParaRPr>
          </a:p>
        </p:txBody>
      </p:sp>
      <p:graphicFrame>
        <p:nvGraphicFramePr>
          <p:cNvPr id="209947" name="Object 5">
            <a:extLst>
              <a:ext uri="{FF2B5EF4-FFF2-40B4-BE49-F238E27FC236}">
                <a16:creationId xmlns:a16="http://schemas.microsoft.com/office/drawing/2014/main" id="{EF20E181-D8B3-7061-74E2-09A869B94A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1524000"/>
          <a:ext cx="2317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8560" imgH="177480" progId="Equation.3">
                  <p:embed/>
                </p:oleObj>
              </mc:Choice>
              <mc:Fallback>
                <p:oleObj name="公式" r:id="rId8" imgW="88560" imgH="177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524000"/>
                        <a:ext cx="2317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48" name="Text Box 28">
            <a:extLst>
              <a:ext uri="{FF2B5EF4-FFF2-40B4-BE49-F238E27FC236}">
                <a16:creationId xmlns:a16="http://schemas.microsoft.com/office/drawing/2014/main" id="{70BC857E-10A1-B502-9A27-9F3565E62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57400"/>
            <a:ext cx="3581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en-US" altLang="zh-CN">
                <a:ea typeface="楷体_GB2312" pitchFamily="49" charset="-122"/>
              </a:rPr>
              <a:t>•</a:t>
            </a:r>
            <a:r>
              <a:rPr lang="en-US" altLang="zh-CN">
                <a:solidFill>
                  <a:srgbClr val="00FF00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FFFF99"/>
                </a:solidFill>
                <a:ea typeface="楷体_GB2312" pitchFamily="49" charset="-122"/>
              </a:rPr>
              <a:t>系统动量守恒：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209949" name="Object 6">
            <a:extLst>
              <a:ext uri="{FF2B5EF4-FFF2-40B4-BE49-F238E27FC236}">
                <a16:creationId xmlns:a16="http://schemas.microsoft.com/office/drawing/2014/main" id="{7751E998-1CC9-CE8D-F71B-D8B38A1953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3032125"/>
          <a:ext cx="3714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9680" imgH="228600" progId="Equation.3">
                  <p:embed/>
                </p:oleObj>
              </mc:Choice>
              <mc:Fallback>
                <p:oleObj name="公式" r:id="rId4" imgW="13968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032125"/>
                        <a:ext cx="37147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50" name="Object 7">
            <a:extLst>
              <a:ext uri="{FF2B5EF4-FFF2-40B4-BE49-F238E27FC236}">
                <a16:creationId xmlns:a16="http://schemas.microsoft.com/office/drawing/2014/main" id="{85211E3A-A827-70CF-C807-E05D5461D8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2209800"/>
          <a:ext cx="2317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8560" imgH="177480" progId="Equation.3">
                  <p:embed/>
                </p:oleObj>
              </mc:Choice>
              <mc:Fallback>
                <p:oleObj name="公式" r:id="rId8" imgW="88560" imgH="177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209800"/>
                        <a:ext cx="2317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51" name="Object 8">
            <a:extLst>
              <a:ext uri="{FF2B5EF4-FFF2-40B4-BE49-F238E27FC236}">
                <a16:creationId xmlns:a16="http://schemas.microsoft.com/office/drawing/2014/main" id="{A0A07E67-85E6-D526-3DB2-0FB99AD8A4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9275" y="3276600"/>
          <a:ext cx="5111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280" imgH="215640" progId="Equation.3">
                  <p:embed/>
                </p:oleObj>
              </mc:Choice>
              <mc:Fallback>
                <p:oleObj name="Equation" r:id="rId12" imgW="15228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275" y="3276600"/>
                        <a:ext cx="51117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52" name="Object 9">
            <a:extLst>
              <a:ext uri="{FF2B5EF4-FFF2-40B4-BE49-F238E27FC236}">
                <a16:creationId xmlns:a16="http://schemas.microsoft.com/office/drawing/2014/main" id="{65BF2DD6-BF2F-0364-1B65-195C015308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1905000"/>
          <a:ext cx="49371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215640" progId="Equation.3">
                  <p:embed/>
                </p:oleObj>
              </mc:Choice>
              <mc:Fallback>
                <p:oleObj name="Equation" r:id="rId14" imgW="16488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905000"/>
                        <a:ext cx="493713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53" name="Object 10">
            <a:extLst>
              <a:ext uri="{FF2B5EF4-FFF2-40B4-BE49-F238E27FC236}">
                <a16:creationId xmlns:a16="http://schemas.microsoft.com/office/drawing/2014/main" id="{D2EEAFFA-953B-AD72-D07F-5070DC7E00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2590800"/>
          <a:ext cx="2438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54080" imgH="215640" progId="Equation.3">
                  <p:embed/>
                </p:oleObj>
              </mc:Choice>
              <mc:Fallback>
                <p:oleObj name="公式" r:id="rId16" imgW="1054080" imgH="215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590800"/>
                        <a:ext cx="2438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54" name="Line 34">
            <a:extLst>
              <a:ext uri="{FF2B5EF4-FFF2-40B4-BE49-F238E27FC236}">
                <a16:creationId xmlns:a16="http://schemas.microsoft.com/office/drawing/2014/main" id="{B871D3B2-5B43-CC55-2D79-B0110D5A48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4038600"/>
            <a:ext cx="533400" cy="1588"/>
          </a:xfrm>
          <a:prstGeom prst="line">
            <a:avLst/>
          </a:prstGeom>
          <a:noFill/>
          <a:ln w="22225">
            <a:solidFill>
              <a:srgbClr val="FFCC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9955" name="Object 11">
            <a:extLst>
              <a:ext uri="{FF2B5EF4-FFF2-40B4-BE49-F238E27FC236}">
                <a16:creationId xmlns:a16="http://schemas.microsoft.com/office/drawing/2014/main" id="{2184DB08-4B36-BDCE-DAFE-A90DACE5E5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9475" y="3733800"/>
          <a:ext cx="45561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2280" imgH="177480" progId="Equation.3">
                  <p:embed/>
                </p:oleObj>
              </mc:Choice>
              <mc:Fallback>
                <p:oleObj name="Equation" r:id="rId18" imgW="152280" imgH="177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475" y="3733800"/>
                        <a:ext cx="45561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56" name="Text Box 36">
            <a:extLst>
              <a:ext uri="{FF2B5EF4-FFF2-40B4-BE49-F238E27FC236}">
                <a16:creationId xmlns:a16="http://schemas.microsoft.com/office/drawing/2014/main" id="{A004BE7C-7C9C-4949-9836-71EA61172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124200"/>
            <a:ext cx="32813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en-US" altLang="zh-CN">
                <a:ea typeface="楷体_GB2312" pitchFamily="49" charset="-122"/>
              </a:rPr>
              <a:t>•</a:t>
            </a:r>
            <a:r>
              <a:rPr lang="en-US" altLang="zh-CN">
                <a:solidFill>
                  <a:srgbClr val="00FF00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folHlink"/>
                </a:solidFill>
                <a:ea typeface="楷体_GB2312" pitchFamily="49" charset="-122"/>
              </a:rPr>
              <a:t>系统机械能守恒： </a:t>
            </a:r>
          </a:p>
        </p:txBody>
      </p:sp>
      <p:graphicFrame>
        <p:nvGraphicFramePr>
          <p:cNvPr id="209957" name="Object 12">
            <a:extLst>
              <a:ext uri="{FF2B5EF4-FFF2-40B4-BE49-F238E27FC236}">
                <a16:creationId xmlns:a16="http://schemas.microsoft.com/office/drawing/2014/main" id="{5A7697C3-DD55-7A1F-6A24-455E76DB4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35814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12520" imgH="393480" progId="Equation.3">
                  <p:embed/>
                </p:oleObj>
              </mc:Choice>
              <mc:Fallback>
                <p:oleObj name="Equation" r:id="rId20" imgW="812520" imgH="393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581400"/>
                        <a:ext cx="1828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58" name="Text Box 38">
            <a:extLst>
              <a:ext uri="{FF2B5EF4-FFF2-40B4-BE49-F238E27FC236}">
                <a16:creationId xmlns:a16="http://schemas.microsoft.com/office/drawing/2014/main" id="{B1A2B488-5340-4E15-F112-CBE6121B9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810000"/>
            <a:ext cx="3397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ea typeface="楷体_GB2312" pitchFamily="49" charset="-122"/>
              </a:rPr>
              <a:t>m</a:t>
            </a:r>
            <a:endParaRPr lang="en-US" altLang="zh-CN" b="0">
              <a:ea typeface="楷体_GB2312" pitchFamily="49" charset="-122"/>
            </a:endParaRPr>
          </a:p>
        </p:txBody>
      </p:sp>
      <p:sp>
        <p:nvSpPr>
          <p:cNvPr id="209959" name="Text Box 39">
            <a:extLst>
              <a:ext uri="{FF2B5EF4-FFF2-40B4-BE49-F238E27FC236}">
                <a16:creationId xmlns:a16="http://schemas.microsoft.com/office/drawing/2014/main" id="{5A2A801E-0B0B-FA1F-2F11-5D1F38575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410200"/>
            <a:ext cx="4648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ea typeface="楷体_GB2312" pitchFamily="49" charset="-122"/>
              </a:rPr>
              <a:t> • </a:t>
            </a:r>
            <a:r>
              <a:rPr lang="en-US" altLang="zh-CN">
                <a:solidFill>
                  <a:srgbClr val="00FF00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FF9933"/>
                </a:solidFill>
                <a:ea typeface="楷体_GB2312" pitchFamily="49" charset="-122"/>
              </a:rPr>
              <a:t>系统动量矩守恒：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209960" name="Object 13">
            <a:extLst>
              <a:ext uri="{FF2B5EF4-FFF2-40B4-BE49-F238E27FC236}">
                <a16:creationId xmlns:a16="http://schemas.microsoft.com/office/drawing/2014/main" id="{D7306B92-ADA8-BD69-68D8-5388334783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" y="5791200"/>
          <a:ext cx="43497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638000" imgH="393480" progId="Equation.3">
                  <p:embed/>
                </p:oleObj>
              </mc:Choice>
              <mc:Fallback>
                <p:oleObj name="公式" r:id="rId22" imgW="1638000" imgH="3934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5791200"/>
                        <a:ext cx="43497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61" name="Line 41">
            <a:extLst>
              <a:ext uri="{FF2B5EF4-FFF2-40B4-BE49-F238E27FC236}">
                <a16:creationId xmlns:a16="http://schemas.microsoft.com/office/drawing/2014/main" id="{8576B0DB-CF89-80D4-69A4-B7AAE738062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743200"/>
            <a:ext cx="609600" cy="1588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962" name="Text Box 42">
            <a:extLst>
              <a:ext uri="{FF2B5EF4-FFF2-40B4-BE49-F238E27FC236}">
                <a16:creationId xmlns:a16="http://schemas.microsoft.com/office/drawing/2014/main" id="{CF699387-68C3-AF86-8B05-F99423776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2286000"/>
            <a:ext cx="5302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ea typeface="楷体_GB2312" pitchFamily="49" charset="-122"/>
                <a:sym typeface="Symbol" panose="05050102010706020507" pitchFamily="18" charset="2"/>
              </a:rPr>
              <a:t></a:t>
            </a:r>
            <a:endParaRPr lang="en-US" altLang="zh-CN" b="0">
              <a:ea typeface="楷体_GB2312" pitchFamily="49" charset="-122"/>
            </a:endParaRPr>
          </a:p>
        </p:txBody>
      </p:sp>
      <p:sp>
        <p:nvSpPr>
          <p:cNvPr id="209963" name="AutoShape 43">
            <a:extLst>
              <a:ext uri="{FF2B5EF4-FFF2-40B4-BE49-F238E27FC236}">
                <a16:creationId xmlns:a16="http://schemas.microsoft.com/office/drawing/2014/main" id="{FECF3D84-B230-0B01-DE0E-81D31BCAD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800600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09964" name="Object 14">
            <a:extLst>
              <a:ext uri="{FF2B5EF4-FFF2-40B4-BE49-F238E27FC236}">
                <a16:creationId xmlns:a16="http://schemas.microsoft.com/office/drawing/2014/main" id="{8D890E03-ACC2-0269-04BC-E4A81EBA59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4495800"/>
          <a:ext cx="2133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749160" imgH="444240" progId="Equation.3">
                  <p:embed/>
                </p:oleObj>
              </mc:Choice>
              <mc:Fallback>
                <p:oleObj name="公式" r:id="rId24" imgW="749160" imgH="4442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495800"/>
                        <a:ext cx="21336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65" name="Object 15">
            <a:extLst>
              <a:ext uri="{FF2B5EF4-FFF2-40B4-BE49-F238E27FC236}">
                <a16:creationId xmlns:a16="http://schemas.microsoft.com/office/drawing/2014/main" id="{A5352584-4BA0-FBDB-A263-98B339A0D7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3825" y="4648200"/>
          <a:ext cx="4349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64880" imgH="215640" progId="Equation.3">
                  <p:embed/>
                </p:oleObj>
              </mc:Choice>
              <mc:Fallback>
                <p:oleObj name="公式" r:id="rId26" imgW="164880" imgH="215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5" y="4648200"/>
                        <a:ext cx="4349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66" name="AutoShape 46">
            <a:extLst>
              <a:ext uri="{FF2B5EF4-FFF2-40B4-BE49-F238E27FC236}">
                <a16:creationId xmlns:a16="http://schemas.microsoft.com/office/drawing/2014/main" id="{48EEE477-3361-34F7-84FE-2FCAF5DDD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819400"/>
            <a:ext cx="381000" cy="1295400"/>
          </a:xfrm>
          <a:prstGeom prst="curvedLeftArrow">
            <a:avLst>
              <a:gd name="adj1" fmla="val 68000"/>
              <a:gd name="adj2" fmla="val 136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09967" name="Text Box 47">
            <a:extLst>
              <a:ext uri="{FF2B5EF4-FFF2-40B4-BE49-F238E27FC236}">
                <a16:creationId xmlns:a16="http://schemas.microsoft.com/office/drawing/2014/main" id="{2D828C0B-6018-2859-4B49-8F5775557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715000"/>
            <a:ext cx="2971800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ea typeface="楷体_GB2312" pitchFamily="49" charset="-122"/>
              </a:rPr>
              <a:t>• </a:t>
            </a:r>
            <a:r>
              <a:rPr lang="zh-CN" altLang="en-US" i="1">
                <a:solidFill>
                  <a:srgbClr val="FF0000"/>
                </a:solidFill>
                <a:ea typeface="楷体_GB2312" pitchFamily="49" charset="-122"/>
              </a:rPr>
              <a:t>注意</a:t>
            </a:r>
            <a:r>
              <a:rPr lang="zh-CN" altLang="en-US" i="1">
                <a:ea typeface="楷体_GB2312" pitchFamily="49" charset="-122"/>
              </a:rPr>
              <a:t>：三种守恒定律成立的条件 </a:t>
            </a:r>
            <a:r>
              <a:rPr lang="en-US" altLang="zh-CN" i="1">
                <a:ea typeface="楷体_GB2312" pitchFamily="49" charset="-122"/>
              </a:rPr>
              <a:t>!</a:t>
            </a:r>
            <a:endParaRPr lang="en-US" altLang="zh-CN" b="0">
              <a:ea typeface="楷体_GB2312" pitchFamily="49" charset="-122"/>
            </a:endParaRPr>
          </a:p>
        </p:txBody>
      </p:sp>
      <p:graphicFrame>
        <p:nvGraphicFramePr>
          <p:cNvPr id="209968" name="Object 16">
            <a:extLst>
              <a:ext uri="{FF2B5EF4-FFF2-40B4-BE49-F238E27FC236}">
                <a16:creationId xmlns:a16="http://schemas.microsoft.com/office/drawing/2014/main" id="{AAB79086-AA55-1745-21C8-B5443B010F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4495800"/>
          <a:ext cx="3429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473120" imgH="393480" progId="Equation.3">
                  <p:embed/>
                </p:oleObj>
              </mc:Choice>
              <mc:Fallback>
                <p:oleObj name="Equation" r:id="rId28" imgW="1473120" imgH="3934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495800"/>
                        <a:ext cx="3429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69" name="Line 49">
            <a:extLst>
              <a:ext uri="{FF2B5EF4-FFF2-40B4-BE49-F238E27FC236}">
                <a16:creationId xmlns:a16="http://schemas.microsoft.com/office/drawing/2014/main" id="{2BACCCDC-64CD-EDAE-8691-5D6336E688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52578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9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09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0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9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0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0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0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20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20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20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300"/>
                                        <p:tgtEl>
                                          <p:spTgt spid="209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2" grpId="0" build="p" autoUpdateAnimBg="0"/>
      <p:bldP spid="209923" grpId="0" build="p" autoUpdateAnimBg="0"/>
      <p:bldP spid="209924" grpId="0" build="p" autoUpdateAnimBg="0" advAuto="0"/>
      <p:bldP spid="209925" grpId="0" build="p" autoUpdateAnimBg="0"/>
      <p:bldP spid="209926" grpId="0" animBg="1" autoUpdateAnimBg="0"/>
      <p:bldP spid="209929" grpId="0" animBg="1"/>
      <p:bldP spid="209930" grpId="0" animBg="1"/>
      <p:bldP spid="209931" grpId="0" animBg="1"/>
      <p:bldP spid="209933" grpId="0" animBg="1"/>
      <p:bldP spid="209935" grpId="0" build="p" autoUpdateAnimBg="0" advAuto="0"/>
      <p:bldP spid="209936" grpId="0" build="p" autoUpdateAnimBg="0" advAuto="0"/>
      <p:bldP spid="209937" grpId="0" animBg="1"/>
      <p:bldP spid="209938" grpId="0" build="p" autoUpdateAnimBg="0"/>
      <p:bldP spid="209939" grpId="0" build="p" autoUpdateAnimBg="0"/>
      <p:bldP spid="209940" grpId="0" build="p" autoUpdateAnimBg="0"/>
      <p:bldP spid="209942" grpId="0" build="p" autoUpdateAnimBg="0"/>
      <p:bldP spid="209944" grpId="0" build="p" autoUpdateAnimBg="0"/>
      <p:bldP spid="209946" grpId="0" build="p" autoUpdateAnimBg="0"/>
      <p:bldP spid="209948" grpId="0" build="p" autoUpdateAnimBg="0"/>
      <p:bldP spid="209956" grpId="0" build="p" autoUpdateAnimBg="0"/>
      <p:bldP spid="209958" grpId="0" build="p" autoUpdateAnimBg="0" advAuto="0"/>
      <p:bldP spid="209959" grpId="0" build="p" autoUpdateAnimBg="0"/>
      <p:bldP spid="209962" grpId="0" build="p" autoUpdateAnimBg="0" advAuto="0"/>
      <p:bldP spid="209963" grpId="0" animBg="1"/>
      <p:bldP spid="209966" grpId="0" animBg="1"/>
      <p:bldP spid="209967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090" name="Picture 2" descr="惯性导航1">
            <a:extLst>
              <a:ext uri="{FF2B5EF4-FFF2-40B4-BE49-F238E27FC236}">
                <a16:creationId xmlns:a16="http://schemas.microsoft.com/office/drawing/2014/main" id="{43767273-40A6-FF50-00B5-0B16876BB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188" y="4016375"/>
            <a:ext cx="1198562" cy="2452688"/>
          </a:xfrm>
          <a:prstGeom prst="rect">
            <a:avLst/>
          </a:prstGeom>
          <a:noFill/>
          <a:ln w="1270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7091" name="Picture 3" descr="惯性导航2">
            <a:extLst>
              <a:ext uri="{FF2B5EF4-FFF2-40B4-BE49-F238E27FC236}">
                <a16:creationId xmlns:a16="http://schemas.microsoft.com/office/drawing/2014/main" id="{AC98FCAB-EA56-EB82-6F3B-79D6D58ED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413" y="4024313"/>
            <a:ext cx="1760537" cy="2439987"/>
          </a:xfrm>
          <a:prstGeom prst="rect">
            <a:avLst/>
          </a:prstGeom>
          <a:noFill/>
          <a:ln w="9525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7092" name="Rectangle 4">
            <a:extLst>
              <a:ext uri="{FF2B5EF4-FFF2-40B4-BE49-F238E27FC236}">
                <a16:creationId xmlns:a16="http://schemas.microsoft.com/office/drawing/2014/main" id="{B2BB7CDB-22D4-A73D-1807-599AB58BB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331788"/>
            <a:ext cx="7961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lnSpc>
                <a:spcPct val="100000"/>
              </a:lnSpc>
              <a:buClrTx/>
              <a:buFontTx/>
              <a:buNone/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角动量守恒定律在工程技术上的应用</a:t>
            </a:r>
          </a:p>
        </p:txBody>
      </p:sp>
      <p:sp>
        <p:nvSpPr>
          <p:cNvPr id="857093" name="Rectangle 5">
            <a:extLst>
              <a:ext uri="{FF2B5EF4-FFF2-40B4-BE49-F238E27FC236}">
                <a16:creationId xmlns:a16="http://schemas.microsoft.com/office/drawing/2014/main" id="{A3503EE3-0B3B-9BE5-024E-373973523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" y="966788"/>
            <a:ext cx="5294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lnSpc>
                <a:spcPct val="100000"/>
              </a:lnSpc>
              <a:buClr>
                <a:srgbClr val="FFCC00"/>
              </a:buClr>
              <a:buSzPct val="80000"/>
              <a:buFont typeface="Wingdings" pitchFamily="2" charset="2"/>
              <a:buChar char="u"/>
              <a:defRPr/>
            </a:pPr>
            <a:r>
              <a:rPr lang="en-US" altLang="zh-CN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陀螺仪与导航</a:t>
            </a:r>
          </a:p>
        </p:txBody>
      </p:sp>
      <p:sp>
        <p:nvSpPr>
          <p:cNvPr id="857094" name="Rectangle 6">
            <a:extLst>
              <a:ext uri="{FF2B5EF4-FFF2-40B4-BE49-F238E27FC236}">
                <a16:creationId xmlns:a16="http://schemas.microsoft.com/office/drawing/2014/main" id="{DCAB7877-2F9C-EF9E-359C-9B72D1014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788" y="1322388"/>
            <a:ext cx="963612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lnSpc>
                <a:spcPct val="105000"/>
              </a:lnSpc>
              <a:buClr>
                <a:srgbClr val="00FFCC"/>
              </a:buClr>
              <a:buFont typeface="Wingdings" pitchFamily="2" charset="2"/>
              <a:buNone/>
              <a:defRPr/>
            </a:pPr>
            <a:r>
              <a:rPr lang="zh-CN" altLang="en-US" sz="160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支架</a:t>
            </a:r>
            <a:r>
              <a:rPr lang="en-US" altLang="zh-CN" sz="160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S</a:t>
            </a:r>
          </a:p>
          <a:p>
            <a:pPr algn="l" eaLnBrk="1" hangingPunct="1">
              <a:lnSpc>
                <a:spcPct val="105000"/>
              </a:lnSpc>
              <a:buClr>
                <a:srgbClr val="00FFCC"/>
              </a:buClr>
              <a:buFont typeface="Wingdings" pitchFamily="2" charset="2"/>
              <a:buNone/>
              <a:defRPr/>
            </a:pPr>
            <a:r>
              <a:rPr lang="zh-CN" altLang="en-US" sz="180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外环</a:t>
            </a:r>
          </a:p>
          <a:p>
            <a:pPr algn="l" eaLnBrk="1" hangingPunct="1">
              <a:lnSpc>
                <a:spcPct val="105000"/>
              </a:lnSpc>
              <a:buClr>
                <a:srgbClr val="00FFCC"/>
              </a:buClr>
              <a:buFont typeface="Wingdings" pitchFamily="2" charset="2"/>
              <a:buNone/>
              <a:defRPr/>
            </a:pPr>
            <a:r>
              <a:rPr lang="zh-CN" altLang="en-US" sz="180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陀螺</a:t>
            </a:r>
            <a:r>
              <a:rPr lang="en-US" altLang="zh-CN" sz="180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G</a:t>
            </a:r>
          </a:p>
          <a:p>
            <a:pPr algn="l" eaLnBrk="1" hangingPunct="1">
              <a:lnSpc>
                <a:spcPct val="105000"/>
              </a:lnSpc>
              <a:buClr>
                <a:srgbClr val="00FFCC"/>
              </a:buClr>
              <a:buFont typeface="Wingdings" pitchFamily="2" charset="2"/>
              <a:buNone/>
              <a:defRPr/>
            </a:pPr>
            <a:r>
              <a:rPr lang="zh-CN" altLang="en-US" sz="1800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内环</a:t>
            </a:r>
          </a:p>
        </p:txBody>
      </p:sp>
      <p:sp>
        <p:nvSpPr>
          <p:cNvPr id="857095" name="Rectangle 7">
            <a:extLst>
              <a:ext uri="{FF2B5EF4-FFF2-40B4-BE49-F238E27FC236}">
                <a16:creationId xmlns:a16="http://schemas.microsoft.com/office/drawing/2014/main" id="{79C3AAE8-6432-B80A-57A1-0D06A4D08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1630363"/>
            <a:ext cx="4583113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66700" indent="-2667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15000"/>
              </a:lnSpc>
              <a:buClr>
                <a:srgbClr val="FFCC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66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陀螺仪：</a:t>
            </a:r>
            <a:r>
              <a:rPr lang="zh-CN" altLang="en-US">
                <a:latin typeface="Times New Roman" panose="02020603050405020304" pitchFamily="18" charset="0"/>
              </a:rPr>
              <a:t>能够绕其对称轴高速 旋转的厚重的对称刚体。</a:t>
            </a:r>
          </a:p>
        </p:txBody>
      </p:sp>
      <p:sp>
        <p:nvSpPr>
          <p:cNvPr id="857096" name="Rectangle 8">
            <a:extLst>
              <a:ext uri="{FF2B5EF4-FFF2-40B4-BE49-F238E27FC236}">
                <a16:creationId xmlns:a16="http://schemas.microsoft.com/office/drawing/2014/main" id="{17895BE2-AC17-2C41-06D1-69B647B08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2773363"/>
            <a:ext cx="4913313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66700" indent="-2667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15000"/>
              </a:lnSpc>
              <a:buClr>
                <a:srgbClr val="FFCC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66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陀螺仪的特点：</a:t>
            </a:r>
            <a:r>
              <a:rPr lang="zh-CN" altLang="en-US">
                <a:latin typeface="Times New Roman" panose="02020603050405020304" pitchFamily="18" charset="0"/>
              </a:rPr>
              <a:t>具有轴对称性和绕对称轴有较大的转动惯量。 </a:t>
            </a:r>
          </a:p>
        </p:txBody>
      </p:sp>
      <p:sp>
        <p:nvSpPr>
          <p:cNvPr id="857097" name="Rectangle 9">
            <a:extLst>
              <a:ext uri="{FF2B5EF4-FFF2-40B4-BE49-F238E27FC236}">
                <a16:creationId xmlns:a16="http://schemas.microsoft.com/office/drawing/2014/main" id="{CF816DD8-A4DF-7EAD-6F1F-7D19DAC06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4022725"/>
            <a:ext cx="474662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66700" indent="-2667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buClr>
                <a:srgbClr val="FFCC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66FF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陀螺仪的定向特性：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由于不受外力矩作用，陀螺角动量的大小和方向都保持不变；无论怎样改变框架的方向，都不能使陀螺仪转轴在空间的取向发生变化。</a:t>
            </a:r>
          </a:p>
        </p:txBody>
      </p:sp>
      <p:pic>
        <p:nvPicPr>
          <p:cNvPr id="857098" name="Picture 10" descr="陀螺仪2">
            <a:extLst>
              <a:ext uri="{FF2B5EF4-FFF2-40B4-BE49-F238E27FC236}">
                <a16:creationId xmlns:a16="http://schemas.microsoft.com/office/drawing/2014/main" id="{CDED8689-C8F6-30A5-50B8-C4C9AAB76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725" y="1065213"/>
            <a:ext cx="1698625" cy="2879725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7099" name="Line 11">
            <a:extLst>
              <a:ext uri="{FF2B5EF4-FFF2-40B4-BE49-F238E27FC236}">
                <a16:creationId xmlns:a16="http://schemas.microsoft.com/office/drawing/2014/main" id="{CBDC08B0-B3B9-D28A-07C5-36A50CEB13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7100" y="1270000"/>
            <a:ext cx="609600" cy="1778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7100" name="Line 12">
            <a:extLst>
              <a:ext uri="{FF2B5EF4-FFF2-40B4-BE49-F238E27FC236}">
                <a16:creationId xmlns:a16="http://schemas.microsoft.com/office/drawing/2014/main" id="{C36E5A72-5409-E952-8DF7-3FB4D2C7FD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0600" y="1765300"/>
            <a:ext cx="571500" cy="127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7101" name="Line 13">
            <a:extLst>
              <a:ext uri="{FF2B5EF4-FFF2-40B4-BE49-F238E27FC236}">
                <a16:creationId xmlns:a16="http://schemas.microsoft.com/office/drawing/2014/main" id="{2D9EECAF-BCD7-638E-3A39-8FC452C9E6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727200"/>
            <a:ext cx="977900" cy="3302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7102" name="Line 14">
            <a:extLst>
              <a:ext uri="{FF2B5EF4-FFF2-40B4-BE49-F238E27FC236}">
                <a16:creationId xmlns:a16="http://schemas.microsoft.com/office/drawing/2014/main" id="{7519C236-C6C4-F4E4-3827-41D43DCBE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019300"/>
            <a:ext cx="1003300" cy="3048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57103" name="Picture 15" descr="j0293240">
            <a:extLst>
              <a:ext uri="{FF2B5EF4-FFF2-40B4-BE49-F238E27FC236}">
                <a16:creationId xmlns:a16="http://schemas.microsoft.com/office/drawing/2014/main" id="{5BC92578-F063-42B4-731D-6B3ADFA1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813" y="6405563"/>
            <a:ext cx="611187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7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7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57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57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57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57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57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57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57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57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57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5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57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57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7092" grpId="0"/>
      <p:bldP spid="857093" grpId="0"/>
      <p:bldP spid="857094" grpId="0"/>
      <p:bldP spid="857095" grpId="0"/>
      <p:bldP spid="857096" grpId="0"/>
      <p:bldP spid="85709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1">
            <a:extLst>
              <a:ext uri="{FF2B5EF4-FFF2-40B4-BE49-F238E27FC236}">
                <a16:creationId xmlns:a16="http://schemas.microsoft.com/office/drawing/2014/main" id="{C62FAFC0-EE24-B414-29D4-B7D323590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1" y="69262"/>
            <a:ext cx="7127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FFFF"/>
                </a:solidFill>
              </a:rPr>
              <a:t>巧夺天工，无论怎么转炉口永远朝上的唐代香球</a:t>
            </a:r>
          </a:p>
        </p:txBody>
      </p:sp>
      <p:pic>
        <p:nvPicPr>
          <p:cNvPr id="16387" name="Picture 4" descr="http://n.sinaimg.cn/sinacn10/320/w640h480/20180412/2b4b-fytnfyp3035191.jpg">
            <a:extLst>
              <a:ext uri="{FF2B5EF4-FFF2-40B4-BE49-F238E27FC236}">
                <a16:creationId xmlns:a16="http://schemas.microsoft.com/office/drawing/2014/main" id="{76D3B0DA-10C6-902B-3AA7-7B06725D4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685800"/>
            <a:ext cx="3240088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72D2723-E018-4AB2-044E-8F170EB3F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3649675"/>
            <a:ext cx="8964612" cy="132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/>
              <a:t>元稹</a:t>
            </a:r>
            <a:r>
              <a:rPr lang="en-US" altLang="zh-CN" sz="2000" dirty="0"/>
              <a:t>《</a:t>
            </a:r>
            <a:r>
              <a:rPr lang="zh-CN" altLang="en-US" sz="2000" dirty="0"/>
              <a:t>香球</a:t>
            </a:r>
            <a:r>
              <a:rPr lang="en-US" altLang="zh-CN" sz="2000" dirty="0"/>
              <a:t>》</a:t>
            </a:r>
            <a:r>
              <a:rPr lang="zh-CN" altLang="en-US" sz="2000" dirty="0"/>
              <a:t>：“顺俗唯团转，居中莫动摇。爱君心不恻，犹讶火长烧。” 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/>
              <a:t>放入火炭和香饼，不论香炉在被子里怎么翻滚，香炉四周的环形支架都能保证香炉呈水平放置，丝毫不用担心火炭会掉出来。  </a:t>
            </a:r>
            <a:r>
              <a:rPr lang="zh-CN" altLang="en-US" sz="2000" dirty="0">
                <a:solidFill>
                  <a:srgbClr val="FF0000"/>
                </a:solidFill>
              </a:rPr>
              <a:t>为什么不会掉出来？</a:t>
            </a:r>
          </a:p>
        </p:txBody>
      </p:sp>
      <p:sp>
        <p:nvSpPr>
          <p:cNvPr id="16389" name="矩形 5">
            <a:extLst>
              <a:ext uri="{FF2B5EF4-FFF2-40B4-BE49-F238E27FC236}">
                <a16:creationId xmlns:a16="http://schemas.microsoft.com/office/drawing/2014/main" id="{BFF3C20A-58F5-8DBF-129C-2692F467C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2013" y="3143660"/>
            <a:ext cx="2249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FFFF"/>
                </a:solidFill>
              </a:rPr>
              <a:t>花鸟纹鎏金银香球</a:t>
            </a:r>
          </a:p>
        </p:txBody>
      </p:sp>
      <p:pic>
        <p:nvPicPr>
          <p:cNvPr id="16390" name="Picture 9">
            <a:extLst>
              <a:ext uri="{FF2B5EF4-FFF2-40B4-BE49-F238E27FC236}">
                <a16:creationId xmlns:a16="http://schemas.microsoft.com/office/drawing/2014/main" id="{9E8BAF4D-E075-C466-0C00-6DD531B63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563563"/>
            <a:ext cx="2663825" cy="273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4B209CA-4C06-1D1A-D6AD-A1E2DA603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96" y="4901437"/>
            <a:ext cx="8901907" cy="1884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/>
              <a:t>外环以轴连于外壳的小孔中，内环的轴则安在外环的小孔上，里面是燃放香料的小盂，以轴连于内环小孔上，但每个轴都与相邻的</a:t>
            </a:r>
            <a:r>
              <a:rPr lang="zh-CN" altLang="en-US" sz="2000" dirty="0">
                <a:solidFill>
                  <a:srgbClr val="00FFFF"/>
                </a:solidFill>
              </a:rPr>
              <a:t>轴成</a:t>
            </a:r>
            <a:r>
              <a:rPr lang="en-US" altLang="zh-CN" sz="2000" dirty="0">
                <a:solidFill>
                  <a:srgbClr val="00FFFF"/>
                </a:solidFill>
              </a:rPr>
              <a:t>90</a:t>
            </a:r>
            <a:r>
              <a:rPr lang="zh-CN" altLang="en-US" sz="2000" dirty="0">
                <a:solidFill>
                  <a:srgbClr val="00FFFF"/>
                </a:solidFill>
              </a:rPr>
              <a:t>度角</a:t>
            </a:r>
            <a:r>
              <a:rPr lang="zh-CN" altLang="en-US" sz="2000" dirty="0"/>
              <a:t>。只要轴足够灵活，则不论香球如何翻滚倒转，小盂因</a:t>
            </a:r>
            <a:r>
              <a:rPr lang="zh-CN" altLang="en-US" sz="2000" dirty="0">
                <a:solidFill>
                  <a:srgbClr val="00FFFF"/>
                </a:solidFill>
              </a:rPr>
              <a:t>重力关系</a:t>
            </a:r>
            <a:r>
              <a:rPr lang="zh-CN" altLang="en-US" sz="2000" dirty="0"/>
              <a:t>总是处于</a:t>
            </a:r>
            <a:r>
              <a:rPr lang="zh-CN" altLang="en-US" sz="2000" dirty="0">
                <a:solidFill>
                  <a:srgbClr val="00FFFF"/>
                </a:solidFill>
              </a:rPr>
              <a:t>近水平状态</a:t>
            </a:r>
            <a:r>
              <a:rPr lang="zh-CN" altLang="en-US" sz="2000" dirty="0"/>
              <a:t>，里面的火星香灰也就不会倾洒出来。</a:t>
            </a:r>
          </a:p>
        </p:txBody>
      </p:sp>
      <p:pic>
        <p:nvPicPr>
          <p:cNvPr id="6153" name="Picture 9">
            <a:extLst>
              <a:ext uri="{FF2B5EF4-FFF2-40B4-BE49-F238E27FC236}">
                <a16:creationId xmlns:a16="http://schemas.microsoft.com/office/drawing/2014/main" id="{9DA91DB9-6096-D1D4-540F-CA827A784C6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636588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BC71B8D7-BE73-8052-EAEC-B1BFE7661E0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549275"/>
            <a:ext cx="300990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4">
            <a:extLst>
              <a:ext uri="{FF2B5EF4-FFF2-40B4-BE49-F238E27FC236}">
                <a16:creationId xmlns:a16="http://schemas.microsoft.com/office/drawing/2014/main" id="{D85FEFE4-E04D-A5AC-AD34-F7AEE53D5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2757488"/>
            <a:ext cx="4586288" cy="307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文本框 4">
            <a:extLst>
              <a:ext uri="{FF2B5EF4-FFF2-40B4-BE49-F238E27FC236}">
                <a16:creationId xmlns:a16="http://schemas.microsoft.com/office/drawing/2014/main" id="{91E9B86F-88B4-6B63-CB3D-7AFFFF4A8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163" y="6102350"/>
            <a:ext cx="6052272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b="0" dirty="0">
                <a:latin typeface="PingFang SC"/>
              </a:rPr>
              <a:t>《</a:t>
            </a:r>
            <a:r>
              <a:rPr lang="zh-CN" altLang="en-US" b="0" dirty="0">
                <a:latin typeface="PingFang SC"/>
              </a:rPr>
              <a:t>国家宝藏</a:t>
            </a:r>
            <a:r>
              <a:rPr lang="en-US" altLang="zh-CN" b="0" dirty="0">
                <a:latin typeface="PingFang SC"/>
              </a:rPr>
              <a:t>》</a:t>
            </a:r>
            <a:r>
              <a:rPr lang="zh-CN" altLang="en-US" b="0" dirty="0">
                <a:latin typeface="PingFang SC"/>
              </a:rPr>
              <a:t>中的葡萄花鸟纹银香囊</a:t>
            </a:r>
            <a:endParaRPr lang="zh-CN" altLang="en-US" dirty="0"/>
          </a:p>
        </p:txBody>
      </p:sp>
      <p:pic>
        <p:nvPicPr>
          <p:cNvPr id="17413" name="Picture 6">
            <a:extLst>
              <a:ext uri="{FF2B5EF4-FFF2-40B4-BE49-F238E27FC236}">
                <a16:creationId xmlns:a16="http://schemas.microsoft.com/office/drawing/2014/main" id="{7C54428A-5EFE-BF48-D7EE-CE04C93E1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149225"/>
            <a:ext cx="4191000" cy="595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4" name="Rectangle 2">
            <a:extLst>
              <a:ext uri="{FF2B5EF4-FFF2-40B4-BE49-F238E27FC236}">
                <a16:creationId xmlns:a16="http://schemas.microsoft.com/office/drawing/2014/main" id="{A0DF812E-0BBB-9C49-32F4-A86F06257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19088"/>
            <a:ext cx="5294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lnSpc>
                <a:spcPct val="100000"/>
              </a:lnSpc>
              <a:buClr>
                <a:srgbClr val="FFCC00"/>
              </a:buClr>
              <a:buSzPct val="80000"/>
              <a:buFont typeface="Wingdings" pitchFamily="2" charset="2"/>
              <a:buChar char="u"/>
              <a:defRPr/>
            </a:pPr>
            <a:r>
              <a:rPr lang="en-US" altLang="zh-CN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直升机螺旋桨的设置</a:t>
            </a:r>
          </a:p>
        </p:txBody>
      </p:sp>
      <p:sp>
        <p:nvSpPr>
          <p:cNvPr id="858115" name="Rectangle 3">
            <a:extLst>
              <a:ext uri="{FF2B5EF4-FFF2-40B4-BE49-F238E27FC236}">
                <a16:creationId xmlns:a16="http://schemas.microsoft.com/office/drawing/2014/main" id="{A3713C7D-9492-0C44-8733-75D1D5183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2749550"/>
            <a:ext cx="8266113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66700" indent="-2667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15000"/>
              </a:lnSpc>
              <a:buClr>
                <a:srgbClr val="FFCC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66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尾桨的设置：</a:t>
            </a:r>
            <a:r>
              <a:rPr lang="zh-CN" altLang="en-US">
                <a:latin typeface="Times New Roman" panose="02020603050405020304" pitchFamily="18" charset="0"/>
              </a:rPr>
              <a:t>直升机发动后机身要在旋翼旋转相反方向旋转，产生一个向下的角动量。为了不让机身作这样的反向旋转，在机身尾部安装一个尾桨，尾桨的旋转在水平面内产生了一个推力，以平衡单旋翼所产生的机身扭转作用。</a:t>
            </a:r>
            <a:endParaRPr lang="zh-CN" altLang="en-US" b="0">
              <a:latin typeface="Times New Roman" panose="02020603050405020304" pitchFamily="18" charset="0"/>
            </a:endParaRPr>
          </a:p>
        </p:txBody>
      </p:sp>
      <p:sp>
        <p:nvSpPr>
          <p:cNvPr id="858116" name="Rectangle 4">
            <a:extLst>
              <a:ext uri="{FF2B5EF4-FFF2-40B4-BE49-F238E27FC236}">
                <a16:creationId xmlns:a16="http://schemas.microsoft.com/office/drawing/2014/main" id="{B8161449-F618-C96B-6FB4-B2E17BC4E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" y="4625975"/>
            <a:ext cx="8177213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66700" indent="-2667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15000"/>
              </a:lnSpc>
              <a:buClr>
                <a:srgbClr val="FFCC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66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对转螺旋桨的设置：</a:t>
            </a:r>
            <a:r>
              <a:rPr lang="zh-CN" altLang="en-US">
                <a:latin typeface="Times New Roman" panose="02020603050405020304" pitchFamily="18" charset="0"/>
              </a:rPr>
              <a:t>双旋翼直升机则无需尾桨，它在直立轴上安装了一对对转螺旋桨，即在同轴心的内外两轴上安装了一对转向相反的螺旋桨。工作时它们转向相反，保持系统的总角动量仍然为零。</a:t>
            </a:r>
            <a:r>
              <a:rPr lang="zh-CN" altLang="en-US" b="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858117" name="Picture 5" descr="卡-29直升机">
            <a:extLst>
              <a:ext uri="{FF2B5EF4-FFF2-40B4-BE49-F238E27FC236}">
                <a16:creationId xmlns:a16="http://schemas.microsoft.com/office/drawing/2014/main" id="{7F505B02-6F3B-880E-33F7-1E3C31303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463" y="941388"/>
            <a:ext cx="3084512" cy="1682750"/>
          </a:xfrm>
          <a:prstGeom prst="rect">
            <a:avLst/>
          </a:prstGeom>
          <a:noFill/>
          <a:ln w="9525">
            <a:solidFill>
              <a:srgbClr val="B2B2B2">
                <a:alpha val="50195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8118" name="Picture 6" descr="z-8直升机">
            <a:extLst>
              <a:ext uri="{FF2B5EF4-FFF2-40B4-BE49-F238E27FC236}">
                <a16:creationId xmlns:a16="http://schemas.microsoft.com/office/drawing/2014/main" id="{4133FDD6-A47F-8065-A1BD-0C8EB5FAE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944563"/>
            <a:ext cx="4711700" cy="1677987"/>
          </a:xfrm>
          <a:prstGeom prst="rect">
            <a:avLst/>
          </a:prstGeom>
          <a:noFill/>
          <a:ln w="9525">
            <a:solidFill>
              <a:srgbClr val="B2B2B2">
                <a:alpha val="50195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8119" name="Picture 7" descr="j0293240">
            <a:extLst>
              <a:ext uri="{FF2B5EF4-FFF2-40B4-BE49-F238E27FC236}">
                <a16:creationId xmlns:a16="http://schemas.microsoft.com/office/drawing/2014/main" id="{A4A8570D-B239-85BD-FC0E-052194DB5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588" y="6154738"/>
            <a:ext cx="611187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8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5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58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58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8114" grpId="0"/>
      <p:bldP spid="858115" grpId="0"/>
      <p:bldP spid="8581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08B8C485-8AE0-B4AD-ED94-EF29B730A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8913"/>
            <a:ext cx="647700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四、刚体的平面运动</a:t>
            </a:r>
          </a:p>
        </p:txBody>
      </p:sp>
      <p:sp>
        <p:nvSpPr>
          <p:cNvPr id="207875" name="Text Box 3">
            <a:extLst>
              <a:ext uri="{FF2B5EF4-FFF2-40B4-BE49-F238E27FC236}">
                <a16:creationId xmlns:a16="http://schemas.microsoft.com/office/drawing/2014/main" id="{6DD000DA-9AF8-2A2E-8981-09F103500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722313"/>
            <a:ext cx="594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>
                <a:solidFill>
                  <a:srgbClr val="FFFF99"/>
                </a:solidFill>
                <a:ea typeface="楷体_GB2312" pitchFamily="49" charset="-122"/>
              </a:rPr>
              <a:t>刚体平面运动简介</a:t>
            </a:r>
            <a:endParaRPr lang="zh-CN" altLang="en-US" b="0">
              <a:ea typeface="楷体_GB2312" pitchFamily="49" charset="-122"/>
            </a:endParaRPr>
          </a:p>
        </p:txBody>
      </p:sp>
      <p:sp>
        <p:nvSpPr>
          <p:cNvPr id="207876" name="Text Box 4">
            <a:extLst>
              <a:ext uri="{FF2B5EF4-FFF2-40B4-BE49-F238E27FC236}">
                <a16:creationId xmlns:a16="http://schemas.microsoft.com/office/drawing/2014/main" id="{62780706-E231-A405-5CC0-6576BD6F8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25" y="1179513"/>
            <a:ext cx="7543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00FF00"/>
                </a:solidFill>
                <a:ea typeface="楷体_GB2312" pitchFamily="49" charset="-122"/>
              </a:rPr>
              <a:t>—— </a:t>
            </a:r>
            <a:r>
              <a:rPr lang="zh-CN" altLang="en-US">
                <a:solidFill>
                  <a:srgbClr val="00FF00"/>
                </a:solidFill>
                <a:ea typeface="楷体_GB2312" pitchFamily="49" charset="-122"/>
              </a:rPr>
              <a:t>刚体上每一质元的运动都平行于某一固定平面</a:t>
            </a:r>
            <a:r>
              <a:rPr lang="en-US" altLang="zh-CN">
                <a:solidFill>
                  <a:srgbClr val="00FF00"/>
                </a:solidFill>
                <a:ea typeface="楷体_GB2312" pitchFamily="49" charset="-122"/>
              </a:rPr>
              <a:t>.</a:t>
            </a:r>
            <a:endParaRPr lang="en-US" altLang="zh-CN" b="0">
              <a:ea typeface="楷体_GB2312" pitchFamily="49" charset="-122"/>
            </a:endParaRPr>
          </a:p>
        </p:txBody>
      </p:sp>
      <p:sp>
        <p:nvSpPr>
          <p:cNvPr id="207877" name="Text Box 5">
            <a:extLst>
              <a:ext uri="{FF2B5EF4-FFF2-40B4-BE49-F238E27FC236}">
                <a16:creationId xmlns:a16="http://schemas.microsoft.com/office/drawing/2014/main" id="{61D4B79D-7AD4-417E-A218-79FB8A0C6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844675"/>
            <a:ext cx="8386763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10000"/>
              </a:lnSpc>
              <a:buFont typeface="Monotype Sorts" pitchFamily="2" charset="2"/>
              <a:buNone/>
            </a:pP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•   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刚体内垂直于固定平面的任一直线在运动中都始终保持</a:t>
            </a:r>
          </a:p>
          <a:p>
            <a:pPr algn="l">
              <a:lnSpc>
                <a:spcPct val="110000"/>
              </a:lnSpc>
              <a:buFont typeface="Monotype Sorts" pitchFamily="2" charset="2"/>
              <a:buNone/>
            </a:pP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     垂直于该平面 </a:t>
            </a:r>
            <a:endParaRPr lang="zh-CN" altLang="en-US" b="0">
              <a:ea typeface="楷体_GB2312" pitchFamily="49" charset="-122"/>
            </a:endParaRPr>
          </a:p>
        </p:txBody>
      </p:sp>
      <p:sp>
        <p:nvSpPr>
          <p:cNvPr id="207878" name="Rectangle 6">
            <a:extLst>
              <a:ext uri="{FF2B5EF4-FFF2-40B4-BE49-F238E27FC236}">
                <a16:creationId xmlns:a16="http://schemas.microsoft.com/office/drawing/2014/main" id="{2198F4B3-CF33-70F5-2668-074C0334D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2713038"/>
            <a:ext cx="6096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endParaRPr lang="zh-CN" altLang="en-US"/>
          </a:p>
        </p:txBody>
      </p:sp>
      <p:sp>
        <p:nvSpPr>
          <p:cNvPr id="207879" name="Line 7">
            <a:extLst>
              <a:ext uri="{FF2B5EF4-FFF2-40B4-BE49-F238E27FC236}">
                <a16:creationId xmlns:a16="http://schemas.microsoft.com/office/drawing/2014/main" id="{F86E8E00-87BB-C08A-F6C1-404D6F2E1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996950" y="3932238"/>
            <a:ext cx="70866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80" name="Rectangle 8">
            <a:extLst>
              <a:ext uri="{FF2B5EF4-FFF2-40B4-BE49-F238E27FC236}">
                <a16:creationId xmlns:a16="http://schemas.microsoft.com/office/drawing/2014/main" id="{8BD907C6-8A10-93EF-6164-F0D7A05AA9E3}"/>
              </a:ext>
            </a:extLst>
          </p:cNvPr>
          <p:cNvSpPr>
            <a:spLocks noChangeArrowheads="1"/>
          </p:cNvSpPr>
          <p:nvPr/>
        </p:nvSpPr>
        <p:spPr bwMode="auto">
          <a:xfrm rot="1434921">
            <a:off x="4044950" y="2636838"/>
            <a:ext cx="609600" cy="12192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endParaRPr lang="zh-CN" altLang="en-US"/>
          </a:p>
        </p:txBody>
      </p:sp>
      <p:sp>
        <p:nvSpPr>
          <p:cNvPr id="207881" name="Rectangle 9">
            <a:extLst>
              <a:ext uri="{FF2B5EF4-FFF2-40B4-BE49-F238E27FC236}">
                <a16:creationId xmlns:a16="http://schemas.microsoft.com/office/drawing/2014/main" id="{BE50AA86-2B91-5442-F0A2-BBDBDEF6B845}"/>
              </a:ext>
            </a:extLst>
          </p:cNvPr>
          <p:cNvSpPr>
            <a:spLocks noChangeArrowheads="1"/>
          </p:cNvSpPr>
          <p:nvPr/>
        </p:nvSpPr>
        <p:spPr bwMode="auto">
          <a:xfrm rot="5403849">
            <a:off x="6178550" y="3017838"/>
            <a:ext cx="6096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endParaRPr lang="zh-CN" altLang="en-US"/>
          </a:p>
        </p:txBody>
      </p:sp>
      <p:sp>
        <p:nvSpPr>
          <p:cNvPr id="207882" name="Rectangle 10">
            <a:extLst>
              <a:ext uri="{FF2B5EF4-FFF2-40B4-BE49-F238E27FC236}">
                <a16:creationId xmlns:a16="http://schemas.microsoft.com/office/drawing/2014/main" id="{C0B518E6-6D65-992D-F7E6-AA6C0C85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550" y="3017838"/>
            <a:ext cx="609600" cy="12192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endParaRPr lang="zh-CN" altLang="en-US"/>
          </a:p>
        </p:txBody>
      </p:sp>
      <p:sp>
        <p:nvSpPr>
          <p:cNvPr id="207883" name="Line 11">
            <a:extLst>
              <a:ext uri="{FF2B5EF4-FFF2-40B4-BE49-F238E27FC236}">
                <a16:creationId xmlns:a16="http://schemas.microsoft.com/office/drawing/2014/main" id="{1276A1C1-072D-3185-ECF2-E9C2B6F032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0950" y="3322638"/>
            <a:ext cx="1905000" cy="0"/>
          </a:xfrm>
          <a:prstGeom prst="line">
            <a:avLst/>
          </a:prstGeom>
          <a:noFill/>
          <a:ln w="2540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84" name="Freeform 12">
            <a:extLst>
              <a:ext uri="{FF2B5EF4-FFF2-40B4-BE49-F238E27FC236}">
                <a16:creationId xmlns:a16="http://schemas.microsoft.com/office/drawing/2014/main" id="{A60CABF1-9E5C-C54C-28FD-C4C5391C58C6}"/>
              </a:ext>
            </a:extLst>
          </p:cNvPr>
          <p:cNvSpPr>
            <a:spLocks/>
          </p:cNvSpPr>
          <p:nvPr/>
        </p:nvSpPr>
        <p:spPr bwMode="auto">
          <a:xfrm>
            <a:off x="4425950" y="3322638"/>
            <a:ext cx="2057400" cy="381000"/>
          </a:xfrm>
          <a:custGeom>
            <a:avLst/>
            <a:gdLst>
              <a:gd name="T0" fmla="*/ 0 w 1296"/>
              <a:gd name="T1" fmla="*/ 2147483647 h 200"/>
              <a:gd name="T2" fmla="*/ 2147483647 w 1296"/>
              <a:gd name="T3" fmla="*/ 2147483647 h 200"/>
              <a:gd name="T4" fmla="*/ 2147483647 w 1296"/>
              <a:gd name="T5" fmla="*/ 2147483647 h 200"/>
              <a:gd name="T6" fmla="*/ 2147483647 w 1296"/>
              <a:gd name="T7" fmla="*/ 2147483647 h 200"/>
              <a:gd name="T8" fmla="*/ 2147483647 w 1296"/>
              <a:gd name="T9" fmla="*/ 2147483647 h 2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96"/>
              <a:gd name="T16" fmla="*/ 0 h 200"/>
              <a:gd name="T17" fmla="*/ 1296 w 1296"/>
              <a:gd name="T18" fmla="*/ 200 h 2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96" h="200">
                <a:moveTo>
                  <a:pt x="0" y="8"/>
                </a:moveTo>
                <a:cubicBezTo>
                  <a:pt x="68" y="4"/>
                  <a:pt x="136" y="0"/>
                  <a:pt x="240" y="8"/>
                </a:cubicBezTo>
                <a:cubicBezTo>
                  <a:pt x="344" y="16"/>
                  <a:pt x="488" y="32"/>
                  <a:pt x="624" y="56"/>
                </a:cubicBezTo>
                <a:cubicBezTo>
                  <a:pt x="760" y="80"/>
                  <a:pt x="944" y="128"/>
                  <a:pt x="1056" y="152"/>
                </a:cubicBezTo>
                <a:cubicBezTo>
                  <a:pt x="1168" y="176"/>
                  <a:pt x="1256" y="192"/>
                  <a:pt x="1296" y="200"/>
                </a:cubicBezTo>
              </a:path>
            </a:pathLst>
          </a:custGeom>
          <a:noFill/>
          <a:ln w="2540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85" name="Rectangle 13">
            <a:extLst>
              <a:ext uri="{FF2B5EF4-FFF2-40B4-BE49-F238E27FC236}">
                <a16:creationId xmlns:a16="http://schemas.microsoft.com/office/drawing/2014/main" id="{BF7023FC-8054-0AC8-32D0-CAFF61DA6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950" y="3246438"/>
            <a:ext cx="3397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chemeClr val="tx2"/>
                </a:solidFill>
                <a:ea typeface="楷体_GB2312" pitchFamily="49" charset="-122"/>
              </a:rPr>
              <a:t>C</a:t>
            </a:r>
            <a:endParaRPr lang="en-US" altLang="zh-CN" i="1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07886" name="Rectangle 14">
            <a:extLst>
              <a:ext uri="{FF2B5EF4-FFF2-40B4-BE49-F238E27FC236}">
                <a16:creationId xmlns:a16="http://schemas.microsoft.com/office/drawing/2014/main" id="{EEAFF250-1616-5B90-347E-F60937479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8550" y="2789238"/>
            <a:ext cx="3397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chemeClr val="tx2"/>
                </a:solidFill>
                <a:ea typeface="楷体_GB2312" pitchFamily="49" charset="-122"/>
              </a:rPr>
              <a:t>C</a:t>
            </a:r>
            <a:endParaRPr lang="en-US" altLang="zh-CN" i="1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07887" name="Rectangle 15">
            <a:extLst>
              <a:ext uri="{FF2B5EF4-FFF2-40B4-BE49-F238E27FC236}">
                <a16:creationId xmlns:a16="http://schemas.microsoft.com/office/drawing/2014/main" id="{B15BD211-399C-B384-D5A3-F66F18083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7350" y="2789238"/>
            <a:ext cx="3397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chemeClr val="tx2"/>
                </a:solidFill>
                <a:ea typeface="楷体_GB2312" pitchFamily="49" charset="-122"/>
              </a:rPr>
              <a:t>C</a:t>
            </a:r>
            <a:endParaRPr lang="en-US" altLang="zh-CN" i="1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07888" name="Oval 16">
            <a:extLst>
              <a:ext uri="{FF2B5EF4-FFF2-40B4-BE49-F238E27FC236}">
                <a16:creationId xmlns:a16="http://schemas.microsoft.com/office/drawing/2014/main" id="{BA149169-6510-F96E-F8F7-4047AD75C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3246438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endParaRPr lang="zh-CN" altLang="en-US"/>
          </a:p>
        </p:txBody>
      </p:sp>
      <p:sp>
        <p:nvSpPr>
          <p:cNvPr id="207889" name="Oval 17">
            <a:extLst>
              <a:ext uri="{FF2B5EF4-FFF2-40B4-BE49-F238E27FC236}">
                <a16:creationId xmlns:a16="http://schemas.microsoft.com/office/drawing/2014/main" id="{5A5C3612-517B-0574-2F66-F9A86E72D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150" y="3627438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endParaRPr lang="zh-CN" altLang="en-US"/>
          </a:p>
        </p:txBody>
      </p:sp>
      <p:sp>
        <p:nvSpPr>
          <p:cNvPr id="207890" name="Oval 18">
            <a:extLst>
              <a:ext uri="{FF2B5EF4-FFF2-40B4-BE49-F238E27FC236}">
                <a16:creationId xmlns:a16="http://schemas.microsoft.com/office/drawing/2014/main" id="{4B66D05C-32AF-A045-F42A-1B222F8A3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3246438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endParaRPr lang="zh-CN" altLang="en-US"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73B088C1-AAEA-23F6-09B2-9C8EC2E9320B}"/>
              </a:ext>
            </a:extLst>
          </p:cNvPr>
          <p:cNvGrpSpPr>
            <a:grpSpLocks/>
          </p:cNvGrpSpPr>
          <p:nvPr/>
        </p:nvGrpSpPr>
        <p:grpSpPr bwMode="auto">
          <a:xfrm>
            <a:off x="6407150" y="2789238"/>
            <a:ext cx="914400" cy="685800"/>
            <a:chOff x="2016" y="2256"/>
            <a:chExt cx="576" cy="432"/>
          </a:xfrm>
        </p:grpSpPr>
        <p:sp>
          <p:nvSpPr>
            <p:cNvPr id="25630" name="Arc 20">
              <a:extLst>
                <a:ext uri="{FF2B5EF4-FFF2-40B4-BE49-F238E27FC236}">
                  <a16:creationId xmlns:a16="http://schemas.microsoft.com/office/drawing/2014/main" id="{B5A0AB62-E977-9BFC-AC03-0C3D6BB7E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2256"/>
              <a:ext cx="576" cy="3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1" name="Line 21">
              <a:extLst>
                <a:ext uri="{FF2B5EF4-FFF2-40B4-BE49-F238E27FC236}">
                  <a16:creationId xmlns:a16="http://schemas.microsoft.com/office/drawing/2014/main" id="{D5A6F376-0577-E710-7C09-A8C90B539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592"/>
              <a:ext cx="0" cy="9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7894" name="Line 22">
            <a:extLst>
              <a:ext uri="{FF2B5EF4-FFF2-40B4-BE49-F238E27FC236}">
                <a16:creationId xmlns:a16="http://schemas.microsoft.com/office/drawing/2014/main" id="{213DAC00-1132-F6AD-F40B-74EB2FF858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4150" y="2941638"/>
            <a:ext cx="762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95" name="Rectangle 23">
            <a:extLst>
              <a:ext uri="{FF2B5EF4-FFF2-40B4-BE49-F238E27FC236}">
                <a16:creationId xmlns:a16="http://schemas.microsoft.com/office/drawing/2014/main" id="{F36BBEB1-9FDB-E82C-30BD-08DF89674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50" y="3017838"/>
            <a:ext cx="609600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sz="2800" i="1">
                <a:solidFill>
                  <a:srgbClr val="FFFF00"/>
                </a:solidFill>
                <a:ea typeface="楷体_GB2312" pitchFamily="49" charset="-122"/>
              </a:rPr>
              <a:t>F</a:t>
            </a:r>
          </a:p>
        </p:txBody>
      </p:sp>
      <p:sp>
        <p:nvSpPr>
          <p:cNvPr id="207896" name="Text Box 24">
            <a:extLst>
              <a:ext uri="{FF2B5EF4-FFF2-40B4-BE49-F238E27FC236}">
                <a16:creationId xmlns:a16="http://schemas.microsoft.com/office/drawing/2014/main" id="{BB883FEB-4E22-6CE9-01CB-D2350BA04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3" y="4084638"/>
            <a:ext cx="23526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运动学描述：</a:t>
            </a:r>
            <a:endParaRPr lang="zh-CN" altLang="en-US" b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07897" name="Text Box 25">
            <a:extLst>
              <a:ext uri="{FF2B5EF4-FFF2-40B4-BE49-F238E27FC236}">
                <a16:creationId xmlns:a16="http://schemas.microsoft.com/office/drawing/2014/main" id="{C8AB1BB1-A1FE-1B1C-C939-06390C53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50" y="4541838"/>
            <a:ext cx="26670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平面运动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 </a:t>
            </a:r>
            <a:endParaRPr lang="zh-CN" altLang="en-US" b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07898" name="Text Box 26">
            <a:extLst>
              <a:ext uri="{FF2B5EF4-FFF2-40B4-BE49-F238E27FC236}">
                <a16:creationId xmlns:a16="http://schemas.microsoft.com/office/drawing/2014/main" id="{17590D13-77FB-124D-9E0F-E687082AC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4350" y="4313238"/>
            <a:ext cx="3657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rgbClr val="00FF00"/>
                </a:solidFill>
                <a:ea typeface="楷体_GB2312" pitchFamily="49" charset="-122"/>
              </a:rPr>
              <a:t>刚体随质心的平动</a:t>
            </a:r>
            <a:endParaRPr lang="zh-CN" altLang="en-US" b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07899" name="Text Box 27">
            <a:extLst>
              <a:ext uri="{FF2B5EF4-FFF2-40B4-BE49-F238E27FC236}">
                <a16:creationId xmlns:a16="http://schemas.microsoft.com/office/drawing/2014/main" id="{2B28D305-2DE3-35FE-17A3-96788E951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4350" y="4770438"/>
            <a:ext cx="64770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rgbClr val="00FF00"/>
                </a:solidFill>
                <a:ea typeface="楷体_GB2312" pitchFamily="49" charset="-122"/>
              </a:rPr>
              <a:t>绕过质心垂直于运动平面转轴的转动</a:t>
            </a:r>
            <a:endParaRPr lang="zh-CN" altLang="en-US" b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07900" name="AutoShape 28">
            <a:extLst>
              <a:ext uri="{FF2B5EF4-FFF2-40B4-BE49-F238E27FC236}">
                <a16:creationId xmlns:a16="http://schemas.microsoft.com/office/drawing/2014/main" id="{675BA16E-0144-3738-6E8D-AE32E01AAAEC}"/>
              </a:ext>
            </a:extLst>
          </p:cNvPr>
          <p:cNvSpPr>
            <a:spLocks/>
          </p:cNvSpPr>
          <p:nvPr/>
        </p:nvSpPr>
        <p:spPr bwMode="auto">
          <a:xfrm>
            <a:off x="2597150" y="4389438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endParaRPr lang="zh-CN" altLang="en-US"/>
          </a:p>
        </p:txBody>
      </p:sp>
      <p:sp>
        <p:nvSpPr>
          <p:cNvPr id="207901" name="Text Box 29">
            <a:extLst>
              <a:ext uri="{FF2B5EF4-FFF2-40B4-BE49-F238E27FC236}">
                <a16:creationId xmlns:a16="http://schemas.microsoft.com/office/drawing/2014/main" id="{D0A31573-B5ED-D318-9D1C-9F057EEE7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950" y="5211763"/>
            <a:ext cx="59436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25000"/>
              </a:lnSpc>
              <a:buFont typeface="Monotype Sorts" pitchFamily="2" charset="2"/>
              <a:buNone/>
            </a:pP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刚体质心的速度、加速度</a:t>
            </a:r>
          </a:p>
          <a:p>
            <a:pPr algn="l">
              <a:lnSpc>
                <a:spcPct val="125000"/>
              </a:lnSpc>
              <a:buFont typeface="Monotype Sorts" pitchFamily="2" charset="2"/>
              <a:buNone/>
            </a:pP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 刚体绕质心转动的角速度、角加速度</a:t>
            </a:r>
            <a:endParaRPr lang="zh-CN" altLang="en-US" b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07902" name="AutoShape 30">
            <a:extLst>
              <a:ext uri="{FF2B5EF4-FFF2-40B4-BE49-F238E27FC236}">
                <a16:creationId xmlns:a16="http://schemas.microsoft.com/office/drawing/2014/main" id="{8C4643DE-1D38-9C26-7C45-44191C0A07E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44650" y="5189538"/>
            <a:ext cx="914400" cy="533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07903" name="Picture 31" descr="BD00028_">
            <a:extLst>
              <a:ext uri="{FF2B5EF4-FFF2-40B4-BE49-F238E27FC236}">
                <a16:creationId xmlns:a16="http://schemas.microsoft.com/office/drawing/2014/main" id="{F4B09CAC-2DB2-6926-A9A2-CD3DBE0BD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350" y="2941638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300"/>
                                        <p:tgtEl>
                                          <p:spTgt spid="207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300"/>
                                        <p:tgtEl>
                                          <p:spTgt spid="20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07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07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7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0" fill="hold"/>
                                        <p:tgtEl>
                                          <p:spTgt spid="207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0" fill="hold"/>
                                        <p:tgtEl>
                                          <p:spTgt spid="207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5" dur="500"/>
                                        <p:tgtEl>
                                          <p:spTgt spid="20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300"/>
                                        <p:tgtEl>
                                          <p:spTgt spid="207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300"/>
                                        <p:tgtEl>
                                          <p:spTgt spid="207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20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7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7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4" grpId="0" build="p" autoUpdateAnimBg="0"/>
      <p:bldP spid="207875" grpId="0" build="p" autoUpdateAnimBg="0"/>
      <p:bldP spid="207876" grpId="0" autoUpdateAnimBg="0"/>
      <p:bldP spid="207877" grpId="0" build="p" autoUpdateAnimBg="0"/>
      <p:bldP spid="207878" grpId="0" animBg="1"/>
      <p:bldP spid="207880" grpId="0" animBg="1"/>
      <p:bldP spid="207881" grpId="0" animBg="1"/>
      <p:bldP spid="207882" grpId="0" animBg="1"/>
      <p:bldP spid="207885" grpId="0" build="p" autoUpdateAnimBg="0" advAuto="0"/>
      <p:bldP spid="207886" grpId="0" build="p" autoUpdateAnimBg="0" advAuto="0"/>
      <p:bldP spid="207887" grpId="0" build="p" autoUpdateAnimBg="0" advAuto="0"/>
      <p:bldP spid="207888" grpId="0" animBg="1"/>
      <p:bldP spid="207889" grpId="0" animBg="1"/>
      <p:bldP spid="207890" grpId="0" animBg="1"/>
      <p:bldP spid="207895" grpId="0" build="p" autoUpdateAnimBg="0" advAuto="0"/>
      <p:bldP spid="207896" grpId="0" build="p" autoUpdateAnimBg="0"/>
      <p:bldP spid="207897" grpId="0" build="p" autoUpdateAnimBg="0"/>
      <p:bldP spid="207898" grpId="0" build="p" autoUpdateAnimBg="0"/>
      <p:bldP spid="207899" grpId="0" build="p" autoUpdateAnimBg="0"/>
      <p:bldP spid="207900" grpId="0" animBg="1"/>
      <p:bldP spid="207901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Text Box 2">
            <a:extLst>
              <a:ext uri="{FF2B5EF4-FFF2-40B4-BE49-F238E27FC236}">
                <a16:creationId xmlns:a16="http://schemas.microsoft.com/office/drawing/2014/main" id="{6669F86B-68C4-A61D-9AB8-9857C8AB8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8913"/>
            <a:ext cx="2819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动力学规律：</a:t>
            </a:r>
            <a:endParaRPr lang="zh-CN" altLang="en-US" b="0">
              <a:solidFill>
                <a:srgbClr val="FFFF00"/>
              </a:solidFill>
              <a:ea typeface="楷体_GB2312" pitchFamily="49" charset="-122"/>
            </a:endParaRPr>
          </a:p>
        </p:txBody>
      </p:sp>
      <p:graphicFrame>
        <p:nvGraphicFramePr>
          <p:cNvPr id="206851" name="Object 2">
            <a:extLst>
              <a:ext uri="{FF2B5EF4-FFF2-40B4-BE49-F238E27FC236}">
                <a16:creationId xmlns:a16="http://schemas.microsoft.com/office/drawing/2014/main" id="{578FD6A9-71BD-68C8-3479-4211CEF0AA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5000" y="417513"/>
          <a:ext cx="3544888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419040" progId="Equation.3">
                  <p:embed/>
                </p:oleObj>
              </mc:Choice>
              <mc:Fallback>
                <p:oleObj name="Equation" r:id="rId2" imgW="133344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417513"/>
                        <a:ext cx="3544888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2" name="Object 3">
            <a:extLst>
              <a:ext uri="{FF2B5EF4-FFF2-40B4-BE49-F238E27FC236}">
                <a16:creationId xmlns:a16="http://schemas.microsoft.com/office/drawing/2014/main" id="{E49D90EB-CA79-17AD-A50B-A0A7CD91DD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1408113"/>
          <a:ext cx="1600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23600" imgH="228600" progId="Equation.3">
                  <p:embed/>
                </p:oleObj>
              </mc:Choice>
              <mc:Fallback>
                <p:oleObj name="公式" r:id="rId4" imgW="7236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408113"/>
                        <a:ext cx="1600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3" name="Text Box 5">
            <a:extLst>
              <a:ext uri="{FF2B5EF4-FFF2-40B4-BE49-F238E27FC236}">
                <a16:creationId xmlns:a16="http://schemas.microsoft.com/office/drawing/2014/main" id="{126C3FF4-691E-157C-3305-D44B59714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722313"/>
            <a:ext cx="28162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质心运动定理：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 </a:t>
            </a:r>
            <a:endParaRPr lang="zh-CN" altLang="en-US" b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06854" name="Text Box 6">
            <a:extLst>
              <a:ext uri="{FF2B5EF4-FFF2-40B4-BE49-F238E27FC236}">
                <a16:creationId xmlns:a16="http://schemas.microsoft.com/office/drawing/2014/main" id="{8CD0F25C-C6CF-8BC7-18FE-AB6058DA5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408113"/>
            <a:ext cx="40544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刚体绕质心的转动规律：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 </a:t>
            </a:r>
            <a:endParaRPr lang="zh-CN" altLang="en-US" b="0">
              <a:solidFill>
                <a:srgbClr val="FFFF00"/>
              </a:solidFill>
              <a:ea typeface="楷体_GB2312" pitchFamily="49" charset="-122"/>
            </a:endParaRPr>
          </a:p>
        </p:txBody>
      </p:sp>
      <p:graphicFrame>
        <p:nvGraphicFramePr>
          <p:cNvPr id="206855" name="Object 4">
            <a:extLst>
              <a:ext uri="{FF2B5EF4-FFF2-40B4-BE49-F238E27FC236}">
                <a16:creationId xmlns:a16="http://schemas.microsoft.com/office/drawing/2014/main" id="{E598EBB7-2D4A-7309-56BB-65EA21C3DA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865313"/>
          <a:ext cx="3200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47560" imgH="393480" progId="Equation.3">
                  <p:embed/>
                </p:oleObj>
              </mc:Choice>
              <mc:Fallback>
                <p:oleObj name="公式" r:id="rId6" imgW="144756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865313"/>
                        <a:ext cx="3200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6" name="Text Box 8">
            <a:extLst>
              <a:ext uri="{FF2B5EF4-FFF2-40B4-BE49-F238E27FC236}">
                <a16:creationId xmlns:a16="http://schemas.microsoft.com/office/drawing/2014/main" id="{47CAA0B7-C016-09D2-6053-AB5E2D7C4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093913"/>
            <a:ext cx="25066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刚体的动能：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 </a:t>
            </a:r>
            <a:endParaRPr lang="zh-CN" altLang="en-US" b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06857" name="AutoShape 9">
            <a:extLst>
              <a:ext uri="{FF2B5EF4-FFF2-40B4-BE49-F238E27FC236}">
                <a16:creationId xmlns:a16="http://schemas.microsoft.com/office/drawing/2014/main" id="{A3715786-F769-25F6-C09C-BA2472F6BD8F}"/>
              </a:ext>
            </a:extLst>
          </p:cNvPr>
          <p:cNvSpPr>
            <a:spLocks/>
          </p:cNvSpPr>
          <p:nvPr/>
        </p:nvSpPr>
        <p:spPr bwMode="auto">
          <a:xfrm>
            <a:off x="533400" y="798513"/>
            <a:ext cx="304800" cy="1676400"/>
          </a:xfrm>
          <a:prstGeom prst="leftBrace">
            <a:avLst>
              <a:gd name="adj1" fmla="val 45833"/>
              <a:gd name="adj2" fmla="val 50000"/>
            </a:avLst>
          </a:prstGeom>
          <a:noFill/>
          <a:ln w="349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endParaRPr lang="zh-CN" altLang="en-US"/>
          </a:p>
        </p:txBody>
      </p:sp>
      <p:sp>
        <p:nvSpPr>
          <p:cNvPr id="206858" name="AutoShape 10">
            <a:extLst>
              <a:ext uri="{FF2B5EF4-FFF2-40B4-BE49-F238E27FC236}">
                <a16:creationId xmlns:a16="http://schemas.microsoft.com/office/drawing/2014/main" id="{B2932A01-6937-0EB8-0220-14686048CC0B}"/>
              </a:ext>
            </a:extLst>
          </p:cNvPr>
          <p:cNvSpPr>
            <a:spLocks/>
          </p:cNvSpPr>
          <p:nvPr/>
        </p:nvSpPr>
        <p:spPr bwMode="auto">
          <a:xfrm>
            <a:off x="6858000" y="493713"/>
            <a:ext cx="381000" cy="1295400"/>
          </a:xfrm>
          <a:prstGeom prst="rightBrace">
            <a:avLst>
              <a:gd name="adj1" fmla="val 28333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endParaRPr lang="zh-CN" altLang="en-US"/>
          </a:p>
        </p:txBody>
      </p:sp>
      <p:sp>
        <p:nvSpPr>
          <p:cNvPr id="206859" name="Text Box 11">
            <a:extLst>
              <a:ext uri="{FF2B5EF4-FFF2-40B4-BE49-F238E27FC236}">
                <a16:creationId xmlns:a16="http://schemas.microsoft.com/office/drawing/2014/main" id="{6C19D66C-145B-F56C-6AF9-70D7BCA4F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646113"/>
            <a:ext cx="1905000" cy="91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 i="1">
                <a:solidFill>
                  <a:srgbClr val="FFFF00"/>
                </a:solidFill>
                <a:ea typeface="楷体_GB2312" pitchFamily="49" charset="-122"/>
              </a:rPr>
              <a:t>平面运动的基本方程组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 </a:t>
            </a:r>
            <a:endParaRPr lang="zh-CN" altLang="en-US" b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06861" name="Text Box 13">
            <a:extLst>
              <a:ext uri="{FF2B5EF4-FFF2-40B4-BE49-F238E27FC236}">
                <a16:creationId xmlns:a16="http://schemas.microsoft.com/office/drawing/2014/main" id="{49D890DC-5FAE-5A05-5265-DE05B2570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2743200"/>
            <a:ext cx="2362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b="0">
                <a:solidFill>
                  <a:srgbClr val="FFFF00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思考题：</a:t>
            </a:r>
            <a:endParaRPr lang="zh-CN" altLang="en-US" b="0">
              <a:ea typeface="楷体_GB2312" pitchFamily="49" charset="-122"/>
            </a:endParaRPr>
          </a:p>
        </p:txBody>
      </p:sp>
      <p:sp>
        <p:nvSpPr>
          <p:cNvPr id="206862" name="Text Box 14">
            <a:extLst>
              <a:ext uri="{FF2B5EF4-FFF2-40B4-BE49-F238E27FC236}">
                <a16:creationId xmlns:a16="http://schemas.microsoft.com/office/drawing/2014/main" id="{110C2B80-FC67-7D95-4237-965C5C0F9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184525"/>
            <a:ext cx="8915400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chemeClr val="hlink"/>
                </a:solidFill>
                <a:ea typeface="楷体_GB2312" pitchFamily="49" charset="-122"/>
                <a:sym typeface="Symbol" panose="05050102010706020507" pitchFamily="18" charset="2"/>
              </a:rPr>
              <a:t>   </a:t>
            </a:r>
            <a:r>
              <a:rPr lang="zh-CN" altLang="en-US" i="1">
                <a:solidFill>
                  <a:schemeClr val="hlink"/>
                </a:solidFill>
                <a:ea typeface="楷体_GB2312" pitchFamily="49" charset="-122"/>
                <a:sym typeface="Symbol" panose="05050102010706020507" pitchFamily="18" charset="2"/>
              </a:rPr>
              <a:t>如图示，将一质量为 </a:t>
            </a:r>
            <a:r>
              <a:rPr lang="en-US" altLang="zh-CN" i="1">
                <a:solidFill>
                  <a:srgbClr val="FFFF99"/>
                </a:solidFill>
                <a:ea typeface="楷体_GB2312" pitchFamily="49" charset="-122"/>
                <a:sym typeface="Symbol" panose="05050102010706020507" pitchFamily="18" charset="2"/>
              </a:rPr>
              <a:t>m </a:t>
            </a:r>
            <a:r>
              <a:rPr lang="zh-CN" altLang="en-US" i="1">
                <a:solidFill>
                  <a:schemeClr val="hlink"/>
                </a:solidFill>
                <a:ea typeface="楷体_GB2312" pitchFamily="49" charset="-122"/>
                <a:sym typeface="Symbol" panose="05050102010706020507" pitchFamily="18" charset="2"/>
              </a:rPr>
              <a:t>的长杆用细绳从两端水平地挂起，其中一根绳子突然断了，</a:t>
            </a:r>
            <a:r>
              <a:rPr lang="zh-CN" altLang="en-US" i="1">
                <a:ea typeface="楷体_GB2312" pitchFamily="49" charset="-122"/>
                <a:sym typeface="Symbol" panose="05050102010706020507" pitchFamily="18" charset="2"/>
              </a:rPr>
              <a:t>另一根绳子内的张力是多少？ </a:t>
            </a:r>
            <a:endParaRPr lang="zh-CN" altLang="en-US" b="0">
              <a:ea typeface="楷体_GB2312" pitchFamily="49" charset="-122"/>
            </a:endParaRPr>
          </a:p>
        </p:txBody>
      </p:sp>
      <p:sp>
        <p:nvSpPr>
          <p:cNvPr id="206863" name="Rectangle 15" descr="宽下对角线">
            <a:extLst>
              <a:ext uri="{FF2B5EF4-FFF2-40B4-BE49-F238E27FC236}">
                <a16:creationId xmlns:a16="http://schemas.microsoft.com/office/drawing/2014/main" id="{2F9C28D5-F12E-997D-D3F6-53A0F9257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4276725"/>
            <a:ext cx="3581400" cy="152400"/>
          </a:xfrm>
          <a:prstGeom prst="rect">
            <a:avLst/>
          </a:prstGeom>
          <a:pattFill prst="wdDnDiag">
            <a:fgClr>
              <a:srgbClr val="800080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endParaRPr lang="zh-CN" altLang="en-US"/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3D559F39-D857-97B0-E98C-AE2D243A0169}"/>
              </a:ext>
            </a:extLst>
          </p:cNvPr>
          <p:cNvGrpSpPr>
            <a:grpSpLocks/>
          </p:cNvGrpSpPr>
          <p:nvPr/>
        </p:nvGrpSpPr>
        <p:grpSpPr bwMode="auto">
          <a:xfrm>
            <a:off x="979488" y="4429125"/>
            <a:ext cx="2133600" cy="1371600"/>
            <a:chOff x="624" y="1200"/>
            <a:chExt cx="1728" cy="912"/>
          </a:xfrm>
        </p:grpSpPr>
        <p:sp>
          <p:nvSpPr>
            <p:cNvPr id="206865" name="Rectangle 17">
              <a:extLst>
                <a:ext uri="{FF2B5EF4-FFF2-40B4-BE49-F238E27FC236}">
                  <a16:creationId xmlns:a16="http://schemas.microsoft.com/office/drawing/2014/main" id="{29FDE443-5648-B26C-F455-7D5E15669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016"/>
              <a:ext cx="1728" cy="96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>
                <a:buFont typeface="Monotype Sorts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6179" name="Line 18">
              <a:extLst>
                <a:ext uri="{FF2B5EF4-FFF2-40B4-BE49-F238E27FC236}">
                  <a16:creationId xmlns:a16="http://schemas.microsoft.com/office/drawing/2014/main" id="{AA1B109C-6B6F-4B18-8CFD-941255050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200"/>
              <a:ext cx="0" cy="816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0" name="Line 19">
              <a:extLst>
                <a:ext uri="{FF2B5EF4-FFF2-40B4-BE49-F238E27FC236}">
                  <a16:creationId xmlns:a16="http://schemas.microsoft.com/office/drawing/2014/main" id="{199145BC-A6FA-3943-3843-7E0451780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200"/>
              <a:ext cx="0" cy="816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:a16="http://schemas.microsoft.com/office/drawing/2014/main" id="{DF3638E1-DFE1-A6A0-9D30-FB4F944B93E8}"/>
              </a:ext>
            </a:extLst>
          </p:cNvPr>
          <p:cNvGrpSpPr>
            <a:grpSpLocks/>
          </p:cNvGrpSpPr>
          <p:nvPr/>
        </p:nvGrpSpPr>
        <p:grpSpPr bwMode="auto">
          <a:xfrm>
            <a:off x="2808288" y="4962525"/>
            <a:ext cx="533400" cy="304800"/>
            <a:chOff x="1056" y="3264"/>
            <a:chExt cx="336" cy="192"/>
          </a:xfrm>
        </p:grpSpPr>
        <p:sp>
          <p:nvSpPr>
            <p:cNvPr id="6176" name="Line 21">
              <a:extLst>
                <a:ext uri="{FF2B5EF4-FFF2-40B4-BE49-F238E27FC236}">
                  <a16:creationId xmlns:a16="http://schemas.microsoft.com/office/drawing/2014/main" id="{0A5DE246-99E5-2E71-B362-37458366A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264"/>
              <a:ext cx="240" cy="19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7" name="Line 22">
              <a:extLst>
                <a:ext uri="{FF2B5EF4-FFF2-40B4-BE49-F238E27FC236}">
                  <a16:creationId xmlns:a16="http://schemas.microsoft.com/office/drawing/2014/main" id="{67E343C4-A0C8-6234-0B87-42965C9553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3312"/>
              <a:ext cx="336" cy="9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6871" name="Line 23">
            <a:extLst>
              <a:ext uri="{FF2B5EF4-FFF2-40B4-BE49-F238E27FC236}">
                <a16:creationId xmlns:a16="http://schemas.microsoft.com/office/drawing/2014/main" id="{7DAE5497-FFC4-39B2-780D-FD73C09D72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088" y="4886325"/>
            <a:ext cx="0" cy="533400"/>
          </a:xfrm>
          <a:prstGeom prst="line">
            <a:avLst/>
          </a:prstGeom>
          <a:noFill/>
          <a:ln w="2222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6872" name="Object 5">
            <a:extLst>
              <a:ext uri="{FF2B5EF4-FFF2-40B4-BE49-F238E27FC236}">
                <a16:creationId xmlns:a16="http://schemas.microsoft.com/office/drawing/2014/main" id="{13F31095-3838-CACA-E212-1A8E9D8212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888" y="4962525"/>
          <a:ext cx="341312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" imgH="164880" progId="Equation.3">
                  <p:embed/>
                </p:oleObj>
              </mc:Choice>
              <mc:Fallback>
                <p:oleObj name="Equation" r:id="rId8" imgW="139680" imgH="1648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8" y="4962525"/>
                        <a:ext cx="341312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73" name="Rectangle 25">
            <a:extLst>
              <a:ext uri="{FF2B5EF4-FFF2-40B4-BE49-F238E27FC236}">
                <a16:creationId xmlns:a16="http://schemas.microsoft.com/office/drawing/2014/main" id="{6691B36B-1EA4-E977-A7E6-BCD86940C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8" y="5191125"/>
            <a:ext cx="3397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99"/>
                </a:solidFill>
                <a:ea typeface="楷体_GB2312" pitchFamily="49" charset="-122"/>
                <a:sym typeface="Symbol" panose="05050102010706020507" pitchFamily="18" charset="2"/>
              </a:rPr>
              <a:t>m</a:t>
            </a:r>
          </a:p>
        </p:txBody>
      </p:sp>
      <p:sp>
        <p:nvSpPr>
          <p:cNvPr id="206874" name="Rectangle 26">
            <a:extLst>
              <a:ext uri="{FF2B5EF4-FFF2-40B4-BE49-F238E27FC236}">
                <a16:creationId xmlns:a16="http://schemas.microsoft.com/office/drawing/2014/main" id="{48D218A6-114E-934F-C35C-1DFE9BD1C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688" y="5191125"/>
            <a:ext cx="4381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99"/>
                </a:solidFill>
                <a:ea typeface="楷体_GB2312" pitchFamily="49" charset="-122"/>
                <a:sym typeface="Symbol" panose="05050102010706020507" pitchFamily="18" charset="2"/>
              </a:rPr>
              <a:t>l</a:t>
            </a:r>
          </a:p>
        </p:txBody>
      </p:sp>
      <p:graphicFrame>
        <p:nvGraphicFramePr>
          <p:cNvPr id="26" name="Object 7">
            <a:extLst>
              <a:ext uri="{FF2B5EF4-FFF2-40B4-BE49-F238E27FC236}">
                <a16:creationId xmlns:a16="http://schemas.microsoft.com/office/drawing/2014/main" id="{24567542-9485-59A9-2E89-99A67CDB44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8875" y="4113213"/>
          <a:ext cx="22860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228600" progId="Equation.3">
                  <p:embed/>
                </p:oleObj>
              </mc:Choice>
              <mc:Fallback>
                <p:oleObj name="Equation" r:id="rId10" imgW="8762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75" y="4113213"/>
                        <a:ext cx="22860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48">
            <a:extLst>
              <a:ext uri="{FF2B5EF4-FFF2-40B4-BE49-F238E27FC236}">
                <a16:creationId xmlns:a16="http://schemas.microsoft.com/office/drawing/2014/main" id="{762B3654-BCF1-5151-03A4-B6437B223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75" y="4167188"/>
            <a:ext cx="3833813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 i="1">
                <a:ea typeface="楷体_GB2312" pitchFamily="49" charset="-122"/>
                <a:sym typeface="Symbol" panose="05050102010706020507" pitchFamily="18" charset="2"/>
              </a:rPr>
              <a:t>质心运动定律</a:t>
            </a:r>
          </a:p>
        </p:txBody>
      </p:sp>
      <p:sp>
        <p:nvSpPr>
          <p:cNvPr id="28" name="Rectangle 49">
            <a:extLst>
              <a:ext uri="{FF2B5EF4-FFF2-40B4-BE49-F238E27FC236}">
                <a16:creationId xmlns:a16="http://schemas.microsoft.com/office/drawing/2014/main" id="{9DB8CF67-F8DE-868B-54AF-E4DD1262B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5027613"/>
            <a:ext cx="3833812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zh-CN" altLang="en-US" i="1">
                <a:ea typeface="楷体_GB2312" pitchFamily="49" charset="-122"/>
                <a:sym typeface="Symbol" panose="05050102010706020507" pitchFamily="18" charset="2"/>
              </a:rPr>
              <a:t>转动定律</a:t>
            </a:r>
          </a:p>
        </p:txBody>
      </p:sp>
      <p:graphicFrame>
        <p:nvGraphicFramePr>
          <p:cNvPr id="29" name="Object 8">
            <a:extLst>
              <a:ext uri="{FF2B5EF4-FFF2-40B4-BE49-F238E27FC236}">
                <a16:creationId xmlns:a16="http://schemas.microsoft.com/office/drawing/2014/main" id="{05C4A4EC-6626-CFAC-C4C8-772D85ECD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5888" y="4799013"/>
          <a:ext cx="182245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393480" progId="Equation.3">
                  <p:embed/>
                </p:oleObj>
              </mc:Choice>
              <mc:Fallback>
                <p:oleObj name="Equation" r:id="rId12" imgW="69840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888" y="4799013"/>
                        <a:ext cx="1822450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9">
            <a:extLst>
              <a:ext uri="{FF2B5EF4-FFF2-40B4-BE49-F238E27FC236}">
                <a16:creationId xmlns:a16="http://schemas.microsoft.com/office/drawing/2014/main" id="{4B9DE2B9-2877-7FB5-B693-62F5CC99F1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4675" y="4722813"/>
          <a:ext cx="18224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98400" imgH="419040" progId="Equation.3">
                  <p:embed/>
                </p:oleObj>
              </mc:Choice>
              <mc:Fallback>
                <p:oleObj name="Equation" r:id="rId14" imgW="698400" imgH="419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675" y="4722813"/>
                        <a:ext cx="18224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AutoShape 52">
            <a:extLst>
              <a:ext uri="{FF2B5EF4-FFF2-40B4-BE49-F238E27FC236}">
                <a16:creationId xmlns:a16="http://schemas.microsoft.com/office/drawing/2014/main" id="{9500F3F4-BDB1-B0D6-C8B8-BBDF3DEE5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75" y="5972175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endParaRPr lang="zh-CN" altLang="en-US"/>
          </a:p>
        </p:txBody>
      </p:sp>
      <p:graphicFrame>
        <p:nvGraphicFramePr>
          <p:cNvPr id="32" name="Object 10">
            <a:extLst>
              <a:ext uri="{FF2B5EF4-FFF2-40B4-BE49-F238E27FC236}">
                <a16:creationId xmlns:a16="http://schemas.microsoft.com/office/drawing/2014/main" id="{75435C70-9A00-BC7A-3396-6FE522201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3875" y="5667375"/>
          <a:ext cx="2362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39600" imgH="393480" progId="Equation.3">
                  <p:embed/>
                </p:oleObj>
              </mc:Choice>
              <mc:Fallback>
                <p:oleObj name="Equation" r:id="rId16" imgW="93960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75" y="5667375"/>
                        <a:ext cx="2362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AutoShape 54">
            <a:extLst>
              <a:ext uri="{FF2B5EF4-FFF2-40B4-BE49-F238E27FC236}">
                <a16:creationId xmlns:a16="http://schemas.microsoft.com/office/drawing/2014/main" id="{E133A50A-3F18-A8B4-F225-BD2C70D74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6075" y="5972175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endParaRPr lang="zh-CN" altLang="en-US"/>
          </a:p>
        </p:txBody>
      </p:sp>
      <p:graphicFrame>
        <p:nvGraphicFramePr>
          <p:cNvPr id="34" name="Object 11">
            <a:extLst>
              <a:ext uri="{FF2B5EF4-FFF2-40B4-BE49-F238E27FC236}">
                <a16:creationId xmlns:a16="http://schemas.microsoft.com/office/drawing/2014/main" id="{5611C5A2-904C-4CA0-FCA8-41D8AE6AF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5697538"/>
          <a:ext cx="12858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09480" imgH="393480" progId="Equation.3">
                  <p:embed/>
                </p:oleObj>
              </mc:Choice>
              <mc:Fallback>
                <p:oleObj name="Equation" r:id="rId18" imgW="609480" imgH="393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5697538"/>
                        <a:ext cx="128587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Line 56">
            <a:extLst>
              <a:ext uri="{FF2B5EF4-FFF2-40B4-BE49-F238E27FC236}">
                <a16:creationId xmlns:a16="http://schemas.microsoft.com/office/drawing/2014/main" id="{EA632420-1F60-F513-A9E0-367BFB26D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7875" y="5743575"/>
            <a:ext cx="0" cy="6096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Rectangle 57">
            <a:extLst>
              <a:ext uri="{FF2B5EF4-FFF2-40B4-BE49-F238E27FC236}">
                <a16:creationId xmlns:a16="http://schemas.microsoft.com/office/drawing/2014/main" id="{756268DC-607B-D737-5C6F-8DFD83959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13" y="6024563"/>
            <a:ext cx="83820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 i="1">
                <a:solidFill>
                  <a:srgbClr val="FFFF99"/>
                </a:solidFill>
                <a:ea typeface="楷体_GB2312" pitchFamily="49" charset="-122"/>
                <a:sym typeface="Symbol" panose="05050102010706020507" pitchFamily="18" charset="2"/>
              </a:rPr>
              <a:t>mg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6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300"/>
                                        <p:tgtEl>
                                          <p:spTgt spid="206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6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300"/>
                                        <p:tgtEl>
                                          <p:spTgt spid="206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20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20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6" dur="500"/>
                                        <p:tgtEl>
                                          <p:spTgt spid="20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0" grpId="0" build="p" autoUpdateAnimBg="0"/>
      <p:bldP spid="206853" grpId="0" build="p" autoUpdateAnimBg="0"/>
      <p:bldP spid="206854" grpId="0" build="p" autoUpdateAnimBg="0"/>
      <p:bldP spid="206856" grpId="0" build="p" autoUpdateAnimBg="0"/>
      <p:bldP spid="206857" grpId="0" animBg="1"/>
      <p:bldP spid="206858" grpId="0" animBg="1"/>
      <p:bldP spid="206859" grpId="0" build="p" autoUpdateAnimBg="0"/>
      <p:bldP spid="206861" grpId="0" build="p" autoUpdateAnimBg="0"/>
      <p:bldP spid="206862" grpId="0" autoUpdateAnimBg="0"/>
      <p:bldP spid="206863" grpId="0" animBg="1"/>
      <p:bldP spid="206873" grpId="0" autoUpdateAnimBg="0"/>
      <p:bldP spid="206874" grpId="0" autoUpdateAnimBg="0"/>
      <p:bldP spid="27" grpId="0" autoUpdateAnimBg="0"/>
      <p:bldP spid="28" grpId="0" autoUpdateAnimBg="0"/>
      <p:bldP spid="31" grpId="0" animBg="1"/>
      <p:bldP spid="33" grpId="0" animBg="1"/>
      <p:bldP spid="3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2">
            <a:extLst>
              <a:ext uri="{FF2B5EF4-FFF2-40B4-BE49-F238E27FC236}">
                <a16:creationId xmlns:a16="http://schemas.microsoft.com/office/drawing/2014/main" id="{8EBEB645-25FB-5302-37DE-A36A7B4F0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157163"/>
            <a:ext cx="8810625" cy="654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7D9ACC-3E3A-9BA9-FEF4-6171FCD2D649}"/>
              </a:ext>
            </a:extLst>
          </p:cNvPr>
          <p:cNvGrpSpPr>
            <a:grpSpLocks/>
          </p:cNvGrpSpPr>
          <p:nvPr/>
        </p:nvGrpSpPr>
        <p:grpSpPr bwMode="auto">
          <a:xfrm>
            <a:off x="6107113" y="4086225"/>
            <a:ext cx="1296987" cy="2373313"/>
            <a:chOff x="2925" y="1320"/>
            <a:chExt cx="1072" cy="1993"/>
          </a:xfrm>
        </p:grpSpPr>
        <p:sp>
          <p:nvSpPr>
            <p:cNvPr id="798723" name="AutoShape 3">
              <a:extLst>
                <a:ext uri="{FF2B5EF4-FFF2-40B4-BE49-F238E27FC236}">
                  <a16:creationId xmlns:a16="http://schemas.microsoft.com/office/drawing/2014/main" id="{93C13993-1781-DDFA-5E9D-3CC2EA14D8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653602">
              <a:off x="2925" y="1862"/>
              <a:ext cx="635" cy="1451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66FF33">
                    <a:alpha val="82001"/>
                  </a:srgbClr>
                </a:gs>
                <a:gs pos="50000">
                  <a:srgbClr val="66FF33">
                    <a:gamma/>
                    <a:shade val="46275"/>
                    <a:invGamma/>
                  </a:srgbClr>
                </a:gs>
                <a:gs pos="100000">
                  <a:srgbClr val="66FF33">
                    <a:alpha val="82001"/>
                  </a:srgbClr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223" name="Oval 4">
              <a:extLst>
                <a:ext uri="{FF2B5EF4-FFF2-40B4-BE49-F238E27FC236}">
                  <a16:creationId xmlns:a16="http://schemas.microsoft.com/office/drawing/2014/main" id="{CF00371E-FA67-90B1-4570-AB085A02D33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4759">
              <a:off x="3357" y="1842"/>
              <a:ext cx="640" cy="317"/>
            </a:xfrm>
            <a:prstGeom prst="ellipse">
              <a:avLst/>
            </a:prstGeom>
            <a:gradFill rotWithShape="1">
              <a:gsLst>
                <a:gs pos="0">
                  <a:srgbClr val="2F7618"/>
                </a:gs>
                <a:gs pos="100000">
                  <a:srgbClr val="66FF33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24" name="Rectangle 5">
              <a:extLst>
                <a:ext uri="{FF2B5EF4-FFF2-40B4-BE49-F238E27FC236}">
                  <a16:creationId xmlns:a16="http://schemas.microsoft.com/office/drawing/2014/main" id="{D134C6E7-87CA-02BE-70ED-A022FBA318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63918">
              <a:off x="3830" y="1320"/>
              <a:ext cx="90" cy="725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00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798726" name="Text Box 6">
            <a:extLst>
              <a:ext uri="{FF2B5EF4-FFF2-40B4-BE49-F238E27FC236}">
                <a16:creationId xmlns:a16="http://schemas.microsoft.com/office/drawing/2014/main" id="{757A99D1-5336-8D10-9624-1230E5CC7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223838"/>
            <a:ext cx="2455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00000"/>
              </a:lnSpc>
              <a:buClrTx/>
              <a:buFontTx/>
              <a:buNone/>
            </a:pPr>
            <a:r>
              <a:rPr lang="zh-CN" altLang="en-US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五</a:t>
            </a:r>
            <a:r>
              <a:rPr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进动</a:t>
            </a:r>
          </a:p>
        </p:txBody>
      </p:sp>
      <p:sp>
        <p:nvSpPr>
          <p:cNvPr id="798727" name="Line 7">
            <a:extLst>
              <a:ext uri="{FF2B5EF4-FFF2-40B4-BE49-F238E27FC236}">
                <a16:creationId xmlns:a16="http://schemas.microsoft.com/office/drawing/2014/main" id="{E5354DCA-0B1A-7AC7-B912-112B7814A4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3549650"/>
            <a:ext cx="0" cy="2663825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8CFA3F12-8705-4292-0FF2-09F697813AE6}"/>
              </a:ext>
            </a:extLst>
          </p:cNvPr>
          <p:cNvGrpSpPr>
            <a:grpSpLocks/>
          </p:cNvGrpSpPr>
          <p:nvPr/>
        </p:nvGrpSpPr>
        <p:grpSpPr bwMode="auto">
          <a:xfrm>
            <a:off x="4954588" y="6291263"/>
            <a:ext cx="2092325" cy="85725"/>
            <a:chOff x="3016" y="2614"/>
            <a:chExt cx="1318" cy="54"/>
          </a:xfrm>
        </p:grpSpPr>
        <p:sp>
          <p:nvSpPr>
            <p:cNvPr id="7206" name="Line 9">
              <a:extLst>
                <a:ext uri="{FF2B5EF4-FFF2-40B4-BE49-F238E27FC236}">
                  <a16:creationId xmlns:a16="http://schemas.microsoft.com/office/drawing/2014/main" id="{40EEA719-0515-9337-1A82-A527B646A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4" y="2614"/>
              <a:ext cx="127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207" name="Group 10">
              <a:extLst>
                <a:ext uri="{FF2B5EF4-FFF2-40B4-BE49-F238E27FC236}">
                  <a16:creationId xmlns:a16="http://schemas.microsoft.com/office/drawing/2014/main" id="{D9E7A0AE-5A5D-A98E-40B3-D7B03988B0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6" y="2623"/>
              <a:ext cx="1270" cy="45"/>
              <a:chOff x="3016" y="2659"/>
              <a:chExt cx="1270" cy="45"/>
            </a:xfrm>
          </p:grpSpPr>
          <p:sp>
            <p:nvSpPr>
              <p:cNvPr id="7208" name="Line 11">
                <a:extLst>
                  <a:ext uri="{FF2B5EF4-FFF2-40B4-BE49-F238E27FC236}">
                    <a16:creationId xmlns:a16="http://schemas.microsoft.com/office/drawing/2014/main" id="{451FBE08-A38A-40DD-8A7B-4B5EECAA08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6" y="2659"/>
                <a:ext cx="45" cy="45"/>
              </a:xfrm>
              <a:prstGeom prst="line">
                <a:avLst/>
              </a:prstGeom>
              <a:noFill/>
              <a:ln w="952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9" name="Line 12">
                <a:extLst>
                  <a:ext uri="{FF2B5EF4-FFF2-40B4-BE49-F238E27FC236}">
                    <a16:creationId xmlns:a16="http://schemas.microsoft.com/office/drawing/2014/main" id="{1D95401F-1C27-FD42-1F01-11E2ADC02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27" y="2659"/>
                <a:ext cx="45" cy="45"/>
              </a:xfrm>
              <a:prstGeom prst="line">
                <a:avLst/>
              </a:prstGeom>
              <a:noFill/>
              <a:ln w="952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0" name="Line 13">
                <a:extLst>
                  <a:ext uri="{FF2B5EF4-FFF2-40B4-BE49-F238E27FC236}">
                    <a16:creationId xmlns:a16="http://schemas.microsoft.com/office/drawing/2014/main" id="{8AA43014-BC88-81EF-0720-8411096DB2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38" y="2659"/>
                <a:ext cx="45" cy="45"/>
              </a:xfrm>
              <a:prstGeom prst="line">
                <a:avLst/>
              </a:prstGeom>
              <a:noFill/>
              <a:ln w="952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1" name="Line 14">
                <a:extLst>
                  <a:ext uri="{FF2B5EF4-FFF2-40B4-BE49-F238E27FC236}">
                    <a16:creationId xmlns:a16="http://schemas.microsoft.com/office/drawing/2014/main" id="{B9B0AB62-7798-E29D-DD9E-D939A2D231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50" y="2659"/>
                <a:ext cx="45" cy="45"/>
              </a:xfrm>
              <a:prstGeom prst="line">
                <a:avLst/>
              </a:prstGeom>
              <a:noFill/>
              <a:ln w="952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2" name="Line 15">
                <a:extLst>
                  <a:ext uri="{FF2B5EF4-FFF2-40B4-BE49-F238E27FC236}">
                    <a16:creationId xmlns:a16="http://schemas.microsoft.com/office/drawing/2014/main" id="{2EF75AA7-6970-411F-9683-709366F075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61" y="2659"/>
                <a:ext cx="45" cy="45"/>
              </a:xfrm>
              <a:prstGeom prst="line">
                <a:avLst/>
              </a:prstGeom>
              <a:noFill/>
              <a:ln w="952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3" name="Line 16">
                <a:extLst>
                  <a:ext uri="{FF2B5EF4-FFF2-40B4-BE49-F238E27FC236}">
                    <a16:creationId xmlns:a16="http://schemas.microsoft.com/office/drawing/2014/main" id="{8DDE7E93-F568-0257-96F4-0B8A00DF88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72" y="2659"/>
                <a:ext cx="45" cy="45"/>
              </a:xfrm>
              <a:prstGeom prst="line">
                <a:avLst/>
              </a:prstGeom>
              <a:noFill/>
              <a:ln w="952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4" name="Line 17">
                <a:extLst>
                  <a:ext uri="{FF2B5EF4-FFF2-40B4-BE49-F238E27FC236}">
                    <a16:creationId xmlns:a16="http://schemas.microsoft.com/office/drawing/2014/main" id="{375C96AA-9E70-791D-6B2E-A3A54846ED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84" y="2659"/>
                <a:ext cx="45" cy="45"/>
              </a:xfrm>
              <a:prstGeom prst="line">
                <a:avLst/>
              </a:prstGeom>
              <a:noFill/>
              <a:ln w="952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5" name="Line 18">
                <a:extLst>
                  <a:ext uri="{FF2B5EF4-FFF2-40B4-BE49-F238E27FC236}">
                    <a16:creationId xmlns:a16="http://schemas.microsoft.com/office/drawing/2014/main" id="{9B0C149D-8D00-187F-3252-B590DB2D80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95" y="2659"/>
                <a:ext cx="45" cy="45"/>
              </a:xfrm>
              <a:prstGeom prst="line">
                <a:avLst/>
              </a:prstGeom>
              <a:noFill/>
              <a:ln w="952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6" name="Line 19">
                <a:extLst>
                  <a:ext uri="{FF2B5EF4-FFF2-40B4-BE49-F238E27FC236}">
                    <a16:creationId xmlns:a16="http://schemas.microsoft.com/office/drawing/2014/main" id="{FC9EADF4-3EEE-FE7B-DC86-42FC0A90D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06" y="2659"/>
                <a:ext cx="45" cy="45"/>
              </a:xfrm>
              <a:prstGeom prst="line">
                <a:avLst/>
              </a:prstGeom>
              <a:noFill/>
              <a:ln w="952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7" name="Line 20">
                <a:extLst>
                  <a:ext uri="{FF2B5EF4-FFF2-40B4-BE49-F238E27FC236}">
                    <a16:creationId xmlns:a16="http://schemas.microsoft.com/office/drawing/2014/main" id="{9AB5B6B7-59BA-070B-EB0A-A2913E75B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18" y="2659"/>
                <a:ext cx="45" cy="45"/>
              </a:xfrm>
              <a:prstGeom prst="line">
                <a:avLst/>
              </a:prstGeom>
              <a:noFill/>
              <a:ln w="952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8" name="Line 21">
                <a:extLst>
                  <a:ext uri="{FF2B5EF4-FFF2-40B4-BE49-F238E27FC236}">
                    <a16:creationId xmlns:a16="http://schemas.microsoft.com/office/drawing/2014/main" id="{CD2B1EBB-D96E-52C5-E986-E47B9730C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9" y="2659"/>
                <a:ext cx="45" cy="45"/>
              </a:xfrm>
              <a:prstGeom prst="line">
                <a:avLst/>
              </a:prstGeom>
              <a:noFill/>
              <a:ln w="952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9" name="Line 22">
                <a:extLst>
                  <a:ext uri="{FF2B5EF4-FFF2-40B4-BE49-F238E27FC236}">
                    <a16:creationId xmlns:a16="http://schemas.microsoft.com/office/drawing/2014/main" id="{F42FE328-4845-4FB9-F897-59486F3114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41" y="2659"/>
                <a:ext cx="45" cy="45"/>
              </a:xfrm>
              <a:prstGeom prst="line">
                <a:avLst/>
              </a:prstGeom>
              <a:noFill/>
              <a:ln w="952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798743" name="Oval 23">
            <a:extLst>
              <a:ext uri="{FF2B5EF4-FFF2-40B4-BE49-F238E27FC236}">
                <a16:creationId xmlns:a16="http://schemas.microsoft.com/office/drawing/2014/main" id="{5A8FE940-BA15-BD7D-52F8-4FCF0F332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938" y="3889375"/>
            <a:ext cx="2881312" cy="504825"/>
          </a:xfrm>
          <a:prstGeom prst="ellipse">
            <a:avLst/>
          </a:prstGeom>
          <a:noFill/>
          <a:ln w="2857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798744" name="Line 24">
            <a:extLst>
              <a:ext uri="{FF2B5EF4-FFF2-40B4-BE49-F238E27FC236}">
                <a16:creationId xmlns:a16="http://schemas.microsoft.com/office/drawing/2014/main" id="{E264A628-B013-40D2-3081-736A80E19A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1363" y="4168775"/>
            <a:ext cx="1439862" cy="2087563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45" name="Line 25">
            <a:extLst>
              <a:ext uri="{FF2B5EF4-FFF2-40B4-BE49-F238E27FC236}">
                <a16:creationId xmlns:a16="http://schemas.microsoft.com/office/drawing/2014/main" id="{67AA66FF-C5E9-C293-96C3-001A74EA1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7813" y="5454650"/>
            <a:ext cx="0" cy="72072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98746" name="Object 2">
            <a:extLst>
              <a:ext uri="{FF2B5EF4-FFF2-40B4-BE49-F238E27FC236}">
                <a16:creationId xmlns:a16="http://schemas.microsoft.com/office/drawing/2014/main" id="{CE9E0073-C726-AED0-B081-064C5AA2A9FD}"/>
              </a:ext>
            </a:extLst>
          </p:cNvPr>
          <p:cNvGraphicFramePr>
            <a:graphicFrameLocks/>
          </p:cNvGraphicFramePr>
          <p:nvPr/>
        </p:nvGraphicFramePr>
        <p:xfrm>
          <a:off x="5727700" y="6319838"/>
          <a:ext cx="2921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1960" imgH="317160" progId="Equation.3">
                  <p:embed/>
                </p:oleObj>
              </mc:Choice>
              <mc:Fallback>
                <p:oleObj name="公式" r:id="rId2" imgW="291960" imgH="31716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6319838"/>
                        <a:ext cx="29210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47" name="Object 3">
            <a:extLst>
              <a:ext uri="{FF2B5EF4-FFF2-40B4-BE49-F238E27FC236}">
                <a16:creationId xmlns:a16="http://schemas.microsoft.com/office/drawing/2014/main" id="{F54B77BE-B91A-EF52-27BD-F93267E717C2}"/>
              </a:ext>
            </a:extLst>
          </p:cNvPr>
          <p:cNvGraphicFramePr>
            <a:graphicFrameLocks/>
          </p:cNvGraphicFramePr>
          <p:nvPr/>
        </p:nvGraphicFramePr>
        <p:xfrm>
          <a:off x="7462838" y="4246563"/>
          <a:ext cx="48260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82400" imgH="419040" progId="Equation.3">
                  <p:embed/>
                </p:oleObj>
              </mc:Choice>
              <mc:Fallback>
                <p:oleObj name="公式" r:id="rId4" imgW="482400" imgH="41904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2838" y="4246563"/>
                        <a:ext cx="482600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48" name="Object 4">
            <a:extLst>
              <a:ext uri="{FF2B5EF4-FFF2-40B4-BE49-F238E27FC236}">
                <a16:creationId xmlns:a16="http://schemas.microsoft.com/office/drawing/2014/main" id="{FA9FCF5B-79E7-0FE5-CCC9-E412E0729BB4}"/>
              </a:ext>
            </a:extLst>
          </p:cNvPr>
          <p:cNvGraphicFramePr>
            <a:graphicFrameLocks/>
          </p:cNvGraphicFramePr>
          <p:nvPr/>
        </p:nvGraphicFramePr>
        <p:xfrm>
          <a:off x="7734300" y="3279775"/>
          <a:ext cx="2540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3800" imgH="368280" progId="Equation.3">
                  <p:embed/>
                </p:oleObj>
              </mc:Choice>
              <mc:Fallback>
                <p:oleObj name="公式" r:id="rId6" imgW="253800" imgH="36828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4300" y="3279775"/>
                        <a:ext cx="25400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49" name="Line 29">
            <a:extLst>
              <a:ext uri="{FF2B5EF4-FFF2-40B4-BE49-F238E27FC236}">
                <a16:creationId xmlns:a16="http://schemas.microsoft.com/office/drawing/2014/main" id="{9716CBC5-7CF6-64DD-2DDC-59740DD050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1250" y="3692525"/>
            <a:ext cx="358775" cy="50482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98750" name="Object 5">
            <a:extLst>
              <a:ext uri="{FF2B5EF4-FFF2-40B4-BE49-F238E27FC236}">
                <a16:creationId xmlns:a16="http://schemas.microsoft.com/office/drawing/2014/main" id="{E4BBEE70-F035-8C4C-1B33-F3F0F6D8A650}"/>
              </a:ext>
            </a:extLst>
          </p:cNvPr>
          <p:cNvGraphicFramePr>
            <a:graphicFrameLocks/>
          </p:cNvGraphicFramePr>
          <p:nvPr/>
        </p:nvGraphicFramePr>
        <p:xfrm>
          <a:off x="6778625" y="5670550"/>
          <a:ext cx="4953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95000" imgH="380880" progId="Equation.3">
                  <p:embed/>
                </p:oleObj>
              </mc:Choice>
              <mc:Fallback>
                <p:oleObj name="公式" r:id="rId8" imgW="495000" imgH="38088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8625" y="5670550"/>
                        <a:ext cx="49530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1" name="Object 6">
            <a:extLst>
              <a:ext uri="{FF2B5EF4-FFF2-40B4-BE49-F238E27FC236}">
                <a16:creationId xmlns:a16="http://schemas.microsoft.com/office/drawing/2014/main" id="{5D6C1E28-63B1-E92A-4881-636B5CB53B9E}"/>
              </a:ext>
            </a:extLst>
          </p:cNvPr>
          <p:cNvGraphicFramePr>
            <a:graphicFrameLocks/>
          </p:cNvGraphicFramePr>
          <p:nvPr/>
        </p:nvGraphicFramePr>
        <p:xfrm>
          <a:off x="6045200" y="5448300"/>
          <a:ext cx="2286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8600" imgH="317160" progId="Equation.3">
                  <p:embed/>
                </p:oleObj>
              </mc:Choice>
              <mc:Fallback>
                <p:oleObj name="公式" r:id="rId10" imgW="228600" imgH="31716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5448300"/>
                        <a:ext cx="22860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2" name="Object 7">
            <a:extLst>
              <a:ext uri="{FF2B5EF4-FFF2-40B4-BE49-F238E27FC236}">
                <a16:creationId xmlns:a16="http://schemas.microsoft.com/office/drawing/2014/main" id="{78328817-0315-3C80-4E7C-98103F8941DF}"/>
              </a:ext>
            </a:extLst>
          </p:cNvPr>
          <p:cNvGraphicFramePr>
            <a:graphicFrameLocks/>
          </p:cNvGraphicFramePr>
          <p:nvPr/>
        </p:nvGraphicFramePr>
        <p:xfrm>
          <a:off x="8020050" y="4878388"/>
          <a:ext cx="39370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93480" imgH="368280" progId="Equation.3">
                  <p:embed/>
                </p:oleObj>
              </mc:Choice>
              <mc:Fallback>
                <p:oleObj name="公式" r:id="rId12" imgW="393480" imgH="36828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0050" y="4878388"/>
                        <a:ext cx="393700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3" name="Object 8">
            <a:extLst>
              <a:ext uri="{FF2B5EF4-FFF2-40B4-BE49-F238E27FC236}">
                <a16:creationId xmlns:a16="http://schemas.microsoft.com/office/drawing/2014/main" id="{E572AD01-B919-F7E1-EB95-9651F958C9E3}"/>
              </a:ext>
            </a:extLst>
          </p:cNvPr>
          <p:cNvGraphicFramePr>
            <a:graphicFrameLocks/>
          </p:cNvGraphicFramePr>
          <p:nvPr/>
        </p:nvGraphicFramePr>
        <p:xfrm>
          <a:off x="8101013" y="4487863"/>
          <a:ext cx="30480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04560" imgH="304560" progId="Equation.3">
                  <p:embed/>
                </p:oleObj>
              </mc:Choice>
              <mc:Fallback>
                <p:oleObj name="公式" r:id="rId14" imgW="304560" imgH="30456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4487863"/>
                        <a:ext cx="304800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4" name="Object 9">
            <a:extLst>
              <a:ext uri="{FF2B5EF4-FFF2-40B4-BE49-F238E27FC236}">
                <a16:creationId xmlns:a16="http://schemas.microsoft.com/office/drawing/2014/main" id="{889538C4-9364-44C2-1EAA-5C8F981E3DB8}"/>
              </a:ext>
            </a:extLst>
          </p:cNvPr>
          <p:cNvGraphicFramePr>
            <a:graphicFrameLocks/>
          </p:cNvGraphicFramePr>
          <p:nvPr/>
        </p:nvGraphicFramePr>
        <p:xfrm>
          <a:off x="8015288" y="4011613"/>
          <a:ext cx="4191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19040" imgH="380880" progId="Equation.3">
                  <p:embed/>
                </p:oleObj>
              </mc:Choice>
              <mc:Fallback>
                <p:oleObj name="公式" r:id="rId16" imgW="419040" imgH="38088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5288" y="4011613"/>
                        <a:ext cx="41910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5" name="Object 10">
            <a:extLst>
              <a:ext uri="{FF2B5EF4-FFF2-40B4-BE49-F238E27FC236}">
                <a16:creationId xmlns:a16="http://schemas.microsoft.com/office/drawing/2014/main" id="{6392AD66-B1A6-39B1-2BAB-455A2FC0BA9D}"/>
              </a:ext>
            </a:extLst>
          </p:cNvPr>
          <p:cNvGraphicFramePr>
            <a:graphicFrameLocks/>
          </p:cNvGraphicFramePr>
          <p:nvPr/>
        </p:nvGraphicFramePr>
        <p:xfrm>
          <a:off x="6494463" y="3357563"/>
          <a:ext cx="2413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41200" imgH="342720" progId="Equation.3">
                  <p:embed/>
                </p:oleObj>
              </mc:Choice>
              <mc:Fallback>
                <p:oleObj name="公式" r:id="rId18" imgW="241200" imgH="34272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4463" y="3357563"/>
                        <a:ext cx="24130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6" name="Text Box 36">
            <a:extLst>
              <a:ext uri="{FF2B5EF4-FFF2-40B4-BE49-F238E27FC236}">
                <a16:creationId xmlns:a16="http://schemas.microsoft.com/office/drawing/2014/main" id="{58E48476-1C58-8E6C-714E-C2700B7B9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2811463"/>
            <a:ext cx="8605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93763" indent="-893763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25000"/>
              </a:lnSpc>
              <a:buClrTx/>
              <a:buFontTx/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高速自转的陀螺在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陀螺重力对支点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O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的力矩作用下发生进动</a:t>
            </a:r>
          </a:p>
        </p:txBody>
      </p:sp>
      <p:sp>
        <p:nvSpPr>
          <p:cNvPr id="798757" name="Text Box 37">
            <a:extLst>
              <a:ext uri="{FF2B5EF4-FFF2-40B4-BE49-F238E27FC236}">
                <a16:creationId xmlns:a16="http://schemas.microsoft.com/office/drawing/2014/main" id="{7A07B537-56EF-B8CD-6721-4D82F95C7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84550"/>
            <a:ext cx="3455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陀螺的动量矩近似为</a:t>
            </a:r>
          </a:p>
        </p:txBody>
      </p:sp>
      <p:graphicFrame>
        <p:nvGraphicFramePr>
          <p:cNvPr id="798758" name="Object 11">
            <a:extLst>
              <a:ext uri="{FF2B5EF4-FFF2-40B4-BE49-F238E27FC236}">
                <a16:creationId xmlns:a16="http://schemas.microsoft.com/office/drawing/2014/main" id="{4E4F75FF-635D-3C39-5732-340D47EC2579}"/>
              </a:ext>
            </a:extLst>
          </p:cNvPr>
          <p:cNvGraphicFramePr>
            <a:graphicFrameLocks/>
          </p:cNvGraphicFramePr>
          <p:nvPr/>
        </p:nvGraphicFramePr>
        <p:xfrm>
          <a:off x="3502025" y="3476625"/>
          <a:ext cx="10668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066680" imgH="355320" progId="Equation.3">
                  <p:embed/>
                </p:oleObj>
              </mc:Choice>
              <mc:Fallback>
                <p:oleObj name="公式" r:id="rId20" imgW="1066680" imgH="35532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2025" y="3476625"/>
                        <a:ext cx="10668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9" name="Text Box 39">
            <a:extLst>
              <a:ext uri="{FF2B5EF4-FFF2-40B4-BE49-F238E27FC236}">
                <a16:creationId xmlns:a16="http://schemas.microsoft.com/office/drawing/2014/main" id="{339D1D04-A404-8F99-3939-4BD06981D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38163" y="3933825"/>
            <a:ext cx="350837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动量矩定理</a:t>
            </a:r>
          </a:p>
        </p:txBody>
      </p:sp>
      <p:sp>
        <p:nvSpPr>
          <p:cNvPr id="798760" name="Line 40">
            <a:extLst>
              <a:ext uri="{FF2B5EF4-FFF2-40B4-BE49-F238E27FC236}">
                <a16:creationId xmlns:a16="http://schemas.microsoft.com/office/drawing/2014/main" id="{B2C95D09-C7C8-6CF1-9257-393B065812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05513" y="5054600"/>
            <a:ext cx="865187" cy="1223963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98761" name="Object 12">
            <a:extLst>
              <a:ext uri="{FF2B5EF4-FFF2-40B4-BE49-F238E27FC236}">
                <a16:creationId xmlns:a16="http://schemas.microsoft.com/office/drawing/2014/main" id="{FA3E72E5-0EF3-8EFC-0801-42C9DB406761}"/>
              </a:ext>
            </a:extLst>
          </p:cNvPr>
          <p:cNvGraphicFramePr>
            <a:graphicFrameLocks/>
          </p:cNvGraphicFramePr>
          <p:nvPr/>
        </p:nvGraphicFramePr>
        <p:xfrm>
          <a:off x="2468563" y="3973513"/>
          <a:ext cx="138430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384200" imgH="380880" progId="Equation.3">
                  <p:embed/>
                </p:oleObj>
              </mc:Choice>
              <mc:Fallback>
                <p:oleObj name="公式" r:id="rId22" imgW="1384200" imgH="380880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3973513"/>
                        <a:ext cx="138430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2" name="Object 13">
            <a:extLst>
              <a:ext uri="{FF2B5EF4-FFF2-40B4-BE49-F238E27FC236}">
                <a16:creationId xmlns:a16="http://schemas.microsoft.com/office/drawing/2014/main" id="{EF052168-6ACF-89BF-89E4-A4987C7DB3D6}"/>
              </a:ext>
            </a:extLst>
          </p:cNvPr>
          <p:cNvGraphicFramePr>
            <a:graphicFrameLocks/>
          </p:cNvGraphicFramePr>
          <p:nvPr/>
        </p:nvGraphicFramePr>
        <p:xfrm>
          <a:off x="847725" y="4505325"/>
          <a:ext cx="11176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117440" imgH="380880" progId="Equation.3">
                  <p:embed/>
                </p:oleObj>
              </mc:Choice>
              <mc:Fallback>
                <p:oleObj name="公式" r:id="rId24" imgW="1117440" imgH="380880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25" y="4505325"/>
                        <a:ext cx="111760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63" name="Text Box 43">
            <a:extLst>
              <a:ext uri="{FF2B5EF4-FFF2-40B4-BE49-F238E27FC236}">
                <a16:creationId xmlns:a16="http://schemas.microsoft.com/office/drawing/2014/main" id="{D809D3F0-8AE0-1828-656D-C53C7B9FE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3" y="5033963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由于</a:t>
            </a:r>
          </a:p>
        </p:txBody>
      </p:sp>
      <p:graphicFrame>
        <p:nvGraphicFramePr>
          <p:cNvPr id="798764" name="Object 14">
            <a:extLst>
              <a:ext uri="{FF2B5EF4-FFF2-40B4-BE49-F238E27FC236}">
                <a16:creationId xmlns:a16="http://schemas.microsoft.com/office/drawing/2014/main" id="{583B6DE5-3526-EA3C-DF90-85710DE85227}"/>
              </a:ext>
            </a:extLst>
          </p:cNvPr>
          <p:cNvGraphicFramePr>
            <a:graphicFrameLocks/>
          </p:cNvGraphicFramePr>
          <p:nvPr/>
        </p:nvGraphicFramePr>
        <p:xfrm>
          <a:off x="2224088" y="5029200"/>
          <a:ext cx="10160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015920" imgH="368280" progId="Equation.3">
                  <p:embed/>
                </p:oleObj>
              </mc:Choice>
              <mc:Fallback>
                <p:oleObj name="公式" r:id="rId26" imgW="1015920" imgH="36828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088" y="5029200"/>
                        <a:ext cx="101600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65" name="Rectangle 45">
            <a:extLst>
              <a:ext uri="{FF2B5EF4-FFF2-40B4-BE49-F238E27FC236}">
                <a16:creationId xmlns:a16="http://schemas.microsoft.com/office/drawing/2014/main" id="{BC0CDF50-7012-6893-8B79-7E8003E22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5816600"/>
            <a:ext cx="13049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因而</a:t>
            </a:r>
            <a:endParaRPr kumimoji="1"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8766" name="Rectangle 46">
            <a:extLst>
              <a:ext uri="{FF2B5EF4-FFF2-40B4-BE49-F238E27FC236}">
                <a16:creationId xmlns:a16="http://schemas.microsoft.com/office/drawing/2014/main" id="{919C5A43-7ADA-BD37-45B2-5711DB08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225" y="5724525"/>
            <a:ext cx="2347913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只改变方向，</a:t>
            </a:r>
          </a:p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不改变大小</a:t>
            </a:r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进动</a:t>
            </a:r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798767" name="Object 15">
            <a:extLst>
              <a:ext uri="{FF2B5EF4-FFF2-40B4-BE49-F238E27FC236}">
                <a16:creationId xmlns:a16="http://schemas.microsoft.com/office/drawing/2014/main" id="{DE140CB8-63CA-C11D-ADA4-B87FDB5CC636}"/>
              </a:ext>
            </a:extLst>
          </p:cNvPr>
          <p:cNvGraphicFramePr>
            <a:graphicFrameLocks/>
          </p:cNvGraphicFramePr>
          <p:nvPr/>
        </p:nvGraphicFramePr>
        <p:xfrm>
          <a:off x="1200150" y="5775325"/>
          <a:ext cx="2540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53800" imgH="368280" progId="Equation.3">
                  <p:embed/>
                </p:oleObj>
              </mc:Choice>
              <mc:Fallback>
                <p:oleObj name="公式" r:id="rId28" imgW="253800" imgH="368280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5775325"/>
                        <a:ext cx="25400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75" name="Arc 55">
            <a:extLst>
              <a:ext uri="{FF2B5EF4-FFF2-40B4-BE49-F238E27FC236}">
                <a16:creationId xmlns:a16="http://schemas.microsoft.com/office/drawing/2014/main" id="{6E88CD67-E557-F1D7-2299-D4176C3582F3}"/>
              </a:ext>
            </a:extLst>
          </p:cNvPr>
          <p:cNvSpPr>
            <a:spLocks/>
          </p:cNvSpPr>
          <p:nvPr/>
        </p:nvSpPr>
        <p:spPr bwMode="auto">
          <a:xfrm rot="2038643" flipH="1">
            <a:off x="6986588" y="4478338"/>
            <a:ext cx="471487" cy="146050"/>
          </a:xfrm>
          <a:custGeom>
            <a:avLst/>
            <a:gdLst>
              <a:gd name="T0" fmla="*/ 2147483647 w 43200"/>
              <a:gd name="T1" fmla="*/ 0 h 38804"/>
              <a:gd name="T2" fmla="*/ 2147483647 w 43200"/>
              <a:gd name="T3" fmla="*/ 139053 h 38804"/>
              <a:gd name="T4" fmla="*/ 2147483647 w 43200"/>
              <a:gd name="T5" fmla="*/ 48907851 h 38804"/>
              <a:gd name="T6" fmla="*/ 0 60000 65536"/>
              <a:gd name="T7" fmla="*/ 0 60000 65536"/>
              <a:gd name="T8" fmla="*/ 0 60000 65536"/>
              <a:gd name="T9" fmla="*/ 0 w 43200"/>
              <a:gd name="T10" fmla="*/ 0 h 38804"/>
              <a:gd name="T11" fmla="*/ 43200 w 43200"/>
              <a:gd name="T12" fmla="*/ 38804 h 388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8804" fill="none" extrusionOk="0">
                <a:moveTo>
                  <a:pt x="34660" y="0"/>
                </a:moveTo>
                <a:cubicBezTo>
                  <a:pt x="40040" y="4084"/>
                  <a:pt x="43200" y="10449"/>
                  <a:pt x="43200" y="17204"/>
                </a:cubicBezTo>
                <a:cubicBezTo>
                  <a:pt x="43200" y="29133"/>
                  <a:pt x="33529" y="38804"/>
                  <a:pt x="21600" y="38804"/>
                </a:cubicBezTo>
                <a:cubicBezTo>
                  <a:pt x="9670" y="38804"/>
                  <a:pt x="0" y="29133"/>
                  <a:pt x="0" y="17204"/>
                </a:cubicBezTo>
                <a:cubicBezTo>
                  <a:pt x="-1" y="10478"/>
                  <a:pt x="3133" y="4135"/>
                  <a:pt x="8474" y="48"/>
                </a:cubicBezTo>
              </a:path>
              <a:path w="43200" h="38804" stroke="0" extrusionOk="0">
                <a:moveTo>
                  <a:pt x="34660" y="0"/>
                </a:moveTo>
                <a:cubicBezTo>
                  <a:pt x="40040" y="4084"/>
                  <a:pt x="43200" y="10449"/>
                  <a:pt x="43200" y="17204"/>
                </a:cubicBezTo>
                <a:cubicBezTo>
                  <a:pt x="43200" y="29133"/>
                  <a:pt x="33529" y="38804"/>
                  <a:pt x="21600" y="38804"/>
                </a:cubicBezTo>
                <a:cubicBezTo>
                  <a:pt x="9670" y="38804"/>
                  <a:pt x="0" y="29133"/>
                  <a:pt x="0" y="17204"/>
                </a:cubicBezTo>
                <a:cubicBezTo>
                  <a:pt x="-1" y="10478"/>
                  <a:pt x="3133" y="4135"/>
                  <a:pt x="8474" y="48"/>
                </a:cubicBezTo>
                <a:lnTo>
                  <a:pt x="21600" y="17204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76" name="Arc 56">
            <a:extLst>
              <a:ext uri="{FF2B5EF4-FFF2-40B4-BE49-F238E27FC236}">
                <a16:creationId xmlns:a16="http://schemas.microsoft.com/office/drawing/2014/main" id="{DDD30945-DEED-E091-076A-2119403860A9}"/>
              </a:ext>
            </a:extLst>
          </p:cNvPr>
          <p:cNvSpPr>
            <a:spLocks/>
          </p:cNvSpPr>
          <p:nvPr/>
        </p:nvSpPr>
        <p:spPr bwMode="auto">
          <a:xfrm rot="727523" flipH="1">
            <a:off x="5951538" y="5848350"/>
            <a:ext cx="165100" cy="571500"/>
          </a:xfrm>
          <a:custGeom>
            <a:avLst/>
            <a:gdLst>
              <a:gd name="T0" fmla="*/ 0 w 12372"/>
              <a:gd name="T1" fmla="*/ 2147483647 h 21600"/>
              <a:gd name="T2" fmla="*/ 2147483647 w 12372"/>
              <a:gd name="T3" fmla="*/ 2147483647 h 21600"/>
              <a:gd name="T4" fmla="*/ 2147483647 w 12372"/>
              <a:gd name="T5" fmla="*/ 2147483647 h 21600"/>
              <a:gd name="T6" fmla="*/ 0 60000 65536"/>
              <a:gd name="T7" fmla="*/ 0 60000 65536"/>
              <a:gd name="T8" fmla="*/ 0 60000 65536"/>
              <a:gd name="T9" fmla="*/ 0 w 12372"/>
              <a:gd name="T10" fmla="*/ 0 h 21600"/>
              <a:gd name="T11" fmla="*/ 12372 w 1237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372" h="21600" fill="none" extrusionOk="0">
                <a:moveTo>
                  <a:pt x="0" y="902"/>
                </a:moveTo>
                <a:cubicBezTo>
                  <a:pt x="2004" y="303"/>
                  <a:pt x="4085" y="-1"/>
                  <a:pt x="6178" y="0"/>
                </a:cubicBezTo>
                <a:cubicBezTo>
                  <a:pt x="8275" y="0"/>
                  <a:pt x="10362" y="305"/>
                  <a:pt x="12371" y="907"/>
                </a:cubicBezTo>
              </a:path>
              <a:path w="12372" h="21600" stroke="0" extrusionOk="0">
                <a:moveTo>
                  <a:pt x="0" y="902"/>
                </a:moveTo>
                <a:cubicBezTo>
                  <a:pt x="2004" y="303"/>
                  <a:pt x="4085" y="-1"/>
                  <a:pt x="6178" y="0"/>
                </a:cubicBezTo>
                <a:cubicBezTo>
                  <a:pt x="8275" y="0"/>
                  <a:pt x="10362" y="305"/>
                  <a:pt x="12371" y="907"/>
                </a:cubicBezTo>
                <a:lnTo>
                  <a:pt x="6178" y="21600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77" name="Arc 57">
            <a:extLst>
              <a:ext uri="{FF2B5EF4-FFF2-40B4-BE49-F238E27FC236}">
                <a16:creationId xmlns:a16="http://schemas.microsoft.com/office/drawing/2014/main" id="{4987854C-309A-0137-628F-20F97A36978B}"/>
              </a:ext>
            </a:extLst>
          </p:cNvPr>
          <p:cNvSpPr>
            <a:spLocks/>
          </p:cNvSpPr>
          <p:nvPr/>
        </p:nvSpPr>
        <p:spPr bwMode="auto">
          <a:xfrm flipH="1">
            <a:off x="5665788" y="3578225"/>
            <a:ext cx="720725" cy="180975"/>
          </a:xfrm>
          <a:custGeom>
            <a:avLst/>
            <a:gdLst>
              <a:gd name="T0" fmla="*/ 2147483647 w 43200"/>
              <a:gd name="T1" fmla="*/ 18357480 h 39082"/>
              <a:gd name="T2" fmla="*/ 2147483647 w 43200"/>
              <a:gd name="T3" fmla="*/ 0 h 39082"/>
              <a:gd name="T4" fmla="*/ 2147483647 w 43200"/>
              <a:gd name="T5" fmla="*/ 172362073 h 39082"/>
              <a:gd name="T6" fmla="*/ 0 60000 65536"/>
              <a:gd name="T7" fmla="*/ 0 60000 65536"/>
              <a:gd name="T8" fmla="*/ 0 60000 65536"/>
              <a:gd name="T9" fmla="*/ 0 w 43200"/>
              <a:gd name="T10" fmla="*/ 0 h 39082"/>
              <a:gd name="T11" fmla="*/ 43200 w 43200"/>
              <a:gd name="T12" fmla="*/ 39082 h 390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9082" fill="none" extrusionOk="0">
                <a:moveTo>
                  <a:pt x="36518" y="1862"/>
                </a:moveTo>
                <a:cubicBezTo>
                  <a:pt x="40786" y="5937"/>
                  <a:pt x="43200" y="11581"/>
                  <a:pt x="43200" y="17482"/>
                </a:cubicBezTo>
                <a:cubicBezTo>
                  <a:pt x="43200" y="29411"/>
                  <a:pt x="33529" y="39082"/>
                  <a:pt x="21600" y="39082"/>
                </a:cubicBezTo>
                <a:cubicBezTo>
                  <a:pt x="9670" y="39082"/>
                  <a:pt x="0" y="29411"/>
                  <a:pt x="0" y="17482"/>
                </a:cubicBezTo>
                <a:cubicBezTo>
                  <a:pt x="-1" y="10563"/>
                  <a:pt x="3313" y="4063"/>
                  <a:pt x="8913" y="0"/>
                </a:cubicBezTo>
              </a:path>
              <a:path w="43200" h="39082" stroke="0" extrusionOk="0">
                <a:moveTo>
                  <a:pt x="36518" y="1862"/>
                </a:moveTo>
                <a:cubicBezTo>
                  <a:pt x="40786" y="5937"/>
                  <a:pt x="43200" y="11581"/>
                  <a:pt x="43200" y="17482"/>
                </a:cubicBezTo>
                <a:cubicBezTo>
                  <a:pt x="43200" y="29411"/>
                  <a:pt x="33529" y="39082"/>
                  <a:pt x="21600" y="39082"/>
                </a:cubicBezTo>
                <a:cubicBezTo>
                  <a:pt x="9670" y="39082"/>
                  <a:pt x="0" y="29411"/>
                  <a:pt x="0" y="17482"/>
                </a:cubicBezTo>
                <a:cubicBezTo>
                  <a:pt x="-1" y="10563"/>
                  <a:pt x="3313" y="4063"/>
                  <a:pt x="8913" y="0"/>
                </a:cubicBezTo>
                <a:lnTo>
                  <a:pt x="21600" y="17482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98785" name="Picture 65" descr="j0293240">
            <a:extLst>
              <a:ext uri="{FF2B5EF4-FFF2-40B4-BE49-F238E27FC236}">
                <a16:creationId xmlns:a16="http://schemas.microsoft.com/office/drawing/2014/main" id="{8CFBEC7B-9326-0C90-1342-B33A46FE6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863" y="6862763"/>
            <a:ext cx="611187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89" name="Rectangle 69">
            <a:extLst>
              <a:ext uri="{FF2B5EF4-FFF2-40B4-BE49-F238E27FC236}">
                <a16:creationId xmlns:a16="http://schemas.microsoft.com/office/drawing/2014/main" id="{C383B2BD-0385-A1C6-4204-6F0DB7F3B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622300"/>
            <a:ext cx="5675312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66700" indent="-2667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15000"/>
              </a:lnSpc>
              <a:buClr>
                <a:srgbClr val="FFCC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66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现象：</a:t>
            </a:r>
            <a:r>
              <a:rPr lang="zh-CN" altLang="en-US">
                <a:latin typeface="Times New Roman" panose="02020603050405020304" pitchFamily="18" charset="0"/>
              </a:rPr>
              <a:t>陀螺仪在外力矩的作用下，在绕其对称轴高速转动的同时，横杆也会在水平面内绕竖直轴缓慢地转动。</a:t>
            </a:r>
          </a:p>
        </p:txBody>
      </p:sp>
      <p:sp>
        <p:nvSpPr>
          <p:cNvPr id="798790" name="Rectangle 70">
            <a:extLst>
              <a:ext uri="{FF2B5EF4-FFF2-40B4-BE49-F238E27FC236}">
                <a16:creationId xmlns:a16="http://schemas.microsoft.com/office/drawing/2014/main" id="{0063929B-CA6C-2DCB-2EDE-CF6F3F667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1943100"/>
            <a:ext cx="537527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66700" indent="-2667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15000"/>
              </a:lnSpc>
              <a:buClr>
                <a:srgbClr val="FFCC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66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进动：</a:t>
            </a:r>
            <a:r>
              <a:rPr lang="zh-CN" altLang="en-US">
                <a:latin typeface="Times New Roman" panose="02020603050405020304" pitchFamily="18" charset="0"/>
              </a:rPr>
              <a:t>高速转动物体的自转轴绕另一轴线的旋转运动形式。</a:t>
            </a:r>
            <a:r>
              <a:rPr lang="zh-CN" altLang="en-US" b="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798791" name="Picture 71" descr="进动仪3">
            <a:extLst>
              <a:ext uri="{FF2B5EF4-FFF2-40B4-BE49-F238E27FC236}">
                <a16:creationId xmlns:a16="http://schemas.microsoft.com/office/drawing/2014/main" id="{45E94A42-8D57-4F6A-ED52-606E53351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850" y="374650"/>
            <a:ext cx="2174875" cy="2241550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9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98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98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79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98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9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9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798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9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98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98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9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98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9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9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79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9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98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98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98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798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798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798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98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798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798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798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798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79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798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798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26" grpId="0" autoUpdateAnimBg="0"/>
      <p:bldP spid="798743" grpId="0" animBg="1"/>
      <p:bldP spid="798756" grpId="0" autoUpdateAnimBg="0"/>
      <p:bldP spid="798757" grpId="0"/>
      <p:bldP spid="798759" grpId="0"/>
      <p:bldP spid="798763" grpId="0"/>
      <p:bldP spid="798765" grpId="0"/>
      <p:bldP spid="798766" grpId="0"/>
      <p:bldP spid="798789" grpId="0"/>
      <p:bldP spid="7987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Arc 2">
            <a:extLst>
              <a:ext uri="{FF2B5EF4-FFF2-40B4-BE49-F238E27FC236}">
                <a16:creationId xmlns:a16="http://schemas.microsoft.com/office/drawing/2014/main" id="{D9D897C8-FF9E-F58E-D69E-829D0F735A17}"/>
              </a:ext>
            </a:extLst>
          </p:cNvPr>
          <p:cNvSpPr>
            <a:spLocks/>
          </p:cNvSpPr>
          <p:nvPr/>
        </p:nvSpPr>
        <p:spPr bwMode="auto">
          <a:xfrm flipH="1">
            <a:off x="6892925" y="501650"/>
            <a:ext cx="720725" cy="234950"/>
          </a:xfrm>
          <a:custGeom>
            <a:avLst/>
            <a:gdLst>
              <a:gd name="T0" fmla="*/ 2147483647 w 43200"/>
              <a:gd name="T1" fmla="*/ 62486279 h 41893"/>
              <a:gd name="T2" fmla="*/ 2147483647 w 43200"/>
              <a:gd name="T3" fmla="*/ 0 h 41893"/>
              <a:gd name="T4" fmla="*/ 2147483647 w 43200"/>
              <a:gd name="T5" fmla="*/ 631466220 h 41893"/>
              <a:gd name="T6" fmla="*/ 0 60000 65536"/>
              <a:gd name="T7" fmla="*/ 0 60000 65536"/>
              <a:gd name="T8" fmla="*/ 0 60000 65536"/>
              <a:gd name="T9" fmla="*/ 0 w 43200"/>
              <a:gd name="T10" fmla="*/ 0 h 41893"/>
              <a:gd name="T11" fmla="*/ 43200 w 43200"/>
              <a:gd name="T12" fmla="*/ 41893 h 418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1893" fill="none" extrusionOk="0">
                <a:moveTo>
                  <a:pt x="33098" y="2007"/>
                </a:moveTo>
                <a:cubicBezTo>
                  <a:pt x="39384" y="5960"/>
                  <a:pt x="43200" y="12866"/>
                  <a:pt x="43200" y="20293"/>
                </a:cubicBezTo>
                <a:cubicBezTo>
                  <a:pt x="43200" y="32222"/>
                  <a:pt x="33529" y="41893"/>
                  <a:pt x="21600" y="41893"/>
                </a:cubicBezTo>
                <a:cubicBezTo>
                  <a:pt x="9670" y="41893"/>
                  <a:pt x="0" y="32222"/>
                  <a:pt x="0" y="20293"/>
                </a:cubicBezTo>
                <a:cubicBezTo>
                  <a:pt x="-1" y="11217"/>
                  <a:pt x="5673" y="3109"/>
                  <a:pt x="14200" y="0"/>
                </a:cubicBezTo>
              </a:path>
              <a:path w="43200" h="41893" stroke="0" extrusionOk="0">
                <a:moveTo>
                  <a:pt x="33098" y="2007"/>
                </a:moveTo>
                <a:cubicBezTo>
                  <a:pt x="39384" y="5960"/>
                  <a:pt x="43200" y="12866"/>
                  <a:pt x="43200" y="20293"/>
                </a:cubicBezTo>
                <a:cubicBezTo>
                  <a:pt x="43200" y="32222"/>
                  <a:pt x="33529" y="41893"/>
                  <a:pt x="21600" y="41893"/>
                </a:cubicBezTo>
                <a:cubicBezTo>
                  <a:pt x="9670" y="41893"/>
                  <a:pt x="0" y="32222"/>
                  <a:pt x="0" y="20293"/>
                </a:cubicBezTo>
                <a:cubicBezTo>
                  <a:pt x="-1" y="11217"/>
                  <a:pt x="5673" y="3109"/>
                  <a:pt x="14200" y="0"/>
                </a:cubicBezTo>
                <a:lnTo>
                  <a:pt x="21600" y="20293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747" name="Oval 3">
            <a:extLst>
              <a:ext uri="{FF2B5EF4-FFF2-40B4-BE49-F238E27FC236}">
                <a16:creationId xmlns:a16="http://schemas.microsoft.com/office/drawing/2014/main" id="{3601F719-1845-555A-73D9-D33BE7C5B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854075"/>
            <a:ext cx="2808288" cy="936625"/>
          </a:xfrm>
          <a:prstGeom prst="ellipse">
            <a:avLst/>
          </a:prstGeom>
          <a:noFill/>
          <a:ln w="2857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799748" name="Line 4">
            <a:extLst>
              <a:ext uri="{FF2B5EF4-FFF2-40B4-BE49-F238E27FC236}">
                <a16:creationId xmlns:a16="http://schemas.microsoft.com/office/drawing/2014/main" id="{049AEE74-C9FC-8017-4295-117F627278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277813"/>
            <a:ext cx="0" cy="3384550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749" name="Line 5">
            <a:extLst>
              <a:ext uri="{FF2B5EF4-FFF2-40B4-BE49-F238E27FC236}">
                <a16:creationId xmlns:a16="http://schemas.microsoft.com/office/drawing/2014/main" id="{B0FD4B67-DE2C-DBAC-3673-954C070BE0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1358900"/>
            <a:ext cx="1439863" cy="230346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99750" name="Object 2">
            <a:extLst>
              <a:ext uri="{FF2B5EF4-FFF2-40B4-BE49-F238E27FC236}">
                <a16:creationId xmlns:a16="http://schemas.microsoft.com/office/drawing/2014/main" id="{F4877C2A-36DB-BAAF-7483-A8ABD10906F1}"/>
              </a:ext>
            </a:extLst>
          </p:cNvPr>
          <p:cNvGraphicFramePr>
            <a:graphicFrameLocks/>
          </p:cNvGraphicFramePr>
          <p:nvPr/>
        </p:nvGraphicFramePr>
        <p:xfrm>
          <a:off x="7064375" y="3730625"/>
          <a:ext cx="2921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1960" imgH="317160" progId="Equation.3">
                  <p:embed/>
                </p:oleObj>
              </mc:Choice>
              <mc:Fallback>
                <p:oleObj name="公式" r:id="rId2" imgW="291960" imgH="31716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4375" y="3730625"/>
                        <a:ext cx="292100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51" name="Line 7">
            <a:extLst>
              <a:ext uri="{FF2B5EF4-FFF2-40B4-BE49-F238E27FC236}">
                <a16:creationId xmlns:a16="http://schemas.microsoft.com/office/drawing/2014/main" id="{9A4780DA-1783-19DD-6A01-82EDC067AB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362075"/>
            <a:ext cx="1439863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752" name="Line 8">
            <a:extLst>
              <a:ext uri="{FF2B5EF4-FFF2-40B4-BE49-F238E27FC236}">
                <a16:creationId xmlns:a16="http://schemas.microsoft.com/office/drawing/2014/main" id="{7CD32BE2-415D-E814-B061-B42D908000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927100"/>
            <a:ext cx="863600" cy="431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99753" name="Object 3">
            <a:extLst>
              <a:ext uri="{FF2B5EF4-FFF2-40B4-BE49-F238E27FC236}">
                <a16:creationId xmlns:a16="http://schemas.microsoft.com/office/drawing/2014/main" id="{9612507E-2035-1D83-1B06-CADCB69BDEA2}"/>
              </a:ext>
            </a:extLst>
          </p:cNvPr>
          <p:cNvGraphicFramePr>
            <a:graphicFrameLocks/>
          </p:cNvGraphicFramePr>
          <p:nvPr/>
        </p:nvGraphicFramePr>
        <p:xfrm>
          <a:off x="7300913" y="2874963"/>
          <a:ext cx="2286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8600" imgH="317160" progId="Equation.3">
                  <p:embed/>
                </p:oleObj>
              </mc:Choice>
              <mc:Fallback>
                <p:oleObj name="公式" r:id="rId4" imgW="228600" imgH="31716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0913" y="2874963"/>
                        <a:ext cx="22860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754" name="Object 4">
            <a:extLst>
              <a:ext uri="{FF2B5EF4-FFF2-40B4-BE49-F238E27FC236}">
                <a16:creationId xmlns:a16="http://schemas.microsoft.com/office/drawing/2014/main" id="{175CC091-981C-C397-B55A-AC3DD4A31127}"/>
              </a:ext>
            </a:extLst>
          </p:cNvPr>
          <p:cNvGraphicFramePr>
            <a:graphicFrameLocks/>
          </p:cNvGraphicFramePr>
          <p:nvPr/>
        </p:nvGraphicFramePr>
        <p:xfrm>
          <a:off x="6853238" y="104775"/>
          <a:ext cx="2413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1200" imgH="342720" progId="Equation.3">
                  <p:embed/>
                </p:oleObj>
              </mc:Choice>
              <mc:Fallback>
                <p:oleObj name="公式" r:id="rId6" imgW="241200" imgH="34272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3238" y="104775"/>
                        <a:ext cx="241300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755" name="Object 5">
            <a:extLst>
              <a:ext uri="{FF2B5EF4-FFF2-40B4-BE49-F238E27FC236}">
                <a16:creationId xmlns:a16="http://schemas.microsoft.com/office/drawing/2014/main" id="{394B3593-6F73-2673-3316-7EE4C7860F42}"/>
              </a:ext>
            </a:extLst>
          </p:cNvPr>
          <p:cNvGraphicFramePr>
            <a:graphicFrameLocks/>
          </p:cNvGraphicFramePr>
          <p:nvPr/>
        </p:nvGraphicFramePr>
        <p:xfrm>
          <a:off x="8391525" y="1744663"/>
          <a:ext cx="25400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3800" imgH="368280" progId="Equation.3">
                  <p:embed/>
                </p:oleObj>
              </mc:Choice>
              <mc:Fallback>
                <p:oleObj name="公式" r:id="rId8" imgW="253800" imgH="36828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1525" y="1744663"/>
                        <a:ext cx="254000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756" name="Object 6">
            <a:extLst>
              <a:ext uri="{FF2B5EF4-FFF2-40B4-BE49-F238E27FC236}">
                <a16:creationId xmlns:a16="http://schemas.microsoft.com/office/drawing/2014/main" id="{2F336797-333A-6380-C4F1-C51D9AC7B6C8}"/>
              </a:ext>
            </a:extLst>
          </p:cNvPr>
          <p:cNvGraphicFramePr>
            <a:graphicFrameLocks/>
          </p:cNvGraphicFramePr>
          <p:nvPr/>
        </p:nvGraphicFramePr>
        <p:xfrm>
          <a:off x="7399338" y="1397000"/>
          <a:ext cx="630237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01440" imgH="317160" progId="Equation.3">
                  <p:embed/>
                </p:oleObj>
              </mc:Choice>
              <mc:Fallback>
                <p:oleObj name="公式" r:id="rId10" imgW="901440" imgH="31716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9338" y="1397000"/>
                        <a:ext cx="630237" cy="21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757" name="Object 7">
            <a:extLst>
              <a:ext uri="{FF2B5EF4-FFF2-40B4-BE49-F238E27FC236}">
                <a16:creationId xmlns:a16="http://schemas.microsoft.com/office/drawing/2014/main" id="{4AA9EC7F-569B-21F8-ED76-E00FDC90C244}"/>
              </a:ext>
            </a:extLst>
          </p:cNvPr>
          <p:cNvGraphicFramePr>
            <a:graphicFrameLocks/>
          </p:cNvGraphicFramePr>
          <p:nvPr/>
        </p:nvGraphicFramePr>
        <p:xfrm>
          <a:off x="7815263" y="1093788"/>
          <a:ext cx="327025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69800" imgH="317160" progId="Equation.3">
                  <p:embed/>
                </p:oleObj>
              </mc:Choice>
              <mc:Fallback>
                <p:oleObj name="公式" r:id="rId12" imgW="469800" imgH="31716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5263" y="1093788"/>
                        <a:ext cx="327025" cy="21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58" name="Freeform 14">
            <a:extLst>
              <a:ext uri="{FF2B5EF4-FFF2-40B4-BE49-F238E27FC236}">
                <a16:creationId xmlns:a16="http://schemas.microsoft.com/office/drawing/2014/main" id="{7C7851C1-D620-3A99-C777-6385A6A12F81}"/>
              </a:ext>
            </a:extLst>
          </p:cNvPr>
          <p:cNvSpPr>
            <a:spLocks/>
          </p:cNvSpPr>
          <p:nvPr/>
        </p:nvSpPr>
        <p:spPr bwMode="auto">
          <a:xfrm>
            <a:off x="7639050" y="1182688"/>
            <a:ext cx="125413" cy="157162"/>
          </a:xfrm>
          <a:custGeom>
            <a:avLst/>
            <a:gdLst>
              <a:gd name="T0" fmla="*/ 0 w 79"/>
              <a:gd name="T1" fmla="*/ 0 h 99"/>
              <a:gd name="T2" fmla="*/ 2147483647 w 79"/>
              <a:gd name="T3" fmla="*/ 2147483647 h 99"/>
              <a:gd name="T4" fmla="*/ 2147483647 w 79"/>
              <a:gd name="T5" fmla="*/ 2147483647 h 99"/>
              <a:gd name="T6" fmla="*/ 0 60000 65536"/>
              <a:gd name="T7" fmla="*/ 0 60000 65536"/>
              <a:gd name="T8" fmla="*/ 0 60000 65536"/>
              <a:gd name="T9" fmla="*/ 0 w 79"/>
              <a:gd name="T10" fmla="*/ 0 h 99"/>
              <a:gd name="T11" fmla="*/ 79 w 79"/>
              <a:gd name="T12" fmla="*/ 99 h 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9" h="99">
                <a:moveTo>
                  <a:pt x="0" y="0"/>
                </a:moveTo>
                <a:cubicBezTo>
                  <a:pt x="10" y="6"/>
                  <a:pt x="47" y="22"/>
                  <a:pt x="60" y="38"/>
                </a:cubicBezTo>
                <a:cubicBezTo>
                  <a:pt x="73" y="54"/>
                  <a:pt x="75" y="86"/>
                  <a:pt x="79" y="99"/>
                </a:cubicBezTo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759" name="Text Box 15">
            <a:extLst>
              <a:ext uri="{FF2B5EF4-FFF2-40B4-BE49-F238E27FC236}">
                <a16:creationId xmlns:a16="http://schemas.microsoft.com/office/drawing/2014/main" id="{8690BFEE-1F25-0898-7AF1-F86BC5C78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1125" y="271463"/>
            <a:ext cx="309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  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进动角速度</a:t>
            </a:r>
            <a:r>
              <a:rPr lang="el-GR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Ω</a:t>
            </a:r>
          </a:p>
        </p:txBody>
      </p:sp>
      <p:graphicFrame>
        <p:nvGraphicFramePr>
          <p:cNvPr id="799760" name="Object 8">
            <a:extLst>
              <a:ext uri="{FF2B5EF4-FFF2-40B4-BE49-F238E27FC236}">
                <a16:creationId xmlns:a16="http://schemas.microsoft.com/office/drawing/2014/main" id="{1AF230E9-4490-B5C9-7BBE-4AA70C77ABFD}"/>
              </a:ext>
            </a:extLst>
          </p:cNvPr>
          <p:cNvGraphicFramePr>
            <a:graphicFrameLocks/>
          </p:cNvGraphicFramePr>
          <p:nvPr/>
        </p:nvGraphicFramePr>
        <p:xfrm>
          <a:off x="2324100" y="1646238"/>
          <a:ext cx="19335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97080" imgH="533160" progId="Equation.3">
                  <p:embed/>
                </p:oleObj>
              </mc:Choice>
              <mc:Fallback>
                <p:oleObj name="公式" r:id="rId14" imgW="2197080" imgH="53316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1646238"/>
                        <a:ext cx="193357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61" name="Text Box 17">
            <a:extLst>
              <a:ext uri="{FF2B5EF4-FFF2-40B4-BE49-F238E27FC236}">
                <a16:creationId xmlns:a16="http://schemas.microsoft.com/office/drawing/2014/main" id="{7E6B966B-D082-38F5-1A80-A0AC113A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3" y="1589088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而且</a:t>
            </a:r>
          </a:p>
        </p:txBody>
      </p:sp>
      <p:graphicFrame>
        <p:nvGraphicFramePr>
          <p:cNvPr id="799762" name="Object 9">
            <a:extLst>
              <a:ext uri="{FF2B5EF4-FFF2-40B4-BE49-F238E27FC236}">
                <a16:creationId xmlns:a16="http://schemas.microsoft.com/office/drawing/2014/main" id="{2CCDA81D-7DE3-07FA-72EC-474529618DB5}"/>
              </a:ext>
            </a:extLst>
          </p:cNvPr>
          <p:cNvGraphicFramePr>
            <a:graphicFrameLocks/>
          </p:cNvGraphicFramePr>
          <p:nvPr/>
        </p:nvGraphicFramePr>
        <p:xfrm>
          <a:off x="2711450" y="792163"/>
          <a:ext cx="102711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68200" imgH="863280" progId="Equation.3">
                  <p:embed/>
                </p:oleObj>
              </mc:Choice>
              <mc:Fallback>
                <p:oleObj name="公式" r:id="rId16" imgW="1168200" imgH="86328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792163"/>
                        <a:ext cx="1027113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763" name="Object 10">
            <a:extLst>
              <a:ext uri="{FF2B5EF4-FFF2-40B4-BE49-F238E27FC236}">
                <a16:creationId xmlns:a16="http://schemas.microsoft.com/office/drawing/2014/main" id="{78C0D0A9-4463-7589-3616-0EF7F5A39768}"/>
              </a:ext>
            </a:extLst>
          </p:cNvPr>
          <p:cNvGraphicFramePr>
            <a:graphicFrameLocks/>
          </p:cNvGraphicFramePr>
          <p:nvPr/>
        </p:nvGraphicFramePr>
        <p:xfrm>
          <a:off x="955675" y="2127250"/>
          <a:ext cx="425608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838400" imgH="927000" progId="Equation.3">
                  <p:embed/>
                </p:oleObj>
              </mc:Choice>
              <mc:Fallback>
                <p:oleObj name="公式" r:id="rId18" imgW="4838400" imgH="92700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675" y="2127250"/>
                        <a:ext cx="425608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64" name="Text Box 20">
            <a:extLst>
              <a:ext uri="{FF2B5EF4-FFF2-40B4-BE49-F238E27FC236}">
                <a16:creationId xmlns:a16="http://schemas.microsoft.com/office/drawing/2014/main" id="{22CA473A-CF2F-566F-13D4-EBC06734F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55963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所以</a:t>
            </a:r>
          </a:p>
        </p:txBody>
      </p:sp>
      <p:graphicFrame>
        <p:nvGraphicFramePr>
          <p:cNvPr id="799765" name="Object 11">
            <a:extLst>
              <a:ext uri="{FF2B5EF4-FFF2-40B4-BE49-F238E27FC236}">
                <a16:creationId xmlns:a16="http://schemas.microsoft.com/office/drawing/2014/main" id="{FD78FE97-BB18-391C-62DA-FABF7262797A}"/>
              </a:ext>
            </a:extLst>
          </p:cNvPr>
          <p:cNvGraphicFramePr>
            <a:graphicFrameLocks/>
          </p:cNvGraphicFramePr>
          <p:nvPr/>
        </p:nvGraphicFramePr>
        <p:xfrm>
          <a:off x="1246188" y="3055938"/>
          <a:ext cx="327342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720960" imgH="1066680" progId="Equation.3">
                  <p:embed/>
                </p:oleObj>
              </mc:Choice>
              <mc:Fallback>
                <p:oleObj name="公式" r:id="rId20" imgW="3720960" imgH="106668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3055938"/>
                        <a:ext cx="3273425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766" name="Object 12">
            <a:extLst>
              <a:ext uri="{FF2B5EF4-FFF2-40B4-BE49-F238E27FC236}">
                <a16:creationId xmlns:a16="http://schemas.microsoft.com/office/drawing/2014/main" id="{B0B1245F-6D7C-57F0-E5E0-23EF47954D29}"/>
              </a:ext>
            </a:extLst>
          </p:cNvPr>
          <p:cNvGraphicFramePr>
            <a:graphicFrameLocks/>
          </p:cNvGraphicFramePr>
          <p:nvPr/>
        </p:nvGraphicFramePr>
        <p:xfrm>
          <a:off x="5310188" y="3222625"/>
          <a:ext cx="117316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333440" imgH="457200" progId="Equation.3">
                  <p:embed/>
                </p:oleObj>
              </mc:Choice>
              <mc:Fallback>
                <p:oleObj name="公式" r:id="rId22" imgW="1333440" imgH="457200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8" y="3222625"/>
                        <a:ext cx="1173162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67" name="AutoShape 23">
            <a:extLst>
              <a:ext uri="{FF2B5EF4-FFF2-40B4-BE49-F238E27FC236}">
                <a16:creationId xmlns:a16="http://schemas.microsoft.com/office/drawing/2014/main" id="{519A3BA8-19F0-7D0E-5040-9A7A9FF2E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900" y="3438525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799768" name="Rectangle 24">
            <a:extLst>
              <a:ext uri="{FF2B5EF4-FFF2-40B4-BE49-F238E27FC236}">
                <a16:creationId xmlns:a16="http://schemas.microsoft.com/office/drawing/2014/main" id="{4B524738-B69B-104A-4DD4-2D25E3CC4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4059238"/>
            <a:ext cx="5903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以上只是近似讨论，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只适用高速自转</a:t>
            </a:r>
          </a:p>
        </p:txBody>
      </p:sp>
      <p:sp>
        <p:nvSpPr>
          <p:cNvPr id="799769" name="Text Box 25">
            <a:extLst>
              <a:ext uri="{FF2B5EF4-FFF2-40B4-BE49-F238E27FC236}">
                <a16:creationId xmlns:a16="http://schemas.microsoft.com/office/drawing/2014/main" id="{EC930028-51F9-48AF-943D-52B8DE9D3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8" y="944563"/>
            <a:ext cx="2270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动量矩定理</a:t>
            </a:r>
          </a:p>
        </p:txBody>
      </p:sp>
      <p:graphicFrame>
        <p:nvGraphicFramePr>
          <p:cNvPr id="799770" name="Object 13">
            <a:extLst>
              <a:ext uri="{FF2B5EF4-FFF2-40B4-BE49-F238E27FC236}">
                <a16:creationId xmlns:a16="http://schemas.microsoft.com/office/drawing/2014/main" id="{CEBB9FEE-CD05-03D9-3E8F-756687839268}"/>
              </a:ext>
            </a:extLst>
          </p:cNvPr>
          <p:cNvGraphicFramePr>
            <a:graphicFrameLocks/>
          </p:cNvGraphicFramePr>
          <p:nvPr/>
        </p:nvGraphicFramePr>
        <p:xfrm>
          <a:off x="5424488" y="4132263"/>
          <a:ext cx="915987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041120" imgH="291960" progId="Equation.3">
                  <p:embed/>
                </p:oleObj>
              </mc:Choice>
              <mc:Fallback>
                <p:oleObj name="公式" r:id="rId24" imgW="1041120" imgH="291960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4488" y="4132263"/>
                        <a:ext cx="915987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71" name="Line 27">
            <a:extLst>
              <a:ext uri="{FF2B5EF4-FFF2-40B4-BE49-F238E27FC236}">
                <a16:creationId xmlns:a16="http://schemas.microsoft.com/office/drawing/2014/main" id="{D78EA38F-F14A-1F26-4D84-FCB5B4E5193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97838" y="909638"/>
            <a:ext cx="590550" cy="45561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99772" name="Object 14">
            <a:extLst>
              <a:ext uri="{FF2B5EF4-FFF2-40B4-BE49-F238E27FC236}">
                <a16:creationId xmlns:a16="http://schemas.microsoft.com/office/drawing/2014/main" id="{49E9C713-9D4D-85F1-B6B2-7EB051F4C6DA}"/>
              </a:ext>
            </a:extLst>
          </p:cNvPr>
          <p:cNvGraphicFramePr>
            <a:graphicFrameLocks/>
          </p:cNvGraphicFramePr>
          <p:nvPr/>
        </p:nvGraphicFramePr>
        <p:xfrm>
          <a:off x="8320088" y="809625"/>
          <a:ext cx="29527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419040" imgH="380880" progId="Equation.3">
                  <p:embed/>
                </p:oleObj>
              </mc:Choice>
              <mc:Fallback>
                <p:oleObj name="公式" r:id="rId26" imgW="419040" imgH="38088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0088" y="809625"/>
                        <a:ext cx="295275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73" name="Arc 29">
            <a:extLst>
              <a:ext uri="{FF2B5EF4-FFF2-40B4-BE49-F238E27FC236}">
                <a16:creationId xmlns:a16="http://schemas.microsoft.com/office/drawing/2014/main" id="{61E75CF8-F007-87CB-8261-215449C0B6CA}"/>
              </a:ext>
            </a:extLst>
          </p:cNvPr>
          <p:cNvSpPr>
            <a:spLocks/>
          </p:cNvSpPr>
          <p:nvPr/>
        </p:nvSpPr>
        <p:spPr bwMode="auto">
          <a:xfrm flipV="1">
            <a:off x="7100888" y="3335338"/>
            <a:ext cx="317500" cy="315912"/>
          </a:xfrm>
          <a:custGeom>
            <a:avLst/>
            <a:gdLst>
              <a:gd name="T0" fmla="*/ 2147483647 w 11906"/>
              <a:gd name="T1" fmla="*/ 2147483647 h 21043"/>
              <a:gd name="T2" fmla="*/ 2147483647 w 11906"/>
              <a:gd name="T3" fmla="*/ 2147483647 h 21043"/>
              <a:gd name="T4" fmla="*/ 0 w 11906"/>
              <a:gd name="T5" fmla="*/ 0 h 21043"/>
              <a:gd name="T6" fmla="*/ 0 60000 65536"/>
              <a:gd name="T7" fmla="*/ 0 60000 65536"/>
              <a:gd name="T8" fmla="*/ 0 60000 65536"/>
              <a:gd name="T9" fmla="*/ 0 w 11906"/>
              <a:gd name="T10" fmla="*/ 0 h 21043"/>
              <a:gd name="T11" fmla="*/ 11906 w 11906"/>
              <a:gd name="T12" fmla="*/ 21043 h 210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906" h="21043" fill="none" extrusionOk="0">
                <a:moveTo>
                  <a:pt x="11905" y="18022"/>
                </a:moveTo>
                <a:cubicBezTo>
                  <a:pt x="9759" y="19440"/>
                  <a:pt x="7378" y="20462"/>
                  <a:pt x="4873" y="21043"/>
                </a:cubicBezTo>
              </a:path>
              <a:path w="11906" h="21043" stroke="0" extrusionOk="0">
                <a:moveTo>
                  <a:pt x="11905" y="18022"/>
                </a:moveTo>
                <a:cubicBezTo>
                  <a:pt x="9759" y="19440"/>
                  <a:pt x="7378" y="20462"/>
                  <a:pt x="4873" y="21043"/>
                </a:cubicBez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99774" name="Picture 30" descr="j0293240">
            <a:extLst>
              <a:ext uri="{FF2B5EF4-FFF2-40B4-BE49-F238E27FC236}">
                <a16:creationId xmlns:a16="http://schemas.microsoft.com/office/drawing/2014/main" id="{EDC70812-7333-EBAD-DEF1-43126716E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813" y="6405563"/>
            <a:ext cx="611187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228" name="Group 31">
            <a:extLst>
              <a:ext uri="{FF2B5EF4-FFF2-40B4-BE49-F238E27FC236}">
                <a16:creationId xmlns:a16="http://schemas.microsoft.com/office/drawing/2014/main" id="{5BC97E1E-5134-0BB6-3439-AC57C7350F8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59563" y="3548063"/>
            <a:ext cx="2198687" cy="2257425"/>
            <a:chOff x="4234" y="1480"/>
            <a:chExt cx="2165" cy="2222"/>
          </a:xfrm>
        </p:grpSpPr>
        <p:grpSp>
          <p:nvGrpSpPr>
            <p:cNvPr id="8233" name="Group 32">
              <a:extLst>
                <a:ext uri="{FF2B5EF4-FFF2-40B4-BE49-F238E27FC236}">
                  <a16:creationId xmlns:a16="http://schemas.microsoft.com/office/drawing/2014/main" id="{C5348616-9CD1-1187-ACC7-0DE8F911F7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214" y="2094"/>
              <a:ext cx="817" cy="1495"/>
              <a:chOff x="2925" y="1320"/>
              <a:chExt cx="1072" cy="1993"/>
            </a:xfrm>
          </p:grpSpPr>
          <p:sp>
            <p:nvSpPr>
              <p:cNvPr id="799777" name="AutoShape 33">
                <a:extLst>
                  <a:ext uri="{FF2B5EF4-FFF2-40B4-BE49-F238E27FC236}">
                    <a16:creationId xmlns:a16="http://schemas.microsoft.com/office/drawing/2014/main" id="{337EE5AD-E048-17B9-79B4-1C365AC400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8653602">
                <a:off x="2925" y="1862"/>
                <a:ext cx="635" cy="1451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rgbClr val="66FF33">
                      <a:alpha val="82001"/>
                    </a:srgbClr>
                  </a:gs>
                  <a:gs pos="50000">
                    <a:srgbClr val="66FF33">
                      <a:gamma/>
                      <a:shade val="46275"/>
                      <a:invGamma/>
                    </a:srgbClr>
                  </a:gs>
                  <a:gs pos="100000">
                    <a:srgbClr val="66FF33">
                      <a:alpha val="82001"/>
                    </a:srgb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8261" name="Oval 34">
                <a:extLst>
                  <a:ext uri="{FF2B5EF4-FFF2-40B4-BE49-F238E27FC236}">
                    <a16:creationId xmlns:a16="http://schemas.microsoft.com/office/drawing/2014/main" id="{7068DBF5-1D62-D3AB-731C-7E3E6EC950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984759">
                <a:off x="3357" y="1842"/>
                <a:ext cx="640" cy="317"/>
              </a:xfrm>
              <a:prstGeom prst="ellipse">
                <a:avLst/>
              </a:prstGeom>
              <a:gradFill rotWithShape="1">
                <a:gsLst>
                  <a:gs pos="0">
                    <a:srgbClr val="2F7618"/>
                  </a:gs>
                  <a:gs pos="100000">
                    <a:srgbClr val="66FF33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262" name="Rectangle 35">
                <a:extLst>
                  <a:ext uri="{FF2B5EF4-FFF2-40B4-BE49-F238E27FC236}">
                    <a16:creationId xmlns:a16="http://schemas.microsoft.com/office/drawing/2014/main" id="{A582F355-AEC5-F25A-1686-239DE8BECB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963918">
                <a:off x="3830" y="1320"/>
                <a:ext cx="90" cy="725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rgbClr val="00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34" name="Line 36">
              <a:extLst>
                <a:ext uri="{FF2B5EF4-FFF2-40B4-BE49-F238E27FC236}">
                  <a16:creationId xmlns:a16="http://schemas.microsoft.com/office/drawing/2014/main" id="{5855D734-E034-41B1-A758-B27A5FEE94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50" y="1756"/>
              <a:ext cx="0" cy="1678"/>
            </a:xfrm>
            <a:prstGeom prst="line">
              <a:avLst/>
            </a:prstGeom>
            <a:noFill/>
            <a:ln w="28575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235" name="Group 37">
              <a:extLst>
                <a:ext uri="{FF2B5EF4-FFF2-40B4-BE49-F238E27FC236}">
                  <a16:creationId xmlns:a16="http://schemas.microsoft.com/office/drawing/2014/main" id="{26E02B80-9EB3-A391-1991-41DC02EB2A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88" y="3483"/>
              <a:ext cx="1318" cy="54"/>
              <a:chOff x="3016" y="2614"/>
              <a:chExt cx="1318" cy="54"/>
            </a:xfrm>
          </p:grpSpPr>
          <p:sp>
            <p:nvSpPr>
              <p:cNvPr id="8244" name="Line 38">
                <a:extLst>
                  <a:ext uri="{FF2B5EF4-FFF2-40B4-BE49-F238E27FC236}">
                    <a16:creationId xmlns:a16="http://schemas.microsoft.com/office/drawing/2014/main" id="{74FECBA8-32C4-5720-BE50-4694882A05E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064" y="2614"/>
                <a:ext cx="1270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8245" name="Group 39">
                <a:extLst>
                  <a:ext uri="{FF2B5EF4-FFF2-40B4-BE49-F238E27FC236}">
                    <a16:creationId xmlns:a16="http://schemas.microsoft.com/office/drawing/2014/main" id="{026EF061-D3EA-3D0F-BAF5-E1A7FE782EA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016" y="2623"/>
                <a:ext cx="1270" cy="45"/>
                <a:chOff x="3016" y="2659"/>
                <a:chExt cx="1270" cy="45"/>
              </a:xfrm>
            </p:grpSpPr>
            <p:sp>
              <p:nvSpPr>
                <p:cNvPr id="8246" name="Line 40">
                  <a:extLst>
                    <a:ext uri="{FF2B5EF4-FFF2-40B4-BE49-F238E27FC236}">
                      <a16:creationId xmlns:a16="http://schemas.microsoft.com/office/drawing/2014/main" id="{5161DA2D-22FF-CFC1-9C33-AE7BF7937C3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016" y="2659"/>
                  <a:ext cx="45" cy="45"/>
                </a:xfrm>
                <a:prstGeom prst="line">
                  <a:avLst/>
                </a:prstGeom>
                <a:noFill/>
                <a:ln w="9525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7" name="Line 41">
                  <a:extLst>
                    <a:ext uri="{FF2B5EF4-FFF2-40B4-BE49-F238E27FC236}">
                      <a16:creationId xmlns:a16="http://schemas.microsoft.com/office/drawing/2014/main" id="{B327E51C-D539-0372-BECD-0C68BE9CA59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127" y="2659"/>
                  <a:ext cx="45" cy="45"/>
                </a:xfrm>
                <a:prstGeom prst="line">
                  <a:avLst/>
                </a:prstGeom>
                <a:noFill/>
                <a:ln w="9525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8" name="Line 42">
                  <a:extLst>
                    <a:ext uri="{FF2B5EF4-FFF2-40B4-BE49-F238E27FC236}">
                      <a16:creationId xmlns:a16="http://schemas.microsoft.com/office/drawing/2014/main" id="{4FD7E7A2-C725-DB34-9CF9-E9A8B7F500B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238" y="2659"/>
                  <a:ext cx="45" cy="45"/>
                </a:xfrm>
                <a:prstGeom prst="line">
                  <a:avLst/>
                </a:prstGeom>
                <a:noFill/>
                <a:ln w="9525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9" name="Line 43">
                  <a:extLst>
                    <a:ext uri="{FF2B5EF4-FFF2-40B4-BE49-F238E27FC236}">
                      <a16:creationId xmlns:a16="http://schemas.microsoft.com/office/drawing/2014/main" id="{7B7B02AE-3943-5A2C-B66A-4C3B62206CF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350" y="2659"/>
                  <a:ext cx="45" cy="45"/>
                </a:xfrm>
                <a:prstGeom prst="line">
                  <a:avLst/>
                </a:prstGeom>
                <a:noFill/>
                <a:ln w="9525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0" name="Line 44">
                  <a:extLst>
                    <a:ext uri="{FF2B5EF4-FFF2-40B4-BE49-F238E27FC236}">
                      <a16:creationId xmlns:a16="http://schemas.microsoft.com/office/drawing/2014/main" id="{F05D6F57-37C9-4AB8-4D39-702870E84E1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461" y="2659"/>
                  <a:ext cx="45" cy="45"/>
                </a:xfrm>
                <a:prstGeom prst="line">
                  <a:avLst/>
                </a:prstGeom>
                <a:noFill/>
                <a:ln w="9525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1" name="Line 45">
                  <a:extLst>
                    <a:ext uri="{FF2B5EF4-FFF2-40B4-BE49-F238E27FC236}">
                      <a16:creationId xmlns:a16="http://schemas.microsoft.com/office/drawing/2014/main" id="{7F00F374-C2E4-6476-9F18-F07D3CF4EF6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572" y="2659"/>
                  <a:ext cx="45" cy="45"/>
                </a:xfrm>
                <a:prstGeom prst="line">
                  <a:avLst/>
                </a:prstGeom>
                <a:noFill/>
                <a:ln w="9525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2" name="Line 46">
                  <a:extLst>
                    <a:ext uri="{FF2B5EF4-FFF2-40B4-BE49-F238E27FC236}">
                      <a16:creationId xmlns:a16="http://schemas.microsoft.com/office/drawing/2014/main" id="{BB18E83C-08F2-CC68-EB8C-07673629CCF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684" y="2659"/>
                  <a:ext cx="45" cy="45"/>
                </a:xfrm>
                <a:prstGeom prst="line">
                  <a:avLst/>
                </a:prstGeom>
                <a:noFill/>
                <a:ln w="9525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3" name="Line 47">
                  <a:extLst>
                    <a:ext uri="{FF2B5EF4-FFF2-40B4-BE49-F238E27FC236}">
                      <a16:creationId xmlns:a16="http://schemas.microsoft.com/office/drawing/2014/main" id="{CC5BF95A-8DE9-5C61-8493-5D1E7185CDA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795" y="2659"/>
                  <a:ext cx="45" cy="45"/>
                </a:xfrm>
                <a:prstGeom prst="line">
                  <a:avLst/>
                </a:prstGeom>
                <a:noFill/>
                <a:ln w="9525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4" name="Line 48">
                  <a:extLst>
                    <a:ext uri="{FF2B5EF4-FFF2-40B4-BE49-F238E27FC236}">
                      <a16:creationId xmlns:a16="http://schemas.microsoft.com/office/drawing/2014/main" id="{46325ED4-5422-6046-CE69-8E1113C9C0A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906" y="2659"/>
                  <a:ext cx="45" cy="45"/>
                </a:xfrm>
                <a:prstGeom prst="line">
                  <a:avLst/>
                </a:prstGeom>
                <a:noFill/>
                <a:ln w="9525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5" name="Line 49">
                  <a:extLst>
                    <a:ext uri="{FF2B5EF4-FFF2-40B4-BE49-F238E27FC236}">
                      <a16:creationId xmlns:a16="http://schemas.microsoft.com/office/drawing/2014/main" id="{25330206-A3A8-C817-352B-FFCD7FDA12E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018" y="2659"/>
                  <a:ext cx="45" cy="45"/>
                </a:xfrm>
                <a:prstGeom prst="line">
                  <a:avLst/>
                </a:prstGeom>
                <a:noFill/>
                <a:ln w="9525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6" name="Line 50">
                  <a:extLst>
                    <a:ext uri="{FF2B5EF4-FFF2-40B4-BE49-F238E27FC236}">
                      <a16:creationId xmlns:a16="http://schemas.microsoft.com/office/drawing/2014/main" id="{5DA77634-6645-8A04-7267-EFF91A72E17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129" y="2659"/>
                  <a:ext cx="45" cy="45"/>
                </a:xfrm>
                <a:prstGeom prst="line">
                  <a:avLst/>
                </a:prstGeom>
                <a:noFill/>
                <a:ln w="9525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7" name="Line 51">
                  <a:extLst>
                    <a:ext uri="{FF2B5EF4-FFF2-40B4-BE49-F238E27FC236}">
                      <a16:creationId xmlns:a16="http://schemas.microsoft.com/office/drawing/2014/main" id="{81A346F9-F453-4DB1-A761-AFAB061C3E6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241" y="2659"/>
                  <a:ext cx="45" cy="45"/>
                </a:xfrm>
                <a:prstGeom prst="line">
                  <a:avLst/>
                </a:prstGeom>
                <a:noFill/>
                <a:ln w="9525">
                  <a:solidFill>
                    <a:srgbClr val="FF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8236" name="Oval 52">
              <a:extLst>
                <a:ext uri="{FF2B5EF4-FFF2-40B4-BE49-F238E27FC236}">
                  <a16:creationId xmlns:a16="http://schemas.microsoft.com/office/drawing/2014/main" id="{000BA2DC-B58D-930A-92FF-B036A3123D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52" y="1970"/>
              <a:ext cx="1815" cy="318"/>
            </a:xfrm>
            <a:prstGeom prst="ellipse">
              <a:avLst/>
            </a:prstGeom>
            <a:noFill/>
            <a:ln w="28575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37" name="Line 53">
              <a:extLst>
                <a:ext uri="{FF2B5EF4-FFF2-40B4-BE49-F238E27FC236}">
                  <a16:creationId xmlns:a16="http://schemas.microsoft.com/office/drawing/2014/main" id="{568FB81A-CDDE-20C8-A3FA-DA82DD8A0E0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34" y="2146"/>
              <a:ext cx="907" cy="1315"/>
            </a:xfrm>
            <a:prstGeom prst="line">
              <a:avLst/>
            </a:prstGeom>
            <a:noFill/>
            <a:ln w="28575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8" name="Line 54">
              <a:extLst>
                <a:ext uri="{FF2B5EF4-FFF2-40B4-BE49-F238E27FC236}">
                  <a16:creationId xmlns:a16="http://schemas.microsoft.com/office/drawing/2014/main" id="{B7B1A105-1F24-8D36-9DB3-7D09BBEA19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542" y="2956"/>
              <a:ext cx="0" cy="45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07" name="Object 15">
              <a:extLst>
                <a:ext uri="{FF2B5EF4-FFF2-40B4-BE49-F238E27FC236}">
                  <a16:creationId xmlns:a16="http://schemas.microsoft.com/office/drawing/2014/main" id="{798A76C0-1096-60BB-256A-458FF88E56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75" y="3501"/>
            <a:ext cx="184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291960" imgH="317160" progId="Equation.3">
                    <p:embed/>
                  </p:oleObj>
                </mc:Choice>
                <mc:Fallback>
                  <p:oleObj name="公式" r:id="rId29" imgW="291960" imgH="31716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5" y="3501"/>
                          <a:ext cx="184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FFCC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8" name="Object 16">
              <a:extLst>
                <a:ext uri="{FF2B5EF4-FFF2-40B4-BE49-F238E27FC236}">
                  <a16:creationId xmlns:a16="http://schemas.microsoft.com/office/drawing/2014/main" id="{F6548EC1-DEDE-C115-E546-E56E81CBB4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39" y="1586"/>
            <a:ext cx="160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253800" imgH="368280" progId="Equation.3">
                    <p:embed/>
                  </p:oleObj>
                </mc:Choice>
                <mc:Fallback>
                  <p:oleObj name="公式" r:id="rId31" imgW="253800" imgH="36828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39" y="1586"/>
                          <a:ext cx="160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FFCC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9" name="Line 57">
              <a:extLst>
                <a:ext uri="{FF2B5EF4-FFF2-40B4-BE49-F238E27FC236}">
                  <a16:creationId xmlns:a16="http://schemas.microsoft.com/office/drawing/2014/main" id="{F68FF352-B741-F717-B0CC-12CA02E603E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067" y="1846"/>
              <a:ext cx="226" cy="31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09" name="Object 17">
              <a:extLst>
                <a:ext uri="{FF2B5EF4-FFF2-40B4-BE49-F238E27FC236}">
                  <a16:creationId xmlns:a16="http://schemas.microsoft.com/office/drawing/2014/main" id="{06687148-5C42-1F93-1D38-6266B289A5A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37" y="3092"/>
            <a:ext cx="312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495000" imgH="380880" progId="Equation.3">
                    <p:embed/>
                  </p:oleObj>
                </mc:Choice>
                <mc:Fallback>
                  <p:oleObj name="公式" r:id="rId33" imgW="495000" imgH="38088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7" y="3092"/>
                          <a:ext cx="312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FFCC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0" name="Object 18">
              <a:extLst>
                <a:ext uri="{FF2B5EF4-FFF2-40B4-BE49-F238E27FC236}">
                  <a16:creationId xmlns:a16="http://schemas.microsoft.com/office/drawing/2014/main" id="{099818DD-556F-73F9-1F73-491AEDF5B9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75" y="2952"/>
            <a:ext cx="144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5" imgW="228600" imgH="317160" progId="Equation.3">
                    <p:embed/>
                  </p:oleObj>
                </mc:Choice>
                <mc:Fallback>
                  <p:oleObj name="公式" r:id="rId35" imgW="228600" imgH="31716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5" y="2952"/>
                          <a:ext cx="144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FFCC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1" name="Object 19">
              <a:extLst>
                <a:ext uri="{FF2B5EF4-FFF2-40B4-BE49-F238E27FC236}">
                  <a16:creationId xmlns:a16="http://schemas.microsoft.com/office/drawing/2014/main" id="{98B596F5-D882-1BEF-5C01-99CA8E9C30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1" y="1480"/>
            <a:ext cx="152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7" imgW="241200" imgH="342720" progId="Equation.3">
                    <p:embed/>
                  </p:oleObj>
                </mc:Choice>
                <mc:Fallback>
                  <p:oleObj name="公式" r:id="rId37" imgW="241200" imgH="34272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1" y="1480"/>
                          <a:ext cx="152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FFCC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0" name="Line 61">
              <a:extLst>
                <a:ext uri="{FF2B5EF4-FFF2-40B4-BE49-F238E27FC236}">
                  <a16:creationId xmlns:a16="http://schemas.microsoft.com/office/drawing/2014/main" id="{3A0F7C5A-B9F1-8A9D-84F3-3D3DFE7583D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150" y="2704"/>
              <a:ext cx="545" cy="77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1" name="Arc 62">
              <a:extLst>
                <a:ext uri="{FF2B5EF4-FFF2-40B4-BE49-F238E27FC236}">
                  <a16:creationId xmlns:a16="http://schemas.microsoft.com/office/drawing/2014/main" id="{B78CB90D-9430-1896-7BE4-7F45F077DBA9}"/>
                </a:ext>
              </a:extLst>
            </p:cNvPr>
            <p:cNvSpPr>
              <a:spLocks noChangeAspect="1"/>
            </p:cNvSpPr>
            <p:nvPr/>
          </p:nvSpPr>
          <p:spPr bwMode="auto">
            <a:xfrm rot="2038643" flipH="1">
              <a:off x="5768" y="2341"/>
              <a:ext cx="297" cy="92"/>
            </a:xfrm>
            <a:custGeom>
              <a:avLst/>
              <a:gdLst>
                <a:gd name="T0" fmla="*/ 0 w 43200"/>
                <a:gd name="T1" fmla="*/ 0 h 38804"/>
                <a:gd name="T2" fmla="*/ 0 w 43200"/>
                <a:gd name="T3" fmla="*/ 0 h 38804"/>
                <a:gd name="T4" fmla="*/ 0 w 43200"/>
                <a:gd name="T5" fmla="*/ 0 h 38804"/>
                <a:gd name="T6" fmla="*/ 0 60000 65536"/>
                <a:gd name="T7" fmla="*/ 0 60000 65536"/>
                <a:gd name="T8" fmla="*/ 0 60000 65536"/>
                <a:gd name="T9" fmla="*/ 0 w 43200"/>
                <a:gd name="T10" fmla="*/ 0 h 38804"/>
                <a:gd name="T11" fmla="*/ 43200 w 43200"/>
                <a:gd name="T12" fmla="*/ 38804 h 388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8804" fill="none" extrusionOk="0">
                  <a:moveTo>
                    <a:pt x="34660" y="0"/>
                  </a:moveTo>
                  <a:cubicBezTo>
                    <a:pt x="40040" y="4084"/>
                    <a:pt x="43200" y="10449"/>
                    <a:pt x="43200" y="17204"/>
                  </a:cubicBezTo>
                  <a:cubicBezTo>
                    <a:pt x="43200" y="29133"/>
                    <a:pt x="33529" y="38804"/>
                    <a:pt x="21600" y="38804"/>
                  </a:cubicBezTo>
                  <a:cubicBezTo>
                    <a:pt x="9670" y="38804"/>
                    <a:pt x="0" y="29133"/>
                    <a:pt x="0" y="17204"/>
                  </a:cubicBezTo>
                  <a:cubicBezTo>
                    <a:pt x="-1" y="10478"/>
                    <a:pt x="3133" y="4135"/>
                    <a:pt x="8474" y="48"/>
                  </a:cubicBezTo>
                </a:path>
                <a:path w="43200" h="38804" stroke="0" extrusionOk="0">
                  <a:moveTo>
                    <a:pt x="34660" y="0"/>
                  </a:moveTo>
                  <a:cubicBezTo>
                    <a:pt x="40040" y="4084"/>
                    <a:pt x="43200" y="10449"/>
                    <a:pt x="43200" y="17204"/>
                  </a:cubicBezTo>
                  <a:cubicBezTo>
                    <a:pt x="43200" y="29133"/>
                    <a:pt x="33529" y="38804"/>
                    <a:pt x="21600" y="38804"/>
                  </a:cubicBezTo>
                  <a:cubicBezTo>
                    <a:pt x="9670" y="38804"/>
                    <a:pt x="0" y="29133"/>
                    <a:pt x="0" y="17204"/>
                  </a:cubicBezTo>
                  <a:cubicBezTo>
                    <a:pt x="-1" y="10478"/>
                    <a:pt x="3133" y="4135"/>
                    <a:pt x="8474" y="48"/>
                  </a:cubicBezTo>
                  <a:lnTo>
                    <a:pt x="21600" y="17204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2" name="Arc 63">
              <a:extLst>
                <a:ext uri="{FF2B5EF4-FFF2-40B4-BE49-F238E27FC236}">
                  <a16:creationId xmlns:a16="http://schemas.microsoft.com/office/drawing/2014/main" id="{B3C54C6E-6B3A-5B15-B146-55FCB423DAA8}"/>
                </a:ext>
              </a:extLst>
            </p:cNvPr>
            <p:cNvSpPr>
              <a:spLocks noChangeAspect="1"/>
            </p:cNvSpPr>
            <p:nvPr/>
          </p:nvSpPr>
          <p:spPr bwMode="auto">
            <a:xfrm rot="727523" flipH="1">
              <a:off x="5116" y="3204"/>
              <a:ext cx="104" cy="360"/>
            </a:xfrm>
            <a:custGeom>
              <a:avLst/>
              <a:gdLst>
                <a:gd name="T0" fmla="*/ 0 w 12372"/>
                <a:gd name="T1" fmla="*/ 0 h 21600"/>
                <a:gd name="T2" fmla="*/ 0 w 12372"/>
                <a:gd name="T3" fmla="*/ 0 h 21600"/>
                <a:gd name="T4" fmla="*/ 0 w 12372"/>
                <a:gd name="T5" fmla="*/ 0 h 21600"/>
                <a:gd name="T6" fmla="*/ 0 60000 65536"/>
                <a:gd name="T7" fmla="*/ 0 60000 65536"/>
                <a:gd name="T8" fmla="*/ 0 60000 65536"/>
                <a:gd name="T9" fmla="*/ 0 w 12372"/>
                <a:gd name="T10" fmla="*/ 0 h 21600"/>
                <a:gd name="T11" fmla="*/ 12372 w 123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372" h="21600" fill="none" extrusionOk="0">
                  <a:moveTo>
                    <a:pt x="0" y="902"/>
                  </a:moveTo>
                  <a:cubicBezTo>
                    <a:pt x="2004" y="303"/>
                    <a:pt x="4085" y="-1"/>
                    <a:pt x="6178" y="0"/>
                  </a:cubicBezTo>
                  <a:cubicBezTo>
                    <a:pt x="8275" y="0"/>
                    <a:pt x="10362" y="305"/>
                    <a:pt x="12371" y="907"/>
                  </a:cubicBezTo>
                </a:path>
                <a:path w="12372" h="21600" stroke="0" extrusionOk="0">
                  <a:moveTo>
                    <a:pt x="0" y="902"/>
                  </a:moveTo>
                  <a:cubicBezTo>
                    <a:pt x="2004" y="303"/>
                    <a:pt x="4085" y="-1"/>
                    <a:pt x="6178" y="0"/>
                  </a:cubicBezTo>
                  <a:cubicBezTo>
                    <a:pt x="8275" y="0"/>
                    <a:pt x="10362" y="305"/>
                    <a:pt x="12371" y="907"/>
                  </a:cubicBezTo>
                  <a:lnTo>
                    <a:pt x="6178" y="2160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3" name="Arc 64">
              <a:extLst>
                <a:ext uri="{FF2B5EF4-FFF2-40B4-BE49-F238E27FC236}">
                  <a16:creationId xmlns:a16="http://schemas.microsoft.com/office/drawing/2014/main" id="{06F53C44-E6EA-9A02-207A-C1D238F55E5C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4936" y="1774"/>
              <a:ext cx="454" cy="114"/>
            </a:xfrm>
            <a:custGeom>
              <a:avLst/>
              <a:gdLst>
                <a:gd name="T0" fmla="*/ 0 w 43200"/>
                <a:gd name="T1" fmla="*/ 0 h 39082"/>
                <a:gd name="T2" fmla="*/ 0 w 43200"/>
                <a:gd name="T3" fmla="*/ 0 h 39082"/>
                <a:gd name="T4" fmla="*/ 0 w 43200"/>
                <a:gd name="T5" fmla="*/ 0 h 39082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082"/>
                <a:gd name="T11" fmla="*/ 43200 w 43200"/>
                <a:gd name="T12" fmla="*/ 39082 h 390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082" fill="none" extrusionOk="0">
                  <a:moveTo>
                    <a:pt x="36518" y="1862"/>
                  </a:moveTo>
                  <a:cubicBezTo>
                    <a:pt x="40786" y="5937"/>
                    <a:pt x="43200" y="11581"/>
                    <a:pt x="43200" y="17482"/>
                  </a:cubicBezTo>
                  <a:cubicBezTo>
                    <a:pt x="43200" y="29411"/>
                    <a:pt x="33529" y="39082"/>
                    <a:pt x="21600" y="39082"/>
                  </a:cubicBezTo>
                  <a:cubicBezTo>
                    <a:pt x="9670" y="39082"/>
                    <a:pt x="0" y="29411"/>
                    <a:pt x="0" y="17482"/>
                  </a:cubicBezTo>
                  <a:cubicBezTo>
                    <a:pt x="-1" y="10563"/>
                    <a:pt x="3313" y="4063"/>
                    <a:pt x="8913" y="0"/>
                  </a:cubicBezTo>
                </a:path>
                <a:path w="43200" h="39082" stroke="0" extrusionOk="0">
                  <a:moveTo>
                    <a:pt x="36518" y="1862"/>
                  </a:moveTo>
                  <a:cubicBezTo>
                    <a:pt x="40786" y="5937"/>
                    <a:pt x="43200" y="11581"/>
                    <a:pt x="43200" y="17482"/>
                  </a:cubicBezTo>
                  <a:cubicBezTo>
                    <a:pt x="43200" y="29411"/>
                    <a:pt x="33529" y="39082"/>
                    <a:pt x="21600" y="39082"/>
                  </a:cubicBezTo>
                  <a:cubicBezTo>
                    <a:pt x="9670" y="39082"/>
                    <a:pt x="0" y="29411"/>
                    <a:pt x="0" y="17482"/>
                  </a:cubicBezTo>
                  <a:cubicBezTo>
                    <a:pt x="-1" y="10563"/>
                    <a:pt x="3313" y="4063"/>
                    <a:pt x="8913" y="0"/>
                  </a:cubicBezTo>
                  <a:lnTo>
                    <a:pt x="21600" y="17482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" name="Text Box 79">
            <a:extLst>
              <a:ext uri="{FF2B5EF4-FFF2-40B4-BE49-F238E27FC236}">
                <a16:creationId xmlns:a16="http://schemas.microsoft.com/office/drawing/2014/main" id="{CE944CC6-F6EB-1816-A910-A1740C96A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903788"/>
            <a:ext cx="76962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lang="en-US" altLang="zh-CN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自转角速度越大，进动角速度越小，反之依然；</a:t>
            </a:r>
            <a:endParaRPr lang="zh-CN" altLang="en-US" b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6" name="Text Box 80">
            <a:extLst>
              <a:ext uri="{FF2B5EF4-FFF2-40B4-BE49-F238E27FC236}">
                <a16:creationId xmlns:a16="http://schemas.microsoft.com/office/drawing/2014/main" id="{307F9BB7-5B22-EC1B-ECC9-D846C6E4A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5588"/>
            <a:ext cx="49530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lang="en-US" altLang="zh-CN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进动角速度与倾角无关。</a:t>
            </a:r>
            <a:endParaRPr lang="zh-CN" altLang="en-US" b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7" name="Text Box 82">
            <a:extLst>
              <a:ext uri="{FF2B5EF4-FFF2-40B4-BE49-F238E27FC236}">
                <a16:creationId xmlns:a16="http://schemas.microsoft.com/office/drawing/2014/main" id="{C0854229-C99F-4E97-9836-2ADCEB22C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08650"/>
            <a:ext cx="8382000" cy="88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15000"/>
              </a:lnSpc>
              <a:buFont typeface="Monotype Sorts" pitchFamily="2" charset="2"/>
              <a:buNone/>
            </a:pPr>
            <a:r>
              <a:rPr lang="en-US" altLang="zh-CN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lang="en-US" altLang="zh-CN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章动</a:t>
            </a:r>
            <a:r>
              <a:rPr lang="zh-CN" altLang="en-US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</a:rPr>
              <a:t>Nutation</a:t>
            </a:r>
            <a:r>
              <a:rPr lang="zh-CN" altLang="en-US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en-US" altLang="zh-CN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i="1">
                <a:solidFill>
                  <a:srgbClr val="00FF00"/>
                </a:solidFill>
                <a:latin typeface="楷体_GB2312" pitchFamily="49" charset="-122"/>
                <a:ea typeface="楷体_GB2312" pitchFamily="49" charset="-122"/>
              </a:rPr>
              <a:t>当刚体自转角速度较小时，它的自转轴与竖直轴的夹角大小还会有周期性变化。</a:t>
            </a:r>
            <a:endParaRPr lang="zh-CN" altLang="en-US" b="0" i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8" name="Text Box 86">
            <a:extLst>
              <a:ext uri="{FF2B5EF4-FFF2-40B4-BE49-F238E27FC236}">
                <a16:creationId xmlns:a16="http://schemas.microsoft.com/office/drawing/2014/main" id="{D81F7236-00C6-C893-B64E-D1E0A0184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4470400"/>
            <a:ext cx="67818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Font typeface="Monotype Sorts" pitchFamily="2" charset="2"/>
              <a:buNone/>
            </a:pPr>
            <a:r>
              <a:rPr lang="en-US" altLang="zh-CN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r>
              <a:rPr lang="en-US" altLang="zh-CN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FFFF99"/>
                </a:solidFill>
                <a:latin typeface="楷体_GB2312" pitchFamily="49" charset="-122"/>
                <a:ea typeface="楷体_GB2312" pitchFamily="49" charset="-122"/>
              </a:rPr>
              <a:t>自转刚体的进动轴过定点且与外力平行；</a:t>
            </a:r>
            <a:endParaRPr lang="zh-CN" altLang="en-US" b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9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9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9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99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99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799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9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9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9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9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9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9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9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9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9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9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9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9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9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9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9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9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9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9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9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99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799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799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799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3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747" grpId="0" animBg="1"/>
      <p:bldP spid="799759" grpId="0"/>
      <p:bldP spid="799761" grpId="0"/>
      <p:bldP spid="799764" grpId="0"/>
      <p:bldP spid="799767" grpId="0" animBg="1"/>
      <p:bldP spid="799768" grpId="0"/>
      <p:bldP spid="799769" grpId="0"/>
      <p:bldP spid="65" grpId="0" build="p" autoUpdateAnimBg="0"/>
      <p:bldP spid="66" grpId="0" build="p" autoUpdateAnimBg="0"/>
      <p:bldP spid="67" grpId="0" build="p" autoUpdateAnimBg="0"/>
      <p:bldP spid="68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Rectangle 2">
            <a:extLst>
              <a:ext uri="{FF2B5EF4-FFF2-40B4-BE49-F238E27FC236}">
                <a16:creationId xmlns:a16="http://schemas.microsoft.com/office/drawing/2014/main" id="{4D738239-699F-2558-B0A4-8B197DC23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8" y="1120775"/>
            <a:ext cx="7089775" cy="1946275"/>
          </a:xfrm>
          <a:prstGeom prst="rect">
            <a:avLst/>
          </a:prstGeom>
          <a:solidFill>
            <a:srgbClr val="0000CA">
              <a:alpha val="0"/>
            </a:srgbClr>
          </a:solidFill>
          <a:ln w="9525" algn="ctr">
            <a:solidFill>
              <a:srgbClr val="00CCFF">
                <a:alpha val="80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0099CC">
                <a:alpha val="20000"/>
              </a:srgbClr>
            </a:outerShdw>
          </a:effectLst>
        </p:spPr>
        <p:txBody>
          <a:bodyPr anchor="ctr"/>
          <a:lstStyle/>
          <a:p>
            <a:pPr eaLnBrk="1" hangingPunct="1">
              <a:lnSpc>
                <a:spcPct val="100000"/>
              </a:lnSpc>
              <a:buClrTx/>
              <a:buFontTx/>
              <a:buNone/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00000"/>
              </a:lnSpc>
              <a:buClrTx/>
              <a:buFontTx/>
              <a:buNone/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00000"/>
              </a:lnSpc>
              <a:buClrTx/>
              <a:buFontTx/>
              <a:buNone/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00000"/>
              </a:lnSpc>
              <a:buClrTx/>
              <a:buFontTx/>
              <a:buNone/>
              <a:defRPr/>
            </a:pPr>
            <a:r>
              <a:rPr lang="en-US" altLang="zh-CN" sz="4000" b="0">
                <a:solidFill>
                  <a:srgbClr val="0000CA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869379" name="Rectangle 3">
            <a:extLst>
              <a:ext uri="{FF2B5EF4-FFF2-40B4-BE49-F238E27FC236}">
                <a16:creationId xmlns:a16="http://schemas.microsoft.com/office/drawing/2014/main" id="{DE3B2551-C4E2-BB61-63AA-7D6F648D9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3419475"/>
            <a:ext cx="8334375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177800" indent="-1778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buClr>
                <a:srgbClr val="FFCC00"/>
              </a:buClr>
              <a:buSzPct val="75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66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炮弹飞行姿态的控制：</a:t>
            </a:r>
            <a:r>
              <a:rPr lang="zh-CN" altLang="en-US">
                <a:latin typeface="Times New Roman" panose="02020603050405020304" pitchFamily="18" charset="0"/>
              </a:rPr>
              <a:t>炮弹在飞行时，空气阻力对炮弹质心的力矩会使炮弹在空中翻转；若在炮筒内壁上刻出了螺旋线（称之为来复线），当炮弹由于发射药的爆炸所产生的强大推力推出炮筒时，炮弹还同时绕自己的对称轴高速旋转。由于这种自转作用，它在飞行过程中受到的空气阻力将不能使它翻转，而只能使它绕着质心前进的方向进动。</a:t>
            </a:r>
            <a:endParaRPr lang="zh-CN" altLang="en-US" b="0">
              <a:solidFill>
                <a:srgbClr val="FFCC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9380" name="Rectangle 4">
            <a:extLst>
              <a:ext uri="{FF2B5EF4-FFF2-40B4-BE49-F238E27FC236}">
                <a16:creationId xmlns:a16="http://schemas.microsoft.com/office/drawing/2014/main" id="{A4A49576-972E-DCE5-89F6-CC9C52FF2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19088"/>
            <a:ext cx="38211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buClr>
                <a:srgbClr val="FFCC00"/>
              </a:buClr>
              <a:buSzPct val="80000"/>
              <a:buFont typeface="Wingdings" pitchFamily="2" charset="2"/>
              <a:buChar char="u"/>
              <a:defRPr/>
            </a:pPr>
            <a:r>
              <a:rPr lang="en-US" altLang="zh-CN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进动特性的技术应用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793EC76E-ECDF-A7C4-A72A-43829420C8C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30375" y="1317625"/>
            <a:ext cx="6129338" cy="1439863"/>
            <a:chOff x="442" y="1350"/>
            <a:chExt cx="5288" cy="1242"/>
          </a:xfrm>
        </p:grpSpPr>
        <p:sp>
          <p:nvSpPr>
            <p:cNvPr id="869384" name="Freeform 8">
              <a:extLst>
                <a:ext uri="{FF2B5EF4-FFF2-40B4-BE49-F238E27FC236}">
                  <a16:creationId xmlns:a16="http://schemas.microsoft.com/office/drawing/2014/main" id="{E993EB08-336C-71B3-414B-EDB544312CB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28" y="1443"/>
              <a:ext cx="798" cy="203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3" y="0"/>
                </a:cxn>
                <a:cxn ang="0">
                  <a:pos x="43" y="8"/>
                </a:cxn>
              </a:cxnLst>
              <a:rect l="0" t="0" r="r" b="b"/>
              <a:pathLst>
                <a:path w="43" h="11">
                  <a:moveTo>
                    <a:pt x="0" y="11"/>
                  </a:moveTo>
                  <a:cubicBezTo>
                    <a:pt x="4" y="4"/>
                    <a:pt x="13" y="0"/>
                    <a:pt x="23" y="0"/>
                  </a:cubicBezTo>
                  <a:cubicBezTo>
                    <a:pt x="31" y="0"/>
                    <a:pt x="39" y="3"/>
                    <a:pt x="43" y="8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  <a:prstDash val="solid"/>
              <a:round/>
              <a:headEnd type="triangle" w="med" len="lg"/>
              <a:tailEnd type="non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85" name="Freeform 9">
              <a:extLst>
                <a:ext uri="{FF2B5EF4-FFF2-40B4-BE49-F238E27FC236}">
                  <a16:creationId xmlns:a16="http://schemas.microsoft.com/office/drawing/2014/main" id="{4D6FDD9E-FE37-E7B1-4089-F86AEE69F97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42" y="1869"/>
              <a:ext cx="2412" cy="352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130" y="19"/>
                </a:cxn>
              </a:cxnLst>
              <a:rect l="0" t="0" r="r" b="b"/>
              <a:pathLst>
                <a:path w="130" h="19">
                  <a:moveTo>
                    <a:pt x="0" y="17"/>
                  </a:moveTo>
                  <a:cubicBezTo>
                    <a:pt x="44" y="0"/>
                    <a:pt x="98" y="1"/>
                    <a:pt x="130" y="19"/>
                  </a:cubicBezTo>
                </a:path>
              </a:pathLst>
            </a:custGeom>
            <a:noFill/>
            <a:ln w="19050" cap="flat" cmpd="sng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86" name="Freeform 10">
              <a:extLst>
                <a:ext uri="{FF2B5EF4-FFF2-40B4-BE49-F238E27FC236}">
                  <a16:creationId xmlns:a16="http://schemas.microsoft.com/office/drawing/2014/main" id="{957B6CEB-AEBA-1366-4C30-5067AF76AE4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56" y="1943"/>
              <a:ext cx="185" cy="2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8" y="5"/>
                </a:cxn>
                <a:cxn ang="0">
                  <a:pos x="9" y="13"/>
                </a:cxn>
                <a:cxn ang="0">
                  <a:pos x="2" y="9"/>
                </a:cxn>
                <a:cxn ang="0">
                  <a:pos x="2" y="1"/>
                </a:cxn>
              </a:cxnLst>
              <a:rect l="0" t="0" r="r" b="b"/>
              <a:pathLst>
                <a:path w="10" h="14">
                  <a:moveTo>
                    <a:pt x="2" y="1"/>
                  </a:moveTo>
                  <a:cubicBezTo>
                    <a:pt x="4" y="0"/>
                    <a:pt x="6" y="2"/>
                    <a:pt x="8" y="5"/>
                  </a:cubicBezTo>
                  <a:cubicBezTo>
                    <a:pt x="10" y="8"/>
                    <a:pt x="10" y="12"/>
                    <a:pt x="9" y="13"/>
                  </a:cubicBezTo>
                  <a:cubicBezTo>
                    <a:pt x="7" y="14"/>
                    <a:pt x="4" y="12"/>
                    <a:pt x="2" y="9"/>
                  </a:cubicBezTo>
                  <a:cubicBezTo>
                    <a:pt x="0" y="6"/>
                    <a:pt x="0" y="2"/>
                    <a:pt x="2" y="1"/>
                  </a:cubicBez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87" name="Freeform 11">
              <a:extLst>
                <a:ext uri="{FF2B5EF4-FFF2-40B4-BE49-F238E27FC236}">
                  <a16:creationId xmlns:a16="http://schemas.microsoft.com/office/drawing/2014/main" id="{C906348C-297D-F22A-DC35-FDF06BF1106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93" y="1609"/>
              <a:ext cx="816" cy="575"/>
            </a:xfrm>
            <a:custGeom>
              <a:avLst/>
              <a:gdLst/>
              <a:ahLst/>
              <a:cxnLst>
                <a:cxn ang="0">
                  <a:pos x="24" y="5"/>
                </a:cxn>
                <a:cxn ang="0">
                  <a:pos x="43" y="1"/>
                </a:cxn>
                <a:cxn ang="0">
                  <a:pos x="31" y="17"/>
                </a:cxn>
                <a:cxn ang="0">
                  <a:pos x="30" y="17"/>
                </a:cxn>
                <a:cxn ang="0">
                  <a:pos x="30" y="17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6" y="2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24" y="5"/>
                </a:cxn>
                <a:cxn ang="0">
                  <a:pos x="24" y="5"/>
                </a:cxn>
                <a:cxn ang="0">
                  <a:pos x="24" y="5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44" h="31">
                  <a:moveTo>
                    <a:pt x="24" y="5"/>
                  </a:moveTo>
                  <a:cubicBezTo>
                    <a:pt x="33" y="0"/>
                    <a:pt x="43" y="0"/>
                    <a:pt x="43" y="1"/>
                  </a:cubicBezTo>
                  <a:cubicBezTo>
                    <a:pt x="44" y="2"/>
                    <a:pt x="39" y="11"/>
                    <a:pt x="31" y="17"/>
                  </a:cubicBezTo>
                  <a:cubicBezTo>
                    <a:pt x="31" y="17"/>
                    <a:pt x="31" y="17"/>
                    <a:pt x="30" y="17"/>
                  </a:cubicBezTo>
                  <a:lnTo>
                    <a:pt x="30" y="17"/>
                  </a:lnTo>
                  <a:lnTo>
                    <a:pt x="7" y="31"/>
                  </a:lnTo>
                  <a:cubicBezTo>
                    <a:pt x="7" y="31"/>
                    <a:pt x="7" y="31"/>
                    <a:pt x="7" y="31"/>
                  </a:cubicBezTo>
                  <a:cubicBezTo>
                    <a:pt x="8" y="30"/>
                    <a:pt x="8" y="26"/>
                    <a:pt x="6" y="23"/>
                  </a:cubicBezTo>
                  <a:cubicBezTo>
                    <a:pt x="4" y="20"/>
                    <a:pt x="2" y="18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lnTo>
                    <a:pt x="24" y="5"/>
                  </a:lnTo>
                  <a:lnTo>
                    <a:pt x="24" y="5"/>
                  </a:lnTo>
                  <a:cubicBezTo>
                    <a:pt x="24" y="5"/>
                    <a:pt x="24" y="5"/>
                    <a:pt x="24" y="5"/>
                  </a:cubicBezTo>
                  <a:close/>
                  <a:moveTo>
                    <a:pt x="7" y="31"/>
                  </a:moveTo>
                  <a:lnTo>
                    <a:pt x="7" y="31"/>
                  </a:lnTo>
                  <a:cubicBezTo>
                    <a:pt x="7" y="31"/>
                    <a:pt x="7" y="31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lnTo>
                    <a:pt x="7" y="31"/>
                  </a:lnTo>
                  <a:lnTo>
                    <a:pt x="7" y="31"/>
                  </a:lnTo>
                  <a:cubicBezTo>
                    <a:pt x="7" y="31"/>
                    <a:pt x="7" y="31"/>
                    <a:pt x="7" y="31"/>
                  </a:cubicBezTo>
                  <a:close/>
                  <a:moveTo>
                    <a:pt x="7" y="31"/>
                  </a:moveTo>
                  <a:cubicBezTo>
                    <a:pt x="7" y="31"/>
                    <a:pt x="7" y="31"/>
                    <a:pt x="7" y="31"/>
                  </a:cubicBezTo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lnTo>
                    <a:pt x="0" y="19"/>
                  </a:lnTo>
                  <a:lnTo>
                    <a:pt x="0" y="19"/>
                  </a:lnTo>
                </a:path>
              </a:pathLst>
            </a:custGeom>
            <a:solidFill>
              <a:srgbClr val="33CCCC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88" name="Freeform 12">
              <a:extLst>
                <a:ext uri="{FF2B5EF4-FFF2-40B4-BE49-F238E27FC236}">
                  <a16:creationId xmlns:a16="http://schemas.microsoft.com/office/drawing/2014/main" id="{7896F897-BCED-0020-F2C6-B3997DCB5D3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893" y="1609"/>
              <a:ext cx="816" cy="575"/>
            </a:xfrm>
            <a:custGeom>
              <a:avLst/>
              <a:gdLst/>
              <a:ahLst/>
              <a:cxnLst>
                <a:cxn ang="0">
                  <a:pos x="24" y="5"/>
                </a:cxn>
                <a:cxn ang="0">
                  <a:pos x="43" y="1"/>
                </a:cxn>
                <a:cxn ang="0">
                  <a:pos x="31" y="17"/>
                </a:cxn>
                <a:cxn ang="0">
                  <a:pos x="30" y="17"/>
                </a:cxn>
                <a:cxn ang="0">
                  <a:pos x="30" y="17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6" y="2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24" y="5"/>
                </a:cxn>
                <a:cxn ang="0">
                  <a:pos x="24" y="5"/>
                </a:cxn>
                <a:cxn ang="0">
                  <a:pos x="24" y="5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7" y="31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44" h="31">
                  <a:moveTo>
                    <a:pt x="24" y="5"/>
                  </a:moveTo>
                  <a:cubicBezTo>
                    <a:pt x="33" y="0"/>
                    <a:pt x="43" y="0"/>
                    <a:pt x="43" y="1"/>
                  </a:cubicBezTo>
                  <a:cubicBezTo>
                    <a:pt x="44" y="2"/>
                    <a:pt x="39" y="11"/>
                    <a:pt x="31" y="17"/>
                  </a:cubicBezTo>
                  <a:cubicBezTo>
                    <a:pt x="31" y="17"/>
                    <a:pt x="31" y="17"/>
                    <a:pt x="30" y="17"/>
                  </a:cubicBezTo>
                  <a:lnTo>
                    <a:pt x="30" y="17"/>
                  </a:lnTo>
                  <a:lnTo>
                    <a:pt x="7" y="31"/>
                  </a:lnTo>
                  <a:cubicBezTo>
                    <a:pt x="7" y="31"/>
                    <a:pt x="7" y="31"/>
                    <a:pt x="7" y="31"/>
                  </a:cubicBezTo>
                  <a:cubicBezTo>
                    <a:pt x="8" y="30"/>
                    <a:pt x="8" y="26"/>
                    <a:pt x="6" y="23"/>
                  </a:cubicBezTo>
                  <a:cubicBezTo>
                    <a:pt x="4" y="20"/>
                    <a:pt x="2" y="18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lnTo>
                    <a:pt x="24" y="5"/>
                  </a:lnTo>
                  <a:lnTo>
                    <a:pt x="24" y="5"/>
                  </a:lnTo>
                  <a:cubicBezTo>
                    <a:pt x="24" y="5"/>
                    <a:pt x="24" y="5"/>
                    <a:pt x="24" y="5"/>
                  </a:cubicBezTo>
                  <a:close/>
                  <a:moveTo>
                    <a:pt x="7" y="31"/>
                  </a:moveTo>
                  <a:lnTo>
                    <a:pt x="7" y="31"/>
                  </a:lnTo>
                  <a:cubicBezTo>
                    <a:pt x="7" y="31"/>
                    <a:pt x="7" y="31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lnTo>
                    <a:pt x="7" y="31"/>
                  </a:lnTo>
                  <a:lnTo>
                    <a:pt x="7" y="31"/>
                  </a:lnTo>
                  <a:cubicBezTo>
                    <a:pt x="7" y="31"/>
                    <a:pt x="7" y="31"/>
                    <a:pt x="7" y="31"/>
                  </a:cubicBezTo>
                  <a:close/>
                  <a:moveTo>
                    <a:pt x="7" y="31"/>
                  </a:moveTo>
                  <a:cubicBezTo>
                    <a:pt x="7" y="31"/>
                    <a:pt x="7" y="31"/>
                    <a:pt x="7" y="31"/>
                  </a:cubicBezTo>
                  <a:moveTo>
                    <a:pt x="0" y="19"/>
                  </a:moveTo>
                  <a:cubicBezTo>
                    <a:pt x="0" y="19"/>
                    <a:pt x="0" y="19"/>
                    <a:pt x="0" y="19"/>
                  </a:cubicBezTo>
                  <a:lnTo>
                    <a:pt x="0" y="19"/>
                  </a:lnTo>
                  <a:lnTo>
                    <a:pt x="0" y="19"/>
                  </a:ln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89" name="Line 13">
              <a:extLst>
                <a:ext uri="{FF2B5EF4-FFF2-40B4-BE49-F238E27FC236}">
                  <a16:creationId xmlns:a16="http://schemas.microsoft.com/office/drawing/2014/main" id="{2DA4ECBA-F83A-B769-9501-944AAB2D7D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466" y="1776"/>
              <a:ext cx="946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90" name="Line 14">
              <a:extLst>
                <a:ext uri="{FF2B5EF4-FFF2-40B4-BE49-F238E27FC236}">
                  <a16:creationId xmlns:a16="http://schemas.microsoft.com/office/drawing/2014/main" id="{8ADD0827-5BC8-A231-F195-25555BAD83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40" y="1387"/>
              <a:ext cx="1596" cy="908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prstDash val="lgDashDot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91" name="Freeform 15">
              <a:extLst>
                <a:ext uri="{FF2B5EF4-FFF2-40B4-BE49-F238E27FC236}">
                  <a16:creationId xmlns:a16="http://schemas.microsoft.com/office/drawing/2014/main" id="{2688CB76-4E68-1137-9782-55C5F95B4A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095" y="2073"/>
              <a:ext cx="93" cy="315"/>
            </a:xfrm>
            <a:custGeom>
              <a:avLst/>
              <a:gdLst/>
              <a:ahLst/>
              <a:cxnLst>
                <a:cxn ang="0">
                  <a:pos x="4" y="17"/>
                </a:cxn>
                <a:cxn ang="0">
                  <a:pos x="5" y="0"/>
                </a:cxn>
              </a:cxnLst>
              <a:rect l="0" t="0" r="r" b="b"/>
              <a:pathLst>
                <a:path w="5" h="17">
                  <a:moveTo>
                    <a:pt x="4" y="17"/>
                  </a:moveTo>
                  <a:cubicBezTo>
                    <a:pt x="1" y="10"/>
                    <a:pt x="0" y="2"/>
                    <a:pt x="5" y="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92" name="Freeform 16">
              <a:extLst>
                <a:ext uri="{FF2B5EF4-FFF2-40B4-BE49-F238E27FC236}">
                  <a16:creationId xmlns:a16="http://schemas.microsoft.com/office/drawing/2014/main" id="{108C5CE4-A404-822A-F594-15230D5EF79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188" y="1980"/>
              <a:ext cx="408" cy="612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7" y="30"/>
                </a:cxn>
                <a:cxn ang="0">
                  <a:pos x="9" y="0"/>
                </a:cxn>
              </a:cxnLst>
              <a:rect l="0" t="0" r="r" b="b"/>
              <a:pathLst>
                <a:path w="22" h="33">
                  <a:moveTo>
                    <a:pt x="0" y="5"/>
                  </a:moveTo>
                  <a:cubicBezTo>
                    <a:pt x="10" y="0"/>
                    <a:pt x="22" y="28"/>
                    <a:pt x="17" y="30"/>
                  </a:cubicBezTo>
                  <a:cubicBezTo>
                    <a:pt x="12" y="33"/>
                    <a:pt x="0" y="5"/>
                    <a:pt x="9" y="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93" name="Freeform 17">
              <a:extLst>
                <a:ext uri="{FF2B5EF4-FFF2-40B4-BE49-F238E27FC236}">
                  <a16:creationId xmlns:a16="http://schemas.microsoft.com/office/drawing/2014/main" id="{8210DAE7-5675-AF15-92DE-F3ADF5C0495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55" y="1906"/>
              <a:ext cx="408" cy="59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7" y="30"/>
                </a:cxn>
                <a:cxn ang="0">
                  <a:pos x="9" y="0"/>
                </a:cxn>
              </a:cxnLst>
              <a:rect l="0" t="0" r="r" b="b"/>
              <a:pathLst>
                <a:path w="22" h="32">
                  <a:moveTo>
                    <a:pt x="0" y="4"/>
                  </a:moveTo>
                  <a:cubicBezTo>
                    <a:pt x="10" y="0"/>
                    <a:pt x="22" y="28"/>
                    <a:pt x="17" y="30"/>
                  </a:cubicBezTo>
                  <a:cubicBezTo>
                    <a:pt x="13" y="32"/>
                    <a:pt x="0" y="5"/>
                    <a:pt x="9" y="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94" name="Freeform 18">
              <a:extLst>
                <a:ext uri="{FF2B5EF4-FFF2-40B4-BE49-F238E27FC236}">
                  <a16:creationId xmlns:a16="http://schemas.microsoft.com/office/drawing/2014/main" id="{4AD1074E-DB03-2A26-A2E7-07F65AD91A1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22" y="1832"/>
              <a:ext cx="408" cy="59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8" y="30"/>
                </a:cxn>
                <a:cxn ang="0">
                  <a:pos x="10" y="0"/>
                </a:cxn>
              </a:cxnLst>
              <a:rect l="0" t="0" r="r" b="b"/>
              <a:pathLst>
                <a:path w="22" h="32">
                  <a:moveTo>
                    <a:pt x="0" y="4"/>
                  </a:moveTo>
                  <a:cubicBezTo>
                    <a:pt x="10" y="0"/>
                    <a:pt x="22" y="28"/>
                    <a:pt x="18" y="30"/>
                  </a:cubicBezTo>
                  <a:cubicBezTo>
                    <a:pt x="13" y="32"/>
                    <a:pt x="0" y="5"/>
                    <a:pt x="10" y="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95" name="Freeform 19">
              <a:extLst>
                <a:ext uri="{FF2B5EF4-FFF2-40B4-BE49-F238E27FC236}">
                  <a16:creationId xmlns:a16="http://schemas.microsoft.com/office/drawing/2014/main" id="{69D38500-BDC4-3AD4-7740-B9E813508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89" y="1758"/>
              <a:ext cx="352" cy="593"/>
            </a:xfrm>
            <a:custGeom>
              <a:avLst/>
              <a:gdLst/>
              <a:ahLst/>
              <a:cxnLst>
                <a:cxn ang="0">
                  <a:pos x="18" y="23"/>
                </a:cxn>
                <a:cxn ang="0">
                  <a:pos x="18" y="30"/>
                </a:cxn>
                <a:cxn ang="0">
                  <a:pos x="10" y="0"/>
                </a:cxn>
              </a:cxnLst>
              <a:rect l="0" t="0" r="r" b="b"/>
              <a:pathLst>
                <a:path w="19" h="32">
                  <a:moveTo>
                    <a:pt x="18" y="23"/>
                  </a:moveTo>
                  <a:cubicBezTo>
                    <a:pt x="19" y="26"/>
                    <a:pt x="19" y="29"/>
                    <a:pt x="18" y="30"/>
                  </a:cubicBezTo>
                  <a:cubicBezTo>
                    <a:pt x="13" y="32"/>
                    <a:pt x="0" y="4"/>
                    <a:pt x="10" y="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96" name="Freeform 20">
              <a:extLst>
                <a:ext uri="{FF2B5EF4-FFF2-40B4-BE49-F238E27FC236}">
                  <a16:creationId xmlns:a16="http://schemas.microsoft.com/office/drawing/2014/main" id="{7CC172FB-E057-BD76-7948-1336B5A312E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07" y="1795"/>
              <a:ext cx="204" cy="14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1" y="8"/>
                </a:cxn>
              </a:cxnLst>
              <a:rect l="0" t="0" r="r" b="b"/>
              <a:pathLst>
                <a:path w="11" h="8">
                  <a:moveTo>
                    <a:pt x="0" y="2"/>
                  </a:moveTo>
                  <a:cubicBezTo>
                    <a:pt x="3" y="0"/>
                    <a:pt x="7" y="4"/>
                    <a:pt x="11" y="8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97" name="Freeform 21">
              <a:extLst>
                <a:ext uri="{FF2B5EF4-FFF2-40B4-BE49-F238E27FC236}">
                  <a16:creationId xmlns:a16="http://schemas.microsoft.com/office/drawing/2014/main" id="{CA7FFDBF-800C-3240-541C-5F8DE853402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56" y="1684"/>
              <a:ext cx="371" cy="593"/>
            </a:xfrm>
            <a:custGeom>
              <a:avLst/>
              <a:gdLst/>
              <a:ahLst/>
              <a:cxnLst>
                <a:cxn ang="0">
                  <a:pos x="18" y="22"/>
                </a:cxn>
                <a:cxn ang="0">
                  <a:pos x="18" y="30"/>
                </a:cxn>
                <a:cxn ang="0">
                  <a:pos x="10" y="0"/>
                </a:cxn>
              </a:cxnLst>
              <a:rect l="0" t="0" r="r" b="b"/>
              <a:pathLst>
                <a:path w="20" h="32">
                  <a:moveTo>
                    <a:pt x="18" y="22"/>
                  </a:moveTo>
                  <a:cubicBezTo>
                    <a:pt x="19" y="26"/>
                    <a:pt x="20" y="29"/>
                    <a:pt x="18" y="30"/>
                  </a:cubicBezTo>
                  <a:cubicBezTo>
                    <a:pt x="13" y="32"/>
                    <a:pt x="0" y="4"/>
                    <a:pt x="10" y="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98" name="Freeform 22">
              <a:extLst>
                <a:ext uri="{FF2B5EF4-FFF2-40B4-BE49-F238E27FC236}">
                  <a16:creationId xmlns:a16="http://schemas.microsoft.com/office/drawing/2014/main" id="{41E56F3A-9BA3-537E-F5E8-6272D44D06C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74" y="1721"/>
              <a:ext cx="186" cy="12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0" y="7"/>
                </a:cxn>
              </a:cxnLst>
              <a:rect l="0" t="0" r="r" b="b"/>
              <a:pathLst>
                <a:path w="10" h="7">
                  <a:moveTo>
                    <a:pt x="0" y="2"/>
                  </a:moveTo>
                  <a:cubicBezTo>
                    <a:pt x="3" y="0"/>
                    <a:pt x="7" y="3"/>
                    <a:pt x="10" y="7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399" name="Freeform 23">
              <a:extLst>
                <a:ext uri="{FF2B5EF4-FFF2-40B4-BE49-F238E27FC236}">
                  <a16:creationId xmlns:a16="http://schemas.microsoft.com/office/drawing/2014/main" id="{954E63B5-78BD-2164-9CAA-98D40A47F4C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23" y="1609"/>
              <a:ext cx="371" cy="594"/>
            </a:xfrm>
            <a:custGeom>
              <a:avLst/>
              <a:gdLst/>
              <a:ahLst/>
              <a:cxnLst>
                <a:cxn ang="0">
                  <a:pos x="18" y="20"/>
                </a:cxn>
                <a:cxn ang="0">
                  <a:pos x="18" y="30"/>
                </a:cxn>
                <a:cxn ang="0">
                  <a:pos x="10" y="0"/>
                </a:cxn>
              </a:cxnLst>
              <a:rect l="0" t="0" r="r" b="b"/>
              <a:pathLst>
                <a:path w="20" h="32">
                  <a:moveTo>
                    <a:pt x="18" y="20"/>
                  </a:moveTo>
                  <a:cubicBezTo>
                    <a:pt x="19" y="25"/>
                    <a:pt x="20" y="29"/>
                    <a:pt x="18" y="30"/>
                  </a:cubicBezTo>
                  <a:cubicBezTo>
                    <a:pt x="13" y="32"/>
                    <a:pt x="0" y="4"/>
                    <a:pt x="10" y="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00" name="Freeform 24">
              <a:extLst>
                <a:ext uri="{FF2B5EF4-FFF2-40B4-BE49-F238E27FC236}">
                  <a16:creationId xmlns:a16="http://schemas.microsoft.com/office/drawing/2014/main" id="{7B35292D-C8DD-612F-1297-35C5C0C0DA8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41" y="1646"/>
              <a:ext cx="186" cy="130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0" y="7"/>
                </a:cxn>
              </a:cxnLst>
              <a:rect l="0" t="0" r="r" b="b"/>
              <a:pathLst>
                <a:path w="10" h="7">
                  <a:moveTo>
                    <a:pt x="0" y="2"/>
                  </a:moveTo>
                  <a:cubicBezTo>
                    <a:pt x="3" y="0"/>
                    <a:pt x="7" y="3"/>
                    <a:pt x="10" y="7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01" name="Freeform 25">
              <a:extLst>
                <a:ext uri="{FF2B5EF4-FFF2-40B4-BE49-F238E27FC236}">
                  <a16:creationId xmlns:a16="http://schemas.microsoft.com/office/drawing/2014/main" id="{B20A992D-0607-85B5-B4DB-48515B31562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08" y="1535"/>
              <a:ext cx="352" cy="594"/>
            </a:xfrm>
            <a:custGeom>
              <a:avLst/>
              <a:gdLst/>
              <a:ahLst/>
              <a:cxnLst>
                <a:cxn ang="0">
                  <a:pos x="16" y="19"/>
                </a:cxn>
                <a:cxn ang="0">
                  <a:pos x="17" y="30"/>
                </a:cxn>
                <a:cxn ang="0">
                  <a:pos x="9" y="0"/>
                </a:cxn>
              </a:cxnLst>
              <a:rect l="0" t="0" r="r" b="b"/>
              <a:pathLst>
                <a:path w="19" h="32">
                  <a:moveTo>
                    <a:pt x="16" y="19"/>
                  </a:moveTo>
                  <a:cubicBezTo>
                    <a:pt x="18" y="24"/>
                    <a:pt x="19" y="29"/>
                    <a:pt x="17" y="30"/>
                  </a:cubicBezTo>
                  <a:cubicBezTo>
                    <a:pt x="13" y="32"/>
                    <a:pt x="0" y="4"/>
                    <a:pt x="9" y="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02" name="Freeform 26">
              <a:extLst>
                <a:ext uri="{FF2B5EF4-FFF2-40B4-BE49-F238E27FC236}">
                  <a16:creationId xmlns:a16="http://schemas.microsoft.com/office/drawing/2014/main" id="{2849534A-C70D-E2CC-9E91-D4F1758520A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08" y="1572"/>
              <a:ext cx="167" cy="112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9" y="6"/>
                </a:cxn>
              </a:cxnLst>
              <a:rect l="0" t="0" r="r" b="b"/>
              <a:pathLst>
                <a:path w="9" h="6">
                  <a:moveTo>
                    <a:pt x="0" y="2"/>
                  </a:moveTo>
                  <a:cubicBezTo>
                    <a:pt x="3" y="0"/>
                    <a:pt x="6" y="2"/>
                    <a:pt x="9" y="6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03" name="Freeform 27">
              <a:extLst>
                <a:ext uri="{FF2B5EF4-FFF2-40B4-BE49-F238E27FC236}">
                  <a16:creationId xmlns:a16="http://schemas.microsoft.com/office/drawing/2014/main" id="{DAC3AAFA-DBB9-1AB9-FF13-265DC29C444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75" y="1443"/>
              <a:ext cx="371" cy="611"/>
            </a:xfrm>
            <a:custGeom>
              <a:avLst/>
              <a:gdLst/>
              <a:ahLst/>
              <a:cxnLst>
                <a:cxn ang="0">
                  <a:pos x="15" y="16"/>
                </a:cxn>
                <a:cxn ang="0">
                  <a:pos x="17" y="31"/>
                </a:cxn>
                <a:cxn ang="0">
                  <a:pos x="9" y="0"/>
                </a:cxn>
              </a:cxnLst>
              <a:rect l="0" t="0" r="r" b="b"/>
              <a:pathLst>
                <a:path w="20" h="33">
                  <a:moveTo>
                    <a:pt x="15" y="16"/>
                  </a:moveTo>
                  <a:cubicBezTo>
                    <a:pt x="18" y="22"/>
                    <a:pt x="20" y="30"/>
                    <a:pt x="17" y="31"/>
                  </a:cubicBezTo>
                  <a:cubicBezTo>
                    <a:pt x="13" y="33"/>
                    <a:pt x="0" y="5"/>
                    <a:pt x="9" y="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04" name="Freeform 28">
              <a:extLst>
                <a:ext uri="{FF2B5EF4-FFF2-40B4-BE49-F238E27FC236}">
                  <a16:creationId xmlns:a16="http://schemas.microsoft.com/office/drawing/2014/main" id="{FE3AB367-AF0B-705B-E9BB-4A36629DC09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75" y="1498"/>
              <a:ext cx="204" cy="130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1" y="7"/>
                </a:cxn>
              </a:cxnLst>
              <a:rect l="0" t="0" r="r" b="b"/>
              <a:pathLst>
                <a:path w="11" h="7">
                  <a:moveTo>
                    <a:pt x="0" y="2"/>
                  </a:moveTo>
                  <a:cubicBezTo>
                    <a:pt x="4" y="0"/>
                    <a:pt x="7" y="3"/>
                    <a:pt x="11" y="7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05" name="Freeform 29">
              <a:extLst>
                <a:ext uri="{FF2B5EF4-FFF2-40B4-BE49-F238E27FC236}">
                  <a16:creationId xmlns:a16="http://schemas.microsoft.com/office/drawing/2014/main" id="{96441B73-3750-7A6B-E45F-1B267BBF472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506" y="1628"/>
              <a:ext cx="1224" cy="29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66" y="16"/>
                </a:cxn>
              </a:cxnLst>
              <a:rect l="0" t="0" r="r" b="b"/>
              <a:pathLst>
                <a:path w="66" h="16">
                  <a:moveTo>
                    <a:pt x="0" y="7"/>
                  </a:moveTo>
                  <a:cubicBezTo>
                    <a:pt x="29" y="0"/>
                    <a:pt x="52" y="6"/>
                    <a:pt x="66" y="16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06" name="Freeform 30">
              <a:extLst>
                <a:ext uri="{FF2B5EF4-FFF2-40B4-BE49-F238E27FC236}">
                  <a16:creationId xmlns:a16="http://schemas.microsoft.com/office/drawing/2014/main" id="{334CAF5D-AF39-EC7D-71E5-256CA973A7B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98" y="1943"/>
              <a:ext cx="167" cy="2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5"/>
                </a:cxn>
                <a:cxn ang="0">
                  <a:pos x="7" y="13"/>
                </a:cxn>
                <a:cxn ang="0">
                  <a:pos x="1" y="8"/>
                </a:cxn>
                <a:cxn ang="0">
                  <a:pos x="2" y="0"/>
                </a:cxn>
              </a:cxnLst>
              <a:rect l="0" t="0" r="r" b="b"/>
              <a:pathLst>
                <a:path w="9" h="14">
                  <a:moveTo>
                    <a:pt x="2" y="0"/>
                  </a:moveTo>
                  <a:cubicBezTo>
                    <a:pt x="4" y="0"/>
                    <a:pt x="6" y="2"/>
                    <a:pt x="8" y="5"/>
                  </a:cubicBezTo>
                  <a:cubicBezTo>
                    <a:pt x="9" y="9"/>
                    <a:pt x="9" y="12"/>
                    <a:pt x="7" y="13"/>
                  </a:cubicBezTo>
                  <a:cubicBezTo>
                    <a:pt x="5" y="14"/>
                    <a:pt x="3" y="11"/>
                    <a:pt x="1" y="8"/>
                  </a:cubicBezTo>
                  <a:cubicBezTo>
                    <a:pt x="0" y="5"/>
                    <a:pt x="0" y="1"/>
                    <a:pt x="2" y="0"/>
                  </a:cubicBezTo>
                  <a:close/>
                </a:path>
              </a:pathLst>
            </a:custGeom>
            <a:solidFill>
              <a:srgbClr val="00FFFF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07" name="Freeform 31">
              <a:extLst>
                <a:ext uri="{FF2B5EF4-FFF2-40B4-BE49-F238E27FC236}">
                  <a16:creationId xmlns:a16="http://schemas.microsoft.com/office/drawing/2014/main" id="{FB2CCBA8-02C2-60AE-05EF-7C050798833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98" y="1943"/>
              <a:ext cx="167" cy="2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5"/>
                </a:cxn>
                <a:cxn ang="0">
                  <a:pos x="7" y="13"/>
                </a:cxn>
                <a:cxn ang="0">
                  <a:pos x="1" y="8"/>
                </a:cxn>
                <a:cxn ang="0">
                  <a:pos x="2" y="0"/>
                </a:cxn>
              </a:cxnLst>
              <a:rect l="0" t="0" r="r" b="b"/>
              <a:pathLst>
                <a:path w="9" h="14">
                  <a:moveTo>
                    <a:pt x="2" y="0"/>
                  </a:moveTo>
                  <a:cubicBezTo>
                    <a:pt x="4" y="0"/>
                    <a:pt x="6" y="2"/>
                    <a:pt x="8" y="5"/>
                  </a:cubicBezTo>
                  <a:cubicBezTo>
                    <a:pt x="9" y="9"/>
                    <a:pt x="9" y="12"/>
                    <a:pt x="7" y="13"/>
                  </a:cubicBezTo>
                  <a:cubicBezTo>
                    <a:pt x="5" y="14"/>
                    <a:pt x="3" y="11"/>
                    <a:pt x="1" y="8"/>
                  </a:cubicBezTo>
                  <a:cubicBezTo>
                    <a:pt x="0" y="5"/>
                    <a:pt x="0" y="1"/>
                    <a:pt x="2" y="0"/>
                  </a:cubicBez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08" name="Freeform 32">
              <a:extLst>
                <a:ext uri="{FF2B5EF4-FFF2-40B4-BE49-F238E27FC236}">
                  <a16:creationId xmlns:a16="http://schemas.microsoft.com/office/drawing/2014/main" id="{D6B3ADCA-0E3A-AC7D-64F6-9A414C5E6C8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035" y="1684"/>
              <a:ext cx="855" cy="500"/>
            </a:xfrm>
            <a:custGeom>
              <a:avLst/>
              <a:gdLst/>
              <a:ahLst/>
              <a:cxnLst>
                <a:cxn ang="0">
                  <a:pos x="25" y="4"/>
                </a:cxn>
                <a:cxn ang="0">
                  <a:pos x="45" y="3"/>
                </a:cxn>
                <a:cxn ang="0">
                  <a:pos x="31" y="16"/>
                </a:cxn>
                <a:cxn ang="0">
                  <a:pos x="30" y="16"/>
                </a:cxn>
                <a:cxn ang="0">
                  <a:pos x="30" y="16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19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25" y="4"/>
                </a:cxn>
                <a:cxn ang="0">
                  <a:pos x="25" y="4"/>
                </a:cxn>
                <a:cxn ang="0">
                  <a:pos x="25" y="4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0" y="14"/>
                </a:cxn>
              </a:cxnLst>
              <a:rect l="0" t="0" r="r" b="b"/>
              <a:pathLst>
                <a:path w="46" h="27">
                  <a:moveTo>
                    <a:pt x="25" y="4"/>
                  </a:moveTo>
                  <a:cubicBezTo>
                    <a:pt x="35" y="0"/>
                    <a:pt x="45" y="2"/>
                    <a:pt x="45" y="3"/>
                  </a:cubicBezTo>
                  <a:cubicBezTo>
                    <a:pt x="46" y="4"/>
                    <a:pt x="40" y="12"/>
                    <a:pt x="31" y="16"/>
                  </a:cubicBezTo>
                  <a:cubicBezTo>
                    <a:pt x="31" y="16"/>
                    <a:pt x="31" y="16"/>
                    <a:pt x="30" y="16"/>
                  </a:cubicBezTo>
                  <a:lnTo>
                    <a:pt x="30" y="16"/>
                  </a:lnTo>
                  <a:lnTo>
                    <a:pt x="5" y="27"/>
                  </a:lnTo>
                  <a:cubicBezTo>
                    <a:pt x="5" y="27"/>
                    <a:pt x="5" y="27"/>
                    <a:pt x="5" y="27"/>
                  </a:cubicBezTo>
                  <a:cubicBezTo>
                    <a:pt x="7" y="26"/>
                    <a:pt x="7" y="23"/>
                    <a:pt x="6" y="19"/>
                  </a:cubicBezTo>
                  <a:cubicBezTo>
                    <a:pt x="4" y="16"/>
                    <a:pt x="2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25" y="4"/>
                  </a:lnTo>
                  <a:lnTo>
                    <a:pt x="25" y="4"/>
                  </a:lnTo>
                  <a:cubicBezTo>
                    <a:pt x="25" y="4"/>
                    <a:pt x="25" y="4"/>
                    <a:pt x="25" y="4"/>
                  </a:cubicBezTo>
                  <a:close/>
                  <a:moveTo>
                    <a:pt x="5" y="27"/>
                  </a:moveTo>
                  <a:lnTo>
                    <a:pt x="5" y="27"/>
                  </a:ln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27"/>
                  </a:lnTo>
                  <a:lnTo>
                    <a:pt x="5" y="27"/>
                  </a:lnTo>
                  <a:cubicBezTo>
                    <a:pt x="5" y="27"/>
                    <a:pt x="5" y="27"/>
                    <a:pt x="5" y="27"/>
                  </a:cubicBezTo>
                  <a:close/>
                  <a:moveTo>
                    <a:pt x="5" y="27"/>
                  </a:moveTo>
                  <a:cubicBezTo>
                    <a:pt x="5" y="27"/>
                    <a:pt x="5" y="27"/>
                    <a:pt x="5" y="27"/>
                  </a:cubicBezTo>
                  <a:moveTo>
                    <a:pt x="0" y="14"/>
                  </a:moveTo>
                  <a:cubicBezTo>
                    <a:pt x="0" y="14"/>
                    <a:pt x="0" y="14"/>
                    <a:pt x="0" y="14"/>
                  </a:cubicBezTo>
                  <a:lnTo>
                    <a:pt x="0" y="14"/>
                  </a:lnTo>
                  <a:lnTo>
                    <a:pt x="0" y="14"/>
                  </a:lnTo>
                </a:path>
              </a:pathLst>
            </a:custGeom>
            <a:solidFill>
              <a:srgbClr val="33CCCC"/>
            </a:solidFill>
            <a:ln w="28575" cmpd="sng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09" name="Freeform 33">
              <a:extLst>
                <a:ext uri="{FF2B5EF4-FFF2-40B4-BE49-F238E27FC236}">
                  <a16:creationId xmlns:a16="http://schemas.microsoft.com/office/drawing/2014/main" id="{E883B9CE-9B6E-99D4-8902-89B2A5E33EB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035" y="1684"/>
              <a:ext cx="855" cy="500"/>
            </a:xfrm>
            <a:custGeom>
              <a:avLst/>
              <a:gdLst/>
              <a:ahLst/>
              <a:cxnLst>
                <a:cxn ang="0">
                  <a:pos x="25" y="4"/>
                </a:cxn>
                <a:cxn ang="0">
                  <a:pos x="45" y="3"/>
                </a:cxn>
                <a:cxn ang="0">
                  <a:pos x="31" y="16"/>
                </a:cxn>
                <a:cxn ang="0">
                  <a:pos x="30" y="16"/>
                </a:cxn>
                <a:cxn ang="0">
                  <a:pos x="30" y="16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19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25" y="4"/>
                </a:cxn>
                <a:cxn ang="0">
                  <a:pos x="25" y="4"/>
                </a:cxn>
                <a:cxn ang="0">
                  <a:pos x="25" y="4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0" y="14"/>
                </a:cxn>
              </a:cxnLst>
              <a:rect l="0" t="0" r="r" b="b"/>
              <a:pathLst>
                <a:path w="46" h="27">
                  <a:moveTo>
                    <a:pt x="25" y="4"/>
                  </a:moveTo>
                  <a:cubicBezTo>
                    <a:pt x="35" y="0"/>
                    <a:pt x="45" y="2"/>
                    <a:pt x="45" y="3"/>
                  </a:cubicBezTo>
                  <a:cubicBezTo>
                    <a:pt x="46" y="4"/>
                    <a:pt x="40" y="12"/>
                    <a:pt x="31" y="16"/>
                  </a:cubicBezTo>
                  <a:cubicBezTo>
                    <a:pt x="31" y="16"/>
                    <a:pt x="31" y="16"/>
                    <a:pt x="30" y="16"/>
                  </a:cubicBezTo>
                  <a:lnTo>
                    <a:pt x="30" y="16"/>
                  </a:lnTo>
                  <a:lnTo>
                    <a:pt x="5" y="27"/>
                  </a:lnTo>
                  <a:cubicBezTo>
                    <a:pt x="5" y="27"/>
                    <a:pt x="5" y="27"/>
                    <a:pt x="5" y="27"/>
                  </a:cubicBezTo>
                  <a:cubicBezTo>
                    <a:pt x="7" y="26"/>
                    <a:pt x="7" y="23"/>
                    <a:pt x="6" y="19"/>
                  </a:cubicBezTo>
                  <a:cubicBezTo>
                    <a:pt x="4" y="16"/>
                    <a:pt x="2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25" y="4"/>
                  </a:lnTo>
                  <a:lnTo>
                    <a:pt x="25" y="4"/>
                  </a:lnTo>
                  <a:cubicBezTo>
                    <a:pt x="25" y="4"/>
                    <a:pt x="25" y="4"/>
                    <a:pt x="25" y="4"/>
                  </a:cubicBezTo>
                  <a:close/>
                  <a:moveTo>
                    <a:pt x="5" y="27"/>
                  </a:moveTo>
                  <a:lnTo>
                    <a:pt x="5" y="27"/>
                  </a:ln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27"/>
                  </a:lnTo>
                  <a:lnTo>
                    <a:pt x="5" y="27"/>
                  </a:lnTo>
                  <a:cubicBezTo>
                    <a:pt x="5" y="27"/>
                    <a:pt x="5" y="27"/>
                    <a:pt x="5" y="27"/>
                  </a:cubicBezTo>
                  <a:close/>
                  <a:moveTo>
                    <a:pt x="5" y="27"/>
                  </a:moveTo>
                  <a:cubicBezTo>
                    <a:pt x="5" y="27"/>
                    <a:pt x="5" y="27"/>
                    <a:pt x="5" y="27"/>
                  </a:cubicBezTo>
                  <a:moveTo>
                    <a:pt x="0" y="14"/>
                  </a:moveTo>
                  <a:cubicBezTo>
                    <a:pt x="0" y="14"/>
                    <a:pt x="0" y="14"/>
                    <a:pt x="0" y="14"/>
                  </a:cubicBezTo>
                  <a:lnTo>
                    <a:pt x="0" y="14"/>
                  </a:lnTo>
                  <a:lnTo>
                    <a:pt x="0" y="14"/>
                  </a:lnTo>
                </a:path>
              </a:pathLst>
            </a:custGeom>
            <a:noFill/>
            <a:ln w="28575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10" name="Line 34">
              <a:extLst>
                <a:ext uri="{FF2B5EF4-FFF2-40B4-BE49-F238E27FC236}">
                  <a16:creationId xmlns:a16="http://schemas.microsoft.com/office/drawing/2014/main" id="{C44EC0EC-6295-DA17-7CDF-A05431B3859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961" y="1813"/>
              <a:ext cx="668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11" name="Line 35">
              <a:extLst>
                <a:ext uri="{FF2B5EF4-FFF2-40B4-BE49-F238E27FC236}">
                  <a16:creationId xmlns:a16="http://schemas.microsoft.com/office/drawing/2014/main" id="{F54D11E6-1C36-8722-E383-431EA52ED3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776" y="1646"/>
              <a:ext cx="1335" cy="538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prstDash val="lgDashDot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12" name="Freeform 36">
              <a:extLst>
                <a:ext uri="{FF2B5EF4-FFF2-40B4-BE49-F238E27FC236}">
                  <a16:creationId xmlns:a16="http://schemas.microsoft.com/office/drawing/2014/main" id="{3BF60F7B-408F-7767-0EF3-90801D8FA9D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858" y="1350"/>
              <a:ext cx="408" cy="760"/>
            </a:xfrm>
            <a:custGeom>
              <a:avLst/>
              <a:gdLst/>
              <a:ahLst/>
              <a:cxnLst>
                <a:cxn ang="0">
                  <a:pos x="7" y="1"/>
                </a:cxn>
                <a:cxn ang="0">
                  <a:pos x="20" y="19"/>
                </a:cxn>
                <a:cxn ang="0">
                  <a:pos x="15" y="40"/>
                </a:cxn>
                <a:cxn ang="0">
                  <a:pos x="2" y="22"/>
                </a:cxn>
                <a:cxn ang="0">
                  <a:pos x="7" y="1"/>
                </a:cxn>
              </a:cxnLst>
              <a:rect l="0" t="0" r="r" b="b"/>
              <a:pathLst>
                <a:path w="22" h="41">
                  <a:moveTo>
                    <a:pt x="7" y="1"/>
                  </a:moveTo>
                  <a:cubicBezTo>
                    <a:pt x="12" y="0"/>
                    <a:pt x="17" y="8"/>
                    <a:pt x="20" y="19"/>
                  </a:cubicBezTo>
                  <a:cubicBezTo>
                    <a:pt x="22" y="29"/>
                    <a:pt x="20" y="39"/>
                    <a:pt x="15" y="40"/>
                  </a:cubicBezTo>
                  <a:cubicBezTo>
                    <a:pt x="10" y="41"/>
                    <a:pt x="5" y="33"/>
                    <a:pt x="2" y="22"/>
                  </a:cubicBezTo>
                  <a:cubicBezTo>
                    <a:pt x="0" y="12"/>
                    <a:pt x="2" y="2"/>
                    <a:pt x="7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9413" name="Freeform 37">
              <a:extLst>
                <a:ext uri="{FF2B5EF4-FFF2-40B4-BE49-F238E27FC236}">
                  <a16:creationId xmlns:a16="http://schemas.microsoft.com/office/drawing/2014/main" id="{D2FC4F2C-306D-6CB4-F388-F6FC175DA9B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191" y="1387"/>
              <a:ext cx="927" cy="705"/>
            </a:xfrm>
            <a:custGeom>
              <a:avLst/>
              <a:gdLst/>
              <a:ahLst/>
              <a:cxnLst>
                <a:cxn ang="0">
                  <a:pos x="50" y="38"/>
                </a:cxn>
                <a:cxn ang="0">
                  <a:pos x="26" y="33"/>
                </a:cxn>
                <a:cxn ang="0">
                  <a:pos x="0" y="29"/>
                </a:cxn>
                <a:cxn ang="0">
                  <a:pos x="22" y="14"/>
                </a:cxn>
                <a:cxn ang="0">
                  <a:pos x="42" y="0"/>
                </a:cxn>
              </a:cxnLst>
              <a:rect l="0" t="0" r="r" b="b"/>
              <a:pathLst>
                <a:path w="50" h="38">
                  <a:moveTo>
                    <a:pt x="50" y="38"/>
                  </a:moveTo>
                  <a:lnTo>
                    <a:pt x="26" y="33"/>
                  </a:lnTo>
                  <a:lnTo>
                    <a:pt x="0" y="29"/>
                  </a:lnTo>
                  <a:lnTo>
                    <a:pt x="22" y="14"/>
                  </a:lnTo>
                  <a:lnTo>
                    <a:pt x="42" y="0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9258" name="Group 38">
              <a:extLst>
                <a:ext uri="{FF2B5EF4-FFF2-40B4-BE49-F238E27FC236}">
                  <a16:creationId xmlns:a16="http://schemas.microsoft.com/office/drawing/2014/main" id="{78FAD24A-7896-632C-3675-6A0E7670D46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14" y="1840"/>
              <a:ext cx="270" cy="208"/>
              <a:chOff x="1314" y="1840"/>
              <a:chExt cx="270" cy="208"/>
            </a:xfrm>
          </p:grpSpPr>
          <p:graphicFrame>
            <p:nvGraphicFramePr>
              <p:cNvPr id="9219" name="Object 39">
                <a:extLst>
                  <a:ext uri="{FF2B5EF4-FFF2-40B4-BE49-F238E27FC236}">
                    <a16:creationId xmlns:a16="http://schemas.microsoft.com/office/drawing/2014/main" id="{0DB06E8B-1F3E-0DF9-F5A1-14CB8FF1AE4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92" y="1840"/>
              <a:ext cx="192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304560" imgH="330120" progId="Equation.3">
                      <p:embed/>
                    </p:oleObj>
                  </mc:Choice>
                  <mc:Fallback>
                    <p:oleObj name="公式" r:id="rId2" imgW="304560" imgH="330120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1840"/>
                            <a:ext cx="192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69416" name="Oval 40">
                <a:extLst>
                  <a:ext uri="{FF2B5EF4-FFF2-40B4-BE49-F238E27FC236}">
                    <a16:creationId xmlns:a16="http://schemas.microsoft.com/office/drawing/2014/main" id="{DC271CB9-4160-BC22-4B11-8E3574EF3E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14" y="1943"/>
                <a:ext cx="37" cy="37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9259" name="Group 41">
              <a:extLst>
                <a:ext uri="{FF2B5EF4-FFF2-40B4-BE49-F238E27FC236}">
                  <a16:creationId xmlns:a16="http://schemas.microsoft.com/office/drawing/2014/main" id="{A6558240-D8CE-C10A-5886-02E3DCADE9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47" y="1912"/>
              <a:ext cx="192" cy="253"/>
              <a:chOff x="4047" y="1912"/>
              <a:chExt cx="192" cy="253"/>
            </a:xfrm>
          </p:grpSpPr>
          <p:graphicFrame>
            <p:nvGraphicFramePr>
              <p:cNvPr id="9218" name="Object 42">
                <a:extLst>
                  <a:ext uri="{FF2B5EF4-FFF2-40B4-BE49-F238E27FC236}">
                    <a16:creationId xmlns:a16="http://schemas.microsoft.com/office/drawing/2014/main" id="{F4A693EF-782E-285B-C24D-5DC3FB2B1F9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47" y="1957"/>
              <a:ext cx="192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304560" imgH="330120" progId="Equation.3">
                      <p:embed/>
                    </p:oleObj>
                  </mc:Choice>
                  <mc:Fallback>
                    <p:oleObj name="公式" r:id="rId4" imgW="304560" imgH="330120" progId="Equation.3">
                      <p:embed/>
                      <p:pic>
                        <p:nvPicPr>
                          <p:cNvPr id="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47" y="1957"/>
                            <a:ext cx="192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69419" name="Oval 43">
                <a:extLst>
                  <a:ext uri="{FF2B5EF4-FFF2-40B4-BE49-F238E27FC236}">
                    <a16:creationId xmlns:a16="http://schemas.microsoft.com/office/drawing/2014/main" id="{181B1C98-1738-AA3E-9516-DC8B2EDCA0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67" y="1910"/>
                <a:ext cx="36" cy="37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869420" name="Freeform 44">
              <a:extLst>
                <a:ext uri="{FF2B5EF4-FFF2-40B4-BE49-F238E27FC236}">
                  <a16:creationId xmlns:a16="http://schemas.microsoft.com/office/drawing/2014/main" id="{688F67E0-85B6-6BE0-789E-D303E2FC1A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56" y="1943"/>
              <a:ext cx="185" cy="2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8" y="5"/>
                </a:cxn>
                <a:cxn ang="0">
                  <a:pos x="9" y="13"/>
                </a:cxn>
                <a:cxn ang="0">
                  <a:pos x="2" y="9"/>
                </a:cxn>
                <a:cxn ang="0">
                  <a:pos x="2" y="1"/>
                </a:cxn>
              </a:cxnLst>
              <a:rect l="0" t="0" r="r" b="b"/>
              <a:pathLst>
                <a:path w="10" h="14">
                  <a:moveTo>
                    <a:pt x="2" y="1"/>
                  </a:moveTo>
                  <a:cubicBezTo>
                    <a:pt x="4" y="0"/>
                    <a:pt x="6" y="2"/>
                    <a:pt x="8" y="5"/>
                  </a:cubicBezTo>
                  <a:cubicBezTo>
                    <a:pt x="10" y="8"/>
                    <a:pt x="10" y="12"/>
                    <a:pt x="9" y="13"/>
                  </a:cubicBezTo>
                  <a:cubicBezTo>
                    <a:pt x="7" y="14"/>
                    <a:pt x="4" y="12"/>
                    <a:pt x="2" y="9"/>
                  </a:cubicBezTo>
                  <a:cubicBezTo>
                    <a:pt x="0" y="6"/>
                    <a:pt x="0" y="2"/>
                    <a:pt x="2" y="1"/>
                  </a:cubicBezTo>
                  <a:close/>
                </a:path>
              </a:pathLst>
            </a:custGeom>
            <a:solidFill>
              <a:srgbClr val="00FFFF"/>
            </a:solidFill>
            <a:ln w="2857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869421" name="Rectangle 45">
            <a:extLst>
              <a:ext uri="{FF2B5EF4-FFF2-40B4-BE49-F238E27FC236}">
                <a16:creationId xmlns:a16="http://schemas.microsoft.com/office/drawing/2014/main" id="{0CD36F75-F812-9334-12F1-DF9CD5C2C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825" y="1008063"/>
            <a:ext cx="84137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buClr>
                <a:srgbClr val="FFCC00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翻转</a:t>
            </a:r>
          </a:p>
        </p:txBody>
      </p:sp>
      <p:sp>
        <p:nvSpPr>
          <p:cNvPr id="869422" name="Rectangle 46">
            <a:extLst>
              <a:ext uri="{FF2B5EF4-FFF2-40B4-BE49-F238E27FC236}">
                <a16:creationId xmlns:a16="http://schemas.microsoft.com/office/drawing/2014/main" id="{940FF2AE-B959-76F6-D3A6-D42D25848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1579563"/>
            <a:ext cx="84137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buClr>
                <a:srgbClr val="FFCC00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外力</a:t>
            </a:r>
          </a:p>
        </p:txBody>
      </p:sp>
      <p:sp>
        <p:nvSpPr>
          <p:cNvPr id="869423" name="Rectangle 47">
            <a:extLst>
              <a:ext uri="{FF2B5EF4-FFF2-40B4-BE49-F238E27FC236}">
                <a16:creationId xmlns:a16="http://schemas.microsoft.com/office/drawing/2014/main" id="{D0664E40-1723-163C-EBB3-5FA85023A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5825" y="1516063"/>
            <a:ext cx="84137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buClr>
                <a:srgbClr val="FFCC00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外力</a:t>
            </a:r>
          </a:p>
        </p:txBody>
      </p:sp>
      <p:sp>
        <p:nvSpPr>
          <p:cNvPr id="869424" name="Rectangle 48">
            <a:extLst>
              <a:ext uri="{FF2B5EF4-FFF2-40B4-BE49-F238E27FC236}">
                <a16:creationId xmlns:a16="http://schemas.microsoft.com/office/drawing/2014/main" id="{F4EF6CB6-FFD6-BFE8-CF29-EAD47C8F1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1185863"/>
            <a:ext cx="84137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buClr>
                <a:srgbClr val="FFCC00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6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6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6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9378" grpId="0" animBg="1"/>
      <p:bldP spid="869379" grpId="0"/>
      <p:bldP spid="869380" grpId="0"/>
      <p:bldP spid="869421" grpId="0"/>
      <p:bldP spid="869422" grpId="0"/>
      <p:bldP spid="869423" grpId="0"/>
      <p:bldP spid="8694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5042" name="Group 2">
            <a:extLst>
              <a:ext uri="{FF2B5EF4-FFF2-40B4-BE49-F238E27FC236}">
                <a16:creationId xmlns:a16="http://schemas.microsoft.com/office/drawing/2014/main" id="{E6CBCDAE-4220-8F7F-1F97-B9E64AF2AF02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990600"/>
          <a:ext cx="7772400" cy="5245101"/>
        </p:xfrm>
        <a:graphic>
          <a:graphicData uri="http://schemas.openxmlformats.org/drawingml/2006/table">
            <a:tbl>
              <a:tblPr/>
              <a:tblGrid>
                <a:gridCol w="385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质点的运动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刚体的定轴转动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速度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角速度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加速度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角加速度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质量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转动惯量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力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力矩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运动规律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转动定律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动量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动量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角动量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角动量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动量定理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角动量定理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55074" name="Text Box 34">
            <a:hlinkClick r:id="rId2" action="ppaction://hlinkfile"/>
            <a:extLst>
              <a:ext uri="{FF2B5EF4-FFF2-40B4-BE49-F238E27FC236}">
                <a16:creationId xmlns:a16="http://schemas.microsoft.com/office/drawing/2014/main" id="{15C74DD4-5568-11D9-470C-5203A8A7E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200" y="368300"/>
            <a:ext cx="72993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kumimoji="1" lang="zh-CN" altLang="en-US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隶书" pitchFamily="49" charset="-122"/>
              </a:rPr>
              <a:t>质点的运动规律与刚体的定轴转动规律的比较</a:t>
            </a:r>
          </a:p>
        </p:txBody>
      </p:sp>
      <p:graphicFrame>
        <p:nvGraphicFramePr>
          <p:cNvPr id="855075" name="Object 35">
            <a:extLst>
              <a:ext uri="{FF2B5EF4-FFF2-40B4-BE49-F238E27FC236}">
                <a16:creationId xmlns:a16="http://schemas.microsoft.com/office/drawing/2014/main" id="{117E4207-D3C6-014D-4066-09E1F72705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9038" y="1412875"/>
          <a:ext cx="719137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28520" imgH="888840" progId="Equation.3">
                  <p:embed/>
                </p:oleObj>
              </mc:Choice>
              <mc:Fallback>
                <p:oleObj name="公式" r:id="rId3" imgW="1028520" imgH="88884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038" y="1412875"/>
                        <a:ext cx="719137" cy="623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76" name="Object 36">
            <a:extLst>
              <a:ext uri="{FF2B5EF4-FFF2-40B4-BE49-F238E27FC236}">
                <a16:creationId xmlns:a16="http://schemas.microsoft.com/office/drawing/2014/main" id="{AD298DF3-AA40-CC8E-EECC-07246357B3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6813" y="1425575"/>
          <a:ext cx="790575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30040" imgH="888840" progId="Equation.3">
                  <p:embed/>
                </p:oleObj>
              </mc:Choice>
              <mc:Fallback>
                <p:oleObj name="公式" r:id="rId5" imgW="1130040" imgH="88884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813" y="1425575"/>
                        <a:ext cx="790575" cy="623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77" name="Object 37">
            <a:extLst>
              <a:ext uri="{FF2B5EF4-FFF2-40B4-BE49-F238E27FC236}">
                <a16:creationId xmlns:a16="http://schemas.microsoft.com/office/drawing/2014/main" id="{BC151F34-16CD-2851-86E5-A9AA235A7A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0900" y="2017713"/>
          <a:ext cx="142081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031840" imgH="939600" progId="Equation.3">
                  <p:embed/>
                </p:oleObj>
              </mc:Choice>
              <mc:Fallback>
                <p:oleObj name="公式" r:id="rId7" imgW="2031840" imgH="9396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2017713"/>
                        <a:ext cx="1420813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78" name="Object 38">
            <a:extLst>
              <a:ext uri="{FF2B5EF4-FFF2-40B4-BE49-F238E27FC236}">
                <a16:creationId xmlns:a16="http://schemas.microsoft.com/office/drawing/2014/main" id="{91598FF3-1DEF-FEF4-A6A4-D1B7027B43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2675" y="2030413"/>
          <a:ext cx="14922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133360" imgH="939600" progId="Equation.3">
                  <p:embed/>
                </p:oleObj>
              </mc:Choice>
              <mc:Fallback>
                <p:oleObj name="公式" r:id="rId9" imgW="2133360" imgH="9396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2675" y="2030413"/>
                        <a:ext cx="149225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79" name="Object 39">
            <a:extLst>
              <a:ext uri="{FF2B5EF4-FFF2-40B4-BE49-F238E27FC236}">
                <a16:creationId xmlns:a16="http://schemas.microsoft.com/office/drawing/2014/main" id="{6CE289A4-95D9-2E9C-29A6-25A12FCCB0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8" y="2909888"/>
          <a:ext cx="222250" cy="16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17160" imgH="241200" progId="Equation.3">
                  <p:embed/>
                </p:oleObj>
              </mc:Choice>
              <mc:Fallback>
                <p:oleObj name="公式" r:id="rId11" imgW="317160" imgH="2412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909888"/>
                        <a:ext cx="222250" cy="169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80" name="Object 40">
            <a:extLst>
              <a:ext uri="{FF2B5EF4-FFF2-40B4-BE49-F238E27FC236}">
                <a16:creationId xmlns:a16="http://schemas.microsoft.com/office/drawing/2014/main" id="{EFDC1CE7-3D4B-EE2A-693F-E2A354F874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9363" y="2763838"/>
          <a:ext cx="11557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650960" imgH="622080" progId="Equation.3">
                  <p:embed/>
                </p:oleObj>
              </mc:Choice>
              <mc:Fallback>
                <p:oleObj name="公式" r:id="rId13" imgW="1650960" imgH="62208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9363" y="2763838"/>
                        <a:ext cx="115570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81" name="Object 41">
            <a:extLst>
              <a:ext uri="{FF2B5EF4-FFF2-40B4-BE49-F238E27FC236}">
                <a16:creationId xmlns:a16="http://schemas.microsoft.com/office/drawing/2014/main" id="{00621021-8EB3-086A-F051-A833CC0CE4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7488" y="3403600"/>
          <a:ext cx="22225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17160" imgH="355320" progId="Equation.3">
                  <p:embed/>
                </p:oleObj>
              </mc:Choice>
              <mc:Fallback>
                <p:oleObj name="公式" r:id="rId15" imgW="317160" imgH="35532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488" y="3403600"/>
                        <a:ext cx="222250" cy="250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82" name="Object 42">
            <a:extLst>
              <a:ext uri="{FF2B5EF4-FFF2-40B4-BE49-F238E27FC236}">
                <a16:creationId xmlns:a16="http://schemas.microsoft.com/office/drawing/2014/main" id="{08979583-9A77-3D6F-508E-2BD9F3FC88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7663" y="3403600"/>
          <a:ext cx="292100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419040" imgH="317160" progId="Equation.3">
                  <p:embed/>
                </p:oleObj>
              </mc:Choice>
              <mc:Fallback>
                <p:oleObj name="公式" r:id="rId17" imgW="419040" imgH="31716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7663" y="3403600"/>
                        <a:ext cx="292100" cy="223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83" name="Object 43">
            <a:extLst>
              <a:ext uri="{FF2B5EF4-FFF2-40B4-BE49-F238E27FC236}">
                <a16:creationId xmlns:a16="http://schemas.microsoft.com/office/drawing/2014/main" id="{E651F3EB-4811-86B5-F13A-CC68A6E46B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2063" y="3970338"/>
          <a:ext cx="82550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180800" imgH="368280" progId="Equation.3">
                  <p:embed/>
                </p:oleObj>
              </mc:Choice>
              <mc:Fallback>
                <p:oleObj name="公式" r:id="rId19" imgW="1180800" imgH="36828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3" y="3970338"/>
                        <a:ext cx="825500" cy="26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84" name="Object 44">
            <a:extLst>
              <a:ext uri="{FF2B5EF4-FFF2-40B4-BE49-F238E27FC236}">
                <a16:creationId xmlns:a16="http://schemas.microsoft.com/office/drawing/2014/main" id="{23805B42-8006-70D1-6F61-334E3BF938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34138" y="3944938"/>
          <a:ext cx="86995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244520" imgH="406080" progId="Equation.3">
                  <p:embed/>
                </p:oleObj>
              </mc:Choice>
              <mc:Fallback>
                <p:oleObj name="公式" r:id="rId21" imgW="1244520" imgH="40608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4138" y="3944938"/>
                        <a:ext cx="869950" cy="287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85" name="Object 45">
            <a:extLst>
              <a:ext uri="{FF2B5EF4-FFF2-40B4-BE49-F238E27FC236}">
                <a16:creationId xmlns:a16="http://schemas.microsoft.com/office/drawing/2014/main" id="{1CD3460D-D432-3C9D-4AD6-A1FF9C6AFA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9363" y="4564063"/>
          <a:ext cx="825500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180800" imgH="380880" progId="Equation.3">
                  <p:embed/>
                </p:oleObj>
              </mc:Choice>
              <mc:Fallback>
                <p:oleObj name="公式" r:id="rId23" imgW="1180800" imgH="38088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4564063"/>
                        <a:ext cx="825500" cy="268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86" name="Object 46">
            <a:extLst>
              <a:ext uri="{FF2B5EF4-FFF2-40B4-BE49-F238E27FC236}">
                <a16:creationId xmlns:a16="http://schemas.microsoft.com/office/drawing/2014/main" id="{58965B8D-173A-BE3B-B064-580252AC33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0488" y="5127625"/>
          <a:ext cx="781050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117440" imgH="330120" progId="Equation.3">
                  <p:embed/>
                </p:oleObj>
              </mc:Choice>
              <mc:Fallback>
                <p:oleObj name="公式" r:id="rId25" imgW="1117440" imgH="33012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0488" y="5127625"/>
                        <a:ext cx="781050" cy="231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87" name="Object 47">
            <a:extLst>
              <a:ext uri="{FF2B5EF4-FFF2-40B4-BE49-F238E27FC236}">
                <a16:creationId xmlns:a16="http://schemas.microsoft.com/office/drawing/2014/main" id="{7020A798-B730-D12F-0CBB-884720C434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0150" y="5113338"/>
          <a:ext cx="97631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396800" imgH="444240" progId="Equation.3">
                  <p:embed/>
                </p:oleObj>
              </mc:Choice>
              <mc:Fallback>
                <p:oleObj name="公式" r:id="rId27" imgW="1396800" imgH="44424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5113338"/>
                        <a:ext cx="976313" cy="31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88" name="Object 48">
            <a:extLst>
              <a:ext uri="{FF2B5EF4-FFF2-40B4-BE49-F238E27FC236}">
                <a16:creationId xmlns:a16="http://schemas.microsoft.com/office/drawing/2014/main" id="{AA65B0FD-CCFF-23B5-A4CE-9B53973F0D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0925" y="4506913"/>
          <a:ext cx="14017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2006280" imgH="545760" progId="Equation.3">
                  <p:embed/>
                </p:oleObj>
              </mc:Choice>
              <mc:Fallback>
                <p:oleObj name="公式" r:id="rId29" imgW="2006280" imgH="54576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0925" y="4506913"/>
                        <a:ext cx="1401763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89" name="Object 49">
            <a:extLst>
              <a:ext uri="{FF2B5EF4-FFF2-40B4-BE49-F238E27FC236}">
                <a16:creationId xmlns:a16="http://schemas.microsoft.com/office/drawing/2014/main" id="{B9CC75D2-ECC6-D4ED-4978-FBD3EF3E1A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1888" y="5565775"/>
          <a:ext cx="1189037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1701720" imgH="888840" progId="Equation.3">
                  <p:embed/>
                </p:oleObj>
              </mc:Choice>
              <mc:Fallback>
                <p:oleObj name="公式" r:id="rId31" imgW="1701720" imgH="88884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888" y="5565775"/>
                        <a:ext cx="1189037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90" name="Object 50">
            <a:extLst>
              <a:ext uri="{FF2B5EF4-FFF2-40B4-BE49-F238E27FC236}">
                <a16:creationId xmlns:a16="http://schemas.microsoft.com/office/drawing/2014/main" id="{A3D0EFA1-F171-550E-D262-601F31CB34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1588" y="5578475"/>
          <a:ext cx="12160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1739880" imgH="888840" progId="Equation.3">
                  <p:embed/>
                </p:oleObj>
              </mc:Choice>
              <mc:Fallback>
                <p:oleObj name="公式" r:id="rId33" imgW="1739880" imgH="88884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588" y="5578475"/>
                        <a:ext cx="1216025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55091" name="Picture 51" descr="j0293240">
            <a:extLst>
              <a:ext uri="{FF2B5EF4-FFF2-40B4-BE49-F238E27FC236}">
                <a16:creationId xmlns:a16="http://schemas.microsoft.com/office/drawing/2014/main" id="{7F54DE7F-1DB7-D950-3FA0-906A73212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588" y="6154738"/>
            <a:ext cx="611187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5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5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5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5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5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5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5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5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5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5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5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5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5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85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5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5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5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55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55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507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6066" name="Group 2">
            <a:extLst>
              <a:ext uri="{FF2B5EF4-FFF2-40B4-BE49-F238E27FC236}">
                <a16:creationId xmlns:a16="http://schemas.microsoft.com/office/drawing/2014/main" id="{8F5322B2-70DC-63FE-172A-D65E49919F65}"/>
              </a:ext>
            </a:extLst>
          </p:cNvPr>
          <p:cNvGraphicFramePr>
            <a:graphicFrameLocks noGrp="1"/>
          </p:cNvGraphicFramePr>
          <p:nvPr/>
        </p:nvGraphicFramePr>
        <p:xfrm>
          <a:off x="785813" y="1231900"/>
          <a:ext cx="7772400" cy="4765675"/>
        </p:xfrm>
        <a:graphic>
          <a:graphicData uri="http://schemas.openxmlformats.org/drawingml/2006/table">
            <a:tbl>
              <a:tblPr/>
              <a:tblGrid>
                <a:gridCol w="385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9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质点的运动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刚体的定轴转动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5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动量守恒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角动量守恒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力的功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力矩的功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动能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转动动能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动能定理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动能定理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重力势能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重力势能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59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机械能守恒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  <a:cs typeface="Times New Roman" pitchFamily="18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  <a:cs typeface="Times New Roman" pitchFamily="18" charset="0"/>
                        </a:rPr>
                        <a:t>机械能守恒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56092" name="Text Box 28">
            <a:hlinkClick r:id="rId2" action="ppaction://hlinkfile"/>
            <a:extLst>
              <a:ext uri="{FF2B5EF4-FFF2-40B4-BE49-F238E27FC236}">
                <a16:creationId xmlns:a16="http://schemas.microsoft.com/office/drawing/2014/main" id="{62CF0FB5-F22A-5CE0-9AA0-2BA8C6BDF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457200"/>
            <a:ext cx="75279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kumimoji="1" lang="zh-CN" altLang="en-US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隶书" pitchFamily="49" charset="-122"/>
              </a:rPr>
              <a:t>质点的运动规律与刚体的定轴转动规律的比较（续）</a:t>
            </a:r>
          </a:p>
        </p:txBody>
      </p:sp>
      <p:graphicFrame>
        <p:nvGraphicFramePr>
          <p:cNvPr id="856093" name="Object 29">
            <a:extLst>
              <a:ext uri="{FF2B5EF4-FFF2-40B4-BE49-F238E27FC236}">
                <a16:creationId xmlns:a16="http://schemas.microsoft.com/office/drawing/2014/main" id="{FB28831D-2F95-EDFC-3749-3AB03A2B32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0925" y="1749425"/>
          <a:ext cx="122555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52480" imgH="545760" progId="Equation.3">
                  <p:embed/>
                </p:oleObj>
              </mc:Choice>
              <mc:Fallback>
                <p:oleObj name="公式" r:id="rId3" imgW="1752480" imgH="54576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925" y="1749425"/>
                        <a:ext cx="1225550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094" name="Object 30">
            <a:extLst>
              <a:ext uri="{FF2B5EF4-FFF2-40B4-BE49-F238E27FC236}">
                <a16:creationId xmlns:a16="http://schemas.microsoft.com/office/drawing/2014/main" id="{4932214F-7821-898F-2FA5-E750D96A29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4575" y="2711450"/>
          <a:ext cx="14652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095200" imgH="736560" progId="Equation.3">
                  <p:embed/>
                </p:oleObj>
              </mc:Choice>
              <mc:Fallback>
                <p:oleObj name="公式" r:id="rId5" imgW="2095200" imgH="7365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2711450"/>
                        <a:ext cx="1465263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095" name="Object 31">
            <a:extLst>
              <a:ext uri="{FF2B5EF4-FFF2-40B4-BE49-F238E27FC236}">
                <a16:creationId xmlns:a16="http://schemas.microsoft.com/office/drawing/2014/main" id="{B13EAA5F-150E-F852-245C-AF0E4B5BD1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0938" y="3386138"/>
          <a:ext cx="1049337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498320" imgH="444240" progId="Equation.3">
                  <p:embed/>
                </p:oleObj>
              </mc:Choice>
              <mc:Fallback>
                <p:oleObj name="公式" r:id="rId7" imgW="1498320" imgH="44424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8" y="3386138"/>
                        <a:ext cx="1049337" cy="31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096" name="Object 32">
            <a:extLst>
              <a:ext uri="{FF2B5EF4-FFF2-40B4-BE49-F238E27FC236}">
                <a16:creationId xmlns:a16="http://schemas.microsoft.com/office/drawing/2014/main" id="{6D931A92-BCEF-4593-886C-A014C7141C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6663" y="4519613"/>
          <a:ext cx="950912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358640" imgH="469800" progId="Equation.3">
                  <p:embed/>
                </p:oleObj>
              </mc:Choice>
              <mc:Fallback>
                <p:oleObj name="公式" r:id="rId9" imgW="1358640" imgH="4698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3" y="4519613"/>
                        <a:ext cx="950912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097" name="Object 33">
            <a:extLst>
              <a:ext uri="{FF2B5EF4-FFF2-40B4-BE49-F238E27FC236}">
                <a16:creationId xmlns:a16="http://schemas.microsoft.com/office/drawing/2014/main" id="{30F95A12-C012-6881-CA63-A682F5B347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2213" y="5133975"/>
          <a:ext cx="190817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730240" imgH="495000" progId="Equation.3">
                  <p:embed/>
                </p:oleObj>
              </mc:Choice>
              <mc:Fallback>
                <p:oleObj name="公式" r:id="rId11" imgW="2730240" imgH="4950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213" y="5133975"/>
                        <a:ext cx="1908175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098" name="Object 34">
            <a:extLst>
              <a:ext uri="{FF2B5EF4-FFF2-40B4-BE49-F238E27FC236}">
                <a16:creationId xmlns:a16="http://schemas.microsoft.com/office/drawing/2014/main" id="{A3C2BC6C-F46C-BC96-1FB4-05D79A2D7D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8388" y="2181225"/>
          <a:ext cx="1598612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286000" imgH="545760" progId="Equation.3">
                  <p:embed/>
                </p:oleObj>
              </mc:Choice>
              <mc:Fallback>
                <p:oleObj name="公式" r:id="rId13" imgW="2286000" imgH="54576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2181225"/>
                        <a:ext cx="1598612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099" name="Object 35">
            <a:extLst>
              <a:ext uri="{FF2B5EF4-FFF2-40B4-BE49-F238E27FC236}">
                <a16:creationId xmlns:a16="http://schemas.microsoft.com/office/drawing/2014/main" id="{12FE8666-1228-438F-4657-0D3B4A4BA9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8738" y="1746250"/>
          <a:ext cx="9493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358640" imgH="406080" progId="Equation.3">
                  <p:embed/>
                </p:oleObj>
              </mc:Choice>
              <mc:Fallback>
                <p:oleObj name="公式" r:id="rId15" imgW="1358640" imgH="40608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1746250"/>
                        <a:ext cx="94932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100" name="Object 36">
            <a:extLst>
              <a:ext uri="{FF2B5EF4-FFF2-40B4-BE49-F238E27FC236}">
                <a16:creationId xmlns:a16="http://schemas.microsoft.com/office/drawing/2014/main" id="{A44A83EC-BACD-F01B-5BD7-29CFCC432F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15063" y="2117725"/>
          <a:ext cx="1465262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095200" imgH="545760" progId="Equation.3">
                  <p:embed/>
                </p:oleObj>
              </mc:Choice>
              <mc:Fallback>
                <p:oleObj name="公式" r:id="rId17" imgW="2095200" imgH="54576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63" y="2117725"/>
                        <a:ext cx="1465262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101" name="Object 37">
            <a:extLst>
              <a:ext uri="{FF2B5EF4-FFF2-40B4-BE49-F238E27FC236}">
                <a16:creationId xmlns:a16="http://schemas.microsoft.com/office/drawing/2014/main" id="{15A2538F-CE5E-D09E-D8B0-DA54831099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6175" y="2681288"/>
          <a:ext cx="146526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095200" imgH="787320" progId="Equation.3">
                  <p:embed/>
                </p:oleObj>
              </mc:Choice>
              <mc:Fallback>
                <p:oleObj name="公式" r:id="rId19" imgW="2095200" imgH="78732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6175" y="2681288"/>
                        <a:ext cx="1465263" cy="554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102" name="Object 38">
            <a:extLst>
              <a:ext uri="{FF2B5EF4-FFF2-40B4-BE49-F238E27FC236}">
                <a16:creationId xmlns:a16="http://schemas.microsoft.com/office/drawing/2014/main" id="{BB3D753D-2CF5-E473-98F1-1FA8939531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7938" y="3397250"/>
          <a:ext cx="10223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460160" imgH="444240" progId="Equation.3">
                  <p:embed/>
                </p:oleObj>
              </mc:Choice>
              <mc:Fallback>
                <p:oleObj name="公式" r:id="rId21" imgW="1460160" imgH="44424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938" y="3397250"/>
                        <a:ext cx="1022350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103" name="Object 39">
            <a:extLst>
              <a:ext uri="{FF2B5EF4-FFF2-40B4-BE49-F238E27FC236}">
                <a16:creationId xmlns:a16="http://schemas.microsoft.com/office/drawing/2014/main" id="{65C8F4A9-B77E-7199-E3EF-F664C9562E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4888" y="3925888"/>
          <a:ext cx="19018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717640" imgH="495000" progId="Equation.3">
                  <p:embed/>
                </p:oleObj>
              </mc:Choice>
              <mc:Fallback>
                <p:oleObj name="公式" r:id="rId23" imgW="2717640" imgH="4950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888" y="3925888"/>
                        <a:ext cx="1901825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104" name="Object 40">
            <a:extLst>
              <a:ext uri="{FF2B5EF4-FFF2-40B4-BE49-F238E27FC236}">
                <a16:creationId xmlns:a16="http://schemas.microsoft.com/office/drawing/2014/main" id="{02FF821B-67A7-79F9-31F1-4FE62FC256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3638" y="3925888"/>
          <a:ext cx="18129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590560" imgH="495000" progId="Equation.3">
                  <p:embed/>
                </p:oleObj>
              </mc:Choice>
              <mc:Fallback>
                <p:oleObj name="公式" r:id="rId25" imgW="2590560" imgH="4950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638" y="3925888"/>
                        <a:ext cx="1812925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105" name="Object 41">
            <a:extLst>
              <a:ext uri="{FF2B5EF4-FFF2-40B4-BE49-F238E27FC236}">
                <a16:creationId xmlns:a16="http://schemas.microsoft.com/office/drawing/2014/main" id="{196B93FC-A56F-896C-7DF5-A60D33D199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91275" y="4545013"/>
          <a:ext cx="1030288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473120" imgH="469800" progId="Equation.3">
                  <p:embed/>
                </p:oleObj>
              </mc:Choice>
              <mc:Fallback>
                <p:oleObj name="公式" r:id="rId27" imgW="1473120" imgH="4698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1275" y="4545013"/>
                        <a:ext cx="1030288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106" name="Object 42">
            <a:extLst>
              <a:ext uri="{FF2B5EF4-FFF2-40B4-BE49-F238E27FC236}">
                <a16:creationId xmlns:a16="http://schemas.microsoft.com/office/drawing/2014/main" id="{50DC5400-6551-5EC9-8A82-5728CF3AFA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5581650"/>
          <a:ext cx="1490663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2133360" imgH="482400" progId="Equation.3">
                  <p:embed/>
                </p:oleObj>
              </mc:Choice>
              <mc:Fallback>
                <p:oleObj name="公式" r:id="rId29" imgW="2133360" imgH="4824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5581650"/>
                        <a:ext cx="1490663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107" name="Object 43">
            <a:extLst>
              <a:ext uri="{FF2B5EF4-FFF2-40B4-BE49-F238E27FC236}">
                <a16:creationId xmlns:a16="http://schemas.microsoft.com/office/drawing/2014/main" id="{4948CD93-C4F9-C38F-58B8-3E8DEDDF4C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32513" y="5121275"/>
          <a:ext cx="190817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2730240" imgH="495000" progId="Equation.3">
                  <p:embed/>
                </p:oleObj>
              </mc:Choice>
              <mc:Fallback>
                <p:oleObj name="公式" r:id="rId31" imgW="2730240" imgH="4950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513" y="5121275"/>
                        <a:ext cx="1908175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108" name="Object 44">
            <a:extLst>
              <a:ext uri="{FF2B5EF4-FFF2-40B4-BE49-F238E27FC236}">
                <a16:creationId xmlns:a16="http://schemas.microsoft.com/office/drawing/2014/main" id="{EFE2464E-B8D3-3EC1-4D2D-F5718584E2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6975" y="5568950"/>
          <a:ext cx="149225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2133360" imgH="482400" progId="Equation.3">
                  <p:embed/>
                </p:oleObj>
              </mc:Choice>
              <mc:Fallback>
                <p:oleObj name="公式" r:id="rId33" imgW="2133360" imgH="4824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6975" y="5568950"/>
                        <a:ext cx="1492250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56109" name="Picture 45" descr="j0293240">
            <a:extLst>
              <a:ext uri="{FF2B5EF4-FFF2-40B4-BE49-F238E27FC236}">
                <a16:creationId xmlns:a16="http://schemas.microsoft.com/office/drawing/2014/main" id="{B3C45686-50BE-51D5-51D6-8B8085587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588" y="6154738"/>
            <a:ext cx="611187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5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5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5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5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5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5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5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5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5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5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5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5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5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85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5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85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5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56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56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609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06" name="Group 2">
            <a:extLst>
              <a:ext uri="{FF2B5EF4-FFF2-40B4-BE49-F238E27FC236}">
                <a16:creationId xmlns:a16="http://schemas.microsoft.com/office/drawing/2014/main" id="{EE228389-6F6E-CFAB-7BEE-A7269E863FEA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228600"/>
            <a:ext cx="7705725" cy="941388"/>
            <a:chOff x="576" y="144"/>
            <a:chExt cx="5040" cy="593"/>
          </a:xfrm>
        </p:grpSpPr>
        <p:sp>
          <p:nvSpPr>
            <p:cNvPr id="22574" name="Text Box 3">
              <a:extLst>
                <a:ext uri="{FF2B5EF4-FFF2-40B4-BE49-F238E27FC236}">
                  <a16:creationId xmlns:a16="http://schemas.microsoft.com/office/drawing/2014/main" id="{CE8E6BBE-5441-E23A-D09B-9153D1BBF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44"/>
              <a:ext cx="5040" cy="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r>
                <a:rPr kumimoji="1" lang="zh-CN" altLang="en-US">
                  <a:solidFill>
                    <a:srgbClr val="00FFFF"/>
                  </a:solidFill>
                  <a:latin typeface="Times New Roman" panose="02020603050405020304" pitchFamily="18" charset="0"/>
                </a:rPr>
                <a:t>如图示，均匀直杆质量为</a:t>
              </a:r>
              <a:r>
                <a:rPr kumimoji="1" lang="en-US" altLang="zh-CN" i="1">
                  <a:solidFill>
                    <a:srgbClr val="00FFFF"/>
                  </a:solidFill>
                  <a:latin typeface="Times New Roman" panose="02020603050405020304" pitchFamily="18" charset="0"/>
                </a:rPr>
                <a:t>m</a:t>
              </a:r>
              <a:r>
                <a:rPr kumimoji="1" lang="zh-CN" altLang="en-US">
                  <a:solidFill>
                    <a:srgbClr val="00FFFF"/>
                  </a:solidFill>
                  <a:latin typeface="Times New Roman" panose="02020603050405020304" pitchFamily="18" charset="0"/>
                </a:rPr>
                <a:t>，长为</a:t>
              </a:r>
              <a:r>
                <a:rPr kumimoji="1" lang="en-US" altLang="zh-CN" i="1">
                  <a:solidFill>
                    <a:srgbClr val="00FFFF"/>
                  </a:solidFill>
                  <a:latin typeface="Times New Roman" panose="02020603050405020304" pitchFamily="18" charset="0"/>
                </a:rPr>
                <a:t>l</a:t>
              </a:r>
              <a:r>
                <a:rPr kumimoji="1" lang="zh-CN" altLang="en-US">
                  <a:solidFill>
                    <a:srgbClr val="00FFFF"/>
                  </a:solidFill>
                  <a:latin typeface="Times New Roman" panose="02020603050405020304" pitchFamily="18" charset="0"/>
                </a:rPr>
                <a:t>，初始水平静止。                   轴光滑，</a:t>
              </a:r>
            </a:p>
          </p:txBody>
        </p:sp>
        <p:graphicFrame>
          <p:nvGraphicFramePr>
            <p:cNvPr id="22575" name="Object 4">
              <a:extLst>
                <a:ext uri="{FF2B5EF4-FFF2-40B4-BE49-F238E27FC236}">
                  <a16:creationId xmlns:a16="http://schemas.microsoft.com/office/drawing/2014/main" id="{5AF1AEEC-D505-BE0E-478F-4A290473E5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6510397"/>
                </p:ext>
              </p:extLst>
            </p:nvPr>
          </p:nvGraphicFramePr>
          <p:xfrm>
            <a:off x="1305" y="462"/>
            <a:ext cx="95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701164" imgH="183046" progId="Equation.3">
                    <p:embed/>
                  </p:oleObj>
                </mc:Choice>
                <mc:Fallback>
                  <p:oleObj name="公式" r:id="rId2" imgW="701164" imgH="183046" progId="Equation.3">
                    <p:embed/>
                    <p:pic>
                      <p:nvPicPr>
                        <p:cNvPr id="22575" name="Object 4">
                          <a:extLst>
                            <a:ext uri="{FF2B5EF4-FFF2-40B4-BE49-F238E27FC236}">
                              <a16:creationId xmlns:a16="http://schemas.microsoft.com/office/drawing/2014/main" id="{5AF1AEEC-D505-BE0E-478F-4A290473E5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5" y="462"/>
                          <a:ext cx="95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709" name="Text Box 5">
            <a:extLst>
              <a:ext uri="{FF2B5EF4-FFF2-40B4-BE49-F238E27FC236}">
                <a16:creationId xmlns:a16="http://schemas.microsoft.com/office/drawing/2014/main" id="{5A55C510-6CB1-FC03-C58F-682B9F500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6477000" cy="49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None/>
            </a:pPr>
            <a:r>
              <a:rPr kumimoji="1"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求 </a:t>
            </a:r>
            <a:r>
              <a:rPr kumimoji="1" lang="zh-CN" altLang="en-US" dirty="0">
                <a:solidFill>
                  <a:srgbClr val="00FFFF"/>
                </a:solidFill>
                <a:latin typeface="Times New Roman" panose="02020603050405020304" pitchFamily="18" charset="0"/>
              </a:rPr>
              <a:t>杆下摆到角 </a:t>
            </a:r>
            <a:r>
              <a:rPr kumimoji="1" lang="zh-CN" altLang="en-US" dirty="0">
                <a:solidFill>
                  <a:srgbClr val="FFFF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dirty="0">
                <a:solidFill>
                  <a:srgbClr val="00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dirty="0">
                <a:solidFill>
                  <a:srgbClr val="00FFFF"/>
                </a:solidFill>
                <a:latin typeface="Times New Roman" panose="02020603050405020304" pitchFamily="18" charset="0"/>
              </a:rPr>
              <a:t>时，角速度和轴对杆的作用力</a:t>
            </a:r>
            <a:endParaRPr kumimoji="1"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710" name="Text Box 6">
            <a:extLst>
              <a:ext uri="{FF2B5EF4-FFF2-40B4-BE49-F238E27FC236}">
                <a16:creationId xmlns:a16="http://schemas.microsoft.com/office/drawing/2014/main" id="{2876AF8D-9D58-7B77-CB26-0128DB99A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7104830" cy="49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None/>
            </a:pPr>
            <a:r>
              <a:rPr kumimoji="1"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解 </a:t>
            </a:r>
            <a:r>
              <a:rPr kumimoji="1" lang="zh-CN" altLang="en-US" dirty="0">
                <a:solidFill>
                  <a:srgbClr val="00FFFF"/>
                </a:solidFill>
                <a:latin typeface="Times New Roman" panose="02020603050405020304" pitchFamily="18" charset="0"/>
              </a:rPr>
              <a:t>在（</a:t>
            </a:r>
            <a:r>
              <a:rPr kumimoji="1"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杆</a:t>
            </a:r>
            <a:r>
              <a:rPr kumimoji="1"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+</a:t>
            </a:r>
            <a:r>
              <a:rPr kumimoji="1"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地球</a:t>
            </a:r>
            <a:r>
              <a:rPr kumimoji="1" lang="zh-CN" altLang="en-US" dirty="0">
                <a:solidFill>
                  <a:srgbClr val="00FFFF"/>
                </a:solidFill>
                <a:latin typeface="Times New Roman" panose="02020603050405020304" pitchFamily="18" charset="0"/>
              </a:rPr>
              <a:t>）系统中，只有重力作功，</a:t>
            </a:r>
            <a:r>
              <a:rPr kumimoji="1"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E</a:t>
            </a:r>
            <a:r>
              <a:rPr kumimoji="1" lang="zh-CN" altLang="en-US" dirty="0">
                <a:solidFill>
                  <a:srgbClr val="00FFFF"/>
                </a:solidFill>
                <a:latin typeface="Times New Roman" panose="02020603050405020304" pitchFamily="18" charset="0"/>
              </a:rPr>
              <a:t>守恒。</a:t>
            </a:r>
            <a:endParaRPr kumimoji="1"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1" name="Text Box 7">
            <a:extLst>
              <a:ext uri="{FF2B5EF4-FFF2-40B4-BE49-F238E27FC236}">
                <a16:creationId xmlns:a16="http://schemas.microsoft.com/office/drawing/2014/main" id="{9F625D2B-01BF-C2BD-005F-F437332F3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133600"/>
            <a:ext cx="1184940" cy="49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kumimoji="1" lang="zh-CN" altLang="en-US">
                <a:latin typeface="Times New Roman" panose="02020603050405020304" pitchFamily="18" charset="0"/>
              </a:rPr>
              <a:t>初态 </a:t>
            </a:r>
          </a:p>
        </p:txBody>
      </p:sp>
      <p:graphicFrame>
        <p:nvGraphicFramePr>
          <p:cNvPr id="72712" name="Object 8">
            <a:extLst>
              <a:ext uri="{FF2B5EF4-FFF2-40B4-BE49-F238E27FC236}">
                <a16:creationId xmlns:a16="http://schemas.microsoft.com/office/drawing/2014/main" id="{DEBEF0C5-4380-615C-4117-5AC538175F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429495"/>
              </p:ext>
            </p:extLst>
          </p:nvPr>
        </p:nvGraphicFramePr>
        <p:xfrm>
          <a:off x="1503363" y="2133600"/>
          <a:ext cx="10937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03107" imgH="198009" progId="Equation.3">
                  <p:embed/>
                </p:oleObj>
              </mc:Choice>
              <mc:Fallback>
                <p:oleObj name="公式" r:id="rId4" imgW="503107" imgH="198009" progId="Equation.3">
                  <p:embed/>
                  <p:pic>
                    <p:nvPicPr>
                      <p:cNvPr id="72712" name="Object 8">
                        <a:extLst>
                          <a:ext uri="{FF2B5EF4-FFF2-40B4-BE49-F238E27FC236}">
                            <a16:creationId xmlns:a16="http://schemas.microsoft.com/office/drawing/2014/main" id="{DEBEF0C5-4380-615C-4117-5AC538175F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363" y="2133600"/>
                        <a:ext cx="109378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3" name="Object 9">
            <a:extLst>
              <a:ext uri="{FF2B5EF4-FFF2-40B4-BE49-F238E27FC236}">
                <a16:creationId xmlns:a16="http://schemas.microsoft.com/office/drawing/2014/main" id="{25B14E31-53C6-CBEC-4FB5-7FD45D8833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269505"/>
              </p:ext>
            </p:extLst>
          </p:nvPr>
        </p:nvGraphicFramePr>
        <p:xfrm>
          <a:off x="3581400" y="2133600"/>
          <a:ext cx="11160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10571" imgH="198009" progId="Equation.3">
                  <p:embed/>
                </p:oleObj>
              </mc:Choice>
              <mc:Fallback>
                <p:oleObj name="公式" r:id="rId6" imgW="510571" imgH="198009" progId="Equation.3">
                  <p:embed/>
                  <p:pic>
                    <p:nvPicPr>
                      <p:cNvPr id="72713" name="Object 9">
                        <a:extLst>
                          <a:ext uri="{FF2B5EF4-FFF2-40B4-BE49-F238E27FC236}">
                            <a16:creationId xmlns:a16="http://schemas.microsoft.com/office/drawing/2014/main" id="{25B14E31-53C6-CBEC-4FB5-7FD45D8833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133600"/>
                        <a:ext cx="111601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4" name="Text Box 10">
            <a:extLst>
              <a:ext uri="{FF2B5EF4-FFF2-40B4-BE49-F238E27FC236}">
                <a16:creationId xmlns:a16="http://schemas.microsoft.com/office/drawing/2014/main" id="{FC6C8630-8D0F-45DE-8C2A-B8C61003A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743200"/>
            <a:ext cx="1107996" cy="49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kumimoji="1" lang="zh-CN" altLang="en-US">
                <a:latin typeface="Times New Roman" panose="02020603050405020304" pitchFamily="18" charset="0"/>
              </a:rPr>
              <a:t>末态</a:t>
            </a:r>
          </a:p>
        </p:txBody>
      </p:sp>
      <p:graphicFrame>
        <p:nvGraphicFramePr>
          <p:cNvPr id="72715" name="Object 11">
            <a:extLst>
              <a:ext uri="{FF2B5EF4-FFF2-40B4-BE49-F238E27FC236}">
                <a16:creationId xmlns:a16="http://schemas.microsoft.com/office/drawing/2014/main" id="{0CCDF6BE-5711-5893-708F-583BFC7EB7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432160"/>
              </p:ext>
            </p:extLst>
          </p:nvPr>
        </p:nvGraphicFramePr>
        <p:xfrm>
          <a:off x="1524000" y="2589213"/>
          <a:ext cx="1730375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45004" imgH="373574" progId="Equation.3">
                  <p:embed/>
                </p:oleObj>
              </mc:Choice>
              <mc:Fallback>
                <p:oleObj name="公式" r:id="rId8" imgW="945004" imgH="373574" progId="Equation.3">
                  <p:embed/>
                  <p:pic>
                    <p:nvPicPr>
                      <p:cNvPr id="72715" name="Object 11">
                        <a:extLst>
                          <a:ext uri="{FF2B5EF4-FFF2-40B4-BE49-F238E27FC236}">
                            <a16:creationId xmlns:a16="http://schemas.microsoft.com/office/drawing/2014/main" id="{0CCDF6BE-5711-5893-708F-583BFC7EB7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589213"/>
                        <a:ext cx="1730375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6" name="Object 12">
            <a:extLst>
              <a:ext uri="{FF2B5EF4-FFF2-40B4-BE49-F238E27FC236}">
                <a16:creationId xmlns:a16="http://schemas.microsoft.com/office/drawing/2014/main" id="{82F33492-4412-672E-1D07-A05681AECA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398915"/>
              </p:ext>
            </p:extLst>
          </p:nvPr>
        </p:nvGraphicFramePr>
        <p:xfrm>
          <a:off x="3352800" y="2590800"/>
          <a:ext cx="25844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49556" imgH="373574" progId="Equation.3">
                  <p:embed/>
                </p:oleObj>
              </mc:Choice>
              <mc:Fallback>
                <p:oleObj name="公式" r:id="rId10" imgW="1249556" imgH="373574" progId="Equation.3">
                  <p:embed/>
                  <p:pic>
                    <p:nvPicPr>
                      <p:cNvPr id="72716" name="Object 12">
                        <a:extLst>
                          <a:ext uri="{FF2B5EF4-FFF2-40B4-BE49-F238E27FC236}">
                            <a16:creationId xmlns:a16="http://schemas.microsoft.com/office/drawing/2014/main" id="{82F33492-4412-672E-1D07-A05681AECA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590800"/>
                        <a:ext cx="258445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7" name="Object 13">
            <a:extLst>
              <a:ext uri="{FF2B5EF4-FFF2-40B4-BE49-F238E27FC236}">
                <a16:creationId xmlns:a16="http://schemas.microsoft.com/office/drawing/2014/main" id="{28A1C55F-F0F9-9A86-1642-B1886A87F7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96530"/>
              </p:ext>
            </p:extLst>
          </p:nvPr>
        </p:nvGraphicFramePr>
        <p:xfrm>
          <a:off x="1524000" y="3276600"/>
          <a:ext cx="3225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69533" imgH="373574" progId="Equation.3">
                  <p:embed/>
                </p:oleObj>
              </mc:Choice>
              <mc:Fallback>
                <p:oleObj name="公式" r:id="rId12" imgW="1569533" imgH="373574" progId="Equation.3">
                  <p:embed/>
                  <p:pic>
                    <p:nvPicPr>
                      <p:cNvPr id="72717" name="Object 13">
                        <a:extLst>
                          <a:ext uri="{FF2B5EF4-FFF2-40B4-BE49-F238E27FC236}">
                            <a16:creationId xmlns:a16="http://schemas.microsoft.com/office/drawing/2014/main" id="{28A1C55F-F0F9-9A86-1642-B1886A87F7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276600"/>
                        <a:ext cx="3225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8" name="Object 14">
            <a:extLst>
              <a:ext uri="{FF2B5EF4-FFF2-40B4-BE49-F238E27FC236}">
                <a16:creationId xmlns:a16="http://schemas.microsoft.com/office/drawing/2014/main" id="{A7DF3F5C-DB2F-7881-4A94-1E2BA390D1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812397"/>
              </p:ext>
            </p:extLst>
          </p:nvPr>
        </p:nvGraphicFramePr>
        <p:xfrm>
          <a:off x="4876800" y="3429000"/>
          <a:ext cx="19319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982824" imgH="220952" progId="Equation.3">
                  <p:embed/>
                </p:oleObj>
              </mc:Choice>
              <mc:Fallback>
                <p:oleObj name="公式" r:id="rId14" imgW="982824" imgH="220952" progId="Equation.3">
                  <p:embed/>
                  <p:pic>
                    <p:nvPicPr>
                      <p:cNvPr id="72718" name="Object 14">
                        <a:extLst>
                          <a:ext uri="{FF2B5EF4-FFF2-40B4-BE49-F238E27FC236}">
                            <a16:creationId xmlns:a16="http://schemas.microsoft.com/office/drawing/2014/main" id="{A7DF3F5C-DB2F-7881-4A94-1E2BA390D1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429000"/>
                        <a:ext cx="19319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9" name="Object 15">
            <a:extLst>
              <a:ext uri="{FF2B5EF4-FFF2-40B4-BE49-F238E27FC236}">
                <a16:creationId xmlns:a16="http://schemas.microsoft.com/office/drawing/2014/main" id="{55FC19E1-5FF1-9B6D-44CA-1198FB69FF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690250"/>
              </p:ext>
            </p:extLst>
          </p:nvPr>
        </p:nvGraphicFramePr>
        <p:xfrm>
          <a:off x="1524000" y="4038600"/>
          <a:ext cx="414972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026858" imgH="388537" progId="Equation.3">
                  <p:embed/>
                </p:oleObj>
              </mc:Choice>
              <mc:Fallback>
                <p:oleObj name="公式" r:id="rId16" imgW="2026858" imgH="388537" progId="Equation.3">
                  <p:embed/>
                  <p:pic>
                    <p:nvPicPr>
                      <p:cNvPr id="72719" name="Object 15">
                        <a:extLst>
                          <a:ext uri="{FF2B5EF4-FFF2-40B4-BE49-F238E27FC236}">
                            <a16:creationId xmlns:a16="http://schemas.microsoft.com/office/drawing/2014/main" id="{55FC19E1-5FF1-9B6D-44CA-1198FB69FF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038600"/>
                        <a:ext cx="414972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0" name="Text Box 16">
            <a:extLst>
              <a:ext uri="{FF2B5EF4-FFF2-40B4-BE49-F238E27FC236}">
                <a16:creationId xmlns:a16="http://schemas.microsoft.com/office/drawing/2014/main" id="{614C44DF-9721-3C4C-346A-4753C45CA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492443" cy="49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None/>
            </a:pPr>
            <a:r>
              <a:rPr kumimoji="1"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72721" name="Text Box 17">
            <a:extLst>
              <a:ext uri="{FF2B5EF4-FFF2-40B4-BE49-F238E27FC236}">
                <a16:creationId xmlns:a16="http://schemas.microsoft.com/office/drawing/2014/main" id="{67A9C146-C85D-7AB6-72B4-4A5D4D89C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133600"/>
            <a:ext cx="800219" cy="49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令</a:t>
            </a:r>
            <a:endParaRPr kumimoji="1" lang="zh-CN" altLang="en-US">
              <a:latin typeface="Times New Roman" panose="02020603050405020304" pitchFamily="18" charset="0"/>
            </a:endParaRPr>
          </a:p>
        </p:txBody>
      </p:sp>
      <p:sp>
        <p:nvSpPr>
          <p:cNvPr id="72722" name="Text Box 18">
            <a:extLst>
              <a:ext uri="{FF2B5EF4-FFF2-40B4-BE49-F238E27FC236}">
                <a16:creationId xmlns:a16="http://schemas.microsoft.com/office/drawing/2014/main" id="{4C803470-34B1-7464-0772-8C889BFBB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29000"/>
            <a:ext cx="800219" cy="49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kumimoji="1" lang="zh-CN" altLang="en-US">
                <a:latin typeface="Times New Roman" panose="02020603050405020304" pitchFamily="18" charset="0"/>
              </a:rPr>
              <a:t>则</a:t>
            </a:r>
          </a:p>
        </p:txBody>
      </p:sp>
      <p:sp>
        <p:nvSpPr>
          <p:cNvPr id="72723" name="AutoShape 19">
            <a:extLst>
              <a:ext uri="{FF2B5EF4-FFF2-40B4-BE49-F238E27FC236}">
                <a16:creationId xmlns:a16="http://schemas.microsoft.com/office/drawing/2014/main" id="{255506FA-C914-B3BB-B68F-C106F55E7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14800"/>
            <a:ext cx="1676400" cy="609600"/>
          </a:xfrm>
          <a:prstGeom prst="wedgeRectCallout">
            <a:avLst>
              <a:gd name="adj1" fmla="val -120644"/>
              <a:gd name="adj2" fmla="val -96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None/>
            </a:pPr>
            <a:r>
              <a:rPr kumimoji="1"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平行轴定理</a:t>
            </a:r>
            <a:endParaRPr kumimoji="1"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72724" name="Group 20">
            <a:extLst>
              <a:ext uri="{FF2B5EF4-FFF2-40B4-BE49-F238E27FC236}">
                <a16:creationId xmlns:a16="http://schemas.microsoft.com/office/drawing/2014/main" id="{D6ECDA0F-EF0D-FA13-EC7A-2A9C8BE0542D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1295400"/>
            <a:ext cx="2832100" cy="2628900"/>
            <a:chOff x="3744" y="816"/>
            <a:chExt cx="1784" cy="1656"/>
          </a:xfrm>
        </p:grpSpPr>
        <p:sp>
          <p:nvSpPr>
            <p:cNvPr id="22553" name="Rectangle 21">
              <a:extLst>
                <a:ext uri="{FF2B5EF4-FFF2-40B4-BE49-F238E27FC236}">
                  <a16:creationId xmlns:a16="http://schemas.microsoft.com/office/drawing/2014/main" id="{A6B99FA5-5A05-11C6-65FD-EF40EB66E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1536"/>
              <a:ext cx="1384" cy="48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  <p:sp>
          <p:nvSpPr>
            <p:cNvPr id="22554" name="Rectangle 22">
              <a:extLst>
                <a:ext uri="{FF2B5EF4-FFF2-40B4-BE49-F238E27FC236}">
                  <a16:creationId xmlns:a16="http://schemas.microsoft.com/office/drawing/2014/main" id="{C807C10A-3074-10CD-A094-915FC04A7C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69817">
              <a:off x="3816" y="1780"/>
              <a:ext cx="1381" cy="5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  <p:grpSp>
          <p:nvGrpSpPr>
            <p:cNvPr id="22555" name="Group 23">
              <a:extLst>
                <a:ext uri="{FF2B5EF4-FFF2-40B4-BE49-F238E27FC236}">
                  <a16:creationId xmlns:a16="http://schemas.microsoft.com/office/drawing/2014/main" id="{51E31BEA-D2D9-3A9C-D7F5-CE312ED3D0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4" y="2112"/>
              <a:ext cx="464" cy="360"/>
              <a:chOff x="5064" y="2112"/>
              <a:chExt cx="464" cy="360"/>
            </a:xfrm>
          </p:grpSpPr>
          <p:sp>
            <p:nvSpPr>
              <p:cNvPr id="22572" name="Freeform 24">
                <a:extLst>
                  <a:ext uri="{FF2B5EF4-FFF2-40B4-BE49-F238E27FC236}">
                    <a16:creationId xmlns:a16="http://schemas.microsoft.com/office/drawing/2014/main" id="{DFB0E42A-CD9F-8D7B-4357-0FEC57C7D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4" y="2123"/>
                <a:ext cx="112" cy="224"/>
              </a:xfrm>
              <a:custGeom>
                <a:avLst/>
                <a:gdLst>
                  <a:gd name="T0" fmla="*/ 1 w 280"/>
                  <a:gd name="T1" fmla="*/ 0 h 560"/>
                  <a:gd name="T2" fmla="*/ 1 w 280"/>
                  <a:gd name="T3" fmla="*/ 1 h 560"/>
                  <a:gd name="T4" fmla="*/ 0 w 280"/>
                  <a:gd name="T5" fmla="*/ 2 h 5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0" h="560">
                    <a:moveTo>
                      <a:pt x="280" y="0"/>
                    </a:moveTo>
                    <a:cubicBezTo>
                      <a:pt x="273" y="93"/>
                      <a:pt x="267" y="187"/>
                      <a:pt x="220" y="280"/>
                    </a:cubicBezTo>
                    <a:cubicBezTo>
                      <a:pt x="173" y="373"/>
                      <a:pt x="86" y="466"/>
                      <a:pt x="0" y="560"/>
                    </a:cubicBezTo>
                  </a:path>
                </a:pathLst>
              </a:custGeom>
              <a:noFill/>
              <a:ln w="28575" cmpd="sng">
                <a:solidFill>
                  <a:srgbClr val="00FF00"/>
                </a:solidFill>
                <a:round/>
                <a:headEnd type="none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22573" name="Text Box 25">
                <a:extLst>
                  <a:ext uri="{FF2B5EF4-FFF2-40B4-BE49-F238E27FC236}">
                    <a16:creationId xmlns:a16="http://schemas.microsoft.com/office/drawing/2014/main" id="{9C7A5CB8-DEFA-B141-8898-ACD17173EF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" y="2112"/>
                <a:ext cx="344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l"/>
                <a:r>
                  <a:rPr kumimoji="1" lang="en-US" altLang="zh-CN" i="1">
                    <a:solidFill>
                      <a:srgbClr val="00FF00"/>
                    </a:solidFill>
                    <a:latin typeface="宋体" panose="02010600030101010101" pitchFamily="2" charset="-122"/>
                  </a:rPr>
                  <a:t>ω</a:t>
                </a:r>
                <a:endParaRPr kumimoji="1" lang="en-US" altLang="zh-CN" i="1">
                  <a:solidFill>
                    <a:srgbClr val="00FF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2556" name="Text Box 26">
              <a:extLst>
                <a:ext uri="{FF2B5EF4-FFF2-40B4-BE49-F238E27FC236}">
                  <a16:creationId xmlns:a16="http://schemas.microsoft.com/office/drawing/2014/main" id="{AC471A11-1CCB-4A5C-A976-6C5182D613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536"/>
              <a:ext cx="24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r>
                <a:rPr kumimoji="1" lang="en-US" altLang="zh-CN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57" name="Text Box 27">
              <a:extLst>
                <a:ext uri="{FF2B5EF4-FFF2-40B4-BE49-F238E27FC236}">
                  <a16:creationId xmlns:a16="http://schemas.microsoft.com/office/drawing/2014/main" id="{226454FC-D320-A50D-D2C1-B559B152F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1536"/>
              <a:ext cx="296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r>
                <a:rPr kumimoji="1" lang="en-US" altLang="zh-CN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i="1">
                <a:solidFill>
                  <a:srgbClr val="00F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58" name="Text Box 28">
              <a:extLst>
                <a:ext uri="{FF2B5EF4-FFF2-40B4-BE49-F238E27FC236}">
                  <a16:creationId xmlns:a16="http://schemas.microsoft.com/office/drawing/2014/main" id="{C30C1D05-EBCA-635B-10DE-C3A646EDE8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248"/>
              <a:ext cx="528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r>
                <a:rPr kumimoji="1" lang="en-US" altLang="zh-CN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l </a:t>
              </a:r>
              <a:r>
                <a:rPr kumimoji="1" lang="en-US" altLang="zh-CN">
                  <a:solidFill>
                    <a:srgbClr val="FFFF00"/>
                  </a:solidFill>
                  <a:latin typeface="Times New Roman" panose="02020603050405020304" pitchFamily="18" charset="0"/>
                </a:rPr>
                <a:t>, </a:t>
              </a:r>
              <a:r>
                <a:rPr kumimoji="1" lang="en-US" altLang="zh-CN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m</a:t>
              </a:r>
              <a:endParaRPr kumimoji="1"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2559" name="AutoShape 29">
              <a:extLst>
                <a:ext uri="{FF2B5EF4-FFF2-40B4-BE49-F238E27FC236}">
                  <a16:creationId xmlns:a16="http://schemas.microsoft.com/office/drawing/2014/main" id="{F883F544-3D1F-A730-7A4C-0E6449FCA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816"/>
              <a:ext cx="288" cy="336"/>
            </a:xfrm>
            <a:prstGeom prst="wedgeRectCallout">
              <a:avLst>
                <a:gd name="adj1" fmla="val -284722"/>
                <a:gd name="adj2" fmla="val 168750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>
                <a:buNone/>
              </a:pPr>
              <a:r>
                <a:rPr kumimoji="1" lang="zh-CN" altLang="en-US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轴</a:t>
              </a:r>
              <a:endParaRPr kumimoji="1"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2560" name="Object 30">
              <a:extLst>
                <a:ext uri="{FF2B5EF4-FFF2-40B4-BE49-F238E27FC236}">
                  <a16:creationId xmlns:a16="http://schemas.microsoft.com/office/drawing/2014/main" id="{6413502A-8279-C7A1-3916-FC3ED5FA64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1296"/>
            <a:ext cx="161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83602" imgH="106735" progId="Equation.3">
                    <p:embed/>
                  </p:oleObj>
                </mc:Choice>
                <mc:Fallback>
                  <p:oleObj name="公式" r:id="rId18" imgW="83602" imgH="106735" progId="Equation.3">
                    <p:embed/>
                    <p:pic>
                      <p:nvPicPr>
                        <p:cNvPr id="22560" name="Object 30">
                          <a:extLst>
                            <a:ext uri="{FF2B5EF4-FFF2-40B4-BE49-F238E27FC236}">
                              <a16:creationId xmlns:a16="http://schemas.microsoft.com/office/drawing/2014/main" id="{6413502A-8279-C7A1-3916-FC3ED5FA64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296"/>
                          <a:ext cx="161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61" name="Group 31">
              <a:extLst>
                <a:ext uri="{FF2B5EF4-FFF2-40B4-BE49-F238E27FC236}">
                  <a16:creationId xmlns:a16="http://schemas.microsoft.com/office/drawing/2014/main" id="{8A28640A-1FE7-9BB7-30D9-A79DB0221B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1488"/>
              <a:ext cx="576" cy="576"/>
              <a:chOff x="3888" y="1440"/>
              <a:chExt cx="576" cy="576"/>
            </a:xfrm>
          </p:grpSpPr>
          <p:sp>
            <p:nvSpPr>
              <p:cNvPr id="22565" name="Text Box 32">
                <a:extLst>
                  <a:ext uri="{FF2B5EF4-FFF2-40B4-BE49-F238E27FC236}">
                    <a16:creationId xmlns:a16="http://schemas.microsoft.com/office/drawing/2014/main" id="{ADC418A7-A7C7-5E73-BA3C-47346E3413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2" y="1440"/>
                <a:ext cx="328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l"/>
                <a:r>
                  <a:rPr kumimoji="1" lang="en-US" altLang="zh-CN" sz="160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·</a:t>
                </a:r>
              </a:p>
            </p:txBody>
          </p:sp>
          <p:sp>
            <p:nvSpPr>
              <p:cNvPr id="22566" name="Text Box 33">
                <a:extLst>
                  <a:ext uri="{FF2B5EF4-FFF2-40B4-BE49-F238E27FC236}">
                    <a16:creationId xmlns:a16="http://schemas.microsoft.com/office/drawing/2014/main" id="{ABB9120B-0FA2-0803-D5F4-E26CF89567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" y="172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l">
                  <a:buNone/>
                </a:pPr>
                <a:r>
                  <a:rPr kumimoji="1" lang="en-US" altLang="zh-CN" i="1" dirty="0">
                    <a:solidFill>
                      <a:srgbClr val="00FFFF"/>
                    </a:solidFill>
                    <a:latin typeface="Times New Roman" panose="02020603050405020304" pitchFamily="18" charset="0"/>
                  </a:rPr>
                  <a:t>l </a:t>
                </a:r>
                <a:r>
                  <a:rPr kumimoji="1" lang="en-US" altLang="zh-CN" dirty="0">
                    <a:solidFill>
                      <a:srgbClr val="00FFFF"/>
                    </a:solidFill>
                    <a:latin typeface="Times New Roman" panose="02020603050405020304" pitchFamily="18" charset="0"/>
                  </a:rPr>
                  <a:t>/4</a:t>
                </a:r>
                <a:endParaRPr kumimoji="1"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67" name="Line 34">
                <a:extLst>
                  <a:ext uri="{FF2B5EF4-FFF2-40B4-BE49-F238E27FC236}">
                    <a16:creationId xmlns:a16="http://schemas.microsoft.com/office/drawing/2014/main" id="{A7C1E867-ACA1-D8B4-F956-63F070F064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1097005" flipH="1">
                <a:off x="4224" y="1776"/>
                <a:ext cx="192" cy="192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/>
                <a:endParaRPr lang="zh-CN" altLang="en-US"/>
              </a:p>
            </p:txBody>
          </p:sp>
          <p:sp>
            <p:nvSpPr>
              <p:cNvPr id="22568" name="Line 35">
                <a:extLst>
                  <a:ext uri="{FF2B5EF4-FFF2-40B4-BE49-F238E27FC236}">
                    <a16:creationId xmlns:a16="http://schemas.microsoft.com/office/drawing/2014/main" id="{B20253ED-E85B-CB9F-BC5A-9FDAD1D414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1097005" flipH="1">
                <a:off x="3936" y="1584"/>
                <a:ext cx="192" cy="192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/>
                <a:endParaRPr lang="zh-CN" altLang="en-US"/>
              </a:p>
            </p:txBody>
          </p:sp>
          <p:sp>
            <p:nvSpPr>
              <p:cNvPr id="22569" name="Line 36">
                <a:extLst>
                  <a:ext uri="{FF2B5EF4-FFF2-40B4-BE49-F238E27FC236}">
                    <a16:creationId xmlns:a16="http://schemas.microsoft.com/office/drawing/2014/main" id="{069B3450-8B22-F87B-5CAE-A451AC018F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1680"/>
                <a:ext cx="288" cy="192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l"/>
                <a:endParaRPr lang="zh-CN" altLang="en-US"/>
              </a:p>
            </p:txBody>
          </p:sp>
          <p:sp>
            <p:nvSpPr>
              <p:cNvPr id="22570" name="Oval 37">
                <a:extLst>
                  <a:ext uri="{FF2B5EF4-FFF2-40B4-BE49-F238E27FC236}">
                    <a16:creationId xmlns:a16="http://schemas.microsoft.com/office/drawing/2014/main" id="{48C7CAD4-87BA-CE8D-E4EA-6CAF43B7F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488"/>
                <a:ext cx="96" cy="96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l"/>
                <a:endParaRPr lang="zh-CN" altLang="en-US"/>
              </a:p>
            </p:txBody>
          </p:sp>
          <p:sp>
            <p:nvSpPr>
              <p:cNvPr id="22571" name="Oval 38">
                <a:extLst>
                  <a:ext uri="{FF2B5EF4-FFF2-40B4-BE49-F238E27FC236}">
                    <a16:creationId xmlns:a16="http://schemas.microsoft.com/office/drawing/2014/main" id="{A9CD5C33-9DDD-7FDD-335E-2CB14ACD4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1680"/>
                <a:ext cx="96" cy="96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l"/>
                <a:endParaRPr lang="zh-CN" altLang="en-US"/>
              </a:p>
            </p:txBody>
          </p:sp>
        </p:grpSp>
        <p:grpSp>
          <p:nvGrpSpPr>
            <p:cNvPr id="22562" name="Group 39">
              <a:extLst>
                <a:ext uri="{FF2B5EF4-FFF2-40B4-BE49-F238E27FC236}">
                  <a16:creationId xmlns:a16="http://schemas.microsoft.com/office/drawing/2014/main" id="{C0CE3AA7-0CAA-3DD7-8B04-3DF9311E76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1536"/>
              <a:ext cx="346" cy="312"/>
              <a:chOff x="4416" y="1536"/>
              <a:chExt cx="346" cy="312"/>
            </a:xfrm>
          </p:grpSpPr>
          <p:sp>
            <p:nvSpPr>
              <p:cNvPr id="22563" name="Freeform 40">
                <a:extLst>
                  <a:ext uri="{FF2B5EF4-FFF2-40B4-BE49-F238E27FC236}">
                    <a16:creationId xmlns:a16="http://schemas.microsoft.com/office/drawing/2014/main" id="{F97DCA0F-4BB5-F2A5-C8E9-26D160EA5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1584"/>
                <a:ext cx="52" cy="128"/>
              </a:xfrm>
              <a:custGeom>
                <a:avLst/>
                <a:gdLst>
                  <a:gd name="T0" fmla="*/ 2 w 90"/>
                  <a:gd name="T1" fmla="*/ 0 h 260"/>
                  <a:gd name="T2" fmla="*/ 3 w 90"/>
                  <a:gd name="T3" fmla="*/ 1 h 260"/>
                  <a:gd name="T4" fmla="*/ 0 w 90"/>
                  <a:gd name="T5" fmla="*/ 3 h 2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0" h="260">
                    <a:moveTo>
                      <a:pt x="60" y="0"/>
                    </a:moveTo>
                    <a:cubicBezTo>
                      <a:pt x="75" y="38"/>
                      <a:pt x="90" y="77"/>
                      <a:pt x="80" y="120"/>
                    </a:cubicBezTo>
                    <a:cubicBezTo>
                      <a:pt x="70" y="163"/>
                      <a:pt x="35" y="211"/>
                      <a:pt x="0" y="260"/>
                    </a:cubicBezTo>
                  </a:path>
                </a:pathLst>
              </a:custGeom>
              <a:noFill/>
              <a:ln w="28575" cmpd="sng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22564" name="Text Box 41">
                <a:extLst>
                  <a:ext uri="{FF2B5EF4-FFF2-40B4-BE49-F238E27FC236}">
                    <a16:creationId xmlns:a16="http://schemas.microsoft.com/office/drawing/2014/main" id="{34E368DA-0499-65E7-60F9-3942EFB78E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4" y="1536"/>
                <a:ext cx="298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l"/>
                <a:r>
                  <a:rPr kumimoji="1" lang="en-US" altLang="zh-CN" i="1">
                    <a:solidFill>
                      <a:srgbClr val="00FF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endParaRPr kumimoji="1" lang="en-US" altLang="zh-CN">
                  <a:solidFill>
                    <a:srgbClr val="00FF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2746" name="Text Box 42">
            <a:extLst>
              <a:ext uri="{FF2B5EF4-FFF2-40B4-BE49-F238E27FC236}">
                <a16:creationId xmlns:a16="http://schemas.microsoft.com/office/drawing/2014/main" id="{442A4709-5EA0-4659-8A5C-35256DC20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267200"/>
            <a:ext cx="457200" cy="9409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None/>
            </a:pPr>
            <a:r>
              <a:rPr kumimoji="1"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联解</a:t>
            </a:r>
            <a:endParaRPr kumimoji="1"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2747" name="Object 43">
            <a:extLst>
              <a:ext uri="{FF2B5EF4-FFF2-40B4-BE49-F238E27FC236}">
                <a16:creationId xmlns:a16="http://schemas.microsoft.com/office/drawing/2014/main" id="{B3A94CDF-74FC-F12A-DA68-13D8842AD9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844791"/>
              </p:ext>
            </p:extLst>
          </p:nvPr>
        </p:nvGraphicFramePr>
        <p:xfrm>
          <a:off x="1524000" y="4876800"/>
          <a:ext cx="2212975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058962" imgH="426942" progId="Equation.3">
                  <p:embed/>
                </p:oleObj>
              </mc:Choice>
              <mc:Fallback>
                <p:oleObj name="公式" r:id="rId20" imgW="1058962" imgH="426942" progId="Equation.3">
                  <p:embed/>
                  <p:pic>
                    <p:nvPicPr>
                      <p:cNvPr id="72747" name="Object 43">
                        <a:extLst>
                          <a:ext uri="{FF2B5EF4-FFF2-40B4-BE49-F238E27FC236}">
                            <a16:creationId xmlns:a16="http://schemas.microsoft.com/office/drawing/2014/main" id="{B3A94CDF-74FC-F12A-DA68-13D8842AD9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2212975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48" name="AutoShape 44">
            <a:extLst>
              <a:ext uri="{FF2B5EF4-FFF2-40B4-BE49-F238E27FC236}">
                <a16:creationId xmlns:a16="http://schemas.microsoft.com/office/drawing/2014/main" id="{0149CC97-FF3A-3852-8B4B-CF2BE38856FB}"/>
              </a:ext>
            </a:extLst>
          </p:cNvPr>
          <p:cNvSpPr>
            <a:spLocks/>
          </p:cNvSpPr>
          <p:nvPr/>
        </p:nvSpPr>
        <p:spPr bwMode="auto">
          <a:xfrm>
            <a:off x="1447800" y="3733800"/>
            <a:ext cx="76200" cy="685800"/>
          </a:xfrm>
          <a:prstGeom prst="leftBracket">
            <a:avLst>
              <a:gd name="adj" fmla="val 75000"/>
            </a:avLst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sp>
        <p:nvSpPr>
          <p:cNvPr id="72749" name="AutoShape 45">
            <a:extLst>
              <a:ext uri="{FF2B5EF4-FFF2-40B4-BE49-F238E27FC236}">
                <a16:creationId xmlns:a16="http://schemas.microsoft.com/office/drawing/2014/main" id="{FD4B5F27-47E8-7318-DA49-3D611AF48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14800"/>
            <a:ext cx="228600" cy="1219200"/>
          </a:xfrm>
          <a:prstGeom prst="curvedRightArrow">
            <a:avLst>
              <a:gd name="adj1" fmla="val 106519"/>
              <a:gd name="adj2" fmla="val 213185"/>
              <a:gd name="adj3" fmla="val 33333"/>
            </a:avLst>
          </a:prstGeom>
          <a:solidFill>
            <a:srgbClr val="FF6600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sp>
        <p:nvSpPr>
          <p:cNvPr id="72750" name="Text Box 46">
            <a:extLst>
              <a:ext uri="{FF2B5EF4-FFF2-40B4-BE49-F238E27FC236}">
                <a16:creationId xmlns:a16="http://schemas.microsoft.com/office/drawing/2014/main" id="{DAB929BC-D1D5-FCBF-0E9C-CB4F0AFDC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867400"/>
            <a:ext cx="3877985" cy="49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应用质心运动定理求轴力</a:t>
            </a:r>
            <a:endParaRPr kumimoji="1"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72751" name="Object 47">
            <a:extLst>
              <a:ext uri="{FF2B5EF4-FFF2-40B4-BE49-F238E27FC236}">
                <a16:creationId xmlns:a16="http://schemas.microsoft.com/office/drawing/2014/main" id="{E66B817B-B3FF-51DD-365D-6E96DFCC6F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511460"/>
              </p:ext>
            </p:extLst>
          </p:nvPr>
        </p:nvGraphicFramePr>
        <p:xfrm>
          <a:off x="4572000" y="5816600"/>
          <a:ext cx="21240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005716" imgH="205989" progId="Equation.3">
                  <p:embed/>
                </p:oleObj>
              </mc:Choice>
              <mc:Fallback>
                <p:oleObj name="公式" r:id="rId22" imgW="1005716" imgH="205989" progId="Equation.3">
                  <p:embed/>
                  <p:pic>
                    <p:nvPicPr>
                      <p:cNvPr id="72751" name="Object 47">
                        <a:extLst>
                          <a:ext uri="{FF2B5EF4-FFF2-40B4-BE49-F238E27FC236}">
                            <a16:creationId xmlns:a16="http://schemas.microsoft.com/office/drawing/2014/main" id="{E66B817B-B3FF-51DD-365D-6E96DFCC6F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816600"/>
                        <a:ext cx="21240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 autoUpdateAnimBg="0"/>
      <p:bldP spid="72710" grpId="0" autoUpdateAnimBg="0"/>
      <p:bldP spid="72711" grpId="0" autoUpdateAnimBg="0"/>
      <p:bldP spid="72714" grpId="0" autoUpdateAnimBg="0"/>
      <p:bldP spid="72720" grpId="0" autoUpdateAnimBg="0"/>
      <p:bldP spid="72721" grpId="0" autoUpdateAnimBg="0"/>
      <p:bldP spid="72722" grpId="0" autoUpdateAnimBg="0"/>
      <p:bldP spid="72723" grpId="0" animBg="1" autoUpdateAnimBg="0"/>
      <p:bldP spid="72746" grpId="0" animBg="1" autoUpdateAnimBg="0"/>
      <p:bldP spid="7275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Object 2">
            <a:extLst>
              <a:ext uri="{FF2B5EF4-FFF2-40B4-BE49-F238E27FC236}">
                <a16:creationId xmlns:a16="http://schemas.microsoft.com/office/drawing/2014/main" id="{0ED77C81-0283-B212-2F46-46FFC09B2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5877229"/>
              </p:ext>
            </p:extLst>
          </p:nvPr>
        </p:nvGraphicFramePr>
        <p:xfrm>
          <a:off x="1144588" y="588963"/>
          <a:ext cx="432117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02996" imgH="243895" progId="Equation.3">
                  <p:embed/>
                </p:oleObj>
              </mc:Choice>
              <mc:Fallback>
                <p:oleObj name="公式" r:id="rId2" imgW="2102996" imgH="243895" progId="Equation.3">
                  <p:embed/>
                  <p:pic>
                    <p:nvPicPr>
                      <p:cNvPr id="73730" name="Object 2">
                        <a:extLst>
                          <a:ext uri="{FF2B5EF4-FFF2-40B4-BE49-F238E27FC236}">
                            <a16:creationId xmlns:a16="http://schemas.microsoft.com/office/drawing/2014/main" id="{0ED77C81-0283-B212-2F46-46FFC09B2F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588963"/>
                        <a:ext cx="432117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1" name="Object 3">
            <a:extLst>
              <a:ext uri="{FF2B5EF4-FFF2-40B4-BE49-F238E27FC236}">
                <a16:creationId xmlns:a16="http://schemas.microsoft.com/office/drawing/2014/main" id="{E4BB404F-F1E2-3FF2-C6FD-89575CCC2D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650298"/>
              </p:ext>
            </p:extLst>
          </p:nvPr>
        </p:nvGraphicFramePr>
        <p:xfrm>
          <a:off x="1169988" y="1147763"/>
          <a:ext cx="42068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49749" imgH="205989" progId="Equation.3">
                  <p:embed/>
                </p:oleObj>
              </mc:Choice>
              <mc:Fallback>
                <p:oleObj name="公式" r:id="rId4" imgW="2049749" imgH="205989" progId="Equation.3">
                  <p:embed/>
                  <p:pic>
                    <p:nvPicPr>
                      <p:cNvPr id="73731" name="Object 3">
                        <a:extLst>
                          <a:ext uri="{FF2B5EF4-FFF2-40B4-BE49-F238E27FC236}">
                            <a16:creationId xmlns:a16="http://schemas.microsoft.com/office/drawing/2014/main" id="{E4BB404F-F1E2-3FF2-C6FD-89575CCC2D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988" y="1147763"/>
                        <a:ext cx="420687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32" name="Group 4">
            <a:extLst>
              <a:ext uri="{FF2B5EF4-FFF2-40B4-BE49-F238E27FC236}">
                <a16:creationId xmlns:a16="http://schemas.microsoft.com/office/drawing/2014/main" id="{B98FAFCA-A587-4B32-65E2-80D764C1C68F}"/>
              </a:ext>
            </a:extLst>
          </p:cNvPr>
          <p:cNvGrpSpPr>
            <a:grpSpLocks/>
          </p:cNvGrpSpPr>
          <p:nvPr/>
        </p:nvGrpSpPr>
        <p:grpSpPr bwMode="auto">
          <a:xfrm>
            <a:off x="1169988" y="1681163"/>
            <a:ext cx="3184525" cy="842962"/>
            <a:chOff x="960" y="864"/>
            <a:chExt cx="2006" cy="531"/>
          </a:xfrm>
        </p:grpSpPr>
        <p:graphicFrame>
          <p:nvGraphicFramePr>
            <p:cNvPr id="23633" name="Object 5">
              <a:extLst>
                <a:ext uri="{FF2B5EF4-FFF2-40B4-BE49-F238E27FC236}">
                  <a16:creationId xmlns:a16="http://schemas.microsoft.com/office/drawing/2014/main" id="{703C325C-87DE-48C0-DDB8-B566285EA7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864"/>
            <a:ext cx="945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701164" imgH="373574" progId="Equation.3">
                    <p:embed/>
                  </p:oleObj>
                </mc:Choice>
                <mc:Fallback>
                  <p:oleObj name="公式" r:id="rId6" imgW="701164" imgH="373574" progId="Equation.3">
                    <p:embed/>
                    <p:pic>
                      <p:nvPicPr>
                        <p:cNvPr id="23633" name="Object 5">
                          <a:extLst>
                            <a:ext uri="{FF2B5EF4-FFF2-40B4-BE49-F238E27FC236}">
                              <a16:creationId xmlns:a16="http://schemas.microsoft.com/office/drawing/2014/main" id="{703C325C-87DE-48C0-DDB8-B566285EA7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864"/>
                          <a:ext cx="945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34" name="Object 6">
              <a:extLst>
                <a:ext uri="{FF2B5EF4-FFF2-40B4-BE49-F238E27FC236}">
                  <a16:creationId xmlns:a16="http://schemas.microsoft.com/office/drawing/2014/main" id="{EAED54A3-9899-4512-B1F0-A4C64EDC48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6" y="864"/>
            <a:ext cx="950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701164" imgH="373574" progId="Equation.3">
                    <p:embed/>
                  </p:oleObj>
                </mc:Choice>
                <mc:Fallback>
                  <p:oleObj name="公式" r:id="rId8" imgW="701164" imgH="373574" progId="Equation.3">
                    <p:embed/>
                    <p:pic>
                      <p:nvPicPr>
                        <p:cNvPr id="23634" name="Object 6">
                          <a:extLst>
                            <a:ext uri="{FF2B5EF4-FFF2-40B4-BE49-F238E27FC236}">
                              <a16:creationId xmlns:a16="http://schemas.microsoft.com/office/drawing/2014/main" id="{EAED54A3-9899-4512-B1F0-A4C64EDC48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864"/>
                          <a:ext cx="950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735" name="AutoShape 7">
            <a:extLst>
              <a:ext uri="{FF2B5EF4-FFF2-40B4-BE49-F238E27FC236}">
                <a16:creationId xmlns:a16="http://schemas.microsoft.com/office/drawing/2014/main" id="{8730891A-4478-7206-038A-6DAD5EF66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88" y="1071563"/>
            <a:ext cx="457200" cy="1981200"/>
          </a:xfrm>
          <a:prstGeom prst="curvedRightArrow">
            <a:avLst>
              <a:gd name="adj1" fmla="val 86546"/>
              <a:gd name="adj2" fmla="val 173213"/>
              <a:gd name="adj3" fmla="val 0"/>
            </a:avLst>
          </a:prstGeom>
          <a:solidFill>
            <a:srgbClr val="FF6600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sp>
        <p:nvSpPr>
          <p:cNvPr id="73736" name="AutoShape 8">
            <a:extLst>
              <a:ext uri="{FF2B5EF4-FFF2-40B4-BE49-F238E27FC236}">
                <a16:creationId xmlns:a16="http://schemas.microsoft.com/office/drawing/2014/main" id="{41BC0B62-B1B1-FFF7-6161-BA3072012DA5}"/>
              </a:ext>
            </a:extLst>
          </p:cNvPr>
          <p:cNvSpPr>
            <a:spLocks/>
          </p:cNvSpPr>
          <p:nvPr/>
        </p:nvSpPr>
        <p:spPr bwMode="auto">
          <a:xfrm>
            <a:off x="1093788" y="842963"/>
            <a:ext cx="171450" cy="2032000"/>
          </a:xfrm>
          <a:prstGeom prst="leftBracket">
            <a:avLst>
              <a:gd name="adj" fmla="val 98765"/>
            </a:avLst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sp>
        <p:nvSpPr>
          <p:cNvPr id="73737" name="Rectangle 9">
            <a:extLst>
              <a:ext uri="{FF2B5EF4-FFF2-40B4-BE49-F238E27FC236}">
                <a16:creationId xmlns:a16="http://schemas.microsoft.com/office/drawing/2014/main" id="{E12DE771-0F5E-36A4-607D-9D3AE18C6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00163"/>
            <a:ext cx="457200" cy="9409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None/>
            </a:pPr>
            <a:r>
              <a:rPr kumimoji="1"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联解</a:t>
            </a:r>
          </a:p>
        </p:txBody>
      </p:sp>
      <p:graphicFrame>
        <p:nvGraphicFramePr>
          <p:cNvPr id="73738" name="Object 10">
            <a:extLst>
              <a:ext uri="{FF2B5EF4-FFF2-40B4-BE49-F238E27FC236}">
                <a16:creationId xmlns:a16="http://schemas.microsoft.com/office/drawing/2014/main" id="{1972F14F-FA33-F917-E279-8B68990BAC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50327"/>
              </p:ext>
            </p:extLst>
          </p:nvPr>
        </p:nvGraphicFramePr>
        <p:xfrm>
          <a:off x="1389063" y="2573338"/>
          <a:ext cx="11223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74389" imgH="678319" progId="Equation.3">
                  <p:embed/>
                </p:oleObj>
              </mc:Choice>
              <mc:Fallback>
                <p:oleObj name="公式" r:id="rId10" imgW="1074389" imgH="678319" progId="Equation.3">
                  <p:embed/>
                  <p:pic>
                    <p:nvPicPr>
                      <p:cNvPr id="73738" name="Object 10">
                        <a:extLst>
                          <a:ext uri="{FF2B5EF4-FFF2-40B4-BE49-F238E27FC236}">
                            <a16:creationId xmlns:a16="http://schemas.microsoft.com/office/drawing/2014/main" id="{1972F14F-FA33-F917-E279-8B68990BAC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063" y="2573338"/>
                        <a:ext cx="112236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9" name="Object 11">
            <a:extLst>
              <a:ext uri="{FF2B5EF4-FFF2-40B4-BE49-F238E27FC236}">
                <a16:creationId xmlns:a16="http://schemas.microsoft.com/office/drawing/2014/main" id="{0C80E3E2-E73B-1744-CD53-C49AA9EF0F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52707"/>
              </p:ext>
            </p:extLst>
          </p:nvPr>
        </p:nvGraphicFramePr>
        <p:xfrm>
          <a:off x="2576513" y="2519363"/>
          <a:ext cx="14970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01164" imgH="373574" progId="Equation.3">
                  <p:embed/>
                </p:oleObj>
              </mc:Choice>
              <mc:Fallback>
                <p:oleObj name="公式" r:id="rId12" imgW="701164" imgH="373574" progId="Equation.3">
                  <p:embed/>
                  <p:pic>
                    <p:nvPicPr>
                      <p:cNvPr id="73739" name="Object 11">
                        <a:extLst>
                          <a:ext uri="{FF2B5EF4-FFF2-40B4-BE49-F238E27FC236}">
                            <a16:creationId xmlns:a16="http://schemas.microsoft.com/office/drawing/2014/main" id="{0C80E3E2-E73B-1744-CD53-C49AA9EF0F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513" y="2519363"/>
                        <a:ext cx="14970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0" name="Object 12">
            <a:extLst>
              <a:ext uri="{FF2B5EF4-FFF2-40B4-BE49-F238E27FC236}">
                <a16:creationId xmlns:a16="http://schemas.microsoft.com/office/drawing/2014/main" id="{52138346-1B74-427E-675C-3900EFE47F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47182"/>
              </p:ext>
            </p:extLst>
          </p:nvPr>
        </p:nvGraphicFramePr>
        <p:xfrm>
          <a:off x="533400" y="3308350"/>
          <a:ext cx="23606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35598" imgH="373574" progId="Equation.3">
                  <p:embed/>
                </p:oleObj>
              </mc:Choice>
              <mc:Fallback>
                <p:oleObj name="公式" r:id="rId14" imgW="1135598" imgH="373574" progId="Equation.3">
                  <p:embed/>
                  <p:pic>
                    <p:nvPicPr>
                      <p:cNvPr id="73740" name="Object 12">
                        <a:extLst>
                          <a:ext uri="{FF2B5EF4-FFF2-40B4-BE49-F238E27FC236}">
                            <a16:creationId xmlns:a16="http://schemas.microsoft.com/office/drawing/2014/main" id="{52138346-1B74-427E-675C-3900EFE47F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308350"/>
                        <a:ext cx="23606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1" name="Object 13">
            <a:extLst>
              <a:ext uri="{FF2B5EF4-FFF2-40B4-BE49-F238E27FC236}">
                <a16:creationId xmlns:a16="http://schemas.microsoft.com/office/drawing/2014/main" id="{5933B95B-0F18-9F9A-83FB-3E4FCF1221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03636"/>
              </p:ext>
            </p:extLst>
          </p:nvPr>
        </p:nvGraphicFramePr>
        <p:xfrm>
          <a:off x="3276600" y="3232150"/>
          <a:ext cx="24907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96309" imgH="373574" progId="Equation.3">
                  <p:embed/>
                </p:oleObj>
              </mc:Choice>
              <mc:Fallback>
                <p:oleObj name="公式" r:id="rId16" imgW="1196309" imgH="373574" progId="Equation.3">
                  <p:embed/>
                  <p:pic>
                    <p:nvPicPr>
                      <p:cNvPr id="73741" name="Object 13">
                        <a:extLst>
                          <a:ext uri="{FF2B5EF4-FFF2-40B4-BE49-F238E27FC236}">
                            <a16:creationId xmlns:a16="http://schemas.microsoft.com/office/drawing/2014/main" id="{5933B95B-0F18-9F9A-83FB-3E4FCF1221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232150"/>
                        <a:ext cx="24907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2" name="Object 14">
            <a:extLst>
              <a:ext uri="{FF2B5EF4-FFF2-40B4-BE49-F238E27FC236}">
                <a16:creationId xmlns:a16="http://schemas.microsoft.com/office/drawing/2014/main" id="{D954B4CA-B3F3-3E20-2D85-CC93CE25C0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81961"/>
              </p:ext>
            </p:extLst>
          </p:nvPr>
        </p:nvGraphicFramePr>
        <p:xfrm>
          <a:off x="533400" y="4222750"/>
          <a:ext cx="46720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293589" imgH="388537" progId="Equation.3">
                  <p:embed/>
                </p:oleObj>
              </mc:Choice>
              <mc:Fallback>
                <p:oleObj name="公式" r:id="rId18" imgW="2293589" imgH="388537" progId="Equation.3">
                  <p:embed/>
                  <p:pic>
                    <p:nvPicPr>
                      <p:cNvPr id="73742" name="Object 14">
                        <a:extLst>
                          <a:ext uri="{FF2B5EF4-FFF2-40B4-BE49-F238E27FC236}">
                            <a16:creationId xmlns:a16="http://schemas.microsoft.com/office/drawing/2014/main" id="{D954B4CA-B3F3-3E20-2D85-CC93CE25C0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222750"/>
                        <a:ext cx="4672013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3" name="Object 15">
            <a:extLst>
              <a:ext uri="{FF2B5EF4-FFF2-40B4-BE49-F238E27FC236}">
                <a16:creationId xmlns:a16="http://schemas.microsoft.com/office/drawing/2014/main" id="{B6C2BC8C-B139-0F43-B6EE-68B104BE1D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99976"/>
              </p:ext>
            </p:extLst>
          </p:nvPr>
        </p:nvGraphicFramePr>
        <p:xfrm>
          <a:off x="533400" y="5060950"/>
          <a:ext cx="360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760127" imgH="373574" progId="Equation.3">
                  <p:embed/>
                </p:oleObj>
              </mc:Choice>
              <mc:Fallback>
                <p:oleObj name="公式" r:id="rId20" imgW="1760127" imgH="373574" progId="Equation.3">
                  <p:embed/>
                  <p:pic>
                    <p:nvPicPr>
                      <p:cNvPr id="73743" name="Object 15">
                        <a:extLst>
                          <a:ext uri="{FF2B5EF4-FFF2-40B4-BE49-F238E27FC236}">
                            <a16:creationId xmlns:a16="http://schemas.microsoft.com/office/drawing/2014/main" id="{B6C2BC8C-B139-0F43-B6EE-68B104BE1D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060950"/>
                        <a:ext cx="3606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4" name="Object 16">
            <a:extLst>
              <a:ext uri="{FF2B5EF4-FFF2-40B4-BE49-F238E27FC236}">
                <a16:creationId xmlns:a16="http://schemas.microsoft.com/office/drawing/2014/main" id="{64DC0834-A98B-120A-C448-20FF04975F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36148"/>
              </p:ext>
            </p:extLst>
          </p:nvPr>
        </p:nvGraphicFramePr>
        <p:xfrm>
          <a:off x="533400" y="5873750"/>
          <a:ext cx="41671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034322" imgH="426942" progId="Equation.3">
                  <p:embed/>
                </p:oleObj>
              </mc:Choice>
              <mc:Fallback>
                <p:oleObj name="公式" r:id="rId22" imgW="2034322" imgH="426942" progId="Equation.3">
                  <p:embed/>
                  <p:pic>
                    <p:nvPicPr>
                      <p:cNvPr id="73744" name="Object 16">
                        <a:extLst>
                          <a:ext uri="{FF2B5EF4-FFF2-40B4-BE49-F238E27FC236}">
                            <a16:creationId xmlns:a16="http://schemas.microsoft.com/office/drawing/2014/main" id="{64DC0834-A98B-120A-C448-20FF04975F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873750"/>
                        <a:ext cx="4167188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45" name="Group 17">
            <a:extLst>
              <a:ext uri="{FF2B5EF4-FFF2-40B4-BE49-F238E27FC236}">
                <a16:creationId xmlns:a16="http://schemas.microsoft.com/office/drawing/2014/main" id="{5E59D8E5-7777-187E-5C99-2C0DFD8140F2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1219200"/>
            <a:ext cx="825500" cy="1643063"/>
            <a:chOff x="3984" y="768"/>
            <a:chExt cx="520" cy="1035"/>
          </a:xfrm>
        </p:grpSpPr>
        <p:sp>
          <p:nvSpPr>
            <p:cNvPr id="23629" name="Line 18">
              <a:extLst>
                <a:ext uri="{FF2B5EF4-FFF2-40B4-BE49-F238E27FC236}">
                  <a16:creationId xmlns:a16="http://schemas.microsoft.com/office/drawing/2014/main" id="{476C236C-BD3A-0BE1-C936-8EBF06072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240"/>
              <a:ext cx="280" cy="3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23630" name="Line 19">
              <a:extLst>
                <a:ext uri="{FF2B5EF4-FFF2-40B4-BE49-F238E27FC236}">
                  <a16:creationId xmlns:a16="http://schemas.microsoft.com/office/drawing/2014/main" id="{AA91DBD2-880C-77D9-9DCC-68F56F96AC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28" y="960"/>
              <a:ext cx="376" cy="287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graphicFrame>
          <p:nvGraphicFramePr>
            <p:cNvPr id="23631" name="Object 20">
              <a:extLst>
                <a:ext uri="{FF2B5EF4-FFF2-40B4-BE49-F238E27FC236}">
                  <a16:creationId xmlns:a16="http://schemas.microsoft.com/office/drawing/2014/main" id="{69441935-C0BE-F15E-BD0F-9549087634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0" y="1440"/>
            <a:ext cx="197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68673" imgH="243895" progId="Equation.3">
                    <p:embed/>
                  </p:oleObj>
                </mc:Choice>
                <mc:Fallback>
                  <p:oleObj name="公式" r:id="rId24" imgW="68673" imgH="243895" progId="Equation.3">
                    <p:embed/>
                    <p:pic>
                      <p:nvPicPr>
                        <p:cNvPr id="23631" name="Object 20">
                          <a:extLst>
                            <a:ext uri="{FF2B5EF4-FFF2-40B4-BE49-F238E27FC236}">
                              <a16:creationId xmlns:a16="http://schemas.microsoft.com/office/drawing/2014/main" id="{69441935-C0BE-F15E-BD0F-9549087634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440"/>
                          <a:ext cx="197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32" name="Object 21">
              <a:extLst>
                <a:ext uri="{FF2B5EF4-FFF2-40B4-BE49-F238E27FC236}">
                  <a16:creationId xmlns:a16="http://schemas.microsoft.com/office/drawing/2014/main" id="{5AE1340D-570A-C650-6C8D-A95367A368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4" y="768"/>
            <a:ext cx="141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68673" imgH="243895" progId="Equation.3">
                    <p:embed/>
                  </p:oleObj>
                </mc:Choice>
                <mc:Fallback>
                  <p:oleObj name="公式" r:id="rId26" imgW="68673" imgH="243895" progId="Equation.3">
                    <p:embed/>
                    <p:pic>
                      <p:nvPicPr>
                        <p:cNvPr id="23632" name="Object 21">
                          <a:extLst>
                            <a:ext uri="{FF2B5EF4-FFF2-40B4-BE49-F238E27FC236}">
                              <a16:creationId xmlns:a16="http://schemas.microsoft.com/office/drawing/2014/main" id="{5AE1340D-570A-C650-6C8D-A95367A368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768"/>
                          <a:ext cx="141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750" name="Group 22">
            <a:extLst>
              <a:ext uri="{FF2B5EF4-FFF2-40B4-BE49-F238E27FC236}">
                <a16:creationId xmlns:a16="http://schemas.microsoft.com/office/drawing/2014/main" id="{20590790-4489-DC57-44C1-6A4D67F2950B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0"/>
            <a:ext cx="1765300" cy="1857375"/>
            <a:chOff x="3648" y="0"/>
            <a:chExt cx="1112" cy="1170"/>
          </a:xfrm>
        </p:grpSpPr>
        <p:sp>
          <p:nvSpPr>
            <p:cNvPr id="23620" name="Line 23">
              <a:extLst>
                <a:ext uri="{FF2B5EF4-FFF2-40B4-BE49-F238E27FC236}">
                  <a16:creationId xmlns:a16="http://schemas.microsoft.com/office/drawing/2014/main" id="{7A29116D-5AFA-0958-3636-FB2747933C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80" y="192"/>
              <a:ext cx="575" cy="43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23621" name="Line 24">
              <a:extLst>
                <a:ext uri="{FF2B5EF4-FFF2-40B4-BE49-F238E27FC236}">
                  <a16:creationId xmlns:a16="http://schemas.microsoft.com/office/drawing/2014/main" id="{683BF7CE-E11D-3B11-B56E-405BF88A34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40" y="528"/>
              <a:ext cx="552" cy="40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prstDash val="dash"/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23622" name="Line 25">
              <a:extLst>
                <a:ext uri="{FF2B5EF4-FFF2-40B4-BE49-F238E27FC236}">
                  <a16:creationId xmlns:a16="http://schemas.microsoft.com/office/drawing/2014/main" id="{691D539F-5517-D4BC-CB77-C8128E6224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92"/>
              <a:ext cx="240" cy="32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prstDash val="dash"/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23623" name="Line 26">
              <a:extLst>
                <a:ext uri="{FF2B5EF4-FFF2-40B4-BE49-F238E27FC236}">
                  <a16:creationId xmlns:a16="http://schemas.microsoft.com/office/drawing/2014/main" id="{4ECB5087-4906-62ED-3713-454DAD817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40" y="528"/>
              <a:ext cx="823" cy="104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graphicFrame>
          <p:nvGraphicFramePr>
            <p:cNvPr id="23624" name="Object 27">
              <a:extLst>
                <a:ext uri="{FF2B5EF4-FFF2-40B4-BE49-F238E27FC236}">
                  <a16:creationId xmlns:a16="http://schemas.microsoft.com/office/drawing/2014/main" id="{0C3F3F3C-5986-6541-536A-B1630108B8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480"/>
            <a:ext cx="25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160238" imgH="167585" progId="Equation.3">
                    <p:embed/>
                  </p:oleObj>
                </mc:Choice>
                <mc:Fallback>
                  <p:oleObj name="公式" r:id="rId28" imgW="160238" imgH="167585" progId="Equation.3">
                    <p:embed/>
                    <p:pic>
                      <p:nvPicPr>
                        <p:cNvPr id="23624" name="Object 27">
                          <a:extLst>
                            <a:ext uri="{FF2B5EF4-FFF2-40B4-BE49-F238E27FC236}">
                              <a16:creationId xmlns:a16="http://schemas.microsoft.com/office/drawing/2014/main" id="{0C3F3F3C-5986-6541-536A-B1630108B8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480"/>
                          <a:ext cx="257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25" name="Object 28">
              <a:extLst>
                <a:ext uri="{FF2B5EF4-FFF2-40B4-BE49-F238E27FC236}">
                  <a16:creationId xmlns:a16="http://schemas.microsoft.com/office/drawing/2014/main" id="{F8C706BC-68F1-7B88-9E34-1169D590EC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0"/>
            <a:ext cx="29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183129" imgH="198009" progId="Equation.3">
                    <p:embed/>
                  </p:oleObj>
                </mc:Choice>
                <mc:Fallback>
                  <p:oleObj name="公式" r:id="rId30" imgW="183129" imgH="198009" progId="Equation.3">
                    <p:embed/>
                    <p:pic>
                      <p:nvPicPr>
                        <p:cNvPr id="23625" name="Object 28">
                          <a:extLst>
                            <a:ext uri="{FF2B5EF4-FFF2-40B4-BE49-F238E27FC236}">
                              <a16:creationId xmlns:a16="http://schemas.microsoft.com/office/drawing/2014/main" id="{F8C706BC-68F1-7B88-9E34-1169D590EC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0"/>
                          <a:ext cx="292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26" name="Text Box 29">
              <a:extLst>
                <a:ext uri="{FF2B5EF4-FFF2-40B4-BE49-F238E27FC236}">
                  <a16:creationId xmlns:a16="http://schemas.microsoft.com/office/drawing/2014/main" id="{29667482-8CD7-0673-F2E2-90B87FF0F1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92"/>
              <a:ext cx="29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r>
                <a:rPr kumimoji="1" lang="en-US" altLang="zh-CN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27" name="Line 30">
              <a:extLst>
                <a:ext uri="{FF2B5EF4-FFF2-40B4-BE49-F238E27FC236}">
                  <a16:creationId xmlns:a16="http://schemas.microsoft.com/office/drawing/2014/main" id="{D1AAA2AE-7E96-5C2C-DD89-2C9F35F26E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632"/>
              <a:ext cx="247" cy="328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graphicFrame>
          <p:nvGraphicFramePr>
            <p:cNvPr id="23628" name="Object 31">
              <a:extLst>
                <a:ext uri="{FF2B5EF4-FFF2-40B4-BE49-F238E27FC236}">
                  <a16:creationId xmlns:a16="http://schemas.microsoft.com/office/drawing/2014/main" id="{4F4F6FC5-8FF5-6CAA-44EF-09801FBE0F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6" y="864"/>
            <a:ext cx="29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183129" imgH="198009" progId="Equation.3">
                    <p:embed/>
                  </p:oleObj>
                </mc:Choice>
                <mc:Fallback>
                  <p:oleObj name="公式" r:id="rId32" imgW="183129" imgH="198009" progId="Equation.3">
                    <p:embed/>
                    <p:pic>
                      <p:nvPicPr>
                        <p:cNvPr id="23628" name="Object 31">
                          <a:extLst>
                            <a:ext uri="{FF2B5EF4-FFF2-40B4-BE49-F238E27FC236}">
                              <a16:creationId xmlns:a16="http://schemas.microsoft.com/office/drawing/2014/main" id="{4F4F6FC5-8FF5-6CAA-44EF-09801FBE0F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864"/>
                          <a:ext cx="292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760" name="Group 32">
            <a:extLst>
              <a:ext uri="{FF2B5EF4-FFF2-40B4-BE49-F238E27FC236}">
                <a16:creationId xmlns:a16="http://schemas.microsoft.com/office/drawing/2014/main" id="{B878C9ED-A11C-7612-FECF-C9D7880323CF}"/>
              </a:ext>
            </a:extLst>
          </p:cNvPr>
          <p:cNvGrpSpPr>
            <a:grpSpLocks/>
          </p:cNvGrpSpPr>
          <p:nvPr/>
        </p:nvGrpSpPr>
        <p:grpSpPr bwMode="auto">
          <a:xfrm>
            <a:off x="6813551" y="690563"/>
            <a:ext cx="2438401" cy="2049462"/>
            <a:chOff x="4279" y="432"/>
            <a:chExt cx="1536" cy="1200"/>
          </a:xfrm>
        </p:grpSpPr>
        <p:sp>
          <p:nvSpPr>
            <p:cNvPr id="23604" name="Rectangle 33">
              <a:extLst>
                <a:ext uri="{FF2B5EF4-FFF2-40B4-BE49-F238E27FC236}">
                  <a16:creationId xmlns:a16="http://schemas.microsoft.com/office/drawing/2014/main" id="{876D3396-A736-0DF0-268B-883379168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613"/>
              <a:ext cx="1337" cy="59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  <p:sp>
          <p:nvSpPr>
            <p:cNvPr id="23605" name="Rectangle 34">
              <a:extLst>
                <a:ext uri="{FF2B5EF4-FFF2-40B4-BE49-F238E27FC236}">
                  <a16:creationId xmlns:a16="http://schemas.microsoft.com/office/drawing/2014/main" id="{BE4AA1E0-3CC7-68E8-CF36-2F63D38504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69817">
              <a:off x="4279" y="735"/>
              <a:ext cx="1245" cy="8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  <p:sp>
          <p:nvSpPr>
            <p:cNvPr id="23606" name="Text Box 35">
              <a:extLst>
                <a:ext uri="{FF2B5EF4-FFF2-40B4-BE49-F238E27FC236}">
                  <a16:creationId xmlns:a16="http://schemas.microsoft.com/office/drawing/2014/main" id="{44C4A07E-D2ED-C8F7-873D-E9D936C6BF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3" y="480"/>
              <a:ext cx="328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r>
                <a:rPr kumimoji="1"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·</a:t>
              </a:r>
            </a:p>
          </p:txBody>
        </p:sp>
        <p:sp>
          <p:nvSpPr>
            <p:cNvPr id="23607" name="Freeform 36">
              <a:extLst>
                <a:ext uri="{FF2B5EF4-FFF2-40B4-BE49-F238E27FC236}">
                  <a16:creationId xmlns:a16="http://schemas.microsoft.com/office/drawing/2014/main" id="{AB8357D4-A6CF-C4D8-21DF-E393AD061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672"/>
              <a:ext cx="84" cy="144"/>
            </a:xfrm>
            <a:custGeom>
              <a:avLst/>
              <a:gdLst>
                <a:gd name="T0" fmla="*/ 40 w 90"/>
                <a:gd name="T1" fmla="*/ 0 h 260"/>
                <a:gd name="T2" fmla="*/ 53 w 90"/>
                <a:gd name="T3" fmla="*/ 3 h 260"/>
                <a:gd name="T4" fmla="*/ 0 w 90"/>
                <a:gd name="T5" fmla="*/ 7 h 2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" h="260">
                  <a:moveTo>
                    <a:pt x="60" y="0"/>
                  </a:moveTo>
                  <a:cubicBezTo>
                    <a:pt x="75" y="38"/>
                    <a:pt x="90" y="77"/>
                    <a:pt x="80" y="120"/>
                  </a:cubicBezTo>
                  <a:cubicBezTo>
                    <a:pt x="70" y="163"/>
                    <a:pt x="35" y="211"/>
                    <a:pt x="0" y="260"/>
                  </a:cubicBezTo>
                </a:path>
              </a:pathLst>
            </a:custGeom>
            <a:noFill/>
            <a:ln w="38100" cmpd="sng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23608" name="Line 37">
              <a:extLst>
                <a:ext uri="{FF2B5EF4-FFF2-40B4-BE49-F238E27FC236}">
                  <a16:creationId xmlns:a16="http://schemas.microsoft.com/office/drawing/2014/main" id="{80EA3D5B-7C35-474F-C53D-C0EB3E61D8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4" y="1104"/>
              <a:ext cx="336" cy="48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23609" name="Freeform 38">
              <a:extLst>
                <a:ext uri="{FF2B5EF4-FFF2-40B4-BE49-F238E27FC236}">
                  <a16:creationId xmlns:a16="http://schemas.microsoft.com/office/drawing/2014/main" id="{84E01E0C-4489-8908-F351-7E2B0413F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1296"/>
              <a:ext cx="144" cy="96"/>
            </a:xfrm>
            <a:custGeom>
              <a:avLst/>
              <a:gdLst>
                <a:gd name="T0" fmla="*/ 0 w 240"/>
                <a:gd name="T1" fmla="*/ 85 h 87"/>
                <a:gd name="T2" fmla="*/ 7 w 240"/>
                <a:gd name="T3" fmla="*/ 13 h 87"/>
                <a:gd name="T4" fmla="*/ 11 w 240"/>
                <a:gd name="T5" fmla="*/ 157 h 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87">
                  <a:moveTo>
                    <a:pt x="0" y="47"/>
                  </a:moveTo>
                  <a:cubicBezTo>
                    <a:pt x="50" y="23"/>
                    <a:pt x="100" y="0"/>
                    <a:pt x="140" y="7"/>
                  </a:cubicBezTo>
                  <a:cubicBezTo>
                    <a:pt x="180" y="14"/>
                    <a:pt x="210" y="50"/>
                    <a:pt x="240" y="87"/>
                  </a:cubicBezTo>
                </a:path>
              </a:pathLst>
            </a:custGeom>
            <a:noFill/>
            <a:ln w="38100" cmpd="sng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23610" name="Text Box 39">
              <a:extLst>
                <a:ext uri="{FF2B5EF4-FFF2-40B4-BE49-F238E27FC236}">
                  <a16:creationId xmlns:a16="http://schemas.microsoft.com/office/drawing/2014/main" id="{9C1F262E-3CAF-75CE-31BD-21F5B3C38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344"/>
              <a:ext cx="3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r>
                <a:rPr kumimoji="1" lang="en-US" altLang="zh-CN" i="1" baseline="-25000">
                  <a:solidFill>
                    <a:srgbClr val="FFFF00"/>
                  </a:solidFill>
                  <a:latin typeface="Times New Roman" panose="02020603050405020304" pitchFamily="18" charset="0"/>
                </a:rPr>
                <a:t>mg</a:t>
              </a:r>
              <a:endParaRPr kumimoji="1"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3611" name="Object 40">
              <a:extLst>
                <a:ext uri="{FF2B5EF4-FFF2-40B4-BE49-F238E27FC236}">
                  <a16:creationId xmlns:a16="http://schemas.microsoft.com/office/drawing/2014/main" id="{041CA533-9B8E-613E-97A3-1D807B3D33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4" y="816"/>
            <a:ext cx="206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121920" imgH="129679" progId="Equation.3">
                    <p:embed/>
                  </p:oleObj>
                </mc:Choice>
                <mc:Fallback>
                  <p:oleObj name="公式" r:id="rId34" imgW="121920" imgH="129679" progId="Equation.3">
                    <p:embed/>
                    <p:pic>
                      <p:nvPicPr>
                        <p:cNvPr id="23611" name="Object 40">
                          <a:extLst>
                            <a:ext uri="{FF2B5EF4-FFF2-40B4-BE49-F238E27FC236}">
                              <a16:creationId xmlns:a16="http://schemas.microsoft.com/office/drawing/2014/main" id="{041CA533-9B8E-613E-97A3-1D807B3D33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816"/>
                          <a:ext cx="206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12" name="Object 41">
              <a:extLst>
                <a:ext uri="{FF2B5EF4-FFF2-40B4-BE49-F238E27FC236}">
                  <a16:creationId xmlns:a16="http://schemas.microsoft.com/office/drawing/2014/main" id="{EFD1DC53-13AD-C919-D480-6B878D5E84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672"/>
            <a:ext cx="177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91564" imgH="144641" progId="Equation.3">
                    <p:embed/>
                  </p:oleObj>
                </mc:Choice>
                <mc:Fallback>
                  <p:oleObj name="公式" r:id="rId36" imgW="91564" imgH="144641" progId="Equation.3">
                    <p:embed/>
                    <p:pic>
                      <p:nvPicPr>
                        <p:cNvPr id="23612" name="Object 41">
                          <a:extLst>
                            <a:ext uri="{FF2B5EF4-FFF2-40B4-BE49-F238E27FC236}">
                              <a16:creationId xmlns:a16="http://schemas.microsoft.com/office/drawing/2014/main" id="{EFD1DC53-13AD-C919-D480-6B878D5E84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672"/>
                          <a:ext cx="177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13" name="Line 42">
              <a:extLst>
                <a:ext uri="{FF2B5EF4-FFF2-40B4-BE49-F238E27FC236}">
                  <a16:creationId xmlns:a16="http://schemas.microsoft.com/office/drawing/2014/main" id="{01B0724A-30F3-3C00-3274-6B10C8137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816"/>
              <a:ext cx="0" cy="76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grpSp>
          <p:nvGrpSpPr>
            <p:cNvPr id="23614" name="Group 43">
              <a:extLst>
                <a:ext uri="{FF2B5EF4-FFF2-40B4-BE49-F238E27FC236}">
                  <a16:creationId xmlns:a16="http://schemas.microsoft.com/office/drawing/2014/main" id="{92DD1E46-EA27-C28D-D8B0-4FF891AFF4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6" y="1104"/>
              <a:ext cx="272" cy="288"/>
              <a:chOff x="5296" y="1152"/>
              <a:chExt cx="272" cy="288"/>
            </a:xfrm>
          </p:grpSpPr>
          <p:sp>
            <p:nvSpPr>
              <p:cNvPr id="23618" name="Freeform 44">
                <a:extLst>
                  <a:ext uri="{FF2B5EF4-FFF2-40B4-BE49-F238E27FC236}">
                    <a16:creationId xmlns:a16="http://schemas.microsoft.com/office/drawing/2014/main" id="{DBB4C8F8-9B95-6BCF-21AB-5C2F39DEF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6" y="1163"/>
                <a:ext cx="112" cy="224"/>
              </a:xfrm>
              <a:custGeom>
                <a:avLst/>
                <a:gdLst>
                  <a:gd name="T0" fmla="*/ 1 w 280"/>
                  <a:gd name="T1" fmla="*/ 0 h 560"/>
                  <a:gd name="T2" fmla="*/ 1 w 280"/>
                  <a:gd name="T3" fmla="*/ 1 h 560"/>
                  <a:gd name="T4" fmla="*/ 0 w 280"/>
                  <a:gd name="T5" fmla="*/ 2 h 5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0" h="560">
                    <a:moveTo>
                      <a:pt x="280" y="0"/>
                    </a:moveTo>
                    <a:cubicBezTo>
                      <a:pt x="273" y="93"/>
                      <a:pt x="267" y="187"/>
                      <a:pt x="220" y="280"/>
                    </a:cubicBezTo>
                    <a:cubicBezTo>
                      <a:pt x="173" y="373"/>
                      <a:pt x="86" y="466"/>
                      <a:pt x="0" y="560"/>
                    </a:cubicBezTo>
                  </a:path>
                </a:pathLst>
              </a:custGeom>
              <a:noFill/>
              <a:ln w="28575" cmpd="sng">
                <a:solidFill>
                  <a:srgbClr val="00FF00"/>
                </a:solidFill>
                <a:round/>
                <a:headEnd type="none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23619" name="Text Box 45">
                <a:extLst>
                  <a:ext uri="{FF2B5EF4-FFF2-40B4-BE49-F238E27FC236}">
                    <a16:creationId xmlns:a16="http://schemas.microsoft.com/office/drawing/2014/main" id="{B307DA57-10B4-C11D-5D7E-9DC72183D7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8" y="115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l"/>
                <a:r>
                  <a:rPr kumimoji="1" lang="en-US" altLang="zh-CN" i="1">
                    <a:solidFill>
                      <a:srgbClr val="00FF00"/>
                    </a:solidFill>
                    <a:latin typeface="宋体" panose="02010600030101010101" pitchFamily="2" charset="-122"/>
                  </a:rPr>
                  <a:t>ω</a:t>
                </a:r>
                <a:endParaRPr kumimoji="1" lang="en-US" altLang="zh-CN" i="1">
                  <a:solidFill>
                    <a:srgbClr val="00FF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615" name="Oval 46">
              <a:extLst>
                <a:ext uri="{FF2B5EF4-FFF2-40B4-BE49-F238E27FC236}">
                  <a16:creationId xmlns:a16="http://schemas.microsoft.com/office/drawing/2014/main" id="{7E22751A-D5D3-02E1-62CA-658A6EA1E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816"/>
              <a:ext cx="48" cy="4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  <p:sp>
          <p:nvSpPr>
            <p:cNvPr id="23616" name="Text Box 47">
              <a:extLst>
                <a:ext uri="{FF2B5EF4-FFF2-40B4-BE49-F238E27FC236}">
                  <a16:creationId xmlns:a16="http://schemas.microsoft.com/office/drawing/2014/main" id="{A275E14F-3A7C-C876-AEAB-B0EC1C6ED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6" y="864"/>
              <a:ext cx="4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r>
                <a:rPr kumimoji="1" lang="en-US" altLang="zh-CN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graphicFrame>
          <p:nvGraphicFramePr>
            <p:cNvPr id="23617" name="Object 48">
              <a:extLst>
                <a:ext uri="{FF2B5EF4-FFF2-40B4-BE49-F238E27FC236}">
                  <a16:creationId xmlns:a16="http://schemas.microsoft.com/office/drawing/2014/main" id="{A4D5D9AF-C772-1BBF-E2AE-80D5F8A76D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4" y="432"/>
            <a:ext cx="161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83602" imgH="106735" progId="Equation.3">
                    <p:embed/>
                  </p:oleObj>
                </mc:Choice>
                <mc:Fallback>
                  <p:oleObj name="公式" r:id="rId38" imgW="83602" imgH="106735" progId="Equation.3">
                    <p:embed/>
                    <p:pic>
                      <p:nvPicPr>
                        <p:cNvPr id="23617" name="Object 48">
                          <a:extLst>
                            <a:ext uri="{FF2B5EF4-FFF2-40B4-BE49-F238E27FC236}">
                              <a16:creationId xmlns:a16="http://schemas.microsoft.com/office/drawing/2014/main" id="{A4D5D9AF-C772-1BBF-E2AE-80D5F8A76D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432"/>
                          <a:ext cx="161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777" name="Group 49">
            <a:extLst>
              <a:ext uri="{FF2B5EF4-FFF2-40B4-BE49-F238E27FC236}">
                <a16:creationId xmlns:a16="http://schemas.microsoft.com/office/drawing/2014/main" id="{52E98452-688A-2E44-2DD8-A6615EDB5E80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3154363"/>
            <a:ext cx="3581400" cy="3365500"/>
            <a:chOff x="3504" y="1987"/>
            <a:chExt cx="2256" cy="2120"/>
          </a:xfrm>
        </p:grpSpPr>
        <p:sp>
          <p:nvSpPr>
            <p:cNvPr id="23572" name="Rectangle 50">
              <a:extLst>
                <a:ext uri="{FF2B5EF4-FFF2-40B4-BE49-F238E27FC236}">
                  <a16:creationId xmlns:a16="http://schemas.microsoft.com/office/drawing/2014/main" id="{DE47BB65-593E-E71B-F1F0-1C254E379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" y="2920"/>
              <a:ext cx="1560" cy="48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  <p:sp>
          <p:nvSpPr>
            <p:cNvPr id="23573" name="Rectangle 51">
              <a:extLst>
                <a:ext uri="{FF2B5EF4-FFF2-40B4-BE49-F238E27FC236}">
                  <a16:creationId xmlns:a16="http://schemas.microsoft.com/office/drawing/2014/main" id="{16E49481-5373-52DB-E2A8-7519BA8B26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69817">
              <a:off x="3934" y="3153"/>
              <a:ext cx="1527" cy="82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  <p:sp>
          <p:nvSpPr>
            <p:cNvPr id="23574" name="Text Box 52">
              <a:extLst>
                <a:ext uri="{FF2B5EF4-FFF2-40B4-BE49-F238E27FC236}">
                  <a16:creationId xmlns:a16="http://schemas.microsoft.com/office/drawing/2014/main" id="{33BE11C2-B018-9E76-E7C4-890500C58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824"/>
              <a:ext cx="32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r>
                <a:rPr kumimoji="1" lang="en-US" altLang="zh-CN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·</a:t>
              </a:r>
            </a:p>
          </p:txBody>
        </p:sp>
        <p:sp>
          <p:nvSpPr>
            <p:cNvPr id="23575" name="Text Box 53">
              <a:extLst>
                <a:ext uri="{FF2B5EF4-FFF2-40B4-BE49-F238E27FC236}">
                  <a16:creationId xmlns:a16="http://schemas.microsoft.com/office/drawing/2014/main" id="{0B9EF81A-3D86-E3BF-304A-B85EFF68C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4" y="3024"/>
              <a:ext cx="328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kumimoji="1" lang="zh-CN" altLang="zh-CN" sz="16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76" name="Freeform 54">
              <a:extLst>
                <a:ext uri="{FF2B5EF4-FFF2-40B4-BE49-F238E27FC236}">
                  <a16:creationId xmlns:a16="http://schemas.microsoft.com/office/drawing/2014/main" id="{CB3A662B-527A-D183-4722-FF4E422E0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2995"/>
              <a:ext cx="96" cy="144"/>
            </a:xfrm>
            <a:custGeom>
              <a:avLst/>
              <a:gdLst>
                <a:gd name="T0" fmla="*/ 89 w 90"/>
                <a:gd name="T1" fmla="*/ 0 h 260"/>
                <a:gd name="T2" fmla="*/ 117 w 90"/>
                <a:gd name="T3" fmla="*/ 3 h 260"/>
                <a:gd name="T4" fmla="*/ 0 w 90"/>
                <a:gd name="T5" fmla="*/ 7 h 2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" h="260">
                  <a:moveTo>
                    <a:pt x="60" y="0"/>
                  </a:moveTo>
                  <a:cubicBezTo>
                    <a:pt x="75" y="38"/>
                    <a:pt x="90" y="77"/>
                    <a:pt x="80" y="120"/>
                  </a:cubicBezTo>
                  <a:cubicBezTo>
                    <a:pt x="70" y="163"/>
                    <a:pt x="35" y="211"/>
                    <a:pt x="0" y="260"/>
                  </a:cubicBezTo>
                </a:path>
              </a:pathLst>
            </a:custGeom>
            <a:noFill/>
            <a:ln w="38100" cmpd="sng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23577" name="Text Box 55">
              <a:extLst>
                <a:ext uri="{FF2B5EF4-FFF2-40B4-BE49-F238E27FC236}">
                  <a16:creationId xmlns:a16="http://schemas.microsoft.com/office/drawing/2014/main" id="{FE301AFF-3D6D-FF88-6486-2C70B7235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680"/>
              <a:ext cx="29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r>
                <a:rPr kumimoji="1" lang="en-US" altLang="zh-CN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78" name="Text Box 56">
              <a:extLst>
                <a:ext uri="{FF2B5EF4-FFF2-40B4-BE49-F238E27FC236}">
                  <a16:creationId xmlns:a16="http://schemas.microsoft.com/office/drawing/2014/main" id="{512C25B0-FE50-FB56-ED23-B29B18309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3496"/>
              <a:ext cx="29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r>
                <a:rPr kumimoji="1" lang="en-US" altLang="zh-CN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3579" name="Line 57">
              <a:extLst>
                <a:ext uri="{FF2B5EF4-FFF2-40B4-BE49-F238E27FC236}">
                  <a16:creationId xmlns:a16="http://schemas.microsoft.com/office/drawing/2014/main" id="{7E937753-BE42-C68A-EB17-ECAC14DA4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84" y="2560"/>
              <a:ext cx="552" cy="4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23580" name="Line 58">
              <a:extLst>
                <a:ext uri="{FF2B5EF4-FFF2-40B4-BE49-F238E27FC236}">
                  <a16:creationId xmlns:a16="http://schemas.microsoft.com/office/drawing/2014/main" id="{22408E1C-4395-17A1-06EB-52F351FB54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0" y="2536"/>
              <a:ext cx="344" cy="416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 type="triangl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23581" name="Line 59">
              <a:extLst>
                <a:ext uri="{FF2B5EF4-FFF2-40B4-BE49-F238E27FC236}">
                  <a16:creationId xmlns:a16="http://schemas.microsoft.com/office/drawing/2014/main" id="{3EF3AF0D-9628-3D9E-1C35-5230B6CF7B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28" y="2152"/>
              <a:ext cx="552" cy="40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prstDash val="dash"/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23582" name="Line 60">
              <a:extLst>
                <a:ext uri="{FF2B5EF4-FFF2-40B4-BE49-F238E27FC236}">
                  <a16:creationId xmlns:a16="http://schemas.microsoft.com/office/drawing/2014/main" id="{58AE8B66-46AB-ED70-94D3-B34216555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0" y="2152"/>
              <a:ext cx="328" cy="416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prstDash val="dash"/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23583" name="Line 61">
              <a:extLst>
                <a:ext uri="{FF2B5EF4-FFF2-40B4-BE49-F238E27FC236}">
                  <a16:creationId xmlns:a16="http://schemas.microsoft.com/office/drawing/2014/main" id="{44061F1A-9145-98C6-F07D-1BEA46E8B7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28" y="2152"/>
              <a:ext cx="216" cy="816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23584" name="Text Box 62">
              <a:extLst>
                <a:ext uri="{FF2B5EF4-FFF2-40B4-BE49-F238E27FC236}">
                  <a16:creationId xmlns:a16="http://schemas.microsoft.com/office/drawing/2014/main" id="{0FB6E931-8347-E91B-3A75-B308F667A5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504"/>
              <a:ext cx="31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kumimoji="1" lang="zh-CN" altLang="zh-CN" i="1" baseline="-25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85" name="Freeform 63">
              <a:extLst>
                <a:ext uri="{FF2B5EF4-FFF2-40B4-BE49-F238E27FC236}">
                  <a16:creationId xmlns:a16="http://schemas.microsoft.com/office/drawing/2014/main" id="{026BA5DF-A576-8846-23AC-2AE037648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2680"/>
              <a:ext cx="168" cy="96"/>
            </a:xfrm>
            <a:custGeom>
              <a:avLst/>
              <a:gdLst>
                <a:gd name="T0" fmla="*/ 374 w 143"/>
                <a:gd name="T1" fmla="*/ 0 h 200"/>
                <a:gd name="T2" fmla="*/ 62 w 143"/>
                <a:gd name="T3" fmla="*/ 0 h 200"/>
                <a:gd name="T4" fmla="*/ 9 w 143"/>
                <a:gd name="T5" fmla="*/ 2 h 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3" h="200">
                  <a:moveTo>
                    <a:pt x="143" y="0"/>
                  </a:moveTo>
                  <a:cubicBezTo>
                    <a:pt x="94" y="13"/>
                    <a:pt x="46" y="27"/>
                    <a:pt x="23" y="60"/>
                  </a:cubicBezTo>
                  <a:cubicBezTo>
                    <a:pt x="0" y="93"/>
                    <a:pt x="1" y="146"/>
                    <a:pt x="3" y="20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grpSp>
          <p:nvGrpSpPr>
            <p:cNvPr id="23586" name="Group 64">
              <a:extLst>
                <a:ext uri="{FF2B5EF4-FFF2-40B4-BE49-F238E27FC236}">
                  <a16:creationId xmlns:a16="http://schemas.microsoft.com/office/drawing/2014/main" id="{E8C67F1B-251D-0ACC-F10A-4B9E7CD8C8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96" y="3592"/>
              <a:ext cx="464" cy="360"/>
              <a:chOff x="5064" y="2112"/>
              <a:chExt cx="464" cy="360"/>
            </a:xfrm>
          </p:grpSpPr>
          <p:sp>
            <p:nvSpPr>
              <p:cNvPr id="23602" name="Freeform 65">
                <a:extLst>
                  <a:ext uri="{FF2B5EF4-FFF2-40B4-BE49-F238E27FC236}">
                    <a16:creationId xmlns:a16="http://schemas.microsoft.com/office/drawing/2014/main" id="{FEAE5C88-0E38-757B-6AB9-270FE2630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4" y="2123"/>
                <a:ext cx="112" cy="224"/>
              </a:xfrm>
              <a:custGeom>
                <a:avLst/>
                <a:gdLst>
                  <a:gd name="T0" fmla="*/ 1 w 280"/>
                  <a:gd name="T1" fmla="*/ 0 h 560"/>
                  <a:gd name="T2" fmla="*/ 1 w 280"/>
                  <a:gd name="T3" fmla="*/ 1 h 560"/>
                  <a:gd name="T4" fmla="*/ 0 w 280"/>
                  <a:gd name="T5" fmla="*/ 2 h 5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0" h="560">
                    <a:moveTo>
                      <a:pt x="280" y="0"/>
                    </a:moveTo>
                    <a:cubicBezTo>
                      <a:pt x="273" y="93"/>
                      <a:pt x="267" y="187"/>
                      <a:pt x="220" y="280"/>
                    </a:cubicBezTo>
                    <a:cubicBezTo>
                      <a:pt x="173" y="373"/>
                      <a:pt x="86" y="466"/>
                      <a:pt x="0" y="560"/>
                    </a:cubicBezTo>
                  </a:path>
                </a:pathLst>
              </a:custGeom>
              <a:noFill/>
              <a:ln w="28575" cmpd="sng">
                <a:solidFill>
                  <a:srgbClr val="00FF00"/>
                </a:solidFill>
                <a:round/>
                <a:headEnd type="none" w="med" len="med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23603" name="Text Box 66">
                <a:extLst>
                  <a:ext uri="{FF2B5EF4-FFF2-40B4-BE49-F238E27FC236}">
                    <a16:creationId xmlns:a16="http://schemas.microsoft.com/office/drawing/2014/main" id="{63D46905-492F-F824-8280-23C221DE78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4" y="2112"/>
                <a:ext cx="344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algn="l"/>
                <a:r>
                  <a:rPr kumimoji="1" lang="en-US" altLang="zh-CN" i="1">
                    <a:solidFill>
                      <a:srgbClr val="00FF00"/>
                    </a:solidFill>
                    <a:latin typeface="宋体" panose="02010600030101010101" pitchFamily="2" charset="-122"/>
                  </a:rPr>
                  <a:t>ω</a:t>
                </a:r>
                <a:endParaRPr kumimoji="1" lang="en-US" altLang="zh-CN" i="1">
                  <a:solidFill>
                    <a:srgbClr val="00FF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587" name="Text Box 67">
              <a:extLst>
                <a:ext uri="{FF2B5EF4-FFF2-40B4-BE49-F238E27FC236}">
                  <a16:creationId xmlns:a16="http://schemas.microsoft.com/office/drawing/2014/main" id="{39BCC426-5666-2991-BCC6-D47387FED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2632"/>
              <a:ext cx="660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r>
                <a:rPr kumimoji="1" lang="en-US" altLang="zh-CN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l </a:t>
              </a:r>
              <a:r>
                <a:rPr kumimoji="1" lang="en-US" altLang="zh-CN">
                  <a:solidFill>
                    <a:srgbClr val="FFFF00"/>
                  </a:solidFill>
                  <a:latin typeface="Times New Roman" panose="02020603050405020304" pitchFamily="18" charset="0"/>
                </a:rPr>
                <a:t>, </a:t>
              </a:r>
              <a:r>
                <a:rPr kumimoji="1" lang="en-US" altLang="zh-CN" i="1">
                  <a:solidFill>
                    <a:srgbClr val="FFFF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graphicFrame>
          <p:nvGraphicFramePr>
            <p:cNvPr id="23588" name="Object 68">
              <a:extLst>
                <a:ext uri="{FF2B5EF4-FFF2-40B4-BE49-F238E27FC236}">
                  <a16:creationId xmlns:a16="http://schemas.microsoft.com/office/drawing/2014/main" id="{A5387F23-12B5-6384-2D46-54FEE79C02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2488"/>
            <a:ext cx="29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183129" imgH="198009" progId="Equation.3">
                    <p:embed/>
                  </p:oleObj>
                </mc:Choice>
                <mc:Fallback>
                  <p:oleObj name="公式" r:id="rId40" imgW="183129" imgH="198009" progId="Equation.3">
                    <p:embed/>
                    <p:pic>
                      <p:nvPicPr>
                        <p:cNvPr id="23588" name="Object 68">
                          <a:extLst>
                            <a:ext uri="{FF2B5EF4-FFF2-40B4-BE49-F238E27FC236}">
                              <a16:creationId xmlns:a16="http://schemas.microsoft.com/office/drawing/2014/main" id="{A5387F23-12B5-6384-2D46-54FEE79C02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488"/>
                          <a:ext cx="292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9" name="Object 69">
              <a:extLst>
                <a:ext uri="{FF2B5EF4-FFF2-40B4-BE49-F238E27FC236}">
                  <a16:creationId xmlns:a16="http://schemas.microsoft.com/office/drawing/2014/main" id="{422D1E42-94D4-9C2F-C7E8-E283315645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4" y="2419"/>
            <a:ext cx="29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2" imgW="183129" imgH="198009" progId="Equation.3">
                    <p:embed/>
                  </p:oleObj>
                </mc:Choice>
                <mc:Fallback>
                  <p:oleObj name="公式" r:id="rId42" imgW="183129" imgH="198009" progId="Equation.3">
                    <p:embed/>
                    <p:pic>
                      <p:nvPicPr>
                        <p:cNvPr id="23589" name="Object 69">
                          <a:extLst>
                            <a:ext uri="{FF2B5EF4-FFF2-40B4-BE49-F238E27FC236}">
                              <a16:creationId xmlns:a16="http://schemas.microsoft.com/office/drawing/2014/main" id="{422D1E42-94D4-9C2F-C7E8-E283315645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2419"/>
                          <a:ext cx="292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0" name="Object 70">
              <a:extLst>
                <a:ext uri="{FF2B5EF4-FFF2-40B4-BE49-F238E27FC236}">
                  <a16:creationId xmlns:a16="http://schemas.microsoft.com/office/drawing/2014/main" id="{69A6E3B8-5667-58AC-8194-DC7D836629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8" y="1987"/>
            <a:ext cx="25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4" imgW="160238" imgH="167585" progId="Equation.3">
                    <p:embed/>
                  </p:oleObj>
                </mc:Choice>
                <mc:Fallback>
                  <p:oleObj name="公式" r:id="rId44" imgW="160238" imgH="167585" progId="Equation.3">
                    <p:embed/>
                    <p:pic>
                      <p:nvPicPr>
                        <p:cNvPr id="23590" name="Object 70">
                          <a:extLst>
                            <a:ext uri="{FF2B5EF4-FFF2-40B4-BE49-F238E27FC236}">
                              <a16:creationId xmlns:a16="http://schemas.microsoft.com/office/drawing/2014/main" id="{69A6E3B8-5667-58AC-8194-DC7D836629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987"/>
                          <a:ext cx="257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1" name="Oval 71">
              <a:extLst>
                <a:ext uri="{FF2B5EF4-FFF2-40B4-BE49-F238E27FC236}">
                  <a16:creationId xmlns:a16="http://schemas.microsoft.com/office/drawing/2014/main" id="{1A93AEA6-2E97-92CC-835B-732C85FF4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920"/>
              <a:ext cx="48" cy="4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  <p:sp>
          <p:nvSpPr>
            <p:cNvPr id="23592" name="Oval 72">
              <a:extLst>
                <a:ext uri="{FF2B5EF4-FFF2-40B4-BE49-F238E27FC236}">
                  <a16:creationId xmlns:a16="http://schemas.microsoft.com/office/drawing/2014/main" id="{5762D571-A0E4-3058-862F-FB2857EF4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208"/>
              <a:ext cx="48" cy="48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/>
              <a:endParaRPr lang="zh-CN" altLang="en-US"/>
            </a:p>
          </p:txBody>
        </p:sp>
        <p:graphicFrame>
          <p:nvGraphicFramePr>
            <p:cNvPr id="23593" name="Object 73">
              <a:extLst>
                <a:ext uri="{FF2B5EF4-FFF2-40B4-BE49-F238E27FC236}">
                  <a16:creationId xmlns:a16="http://schemas.microsoft.com/office/drawing/2014/main" id="{28052055-B47A-5663-8A6D-91C573AD92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60" y="3256"/>
            <a:ext cx="206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6" imgW="121920" imgH="129679" progId="Equation.3">
                    <p:embed/>
                  </p:oleObj>
                </mc:Choice>
                <mc:Fallback>
                  <p:oleObj name="公式" r:id="rId46" imgW="121920" imgH="129679" progId="Equation.3">
                    <p:embed/>
                    <p:pic>
                      <p:nvPicPr>
                        <p:cNvPr id="23593" name="Object 73">
                          <a:extLst>
                            <a:ext uri="{FF2B5EF4-FFF2-40B4-BE49-F238E27FC236}">
                              <a16:creationId xmlns:a16="http://schemas.microsoft.com/office/drawing/2014/main" id="{28052055-B47A-5663-8A6D-91C573AD92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3256"/>
                          <a:ext cx="206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4" name="Object 74">
              <a:extLst>
                <a:ext uri="{FF2B5EF4-FFF2-40B4-BE49-F238E27FC236}">
                  <a16:creationId xmlns:a16="http://schemas.microsoft.com/office/drawing/2014/main" id="{4A7A9BED-C70A-DFB2-F959-F9E38FF2D0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6" y="2968"/>
            <a:ext cx="161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8" imgW="83602" imgH="106735" progId="Equation.3">
                    <p:embed/>
                  </p:oleObj>
                </mc:Choice>
                <mc:Fallback>
                  <p:oleObj name="公式" r:id="rId48" imgW="83602" imgH="106735" progId="Equation.3">
                    <p:embed/>
                    <p:pic>
                      <p:nvPicPr>
                        <p:cNvPr id="23594" name="Object 74">
                          <a:extLst>
                            <a:ext uri="{FF2B5EF4-FFF2-40B4-BE49-F238E27FC236}">
                              <a16:creationId xmlns:a16="http://schemas.microsoft.com/office/drawing/2014/main" id="{4A7A9BED-C70A-DFB2-F959-F9E38FF2D0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968"/>
                          <a:ext cx="161" cy="1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5" name="Object 75">
              <a:extLst>
                <a:ext uri="{FF2B5EF4-FFF2-40B4-BE49-F238E27FC236}">
                  <a16:creationId xmlns:a16="http://schemas.microsoft.com/office/drawing/2014/main" id="{A8EA8DFB-A716-9E2A-66C2-6F2CE3C253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4" y="2488"/>
            <a:ext cx="206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0" imgW="121920" imgH="167585" progId="Equation.3">
                    <p:embed/>
                  </p:oleObj>
                </mc:Choice>
                <mc:Fallback>
                  <p:oleObj name="公式" r:id="rId50" imgW="121920" imgH="167585" progId="Equation.3">
                    <p:embed/>
                    <p:pic>
                      <p:nvPicPr>
                        <p:cNvPr id="23595" name="Object 75">
                          <a:extLst>
                            <a:ext uri="{FF2B5EF4-FFF2-40B4-BE49-F238E27FC236}">
                              <a16:creationId xmlns:a16="http://schemas.microsoft.com/office/drawing/2014/main" id="{A8EA8DFB-A716-9E2A-66C2-6F2CE3C253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488"/>
                          <a:ext cx="206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6" name="Object 76">
              <a:extLst>
                <a:ext uri="{FF2B5EF4-FFF2-40B4-BE49-F238E27FC236}">
                  <a16:creationId xmlns:a16="http://schemas.microsoft.com/office/drawing/2014/main" id="{5ADC40B4-15A1-464A-FB59-2DAEB4B381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8" y="2995"/>
            <a:ext cx="177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2" imgW="91564" imgH="144641" progId="Equation.3">
                    <p:embed/>
                  </p:oleObj>
                </mc:Choice>
                <mc:Fallback>
                  <p:oleObj name="公式" r:id="rId52" imgW="91564" imgH="144641" progId="Equation.3">
                    <p:embed/>
                    <p:pic>
                      <p:nvPicPr>
                        <p:cNvPr id="23596" name="Object 76">
                          <a:extLst>
                            <a:ext uri="{FF2B5EF4-FFF2-40B4-BE49-F238E27FC236}">
                              <a16:creationId xmlns:a16="http://schemas.microsoft.com/office/drawing/2014/main" id="{5ADC40B4-15A1-464A-FB59-2DAEB4B381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2995"/>
                          <a:ext cx="177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97" name="Group 77">
              <a:extLst>
                <a:ext uri="{FF2B5EF4-FFF2-40B4-BE49-F238E27FC236}">
                  <a16:creationId xmlns:a16="http://schemas.microsoft.com/office/drawing/2014/main" id="{850BEA65-8103-917B-0318-1A37296053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3072"/>
              <a:ext cx="520" cy="1035"/>
              <a:chOff x="3984" y="768"/>
              <a:chExt cx="520" cy="1035"/>
            </a:xfrm>
          </p:grpSpPr>
          <p:sp>
            <p:nvSpPr>
              <p:cNvPr id="23598" name="Line 78">
                <a:extLst>
                  <a:ext uri="{FF2B5EF4-FFF2-40B4-BE49-F238E27FC236}">
                    <a16:creationId xmlns:a16="http://schemas.microsoft.com/office/drawing/2014/main" id="{05EA8486-62C8-C606-7CDB-99CC0515D3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24" y="1240"/>
                <a:ext cx="280" cy="392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23599" name="Line 79">
                <a:extLst>
                  <a:ext uri="{FF2B5EF4-FFF2-40B4-BE49-F238E27FC236}">
                    <a16:creationId xmlns:a16="http://schemas.microsoft.com/office/drawing/2014/main" id="{A3AD3AC7-64DC-F44D-C109-69BDD1410D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128" y="960"/>
                <a:ext cx="376" cy="287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graphicFrame>
            <p:nvGraphicFramePr>
              <p:cNvPr id="23600" name="Object 80">
                <a:extLst>
                  <a:ext uri="{FF2B5EF4-FFF2-40B4-BE49-F238E27FC236}">
                    <a16:creationId xmlns:a16="http://schemas.microsoft.com/office/drawing/2014/main" id="{182A0A80-254B-2527-C9BA-64889CA4DC9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80" y="1440"/>
              <a:ext cx="197" cy="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4" imgW="68673" imgH="243895" progId="Equation.3">
                      <p:embed/>
                    </p:oleObj>
                  </mc:Choice>
                  <mc:Fallback>
                    <p:oleObj name="公式" r:id="rId54" imgW="68673" imgH="243895" progId="Equation.3">
                      <p:embed/>
                      <p:pic>
                        <p:nvPicPr>
                          <p:cNvPr id="23600" name="Object 80">
                            <a:extLst>
                              <a:ext uri="{FF2B5EF4-FFF2-40B4-BE49-F238E27FC236}">
                                <a16:creationId xmlns:a16="http://schemas.microsoft.com/office/drawing/2014/main" id="{182A0A80-254B-2527-C9BA-64889CA4DC9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1440"/>
                            <a:ext cx="197" cy="3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601" name="Object 81">
                <a:extLst>
                  <a:ext uri="{FF2B5EF4-FFF2-40B4-BE49-F238E27FC236}">
                    <a16:creationId xmlns:a16="http://schemas.microsoft.com/office/drawing/2014/main" id="{9DB933DF-991F-F0A8-4AEE-BA3C2B4DF4D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84" y="768"/>
              <a:ext cx="141" cy="3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6" imgW="68673" imgH="243895" progId="Equation.3">
                      <p:embed/>
                    </p:oleObj>
                  </mc:Choice>
                  <mc:Fallback>
                    <p:oleObj name="公式" r:id="rId56" imgW="68673" imgH="243895" progId="Equation.3">
                      <p:embed/>
                      <p:pic>
                        <p:nvPicPr>
                          <p:cNvPr id="23601" name="Object 81">
                            <a:extLst>
                              <a:ext uri="{FF2B5EF4-FFF2-40B4-BE49-F238E27FC236}">
                                <a16:creationId xmlns:a16="http://schemas.microsoft.com/office/drawing/2014/main" id="{9DB933DF-991F-F0A8-4AEE-BA3C2B4DF4D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4" y="768"/>
                            <a:ext cx="141" cy="3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73810" name="Object 82">
            <a:extLst>
              <a:ext uri="{FF2B5EF4-FFF2-40B4-BE49-F238E27FC236}">
                <a16:creationId xmlns:a16="http://schemas.microsoft.com/office/drawing/2014/main" id="{CC5448DE-F34D-C325-D522-32B0594B7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53266"/>
              </p:ext>
            </p:extLst>
          </p:nvPr>
        </p:nvGraphicFramePr>
        <p:xfrm>
          <a:off x="2160588" y="112713"/>
          <a:ext cx="21240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8" imgW="1005716" imgH="205989" progId="Equation.3">
                  <p:embed/>
                </p:oleObj>
              </mc:Choice>
              <mc:Fallback>
                <p:oleObj name="公式" r:id="rId58" imgW="1005716" imgH="205989" progId="Equation.3">
                  <p:embed/>
                  <p:pic>
                    <p:nvPicPr>
                      <p:cNvPr id="73810" name="Object 82">
                        <a:extLst>
                          <a:ext uri="{FF2B5EF4-FFF2-40B4-BE49-F238E27FC236}">
                            <a16:creationId xmlns:a16="http://schemas.microsoft.com/office/drawing/2014/main" id="{CC5448DE-F34D-C325-D522-32B0594B7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112713"/>
                        <a:ext cx="2124075" cy="508000"/>
                      </a:xfrm>
                      <a:prstGeom prst="rect">
                        <a:avLst/>
                      </a:prstGeom>
                      <a:solidFill>
                        <a:srgbClr val="0000FF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3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7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Text Box 2">
            <a:extLst>
              <a:ext uri="{FF2B5EF4-FFF2-40B4-BE49-F238E27FC236}">
                <a16:creationId xmlns:a16="http://schemas.microsoft.com/office/drawing/2014/main" id="{CB07DEEF-8637-1D49-D5A7-2A249BBF8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347663"/>
            <a:ext cx="8069262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25000"/>
              </a:lnSpc>
              <a:buFont typeface="Monotype Sorts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一长为</a:t>
            </a:r>
            <a:r>
              <a:rPr lang="zh-CN" altLang="en-US"/>
              <a:t> </a:t>
            </a:r>
            <a:r>
              <a:rPr lang="en-US" altLang="zh-CN" i="1">
                <a:solidFill>
                  <a:srgbClr val="66FFFF"/>
                </a:solidFill>
              </a:rPr>
              <a:t>l </a:t>
            </a:r>
            <a:r>
              <a:rPr lang="en-US" altLang="zh-CN" i="1"/>
              <a:t> </a:t>
            </a:r>
            <a:r>
              <a:rPr lang="zh-CN" altLang="en-US">
                <a:latin typeface="宋体" panose="02010600030101010101" pitchFamily="2" charset="-122"/>
              </a:rPr>
              <a:t>的匀质细杆，可绕通过中心的固定水平轴在铅垂面内自由转动，开始时杆静止于水平位置。一质量与杆相同的昆虫以速度</a:t>
            </a:r>
            <a:r>
              <a:rPr lang="zh-CN" altLang="en-US"/>
              <a:t> </a:t>
            </a:r>
            <a:r>
              <a:rPr lang="en-US" altLang="zh-CN" b="0" i="1">
                <a:solidFill>
                  <a:srgbClr val="66FFFF"/>
                </a:solidFill>
                <a:latin typeface="Bookman Old Style" panose="02050604050505020204" pitchFamily="18" charset="0"/>
              </a:rPr>
              <a:t>v</a:t>
            </a:r>
            <a:r>
              <a:rPr lang="en-US" altLang="zh-CN" sz="2000" b="0" i="1" baseline="-25000">
                <a:solidFill>
                  <a:srgbClr val="66FFFF"/>
                </a:solidFill>
                <a:latin typeface="Bookman Old Style" panose="02050604050505020204" pitchFamily="18" charset="0"/>
              </a:rPr>
              <a:t>0</a:t>
            </a:r>
            <a:r>
              <a:rPr lang="en-US" altLang="zh-CN" sz="2000" b="0" i="1" baseline="-25000">
                <a:solidFill>
                  <a:srgbClr val="66FFFF"/>
                </a:solidFill>
              </a:rPr>
              <a:t> </a:t>
            </a:r>
            <a:r>
              <a:rPr lang="zh-CN" altLang="en-US">
                <a:latin typeface="宋体" panose="02010600030101010101" pitchFamily="2" charset="-122"/>
              </a:rPr>
              <a:t>垂直落到距点</a:t>
            </a:r>
            <a:r>
              <a:rPr lang="zh-CN" altLang="en-US"/>
              <a:t> </a:t>
            </a:r>
            <a:r>
              <a:rPr lang="en-US" altLang="zh-CN" i="1"/>
              <a:t>O</a:t>
            </a:r>
            <a:r>
              <a:rPr lang="en-US" altLang="zh-CN"/>
              <a:t> </a:t>
            </a:r>
            <a:r>
              <a:rPr lang="en-US" altLang="zh-CN" i="1">
                <a:solidFill>
                  <a:srgbClr val="66FFFF"/>
                </a:solidFill>
              </a:rPr>
              <a:t>l</a:t>
            </a:r>
            <a:r>
              <a:rPr lang="en-US" altLang="zh-CN">
                <a:solidFill>
                  <a:srgbClr val="66FFFF"/>
                </a:solidFill>
              </a:rPr>
              <a:t>/4</a:t>
            </a:r>
            <a:r>
              <a:rPr lang="en-US" altLang="zh-CN" i="1">
                <a:solidFill>
                  <a:srgbClr val="66FFFF"/>
                </a:solidFill>
              </a:rPr>
              <a:t> </a:t>
            </a:r>
            <a:r>
              <a:rPr lang="zh-CN" altLang="en-US">
                <a:latin typeface="宋体" panose="02010600030101010101" pitchFamily="2" charset="-122"/>
              </a:rPr>
              <a:t>处的杆上，昆虫落下后立即向杆的端点爬行，如图所示。若要使杆以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匀角速度转动</a:t>
            </a:r>
          </a:p>
        </p:txBody>
      </p:sp>
      <p:graphicFrame>
        <p:nvGraphicFramePr>
          <p:cNvPr id="433155" name="Object 2">
            <a:extLst>
              <a:ext uri="{FF2B5EF4-FFF2-40B4-BE49-F238E27FC236}">
                <a16:creationId xmlns:a16="http://schemas.microsoft.com/office/drawing/2014/main" id="{681D86C5-098E-293B-D3CD-2A90E2B8C0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0271103"/>
              </p:ext>
            </p:extLst>
          </p:nvPr>
        </p:nvGraphicFramePr>
        <p:xfrm>
          <a:off x="1733550" y="4838700"/>
          <a:ext cx="384651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55658" imgH="815479" progId="Equation.3">
                  <p:embed/>
                </p:oleObj>
              </mc:Choice>
              <mc:Fallback>
                <p:oleObj name="Equation" r:id="rId2" imgW="3855658" imgH="815479" progId="Equation.3">
                  <p:embed/>
                  <p:pic>
                    <p:nvPicPr>
                      <p:cNvPr id="433155" name="Object 2">
                        <a:extLst>
                          <a:ext uri="{FF2B5EF4-FFF2-40B4-BE49-F238E27FC236}">
                            <a16:creationId xmlns:a16="http://schemas.microsoft.com/office/drawing/2014/main" id="{681D86C5-098E-293B-D3CD-2A90E2B8C0C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4838700"/>
                        <a:ext cx="3846513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56" name="Object 3">
            <a:extLst>
              <a:ext uri="{FF2B5EF4-FFF2-40B4-BE49-F238E27FC236}">
                <a16:creationId xmlns:a16="http://schemas.microsoft.com/office/drawing/2014/main" id="{C1C97D63-002E-633F-C77A-2154BB5C51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1868909"/>
              </p:ext>
            </p:extLst>
          </p:nvPr>
        </p:nvGraphicFramePr>
        <p:xfrm>
          <a:off x="1722438" y="5734050"/>
          <a:ext cx="13747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64011" imgH="815479" progId="Equation.3">
                  <p:embed/>
                </p:oleObj>
              </mc:Choice>
              <mc:Fallback>
                <p:oleObj name="Equation" r:id="rId4" imgW="1364011" imgH="815479" progId="Equation.3">
                  <p:embed/>
                  <p:pic>
                    <p:nvPicPr>
                      <p:cNvPr id="433156" name="Object 3">
                        <a:extLst>
                          <a:ext uri="{FF2B5EF4-FFF2-40B4-BE49-F238E27FC236}">
                            <a16:creationId xmlns:a16="http://schemas.microsoft.com/office/drawing/2014/main" id="{C1C97D63-002E-633F-C77A-2154BB5C51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438" y="5734050"/>
                        <a:ext cx="137477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>
            <a:extLst>
              <a:ext uri="{FF2B5EF4-FFF2-40B4-BE49-F238E27FC236}">
                <a16:creationId xmlns:a16="http://schemas.microsoft.com/office/drawing/2014/main" id="{27AC9BA4-6DF6-BE60-895F-27BF4CE9F84D}"/>
              </a:ext>
            </a:extLst>
          </p:cNvPr>
          <p:cNvGrpSpPr>
            <a:grpSpLocks/>
          </p:cNvGrpSpPr>
          <p:nvPr/>
        </p:nvGrpSpPr>
        <p:grpSpPr bwMode="auto">
          <a:xfrm>
            <a:off x="7716838" y="3463925"/>
            <a:ext cx="180975" cy="322263"/>
            <a:chOff x="4495" y="2334"/>
            <a:chExt cx="114" cy="203"/>
          </a:xfrm>
        </p:grpSpPr>
        <p:grpSp>
          <p:nvGrpSpPr>
            <p:cNvPr id="11475" name="Group 6">
              <a:extLst>
                <a:ext uri="{FF2B5EF4-FFF2-40B4-BE49-F238E27FC236}">
                  <a16:creationId xmlns:a16="http://schemas.microsoft.com/office/drawing/2014/main" id="{11B4AB3D-3B5D-64E8-B624-BB9D18D5A9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5" y="2334"/>
              <a:ext cx="114" cy="203"/>
              <a:chOff x="4495" y="2334"/>
              <a:chExt cx="114" cy="203"/>
            </a:xfrm>
          </p:grpSpPr>
          <p:sp>
            <p:nvSpPr>
              <p:cNvPr id="11540" name="Freeform 7">
                <a:extLst>
                  <a:ext uri="{FF2B5EF4-FFF2-40B4-BE49-F238E27FC236}">
                    <a16:creationId xmlns:a16="http://schemas.microsoft.com/office/drawing/2014/main" id="{56741DB1-9FE5-C7B4-EE22-45C5C7E691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3" y="2346"/>
                <a:ext cx="36" cy="71"/>
              </a:xfrm>
              <a:custGeom>
                <a:avLst/>
                <a:gdLst>
                  <a:gd name="T0" fmla="*/ 36 w 36"/>
                  <a:gd name="T1" fmla="*/ 71 h 71"/>
                  <a:gd name="T2" fmla="*/ 30 w 36"/>
                  <a:gd name="T3" fmla="*/ 71 h 71"/>
                  <a:gd name="T4" fmla="*/ 24 w 36"/>
                  <a:gd name="T5" fmla="*/ 71 h 71"/>
                  <a:gd name="T6" fmla="*/ 12 w 36"/>
                  <a:gd name="T7" fmla="*/ 65 h 71"/>
                  <a:gd name="T8" fmla="*/ 6 w 36"/>
                  <a:gd name="T9" fmla="*/ 59 h 71"/>
                  <a:gd name="T10" fmla="*/ 0 w 36"/>
                  <a:gd name="T11" fmla="*/ 54 h 71"/>
                  <a:gd name="T12" fmla="*/ 0 w 36"/>
                  <a:gd name="T13" fmla="*/ 48 h 71"/>
                  <a:gd name="T14" fmla="*/ 0 w 36"/>
                  <a:gd name="T15" fmla="*/ 42 h 71"/>
                  <a:gd name="T16" fmla="*/ 0 w 36"/>
                  <a:gd name="T17" fmla="*/ 42 h 71"/>
                  <a:gd name="T18" fmla="*/ 6 w 36"/>
                  <a:gd name="T19" fmla="*/ 36 h 71"/>
                  <a:gd name="T20" fmla="*/ 12 w 36"/>
                  <a:gd name="T21" fmla="*/ 30 h 71"/>
                  <a:gd name="T22" fmla="*/ 12 w 36"/>
                  <a:gd name="T23" fmla="*/ 30 h 71"/>
                  <a:gd name="T24" fmla="*/ 12 w 36"/>
                  <a:gd name="T25" fmla="*/ 12 h 71"/>
                  <a:gd name="T26" fmla="*/ 12 w 36"/>
                  <a:gd name="T27" fmla="*/ 0 h 71"/>
                  <a:gd name="T28" fmla="*/ 12 w 36"/>
                  <a:gd name="T29" fmla="*/ 12 h 71"/>
                  <a:gd name="T30" fmla="*/ 12 w 36"/>
                  <a:gd name="T31" fmla="*/ 6 h 71"/>
                  <a:gd name="T32" fmla="*/ 12 w 36"/>
                  <a:gd name="T33" fmla="*/ 12 h 71"/>
                  <a:gd name="T34" fmla="*/ 18 w 36"/>
                  <a:gd name="T35" fmla="*/ 18 h 71"/>
                  <a:gd name="T36" fmla="*/ 18 w 36"/>
                  <a:gd name="T37" fmla="*/ 24 h 71"/>
                  <a:gd name="T38" fmla="*/ 18 w 36"/>
                  <a:gd name="T39" fmla="*/ 24 h 71"/>
                  <a:gd name="T40" fmla="*/ 18 w 36"/>
                  <a:gd name="T41" fmla="*/ 24 h 71"/>
                  <a:gd name="T42" fmla="*/ 18 w 36"/>
                  <a:gd name="T43" fmla="*/ 24 h 71"/>
                  <a:gd name="T44" fmla="*/ 18 w 36"/>
                  <a:gd name="T45" fmla="*/ 30 h 71"/>
                  <a:gd name="T46" fmla="*/ 18 w 36"/>
                  <a:gd name="T47" fmla="*/ 36 h 71"/>
                  <a:gd name="T48" fmla="*/ 12 w 36"/>
                  <a:gd name="T49" fmla="*/ 42 h 71"/>
                  <a:gd name="T50" fmla="*/ 0 w 36"/>
                  <a:gd name="T51" fmla="*/ 48 h 71"/>
                  <a:gd name="T52" fmla="*/ 6 w 36"/>
                  <a:gd name="T53" fmla="*/ 48 h 71"/>
                  <a:gd name="T54" fmla="*/ 6 w 36"/>
                  <a:gd name="T55" fmla="*/ 48 h 71"/>
                  <a:gd name="T56" fmla="*/ 12 w 36"/>
                  <a:gd name="T57" fmla="*/ 48 h 71"/>
                  <a:gd name="T58" fmla="*/ 18 w 36"/>
                  <a:gd name="T59" fmla="*/ 54 h 71"/>
                  <a:gd name="T60" fmla="*/ 30 w 36"/>
                  <a:gd name="T61" fmla="*/ 54 h 71"/>
                  <a:gd name="T62" fmla="*/ 36 w 36"/>
                  <a:gd name="T63" fmla="*/ 59 h 71"/>
                  <a:gd name="T64" fmla="*/ 36 w 36"/>
                  <a:gd name="T65" fmla="*/ 71 h 71"/>
                  <a:gd name="T66" fmla="*/ 36 w 36"/>
                  <a:gd name="T67" fmla="*/ 71 h 7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6"/>
                  <a:gd name="T103" fmla="*/ 0 h 71"/>
                  <a:gd name="T104" fmla="*/ 36 w 36"/>
                  <a:gd name="T105" fmla="*/ 71 h 7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6" h="71">
                    <a:moveTo>
                      <a:pt x="36" y="71"/>
                    </a:moveTo>
                    <a:lnTo>
                      <a:pt x="30" y="71"/>
                    </a:lnTo>
                    <a:lnTo>
                      <a:pt x="24" y="71"/>
                    </a:lnTo>
                    <a:lnTo>
                      <a:pt x="12" y="65"/>
                    </a:lnTo>
                    <a:lnTo>
                      <a:pt x="6" y="59"/>
                    </a:lnTo>
                    <a:lnTo>
                      <a:pt x="0" y="54"/>
                    </a:lnTo>
                    <a:lnTo>
                      <a:pt x="0" y="48"/>
                    </a:lnTo>
                    <a:lnTo>
                      <a:pt x="0" y="42"/>
                    </a:lnTo>
                    <a:lnTo>
                      <a:pt x="6" y="36"/>
                    </a:lnTo>
                    <a:lnTo>
                      <a:pt x="12" y="30"/>
                    </a:lnTo>
                    <a:lnTo>
                      <a:pt x="12" y="12"/>
                    </a:lnTo>
                    <a:lnTo>
                      <a:pt x="12" y="0"/>
                    </a:lnTo>
                    <a:lnTo>
                      <a:pt x="12" y="12"/>
                    </a:lnTo>
                    <a:lnTo>
                      <a:pt x="12" y="6"/>
                    </a:lnTo>
                    <a:lnTo>
                      <a:pt x="12" y="12"/>
                    </a:lnTo>
                    <a:lnTo>
                      <a:pt x="18" y="18"/>
                    </a:lnTo>
                    <a:lnTo>
                      <a:pt x="18" y="24"/>
                    </a:lnTo>
                    <a:lnTo>
                      <a:pt x="18" y="30"/>
                    </a:lnTo>
                    <a:lnTo>
                      <a:pt x="18" y="36"/>
                    </a:lnTo>
                    <a:lnTo>
                      <a:pt x="12" y="42"/>
                    </a:lnTo>
                    <a:lnTo>
                      <a:pt x="0" y="48"/>
                    </a:lnTo>
                    <a:lnTo>
                      <a:pt x="6" y="48"/>
                    </a:lnTo>
                    <a:lnTo>
                      <a:pt x="12" y="48"/>
                    </a:lnTo>
                    <a:lnTo>
                      <a:pt x="18" y="54"/>
                    </a:lnTo>
                    <a:lnTo>
                      <a:pt x="30" y="54"/>
                    </a:lnTo>
                    <a:lnTo>
                      <a:pt x="36" y="59"/>
                    </a:lnTo>
                    <a:lnTo>
                      <a:pt x="36" y="71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41" name="Freeform 8">
                <a:extLst>
                  <a:ext uri="{FF2B5EF4-FFF2-40B4-BE49-F238E27FC236}">
                    <a16:creationId xmlns:a16="http://schemas.microsoft.com/office/drawing/2014/main" id="{CDC827DC-AED6-46AA-9AB6-5D23DE834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3" y="2400"/>
                <a:ext cx="42" cy="35"/>
              </a:xfrm>
              <a:custGeom>
                <a:avLst/>
                <a:gdLst>
                  <a:gd name="T0" fmla="*/ 30 w 42"/>
                  <a:gd name="T1" fmla="*/ 11 h 35"/>
                  <a:gd name="T2" fmla="*/ 36 w 42"/>
                  <a:gd name="T3" fmla="*/ 5 h 35"/>
                  <a:gd name="T4" fmla="*/ 30 w 42"/>
                  <a:gd name="T5" fmla="*/ 5 h 35"/>
                  <a:gd name="T6" fmla="*/ 18 w 42"/>
                  <a:gd name="T7" fmla="*/ 0 h 35"/>
                  <a:gd name="T8" fmla="*/ 0 w 42"/>
                  <a:gd name="T9" fmla="*/ 17 h 35"/>
                  <a:gd name="T10" fmla="*/ 18 w 42"/>
                  <a:gd name="T11" fmla="*/ 29 h 35"/>
                  <a:gd name="T12" fmla="*/ 30 w 42"/>
                  <a:gd name="T13" fmla="*/ 35 h 35"/>
                  <a:gd name="T14" fmla="*/ 42 w 42"/>
                  <a:gd name="T15" fmla="*/ 29 h 35"/>
                  <a:gd name="T16" fmla="*/ 30 w 42"/>
                  <a:gd name="T17" fmla="*/ 11 h 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2"/>
                  <a:gd name="T28" fmla="*/ 0 h 35"/>
                  <a:gd name="T29" fmla="*/ 42 w 42"/>
                  <a:gd name="T30" fmla="*/ 35 h 3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2" h="35">
                    <a:moveTo>
                      <a:pt x="30" y="11"/>
                    </a:moveTo>
                    <a:lnTo>
                      <a:pt x="36" y="5"/>
                    </a:lnTo>
                    <a:lnTo>
                      <a:pt x="30" y="5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29"/>
                    </a:lnTo>
                    <a:lnTo>
                      <a:pt x="30" y="35"/>
                    </a:lnTo>
                    <a:lnTo>
                      <a:pt x="42" y="29"/>
                    </a:lnTo>
                    <a:lnTo>
                      <a:pt x="30" y="11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42" name="Freeform 9">
                <a:extLst>
                  <a:ext uri="{FF2B5EF4-FFF2-40B4-BE49-F238E27FC236}">
                    <a16:creationId xmlns:a16="http://schemas.microsoft.com/office/drawing/2014/main" id="{9C6AC87B-DC53-A6AF-4A5C-0203FC5A1A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7" y="2388"/>
                <a:ext cx="24" cy="29"/>
              </a:xfrm>
              <a:custGeom>
                <a:avLst/>
                <a:gdLst>
                  <a:gd name="T0" fmla="*/ 24 w 24"/>
                  <a:gd name="T1" fmla="*/ 12 h 29"/>
                  <a:gd name="T2" fmla="*/ 24 w 24"/>
                  <a:gd name="T3" fmla="*/ 6 h 29"/>
                  <a:gd name="T4" fmla="*/ 18 w 24"/>
                  <a:gd name="T5" fmla="*/ 6 h 29"/>
                  <a:gd name="T6" fmla="*/ 6 w 24"/>
                  <a:gd name="T7" fmla="*/ 0 h 29"/>
                  <a:gd name="T8" fmla="*/ 6 w 24"/>
                  <a:gd name="T9" fmla="*/ 23 h 29"/>
                  <a:gd name="T10" fmla="*/ 0 w 24"/>
                  <a:gd name="T11" fmla="*/ 23 h 29"/>
                  <a:gd name="T12" fmla="*/ 6 w 24"/>
                  <a:gd name="T13" fmla="*/ 29 h 29"/>
                  <a:gd name="T14" fmla="*/ 6 w 24"/>
                  <a:gd name="T15" fmla="*/ 29 h 29"/>
                  <a:gd name="T16" fmla="*/ 6 w 24"/>
                  <a:gd name="T17" fmla="*/ 29 h 29"/>
                  <a:gd name="T18" fmla="*/ 24 w 24"/>
                  <a:gd name="T19" fmla="*/ 12 h 29"/>
                  <a:gd name="T20" fmla="*/ 6 w 24"/>
                  <a:gd name="T21" fmla="*/ 29 h 29"/>
                  <a:gd name="T22" fmla="*/ 6 w 24"/>
                  <a:gd name="T23" fmla="*/ 29 h 29"/>
                  <a:gd name="T24" fmla="*/ 6 w 24"/>
                  <a:gd name="T25" fmla="*/ 29 h 29"/>
                  <a:gd name="T26" fmla="*/ 18 w 24"/>
                  <a:gd name="T27" fmla="*/ 23 h 29"/>
                  <a:gd name="T28" fmla="*/ 6 w 24"/>
                  <a:gd name="T29" fmla="*/ 29 h 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"/>
                  <a:gd name="T46" fmla="*/ 0 h 29"/>
                  <a:gd name="T47" fmla="*/ 24 w 24"/>
                  <a:gd name="T48" fmla="*/ 29 h 2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" h="29">
                    <a:moveTo>
                      <a:pt x="24" y="12"/>
                    </a:moveTo>
                    <a:lnTo>
                      <a:pt x="24" y="6"/>
                    </a:lnTo>
                    <a:lnTo>
                      <a:pt x="18" y="6"/>
                    </a:lnTo>
                    <a:lnTo>
                      <a:pt x="6" y="0"/>
                    </a:lnTo>
                    <a:lnTo>
                      <a:pt x="6" y="23"/>
                    </a:lnTo>
                    <a:lnTo>
                      <a:pt x="0" y="23"/>
                    </a:lnTo>
                    <a:lnTo>
                      <a:pt x="6" y="29"/>
                    </a:lnTo>
                    <a:lnTo>
                      <a:pt x="24" y="12"/>
                    </a:lnTo>
                    <a:close/>
                    <a:moveTo>
                      <a:pt x="6" y="29"/>
                    </a:moveTo>
                    <a:lnTo>
                      <a:pt x="6" y="29"/>
                    </a:lnTo>
                    <a:lnTo>
                      <a:pt x="18" y="23"/>
                    </a:lnTo>
                    <a:lnTo>
                      <a:pt x="6" y="29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43" name="Freeform 10">
                <a:extLst>
                  <a:ext uri="{FF2B5EF4-FFF2-40B4-BE49-F238E27FC236}">
                    <a16:creationId xmlns:a16="http://schemas.microsoft.com/office/drawing/2014/main" id="{8029D904-A786-702B-786E-2F3EC7FFFF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382"/>
                <a:ext cx="24" cy="35"/>
              </a:xfrm>
              <a:custGeom>
                <a:avLst/>
                <a:gdLst>
                  <a:gd name="T0" fmla="*/ 24 w 24"/>
                  <a:gd name="T1" fmla="*/ 12 h 35"/>
                  <a:gd name="T2" fmla="*/ 24 w 24"/>
                  <a:gd name="T3" fmla="*/ 12 h 35"/>
                  <a:gd name="T4" fmla="*/ 24 w 24"/>
                  <a:gd name="T5" fmla="*/ 18 h 35"/>
                  <a:gd name="T6" fmla="*/ 6 w 24"/>
                  <a:gd name="T7" fmla="*/ 0 h 35"/>
                  <a:gd name="T8" fmla="*/ 0 w 24"/>
                  <a:gd name="T9" fmla="*/ 12 h 35"/>
                  <a:gd name="T10" fmla="*/ 6 w 24"/>
                  <a:gd name="T11" fmla="*/ 23 h 35"/>
                  <a:gd name="T12" fmla="*/ 12 w 24"/>
                  <a:gd name="T13" fmla="*/ 29 h 35"/>
                  <a:gd name="T14" fmla="*/ 12 w 24"/>
                  <a:gd name="T15" fmla="*/ 29 h 35"/>
                  <a:gd name="T16" fmla="*/ 24 w 24"/>
                  <a:gd name="T17" fmla="*/ 12 h 35"/>
                  <a:gd name="T18" fmla="*/ 12 w 24"/>
                  <a:gd name="T19" fmla="*/ 29 h 35"/>
                  <a:gd name="T20" fmla="*/ 18 w 24"/>
                  <a:gd name="T21" fmla="*/ 35 h 35"/>
                  <a:gd name="T22" fmla="*/ 18 w 24"/>
                  <a:gd name="T23" fmla="*/ 29 h 35"/>
                  <a:gd name="T24" fmla="*/ 18 w 24"/>
                  <a:gd name="T25" fmla="*/ 18 h 35"/>
                  <a:gd name="T26" fmla="*/ 12 w 24"/>
                  <a:gd name="T27" fmla="*/ 29 h 3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4"/>
                  <a:gd name="T43" fmla="*/ 0 h 35"/>
                  <a:gd name="T44" fmla="*/ 24 w 24"/>
                  <a:gd name="T45" fmla="*/ 35 h 3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4" h="35">
                    <a:moveTo>
                      <a:pt x="24" y="12"/>
                    </a:moveTo>
                    <a:lnTo>
                      <a:pt x="24" y="12"/>
                    </a:lnTo>
                    <a:lnTo>
                      <a:pt x="24" y="18"/>
                    </a:lnTo>
                    <a:lnTo>
                      <a:pt x="6" y="0"/>
                    </a:lnTo>
                    <a:lnTo>
                      <a:pt x="0" y="12"/>
                    </a:lnTo>
                    <a:lnTo>
                      <a:pt x="6" y="23"/>
                    </a:lnTo>
                    <a:lnTo>
                      <a:pt x="12" y="29"/>
                    </a:lnTo>
                    <a:lnTo>
                      <a:pt x="24" y="12"/>
                    </a:lnTo>
                    <a:close/>
                    <a:moveTo>
                      <a:pt x="12" y="29"/>
                    </a:moveTo>
                    <a:lnTo>
                      <a:pt x="18" y="35"/>
                    </a:lnTo>
                    <a:lnTo>
                      <a:pt x="18" y="29"/>
                    </a:lnTo>
                    <a:lnTo>
                      <a:pt x="18" y="18"/>
                    </a:lnTo>
                    <a:lnTo>
                      <a:pt x="12" y="29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44" name="Freeform 11">
                <a:extLst>
                  <a:ext uri="{FF2B5EF4-FFF2-40B4-BE49-F238E27FC236}">
                    <a16:creationId xmlns:a16="http://schemas.microsoft.com/office/drawing/2014/main" id="{05874B61-9E38-E45F-B81B-D9A8518AC3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1" y="2370"/>
                <a:ext cx="36" cy="30"/>
              </a:xfrm>
              <a:custGeom>
                <a:avLst/>
                <a:gdLst>
                  <a:gd name="T0" fmla="*/ 18 w 36"/>
                  <a:gd name="T1" fmla="*/ 30 h 30"/>
                  <a:gd name="T2" fmla="*/ 24 w 36"/>
                  <a:gd name="T3" fmla="*/ 30 h 30"/>
                  <a:gd name="T4" fmla="*/ 30 w 36"/>
                  <a:gd name="T5" fmla="*/ 24 h 30"/>
                  <a:gd name="T6" fmla="*/ 36 w 36"/>
                  <a:gd name="T7" fmla="*/ 12 h 30"/>
                  <a:gd name="T8" fmla="*/ 36 w 36"/>
                  <a:gd name="T9" fmla="*/ 6 h 30"/>
                  <a:gd name="T10" fmla="*/ 18 w 36"/>
                  <a:gd name="T11" fmla="*/ 12 h 30"/>
                  <a:gd name="T12" fmla="*/ 12 w 36"/>
                  <a:gd name="T13" fmla="*/ 0 h 30"/>
                  <a:gd name="T14" fmla="*/ 12 w 36"/>
                  <a:gd name="T15" fmla="*/ 6 h 30"/>
                  <a:gd name="T16" fmla="*/ 6 w 36"/>
                  <a:gd name="T17" fmla="*/ 12 h 30"/>
                  <a:gd name="T18" fmla="*/ 6 w 36"/>
                  <a:gd name="T19" fmla="*/ 12 h 30"/>
                  <a:gd name="T20" fmla="*/ 18 w 36"/>
                  <a:gd name="T21" fmla="*/ 30 h 30"/>
                  <a:gd name="T22" fmla="*/ 6 w 36"/>
                  <a:gd name="T23" fmla="*/ 12 h 30"/>
                  <a:gd name="T24" fmla="*/ 0 w 36"/>
                  <a:gd name="T25" fmla="*/ 12 h 30"/>
                  <a:gd name="T26" fmla="*/ 0 w 36"/>
                  <a:gd name="T27" fmla="*/ 12 h 30"/>
                  <a:gd name="T28" fmla="*/ 12 w 36"/>
                  <a:gd name="T29" fmla="*/ 18 h 30"/>
                  <a:gd name="T30" fmla="*/ 6 w 36"/>
                  <a:gd name="T31" fmla="*/ 12 h 3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6"/>
                  <a:gd name="T49" fmla="*/ 0 h 30"/>
                  <a:gd name="T50" fmla="*/ 36 w 36"/>
                  <a:gd name="T51" fmla="*/ 30 h 3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6" h="30">
                    <a:moveTo>
                      <a:pt x="18" y="30"/>
                    </a:moveTo>
                    <a:lnTo>
                      <a:pt x="24" y="30"/>
                    </a:lnTo>
                    <a:lnTo>
                      <a:pt x="30" y="24"/>
                    </a:lnTo>
                    <a:lnTo>
                      <a:pt x="36" y="12"/>
                    </a:lnTo>
                    <a:lnTo>
                      <a:pt x="36" y="6"/>
                    </a:lnTo>
                    <a:lnTo>
                      <a:pt x="18" y="12"/>
                    </a:lnTo>
                    <a:lnTo>
                      <a:pt x="12" y="0"/>
                    </a:lnTo>
                    <a:lnTo>
                      <a:pt x="12" y="6"/>
                    </a:lnTo>
                    <a:lnTo>
                      <a:pt x="6" y="12"/>
                    </a:lnTo>
                    <a:lnTo>
                      <a:pt x="18" y="30"/>
                    </a:lnTo>
                    <a:close/>
                    <a:moveTo>
                      <a:pt x="6" y="12"/>
                    </a:moveTo>
                    <a:lnTo>
                      <a:pt x="0" y="12"/>
                    </a:lnTo>
                    <a:lnTo>
                      <a:pt x="12" y="18"/>
                    </a:ln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45" name="Freeform 12">
                <a:extLst>
                  <a:ext uri="{FF2B5EF4-FFF2-40B4-BE49-F238E27FC236}">
                    <a16:creationId xmlns:a16="http://schemas.microsoft.com/office/drawing/2014/main" id="{1546BDE6-AA37-ABBF-AD75-BED71E22EC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352"/>
                <a:ext cx="24" cy="30"/>
              </a:xfrm>
              <a:custGeom>
                <a:avLst/>
                <a:gdLst>
                  <a:gd name="T0" fmla="*/ 24 w 24"/>
                  <a:gd name="T1" fmla="*/ 18 h 30"/>
                  <a:gd name="T2" fmla="*/ 24 w 24"/>
                  <a:gd name="T3" fmla="*/ 0 h 30"/>
                  <a:gd name="T4" fmla="*/ 0 w 24"/>
                  <a:gd name="T5" fmla="*/ 6 h 30"/>
                  <a:gd name="T6" fmla="*/ 0 w 24"/>
                  <a:gd name="T7" fmla="*/ 24 h 30"/>
                  <a:gd name="T8" fmla="*/ 24 w 24"/>
                  <a:gd name="T9" fmla="*/ 18 h 30"/>
                  <a:gd name="T10" fmla="*/ 0 w 24"/>
                  <a:gd name="T11" fmla="*/ 24 h 30"/>
                  <a:gd name="T12" fmla="*/ 0 w 24"/>
                  <a:gd name="T13" fmla="*/ 30 h 30"/>
                  <a:gd name="T14" fmla="*/ 6 w 24"/>
                  <a:gd name="T15" fmla="*/ 30 h 30"/>
                  <a:gd name="T16" fmla="*/ 12 w 24"/>
                  <a:gd name="T17" fmla="*/ 24 h 30"/>
                  <a:gd name="T18" fmla="*/ 0 w 24"/>
                  <a:gd name="T19" fmla="*/ 24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30"/>
                  <a:gd name="T32" fmla="*/ 24 w 24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30">
                    <a:moveTo>
                      <a:pt x="24" y="18"/>
                    </a:moveTo>
                    <a:lnTo>
                      <a:pt x="24" y="0"/>
                    </a:lnTo>
                    <a:lnTo>
                      <a:pt x="0" y="6"/>
                    </a:lnTo>
                    <a:lnTo>
                      <a:pt x="0" y="24"/>
                    </a:lnTo>
                    <a:lnTo>
                      <a:pt x="24" y="18"/>
                    </a:lnTo>
                    <a:close/>
                    <a:moveTo>
                      <a:pt x="0" y="24"/>
                    </a:moveTo>
                    <a:lnTo>
                      <a:pt x="0" y="30"/>
                    </a:lnTo>
                    <a:lnTo>
                      <a:pt x="6" y="30"/>
                    </a:lnTo>
                    <a:lnTo>
                      <a:pt x="12" y="24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46" name="Freeform 13">
                <a:extLst>
                  <a:ext uri="{FF2B5EF4-FFF2-40B4-BE49-F238E27FC236}">
                    <a16:creationId xmlns:a16="http://schemas.microsoft.com/office/drawing/2014/main" id="{E5A81392-73A1-BCD2-A16D-C5028B075B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346"/>
                <a:ext cx="24" cy="12"/>
              </a:xfrm>
              <a:custGeom>
                <a:avLst/>
                <a:gdLst>
                  <a:gd name="T0" fmla="*/ 24 w 24"/>
                  <a:gd name="T1" fmla="*/ 6 h 12"/>
                  <a:gd name="T2" fmla="*/ 24 w 24"/>
                  <a:gd name="T3" fmla="*/ 0 h 12"/>
                  <a:gd name="T4" fmla="*/ 0 w 24"/>
                  <a:gd name="T5" fmla="*/ 6 h 12"/>
                  <a:gd name="T6" fmla="*/ 0 w 24"/>
                  <a:gd name="T7" fmla="*/ 12 h 12"/>
                  <a:gd name="T8" fmla="*/ 24 w 24"/>
                  <a:gd name="T9" fmla="*/ 6 h 12"/>
                  <a:gd name="T10" fmla="*/ 24 w 24"/>
                  <a:gd name="T11" fmla="*/ 6 h 12"/>
                  <a:gd name="T12" fmla="*/ 24 w 24"/>
                  <a:gd name="T13" fmla="*/ 6 h 12"/>
                  <a:gd name="T14" fmla="*/ 24 w 24"/>
                  <a:gd name="T15" fmla="*/ 6 h 12"/>
                  <a:gd name="T16" fmla="*/ 12 w 24"/>
                  <a:gd name="T17" fmla="*/ 12 h 12"/>
                  <a:gd name="T18" fmla="*/ 24 w 24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12"/>
                  <a:gd name="T32" fmla="*/ 24 w 24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12">
                    <a:moveTo>
                      <a:pt x="24" y="6"/>
                    </a:moveTo>
                    <a:lnTo>
                      <a:pt x="24" y="0"/>
                    </a:lnTo>
                    <a:lnTo>
                      <a:pt x="0" y="6"/>
                    </a:lnTo>
                    <a:lnTo>
                      <a:pt x="0" y="12"/>
                    </a:lnTo>
                    <a:lnTo>
                      <a:pt x="24" y="6"/>
                    </a:lnTo>
                    <a:close/>
                    <a:moveTo>
                      <a:pt x="24" y="6"/>
                    </a:moveTo>
                    <a:lnTo>
                      <a:pt x="24" y="6"/>
                    </a:lnTo>
                    <a:lnTo>
                      <a:pt x="12" y="12"/>
                    </a:lnTo>
                    <a:lnTo>
                      <a:pt x="24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47" name="Freeform 14">
                <a:extLst>
                  <a:ext uri="{FF2B5EF4-FFF2-40B4-BE49-F238E27FC236}">
                    <a16:creationId xmlns:a16="http://schemas.microsoft.com/office/drawing/2014/main" id="{83D6A3D1-66EB-C977-C4A5-AC1C61A003C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346"/>
                <a:ext cx="24" cy="12"/>
              </a:xfrm>
              <a:custGeom>
                <a:avLst/>
                <a:gdLst>
                  <a:gd name="T0" fmla="*/ 0 w 24"/>
                  <a:gd name="T1" fmla="*/ 6 h 12"/>
                  <a:gd name="T2" fmla="*/ 0 w 24"/>
                  <a:gd name="T3" fmla="*/ 12 h 12"/>
                  <a:gd name="T4" fmla="*/ 24 w 24"/>
                  <a:gd name="T5" fmla="*/ 6 h 12"/>
                  <a:gd name="T6" fmla="*/ 24 w 24"/>
                  <a:gd name="T7" fmla="*/ 0 h 12"/>
                  <a:gd name="T8" fmla="*/ 0 w 24"/>
                  <a:gd name="T9" fmla="*/ 6 h 12"/>
                  <a:gd name="T10" fmla="*/ 24 w 24"/>
                  <a:gd name="T11" fmla="*/ 0 h 12"/>
                  <a:gd name="T12" fmla="*/ 0 w 24"/>
                  <a:gd name="T13" fmla="*/ 6 h 12"/>
                  <a:gd name="T14" fmla="*/ 24 w 24"/>
                  <a:gd name="T15" fmla="*/ 0 h 12"/>
                  <a:gd name="T16" fmla="*/ 0 w 24"/>
                  <a:gd name="T17" fmla="*/ 6 h 12"/>
                  <a:gd name="T18" fmla="*/ 24 w 24"/>
                  <a:gd name="T19" fmla="*/ 0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12"/>
                  <a:gd name="T32" fmla="*/ 24 w 24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12">
                    <a:moveTo>
                      <a:pt x="0" y="6"/>
                    </a:moveTo>
                    <a:lnTo>
                      <a:pt x="0" y="12"/>
                    </a:lnTo>
                    <a:lnTo>
                      <a:pt x="24" y="6"/>
                    </a:lnTo>
                    <a:lnTo>
                      <a:pt x="24" y="0"/>
                    </a:lnTo>
                    <a:lnTo>
                      <a:pt x="0" y="6"/>
                    </a:lnTo>
                    <a:close/>
                    <a:moveTo>
                      <a:pt x="24" y="0"/>
                    </a:moveTo>
                    <a:lnTo>
                      <a:pt x="0" y="6"/>
                    </a:lnTo>
                    <a:lnTo>
                      <a:pt x="24" y="0"/>
                    </a:lnTo>
                    <a:lnTo>
                      <a:pt x="0" y="6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48" name="Freeform 15">
                <a:extLst>
                  <a:ext uri="{FF2B5EF4-FFF2-40B4-BE49-F238E27FC236}">
                    <a16:creationId xmlns:a16="http://schemas.microsoft.com/office/drawing/2014/main" id="{73487B62-3BB7-5C36-D0A6-23D55F4443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352"/>
                <a:ext cx="24" cy="6"/>
              </a:xfrm>
              <a:custGeom>
                <a:avLst/>
                <a:gdLst>
                  <a:gd name="T0" fmla="*/ 24 w 24"/>
                  <a:gd name="T1" fmla="*/ 6 h 6"/>
                  <a:gd name="T2" fmla="*/ 24 w 24"/>
                  <a:gd name="T3" fmla="*/ 0 h 6"/>
                  <a:gd name="T4" fmla="*/ 0 w 24"/>
                  <a:gd name="T5" fmla="*/ 0 h 6"/>
                  <a:gd name="T6" fmla="*/ 0 w 24"/>
                  <a:gd name="T7" fmla="*/ 6 h 6"/>
                  <a:gd name="T8" fmla="*/ 24 w 24"/>
                  <a:gd name="T9" fmla="*/ 6 h 6"/>
                  <a:gd name="T10" fmla="*/ 0 w 24"/>
                  <a:gd name="T11" fmla="*/ 6 h 6"/>
                  <a:gd name="T12" fmla="*/ 24 w 24"/>
                  <a:gd name="T13" fmla="*/ 6 h 6"/>
                  <a:gd name="T14" fmla="*/ 0 w 24"/>
                  <a:gd name="T15" fmla="*/ 6 h 6"/>
                  <a:gd name="T16" fmla="*/ 24 w 24"/>
                  <a:gd name="T17" fmla="*/ 0 h 6"/>
                  <a:gd name="T18" fmla="*/ 0 w 24"/>
                  <a:gd name="T19" fmla="*/ 6 h 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6"/>
                  <a:gd name="T32" fmla="*/ 24 w 24"/>
                  <a:gd name="T33" fmla="*/ 6 h 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6">
                    <a:moveTo>
                      <a:pt x="24" y="6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24" y="6"/>
                    </a:lnTo>
                    <a:close/>
                    <a:moveTo>
                      <a:pt x="0" y="6"/>
                    </a:moveTo>
                    <a:lnTo>
                      <a:pt x="24" y="6"/>
                    </a:lnTo>
                    <a:lnTo>
                      <a:pt x="0" y="6"/>
                    </a:lnTo>
                    <a:lnTo>
                      <a:pt x="24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49" name="Freeform 16">
                <a:extLst>
                  <a:ext uri="{FF2B5EF4-FFF2-40B4-BE49-F238E27FC236}">
                    <a16:creationId xmlns:a16="http://schemas.microsoft.com/office/drawing/2014/main" id="{46CD7AA2-65D2-230F-1E61-17DBBDFBB9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352"/>
                <a:ext cx="24" cy="24"/>
              </a:xfrm>
              <a:custGeom>
                <a:avLst/>
                <a:gdLst>
                  <a:gd name="T0" fmla="*/ 0 w 24"/>
                  <a:gd name="T1" fmla="*/ 6 h 24"/>
                  <a:gd name="T2" fmla="*/ 0 w 24"/>
                  <a:gd name="T3" fmla="*/ 6 h 24"/>
                  <a:gd name="T4" fmla="*/ 0 w 24"/>
                  <a:gd name="T5" fmla="*/ 12 h 24"/>
                  <a:gd name="T6" fmla="*/ 6 w 24"/>
                  <a:gd name="T7" fmla="*/ 24 h 24"/>
                  <a:gd name="T8" fmla="*/ 6 w 24"/>
                  <a:gd name="T9" fmla="*/ 24 h 24"/>
                  <a:gd name="T10" fmla="*/ 6 w 24"/>
                  <a:gd name="T11" fmla="*/ 24 h 24"/>
                  <a:gd name="T12" fmla="*/ 6 w 24"/>
                  <a:gd name="T13" fmla="*/ 12 h 24"/>
                  <a:gd name="T14" fmla="*/ 24 w 24"/>
                  <a:gd name="T15" fmla="*/ 12 h 24"/>
                  <a:gd name="T16" fmla="*/ 24 w 24"/>
                  <a:gd name="T17" fmla="*/ 6 h 24"/>
                  <a:gd name="T18" fmla="*/ 24 w 24"/>
                  <a:gd name="T19" fmla="*/ 6 h 24"/>
                  <a:gd name="T20" fmla="*/ 24 w 24"/>
                  <a:gd name="T21" fmla="*/ 0 h 24"/>
                  <a:gd name="T22" fmla="*/ 0 w 24"/>
                  <a:gd name="T23" fmla="*/ 6 h 24"/>
                  <a:gd name="T24" fmla="*/ 24 w 24"/>
                  <a:gd name="T25" fmla="*/ 0 h 24"/>
                  <a:gd name="T26" fmla="*/ 0 w 24"/>
                  <a:gd name="T27" fmla="*/ 6 h 24"/>
                  <a:gd name="T28" fmla="*/ 24 w 24"/>
                  <a:gd name="T29" fmla="*/ 0 h 24"/>
                  <a:gd name="T30" fmla="*/ 0 w 24"/>
                  <a:gd name="T31" fmla="*/ 0 h 24"/>
                  <a:gd name="T32" fmla="*/ 24 w 24"/>
                  <a:gd name="T33" fmla="*/ 0 h 2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4"/>
                  <a:gd name="T52" fmla="*/ 0 h 24"/>
                  <a:gd name="T53" fmla="*/ 24 w 24"/>
                  <a:gd name="T54" fmla="*/ 24 h 2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4" h="24">
                    <a:moveTo>
                      <a:pt x="0" y="6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6" y="24"/>
                    </a:lnTo>
                    <a:lnTo>
                      <a:pt x="6" y="12"/>
                    </a:lnTo>
                    <a:lnTo>
                      <a:pt x="24" y="12"/>
                    </a:lnTo>
                    <a:lnTo>
                      <a:pt x="24" y="6"/>
                    </a:lnTo>
                    <a:lnTo>
                      <a:pt x="24" y="0"/>
                    </a:lnTo>
                    <a:lnTo>
                      <a:pt x="0" y="6"/>
                    </a:lnTo>
                    <a:close/>
                    <a:moveTo>
                      <a:pt x="24" y="0"/>
                    </a:moveTo>
                    <a:lnTo>
                      <a:pt x="0" y="6"/>
                    </a:ln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50" name="Freeform 17">
                <a:extLst>
                  <a:ext uri="{FF2B5EF4-FFF2-40B4-BE49-F238E27FC236}">
                    <a16:creationId xmlns:a16="http://schemas.microsoft.com/office/drawing/2014/main" id="{76F02C93-4A78-882B-3624-D3E9BE3770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358"/>
                <a:ext cx="24" cy="18"/>
              </a:xfrm>
              <a:custGeom>
                <a:avLst/>
                <a:gdLst>
                  <a:gd name="T0" fmla="*/ 18 w 24"/>
                  <a:gd name="T1" fmla="*/ 18 h 18"/>
                  <a:gd name="T2" fmla="*/ 24 w 24"/>
                  <a:gd name="T3" fmla="*/ 18 h 18"/>
                  <a:gd name="T4" fmla="*/ 6 w 24"/>
                  <a:gd name="T5" fmla="*/ 0 h 18"/>
                  <a:gd name="T6" fmla="*/ 0 w 24"/>
                  <a:gd name="T7" fmla="*/ 0 h 18"/>
                  <a:gd name="T8" fmla="*/ 18 w 24"/>
                  <a:gd name="T9" fmla="*/ 18 h 18"/>
                  <a:gd name="T10" fmla="*/ 0 w 24"/>
                  <a:gd name="T11" fmla="*/ 0 h 18"/>
                  <a:gd name="T12" fmla="*/ 0 w 24"/>
                  <a:gd name="T13" fmla="*/ 6 h 18"/>
                  <a:gd name="T14" fmla="*/ 0 w 24"/>
                  <a:gd name="T15" fmla="*/ 6 h 18"/>
                  <a:gd name="T16" fmla="*/ 12 w 24"/>
                  <a:gd name="T17" fmla="*/ 12 h 18"/>
                  <a:gd name="T18" fmla="*/ 0 w 24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18"/>
                  <a:gd name="T32" fmla="*/ 24 w 24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18">
                    <a:moveTo>
                      <a:pt x="18" y="18"/>
                    </a:moveTo>
                    <a:lnTo>
                      <a:pt x="24" y="18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18" y="18"/>
                    </a:lnTo>
                    <a:close/>
                    <a:moveTo>
                      <a:pt x="0" y="0"/>
                    </a:moveTo>
                    <a:lnTo>
                      <a:pt x="0" y="6"/>
                    </a:lnTo>
                    <a:lnTo>
                      <a:pt x="12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51" name="Freeform 18">
                <a:extLst>
                  <a:ext uri="{FF2B5EF4-FFF2-40B4-BE49-F238E27FC236}">
                    <a16:creationId xmlns:a16="http://schemas.microsoft.com/office/drawing/2014/main" id="{1C730FB5-6ABD-C9DD-963E-AF9BF1B6DDE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346"/>
                <a:ext cx="24" cy="36"/>
              </a:xfrm>
              <a:custGeom>
                <a:avLst/>
                <a:gdLst>
                  <a:gd name="T0" fmla="*/ 0 w 24"/>
                  <a:gd name="T1" fmla="*/ 24 h 36"/>
                  <a:gd name="T2" fmla="*/ 0 w 24"/>
                  <a:gd name="T3" fmla="*/ 24 h 36"/>
                  <a:gd name="T4" fmla="*/ 24 w 24"/>
                  <a:gd name="T5" fmla="*/ 36 h 36"/>
                  <a:gd name="T6" fmla="*/ 24 w 24"/>
                  <a:gd name="T7" fmla="*/ 24 h 36"/>
                  <a:gd name="T8" fmla="*/ 24 w 24"/>
                  <a:gd name="T9" fmla="*/ 18 h 36"/>
                  <a:gd name="T10" fmla="*/ 0 w 24"/>
                  <a:gd name="T11" fmla="*/ 24 h 36"/>
                  <a:gd name="T12" fmla="*/ 24 w 24"/>
                  <a:gd name="T13" fmla="*/ 18 h 36"/>
                  <a:gd name="T14" fmla="*/ 18 w 24"/>
                  <a:gd name="T15" fmla="*/ 0 h 36"/>
                  <a:gd name="T16" fmla="*/ 6 w 24"/>
                  <a:gd name="T17" fmla="*/ 12 h 36"/>
                  <a:gd name="T18" fmla="*/ 12 w 24"/>
                  <a:gd name="T19" fmla="*/ 24 h 36"/>
                  <a:gd name="T20" fmla="*/ 24 w 24"/>
                  <a:gd name="T21" fmla="*/ 18 h 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4"/>
                  <a:gd name="T34" fmla="*/ 0 h 36"/>
                  <a:gd name="T35" fmla="*/ 24 w 24"/>
                  <a:gd name="T36" fmla="*/ 36 h 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4" h="36">
                    <a:moveTo>
                      <a:pt x="0" y="24"/>
                    </a:moveTo>
                    <a:lnTo>
                      <a:pt x="0" y="24"/>
                    </a:lnTo>
                    <a:lnTo>
                      <a:pt x="24" y="36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0" y="24"/>
                    </a:lnTo>
                    <a:close/>
                    <a:moveTo>
                      <a:pt x="24" y="18"/>
                    </a:moveTo>
                    <a:lnTo>
                      <a:pt x="18" y="0"/>
                    </a:lnTo>
                    <a:lnTo>
                      <a:pt x="6" y="12"/>
                    </a:lnTo>
                    <a:lnTo>
                      <a:pt x="12" y="24"/>
                    </a:lnTo>
                    <a:lnTo>
                      <a:pt x="24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52" name="Freeform 19">
                <a:extLst>
                  <a:ext uri="{FF2B5EF4-FFF2-40B4-BE49-F238E27FC236}">
                    <a16:creationId xmlns:a16="http://schemas.microsoft.com/office/drawing/2014/main" id="{62E3FD9B-C109-0C7C-2F31-34356ABE8F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7" y="2370"/>
                <a:ext cx="36" cy="35"/>
              </a:xfrm>
              <a:custGeom>
                <a:avLst/>
                <a:gdLst>
                  <a:gd name="T0" fmla="*/ 12 w 36"/>
                  <a:gd name="T1" fmla="*/ 6 h 35"/>
                  <a:gd name="T2" fmla="*/ 12 w 36"/>
                  <a:gd name="T3" fmla="*/ 6 h 35"/>
                  <a:gd name="T4" fmla="*/ 0 w 36"/>
                  <a:gd name="T5" fmla="*/ 12 h 35"/>
                  <a:gd name="T6" fmla="*/ 12 w 36"/>
                  <a:gd name="T7" fmla="*/ 35 h 35"/>
                  <a:gd name="T8" fmla="*/ 30 w 36"/>
                  <a:gd name="T9" fmla="*/ 18 h 35"/>
                  <a:gd name="T10" fmla="*/ 36 w 36"/>
                  <a:gd name="T11" fmla="*/ 6 h 35"/>
                  <a:gd name="T12" fmla="*/ 12 w 36"/>
                  <a:gd name="T13" fmla="*/ 6 h 35"/>
                  <a:gd name="T14" fmla="*/ 12 w 36"/>
                  <a:gd name="T15" fmla="*/ 0 h 35"/>
                  <a:gd name="T16" fmla="*/ 12 w 36"/>
                  <a:gd name="T17" fmla="*/ 0 h 35"/>
                  <a:gd name="T18" fmla="*/ 12 w 36"/>
                  <a:gd name="T19" fmla="*/ 6 h 35"/>
                  <a:gd name="T20" fmla="*/ 24 w 36"/>
                  <a:gd name="T21" fmla="*/ 6 h 35"/>
                  <a:gd name="T22" fmla="*/ 12 w 36"/>
                  <a:gd name="T23" fmla="*/ 0 h 3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6"/>
                  <a:gd name="T37" fmla="*/ 0 h 35"/>
                  <a:gd name="T38" fmla="*/ 36 w 36"/>
                  <a:gd name="T39" fmla="*/ 35 h 3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6" h="35">
                    <a:moveTo>
                      <a:pt x="12" y="6"/>
                    </a:moveTo>
                    <a:lnTo>
                      <a:pt x="12" y="6"/>
                    </a:lnTo>
                    <a:lnTo>
                      <a:pt x="0" y="12"/>
                    </a:lnTo>
                    <a:lnTo>
                      <a:pt x="12" y="35"/>
                    </a:lnTo>
                    <a:lnTo>
                      <a:pt x="30" y="18"/>
                    </a:lnTo>
                    <a:lnTo>
                      <a:pt x="36" y="6"/>
                    </a:lnTo>
                    <a:lnTo>
                      <a:pt x="12" y="6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53" name="Freeform 20">
                <a:extLst>
                  <a:ext uri="{FF2B5EF4-FFF2-40B4-BE49-F238E27FC236}">
                    <a16:creationId xmlns:a16="http://schemas.microsoft.com/office/drawing/2014/main" id="{D5D2C662-380B-0E6E-CF98-F2E8C48692E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382"/>
                <a:ext cx="30" cy="18"/>
              </a:xfrm>
              <a:custGeom>
                <a:avLst/>
                <a:gdLst>
                  <a:gd name="T0" fmla="*/ 12 w 30"/>
                  <a:gd name="T1" fmla="*/ 18 h 18"/>
                  <a:gd name="T2" fmla="*/ 12 w 30"/>
                  <a:gd name="T3" fmla="*/ 18 h 18"/>
                  <a:gd name="T4" fmla="*/ 12 w 30"/>
                  <a:gd name="T5" fmla="*/ 18 h 18"/>
                  <a:gd name="T6" fmla="*/ 30 w 30"/>
                  <a:gd name="T7" fmla="*/ 6 h 18"/>
                  <a:gd name="T8" fmla="*/ 30 w 30"/>
                  <a:gd name="T9" fmla="*/ 6 h 18"/>
                  <a:gd name="T10" fmla="*/ 24 w 30"/>
                  <a:gd name="T11" fmla="*/ 0 h 18"/>
                  <a:gd name="T12" fmla="*/ 12 w 30"/>
                  <a:gd name="T13" fmla="*/ 18 h 18"/>
                  <a:gd name="T14" fmla="*/ 12 w 30"/>
                  <a:gd name="T15" fmla="*/ 0 h 18"/>
                  <a:gd name="T16" fmla="*/ 0 w 30"/>
                  <a:gd name="T17" fmla="*/ 12 h 18"/>
                  <a:gd name="T18" fmla="*/ 12 w 30"/>
                  <a:gd name="T19" fmla="*/ 18 h 18"/>
                  <a:gd name="T20" fmla="*/ 18 w 30"/>
                  <a:gd name="T21" fmla="*/ 12 h 18"/>
                  <a:gd name="T22" fmla="*/ 12 w 30"/>
                  <a:gd name="T23" fmla="*/ 0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0"/>
                  <a:gd name="T37" fmla="*/ 0 h 18"/>
                  <a:gd name="T38" fmla="*/ 30 w 30"/>
                  <a:gd name="T39" fmla="*/ 18 h 1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0" h="18">
                    <a:moveTo>
                      <a:pt x="12" y="18"/>
                    </a:moveTo>
                    <a:lnTo>
                      <a:pt x="12" y="18"/>
                    </a:lnTo>
                    <a:lnTo>
                      <a:pt x="30" y="6"/>
                    </a:lnTo>
                    <a:lnTo>
                      <a:pt x="24" y="0"/>
                    </a:lnTo>
                    <a:lnTo>
                      <a:pt x="12" y="18"/>
                    </a:lnTo>
                    <a:close/>
                    <a:moveTo>
                      <a:pt x="12" y="0"/>
                    </a:moveTo>
                    <a:lnTo>
                      <a:pt x="0" y="12"/>
                    </a:lnTo>
                    <a:lnTo>
                      <a:pt x="12" y="18"/>
                    </a:lnTo>
                    <a:lnTo>
                      <a:pt x="18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54" name="Freeform 21">
                <a:extLst>
                  <a:ext uri="{FF2B5EF4-FFF2-40B4-BE49-F238E27FC236}">
                    <a16:creationId xmlns:a16="http://schemas.microsoft.com/office/drawing/2014/main" id="{08E013AE-CDDC-5E58-C103-D7605851A5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7" y="2382"/>
                <a:ext cx="48" cy="29"/>
              </a:xfrm>
              <a:custGeom>
                <a:avLst/>
                <a:gdLst>
                  <a:gd name="T0" fmla="*/ 6 w 48"/>
                  <a:gd name="T1" fmla="*/ 23 h 29"/>
                  <a:gd name="T2" fmla="*/ 12 w 48"/>
                  <a:gd name="T3" fmla="*/ 23 h 29"/>
                  <a:gd name="T4" fmla="*/ 18 w 48"/>
                  <a:gd name="T5" fmla="*/ 29 h 29"/>
                  <a:gd name="T6" fmla="*/ 30 w 48"/>
                  <a:gd name="T7" fmla="*/ 29 h 29"/>
                  <a:gd name="T8" fmla="*/ 30 w 48"/>
                  <a:gd name="T9" fmla="*/ 29 h 29"/>
                  <a:gd name="T10" fmla="*/ 48 w 48"/>
                  <a:gd name="T11" fmla="*/ 12 h 29"/>
                  <a:gd name="T12" fmla="*/ 24 w 48"/>
                  <a:gd name="T13" fmla="*/ 6 h 29"/>
                  <a:gd name="T14" fmla="*/ 18 w 48"/>
                  <a:gd name="T15" fmla="*/ 6 h 29"/>
                  <a:gd name="T16" fmla="*/ 12 w 48"/>
                  <a:gd name="T17" fmla="*/ 0 h 29"/>
                  <a:gd name="T18" fmla="*/ 6 w 48"/>
                  <a:gd name="T19" fmla="*/ 23 h 29"/>
                  <a:gd name="T20" fmla="*/ 0 w 48"/>
                  <a:gd name="T21" fmla="*/ 18 h 29"/>
                  <a:gd name="T22" fmla="*/ 0 w 48"/>
                  <a:gd name="T23" fmla="*/ 23 h 29"/>
                  <a:gd name="T24" fmla="*/ 6 w 48"/>
                  <a:gd name="T25" fmla="*/ 23 h 29"/>
                  <a:gd name="T26" fmla="*/ 12 w 48"/>
                  <a:gd name="T27" fmla="*/ 12 h 29"/>
                  <a:gd name="T28" fmla="*/ 0 w 48"/>
                  <a:gd name="T29" fmla="*/ 18 h 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8"/>
                  <a:gd name="T46" fmla="*/ 0 h 29"/>
                  <a:gd name="T47" fmla="*/ 48 w 48"/>
                  <a:gd name="T48" fmla="*/ 29 h 2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8" h="29">
                    <a:moveTo>
                      <a:pt x="6" y="23"/>
                    </a:moveTo>
                    <a:lnTo>
                      <a:pt x="12" y="23"/>
                    </a:lnTo>
                    <a:lnTo>
                      <a:pt x="18" y="29"/>
                    </a:lnTo>
                    <a:lnTo>
                      <a:pt x="30" y="29"/>
                    </a:lnTo>
                    <a:lnTo>
                      <a:pt x="48" y="12"/>
                    </a:lnTo>
                    <a:lnTo>
                      <a:pt x="24" y="6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6" y="23"/>
                    </a:lnTo>
                    <a:close/>
                    <a:moveTo>
                      <a:pt x="0" y="18"/>
                    </a:moveTo>
                    <a:lnTo>
                      <a:pt x="0" y="23"/>
                    </a:lnTo>
                    <a:lnTo>
                      <a:pt x="6" y="23"/>
                    </a:lnTo>
                    <a:lnTo>
                      <a:pt x="12" y="12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55" name="Freeform 22">
                <a:extLst>
                  <a:ext uri="{FF2B5EF4-FFF2-40B4-BE49-F238E27FC236}">
                    <a16:creationId xmlns:a16="http://schemas.microsoft.com/office/drawing/2014/main" id="{911F890B-E938-A99B-F861-2285CA6B2A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37" y="2394"/>
                <a:ext cx="24" cy="29"/>
              </a:xfrm>
              <a:custGeom>
                <a:avLst/>
                <a:gdLst>
                  <a:gd name="T0" fmla="*/ 0 w 24"/>
                  <a:gd name="T1" fmla="*/ 11 h 29"/>
                  <a:gd name="T2" fmla="*/ 0 w 24"/>
                  <a:gd name="T3" fmla="*/ 29 h 29"/>
                  <a:gd name="T4" fmla="*/ 24 w 24"/>
                  <a:gd name="T5" fmla="*/ 23 h 29"/>
                  <a:gd name="T6" fmla="*/ 24 w 24"/>
                  <a:gd name="T7" fmla="*/ 6 h 29"/>
                  <a:gd name="T8" fmla="*/ 0 w 24"/>
                  <a:gd name="T9" fmla="*/ 11 h 29"/>
                  <a:gd name="T10" fmla="*/ 24 w 24"/>
                  <a:gd name="T11" fmla="*/ 6 h 29"/>
                  <a:gd name="T12" fmla="*/ 18 w 24"/>
                  <a:gd name="T13" fmla="*/ 6 h 29"/>
                  <a:gd name="T14" fmla="*/ 18 w 24"/>
                  <a:gd name="T15" fmla="*/ 0 h 29"/>
                  <a:gd name="T16" fmla="*/ 12 w 24"/>
                  <a:gd name="T17" fmla="*/ 11 h 29"/>
                  <a:gd name="T18" fmla="*/ 24 w 24"/>
                  <a:gd name="T19" fmla="*/ 6 h 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29"/>
                  <a:gd name="T32" fmla="*/ 24 w 24"/>
                  <a:gd name="T33" fmla="*/ 29 h 2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29">
                    <a:moveTo>
                      <a:pt x="0" y="11"/>
                    </a:moveTo>
                    <a:lnTo>
                      <a:pt x="0" y="29"/>
                    </a:lnTo>
                    <a:lnTo>
                      <a:pt x="24" y="23"/>
                    </a:lnTo>
                    <a:lnTo>
                      <a:pt x="24" y="6"/>
                    </a:lnTo>
                    <a:lnTo>
                      <a:pt x="0" y="11"/>
                    </a:lnTo>
                    <a:close/>
                    <a:moveTo>
                      <a:pt x="24" y="6"/>
                    </a:moveTo>
                    <a:lnTo>
                      <a:pt x="18" y="6"/>
                    </a:lnTo>
                    <a:lnTo>
                      <a:pt x="18" y="0"/>
                    </a:lnTo>
                    <a:lnTo>
                      <a:pt x="12" y="11"/>
                    </a:lnTo>
                    <a:lnTo>
                      <a:pt x="24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56" name="Freeform 23">
                <a:extLst>
                  <a:ext uri="{FF2B5EF4-FFF2-40B4-BE49-F238E27FC236}">
                    <a16:creationId xmlns:a16="http://schemas.microsoft.com/office/drawing/2014/main" id="{63122BCE-96E5-632F-040A-6A22DAE2DA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9" y="2417"/>
                <a:ext cx="12" cy="12"/>
              </a:xfrm>
              <a:custGeom>
                <a:avLst/>
                <a:gdLst>
                  <a:gd name="T0" fmla="*/ 6 w 12"/>
                  <a:gd name="T1" fmla="*/ 12 h 12"/>
                  <a:gd name="T2" fmla="*/ 12 w 12"/>
                  <a:gd name="T3" fmla="*/ 6 h 12"/>
                  <a:gd name="T4" fmla="*/ 12 w 12"/>
                  <a:gd name="T5" fmla="*/ 0 h 12"/>
                  <a:gd name="T6" fmla="*/ 0 w 12"/>
                  <a:gd name="T7" fmla="*/ 0 h 12"/>
                  <a:gd name="T8" fmla="*/ 6 w 12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6" y="12"/>
                    </a:moveTo>
                    <a:lnTo>
                      <a:pt x="12" y="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57" name="Freeform 24">
                <a:extLst>
                  <a:ext uri="{FF2B5EF4-FFF2-40B4-BE49-F238E27FC236}">
                    <a16:creationId xmlns:a16="http://schemas.microsoft.com/office/drawing/2014/main" id="{5489226C-8DB2-9125-8B90-608A36668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2459"/>
                <a:ext cx="6" cy="6"/>
              </a:xfrm>
              <a:custGeom>
                <a:avLst/>
                <a:gdLst>
                  <a:gd name="T0" fmla="*/ 6 w 6"/>
                  <a:gd name="T1" fmla="*/ 0 h 6"/>
                  <a:gd name="T2" fmla="*/ 0 w 6"/>
                  <a:gd name="T3" fmla="*/ 0 h 6"/>
                  <a:gd name="T4" fmla="*/ 0 w 6"/>
                  <a:gd name="T5" fmla="*/ 0 h 6"/>
                  <a:gd name="T6" fmla="*/ 0 w 6"/>
                  <a:gd name="T7" fmla="*/ 6 h 6"/>
                  <a:gd name="T8" fmla="*/ 6 w 6"/>
                  <a:gd name="T9" fmla="*/ 6 h 6"/>
                  <a:gd name="T10" fmla="*/ 6 w 6"/>
                  <a:gd name="T11" fmla="*/ 6 h 6"/>
                  <a:gd name="T12" fmla="*/ 6 w 6"/>
                  <a:gd name="T13" fmla="*/ 0 h 6"/>
                  <a:gd name="T14" fmla="*/ 6 w 6"/>
                  <a:gd name="T15" fmla="*/ 0 h 6"/>
                  <a:gd name="T16" fmla="*/ 6 w 6"/>
                  <a:gd name="T17" fmla="*/ 0 h 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"/>
                  <a:gd name="T28" fmla="*/ 0 h 6"/>
                  <a:gd name="T29" fmla="*/ 6 w 6"/>
                  <a:gd name="T30" fmla="*/ 6 h 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" h="6">
                    <a:moveTo>
                      <a:pt x="6" y="0"/>
                    </a:moveTo>
                    <a:lnTo>
                      <a:pt x="0" y="0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58" name="Freeform 25">
                <a:extLst>
                  <a:ext uri="{FF2B5EF4-FFF2-40B4-BE49-F238E27FC236}">
                    <a16:creationId xmlns:a16="http://schemas.microsoft.com/office/drawing/2014/main" id="{D4017E4C-2C80-9AD2-5BAA-515C6A0BF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" y="2459"/>
                <a:ext cx="12" cy="6"/>
              </a:xfrm>
              <a:custGeom>
                <a:avLst/>
                <a:gdLst>
                  <a:gd name="T0" fmla="*/ 6 w 12"/>
                  <a:gd name="T1" fmla="*/ 0 h 6"/>
                  <a:gd name="T2" fmla="*/ 6 w 12"/>
                  <a:gd name="T3" fmla="*/ 0 h 6"/>
                  <a:gd name="T4" fmla="*/ 0 w 12"/>
                  <a:gd name="T5" fmla="*/ 0 h 6"/>
                  <a:gd name="T6" fmla="*/ 6 w 12"/>
                  <a:gd name="T7" fmla="*/ 6 h 6"/>
                  <a:gd name="T8" fmla="*/ 6 w 12"/>
                  <a:gd name="T9" fmla="*/ 6 h 6"/>
                  <a:gd name="T10" fmla="*/ 12 w 12"/>
                  <a:gd name="T11" fmla="*/ 6 h 6"/>
                  <a:gd name="T12" fmla="*/ 12 w 12"/>
                  <a:gd name="T13" fmla="*/ 0 h 6"/>
                  <a:gd name="T14" fmla="*/ 12 w 12"/>
                  <a:gd name="T15" fmla="*/ 0 h 6"/>
                  <a:gd name="T16" fmla="*/ 6 w 12"/>
                  <a:gd name="T17" fmla="*/ 0 h 6"/>
                  <a:gd name="T18" fmla="*/ 6 w 12"/>
                  <a:gd name="T19" fmla="*/ 0 h 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"/>
                  <a:gd name="T31" fmla="*/ 0 h 6"/>
                  <a:gd name="T32" fmla="*/ 12 w 12"/>
                  <a:gd name="T33" fmla="*/ 6 h 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" h="6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12" y="6"/>
                    </a:lnTo>
                    <a:lnTo>
                      <a:pt x="12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59" name="Freeform 26">
                <a:extLst>
                  <a:ext uri="{FF2B5EF4-FFF2-40B4-BE49-F238E27FC236}">
                    <a16:creationId xmlns:a16="http://schemas.microsoft.com/office/drawing/2014/main" id="{CD19300D-3326-6595-D23D-B0D41CDF11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9" y="2358"/>
                <a:ext cx="1" cy="12"/>
              </a:xfrm>
              <a:custGeom>
                <a:avLst/>
                <a:gdLst>
                  <a:gd name="T0" fmla="*/ 0 w 1"/>
                  <a:gd name="T1" fmla="*/ 12 h 12"/>
                  <a:gd name="T2" fmla="*/ 0 w 1"/>
                  <a:gd name="T3" fmla="*/ 6 h 12"/>
                  <a:gd name="T4" fmla="*/ 0 w 1"/>
                  <a:gd name="T5" fmla="*/ 0 h 12"/>
                  <a:gd name="T6" fmla="*/ 0 w 1"/>
                  <a:gd name="T7" fmla="*/ 6 h 12"/>
                  <a:gd name="T8" fmla="*/ 0 w 1"/>
                  <a:gd name="T9" fmla="*/ 12 h 12"/>
                  <a:gd name="T10" fmla="*/ 0 w 1"/>
                  <a:gd name="T11" fmla="*/ 12 h 12"/>
                  <a:gd name="T12" fmla="*/ 0 w 1"/>
                  <a:gd name="T13" fmla="*/ 12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12"/>
                  <a:gd name="T23" fmla="*/ 1 w 1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12">
                    <a:moveTo>
                      <a:pt x="0" y="12"/>
                    </a:moveTo>
                    <a:lnTo>
                      <a:pt x="0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60" name="Freeform 27">
                <a:extLst>
                  <a:ext uri="{FF2B5EF4-FFF2-40B4-BE49-F238E27FC236}">
                    <a16:creationId xmlns:a16="http://schemas.microsoft.com/office/drawing/2014/main" id="{4D767BDE-83C4-6FE9-79AF-69673DC65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2346"/>
                <a:ext cx="12" cy="30"/>
              </a:xfrm>
              <a:custGeom>
                <a:avLst/>
                <a:gdLst>
                  <a:gd name="T0" fmla="*/ 0 w 12"/>
                  <a:gd name="T1" fmla="*/ 30 h 30"/>
                  <a:gd name="T2" fmla="*/ 6 w 12"/>
                  <a:gd name="T3" fmla="*/ 6 h 30"/>
                  <a:gd name="T4" fmla="*/ 6 w 12"/>
                  <a:gd name="T5" fmla="*/ 6 h 30"/>
                  <a:gd name="T6" fmla="*/ 12 w 12"/>
                  <a:gd name="T7" fmla="*/ 0 h 30"/>
                  <a:gd name="T8" fmla="*/ 12 w 12"/>
                  <a:gd name="T9" fmla="*/ 0 h 30"/>
                  <a:gd name="T10" fmla="*/ 6 w 12"/>
                  <a:gd name="T11" fmla="*/ 6 h 30"/>
                  <a:gd name="T12" fmla="*/ 6 w 12"/>
                  <a:gd name="T13" fmla="*/ 12 h 30"/>
                  <a:gd name="T14" fmla="*/ 6 w 12"/>
                  <a:gd name="T15" fmla="*/ 18 h 30"/>
                  <a:gd name="T16" fmla="*/ 0 w 12"/>
                  <a:gd name="T17" fmla="*/ 24 h 30"/>
                  <a:gd name="T18" fmla="*/ 0 w 12"/>
                  <a:gd name="T19" fmla="*/ 24 h 30"/>
                  <a:gd name="T20" fmla="*/ 0 w 12"/>
                  <a:gd name="T21" fmla="*/ 30 h 30"/>
                  <a:gd name="T22" fmla="*/ 0 w 12"/>
                  <a:gd name="T23" fmla="*/ 30 h 30"/>
                  <a:gd name="T24" fmla="*/ 0 w 12"/>
                  <a:gd name="T25" fmla="*/ 30 h 30"/>
                  <a:gd name="T26" fmla="*/ 0 w 12"/>
                  <a:gd name="T27" fmla="*/ 30 h 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2"/>
                  <a:gd name="T43" fmla="*/ 0 h 30"/>
                  <a:gd name="T44" fmla="*/ 12 w 12"/>
                  <a:gd name="T45" fmla="*/ 30 h 3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2" h="30">
                    <a:moveTo>
                      <a:pt x="0" y="30"/>
                    </a:moveTo>
                    <a:lnTo>
                      <a:pt x="6" y="6"/>
                    </a:lnTo>
                    <a:lnTo>
                      <a:pt x="12" y="0"/>
                    </a:lnTo>
                    <a:lnTo>
                      <a:pt x="6" y="6"/>
                    </a:lnTo>
                    <a:lnTo>
                      <a:pt x="6" y="12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61" name="Freeform 28">
                <a:extLst>
                  <a:ext uri="{FF2B5EF4-FFF2-40B4-BE49-F238E27FC236}">
                    <a16:creationId xmlns:a16="http://schemas.microsoft.com/office/drawing/2014/main" id="{769C564C-F43F-A077-C3CB-566C0B114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3" y="2352"/>
                <a:ext cx="30" cy="30"/>
              </a:xfrm>
              <a:custGeom>
                <a:avLst/>
                <a:gdLst>
                  <a:gd name="T0" fmla="*/ 24 w 30"/>
                  <a:gd name="T1" fmla="*/ 30 h 30"/>
                  <a:gd name="T2" fmla="*/ 30 w 30"/>
                  <a:gd name="T3" fmla="*/ 6 h 30"/>
                  <a:gd name="T4" fmla="*/ 6 w 30"/>
                  <a:gd name="T5" fmla="*/ 0 h 30"/>
                  <a:gd name="T6" fmla="*/ 0 w 30"/>
                  <a:gd name="T7" fmla="*/ 24 h 30"/>
                  <a:gd name="T8" fmla="*/ 24 w 30"/>
                  <a:gd name="T9" fmla="*/ 3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0"/>
                  <a:gd name="T17" fmla="*/ 30 w 30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0">
                    <a:moveTo>
                      <a:pt x="24" y="30"/>
                    </a:moveTo>
                    <a:lnTo>
                      <a:pt x="30" y="6"/>
                    </a:lnTo>
                    <a:lnTo>
                      <a:pt x="6" y="0"/>
                    </a:lnTo>
                    <a:lnTo>
                      <a:pt x="0" y="24"/>
                    </a:lnTo>
                    <a:lnTo>
                      <a:pt x="24" y="3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62" name="Freeform 29">
                <a:extLst>
                  <a:ext uri="{FF2B5EF4-FFF2-40B4-BE49-F238E27FC236}">
                    <a16:creationId xmlns:a16="http://schemas.microsoft.com/office/drawing/2014/main" id="{4F7D9469-E7CA-3281-FE2D-65699C9AA5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9" y="2334"/>
                <a:ext cx="24" cy="24"/>
              </a:xfrm>
              <a:custGeom>
                <a:avLst/>
                <a:gdLst>
                  <a:gd name="T0" fmla="*/ 24 w 24"/>
                  <a:gd name="T1" fmla="*/ 24 h 24"/>
                  <a:gd name="T2" fmla="*/ 24 w 24"/>
                  <a:gd name="T3" fmla="*/ 18 h 24"/>
                  <a:gd name="T4" fmla="*/ 24 w 24"/>
                  <a:gd name="T5" fmla="*/ 18 h 24"/>
                  <a:gd name="T6" fmla="*/ 24 w 24"/>
                  <a:gd name="T7" fmla="*/ 24 h 24"/>
                  <a:gd name="T8" fmla="*/ 12 w 24"/>
                  <a:gd name="T9" fmla="*/ 0 h 24"/>
                  <a:gd name="T10" fmla="*/ 0 w 24"/>
                  <a:gd name="T11" fmla="*/ 12 h 24"/>
                  <a:gd name="T12" fmla="*/ 0 w 24"/>
                  <a:gd name="T13" fmla="*/ 18 h 24"/>
                  <a:gd name="T14" fmla="*/ 24 w 24"/>
                  <a:gd name="T15" fmla="*/ 24 h 24"/>
                  <a:gd name="T16" fmla="*/ 24 w 24"/>
                  <a:gd name="T17" fmla="*/ 24 h 24"/>
                  <a:gd name="T18" fmla="*/ 24 w 24"/>
                  <a:gd name="T19" fmla="*/ 24 h 24"/>
                  <a:gd name="T20" fmla="*/ 24 w 24"/>
                  <a:gd name="T21" fmla="*/ 24 h 24"/>
                  <a:gd name="T22" fmla="*/ 12 w 24"/>
                  <a:gd name="T23" fmla="*/ 18 h 24"/>
                  <a:gd name="T24" fmla="*/ 24 w 24"/>
                  <a:gd name="T25" fmla="*/ 24 h 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24"/>
                  <a:gd name="T41" fmla="*/ 24 w 24"/>
                  <a:gd name="T42" fmla="*/ 24 h 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24">
                    <a:moveTo>
                      <a:pt x="24" y="24"/>
                    </a:moveTo>
                    <a:lnTo>
                      <a:pt x="24" y="18"/>
                    </a:lnTo>
                    <a:lnTo>
                      <a:pt x="24" y="24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24" y="24"/>
                    </a:lnTo>
                    <a:close/>
                    <a:moveTo>
                      <a:pt x="24" y="24"/>
                    </a:moveTo>
                    <a:lnTo>
                      <a:pt x="24" y="24"/>
                    </a:lnTo>
                    <a:lnTo>
                      <a:pt x="12" y="18"/>
                    </a:lnTo>
                    <a:lnTo>
                      <a:pt x="24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63" name="Freeform 30">
                <a:extLst>
                  <a:ext uri="{FF2B5EF4-FFF2-40B4-BE49-F238E27FC236}">
                    <a16:creationId xmlns:a16="http://schemas.microsoft.com/office/drawing/2014/main" id="{E282EC7B-5EF9-5A73-8BA4-ABB2993913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9" y="2334"/>
                <a:ext cx="24" cy="24"/>
              </a:xfrm>
              <a:custGeom>
                <a:avLst/>
                <a:gdLst>
                  <a:gd name="T0" fmla="*/ 12 w 24"/>
                  <a:gd name="T1" fmla="*/ 0 h 24"/>
                  <a:gd name="T2" fmla="*/ 6 w 24"/>
                  <a:gd name="T3" fmla="*/ 6 h 24"/>
                  <a:gd name="T4" fmla="*/ 0 w 24"/>
                  <a:gd name="T5" fmla="*/ 18 h 24"/>
                  <a:gd name="T6" fmla="*/ 24 w 24"/>
                  <a:gd name="T7" fmla="*/ 24 h 24"/>
                  <a:gd name="T8" fmla="*/ 24 w 24"/>
                  <a:gd name="T9" fmla="*/ 24 h 24"/>
                  <a:gd name="T10" fmla="*/ 24 w 24"/>
                  <a:gd name="T11" fmla="*/ 18 h 24"/>
                  <a:gd name="T12" fmla="*/ 12 w 24"/>
                  <a:gd name="T13" fmla="*/ 0 h 24"/>
                  <a:gd name="T14" fmla="*/ 24 w 24"/>
                  <a:gd name="T15" fmla="*/ 24 h 24"/>
                  <a:gd name="T16" fmla="*/ 12 w 24"/>
                  <a:gd name="T17" fmla="*/ 0 h 24"/>
                  <a:gd name="T18" fmla="*/ 24 w 24"/>
                  <a:gd name="T19" fmla="*/ 18 h 24"/>
                  <a:gd name="T20" fmla="*/ 12 w 24"/>
                  <a:gd name="T21" fmla="*/ 0 h 24"/>
                  <a:gd name="T22" fmla="*/ 24 w 24"/>
                  <a:gd name="T23" fmla="*/ 24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12" y="0"/>
                    </a:moveTo>
                    <a:lnTo>
                      <a:pt x="6" y="6"/>
                    </a:lnTo>
                    <a:lnTo>
                      <a:pt x="0" y="18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12" y="0"/>
                    </a:lnTo>
                    <a:close/>
                    <a:moveTo>
                      <a:pt x="24" y="24"/>
                    </a:moveTo>
                    <a:lnTo>
                      <a:pt x="12" y="0"/>
                    </a:lnTo>
                    <a:lnTo>
                      <a:pt x="24" y="18"/>
                    </a:lnTo>
                    <a:lnTo>
                      <a:pt x="12" y="0"/>
                    </a:lnTo>
                    <a:lnTo>
                      <a:pt x="24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64" name="Freeform 31">
                <a:extLst>
                  <a:ext uri="{FF2B5EF4-FFF2-40B4-BE49-F238E27FC236}">
                    <a16:creationId xmlns:a16="http://schemas.microsoft.com/office/drawing/2014/main" id="{171903A5-635F-9394-E8B5-EAF3E7C33E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3" y="2346"/>
                <a:ext cx="30" cy="30"/>
              </a:xfrm>
              <a:custGeom>
                <a:avLst/>
                <a:gdLst>
                  <a:gd name="T0" fmla="*/ 6 w 30"/>
                  <a:gd name="T1" fmla="*/ 0 h 30"/>
                  <a:gd name="T2" fmla="*/ 6 w 30"/>
                  <a:gd name="T3" fmla="*/ 12 h 30"/>
                  <a:gd name="T4" fmla="*/ 0 w 30"/>
                  <a:gd name="T5" fmla="*/ 30 h 30"/>
                  <a:gd name="T6" fmla="*/ 24 w 30"/>
                  <a:gd name="T7" fmla="*/ 24 h 30"/>
                  <a:gd name="T8" fmla="*/ 24 w 30"/>
                  <a:gd name="T9" fmla="*/ 24 h 30"/>
                  <a:gd name="T10" fmla="*/ 30 w 30"/>
                  <a:gd name="T11" fmla="*/ 18 h 30"/>
                  <a:gd name="T12" fmla="*/ 30 w 30"/>
                  <a:gd name="T13" fmla="*/ 12 h 30"/>
                  <a:gd name="T14" fmla="*/ 30 w 30"/>
                  <a:gd name="T15" fmla="*/ 12 h 30"/>
                  <a:gd name="T16" fmla="*/ 6 w 30"/>
                  <a:gd name="T17" fmla="*/ 0 h 30"/>
                  <a:gd name="T18" fmla="*/ 30 w 30"/>
                  <a:gd name="T19" fmla="*/ 12 h 30"/>
                  <a:gd name="T20" fmla="*/ 30 w 30"/>
                  <a:gd name="T21" fmla="*/ 12 h 30"/>
                  <a:gd name="T22" fmla="*/ 30 w 30"/>
                  <a:gd name="T23" fmla="*/ 12 h 30"/>
                  <a:gd name="T24" fmla="*/ 18 w 30"/>
                  <a:gd name="T25" fmla="*/ 6 h 30"/>
                  <a:gd name="T26" fmla="*/ 30 w 30"/>
                  <a:gd name="T27" fmla="*/ 12 h 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0"/>
                  <a:gd name="T43" fmla="*/ 0 h 30"/>
                  <a:gd name="T44" fmla="*/ 30 w 30"/>
                  <a:gd name="T45" fmla="*/ 30 h 3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0" h="30">
                    <a:moveTo>
                      <a:pt x="6" y="0"/>
                    </a:moveTo>
                    <a:lnTo>
                      <a:pt x="6" y="12"/>
                    </a:lnTo>
                    <a:lnTo>
                      <a:pt x="0" y="30"/>
                    </a:lnTo>
                    <a:lnTo>
                      <a:pt x="24" y="24"/>
                    </a:lnTo>
                    <a:lnTo>
                      <a:pt x="30" y="18"/>
                    </a:lnTo>
                    <a:lnTo>
                      <a:pt x="30" y="12"/>
                    </a:lnTo>
                    <a:lnTo>
                      <a:pt x="6" y="0"/>
                    </a:lnTo>
                    <a:close/>
                    <a:moveTo>
                      <a:pt x="30" y="12"/>
                    </a:moveTo>
                    <a:lnTo>
                      <a:pt x="30" y="12"/>
                    </a:lnTo>
                    <a:lnTo>
                      <a:pt x="18" y="6"/>
                    </a:ln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65" name="Freeform 32">
                <a:extLst>
                  <a:ext uri="{FF2B5EF4-FFF2-40B4-BE49-F238E27FC236}">
                    <a16:creationId xmlns:a16="http://schemas.microsoft.com/office/drawing/2014/main" id="{80D5372F-090D-71EE-DD1A-D4325AE52C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3" y="2364"/>
                <a:ext cx="24" cy="24"/>
              </a:xfrm>
              <a:custGeom>
                <a:avLst/>
                <a:gdLst>
                  <a:gd name="T0" fmla="*/ 0 w 24"/>
                  <a:gd name="T1" fmla="*/ 6 h 24"/>
                  <a:gd name="T2" fmla="*/ 0 w 24"/>
                  <a:gd name="T3" fmla="*/ 6 h 24"/>
                  <a:gd name="T4" fmla="*/ 0 w 24"/>
                  <a:gd name="T5" fmla="*/ 6 h 24"/>
                  <a:gd name="T6" fmla="*/ 12 w 24"/>
                  <a:gd name="T7" fmla="*/ 0 h 24"/>
                  <a:gd name="T8" fmla="*/ 6 w 24"/>
                  <a:gd name="T9" fmla="*/ 24 h 24"/>
                  <a:gd name="T10" fmla="*/ 18 w 24"/>
                  <a:gd name="T11" fmla="*/ 18 h 24"/>
                  <a:gd name="T12" fmla="*/ 24 w 24"/>
                  <a:gd name="T13" fmla="*/ 12 h 24"/>
                  <a:gd name="T14" fmla="*/ 24 w 24"/>
                  <a:gd name="T15" fmla="*/ 12 h 24"/>
                  <a:gd name="T16" fmla="*/ 24 w 24"/>
                  <a:gd name="T17" fmla="*/ 12 h 24"/>
                  <a:gd name="T18" fmla="*/ 0 w 24"/>
                  <a:gd name="T19" fmla="*/ 6 h 24"/>
                  <a:gd name="T20" fmla="*/ 24 w 24"/>
                  <a:gd name="T21" fmla="*/ 12 h 24"/>
                  <a:gd name="T22" fmla="*/ 24 w 24"/>
                  <a:gd name="T23" fmla="*/ 6 h 24"/>
                  <a:gd name="T24" fmla="*/ 24 w 24"/>
                  <a:gd name="T25" fmla="*/ 6 h 24"/>
                  <a:gd name="T26" fmla="*/ 12 w 24"/>
                  <a:gd name="T27" fmla="*/ 6 h 24"/>
                  <a:gd name="T28" fmla="*/ 24 w 24"/>
                  <a:gd name="T29" fmla="*/ 12 h 2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"/>
                  <a:gd name="T46" fmla="*/ 0 h 24"/>
                  <a:gd name="T47" fmla="*/ 24 w 24"/>
                  <a:gd name="T48" fmla="*/ 24 h 2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" h="24">
                    <a:moveTo>
                      <a:pt x="0" y="6"/>
                    </a:moveTo>
                    <a:lnTo>
                      <a:pt x="0" y="6"/>
                    </a:lnTo>
                    <a:lnTo>
                      <a:pt x="12" y="0"/>
                    </a:lnTo>
                    <a:lnTo>
                      <a:pt x="6" y="24"/>
                    </a:lnTo>
                    <a:lnTo>
                      <a:pt x="18" y="18"/>
                    </a:lnTo>
                    <a:lnTo>
                      <a:pt x="24" y="12"/>
                    </a:lnTo>
                    <a:lnTo>
                      <a:pt x="0" y="6"/>
                    </a:lnTo>
                    <a:close/>
                    <a:moveTo>
                      <a:pt x="24" y="12"/>
                    </a:moveTo>
                    <a:lnTo>
                      <a:pt x="24" y="6"/>
                    </a:lnTo>
                    <a:lnTo>
                      <a:pt x="12" y="6"/>
                    </a:lnTo>
                    <a:lnTo>
                      <a:pt x="24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66" name="Freeform 33">
                <a:extLst>
                  <a:ext uri="{FF2B5EF4-FFF2-40B4-BE49-F238E27FC236}">
                    <a16:creationId xmlns:a16="http://schemas.microsoft.com/office/drawing/2014/main" id="{DDEFD972-2E6C-0C14-FB02-233B9D13E0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9" y="2364"/>
                <a:ext cx="12" cy="24"/>
              </a:xfrm>
              <a:custGeom>
                <a:avLst/>
                <a:gdLst>
                  <a:gd name="T0" fmla="*/ 0 w 12"/>
                  <a:gd name="T1" fmla="*/ 24 h 24"/>
                  <a:gd name="T2" fmla="*/ 0 w 12"/>
                  <a:gd name="T3" fmla="*/ 24 h 24"/>
                  <a:gd name="T4" fmla="*/ 12 w 12"/>
                  <a:gd name="T5" fmla="*/ 0 h 24"/>
                  <a:gd name="T6" fmla="*/ 6 w 12"/>
                  <a:gd name="T7" fmla="*/ 0 h 24"/>
                  <a:gd name="T8" fmla="*/ 0 w 12"/>
                  <a:gd name="T9" fmla="*/ 24 h 24"/>
                  <a:gd name="T10" fmla="*/ 6 w 12"/>
                  <a:gd name="T11" fmla="*/ 0 h 24"/>
                  <a:gd name="T12" fmla="*/ 0 w 12"/>
                  <a:gd name="T13" fmla="*/ 24 h 24"/>
                  <a:gd name="T14" fmla="*/ 6 w 12"/>
                  <a:gd name="T15" fmla="*/ 0 h 24"/>
                  <a:gd name="T16" fmla="*/ 0 w 12"/>
                  <a:gd name="T17" fmla="*/ 24 h 24"/>
                  <a:gd name="T18" fmla="*/ 6 w 12"/>
                  <a:gd name="T19" fmla="*/ 0 h 2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"/>
                  <a:gd name="T31" fmla="*/ 0 h 24"/>
                  <a:gd name="T32" fmla="*/ 12 w 12"/>
                  <a:gd name="T33" fmla="*/ 24 h 2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" h="24">
                    <a:moveTo>
                      <a:pt x="0" y="24"/>
                    </a:moveTo>
                    <a:lnTo>
                      <a:pt x="0" y="2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24"/>
                    </a:lnTo>
                    <a:close/>
                    <a:moveTo>
                      <a:pt x="6" y="0"/>
                    </a:moveTo>
                    <a:lnTo>
                      <a:pt x="0" y="24"/>
                    </a:lnTo>
                    <a:lnTo>
                      <a:pt x="6" y="0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67" name="Freeform 34">
                <a:extLst>
                  <a:ext uri="{FF2B5EF4-FFF2-40B4-BE49-F238E27FC236}">
                    <a16:creationId xmlns:a16="http://schemas.microsoft.com/office/drawing/2014/main" id="{81454C96-DE87-7181-6E18-C10A76FE57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9" y="2376"/>
                <a:ext cx="18" cy="18"/>
              </a:xfrm>
              <a:custGeom>
                <a:avLst/>
                <a:gdLst>
                  <a:gd name="T0" fmla="*/ 0 w 18"/>
                  <a:gd name="T1" fmla="*/ 12 h 18"/>
                  <a:gd name="T2" fmla="*/ 18 w 18"/>
                  <a:gd name="T3" fmla="*/ 18 h 18"/>
                  <a:gd name="T4" fmla="*/ 18 w 18"/>
                  <a:gd name="T5" fmla="*/ 6 h 18"/>
                  <a:gd name="T6" fmla="*/ 6 w 18"/>
                  <a:gd name="T7" fmla="*/ 0 h 18"/>
                  <a:gd name="T8" fmla="*/ 0 w 18"/>
                  <a:gd name="T9" fmla="*/ 12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8"/>
                  <a:gd name="T17" fmla="*/ 18 w 18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8">
                    <a:moveTo>
                      <a:pt x="0" y="12"/>
                    </a:moveTo>
                    <a:lnTo>
                      <a:pt x="18" y="18"/>
                    </a:lnTo>
                    <a:lnTo>
                      <a:pt x="18" y="6"/>
                    </a:lnTo>
                    <a:lnTo>
                      <a:pt x="6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68" name="Freeform 35">
                <a:extLst>
                  <a:ext uri="{FF2B5EF4-FFF2-40B4-BE49-F238E27FC236}">
                    <a16:creationId xmlns:a16="http://schemas.microsoft.com/office/drawing/2014/main" id="{A80D49DC-7024-757D-B591-847FB23EB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1" y="2346"/>
                <a:ext cx="18" cy="30"/>
              </a:xfrm>
              <a:custGeom>
                <a:avLst/>
                <a:gdLst>
                  <a:gd name="T0" fmla="*/ 12 w 18"/>
                  <a:gd name="T1" fmla="*/ 30 h 30"/>
                  <a:gd name="T2" fmla="*/ 6 w 18"/>
                  <a:gd name="T3" fmla="*/ 6 h 30"/>
                  <a:gd name="T4" fmla="*/ 6 w 18"/>
                  <a:gd name="T5" fmla="*/ 6 h 30"/>
                  <a:gd name="T6" fmla="*/ 0 w 18"/>
                  <a:gd name="T7" fmla="*/ 0 h 30"/>
                  <a:gd name="T8" fmla="*/ 6 w 18"/>
                  <a:gd name="T9" fmla="*/ 0 h 30"/>
                  <a:gd name="T10" fmla="*/ 6 w 18"/>
                  <a:gd name="T11" fmla="*/ 6 h 30"/>
                  <a:gd name="T12" fmla="*/ 6 w 18"/>
                  <a:gd name="T13" fmla="*/ 12 h 30"/>
                  <a:gd name="T14" fmla="*/ 12 w 18"/>
                  <a:gd name="T15" fmla="*/ 18 h 30"/>
                  <a:gd name="T16" fmla="*/ 12 w 18"/>
                  <a:gd name="T17" fmla="*/ 24 h 30"/>
                  <a:gd name="T18" fmla="*/ 12 w 18"/>
                  <a:gd name="T19" fmla="*/ 24 h 30"/>
                  <a:gd name="T20" fmla="*/ 12 w 18"/>
                  <a:gd name="T21" fmla="*/ 30 h 30"/>
                  <a:gd name="T22" fmla="*/ 18 w 18"/>
                  <a:gd name="T23" fmla="*/ 30 h 30"/>
                  <a:gd name="T24" fmla="*/ 12 w 18"/>
                  <a:gd name="T25" fmla="*/ 30 h 30"/>
                  <a:gd name="T26" fmla="*/ 12 w 18"/>
                  <a:gd name="T27" fmla="*/ 30 h 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8"/>
                  <a:gd name="T43" fmla="*/ 0 h 30"/>
                  <a:gd name="T44" fmla="*/ 18 w 18"/>
                  <a:gd name="T45" fmla="*/ 30 h 3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8" h="30">
                    <a:moveTo>
                      <a:pt x="12" y="30"/>
                    </a:moveTo>
                    <a:lnTo>
                      <a:pt x="6" y="6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6" y="6"/>
                    </a:lnTo>
                    <a:lnTo>
                      <a:pt x="6" y="12"/>
                    </a:lnTo>
                    <a:lnTo>
                      <a:pt x="12" y="18"/>
                    </a:lnTo>
                    <a:lnTo>
                      <a:pt x="12" y="24"/>
                    </a:lnTo>
                    <a:lnTo>
                      <a:pt x="12" y="30"/>
                    </a:lnTo>
                    <a:lnTo>
                      <a:pt x="18" y="30"/>
                    </a:lnTo>
                    <a:lnTo>
                      <a:pt x="12" y="3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69" name="Freeform 36">
                <a:extLst>
                  <a:ext uri="{FF2B5EF4-FFF2-40B4-BE49-F238E27FC236}">
                    <a16:creationId xmlns:a16="http://schemas.microsoft.com/office/drawing/2014/main" id="{C28F5A34-09DC-9942-4579-5DE55549F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5" y="2352"/>
                <a:ext cx="30" cy="30"/>
              </a:xfrm>
              <a:custGeom>
                <a:avLst/>
                <a:gdLst>
                  <a:gd name="T0" fmla="*/ 30 w 30"/>
                  <a:gd name="T1" fmla="*/ 24 h 30"/>
                  <a:gd name="T2" fmla="*/ 24 w 30"/>
                  <a:gd name="T3" fmla="*/ 0 h 30"/>
                  <a:gd name="T4" fmla="*/ 0 w 30"/>
                  <a:gd name="T5" fmla="*/ 6 h 30"/>
                  <a:gd name="T6" fmla="*/ 6 w 30"/>
                  <a:gd name="T7" fmla="*/ 30 h 30"/>
                  <a:gd name="T8" fmla="*/ 30 w 30"/>
                  <a:gd name="T9" fmla="*/ 24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0"/>
                  <a:gd name="T17" fmla="*/ 30 w 30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0">
                    <a:moveTo>
                      <a:pt x="30" y="24"/>
                    </a:moveTo>
                    <a:lnTo>
                      <a:pt x="24" y="0"/>
                    </a:lnTo>
                    <a:lnTo>
                      <a:pt x="0" y="6"/>
                    </a:lnTo>
                    <a:lnTo>
                      <a:pt x="6" y="30"/>
                    </a:lnTo>
                    <a:lnTo>
                      <a:pt x="3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70" name="Freeform 37">
                <a:extLst>
                  <a:ext uri="{FF2B5EF4-FFF2-40B4-BE49-F238E27FC236}">
                    <a16:creationId xmlns:a16="http://schemas.microsoft.com/office/drawing/2014/main" id="{0E6B133C-3F54-6476-C70F-E28E0B13B7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25" y="2334"/>
                <a:ext cx="24" cy="24"/>
              </a:xfrm>
              <a:custGeom>
                <a:avLst/>
                <a:gdLst>
                  <a:gd name="T0" fmla="*/ 24 w 24"/>
                  <a:gd name="T1" fmla="*/ 18 h 24"/>
                  <a:gd name="T2" fmla="*/ 24 w 24"/>
                  <a:gd name="T3" fmla="*/ 12 h 24"/>
                  <a:gd name="T4" fmla="*/ 24 w 24"/>
                  <a:gd name="T5" fmla="*/ 6 h 24"/>
                  <a:gd name="T6" fmla="*/ 12 w 24"/>
                  <a:gd name="T7" fmla="*/ 0 h 24"/>
                  <a:gd name="T8" fmla="*/ 6 w 24"/>
                  <a:gd name="T9" fmla="*/ 24 h 24"/>
                  <a:gd name="T10" fmla="*/ 0 w 24"/>
                  <a:gd name="T11" fmla="*/ 18 h 24"/>
                  <a:gd name="T12" fmla="*/ 0 w 24"/>
                  <a:gd name="T13" fmla="*/ 18 h 24"/>
                  <a:gd name="T14" fmla="*/ 0 w 24"/>
                  <a:gd name="T15" fmla="*/ 24 h 24"/>
                  <a:gd name="T16" fmla="*/ 24 w 24"/>
                  <a:gd name="T17" fmla="*/ 18 h 24"/>
                  <a:gd name="T18" fmla="*/ 0 w 24"/>
                  <a:gd name="T19" fmla="*/ 24 h 24"/>
                  <a:gd name="T20" fmla="*/ 0 w 24"/>
                  <a:gd name="T21" fmla="*/ 24 h 24"/>
                  <a:gd name="T22" fmla="*/ 0 w 24"/>
                  <a:gd name="T23" fmla="*/ 24 h 24"/>
                  <a:gd name="T24" fmla="*/ 12 w 24"/>
                  <a:gd name="T25" fmla="*/ 18 h 24"/>
                  <a:gd name="T26" fmla="*/ 0 w 24"/>
                  <a:gd name="T27" fmla="*/ 24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4"/>
                  <a:gd name="T43" fmla="*/ 0 h 24"/>
                  <a:gd name="T44" fmla="*/ 24 w 24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4" h="24">
                    <a:moveTo>
                      <a:pt x="24" y="18"/>
                    </a:moveTo>
                    <a:lnTo>
                      <a:pt x="24" y="12"/>
                    </a:lnTo>
                    <a:lnTo>
                      <a:pt x="24" y="6"/>
                    </a:lnTo>
                    <a:lnTo>
                      <a:pt x="12" y="0"/>
                    </a:lnTo>
                    <a:lnTo>
                      <a:pt x="6" y="24"/>
                    </a:lnTo>
                    <a:lnTo>
                      <a:pt x="0" y="18"/>
                    </a:lnTo>
                    <a:lnTo>
                      <a:pt x="0" y="24"/>
                    </a:lnTo>
                    <a:lnTo>
                      <a:pt x="24" y="18"/>
                    </a:lnTo>
                    <a:close/>
                    <a:moveTo>
                      <a:pt x="0" y="24"/>
                    </a:moveTo>
                    <a:lnTo>
                      <a:pt x="0" y="24"/>
                    </a:lnTo>
                    <a:lnTo>
                      <a:pt x="12" y="18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71" name="Freeform 38">
                <a:extLst>
                  <a:ext uri="{FF2B5EF4-FFF2-40B4-BE49-F238E27FC236}">
                    <a16:creationId xmlns:a16="http://schemas.microsoft.com/office/drawing/2014/main" id="{731B15D0-040B-9702-06EE-2F2832C10FD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25" y="2334"/>
                <a:ext cx="24" cy="24"/>
              </a:xfrm>
              <a:custGeom>
                <a:avLst/>
                <a:gdLst>
                  <a:gd name="T0" fmla="*/ 0 w 24"/>
                  <a:gd name="T1" fmla="*/ 18 h 24"/>
                  <a:gd name="T2" fmla="*/ 0 w 24"/>
                  <a:gd name="T3" fmla="*/ 24 h 24"/>
                  <a:gd name="T4" fmla="*/ 0 w 24"/>
                  <a:gd name="T5" fmla="*/ 24 h 24"/>
                  <a:gd name="T6" fmla="*/ 24 w 24"/>
                  <a:gd name="T7" fmla="*/ 18 h 24"/>
                  <a:gd name="T8" fmla="*/ 24 w 24"/>
                  <a:gd name="T9" fmla="*/ 6 h 24"/>
                  <a:gd name="T10" fmla="*/ 18 w 24"/>
                  <a:gd name="T11" fmla="*/ 0 h 24"/>
                  <a:gd name="T12" fmla="*/ 0 w 24"/>
                  <a:gd name="T13" fmla="*/ 18 h 24"/>
                  <a:gd name="T14" fmla="*/ 12 w 24"/>
                  <a:gd name="T15" fmla="*/ 0 h 24"/>
                  <a:gd name="T16" fmla="*/ 0 w 24"/>
                  <a:gd name="T17" fmla="*/ 18 h 24"/>
                  <a:gd name="T18" fmla="*/ 18 w 24"/>
                  <a:gd name="T19" fmla="*/ 0 h 24"/>
                  <a:gd name="T20" fmla="*/ 6 w 24"/>
                  <a:gd name="T21" fmla="*/ 24 h 24"/>
                  <a:gd name="T22" fmla="*/ 12 w 24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0" y="18"/>
                    </a:moveTo>
                    <a:lnTo>
                      <a:pt x="0" y="24"/>
                    </a:lnTo>
                    <a:lnTo>
                      <a:pt x="24" y="18"/>
                    </a:lnTo>
                    <a:lnTo>
                      <a:pt x="24" y="6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  <a:moveTo>
                      <a:pt x="12" y="0"/>
                    </a:moveTo>
                    <a:lnTo>
                      <a:pt x="0" y="18"/>
                    </a:lnTo>
                    <a:lnTo>
                      <a:pt x="18" y="0"/>
                    </a:lnTo>
                    <a:lnTo>
                      <a:pt x="6" y="2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72" name="Freeform 39">
                <a:extLst>
                  <a:ext uri="{FF2B5EF4-FFF2-40B4-BE49-F238E27FC236}">
                    <a16:creationId xmlns:a16="http://schemas.microsoft.com/office/drawing/2014/main" id="{B1B2266C-D7B2-F814-F721-143CA1ECBB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25" y="2352"/>
                <a:ext cx="30" cy="24"/>
              </a:xfrm>
              <a:custGeom>
                <a:avLst/>
                <a:gdLst>
                  <a:gd name="T0" fmla="*/ 6 w 30"/>
                  <a:gd name="T1" fmla="*/ 6 h 24"/>
                  <a:gd name="T2" fmla="*/ 6 w 30"/>
                  <a:gd name="T3" fmla="*/ 6 h 24"/>
                  <a:gd name="T4" fmla="*/ 6 w 30"/>
                  <a:gd name="T5" fmla="*/ 12 h 24"/>
                  <a:gd name="T6" fmla="*/ 6 w 30"/>
                  <a:gd name="T7" fmla="*/ 18 h 24"/>
                  <a:gd name="T8" fmla="*/ 6 w 30"/>
                  <a:gd name="T9" fmla="*/ 18 h 24"/>
                  <a:gd name="T10" fmla="*/ 30 w 30"/>
                  <a:gd name="T11" fmla="*/ 24 h 24"/>
                  <a:gd name="T12" fmla="*/ 30 w 30"/>
                  <a:gd name="T13" fmla="*/ 6 h 24"/>
                  <a:gd name="T14" fmla="*/ 24 w 30"/>
                  <a:gd name="T15" fmla="*/ 0 h 24"/>
                  <a:gd name="T16" fmla="*/ 6 w 30"/>
                  <a:gd name="T17" fmla="*/ 6 h 24"/>
                  <a:gd name="T18" fmla="*/ 0 w 30"/>
                  <a:gd name="T19" fmla="*/ 6 h 24"/>
                  <a:gd name="T20" fmla="*/ 0 w 30"/>
                  <a:gd name="T21" fmla="*/ 6 h 24"/>
                  <a:gd name="T22" fmla="*/ 6 w 30"/>
                  <a:gd name="T23" fmla="*/ 6 h 24"/>
                  <a:gd name="T24" fmla="*/ 12 w 30"/>
                  <a:gd name="T25" fmla="*/ 0 h 24"/>
                  <a:gd name="T26" fmla="*/ 0 w 30"/>
                  <a:gd name="T27" fmla="*/ 6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0"/>
                  <a:gd name="T43" fmla="*/ 0 h 24"/>
                  <a:gd name="T44" fmla="*/ 30 w 30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0" h="24">
                    <a:moveTo>
                      <a:pt x="6" y="6"/>
                    </a:moveTo>
                    <a:lnTo>
                      <a:pt x="6" y="6"/>
                    </a:lnTo>
                    <a:lnTo>
                      <a:pt x="6" y="12"/>
                    </a:lnTo>
                    <a:lnTo>
                      <a:pt x="6" y="18"/>
                    </a:lnTo>
                    <a:lnTo>
                      <a:pt x="30" y="24"/>
                    </a:lnTo>
                    <a:lnTo>
                      <a:pt x="30" y="6"/>
                    </a:lnTo>
                    <a:lnTo>
                      <a:pt x="24" y="0"/>
                    </a:lnTo>
                    <a:lnTo>
                      <a:pt x="6" y="6"/>
                    </a:lnTo>
                    <a:close/>
                    <a:moveTo>
                      <a:pt x="0" y="6"/>
                    </a:moveTo>
                    <a:lnTo>
                      <a:pt x="0" y="6"/>
                    </a:lnTo>
                    <a:lnTo>
                      <a:pt x="6" y="6"/>
                    </a:lnTo>
                    <a:lnTo>
                      <a:pt x="12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73" name="Freeform 40">
                <a:extLst>
                  <a:ext uri="{FF2B5EF4-FFF2-40B4-BE49-F238E27FC236}">
                    <a16:creationId xmlns:a16="http://schemas.microsoft.com/office/drawing/2014/main" id="{5680DC17-FEB1-6565-198F-A789C9D576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31" y="2364"/>
                <a:ext cx="30" cy="24"/>
              </a:xfrm>
              <a:custGeom>
                <a:avLst/>
                <a:gdLst>
                  <a:gd name="T0" fmla="*/ 0 w 30"/>
                  <a:gd name="T1" fmla="*/ 12 h 24"/>
                  <a:gd name="T2" fmla="*/ 0 w 30"/>
                  <a:gd name="T3" fmla="*/ 12 h 24"/>
                  <a:gd name="T4" fmla="*/ 0 w 30"/>
                  <a:gd name="T5" fmla="*/ 12 h 24"/>
                  <a:gd name="T6" fmla="*/ 6 w 30"/>
                  <a:gd name="T7" fmla="*/ 18 h 24"/>
                  <a:gd name="T8" fmla="*/ 18 w 30"/>
                  <a:gd name="T9" fmla="*/ 24 h 24"/>
                  <a:gd name="T10" fmla="*/ 12 w 30"/>
                  <a:gd name="T11" fmla="*/ 0 h 24"/>
                  <a:gd name="T12" fmla="*/ 24 w 30"/>
                  <a:gd name="T13" fmla="*/ 6 h 24"/>
                  <a:gd name="T14" fmla="*/ 30 w 30"/>
                  <a:gd name="T15" fmla="*/ 6 h 24"/>
                  <a:gd name="T16" fmla="*/ 24 w 30"/>
                  <a:gd name="T17" fmla="*/ 6 h 24"/>
                  <a:gd name="T18" fmla="*/ 0 w 30"/>
                  <a:gd name="T19" fmla="*/ 12 h 24"/>
                  <a:gd name="T20" fmla="*/ 0 w 30"/>
                  <a:gd name="T21" fmla="*/ 6 h 24"/>
                  <a:gd name="T22" fmla="*/ 0 w 30"/>
                  <a:gd name="T23" fmla="*/ 6 h 24"/>
                  <a:gd name="T24" fmla="*/ 0 w 30"/>
                  <a:gd name="T25" fmla="*/ 12 h 24"/>
                  <a:gd name="T26" fmla="*/ 12 w 30"/>
                  <a:gd name="T27" fmla="*/ 6 h 24"/>
                  <a:gd name="T28" fmla="*/ 0 w 30"/>
                  <a:gd name="T29" fmla="*/ 6 h 2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0"/>
                  <a:gd name="T46" fmla="*/ 0 h 24"/>
                  <a:gd name="T47" fmla="*/ 30 w 30"/>
                  <a:gd name="T48" fmla="*/ 24 h 2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0" h="24">
                    <a:moveTo>
                      <a:pt x="0" y="12"/>
                    </a:moveTo>
                    <a:lnTo>
                      <a:pt x="0" y="12"/>
                    </a:lnTo>
                    <a:lnTo>
                      <a:pt x="6" y="18"/>
                    </a:lnTo>
                    <a:lnTo>
                      <a:pt x="18" y="24"/>
                    </a:lnTo>
                    <a:lnTo>
                      <a:pt x="12" y="0"/>
                    </a:lnTo>
                    <a:lnTo>
                      <a:pt x="24" y="6"/>
                    </a:lnTo>
                    <a:lnTo>
                      <a:pt x="30" y="6"/>
                    </a:lnTo>
                    <a:lnTo>
                      <a:pt x="24" y="6"/>
                    </a:lnTo>
                    <a:lnTo>
                      <a:pt x="0" y="12"/>
                    </a:lnTo>
                    <a:close/>
                    <a:moveTo>
                      <a:pt x="0" y="6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2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74" name="Freeform 41">
                <a:extLst>
                  <a:ext uri="{FF2B5EF4-FFF2-40B4-BE49-F238E27FC236}">
                    <a16:creationId xmlns:a16="http://schemas.microsoft.com/office/drawing/2014/main" id="{AF06F66B-B94B-4B5C-0AC7-6EE11C84FE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37" y="2364"/>
                <a:ext cx="18" cy="24"/>
              </a:xfrm>
              <a:custGeom>
                <a:avLst/>
                <a:gdLst>
                  <a:gd name="T0" fmla="*/ 6 w 18"/>
                  <a:gd name="T1" fmla="*/ 0 h 24"/>
                  <a:gd name="T2" fmla="*/ 0 w 18"/>
                  <a:gd name="T3" fmla="*/ 0 h 24"/>
                  <a:gd name="T4" fmla="*/ 12 w 18"/>
                  <a:gd name="T5" fmla="*/ 24 h 24"/>
                  <a:gd name="T6" fmla="*/ 18 w 18"/>
                  <a:gd name="T7" fmla="*/ 24 h 24"/>
                  <a:gd name="T8" fmla="*/ 6 w 18"/>
                  <a:gd name="T9" fmla="*/ 0 h 24"/>
                  <a:gd name="T10" fmla="*/ 12 w 18"/>
                  <a:gd name="T11" fmla="*/ 24 h 24"/>
                  <a:gd name="T12" fmla="*/ 6 w 18"/>
                  <a:gd name="T13" fmla="*/ 0 h 24"/>
                  <a:gd name="T14" fmla="*/ 18 w 18"/>
                  <a:gd name="T15" fmla="*/ 24 h 24"/>
                  <a:gd name="T16" fmla="*/ 6 w 18"/>
                  <a:gd name="T17" fmla="*/ 0 h 24"/>
                  <a:gd name="T18" fmla="*/ 12 w 18"/>
                  <a:gd name="T19" fmla="*/ 24 h 2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8"/>
                  <a:gd name="T31" fmla="*/ 0 h 24"/>
                  <a:gd name="T32" fmla="*/ 18 w 18"/>
                  <a:gd name="T33" fmla="*/ 24 h 2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8" h="24">
                    <a:moveTo>
                      <a:pt x="6" y="0"/>
                    </a:moveTo>
                    <a:lnTo>
                      <a:pt x="0" y="0"/>
                    </a:lnTo>
                    <a:lnTo>
                      <a:pt x="12" y="24"/>
                    </a:lnTo>
                    <a:lnTo>
                      <a:pt x="18" y="24"/>
                    </a:lnTo>
                    <a:lnTo>
                      <a:pt x="6" y="0"/>
                    </a:lnTo>
                    <a:close/>
                    <a:moveTo>
                      <a:pt x="12" y="24"/>
                    </a:moveTo>
                    <a:lnTo>
                      <a:pt x="6" y="0"/>
                    </a:lnTo>
                    <a:lnTo>
                      <a:pt x="18" y="24"/>
                    </a:lnTo>
                    <a:lnTo>
                      <a:pt x="6" y="0"/>
                    </a:lnTo>
                    <a:lnTo>
                      <a:pt x="12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75" name="Freeform 42">
                <a:extLst>
                  <a:ext uri="{FF2B5EF4-FFF2-40B4-BE49-F238E27FC236}">
                    <a16:creationId xmlns:a16="http://schemas.microsoft.com/office/drawing/2014/main" id="{FA8A6691-4ED1-2554-5880-30960B8DC3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1" y="2376"/>
                <a:ext cx="18" cy="18"/>
              </a:xfrm>
              <a:custGeom>
                <a:avLst/>
                <a:gdLst>
                  <a:gd name="T0" fmla="*/ 0 w 18"/>
                  <a:gd name="T1" fmla="*/ 6 h 18"/>
                  <a:gd name="T2" fmla="*/ 6 w 18"/>
                  <a:gd name="T3" fmla="*/ 18 h 18"/>
                  <a:gd name="T4" fmla="*/ 18 w 18"/>
                  <a:gd name="T5" fmla="*/ 12 h 18"/>
                  <a:gd name="T6" fmla="*/ 12 w 18"/>
                  <a:gd name="T7" fmla="*/ 0 h 18"/>
                  <a:gd name="T8" fmla="*/ 0 w 18"/>
                  <a:gd name="T9" fmla="*/ 6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8"/>
                  <a:gd name="T17" fmla="*/ 18 w 18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8">
                    <a:moveTo>
                      <a:pt x="0" y="6"/>
                    </a:moveTo>
                    <a:lnTo>
                      <a:pt x="6" y="18"/>
                    </a:lnTo>
                    <a:lnTo>
                      <a:pt x="18" y="12"/>
                    </a:lnTo>
                    <a:lnTo>
                      <a:pt x="12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76" name="Freeform 43">
                <a:extLst>
                  <a:ext uri="{FF2B5EF4-FFF2-40B4-BE49-F238E27FC236}">
                    <a16:creationId xmlns:a16="http://schemas.microsoft.com/office/drawing/2014/main" id="{60DA01BA-2813-6E0F-F925-CFF453D451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1" y="2459"/>
                <a:ext cx="48" cy="78"/>
              </a:xfrm>
              <a:custGeom>
                <a:avLst/>
                <a:gdLst>
                  <a:gd name="T0" fmla="*/ 48 w 48"/>
                  <a:gd name="T1" fmla="*/ 0 h 78"/>
                  <a:gd name="T2" fmla="*/ 48 w 48"/>
                  <a:gd name="T3" fmla="*/ 0 h 78"/>
                  <a:gd name="T4" fmla="*/ 42 w 48"/>
                  <a:gd name="T5" fmla="*/ 12 h 78"/>
                  <a:gd name="T6" fmla="*/ 36 w 48"/>
                  <a:gd name="T7" fmla="*/ 24 h 78"/>
                  <a:gd name="T8" fmla="*/ 30 w 48"/>
                  <a:gd name="T9" fmla="*/ 36 h 78"/>
                  <a:gd name="T10" fmla="*/ 24 w 48"/>
                  <a:gd name="T11" fmla="*/ 42 h 78"/>
                  <a:gd name="T12" fmla="*/ 18 w 48"/>
                  <a:gd name="T13" fmla="*/ 54 h 78"/>
                  <a:gd name="T14" fmla="*/ 12 w 48"/>
                  <a:gd name="T15" fmla="*/ 60 h 78"/>
                  <a:gd name="T16" fmla="*/ 6 w 48"/>
                  <a:gd name="T17" fmla="*/ 72 h 78"/>
                  <a:gd name="T18" fmla="*/ 0 w 48"/>
                  <a:gd name="T19" fmla="*/ 78 h 78"/>
                  <a:gd name="T20" fmla="*/ 0 w 48"/>
                  <a:gd name="T21" fmla="*/ 78 h 78"/>
                  <a:gd name="T22" fmla="*/ 0 w 48"/>
                  <a:gd name="T23" fmla="*/ 78 h 78"/>
                  <a:gd name="T24" fmla="*/ 6 w 48"/>
                  <a:gd name="T25" fmla="*/ 72 h 78"/>
                  <a:gd name="T26" fmla="*/ 12 w 48"/>
                  <a:gd name="T27" fmla="*/ 60 h 78"/>
                  <a:gd name="T28" fmla="*/ 18 w 48"/>
                  <a:gd name="T29" fmla="*/ 54 h 78"/>
                  <a:gd name="T30" fmla="*/ 24 w 48"/>
                  <a:gd name="T31" fmla="*/ 42 h 78"/>
                  <a:gd name="T32" fmla="*/ 36 w 48"/>
                  <a:gd name="T33" fmla="*/ 30 h 78"/>
                  <a:gd name="T34" fmla="*/ 42 w 48"/>
                  <a:gd name="T35" fmla="*/ 18 h 78"/>
                  <a:gd name="T36" fmla="*/ 48 w 48"/>
                  <a:gd name="T37" fmla="*/ 12 h 78"/>
                  <a:gd name="T38" fmla="*/ 48 w 48"/>
                  <a:gd name="T39" fmla="*/ 0 h 78"/>
                  <a:gd name="T40" fmla="*/ 48 w 48"/>
                  <a:gd name="T41" fmla="*/ 0 h 78"/>
                  <a:gd name="T42" fmla="*/ 48 w 48"/>
                  <a:gd name="T43" fmla="*/ 0 h 78"/>
                  <a:gd name="T44" fmla="*/ 48 w 48"/>
                  <a:gd name="T45" fmla="*/ 0 h 78"/>
                  <a:gd name="T46" fmla="*/ 48 w 48"/>
                  <a:gd name="T47" fmla="*/ 0 h 7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8"/>
                  <a:gd name="T73" fmla="*/ 0 h 78"/>
                  <a:gd name="T74" fmla="*/ 48 w 48"/>
                  <a:gd name="T75" fmla="*/ 78 h 7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8" h="78">
                    <a:moveTo>
                      <a:pt x="48" y="0"/>
                    </a:moveTo>
                    <a:lnTo>
                      <a:pt x="48" y="0"/>
                    </a:lnTo>
                    <a:lnTo>
                      <a:pt x="42" y="12"/>
                    </a:lnTo>
                    <a:lnTo>
                      <a:pt x="36" y="24"/>
                    </a:lnTo>
                    <a:lnTo>
                      <a:pt x="30" y="36"/>
                    </a:lnTo>
                    <a:lnTo>
                      <a:pt x="24" y="42"/>
                    </a:lnTo>
                    <a:lnTo>
                      <a:pt x="18" y="54"/>
                    </a:lnTo>
                    <a:lnTo>
                      <a:pt x="12" y="60"/>
                    </a:lnTo>
                    <a:lnTo>
                      <a:pt x="6" y="72"/>
                    </a:lnTo>
                    <a:lnTo>
                      <a:pt x="0" y="78"/>
                    </a:lnTo>
                    <a:lnTo>
                      <a:pt x="6" y="72"/>
                    </a:lnTo>
                    <a:lnTo>
                      <a:pt x="12" y="60"/>
                    </a:lnTo>
                    <a:lnTo>
                      <a:pt x="18" y="54"/>
                    </a:lnTo>
                    <a:lnTo>
                      <a:pt x="24" y="42"/>
                    </a:lnTo>
                    <a:lnTo>
                      <a:pt x="36" y="30"/>
                    </a:lnTo>
                    <a:lnTo>
                      <a:pt x="42" y="18"/>
                    </a:lnTo>
                    <a:lnTo>
                      <a:pt x="48" y="12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77" name="Freeform 44">
                <a:extLst>
                  <a:ext uri="{FF2B5EF4-FFF2-40B4-BE49-F238E27FC236}">
                    <a16:creationId xmlns:a16="http://schemas.microsoft.com/office/drawing/2014/main" id="{A6BB5A50-322C-A2EE-B394-7DD44104A0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2459"/>
                <a:ext cx="48" cy="78"/>
              </a:xfrm>
              <a:custGeom>
                <a:avLst/>
                <a:gdLst>
                  <a:gd name="T0" fmla="*/ 0 w 48"/>
                  <a:gd name="T1" fmla="*/ 0 h 78"/>
                  <a:gd name="T2" fmla="*/ 0 w 48"/>
                  <a:gd name="T3" fmla="*/ 0 h 78"/>
                  <a:gd name="T4" fmla="*/ 6 w 48"/>
                  <a:gd name="T5" fmla="*/ 12 h 78"/>
                  <a:gd name="T6" fmla="*/ 12 w 48"/>
                  <a:gd name="T7" fmla="*/ 24 h 78"/>
                  <a:gd name="T8" fmla="*/ 18 w 48"/>
                  <a:gd name="T9" fmla="*/ 36 h 78"/>
                  <a:gd name="T10" fmla="*/ 24 w 48"/>
                  <a:gd name="T11" fmla="*/ 42 h 78"/>
                  <a:gd name="T12" fmla="*/ 30 w 48"/>
                  <a:gd name="T13" fmla="*/ 54 h 78"/>
                  <a:gd name="T14" fmla="*/ 36 w 48"/>
                  <a:gd name="T15" fmla="*/ 60 h 78"/>
                  <a:gd name="T16" fmla="*/ 42 w 48"/>
                  <a:gd name="T17" fmla="*/ 72 h 78"/>
                  <a:gd name="T18" fmla="*/ 48 w 48"/>
                  <a:gd name="T19" fmla="*/ 78 h 78"/>
                  <a:gd name="T20" fmla="*/ 48 w 48"/>
                  <a:gd name="T21" fmla="*/ 78 h 78"/>
                  <a:gd name="T22" fmla="*/ 48 w 48"/>
                  <a:gd name="T23" fmla="*/ 78 h 78"/>
                  <a:gd name="T24" fmla="*/ 42 w 48"/>
                  <a:gd name="T25" fmla="*/ 72 h 78"/>
                  <a:gd name="T26" fmla="*/ 36 w 48"/>
                  <a:gd name="T27" fmla="*/ 60 h 78"/>
                  <a:gd name="T28" fmla="*/ 30 w 48"/>
                  <a:gd name="T29" fmla="*/ 54 h 78"/>
                  <a:gd name="T30" fmla="*/ 24 w 48"/>
                  <a:gd name="T31" fmla="*/ 42 h 78"/>
                  <a:gd name="T32" fmla="*/ 12 w 48"/>
                  <a:gd name="T33" fmla="*/ 30 h 78"/>
                  <a:gd name="T34" fmla="*/ 6 w 48"/>
                  <a:gd name="T35" fmla="*/ 18 h 78"/>
                  <a:gd name="T36" fmla="*/ 0 w 48"/>
                  <a:gd name="T37" fmla="*/ 12 h 78"/>
                  <a:gd name="T38" fmla="*/ 0 w 48"/>
                  <a:gd name="T39" fmla="*/ 0 h 78"/>
                  <a:gd name="T40" fmla="*/ 0 w 48"/>
                  <a:gd name="T41" fmla="*/ 0 h 78"/>
                  <a:gd name="T42" fmla="*/ 0 w 48"/>
                  <a:gd name="T43" fmla="*/ 0 h 78"/>
                  <a:gd name="T44" fmla="*/ 0 w 48"/>
                  <a:gd name="T45" fmla="*/ 0 h 78"/>
                  <a:gd name="T46" fmla="*/ 0 w 48"/>
                  <a:gd name="T47" fmla="*/ 0 h 7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8"/>
                  <a:gd name="T73" fmla="*/ 0 h 78"/>
                  <a:gd name="T74" fmla="*/ 48 w 48"/>
                  <a:gd name="T75" fmla="*/ 78 h 7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8" h="78">
                    <a:moveTo>
                      <a:pt x="0" y="0"/>
                    </a:moveTo>
                    <a:lnTo>
                      <a:pt x="0" y="0"/>
                    </a:lnTo>
                    <a:lnTo>
                      <a:pt x="6" y="12"/>
                    </a:lnTo>
                    <a:lnTo>
                      <a:pt x="12" y="24"/>
                    </a:lnTo>
                    <a:lnTo>
                      <a:pt x="18" y="36"/>
                    </a:lnTo>
                    <a:lnTo>
                      <a:pt x="24" y="42"/>
                    </a:lnTo>
                    <a:lnTo>
                      <a:pt x="30" y="54"/>
                    </a:lnTo>
                    <a:lnTo>
                      <a:pt x="36" y="60"/>
                    </a:lnTo>
                    <a:lnTo>
                      <a:pt x="42" y="72"/>
                    </a:lnTo>
                    <a:lnTo>
                      <a:pt x="48" y="78"/>
                    </a:lnTo>
                    <a:lnTo>
                      <a:pt x="42" y="72"/>
                    </a:lnTo>
                    <a:lnTo>
                      <a:pt x="36" y="60"/>
                    </a:lnTo>
                    <a:lnTo>
                      <a:pt x="30" y="54"/>
                    </a:lnTo>
                    <a:lnTo>
                      <a:pt x="24" y="42"/>
                    </a:lnTo>
                    <a:lnTo>
                      <a:pt x="12" y="30"/>
                    </a:lnTo>
                    <a:lnTo>
                      <a:pt x="6" y="18"/>
                    </a:lnTo>
                    <a:lnTo>
                      <a:pt x="0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78" name="Freeform 45">
                <a:extLst>
                  <a:ext uri="{FF2B5EF4-FFF2-40B4-BE49-F238E27FC236}">
                    <a16:creationId xmlns:a16="http://schemas.microsoft.com/office/drawing/2014/main" id="{C4B69F0B-8E68-2AD2-B990-35F98B3D82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9" y="2346"/>
                <a:ext cx="42" cy="71"/>
              </a:xfrm>
              <a:custGeom>
                <a:avLst/>
                <a:gdLst>
                  <a:gd name="T0" fmla="*/ 0 w 42"/>
                  <a:gd name="T1" fmla="*/ 71 h 71"/>
                  <a:gd name="T2" fmla="*/ 6 w 42"/>
                  <a:gd name="T3" fmla="*/ 71 h 71"/>
                  <a:gd name="T4" fmla="*/ 18 w 42"/>
                  <a:gd name="T5" fmla="*/ 71 h 71"/>
                  <a:gd name="T6" fmla="*/ 30 w 42"/>
                  <a:gd name="T7" fmla="*/ 65 h 71"/>
                  <a:gd name="T8" fmla="*/ 36 w 42"/>
                  <a:gd name="T9" fmla="*/ 59 h 71"/>
                  <a:gd name="T10" fmla="*/ 36 w 42"/>
                  <a:gd name="T11" fmla="*/ 54 h 71"/>
                  <a:gd name="T12" fmla="*/ 42 w 42"/>
                  <a:gd name="T13" fmla="*/ 48 h 71"/>
                  <a:gd name="T14" fmla="*/ 42 w 42"/>
                  <a:gd name="T15" fmla="*/ 42 h 71"/>
                  <a:gd name="T16" fmla="*/ 42 w 42"/>
                  <a:gd name="T17" fmla="*/ 42 h 71"/>
                  <a:gd name="T18" fmla="*/ 36 w 42"/>
                  <a:gd name="T19" fmla="*/ 36 h 71"/>
                  <a:gd name="T20" fmla="*/ 30 w 42"/>
                  <a:gd name="T21" fmla="*/ 30 h 71"/>
                  <a:gd name="T22" fmla="*/ 24 w 42"/>
                  <a:gd name="T23" fmla="*/ 30 h 71"/>
                  <a:gd name="T24" fmla="*/ 30 w 42"/>
                  <a:gd name="T25" fmla="*/ 12 h 71"/>
                  <a:gd name="T26" fmla="*/ 30 w 42"/>
                  <a:gd name="T27" fmla="*/ 0 h 71"/>
                  <a:gd name="T28" fmla="*/ 24 w 42"/>
                  <a:gd name="T29" fmla="*/ 12 h 71"/>
                  <a:gd name="T30" fmla="*/ 24 w 42"/>
                  <a:gd name="T31" fmla="*/ 6 h 71"/>
                  <a:gd name="T32" fmla="*/ 24 w 42"/>
                  <a:gd name="T33" fmla="*/ 12 h 71"/>
                  <a:gd name="T34" fmla="*/ 24 w 42"/>
                  <a:gd name="T35" fmla="*/ 18 h 71"/>
                  <a:gd name="T36" fmla="*/ 24 w 42"/>
                  <a:gd name="T37" fmla="*/ 24 h 71"/>
                  <a:gd name="T38" fmla="*/ 18 w 42"/>
                  <a:gd name="T39" fmla="*/ 24 h 71"/>
                  <a:gd name="T40" fmla="*/ 18 w 42"/>
                  <a:gd name="T41" fmla="*/ 18 h 71"/>
                  <a:gd name="T42" fmla="*/ 18 w 42"/>
                  <a:gd name="T43" fmla="*/ 24 h 71"/>
                  <a:gd name="T44" fmla="*/ 18 w 42"/>
                  <a:gd name="T45" fmla="*/ 30 h 71"/>
                  <a:gd name="T46" fmla="*/ 24 w 42"/>
                  <a:gd name="T47" fmla="*/ 36 h 71"/>
                  <a:gd name="T48" fmla="*/ 36 w 42"/>
                  <a:gd name="T49" fmla="*/ 48 h 71"/>
                  <a:gd name="T50" fmla="*/ 36 w 42"/>
                  <a:gd name="T51" fmla="*/ 48 h 71"/>
                  <a:gd name="T52" fmla="*/ 30 w 42"/>
                  <a:gd name="T53" fmla="*/ 48 h 71"/>
                  <a:gd name="T54" fmla="*/ 24 w 42"/>
                  <a:gd name="T55" fmla="*/ 54 h 71"/>
                  <a:gd name="T56" fmla="*/ 12 w 42"/>
                  <a:gd name="T57" fmla="*/ 54 h 71"/>
                  <a:gd name="T58" fmla="*/ 6 w 42"/>
                  <a:gd name="T59" fmla="*/ 59 h 71"/>
                  <a:gd name="T60" fmla="*/ 0 w 42"/>
                  <a:gd name="T61" fmla="*/ 71 h 71"/>
                  <a:gd name="T62" fmla="*/ 0 w 42"/>
                  <a:gd name="T63" fmla="*/ 71 h 71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2"/>
                  <a:gd name="T97" fmla="*/ 0 h 71"/>
                  <a:gd name="T98" fmla="*/ 42 w 42"/>
                  <a:gd name="T99" fmla="*/ 71 h 71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2" h="71">
                    <a:moveTo>
                      <a:pt x="0" y="71"/>
                    </a:moveTo>
                    <a:lnTo>
                      <a:pt x="6" y="71"/>
                    </a:lnTo>
                    <a:lnTo>
                      <a:pt x="18" y="71"/>
                    </a:lnTo>
                    <a:lnTo>
                      <a:pt x="30" y="65"/>
                    </a:lnTo>
                    <a:lnTo>
                      <a:pt x="36" y="59"/>
                    </a:lnTo>
                    <a:lnTo>
                      <a:pt x="36" y="54"/>
                    </a:lnTo>
                    <a:lnTo>
                      <a:pt x="42" y="48"/>
                    </a:lnTo>
                    <a:lnTo>
                      <a:pt x="42" y="42"/>
                    </a:lnTo>
                    <a:lnTo>
                      <a:pt x="36" y="36"/>
                    </a:lnTo>
                    <a:lnTo>
                      <a:pt x="30" y="30"/>
                    </a:lnTo>
                    <a:lnTo>
                      <a:pt x="24" y="30"/>
                    </a:lnTo>
                    <a:lnTo>
                      <a:pt x="30" y="12"/>
                    </a:lnTo>
                    <a:lnTo>
                      <a:pt x="30" y="0"/>
                    </a:lnTo>
                    <a:lnTo>
                      <a:pt x="24" y="12"/>
                    </a:lnTo>
                    <a:lnTo>
                      <a:pt x="24" y="6"/>
                    </a:lnTo>
                    <a:lnTo>
                      <a:pt x="24" y="12"/>
                    </a:lnTo>
                    <a:lnTo>
                      <a:pt x="24" y="18"/>
                    </a:lnTo>
                    <a:lnTo>
                      <a:pt x="24" y="24"/>
                    </a:lnTo>
                    <a:lnTo>
                      <a:pt x="18" y="24"/>
                    </a:lnTo>
                    <a:lnTo>
                      <a:pt x="18" y="18"/>
                    </a:lnTo>
                    <a:lnTo>
                      <a:pt x="18" y="24"/>
                    </a:lnTo>
                    <a:lnTo>
                      <a:pt x="18" y="30"/>
                    </a:lnTo>
                    <a:lnTo>
                      <a:pt x="24" y="36"/>
                    </a:lnTo>
                    <a:lnTo>
                      <a:pt x="36" y="48"/>
                    </a:lnTo>
                    <a:lnTo>
                      <a:pt x="30" y="48"/>
                    </a:lnTo>
                    <a:lnTo>
                      <a:pt x="24" y="54"/>
                    </a:lnTo>
                    <a:lnTo>
                      <a:pt x="12" y="54"/>
                    </a:lnTo>
                    <a:lnTo>
                      <a:pt x="6" y="59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79" name="Freeform 46">
                <a:extLst>
                  <a:ext uri="{FF2B5EF4-FFF2-40B4-BE49-F238E27FC236}">
                    <a16:creationId xmlns:a16="http://schemas.microsoft.com/office/drawing/2014/main" id="{29785AC4-EC9F-FCAC-D2E1-76CE166A7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3" y="2400"/>
                <a:ext cx="42" cy="35"/>
              </a:xfrm>
              <a:custGeom>
                <a:avLst/>
                <a:gdLst>
                  <a:gd name="T0" fmla="*/ 0 w 42"/>
                  <a:gd name="T1" fmla="*/ 29 h 35"/>
                  <a:gd name="T2" fmla="*/ 12 w 42"/>
                  <a:gd name="T3" fmla="*/ 35 h 35"/>
                  <a:gd name="T4" fmla="*/ 24 w 42"/>
                  <a:gd name="T5" fmla="*/ 29 h 35"/>
                  <a:gd name="T6" fmla="*/ 42 w 42"/>
                  <a:gd name="T7" fmla="*/ 17 h 35"/>
                  <a:gd name="T8" fmla="*/ 24 w 42"/>
                  <a:gd name="T9" fmla="*/ 0 h 35"/>
                  <a:gd name="T10" fmla="*/ 12 w 42"/>
                  <a:gd name="T11" fmla="*/ 5 h 35"/>
                  <a:gd name="T12" fmla="*/ 12 w 42"/>
                  <a:gd name="T13" fmla="*/ 5 h 35"/>
                  <a:gd name="T14" fmla="*/ 18 w 42"/>
                  <a:gd name="T15" fmla="*/ 11 h 35"/>
                  <a:gd name="T16" fmla="*/ 0 w 42"/>
                  <a:gd name="T17" fmla="*/ 29 h 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2"/>
                  <a:gd name="T28" fmla="*/ 0 h 35"/>
                  <a:gd name="T29" fmla="*/ 42 w 42"/>
                  <a:gd name="T30" fmla="*/ 35 h 3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2" h="35">
                    <a:moveTo>
                      <a:pt x="0" y="29"/>
                    </a:moveTo>
                    <a:lnTo>
                      <a:pt x="12" y="35"/>
                    </a:lnTo>
                    <a:lnTo>
                      <a:pt x="24" y="29"/>
                    </a:lnTo>
                    <a:lnTo>
                      <a:pt x="42" y="17"/>
                    </a:lnTo>
                    <a:lnTo>
                      <a:pt x="24" y="0"/>
                    </a:lnTo>
                    <a:lnTo>
                      <a:pt x="12" y="5"/>
                    </a:lnTo>
                    <a:lnTo>
                      <a:pt x="18" y="11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80" name="Freeform 47">
                <a:extLst>
                  <a:ext uri="{FF2B5EF4-FFF2-40B4-BE49-F238E27FC236}">
                    <a16:creationId xmlns:a16="http://schemas.microsoft.com/office/drawing/2014/main" id="{547002B0-B2FD-5F43-AB28-C3A5AA3197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7" y="2388"/>
                <a:ext cx="24" cy="29"/>
              </a:xfrm>
              <a:custGeom>
                <a:avLst/>
                <a:gdLst>
                  <a:gd name="T0" fmla="*/ 18 w 24"/>
                  <a:gd name="T1" fmla="*/ 29 h 29"/>
                  <a:gd name="T2" fmla="*/ 24 w 24"/>
                  <a:gd name="T3" fmla="*/ 29 h 29"/>
                  <a:gd name="T4" fmla="*/ 24 w 24"/>
                  <a:gd name="T5" fmla="*/ 23 h 29"/>
                  <a:gd name="T6" fmla="*/ 18 w 24"/>
                  <a:gd name="T7" fmla="*/ 23 h 29"/>
                  <a:gd name="T8" fmla="*/ 24 w 24"/>
                  <a:gd name="T9" fmla="*/ 0 h 29"/>
                  <a:gd name="T10" fmla="*/ 12 w 24"/>
                  <a:gd name="T11" fmla="*/ 6 h 29"/>
                  <a:gd name="T12" fmla="*/ 6 w 24"/>
                  <a:gd name="T13" fmla="*/ 6 h 29"/>
                  <a:gd name="T14" fmla="*/ 0 w 24"/>
                  <a:gd name="T15" fmla="*/ 12 h 29"/>
                  <a:gd name="T16" fmla="*/ 18 w 24"/>
                  <a:gd name="T17" fmla="*/ 29 h 29"/>
                  <a:gd name="T18" fmla="*/ 18 w 24"/>
                  <a:gd name="T19" fmla="*/ 29 h 29"/>
                  <a:gd name="T20" fmla="*/ 18 w 24"/>
                  <a:gd name="T21" fmla="*/ 29 h 29"/>
                  <a:gd name="T22" fmla="*/ 18 w 24"/>
                  <a:gd name="T23" fmla="*/ 29 h 29"/>
                  <a:gd name="T24" fmla="*/ 12 w 24"/>
                  <a:gd name="T25" fmla="*/ 23 h 29"/>
                  <a:gd name="T26" fmla="*/ 18 w 24"/>
                  <a:gd name="T27" fmla="*/ 29 h 2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4"/>
                  <a:gd name="T43" fmla="*/ 0 h 29"/>
                  <a:gd name="T44" fmla="*/ 24 w 24"/>
                  <a:gd name="T45" fmla="*/ 29 h 2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4" h="29">
                    <a:moveTo>
                      <a:pt x="18" y="29"/>
                    </a:moveTo>
                    <a:lnTo>
                      <a:pt x="24" y="29"/>
                    </a:lnTo>
                    <a:lnTo>
                      <a:pt x="24" y="23"/>
                    </a:lnTo>
                    <a:lnTo>
                      <a:pt x="18" y="23"/>
                    </a:lnTo>
                    <a:lnTo>
                      <a:pt x="24" y="0"/>
                    </a:lnTo>
                    <a:lnTo>
                      <a:pt x="12" y="6"/>
                    </a:lnTo>
                    <a:lnTo>
                      <a:pt x="6" y="6"/>
                    </a:lnTo>
                    <a:lnTo>
                      <a:pt x="0" y="12"/>
                    </a:lnTo>
                    <a:lnTo>
                      <a:pt x="18" y="29"/>
                    </a:lnTo>
                    <a:close/>
                    <a:moveTo>
                      <a:pt x="18" y="29"/>
                    </a:moveTo>
                    <a:lnTo>
                      <a:pt x="18" y="29"/>
                    </a:lnTo>
                    <a:lnTo>
                      <a:pt x="12" y="23"/>
                    </a:lnTo>
                    <a:lnTo>
                      <a:pt x="18" y="29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81" name="Freeform 48">
                <a:extLst>
                  <a:ext uri="{FF2B5EF4-FFF2-40B4-BE49-F238E27FC236}">
                    <a16:creationId xmlns:a16="http://schemas.microsoft.com/office/drawing/2014/main" id="{AB192871-10B2-1AF0-7F55-ACA48E9FF4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79" y="2382"/>
                <a:ext cx="24" cy="29"/>
              </a:xfrm>
              <a:custGeom>
                <a:avLst/>
                <a:gdLst>
                  <a:gd name="T0" fmla="*/ 12 w 24"/>
                  <a:gd name="T1" fmla="*/ 29 h 29"/>
                  <a:gd name="T2" fmla="*/ 12 w 24"/>
                  <a:gd name="T3" fmla="*/ 29 h 29"/>
                  <a:gd name="T4" fmla="*/ 18 w 24"/>
                  <a:gd name="T5" fmla="*/ 23 h 29"/>
                  <a:gd name="T6" fmla="*/ 24 w 24"/>
                  <a:gd name="T7" fmla="*/ 12 h 29"/>
                  <a:gd name="T8" fmla="*/ 18 w 24"/>
                  <a:gd name="T9" fmla="*/ 0 h 29"/>
                  <a:gd name="T10" fmla="*/ 0 w 24"/>
                  <a:gd name="T11" fmla="*/ 18 h 29"/>
                  <a:gd name="T12" fmla="*/ 0 w 24"/>
                  <a:gd name="T13" fmla="*/ 12 h 29"/>
                  <a:gd name="T14" fmla="*/ 0 w 24"/>
                  <a:gd name="T15" fmla="*/ 12 h 29"/>
                  <a:gd name="T16" fmla="*/ 12 w 24"/>
                  <a:gd name="T17" fmla="*/ 29 h 29"/>
                  <a:gd name="T18" fmla="*/ 6 w 24"/>
                  <a:gd name="T19" fmla="*/ 29 h 29"/>
                  <a:gd name="T20" fmla="*/ 12 w 24"/>
                  <a:gd name="T21" fmla="*/ 29 h 29"/>
                  <a:gd name="T22" fmla="*/ 12 w 24"/>
                  <a:gd name="T23" fmla="*/ 29 h 29"/>
                  <a:gd name="T24" fmla="*/ 6 w 24"/>
                  <a:gd name="T25" fmla="*/ 18 h 29"/>
                  <a:gd name="T26" fmla="*/ 6 w 24"/>
                  <a:gd name="T27" fmla="*/ 29 h 2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4"/>
                  <a:gd name="T43" fmla="*/ 0 h 29"/>
                  <a:gd name="T44" fmla="*/ 24 w 24"/>
                  <a:gd name="T45" fmla="*/ 29 h 2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4" h="29">
                    <a:moveTo>
                      <a:pt x="12" y="29"/>
                    </a:moveTo>
                    <a:lnTo>
                      <a:pt x="12" y="29"/>
                    </a:lnTo>
                    <a:lnTo>
                      <a:pt x="18" y="23"/>
                    </a:lnTo>
                    <a:lnTo>
                      <a:pt x="24" y="12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12" y="29"/>
                    </a:lnTo>
                    <a:close/>
                    <a:moveTo>
                      <a:pt x="6" y="29"/>
                    </a:moveTo>
                    <a:lnTo>
                      <a:pt x="12" y="29"/>
                    </a:lnTo>
                    <a:lnTo>
                      <a:pt x="6" y="18"/>
                    </a:lnTo>
                    <a:lnTo>
                      <a:pt x="6" y="29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82" name="Freeform 49">
                <a:extLst>
                  <a:ext uri="{FF2B5EF4-FFF2-40B4-BE49-F238E27FC236}">
                    <a16:creationId xmlns:a16="http://schemas.microsoft.com/office/drawing/2014/main" id="{9785636E-F399-06C5-855B-7DCB92B0B5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7" y="2364"/>
                <a:ext cx="30" cy="36"/>
              </a:xfrm>
              <a:custGeom>
                <a:avLst/>
                <a:gdLst>
                  <a:gd name="T0" fmla="*/ 30 w 30"/>
                  <a:gd name="T1" fmla="*/ 18 h 36"/>
                  <a:gd name="T2" fmla="*/ 30 w 30"/>
                  <a:gd name="T3" fmla="*/ 18 h 36"/>
                  <a:gd name="T4" fmla="*/ 24 w 30"/>
                  <a:gd name="T5" fmla="*/ 12 h 36"/>
                  <a:gd name="T6" fmla="*/ 18 w 30"/>
                  <a:gd name="T7" fmla="*/ 6 h 36"/>
                  <a:gd name="T8" fmla="*/ 18 w 30"/>
                  <a:gd name="T9" fmla="*/ 6 h 36"/>
                  <a:gd name="T10" fmla="*/ 0 w 30"/>
                  <a:gd name="T11" fmla="*/ 0 h 36"/>
                  <a:gd name="T12" fmla="*/ 0 w 30"/>
                  <a:gd name="T13" fmla="*/ 18 h 36"/>
                  <a:gd name="T14" fmla="*/ 6 w 30"/>
                  <a:gd name="T15" fmla="*/ 30 h 36"/>
                  <a:gd name="T16" fmla="*/ 12 w 30"/>
                  <a:gd name="T17" fmla="*/ 36 h 36"/>
                  <a:gd name="T18" fmla="*/ 12 w 30"/>
                  <a:gd name="T19" fmla="*/ 36 h 36"/>
                  <a:gd name="T20" fmla="*/ 30 w 30"/>
                  <a:gd name="T21" fmla="*/ 18 h 36"/>
                  <a:gd name="T22" fmla="*/ 30 w 30"/>
                  <a:gd name="T23" fmla="*/ 18 h 36"/>
                  <a:gd name="T24" fmla="*/ 30 w 30"/>
                  <a:gd name="T25" fmla="*/ 18 h 36"/>
                  <a:gd name="T26" fmla="*/ 30 w 30"/>
                  <a:gd name="T27" fmla="*/ 18 h 36"/>
                  <a:gd name="T28" fmla="*/ 24 w 30"/>
                  <a:gd name="T29" fmla="*/ 24 h 36"/>
                  <a:gd name="T30" fmla="*/ 30 w 30"/>
                  <a:gd name="T31" fmla="*/ 18 h 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0"/>
                  <a:gd name="T49" fmla="*/ 0 h 36"/>
                  <a:gd name="T50" fmla="*/ 30 w 30"/>
                  <a:gd name="T51" fmla="*/ 36 h 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0" h="36">
                    <a:moveTo>
                      <a:pt x="30" y="18"/>
                    </a:moveTo>
                    <a:lnTo>
                      <a:pt x="30" y="18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0" y="0"/>
                    </a:lnTo>
                    <a:lnTo>
                      <a:pt x="0" y="18"/>
                    </a:lnTo>
                    <a:lnTo>
                      <a:pt x="6" y="30"/>
                    </a:lnTo>
                    <a:lnTo>
                      <a:pt x="12" y="36"/>
                    </a:lnTo>
                    <a:lnTo>
                      <a:pt x="30" y="18"/>
                    </a:lnTo>
                    <a:close/>
                    <a:moveTo>
                      <a:pt x="30" y="18"/>
                    </a:moveTo>
                    <a:lnTo>
                      <a:pt x="30" y="18"/>
                    </a:lnTo>
                    <a:lnTo>
                      <a:pt x="24" y="24"/>
                    </a:lnTo>
                    <a:lnTo>
                      <a:pt x="30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83" name="Freeform 50">
                <a:extLst>
                  <a:ext uri="{FF2B5EF4-FFF2-40B4-BE49-F238E27FC236}">
                    <a16:creationId xmlns:a16="http://schemas.microsoft.com/office/drawing/2014/main" id="{FCC6C92E-728C-9596-7C36-C62C65294F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352"/>
                <a:ext cx="24" cy="30"/>
              </a:xfrm>
              <a:custGeom>
                <a:avLst/>
                <a:gdLst>
                  <a:gd name="T0" fmla="*/ 24 w 24"/>
                  <a:gd name="T1" fmla="*/ 24 h 30"/>
                  <a:gd name="T2" fmla="*/ 24 w 24"/>
                  <a:gd name="T3" fmla="*/ 6 h 30"/>
                  <a:gd name="T4" fmla="*/ 6 w 24"/>
                  <a:gd name="T5" fmla="*/ 0 h 30"/>
                  <a:gd name="T6" fmla="*/ 0 w 24"/>
                  <a:gd name="T7" fmla="*/ 18 h 30"/>
                  <a:gd name="T8" fmla="*/ 24 w 24"/>
                  <a:gd name="T9" fmla="*/ 24 h 30"/>
                  <a:gd name="T10" fmla="*/ 24 w 24"/>
                  <a:gd name="T11" fmla="*/ 30 h 30"/>
                  <a:gd name="T12" fmla="*/ 24 w 24"/>
                  <a:gd name="T13" fmla="*/ 24 h 30"/>
                  <a:gd name="T14" fmla="*/ 24 w 24"/>
                  <a:gd name="T15" fmla="*/ 24 h 30"/>
                  <a:gd name="T16" fmla="*/ 12 w 24"/>
                  <a:gd name="T17" fmla="*/ 24 h 30"/>
                  <a:gd name="T18" fmla="*/ 24 w 24"/>
                  <a:gd name="T19" fmla="*/ 30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30"/>
                  <a:gd name="T32" fmla="*/ 24 w 24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30">
                    <a:moveTo>
                      <a:pt x="24" y="24"/>
                    </a:moveTo>
                    <a:lnTo>
                      <a:pt x="24" y="6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24" y="24"/>
                    </a:lnTo>
                    <a:close/>
                    <a:moveTo>
                      <a:pt x="24" y="30"/>
                    </a:moveTo>
                    <a:lnTo>
                      <a:pt x="24" y="24"/>
                    </a:lnTo>
                    <a:lnTo>
                      <a:pt x="12" y="24"/>
                    </a:lnTo>
                    <a:lnTo>
                      <a:pt x="24" y="3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84" name="Freeform 51">
                <a:extLst>
                  <a:ext uri="{FF2B5EF4-FFF2-40B4-BE49-F238E27FC236}">
                    <a16:creationId xmlns:a16="http://schemas.microsoft.com/office/drawing/2014/main" id="{38A59A5B-1433-29F2-452A-EAE69ED2C0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7" y="2346"/>
                <a:ext cx="24" cy="12"/>
              </a:xfrm>
              <a:custGeom>
                <a:avLst/>
                <a:gdLst>
                  <a:gd name="T0" fmla="*/ 18 w 24"/>
                  <a:gd name="T1" fmla="*/ 12 h 12"/>
                  <a:gd name="T2" fmla="*/ 24 w 24"/>
                  <a:gd name="T3" fmla="*/ 6 h 12"/>
                  <a:gd name="T4" fmla="*/ 0 w 24"/>
                  <a:gd name="T5" fmla="*/ 0 h 12"/>
                  <a:gd name="T6" fmla="*/ 0 w 24"/>
                  <a:gd name="T7" fmla="*/ 6 h 12"/>
                  <a:gd name="T8" fmla="*/ 18 w 24"/>
                  <a:gd name="T9" fmla="*/ 12 h 12"/>
                  <a:gd name="T10" fmla="*/ 0 w 24"/>
                  <a:gd name="T11" fmla="*/ 6 h 12"/>
                  <a:gd name="T12" fmla="*/ 0 w 24"/>
                  <a:gd name="T13" fmla="*/ 6 h 12"/>
                  <a:gd name="T14" fmla="*/ 0 w 24"/>
                  <a:gd name="T15" fmla="*/ 6 h 12"/>
                  <a:gd name="T16" fmla="*/ 12 w 24"/>
                  <a:gd name="T17" fmla="*/ 12 h 12"/>
                  <a:gd name="T18" fmla="*/ 0 w 24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12"/>
                  <a:gd name="T32" fmla="*/ 24 w 24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12">
                    <a:moveTo>
                      <a:pt x="18" y="12"/>
                    </a:moveTo>
                    <a:lnTo>
                      <a:pt x="24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8" y="12"/>
                    </a:lnTo>
                    <a:close/>
                    <a:moveTo>
                      <a:pt x="0" y="6"/>
                    </a:moveTo>
                    <a:lnTo>
                      <a:pt x="0" y="6"/>
                    </a:lnTo>
                    <a:lnTo>
                      <a:pt x="12" y="1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85" name="Freeform 52">
                <a:extLst>
                  <a:ext uri="{FF2B5EF4-FFF2-40B4-BE49-F238E27FC236}">
                    <a16:creationId xmlns:a16="http://schemas.microsoft.com/office/drawing/2014/main" id="{85DBAC74-E8FA-5CDA-067C-B871E5DAF1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346"/>
                <a:ext cx="30" cy="12"/>
              </a:xfrm>
              <a:custGeom>
                <a:avLst/>
                <a:gdLst>
                  <a:gd name="T0" fmla="*/ 6 w 30"/>
                  <a:gd name="T1" fmla="*/ 0 h 12"/>
                  <a:gd name="T2" fmla="*/ 0 w 30"/>
                  <a:gd name="T3" fmla="*/ 6 h 12"/>
                  <a:gd name="T4" fmla="*/ 24 w 30"/>
                  <a:gd name="T5" fmla="*/ 12 h 12"/>
                  <a:gd name="T6" fmla="*/ 30 w 30"/>
                  <a:gd name="T7" fmla="*/ 6 h 12"/>
                  <a:gd name="T8" fmla="*/ 6 w 30"/>
                  <a:gd name="T9" fmla="*/ 0 h 12"/>
                  <a:gd name="T10" fmla="*/ 30 w 30"/>
                  <a:gd name="T11" fmla="*/ 6 h 12"/>
                  <a:gd name="T12" fmla="*/ 6 w 30"/>
                  <a:gd name="T13" fmla="*/ 0 h 12"/>
                  <a:gd name="T14" fmla="*/ 30 w 30"/>
                  <a:gd name="T15" fmla="*/ 6 h 12"/>
                  <a:gd name="T16" fmla="*/ 6 w 30"/>
                  <a:gd name="T17" fmla="*/ 0 h 12"/>
                  <a:gd name="T18" fmla="*/ 30 w 30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12"/>
                  <a:gd name="T32" fmla="*/ 30 w 3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12">
                    <a:moveTo>
                      <a:pt x="6" y="0"/>
                    </a:moveTo>
                    <a:lnTo>
                      <a:pt x="0" y="6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6" y="0"/>
                    </a:lnTo>
                    <a:close/>
                    <a:moveTo>
                      <a:pt x="30" y="6"/>
                    </a:moveTo>
                    <a:lnTo>
                      <a:pt x="6" y="0"/>
                    </a:lnTo>
                    <a:lnTo>
                      <a:pt x="30" y="6"/>
                    </a:lnTo>
                    <a:lnTo>
                      <a:pt x="6" y="0"/>
                    </a:lnTo>
                    <a:lnTo>
                      <a:pt x="3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86" name="Freeform 53">
                <a:extLst>
                  <a:ext uri="{FF2B5EF4-FFF2-40B4-BE49-F238E27FC236}">
                    <a16:creationId xmlns:a16="http://schemas.microsoft.com/office/drawing/2014/main" id="{ABC7FE25-8E66-220F-B437-5D7EF9EAC3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352"/>
                <a:ext cx="24" cy="6"/>
              </a:xfrm>
              <a:custGeom>
                <a:avLst/>
                <a:gdLst>
                  <a:gd name="T0" fmla="*/ 24 w 24"/>
                  <a:gd name="T1" fmla="*/ 0 h 6"/>
                  <a:gd name="T2" fmla="*/ 24 w 24"/>
                  <a:gd name="T3" fmla="*/ 0 h 6"/>
                  <a:gd name="T4" fmla="*/ 0 w 24"/>
                  <a:gd name="T5" fmla="*/ 0 h 6"/>
                  <a:gd name="T6" fmla="*/ 0 w 24"/>
                  <a:gd name="T7" fmla="*/ 6 h 6"/>
                  <a:gd name="T8" fmla="*/ 24 w 24"/>
                  <a:gd name="T9" fmla="*/ 0 h 6"/>
                  <a:gd name="T10" fmla="*/ 0 w 24"/>
                  <a:gd name="T11" fmla="*/ 0 h 6"/>
                  <a:gd name="T12" fmla="*/ 24 w 24"/>
                  <a:gd name="T13" fmla="*/ 0 h 6"/>
                  <a:gd name="T14" fmla="*/ 0 w 24"/>
                  <a:gd name="T15" fmla="*/ 6 h 6"/>
                  <a:gd name="T16" fmla="*/ 24 w 24"/>
                  <a:gd name="T17" fmla="*/ 6 h 6"/>
                  <a:gd name="T18" fmla="*/ 0 w 24"/>
                  <a:gd name="T19" fmla="*/ 0 h 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6"/>
                  <a:gd name="T32" fmla="*/ 24 w 24"/>
                  <a:gd name="T33" fmla="*/ 6 h 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6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24" y="0"/>
                    </a:lnTo>
                    <a:close/>
                    <a:moveTo>
                      <a:pt x="0" y="0"/>
                    </a:moveTo>
                    <a:lnTo>
                      <a:pt x="24" y="0"/>
                    </a:lnTo>
                    <a:lnTo>
                      <a:pt x="0" y="6"/>
                    </a:lnTo>
                    <a:lnTo>
                      <a:pt x="24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87" name="Freeform 54">
                <a:extLst>
                  <a:ext uri="{FF2B5EF4-FFF2-40B4-BE49-F238E27FC236}">
                    <a16:creationId xmlns:a16="http://schemas.microsoft.com/office/drawing/2014/main" id="{82461674-C3CC-1DC5-8DC3-B34B54FD77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352"/>
                <a:ext cx="24" cy="24"/>
              </a:xfrm>
              <a:custGeom>
                <a:avLst/>
                <a:gdLst>
                  <a:gd name="T0" fmla="*/ 0 w 24"/>
                  <a:gd name="T1" fmla="*/ 0 h 24"/>
                  <a:gd name="T2" fmla="*/ 0 w 24"/>
                  <a:gd name="T3" fmla="*/ 6 h 24"/>
                  <a:gd name="T4" fmla="*/ 0 w 24"/>
                  <a:gd name="T5" fmla="*/ 6 h 24"/>
                  <a:gd name="T6" fmla="*/ 0 w 24"/>
                  <a:gd name="T7" fmla="*/ 6 h 24"/>
                  <a:gd name="T8" fmla="*/ 0 w 24"/>
                  <a:gd name="T9" fmla="*/ 6 h 24"/>
                  <a:gd name="T10" fmla="*/ 0 w 24"/>
                  <a:gd name="T11" fmla="*/ 24 h 24"/>
                  <a:gd name="T12" fmla="*/ 18 w 24"/>
                  <a:gd name="T13" fmla="*/ 18 h 24"/>
                  <a:gd name="T14" fmla="*/ 24 w 24"/>
                  <a:gd name="T15" fmla="*/ 12 h 24"/>
                  <a:gd name="T16" fmla="*/ 24 w 24"/>
                  <a:gd name="T17" fmla="*/ 6 h 24"/>
                  <a:gd name="T18" fmla="*/ 24 w 24"/>
                  <a:gd name="T19" fmla="*/ 0 h 24"/>
                  <a:gd name="T20" fmla="*/ 0 w 24"/>
                  <a:gd name="T21" fmla="*/ 0 h 24"/>
                  <a:gd name="T22" fmla="*/ 24 w 24"/>
                  <a:gd name="T23" fmla="*/ 0 h 24"/>
                  <a:gd name="T24" fmla="*/ 0 w 24"/>
                  <a:gd name="T25" fmla="*/ 0 h 24"/>
                  <a:gd name="T26" fmla="*/ 24 w 24"/>
                  <a:gd name="T27" fmla="*/ 0 h 24"/>
                  <a:gd name="T28" fmla="*/ 0 w 24"/>
                  <a:gd name="T29" fmla="*/ 0 h 24"/>
                  <a:gd name="T30" fmla="*/ 24 w 24"/>
                  <a:gd name="T31" fmla="*/ 0 h 2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4"/>
                  <a:gd name="T49" fmla="*/ 0 h 24"/>
                  <a:gd name="T50" fmla="*/ 24 w 24"/>
                  <a:gd name="T51" fmla="*/ 24 h 2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4" h="24">
                    <a:moveTo>
                      <a:pt x="0" y="0"/>
                    </a:moveTo>
                    <a:lnTo>
                      <a:pt x="0" y="6"/>
                    </a:lnTo>
                    <a:lnTo>
                      <a:pt x="0" y="24"/>
                    </a:lnTo>
                    <a:lnTo>
                      <a:pt x="18" y="18"/>
                    </a:lnTo>
                    <a:lnTo>
                      <a:pt x="24" y="12"/>
                    </a:lnTo>
                    <a:lnTo>
                      <a:pt x="24" y="6"/>
                    </a:lnTo>
                    <a:lnTo>
                      <a:pt x="24" y="0"/>
                    </a:lnTo>
                    <a:lnTo>
                      <a:pt x="0" y="0"/>
                    </a:lnTo>
                    <a:close/>
                    <a:moveTo>
                      <a:pt x="24" y="0"/>
                    </a:moveTo>
                    <a:lnTo>
                      <a:pt x="0" y="0"/>
                    </a:ln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88" name="Freeform 55">
                <a:extLst>
                  <a:ext uri="{FF2B5EF4-FFF2-40B4-BE49-F238E27FC236}">
                    <a16:creationId xmlns:a16="http://schemas.microsoft.com/office/drawing/2014/main" id="{D70082D3-1D17-048E-0C90-5F8BDAF642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358"/>
                <a:ext cx="18" cy="18"/>
              </a:xfrm>
              <a:custGeom>
                <a:avLst/>
                <a:gdLst>
                  <a:gd name="T0" fmla="*/ 18 w 18"/>
                  <a:gd name="T1" fmla="*/ 0 h 18"/>
                  <a:gd name="T2" fmla="*/ 18 w 18"/>
                  <a:gd name="T3" fmla="*/ 0 h 18"/>
                  <a:gd name="T4" fmla="*/ 0 w 18"/>
                  <a:gd name="T5" fmla="*/ 18 h 18"/>
                  <a:gd name="T6" fmla="*/ 0 w 18"/>
                  <a:gd name="T7" fmla="*/ 18 h 18"/>
                  <a:gd name="T8" fmla="*/ 18 w 18"/>
                  <a:gd name="T9" fmla="*/ 0 h 18"/>
                  <a:gd name="T10" fmla="*/ 18 w 18"/>
                  <a:gd name="T11" fmla="*/ 6 h 18"/>
                  <a:gd name="T12" fmla="*/ 18 w 18"/>
                  <a:gd name="T13" fmla="*/ 0 h 18"/>
                  <a:gd name="T14" fmla="*/ 18 w 18"/>
                  <a:gd name="T15" fmla="*/ 0 h 18"/>
                  <a:gd name="T16" fmla="*/ 6 w 18"/>
                  <a:gd name="T17" fmla="*/ 12 h 18"/>
                  <a:gd name="T18" fmla="*/ 18 w 18"/>
                  <a:gd name="T19" fmla="*/ 6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8"/>
                  <a:gd name="T31" fmla="*/ 0 h 18"/>
                  <a:gd name="T32" fmla="*/ 18 w 18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8" h="18">
                    <a:moveTo>
                      <a:pt x="18" y="0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18" y="0"/>
                    </a:lnTo>
                    <a:close/>
                    <a:moveTo>
                      <a:pt x="18" y="6"/>
                    </a:moveTo>
                    <a:lnTo>
                      <a:pt x="18" y="0"/>
                    </a:lnTo>
                    <a:lnTo>
                      <a:pt x="6" y="12"/>
                    </a:lnTo>
                    <a:lnTo>
                      <a:pt x="18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89" name="Freeform 56">
                <a:extLst>
                  <a:ext uri="{FF2B5EF4-FFF2-40B4-BE49-F238E27FC236}">
                    <a16:creationId xmlns:a16="http://schemas.microsoft.com/office/drawing/2014/main" id="{21E54843-FF5F-92FA-4BFB-7180AEFD04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55" y="2346"/>
                <a:ext cx="24" cy="36"/>
              </a:xfrm>
              <a:custGeom>
                <a:avLst/>
                <a:gdLst>
                  <a:gd name="T0" fmla="*/ 0 w 24"/>
                  <a:gd name="T1" fmla="*/ 18 h 36"/>
                  <a:gd name="T2" fmla="*/ 0 w 24"/>
                  <a:gd name="T3" fmla="*/ 24 h 36"/>
                  <a:gd name="T4" fmla="*/ 6 w 24"/>
                  <a:gd name="T5" fmla="*/ 36 h 36"/>
                  <a:gd name="T6" fmla="*/ 24 w 24"/>
                  <a:gd name="T7" fmla="*/ 24 h 36"/>
                  <a:gd name="T8" fmla="*/ 24 w 24"/>
                  <a:gd name="T9" fmla="*/ 24 h 36"/>
                  <a:gd name="T10" fmla="*/ 0 w 24"/>
                  <a:gd name="T11" fmla="*/ 18 h 36"/>
                  <a:gd name="T12" fmla="*/ 24 w 24"/>
                  <a:gd name="T13" fmla="*/ 12 h 36"/>
                  <a:gd name="T14" fmla="*/ 12 w 24"/>
                  <a:gd name="T15" fmla="*/ 0 h 36"/>
                  <a:gd name="T16" fmla="*/ 0 w 24"/>
                  <a:gd name="T17" fmla="*/ 18 h 36"/>
                  <a:gd name="T18" fmla="*/ 12 w 24"/>
                  <a:gd name="T19" fmla="*/ 18 h 36"/>
                  <a:gd name="T20" fmla="*/ 24 w 24"/>
                  <a:gd name="T21" fmla="*/ 12 h 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4"/>
                  <a:gd name="T34" fmla="*/ 0 h 36"/>
                  <a:gd name="T35" fmla="*/ 24 w 24"/>
                  <a:gd name="T36" fmla="*/ 36 h 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4" h="36">
                    <a:moveTo>
                      <a:pt x="0" y="18"/>
                    </a:moveTo>
                    <a:lnTo>
                      <a:pt x="0" y="24"/>
                    </a:lnTo>
                    <a:lnTo>
                      <a:pt x="6" y="36"/>
                    </a:lnTo>
                    <a:lnTo>
                      <a:pt x="24" y="24"/>
                    </a:lnTo>
                    <a:lnTo>
                      <a:pt x="0" y="18"/>
                    </a:lnTo>
                    <a:close/>
                    <a:moveTo>
                      <a:pt x="24" y="12"/>
                    </a:moveTo>
                    <a:lnTo>
                      <a:pt x="12" y="0"/>
                    </a:lnTo>
                    <a:lnTo>
                      <a:pt x="0" y="18"/>
                    </a:lnTo>
                    <a:lnTo>
                      <a:pt x="12" y="18"/>
                    </a:lnTo>
                    <a:lnTo>
                      <a:pt x="24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90" name="Freeform 57">
                <a:extLst>
                  <a:ext uri="{FF2B5EF4-FFF2-40B4-BE49-F238E27FC236}">
                    <a16:creationId xmlns:a16="http://schemas.microsoft.com/office/drawing/2014/main" id="{16381408-164F-D6DE-14DD-DA6876D04B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55" y="2370"/>
                <a:ext cx="36" cy="30"/>
              </a:xfrm>
              <a:custGeom>
                <a:avLst/>
                <a:gdLst>
                  <a:gd name="T0" fmla="*/ 0 w 36"/>
                  <a:gd name="T1" fmla="*/ 6 h 30"/>
                  <a:gd name="T2" fmla="*/ 6 w 36"/>
                  <a:gd name="T3" fmla="*/ 18 h 30"/>
                  <a:gd name="T4" fmla="*/ 24 w 36"/>
                  <a:gd name="T5" fmla="*/ 30 h 30"/>
                  <a:gd name="T6" fmla="*/ 36 w 36"/>
                  <a:gd name="T7" fmla="*/ 12 h 30"/>
                  <a:gd name="T8" fmla="*/ 24 w 36"/>
                  <a:gd name="T9" fmla="*/ 6 h 30"/>
                  <a:gd name="T10" fmla="*/ 24 w 36"/>
                  <a:gd name="T11" fmla="*/ 6 h 30"/>
                  <a:gd name="T12" fmla="*/ 0 w 36"/>
                  <a:gd name="T13" fmla="*/ 6 h 30"/>
                  <a:gd name="T14" fmla="*/ 24 w 36"/>
                  <a:gd name="T15" fmla="*/ 6 h 30"/>
                  <a:gd name="T16" fmla="*/ 24 w 36"/>
                  <a:gd name="T17" fmla="*/ 0 h 30"/>
                  <a:gd name="T18" fmla="*/ 24 w 36"/>
                  <a:gd name="T19" fmla="*/ 0 h 30"/>
                  <a:gd name="T20" fmla="*/ 12 w 36"/>
                  <a:gd name="T21" fmla="*/ 6 h 30"/>
                  <a:gd name="T22" fmla="*/ 24 w 36"/>
                  <a:gd name="T23" fmla="*/ 6 h 3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6"/>
                  <a:gd name="T37" fmla="*/ 0 h 30"/>
                  <a:gd name="T38" fmla="*/ 36 w 36"/>
                  <a:gd name="T39" fmla="*/ 30 h 3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6" h="30">
                    <a:moveTo>
                      <a:pt x="0" y="6"/>
                    </a:moveTo>
                    <a:lnTo>
                      <a:pt x="6" y="18"/>
                    </a:lnTo>
                    <a:lnTo>
                      <a:pt x="24" y="30"/>
                    </a:lnTo>
                    <a:lnTo>
                      <a:pt x="36" y="12"/>
                    </a:lnTo>
                    <a:lnTo>
                      <a:pt x="24" y="6"/>
                    </a:lnTo>
                    <a:lnTo>
                      <a:pt x="0" y="6"/>
                    </a:lnTo>
                    <a:close/>
                    <a:moveTo>
                      <a:pt x="24" y="6"/>
                    </a:moveTo>
                    <a:lnTo>
                      <a:pt x="24" y="0"/>
                    </a:lnTo>
                    <a:lnTo>
                      <a:pt x="12" y="6"/>
                    </a:lnTo>
                    <a:lnTo>
                      <a:pt x="24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91" name="Freeform 58">
                <a:extLst>
                  <a:ext uri="{FF2B5EF4-FFF2-40B4-BE49-F238E27FC236}">
                    <a16:creationId xmlns:a16="http://schemas.microsoft.com/office/drawing/2014/main" id="{8FDE645D-2925-B119-D2DC-A1583ABA67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73" y="2382"/>
                <a:ext cx="36" cy="18"/>
              </a:xfrm>
              <a:custGeom>
                <a:avLst/>
                <a:gdLst>
                  <a:gd name="T0" fmla="*/ 6 w 36"/>
                  <a:gd name="T1" fmla="*/ 0 h 18"/>
                  <a:gd name="T2" fmla="*/ 6 w 36"/>
                  <a:gd name="T3" fmla="*/ 0 h 18"/>
                  <a:gd name="T4" fmla="*/ 0 w 36"/>
                  <a:gd name="T5" fmla="*/ 6 h 18"/>
                  <a:gd name="T6" fmla="*/ 18 w 36"/>
                  <a:gd name="T7" fmla="*/ 18 h 18"/>
                  <a:gd name="T8" fmla="*/ 18 w 36"/>
                  <a:gd name="T9" fmla="*/ 18 h 18"/>
                  <a:gd name="T10" fmla="*/ 6 w 36"/>
                  <a:gd name="T11" fmla="*/ 0 h 18"/>
                  <a:gd name="T12" fmla="*/ 18 w 36"/>
                  <a:gd name="T13" fmla="*/ 18 h 18"/>
                  <a:gd name="T14" fmla="*/ 36 w 36"/>
                  <a:gd name="T15" fmla="*/ 6 h 18"/>
                  <a:gd name="T16" fmla="*/ 18 w 36"/>
                  <a:gd name="T17" fmla="*/ 0 h 18"/>
                  <a:gd name="T18" fmla="*/ 12 w 36"/>
                  <a:gd name="T19" fmla="*/ 12 h 18"/>
                  <a:gd name="T20" fmla="*/ 18 w 36"/>
                  <a:gd name="T21" fmla="*/ 18 h 1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6"/>
                  <a:gd name="T34" fmla="*/ 0 h 18"/>
                  <a:gd name="T35" fmla="*/ 36 w 36"/>
                  <a:gd name="T36" fmla="*/ 18 h 1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6" h="18">
                    <a:moveTo>
                      <a:pt x="6" y="0"/>
                    </a:moveTo>
                    <a:lnTo>
                      <a:pt x="6" y="0"/>
                    </a:lnTo>
                    <a:lnTo>
                      <a:pt x="0" y="6"/>
                    </a:lnTo>
                    <a:lnTo>
                      <a:pt x="18" y="18"/>
                    </a:lnTo>
                    <a:lnTo>
                      <a:pt x="6" y="0"/>
                    </a:lnTo>
                    <a:close/>
                    <a:moveTo>
                      <a:pt x="18" y="18"/>
                    </a:moveTo>
                    <a:lnTo>
                      <a:pt x="36" y="6"/>
                    </a:lnTo>
                    <a:lnTo>
                      <a:pt x="18" y="0"/>
                    </a:lnTo>
                    <a:lnTo>
                      <a:pt x="12" y="12"/>
                    </a:lnTo>
                    <a:lnTo>
                      <a:pt x="18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92" name="Freeform 59">
                <a:extLst>
                  <a:ext uri="{FF2B5EF4-FFF2-40B4-BE49-F238E27FC236}">
                    <a16:creationId xmlns:a16="http://schemas.microsoft.com/office/drawing/2014/main" id="{7B2C8B0F-B14D-3CA9-620A-C0A3E19F26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3" y="2382"/>
                <a:ext cx="48" cy="29"/>
              </a:xfrm>
              <a:custGeom>
                <a:avLst/>
                <a:gdLst>
                  <a:gd name="T0" fmla="*/ 36 w 48"/>
                  <a:gd name="T1" fmla="*/ 0 h 29"/>
                  <a:gd name="T2" fmla="*/ 30 w 48"/>
                  <a:gd name="T3" fmla="*/ 0 h 29"/>
                  <a:gd name="T4" fmla="*/ 24 w 48"/>
                  <a:gd name="T5" fmla="*/ 6 h 29"/>
                  <a:gd name="T6" fmla="*/ 0 w 48"/>
                  <a:gd name="T7" fmla="*/ 12 h 29"/>
                  <a:gd name="T8" fmla="*/ 18 w 48"/>
                  <a:gd name="T9" fmla="*/ 29 h 29"/>
                  <a:gd name="T10" fmla="*/ 18 w 48"/>
                  <a:gd name="T11" fmla="*/ 29 h 29"/>
                  <a:gd name="T12" fmla="*/ 30 w 48"/>
                  <a:gd name="T13" fmla="*/ 29 h 29"/>
                  <a:gd name="T14" fmla="*/ 36 w 48"/>
                  <a:gd name="T15" fmla="*/ 23 h 29"/>
                  <a:gd name="T16" fmla="*/ 42 w 48"/>
                  <a:gd name="T17" fmla="*/ 23 h 29"/>
                  <a:gd name="T18" fmla="*/ 36 w 48"/>
                  <a:gd name="T19" fmla="*/ 0 h 29"/>
                  <a:gd name="T20" fmla="*/ 42 w 48"/>
                  <a:gd name="T21" fmla="*/ 23 h 29"/>
                  <a:gd name="T22" fmla="*/ 48 w 48"/>
                  <a:gd name="T23" fmla="*/ 23 h 29"/>
                  <a:gd name="T24" fmla="*/ 48 w 48"/>
                  <a:gd name="T25" fmla="*/ 18 h 29"/>
                  <a:gd name="T26" fmla="*/ 42 w 48"/>
                  <a:gd name="T27" fmla="*/ 12 h 29"/>
                  <a:gd name="T28" fmla="*/ 42 w 48"/>
                  <a:gd name="T29" fmla="*/ 23 h 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8"/>
                  <a:gd name="T46" fmla="*/ 0 h 29"/>
                  <a:gd name="T47" fmla="*/ 48 w 48"/>
                  <a:gd name="T48" fmla="*/ 29 h 2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8" h="29">
                    <a:moveTo>
                      <a:pt x="36" y="0"/>
                    </a:moveTo>
                    <a:lnTo>
                      <a:pt x="30" y="0"/>
                    </a:lnTo>
                    <a:lnTo>
                      <a:pt x="24" y="6"/>
                    </a:lnTo>
                    <a:lnTo>
                      <a:pt x="0" y="12"/>
                    </a:lnTo>
                    <a:lnTo>
                      <a:pt x="18" y="29"/>
                    </a:lnTo>
                    <a:lnTo>
                      <a:pt x="30" y="29"/>
                    </a:lnTo>
                    <a:lnTo>
                      <a:pt x="36" y="23"/>
                    </a:lnTo>
                    <a:lnTo>
                      <a:pt x="42" y="23"/>
                    </a:lnTo>
                    <a:lnTo>
                      <a:pt x="36" y="0"/>
                    </a:lnTo>
                    <a:close/>
                    <a:moveTo>
                      <a:pt x="42" y="23"/>
                    </a:moveTo>
                    <a:lnTo>
                      <a:pt x="48" y="23"/>
                    </a:lnTo>
                    <a:lnTo>
                      <a:pt x="48" y="18"/>
                    </a:lnTo>
                    <a:lnTo>
                      <a:pt x="42" y="12"/>
                    </a:lnTo>
                    <a:lnTo>
                      <a:pt x="42" y="23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93" name="Freeform 60">
                <a:extLst>
                  <a:ext uri="{FF2B5EF4-FFF2-40B4-BE49-F238E27FC236}">
                    <a16:creationId xmlns:a16="http://schemas.microsoft.com/office/drawing/2014/main" id="{86DF11E5-CA3B-324B-C523-6E7AE258C9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37" y="2394"/>
                <a:ext cx="30" cy="29"/>
              </a:xfrm>
              <a:custGeom>
                <a:avLst/>
                <a:gdLst>
                  <a:gd name="T0" fmla="*/ 6 w 30"/>
                  <a:gd name="T1" fmla="*/ 6 h 29"/>
                  <a:gd name="T2" fmla="*/ 0 w 30"/>
                  <a:gd name="T3" fmla="*/ 23 h 29"/>
                  <a:gd name="T4" fmla="*/ 24 w 30"/>
                  <a:gd name="T5" fmla="*/ 29 h 29"/>
                  <a:gd name="T6" fmla="*/ 30 w 30"/>
                  <a:gd name="T7" fmla="*/ 11 h 29"/>
                  <a:gd name="T8" fmla="*/ 6 w 30"/>
                  <a:gd name="T9" fmla="*/ 6 h 29"/>
                  <a:gd name="T10" fmla="*/ 6 w 30"/>
                  <a:gd name="T11" fmla="*/ 0 h 29"/>
                  <a:gd name="T12" fmla="*/ 6 w 30"/>
                  <a:gd name="T13" fmla="*/ 6 h 29"/>
                  <a:gd name="T14" fmla="*/ 6 w 30"/>
                  <a:gd name="T15" fmla="*/ 6 h 29"/>
                  <a:gd name="T16" fmla="*/ 18 w 30"/>
                  <a:gd name="T17" fmla="*/ 11 h 29"/>
                  <a:gd name="T18" fmla="*/ 6 w 30"/>
                  <a:gd name="T19" fmla="*/ 0 h 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29"/>
                  <a:gd name="T32" fmla="*/ 30 w 30"/>
                  <a:gd name="T33" fmla="*/ 29 h 2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29">
                    <a:moveTo>
                      <a:pt x="6" y="6"/>
                    </a:moveTo>
                    <a:lnTo>
                      <a:pt x="0" y="23"/>
                    </a:lnTo>
                    <a:lnTo>
                      <a:pt x="24" y="29"/>
                    </a:lnTo>
                    <a:lnTo>
                      <a:pt x="30" y="11"/>
                    </a:lnTo>
                    <a:lnTo>
                      <a:pt x="6" y="6"/>
                    </a:lnTo>
                    <a:close/>
                    <a:moveTo>
                      <a:pt x="6" y="0"/>
                    </a:moveTo>
                    <a:lnTo>
                      <a:pt x="6" y="6"/>
                    </a:lnTo>
                    <a:lnTo>
                      <a:pt x="18" y="1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94" name="Freeform 61">
                <a:extLst>
                  <a:ext uri="{FF2B5EF4-FFF2-40B4-BE49-F238E27FC236}">
                    <a16:creationId xmlns:a16="http://schemas.microsoft.com/office/drawing/2014/main" id="{5E6A9401-88B5-C6F9-994B-75F762B3F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" y="2417"/>
                <a:ext cx="12" cy="12"/>
              </a:xfrm>
              <a:custGeom>
                <a:avLst/>
                <a:gdLst>
                  <a:gd name="T0" fmla="*/ 0 w 12"/>
                  <a:gd name="T1" fmla="*/ 0 h 12"/>
                  <a:gd name="T2" fmla="*/ 0 w 12"/>
                  <a:gd name="T3" fmla="*/ 6 h 12"/>
                  <a:gd name="T4" fmla="*/ 6 w 12"/>
                  <a:gd name="T5" fmla="*/ 12 h 12"/>
                  <a:gd name="T6" fmla="*/ 12 w 12"/>
                  <a:gd name="T7" fmla="*/ 0 h 12"/>
                  <a:gd name="T8" fmla="*/ 0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0" y="0"/>
                    </a:moveTo>
                    <a:lnTo>
                      <a:pt x="0" y="6"/>
                    </a:lnTo>
                    <a:lnTo>
                      <a:pt x="6" y="12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95" name="Freeform 62">
                <a:extLst>
                  <a:ext uri="{FF2B5EF4-FFF2-40B4-BE49-F238E27FC236}">
                    <a16:creationId xmlns:a16="http://schemas.microsoft.com/office/drawing/2014/main" id="{46ECBCD2-C01E-661D-EAAB-3AADF0014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5" y="2411"/>
                <a:ext cx="48" cy="18"/>
              </a:xfrm>
              <a:custGeom>
                <a:avLst/>
                <a:gdLst>
                  <a:gd name="T0" fmla="*/ 48 w 48"/>
                  <a:gd name="T1" fmla="*/ 18 h 18"/>
                  <a:gd name="T2" fmla="*/ 42 w 48"/>
                  <a:gd name="T3" fmla="*/ 18 h 18"/>
                  <a:gd name="T4" fmla="*/ 30 w 48"/>
                  <a:gd name="T5" fmla="*/ 18 h 18"/>
                  <a:gd name="T6" fmla="*/ 30 w 48"/>
                  <a:gd name="T7" fmla="*/ 18 h 18"/>
                  <a:gd name="T8" fmla="*/ 24 w 48"/>
                  <a:gd name="T9" fmla="*/ 12 h 18"/>
                  <a:gd name="T10" fmla="*/ 18 w 48"/>
                  <a:gd name="T11" fmla="*/ 6 h 18"/>
                  <a:gd name="T12" fmla="*/ 18 w 48"/>
                  <a:gd name="T13" fmla="*/ 6 h 18"/>
                  <a:gd name="T14" fmla="*/ 18 w 48"/>
                  <a:gd name="T15" fmla="*/ 6 h 18"/>
                  <a:gd name="T16" fmla="*/ 12 w 48"/>
                  <a:gd name="T17" fmla="*/ 6 h 18"/>
                  <a:gd name="T18" fmla="*/ 12 w 48"/>
                  <a:gd name="T19" fmla="*/ 6 h 18"/>
                  <a:gd name="T20" fmla="*/ 12 w 48"/>
                  <a:gd name="T21" fmla="*/ 6 h 18"/>
                  <a:gd name="T22" fmla="*/ 6 w 48"/>
                  <a:gd name="T23" fmla="*/ 0 h 18"/>
                  <a:gd name="T24" fmla="*/ 6 w 48"/>
                  <a:gd name="T25" fmla="*/ 0 h 18"/>
                  <a:gd name="T26" fmla="*/ 6 w 48"/>
                  <a:gd name="T27" fmla="*/ 0 h 18"/>
                  <a:gd name="T28" fmla="*/ 0 w 48"/>
                  <a:gd name="T29" fmla="*/ 0 h 18"/>
                  <a:gd name="T30" fmla="*/ 6 w 48"/>
                  <a:gd name="T31" fmla="*/ 0 h 18"/>
                  <a:gd name="T32" fmla="*/ 6 w 48"/>
                  <a:gd name="T33" fmla="*/ 0 h 18"/>
                  <a:gd name="T34" fmla="*/ 12 w 48"/>
                  <a:gd name="T35" fmla="*/ 0 h 18"/>
                  <a:gd name="T36" fmla="*/ 12 w 48"/>
                  <a:gd name="T37" fmla="*/ 0 h 18"/>
                  <a:gd name="T38" fmla="*/ 18 w 48"/>
                  <a:gd name="T39" fmla="*/ 6 h 18"/>
                  <a:gd name="T40" fmla="*/ 18 w 48"/>
                  <a:gd name="T41" fmla="*/ 6 h 18"/>
                  <a:gd name="T42" fmla="*/ 24 w 48"/>
                  <a:gd name="T43" fmla="*/ 12 h 18"/>
                  <a:gd name="T44" fmla="*/ 30 w 48"/>
                  <a:gd name="T45" fmla="*/ 12 h 18"/>
                  <a:gd name="T46" fmla="*/ 30 w 48"/>
                  <a:gd name="T47" fmla="*/ 12 h 18"/>
                  <a:gd name="T48" fmla="*/ 36 w 48"/>
                  <a:gd name="T49" fmla="*/ 12 h 18"/>
                  <a:gd name="T50" fmla="*/ 42 w 48"/>
                  <a:gd name="T51" fmla="*/ 12 h 18"/>
                  <a:gd name="T52" fmla="*/ 42 w 48"/>
                  <a:gd name="T53" fmla="*/ 12 h 18"/>
                  <a:gd name="T54" fmla="*/ 48 w 48"/>
                  <a:gd name="T55" fmla="*/ 18 h 18"/>
                  <a:gd name="T56" fmla="*/ 48 w 48"/>
                  <a:gd name="T57" fmla="*/ 18 h 1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48"/>
                  <a:gd name="T88" fmla="*/ 0 h 18"/>
                  <a:gd name="T89" fmla="*/ 48 w 48"/>
                  <a:gd name="T90" fmla="*/ 18 h 18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48" h="18">
                    <a:moveTo>
                      <a:pt x="48" y="18"/>
                    </a:moveTo>
                    <a:lnTo>
                      <a:pt x="42" y="18"/>
                    </a:lnTo>
                    <a:lnTo>
                      <a:pt x="30" y="18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12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18" y="6"/>
                    </a:lnTo>
                    <a:lnTo>
                      <a:pt x="24" y="12"/>
                    </a:lnTo>
                    <a:lnTo>
                      <a:pt x="30" y="12"/>
                    </a:lnTo>
                    <a:lnTo>
                      <a:pt x="36" y="12"/>
                    </a:lnTo>
                    <a:lnTo>
                      <a:pt x="42" y="12"/>
                    </a:lnTo>
                    <a:lnTo>
                      <a:pt x="48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96" name="Freeform 63">
                <a:extLst>
                  <a:ext uri="{FF2B5EF4-FFF2-40B4-BE49-F238E27FC236}">
                    <a16:creationId xmlns:a16="http://schemas.microsoft.com/office/drawing/2014/main" id="{A4B52C48-400D-0A0F-2B51-62EFBFF43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9" y="2417"/>
                <a:ext cx="24" cy="24"/>
              </a:xfrm>
              <a:custGeom>
                <a:avLst/>
                <a:gdLst>
                  <a:gd name="T0" fmla="*/ 18 w 24"/>
                  <a:gd name="T1" fmla="*/ 0 h 24"/>
                  <a:gd name="T2" fmla="*/ 18 w 24"/>
                  <a:gd name="T3" fmla="*/ 0 h 24"/>
                  <a:gd name="T4" fmla="*/ 18 w 24"/>
                  <a:gd name="T5" fmla="*/ 0 h 24"/>
                  <a:gd name="T6" fmla="*/ 12 w 24"/>
                  <a:gd name="T7" fmla="*/ 0 h 24"/>
                  <a:gd name="T8" fmla="*/ 18 w 24"/>
                  <a:gd name="T9" fmla="*/ 6 h 24"/>
                  <a:gd name="T10" fmla="*/ 0 w 24"/>
                  <a:gd name="T11" fmla="*/ 18 h 24"/>
                  <a:gd name="T12" fmla="*/ 12 w 24"/>
                  <a:gd name="T13" fmla="*/ 24 h 24"/>
                  <a:gd name="T14" fmla="*/ 18 w 24"/>
                  <a:gd name="T15" fmla="*/ 24 h 24"/>
                  <a:gd name="T16" fmla="*/ 24 w 24"/>
                  <a:gd name="T17" fmla="*/ 24 h 24"/>
                  <a:gd name="T18" fmla="*/ 18 w 24"/>
                  <a:gd name="T19" fmla="*/ 0 h 2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24"/>
                  <a:gd name="T32" fmla="*/ 24 w 24"/>
                  <a:gd name="T33" fmla="*/ 24 h 2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24">
                    <a:moveTo>
                      <a:pt x="18" y="0"/>
                    </a:moveTo>
                    <a:lnTo>
                      <a:pt x="18" y="0"/>
                    </a:lnTo>
                    <a:lnTo>
                      <a:pt x="12" y="0"/>
                    </a:lnTo>
                    <a:lnTo>
                      <a:pt x="18" y="6"/>
                    </a:lnTo>
                    <a:lnTo>
                      <a:pt x="0" y="18"/>
                    </a:lnTo>
                    <a:lnTo>
                      <a:pt x="12" y="24"/>
                    </a:lnTo>
                    <a:lnTo>
                      <a:pt x="18" y="24"/>
                    </a:lnTo>
                    <a:lnTo>
                      <a:pt x="24" y="24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97" name="Freeform 64">
                <a:extLst>
                  <a:ext uri="{FF2B5EF4-FFF2-40B4-BE49-F238E27FC236}">
                    <a16:creationId xmlns:a16="http://schemas.microsoft.com/office/drawing/2014/main" id="{55E2E870-F0E4-02D7-39DD-5035F99887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417"/>
                <a:ext cx="24" cy="24"/>
              </a:xfrm>
              <a:custGeom>
                <a:avLst/>
                <a:gdLst>
                  <a:gd name="T0" fmla="*/ 12 w 24"/>
                  <a:gd name="T1" fmla="*/ 0 h 24"/>
                  <a:gd name="T2" fmla="*/ 12 w 24"/>
                  <a:gd name="T3" fmla="*/ 0 h 24"/>
                  <a:gd name="T4" fmla="*/ 18 w 24"/>
                  <a:gd name="T5" fmla="*/ 6 h 24"/>
                  <a:gd name="T6" fmla="*/ 0 w 24"/>
                  <a:gd name="T7" fmla="*/ 18 h 24"/>
                  <a:gd name="T8" fmla="*/ 6 w 24"/>
                  <a:gd name="T9" fmla="*/ 24 h 24"/>
                  <a:gd name="T10" fmla="*/ 12 w 24"/>
                  <a:gd name="T11" fmla="*/ 24 h 24"/>
                  <a:gd name="T12" fmla="*/ 18 w 24"/>
                  <a:gd name="T13" fmla="*/ 24 h 24"/>
                  <a:gd name="T14" fmla="*/ 12 w 24"/>
                  <a:gd name="T15" fmla="*/ 0 h 24"/>
                  <a:gd name="T16" fmla="*/ 24 w 24"/>
                  <a:gd name="T17" fmla="*/ 6 h 24"/>
                  <a:gd name="T18" fmla="*/ 18 w 24"/>
                  <a:gd name="T19" fmla="*/ 0 h 24"/>
                  <a:gd name="T20" fmla="*/ 12 w 24"/>
                  <a:gd name="T21" fmla="*/ 0 h 24"/>
                  <a:gd name="T22" fmla="*/ 12 w 24"/>
                  <a:gd name="T23" fmla="*/ 12 h 24"/>
                  <a:gd name="T24" fmla="*/ 24 w 24"/>
                  <a:gd name="T25" fmla="*/ 6 h 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24"/>
                  <a:gd name="T41" fmla="*/ 24 w 24"/>
                  <a:gd name="T42" fmla="*/ 24 h 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24">
                    <a:moveTo>
                      <a:pt x="12" y="0"/>
                    </a:moveTo>
                    <a:lnTo>
                      <a:pt x="12" y="0"/>
                    </a:lnTo>
                    <a:lnTo>
                      <a:pt x="18" y="6"/>
                    </a:lnTo>
                    <a:lnTo>
                      <a:pt x="0" y="18"/>
                    </a:lnTo>
                    <a:lnTo>
                      <a:pt x="6" y="24"/>
                    </a:lnTo>
                    <a:lnTo>
                      <a:pt x="12" y="24"/>
                    </a:lnTo>
                    <a:lnTo>
                      <a:pt x="18" y="24"/>
                    </a:lnTo>
                    <a:lnTo>
                      <a:pt x="12" y="0"/>
                    </a:lnTo>
                    <a:close/>
                    <a:moveTo>
                      <a:pt x="24" y="6"/>
                    </a:moveTo>
                    <a:lnTo>
                      <a:pt x="18" y="0"/>
                    </a:lnTo>
                    <a:lnTo>
                      <a:pt x="12" y="0"/>
                    </a:lnTo>
                    <a:lnTo>
                      <a:pt x="12" y="12"/>
                    </a:lnTo>
                    <a:lnTo>
                      <a:pt x="24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98" name="Freeform 65">
                <a:extLst>
                  <a:ext uri="{FF2B5EF4-FFF2-40B4-BE49-F238E27FC236}">
                    <a16:creationId xmlns:a16="http://schemas.microsoft.com/office/drawing/2014/main" id="{F1107758-BE1A-D8E7-E858-8232D8168B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1" y="2411"/>
                <a:ext cx="30" cy="24"/>
              </a:xfrm>
              <a:custGeom>
                <a:avLst/>
                <a:gdLst>
                  <a:gd name="T0" fmla="*/ 30 w 30"/>
                  <a:gd name="T1" fmla="*/ 6 h 24"/>
                  <a:gd name="T2" fmla="*/ 24 w 30"/>
                  <a:gd name="T3" fmla="*/ 0 h 24"/>
                  <a:gd name="T4" fmla="*/ 24 w 30"/>
                  <a:gd name="T5" fmla="*/ 6 h 24"/>
                  <a:gd name="T6" fmla="*/ 24 w 30"/>
                  <a:gd name="T7" fmla="*/ 12 h 24"/>
                  <a:gd name="T8" fmla="*/ 0 w 30"/>
                  <a:gd name="T9" fmla="*/ 6 h 24"/>
                  <a:gd name="T10" fmla="*/ 6 w 30"/>
                  <a:gd name="T11" fmla="*/ 18 h 24"/>
                  <a:gd name="T12" fmla="*/ 12 w 30"/>
                  <a:gd name="T13" fmla="*/ 24 h 24"/>
                  <a:gd name="T14" fmla="*/ 18 w 30"/>
                  <a:gd name="T15" fmla="*/ 24 h 24"/>
                  <a:gd name="T16" fmla="*/ 30 w 30"/>
                  <a:gd name="T17" fmla="*/ 6 h 24"/>
                  <a:gd name="T18" fmla="*/ 30 w 30"/>
                  <a:gd name="T19" fmla="*/ 12 h 24"/>
                  <a:gd name="T20" fmla="*/ 30 w 30"/>
                  <a:gd name="T21" fmla="*/ 6 h 24"/>
                  <a:gd name="T22" fmla="*/ 30 w 30"/>
                  <a:gd name="T23" fmla="*/ 6 h 24"/>
                  <a:gd name="T24" fmla="*/ 24 w 30"/>
                  <a:gd name="T25" fmla="*/ 18 h 24"/>
                  <a:gd name="T26" fmla="*/ 30 w 30"/>
                  <a:gd name="T27" fmla="*/ 12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0"/>
                  <a:gd name="T43" fmla="*/ 0 h 24"/>
                  <a:gd name="T44" fmla="*/ 30 w 30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0" h="24">
                    <a:moveTo>
                      <a:pt x="30" y="6"/>
                    </a:moveTo>
                    <a:lnTo>
                      <a:pt x="24" y="0"/>
                    </a:lnTo>
                    <a:lnTo>
                      <a:pt x="24" y="6"/>
                    </a:lnTo>
                    <a:lnTo>
                      <a:pt x="24" y="12"/>
                    </a:lnTo>
                    <a:lnTo>
                      <a:pt x="0" y="6"/>
                    </a:lnTo>
                    <a:lnTo>
                      <a:pt x="6" y="18"/>
                    </a:lnTo>
                    <a:lnTo>
                      <a:pt x="12" y="24"/>
                    </a:lnTo>
                    <a:lnTo>
                      <a:pt x="18" y="24"/>
                    </a:lnTo>
                    <a:lnTo>
                      <a:pt x="30" y="6"/>
                    </a:lnTo>
                    <a:close/>
                    <a:moveTo>
                      <a:pt x="30" y="12"/>
                    </a:moveTo>
                    <a:lnTo>
                      <a:pt x="30" y="6"/>
                    </a:lnTo>
                    <a:lnTo>
                      <a:pt x="24" y="18"/>
                    </a:ln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599" name="Freeform 66">
                <a:extLst>
                  <a:ext uri="{FF2B5EF4-FFF2-40B4-BE49-F238E27FC236}">
                    <a16:creationId xmlns:a16="http://schemas.microsoft.com/office/drawing/2014/main" id="{5C65AFF4-920A-CFD1-C4A9-5AF4F2B213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7" y="2405"/>
                <a:ext cx="18" cy="24"/>
              </a:xfrm>
              <a:custGeom>
                <a:avLst/>
                <a:gdLst>
                  <a:gd name="T0" fmla="*/ 6 w 18"/>
                  <a:gd name="T1" fmla="*/ 0 h 24"/>
                  <a:gd name="T2" fmla="*/ 6 w 18"/>
                  <a:gd name="T3" fmla="*/ 0 h 24"/>
                  <a:gd name="T4" fmla="*/ 6 w 18"/>
                  <a:gd name="T5" fmla="*/ 0 h 24"/>
                  <a:gd name="T6" fmla="*/ 0 w 18"/>
                  <a:gd name="T7" fmla="*/ 24 h 24"/>
                  <a:gd name="T8" fmla="*/ 6 w 18"/>
                  <a:gd name="T9" fmla="*/ 24 h 24"/>
                  <a:gd name="T10" fmla="*/ 6 w 18"/>
                  <a:gd name="T11" fmla="*/ 24 h 24"/>
                  <a:gd name="T12" fmla="*/ 6 w 18"/>
                  <a:gd name="T13" fmla="*/ 0 h 24"/>
                  <a:gd name="T14" fmla="*/ 18 w 18"/>
                  <a:gd name="T15" fmla="*/ 18 h 24"/>
                  <a:gd name="T16" fmla="*/ 18 w 18"/>
                  <a:gd name="T17" fmla="*/ 6 h 24"/>
                  <a:gd name="T18" fmla="*/ 6 w 18"/>
                  <a:gd name="T19" fmla="*/ 0 h 24"/>
                  <a:gd name="T20" fmla="*/ 6 w 18"/>
                  <a:gd name="T21" fmla="*/ 12 h 24"/>
                  <a:gd name="T22" fmla="*/ 18 w 18"/>
                  <a:gd name="T23" fmla="*/ 18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24"/>
                  <a:gd name="T38" fmla="*/ 18 w 18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24">
                    <a:moveTo>
                      <a:pt x="6" y="0"/>
                    </a:moveTo>
                    <a:lnTo>
                      <a:pt x="6" y="0"/>
                    </a:lnTo>
                    <a:lnTo>
                      <a:pt x="0" y="24"/>
                    </a:lnTo>
                    <a:lnTo>
                      <a:pt x="6" y="24"/>
                    </a:lnTo>
                    <a:lnTo>
                      <a:pt x="6" y="0"/>
                    </a:lnTo>
                    <a:close/>
                    <a:moveTo>
                      <a:pt x="18" y="18"/>
                    </a:moveTo>
                    <a:lnTo>
                      <a:pt x="18" y="6"/>
                    </a:lnTo>
                    <a:lnTo>
                      <a:pt x="6" y="0"/>
                    </a:lnTo>
                    <a:lnTo>
                      <a:pt x="6" y="12"/>
                    </a:lnTo>
                    <a:lnTo>
                      <a:pt x="18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00" name="Freeform 67">
                <a:extLst>
                  <a:ext uri="{FF2B5EF4-FFF2-40B4-BE49-F238E27FC236}">
                    <a16:creationId xmlns:a16="http://schemas.microsoft.com/office/drawing/2014/main" id="{74B65999-95FD-E160-650C-8F7D78D9D0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1" y="2405"/>
                <a:ext cx="18" cy="24"/>
              </a:xfrm>
              <a:custGeom>
                <a:avLst/>
                <a:gdLst>
                  <a:gd name="T0" fmla="*/ 18 w 18"/>
                  <a:gd name="T1" fmla="*/ 6 h 24"/>
                  <a:gd name="T2" fmla="*/ 18 w 18"/>
                  <a:gd name="T3" fmla="*/ 6 h 24"/>
                  <a:gd name="T4" fmla="*/ 12 w 18"/>
                  <a:gd name="T5" fmla="*/ 0 h 24"/>
                  <a:gd name="T6" fmla="*/ 6 w 18"/>
                  <a:gd name="T7" fmla="*/ 24 h 24"/>
                  <a:gd name="T8" fmla="*/ 6 w 18"/>
                  <a:gd name="T9" fmla="*/ 24 h 24"/>
                  <a:gd name="T10" fmla="*/ 0 w 18"/>
                  <a:gd name="T11" fmla="*/ 24 h 24"/>
                  <a:gd name="T12" fmla="*/ 18 w 18"/>
                  <a:gd name="T13" fmla="*/ 6 h 24"/>
                  <a:gd name="T14" fmla="*/ 0 w 18"/>
                  <a:gd name="T15" fmla="*/ 24 h 24"/>
                  <a:gd name="T16" fmla="*/ 6 w 18"/>
                  <a:gd name="T17" fmla="*/ 24 h 24"/>
                  <a:gd name="T18" fmla="*/ 6 w 18"/>
                  <a:gd name="T19" fmla="*/ 24 h 24"/>
                  <a:gd name="T20" fmla="*/ 12 w 18"/>
                  <a:gd name="T21" fmla="*/ 12 h 24"/>
                  <a:gd name="T22" fmla="*/ 0 w 18"/>
                  <a:gd name="T23" fmla="*/ 24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24"/>
                  <a:gd name="T38" fmla="*/ 18 w 18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24">
                    <a:moveTo>
                      <a:pt x="18" y="6"/>
                    </a:moveTo>
                    <a:lnTo>
                      <a:pt x="18" y="6"/>
                    </a:lnTo>
                    <a:lnTo>
                      <a:pt x="12" y="0"/>
                    </a:lnTo>
                    <a:lnTo>
                      <a:pt x="6" y="24"/>
                    </a:lnTo>
                    <a:lnTo>
                      <a:pt x="0" y="24"/>
                    </a:lnTo>
                    <a:lnTo>
                      <a:pt x="18" y="6"/>
                    </a:lnTo>
                    <a:close/>
                    <a:moveTo>
                      <a:pt x="0" y="24"/>
                    </a:moveTo>
                    <a:lnTo>
                      <a:pt x="6" y="24"/>
                    </a:lnTo>
                    <a:lnTo>
                      <a:pt x="12" y="12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01" name="Freeform 68">
                <a:extLst>
                  <a:ext uri="{FF2B5EF4-FFF2-40B4-BE49-F238E27FC236}">
                    <a16:creationId xmlns:a16="http://schemas.microsoft.com/office/drawing/2014/main" id="{9BD15372-2482-9DE5-3389-D19353748A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1" y="2405"/>
                <a:ext cx="12" cy="24"/>
              </a:xfrm>
              <a:custGeom>
                <a:avLst/>
                <a:gdLst>
                  <a:gd name="T0" fmla="*/ 6 w 12"/>
                  <a:gd name="T1" fmla="*/ 0 h 24"/>
                  <a:gd name="T2" fmla="*/ 6 w 12"/>
                  <a:gd name="T3" fmla="*/ 0 h 24"/>
                  <a:gd name="T4" fmla="*/ 6 w 12"/>
                  <a:gd name="T5" fmla="*/ 0 h 24"/>
                  <a:gd name="T6" fmla="*/ 0 w 12"/>
                  <a:gd name="T7" fmla="*/ 24 h 24"/>
                  <a:gd name="T8" fmla="*/ 6 w 12"/>
                  <a:gd name="T9" fmla="*/ 24 h 24"/>
                  <a:gd name="T10" fmla="*/ 6 w 12"/>
                  <a:gd name="T11" fmla="*/ 24 h 24"/>
                  <a:gd name="T12" fmla="*/ 6 w 12"/>
                  <a:gd name="T13" fmla="*/ 0 h 24"/>
                  <a:gd name="T14" fmla="*/ 12 w 12"/>
                  <a:gd name="T15" fmla="*/ 0 h 24"/>
                  <a:gd name="T16" fmla="*/ 12 w 12"/>
                  <a:gd name="T17" fmla="*/ 0 h 24"/>
                  <a:gd name="T18" fmla="*/ 6 w 12"/>
                  <a:gd name="T19" fmla="*/ 0 h 24"/>
                  <a:gd name="T20" fmla="*/ 6 w 12"/>
                  <a:gd name="T21" fmla="*/ 12 h 24"/>
                  <a:gd name="T22" fmla="*/ 12 w 12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4"/>
                  <a:gd name="T38" fmla="*/ 12 w 12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4">
                    <a:moveTo>
                      <a:pt x="6" y="0"/>
                    </a:moveTo>
                    <a:lnTo>
                      <a:pt x="6" y="0"/>
                    </a:lnTo>
                    <a:lnTo>
                      <a:pt x="0" y="24"/>
                    </a:lnTo>
                    <a:lnTo>
                      <a:pt x="6" y="24"/>
                    </a:lnTo>
                    <a:lnTo>
                      <a:pt x="6" y="0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lnTo>
                      <a:pt x="6" y="0"/>
                    </a:lnTo>
                    <a:lnTo>
                      <a:pt x="6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02" name="Freeform 69">
                <a:extLst>
                  <a:ext uri="{FF2B5EF4-FFF2-40B4-BE49-F238E27FC236}">
                    <a16:creationId xmlns:a16="http://schemas.microsoft.com/office/drawing/2014/main" id="{A8B84AFE-42B2-DF16-E78F-FDD74306C9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405"/>
                <a:ext cx="12" cy="18"/>
              </a:xfrm>
              <a:custGeom>
                <a:avLst/>
                <a:gdLst>
                  <a:gd name="T0" fmla="*/ 12 w 12"/>
                  <a:gd name="T1" fmla="*/ 0 h 18"/>
                  <a:gd name="T2" fmla="*/ 12 w 12"/>
                  <a:gd name="T3" fmla="*/ 0 h 18"/>
                  <a:gd name="T4" fmla="*/ 12 w 12"/>
                  <a:gd name="T5" fmla="*/ 0 h 18"/>
                  <a:gd name="T6" fmla="*/ 12 w 12"/>
                  <a:gd name="T7" fmla="*/ 0 h 18"/>
                  <a:gd name="T8" fmla="*/ 12 w 12"/>
                  <a:gd name="T9" fmla="*/ 0 h 18"/>
                  <a:gd name="T10" fmla="*/ 12 w 12"/>
                  <a:gd name="T11" fmla="*/ 0 h 18"/>
                  <a:gd name="T12" fmla="*/ 12 w 12"/>
                  <a:gd name="T13" fmla="*/ 0 h 18"/>
                  <a:gd name="T14" fmla="*/ 12 w 12"/>
                  <a:gd name="T15" fmla="*/ 0 h 18"/>
                  <a:gd name="T16" fmla="*/ 12 w 12"/>
                  <a:gd name="T17" fmla="*/ 0 h 18"/>
                  <a:gd name="T18" fmla="*/ 6 w 12"/>
                  <a:gd name="T19" fmla="*/ 18 h 18"/>
                  <a:gd name="T20" fmla="*/ 0 w 12"/>
                  <a:gd name="T21" fmla="*/ 18 h 18"/>
                  <a:gd name="T22" fmla="*/ 0 w 12"/>
                  <a:gd name="T23" fmla="*/ 18 h 18"/>
                  <a:gd name="T24" fmla="*/ 0 w 12"/>
                  <a:gd name="T25" fmla="*/ 18 h 18"/>
                  <a:gd name="T26" fmla="*/ 0 w 12"/>
                  <a:gd name="T27" fmla="*/ 18 h 18"/>
                  <a:gd name="T28" fmla="*/ 6 w 12"/>
                  <a:gd name="T29" fmla="*/ 18 h 18"/>
                  <a:gd name="T30" fmla="*/ 6 w 12"/>
                  <a:gd name="T31" fmla="*/ 18 h 18"/>
                  <a:gd name="T32" fmla="*/ 6 w 12"/>
                  <a:gd name="T33" fmla="*/ 18 h 18"/>
                  <a:gd name="T34" fmla="*/ 6 w 12"/>
                  <a:gd name="T35" fmla="*/ 18 h 18"/>
                  <a:gd name="T36" fmla="*/ 12 w 12"/>
                  <a:gd name="T37" fmla="*/ 0 h 18"/>
                  <a:gd name="T38" fmla="*/ 12 w 12"/>
                  <a:gd name="T39" fmla="*/ 0 h 18"/>
                  <a:gd name="T40" fmla="*/ 12 w 12"/>
                  <a:gd name="T41" fmla="*/ 0 h 18"/>
                  <a:gd name="T42" fmla="*/ 12 w 12"/>
                  <a:gd name="T43" fmla="*/ 0 h 18"/>
                  <a:gd name="T44" fmla="*/ 12 w 12"/>
                  <a:gd name="T45" fmla="*/ 12 h 18"/>
                  <a:gd name="T46" fmla="*/ 12 w 12"/>
                  <a:gd name="T47" fmla="*/ 0 h 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2"/>
                  <a:gd name="T73" fmla="*/ 0 h 18"/>
                  <a:gd name="T74" fmla="*/ 12 w 12"/>
                  <a:gd name="T75" fmla="*/ 18 h 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2" h="18">
                    <a:moveTo>
                      <a:pt x="12" y="0"/>
                    </a:moveTo>
                    <a:lnTo>
                      <a:pt x="12" y="0"/>
                    </a:lnTo>
                    <a:lnTo>
                      <a:pt x="6" y="18"/>
                    </a:lnTo>
                    <a:lnTo>
                      <a:pt x="0" y="18"/>
                    </a:lnTo>
                    <a:lnTo>
                      <a:pt x="6" y="18"/>
                    </a:lnTo>
                    <a:lnTo>
                      <a:pt x="12" y="0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03" name="Freeform 70">
                <a:extLst>
                  <a:ext uri="{FF2B5EF4-FFF2-40B4-BE49-F238E27FC236}">
                    <a16:creationId xmlns:a16="http://schemas.microsoft.com/office/drawing/2014/main" id="{C90F40F0-B4F0-F490-4EF7-6ED61020C1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400"/>
                <a:ext cx="12" cy="23"/>
              </a:xfrm>
              <a:custGeom>
                <a:avLst/>
                <a:gdLst>
                  <a:gd name="T0" fmla="*/ 12 w 12"/>
                  <a:gd name="T1" fmla="*/ 5 h 23"/>
                  <a:gd name="T2" fmla="*/ 12 w 12"/>
                  <a:gd name="T3" fmla="*/ 5 h 23"/>
                  <a:gd name="T4" fmla="*/ 12 w 12"/>
                  <a:gd name="T5" fmla="*/ 0 h 23"/>
                  <a:gd name="T6" fmla="*/ 0 w 12"/>
                  <a:gd name="T7" fmla="*/ 23 h 23"/>
                  <a:gd name="T8" fmla="*/ 0 w 12"/>
                  <a:gd name="T9" fmla="*/ 23 h 23"/>
                  <a:gd name="T10" fmla="*/ 12 w 12"/>
                  <a:gd name="T11" fmla="*/ 5 h 23"/>
                  <a:gd name="T12" fmla="*/ 0 w 12"/>
                  <a:gd name="T13" fmla="*/ 23 h 23"/>
                  <a:gd name="T14" fmla="*/ 0 w 12"/>
                  <a:gd name="T15" fmla="*/ 23 h 23"/>
                  <a:gd name="T16" fmla="*/ 6 w 12"/>
                  <a:gd name="T17" fmla="*/ 23 h 23"/>
                  <a:gd name="T18" fmla="*/ 6 w 12"/>
                  <a:gd name="T19" fmla="*/ 11 h 23"/>
                  <a:gd name="T20" fmla="*/ 0 w 12"/>
                  <a:gd name="T21" fmla="*/ 23 h 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"/>
                  <a:gd name="T34" fmla="*/ 0 h 23"/>
                  <a:gd name="T35" fmla="*/ 12 w 12"/>
                  <a:gd name="T36" fmla="*/ 23 h 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" h="23">
                    <a:moveTo>
                      <a:pt x="12" y="5"/>
                    </a:moveTo>
                    <a:lnTo>
                      <a:pt x="12" y="5"/>
                    </a:lnTo>
                    <a:lnTo>
                      <a:pt x="12" y="0"/>
                    </a:lnTo>
                    <a:lnTo>
                      <a:pt x="0" y="23"/>
                    </a:lnTo>
                    <a:lnTo>
                      <a:pt x="12" y="5"/>
                    </a:lnTo>
                    <a:close/>
                    <a:moveTo>
                      <a:pt x="0" y="23"/>
                    </a:moveTo>
                    <a:lnTo>
                      <a:pt x="0" y="23"/>
                    </a:lnTo>
                    <a:lnTo>
                      <a:pt x="6" y="23"/>
                    </a:lnTo>
                    <a:lnTo>
                      <a:pt x="6" y="11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04" name="Freeform 71">
                <a:extLst>
                  <a:ext uri="{FF2B5EF4-FFF2-40B4-BE49-F238E27FC236}">
                    <a16:creationId xmlns:a16="http://schemas.microsoft.com/office/drawing/2014/main" id="{688DAF2C-6349-D4A0-0EB3-72C4EF5C25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400"/>
                <a:ext cx="12" cy="23"/>
              </a:xfrm>
              <a:custGeom>
                <a:avLst/>
                <a:gdLst>
                  <a:gd name="T0" fmla="*/ 6 w 12"/>
                  <a:gd name="T1" fmla="*/ 0 h 23"/>
                  <a:gd name="T2" fmla="*/ 6 w 12"/>
                  <a:gd name="T3" fmla="*/ 0 h 23"/>
                  <a:gd name="T4" fmla="*/ 6 w 12"/>
                  <a:gd name="T5" fmla="*/ 0 h 23"/>
                  <a:gd name="T6" fmla="*/ 0 w 12"/>
                  <a:gd name="T7" fmla="*/ 23 h 23"/>
                  <a:gd name="T8" fmla="*/ 0 w 12"/>
                  <a:gd name="T9" fmla="*/ 23 h 23"/>
                  <a:gd name="T10" fmla="*/ 0 w 12"/>
                  <a:gd name="T11" fmla="*/ 23 h 23"/>
                  <a:gd name="T12" fmla="*/ 6 w 12"/>
                  <a:gd name="T13" fmla="*/ 0 h 23"/>
                  <a:gd name="T14" fmla="*/ 12 w 12"/>
                  <a:gd name="T15" fmla="*/ 0 h 23"/>
                  <a:gd name="T16" fmla="*/ 6 w 12"/>
                  <a:gd name="T17" fmla="*/ 0 h 23"/>
                  <a:gd name="T18" fmla="*/ 6 w 12"/>
                  <a:gd name="T19" fmla="*/ 0 h 23"/>
                  <a:gd name="T20" fmla="*/ 6 w 12"/>
                  <a:gd name="T21" fmla="*/ 11 h 23"/>
                  <a:gd name="T22" fmla="*/ 12 w 12"/>
                  <a:gd name="T23" fmla="*/ 0 h 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3"/>
                  <a:gd name="T38" fmla="*/ 12 w 12"/>
                  <a:gd name="T39" fmla="*/ 23 h 2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3">
                    <a:moveTo>
                      <a:pt x="6" y="0"/>
                    </a:moveTo>
                    <a:lnTo>
                      <a:pt x="6" y="0"/>
                    </a:lnTo>
                    <a:lnTo>
                      <a:pt x="0" y="23"/>
                    </a:lnTo>
                    <a:lnTo>
                      <a:pt x="6" y="0"/>
                    </a:lnTo>
                    <a:close/>
                    <a:moveTo>
                      <a:pt x="12" y="0"/>
                    </a:moveTo>
                    <a:lnTo>
                      <a:pt x="6" y="0"/>
                    </a:lnTo>
                    <a:lnTo>
                      <a:pt x="6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05" name="Freeform 72">
                <a:extLst>
                  <a:ext uri="{FF2B5EF4-FFF2-40B4-BE49-F238E27FC236}">
                    <a16:creationId xmlns:a16="http://schemas.microsoft.com/office/drawing/2014/main" id="{F8135B5A-D525-52DB-3E87-8342A1BB36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400"/>
                <a:ext cx="6" cy="23"/>
              </a:xfrm>
              <a:custGeom>
                <a:avLst/>
                <a:gdLst>
                  <a:gd name="T0" fmla="*/ 6 w 6"/>
                  <a:gd name="T1" fmla="*/ 23 h 23"/>
                  <a:gd name="T2" fmla="*/ 6 w 6"/>
                  <a:gd name="T3" fmla="*/ 23 h 23"/>
                  <a:gd name="T4" fmla="*/ 6 w 6"/>
                  <a:gd name="T5" fmla="*/ 0 h 23"/>
                  <a:gd name="T6" fmla="*/ 6 w 6"/>
                  <a:gd name="T7" fmla="*/ 0 h 23"/>
                  <a:gd name="T8" fmla="*/ 0 w 6"/>
                  <a:gd name="T9" fmla="*/ 0 h 23"/>
                  <a:gd name="T10" fmla="*/ 6 w 6"/>
                  <a:gd name="T11" fmla="*/ 23 h 23"/>
                  <a:gd name="T12" fmla="*/ 6 w 6"/>
                  <a:gd name="T13" fmla="*/ 0 h 23"/>
                  <a:gd name="T14" fmla="*/ 6 w 6"/>
                  <a:gd name="T15" fmla="*/ 23 h 23"/>
                  <a:gd name="T16" fmla="*/ 0 w 6"/>
                  <a:gd name="T17" fmla="*/ 0 h 23"/>
                  <a:gd name="T18" fmla="*/ 0 w 6"/>
                  <a:gd name="T19" fmla="*/ 23 h 23"/>
                  <a:gd name="T20" fmla="*/ 6 w 6"/>
                  <a:gd name="T21" fmla="*/ 0 h 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"/>
                  <a:gd name="T34" fmla="*/ 0 h 23"/>
                  <a:gd name="T35" fmla="*/ 6 w 6"/>
                  <a:gd name="T36" fmla="*/ 23 h 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" h="23">
                    <a:moveTo>
                      <a:pt x="6" y="23"/>
                    </a:moveTo>
                    <a:lnTo>
                      <a:pt x="6" y="23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6" y="23"/>
                    </a:lnTo>
                    <a:close/>
                    <a:moveTo>
                      <a:pt x="6" y="0"/>
                    </a:moveTo>
                    <a:lnTo>
                      <a:pt x="6" y="23"/>
                    </a:lnTo>
                    <a:lnTo>
                      <a:pt x="0" y="0"/>
                    </a:lnTo>
                    <a:lnTo>
                      <a:pt x="0" y="23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06" name="Freeform 73">
                <a:extLst>
                  <a:ext uri="{FF2B5EF4-FFF2-40B4-BE49-F238E27FC236}">
                    <a16:creationId xmlns:a16="http://schemas.microsoft.com/office/drawing/2014/main" id="{AA077271-CEAC-F219-2355-70B310FA0BE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400"/>
                <a:ext cx="18" cy="23"/>
              </a:xfrm>
              <a:custGeom>
                <a:avLst/>
                <a:gdLst>
                  <a:gd name="T0" fmla="*/ 0 w 18"/>
                  <a:gd name="T1" fmla="*/ 23 h 23"/>
                  <a:gd name="T2" fmla="*/ 6 w 18"/>
                  <a:gd name="T3" fmla="*/ 23 h 23"/>
                  <a:gd name="T4" fmla="*/ 6 w 18"/>
                  <a:gd name="T5" fmla="*/ 23 h 23"/>
                  <a:gd name="T6" fmla="*/ 18 w 18"/>
                  <a:gd name="T7" fmla="*/ 5 h 23"/>
                  <a:gd name="T8" fmla="*/ 18 w 18"/>
                  <a:gd name="T9" fmla="*/ 5 h 23"/>
                  <a:gd name="T10" fmla="*/ 12 w 18"/>
                  <a:gd name="T11" fmla="*/ 0 h 23"/>
                  <a:gd name="T12" fmla="*/ 0 w 18"/>
                  <a:gd name="T13" fmla="*/ 23 h 23"/>
                  <a:gd name="T14" fmla="*/ 12 w 18"/>
                  <a:gd name="T15" fmla="*/ 0 h 23"/>
                  <a:gd name="T16" fmla="*/ 12 w 18"/>
                  <a:gd name="T17" fmla="*/ 0 h 23"/>
                  <a:gd name="T18" fmla="*/ 6 w 18"/>
                  <a:gd name="T19" fmla="*/ 0 h 23"/>
                  <a:gd name="T20" fmla="*/ 6 w 18"/>
                  <a:gd name="T21" fmla="*/ 11 h 23"/>
                  <a:gd name="T22" fmla="*/ 12 w 18"/>
                  <a:gd name="T23" fmla="*/ 0 h 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23"/>
                  <a:gd name="T38" fmla="*/ 18 w 18"/>
                  <a:gd name="T39" fmla="*/ 23 h 2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23">
                    <a:moveTo>
                      <a:pt x="0" y="23"/>
                    </a:moveTo>
                    <a:lnTo>
                      <a:pt x="6" y="23"/>
                    </a:lnTo>
                    <a:lnTo>
                      <a:pt x="18" y="5"/>
                    </a:lnTo>
                    <a:lnTo>
                      <a:pt x="12" y="0"/>
                    </a:lnTo>
                    <a:lnTo>
                      <a:pt x="0" y="23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lnTo>
                      <a:pt x="6" y="0"/>
                    </a:lnTo>
                    <a:lnTo>
                      <a:pt x="6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07" name="Freeform 74">
                <a:extLst>
                  <a:ext uri="{FF2B5EF4-FFF2-40B4-BE49-F238E27FC236}">
                    <a16:creationId xmlns:a16="http://schemas.microsoft.com/office/drawing/2014/main" id="{7F00630A-B4A6-8409-F203-3E27D081FB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1" y="2405"/>
                <a:ext cx="18" cy="24"/>
              </a:xfrm>
              <a:custGeom>
                <a:avLst/>
                <a:gdLst>
                  <a:gd name="T0" fmla="*/ 0 w 18"/>
                  <a:gd name="T1" fmla="*/ 18 h 24"/>
                  <a:gd name="T2" fmla="*/ 0 w 18"/>
                  <a:gd name="T3" fmla="*/ 24 h 24"/>
                  <a:gd name="T4" fmla="*/ 6 w 18"/>
                  <a:gd name="T5" fmla="*/ 24 h 24"/>
                  <a:gd name="T6" fmla="*/ 18 w 18"/>
                  <a:gd name="T7" fmla="*/ 24 h 24"/>
                  <a:gd name="T8" fmla="*/ 12 w 18"/>
                  <a:gd name="T9" fmla="*/ 0 h 24"/>
                  <a:gd name="T10" fmla="*/ 18 w 18"/>
                  <a:gd name="T11" fmla="*/ 0 h 24"/>
                  <a:gd name="T12" fmla="*/ 18 w 18"/>
                  <a:gd name="T13" fmla="*/ 0 h 24"/>
                  <a:gd name="T14" fmla="*/ 12 w 18"/>
                  <a:gd name="T15" fmla="*/ 0 h 24"/>
                  <a:gd name="T16" fmla="*/ 0 w 18"/>
                  <a:gd name="T17" fmla="*/ 18 h 24"/>
                  <a:gd name="T18" fmla="*/ 12 w 18"/>
                  <a:gd name="T19" fmla="*/ 0 h 24"/>
                  <a:gd name="T20" fmla="*/ 12 w 18"/>
                  <a:gd name="T21" fmla="*/ 0 h 24"/>
                  <a:gd name="T22" fmla="*/ 12 w 18"/>
                  <a:gd name="T23" fmla="*/ 0 h 24"/>
                  <a:gd name="T24" fmla="*/ 6 w 18"/>
                  <a:gd name="T25" fmla="*/ 6 h 24"/>
                  <a:gd name="T26" fmla="*/ 12 w 18"/>
                  <a:gd name="T27" fmla="*/ 0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8"/>
                  <a:gd name="T43" fmla="*/ 0 h 24"/>
                  <a:gd name="T44" fmla="*/ 18 w 18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8" h="24">
                    <a:moveTo>
                      <a:pt x="0" y="18"/>
                    </a:moveTo>
                    <a:lnTo>
                      <a:pt x="0" y="24"/>
                    </a:lnTo>
                    <a:lnTo>
                      <a:pt x="6" y="24"/>
                    </a:lnTo>
                    <a:lnTo>
                      <a:pt x="18" y="24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12" y="0"/>
                    </a:lnTo>
                    <a:lnTo>
                      <a:pt x="0" y="18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lnTo>
                      <a:pt x="6" y="6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08" name="Freeform 75">
                <a:extLst>
                  <a:ext uri="{FF2B5EF4-FFF2-40B4-BE49-F238E27FC236}">
                    <a16:creationId xmlns:a16="http://schemas.microsoft.com/office/drawing/2014/main" id="{E318CE51-DC8A-24BF-C83B-47A450C04EF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7" y="2405"/>
                <a:ext cx="18" cy="30"/>
              </a:xfrm>
              <a:custGeom>
                <a:avLst/>
                <a:gdLst>
                  <a:gd name="T0" fmla="*/ 0 w 18"/>
                  <a:gd name="T1" fmla="*/ 18 h 30"/>
                  <a:gd name="T2" fmla="*/ 0 w 18"/>
                  <a:gd name="T3" fmla="*/ 24 h 30"/>
                  <a:gd name="T4" fmla="*/ 6 w 18"/>
                  <a:gd name="T5" fmla="*/ 24 h 30"/>
                  <a:gd name="T6" fmla="*/ 18 w 18"/>
                  <a:gd name="T7" fmla="*/ 30 h 30"/>
                  <a:gd name="T8" fmla="*/ 12 w 18"/>
                  <a:gd name="T9" fmla="*/ 6 h 30"/>
                  <a:gd name="T10" fmla="*/ 18 w 18"/>
                  <a:gd name="T11" fmla="*/ 6 h 30"/>
                  <a:gd name="T12" fmla="*/ 18 w 18"/>
                  <a:gd name="T13" fmla="*/ 6 h 30"/>
                  <a:gd name="T14" fmla="*/ 18 w 18"/>
                  <a:gd name="T15" fmla="*/ 6 h 30"/>
                  <a:gd name="T16" fmla="*/ 18 w 18"/>
                  <a:gd name="T17" fmla="*/ 6 h 30"/>
                  <a:gd name="T18" fmla="*/ 0 w 18"/>
                  <a:gd name="T19" fmla="*/ 18 h 30"/>
                  <a:gd name="T20" fmla="*/ 18 w 18"/>
                  <a:gd name="T21" fmla="*/ 6 h 30"/>
                  <a:gd name="T22" fmla="*/ 12 w 18"/>
                  <a:gd name="T23" fmla="*/ 0 h 30"/>
                  <a:gd name="T24" fmla="*/ 6 w 18"/>
                  <a:gd name="T25" fmla="*/ 0 h 30"/>
                  <a:gd name="T26" fmla="*/ 6 w 18"/>
                  <a:gd name="T27" fmla="*/ 12 h 30"/>
                  <a:gd name="T28" fmla="*/ 18 w 18"/>
                  <a:gd name="T29" fmla="*/ 6 h 3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8"/>
                  <a:gd name="T46" fmla="*/ 0 h 30"/>
                  <a:gd name="T47" fmla="*/ 18 w 18"/>
                  <a:gd name="T48" fmla="*/ 30 h 3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8" h="30">
                    <a:moveTo>
                      <a:pt x="0" y="18"/>
                    </a:moveTo>
                    <a:lnTo>
                      <a:pt x="0" y="24"/>
                    </a:lnTo>
                    <a:lnTo>
                      <a:pt x="6" y="24"/>
                    </a:lnTo>
                    <a:lnTo>
                      <a:pt x="18" y="30"/>
                    </a:lnTo>
                    <a:lnTo>
                      <a:pt x="12" y="6"/>
                    </a:lnTo>
                    <a:lnTo>
                      <a:pt x="18" y="6"/>
                    </a:lnTo>
                    <a:lnTo>
                      <a:pt x="0" y="18"/>
                    </a:lnTo>
                    <a:close/>
                    <a:moveTo>
                      <a:pt x="18" y="6"/>
                    </a:moveTo>
                    <a:lnTo>
                      <a:pt x="12" y="0"/>
                    </a:lnTo>
                    <a:lnTo>
                      <a:pt x="6" y="0"/>
                    </a:lnTo>
                    <a:lnTo>
                      <a:pt x="6" y="12"/>
                    </a:lnTo>
                    <a:lnTo>
                      <a:pt x="18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09" name="Freeform 76">
                <a:extLst>
                  <a:ext uri="{FF2B5EF4-FFF2-40B4-BE49-F238E27FC236}">
                    <a16:creationId xmlns:a16="http://schemas.microsoft.com/office/drawing/2014/main" id="{20D74505-D56E-7289-C78C-A0E39C91C0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411"/>
                <a:ext cx="12" cy="24"/>
              </a:xfrm>
              <a:custGeom>
                <a:avLst/>
                <a:gdLst>
                  <a:gd name="T0" fmla="*/ 0 w 12"/>
                  <a:gd name="T1" fmla="*/ 24 h 24"/>
                  <a:gd name="T2" fmla="*/ 6 w 12"/>
                  <a:gd name="T3" fmla="*/ 24 h 24"/>
                  <a:gd name="T4" fmla="*/ 6 w 12"/>
                  <a:gd name="T5" fmla="*/ 24 h 24"/>
                  <a:gd name="T6" fmla="*/ 12 w 12"/>
                  <a:gd name="T7" fmla="*/ 0 h 24"/>
                  <a:gd name="T8" fmla="*/ 6 w 12"/>
                  <a:gd name="T9" fmla="*/ 0 h 24"/>
                  <a:gd name="T10" fmla="*/ 6 w 12"/>
                  <a:gd name="T11" fmla="*/ 0 h 24"/>
                  <a:gd name="T12" fmla="*/ 0 w 12"/>
                  <a:gd name="T13" fmla="*/ 24 h 24"/>
                  <a:gd name="T14" fmla="*/ 6 w 12"/>
                  <a:gd name="T15" fmla="*/ 0 h 24"/>
                  <a:gd name="T16" fmla="*/ 6 w 12"/>
                  <a:gd name="T17" fmla="*/ 0 h 24"/>
                  <a:gd name="T18" fmla="*/ 0 w 12"/>
                  <a:gd name="T19" fmla="*/ 0 h 24"/>
                  <a:gd name="T20" fmla="*/ 6 w 12"/>
                  <a:gd name="T21" fmla="*/ 12 h 24"/>
                  <a:gd name="T22" fmla="*/ 6 w 12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4"/>
                  <a:gd name="T38" fmla="*/ 12 w 12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4">
                    <a:moveTo>
                      <a:pt x="0" y="24"/>
                    </a:moveTo>
                    <a:lnTo>
                      <a:pt x="6" y="2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24"/>
                    </a:lnTo>
                    <a:close/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10" name="Freeform 77">
                <a:extLst>
                  <a:ext uri="{FF2B5EF4-FFF2-40B4-BE49-F238E27FC236}">
                    <a16:creationId xmlns:a16="http://schemas.microsoft.com/office/drawing/2014/main" id="{E54E840B-63BE-58E7-10F5-84E5A17E56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25" y="2411"/>
                <a:ext cx="18" cy="24"/>
              </a:xfrm>
              <a:custGeom>
                <a:avLst/>
                <a:gdLst>
                  <a:gd name="T0" fmla="*/ 6 w 18"/>
                  <a:gd name="T1" fmla="*/ 24 h 24"/>
                  <a:gd name="T2" fmla="*/ 6 w 18"/>
                  <a:gd name="T3" fmla="*/ 24 h 24"/>
                  <a:gd name="T4" fmla="*/ 12 w 18"/>
                  <a:gd name="T5" fmla="*/ 24 h 24"/>
                  <a:gd name="T6" fmla="*/ 18 w 18"/>
                  <a:gd name="T7" fmla="*/ 24 h 24"/>
                  <a:gd name="T8" fmla="*/ 18 w 18"/>
                  <a:gd name="T9" fmla="*/ 24 h 24"/>
                  <a:gd name="T10" fmla="*/ 12 w 18"/>
                  <a:gd name="T11" fmla="*/ 0 h 24"/>
                  <a:gd name="T12" fmla="*/ 6 w 18"/>
                  <a:gd name="T13" fmla="*/ 0 h 24"/>
                  <a:gd name="T14" fmla="*/ 0 w 18"/>
                  <a:gd name="T15" fmla="*/ 0 h 24"/>
                  <a:gd name="T16" fmla="*/ 6 w 18"/>
                  <a:gd name="T17" fmla="*/ 24 h 24"/>
                  <a:gd name="T18" fmla="*/ 0 w 18"/>
                  <a:gd name="T19" fmla="*/ 24 h 24"/>
                  <a:gd name="T20" fmla="*/ 0 w 18"/>
                  <a:gd name="T21" fmla="*/ 24 h 24"/>
                  <a:gd name="T22" fmla="*/ 6 w 18"/>
                  <a:gd name="T23" fmla="*/ 24 h 24"/>
                  <a:gd name="T24" fmla="*/ 6 w 18"/>
                  <a:gd name="T25" fmla="*/ 12 h 24"/>
                  <a:gd name="T26" fmla="*/ 0 w 18"/>
                  <a:gd name="T27" fmla="*/ 24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8"/>
                  <a:gd name="T43" fmla="*/ 0 h 24"/>
                  <a:gd name="T44" fmla="*/ 18 w 18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8" h="24">
                    <a:moveTo>
                      <a:pt x="6" y="24"/>
                    </a:moveTo>
                    <a:lnTo>
                      <a:pt x="6" y="24"/>
                    </a:lnTo>
                    <a:lnTo>
                      <a:pt x="12" y="24"/>
                    </a:lnTo>
                    <a:lnTo>
                      <a:pt x="18" y="2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6" y="24"/>
                    </a:lnTo>
                    <a:close/>
                    <a:moveTo>
                      <a:pt x="0" y="24"/>
                    </a:moveTo>
                    <a:lnTo>
                      <a:pt x="0" y="24"/>
                    </a:lnTo>
                    <a:lnTo>
                      <a:pt x="6" y="24"/>
                    </a:lnTo>
                    <a:lnTo>
                      <a:pt x="6" y="12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11" name="Freeform 78">
                <a:extLst>
                  <a:ext uri="{FF2B5EF4-FFF2-40B4-BE49-F238E27FC236}">
                    <a16:creationId xmlns:a16="http://schemas.microsoft.com/office/drawing/2014/main" id="{C243D49D-9348-7B7A-C555-D514412F5E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31" y="2411"/>
                <a:ext cx="24" cy="24"/>
              </a:xfrm>
              <a:custGeom>
                <a:avLst/>
                <a:gdLst>
                  <a:gd name="T0" fmla="*/ 0 w 24"/>
                  <a:gd name="T1" fmla="*/ 18 h 24"/>
                  <a:gd name="T2" fmla="*/ 0 w 24"/>
                  <a:gd name="T3" fmla="*/ 24 h 24"/>
                  <a:gd name="T4" fmla="*/ 24 w 24"/>
                  <a:gd name="T5" fmla="*/ 12 h 24"/>
                  <a:gd name="T6" fmla="*/ 18 w 24"/>
                  <a:gd name="T7" fmla="*/ 6 h 24"/>
                  <a:gd name="T8" fmla="*/ 0 w 24"/>
                  <a:gd name="T9" fmla="*/ 18 h 24"/>
                  <a:gd name="T10" fmla="*/ 18 w 24"/>
                  <a:gd name="T11" fmla="*/ 6 h 24"/>
                  <a:gd name="T12" fmla="*/ 12 w 24"/>
                  <a:gd name="T13" fmla="*/ 0 h 24"/>
                  <a:gd name="T14" fmla="*/ 6 w 24"/>
                  <a:gd name="T15" fmla="*/ 0 h 24"/>
                  <a:gd name="T16" fmla="*/ 6 w 24"/>
                  <a:gd name="T17" fmla="*/ 12 h 24"/>
                  <a:gd name="T18" fmla="*/ 18 w 24"/>
                  <a:gd name="T19" fmla="*/ 6 h 2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24"/>
                  <a:gd name="T32" fmla="*/ 24 w 24"/>
                  <a:gd name="T33" fmla="*/ 24 h 2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24">
                    <a:moveTo>
                      <a:pt x="0" y="18"/>
                    </a:moveTo>
                    <a:lnTo>
                      <a:pt x="0" y="24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0" y="18"/>
                    </a:lnTo>
                    <a:close/>
                    <a:moveTo>
                      <a:pt x="18" y="6"/>
                    </a:moveTo>
                    <a:lnTo>
                      <a:pt x="12" y="0"/>
                    </a:lnTo>
                    <a:lnTo>
                      <a:pt x="6" y="0"/>
                    </a:lnTo>
                    <a:lnTo>
                      <a:pt x="6" y="12"/>
                    </a:lnTo>
                    <a:lnTo>
                      <a:pt x="18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12" name="Freeform 79">
                <a:extLst>
                  <a:ext uri="{FF2B5EF4-FFF2-40B4-BE49-F238E27FC236}">
                    <a16:creationId xmlns:a16="http://schemas.microsoft.com/office/drawing/2014/main" id="{B028C83B-7FF4-618D-E69C-1ED8D02DE4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3" y="2423"/>
                <a:ext cx="18" cy="18"/>
              </a:xfrm>
              <a:custGeom>
                <a:avLst/>
                <a:gdLst>
                  <a:gd name="T0" fmla="*/ 0 w 18"/>
                  <a:gd name="T1" fmla="*/ 18 h 18"/>
                  <a:gd name="T2" fmla="*/ 18 w 18"/>
                  <a:gd name="T3" fmla="*/ 12 h 18"/>
                  <a:gd name="T4" fmla="*/ 12 w 18"/>
                  <a:gd name="T5" fmla="*/ 0 h 18"/>
                  <a:gd name="T6" fmla="*/ 0 w 18"/>
                  <a:gd name="T7" fmla="*/ 6 h 18"/>
                  <a:gd name="T8" fmla="*/ 0 w 18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8"/>
                  <a:gd name="T17" fmla="*/ 18 w 18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8">
                    <a:moveTo>
                      <a:pt x="0" y="18"/>
                    </a:moveTo>
                    <a:lnTo>
                      <a:pt x="18" y="12"/>
                    </a:lnTo>
                    <a:lnTo>
                      <a:pt x="12" y="0"/>
                    </a:lnTo>
                    <a:lnTo>
                      <a:pt x="0" y="6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13" name="Freeform 80">
                <a:extLst>
                  <a:ext uri="{FF2B5EF4-FFF2-40B4-BE49-F238E27FC236}">
                    <a16:creationId xmlns:a16="http://schemas.microsoft.com/office/drawing/2014/main" id="{334E0F48-8099-24B2-9BE9-B293861037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1" y="2429"/>
                <a:ext cx="12" cy="30"/>
              </a:xfrm>
              <a:custGeom>
                <a:avLst/>
                <a:gdLst>
                  <a:gd name="T0" fmla="*/ 0 w 12"/>
                  <a:gd name="T1" fmla="*/ 6 h 30"/>
                  <a:gd name="T2" fmla="*/ 6 w 12"/>
                  <a:gd name="T3" fmla="*/ 12 h 30"/>
                  <a:gd name="T4" fmla="*/ 6 w 12"/>
                  <a:gd name="T5" fmla="*/ 18 h 30"/>
                  <a:gd name="T6" fmla="*/ 6 w 12"/>
                  <a:gd name="T7" fmla="*/ 18 h 30"/>
                  <a:gd name="T8" fmla="*/ 12 w 12"/>
                  <a:gd name="T9" fmla="*/ 24 h 30"/>
                  <a:gd name="T10" fmla="*/ 12 w 12"/>
                  <a:gd name="T11" fmla="*/ 24 h 30"/>
                  <a:gd name="T12" fmla="*/ 12 w 12"/>
                  <a:gd name="T13" fmla="*/ 30 h 30"/>
                  <a:gd name="T14" fmla="*/ 12 w 12"/>
                  <a:gd name="T15" fmla="*/ 30 h 30"/>
                  <a:gd name="T16" fmla="*/ 12 w 12"/>
                  <a:gd name="T17" fmla="*/ 30 h 30"/>
                  <a:gd name="T18" fmla="*/ 12 w 12"/>
                  <a:gd name="T19" fmla="*/ 24 h 30"/>
                  <a:gd name="T20" fmla="*/ 12 w 12"/>
                  <a:gd name="T21" fmla="*/ 24 h 30"/>
                  <a:gd name="T22" fmla="*/ 12 w 12"/>
                  <a:gd name="T23" fmla="*/ 18 h 30"/>
                  <a:gd name="T24" fmla="*/ 12 w 12"/>
                  <a:gd name="T25" fmla="*/ 18 h 30"/>
                  <a:gd name="T26" fmla="*/ 12 w 12"/>
                  <a:gd name="T27" fmla="*/ 12 h 30"/>
                  <a:gd name="T28" fmla="*/ 12 w 12"/>
                  <a:gd name="T29" fmla="*/ 12 h 30"/>
                  <a:gd name="T30" fmla="*/ 6 w 12"/>
                  <a:gd name="T31" fmla="*/ 6 h 30"/>
                  <a:gd name="T32" fmla="*/ 6 w 12"/>
                  <a:gd name="T33" fmla="*/ 6 h 30"/>
                  <a:gd name="T34" fmla="*/ 0 w 12"/>
                  <a:gd name="T35" fmla="*/ 0 h 30"/>
                  <a:gd name="T36" fmla="*/ 0 w 12"/>
                  <a:gd name="T37" fmla="*/ 6 h 30"/>
                  <a:gd name="T38" fmla="*/ 0 w 12"/>
                  <a:gd name="T39" fmla="*/ 6 h 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"/>
                  <a:gd name="T61" fmla="*/ 0 h 30"/>
                  <a:gd name="T62" fmla="*/ 12 w 12"/>
                  <a:gd name="T63" fmla="*/ 30 h 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" h="30">
                    <a:moveTo>
                      <a:pt x="0" y="6"/>
                    </a:moveTo>
                    <a:lnTo>
                      <a:pt x="6" y="12"/>
                    </a:lnTo>
                    <a:lnTo>
                      <a:pt x="6" y="18"/>
                    </a:lnTo>
                    <a:lnTo>
                      <a:pt x="12" y="24"/>
                    </a:lnTo>
                    <a:lnTo>
                      <a:pt x="12" y="30"/>
                    </a:lnTo>
                    <a:lnTo>
                      <a:pt x="12" y="24"/>
                    </a:lnTo>
                    <a:lnTo>
                      <a:pt x="12" y="18"/>
                    </a:lnTo>
                    <a:lnTo>
                      <a:pt x="12" y="12"/>
                    </a:lnTo>
                    <a:lnTo>
                      <a:pt x="6" y="6"/>
                    </a:lnTo>
                    <a:lnTo>
                      <a:pt x="0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14" name="Freeform 81">
                <a:extLst>
                  <a:ext uri="{FF2B5EF4-FFF2-40B4-BE49-F238E27FC236}">
                    <a16:creationId xmlns:a16="http://schemas.microsoft.com/office/drawing/2014/main" id="{1003E17D-B67C-2726-A914-A91105FEF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2423"/>
                <a:ext cx="18" cy="30"/>
              </a:xfrm>
              <a:custGeom>
                <a:avLst/>
                <a:gdLst>
                  <a:gd name="T0" fmla="*/ 0 w 18"/>
                  <a:gd name="T1" fmla="*/ 24 h 30"/>
                  <a:gd name="T2" fmla="*/ 6 w 18"/>
                  <a:gd name="T3" fmla="*/ 30 h 30"/>
                  <a:gd name="T4" fmla="*/ 18 w 18"/>
                  <a:gd name="T5" fmla="*/ 6 h 30"/>
                  <a:gd name="T6" fmla="*/ 12 w 18"/>
                  <a:gd name="T7" fmla="*/ 0 h 30"/>
                  <a:gd name="T8" fmla="*/ 0 w 18"/>
                  <a:gd name="T9" fmla="*/ 24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30"/>
                  <a:gd name="T17" fmla="*/ 18 w 18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30">
                    <a:moveTo>
                      <a:pt x="0" y="24"/>
                    </a:moveTo>
                    <a:lnTo>
                      <a:pt x="6" y="30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15" name="Freeform 82">
                <a:extLst>
                  <a:ext uri="{FF2B5EF4-FFF2-40B4-BE49-F238E27FC236}">
                    <a16:creationId xmlns:a16="http://schemas.microsoft.com/office/drawing/2014/main" id="{80229FF2-6D85-FBB0-F496-235FB66452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55" y="2429"/>
                <a:ext cx="24" cy="30"/>
              </a:xfrm>
              <a:custGeom>
                <a:avLst/>
                <a:gdLst>
                  <a:gd name="T0" fmla="*/ 0 w 24"/>
                  <a:gd name="T1" fmla="*/ 6 h 30"/>
                  <a:gd name="T2" fmla="*/ 0 w 24"/>
                  <a:gd name="T3" fmla="*/ 12 h 30"/>
                  <a:gd name="T4" fmla="*/ 0 w 24"/>
                  <a:gd name="T5" fmla="*/ 12 h 30"/>
                  <a:gd name="T6" fmla="*/ 6 w 24"/>
                  <a:gd name="T7" fmla="*/ 18 h 30"/>
                  <a:gd name="T8" fmla="*/ 12 w 24"/>
                  <a:gd name="T9" fmla="*/ 30 h 30"/>
                  <a:gd name="T10" fmla="*/ 18 w 24"/>
                  <a:gd name="T11" fmla="*/ 6 h 30"/>
                  <a:gd name="T12" fmla="*/ 24 w 24"/>
                  <a:gd name="T13" fmla="*/ 12 h 30"/>
                  <a:gd name="T14" fmla="*/ 24 w 24"/>
                  <a:gd name="T15" fmla="*/ 12 h 30"/>
                  <a:gd name="T16" fmla="*/ 24 w 24"/>
                  <a:gd name="T17" fmla="*/ 12 h 30"/>
                  <a:gd name="T18" fmla="*/ 0 w 24"/>
                  <a:gd name="T19" fmla="*/ 6 h 30"/>
                  <a:gd name="T20" fmla="*/ 24 w 24"/>
                  <a:gd name="T21" fmla="*/ 12 h 30"/>
                  <a:gd name="T22" fmla="*/ 24 w 24"/>
                  <a:gd name="T23" fmla="*/ 6 h 30"/>
                  <a:gd name="T24" fmla="*/ 18 w 24"/>
                  <a:gd name="T25" fmla="*/ 0 h 30"/>
                  <a:gd name="T26" fmla="*/ 12 w 24"/>
                  <a:gd name="T27" fmla="*/ 12 h 30"/>
                  <a:gd name="T28" fmla="*/ 24 w 24"/>
                  <a:gd name="T29" fmla="*/ 12 h 3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"/>
                  <a:gd name="T46" fmla="*/ 0 h 30"/>
                  <a:gd name="T47" fmla="*/ 24 w 24"/>
                  <a:gd name="T48" fmla="*/ 30 h 3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" h="30">
                    <a:moveTo>
                      <a:pt x="0" y="6"/>
                    </a:moveTo>
                    <a:lnTo>
                      <a:pt x="0" y="12"/>
                    </a:lnTo>
                    <a:lnTo>
                      <a:pt x="6" y="18"/>
                    </a:lnTo>
                    <a:lnTo>
                      <a:pt x="12" y="30"/>
                    </a:lnTo>
                    <a:lnTo>
                      <a:pt x="18" y="6"/>
                    </a:lnTo>
                    <a:lnTo>
                      <a:pt x="24" y="12"/>
                    </a:lnTo>
                    <a:lnTo>
                      <a:pt x="0" y="6"/>
                    </a:lnTo>
                    <a:close/>
                    <a:moveTo>
                      <a:pt x="24" y="12"/>
                    </a:moveTo>
                    <a:lnTo>
                      <a:pt x="24" y="6"/>
                    </a:lnTo>
                    <a:lnTo>
                      <a:pt x="18" y="0"/>
                    </a:lnTo>
                    <a:lnTo>
                      <a:pt x="12" y="12"/>
                    </a:lnTo>
                    <a:lnTo>
                      <a:pt x="24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16" name="Freeform 83">
                <a:extLst>
                  <a:ext uri="{FF2B5EF4-FFF2-40B4-BE49-F238E27FC236}">
                    <a16:creationId xmlns:a16="http://schemas.microsoft.com/office/drawing/2014/main" id="{46A2EAE9-D019-5F5E-6FFF-FA38923E78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55" y="2435"/>
                <a:ext cx="24" cy="30"/>
              </a:xfrm>
              <a:custGeom>
                <a:avLst/>
                <a:gdLst>
                  <a:gd name="T0" fmla="*/ 0 w 24"/>
                  <a:gd name="T1" fmla="*/ 12 h 30"/>
                  <a:gd name="T2" fmla="*/ 0 w 24"/>
                  <a:gd name="T3" fmla="*/ 18 h 30"/>
                  <a:gd name="T4" fmla="*/ 6 w 24"/>
                  <a:gd name="T5" fmla="*/ 18 h 30"/>
                  <a:gd name="T6" fmla="*/ 6 w 24"/>
                  <a:gd name="T7" fmla="*/ 18 h 30"/>
                  <a:gd name="T8" fmla="*/ 6 w 24"/>
                  <a:gd name="T9" fmla="*/ 24 h 30"/>
                  <a:gd name="T10" fmla="*/ 12 w 24"/>
                  <a:gd name="T11" fmla="*/ 30 h 30"/>
                  <a:gd name="T12" fmla="*/ 12 w 24"/>
                  <a:gd name="T13" fmla="*/ 6 h 30"/>
                  <a:gd name="T14" fmla="*/ 24 w 24"/>
                  <a:gd name="T15" fmla="*/ 12 h 30"/>
                  <a:gd name="T16" fmla="*/ 24 w 24"/>
                  <a:gd name="T17" fmla="*/ 12 h 30"/>
                  <a:gd name="T18" fmla="*/ 24 w 24"/>
                  <a:gd name="T19" fmla="*/ 12 h 30"/>
                  <a:gd name="T20" fmla="*/ 24 w 24"/>
                  <a:gd name="T21" fmla="*/ 12 h 30"/>
                  <a:gd name="T22" fmla="*/ 0 w 24"/>
                  <a:gd name="T23" fmla="*/ 12 h 30"/>
                  <a:gd name="T24" fmla="*/ 24 w 24"/>
                  <a:gd name="T25" fmla="*/ 12 h 30"/>
                  <a:gd name="T26" fmla="*/ 24 w 24"/>
                  <a:gd name="T27" fmla="*/ 0 h 30"/>
                  <a:gd name="T28" fmla="*/ 18 w 24"/>
                  <a:gd name="T29" fmla="*/ 0 h 30"/>
                  <a:gd name="T30" fmla="*/ 12 w 24"/>
                  <a:gd name="T31" fmla="*/ 12 h 30"/>
                  <a:gd name="T32" fmla="*/ 24 w 24"/>
                  <a:gd name="T33" fmla="*/ 12 h 3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4"/>
                  <a:gd name="T52" fmla="*/ 0 h 30"/>
                  <a:gd name="T53" fmla="*/ 24 w 24"/>
                  <a:gd name="T54" fmla="*/ 30 h 3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4" h="30">
                    <a:moveTo>
                      <a:pt x="0" y="12"/>
                    </a:moveTo>
                    <a:lnTo>
                      <a:pt x="0" y="18"/>
                    </a:lnTo>
                    <a:lnTo>
                      <a:pt x="6" y="18"/>
                    </a:lnTo>
                    <a:lnTo>
                      <a:pt x="6" y="24"/>
                    </a:lnTo>
                    <a:lnTo>
                      <a:pt x="12" y="30"/>
                    </a:lnTo>
                    <a:lnTo>
                      <a:pt x="12" y="6"/>
                    </a:lnTo>
                    <a:lnTo>
                      <a:pt x="24" y="12"/>
                    </a:lnTo>
                    <a:lnTo>
                      <a:pt x="0" y="12"/>
                    </a:lnTo>
                    <a:close/>
                    <a:moveTo>
                      <a:pt x="24" y="12"/>
                    </a:moveTo>
                    <a:lnTo>
                      <a:pt x="24" y="0"/>
                    </a:lnTo>
                    <a:lnTo>
                      <a:pt x="18" y="0"/>
                    </a:lnTo>
                    <a:lnTo>
                      <a:pt x="12" y="12"/>
                    </a:lnTo>
                    <a:lnTo>
                      <a:pt x="24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17" name="Freeform 84">
                <a:extLst>
                  <a:ext uri="{FF2B5EF4-FFF2-40B4-BE49-F238E27FC236}">
                    <a16:creationId xmlns:a16="http://schemas.microsoft.com/office/drawing/2014/main" id="{252A8489-E7C3-F7BC-3211-EA0669E4D8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41"/>
                <a:ext cx="24" cy="24"/>
              </a:xfrm>
              <a:custGeom>
                <a:avLst/>
                <a:gdLst>
                  <a:gd name="T0" fmla="*/ 0 w 24"/>
                  <a:gd name="T1" fmla="*/ 24 h 24"/>
                  <a:gd name="T2" fmla="*/ 6 w 24"/>
                  <a:gd name="T3" fmla="*/ 24 h 24"/>
                  <a:gd name="T4" fmla="*/ 6 w 24"/>
                  <a:gd name="T5" fmla="*/ 24 h 24"/>
                  <a:gd name="T6" fmla="*/ 24 w 24"/>
                  <a:gd name="T7" fmla="*/ 12 h 24"/>
                  <a:gd name="T8" fmla="*/ 24 w 24"/>
                  <a:gd name="T9" fmla="*/ 12 h 24"/>
                  <a:gd name="T10" fmla="*/ 24 w 24"/>
                  <a:gd name="T11" fmla="*/ 12 h 24"/>
                  <a:gd name="T12" fmla="*/ 18 w 24"/>
                  <a:gd name="T13" fmla="*/ 6 h 24"/>
                  <a:gd name="T14" fmla="*/ 0 w 24"/>
                  <a:gd name="T15" fmla="*/ 24 h 24"/>
                  <a:gd name="T16" fmla="*/ 18 w 24"/>
                  <a:gd name="T17" fmla="*/ 6 h 24"/>
                  <a:gd name="T18" fmla="*/ 12 w 24"/>
                  <a:gd name="T19" fmla="*/ 0 h 24"/>
                  <a:gd name="T20" fmla="*/ 6 w 24"/>
                  <a:gd name="T21" fmla="*/ 0 h 24"/>
                  <a:gd name="T22" fmla="*/ 12 w 24"/>
                  <a:gd name="T23" fmla="*/ 12 h 24"/>
                  <a:gd name="T24" fmla="*/ 18 w 24"/>
                  <a:gd name="T25" fmla="*/ 6 h 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24"/>
                  <a:gd name="T41" fmla="*/ 24 w 24"/>
                  <a:gd name="T42" fmla="*/ 24 h 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24">
                    <a:moveTo>
                      <a:pt x="0" y="24"/>
                    </a:moveTo>
                    <a:lnTo>
                      <a:pt x="6" y="24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0" y="24"/>
                    </a:lnTo>
                    <a:close/>
                    <a:moveTo>
                      <a:pt x="18" y="6"/>
                    </a:moveTo>
                    <a:lnTo>
                      <a:pt x="12" y="0"/>
                    </a:lnTo>
                    <a:lnTo>
                      <a:pt x="6" y="0"/>
                    </a:lnTo>
                    <a:lnTo>
                      <a:pt x="12" y="12"/>
                    </a:lnTo>
                    <a:lnTo>
                      <a:pt x="18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18" name="Freeform 85">
                <a:extLst>
                  <a:ext uri="{FF2B5EF4-FFF2-40B4-BE49-F238E27FC236}">
                    <a16:creationId xmlns:a16="http://schemas.microsoft.com/office/drawing/2014/main" id="{8E4621BA-1973-B01B-244A-077786B2FD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47"/>
                <a:ext cx="24" cy="18"/>
              </a:xfrm>
              <a:custGeom>
                <a:avLst/>
                <a:gdLst>
                  <a:gd name="T0" fmla="*/ 24 w 24"/>
                  <a:gd name="T1" fmla="*/ 12 h 18"/>
                  <a:gd name="T2" fmla="*/ 24 w 24"/>
                  <a:gd name="T3" fmla="*/ 6 h 18"/>
                  <a:gd name="T4" fmla="*/ 24 w 24"/>
                  <a:gd name="T5" fmla="*/ 0 h 18"/>
                  <a:gd name="T6" fmla="*/ 0 w 24"/>
                  <a:gd name="T7" fmla="*/ 12 h 18"/>
                  <a:gd name="T8" fmla="*/ 0 w 24"/>
                  <a:gd name="T9" fmla="*/ 12 h 18"/>
                  <a:gd name="T10" fmla="*/ 0 w 24"/>
                  <a:gd name="T11" fmla="*/ 12 h 18"/>
                  <a:gd name="T12" fmla="*/ 24 w 24"/>
                  <a:gd name="T13" fmla="*/ 12 h 18"/>
                  <a:gd name="T14" fmla="*/ 6 w 24"/>
                  <a:gd name="T15" fmla="*/ 18 h 18"/>
                  <a:gd name="T16" fmla="*/ 24 w 24"/>
                  <a:gd name="T17" fmla="*/ 12 h 18"/>
                  <a:gd name="T18" fmla="*/ 0 w 24"/>
                  <a:gd name="T19" fmla="*/ 12 h 18"/>
                  <a:gd name="T20" fmla="*/ 24 w 24"/>
                  <a:gd name="T21" fmla="*/ 6 h 18"/>
                  <a:gd name="T22" fmla="*/ 6 w 24"/>
                  <a:gd name="T23" fmla="*/ 18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18"/>
                  <a:gd name="T38" fmla="*/ 24 w 24"/>
                  <a:gd name="T39" fmla="*/ 18 h 1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18">
                    <a:moveTo>
                      <a:pt x="24" y="12"/>
                    </a:moveTo>
                    <a:lnTo>
                      <a:pt x="24" y="6"/>
                    </a:lnTo>
                    <a:lnTo>
                      <a:pt x="24" y="0"/>
                    </a:lnTo>
                    <a:lnTo>
                      <a:pt x="0" y="12"/>
                    </a:lnTo>
                    <a:lnTo>
                      <a:pt x="24" y="12"/>
                    </a:lnTo>
                    <a:close/>
                    <a:moveTo>
                      <a:pt x="6" y="18"/>
                    </a:moveTo>
                    <a:lnTo>
                      <a:pt x="24" y="12"/>
                    </a:lnTo>
                    <a:lnTo>
                      <a:pt x="0" y="12"/>
                    </a:lnTo>
                    <a:lnTo>
                      <a:pt x="24" y="6"/>
                    </a:lnTo>
                    <a:lnTo>
                      <a:pt x="6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19" name="Freeform 86">
                <a:extLst>
                  <a:ext uri="{FF2B5EF4-FFF2-40B4-BE49-F238E27FC236}">
                    <a16:creationId xmlns:a16="http://schemas.microsoft.com/office/drawing/2014/main" id="{F9B58273-A356-A630-92E0-BC58DD3584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41"/>
                <a:ext cx="24" cy="24"/>
              </a:xfrm>
              <a:custGeom>
                <a:avLst/>
                <a:gdLst>
                  <a:gd name="T0" fmla="*/ 18 w 24"/>
                  <a:gd name="T1" fmla="*/ 0 h 24"/>
                  <a:gd name="T2" fmla="*/ 18 w 24"/>
                  <a:gd name="T3" fmla="*/ 6 h 24"/>
                  <a:gd name="T4" fmla="*/ 24 w 24"/>
                  <a:gd name="T5" fmla="*/ 6 h 24"/>
                  <a:gd name="T6" fmla="*/ 0 w 24"/>
                  <a:gd name="T7" fmla="*/ 6 h 24"/>
                  <a:gd name="T8" fmla="*/ 6 w 24"/>
                  <a:gd name="T9" fmla="*/ 18 h 24"/>
                  <a:gd name="T10" fmla="*/ 6 w 24"/>
                  <a:gd name="T11" fmla="*/ 24 h 24"/>
                  <a:gd name="T12" fmla="*/ 18 w 24"/>
                  <a:gd name="T13" fmla="*/ 0 h 24"/>
                  <a:gd name="T14" fmla="*/ 24 w 24"/>
                  <a:gd name="T15" fmla="*/ 6 h 24"/>
                  <a:gd name="T16" fmla="*/ 24 w 24"/>
                  <a:gd name="T17" fmla="*/ 6 h 24"/>
                  <a:gd name="T18" fmla="*/ 18 w 24"/>
                  <a:gd name="T19" fmla="*/ 0 h 24"/>
                  <a:gd name="T20" fmla="*/ 12 w 24"/>
                  <a:gd name="T21" fmla="*/ 12 h 24"/>
                  <a:gd name="T22" fmla="*/ 24 w 24"/>
                  <a:gd name="T23" fmla="*/ 6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18" y="0"/>
                    </a:moveTo>
                    <a:lnTo>
                      <a:pt x="18" y="6"/>
                    </a:lnTo>
                    <a:lnTo>
                      <a:pt x="24" y="6"/>
                    </a:lnTo>
                    <a:lnTo>
                      <a:pt x="0" y="6"/>
                    </a:lnTo>
                    <a:lnTo>
                      <a:pt x="6" y="18"/>
                    </a:lnTo>
                    <a:lnTo>
                      <a:pt x="6" y="24"/>
                    </a:lnTo>
                    <a:lnTo>
                      <a:pt x="18" y="0"/>
                    </a:lnTo>
                    <a:close/>
                    <a:moveTo>
                      <a:pt x="24" y="6"/>
                    </a:moveTo>
                    <a:lnTo>
                      <a:pt x="24" y="6"/>
                    </a:lnTo>
                    <a:lnTo>
                      <a:pt x="18" y="0"/>
                    </a:lnTo>
                    <a:lnTo>
                      <a:pt x="12" y="12"/>
                    </a:lnTo>
                    <a:lnTo>
                      <a:pt x="24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20" name="Freeform 87">
                <a:extLst>
                  <a:ext uri="{FF2B5EF4-FFF2-40B4-BE49-F238E27FC236}">
                    <a16:creationId xmlns:a16="http://schemas.microsoft.com/office/drawing/2014/main" id="{8E69EE68-73A8-B378-DE85-A5A49E5C5B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29"/>
                <a:ext cx="24" cy="24"/>
              </a:xfrm>
              <a:custGeom>
                <a:avLst/>
                <a:gdLst>
                  <a:gd name="T0" fmla="*/ 18 w 24"/>
                  <a:gd name="T1" fmla="*/ 12 h 24"/>
                  <a:gd name="T2" fmla="*/ 18 w 24"/>
                  <a:gd name="T3" fmla="*/ 18 h 24"/>
                  <a:gd name="T4" fmla="*/ 18 w 24"/>
                  <a:gd name="T5" fmla="*/ 18 h 24"/>
                  <a:gd name="T6" fmla="*/ 0 w 24"/>
                  <a:gd name="T7" fmla="*/ 0 h 24"/>
                  <a:gd name="T8" fmla="*/ 0 w 24"/>
                  <a:gd name="T9" fmla="*/ 12 h 24"/>
                  <a:gd name="T10" fmla="*/ 0 w 24"/>
                  <a:gd name="T11" fmla="*/ 24 h 24"/>
                  <a:gd name="T12" fmla="*/ 18 w 24"/>
                  <a:gd name="T13" fmla="*/ 12 h 24"/>
                  <a:gd name="T14" fmla="*/ 24 w 24"/>
                  <a:gd name="T15" fmla="*/ 18 h 24"/>
                  <a:gd name="T16" fmla="*/ 24 w 24"/>
                  <a:gd name="T17" fmla="*/ 18 h 24"/>
                  <a:gd name="T18" fmla="*/ 18 w 24"/>
                  <a:gd name="T19" fmla="*/ 12 h 24"/>
                  <a:gd name="T20" fmla="*/ 12 w 24"/>
                  <a:gd name="T21" fmla="*/ 18 h 24"/>
                  <a:gd name="T22" fmla="*/ 24 w 24"/>
                  <a:gd name="T23" fmla="*/ 18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18" y="12"/>
                    </a:moveTo>
                    <a:lnTo>
                      <a:pt x="18" y="18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0" y="24"/>
                    </a:lnTo>
                    <a:lnTo>
                      <a:pt x="18" y="12"/>
                    </a:lnTo>
                    <a:close/>
                    <a:moveTo>
                      <a:pt x="24" y="18"/>
                    </a:moveTo>
                    <a:lnTo>
                      <a:pt x="24" y="18"/>
                    </a:lnTo>
                    <a:lnTo>
                      <a:pt x="18" y="12"/>
                    </a:lnTo>
                    <a:lnTo>
                      <a:pt x="12" y="18"/>
                    </a:lnTo>
                    <a:lnTo>
                      <a:pt x="24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21" name="Freeform 88">
                <a:extLst>
                  <a:ext uri="{FF2B5EF4-FFF2-40B4-BE49-F238E27FC236}">
                    <a16:creationId xmlns:a16="http://schemas.microsoft.com/office/drawing/2014/main" id="{C10160F7-9786-1412-D10A-D249A6AE52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23"/>
                <a:ext cx="24" cy="24"/>
              </a:xfrm>
              <a:custGeom>
                <a:avLst/>
                <a:gdLst>
                  <a:gd name="T0" fmla="*/ 18 w 24"/>
                  <a:gd name="T1" fmla="*/ 24 h 24"/>
                  <a:gd name="T2" fmla="*/ 24 w 24"/>
                  <a:gd name="T3" fmla="*/ 18 h 24"/>
                  <a:gd name="T4" fmla="*/ 24 w 24"/>
                  <a:gd name="T5" fmla="*/ 12 h 24"/>
                  <a:gd name="T6" fmla="*/ 18 w 24"/>
                  <a:gd name="T7" fmla="*/ 6 h 24"/>
                  <a:gd name="T8" fmla="*/ 12 w 24"/>
                  <a:gd name="T9" fmla="*/ 0 h 24"/>
                  <a:gd name="T10" fmla="*/ 0 w 24"/>
                  <a:gd name="T11" fmla="*/ 18 h 24"/>
                  <a:gd name="T12" fmla="*/ 0 w 24"/>
                  <a:gd name="T13" fmla="*/ 18 h 24"/>
                  <a:gd name="T14" fmla="*/ 0 w 24"/>
                  <a:gd name="T15" fmla="*/ 18 h 24"/>
                  <a:gd name="T16" fmla="*/ 0 w 24"/>
                  <a:gd name="T17" fmla="*/ 6 h 24"/>
                  <a:gd name="T18" fmla="*/ 18 w 24"/>
                  <a:gd name="T19" fmla="*/ 24 h 24"/>
                  <a:gd name="T20" fmla="*/ 0 w 24"/>
                  <a:gd name="T21" fmla="*/ 6 h 24"/>
                  <a:gd name="T22" fmla="*/ 0 w 24"/>
                  <a:gd name="T23" fmla="*/ 6 h 24"/>
                  <a:gd name="T24" fmla="*/ 0 w 24"/>
                  <a:gd name="T25" fmla="*/ 6 h 24"/>
                  <a:gd name="T26" fmla="*/ 12 w 24"/>
                  <a:gd name="T27" fmla="*/ 18 h 24"/>
                  <a:gd name="T28" fmla="*/ 0 w 24"/>
                  <a:gd name="T29" fmla="*/ 6 h 2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"/>
                  <a:gd name="T46" fmla="*/ 0 h 24"/>
                  <a:gd name="T47" fmla="*/ 24 w 24"/>
                  <a:gd name="T48" fmla="*/ 24 h 2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" h="24">
                    <a:moveTo>
                      <a:pt x="18" y="24"/>
                    </a:moveTo>
                    <a:lnTo>
                      <a:pt x="24" y="18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0" y="18"/>
                    </a:lnTo>
                    <a:lnTo>
                      <a:pt x="0" y="6"/>
                    </a:lnTo>
                    <a:lnTo>
                      <a:pt x="18" y="24"/>
                    </a:lnTo>
                    <a:close/>
                    <a:moveTo>
                      <a:pt x="0" y="6"/>
                    </a:moveTo>
                    <a:lnTo>
                      <a:pt x="0" y="6"/>
                    </a:lnTo>
                    <a:lnTo>
                      <a:pt x="12" y="1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22" name="Freeform 89">
                <a:extLst>
                  <a:ext uri="{FF2B5EF4-FFF2-40B4-BE49-F238E27FC236}">
                    <a16:creationId xmlns:a16="http://schemas.microsoft.com/office/drawing/2014/main" id="{6F67176B-5792-7D04-238C-F743DF4E89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55" y="2417"/>
                <a:ext cx="18" cy="24"/>
              </a:xfrm>
              <a:custGeom>
                <a:avLst/>
                <a:gdLst>
                  <a:gd name="T0" fmla="*/ 18 w 18"/>
                  <a:gd name="T1" fmla="*/ 6 h 24"/>
                  <a:gd name="T2" fmla="*/ 12 w 18"/>
                  <a:gd name="T3" fmla="*/ 6 h 24"/>
                  <a:gd name="T4" fmla="*/ 0 w 18"/>
                  <a:gd name="T5" fmla="*/ 0 h 24"/>
                  <a:gd name="T6" fmla="*/ 6 w 18"/>
                  <a:gd name="T7" fmla="*/ 24 h 24"/>
                  <a:gd name="T8" fmla="*/ 6 w 18"/>
                  <a:gd name="T9" fmla="*/ 24 h 24"/>
                  <a:gd name="T10" fmla="*/ 18 w 18"/>
                  <a:gd name="T11" fmla="*/ 6 h 24"/>
                  <a:gd name="T12" fmla="*/ 6 w 18"/>
                  <a:gd name="T13" fmla="*/ 24 h 24"/>
                  <a:gd name="T14" fmla="*/ 6 w 18"/>
                  <a:gd name="T15" fmla="*/ 24 h 24"/>
                  <a:gd name="T16" fmla="*/ 6 w 18"/>
                  <a:gd name="T17" fmla="*/ 24 h 24"/>
                  <a:gd name="T18" fmla="*/ 12 w 18"/>
                  <a:gd name="T19" fmla="*/ 18 h 24"/>
                  <a:gd name="T20" fmla="*/ 6 w 18"/>
                  <a:gd name="T21" fmla="*/ 24 h 2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8"/>
                  <a:gd name="T34" fmla="*/ 0 h 24"/>
                  <a:gd name="T35" fmla="*/ 18 w 18"/>
                  <a:gd name="T36" fmla="*/ 24 h 2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8" h="24">
                    <a:moveTo>
                      <a:pt x="18" y="6"/>
                    </a:moveTo>
                    <a:lnTo>
                      <a:pt x="12" y="6"/>
                    </a:lnTo>
                    <a:lnTo>
                      <a:pt x="0" y="0"/>
                    </a:lnTo>
                    <a:lnTo>
                      <a:pt x="6" y="24"/>
                    </a:lnTo>
                    <a:lnTo>
                      <a:pt x="18" y="6"/>
                    </a:lnTo>
                    <a:close/>
                    <a:moveTo>
                      <a:pt x="6" y="24"/>
                    </a:moveTo>
                    <a:lnTo>
                      <a:pt x="6" y="24"/>
                    </a:lnTo>
                    <a:lnTo>
                      <a:pt x="12" y="18"/>
                    </a:lnTo>
                    <a:lnTo>
                      <a:pt x="6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23" name="Freeform 90">
                <a:extLst>
                  <a:ext uri="{FF2B5EF4-FFF2-40B4-BE49-F238E27FC236}">
                    <a16:creationId xmlns:a16="http://schemas.microsoft.com/office/drawing/2014/main" id="{1B5B6274-5C0D-B512-E21E-AA1C35AD20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9" y="2417"/>
                <a:ext cx="24" cy="18"/>
              </a:xfrm>
              <a:custGeom>
                <a:avLst/>
                <a:gdLst>
                  <a:gd name="T0" fmla="*/ 0 w 24"/>
                  <a:gd name="T1" fmla="*/ 18 h 18"/>
                  <a:gd name="T2" fmla="*/ 0 w 24"/>
                  <a:gd name="T3" fmla="*/ 18 h 18"/>
                  <a:gd name="T4" fmla="*/ 24 w 24"/>
                  <a:gd name="T5" fmla="*/ 18 h 18"/>
                  <a:gd name="T6" fmla="*/ 24 w 24"/>
                  <a:gd name="T7" fmla="*/ 12 h 18"/>
                  <a:gd name="T8" fmla="*/ 0 w 24"/>
                  <a:gd name="T9" fmla="*/ 18 h 18"/>
                  <a:gd name="T10" fmla="*/ 6 w 24"/>
                  <a:gd name="T11" fmla="*/ 0 h 18"/>
                  <a:gd name="T12" fmla="*/ 0 w 24"/>
                  <a:gd name="T13" fmla="*/ 6 h 18"/>
                  <a:gd name="T14" fmla="*/ 0 w 24"/>
                  <a:gd name="T15" fmla="*/ 18 h 18"/>
                  <a:gd name="T16" fmla="*/ 12 w 24"/>
                  <a:gd name="T17" fmla="*/ 12 h 18"/>
                  <a:gd name="T18" fmla="*/ 6 w 24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18"/>
                  <a:gd name="T32" fmla="*/ 24 w 24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18">
                    <a:moveTo>
                      <a:pt x="0" y="18"/>
                    </a:moveTo>
                    <a:lnTo>
                      <a:pt x="0" y="18"/>
                    </a:lnTo>
                    <a:lnTo>
                      <a:pt x="24" y="18"/>
                    </a:lnTo>
                    <a:lnTo>
                      <a:pt x="24" y="12"/>
                    </a:lnTo>
                    <a:lnTo>
                      <a:pt x="0" y="18"/>
                    </a:lnTo>
                    <a:close/>
                    <a:moveTo>
                      <a:pt x="6" y="0"/>
                    </a:moveTo>
                    <a:lnTo>
                      <a:pt x="0" y="6"/>
                    </a:lnTo>
                    <a:lnTo>
                      <a:pt x="0" y="18"/>
                    </a:lnTo>
                    <a:lnTo>
                      <a:pt x="12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24" name="Freeform 91">
                <a:extLst>
                  <a:ext uri="{FF2B5EF4-FFF2-40B4-BE49-F238E27FC236}">
                    <a16:creationId xmlns:a16="http://schemas.microsoft.com/office/drawing/2014/main" id="{912E5712-62DC-9295-7731-E454CC789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9" y="2435"/>
                <a:ext cx="12" cy="12"/>
              </a:xfrm>
              <a:custGeom>
                <a:avLst/>
                <a:gdLst>
                  <a:gd name="T0" fmla="*/ 0 w 12"/>
                  <a:gd name="T1" fmla="*/ 0 h 12"/>
                  <a:gd name="T2" fmla="*/ 0 w 12"/>
                  <a:gd name="T3" fmla="*/ 6 h 12"/>
                  <a:gd name="T4" fmla="*/ 6 w 12"/>
                  <a:gd name="T5" fmla="*/ 12 h 12"/>
                  <a:gd name="T6" fmla="*/ 12 w 12"/>
                  <a:gd name="T7" fmla="*/ 0 h 12"/>
                  <a:gd name="T8" fmla="*/ 0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0" y="0"/>
                    </a:moveTo>
                    <a:lnTo>
                      <a:pt x="0" y="6"/>
                    </a:lnTo>
                    <a:lnTo>
                      <a:pt x="6" y="12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25" name="Freeform 92">
                <a:extLst>
                  <a:ext uri="{FF2B5EF4-FFF2-40B4-BE49-F238E27FC236}">
                    <a16:creationId xmlns:a16="http://schemas.microsoft.com/office/drawing/2014/main" id="{69E4DE53-77B9-72D3-4AA6-72EC14C23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2411"/>
                <a:ext cx="48" cy="18"/>
              </a:xfrm>
              <a:custGeom>
                <a:avLst/>
                <a:gdLst>
                  <a:gd name="T0" fmla="*/ 0 w 48"/>
                  <a:gd name="T1" fmla="*/ 18 h 18"/>
                  <a:gd name="T2" fmla="*/ 6 w 48"/>
                  <a:gd name="T3" fmla="*/ 18 h 18"/>
                  <a:gd name="T4" fmla="*/ 18 w 48"/>
                  <a:gd name="T5" fmla="*/ 18 h 18"/>
                  <a:gd name="T6" fmla="*/ 18 w 48"/>
                  <a:gd name="T7" fmla="*/ 18 h 18"/>
                  <a:gd name="T8" fmla="*/ 24 w 48"/>
                  <a:gd name="T9" fmla="*/ 18 h 18"/>
                  <a:gd name="T10" fmla="*/ 30 w 48"/>
                  <a:gd name="T11" fmla="*/ 12 h 18"/>
                  <a:gd name="T12" fmla="*/ 30 w 48"/>
                  <a:gd name="T13" fmla="*/ 6 h 18"/>
                  <a:gd name="T14" fmla="*/ 30 w 48"/>
                  <a:gd name="T15" fmla="*/ 6 h 18"/>
                  <a:gd name="T16" fmla="*/ 36 w 48"/>
                  <a:gd name="T17" fmla="*/ 6 h 18"/>
                  <a:gd name="T18" fmla="*/ 36 w 48"/>
                  <a:gd name="T19" fmla="*/ 6 h 18"/>
                  <a:gd name="T20" fmla="*/ 36 w 48"/>
                  <a:gd name="T21" fmla="*/ 6 h 18"/>
                  <a:gd name="T22" fmla="*/ 42 w 48"/>
                  <a:gd name="T23" fmla="*/ 0 h 18"/>
                  <a:gd name="T24" fmla="*/ 42 w 48"/>
                  <a:gd name="T25" fmla="*/ 0 h 18"/>
                  <a:gd name="T26" fmla="*/ 42 w 48"/>
                  <a:gd name="T27" fmla="*/ 0 h 18"/>
                  <a:gd name="T28" fmla="*/ 48 w 48"/>
                  <a:gd name="T29" fmla="*/ 0 h 18"/>
                  <a:gd name="T30" fmla="*/ 48 w 48"/>
                  <a:gd name="T31" fmla="*/ 0 h 18"/>
                  <a:gd name="T32" fmla="*/ 48 w 48"/>
                  <a:gd name="T33" fmla="*/ 0 h 18"/>
                  <a:gd name="T34" fmla="*/ 42 w 48"/>
                  <a:gd name="T35" fmla="*/ 0 h 18"/>
                  <a:gd name="T36" fmla="*/ 42 w 48"/>
                  <a:gd name="T37" fmla="*/ 0 h 18"/>
                  <a:gd name="T38" fmla="*/ 36 w 48"/>
                  <a:gd name="T39" fmla="*/ 0 h 18"/>
                  <a:gd name="T40" fmla="*/ 36 w 48"/>
                  <a:gd name="T41" fmla="*/ 6 h 18"/>
                  <a:gd name="T42" fmla="*/ 30 w 48"/>
                  <a:gd name="T43" fmla="*/ 6 h 18"/>
                  <a:gd name="T44" fmla="*/ 30 w 48"/>
                  <a:gd name="T45" fmla="*/ 12 h 18"/>
                  <a:gd name="T46" fmla="*/ 24 w 48"/>
                  <a:gd name="T47" fmla="*/ 12 h 18"/>
                  <a:gd name="T48" fmla="*/ 24 w 48"/>
                  <a:gd name="T49" fmla="*/ 12 h 18"/>
                  <a:gd name="T50" fmla="*/ 18 w 48"/>
                  <a:gd name="T51" fmla="*/ 12 h 18"/>
                  <a:gd name="T52" fmla="*/ 12 w 48"/>
                  <a:gd name="T53" fmla="*/ 12 h 18"/>
                  <a:gd name="T54" fmla="*/ 6 w 48"/>
                  <a:gd name="T55" fmla="*/ 12 h 18"/>
                  <a:gd name="T56" fmla="*/ 0 w 48"/>
                  <a:gd name="T57" fmla="*/ 18 h 18"/>
                  <a:gd name="T58" fmla="*/ 0 w 48"/>
                  <a:gd name="T59" fmla="*/ 18 h 1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8"/>
                  <a:gd name="T91" fmla="*/ 0 h 18"/>
                  <a:gd name="T92" fmla="*/ 48 w 48"/>
                  <a:gd name="T93" fmla="*/ 18 h 18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8" h="18">
                    <a:moveTo>
                      <a:pt x="0" y="18"/>
                    </a:moveTo>
                    <a:lnTo>
                      <a:pt x="6" y="18"/>
                    </a:lnTo>
                    <a:lnTo>
                      <a:pt x="18" y="18"/>
                    </a:lnTo>
                    <a:lnTo>
                      <a:pt x="24" y="18"/>
                    </a:lnTo>
                    <a:lnTo>
                      <a:pt x="30" y="12"/>
                    </a:lnTo>
                    <a:lnTo>
                      <a:pt x="30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36" y="0"/>
                    </a:lnTo>
                    <a:lnTo>
                      <a:pt x="36" y="6"/>
                    </a:lnTo>
                    <a:lnTo>
                      <a:pt x="30" y="6"/>
                    </a:lnTo>
                    <a:lnTo>
                      <a:pt x="30" y="12"/>
                    </a:lnTo>
                    <a:lnTo>
                      <a:pt x="24" y="12"/>
                    </a:lnTo>
                    <a:lnTo>
                      <a:pt x="18" y="12"/>
                    </a:lnTo>
                    <a:lnTo>
                      <a:pt x="12" y="12"/>
                    </a:lnTo>
                    <a:lnTo>
                      <a:pt x="6" y="12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26" name="Freeform 93">
                <a:extLst>
                  <a:ext uri="{FF2B5EF4-FFF2-40B4-BE49-F238E27FC236}">
                    <a16:creationId xmlns:a16="http://schemas.microsoft.com/office/drawing/2014/main" id="{FF64B981-636B-FE83-575F-745719607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2417"/>
                <a:ext cx="24" cy="24"/>
              </a:xfrm>
              <a:custGeom>
                <a:avLst/>
                <a:gdLst>
                  <a:gd name="T0" fmla="*/ 0 w 24"/>
                  <a:gd name="T1" fmla="*/ 24 h 24"/>
                  <a:gd name="T2" fmla="*/ 6 w 24"/>
                  <a:gd name="T3" fmla="*/ 24 h 24"/>
                  <a:gd name="T4" fmla="*/ 18 w 24"/>
                  <a:gd name="T5" fmla="*/ 24 h 24"/>
                  <a:gd name="T6" fmla="*/ 24 w 24"/>
                  <a:gd name="T7" fmla="*/ 18 h 24"/>
                  <a:gd name="T8" fmla="*/ 6 w 24"/>
                  <a:gd name="T9" fmla="*/ 6 h 24"/>
                  <a:gd name="T10" fmla="*/ 12 w 24"/>
                  <a:gd name="T11" fmla="*/ 0 h 24"/>
                  <a:gd name="T12" fmla="*/ 6 w 24"/>
                  <a:gd name="T13" fmla="*/ 0 h 24"/>
                  <a:gd name="T14" fmla="*/ 6 w 24"/>
                  <a:gd name="T15" fmla="*/ 0 h 24"/>
                  <a:gd name="T16" fmla="*/ 6 w 24"/>
                  <a:gd name="T17" fmla="*/ 0 h 24"/>
                  <a:gd name="T18" fmla="*/ 0 w 24"/>
                  <a:gd name="T19" fmla="*/ 24 h 2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24"/>
                  <a:gd name="T32" fmla="*/ 24 w 24"/>
                  <a:gd name="T33" fmla="*/ 24 h 2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24">
                    <a:moveTo>
                      <a:pt x="0" y="24"/>
                    </a:moveTo>
                    <a:lnTo>
                      <a:pt x="6" y="24"/>
                    </a:lnTo>
                    <a:lnTo>
                      <a:pt x="18" y="24"/>
                    </a:lnTo>
                    <a:lnTo>
                      <a:pt x="24" y="18"/>
                    </a:lnTo>
                    <a:lnTo>
                      <a:pt x="6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27" name="Freeform 94">
                <a:extLst>
                  <a:ext uri="{FF2B5EF4-FFF2-40B4-BE49-F238E27FC236}">
                    <a16:creationId xmlns:a16="http://schemas.microsoft.com/office/drawing/2014/main" id="{9273B261-7FDD-BD1E-5A46-076FE77BB6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17"/>
                <a:ext cx="24" cy="24"/>
              </a:xfrm>
              <a:custGeom>
                <a:avLst/>
                <a:gdLst>
                  <a:gd name="T0" fmla="*/ 12 w 24"/>
                  <a:gd name="T1" fmla="*/ 24 h 24"/>
                  <a:gd name="T2" fmla="*/ 18 w 24"/>
                  <a:gd name="T3" fmla="*/ 24 h 24"/>
                  <a:gd name="T4" fmla="*/ 24 w 24"/>
                  <a:gd name="T5" fmla="*/ 18 h 24"/>
                  <a:gd name="T6" fmla="*/ 6 w 24"/>
                  <a:gd name="T7" fmla="*/ 6 h 24"/>
                  <a:gd name="T8" fmla="*/ 12 w 24"/>
                  <a:gd name="T9" fmla="*/ 0 h 24"/>
                  <a:gd name="T10" fmla="*/ 12 w 24"/>
                  <a:gd name="T11" fmla="*/ 0 h 24"/>
                  <a:gd name="T12" fmla="*/ 12 w 24"/>
                  <a:gd name="T13" fmla="*/ 24 h 24"/>
                  <a:gd name="T14" fmla="*/ 12 w 24"/>
                  <a:gd name="T15" fmla="*/ 0 h 24"/>
                  <a:gd name="T16" fmla="*/ 6 w 24"/>
                  <a:gd name="T17" fmla="*/ 0 h 24"/>
                  <a:gd name="T18" fmla="*/ 0 w 24"/>
                  <a:gd name="T19" fmla="*/ 6 h 24"/>
                  <a:gd name="T20" fmla="*/ 12 w 24"/>
                  <a:gd name="T21" fmla="*/ 12 h 24"/>
                  <a:gd name="T22" fmla="*/ 12 w 24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12" y="24"/>
                    </a:moveTo>
                    <a:lnTo>
                      <a:pt x="18" y="24"/>
                    </a:lnTo>
                    <a:lnTo>
                      <a:pt x="24" y="18"/>
                    </a:lnTo>
                    <a:lnTo>
                      <a:pt x="6" y="6"/>
                    </a:lnTo>
                    <a:lnTo>
                      <a:pt x="12" y="0"/>
                    </a:lnTo>
                    <a:lnTo>
                      <a:pt x="12" y="24"/>
                    </a:lnTo>
                    <a:close/>
                    <a:moveTo>
                      <a:pt x="12" y="0"/>
                    </a:moveTo>
                    <a:lnTo>
                      <a:pt x="6" y="0"/>
                    </a:lnTo>
                    <a:lnTo>
                      <a:pt x="0" y="6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28" name="Freeform 95">
                <a:extLst>
                  <a:ext uri="{FF2B5EF4-FFF2-40B4-BE49-F238E27FC236}">
                    <a16:creationId xmlns:a16="http://schemas.microsoft.com/office/drawing/2014/main" id="{DFD25379-C46D-67C8-2D02-F5DE170F2E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7" y="2411"/>
                <a:ext cx="30" cy="24"/>
              </a:xfrm>
              <a:custGeom>
                <a:avLst/>
                <a:gdLst>
                  <a:gd name="T0" fmla="*/ 18 w 30"/>
                  <a:gd name="T1" fmla="*/ 24 h 24"/>
                  <a:gd name="T2" fmla="*/ 24 w 30"/>
                  <a:gd name="T3" fmla="*/ 24 h 24"/>
                  <a:gd name="T4" fmla="*/ 24 w 30"/>
                  <a:gd name="T5" fmla="*/ 18 h 24"/>
                  <a:gd name="T6" fmla="*/ 30 w 30"/>
                  <a:gd name="T7" fmla="*/ 6 h 24"/>
                  <a:gd name="T8" fmla="*/ 6 w 30"/>
                  <a:gd name="T9" fmla="*/ 6 h 24"/>
                  <a:gd name="T10" fmla="*/ 6 w 30"/>
                  <a:gd name="T11" fmla="*/ 0 h 24"/>
                  <a:gd name="T12" fmla="*/ 6 w 30"/>
                  <a:gd name="T13" fmla="*/ 0 h 24"/>
                  <a:gd name="T14" fmla="*/ 0 w 30"/>
                  <a:gd name="T15" fmla="*/ 6 h 24"/>
                  <a:gd name="T16" fmla="*/ 18 w 30"/>
                  <a:gd name="T17" fmla="*/ 24 h 24"/>
                  <a:gd name="T18" fmla="*/ 0 w 30"/>
                  <a:gd name="T19" fmla="*/ 6 h 24"/>
                  <a:gd name="T20" fmla="*/ 0 w 30"/>
                  <a:gd name="T21" fmla="*/ 6 h 24"/>
                  <a:gd name="T22" fmla="*/ 0 w 30"/>
                  <a:gd name="T23" fmla="*/ 12 h 24"/>
                  <a:gd name="T24" fmla="*/ 12 w 30"/>
                  <a:gd name="T25" fmla="*/ 18 h 24"/>
                  <a:gd name="T26" fmla="*/ 0 w 30"/>
                  <a:gd name="T27" fmla="*/ 6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0"/>
                  <a:gd name="T43" fmla="*/ 0 h 24"/>
                  <a:gd name="T44" fmla="*/ 30 w 30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0" h="24">
                    <a:moveTo>
                      <a:pt x="18" y="24"/>
                    </a:moveTo>
                    <a:lnTo>
                      <a:pt x="24" y="24"/>
                    </a:lnTo>
                    <a:lnTo>
                      <a:pt x="24" y="18"/>
                    </a:lnTo>
                    <a:lnTo>
                      <a:pt x="30" y="6"/>
                    </a:lnTo>
                    <a:lnTo>
                      <a:pt x="6" y="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18" y="24"/>
                    </a:lnTo>
                    <a:close/>
                    <a:moveTo>
                      <a:pt x="0" y="6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2" y="1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29" name="Freeform 96">
                <a:extLst>
                  <a:ext uri="{FF2B5EF4-FFF2-40B4-BE49-F238E27FC236}">
                    <a16:creationId xmlns:a16="http://schemas.microsoft.com/office/drawing/2014/main" id="{7C282305-01B5-A63E-CE60-454E4958F3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73" y="2405"/>
                <a:ext cx="18" cy="24"/>
              </a:xfrm>
              <a:custGeom>
                <a:avLst/>
                <a:gdLst>
                  <a:gd name="T0" fmla="*/ 12 w 18"/>
                  <a:gd name="T1" fmla="*/ 24 h 24"/>
                  <a:gd name="T2" fmla="*/ 18 w 18"/>
                  <a:gd name="T3" fmla="*/ 24 h 24"/>
                  <a:gd name="T4" fmla="*/ 18 w 18"/>
                  <a:gd name="T5" fmla="*/ 24 h 24"/>
                  <a:gd name="T6" fmla="*/ 18 w 18"/>
                  <a:gd name="T7" fmla="*/ 24 h 24"/>
                  <a:gd name="T8" fmla="*/ 12 w 18"/>
                  <a:gd name="T9" fmla="*/ 0 h 24"/>
                  <a:gd name="T10" fmla="*/ 12 w 18"/>
                  <a:gd name="T11" fmla="*/ 0 h 24"/>
                  <a:gd name="T12" fmla="*/ 12 w 18"/>
                  <a:gd name="T13" fmla="*/ 0 h 24"/>
                  <a:gd name="T14" fmla="*/ 12 w 18"/>
                  <a:gd name="T15" fmla="*/ 24 h 24"/>
                  <a:gd name="T16" fmla="*/ 12 w 18"/>
                  <a:gd name="T17" fmla="*/ 0 h 24"/>
                  <a:gd name="T18" fmla="*/ 0 w 18"/>
                  <a:gd name="T19" fmla="*/ 6 h 24"/>
                  <a:gd name="T20" fmla="*/ 0 w 18"/>
                  <a:gd name="T21" fmla="*/ 12 h 24"/>
                  <a:gd name="T22" fmla="*/ 12 w 18"/>
                  <a:gd name="T23" fmla="*/ 12 h 24"/>
                  <a:gd name="T24" fmla="*/ 12 w 18"/>
                  <a:gd name="T25" fmla="*/ 0 h 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8"/>
                  <a:gd name="T40" fmla="*/ 0 h 24"/>
                  <a:gd name="T41" fmla="*/ 18 w 18"/>
                  <a:gd name="T42" fmla="*/ 24 h 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8" h="24">
                    <a:moveTo>
                      <a:pt x="12" y="24"/>
                    </a:moveTo>
                    <a:lnTo>
                      <a:pt x="18" y="24"/>
                    </a:lnTo>
                    <a:lnTo>
                      <a:pt x="12" y="0"/>
                    </a:lnTo>
                    <a:lnTo>
                      <a:pt x="12" y="24"/>
                    </a:lnTo>
                    <a:close/>
                    <a:moveTo>
                      <a:pt x="1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30" name="Freeform 97">
                <a:extLst>
                  <a:ext uri="{FF2B5EF4-FFF2-40B4-BE49-F238E27FC236}">
                    <a16:creationId xmlns:a16="http://schemas.microsoft.com/office/drawing/2014/main" id="{267FA1DB-DD61-3F4B-6B5C-ED7120A476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79" y="2405"/>
                <a:ext cx="18" cy="24"/>
              </a:xfrm>
              <a:custGeom>
                <a:avLst/>
                <a:gdLst>
                  <a:gd name="T0" fmla="*/ 18 w 18"/>
                  <a:gd name="T1" fmla="*/ 24 h 24"/>
                  <a:gd name="T2" fmla="*/ 18 w 18"/>
                  <a:gd name="T3" fmla="*/ 24 h 24"/>
                  <a:gd name="T4" fmla="*/ 12 w 18"/>
                  <a:gd name="T5" fmla="*/ 24 h 24"/>
                  <a:gd name="T6" fmla="*/ 6 w 18"/>
                  <a:gd name="T7" fmla="*/ 0 h 24"/>
                  <a:gd name="T8" fmla="*/ 6 w 18"/>
                  <a:gd name="T9" fmla="*/ 0 h 24"/>
                  <a:gd name="T10" fmla="*/ 0 w 18"/>
                  <a:gd name="T11" fmla="*/ 0 h 24"/>
                  <a:gd name="T12" fmla="*/ 18 w 18"/>
                  <a:gd name="T13" fmla="*/ 24 h 24"/>
                  <a:gd name="T14" fmla="*/ 12 w 18"/>
                  <a:gd name="T15" fmla="*/ 24 h 24"/>
                  <a:gd name="T16" fmla="*/ 18 w 18"/>
                  <a:gd name="T17" fmla="*/ 24 h 24"/>
                  <a:gd name="T18" fmla="*/ 18 w 18"/>
                  <a:gd name="T19" fmla="*/ 24 h 24"/>
                  <a:gd name="T20" fmla="*/ 6 w 18"/>
                  <a:gd name="T21" fmla="*/ 12 h 24"/>
                  <a:gd name="T22" fmla="*/ 12 w 18"/>
                  <a:gd name="T23" fmla="*/ 24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24"/>
                  <a:gd name="T38" fmla="*/ 18 w 18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24">
                    <a:moveTo>
                      <a:pt x="18" y="24"/>
                    </a:moveTo>
                    <a:lnTo>
                      <a:pt x="18" y="24"/>
                    </a:lnTo>
                    <a:lnTo>
                      <a:pt x="12" y="24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18" y="24"/>
                    </a:lnTo>
                    <a:close/>
                    <a:moveTo>
                      <a:pt x="12" y="24"/>
                    </a:moveTo>
                    <a:lnTo>
                      <a:pt x="18" y="24"/>
                    </a:lnTo>
                    <a:lnTo>
                      <a:pt x="6" y="12"/>
                    </a:lnTo>
                    <a:lnTo>
                      <a:pt x="12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31" name="Freeform 98">
                <a:extLst>
                  <a:ext uri="{FF2B5EF4-FFF2-40B4-BE49-F238E27FC236}">
                    <a16:creationId xmlns:a16="http://schemas.microsoft.com/office/drawing/2014/main" id="{A0A694EE-47CF-3072-BD8E-F114C463E5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85" y="2405"/>
                <a:ext cx="12" cy="24"/>
              </a:xfrm>
              <a:custGeom>
                <a:avLst/>
                <a:gdLst>
                  <a:gd name="T0" fmla="*/ 6 w 12"/>
                  <a:gd name="T1" fmla="*/ 24 h 24"/>
                  <a:gd name="T2" fmla="*/ 12 w 12"/>
                  <a:gd name="T3" fmla="*/ 24 h 24"/>
                  <a:gd name="T4" fmla="*/ 12 w 12"/>
                  <a:gd name="T5" fmla="*/ 18 h 24"/>
                  <a:gd name="T6" fmla="*/ 6 w 12"/>
                  <a:gd name="T7" fmla="*/ 0 h 24"/>
                  <a:gd name="T8" fmla="*/ 6 w 12"/>
                  <a:gd name="T9" fmla="*/ 0 h 24"/>
                  <a:gd name="T10" fmla="*/ 6 w 12"/>
                  <a:gd name="T11" fmla="*/ 0 h 24"/>
                  <a:gd name="T12" fmla="*/ 6 w 12"/>
                  <a:gd name="T13" fmla="*/ 24 h 24"/>
                  <a:gd name="T14" fmla="*/ 6 w 12"/>
                  <a:gd name="T15" fmla="*/ 0 h 24"/>
                  <a:gd name="T16" fmla="*/ 0 w 12"/>
                  <a:gd name="T17" fmla="*/ 0 h 24"/>
                  <a:gd name="T18" fmla="*/ 0 w 12"/>
                  <a:gd name="T19" fmla="*/ 0 h 24"/>
                  <a:gd name="T20" fmla="*/ 6 w 12"/>
                  <a:gd name="T21" fmla="*/ 12 h 24"/>
                  <a:gd name="T22" fmla="*/ 6 w 12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4"/>
                  <a:gd name="T38" fmla="*/ 12 w 12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4">
                    <a:moveTo>
                      <a:pt x="6" y="24"/>
                    </a:moveTo>
                    <a:lnTo>
                      <a:pt x="12" y="24"/>
                    </a:lnTo>
                    <a:lnTo>
                      <a:pt x="12" y="18"/>
                    </a:lnTo>
                    <a:lnTo>
                      <a:pt x="6" y="0"/>
                    </a:lnTo>
                    <a:lnTo>
                      <a:pt x="6" y="24"/>
                    </a:lnTo>
                    <a:close/>
                    <a:moveTo>
                      <a:pt x="6" y="0"/>
                    </a:moveTo>
                    <a:lnTo>
                      <a:pt x="0" y="0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32" name="Freeform 99">
                <a:extLst>
                  <a:ext uri="{FF2B5EF4-FFF2-40B4-BE49-F238E27FC236}">
                    <a16:creationId xmlns:a16="http://schemas.microsoft.com/office/drawing/2014/main" id="{EE46DB39-9667-E660-A485-8DE11121B7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85" y="2400"/>
                <a:ext cx="18" cy="23"/>
              </a:xfrm>
              <a:custGeom>
                <a:avLst/>
                <a:gdLst>
                  <a:gd name="T0" fmla="*/ 12 w 18"/>
                  <a:gd name="T1" fmla="*/ 23 h 23"/>
                  <a:gd name="T2" fmla="*/ 18 w 18"/>
                  <a:gd name="T3" fmla="*/ 23 h 23"/>
                  <a:gd name="T4" fmla="*/ 18 w 18"/>
                  <a:gd name="T5" fmla="*/ 23 h 23"/>
                  <a:gd name="T6" fmla="*/ 18 w 18"/>
                  <a:gd name="T7" fmla="*/ 23 h 23"/>
                  <a:gd name="T8" fmla="*/ 18 w 18"/>
                  <a:gd name="T9" fmla="*/ 23 h 23"/>
                  <a:gd name="T10" fmla="*/ 18 w 18"/>
                  <a:gd name="T11" fmla="*/ 23 h 23"/>
                  <a:gd name="T12" fmla="*/ 18 w 18"/>
                  <a:gd name="T13" fmla="*/ 23 h 23"/>
                  <a:gd name="T14" fmla="*/ 6 w 18"/>
                  <a:gd name="T15" fmla="*/ 0 h 23"/>
                  <a:gd name="T16" fmla="*/ 6 w 18"/>
                  <a:gd name="T17" fmla="*/ 0 h 23"/>
                  <a:gd name="T18" fmla="*/ 6 w 18"/>
                  <a:gd name="T19" fmla="*/ 5 h 23"/>
                  <a:gd name="T20" fmla="*/ 6 w 18"/>
                  <a:gd name="T21" fmla="*/ 5 h 23"/>
                  <a:gd name="T22" fmla="*/ 6 w 18"/>
                  <a:gd name="T23" fmla="*/ 5 h 23"/>
                  <a:gd name="T24" fmla="*/ 6 w 18"/>
                  <a:gd name="T25" fmla="*/ 5 h 23"/>
                  <a:gd name="T26" fmla="*/ 6 w 18"/>
                  <a:gd name="T27" fmla="*/ 5 h 23"/>
                  <a:gd name="T28" fmla="*/ 0 w 18"/>
                  <a:gd name="T29" fmla="*/ 5 h 23"/>
                  <a:gd name="T30" fmla="*/ 12 w 18"/>
                  <a:gd name="T31" fmla="*/ 23 h 23"/>
                  <a:gd name="T32" fmla="*/ 6 w 18"/>
                  <a:gd name="T33" fmla="*/ 5 h 23"/>
                  <a:gd name="T34" fmla="*/ 6 w 18"/>
                  <a:gd name="T35" fmla="*/ 5 h 23"/>
                  <a:gd name="T36" fmla="*/ 6 w 18"/>
                  <a:gd name="T37" fmla="*/ 5 h 23"/>
                  <a:gd name="T38" fmla="*/ 6 w 18"/>
                  <a:gd name="T39" fmla="*/ 17 h 23"/>
                  <a:gd name="T40" fmla="*/ 6 w 18"/>
                  <a:gd name="T41" fmla="*/ 5 h 2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8"/>
                  <a:gd name="T64" fmla="*/ 0 h 23"/>
                  <a:gd name="T65" fmla="*/ 18 w 18"/>
                  <a:gd name="T66" fmla="*/ 23 h 2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8" h="23">
                    <a:moveTo>
                      <a:pt x="12" y="23"/>
                    </a:moveTo>
                    <a:lnTo>
                      <a:pt x="18" y="23"/>
                    </a:lnTo>
                    <a:lnTo>
                      <a:pt x="6" y="0"/>
                    </a:lnTo>
                    <a:lnTo>
                      <a:pt x="6" y="5"/>
                    </a:lnTo>
                    <a:lnTo>
                      <a:pt x="0" y="5"/>
                    </a:lnTo>
                    <a:lnTo>
                      <a:pt x="12" y="23"/>
                    </a:lnTo>
                    <a:close/>
                    <a:moveTo>
                      <a:pt x="6" y="5"/>
                    </a:moveTo>
                    <a:lnTo>
                      <a:pt x="6" y="5"/>
                    </a:lnTo>
                    <a:lnTo>
                      <a:pt x="6" y="17"/>
                    </a:ln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33" name="Freeform 100">
                <a:extLst>
                  <a:ext uri="{FF2B5EF4-FFF2-40B4-BE49-F238E27FC236}">
                    <a16:creationId xmlns:a16="http://schemas.microsoft.com/office/drawing/2014/main" id="{31D9466A-109A-E1E3-F9F4-6C5B400661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91" y="2400"/>
                <a:ext cx="12" cy="23"/>
              </a:xfrm>
              <a:custGeom>
                <a:avLst/>
                <a:gdLst>
                  <a:gd name="T0" fmla="*/ 12 w 12"/>
                  <a:gd name="T1" fmla="*/ 23 h 23"/>
                  <a:gd name="T2" fmla="*/ 12 w 12"/>
                  <a:gd name="T3" fmla="*/ 23 h 23"/>
                  <a:gd name="T4" fmla="*/ 12 w 12"/>
                  <a:gd name="T5" fmla="*/ 23 h 23"/>
                  <a:gd name="T6" fmla="*/ 0 w 12"/>
                  <a:gd name="T7" fmla="*/ 0 h 23"/>
                  <a:gd name="T8" fmla="*/ 0 w 12"/>
                  <a:gd name="T9" fmla="*/ 5 h 23"/>
                  <a:gd name="T10" fmla="*/ 0 w 12"/>
                  <a:gd name="T11" fmla="*/ 5 h 23"/>
                  <a:gd name="T12" fmla="*/ 12 w 12"/>
                  <a:gd name="T13" fmla="*/ 23 h 23"/>
                  <a:gd name="T14" fmla="*/ 12 w 12"/>
                  <a:gd name="T15" fmla="*/ 23 h 23"/>
                  <a:gd name="T16" fmla="*/ 12 w 12"/>
                  <a:gd name="T17" fmla="*/ 23 h 23"/>
                  <a:gd name="T18" fmla="*/ 12 w 12"/>
                  <a:gd name="T19" fmla="*/ 23 h 23"/>
                  <a:gd name="T20" fmla="*/ 6 w 12"/>
                  <a:gd name="T21" fmla="*/ 11 h 23"/>
                  <a:gd name="T22" fmla="*/ 12 w 12"/>
                  <a:gd name="T23" fmla="*/ 23 h 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3"/>
                  <a:gd name="T38" fmla="*/ 12 w 12"/>
                  <a:gd name="T39" fmla="*/ 23 h 2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3">
                    <a:moveTo>
                      <a:pt x="12" y="23"/>
                    </a:moveTo>
                    <a:lnTo>
                      <a:pt x="12" y="23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2" y="23"/>
                    </a:lnTo>
                    <a:close/>
                    <a:moveTo>
                      <a:pt x="12" y="23"/>
                    </a:moveTo>
                    <a:lnTo>
                      <a:pt x="12" y="23"/>
                    </a:lnTo>
                    <a:lnTo>
                      <a:pt x="6" y="11"/>
                    </a:lnTo>
                    <a:lnTo>
                      <a:pt x="12" y="23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34" name="Freeform 101">
                <a:extLst>
                  <a:ext uri="{FF2B5EF4-FFF2-40B4-BE49-F238E27FC236}">
                    <a16:creationId xmlns:a16="http://schemas.microsoft.com/office/drawing/2014/main" id="{BBA46346-360F-17CD-A916-03784FCB67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91" y="2400"/>
                <a:ext cx="12" cy="23"/>
              </a:xfrm>
              <a:custGeom>
                <a:avLst/>
                <a:gdLst>
                  <a:gd name="T0" fmla="*/ 12 w 12"/>
                  <a:gd name="T1" fmla="*/ 23 h 23"/>
                  <a:gd name="T2" fmla="*/ 12 w 12"/>
                  <a:gd name="T3" fmla="*/ 23 h 23"/>
                  <a:gd name="T4" fmla="*/ 12 w 12"/>
                  <a:gd name="T5" fmla="*/ 23 h 23"/>
                  <a:gd name="T6" fmla="*/ 6 w 12"/>
                  <a:gd name="T7" fmla="*/ 0 h 23"/>
                  <a:gd name="T8" fmla="*/ 6 w 12"/>
                  <a:gd name="T9" fmla="*/ 0 h 23"/>
                  <a:gd name="T10" fmla="*/ 6 w 12"/>
                  <a:gd name="T11" fmla="*/ 0 h 23"/>
                  <a:gd name="T12" fmla="*/ 12 w 12"/>
                  <a:gd name="T13" fmla="*/ 23 h 23"/>
                  <a:gd name="T14" fmla="*/ 6 w 12"/>
                  <a:gd name="T15" fmla="*/ 0 h 23"/>
                  <a:gd name="T16" fmla="*/ 6 w 12"/>
                  <a:gd name="T17" fmla="*/ 0 h 23"/>
                  <a:gd name="T18" fmla="*/ 0 w 12"/>
                  <a:gd name="T19" fmla="*/ 0 h 23"/>
                  <a:gd name="T20" fmla="*/ 6 w 12"/>
                  <a:gd name="T21" fmla="*/ 11 h 23"/>
                  <a:gd name="T22" fmla="*/ 6 w 12"/>
                  <a:gd name="T23" fmla="*/ 0 h 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3"/>
                  <a:gd name="T38" fmla="*/ 12 w 12"/>
                  <a:gd name="T39" fmla="*/ 23 h 2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3">
                    <a:moveTo>
                      <a:pt x="12" y="23"/>
                    </a:moveTo>
                    <a:lnTo>
                      <a:pt x="12" y="23"/>
                    </a:lnTo>
                    <a:lnTo>
                      <a:pt x="6" y="0"/>
                    </a:lnTo>
                    <a:lnTo>
                      <a:pt x="12" y="23"/>
                    </a:lnTo>
                    <a:close/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6" y="1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35" name="Freeform 102">
                <a:extLst>
                  <a:ext uri="{FF2B5EF4-FFF2-40B4-BE49-F238E27FC236}">
                    <a16:creationId xmlns:a16="http://schemas.microsoft.com/office/drawing/2014/main" id="{E59D9162-640F-B583-0AF2-477E828C58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97" y="2400"/>
                <a:ext cx="6" cy="23"/>
              </a:xfrm>
              <a:custGeom>
                <a:avLst/>
                <a:gdLst>
                  <a:gd name="T0" fmla="*/ 6 w 6"/>
                  <a:gd name="T1" fmla="*/ 0 h 23"/>
                  <a:gd name="T2" fmla="*/ 6 w 6"/>
                  <a:gd name="T3" fmla="*/ 0 h 23"/>
                  <a:gd name="T4" fmla="*/ 0 w 6"/>
                  <a:gd name="T5" fmla="*/ 0 h 23"/>
                  <a:gd name="T6" fmla="*/ 0 w 6"/>
                  <a:gd name="T7" fmla="*/ 23 h 23"/>
                  <a:gd name="T8" fmla="*/ 0 w 6"/>
                  <a:gd name="T9" fmla="*/ 23 h 23"/>
                  <a:gd name="T10" fmla="*/ 6 w 6"/>
                  <a:gd name="T11" fmla="*/ 0 h 23"/>
                  <a:gd name="T12" fmla="*/ 6 w 6"/>
                  <a:gd name="T13" fmla="*/ 23 h 23"/>
                  <a:gd name="T14" fmla="*/ 6 w 6"/>
                  <a:gd name="T15" fmla="*/ 0 h 23"/>
                  <a:gd name="T16" fmla="*/ 0 w 6"/>
                  <a:gd name="T17" fmla="*/ 23 h 23"/>
                  <a:gd name="T18" fmla="*/ 0 w 6"/>
                  <a:gd name="T19" fmla="*/ 0 h 23"/>
                  <a:gd name="T20" fmla="*/ 6 w 6"/>
                  <a:gd name="T21" fmla="*/ 23 h 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"/>
                  <a:gd name="T34" fmla="*/ 0 h 23"/>
                  <a:gd name="T35" fmla="*/ 6 w 6"/>
                  <a:gd name="T36" fmla="*/ 23 h 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" h="23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23"/>
                    </a:lnTo>
                    <a:lnTo>
                      <a:pt x="6" y="0"/>
                    </a:lnTo>
                    <a:close/>
                    <a:moveTo>
                      <a:pt x="6" y="23"/>
                    </a:moveTo>
                    <a:lnTo>
                      <a:pt x="6" y="0"/>
                    </a:lnTo>
                    <a:lnTo>
                      <a:pt x="0" y="23"/>
                    </a:lnTo>
                    <a:lnTo>
                      <a:pt x="0" y="0"/>
                    </a:lnTo>
                    <a:lnTo>
                      <a:pt x="6" y="23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36" name="Freeform 103">
                <a:extLst>
                  <a:ext uri="{FF2B5EF4-FFF2-40B4-BE49-F238E27FC236}">
                    <a16:creationId xmlns:a16="http://schemas.microsoft.com/office/drawing/2014/main" id="{7C186481-617D-3B4F-44A3-4BF0C6C67B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85" y="2400"/>
                <a:ext cx="18" cy="23"/>
              </a:xfrm>
              <a:custGeom>
                <a:avLst/>
                <a:gdLst>
                  <a:gd name="T0" fmla="*/ 6 w 18"/>
                  <a:gd name="T1" fmla="*/ 0 h 23"/>
                  <a:gd name="T2" fmla="*/ 6 w 18"/>
                  <a:gd name="T3" fmla="*/ 0 h 23"/>
                  <a:gd name="T4" fmla="*/ 0 w 18"/>
                  <a:gd name="T5" fmla="*/ 0 h 23"/>
                  <a:gd name="T6" fmla="*/ 12 w 18"/>
                  <a:gd name="T7" fmla="*/ 23 h 23"/>
                  <a:gd name="T8" fmla="*/ 18 w 18"/>
                  <a:gd name="T9" fmla="*/ 23 h 23"/>
                  <a:gd name="T10" fmla="*/ 18 w 18"/>
                  <a:gd name="T11" fmla="*/ 23 h 23"/>
                  <a:gd name="T12" fmla="*/ 6 w 18"/>
                  <a:gd name="T13" fmla="*/ 0 h 23"/>
                  <a:gd name="T14" fmla="*/ 12 w 18"/>
                  <a:gd name="T15" fmla="*/ 0 h 23"/>
                  <a:gd name="T16" fmla="*/ 6 w 18"/>
                  <a:gd name="T17" fmla="*/ 0 h 23"/>
                  <a:gd name="T18" fmla="*/ 6 w 18"/>
                  <a:gd name="T19" fmla="*/ 0 h 23"/>
                  <a:gd name="T20" fmla="*/ 12 w 18"/>
                  <a:gd name="T21" fmla="*/ 11 h 23"/>
                  <a:gd name="T22" fmla="*/ 12 w 18"/>
                  <a:gd name="T23" fmla="*/ 0 h 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23"/>
                  <a:gd name="T38" fmla="*/ 18 w 18"/>
                  <a:gd name="T39" fmla="*/ 23 h 2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23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12" y="23"/>
                    </a:lnTo>
                    <a:lnTo>
                      <a:pt x="18" y="23"/>
                    </a:lnTo>
                    <a:lnTo>
                      <a:pt x="6" y="0"/>
                    </a:lnTo>
                    <a:close/>
                    <a:moveTo>
                      <a:pt x="12" y="0"/>
                    </a:moveTo>
                    <a:lnTo>
                      <a:pt x="6" y="0"/>
                    </a:lnTo>
                    <a:lnTo>
                      <a:pt x="12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37" name="Freeform 104">
                <a:extLst>
                  <a:ext uri="{FF2B5EF4-FFF2-40B4-BE49-F238E27FC236}">
                    <a16:creationId xmlns:a16="http://schemas.microsoft.com/office/drawing/2014/main" id="{D3D30195-761C-956B-C1AE-79FA3F099B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79" y="2400"/>
                <a:ext cx="18" cy="29"/>
              </a:xfrm>
              <a:custGeom>
                <a:avLst/>
                <a:gdLst>
                  <a:gd name="T0" fmla="*/ 6 w 18"/>
                  <a:gd name="T1" fmla="*/ 5 h 29"/>
                  <a:gd name="T2" fmla="*/ 0 w 18"/>
                  <a:gd name="T3" fmla="*/ 5 h 29"/>
                  <a:gd name="T4" fmla="*/ 0 w 18"/>
                  <a:gd name="T5" fmla="*/ 5 h 29"/>
                  <a:gd name="T6" fmla="*/ 6 w 18"/>
                  <a:gd name="T7" fmla="*/ 5 h 29"/>
                  <a:gd name="T8" fmla="*/ 0 w 18"/>
                  <a:gd name="T9" fmla="*/ 29 h 29"/>
                  <a:gd name="T10" fmla="*/ 12 w 18"/>
                  <a:gd name="T11" fmla="*/ 29 h 29"/>
                  <a:gd name="T12" fmla="*/ 18 w 18"/>
                  <a:gd name="T13" fmla="*/ 29 h 29"/>
                  <a:gd name="T14" fmla="*/ 18 w 18"/>
                  <a:gd name="T15" fmla="*/ 23 h 29"/>
                  <a:gd name="T16" fmla="*/ 6 w 18"/>
                  <a:gd name="T17" fmla="*/ 5 h 29"/>
                  <a:gd name="T18" fmla="*/ 6 w 18"/>
                  <a:gd name="T19" fmla="*/ 0 h 29"/>
                  <a:gd name="T20" fmla="*/ 6 w 18"/>
                  <a:gd name="T21" fmla="*/ 5 h 29"/>
                  <a:gd name="T22" fmla="*/ 6 w 18"/>
                  <a:gd name="T23" fmla="*/ 5 h 29"/>
                  <a:gd name="T24" fmla="*/ 12 w 18"/>
                  <a:gd name="T25" fmla="*/ 11 h 29"/>
                  <a:gd name="T26" fmla="*/ 6 w 18"/>
                  <a:gd name="T27" fmla="*/ 0 h 2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8"/>
                  <a:gd name="T43" fmla="*/ 0 h 29"/>
                  <a:gd name="T44" fmla="*/ 18 w 18"/>
                  <a:gd name="T45" fmla="*/ 29 h 2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8" h="29">
                    <a:moveTo>
                      <a:pt x="6" y="5"/>
                    </a:moveTo>
                    <a:lnTo>
                      <a:pt x="0" y="5"/>
                    </a:lnTo>
                    <a:lnTo>
                      <a:pt x="6" y="5"/>
                    </a:lnTo>
                    <a:lnTo>
                      <a:pt x="0" y="29"/>
                    </a:lnTo>
                    <a:lnTo>
                      <a:pt x="12" y="29"/>
                    </a:lnTo>
                    <a:lnTo>
                      <a:pt x="18" y="29"/>
                    </a:lnTo>
                    <a:lnTo>
                      <a:pt x="18" y="23"/>
                    </a:lnTo>
                    <a:lnTo>
                      <a:pt x="6" y="5"/>
                    </a:lnTo>
                    <a:close/>
                    <a:moveTo>
                      <a:pt x="6" y="0"/>
                    </a:moveTo>
                    <a:lnTo>
                      <a:pt x="6" y="5"/>
                    </a:lnTo>
                    <a:lnTo>
                      <a:pt x="12" y="1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38" name="Freeform 105">
                <a:extLst>
                  <a:ext uri="{FF2B5EF4-FFF2-40B4-BE49-F238E27FC236}">
                    <a16:creationId xmlns:a16="http://schemas.microsoft.com/office/drawing/2014/main" id="{E58FC332-7BDD-0F54-D537-22C5845E5EC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73" y="2405"/>
                <a:ext cx="18" cy="30"/>
              </a:xfrm>
              <a:custGeom>
                <a:avLst/>
                <a:gdLst>
                  <a:gd name="T0" fmla="*/ 0 w 18"/>
                  <a:gd name="T1" fmla="*/ 6 h 30"/>
                  <a:gd name="T2" fmla="*/ 0 w 18"/>
                  <a:gd name="T3" fmla="*/ 6 h 30"/>
                  <a:gd name="T4" fmla="*/ 0 w 18"/>
                  <a:gd name="T5" fmla="*/ 6 h 30"/>
                  <a:gd name="T6" fmla="*/ 0 w 18"/>
                  <a:gd name="T7" fmla="*/ 6 h 30"/>
                  <a:gd name="T8" fmla="*/ 6 w 18"/>
                  <a:gd name="T9" fmla="*/ 6 h 30"/>
                  <a:gd name="T10" fmla="*/ 6 w 18"/>
                  <a:gd name="T11" fmla="*/ 30 h 30"/>
                  <a:gd name="T12" fmla="*/ 18 w 18"/>
                  <a:gd name="T13" fmla="*/ 24 h 30"/>
                  <a:gd name="T14" fmla="*/ 18 w 18"/>
                  <a:gd name="T15" fmla="*/ 18 h 30"/>
                  <a:gd name="T16" fmla="*/ 0 w 18"/>
                  <a:gd name="T17" fmla="*/ 6 h 30"/>
                  <a:gd name="T18" fmla="*/ 12 w 18"/>
                  <a:gd name="T19" fmla="*/ 0 h 30"/>
                  <a:gd name="T20" fmla="*/ 6 w 18"/>
                  <a:gd name="T21" fmla="*/ 0 h 30"/>
                  <a:gd name="T22" fmla="*/ 0 w 18"/>
                  <a:gd name="T23" fmla="*/ 6 h 30"/>
                  <a:gd name="T24" fmla="*/ 12 w 18"/>
                  <a:gd name="T25" fmla="*/ 12 h 30"/>
                  <a:gd name="T26" fmla="*/ 12 w 18"/>
                  <a:gd name="T27" fmla="*/ 0 h 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8"/>
                  <a:gd name="T43" fmla="*/ 0 h 30"/>
                  <a:gd name="T44" fmla="*/ 18 w 18"/>
                  <a:gd name="T45" fmla="*/ 30 h 3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8" h="30">
                    <a:moveTo>
                      <a:pt x="0" y="6"/>
                    </a:moveTo>
                    <a:lnTo>
                      <a:pt x="0" y="6"/>
                    </a:lnTo>
                    <a:lnTo>
                      <a:pt x="6" y="6"/>
                    </a:lnTo>
                    <a:lnTo>
                      <a:pt x="6" y="30"/>
                    </a:lnTo>
                    <a:lnTo>
                      <a:pt x="18" y="24"/>
                    </a:lnTo>
                    <a:lnTo>
                      <a:pt x="18" y="18"/>
                    </a:lnTo>
                    <a:lnTo>
                      <a:pt x="0" y="6"/>
                    </a:lnTo>
                    <a:close/>
                    <a:moveTo>
                      <a:pt x="12" y="0"/>
                    </a:moveTo>
                    <a:lnTo>
                      <a:pt x="6" y="0"/>
                    </a:lnTo>
                    <a:lnTo>
                      <a:pt x="0" y="6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39" name="Freeform 106">
                <a:extLst>
                  <a:ext uri="{FF2B5EF4-FFF2-40B4-BE49-F238E27FC236}">
                    <a16:creationId xmlns:a16="http://schemas.microsoft.com/office/drawing/2014/main" id="{9FE81B36-924B-F73E-2F11-632B2CE40C0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7" y="2411"/>
                <a:ext cx="12" cy="24"/>
              </a:xfrm>
              <a:custGeom>
                <a:avLst/>
                <a:gdLst>
                  <a:gd name="T0" fmla="*/ 6 w 12"/>
                  <a:gd name="T1" fmla="*/ 0 h 24"/>
                  <a:gd name="T2" fmla="*/ 6 w 12"/>
                  <a:gd name="T3" fmla="*/ 0 h 24"/>
                  <a:gd name="T4" fmla="*/ 0 w 12"/>
                  <a:gd name="T5" fmla="*/ 6 h 24"/>
                  <a:gd name="T6" fmla="*/ 6 w 12"/>
                  <a:gd name="T7" fmla="*/ 24 h 24"/>
                  <a:gd name="T8" fmla="*/ 12 w 12"/>
                  <a:gd name="T9" fmla="*/ 24 h 24"/>
                  <a:gd name="T10" fmla="*/ 12 w 12"/>
                  <a:gd name="T11" fmla="*/ 24 h 24"/>
                  <a:gd name="T12" fmla="*/ 6 w 12"/>
                  <a:gd name="T13" fmla="*/ 0 h 24"/>
                  <a:gd name="T14" fmla="*/ 12 w 12"/>
                  <a:gd name="T15" fmla="*/ 0 h 24"/>
                  <a:gd name="T16" fmla="*/ 6 w 12"/>
                  <a:gd name="T17" fmla="*/ 0 h 24"/>
                  <a:gd name="T18" fmla="*/ 6 w 12"/>
                  <a:gd name="T19" fmla="*/ 0 h 24"/>
                  <a:gd name="T20" fmla="*/ 12 w 12"/>
                  <a:gd name="T21" fmla="*/ 12 h 24"/>
                  <a:gd name="T22" fmla="*/ 12 w 12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4"/>
                  <a:gd name="T38" fmla="*/ 12 w 12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4">
                    <a:moveTo>
                      <a:pt x="6" y="0"/>
                    </a:moveTo>
                    <a:lnTo>
                      <a:pt x="6" y="0"/>
                    </a:lnTo>
                    <a:lnTo>
                      <a:pt x="0" y="6"/>
                    </a:lnTo>
                    <a:lnTo>
                      <a:pt x="6" y="24"/>
                    </a:lnTo>
                    <a:lnTo>
                      <a:pt x="12" y="24"/>
                    </a:lnTo>
                    <a:lnTo>
                      <a:pt x="6" y="0"/>
                    </a:lnTo>
                    <a:close/>
                    <a:moveTo>
                      <a:pt x="12" y="0"/>
                    </a:moveTo>
                    <a:lnTo>
                      <a:pt x="6" y="0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40" name="Freeform 107">
                <a:extLst>
                  <a:ext uri="{FF2B5EF4-FFF2-40B4-BE49-F238E27FC236}">
                    <a16:creationId xmlns:a16="http://schemas.microsoft.com/office/drawing/2014/main" id="{68FDD85E-EE04-8DDA-EF32-22F055EDFD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11"/>
                <a:ext cx="12" cy="24"/>
              </a:xfrm>
              <a:custGeom>
                <a:avLst/>
                <a:gdLst>
                  <a:gd name="T0" fmla="*/ 12 w 12"/>
                  <a:gd name="T1" fmla="*/ 0 h 24"/>
                  <a:gd name="T2" fmla="*/ 6 w 12"/>
                  <a:gd name="T3" fmla="*/ 0 h 24"/>
                  <a:gd name="T4" fmla="*/ 0 w 12"/>
                  <a:gd name="T5" fmla="*/ 0 h 24"/>
                  <a:gd name="T6" fmla="*/ 0 w 12"/>
                  <a:gd name="T7" fmla="*/ 24 h 24"/>
                  <a:gd name="T8" fmla="*/ 0 w 12"/>
                  <a:gd name="T9" fmla="*/ 24 h 24"/>
                  <a:gd name="T10" fmla="*/ 6 w 12"/>
                  <a:gd name="T11" fmla="*/ 24 h 24"/>
                  <a:gd name="T12" fmla="*/ 12 w 12"/>
                  <a:gd name="T13" fmla="*/ 24 h 24"/>
                  <a:gd name="T14" fmla="*/ 12 w 12"/>
                  <a:gd name="T15" fmla="*/ 24 h 24"/>
                  <a:gd name="T16" fmla="*/ 12 w 12"/>
                  <a:gd name="T17" fmla="*/ 0 h 24"/>
                  <a:gd name="T18" fmla="*/ 12 w 12"/>
                  <a:gd name="T19" fmla="*/ 24 h 24"/>
                  <a:gd name="T20" fmla="*/ 12 w 12"/>
                  <a:gd name="T21" fmla="*/ 24 h 24"/>
                  <a:gd name="T22" fmla="*/ 12 w 12"/>
                  <a:gd name="T23" fmla="*/ 24 h 24"/>
                  <a:gd name="T24" fmla="*/ 12 w 12"/>
                  <a:gd name="T25" fmla="*/ 12 h 24"/>
                  <a:gd name="T26" fmla="*/ 12 w 12"/>
                  <a:gd name="T27" fmla="*/ 24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2"/>
                  <a:gd name="T43" fmla="*/ 0 h 24"/>
                  <a:gd name="T44" fmla="*/ 12 w 12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2" h="24">
                    <a:moveTo>
                      <a:pt x="12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6" y="24"/>
                    </a:lnTo>
                    <a:lnTo>
                      <a:pt x="12" y="24"/>
                    </a:lnTo>
                    <a:lnTo>
                      <a:pt x="12" y="0"/>
                    </a:lnTo>
                    <a:close/>
                    <a:moveTo>
                      <a:pt x="12" y="24"/>
                    </a:moveTo>
                    <a:lnTo>
                      <a:pt x="12" y="24"/>
                    </a:lnTo>
                    <a:lnTo>
                      <a:pt x="12" y="12"/>
                    </a:lnTo>
                    <a:lnTo>
                      <a:pt x="12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41" name="Freeform 108">
                <a:extLst>
                  <a:ext uri="{FF2B5EF4-FFF2-40B4-BE49-F238E27FC236}">
                    <a16:creationId xmlns:a16="http://schemas.microsoft.com/office/drawing/2014/main" id="{784A5375-2C36-9A81-0730-77B2BC4C50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9" y="2411"/>
                <a:ext cx="24" cy="24"/>
              </a:xfrm>
              <a:custGeom>
                <a:avLst/>
                <a:gdLst>
                  <a:gd name="T0" fmla="*/ 0 w 24"/>
                  <a:gd name="T1" fmla="*/ 6 h 24"/>
                  <a:gd name="T2" fmla="*/ 0 w 24"/>
                  <a:gd name="T3" fmla="*/ 12 h 24"/>
                  <a:gd name="T4" fmla="*/ 18 w 24"/>
                  <a:gd name="T5" fmla="*/ 24 h 24"/>
                  <a:gd name="T6" fmla="*/ 24 w 24"/>
                  <a:gd name="T7" fmla="*/ 18 h 24"/>
                  <a:gd name="T8" fmla="*/ 0 w 24"/>
                  <a:gd name="T9" fmla="*/ 6 h 24"/>
                  <a:gd name="T10" fmla="*/ 12 w 24"/>
                  <a:gd name="T11" fmla="*/ 0 h 24"/>
                  <a:gd name="T12" fmla="*/ 6 w 24"/>
                  <a:gd name="T13" fmla="*/ 0 h 24"/>
                  <a:gd name="T14" fmla="*/ 0 w 24"/>
                  <a:gd name="T15" fmla="*/ 6 h 24"/>
                  <a:gd name="T16" fmla="*/ 12 w 24"/>
                  <a:gd name="T17" fmla="*/ 12 h 24"/>
                  <a:gd name="T18" fmla="*/ 12 w 24"/>
                  <a:gd name="T19" fmla="*/ 0 h 2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24"/>
                  <a:gd name="T32" fmla="*/ 24 w 24"/>
                  <a:gd name="T33" fmla="*/ 24 h 2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24">
                    <a:moveTo>
                      <a:pt x="0" y="6"/>
                    </a:moveTo>
                    <a:lnTo>
                      <a:pt x="0" y="12"/>
                    </a:lnTo>
                    <a:lnTo>
                      <a:pt x="18" y="24"/>
                    </a:lnTo>
                    <a:lnTo>
                      <a:pt x="24" y="18"/>
                    </a:lnTo>
                    <a:lnTo>
                      <a:pt x="0" y="6"/>
                    </a:lnTo>
                    <a:close/>
                    <a:moveTo>
                      <a:pt x="12" y="0"/>
                    </a:moveTo>
                    <a:lnTo>
                      <a:pt x="6" y="0"/>
                    </a:lnTo>
                    <a:lnTo>
                      <a:pt x="0" y="6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42" name="Freeform 109">
                <a:extLst>
                  <a:ext uri="{FF2B5EF4-FFF2-40B4-BE49-F238E27FC236}">
                    <a16:creationId xmlns:a16="http://schemas.microsoft.com/office/drawing/2014/main" id="{8A93ECC2-3404-656B-71EC-D165F0A835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" y="2423"/>
                <a:ext cx="18" cy="18"/>
              </a:xfrm>
              <a:custGeom>
                <a:avLst/>
                <a:gdLst>
                  <a:gd name="T0" fmla="*/ 12 w 18"/>
                  <a:gd name="T1" fmla="*/ 0 h 18"/>
                  <a:gd name="T2" fmla="*/ 0 w 18"/>
                  <a:gd name="T3" fmla="*/ 18 h 18"/>
                  <a:gd name="T4" fmla="*/ 18 w 18"/>
                  <a:gd name="T5" fmla="*/ 18 h 18"/>
                  <a:gd name="T6" fmla="*/ 18 w 18"/>
                  <a:gd name="T7" fmla="*/ 6 h 18"/>
                  <a:gd name="T8" fmla="*/ 12 w 18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8"/>
                  <a:gd name="T17" fmla="*/ 18 w 18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8">
                    <a:moveTo>
                      <a:pt x="12" y="0"/>
                    </a:moveTo>
                    <a:lnTo>
                      <a:pt x="0" y="18"/>
                    </a:lnTo>
                    <a:lnTo>
                      <a:pt x="18" y="18"/>
                    </a:lnTo>
                    <a:lnTo>
                      <a:pt x="18" y="6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43" name="Freeform 110">
                <a:extLst>
                  <a:ext uri="{FF2B5EF4-FFF2-40B4-BE49-F238E27FC236}">
                    <a16:creationId xmlns:a16="http://schemas.microsoft.com/office/drawing/2014/main" id="{9FCE1E66-DF0D-62D8-DC27-B88BC0E3B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5" y="2429"/>
                <a:ext cx="18" cy="30"/>
              </a:xfrm>
              <a:custGeom>
                <a:avLst/>
                <a:gdLst>
                  <a:gd name="T0" fmla="*/ 12 w 18"/>
                  <a:gd name="T1" fmla="*/ 6 h 30"/>
                  <a:gd name="T2" fmla="*/ 6 w 18"/>
                  <a:gd name="T3" fmla="*/ 12 h 30"/>
                  <a:gd name="T4" fmla="*/ 6 w 18"/>
                  <a:gd name="T5" fmla="*/ 18 h 30"/>
                  <a:gd name="T6" fmla="*/ 6 w 18"/>
                  <a:gd name="T7" fmla="*/ 18 h 30"/>
                  <a:gd name="T8" fmla="*/ 6 w 18"/>
                  <a:gd name="T9" fmla="*/ 24 h 30"/>
                  <a:gd name="T10" fmla="*/ 6 w 18"/>
                  <a:gd name="T11" fmla="*/ 24 h 30"/>
                  <a:gd name="T12" fmla="*/ 6 w 18"/>
                  <a:gd name="T13" fmla="*/ 30 h 30"/>
                  <a:gd name="T14" fmla="*/ 0 w 18"/>
                  <a:gd name="T15" fmla="*/ 30 h 30"/>
                  <a:gd name="T16" fmla="*/ 0 w 18"/>
                  <a:gd name="T17" fmla="*/ 30 h 30"/>
                  <a:gd name="T18" fmla="*/ 0 w 18"/>
                  <a:gd name="T19" fmla="*/ 24 h 30"/>
                  <a:gd name="T20" fmla="*/ 6 w 18"/>
                  <a:gd name="T21" fmla="*/ 24 h 30"/>
                  <a:gd name="T22" fmla="*/ 6 w 18"/>
                  <a:gd name="T23" fmla="*/ 18 h 30"/>
                  <a:gd name="T24" fmla="*/ 6 w 18"/>
                  <a:gd name="T25" fmla="*/ 18 h 30"/>
                  <a:gd name="T26" fmla="*/ 6 w 18"/>
                  <a:gd name="T27" fmla="*/ 12 h 30"/>
                  <a:gd name="T28" fmla="*/ 6 w 18"/>
                  <a:gd name="T29" fmla="*/ 12 h 30"/>
                  <a:gd name="T30" fmla="*/ 6 w 18"/>
                  <a:gd name="T31" fmla="*/ 6 h 30"/>
                  <a:gd name="T32" fmla="*/ 12 w 18"/>
                  <a:gd name="T33" fmla="*/ 6 h 30"/>
                  <a:gd name="T34" fmla="*/ 18 w 18"/>
                  <a:gd name="T35" fmla="*/ 0 h 30"/>
                  <a:gd name="T36" fmla="*/ 12 w 18"/>
                  <a:gd name="T37" fmla="*/ 6 h 30"/>
                  <a:gd name="T38" fmla="*/ 12 w 18"/>
                  <a:gd name="T39" fmla="*/ 6 h 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8"/>
                  <a:gd name="T61" fmla="*/ 0 h 30"/>
                  <a:gd name="T62" fmla="*/ 18 w 18"/>
                  <a:gd name="T63" fmla="*/ 30 h 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8" h="30">
                    <a:moveTo>
                      <a:pt x="12" y="6"/>
                    </a:moveTo>
                    <a:lnTo>
                      <a:pt x="6" y="12"/>
                    </a:lnTo>
                    <a:lnTo>
                      <a:pt x="6" y="18"/>
                    </a:lnTo>
                    <a:lnTo>
                      <a:pt x="6" y="24"/>
                    </a:lnTo>
                    <a:lnTo>
                      <a:pt x="6" y="30"/>
                    </a:lnTo>
                    <a:lnTo>
                      <a:pt x="0" y="30"/>
                    </a:lnTo>
                    <a:lnTo>
                      <a:pt x="0" y="24"/>
                    </a:lnTo>
                    <a:lnTo>
                      <a:pt x="6" y="24"/>
                    </a:lnTo>
                    <a:lnTo>
                      <a:pt x="6" y="18"/>
                    </a:lnTo>
                    <a:lnTo>
                      <a:pt x="6" y="12"/>
                    </a:lnTo>
                    <a:lnTo>
                      <a:pt x="6" y="6"/>
                    </a:lnTo>
                    <a:lnTo>
                      <a:pt x="12" y="6"/>
                    </a:lnTo>
                    <a:lnTo>
                      <a:pt x="18" y="0"/>
                    </a:lnTo>
                    <a:lnTo>
                      <a:pt x="12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44" name="Freeform 111">
                <a:extLst>
                  <a:ext uri="{FF2B5EF4-FFF2-40B4-BE49-F238E27FC236}">
                    <a16:creationId xmlns:a16="http://schemas.microsoft.com/office/drawing/2014/main" id="{1E102712-8A2C-7D7E-4490-D65A9758F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5" y="2423"/>
                <a:ext cx="18" cy="30"/>
              </a:xfrm>
              <a:custGeom>
                <a:avLst/>
                <a:gdLst>
                  <a:gd name="T0" fmla="*/ 6 w 18"/>
                  <a:gd name="T1" fmla="*/ 0 h 30"/>
                  <a:gd name="T2" fmla="*/ 0 w 18"/>
                  <a:gd name="T3" fmla="*/ 6 h 30"/>
                  <a:gd name="T4" fmla="*/ 12 w 18"/>
                  <a:gd name="T5" fmla="*/ 30 h 30"/>
                  <a:gd name="T6" fmla="*/ 18 w 18"/>
                  <a:gd name="T7" fmla="*/ 24 h 30"/>
                  <a:gd name="T8" fmla="*/ 6 w 18"/>
                  <a:gd name="T9" fmla="*/ 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30"/>
                  <a:gd name="T17" fmla="*/ 18 w 18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30">
                    <a:moveTo>
                      <a:pt x="6" y="0"/>
                    </a:moveTo>
                    <a:lnTo>
                      <a:pt x="0" y="6"/>
                    </a:lnTo>
                    <a:lnTo>
                      <a:pt x="12" y="30"/>
                    </a:lnTo>
                    <a:lnTo>
                      <a:pt x="18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45" name="Freeform 112">
                <a:extLst>
                  <a:ext uri="{FF2B5EF4-FFF2-40B4-BE49-F238E27FC236}">
                    <a16:creationId xmlns:a16="http://schemas.microsoft.com/office/drawing/2014/main" id="{AFAA2588-E0F7-0483-E2C4-BE30C9221E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429"/>
                <a:ext cx="30" cy="30"/>
              </a:xfrm>
              <a:custGeom>
                <a:avLst/>
                <a:gdLst>
                  <a:gd name="T0" fmla="*/ 0 w 30"/>
                  <a:gd name="T1" fmla="*/ 12 h 30"/>
                  <a:gd name="T2" fmla="*/ 0 w 30"/>
                  <a:gd name="T3" fmla="*/ 12 h 30"/>
                  <a:gd name="T4" fmla="*/ 0 w 30"/>
                  <a:gd name="T5" fmla="*/ 12 h 30"/>
                  <a:gd name="T6" fmla="*/ 6 w 30"/>
                  <a:gd name="T7" fmla="*/ 12 h 30"/>
                  <a:gd name="T8" fmla="*/ 12 w 30"/>
                  <a:gd name="T9" fmla="*/ 6 h 30"/>
                  <a:gd name="T10" fmla="*/ 18 w 30"/>
                  <a:gd name="T11" fmla="*/ 30 h 30"/>
                  <a:gd name="T12" fmla="*/ 24 w 30"/>
                  <a:gd name="T13" fmla="*/ 18 h 30"/>
                  <a:gd name="T14" fmla="*/ 30 w 30"/>
                  <a:gd name="T15" fmla="*/ 12 h 30"/>
                  <a:gd name="T16" fmla="*/ 24 w 30"/>
                  <a:gd name="T17" fmla="*/ 6 h 30"/>
                  <a:gd name="T18" fmla="*/ 0 w 30"/>
                  <a:gd name="T19" fmla="*/ 12 h 30"/>
                  <a:gd name="T20" fmla="*/ 6 w 30"/>
                  <a:gd name="T21" fmla="*/ 0 h 30"/>
                  <a:gd name="T22" fmla="*/ 0 w 30"/>
                  <a:gd name="T23" fmla="*/ 6 h 30"/>
                  <a:gd name="T24" fmla="*/ 0 w 30"/>
                  <a:gd name="T25" fmla="*/ 12 h 30"/>
                  <a:gd name="T26" fmla="*/ 12 w 30"/>
                  <a:gd name="T27" fmla="*/ 12 h 30"/>
                  <a:gd name="T28" fmla="*/ 6 w 30"/>
                  <a:gd name="T29" fmla="*/ 0 h 3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0"/>
                  <a:gd name="T46" fmla="*/ 0 h 30"/>
                  <a:gd name="T47" fmla="*/ 30 w 30"/>
                  <a:gd name="T48" fmla="*/ 30 h 3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0" h="30">
                    <a:moveTo>
                      <a:pt x="0" y="12"/>
                    </a:moveTo>
                    <a:lnTo>
                      <a:pt x="0" y="12"/>
                    </a:lnTo>
                    <a:lnTo>
                      <a:pt x="6" y="12"/>
                    </a:lnTo>
                    <a:lnTo>
                      <a:pt x="12" y="6"/>
                    </a:lnTo>
                    <a:lnTo>
                      <a:pt x="18" y="30"/>
                    </a:lnTo>
                    <a:lnTo>
                      <a:pt x="24" y="18"/>
                    </a:lnTo>
                    <a:lnTo>
                      <a:pt x="30" y="12"/>
                    </a:lnTo>
                    <a:lnTo>
                      <a:pt x="24" y="6"/>
                    </a:lnTo>
                    <a:lnTo>
                      <a:pt x="0" y="12"/>
                    </a:lnTo>
                    <a:close/>
                    <a:moveTo>
                      <a:pt x="6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2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46" name="Freeform 113">
                <a:extLst>
                  <a:ext uri="{FF2B5EF4-FFF2-40B4-BE49-F238E27FC236}">
                    <a16:creationId xmlns:a16="http://schemas.microsoft.com/office/drawing/2014/main" id="{63651B20-9C0A-A865-4D14-4BC03A31420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435"/>
                <a:ext cx="24" cy="30"/>
              </a:xfrm>
              <a:custGeom>
                <a:avLst/>
                <a:gdLst>
                  <a:gd name="T0" fmla="*/ 0 w 24"/>
                  <a:gd name="T1" fmla="*/ 12 h 30"/>
                  <a:gd name="T2" fmla="*/ 0 w 24"/>
                  <a:gd name="T3" fmla="*/ 12 h 30"/>
                  <a:gd name="T4" fmla="*/ 0 w 24"/>
                  <a:gd name="T5" fmla="*/ 12 h 30"/>
                  <a:gd name="T6" fmla="*/ 0 w 24"/>
                  <a:gd name="T7" fmla="*/ 12 h 30"/>
                  <a:gd name="T8" fmla="*/ 0 w 24"/>
                  <a:gd name="T9" fmla="*/ 12 h 30"/>
                  <a:gd name="T10" fmla="*/ 0 w 24"/>
                  <a:gd name="T11" fmla="*/ 12 h 30"/>
                  <a:gd name="T12" fmla="*/ 6 w 24"/>
                  <a:gd name="T13" fmla="*/ 30 h 30"/>
                  <a:gd name="T14" fmla="*/ 18 w 24"/>
                  <a:gd name="T15" fmla="*/ 24 h 30"/>
                  <a:gd name="T16" fmla="*/ 24 w 24"/>
                  <a:gd name="T17" fmla="*/ 18 h 30"/>
                  <a:gd name="T18" fmla="*/ 24 w 24"/>
                  <a:gd name="T19" fmla="*/ 18 h 30"/>
                  <a:gd name="T20" fmla="*/ 24 w 24"/>
                  <a:gd name="T21" fmla="*/ 12 h 30"/>
                  <a:gd name="T22" fmla="*/ 0 w 24"/>
                  <a:gd name="T23" fmla="*/ 12 h 30"/>
                  <a:gd name="T24" fmla="*/ 12 w 24"/>
                  <a:gd name="T25" fmla="*/ 0 h 30"/>
                  <a:gd name="T26" fmla="*/ 0 w 24"/>
                  <a:gd name="T27" fmla="*/ 0 h 30"/>
                  <a:gd name="T28" fmla="*/ 0 w 24"/>
                  <a:gd name="T29" fmla="*/ 12 h 30"/>
                  <a:gd name="T30" fmla="*/ 12 w 24"/>
                  <a:gd name="T31" fmla="*/ 12 h 30"/>
                  <a:gd name="T32" fmla="*/ 12 w 24"/>
                  <a:gd name="T33" fmla="*/ 0 h 3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4"/>
                  <a:gd name="T52" fmla="*/ 0 h 30"/>
                  <a:gd name="T53" fmla="*/ 24 w 24"/>
                  <a:gd name="T54" fmla="*/ 30 h 3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4" h="30">
                    <a:moveTo>
                      <a:pt x="0" y="12"/>
                    </a:moveTo>
                    <a:lnTo>
                      <a:pt x="0" y="12"/>
                    </a:lnTo>
                    <a:lnTo>
                      <a:pt x="6" y="30"/>
                    </a:lnTo>
                    <a:lnTo>
                      <a:pt x="18" y="24"/>
                    </a:lnTo>
                    <a:lnTo>
                      <a:pt x="24" y="18"/>
                    </a:lnTo>
                    <a:lnTo>
                      <a:pt x="24" y="12"/>
                    </a:lnTo>
                    <a:lnTo>
                      <a:pt x="0" y="12"/>
                    </a:lnTo>
                    <a:close/>
                    <a:moveTo>
                      <a:pt x="12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47" name="Freeform 114">
                <a:extLst>
                  <a:ext uri="{FF2B5EF4-FFF2-40B4-BE49-F238E27FC236}">
                    <a16:creationId xmlns:a16="http://schemas.microsoft.com/office/drawing/2014/main" id="{D6C12C9F-E377-0905-C817-C085FDC02C5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441"/>
                <a:ext cx="24" cy="24"/>
              </a:xfrm>
              <a:custGeom>
                <a:avLst/>
                <a:gdLst>
                  <a:gd name="T0" fmla="*/ 6 w 24"/>
                  <a:gd name="T1" fmla="*/ 6 h 24"/>
                  <a:gd name="T2" fmla="*/ 6 w 24"/>
                  <a:gd name="T3" fmla="*/ 12 h 24"/>
                  <a:gd name="T4" fmla="*/ 0 w 24"/>
                  <a:gd name="T5" fmla="*/ 12 h 24"/>
                  <a:gd name="T6" fmla="*/ 24 w 24"/>
                  <a:gd name="T7" fmla="*/ 24 h 24"/>
                  <a:gd name="T8" fmla="*/ 24 w 24"/>
                  <a:gd name="T9" fmla="*/ 24 h 24"/>
                  <a:gd name="T10" fmla="*/ 24 w 24"/>
                  <a:gd name="T11" fmla="*/ 18 h 24"/>
                  <a:gd name="T12" fmla="*/ 6 w 24"/>
                  <a:gd name="T13" fmla="*/ 6 h 24"/>
                  <a:gd name="T14" fmla="*/ 24 w 24"/>
                  <a:gd name="T15" fmla="*/ 0 h 24"/>
                  <a:gd name="T16" fmla="*/ 12 w 24"/>
                  <a:gd name="T17" fmla="*/ 0 h 24"/>
                  <a:gd name="T18" fmla="*/ 6 w 24"/>
                  <a:gd name="T19" fmla="*/ 6 h 24"/>
                  <a:gd name="T20" fmla="*/ 18 w 24"/>
                  <a:gd name="T21" fmla="*/ 12 h 24"/>
                  <a:gd name="T22" fmla="*/ 24 w 24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6" y="6"/>
                    </a:moveTo>
                    <a:lnTo>
                      <a:pt x="6" y="12"/>
                    </a:lnTo>
                    <a:lnTo>
                      <a:pt x="0" y="12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6" y="6"/>
                    </a:lnTo>
                    <a:close/>
                    <a:moveTo>
                      <a:pt x="24" y="0"/>
                    </a:moveTo>
                    <a:lnTo>
                      <a:pt x="12" y="0"/>
                    </a:lnTo>
                    <a:lnTo>
                      <a:pt x="6" y="6"/>
                    </a:lnTo>
                    <a:lnTo>
                      <a:pt x="18" y="12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48" name="Freeform 115">
                <a:extLst>
                  <a:ext uri="{FF2B5EF4-FFF2-40B4-BE49-F238E27FC236}">
                    <a16:creationId xmlns:a16="http://schemas.microsoft.com/office/drawing/2014/main" id="{F658FD12-EDF2-4F3E-B8AE-02BBD5BB84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447"/>
                <a:ext cx="24" cy="18"/>
              </a:xfrm>
              <a:custGeom>
                <a:avLst/>
                <a:gdLst>
                  <a:gd name="T0" fmla="*/ 24 w 24"/>
                  <a:gd name="T1" fmla="*/ 12 h 18"/>
                  <a:gd name="T2" fmla="*/ 24 w 24"/>
                  <a:gd name="T3" fmla="*/ 12 h 18"/>
                  <a:gd name="T4" fmla="*/ 24 w 24"/>
                  <a:gd name="T5" fmla="*/ 12 h 18"/>
                  <a:gd name="T6" fmla="*/ 6 w 24"/>
                  <a:gd name="T7" fmla="*/ 0 h 18"/>
                  <a:gd name="T8" fmla="*/ 0 w 24"/>
                  <a:gd name="T9" fmla="*/ 6 h 18"/>
                  <a:gd name="T10" fmla="*/ 0 w 24"/>
                  <a:gd name="T11" fmla="*/ 12 h 18"/>
                  <a:gd name="T12" fmla="*/ 24 w 24"/>
                  <a:gd name="T13" fmla="*/ 12 h 18"/>
                  <a:gd name="T14" fmla="*/ 0 w 24"/>
                  <a:gd name="T15" fmla="*/ 6 h 18"/>
                  <a:gd name="T16" fmla="*/ 24 w 24"/>
                  <a:gd name="T17" fmla="*/ 12 h 18"/>
                  <a:gd name="T18" fmla="*/ 0 w 24"/>
                  <a:gd name="T19" fmla="*/ 12 h 18"/>
                  <a:gd name="T20" fmla="*/ 24 w 24"/>
                  <a:gd name="T21" fmla="*/ 18 h 18"/>
                  <a:gd name="T22" fmla="*/ 0 w 24"/>
                  <a:gd name="T23" fmla="*/ 6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18"/>
                  <a:gd name="T38" fmla="*/ 24 w 24"/>
                  <a:gd name="T39" fmla="*/ 18 h 1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18">
                    <a:moveTo>
                      <a:pt x="24" y="12"/>
                    </a:moveTo>
                    <a:lnTo>
                      <a:pt x="24" y="12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0" y="12"/>
                    </a:lnTo>
                    <a:lnTo>
                      <a:pt x="24" y="12"/>
                    </a:lnTo>
                    <a:close/>
                    <a:moveTo>
                      <a:pt x="0" y="6"/>
                    </a:moveTo>
                    <a:lnTo>
                      <a:pt x="24" y="12"/>
                    </a:lnTo>
                    <a:lnTo>
                      <a:pt x="0" y="12"/>
                    </a:lnTo>
                    <a:lnTo>
                      <a:pt x="24" y="1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49" name="Freeform 116">
                <a:extLst>
                  <a:ext uri="{FF2B5EF4-FFF2-40B4-BE49-F238E27FC236}">
                    <a16:creationId xmlns:a16="http://schemas.microsoft.com/office/drawing/2014/main" id="{C2CC0CEC-43BD-5574-9167-782C49DE26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441"/>
                <a:ext cx="24" cy="24"/>
              </a:xfrm>
              <a:custGeom>
                <a:avLst/>
                <a:gdLst>
                  <a:gd name="T0" fmla="*/ 12 w 24"/>
                  <a:gd name="T1" fmla="*/ 24 h 24"/>
                  <a:gd name="T2" fmla="*/ 18 w 24"/>
                  <a:gd name="T3" fmla="*/ 18 h 24"/>
                  <a:gd name="T4" fmla="*/ 24 w 24"/>
                  <a:gd name="T5" fmla="*/ 6 h 24"/>
                  <a:gd name="T6" fmla="*/ 0 w 24"/>
                  <a:gd name="T7" fmla="*/ 6 h 24"/>
                  <a:gd name="T8" fmla="*/ 0 w 24"/>
                  <a:gd name="T9" fmla="*/ 6 h 24"/>
                  <a:gd name="T10" fmla="*/ 0 w 24"/>
                  <a:gd name="T11" fmla="*/ 0 h 24"/>
                  <a:gd name="T12" fmla="*/ 12 w 24"/>
                  <a:gd name="T13" fmla="*/ 24 h 24"/>
                  <a:gd name="T14" fmla="*/ 0 w 24"/>
                  <a:gd name="T15" fmla="*/ 0 h 24"/>
                  <a:gd name="T16" fmla="*/ 0 w 24"/>
                  <a:gd name="T17" fmla="*/ 6 h 24"/>
                  <a:gd name="T18" fmla="*/ 0 w 24"/>
                  <a:gd name="T19" fmla="*/ 6 h 24"/>
                  <a:gd name="T20" fmla="*/ 6 w 24"/>
                  <a:gd name="T21" fmla="*/ 12 h 24"/>
                  <a:gd name="T22" fmla="*/ 0 w 24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12" y="24"/>
                    </a:moveTo>
                    <a:lnTo>
                      <a:pt x="18" y="18"/>
                    </a:lnTo>
                    <a:lnTo>
                      <a:pt x="24" y="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12" y="24"/>
                    </a:lnTo>
                    <a:close/>
                    <a:moveTo>
                      <a:pt x="0" y="0"/>
                    </a:moveTo>
                    <a:lnTo>
                      <a:pt x="0" y="6"/>
                    </a:lnTo>
                    <a:lnTo>
                      <a:pt x="6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50" name="Freeform 117">
                <a:extLst>
                  <a:ext uri="{FF2B5EF4-FFF2-40B4-BE49-F238E27FC236}">
                    <a16:creationId xmlns:a16="http://schemas.microsoft.com/office/drawing/2014/main" id="{7FB6FB57-2508-B71E-B9A6-04614B9D38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429"/>
                <a:ext cx="24" cy="24"/>
              </a:xfrm>
              <a:custGeom>
                <a:avLst/>
                <a:gdLst>
                  <a:gd name="T0" fmla="*/ 24 w 24"/>
                  <a:gd name="T1" fmla="*/ 24 h 24"/>
                  <a:gd name="T2" fmla="*/ 24 w 24"/>
                  <a:gd name="T3" fmla="*/ 12 h 24"/>
                  <a:gd name="T4" fmla="*/ 24 w 24"/>
                  <a:gd name="T5" fmla="*/ 6 h 24"/>
                  <a:gd name="T6" fmla="*/ 18 w 24"/>
                  <a:gd name="T7" fmla="*/ 0 h 24"/>
                  <a:gd name="T8" fmla="*/ 0 w 24"/>
                  <a:gd name="T9" fmla="*/ 18 h 24"/>
                  <a:gd name="T10" fmla="*/ 0 w 24"/>
                  <a:gd name="T11" fmla="*/ 18 h 24"/>
                  <a:gd name="T12" fmla="*/ 0 w 24"/>
                  <a:gd name="T13" fmla="*/ 12 h 24"/>
                  <a:gd name="T14" fmla="*/ 24 w 24"/>
                  <a:gd name="T15" fmla="*/ 24 h 24"/>
                  <a:gd name="T16" fmla="*/ 0 w 24"/>
                  <a:gd name="T17" fmla="*/ 12 h 24"/>
                  <a:gd name="T18" fmla="*/ 0 w 24"/>
                  <a:gd name="T19" fmla="*/ 18 h 24"/>
                  <a:gd name="T20" fmla="*/ 0 w 24"/>
                  <a:gd name="T21" fmla="*/ 18 h 24"/>
                  <a:gd name="T22" fmla="*/ 12 w 24"/>
                  <a:gd name="T23" fmla="*/ 18 h 24"/>
                  <a:gd name="T24" fmla="*/ 0 w 24"/>
                  <a:gd name="T25" fmla="*/ 12 h 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24"/>
                  <a:gd name="T41" fmla="*/ 24 w 24"/>
                  <a:gd name="T42" fmla="*/ 24 h 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24">
                    <a:moveTo>
                      <a:pt x="24" y="24"/>
                    </a:moveTo>
                    <a:lnTo>
                      <a:pt x="24" y="12"/>
                    </a:lnTo>
                    <a:lnTo>
                      <a:pt x="24" y="6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24" y="24"/>
                    </a:lnTo>
                    <a:close/>
                    <a:moveTo>
                      <a:pt x="0" y="12"/>
                    </a:moveTo>
                    <a:lnTo>
                      <a:pt x="0" y="18"/>
                    </a:lnTo>
                    <a:lnTo>
                      <a:pt x="12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51" name="Freeform 118">
                <a:extLst>
                  <a:ext uri="{FF2B5EF4-FFF2-40B4-BE49-F238E27FC236}">
                    <a16:creationId xmlns:a16="http://schemas.microsoft.com/office/drawing/2014/main" id="{26D47877-F0FB-8F7E-15C5-DD7F399489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423"/>
                <a:ext cx="18" cy="24"/>
              </a:xfrm>
              <a:custGeom>
                <a:avLst/>
                <a:gdLst>
                  <a:gd name="T0" fmla="*/ 18 w 18"/>
                  <a:gd name="T1" fmla="*/ 6 h 24"/>
                  <a:gd name="T2" fmla="*/ 18 w 18"/>
                  <a:gd name="T3" fmla="*/ 6 h 24"/>
                  <a:gd name="T4" fmla="*/ 18 w 18"/>
                  <a:gd name="T5" fmla="*/ 12 h 24"/>
                  <a:gd name="T6" fmla="*/ 18 w 18"/>
                  <a:gd name="T7" fmla="*/ 18 h 24"/>
                  <a:gd name="T8" fmla="*/ 18 w 18"/>
                  <a:gd name="T9" fmla="*/ 18 h 24"/>
                  <a:gd name="T10" fmla="*/ 6 w 18"/>
                  <a:gd name="T11" fmla="*/ 0 h 24"/>
                  <a:gd name="T12" fmla="*/ 0 w 18"/>
                  <a:gd name="T13" fmla="*/ 6 h 24"/>
                  <a:gd name="T14" fmla="*/ 0 w 18"/>
                  <a:gd name="T15" fmla="*/ 12 h 24"/>
                  <a:gd name="T16" fmla="*/ 0 w 18"/>
                  <a:gd name="T17" fmla="*/ 18 h 24"/>
                  <a:gd name="T18" fmla="*/ 0 w 18"/>
                  <a:gd name="T19" fmla="*/ 24 h 24"/>
                  <a:gd name="T20" fmla="*/ 18 w 18"/>
                  <a:gd name="T21" fmla="*/ 6 h 24"/>
                  <a:gd name="T22" fmla="*/ 18 w 18"/>
                  <a:gd name="T23" fmla="*/ 6 h 24"/>
                  <a:gd name="T24" fmla="*/ 18 w 18"/>
                  <a:gd name="T25" fmla="*/ 6 h 24"/>
                  <a:gd name="T26" fmla="*/ 18 w 18"/>
                  <a:gd name="T27" fmla="*/ 6 h 24"/>
                  <a:gd name="T28" fmla="*/ 12 w 18"/>
                  <a:gd name="T29" fmla="*/ 18 h 24"/>
                  <a:gd name="T30" fmla="*/ 18 w 18"/>
                  <a:gd name="T31" fmla="*/ 6 h 2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"/>
                  <a:gd name="T49" fmla="*/ 0 h 24"/>
                  <a:gd name="T50" fmla="*/ 18 w 18"/>
                  <a:gd name="T51" fmla="*/ 24 h 2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" h="24">
                    <a:moveTo>
                      <a:pt x="18" y="6"/>
                    </a:moveTo>
                    <a:lnTo>
                      <a:pt x="18" y="6"/>
                    </a:lnTo>
                    <a:lnTo>
                      <a:pt x="18" y="12"/>
                    </a:lnTo>
                    <a:lnTo>
                      <a:pt x="18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0" y="24"/>
                    </a:lnTo>
                    <a:lnTo>
                      <a:pt x="18" y="6"/>
                    </a:lnTo>
                    <a:close/>
                    <a:moveTo>
                      <a:pt x="18" y="6"/>
                    </a:moveTo>
                    <a:lnTo>
                      <a:pt x="18" y="6"/>
                    </a:lnTo>
                    <a:lnTo>
                      <a:pt x="12" y="18"/>
                    </a:lnTo>
                    <a:lnTo>
                      <a:pt x="18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52" name="Freeform 119">
                <a:extLst>
                  <a:ext uri="{FF2B5EF4-FFF2-40B4-BE49-F238E27FC236}">
                    <a16:creationId xmlns:a16="http://schemas.microsoft.com/office/drawing/2014/main" id="{2415CB1E-9886-CD81-8DF8-29A254C50E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25" y="2417"/>
                <a:ext cx="18" cy="24"/>
              </a:xfrm>
              <a:custGeom>
                <a:avLst/>
                <a:gdLst>
                  <a:gd name="T0" fmla="*/ 18 w 18"/>
                  <a:gd name="T1" fmla="*/ 24 h 24"/>
                  <a:gd name="T2" fmla="*/ 18 w 18"/>
                  <a:gd name="T3" fmla="*/ 24 h 24"/>
                  <a:gd name="T4" fmla="*/ 12 w 18"/>
                  <a:gd name="T5" fmla="*/ 24 h 24"/>
                  <a:gd name="T6" fmla="*/ 18 w 18"/>
                  <a:gd name="T7" fmla="*/ 0 h 24"/>
                  <a:gd name="T8" fmla="*/ 6 w 18"/>
                  <a:gd name="T9" fmla="*/ 6 h 24"/>
                  <a:gd name="T10" fmla="*/ 0 w 18"/>
                  <a:gd name="T11" fmla="*/ 6 h 24"/>
                  <a:gd name="T12" fmla="*/ 18 w 18"/>
                  <a:gd name="T13" fmla="*/ 24 h 24"/>
                  <a:gd name="T14" fmla="*/ 12 w 18"/>
                  <a:gd name="T15" fmla="*/ 24 h 24"/>
                  <a:gd name="T16" fmla="*/ 18 w 18"/>
                  <a:gd name="T17" fmla="*/ 24 h 24"/>
                  <a:gd name="T18" fmla="*/ 18 w 18"/>
                  <a:gd name="T19" fmla="*/ 24 h 24"/>
                  <a:gd name="T20" fmla="*/ 6 w 18"/>
                  <a:gd name="T21" fmla="*/ 18 h 24"/>
                  <a:gd name="T22" fmla="*/ 12 w 18"/>
                  <a:gd name="T23" fmla="*/ 24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24"/>
                  <a:gd name="T38" fmla="*/ 18 w 18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24">
                    <a:moveTo>
                      <a:pt x="18" y="24"/>
                    </a:moveTo>
                    <a:lnTo>
                      <a:pt x="18" y="24"/>
                    </a:lnTo>
                    <a:lnTo>
                      <a:pt x="12" y="24"/>
                    </a:lnTo>
                    <a:lnTo>
                      <a:pt x="18" y="0"/>
                    </a:lnTo>
                    <a:lnTo>
                      <a:pt x="6" y="6"/>
                    </a:lnTo>
                    <a:lnTo>
                      <a:pt x="0" y="6"/>
                    </a:lnTo>
                    <a:lnTo>
                      <a:pt x="18" y="24"/>
                    </a:lnTo>
                    <a:close/>
                    <a:moveTo>
                      <a:pt x="12" y="24"/>
                    </a:moveTo>
                    <a:lnTo>
                      <a:pt x="18" y="24"/>
                    </a:lnTo>
                    <a:lnTo>
                      <a:pt x="6" y="18"/>
                    </a:lnTo>
                    <a:lnTo>
                      <a:pt x="12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53" name="Freeform 120">
                <a:extLst>
                  <a:ext uri="{FF2B5EF4-FFF2-40B4-BE49-F238E27FC236}">
                    <a16:creationId xmlns:a16="http://schemas.microsoft.com/office/drawing/2014/main" id="{6625C0DA-5507-B041-F6A5-2C36FFAAAF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25" y="2417"/>
                <a:ext cx="30" cy="18"/>
              </a:xfrm>
              <a:custGeom>
                <a:avLst/>
                <a:gdLst>
                  <a:gd name="T0" fmla="*/ 6 w 30"/>
                  <a:gd name="T1" fmla="*/ 12 h 18"/>
                  <a:gd name="T2" fmla="*/ 0 w 30"/>
                  <a:gd name="T3" fmla="*/ 18 h 18"/>
                  <a:gd name="T4" fmla="*/ 24 w 30"/>
                  <a:gd name="T5" fmla="*/ 18 h 18"/>
                  <a:gd name="T6" fmla="*/ 30 w 30"/>
                  <a:gd name="T7" fmla="*/ 18 h 18"/>
                  <a:gd name="T8" fmla="*/ 6 w 30"/>
                  <a:gd name="T9" fmla="*/ 12 h 18"/>
                  <a:gd name="T10" fmla="*/ 30 w 30"/>
                  <a:gd name="T11" fmla="*/ 18 h 18"/>
                  <a:gd name="T12" fmla="*/ 30 w 30"/>
                  <a:gd name="T13" fmla="*/ 6 h 18"/>
                  <a:gd name="T14" fmla="*/ 18 w 30"/>
                  <a:gd name="T15" fmla="*/ 0 h 18"/>
                  <a:gd name="T16" fmla="*/ 18 w 30"/>
                  <a:gd name="T17" fmla="*/ 12 h 18"/>
                  <a:gd name="T18" fmla="*/ 30 w 30"/>
                  <a:gd name="T19" fmla="*/ 18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18"/>
                  <a:gd name="T32" fmla="*/ 30 w 30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18">
                    <a:moveTo>
                      <a:pt x="6" y="12"/>
                    </a:moveTo>
                    <a:lnTo>
                      <a:pt x="0" y="18"/>
                    </a:lnTo>
                    <a:lnTo>
                      <a:pt x="24" y="18"/>
                    </a:lnTo>
                    <a:lnTo>
                      <a:pt x="30" y="18"/>
                    </a:lnTo>
                    <a:lnTo>
                      <a:pt x="6" y="12"/>
                    </a:lnTo>
                    <a:close/>
                    <a:moveTo>
                      <a:pt x="30" y="18"/>
                    </a:moveTo>
                    <a:lnTo>
                      <a:pt x="30" y="6"/>
                    </a:lnTo>
                    <a:lnTo>
                      <a:pt x="18" y="0"/>
                    </a:lnTo>
                    <a:lnTo>
                      <a:pt x="18" y="12"/>
                    </a:lnTo>
                    <a:lnTo>
                      <a:pt x="30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54" name="Freeform 121">
                <a:extLst>
                  <a:ext uri="{FF2B5EF4-FFF2-40B4-BE49-F238E27FC236}">
                    <a16:creationId xmlns:a16="http://schemas.microsoft.com/office/drawing/2014/main" id="{96B0FEBB-F3B8-71BF-0124-D07EF245D7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" y="2435"/>
                <a:ext cx="12" cy="12"/>
              </a:xfrm>
              <a:custGeom>
                <a:avLst/>
                <a:gdLst>
                  <a:gd name="T0" fmla="*/ 6 w 12"/>
                  <a:gd name="T1" fmla="*/ 12 h 12"/>
                  <a:gd name="T2" fmla="*/ 12 w 12"/>
                  <a:gd name="T3" fmla="*/ 6 h 12"/>
                  <a:gd name="T4" fmla="*/ 12 w 12"/>
                  <a:gd name="T5" fmla="*/ 0 h 12"/>
                  <a:gd name="T6" fmla="*/ 0 w 12"/>
                  <a:gd name="T7" fmla="*/ 0 h 12"/>
                  <a:gd name="T8" fmla="*/ 6 w 12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6" y="12"/>
                    </a:moveTo>
                    <a:lnTo>
                      <a:pt x="12" y="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55" name="Freeform 122">
                <a:extLst>
                  <a:ext uri="{FF2B5EF4-FFF2-40B4-BE49-F238E27FC236}">
                    <a16:creationId xmlns:a16="http://schemas.microsoft.com/office/drawing/2014/main" id="{24B2D797-BDBF-035F-67AD-FAD6F14AC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" y="2370"/>
                <a:ext cx="30" cy="77"/>
              </a:xfrm>
              <a:custGeom>
                <a:avLst/>
                <a:gdLst>
                  <a:gd name="T0" fmla="*/ 12 w 30"/>
                  <a:gd name="T1" fmla="*/ 0 h 77"/>
                  <a:gd name="T2" fmla="*/ 6 w 30"/>
                  <a:gd name="T3" fmla="*/ 6 h 77"/>
                  <a:gd name="T4" fmla="*/ 6 w 30"/>
                  <a:gd name="T5" fmla="*/ 12 h 77"/>
                  <a:gd name="T6" fmla="*/ 0 w 30"/>
                  <a:gd name="T7" fmla="*/ 35 h 77"/>
                  <a:gd name="T8" fmla="*/ 6 w 30"/>
                  <a:gd name="T9" fmla="*/ 65 h 77"/>
                  <a:gd name="T10" fmla="*/ 6 w 30"/>
                  <a:gd name="T11" fmla="*/ 77 h 77"/>
                  <a:gd name="T12" fmla="*/ 12 w 30"/>
                  <a:gd name="T13" fmla="*/ 77 h 77"/>
                  <a:gd name="T14" fmla="*/ 18 w 30"/>
                  <a:gd name="T15" fmla="*/ 77 h 77"/>
                  <a:gd name="T16" fmla="*/ 24 w 30"/>
                  <a:gd name="T17" fmla="*/ 65 h 77"/>
                  <a:gd name="T18" fmla="*/ 30 w 30"/>
                  <a:gd name="T19" fmla="*/ 35 h 77"/>
                  <a:gd name="T20" fmla="*/ 24 w 30"/>
                  <a:gd name="T21" fmla="*/ 12 h 77"/>
                  <a:gd name="T22" fmla="*/ 18 w 30"/>
                  <a:gd name="T23" fmla="*/ 6 h 77"/>
                  <a:gd name="T24" fmla="*/ 12 w 30"/>
                  <a:gd name="T25" fmla="*/ 0 h 77"/>
                  <a:gd name="T26" fmla="*/ 12 w 30"/>
                  <a:gd name="T27" fmla="*/ 0 h 7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0"/>
                  <a:gd name="T43" fmla="*/ 0 h 77"/>
                  <a:gd name="T44" fmla="*/ 30 w 30"/>
                  <a:gd name="T45" fmla="*/ 77 h 7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0" h="77">
                    <a:moveTo>
                      <a:pt x="12" y="0"/>
                    </a:moveTo>
                    <a:lnTo>
                      <a:pt x="6" y="6"/>
                    </a:lnTo>
                    <a:lnTo>
                      <a:pt x="6" y="12"/>
                    </a:lnTo>
                    <a:lnTo>
                      <a:pt x="0" y="35"/>
                    </a:lnTo>
                    <a:lnTo>
                      <a:pt x="6" y="65"/>
                    </a:lnTo>
                    <a:lnTo>
                      <a:pt x="6" y="77"/>
                    </a:lnTo>
                    <a:lnTo>
                      <a:pt x="12" y="77"/>
                    </a:lnTo>
                    <a:lnTo>
                      <a:pt x="18" y="77"/>
                    </a:lnTo>
                    <a:lnTo>
                      <a:pt x="24" y="65"/>
                    </a:lnTo>
                    <a:lnTo>
                      <a:pt x="30" y="35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656" name="Freeform 123">
                <a:extLst>
                  <a:ext uri="{FF2B5EF4-FFF2-40B4-BE49-F238E27FC236}">
                    <a16:creationId xmlns:a16="http://schemas.microsoft.com/office/drawing/2014/main" id="{C20F5483-9F9E-7DAD-47C1-6829AAC25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5" y="2358"/>
                <a:ext cx="30" cy="47"/>
              </a:xfrm>
              <a:custGeom>
                <a:avLst/>
                <a:gdLst>
                  <a:gd name="T0" fmla="*/ 24 w 30"/>
                  <a:gd name="T1" fmla="*/ 0 h 47"/>
                  <a:gd name="T2" fmla="*/ 12 w 30"/>
                  <a:gd name="T3" fmla="*/ 6 h 47"/>
                  <a:gd name="T4" fmla="*/ 6 w 30"/>
                  <a:gd name="T5" fmla="*/ 18 h 47"/>
                  <a:gd name="T6" fmla="*/ 0 w 30"/>
                  <a:gd name="T7" fmla="*/ 47 h 47"/>
                  <a:gd name="T8" fmla="*/ 24 w 30"/>
                  <a:gd name="T9" fmla="*/ 47 h 47"/>
                  <a:gd name="T10" fmla="*/ 24 w 30"/>
                  <a:gd name="T11" fmla="*/ 36 h 47"/>
                  <a:gd name="T12" fmla="*/ 24 w 30"/>
                  <a:gd name="T13" fmla="*/ 30 h 47"/>
                  <a:gd name="T14" fmla="*/ 30 w 30"/>
                  <a:gd name="T15" fmla="*/ 24 h 47"/>
                  <a:gd name="T16" fmla="*/ 24 w 30"/>
                  <a:gd name="T17" fmla="*/ 24 h 47"/>
                  <a:gd name="T18" fmla="*/ 24 w 30"/>
                  <a:gd name="T19" fmla="*/ 0 h 4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47"/>
                  <a:gd name="T32" fmla="*/ 30 w 30"/>
                  <a:gd name="T33" fmla="*/ 47 h 4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47">
                    <a:moveTo>
                      <a:pt x="24" y="0"/>
                    </a:moveTo>
                    <a:lnTo>
                      <a:pt x="12" y="6"/>
                    </a:lnTo>
                    <a:lnTo>
                      <a:pt x="6" y="18"/>
                    </a:lnTo>
                    <a:lnTo>
                      <a:pt x="0" y="47"/>
                    </a:lnTo>
                    <a:lnTo>
                      <a:pt x="24" y="47"/>
                    </a:lnTo>
                    <a:lnTo>
                      <a:pt x="24" y="36"/>
                    </a:lnTo>
                    <a:lnTo>
                      <a:pt x="24" y="30"/>
                    </a:lnTo>
                    <a:lnTo>
                      <a:pt x="30" y="24"/>
                    </a:lnTo>
                    <a:lnTo>
                      <a:pt x="24" y="24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</p:grpSp>
        <p:sp>
          <p:nvSpPr>
            <p:cNvPr id="11476" name="Freeform 124">
              <a:extLst>
                <a:ext uri="{FF2B5EF4-FFF2-40B4-BE49-F238E27FC236}">
                  <a16:creationId xmlns:a16="http://schemas.microsoft.com/office/drawing/2014/main" id="{1CC23AEA-6D61-8EF5-A1F1-99D3F05CE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24" y="2386"/>
              <a:ext cx="30" cy="54"/>
            </a:xfrm>
            <a:custGeom>
              <a:avLst/>
              <a:gdLst>
                <a:gd name="T0" fmla="*/ 0 w 30"/>
                <a:gd name="T1" fmla="*/ 0 h 54"/>
                <a:gd name="T2" fmla="*/ 6 w 30"/>
                <a:gd name="T3" fmla="*/ 36 h 54"/>
                <a:gd name="T4" fmla="*/ 12 w 30"/>
                <a:gd name="T5" fmla="*/ 48 h 54"/>
                <a:gd name="T6" fmla="*/ 24 w 30"/>
                <a:gd name="T7" fmla="*/ 54 h 54"/>
                <a:gd name="T8" fmla="*/ 24 w 30"/>
                <a:gd name="T9" fmla="*/ 30 h 54"/>
                <a:gd name="T10" fmla="*/ 30 w 30"/>
                <a:gd name="T11" fmla="*/ 30 h 54"/>
                <a:gd name="T12" fmla="*/ 30 w 30"/>
                <a:gd name="T13" fmla="*/ 24 h 54"/>
                <a:gd name="T14" fmla="*/ 24 w 30"/>
                <a:gd name="T15" fmla="*/ 0 h 54"/>
                <a:gd name="T16" fmla="*/ 0 w 30"/>
                <a:gd name="T17" fmla="*/ 0 h 54"/>
                <a:gd name="T18" fmla="*/ 24 w 30"/>
                <a:gd name="T19" fmla="*/ 0 h 54"/>
                <a:gd name="T20" fmla="*/ 24 w 30"/>
                <a:gd name="T21" fmla="*/ 0 h 54"/>
                <a:gd name="T22" fmla="*/ 12 w 30"/>
                <a:gd name="T23" fmla="*/ 0 h 54"/>
                <a:gd name="T24" fmla="*/ 24 w 30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"/>
                <a:gd name="T40" fmla="*/ 0 h 54"/>
                <a:gd name="T41" fmla="*/ 30 w 30"/>
                <a:gd name="T42" fmla="*/ 54 h 5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" h="54">
                  <a:moveTo>
                    <a:pt x="0" y="0"/>
                  </a:moveTo>
                  <a:lnTo>
                    <a:pt x="6" y="36"/>
                  </a:lnTo>
                  <a:lnTo>
                    <a:pt x="12" y="48"/>
                  </a:lnTo>
                  <a:lnTo>
                    <a:pt x="24" y="54"/>
                  </a:lnTo>
                  <a:lnTo>
                    <a:pt x="24" y="30"/>
                  </a:lnTo>
                  <a:lnTo>
                    <a:pt x="30" y="30"/>
                  </a:lnTo>
                  <a:lnTo>
                    <a:pt x="30" y="24"/>
                  </a:lnTo>
                  <a:lnTo>
                    <a:pt x="24" y="0"/>
                  </a:lnTo>
                  <a:lnTo>
                    <a:pt x="0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lnTo>
                    <a:pt x="12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77" name="Freeform 125">
              <a:extLst>
                <a:ext uri="{FF2B5EF4-FFF2-40B4-BE49-F238E27FC236}">
                  <a16:creationId xmlns:a16="http://schemas.microsoft.com/office/drawing/2014/main" id="{01BF4782-3A2D-09B1-76D1-43C506A592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386"/>
              <a:ext cx="30" cy="54"/>
            </a:xfrm>
            <a:custGeom>
              <a:avLst/>
              <a:gdLst>
                <a:gd name="T0" fmla="*/ 0 w 30"/>
                <a:gd name="T1" fmla="*/ 54 h 54"/>
                <a:gd name="T2" fmla="*/ 12 w 30"/>
                <a:gd name="T3" fmla="*/ 48 h 54"/>
                <a:gd name="T4" fmla="*/ 24 w 30"/>
                <a:gd name="T5" fmla="*/ 36 h 54"/>
                <a:gd name="T6" fmla="*/ 30 w 30"/>
                <a:gd name="T7" fmla="*/ 0 h 54"/>
                <a:gd name="T8" fmla="*/ 6 w 30"/>
                <a:gd name="T9" fmla="*/ 0 h 54"/>
                <a:gd name="T10" fmla="*/ 0 w 30"/>
                <a:gd name="T11" fmla="*/ 24 h 54"/>
                <a:gd name="T12" fmla="*/ 0 w 30"/>
                <a:gd name="T13" fmla="*/ 30 h 54"/>
                <a:gd name="T14" fmla="*/ 0 w 30"/>
                <a:gd name="T15" fmla="*/ 30 h 54"/>
                <a:gd name="T16" fmla="*/ 0 w 30"/>
                <a:gd name="T17" fmla="*/ 54 h 54"/>
                <a:gd name="T18" fmla="*/ 0 w 30"/>
                <a:gd name="T19" fmla="*/ 30 h 54"/>
                <a:gd name="T20" fmla="*/ 0 w 30"/>
                <a:gd name="T21" fmla="*/ 30 h 54"/>
                <a:gd name="T22" fmla="*/ 0 w 30"/>
                <a:gd name="T23" fmla="*/ 42 h 54"/>
                <a:gd name="T24" fmla="*/ 0 w 30"/>
                <a:gd name="T25" fmla="*/ 3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"/>
                <a:gd name="T40" fmla="*/ 0 h 54"/>
                <a:gd name="T41" fmla="*/ 30 w 30"/>
                <a:gd name="T42" fmla="*/ 54 h 5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" h="54">
                  <a:moveTo>
                    <a:pt x="0" y="54"/>
                  </a:moveTo>
                  <a:lnTo>
                    <a:pt x="12" y="48"/>
                  </a:lnTo>
                  <a:lnTo>
                    <a:pt x="24" y="36"/>
                  </a:lnTo>
                  <a:lnTo>
                    <a:pt x="30" y="0"/>
                  </a:lnTo>
                  <a:lnTo>
                    <a:pt x="6" y="0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54"/>
                  </a:lnTo>
                  <a:close/>
                  <a:moveTo>
                    <a:pt x="0" y="30"/>
                  </a:moveTo>
                  <a:lnTo>
                    <a:pt x="0" y="30"/>
                  </a:lnTo>
                  <a:lnTo>
                    <a:pt x="0" y="42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78" name="Freeform 126">
              <a:extLst>
                <a:ext uri="{FF2B5EF4-FFF2-40B4-BE49-F238E27FC236}">
                  <a16:creationId xmlns:a16="http://schemas.microsoft.com/office/drawing/2014/main" id="{DD27EAD8-9BB7-F7F2-9817-2CE242884A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339"/>
              <a:ext cx="30" cy="47"/>
            </a:xfrm>
            <a:custGeom>
              <a:avLst/>
              <a:gdLst>
                <a:gd name="T0" fmla="*/ 30 w 30"/>
                <a:gd name="T1" fmla="*/ 47 h 47"/>
                <a:gd name="T2" fmla="*/ 24 w 30"/>
                <a:gd name="T3" fmla="*/ 18 h 47"/>
                <a:gd name="T4" fmla="*/ 12 w 30"/>
                <a:gd name="T5" fmla="*/ 6 h 47"/>
                <a:gd name="T6" fmla="*/ 0 w 30"/>
                <a:gd name="T7" fmla="*/ 0 h 47"/>
                <a:gd name="T8" fmla="*/ 0 w 30"/>
                <a:gd name="T9" fmla="*/ 24 h 47"/>
                <a:gd name="T10" fmla="*/ 0 w 30"/>
                <a:gd name="T11" fmla="*/ 24 h 47"/>
                <a:gd name="T12" fmla="*/ 0 w 30"/>
                <a:gd name="T13" fmla="*/ 30 h 47"/>
                <a:gd name="T14" fmla="*/ 6 w 30"/>
                <a:gd name="T15" fmla="*/ 47 h 47"/>
                <a:gd name="T16" fmla="*/ 30 w 30"/>
                <a:gd name="T17" fmla="*/ 47 h 47"/>
                <a:gd name="T18" fmla="*/ 6 w 30"/>
                <a:gd name="T19" fmla="*/ 47 h 47"/>
                <a:gd name="T20" fmla="*/ 6 w 30"/>
                <a:gd name="T21" fmla="*/ 47 h 47"/>
                <a:gd name="T22" fmla="*/ 18 w 30"/>
                <a:gd name="T23" fmla="*/ 47 h 47"/>
                <a:gd name="T24" fmla="*/ 6 w 30"/>
                <a:gd name="T25" fmla="*/ 47 h 4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"/>
                <a:gd name="T40" fmla="*/ 0 h 47"/>
                <a:gd name="T41" fmla="*/ 30 w 30"/>
                <a:gd name="T42" fmla="*/ 47 h 4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" h="47">
                  <a:moveTo>
                    <a:pt x="30" y="47"/>
                  </a:moveTo>
                  <a:lnTo>
                    <a:pt x="24" y="18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6" y="47"/>
                  </a:lnTo>
                  <a:lnTo>
                    <a:pt x="30" y="47"/>
                  </a:lnTo>
                  <a:close/>
                  <a:moveTo>
                    <a:pt x="6" y="47"/>
                  </a:moveTo>
                  <a:lnTo>
                    <a:pt x="6" y="47"/>
                  </a:lnTo>
                  <a:lnTo>
                    <a:pt x="18" y="47"/>
                  </a:lnTo>
                  <a:lnTo>
                    <a:pt x="6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79" name="Freeform 127">
              <a:extLst>
                <a:ext uri="{FF2B5EF4-FFF2-40B4-BE49-F238E27FC236}">
                  <a16:creationId xmlns:a16="http://schemas.microsoft.com/office/drawing/2014/main" id="{1BD97325-FDE9-0EFF-AB51-21F025419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51"/>
              <a:ext cx="1" cy="12"/>
            </a:xfrm>
            <a:custGeom>
              <a:avLst/>
              <a:gdLst>
                <a:gd name="T0" fmla="*/ 0 w 1"/>
                <a:gd name="T1" fmla="*/ 12 h 12"/>
                <a:gd name="T2" fmla="*/ 0 w 1"/>
                <a:gd name="T3" fmla="*/ 12 h 12"/>
                <a:gd name="T4" fmla="*/ 0 w 1"/>
                <a:gd name="T5" fmla="*/ 12 h 12"/>
                <a:gd name="T6" fmla="*/ 0 w 1"/>
                <a:gd name="T7" fmla="*/ 0 h 12"/>
                <a:gd name="T8" fmla="*/ 0 w 1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"/>
                <a:gd name="T16" fmla="*/ 0 h 12"/>
                <a:gd name="T17" fmla="*/ 1 w 1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" h="12">
                  <a:moveTo>
                    <a:pt x="0" y="12"/>
                  </a:moveTo>
                  <a:lnTo>
                    <a:pt x="0" y="12"/>
                  </a:ln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80" name="Freeform 128">
              <a:extLst>
                <a:ext uri="{FF2B5EF4-FFF2-40B4-BE49-F238E27FC236}">
                  <a16:creationId xmlns:a16="http://schemas.microsoft.com/office/drawing/2014/main" id="{F93F7B82-F90C-BBF1-EBC8-CAF119DBB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428"/>
              <a:ext cx="24" cy="12"/>
            </a:xfrm>
            <a:custGeom>
              <a:avLst/>
              <a:gdLst>
                <a:gd name="T0" fmla="*/ 6 w 24"/>
                <a:gd name="T1" fmla="*/ 0 h 12"/>
                <a:gd name="T2" fmla="*/ 6 w 24"/>
                <a:gd name="T3" fmla="*/ 6 h 12"/>
                <a:gd name="T4" fmla="*/ 0 w 24"/>
                <a:gd name="T5" fmla="*/ 6 h 12"/>
                <a:gd name="T6" fmla="*/ 6 w 24"/>
                <a:gd name="T7" fmla="*/ 12 h 12"/>
                <a:gd name="T8" fmla="*/ 6 w 24"/>
                <a:gd name="T9" fmla="*/ 12 h 12"/>
                <a:gd name="T10" fmla="*/ 18 w 24"/>
                <a:gd name="T11" fmla="*/ 12 h 12"/>
                <a:gd name="T12" fmla="*/ 24 w 24"/>
                <a:gd name="T13" fmla="*/ 12 h 12"/>
                <a:gd name="T14" fmla="*/ 24 w 24"/>
                <a:gd name="T15" fmla="*/ 6 h 12"/>
                <a:gd name="T16" fmla="*/ 24 w 24"/>
                <a:gd name="T17" fmla="*/ 6 h 12"/>
                <a:gd name="T18" fmla="*/ 18 w 24"/>
                <a:gd name="T19" fmla="*/ 0 h 12"/>
                <a:gd name="T20" fmla="*/ 6 w 24"/>
                <a:gd name="T21" fmla="*/ 0 h 12"/>
                <a:gd name="T22" fmla="*/ 6 w 24"/>
                <a:gd name="T23" fmla="*/ 0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4"/>
                <a:gd name="T37" fmla="*/ 0 h 12"/>
                <a:gd name="T38" fmla="*/ 24 w 24"/>
                <a:gd name="T39" fmla="*/ 12 h 1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4" h="12">
                  <a:moveTo>
                    <a:pt x="6" y="0"/>
                  </a:moveTo>
                  <a:lnTo>
                    <a:pt x="6" y="6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61AC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81" name="Freeform 129">
              <a:extLst>
                <a:ext uri="{FF2B5EF4-FFF2-40B4-BE49-F238E27FC236}">
                  <a16:creationId xmlns:a16="http://schemas.microsoft.com/office/drawing/2014/main" id="{98A874DE-F495-66E6-3A43-B3A9FD1BF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" y="2416"/>
              <a:ext cx="24" cy="24"/>
            </a:xfrm>
            <a:custGeom>
              <a:avLst/>
              <a:gdLst>
                <a:gd name="T0" fmla="*/ 18 w 24"/>
                <a:gd name="T1" fmla="*/ 0 h 24"/>
                <a:gd name="T2" fmla="*/ 6 w 24"/>
                <a:gd name="T3" fmla="*/ 6 h 24"/>
                <a:gd name="T4" fmla="*/ 0 w 24"/>
                <a:gd name="T5" fmla="*/ 18 h 24"/>
                <a:gd name="T6" fmla="*/ 24 w 24"/>
                <a:gd name="T7" fmla="*/ 18 h 24"/>
                <a:gd name="T8" fmla="*/ 24 w 24"/>
                <a:gd name="T9" fmla="*/ 24 h 24"/>
                <a:gd name="T10" fmla="*/ 18 w 24"/>
                <a:gd name="T11" fmla="*/ 24 h 24"/>
                <a:gd name="T12" fmla="*/ 18 w 24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18" y="0"/>
                  </a:moveTo>
                  <a:lnTo>
                    <a:pt x="6" y="6"/>
                  </a:lnTo>
                  <a:lnTo>
                    <a:pt x="0" y="18"/>
                  </a:lnTo>
                  <a:lnTo>
                    <a:pt x="24" y="18"/>
                  </a:lnTo>
                  <a:lnTo>
                    <a:pt x="24" y="24"/>
                  </a:lnTo>
                  <a:lnTo>
                    <a:pt x="18" y="2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82" name="Freeform 130">
              <a:extLst>
                <a:ext uri="{FF2B5EF4-FFF2-40B4-BE49-F238E27FC236}">
                  <a16:creationId xmlns:a16="http://schemas.microsoft.com/office/drawing/2014/main" id="{A8BEC90C-F8A1-EEF0-3AAC-83B1F87E89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24" y="2434"/>
              <a:ext cx="24" cy="18"/>
            </a:xfrm>
            <a:custGeom>
              <a:avLst/>
              <a:gdLst>
                <a:gd name="T0" fmla="*/ 0 w 24"/>
                <a:gd name="T1" fmla="*/ 0 h 18"/>
                <a:gd name="T2" fmla="*/ 6 w 24"/>
                <a:gd name="T3" fmla="*/ 12 h 18"/>
                <a:gd name="T4" fmla="*/ 18 w 24"/>
                <a:gd name="T5" fmla="*/ 18 h 18"/>
                <a:gd name="T6" fmla="*/ 24 w 24"/>
                <a:gd name="T7" fmla="*/ 0 h 18"/>
                <a:gd name="T8" fmla="*/ 24 w 24"/>
                <a:gd name="T9" fmla="*/ 0 h 18"/>
                <a:gd name="T10" fmla="*/ 0 w 24"/>
                <a:gd name="T11" fmla="*/ 0 h 18"/>
                <a:gd name="T12" fmla="*/ 24 w 24"/>
                <a:gd name="T13" fmla="*/ 0 h 18"/>
                <a:gd name="T14" fmla="*/ 24 w 24"/>
                <a:gd name="T15" fmla="*/ 0 h 18"/>
                <a:gd name="T16" fmla="*/ 12 w 24"/>
                <a:gd name="T17" fmla="*/ 0 h 18"/>
                <a:gd name="T18" fmla="*/ 24 w 24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18"/>
                <a:gd name="T32" fmla="*/ 24 w 24"/>
                <a:gd name="T33" fmla="*/ 18 h 1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18">
                  <a:moveTo>
                    <a:pt x="0" y="0"/>
                  </a:moveTo>
                  <a:lnTo>
                    <a:pt x="6" y="12"/>
                  </a:lnTo>
                  <a:lnTo>
                    <a:pt x="18" y="18"/>
                  </a:lnTo>
                  <a:lnTo>
                    <a:pt x="24" y="0"/>
                  </a:lnTo>
                  <a:lnTo>
                    <a:pt x="0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lnTo>
                    <a:pt x="12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83" name="Freeform 131">
              <a:extLst>
                <a:ext uri="{FF2B5EF4-FFF2-40B4-BE49-F238E27FC236}">
                  <a16:creationId xmlns:a16="http://schemas.microsoft.com/office/drawing/2014/main" id="{C6F27C73-E764-A0DE-8C4F-C981F4B785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2" y="2428"/>
              <a:ext cx="12" cy="24"/>
            </a:xfrm>
            <a:custGeom>
              <a:avLst/>
              <a:gdLst>
                <a:gd name="T0" fmla="*/ 0 w 12"/>
                <a:gd name="T1" fmla="*/ 24 h 24"/>
                <a:gd name="T2" fmla="*/ 12 w 12"/>
                <a:gd name="T3" fmla="*/ 24 h 24"/>
                <a:gd name="T4" fmla="*/ 12 w 12"/>
                <a:gd name="T5" fmla="*/ 0 h 24"/>
                <a:gd name="T6" fmla="*/ 0 w 12"/>
                <a:gd name="T7" fmla="*/ 0 h 24"/>
                <a:gd name="T8" fmla="*/ 0 w 12"/>
                <a:gd name="T9" fmla="*/ 24 h 24"/>
                <a:gd name="T10" fmla="*/ 0 w 12"/>
                <a:gd name="T11" fmla="*/ 24 h 24"/>
                <a:gd name="T12" fmla="*/ 0 w 12"/>
                <a:gd name="T13" fmla="*/ 24 h 24"/>
                <a:gd name="T14" fmla="*/ 0 w 12"/>
                <a:gd name="T15" fmla="*/ 24 h 24"/>
                <a:gd name="T16" fmla="*/ 0 w 12"/>
                <a:gd name="T17" fmla="*/ 12 h 24"/>
                <a:gd name="T18" fmla="*/ 0 w 12"/>
                <a:gd name="T19" fmla="*/ 24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"/>
                <a:gd name="T31" fmla="*/ 0 h 24"/>
                <a:gd name="T32" fmla="*/ 12 w 12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" h="24">
                  <a:moveTo>
                    <a:pt x="0" y="24"/>
                  </a:moveTo>
                  <a:lnTo>
                    <a:pt x="12" y="24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lnTo>
                    <a:pt x="0" y="12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84" name="Freeform 132">
              <a:extLst>
                <a:ext uri="{FF2B5EF4-FFF2-40B4-BE49-F238E27FC236}">
                  <a16:creationId xmlns:a16="http://schemas.microsoft.com/office/drawing/2014/main" id="{F957DB53-884F-251A-1460-7C5BEFB0C9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34"/>
              <a:ext cx="24" cy="18"/>
            </a:xfrm>
            <a:custGeom>
              <a:avLst/>
              <a:gdLst>
                <a:gd name="T0" fmla="*/ 12 w 24"/>
                <a:gd name="T1" fmla="*/ 18 h 18"/>
                <a:gd name="T2" fmla="*/ 18 w 24"/>
                <a:gd name="T3" fmla="*/ 12 h 18"/>
                <a:gd name="T4" fmla="*/ 24 w 24"/>
                <a:gd name="T5" fmla="*/ 0 h 18"/>
                <a:gd name="T6" fmla="*/ 0 w 24"/>
                <a:gd name="T7" fmla="*/ 0 h 18"/>
                <a:gd name="T8" fmla="*/ 6 w 24"/>
                <a:gd name="T9" fmla="*/ 0 h 18"/>
                <a:gd name="T10" fmla="*/ 6 w 24"/>
                <a:gd name="T11" fmla="*/ 0 h 18"/>
                <a:gd name="T12" fmla="*/ 12 w 24"/>
                <a:gd name="T13" fmla="*/ 18 h 18"/>
                <a:gd name="T14" fmla="*/ 6 w 24"/>
                <a:gd name="T15" fmla="*/ 18 h 18"/>
                <a:gd name="T16" fmla="*/ 12 w 24"/>
                <a:gd name="T17" fmla="*/ 18 h 18"/>
                <a:gd name="T18" fmla="*/ 12 w 24"/>
                <a:gd name="T19" fmla="*/ 18 h 18"/>
                <a:gd name="T20" fmla="*/ 6 w 24"/>
                <a:gd name="T21" fmla="*/ 6 h 18"/>
                <a:gd name="T22" fmla="*/ 6 w 24"/>
                <a:gd name="T23" fmla="*/ 18 h 1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4"/>
                <a:gd name="T37" fmla="*/ 0 h 18"/>
                <a:gd name="T38" fmla="*/ 24 w 24"/>
                <a:gd name="T39" fmla="*/ 18 h 1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4" h="18">
                  <a:moveTo>
                    <a:pt x="12" y="18"/>
                  </a:moveTo>
                  <a:lnTo>
                    <a:pt x="18" y="12"/>
                  </a:lnTo>
                  <a:lnTo>
                    <a:pt x="24" y="0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18"/>
                  </a:lnTo>
                  <a:close/>
                  <a:moveTo>
                    <a:pt x="6" y="18"/>
                  </a:moveTo>
                  <a:lnTo>
                    <a:pt x="12" y="18"/>
                  </a:lnTo>
                  <a:lnTo>
                    <a:pt x="6" y="6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85" name="Freeform 133">
              <a:extLst>
                <a:ext uri="{FF2B5EF4-FFF2-40B4-BE49-F238E27FC236}">
                  <a16:creationId xmlns:a16="http://schemas.microsoft.com/office/drawing/2014/main" id="{C09A55A6-42C5-09C4-5BB6-A86F4F9D12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16"/>
              <a:ext cx="24" cy="24"/>
            </a:xfrm>
            <a:custGeom>
              <a:avLst/>
              <a:gdLst>
                <a:gd name="T0" fmla="*/ 24 w 24"/>
                <a:gd name="T1" fmla="*/ 18 h 24"/>
                <a:gd name="T2" fmla="*/ 18 w 24"/>
                <a:gd name="T3" fmla="*/ 6 h 24"/>
                <a:gd name="T4" fmla="*/ 6 w 24"/>
                <a:gd name="T5" fmla="*/ 0 h 24"/>
                <a:gd name="T6" fmla="*/ 6 w 24"/>
                <a:gd name="T7" fmla="*/ 24 h 24"/>
                <a:gd name="T8" fmla="*/ 6 w 24"/>
                <a:gd name="T9" fmla="*/ 24 h 24"/>
                <a:gd name="T10" fmla="*/ 0 w 24"/>
                <a:gd name="T11" fmla="*/ 18 h 24"/>
                <a:gd name="T12" fmla="*/ 24 w 24"/>
                <a:gd name="T13" fmla="*/ 18 h 24"/>
                <a:gd name="T14" fmla="*/ 0 w 24"/>
                <a:gd name="T15" fmla="*/ 18 h 24"/>
                <a:gd name="T16" fmla="*/ 0 w 24"/>
                <a:gd name="T17" fmla="*/ 18 h 24"/>
                <a:gd name="T18" fmla="*/ 12 w 24"/>
                <a:gd name="T19" fmla="*/ 18 h 24"/>
                <a:gd name="T20" fmla="*/ 0 w 24"/>
                <a:gd name="T21" fmla="*/ 18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24"/>
                <a:gd name="T35" fmla="*/ 24 w 24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24">
                  <a:moveTo>
                    <a:pt x="24" y="18"/>
                  </a:moveTo>
                  <a:lnTo>
                    <a:pt x="18" y="6"/>
                  </a:lnTo>
                  <a:lnTo>
                    <a:pt x="6" y="0"/>
                  </a:lnTo>
                  <a:lnTo>
                    <a:pt x="6" y="24"/>
                  </a:lnTo>
                  <a:lnTo>
                    <a:pt x="0" y="18"/>
                  </a:lnTo>
                  <a:lnTo>
                    <a:pt x="24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lnTo>
                    <a:pt x="12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86" name="Freeform 134">
              <a:extLst>
                <a:ext uri="{FF2B5EF4-FFF2-40B4-BE49-F238E27FC236}">
                  <a16:creationId xmlns:a16="http://schemas.microsoft.com/office/drawing/2014/main" id="{9FF90C23-15F2-8125-2C06-88A7F4D05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2" y="2416"/>
              <a:ext cx="12" cy="24"/>
            </a:xfrm>
            <a:custGeom>
              <a:avLst/>
              <a:gdLst>
                <a:gd name="T0" fmla="*/ 12 w 12"/>
                <a:gd name="T1" fmla="*/ 0 h 24"/>
                <a:gd name="T2" fmla="*/ 0 w 12"/>
                <a:gd name="T3" fmla="*/ 0 h 24"/>
                <a:gd name="T4" fmla="*/ 0 w 12"/>
                <a:gd name="T5" fmla="*/ 24 h 24"/>
                <a:gd name="T6" fmla="*/ 12 w 12"/>
                <a:gd name="T7" fmla="*/ 24 h 24"/>
                <a:gd name="T8" fmla="*/ 12 w 12"/>
                <a:gd name="T9" fmla="*/ 0 h 24"/>
                <a:gd name="T10" fmla="*/ 12 w 12"/>
                <a:gd name="T11" fmla="*/ 24 h 24"/>
                <a:gd name="T12" fmla="*/ 12 w 12"/>
                <a:gd name="T13" fmla="*/ 24 h 24"/>
                <a:gd name="T14" fmla="*/ 12 w 12"/>
                <a:gd name="T15" fmla="*/ 12 h 24"/>
                <a:gd name="T16" fmla="*/ 12 w 12"/>
                <a:gd name="T17" fmla="*/ 24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"/>
                <a:gd name="T28" fmla="*/ 0 h 24"/>
                <a:gd name="T29" fmla="*/ 12 w 12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" h="24">
                  <a:moveTo>
                    <a:pt x="12" y="0"/>
                  </a:moveTo>
                  <a:lnTo>
                    <a:pt x="0" y="0"/>
                  </a:lnTo>
                  <a:lnTo>
                    <a:pt x="0" y="24"/>
                  </a:lnTo>
                  <a:lnTo>
                    <a:pt x="12" y="24"/>
                  </a:lnTo>
                  <a:lnTo>
                    <a:pt x="12" y="0"/>
                  </a:lnTo>
                  <a:close/>
                  <a:moveTo>
                    <a:pt x="12" y="24"/>
                  </a:moveTo>
                  <a:lnTo>
                    <a:pt x="12" y="24"/>
                  </a:lnTo>
                  <a:lnTo>
                    <a:pt x="12" y="12"/>
                  </a:lnTo>
                  <a:lnTo>
                    <a:pt x="12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87" name="Freeform 135">
              <a:extLst>
                <a:ext uri="{FF2B5EF4-FFF2-40B4-BE49-F238E27FC236}">
                  <a16:creationId xmlns:a16="http://schemas.microsoft.com/office/drawing/2014/main" id="{2DB7EE86-005B-7F1D-5E05-E55B016EC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428"/>
              <a:ext cx="1" cy="12"/>
            </a:xfrm>
            <a:custGeom>
              <a:avLst/>
              <a:gdLst>
                <a:gd name="T0" fmla="*/ 0 w 1"/>
                <a:gd name="T1" fmla="*/ 12 h 12"/>
                <a:gd name="T2" fmla="*/ 0 w 1"/>
                <a:gd name="T3" fmla="*/ 12 h 12"/>
                <a:gd name="T4" fmla="*/ 0 w 1"/>
                <a:gd name="T5" fmla="*/ 0 h 12"/>
                <a:gd name="T6" fmla="*/ 0 w 1"/>
                <a:gd name="T7" fmla="*/ 12 h 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12"/>
                <a:gd name="T14" fmla="*/ 1 w 1"/>
                <a:gd name="T15" fmla="*/ 12 h 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12">
                  <a:moveTo>
                    <a:pt x="0" y="12"/>
                  </a:moveTo>
                  <a:lnTo>
                    <a:pt x="0" y="12"/>
                  </a:ln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88" name="Freeform 136">
              <a:extLst>
                <a:ext uri="{FF2B5EF4-FFF2-40B4-BE49-F238E27FC236}">
                  <a16:creationId xmlns:a16="http://schemas.microsoft.com/office/drawing/2014/main" id="{2B7592BA-9CDB-64BD-2E21-AA479C36F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" y="2375"/>
              <a:ext cx="6" cy="35"/>
            </a:xfrm>
            <a:custGeom>
              <a:avLst/>
              <a:gdLst>
                <a:gd name="T0" fmla="*/ 6 w 6"/>
                <a:gd name="T1" fmla="*/ 0 h 35"/>
                <a:gd name="T2" fmla="*/ 0 w 6"/>
                <a:gd name="T3" fmla="*/ 11 h 35"/>
                <a:gd name="T4" fmla="*/ 0 w 6"/>
                <a:gd name="T5" fmla="*/ 23 h 35"/>
                <a:gd name="T6" fmla="*/ 6 w 6"/>
                <a:gd name="T7" fmla="*/ 29 h 35"/>
                <a:gd name="T8" fmla="*/ 6 w 6"/>
                <a:gd name="T9" fmla="*/ 35 h 35"/>
                <a:gd name="T10" fmla="*/ 6 w 6"/>
                <a:gd name="T11" fmla="*/ 0 h 35"/>
                <a:gd name="T12" fmla="*/ 6 w 6"/>
                <a:gd name="T13" fmla="*/ 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35"/>
                <a:gd name="T23" fmla="*/ 6 w 6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35">
                  <a:moveTo>
                    <a:pt x="6" y="0"/>
                  </a:moveTo>
                  <a:lnTo>
                    <a:pt x="0" y="11"/>
                  </a:lnTo>
                  <a:lnTo>
                    <a:pt x="0" y="23"/>
                  </a:lnTo>
                  <a:lnTo>
                    <a:pt x="6" y="29"/>
                  </a:lnTo>
                  <a:lnTo>
                    <a:pt x="6" y="3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2145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89" name="Freeform 137">
              <a:extLst>
                <a:ext uri="{FF2B5EF4-FFF2-40B4-BE49-F238E27FC236}">
                  <a16:creationId xmlns:a16="http://schemas.microsoft.com/office/drawing/2014/main" id="{0F9020B7-7C18-643C-5010-CE87D67B0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369"/>
              <a:ext cx="30" cy="47"/>
            </a:xfrm>
            <a:custGeom>
              <a:avLst/>
              <a:gdLst>
                <a:gd name="T0" fmla="*/ 12 w 30"/>
                <a:gd name="T1" fmla="*/ 0 h 47"/>
                <a:gd name="T2" fmla="*/ 6 w 30"/>
                <a:gd name="T3" fmla="*/ 17 h 47"/>
                <a:gd name="T4" fmla="*/ 0 w 30"/>
                <a:gd name="T5" fmla="*/ 35 h 47"/>
                <a:gd name="T6" fmla="*/ 6 w 30"/>
                <a:gd name="T7" fmla="*/ 41 h 47"/>
                <a:gd name="T8" fmla="*/ 6 w 30"/>
                <a:gd name="T9" fmla="*/ 47 h 47"/>
                <a:gd name="T10" fmla="*/ 30 w 30"/>
                <a:gd name="T11" fmla="*/ 41 h 47"/>
                <a:gd name="T12" fmla="*/ 30 w 30"/>
                <a:gd name="T13" fmla="*/ 35 h 47"/>
                <a:gd name="T14" fmla="*/ 30 w 30"/>
                <a:gd name="T15" fmla="*/ 29 h 47"/>
                <a:gd name="T16" fmla="*/ 30 w 30"/>
                <a:gd name="T17" fmla="*/ 23 h 47"/>
                <a:gd name="T18" fmla="*/ 30 w 30"/>
                <a:gd name="T19" fmla="*/ 17 h 47"/>
                <a:gd name="T20" fmla="*/ 12 w 30"/>
                <a:gd name="T21" fmla="*/ 0 h 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"/>
                <a:gd name="T34" fmla="*/ 0 h 47"/>
                <a:gd name="T35" fmla="*/ 30 w 30"/>
                <a:gd name="T36" fmla="*/ 47 h 4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" h="47">
                  <a:moveTo>
                    <a:pt x="12" y="0"/>
                  </a:moveTo>
                  <a:lnTo>
                    <a:pt x="6" y="17"/>
                  </a:lnTo>
                  <a:lnTo>
                    <a:pt x="0" y="35"/>
                  </a:lnTo>
                  <a:lnTo>
                    <a:pt x="6" y="41"/>
                  </a:lnTo>
                  <a:lnTo>
                    <a:pt x="6" y="47"/>
                  </a:lnTo>
                  <a:lnTo>
                    <a:pt x="30" y="41"/>
                  </a:lnTo>
                  <a:lnTo>
                    <a:pt x="30" y="35"/>
                  </a:lnTo>
                  <a:lnTo>
                    <a:pt x="30" y="29"/>
                  </a:lnTo>
                  <a:lnTo>
                    <a:pt x="30" y="23"/>
                  </a:lnTo>
                  <a:lnTo>
                    <a:pt x="30" y="1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90" name="Freeform 138">
              <a:extLst>
                <a:ext uri="{FF2B5EF4-FFF2-40B4-BE49-F238E27FC236}">
                  <a16:creationId xmlns:a16="http://schemas.microsoft.com/office/drawing/2014/main" id="{9DAB1B55-8EBB-D2B8-FB42-FB3641C8A8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375"/>
              <a:ext cx="24" cy="41"/>
            </a:xfrm>
            <a:custGeom>
              <a:avLst/>
              <a:gdLst>
                <a:gd name="T0" fmla="*/ 24 w 24"/>
                <a:gd name="T1" fmla="*/ 41 h 41"/>
                <a:gd name="T2" fmla="*/ 24 w 24"/>
                <a:gd name="T3" fmla="*/ 6 h 41"/>
                <a:gd name="T4" fmla="*/ 0 w 24"/>
                <a:gd name="T5" fmla="*/ 0 h 41"/>
                <a:gd name="T6" fmla="*/ 0 w 24"/>
                <a:gd name="T7" fmla="*/ 35 h 41"/>
                <a:gd name="T8" fmla="*/ 24 w 24"/>
                <a:gd name="T9" fmla="*/ 41 h 41"/>
                <a:gd name="T10" fmla="*/ 0 w 24"/>
                <a:gd name="T11" fmla="*/ 41 h 41"/>
                <a:gd name="T12" fmla="*/ 24 w 24"/>
                <a:gd name="T13" fmla="*/ 41 h 41"/>
                <a:gd name="T14" fmla="*/ 0 w 24"/>
                <a:gd name="T15" fmla="*/ 35 h 41"/>
                <a:gd name="T16" fmla="*/ 24 w 24"/>
                <a:gd name="T17" fmla="*/ 35 h 41"/>
                <a:gd name="T18" fmla="*/ 0 w 24"/>
                <a:gd name="T19" fmla="*/ 41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41"/>
                <a:gd name="T32" fmla="*/ 24 w 24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41">
                  <a:moveTo>
                    <a:pt x="24" y="41"/>
                  </a:moveTo>
                  <a:lnTo>
                    <a:pt x="24" y="6"/>
                  </a:lnTo>
                  <a:lnTo>
                    <a:pt x="0" y="0"/>
                  </a:lnTo>
                  <a:lnTo>
                    <a:pt x="0" y="35"/>
                  </a:lnTo>
                  <a:lnTo>
                    <a:pt x="24" y="41"/>
                  </a:lnTo>
                  <a:close/>
                  <a:moveTo>
                    <a:pt x="0" y="41"/>
                  </a:moveTo>
                  <a:lnTo>
                    <a:pt x="24" y="41"/>
                  </a:lnTo>
                  <a:lnTo>
                    <a:pt x="0" y="35"/>
                  </a:lnTo>
                  <a:lnTo>
                    <a:pt x="24" y="3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91" name="Freeform 139">
              <a:extLst>
                <a:ext uri="{FF2B5EF4-FFF2-40B4-BE49-F238E27FC236}">
                  <a16:creationId xmlns:a16="http://schemas.microsoft.com/office/drawing/2014/main" id="{0C0F30FE-9263-025E-0E78-128EF4A11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" y="2345"/>
              <a:ext cx="24" cy="36"/>
            </a:xfrm>
            <a:custGeom>
              <a:avLst/>
              <a:gdLst>
                <a:gd name="T0" fmla="*/ 18 w 24"/>
                <a:gd name="T1" fmla="*/ 36 h 36"/>
                <a:gd name="T2" fmla="*/ 24 w 24"/>
                <a:gd name="T3" fmla="*/ 0 h 36"/>
                <a:gd name="T4" fmla="*/ 0 w 24"/>
                <a:gd name="T5" fmla="*/ 24 h 36"/>
                <a:gd name="T6" fmla="*/ 6 w 24"/>
                <a:gd name="T7" fmla="*/ 30 h 36"/>
                <a:gd name="T8" fmla="*/ 18 w 24"/>
                <a:gd name="T9" fmla="*/ 36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36"/>
                <a:gd name="T17" fmla="*/ 24 w 24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36">
                  <a:moveTo>
                    <a:pt x="18" y="36"/>
                  </a:moveTo>
                  <a:lnTo>
                    <a:pt x="24" y="0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18" y="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92" name="Line 140">
              <a:extLst>
                <a:ext uri="{FF2B5EF4-FFF2-40B4-BE49-F238E27FC236}">
                  <a16:creationId xmlns:a16="http://schemas.microsoft.com/office/drawing/2014/main" id="{394C6109-BD03-B76F-E41F-2201743111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4" y="2381"/>
              <a:ext cx="6" cy="23"/>
            </a:xfrm>
            <a:prstGeom prst="line">
              <a:avLst/>
            </a:prstGeom>
            <a:noFill/>
            <a:ln w="0">
              <a:solidFill>
                <a:srgbClr val="354A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93" name="Freeform 141">
              <a:extLst>
                <a:ext uri="{FF2B5EF4-FFF2-40B4-BE49-F238E27FC236}">
                  <a16:creationId xmlns:a16="http://schemas.microsoft.com/office/drawing/2014/main" id="{AA31DD61-4C9D-27B6-BBC2-CF2EB16F9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375"/>
              <a:ext cx="30" cy="29"/>
            </a:xfrm>
            <a:custGeom>
              <a:avLst/>
              <a:gdLst>
                <a:gd name="T0" fmla="*/ 24 w 30"/>
                <a:gd name="T1" fmla="*/ 29 h 29"/>
                <a:gd name="T2" fmla="*/ 30 w 30"/>
                <a:gd name="T3" fmla="*/ 6 h 29"/>
                <a:gd name="T4" fmla="*/ 6 w 30"/>
                <a:gd name="T5" fmla="*/ 0 h 29"/>
                <a:gd name="T6" fmla="*/ 0 w 30"/>
                <a:gd name="T7" fmla="*/ 23 h 29"/>
                <a:gd name="T8" fmla="*/ 24 w 30"/>
                <a:gd name="T9" fmla="*/ 2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29"/>
                <a:gd name="T17" fmla="*/ 30 w 30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29">
                  <a:moveTo>
                    <a:pt x="24" y="29"/>
                  </a:moveTo>
                  <a:lnTo>
                    <a:pt x="30" y="6"/>
                  </a:lnTo>
                  <a:lnTo>
                    <a:pt x="6" y="0"/>
                  </a:lnTo>
                  <a:lnTo>
                    <a:pt x="0" y="23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94" name="Freeform 142">
              <a:extLst>
                <a:ext uri="{FF2B5EF4-FFF2-40B4-BE49-F238E27FC236}">
                  <a16:creationId xmlns:a16="http://schemas.microsoft.com/office/drawing/2014/main" id="{90D3471A-FA97-8CB8-2A19-8CBA24211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1"/>
              <a:ext cx="24" cy="29"/>
            </a:xfrm>
            <a:custGeom>
              <a:avLst/>
              <a:gdLst>
                <a:gd name="T0" fmla="*/ 24 w 24"/>
                <a:gd name="T1" fmla="*/ 29 h 29"/>
                <a:gd name="T2" fmla="*/ 24 w 24"/>
                <a:gd name="T3" fmla="*/ 29 h 29"/>
                <a:gd name="T4" fmla="*/ 24 w 24"/>
                <a:gd name="T5" fmla="*/ 29 h 29"/>
                <a:gd name="T6" fmla="*/ 24 w 24"/>
                <a:gd name="T7" fmla="*/ 23 h 29"/>
                <a:gd name="T8" fmla="*/ 24 w 24"/>
                <a:gd name="T9" fmla="*/ 23 h 29"/>
                <a:gd name="T10" fmla="*/ 18 w 24"/>
                <a:gd name="T11" fmla="*/ 0 h 29"/>
                <a:gd name="T12" fmla="*/ 6 w 24"/>
                <a:gd name="T13" fmla="*/ 11 h 29"/>
                <a:gd name="T14" fmla="*/ 6 w 24"/>
                <a:gd name="T15" fmla="*/ 17 h 29"/>
                <a:gd name="T16" fmla="*/ 6 w 24"/>
                <a:gd name="T17" fmla="*/ 29 h 29"/>
                <a:gd name="T18" fmla="*/ 0 w 24"/>
                <a:gd name="T19" fmla="*/ 29 h 29"/>
                <a:gd name="T20" fmla="*/ 24 w 24"/>
                <a:gd name="T21" fmla="*/ 29 h 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29"/>
                <a:gd name="T35" fmla="*/ 24 w 24"/>
                <a:gd name="T36" fmla="*/ 29 h 2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29">
                  <a:moveTo>
                    <a:pt x="24" y="29"/>
                  </a:moveTo>
                  <a:lnTo>
                    <a:pt x="24" y="29"/>
                  </a:lnTo>
                  <a:lnTo>
                    <a:pt x="24" y="23"/>
                  </a:lnTo>
                  <a:lnTo>
                    <a:pt x="18" y="0"/>
                  </a:lnTo>
                  <a:lnTo>
                    <a:pt x="6" y="11"/>
                  </a:lnTo>
                  <a:lnTo>
                    <a:pt x="6" y="17"/>
                  </a:lnTo>
                  <a:lnTo>
                    <a:pt x="6" y="29"/>
                  </a:lnTo>
                  <a:lnTo>
                    <a:pt x="0" y="29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95" name="Freeform 143">
              <a:extLst>
                <a:ext uri="{FF2B5EF4-FFF2-40B4-BE49-F238E27FC236}">
                  <a16:creationId xmlns:a16="http://schemas.microsoft.com/office/drawing/2014/main" id="{4E4D5F2E-E45B-51F3-8D8E-53707E7B7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1"/>
              <a:ext cx="6" cy="29"/>
            </a:xfrm>
            <a:custGeom>
              <a:avLst/>
              <a:gdLst>
                <a:gd name="T0" fmla="*/ 0 w 6"/>
                <a:gd name="T1" fmla="*/ 0 h 29"/>
                <a:gd name="T2" fmla="*/ 6 w 6"/>
                <a:gd name="T3" fmla="*/ 11 h 29"/>
                <a:gd name="T4" fmla="*/ 6 w 6"/>
                <a:gd name="T5" fmla="*/ 17 h 29"/>
                <a:gd name="T6" fmla="*/ 0 w 6"/>
                <a:gd name="T7" fmla="*/ 29 h 29"/>
                <a:gd name="T8" fmla="*/ 0 w 6"/>
                <a:gd name="T9" fmla="*/ 29 h 29"/>
                <a:gd name="T10" fmla="*/ 0 w 6"/>
                <a:gd name="T11" fmla="*/ 0 h 29"/>
                <a:gd name="T12" fmla="*/ 0 w 6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29"/>
                <a:gd name="T23" fmla="*/ 6 w 6"/>
                <a:gd name="T24" fmla="*/ 29 h 2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29">
                  <a:moveTo>
                    <a:pt x="0" y="0"/>
                  </a:moveTo>
                  <a:lnTo>
                    <a:pt x="6" y="11"/>
                  </a:lnTo>
                  <a:lnTo>
                    <a:pt x="6" y="17"/>
                  </a:lnTo>
                  <a:lnTo>
                    <a:pt x="0" y="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45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96" name="Freeform 144">
              <a:extLst>
                <a:ext uri="{FF2B5EF4-FFF2-40B4-BE49-F238E27FC236}">
                  <a16:creationId xmlns:a16="http://schemas.microsoft.com/office/drawing/2014/main" id="{6EF7F7D1-DDC8-BD14-8799-FADFCA8FC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369"/>
              <a:ext cx="24" cy="47"/>
            </a:xfrm>
            <a:custGeom>
              <a:avLst/>
              <a:gdLst>
                <a:gd name="T0" fmla="*/ 0 w 24"/>
                <a:gd name="T1" fmla="*/ 17 h 47"/>
                <a:gd name="T2" fmla="*/ 0 w 24"/>
                <a:gd name="T3" fmla="*/ 23 h 47"/>
                <a:gd name="T4" fmla="*/ 0 w 24"/>
                <a:gd name="T5" fmla="*/ 29 h 47"/>
                <a:gd name="T6" fmla="*/ 0 w 24"/>
                <a:gd name="T7" fmla="*/ 35 h 47"/>
                <a:gd name="T8" fmla="*/ 0 w 24"/>
                <a:gd name="T9" fmla="*/ 41 h 47"/>
                <a:gd name="T10" fmla="*/ 18 w 24"/>
                <a:gd name="T11" fmla="*/ 47 h 47"/>
                <a:gd name="T12" fmla="*/ 18 w 24"/>
                <a:gd name="T13" fmla="*/ 41 h 47"/>
                <a:gd name="T14" fmla="*/ 24 w 24"/>
                <a:gd name="T15" fmla="*/ 35 h 47"/>
                <a:gd name="T16" fmla="*/ 18 w 24"/>
                <a:gd name="T17" fmla="*/ 17 h 47"/>
                <a:gd name="T18" fmla="*/ 12 w 24"/>
                <a:gd name="T19" fmla="*/ 0 h 47"/>
                <a:gd name="T20" fmla="*/ 0 w 24"/>
                <a:gd name="T21" fmla="*/ 17 h 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47"/>
                <a:gd name="T35" fmla="*/ 24 w 24"/>
                <a:gd name="T36" fmla="*/ 47 h 4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47">
                  <a:moveTo>
                    <a:pt x="0" y="17"/>
                  </a:moveTo>
                  <a:lnTo>
                    <a:pt x="0" y="23"/>
                  </a:lnTo>
                  <a:lnTo>
                    <a:pt x="0" y="29"/>
                  </a:lnTo>
                  <a:lnTo>
                    <a:pt x="0" y="35"/>
                  </a:lnTo>
                  <a:lnTo>
                    <a:pt x="0" y="41"/>
                  </a:lnTo>
                  <a:lnTo>
                    <a:pt x="18" y="47"/>
                  </a:lnTo>
                  <a:lnTo>
                    <a:pt x="18" y="41"/>
                  </a:lnTo>
                  <a:lnTo>
                    <a:pt x="24" y="35"/>
                  </a:lnTo>
                  <a:lnTo>
                    <a:pt x="18" y="17"/>
                  </a:lnTo>
                  <a:lnTo>
                    <a:pt x="12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97" name="Freeform 145">
              <a:extLst>
                <a:ext uri="{FF2B5EF4-FFF2-40B4-BE49-F238E27FC236}">
                  <a16:creationId xmlns:a16="http://schemas.microsoft.com/office/drawing/2014/main" id="{600C78C8-BBE9-CBCE-DF35-CE91592948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24" y="2375"/>
              <a:ext cx="24" cy="41"/>
            </a:xfrm>
            <a:custGeom>
              <a:avLst/>
              <a:gdLst>
                <a:gd name="T0" fmla="*/ 24 w 24"/>
                <a:gd name="T1" fmla="*/ 35 h 41"/>
                <a:gd name="T2" fmla="*/ 24 w 24"/>
                <a:gd name="T3" fmla="*/ 0 h 41"/>
                <a:gd name="T4" fmla="*/ 0 w 24"/>
                <a:gd name="T5" fmla="*/ 6 h 41"/>
                <a:gd name="T6" fmla="*/ 0 w 24"/>
                <a:gd name="T7" fmla="*/ 41 h 41"/>
                <a:gd name="T8" fmla="*/ 24 w 24"/>
                <a:gd name="T9" fmla="*/ 35 h 41"/>
                <a:gd name="T10" fmla="*/ 6 w 24"/>
                <a:gd name="T11" fmla="*/ 35 h 41"/>
                <a:gd name="T12" fmla="*/ 24 w 24"/>
                <a:gd name="T13" fmla="*/ 35 h 41"/>
                <a:gd name="T14" fmla="*/ 0 w 24"/>
                <a:gd name="T15" fmla="*/ 41 h 41"/>
                <a:gd name="T16" fmla="*/ 24 w 24"/>
                <a:gd name="T17" fmla="*/ 41 h 41"/>
                <a:gd name="T18" fmla="*/ 6 w 24"/>
                <a:gd name="T19" fmla="*/ 35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41"/>
                <a:gd name="T32" fmla="*/ 24 w 24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41">
                  <a:moveTo>
                    <a:pt x="24" y="35"/>
                  </a:moveTo>
                  <a:lnTo>
                    <a:pt x="24" y="0"/>
                  </a:lnTo>
                  <a:lnTo>
                    <a:pt x="0" y="6"/>
                  </a:lnTo>
                  <a:lnTo>
                    <a:pt x="0" y="41"/>
                  </a:lnTo>
                  <a:lnTo>
                    <a:pt x="24" y="35"/>
                  </a:lnTo>
                  <a:close/>
                  <a:moveTo>
                    <a:pt x="6" y="35"/>
                  </a:moveTo>
                  <a:lnTo>
                    <a:pt x="24" y="35"/>
                  </a:lnTo>
                  <a:lnTo>
                    <a:pt x="0" y="41"/>
                  </a:lnTo>
                  <a:lnTo>
                    <a:pt x="24" y="41"/>
                  </a:lnTo>
                  <a:lnTo>
                    <a:pt x="6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98" name="Freeform 146">
              <a:extLst>
                <a:ext uri="{FF2B5EF4-FFF2-40B4-BE49-F238E27FC236}">
                  <a16:creationId xmlns:a16="http://schemas.microsoft.com/office/drawing/2014/main" id="{6950FCE2-BC71-56B7-9511-E916F19FE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2345"/>
              <a:ext cx="24" cy="36"/>
            </a:xfrm>
            <a:custGeom>
              <a:avLst/>
              <a:gdLst>
                <a:gd name="T0" fmla="*/ 24 w 24"/>
                <a:gd name="T1" fmla="*/ 24 h 36"/>
                <a:gd name="T2" fmla="*/ 0 w 24"/>
                <a:gd name="T3" fmla="*/ 0 h 36"/>
                <a:gd name="T4" fmla="*/ 6 w 24"/>
                <a:gd name="T5" fmla="*/ 36 h 36"/>
                <a:gd name="T6" fmla="*/ 18 w 24"/>
                <a:gd name="T7" fmla="*/ 36 h 36"/>
                <a:gd name="T8" fmla="*/ 24 w 24"/>
                <a:gd name="T9" fmla="*/ 24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36"/>
                <a:gd name="T17" fmla="*/ 24 w 24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36">
                  <a:moveTo>
                    <a:pt x="24" y="24"/>
                  </a:moveTo>
                  <a:lnTo>
                    <a:pt x="0" y="0"/>
                  </a:lnTo>
                  <a:lnTo>
                    <a:pt x="6" y="36"/>
                  </a:lnTo>
                  <a:lnTo>
                    <a:pt x="18" y="36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499" name="Line 147">
              <a:extLst>
                <a:ext uri="{FF2B5EF4-FFF2-40B4-BE49-F238E27FC236}">
                  <a16:creationId xmlns:a16="http://schemas.microsoft.com/office/drawing/2014/main" id="{531CD023-76C1-AD49-23DC-E54001D77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36" y="2381"/>
              <a:ext cx="6" cy="23"/>
            </a:xfrm>
            <a:prstGeom prst="line">
              <a:avLst/>
            </a:prstGeom>
            <a:noFill/>
            <a:ln w="0">
              <a:solidFill>
                <a:srgbClr val="354A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00" name="Freeform 148">
              <a:extLst>
                <a:ext uri="{FF2B5EF4-FFF2-40B4-BE49-F238E27FC236}">
                  <a16:creationId xmlns:a16="http://schemas.microsoft.com/office/drawing/2014/main" id="{47EE6467-33D8-21D2-288E-89DABAC99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" y="2375"/>
              <a:ext cx="30" cy="29"/>
            </a:xfrm>
            <a:custGeom>
              <a:avLst/>
              <a:gdLst>
                <a:gd name="T0" fmla="*/ 30 w 30"/>
                <a:gd name="T1" fmla="*/ 23 h 29"/>
                <a:gd name="T2" fmla="*/ 24 w 30"/>
                <a:gd name="T3" fmla="*/ 0 h 29"/>
                <a:gd name="T4" fmla="*/ 0 w 30"/>
                <a:gd name="T5" fmla="*/ 6 h 29"/>
                <a:gd name="T6" fmla="*/ 6 w 30"/>
                <a:gd name="T7" fmla="*/ 29 h 29"/>
                <a:gd name="T8" fmla="*/ 30 w 30"/>
                <a:gd name="T9" fmla="*/ 23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29"/>
                <a:gd name="T17" fmla="*/ 30 w 30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29">
                  <a:moveTo>
                    <a:pt x="30" y="23"/>
                  </a:moveTo>
                  <a:lnTo>
                    <a:pt x="24" y="0"/>
                  </a:lnTo>
                  <a:lnTo>
                    <a:pt x="0" y="6"/>
                  </a:lnTo>
                  <a:lnTo>
                    <a:pt x="6" y="29"/>
                  </a:lnTo>
                  <a:lnTo>
                    <a:pt x="3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01" name="Freeform 149">
              <a:extLst>
                <a:ext uri="{FF2B5EF4-FFF2-40B4-BE49-F238E27FC236}">
                  <a16:creationId xmlns:a16="http://schemas.microsoft.com/office/drawing/2014/main" id="{D8D1F9C3-0C65-89FD-D429-B849238A8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1"/>
              <a:ext cx="24" cy="29"/>
            </a:xfrm>
            <a:custGeom>
              <a:avLst/>
              <a:gdLst>
                <a:gd name="T0" fmla="*/ 24 w 24"/>
                <a:gd name="T1" fmla="*/ 29 h 29"/>
                <a:gd name="T2" fmla="*/ 24 w 24"/>
                <a:gd name="T3" fmla="*/ 29 h 29"/>
                <a:gd name="T4" fmla="*/ 24 w 24"/>
                <a:gd name="T5" fmla="*/ 17 h 29"/>
                <a:gd name="T6" fmla="*/ 24 w 24"/>
                <a:gd name="T7" fmla="*/ 11 h 29"/>
                <a:gd name="T8" fmla="*/ 12 w 24"/>
                <a:gd name="T9" fmla="*/ 0 h 29"/>
                <a:gd name="T10" fmla="*/ 0 w 24"/>
                <a:gd name="T11" fmla="*/ 23 h 29"/>
                <a:gd name="T12" fmla="*/ 0 w 24"/>
                <a:gd name="T13" fmla="*/ 23 h 29"/>
                <a:gd name="T14" fmla="*/ 0 w 24"/>
                <a:gd name="T15" fmla="*/ 29 h 29"/>
                <a:gd name="T16" fmla="*/ 0 w 24"/>
                <a:gd name="T17" fmla="*/ 29 h 29"/>
                <a:gd name="T18" fmla="*/ 0 w 24"/>
                <a:gd name="T19" fmla="*/ 29 h 29"/>
                <a:gd name="T20" fmla="*/ 24 w 24"/>
                <a:gd name="T21" fmla="*/ 29 h 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29"/>
                <a:gd name="T35" fmla="*/ 24 w 24"/>
                <a:gd name="T36" fmla="*/ 29 h 2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29">
                  <a:moveTo>
                    <a:pt x="24" y="29"/>
                  </a:moveTo>
                  <a:lnTo>
                    <a:pt x="24" y="29"/>
                  </a:lnTo>
                  <a:lnTo>
                    <a:pt x="24" y="17"/>
                  </a:lnTo>
                  <a:lnTo>
                    <a:pt x="24" y="11"/>
                  </a:lnTo>
                  <a:lnTo>
                    <a:pt x="12" y="0"/>
                  </a:lnTo>
                  <a:lnTo>
                    <a:pt x="0" y="23"/>
                  </a:lnTo>
                  <a:lnTo>
                    <a:pt x="0" y="29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02" name="Freeform 150">
              <a:extLst>
                <a:ext uri="{FF2B5EF4-FFF2-40B4-BE49-F238E27FC236}">
                  <a16:creationId xmlns:a16="http://schemas.microsoft.com/office/drawing/2014/main" id="{D7AACD96-A49B-4778-0056-63ED51930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1"/>
              <a:ext cx="30" cy="23"/>
            </a:xfrm>
            <a:custGeom>
              <a:avLst/>
              <a:gdLst>
                <a:gd name="T0" fmla="*/ 30 w 30"/>
                <a:gd name="T1" fmla="*/ 5 h 23"/>
                <a:gd name="T2" fmla="*/ 30 w 30"/>
                <a:gd name="T3" fmla="*/ 5 h 23"/>
                <a:gd name="T4" fmla="*/ 18 w 30"/>
                <a:gd name="T5" fmla="*/ 0 h 23"/>
                <a:gd name="T6" fmla="*/ 12 w 30"/>
                <a:gd name="T7" fmla="*/ 0 h 23"/>
                <a:gd name="T8" fmla="*/ 0 w 30"/>
                <a:gd name="T9" fmla="*/ 5 h 23"/>
                <a:gd name="T10" fmla="*/ 18 w 30"/>
                <a:gd name="T11" fmla="*/ 23 h 23"/>
                <a:gd name="T12" fmla="*/ 12 w 30"/>
                <a:gd name="T13" fmla="*/ 23 h 23"/>
                <a:gd name="T14" fmla="*/ 6 w 30"/>
                <a:gd name="T15" fmla="*/ 23 h 23"/>
                <a:gd name="T16" fmla="*/ 30 w 30"/>
                <a:gd name="T17" fmla="*/ 5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3"/>
                <a:gd name="T29" fmla="*/ 30 w 30"/>
                <a:gd name="T30" fmla="*/ 23 h 2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3">
                  <a:moveTo>
                    <a:pt x="30" y="5"/>
                  </a:moveTo>
                  <a:lnTo>
                    <a:pt x="30" y="5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5"/>
                  </a:lnTo>
                  <a:lnTo>
                    <a:pt x="18" y="23"/>
                  </a:lnTo>
                  <a:lnTo>
                    <a:pt x="12" y="23"/>
                  </a:lnTo>
                  <a:lnTo>
                    <a:pt x="6" y="23"/>
                  </a:lnTo>
                  <a:lnTo>
                    <a:pt x="3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03" name="Freeform 151">
              <a:extLst>
                <a:ext uri="{FF2B5EF4-FFF2-40B4-BE49-F238E27FC236}">
                  <a16:creationId xmlns:a16="http://schemas.microsoft.com/office/drawing/2014/main" id="{B6A91264-781F-41F2-18B9-58041AC2A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69"/>
              <a:ext cx="30" cy="29"/>
            </a:xfrm>
            <a:custGeom>
              <a:avLst/>
              <a:gdLst>
                <a:gd name="T0" fmla="*/ 30 w 30"/>
                <a:gd name="T1" fmla="*/ 6 h 29"/>
                <a:gd name="T2" fmla="*/ 30 w 30"/>
                <a:gd name="T3" fmla="*/ 6 h 29"/>
                <a:gd name="T4" fmla="*/ 18 w 30"/>
                <a:gd name="T5" fmla="*/ 0 h 29"/>
                <a:gd name="T6" fmla="*/ 12 w 30"/>
                <a:gd name="T7" fmla="*/ 0 h 29"/>
                <a:gd name="T8" fmla="*/ 0 w 30"/>
                <a:gd name="T9" fmla="*/ 6 h 29"/>
                <a:gd name="T10" fmla="*/ 12 w 30"/>
                <a:gd name="T11" fmla="*/ 29 h 29"/>
                <a:gd name="T12" fmla="*/ 12 w 30"/>
                <a:gd name="T13" fmla="*/ 29 h 29"/>
                <a:gd name="T14" fmla="*/ 12 w 30"/>
                <a:gd name="T15" fmla="*/ 23 h 29"/>
                <a:gd name="T16" fmla="*/ 30 w 30"/>
                <a:gd name="T17" fmla="*/ 6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9"/>
                <a:gd name="T29" fmla="*/ 30 w 30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9">
                  <a:moveTo>
                    <a:pt x="30" y="6"/>
                  </a:moveTo>
                  <a:lnTo>
                    <a:pt x="30" y="6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12" y="29"/>
                  </a:lnTo>
                  <a:lnTo>
                    <a:pt x="12" y="23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04" name="Freeform 152">
              <a:extLst>
                <a:ext uri="{FF2B5EF4-FFF2-40B4-BE49-F238E27FC236}">
                  <a16:creationId xmlns:a16="http://schemas.microsoft.com/office/drawing/2014/main" id="{03573751-12C7-1227-2FE9-5D1A3F891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69"/>
              <a:ext cx="30" cy="23"/>
            </a:xfrm>
            <a:custGeom>
              <a:avLst/>
              <a:gdLst>
                <a:gd name="T0" fmla="*/ 30 w 30"/>
                <a:gd name="T1" fmla="*/ 0 h 23"/>
                <a:gd name="T2" fmla="*/ 30 w 30"/>
                <a:gd name="T3" fmla="*/ 0 h 23"/>
                <a:gd name="T4" fmla="*/ 18 w 30"/>
                <a:gd name="T5" fmla="*/ 0 h 23"/>
                <a:gd name="T6" fmla="*/ 0 w 30"/>
                <a:gd name="T7" fmla="*/ 0 h 23"/>
                <a:gd name="T8" fmla="*/ 6 w 30"/>
                <a:gd name="T9" fmla="*/ 23 h 23"/>
                <a:gd name="T10" fmla="*/ 12 w 30"/>
                <a:gd name="T11" fmla="*/ 23 h 23"/>
                <a:gd name="T12" fmla="*/ 18 w 30"/>
                <a:gd name="T13" fmla="*/ 23 h 23"/>
                <a:gd name="T14" fmla="*/ 30 w 30"/>
                <a:gd name="T15" fmla="*/ 0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"/>
                <a:gd name="T25" fmla="*/ 0 h 23"/>
                <a:gd name="T26" fmla="*/ 30 w 30"/>
                <a:gd name="T27" fmla="*/ 23 h 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" h="23">
                  <a:moveTo>
                    <a:pt x="30" y="0"/>
                  </a:moveTo>
                  <a:lnTo>
                    <a:pt x="30" y="0"/>
                  </a:lnTo>
                  <a:lnTo>
                    <a:pt x="18" y="0"/>
                  </a:lnTo>
                  <a:lnTo>
                    <a:pt x="0" y="0"/>
                  </a:lnTo>
                  <a:lnTo>
                    <a:pt x="6" y="23"/>
                  </a:lnTo>
                  <a:lnTo>
                    <a:pt x="12" y="23"/>
                  </a:lnTo>
                  <a:lnTo>
                    <a:pt x="18" y="23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05" name="Freeform 153">
              <a:extLst>
                <a:ext uri="{FF2B5EF4-FFF2-40B4-BE49-F238E27FC236}">
                  <a16:creationId xmlns:a16="http://schemas.microsoft.com/office/drawing/2014/main" id="{24D26DE4-02D1-CF88-B719-2A084C502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363"/>
              <a:ext cx="36" cy="23"/>
            </a:xfrm>
            <a:custGeom>
              <a:avLst/>
              <a:gdLst>
                <a:gd name="T0" fmla="*/ 36 w 36"/>
                <a:gd name="T1" fmla="*/ 6 h 23"/>
                <a:gd name="T2" fmla="*/ 36 w 36"/>
                <a:gd name="T3" fmla="*/ 6 h 23"/>
                <a:gd name="T4" fmla="*/ 24 w 36"/>
                <a:gd name="T5" fmla="*/ 0 h 23"/>
                <a:gd name="T6" fmla="*/ 12 w 36"/>
                <a:gd name="T7" fmla="*/ 0 h 23"/>
                <a:gd name="T8" fmla="*/ 0 w 36"/>
                <a:gd name="T9" fmla="*/ 6 h 23"/>
                <a:gd name="T10" fmla="*/ 12 w 36"/>
                <a:gd name="T11" fmla="*/ 23 h 23"/>
                <a:gd name="T12" fmla="*/ 18 w 36"/>
                <a:gd name="T13" fmla="*/ 23 h 23"/>
                <a:gd name="T14" fmla="*/ 24 w 36"/>
                <a:gd name="T15" fmla="*/ 23 h 23"/>
                <a:gd name="T16" fmla="*/ 36 w 36"/>
                <a:gd name="T17" fmla="*/ 6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"/>
                <a:gd name="T28" fmla="*/ 0 h 23"/>
                <a:gd name="T29" fmla="*/ 36 w 36"/>
                <a:gd name="T30" fmla="*/ 23 h 2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" h="23">
                  <a:moveTo>
                    <a:pt x="36" y="6"/>
                  </a:moveTo>
                  <a:lnTo>
                    <a:pt x="36" y="6"/>
                  </a:lnTo>
                  <a:lnTo>
                    <a:pt x="24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12" y="23"/>
                  </a:lnTo>
                  <a:lnTo>
                    <a:pt x="18" y="23"/>
                  </a:lnTo>
                  <a:lnTo>
                    <a:pt x="24" y="23"/>
                  </a:lnTo>
                  <a:lnTo>
                    <a:pt x="36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06" name="Freeform 154">
              <a:extLst>
                <a:ext uri="{FF2B5EF4-FFF2-40B4-BE49-F238E27FC236}">
                  <a16:creationId xmlns:a16="http://schemas.microsoft.com/office/drawing/2014/main" id="{6B810011-50C5-69B3-DA4E-BB254BA19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363"/>
              <a:ext cx="36" cy="23"/>
            </a:xfrm>
            <a:custGeom>
              <a:avLst/>
              <a:gdLst>
                <a:gd name="T0" fmla="*/ 36 w 36"/>
                <a:gd name="T1" fmla="*/ 0 h 23"/>
                <a:gd name="T2" fmla="*/ 30 w 36"/>
                <a:gd name="T3" fmla="*/ 0 h 23"/>
                <a:gd name="T4" fmla="*/ 0 w 36"/>
                <a:gd name="T5" fmla="*/ 0 h 23"/>
                <a:gd name="T6" fmla="*/ 12 w 36"/>
                <a:gd name="T7" fmla="*/ 23 h 23"/>
                <a:gd name="T8" fmla="*/ 24 w 36"/>
                <a:gd name="T9" fmla="*/ 23 h 23"/>
                <a:gd name="T10" fmla="*/ 24 w 36"/>
                <a:gd name="T11" fmla="*/ 23 h 23"/>
                <a:gd name="T12" fmla="*/ 24 w 36"/>
                <a:gd name="T13" fmla="*/ 23 h 23"/>
                <a:gd name="T14" fmla="*/ 36 w 36"/>
                <a:gd name="T15" fmla="*/ 0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6"/>
                <a:gd name="T25" fmla="*/ 0 h 23"/>
                <a:gd name="T26" fmla="*/ 36 w 36"/>
                <a:gd name="T27" fmla="*/ 23 h 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6" h="23">
                  <a:moveTo>
                    <a:pt x="36" y="0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12" y="23"/>
                  </a:lnTo>
                  <a:lnTo>
                    <a:pt x="24" y="23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07" name="Freeform 155">
              <a:extLst>
                <a:ext uri="{FF2B5EF4-FFF2-40B4-BE49-F238E27FC236}">
                  <a16:creationId xmlns:a16="http://schemas.microsoft.com/office/drawing/2014/main" id="{6FA237BF-81C8-D4D1-F61E-12A453522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57"/>
              <a:ext cx="30" cy="24"/>
            </a:xfrm>
            <a:custGeom>
              <a:avLst/>
              <a:gdLst>
                <a:gd name="T0" fmla="*/ 30 w 30"/>
                <a:gd name="T1" fmla="*/ 0 h 24"/>
                <a:gd name="T2" fmla="*/ 30 w 30"/>
                <a:gd name="T3" fmla="*/ 0 h 24"/>
                <a:gd name="T4" fmla="*/ 18 w 30"/>
                <a:gd name="T5" fmla="*/ 0 h 24"/>
                <a:gd name="T6" fmla="*/ 0 w 30"/>
                <a:gd name="T7" fmla="*/ 0 h 24"/>
                <a:gd name="T8" fmla="*/ 6 w 30"/>
                <a:gd name="T9" fmla="*/ 24 h 24"/>
                <a:gd name="T10" fmla="*/ 18 w 30"/>
                <a:gd name="T11" fmla="*/ 24 h 24"/>
                <a:gd name="T12" fmla="*/ 18 w 30"/>
                <a:gd name="T13" fmla="*/ 24 h 24"/>
                <a:gd name="T14" fmla="*/ 18 w 30"/>
                <a:gd name="T15" fmla="*/ 24 h 24"/>
                <a:gd name="T16" fmla="*/ 30 w 30"/>
                <a:gd name="T17" fmla="*/ 0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4"/>
                <a:gd name="T29" fmla="*/ 30 w 30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4">
                  <a:moveTo>
                    <a:pt x="30" y="0"/>
                  </a:moveTo>
                  <a:lnTo>
                    <a:pt x="30" y="0"/>
                  </a:lnTo>
                  <a:lnTo>
                    <a:pt x="18" y="0"/>
                  </a:lnTo>
                  <a:lnTo>
                    <a:pt x="0" y="0"/>
                  </a:lnTo>
                  <a:lnTo>
                    <a:pt x="6" y="24"/>
                  </a:lnTo>
                  <a:lnTo>
                    <a:pt x="18" y="24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08" name="Freeform 156">
              <a:extLst>
                <a:ext uri="{FF2B5EF4-FFF2-40B4-BE49-F238E27FC236}">
                  <a16:creationId xmlns:a16="http://schemas.microsoft.com/office/drawing/2014/main" id="{62816840-3D71-1CBB-D777-4139B0F30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51"/>
              <a:ext cx="24" cy="24"/>
            </a:xfrm>
            <a:custGeom>
              <a:avLst/>
              <a:gdLst>
                <a:gd name="T0" fmla="*/ 24 w 24"/>
                <a:gd name="T1" fmla="*/ 0 h 24"/>
                <a:gd name="T2" fmla="*/ 18 w 24"/>
                <a:gd name="T3" fmla="*/ 0 h 24"/>
                <a:gd name="T4" fmla="*/ 0 w 24"/>
                <a:gd name="T5" fmla="*/ 0 h 24"/>
                <a:gd name="T6" fmla="*/ 6 w 24"/>
                <a:gd name="T7" fmla="*/ 24 h 24"/>
                <a:gd name="T8" fmla="*/ 12 w 24"/>
                <a:gd name="T9" fmla="*/ 24 h 24"/>
                <a:gd name="T10" fmla="*/ 18 w 24"/>
                <a:gd name="T11" fmla="*/ 24 h 24"/>
                <a:gd name="T12" fmla="*/ 24 w 24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24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2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09" name="Freeform 157">
              <a:extLst>
                <a:ext uri="{FF2B5EF4-FFF2-40B4-BE49-F238E27FC236}">
                  <a16:creationId xmlns:a16="http://schemas.microsoft.com/office/drawing/2014/main" id="{5352BB73-FA82-8E22-CFA1-8497922E9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345"/>
              <a:ext cx="18" cy="24"/>
            </a:xfrm>
            <a:custGeom>
              <a:avLst/>
              <a:gdLst>
                <a:gd name="T0" fmla="*/ 18 w 18"/>
                <a:gd name="T1" fmla="*/ 0 h 24"/>
                <a:gd name="T2" fmla="*/ 12 w 18"/>
                <a:gd name="T3" fmla="*/ 0 h 24"/>
                <a:gd name="T4" fmla="*/ 0 w 18"/>
                <a:gd name="T5" fmla="*/ 0 h 24"/>
                <a:gd name="T6" fmla="*/ 6 w 18"/>
                <a:gd name="T7" fmla="*/ 24 h 24"/>
                <a:gd name="T8" fmla="*/ 12 w 18"/>
                <a:gd name="T9" fmla="*/ 24 h 24"/>
                <a:gd name="T10" fmla="*/ 12 w 18"/>
                <a:gd name="T11" fmla="*/ 24 h 24"/>
                <a:gd name="T12" fmla="*/ 18 w 18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24"/>
                <a:gd name="T23" fmla="*/ 18 w 18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24">
                  <a:moveTo>
                    <a:pt x="18" y="0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10" name="Freeform 158">
              <a:extLst>
                <a:ext uri="{FF2B5EF4-FFF2-40B4-BE49-F238E27FC236}">
                  <a16:creationId xmlns:a16="http://schemas.microsoft.com/office/drawing/2014/main" id="{2E853E8A-780B-CF0B-A37A-612C318E4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434"/>
              <a:ext cx="18" cy="6"/>
            </a:xfrm>
            <a:custGeom>
              <a:avLst/>
              <a:gdLst>
                <a:gd name="T0" fmla="*/ 0 w 18"/>
                <a:gd name="T1" fmla="*/ 0 h 6"/>
                <a:gd name="T2" fmla="*/ 0 w 18"/>
                <a:gd name="T3" fmla="*/ 6 h 6"/>
                <a:gd name="T4" fmla="*/ 0 w 18"/>
                <a:gd name="T5" fmla="*/ 6 h 6"/>
                <a:gd name="T6" fmla="*/ 6 w 18"/>
                <a:gd name="T7" fmla="*/ 6 h 6"/>
                <a:gd name="T8" fmla="*/ 6 w 18"/>
                <a:gd name="T9" fmla="*/ 6 h 6"/>
                <a:gd name="T10" fmla="*/ 6 w 18"/>
                <a:gd name="T11" fmla="*/ 6 h 6"/>
                <a:gd name="T12" fmla="*/ 6 w 18"/>
                <a:gd name="T13" fmla="*/ 6 h 6"/>
                <a:gd name="T14" fmla="*/ 12 w 18"/>
                <a:gd name="T15" fmla="*/ 6 h 6"/>
                <a:gd name="T16" fmla="*/ 12 w 18"/>
                <a:gd name="T17" fmla="*/ 6 h 6"/>
                <a:gd name="T18" fmla="*/ 18 w 18"/>
                <a:gd name="T19" fmla="*/ 6 h 6"/>
                <a:gd name="T20" fmla="*/ 18 w 18"/>
                <a:gd name="T21" fmla="*/ 6 h 6"/>
                <a:gd name="T22" fmla="*/ 6 w 18"/>
                <a:gd name="T23" fmla="*/ 6 h 6"/>
                <a:gd name="T24" fmla="*/ 6 w 18"/>
                <a:gd name="T25" fmla="*/ 0 h 6"/>
                <a:gd name="T26" fmla="*/ 0 w 18"/>
                <a:gd name="T27" fmla="*/ 0 h 6"/>
                <a:gd name="T28" fmla="*/ 0 w 18"/>
                <a:gd name="T29" fmla="*/ 0 h 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8"/>
                <a:gd name="T46" fmla="*/ 0 h 6"/>
                <a:gd name="T47" fmla="*/ 18 w 18"/>
                <a:gd name="T48" fmla="*/ 6 h 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8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6" y="6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45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11" name="Freeform 159">
              <a:extLst>
                <a:ext uri="{FF2B5EF4-FFF2-40B4-BE49-F238E27FC236}">
                  <a16:creationId xmlns:a16="http://schemas.microsoft.com/office/drawing/2014/main" id="{B97F3CBB-F08F-8A40-4DA6-7250F7AB2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428"/>
              <a:ext cx="24" cy="24"/>
            </a:xfrm>
            <a:custGeom>
              <a:avLst/>
              <a:gdLst>
                <a:gd name="T0" fmla="*/ 0 w 24"/>
                <a:gd name="T1" fmla="*/ 12 h 24"/>
                <a:gd name="T2" fmla="*/ 0 w 24"/>
                <a:gd name="T3" fmla="*/ 18 h 24"/>
                <a:gd name="T4" fmla="*/ 6 w 24"/>
                <a:gd name="T5" fmla="*/ 24 h 24"/>
                <a:gd name="T6" fmla="*/ 18 w 24"/>
                <a:gd name="T7" fmla="*/ 24 h 24"/>
                <a:gd name="T8" fmla="*/ 6 w 24"/>
                <a:gd name="T9" fmla="*/ 0 h 24"/>
                <a:gd name="T10" fmla="*/ 18 w 24"/>
                <a:gd name="T11" fmla="*/ 0 h 24"/>
                <a:gd name="T12" fmla="*/ 24 w 24"/>
                <a:gd name="T13" fmla="*/ 6 h 24"/>
                <a:gd name="T14" fmla="*/ 24 w 24"/>
                <a:gd name="T15" fmla="*/ 6 h 24"/>
                <a:gd name="T16" fmla="*/ 24 w 24"/>
                <a:gd name="T17" fmla="*/ 6 h 24"/>
                <a:gd name="T18" fmla="*/ 0 w 24"/>
                <a:gd name="T19" fmla="*/ 1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24"/>
                <a:gd name="T32" fmla="*/ 24 w 24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24">
                  <a:moveTo>
                    <a:pt x="0" y="12"/>
                  </a:moveTo>
                  <a:lnTo>
                    <a:pt x="0" y="18"/>
                  </a:lnTo>
                  <a:lnTo>
                    <a:pt x="6" y="24"/>
                  </a:lnTo>
                  <a:lnTo>
                    <a:pt x="18" y="24"/>
                  </a:lnTo>
                  <a:lnTo>
                    <a:pt x="6" y="0"/>
                  </a:lnTo>
                  <a:lnTo>
                    <a:pt x="18" y="0"/>
                  </a:lnTo>
                  <a:lnTo>
                    <a:pt x="24" y="6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12" name="Freeform 160">
              <a:extLst>
                <a:ext uri="{FF2B5EF4-FFF2-40B4-BE49-F238E27FC236}">
                  <a16:creationId xmlns:a16="http://schemas.microsoft.com/office/drawing/2014/main" id="{F72A6B5C-EF52-E17E-1C28-5711681C5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6" y="2428"/>
              <a:ext cx="18" cy="24"/>
            </a:xfrm>
            <a:custGeom>
              <a:avLst/>
              <a:gdLst>
                <a:gd name="T0" fmla="*/ 12 w 18"/>
                <a:gd name="T1" fmla="*/ 24 h 24"/>
                <a:gd name="T2" fmla="*/ 6 w 18"/>
                <a:gd name="T3" fmla="*/ 24 h 24"/>
                <a:gd name="T4" fmla="*/ 6 w 18"/>
                <a:gd name="T5" fmla="*/ 24 h 24"/>
                <a:gd name="T6" fmla="*/ 6 w 18"/>
                <a:gd name="T7" fmla="*/ 24 h 24"/>
                <a:gd name="T8" fmla="*/ 6 w 18"/>
                <a:gd name="T9" fmla="*/ 24 h 24"/>
                <a:gd name="T10" fmla="*/ 18 w 18"/>
                <a:gd name="T11" fmla="*/ 0 h 24"/>
                <a:gd name="T12" fmla="*/ 18 w 18"/>
                <a:gd name="T13" fmla="*/ 0 h 24"/>
                <a:gd name="T14" fmla="*/ 18 w 18"/>
                <a:gd name="T15" fmla="*/ 0 h 24"/>
                <a:gd name="T16" fmla="*/ 12 w 18"/>
                <a:gd name="T17" fmla="*/ 0 h 24"/>
                <a:gd name="T18" fmla="*/ 0 w 18"/>
                <a:gd name="T19" fmla="*/ 0 h 24"/>
                <a:gd name="T20" fmla="*/ 12 w 18"/>
                <a:gd name="T21" fmla="*/ 24 h 24"/>
                <a:gd name="T22" fmla="*/ 0 w 18"/>
                <a:gd name="T23" fmla="*/ 0 h 24"/>
                <a:gd name="T24" fmla="*/ 0 w 18"/>
                <a:gd name="T25" fmla="*/ 0 h 24"/>
                <a:gd name="T26" fmla="*/ 0 w 18"/>
                <a:gd name="T27" fmla="*/ 0 h 24"/>
                <a:gd name="T28" fmla="*/ 6 w 18"/>
                <a:gd name="T29" fmla="*/ 12 h 24"/>
                <a:gd name="T30" fmla="*/ 0 w 18"/>
                <a:gd name="T31" fmla="*/ 0 h 2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8"/>
                <a:gd name="T49" fmla="*/ 0 h 24"/>
                <a:gd name="T50" fmla="*/ 18 w 18"/>
                <a:gd name="T51" fmla="*/ 24 h 2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8" h="24">
                  <a:moveTo>
                    <a:pt x="12" y="24"/>
                  </a:moveTo>
                  <a:lnTo>
                    <a:pt x="6" y="24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2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6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13" name="Freeform 161">
              <a:extLst>
                <a:ext uri="{FF2B5EF4-FFF2-40B4-BE49-F238E27FC236}">
                  <a16:creationId xmlns:a16="http://schemas.microsoft.com/office/drawing/2014/main" id="{0B9B2453-06A2-7A55-93D4-529E82889A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6" y="2428"/>
              <a:ext cx="24" cy="24"/>
            </a:xfrm>
            <a:custGeom>
              <a:avLst/>
              <a:gdLst>
                <a:gd name="T0" fmla="*/ 6 w 24"/>
                <a:gd name="T1" fmla="*/ 24 h 24"/>
                <a:gd name="T2" fmla="*/ 0 w 24"/>
                <a:gd name="T3" fmla="*/ 18 h 24"/>
                <a:gd name="T4" fmla="*/ 0 w 24"/>
                <a:gd name="T5" fmla="*/ 18 h 24"/>
                <a:gd name="T6" fmla="*/ 0 w 24"/>
                <a:gd name="T7" fmla="*/ 18 h 24"/>
                <a:gd name="T8" fmla="*/ 24 w 24"/>
                <a:gd name="T9" fmla="*/ 6 h 24"/>
                <a:gd name="T10" fmla="*/ 18 w 24"/>
                <a:gd name="T11" fmla="*/ 0 h 24"/>
                <a:gd name="T12" fmla="*/ 18 w 24"/>
                <a:gd name="T13" fmla="*/ 0 h 24"/>
                <a:gd name="T14" fmla="*/ 18 w 24"/>
                <a:gd name="T15" fmla="*/ 0 h 24"/>
                <a:gd name="T16" fmla="*/ 12 w 24"/>
                <a:gd name="T17" fmla="*/ 0 h 24"/>
                <a:gd name="T18" fmla="*/ 6 w 24"/>
                <a:gd name="T19" fmla="*/ 24 h 24"/>
                <a:gd name="T20" fmla="*/ 6 w 24"/>
                <a:gd name="T21" fmla="*/ 24 h 24"/>
                <a:gd name="T22" fmla="*/ 6 w 24"/>
                <a:gd name="T23" fmla="*/ 24 h 24"/>
                <a:gd name="T24" fmla="*/ 6 w 24"/>
                <a:gd name="T25" fmla="*/ 24 h 24"/>
                <a:gd name="T26" fmla="*/ 12 w 24"/>
                <a:gd name="T27" fmla="*/ 12 h 24"/>
                <a:gd name="T28" fmla="*/ 6 w 24"/>
                <a:gd name="T29" fmla="*/ 24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4"/>
                <a:gd name="T46" fmla="*/ 0 h 24"/>
                <a:gd name="T47" fmla="*/ 24 w 24"/>
                <a:gd name="T48" fmla="*/ 24 h 2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4" h="24">
                  <a:moveTo>
                    <a:pt x="6" y="24"/>
                  </a:moveTo>
                  <a:lnTo>
                    <a:pt x="0" y="18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24"/>
                  </a:lnTo>
                  <a:close/>
                  <a:moveTo>
                    <a:pt x="6" y="24"/>
                  </a:moveTo>
                  <a:lnTo>
                    <a:pt x="6" y="24"/>
                  </a:lnTo>
                  <a:lnTo>
                    <a:pt x="12" y="12"/>
                  </a:lnTo>
                  <a:lnTo>
                    <a:pt x="6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14" name="Freeform 162">
              <a:extLst>
                <a:ext uri="{FF2B5EF4-FFF2-40B4-BE49-F238E27FC236}">
                  <a16:creationId xmlns:a16="http://schemas.microsoft.com/office/drawing/2014/main" id="{B082661F-F097-CF16-BA3E-B83BF2E1EB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6" y="2428"/>
              <a:ext cx="24" cy="42"/>
            </a:xfrm>
            <a:custGeom>
              <a:avLst/>
              <a:gdLst>
                <a:gd name="T0" fmla="*/ 24 w 24"/>
                <a:gd name="T1" fmla="*/ 18 h 42"/>
                <a:gd name="T2" fmla="*/ 18 w 24"/>
                <a:gd name="T3" fmla="*/ 24 h 42"/>
                <a:gd name="T4" fmla="*/ 18 w 24"/>
                <a:gd name="T5" fmla="*/ 24 h 42"/>
                <a:gd name="T6" fmla="*/ 12 w 24"/>
                <a:gd name="T7" fmla="*/ 24 h 42"/>
                <a:gd name="T8" fmla="*/ 12 w 24"/>
                <a:gd name="T9" fmla="*/ 24 h 42"/>
                <a:gd name="T10" fmla="*/ 12 w 24"/>
                <a:gd name="T11" fmla="*/ 24 h 42"/>
                <a:gd name="T12" fmla="*/ 12 w 24"/>
                <a:gd name="T13" fmla="*/ 0 h 42"/>
                <a:gd name="T14" fmla="*/ 18 w 24"/>
                <a:gd name="T15" fmla="*/ 0 h 42"/>
                <a:gd name="T16" fmla="*/ 18 w 24"/>
                <a:gd name="T17" fmla="*/ 0 h 42"/>
                <a:gd name="T18" fmla="*/ 18 w 24"/>
                <a:gd name="T19" fmla="*/ 0 h 42"/>
                <a:gd name="T20" fmla="*/ 18 w 24"/>
                <a:gd name="T21" fmla="*/ 0 h 42"/>
                <a:gd name="T22" fmla="*/ 12 w 24"/>
                <a:gd name="T23" fmla="*/ 0 h 42"/>
                <a:gd name="T24" fmla="*/ 24 w 24"/>
                <a:gd name="T25" fmla="*/ 18 h 42"/>
                <a:gd name="T26" fmla="*/ 0 w 24"/>
                <a:gd name="T27" fmla="*/ 18 h 42"/>
                <a:gd name="T28" fmla="*/ 12 w 24"/>
                <a:gd name="T29" fmla="*/ 42 h 42"/>
                <a:gd name="T30" fmla="*/ 24 w 24"/>
                <a:gd name="T31" fmla="*/ 18 h 42"/>
                <a:gd name="T32" fmla="*/ 12 w 24"/>
                <a:gd name="T33" fmla="*/ 12 h 42"/>
                <a:gd name="T34" fmla="*/ 0 w 24"/>
                <a:gd name="T35" fmla="*/ 18 h 4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4"/>
                <a:gd name="T55" fmla="*/ 0 h 42"/>
                <a:gd name="T56" fmla="*/ 24 w 24"/>
                <a:gd name="T57" fmla="*/ 42 h 4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4" h="42">
                  <a:moveTo>
                    <a:pt x="24" y="18"/>
                  </a:moveTo>
                  <a:lnTo>
                    <a:pt x="18" y="24"/>
                  </a:lnTo>
                  <a:lnTo>
                    <a:pt x="12" y="24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24" y="18"/>
                  </a:lnTo>
                  <a:close/>
                  <a:moveTo>
                    <a:pt x="0" y="18"/>
                  </a:moveTo>
                  <a:lnTo>
                    <a:pt x="12" y="42"/>
                  </a:lnTo>
                  <a:lnTo>
                    <a:pt x="24" y="18"/>
                  </a:lnTo>
                  <a:lnTo>
                    <a:pt x="12" y="12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15" name="Freeform 163">
              <a:extLst>
                <a:ext uri="{FF2B5EF4-FFF2-40B4-BE49-F238E27FC236}">
                  <a16:creationId xmlns:a16="http://schemas.microsoft.com/office/drawing/2014/main" id="{0985F155-2511-6C75-A504-174E44BE3E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28"/>
              <a:ext cx="12" cy="24"/>
            </a:xfrm>
            <a:custGeom>
              <a:avLst/>
              <a:gdLst>
                <a:gd name="T0" fmla="*/ 12 w 12"/>
                <a:gd name="T1" fmla="*/ 24 h 24"/>
                <a:gd name="T2" fmla="*/ 12 w 12"/>
                <a:gd name="T3" fmla="*/ 24 h 24"/>
                <a:gd name="T4" fmla="*/ 12 w 12"/>
                <a:gd name="T5" fmla="*/ 24 h 24"/>
                <a:gd name="T6" fmla="*/ 12 w 12"/>
                <a:gd name="T7" fmla="*/ 24 h 24"/>
                <a:gd name="T8" fmla="*/ 6 w 12"/>
                <a:gd name="T9" fmla="*/ 24 h 24"/>
                <a:gd name="T10" fmla="*/ 12 w 12"/>
                <a:gd name="T11" fmla="*/ 0 h 24"/>
                <a:gd name="T12" fmla="*/ 6 w 12"/>
                <a:gd name="T13" fmla="*/ 0 h 24"/>
                <a:gd name="T14" fmla="*/ 0 w 12"/>
                <a:gd name="T15" fmla="*/ 0 h 24"/>
                <a:gd name="T16" fmla="*/ 0 w 12"/>
                <a:gd name="T17" fmla="*/ 0 h 24"/>
                <a:gd name="T18" fmla="*/ 0 w 12"/>
                <a:gd name="T19" fmla="*/ 0 h 24"/>
                <a:gd name="T20" fmla="*/ 12 w 12"/>
                <a:gd name="T21" fmla="*/ 24 h 24"/>
                <a:gd name="T22" fmla="*/ 6 w 12"/>
                <a:gd name="T23" fmla="*/ 24 h 24"/>
                <a:gd name="T24" fmla="*/ 6 w 12"/>
                <a:gd name="T25" fmla="*/ 24 h 24"/>
                <a:gd name="T26" fmla="*/ 12 w 12"/>
                <a:gd name="T27" fmla="*/ 24 h 24"/>
                <a:gd name="T28" fmla="*/ 6 w 12"/>
                <a:gd name="T29" fmla="*/ 12 h 24"/>
                <a:gd name="T30" fmla="*/ 6 w 12"/>
                <a:gd name="T31" fmla="*/ 24 h 2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2"/>
                <a:gd name="T49" fmla="*/ 0 h 24"/>
                <a:gd name="T50" fmla="*/ 12 w 12"/>
                <a:gd name="T51" fmla="*/ 24 h 2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2" h="24">
                  <a:moveTo>
                    <a:pt x="12" y="24"/>
                  </a:moveTo>
                  <a:lnTo>
                    <a:pt x="12" y="24"/>
                  </a:lnTo>
                  <a:lnTo>
                    <a:pt x="6" y="24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12" y="24"/>
                  </a:lnTo>
                  <a:close/>
                  <a:moveTo>
                    <a:pt x="6" y="24"/>
                  </a:moveTo>
                  <a:lnTo>
                    <a:pt x="6" y="24"/>
                  </a:lnTo>
                  <a:lnTo>
                    <a:pt x="12" y="24"/>
                  </a:lnTo>
                  <a:lnTo>
                    <a:pt x="6" y="12"/>
                  </a:lnTo>
                  <a:lnTo>
                    <a:pt x="6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16" name="Freeform 164">
              <a:extLst>
                <a:ext uri="{FF2B5EF4-FFF2-40B4-BE49-F238E27FC236}">
                  <a16:creationId xmlns:a16="http://schemas.microsoft.com/office/drawing/2014/main" id="{EB81B18D-4C82-C8CF-3E1E-550629815D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28"/>
              <a:ext cx="24" cy="24"/>
            </a:xfrm>
            <a:custGeom>
              <a:avLst/>
              <a:gdLst>
                <a:gd name="T0" fmla="*/ 6 w 24"/>
                <a:gd name="T1" fmla="*/ 24 h 24"/>
                <a:gd name="T2" fmla="*/ 18 w 24"/>
                <a:gd name="T3" fmla="*/ 24 h 24"/>
                <a:gd name="T4" fmla="*/ 18 w 24"/>
                <a:gd name="T5" fmla="*/ 18 h 24"/>
                <a:gd name="T6" fmla="*/ 24 w 24"/>
                <a:gd name="T7" fmla="*/ 12 h 24"/>
                <a:gd name="T8" fmla="*/ 0 w 24"/>
                <a:gd name="T9" fmla="*/ 6 h 24"/>
                <a:gd name="T10" fmla="*/ 0 w 24"/>
                <a:gd name="T11" fmla="*/ 6 h 24"/>
                <a:gd name="T12" fmla="*/ 0 w 24"/>
                <a:gd name="T13" fmla="*/ 0 h 24"/>
                <a:gd name="T14" fmla="*/ 12 w 24"/>
                <a:gd name="T15" fmla="*/ 0 h 24"/>
                <a:gd name="T16" fmla="*/ 6 w 24"/>
                <a:gd name="T17" fmla="*/ 24 h 24"/>
                <a:gd name="T18" fmla="*/ 12 w 24"/>
                <a:gd name="T19" fmla="*/ 0 h 24"/>
                <a:gd name="T20" fmla="*/ 12 w 24"/>
                <a:gd name="T21" fmla="*/ 0 h 24"/>
                <a:gd name="T22" fmla="*/ 12 w 24"/>
                <a:gd name="T23" fmla="*/ 0 h 24"/>
                <a:gd name="T24" fmla="*/ 6 w 24"/>
                <a:gd name="T25" fmla="*/ 12 h 24"/>
                <a:gd name="T26" fmla="*/ 12 w 24"/>
                <a:gd name="T27" fmla="*/ 0 h 2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"/>
                <a:gd name="T43" fmla="*/ 0 h 24"/>
                <a:gd name="T44" fmla="*/ 24 w 24"/>
                <a:gd name="T45" fmla="*/ 24 h 2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" h="24">
                  <a:moveTo>
                    <a:pt x="6" y="24"/>
                  </a:moveTo>
                  <a:lnTo>
                    <a:pt x="18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0" y="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6" y="24"/>
                  </a:lnTo>
                  <a:close/>
                  <a:moveTo>
                    <a:pt x="12" y="0"/>
                  </a:moveTo>
                  <a:lnTo>
                    <a:pt x="12" y="0"/>
                  </a:lnTo>
                  <a:lnTo>
                    <a:pt x="6" y="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17" name="Freeform 165">
              <a:extLst>
                <a:ext uri="{FF2B5EF4-FFF2-40B4-BE49-F238E27FC236}">
                  <a16:creationId xmlns:a16="http://schemas.microsoft.com/office/drawing/2014/main" id="{FB28EC91-FCD0-FB9B-F867-5F1E999ECD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28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0 h 24"/>
                <a:gd name="T4" fmla="*/ 0 w 24"/>
                <a:gd name="T5" fmla="*/ 24 h 24"/>
                <a:gd name="T6" fmla="*/ 12 w 24"/>
                <a:gd name="T7" fmla="*/ 24 h 24"/>
                <a:gd name="T8" fmla="*/ 12 w 24"/>
                <a:gd name="T9" fmla="*/ 0 h 24"/>
                <a:gd name="T10" fmla="*/ 24 w 24"/>
                <a:gd name="T11" fmla="*/ 12 h 24"/>
                <a:gd name="T12" fmla="*/ 24 w 24"/>
                <a:gd name="T13" fmla="*/ 0 h 24"/>
                <a:gd name="T14" fmla="*/ 12 w 24"/>
                <a:gd name="T15" fmla="*/ 0 h 24"/>
                <a:gd name="T16" fmla="*/ 12 w 24"/>
                <a:gd name="T17" fmla="*/ 12 h 24"/>
                <a:gd name="T18" fmla="*/ 24 w 24"/>
                <a:gd name="T19" fmla="*/ 1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24"/>
                <a:gd name="T32" fmla="*/ 24 w 24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24">
                  <a:moveTo>
                    <a:pt x="12" y="0"/>
                  </a:moveTo>
                  <a:lnTo>
                    <a:pt x="0" y="0"/>
                  </a:lnTo>
                  <a:lnTo>
                    <a:pt x="0" y="24"/>
                  </a:lnTo>
                  <a:lnTo>
                    <a:pt x="12" y="24"/>
                  </a:lnTo>
                  <a:lnTo>
                    <a:pt x="12" y="0"/>
                  </a:lnTo>
                  <a:close/>
                  <a:moveTo>
                    <a:pt x="24" y="12"/>
                  </a:moveTo>
                  <a:lnTo>
                    <a:pt x="24" y="0"/>
                  </a:lnTo>
                  <a:lnTo>
                    <a:pt x="12" y="0"/>
                  </a:lnTo>
                  <a:lnTo>
                    <a:pt x="12" y="12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18" name="Freeform 166">
              <a:extLst>
                <a:ext uri="{FF2B5EF4-FFF2-40B4-BE49-F238E27FC236}">
                  <a16:creationId xmlns:a16="http://schemas.microsoft.com/office/drawing/2014/main" id="{3EE81A6A-DC55-7D5C-B699-EDFCAAC1F6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6" y="2434"/>
              <a:ext cx="24" cy="18"/>
            </a:xfrm>
            <a:custGeom>
              <a:avLst/>
              <a:gdLst>
                <a:gd name="T0" fmla="*/ 24 w 24"/>
                <a:gd name="T1" fmla="*/ 6 h 18"/>
                <a:gd name="T2" fmla="*/ 24 w 24"/>
                <a:gd name="T3" fmla="*/ 0 h 18"/>
                <a:gd name="T4" fmla="*/ 0 w 24"/>
                <a:gd name="T5" fmla="*/ 0 h 18"/>
                <a:gd name="T6" fmla="*/ 0 w 24"/>
                <a:gd name="T7" fmla="*/ 6 h 18"/>
                <a:gd name="T8" fmla="*/ 24 w 24"/>
                <a:gd name="T9" fmla="*/ 6 h 18"/>
                <a:gd name="T10" fmla="*/ 0 w 24"/>
                <a:gd name="T11" fmla="*/ 6 h 18"/>
                <a:gd name="T12" fmla="*/ 0 w 24"/>
                <a:gd name="T13" fmla="*/ 18 h 18"/>
                <a:gd name="T14" fmla="*/ 12 w 24"/>
                <a:gd name="T15" fmla="*/ 18 h 18"/>
                <a:gd name="T16" fmla="*/ 12 w 24"/>
                <a:gd name="T17" fmla="*/ 6 h 18"/>
                <a:gd name="T18" fmla="*/ 0 w 24"/>
                <a:gd name="T19" fmla="*/ 6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18"/>
                <a:gd name="T32" fmla="*/ 24 w 24"/>
                <a:gd name="T33" fmla="*/ 18 h 1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18">
                  <a:moveTo>
                    <a:pt x="24" y="6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24" y="6"/>
                  </a:lnTo>
                  <a:close/>
                  <a:moveTo>
                    <a:pt x="0" y="6"/>
                  </a:moveTo>
                  <a:lnTo>
                    <a:pt x="0" y="18"/>
                  </a:lnTo>
                  <a:lnTo>
                    <a:pt x="12" y="18"/>
                  </a:lnTo>
                  <a:lnTo>
                    <a:pt x="12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19" name="Freeform 167">
              <a:extLst>
                <a:ext uri="{FF2B5EF4-FFF2-40B4-BE49-F238E27FC236}">
                  <a16:creationId xmlns:a16="http://schemas.microsoft.com/office/drawing/2014/main" id="{6A3EBD00-9245-AB86-8DCB-8066638F1C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2" y="2422"/>
              <a:ext cx="18" cy="24"/>
            </a:xfrm>
            <a:custGeom>
              <a:avLst/>
              <a:gdLst>
                <a:gd name="T0" fmla="*/ 6 w 18"/>
                <a:gd name="T1" fmla="*/ 0 h 24"/>
                <a:gd name="T2" fmla="*/ 0 w 18"/>
                <a:gd name="T3" fmla="*/ 0 h 24"/>
                <a:gd name="T4" fmla="*/ 0 w 18"/>
                <a:gd name="T5" fmla="*/ 24 h 24"/>
                <a:gd name="T6" fmla="*/ 6 w 18"/>
                <a:gd name="T7" fmla="*/ 24 h 24"/>
                <a:gd name="T8" fmla="*/ 6 w 18"/>
                <a:gd name="T9" fmla="*/ 0 h 24"/>
                <a:gd name="T10" fmla="*/ 18 w 18"/>
                <a:gd name="T11" fmla="*/ 12 h 24"/>
                <a:gd name="T12" fmla="*/ 18 w 18"/>
                <a:gd name="T13" fmla="*/ 0 h 24"/>
                <a:gd name="T14" fmla="*/ 6 w 18"/>
                <a:gd name="T15" fmla="*/ 0 h 24"/>
                <a:gd name="T16" fmla="*/ 6 w 18"/>
                <a:gd name="T17" fmla="*/ 12 h 24"/>
                <a:gd name="T18" fmla="*/ 18 w 18"/>
                <a:gd name="T19" fmla="*/ 1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8"/>
                <a:gd name="T31" fmla="*/ 0 h 24"/>
                <a:gd name="T32" fmla="*/ 18 w 18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8" h="24">
                  <a:moveTo>
                    <a:pt x="6" y="0"/>
                  </a:moveTo>
                  <a:lnTo>
                    <a:pt x="0" y="0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6" y="0"/>
                  </a:lnTo>
                  <a:close/>
                  <a:moveTo>
                    <a:pt x="18" y="12"/>
                  </a:moveTo>
                  <a:lnTo>
                    <a:pt x="18" y="0"/>
                  </a:lnTo>
                  <a:lnTo>
                    <a:pt x="6" y="0"/>
                  </a:lnTo>
                  <a:lnTo>
                    <a:pt x="6" y="12"/>
                  </a:lnTo>
                  <a:lnTo>
                    <a:pt x="18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20" name="Freeform 168">
              <a:extLst>
                <a:ext uri="{FF2B5EF4-FFF2-40B4-BE49-F238E27FC236}">
                  <a16:creationId xmlns:a16="http://schemas.microsoft.com/office/drawing/2014/main" id="{FE4F91F2-B606-3B65-58DF-D6B9D1AA8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" y="2422"/>
              <a:ext cx="18" cy="18"/>
            </a:xfrm>
            <a:custGeom>
              <a:avLst/>
              <a:gdLst>
                <a:gd name="T0" fmla="*/ 18 w 18"/>
                <a:gd name="T1" fmla="*/ 0 h 18"/>
                <a:gd name="T2" fmla="*/ 0 w 18"/>
                <a:gd name="T3" fmla="*/ 0 h 18"/>
                <a:gd name="T4" fmla="*/ 6 w 18"/>
                <a:gd name="T5" fmla="*/ 18 h 18"/>
                <a:gd name="T6" fmla="*/ 18 w 18"/>
                <a:gd name="T7" fmla="*/ 12 h 18"/>
                <a:gd name="T8" fmla="*/ 18 w 18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"/>
                <a:gd name="T16" fmla="*/ 0 h 18"/>
                <a:gd name="T17" fmla="*/ 18 w 18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" h="18">
                  <a:moveTo>
                    <a:pt x="18" y="0"/>
                  </a:moveTo>
                  <a:lnTo>
                    <a:pt x="0" y="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21" name="Freeform 169">
              <a:extLst>
                <a:ext uri="{FF2B5EF4-FFF2-40B4-BE49-F238E27FC236}">
                  <a16:creationId xmlns:a16="http://schemas.microsoft.com/office/drawing/2014/main" id="{DC90380F-8869-BAA7-C39A-9BD366E2F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410"/>
              <a:ext cx="24" cy="18"/>
            </a:xfrm>
            <a:custGeom>
              <a:avLst/>
              <a:gdLst>
                <a:gd name="T0" fmla="*/ 12 w 24"/>
                <a:gd name="T1" fmla="*/ 0 h 18"/>
                <a:gd name="T2" fmla="*/ 6 w 24"/>
                <a:gd name="T3" fmla="*/ 6 h 18"/>
                <a:gd name="T4" fmla="*/ 0 w 24"/>
                <a:gd name="T5" fmla="*/ 12 h 18"/>
                <a:gd name="T6" fmla="*/ 6 w 24"/>
                <a:gd name="T7" fmla="*/ 18 h 18"/>
                <a:gd name="T8" fmla="*/ 12 w 24"/>
                <a:gd name="T9" fmla="*/ 18 h 18"/>
                <a:gd name="T10" fmla="*/ 18 w 24"/>
                <a:gd name="T11" fmla="*/ 18 h 18"/>
                <a:gd name="T12" fmla="*/ 24 w 24"/>
                <a:gd name="T13" fmla="*/ 18 h 18"/>
                <a:gd name="T14" fmla="*/ 24 w 24"/>
                <a:gd name="T15" fmla="*/ 12 h 18"/>
                <a:gd name="T16" fmla="*/ 24 w 24"/>
                <a:gd name="T17" fmla="*/ 6 h 18"/>
                <a:gd name="T18" fmla="*/ 18 w 24"/>
                <a:gd name="T19" fmla="*/ 0 h 18"/>
                <a:gd name="T20" fmla="*/ 12 w 24"/>
                <a:gd name="T21" fmla="*/ 0 h 18"/>
                <a:gd name="T22" fmla="*/ 12 w 24"/>
                <a:gd name="T23" fmla="*/ 0 h 1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4"/>
                <a:gd name="T37" fmla="*/ 0 h 18"/>
                <a:gd name="T38" fmla="*/ 24 w 24"/>
                <a:gd name="T39" fmla="*/ 18 h 1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4" h="18">
                  <a:moveTo>
                    <a:pt x="12" y="0"/>
                  </a:moveTo>
                  <a:lnTo>
                    <a:pt x="6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2145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22" name="Freeform 170">
              <a:extLst>
                <a:ext uri="{FF2B5EF4-FFF2-40B4-BE49-F238E27FC236}">
                  <a16:creationId xmlns:a16="http://schemas.microsoft.com/office/drawing/2014/main" id="{F624CB1E-A607-C11F-D4AE-665849F64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" y="2398"/>
              <a:ext cx="24" cy="24"/>
            </a:xfrm>
            <a:custGeom>
              <a:avLst/>
              <a:gdLst>
                <a:gd name="T0" fmla="*/ 24 w 24"/>
                <a:gd name="T1" fmla="*/ 0 h 24"/>
                <a:gd name="T2" fmla="*/ 6 w 24"/>
                <a:gd name="T3" fmla="*/ 6 h 24"/>
                <a:gd name="T4" fmla="*/ 0 w 24"/>
                <a:gd name="T5" fmla="*/ 24 h 24"/>
                <a:gd name="T6" fmla="*/ 24 w 24"/>
                <a:gd name="T7" fmla="*/ 24 h 24"/>
                <a:gd name="T8" fmla="*/ 24 w 24"/>
                <a:gd name="T9" fmla="*/ 24 h 24"/>
                <a:gd name="T10" fmla="*/ 24 w 24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24"/>
                <a:gd name="T20" fmla="*/ 24 w 24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24">
                  <a:moveTo>
                    <a:pt x="24" y="0"/>
                  </a:moveTo>
                  <a:lnTo>
                    <a:pt x="6" y="6"/>
                  </a:lnTo>
                  <a:lnTo>
                    <a:pt x="0" y="24"/>
                  </a:lnTo>
                  <a:lnTo>
                    <a:pt x="24" y="2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23" name="Freeform 171">
              <a:extLst>
                <a:ext uri="{FF2B5EF4-FFF2-40B4-BE49-F238E27FC236}">
                  <a16:creationId xmlns:a16="http://schemas.microsoft.com/office/drawing/2014/main" id="{0A3F84C6-8566-5592-2FC2-E5786B3AC9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24" y="2416"/>
              <a:ext cx="24" cy="24"/>
            </a:xfrm>
            <a:custGeom>
              <a:avLst/>
              <a:gdLst>
                <a:gd name="T0" fmla="*/ 0 w 24"/>
                <a:gd name="T1" fmla="*/ 6 h 24"/>
                <a:gd name="T2" fmla="*/ 6 w 24"/>
                <a:gd name="T3" fmla="*/ 18 h 24"/>
                <a:gd name="T4" fmla="*/ 24 w 24"/>
                <a:gd name="T5" fmla="*/ 24 h 24"/>
                <a:gd name="T6" fmla="*/ 24 w 24"/>
                <a:gd name="T7" fmla="*/ 0 h 24"/>
                <a:gd name="T8" fmla="*/ 24 w 24"/>
                <a:gd name="T9" fmla="*/ 6 h 24"/>
                <a:gd name="T10" fmla="*/ 24 w 24"/>
                <a:gd name="T11" fmla="*/ 6 h 24"/>
                <a:gd name="T12" fmla="*/ 0 w 24"/>
                <a:gd name="T13" fmla="*/ 6 h 24"/>
                <a:gd name="T14" fmla="*/ 24 w 24"/>
                <a:gd name="T15" fmla="*/ 6 h 24"/>
                <a:gd name="T16" fmla="*/ 24 w 24"/>
                <a:gd name="T17" fmla="*/ 6 h 24"/>
                <a:gd name="T18" fmla="*/ 12 w 24"/>
                <a:gd name="T19" fmla="*/ 6 h 24"/>
                <a:gd name="T20" fmla="*/ 24 w 24"/>
                <a:gd name="T21" fmla="*/ 6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24"/>
                <a:gd name="T35" fmla="*/ 24 w 24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24">
                  <a:moveTo>
                    <a:pt x="0" y="6"/>
                  </a:moveTo>
                  <a:lnTo>
                    <a:pt x="6" y="18"/>
                  </a:lnTo>
                  <a:lnTo>
                    <a:pt x="24" y="24"/>
                  </a:lnTo>
                  <a:lnTo>
                    <a:pt x="24" y="0"/>
                  </a:lnTo>
                  <a:lnTo>
                    <a:pt x="24" y="6"/>
                  </a:lnTo>
                  <a:lnTo>
                    <a:pt x="0" y="6"/>
                  </a:lnTo>
                  <a:close/>
                  <a:moveTo>
                    <a:pt x="24" y="6"/>
                  </a:moveTo>
                  <a:lnTo>
                    <a:pt x="24" y="6"/>
                  </a:lnTo>
                  <a:lnTo>
                    <a:pt x="12" y="6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24" name="Freeform 172">
              <a:extLst>
                <a:ext uri="{FF2B5EF4-FFF2-40B4-BE49-F238E27FC236}">
                  <a16:creationId xmlns:a16="http://schemas.microsoft.com/office/drawing/2014/main" id="{CADA772E-F526-A894-C6ED-6401553FFC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16"/>
              <a:ext cx="6" cy="24"/>
            </a:xfrm>
            <a:custGeom>
              <a:avLst/>
              <a:gdLst>
                <a:gd name="T0" fmla="*/ 0 w 6"/>
                <a:gd name="T1" fmla="*/ 24 h 24"/>
                <a:gd name="T2" fmla="*/ 6 w 6"/>
                <a:gd name="T3" fmla="*/ 24 h 24"/>
                <a:gd name="T4" fmla="*/ 6 w 6"/>
                <a:gd name="T5" fmla="*/ 0 h 24"/>
                <a:gd name="T6" fmla="*/ 0 w 6"/>
                <a:gd name="T7" fmla="*/ 0 h 24"/>
                <a:gd name="T8" fmla="*/ 0 w 6"/>
                <a:gd name="T9" fmla="*/ 24 h 24"/>
                <a:gd name="T10" fmla="*/ 0 w 6"/>
                <a:gd name="T11" fmla="*/ 0 h 24"/>
                <a:gd name="T12" fmla="*/ 0 w 6"/>
                <a:gd name="T13" fmla="*/ 0 h 24"/>
                <a:gd name="T14" fmla="*/ 0 w 6"/>
                <a:gd name="T15" fmla="*/ 12 h 24"/>
                <a:gd name="T16" fmla="*/ 0 w 6"/>
                <a:gd name="T17" fmla="*/ 0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"/>
                <a:gd name="T28" fmla="*/ 0 h 24"/>
                <a:gd name="T29" fmla="*/ 6 w 6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" h="24">
                  <a:moveTo>
                    <a:pt x="0" y="24"/>
                  </a:moveTo>
                  <a:lnTo>
                    <a:pt x="6" y="24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25" name="Freeform 173">
              <a:extLst>
                <a:ext uri="{FF2B5EF4-FFF2-40B4-BE49-F238E27FC236}">
                  <a16:creationId xmlns:a16="http://schemas.microsoft.com/office/drawing/2014/main" id="{99499FF8-4BD4-FBC2-5C41-E794208035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16"/>
              <a:ext cx="24" cy="24"/>
            </a:xfrm>
            <a:custGeom>
              <a:avLst/>
              <a:gdLst>
                <a:gd name="T0" fmla="*/ 6 w 24"/>
                <a:gd name="T1" fmla="*/ 24 h 24"/>
                <a:gd name="T2" fmla="*/ 18 w 24"/>
                <a:gd name="T3" fmla="*/ 18 h 24"/>
                <a:gd name="T4" fmla="*/ 24 w 24"/>
                <a:gd name="T5" fmla="*/ 6 h 24"/>
                <a:gd name="T6" fmla="*/ 0 w 24"/>
                <a:gd name="T7" fmla="*/ 6 h 24"/>
                <a:gd name="T8" fmla="*/ 0 w 24"/>
                <a:gd name="T9" fmla="*/ 6 h 24"/>
                <a:gd name="T10" fmla="*/ 6 w 24"/>
                <a:gd name="T11" fmla="*/ 0 h 24"/>
                <a:gd name="T12" fmla="*/ 6 w 24"/>
                <a:gd name="T13" fmla="*/ 24 h 24"/>
                <a:gd name="T14" fmla="*/ 6 w 24"/>
                <a:gd name="T15" fmla="*/ 0 h 24"/>
                <a:gd name="T16" fmla="*/ 6 w 24"/>
                <a:gd name="T17" fmla="*/ 0 h 24"/>
                <a:gd name="T18" fmla="*/ 6 w 24"/>
                <a:gd name="T19" fmla="*/ 12 h 24"/>
                <a:gd name="T20" fmla="*/ 6 w 24"/>
                <a:gd name="T21" fmla="*/ 0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24"/>
                <a:gd name="T35" fmla="*/ 24 w 24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24">
                  <a:moveTo>
                    <a:pt x="6" y="24"/>
                  </a:moveTo>
                  <a:lnTo>
                    <a:pt x="18" y="18"/>
                  </a:lnTo>
                  <a:lnTo>
                    <a:pt x="24" y="6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24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1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26" name="Freeform 174">
              <a:extLst>
                <a:ext uri="{FF2B5EF4-FFF2-40B4-BE49-F238E27FC236}">
                  <a16:creationId xmlns:a16="http://schemas.microsoft.com/office/drawing/2014/main" id="{5DA43B7B-6FCA-AAA6-9780-AE9FCC3C48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398"/>
              <a:ext cx="24" cy="24"/>
            </a:xfrm>
            <a:custGeom>
              <a:avLst/>
              <a:gdLst>
                <a:gd name="T0" fmla="*/ 24 w 24"/>
                <a:gd name="T1" fmla="*/ 24 h 24"/>
                <a:gd name="T2" fmla="*/ 18 w 24"/>
                <a:gd name="T3" fmla="*/ 6 h 24"/>
                <a:gd name="T4" fmla="*/ 6 w 24"/>
                <a:gd name="T5" fmla="*/ 0 h 24"/>
                <a:gd name="T6" fmla="*/ 6 w 24"/>
                <a:gd name="T7" fmla="*/ 24 h 24"/>
                <a:gd name="T8" fmla="*/ 0 w 24"/>
                <a:gd name="T9" fmla="*/ 24 h 24"/>
                <a:gd name="T10" fmla="*/ 0 w 24"/>
                <a:gd name="T11" fmla="*/ 24 h 24"/>
                <a:gd name="T12" fmla="*/ 24 w 24"/>
                <a:gd name="T13" fmla="*/ 24 h 24"/>
                <a:gd name="T14" fmla="*/ 0 w 24"/>
                <a:gd name="T15" fmla="*/ 24 h 24"/>
                <a:gd name="T16" fmla="*/ 0 w 24"/>
                <a:gd name="T17" fmla="*/ 24 h 24"/>
                <a:gd name="T18" fmla="*/ 12 w 24"/>
                <a:gd name="T19" fmla="*/ 24 h 24"/>
                <a:gd name="T20" fmla="*/ 0 w 24"/>
                <a:gd name="T21" fmla="*/ 24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24"/>
                <a:gd name="T35" fmla="*/ 24 w 24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24">
                  <a:moveTo>
                    <a:pt x="24" y="24"/>
                  </a:moveTo>
                  <a:lnTo>
                    <a:pt x="18" y="6"/>
                  </a:lnTo>
                  <a:lnTo>
                    <a:pt x="6" y="0"/>
                  </a:lnTo>
                  <a:lnTo>
                    <a:pt x="6" y="24"/>
                  </a:lnTo>
                  <a:lnTo>
                    <a:pt x="0" y="24"/>
                  </a:lnTo>
                  <a:lnTo>
                    <a:pt x="24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lnTo>
                    <a:pt x="12" y="2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27" name="Freeform 175">
              <a:extLst>
                <a:ext uri="{FF2B5EF4-FFF2-40B4-BE49-F238E27FC236}">
                  <a16:creationId xmlns:a16="http://schemas.microsoft.com/office/drawing/2014/main" id="{09EA650F-8C9D-D757-41FA-87C94ADEF2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398"/>
              <a:ext cx="6" cy="24"/>
            </a:xfrm>
            <a:custGeom>
              <a:avLst/>
              <a:gdLst>
                <a:gd name="T0" fmla="*/ 6 w 6"/>
                <a:gd name="T1" fmla="*/ 0 h 24"/>
                <a:gd name="T2" fmla="*/ 0 w 6"/>
                <a:gd name="T3" fmla="*/ 0 h 24"/>
                <a:gd name="T4" fmla="*/ 0 w 6"/>
                <a:gd name="T5" fmla="*/ 24 h 24"/>
                <a:gd name="T6" fmla="*/ 6 w 6"/>
                <a:gd name="T7" fmla="*/ 24 h 24"/>
                <a:gd name="T8" fmla="*/ 6 w 6"/>
                <a:gd name="T9" fmla="*/ 0 h 24"/>
                <a:gd name="T10" fmla="*/ 6 w 6"/>
                <a:gd name="T11" fmla="*/ 24 h 24"/>
                <a:gd name="T12" fmla="*/ 6 w 6"/>
                <a:gd name="T13" fmla="*/ 24 h 24"/>
                <a:gd name="T14" fmla="*/ 6 w 6"/>
                <a:gd name="T15" fmla="*/ 12 h 24"/>
                <a:gd name="T16" fmla="*/ 6 w 6"/>
                <a:gd name="T17" fmla="*/ 24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"/>
                <a:gd name="T28" fmla="*/ 0 h 24"/>
                <a:gd name="T29" fmla="*/ 6 w 6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" h="24">
                  <a:moveTo>
                    <a:pt x="6" y="0"/>
                  </a:moveTo>
                  <a:lnTo>
                    <a:pt x="0" y="0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6" y="0"/>
                  </a:lnTo>
                  <a:close/>
                  <a:moveTo>
                    <a:pt x="6" y="24"/>
                  </a:moveTo>
                  <a:lnTo>
                    <a:pt x="6" y="24"/>
                  </a:lnTo>
                  <a:lnTo>
                    <a:pt x="6" y="12"/>
                  </a:lnTo>
                  <a:lnTo>
                    <a:pt x="6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28" name="Freeform 176">
              <a:extLst>
                <a:ext uri="{FF2B5EF4-FFF2-40B4-BE49-F238E27FC236}">
                  <a16:creationId xmlns:a16="http://schemas.microsoft.com/office/drawing/2014/main" id="{A16B446E-2C5E-A00B-7304-567F4A4FD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410"/>
              <a:ext cx="1" cy="12"/>
            </a:xfrm>
            <a:custGeom>
              <a:avLst/>
              <a:gdLst>
                <a:gd name="T0" fmla="*/ 0 w 1"/>
                <a:gd name="T1" fmla="*/ 12 h 12"/>
                <a:gd name="T2" fmla="*/ 0 w 1"/>
                <a:gd name="T3" fmla="*/ 12 h 12"/>
                <a:gd name="T4" fmla="*/ 0 w 1"/>
                <a:gd name="T5" fmla="*/ 0 h 12"/>
                <a:gd name="T6" fmla="*/ 0 w 1"/>
                <a:gd name="T7" fmla="*/ 12 h 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12"/>
                <a:gd name="T14" fmla="*/ 1 w 1"/>
                <a:gd name="T15" fmla="*/ 12 h 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12">
                  <a:moveTo>
                    <a:pt x="0" y="12"/>
                  </a:moveTo>
                  <a:lnTo>
                    <a:pt x="0" y="12"/>
                  </a:ln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29" name="Freeform 177">
              <a:extLst>
                <a:ext uri="{FF2B5EF4-FFF2-40B4-BE49-F238E27FC236}">
                  <a16:creationId xmlns:a16="http://schemas.microsoft.com/office/drawing/2014/main" id="{EC7B1784-8649-71C1-056A-A77319227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86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30" name="Freeform 178">
              <a:extLst>
                <a:ext uri="{FF2B5EF4-FFF2-40B4-BE49-F238E27FC236}">
                  <a16:creationId xmlns:a16="http://schemas.microsoft.com/office/drawing/2014/main" id="{110CFFF9-7652-757B-F067-42D883CEE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57"/>
              <a:ext cx="6" cy="6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0 h 6"/>
                <a:gd name="T4" fmla="*/ 0 w 6"/>
                <a:gd name="T5" fmla="*/ 6 h 6"/>
                <a:gd name="T6" fmla="*/ 0 w 6"/>
                <a:gd name="T7" fmla="*/ 6 h 6"/>
                <a:gd name="T8" fmla="*/ 6 w 6"/>
                <a:gd name="T9" fmla="*/ 6 h 6"/>
                <a:gd name="T10" fmla="*/ 6 w 6"/>
                <a:gd name="T11" fmla="*/ 0 h 6"/>
                <a:gd name="T12" fmla="*/ 6 w 6"/>
                <a:gd name="T13" fmla="*/ 0 h 6"/>
                <a:gd name="T14" fmla="*/ 0 w 6"/>
                <a:gd name="T15" fmla="*/ 0 h 6"/>
                <a:gd name="T16" fmla="*/ 0 w 6"/>
                <a:gd name="T17" fmla="*/ 0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"/>
                <a:gd name="T28" fmla="*/ 0 h 6"/>
                <a:gd name="T29" fmla="*/ 6 w 6"/>
                <a:gd name="T30" fmla="*/ 6 h 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31" name="Freeform 179">
              <a:extLst>
                <a:ext uri="{FF2B5EF4-FFF2-40B4-BE49-F238E27FC236}">
                  <a16:creationId xmlns:a16="http://schemas.microsoft.com/office/drawing/2014/main" id="{1B38DB7F-95E5-9DC3-5059-7A199BB29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63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32" name="Freeform 180">
              <a:extLst>
                <a:ext uri="{FF2B5EF4-FFF2-40B4-BE49-F238E27FC236}">
                  <a16:creationId xmlns:a16="http://schemas.microsoft.com/office/drawing/2014/main" id="{299AC265-C95D-FA02-B107-615721E1C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69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33" name="Freeform 181">
              <a:extLst>
                <a:ext uri="{FF2B5EF4-FFF2-40B4-BE49-F238E27FC236}">
                  <a16:creationId xmlns:a16="http://schemas.microsoft.com/office/drawing/2014/main" id="{4195456C-8A62-DBF8-B999-8F17F6B65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75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34" name="Freeform 182">
              <a:extLst>
                <a:ext uri="{FF2B5EF4-FFF2-40B4-BE49-F238E27FC236}">
                  <a16:creationId xmlns:a16="http://schemas.microsoft.com/office/drawing/2014/main" id="{CB389CC9-F94A-3803-D787-64A599B21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75"/>
              <a:ext cx="6" cy="6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0 h 6"/>
                <a:gd name="T4" fmla="*/ 0 w 6"/>
                <a:gd name="T5" fmla="*/ 6 h 6"/>
                <a:gd name="T6" fmla="*/ 0 w 6"/>
                <a:gd name="T7" fmla="*/ 6 h 6"/>
                <a:gd name="T8" fmla="*/ 6 w 6"/>
                <a:gd name="T9" fmla="*/ 6 h 6"/>
                <a:gd name="T10" fmla="*/ 6 w 6"/>
                <a:gd name="T11" fmla="*/ 0 h 6"/>
                <a:gd name="T12" fmla="*/ 6 w 6"/>
                <a:gd name="T13" fmla="*/ 0 h 6"/>
                <a:gd name="T14" fmla="*/ 0 w 6"/>
                <a:gd name="T15" fmla="*/ 0 h 6"/>
                <a:gd name="T16" fmla="*/ 0 w 6"/>
                <a:gd name="T17" fmla="*/ 0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"/>
                <a:gd name="T28" fmla="*/ 0 h 6"/>
                <a:gd name="T29" fmla="*/ 6 w 6"/>
                <a:gd name="T30" fmla="*/ 6 h 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35" name="Freeform 183">
              <a:extLst>
                <a:ext uri="{FF2B5EF4-FFF2-40B4-BE49-F238E27FC236}">
                  <a16:creationId xmlns:a16="http://schemas.microsoft.com/office/drawing/2014/main" id="{50BE2558-CA92-51EB-CD28-4AF4BE890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81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36" name="Freeform 184">
              <a:extLst>
                <a:ext uri="{FF2B5EF4-FFF2-40B4-BE49-F238E27FC236}">
                  <a16:creationId xmlns:a16="http://schemas.microsoft.com/office/drawing/2014/main" id="{9C6560DC-6454-6B39-7883-54A803F18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57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37" name="Freeform 185">
              <a:extLst>
                <a:ext uri="{FF2B5EF4-FFF2-40B4-BE49-F238E27FC236}">
                  <a16:creationId xmlns:a16="http://schemas.microsoft.com/office/drawing/2014/main" id="{19C5CB5E-2D16-AF3C-20C8-E950CAB92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92"/>
              <a:ext cx="6" cy="6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0 h 6"/>
                <a:gd name="T4" fmla="*/ 0 w 6"/>
                <a:gd name="T5" fmla="*/ 6 h 6"/>
                <a:gd name="T6" fmla="*/ 0 w 6"/>
                <a:gd name="T7" fmla="*/ 6 h 6"/>
                <a:gd name="T8" fmla="*/ 6 w 6"/>
                <a:gd name="T9" fmla="*/ 6 h 6"/>
                <a:gd name="T10" fmla="*/ 6 w 6"/>
                <a:gd name="T11" fmla="*/ 6 h 6"/>
                <a:gd name="T12" fmla="*/ 6 w 6"/>
                <a:gd name="T13" fmla="*/ 0 h 6"/>
                <a:gd name="T14" fmla="*/ 0 w 6"/>
                <a:gd name="T15" fmla="*/ 0 h 6"/>
                <a:gd name="T16" fmla="*/ 0 w 6"/>
                <a:gd name="T17" fmla="*/ 0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"/>
                <a:gd name="T28" fmla="*/ 0 h 6"/>
                <a:gd name="T29" fmla="*/ 6 w 6"/>
                <a:gd name="T30" fmla="*/ 6 h 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38" name="Freeform 186">
              <a:extLst>
                <a:ext uri="{FF2B5EF4-FFF2-40B4-BE49-F238E27FC236}">
                  <a16:creationId xmlns:a16="http://schemas.microsoft.com/office/drawing/2014/main" id="{B526D882-A128-0188-370E-4C2D99A22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422"/>
              <a:ext cx="12" cy="1"/>
            </a:xfrm>
            <a:custGeom>
              <a:avLst/>
              <a:gdLst>
                <a:gd name="T0" fmla="*/ 6 w 12"/>
                <a:gd name="T1" fmla="*/ 0 h 1"/>
                <a:gd name="T2" fmla="*/ 6 w 12"/>
                <a:gd name="T3" fmla="*/ 0 h 1"/>
                <a:gd name="T4" fmla="*/ 0 w 12"/>
                <a:gd name="T5" fmla="*/ 0 h 1"/>
                <a:gd name="T6" fmla="*/ 6 w 12"/>
                <a:gd name="T7" fmla="*/ 0 h 1"/>
                <a:gd name="T8" fmla="*/ 6 w 12"/>
                <a:gd name="T9" fmla="*/ 0 h 1"/>
                <a:gd name="T10" fmla="*/ 12 w 12"/>
                <a:gd name="T11" fmla="*/ 0 h 1"/>
                <a:gd name="T12" fmla="*/ 12 w 12"/>
                <a:gd name="T13" fmla="*/ 0 h 1"/>
                <a:gd name="T14" fmla="*/ 12 w 12"/>
                <a:gd name="T15" fmla="*/ 0 h 1"/>
                <a:gd name="T16" fmla="*/ 6 w 12"/>
                <a:gd name="T17" fmla="*/ 0 h 1"/>
                <a:gd name="T18" fmla="*/ 6 w 12"/>
                <a:gd name="T19" fmla="*/ 0 h 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"/>
                <a:gd name="T31" fmla="*/ 0 h 1"/>
                <a:gd name="T32" fmla="*/ 12 w 12"/>
                <a:gd name="T33" fmla="*/ 1 h 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" h="1">
                  <a:moveTo>
                    <a:pt x="6" y="0"/>
                  </a:moveTo>
                  <a:lnTo>
                    <a:pt x="6" y="0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539" name="Freeform 187">
              <a:extLst>
                <a:ext uri="{FF2B5EF4-FFF2-40B4-BE49-F238E27FC236}">
                  <a16:creationId xmlns:a16="http://schemas.microsoft.com/office/drawing/2014/main" id="{FA1FF3C4-DC3F-35FB-FB39-9AC7D0AD9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434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</p:grpSp>
      <p:sp>
        <p:nvSpPr>
          <p:cNvPr id="433340" name="Rectangle 188">
            <a:extLst>
              <a:ext uri="{FF2B5EF4-FFF2-40B4-BE49-F238E27FC236}">
                <a16:creationId xmlns:a16="http://schemas.microsoft.com/office/drawing/2014/main" id="{2AE1A366-C273-4221-8C0B-D449FF337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4478338"/>
            <a:ext cx="3141663" cy="69850"/>
          </a:xfrm>
          <a:prstGeom prst="rect">
            <a:avLst/>
          </a:prstGeom>
          <a:solidFill>
            <a:srgbClr val="00FFFF"/>
          </a:solidFill>
          <a:ln w="9525">
            <a:solidFill>
              <a:srgbClr val="00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sp>
        <p:nvSpPr>
          <p:cNvPr id="433341" name="Rectangle 189">
            <a:extLst>
              <a:ext uri="{FF2B5EF4-FFF2-40B4-BE49-F238E27FC236}">
                <a16:creationId xmlns:a16="http://schemas.microsoft.com/office/drawing/2014/main" id="{69F03283-A7AD-38DF-7A5C-44AFA0AF55AD}"/>
              </a:ext>
            </a:extLst>
          </p:cNvPr>
          <p:cNvSpPr>
            <a:spLocks noChangeArrowheads="1"/>
          </p:cNvSpPr>
          <p:nvPr/>
        </p:nvSpPr>
        <p:spPr bwMode="auto">
          <a:xfrm rot="1714447">
            <a:off x="5440363" y="4462463"/>
            <a:ext cx="3286125" cy="69850"/>
          </a:xfrm>
          <a:prstGeom prst="rect">
            <a:avLst/>
          </a:prstGeom>
          <a:noFill/>
          <a:ln w="38100">
            <a:solidFill>
              <a:srgbClr val="00FF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grpSp>
        <p:nvGrpSpPr>
          <p:cNvPr id="4" name="Group 190">
            <a:extLst>
              <a:ext uri="{FF2B5EF4-FFF2-40B4-BE49-F238E27FC236}">
                <a16:creationId xmlns:a16="http://schemas.microsoft.com/office/drawing/2014/main" id="{008AE388-9E56-6E46-09EC-1E1EE544906B}"/>
              </a:ext>
            </a:extLst>
          </p:cNvPr>
          <p:cNvGrpSpPr>
            <a:grpSpLocks/>
          </p:cNvGrpSpPr>
          <p:nvPr/>
        </p:nvGrpSpPr>
        <p:grpSpPr bwMode="auto">
          <a:xfrm>
            <a:off x="7107238" y="4167188"/>
            <a:ext cx="685800" cy="304800"/>
            <a:chOff x="1872" y="3168"/>
            <a:chExt cx="432" cy="192"/>
          </a:xfrm>
        </p:grpSpPr>
        <p:sp>
          <p:nvSpPr>
            <p:cNvPr id="11471" name="Line 191">
              <a:extLst>
                <a:ext uri="{FF2B5EF4-FFF2-40B4-BE49-F238E27FC236}">
                  <a16:creationId xmlns:a16="http://schemas.microsoft.com/office/drawing/2014/main" id="{163DE135-79E8-8CD7-361C-FF8169079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168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11472" name="Line 192">
              <a:extLst>
                <a:ext uri="{FF2B5EF4-FFF2-40B4-BE49-F238E27FC236}">
                  <a16:creationId xmlns:a16="http://schemas.microsoft.com/office/drawing/2014/main" id="{5DE239D3-4100-223E-F07E-2F5C4D2E27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168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11473" name="Line 193">
              <a:extLst>
                <a:ext uri="{FF2B5EF4-FFF2-40B4-BE49-F238E27FC236}">
                  <a16:creationId xmlns:a16="http://schemas.microsoft.com/office/drawing/2014/main" id="{CBC46DF2-EBB2-DC0C-54E8-7289DB87B7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264"/>
              <a:ext cx="144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11474" name="Line 194">
              <a:extLst>
                <a:ext uri="{FF2B5EF4-FFF2-40B4-BE49-F238E27FC236}">
                  <a16:creationId xmlns:a16="http://schemas.microsoft.com/office/drawing/2014/main" id="{8A8D6AAE-D11C-8D1F-4962-B34D5CC054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755122">
              <a:off x="1872" y="3264"/>
              <a:ext cx="144" cy="1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</p:grpSp>
      <p:grpSp>
        <p:nvGrpSpPr>
          <p:cNvPr id="5" name="Group 195">
            <a:extLst>
              <a:ext uri="{FF2B5EF4-FFF2-40B4-BE49-F238E27FC236}">
                <a16:creationId xmlns:a16="http://schemas.microsoft.com/office/drawing/2014/main" id="{594B8B0C-1BC2-5056-441F-421DFD3698D7}"/>
              </a:ext>
            </a:extLst>
          </p:cNvPr>
          <p:cNvGrpSpPr>
            <a:grpSpLocks/>
          </p:cNvGrpSpPr>
          <p:nvPr/>
        </p:nvGrpSpPr>
        <p:grpSpPr bwMode="auto">
          <a:xfrm rot="1592579">
            <a:off x="6932613" y="4787900"/>
            <a:ext cx="1079500" cy="304800"/>
            <a:chOff x="1872" y="3168"/>
            <a:chExt cx="432" cy="192"/>
          </a:xfrm>
        </p:grpSpPr>
        <p:sp>
          <p:nvSpPr>
            <p:cNvPr id="11467" name="Line 196">
              <a:extLst>
                <a:ext uri="{FF2B5EF4-FFF2-40B4-BE49-F238E27FC236}">
                  <a16:creationId xmlns:a16="http://schemas.microsoft.com/office/drawing/2014/main" id="{2998218A-62EE-8DE6-2890-B5177F1B04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168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11468" name="Line 197">
              <a:extLst>
                <a:ext uri="{FF2B5EF4-FFF2-40B4-BE49-F238E27FC236}">
                  <a16:creationId xmlns:a16="http://schemas.microsoft.com/office/drawing/2014/main" id="{FB63454C-BEF7-4133-B118-6330E1058D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168"/>
              <a:ext cx="0" cy="1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11469" name="Line 198">
              <a:extLst>
                <a:ext uri="{FF2B5EF4-FFF2-40B4-BE49-F238E27FC236}">
                  <a16:creationId xmlns:a16="http://schemas.microsoft.com/office/drawing/2014/main" id="{F39C40B0-9C05-1932-941F-924416362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264"/>
              <a:ext cx="144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  <p:sp>
          <p:nvSpPr>
            <p:cNvPr id="11470" name="Line 199">
              <a:extLst>
                <a:ext uri="{FF2B5EF4-FFF2-40B4-BE49-F238E27FC236}">
                  <a16:creationId xmlns:a16="http://schemas.microsoft.com/office/drawing/2014/main" id="{A4B39936-57EF-C4B1-A8F9-213E81048D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755122">
              <a:off x="1872" y="3264"/>
              <a:ext cx="144" cy="1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/>
              <a:endParaRPr lang="zh-CN" altLang="en-US"/>
            </a:p>
          </p:txBody>
        </p:sp>
      </p:grpSp>
      <p:grpSp>
        <p:nvGrpSpPr>
          <p:cNvPr id="6" name="Group 200">
            <a:extLst>
              <a:ext uri="{FF2B5EF4-FFF2-40B4-BE49-F238E27FC236}">
                <a16:creationId xmlns:a16="http://schemas.microsoft.com/office/drawing/2014/main" id="{D78B2C8E-8799-D283-A3A6-2DDBE9947CB4}"/>
              </a:ext>
            </a:extLst>
          </p:cNvPr>
          <p:cNvGrpSpPr>
            <a:grpSpLocks/>
          </p:cNvGrpSpPr>
          <p:nvPr/>
        </p:nvGrpSpPr>
        <p:grpSpPr bwMode="auto">
          <a:xfrm rot="-3394506">
            <a:off x="8016081" y="4858545"/>
            <a:ext cx="180975" cy="322262"/>
            <a:chOff x="4495" y="2334"/>
            <a:chExt cx="114" cy="203"/>
          </a:xfrm>
        </p:grpSpPr>
        <p:grpSp>
          <p:nvGrpSpPr>
            <p:cNvPr id="11285" name="Group 201">
              <a:extLst>
                <a:ext uri="{FF2B5EF4-FFF2-40B4-BE49-F238E27FC236}">
                  <a16:creationId xmlns:a16="http://schemas.microsoft.com/office/drawing/2014/main" id="{32DA1845-A1AA-B1A3-4EBE-C54C430CD0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5" y="2334"/>
              <a:ext cx="114" cy="203"/>
              <a:chOff x="4495" y="2334"/>
              <a:chExt cx="114" cy="203"/>
            </a:xfrm>
          </p:grpSpPr>
          <p:sp>
            <p:nvSpPr>
              <p:cNvPr id="11350" name="Freeform 202">
                <a:extLst>
                  <a:ext uri="{FF2B5EF4-FFF2-40B4-BE49-F238E27FC236}">
                    <a16:creationId xmlns:a16="http://schemas.microsoft.com/office/drawing/2014/main" id="{E8F9A372-4ADD-9CAE-74CD-13FBF1376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3" y="2346"/>
                <a:ext cx="36" cy="71"/>
              </a:xfrm>
              <a:custGeom>
                <a:avLst/>
                <a:gdLst>
                  <a:gd name="T0" fmla="*/ 36 w 36"/>
                  <a:gd name="T1" fmla="*/ 71 h 71"/>
                  <a:gd name="T2" fmla="*/ 30 w 36"/>
                  <a:gd name="T3" fmla="*/ 71 h 71"/>
                  <a:gd name="T4" fmla="*/ 24 w 36"/>
                  <a:gd name="T5" fmla="*/ 71 h 71"/>
                  <a:gd name="T6" fmla="*/ 12 w 36"/>
                  <a:gd name="T7" fmla="*/ 65 h 71"/>
                  <a:gd name="T8" fmla="*/ 6 w 36"/>
                  <a:gd name="T9" fmla="*/ 59 h 71"/>
                  <a:gd name="T10" fmla="*/ 0 w 36"/>
                  <a:gd name="T11" fmla="*/ 54 h 71"/>
                  <a:gd name="T12" fmla="*/ 0 w 36"/>
                  <a:gd name="T13" fmla="*/ 48 h 71"/>
                  <a:gd name="T14" fmla="*/ 0 w 36"/>
                  <a:gd name="T15" fmla="*/ 42 h 71"/>
                  <a:gd name="T16" fmla="*/ 0 w 36"/>
                  <a:gd name="T17" fmla="*/ 42 h 71"/>
                  <a:gd name="T18" fmla="*/ 6 w 36"/>
                  <a:gd name="T19" fmla="*/ 36 h 71"/>
                  <a:gd name="T20" fmla="*/ 12 w 36"/>
                  <a:gd name="T21" fmla="*/ 30 h 71"/>
                  <a:gd name="T22" fmla="*/ 12 w 36"/>
                  <a:gd name="T23" fmla="*/ 30 h 71"/>
                  <a:gd name="T24" fmla="*/ 12 w 36"/>
                  <a:gd name="T25" fmla="*/ 12 h 71"/>
                  <a:gd name="T26" fmla="*/ 12 w 36"/>
                  <a:gd name="T27" fmla="*/ 0 h 71"/>
                  <a:gd name="T28" fmla="*/ 12 w 36"/>
                  <a:gd name="T29" fmla="*/ 12 h 71"/>
                  <a:gd name="T30" fmla="*/ 12 w 36"/>
                  <a:gd name="T31" fmla="*/ 6 h 71"/>
                  <a:gd name="T32" fmla="*/ 12 w 36"/>
                  <a:gd name="T33" fmla="*/ 12 h 71"/>
                  <a:gd name="T34" fmla="*/ 18 w 36"/>
                  <a:gd name="T35" fmla="*/ 18 h 71"/>
                  <a:gd name="T36" fmla="*/ 18 w 36"/>
                  <a:gd name="T37" fmla="*/ 24 h 71"/>
                  <a:gd name="T38" fmla="*/ 18 w 36"/>
                  <a:gd name="T39" fmla="*/ 24 h 71"/>
                  <a:gd name="T40" fmla="*/ 18 w 36"/>
                  <a:gd name="T41" fmla="*/ 24 h 71"/>
                  <a:gd name="T42" fmla="*/ 18 w 36"/>
                  <a:gd name="T43" fmla="*/ 24 h 71"/>
                  <a:gd name="T44" fmla="*/ 18 w 36"/>
                  <a:gd name="T45" fmla="*/ 30 h 71"/>
                  <a:gd name="T46" fmla="*/ 18 w 36"/>
                  <a:gd name="T47" fmla="*/ 36 h 71"/>
                  <a:gd name="T48" fmla="*/ 12 w 36"/>
                  <a:gd name="T49" fmla="*/ 42 h 71"/>
                  <a:gd name="T50" fmla="*/ 0 w 36"/>
                  <a:gd name="T51" fmla="*/ 48 h 71"/>
                  <a:gd name="T52" fmla="*/ 6 w 36"/>
                  <a:gd name="T53" fmla="*/ 48 h 71"/>
                  <a:gd name="T54" fmla="*/ 6 w 36"/>
                  <a:gd name="T55" fmla="*/ 48 h 71"/>
                  <a:gd name="T56" fmla="*/ 12 w 36"/>
                  <a:gd name="T57" fmla="*/ 48 h 71"/>
                  <a:gd name="T58" fmla="*/ 18 w 36"/>
                  <a:gd name="T59" fmla="*/ 54 h 71"/>
                  <a:gd name="T60" fmla="*/ 30 w 36"/>
                  <a:gd name="T61" fmla="*/ 54 h 71"/>
                  <a:gd name="T62" fmla="*/ 36 w 36"/>
                  <a:gd name="T63" fmla="*/ 59 h 71"/>
                  <a:gd name="T64" fmla="*/ 36 w 36"/>
                  <a:gd name="T65" fmla="*/ 71 h 71"/>
                  <a:gd name="T66" fmla="*/ 36 w 36"/>
                  <a:gd name="T67" fmla="*/ 71 h 7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36"/>
                  <a:gd name="T103" fmla="*/ 0 h 71"/>
                  <a:gd name="T104" fmla="*/ 36 w 36"/>
                  <a:gd name="T105" fmla="*/ 71 h 7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36" h="71">
                    <a:moveTo>
                      <a:pt x="36" y="71"/>
                    </a:moveTo>
                    <a:lnTo>
                      <a:pt x="30" y="71"/>
                    </a:lnTo>
                    <a:lnTo>
                      <a:pt x="24" y="71"/>
                    </a:lnTo>
                    <a:lnTo>
                      <a:pt x="12" y="65"/>
                    </a:lnTo>
                    <a:lnTo>
                      <a:pt x="6" y="59"/>
                    </a:lnTo>
                    <a:lnTo>
                      <a:pt x="0" y="54"/>
                    </a:lnTo>
                    <a:lnTo>
                      <a:pt x="0" y="48"/>
                    </a:lnTo>
                    <a:lnTo>
                      <a:pt x="0" y="42"/>
                    </a:lnTo>
                    <a:lnTo>
                      <a:pt x="6" y="36"/>
                    </a:lnTo>
                    <a:lnTo>
                      <a:pt x="12" y="30"/>
                    </a:lnTo>
                    <a:lnTo>
                      <a:pt x="12" y="12"/>
                    </a:lnTo>
                    <a:lnTo>
                      <a:pt x="12" y="0"/>
                    </a:lnTo>
                    <a:lnTo>
                      <a:pt x="12" y="12"/>
                    </a:lnTo>
                    <a:lnTo>
                      <a:pt x="12" y="6"/>
                    </a:lnTo>
                    <a:lnTo>
                      <a:pt x="12" y="12"/>
                    </a:lnTo>
                    <a:lnTo>
                      <a:pt x="18" y="18"/>
                    </a:lnTo>
                    <a:lnTo>
                      <a:pt x="18" y="24"/>
                    </a:lnTo>
                    <a:lnTo>
                      <a:pt x="18" y="30"/>
                    </a:lnTo>
                    <a:lnTo>
                      <a:pt x="18" y="36"/>
                    </a:lnTo>
                    <a:lnTo>
                      <a:pt x="12" y="42"/>
                    </a:lnTo>
                    <a:lnTo>
                      <a:pt x="0" y="48"/>
                    </a:lnTo>
                    <a:lnTo>
                      <a:pt x="6" y="48"/>
                    </a:lnTo>
                    <a:lnTo>
                      <a:pt x="12" y="48"/>
                    </a:lnTo>
                    <a:lnTo>
                      <a:pt x="18" y="54"/>
                    </a:lnTo>
                    <a:lnTo>
                      <a:pt x="30" y="54"/>
                    </a:lnTo>
                    <a:lnTo>
                      <a:pt x="36" y="59"/>
                    </a:lnTo>
                    <a:lnTo>
                      <a:pt x="36" y="71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51" name="Freeform 203">
                <a:extLst>
                  <a:ext uri="{FF2B5EF4-FFF2-40B4-BE49-F238E27FC236}">
                    <a16:creationId xmlns:a16="http://schemas.microsoft.com/office/drawing/2014/main" id="{49ED79A0-42BF-E1C1-D717-EC36E07E9D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3" y="2400"/>
                <a:ext cx="42" cy="35"/>
              </a:xfrm>
              <a:custGeom>
                <a:avLst/>
                <a:gdLst>
                  <a:gd name="T0" fmla="*/ 30 w 42"/>
                  <a:gd name="T1" fmla="*/ 11 h 35"/>
                  <a:gd name="T2" fmla="*/ 36 w 42"/>
                  <a:gd name="T3" fmla="*/ 5 h 35"/>
                  <a:gd name="T4" fmla="*/ 30 w 42"/>
                  <a:gd name="T5" fmla="*/ 5 h 35"/>
                  <a:gd name="T6" fmla="*/ 18 w 42"/>
                  <a:gd name="T7" fmla="*/ 0 h 35"/>
                  <a:gd name="T8" fmla="*/ 0 w 42"/>
                  <a:gd name="T9" fmla="*/ 17 h 35"/>
                  <a:gd name="T10" fmla="*/ 18 w 42"/>
                  <a:gd name="T11" fmla="*/ 29 h 35"/>
                  <a:gd name="T12" fmla="*/ 30 w 42"/>
                  <a:gd name="T13" fmla="*/ 35 h 35"/>
                  <a:gd name="T14" fmla="*/ 42 w 42"/>
                  <a:gd name="T15" fmla="*/ 29 h 35"/>
                  <a:gd name="T16" fmla="*/ 30 w 42"/>
                  <a:gd name="T17" fmla="*/ 11 h 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2"/>
                  <a:gd name="T28" fmla="*/ 0 h 35"/>
                  <a:gd name="T29" fmla="*/ 42 w 42"/>
                  <a:gd name="T30" fmla="*/ 35 h 3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2" h="35">
                    <a:moveTo>
                      <a:pt x="30" y="11"/>
                    </a:moveTo>
                    <a:lnTo>
                      <a:pt x="36" y="5"/>
                    </a:lnTo>
                    <a:lnTo>
                      <a:pt x="30" y="5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29"/>
                    </a:lnTo>
                    <a:lnTo>
                      <a:pt x="30" y="35"/>
                    </a:lnTo>
                    <a:lnTo>
                      <a:pt x="42" y="29"/>
                    </a:lnTo>
                    <a:lnTo>
                      <a:pt x="30" y="11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52" name="Freeform 204">
                <a:extLst>
                  <a:ext uri="{FF2B5EF4-FFF2-40B4-BE49-F238E27FC236}">
                    <a16:creationId xmlns:a16="http://schemas.microsoft.com/office/drawing/2014/main" id="{AB1FB941-B1B3-3779-E67F-57D1346CE7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7" y="2388"/>
                <a:ext cx="24" cy="29"/>
              </a:xfrm>
              <a:custGeom>
                <a:avLst/>
                <a:gdLst>
                  <a:gd name="T0" fmla="*/ 24 w 24"/>
                  <a:gd name="T1" fmla="*/ 12 h 29"/>
                  <a:gd name="T2" fmla="*/ 24 w 24"/>
                  <a:gd name="T3" fmla="*/ 6 h 29"/>
                  <a:gd name="T4" fmla="*/ 18 w 24"/>
                  <a:gd name="T5" fmla="*/ 6 h 29"/>
                  <a:gd name="T6" fmla="*/ 6 w 24"/>
                  <a:gd name="T7" fmla="*/ 0 h 29"/>
                  <a:gd name="T8" fmla="*/ 6 w 24"/>
                  <a:gd name="T9" fmla="*/ 23 h 29"/>
                  <a:gd name="T10" fmla="*/ 0 w 24"/>
                  <a:gd name="T11" fmla="*/ 23 h 29"/>
                  <a:gd name="T12" fmla="*/ 6 w 24"/>
                  <a:gd name="T13" fmla="*/ 29 h 29"/>
                  <a:gd name="T14" fmla="*/ 6 w 24"/>
                  <a:gd name="T15" fmla="*/ 29 h 29"/>
                  <a:gd name="T16" fmla="*/ 6 w 24"/>
                  <a:gd name="T17" fmla="*/ 29 h 29"/>
                  <a:gd name="T18" fmla="*/ 24 w 24"/>
                  <a:gd name="T19" fmla="*/ 12 h 29"/>
                  <a:gd name="T20" fmla="*/ 6 w 24"/>
                  <a:gd name="T21" fmla="*/ 29 h 29"/>
                  <a:gd name="T22" fmla="*/ 6 w 24"/>
                  <a:gd name="T23" fmla="*/ 29 h 29"/>
                  <a:gd name="T24" fmla="*/ 6 w 24"/>
                  <a:gd name="T25" fmla="*/ 29 h 29"/>
                  <a:gd name="T26" fmla="*/ 18 w 24"/>
                  <a:gd name="T27" fmla="*/ 23 h 29"/>
                  <a:gd name="T28" fmla="*/ 6 w 24"/>
                  <a:gd name="T29" fmla="*/ 29 h 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"/>
                  <a:gd name="T46" fmla="*/ 0 h 29"/>
                  <a:gd name="T47" fmla="*/ 24 w 24"/>
                  <a:gd name="T48" fmla="*/ 29 h 2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" h="29">
                    <a:moveTo>
                      <a:pt x="24" y="12"/>
                    </a:moveTo>
                    <a:lnTo>
                      <a:pt x="24" y="6"/>
                    </a:lnTo>
                    <a:lnTo>
                      <a:pt x="18" y="6"/>
                    </a:lnTo>
                    <a:lnTo>
                      <a:pt x="6" y="0"/>
                    </a:lnTo>
                    <a:lnTo>
                      <a:pt x="6" y="23"/>
                    </a:lnTo>
                    <a:lnTo>
                      <a:pt x="0" y="23"/>
                    </a:lnTo>
                    <a:lnTo>
                      <a:pt x="6" y="29"/>
                    </a:lnTo>
                    <a:lnTo>
                      <a:pt x="24" y="12"/>
                    </a:lnTo>
                    <a:close/>
                    <a:moveTo>
                      <a:pt x="6" y="29"/>
                    </a:moveTo>
                    <a:lnTo>
                      <a:pt x="6" y="29"/>
                    </a:lnTo>
                    <a:lnTo>
                      <a:pt x="18" y="23"/>
                    </a:lnTo>
                    <a:lnTo>
                      <a:pt x="6" y="29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53" name="Freeform 205">
                <a:extLst>
                  <a:ext uri="{FF2B5EF4-FFF2-40B4-BE49-F238E27FC236}">
                    <a16:creationId xmlns:a16="http://schemas.microsoft.com/office/drawing/2014/main" id="{D2B6CA9B-A872-17D7-32BA-160243AB28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382"/>
                <a:ext cx="24" cy="35"/>
              </a:xfrm>
              <a:custGeom>
                <a:avLst/>
                <a:gdLst>
                  <a:gd name="T0" fmla="*/ 24 w 24"/>
                  <a:gd name="T1" fmla="*/ 12 h 35"/>
                  <a:gd name="T2" fmla="*/ 24 w 24"/>
                  <a:gd name="T3" fmla="*/ 12 h 35"/>
                  <a:gd name="T4" fmla="*/ 24 w 24"/>
                  <a:gd name="T5" fmla="*/ 18 h 35"/>
                  <a:gd name="T6" fmla="*/ 6 w 24"/>
                  <a:gd name="T7" fmla="*/ 0 h 35"/>
                  <a:gd name="T8" fmla="*/ 0 w 24"/>
                  <a:gd name="T9" fmla="*/ 12 h 35"/>
                  <a:gd name="T10" fmla="*/ 6 w 24"/>
                  <a:gd name="T11" fmla="*/ 23 h 35"/>
                  <a:gd name="T12" fmla="*/ 12 w 24"/>
                  <a:gd name="T13" fmla="*/ 29 h 35"/>
                  <a:gd name="T14" fmla="*/ 12 w 24"/>
                  <a:gd name="T15" fmla="*/ 29 h 35"/>
                  <a:gd name="T16" fmla="*/ 24 w 24"/>
                  <a:gd name="T17" fmla="*/ 12 h 35"/>
                  <a:gd name="T18" fmla="*/ 12 w 24"/>
                  <a:gd name="T19" fmla="*/ 29 h 35"/>
                  <a:gd name="T20" fmla="*/ 18 w 24"/>
                  <a:gd name="T21" fmla="*/ 35 h 35"/>
                  <a:gd name="T22" fmla="*/ 18 w 24"/>
                  <a:gd name="T23" fmla="*/ 29 h 35"/>
                  <a:gd name="T24" fmla="*/ 18 w 24"/>
                  <a:gd name="T25" fmla="*/ 18 h 35"/>
                  <a:gd name="T26" fmla="*/ 12 w 24"/>
                  <a:gd name="T27" fmla="*/ 29 h 3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4"/>
                  <a:gd name="T43" fmla="*/ 0 h 35"/>
                  <a:gd name="T44" fmla="*/ 24 w 24"/>
                  <a:gd name="T45" fmla="*/ 35 h 3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4" h="35">
                    <a:moveTo>
                      <a:pt x="24" y="12"/>
                    </a:moveTo>
                    <a:lnTo>
                      <a:pt x="24" y="12"/>
                    </a:lnTo>
                    <a:lnTo>
                      <a:pt x="24" y="18"/>
                    </a:lnTo>
                    <a:lnTo>
                      <a:pt x="6" y="0"/>
                    </a:lnTo>
                    <a:lnTo>
                      <a:pt x="0" y="12"/>
                    </a:lnTo>
                    <a:lnTo>
                      <a:pt x="6" y="23"/>
                    </a:lnTo>
                    <a:lnTo>
                      <a:pt x="12" y="29"/>
                    </a:lnTo>
                    <a:lnTo>
                      <a:pt x="24" y="12"/>
                    </a:lnTo>
                    <a:close/>
                    <a:moveTo>
                      <a:pt x="12" y="29"/>
                    </a:moveTo>
                    <a:lnTo>
                      <a:pt x="18" y="35"/>
                    </a:lnTo>
                    <a:lnTo>
                      <a:pt x="18" y="29"/>
                    </a:lnTo>
                    <a:lnTo>
                      <a:pt x="18" y="18"/>
                    </a:lnTo>
                    <a:lnTo>
                      <a:pt x="12" y="29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54" name="Freeform 206">
                <a:extLst>
                  <a:ext uri="{FF2B5EF4-FFF2-40B4-BE49-F238E27FC236}">
                    <a16:creationId xmlns:a16="http://schemas.microsoft.com/office/drawing/2014/main" id="{EFF01AD0-A5A2-2E1F-9AAB-AE40977692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1" y="2370"/>
                <a:ext cx="36" cy="30"/>
              </a:xfrm>
              <a:custGeom>
                <a:avLst/>
                <a:gdLst>
                  <a:gd name="T0" fmla="*/ 18 w 36"/>
                  <a:gd name="T1" fmla="*/ 30 h 30"/>
                  <a:gd name="T2" fmla="*/ 24 w 36"/>
                  <a:gd name="T3" fmla="*/ 30 h 30"/>
                  <a:gd name="T4" fmla="*/ 30 w 36"/>
                  <a:gd name="T5" fmla="*/ 24 h 30"/>
                  <a:gd name="T6" fmla="*/ 36 w 36"/>
                  <a:gd name="T7" fmla="*/ 12 h 30"/>
                  <a:gd name="T8" fmla="*/ 36 w 36"/>
                  <a:gd name="T9" fmla="*/ 6 h 30"/>
                  <a:gd name="T10" fmla="*/ 18 w 36"/>
                  <a:gd name="T11" fmla="*/ 12 h 30"/>
                  <a:gd name="T12" fmla="*/ 12 w 36"/>
                  <a:gd name="T13" fmla="*/ 0 h 30"/>
                  <a:gd name="T14" fmla="*/ 12 w 36"/>
                  <a:gd name="T15" fmla="*/ 6 h 30"/>
                  <a:gd name="T16" fmla="*/ 6 w 36"/>
                  <a:gd name="T17" fmla="*/ 12 h 30"/>
                  <a:gd name="T18" fmla="*/ 6 w 36"/>
                  <a:gd name="T19" fmla="*/ 12 h 30"/>
                  <a:gd name="T20" fmla="*/ 18 w 36"/>
                  <a:gd name="T21" fmla="*/ 30 h 30"/>
                  <a:gd name="T22" fmla="*/ 6 w 36"/>
                  <a:gd name="T23" fmla="*/ 12 h 30"/>
                  <a:gd name="T24" fmla="*/ 0 w 36"/>
                  <a:gd name="T25" fmla="*/ 12 h 30"/>
                  <a:gd name="T26" fmla="*/ 0 w 36"/>
                  <a:gd name="T27" fmla="*/ 12 h 30"/>
                  <a:gd name="T28" fmla="*/ 12 w 36"/>
                  <a:gd name="T29" fmla="*/ 18 h 30"/>
                  <a:gd name="T30" fmla="*/ 6 w 36"/>
                  <a:gd name="T31" fmla="*/ 12 h 3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6"/>
                  <a:gd name="T49" fmla="*/ 0 h 30"/>
                  <a:gd name="T50" fmla="*/ 36 w 36"/>
                  <a:gd name="T51" fmla="*/ 30 h 3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6" h="30">
                    <a:moveTo>
                      <a:pt x="18" y="30"/>
                    </a:moveTo>
                    <a:lnTo>
                      <a:pt x="24" y="30"/>
                    </a:lnTo>
                    <a:lnTo>
                      <a:pt x="30" y="24"/>
                    </a:lnTo>
                    <a:lnTo>
                      <a:pt x="36" y="12"/>
                    </a:lnTo>
                    <a:lnTo>
                      <a:pt x="36" y="6"/>
                    </a:lnTo>
                    <a:lnTo>
                      <a:pt x="18" y="12"/>
                    </a:lnTo>
                    <a:lnTo>
                      <a:pt x="12" y="0"/>
                    </a:lnTo>
                    <a:lnTo>
                      <a:pt x="12" y="6"/>
                    </a:lnTo>
                    <a:lnTo>
                      <a:pt x="6" y="12"/>
                    </a:lnTo>
                    <a:lnTo>
                      <a:pt x="18" y="30"/>
                    </a:lnTo>
                    <a:close/>
                    <a:moveTo>
                      <a:pt x="6" y="12"/>
                    </a:moveTo>
                    <a:lnTo>
                      <a:pt x="0" y="12"/>
                    </a:lnTo>
                    <a:lnTo>
                      <a:pt x="12" y="18"/>
                    </a:ln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55" name="Freeform 207">
                <a:extLst>
                  <a:ext uri="{FF2B5EF4-FFF2-40B4-BE49-F238E27FC236}">
                    <a16:creationId xmlns:a16="http://schemas.microsoft.com/office/drawing/2014/main" id="{ADEE7E6A-DD9D-43B2-6DE4-192F0EBC5B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352"/>
                <a:ext cx="24" cy="30"/>
              </a:xfrm>
              <a:custGeom>
                <a:avLst/>
                <a:gdLst>
                  <a:gd name="T0" fmla="*/ 24 w 24"/>
                  <a:gd name="T1" fmla="*/ 18 h 30"/>
                  <a:gd name="T2" fmla="*/ 24 w 24"/>
                  <a:gd name="T3" fmla="*/ 0 h 30"/>
                  <a:gd name="T4" fmla="*/ 0 w 24"/>
                  <a:gd name="T5" fmla="*/ 6 h 30"/>
                  <a:gd name="T6" fmla="*/ 0 w 24"/>
                  <a:gd name="T7" fmla="*/ 24 h 30"/>
                  <a:gd name="T8" fmla="*/ 24 w 24"/>
                  <a:gd name="T9" fmla="*/ 18 h 30"/>
                  <a:gd name="T10" fmla="*/ 0 w 24"/>
                  <a:gd name="T11" fmla="*/ 24 h 30"/>
                  <a:gd name="T12" fmla="*/ 0 w 24"/>
                  <a:gd name="T13" fmla="*/ 30 h 30"/>
                  <a:gd name="T14" fmla="*/ 6 w 24"/>
                  <a:gd name="T15" fmla="*/ 30 h 30"/>
                  <a:gd name="T16" fmla="*/ 12 w 24"/>
                  <a:gd name="T17" fmla="*/ 24 h 30"/>
                  <a:gd name="T18" fmla="*/ 0 w 24"/>
                  <a:gd name="T19" fmla="*/ 24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30"/>
                  <a:gd name="T32" fmla="*/ 24 w 24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30">
                    <a:moveTo>
                      <a:pt x="24" y="18"/>
                    </a:moveTo>
                    <a:lnTo>
                      <a:pt x="24" y="0"/>
                    </a:lnTo>
                    <a:lnTo>
                      <a:pt x="0" y="6"/>
                    </a:lnTo>
                    <a:lnTo>
                      <a:pt x="0" y="24"/>
                    </a:lnTo>
                    <a:lnTo>
                      <a:pt x="24" y="18"/>
                    </a:lnTo>
                    <a:close/>
                    <a:moveTo>
                      <a:pt x="0" y="24"/>
                    </a:moveTo>
                    <a:lnTo>
                      <a:pt x="0" y="30"/>
                    </a:lnTo>
                    <a:lnTo>
                      <a:pt x="6" y="30"/>
                    </a:lnTo>
                    <a:lnTo>
                      <a:pt x="12" y="24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56" name="Freeform 208">
                <a:extLst>
                  <a:ext uri="{FF2B5EF4-FFF2-40B4-BE49-F238E27FC236}">
                    <a16:creationId xmlns:a16="http://schemas.microsoft.com/office/drawing/2014/main" id="{A11CBB5A-42EA-4ADB-1AE4-23CB5923C5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346"/>
                <a:ext cx="24" cy="12"/>
              </a:xfrm>
              <a:custGeom>
                <a:avLst/>
                <a:gdLst>
                  <a:gd name="T0" fmla="*/ 24 w 24"/>
                  <a:gd name="T1" fmla="*/ 6 h 12"/>
                  <a:gd name="T2" fmla="*/ 24 w 24"/>
                  <a:gd name="T3" fmla="*/ 0 h 12"/>
                  <a:gd name="T4" fmla="*/ 0 w 24"/>
                  <a:gd name="T5" fmla="*/ 6 h 12"/>
                  <a:gd name="T6" fmla="*/ 0 w 24"/>
                  <a:gd name="T7" fmla="*/ 12 h 12"/>
                  <a:gd name="T8" fmla="*/ 24 w 24"/>
                  <a:gd name="T9" fmla="*/ 6 h 12"/>
                  <a:gd name="T10" fmla="*/ 24 w 24"/>
                  <a:gd name="T11" fmla="*/ 6 h 12"/>
                  <a:gd name="T12" fmla="*/ 24 w 24"/>
                  <a:gd name="T13" fmla="*/ 6 h 12"/>
                  <a:gd name="T14" fmla="*/ 24 w 24"/>
                  <a:gd name="T15" fmla="*/ 6 h 12"/>
                  <a:gd name="T16" fmla="*/ 12 w 24"/>
                  <a:gd name="T17" fmla="*/ 12 h 12"/>
                  <a:gd name="T18" fmla="*/ 24 w 24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12"/>
                  <a:gd name="T32" fmla="*/ 24 w 24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12">
                    <a:moveTo>
                      <a:pt x="24" y="6"/>
                    </a:moveTo>
                    <a:lnTo>
                      <a:pt x="24" y="0"/>
                    </a:lnTo>
                    <a:lnTo>
                      <a:pt x="0" y="6"/>
                    </a:lnTo>
                    <a:lnTo>
                      <a:pt x="0" y="12"/>
                    </a:lnTo>
                    <a:lnTo>
                      <a:pt x="24" y="6"/>
                    </a:lnTo>
                    <a:close/>
                    <a:moveTo>
                      <a:pt x="24" y="6"/>
                    </a:moveTo>
                    <a:lnTo>
                      <a:pt x="24" y="6"/>
                    </a:lnTo>
                    <a:lnTo>
                      <a:pt x="12" y="12"/>
                    </a:lnTo>
                    <a:lnTo>
                      <a:pt x="24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57" name="Freeform 209">
                <a:extLst>
                  <a:ext uri="{FF2B5EF4-FFF2-40B4-BE49-F238E27FC236}">
                    <a16:creationId xmlns:a16="http://schemas.microsoft.com/office/drawing/2014/main" id="{44230580-D1EF-57C2-7584-D0C11946A3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346"/>
                <a:ext cx="24" cy="12"/>
              </a:xfrm>
              <a:custGeom>
                <a:avLst/>
                <a:gdLst>
                  <a:gd name="T0" fmla="*/ 0 w 24"/>
                  <a:gd name="T1" fmla="*/ 6 h 12"/>
                  <a:gd name="T2" fmla="*/ 0 w 24"/>
                  <a:gd name="T3" fmla="*/ 12 h 12"/>
                  <a:gd name="T4" fmla="*/ 24 w 24"/>
                  <a:gd name="T5" fmla="*/ 6 h 12"/>
                  <a:gd name="T6" fmla="*/ 24 w 24"/>
                  <a:gd name="T7" fmla="*/ 0 h 12"/>
                  <a:gd name="T8" fmla="*/ 0 w 24"/>
                  <a:gd name="T9" fmla="*/ 6 h 12"/>
                  <a:gd name="T10" fmla="*/ 24 w 24"/>
                  <a:gd name="T11" fmla="*/ 0 h 12"/>
                  <a:gd name="T12" fmla="*/ 0 w 24"/>
                  <a:gd name="T13" fmla="*/ 6 h 12"/>
                  <a:gd name="T14" fmla="*/ 24 w 24"/>
                  <a:gd name="T15" fmla="*/ 0 h 12"/>
                  <a:gd name="T16" fmla="*/ 0 w 24"/>
                  <a:gd name="T17" fmla="*/ 6 h 12"/>
                  <a:gd name="T18" fmla="*/ 24 w 24"/>
                  <a:gd name="T19" fmla="*/ 0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12"/>
                  <a:gd name="T32" fmla="*/ 24 w 24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12">
                    <a:moveTo>
                      <a:pt x="0" y="6"/>
                    </a:moveTo>
                    <a:lnTo>
                      <a:pt x="0" y="12"/>
                    </a:lnTo>
                    <a:lnTo>
                      <a:pt x="24" y="6"/>
                    </a:lnTo>
                    <a:lnTo>
                      <a:pt x="24" y="0"/>
                    </a:lnTo>
                    <a:lnTo>
                      <a:pt x="0" y="6"/>
                    </a:lnTo>
                    <a:close/>
                    <a:moveTo>
                      <a:pt x="24" y="0"/>
                    </a:moveTo>
                    <a:lnTo>
                      <a:pt x="0" y="6"/>
                    </a:lnTo>
                    <a:lnTo>
                      <a:pt x="24" y="0"/>
                    </a:lnTo>
                    <a:lnTo>
                      <a:pt x="0" y="6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58" name="Freeform 210">
                <a:extLst>
                  <a:ext uri="{FF2B5EF4-FFF2-40B4-BE49-F238E27FC236}">
                    <a16:creationId xmlns:a16="http://schemas.microsoft.com/office/drawing/2014/main" id="{299C5C86-ADEE-3F29-D2AA-B7A5CD08C3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352"/>
                <a:ext cx="24" cy="6"/>
              </a:xfrm>
              <a:custGeom>
                <a:avLst/>
                <a:gdLst>
                  <a:gd name="T0" fmla="*/ 24 w 24"/>
                  <a:gd name="T1" fmla="*/ 6 h 6"/>
                  <a:gd name="T2" fmla="*/ 24 w 24"/>
                  <a:gd name="T3" fmla="*/ 0 h 6"/>
                  <a:gd name="T4" fmla="*/ 0 w 24"/>
                  <a:gd name="T5" fmla="*/ 0 h 6"/>
                  <a:gd name="T6" fmla="*/ 0 w 24"/>
                  <a:gd name="T7" fmla="*/ 6 h 6"/>
                  <a:gd name="T8" fmla="*/ 24 w 24"/>
                  <a:gd name="T9" fmla="*/ 6 h 6"/>
                  <a:gd name="T10" fmla="*/ 0 w 24"/>
                  <a:gd name="T11" fmla="*/ 6 h 6"/>
                  <a:gd name="T12" fmla="*/ 24 w 24"/>
                  <a:gd name="T13" fmla="*/ 6 h 6"/>
                  <a:gd name="T14" fmla="*/ 0 w 24"/>
                  <a:gd name="T15" fmla="*/ 6 h 6"/>
                  <a:gd name="T16" fmla="*/ 24 w 24"/>
                  <a:gd name="T17" fmla="*/ 0 h 6"/>
                  <a:gd name="T18" fmla="*/ 0 w 24"/>
                  <a:gd name="T19" fmla="*/ 6 h 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6"/>
                  <a:gd name="T32" fmla="*/ 24 w 24"/>
                  <a:gd name="T33" fmla="*/ 6 h 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6">
                    <a:moveTo>
                      <a:pt x="24" y="6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24" y="6"/>
                    </a:lnTo>
                    <a:close/>
                    <a:moveTo>
                      <a:pt x="0" y="6"/>
                    </a:moveTo>
                    <a:lnTo>
                      <a:pt x="24" y="6"/>
                    </a:lnTo>
                    <a:lnTo>
                      <a:pt x="0" y="6"/>
                    </a:lnTo>
                    <a:lnTo>
                      <a:pt x="24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59" name="Freeform 211">
                <a:extLst>
                  <a:ext uri="{FF2B5EF4-FFF2-40B4-BE49-F238E27FC236}">
                    <a16:creationId xmlns:a16="http://schemas.microsoft.com/office/drawing/2014/main" id="{005E060F-C7E3-1E77-F61A-28BAD45336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352"/>
                <a:ext cx="24" cy="24"/>
              </a:xfrm>
              <a:custGeom>
                <a:avLst/>
                <a:gdLst>
                  <a:gd name="T0" fmla="*/ 0 w 24"/>
                  <a:gd name="T1" fmla="*/ 6 h 24"/>
                  <a:gd name="T2" fmla="*/ 0 w 24"/>
                  <a:gd name="T3" fmla="*/ 6 h 24"/>
                  <a:gd name="T4" fmla="*/ 0 w 24"/>
                  <a:gd name="T5" fmla="*/ 12 h 24"/>
                  <a:gd name="T6" fmla="*/ 6 w 24"/>
                  <a:gd name="T7" fmla="*/ 24 h 24"/>
                  <a:gd name="T8" fmla="*/ 6 w 24"/>
                  <a:gd name="T9" fmla="*/ 24 h 24"/>
                  <a:gd name="T10" fmla="*/ 6 w 24"/>
                  <a:gd name="T11" fmla="*/ 24 h 24"/>
                  <a:gd name="T12" fmla="*/ 6 w 24"/>
                  <a:gd name="T13" fmla="*/ 12 h 24"/>
                  <a:gd name="T14" fmla="*/ 24 w 24"/>
                  <a:gd name="T15" fmla="*/ 12 h 24"/>
                  <a:gd name="T16" fmla="*/ 24 w 24"/>
                  <a:gd name="T17" fmla="*/ 6 h 24"/>
                  <a:gd name="T18" fmla="*/ 24 w 24"/>
                  <a:gd name="T19" fmla="*/ 6 h 24"/>
                  <a:gd name="T20" fmla="*/ 24 w 24"/>
                  <a:gd name="T21" fmla="*/ 0 h 24"/>
                  <a:gd name="T22" fmla="*/ 0 w 24"/>
                  <a:gd name="T23" fmla="*/ 6 h 24"/>
                  <a:gd name="T24" fmla="*/ 24 w 24"/>
                  <a:gd name="T25" fmla="*/ 0 h 24"/>
                  <a:gd name="T26" fmla="*/ 0 w 24"/>
                  <a:gd name="T27" fmla="*/ 6 h 24"/>
                  <a:gd name="T28" fmla="*/ 24 w 24"/>
                  <a:gd name="T29" fmla="*/ 0 h 24"/>
                  <a:gd name="T30" fmla="*/ 0 w 24"/>
                  <a:gd name="T31" fmla="*/ 0 h 24"/>
                  <a:gd name="T32" fmla="*/ 24 w 24"/>
                  <a:gd name="T33" fmla="*/ 0 h 2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4"/>
                  <a:gd name="T52" fmla="*/ 0 h 24"/>
                  <a:gd name="T53" fmla="*/ 24 w 24"/>
                  <a:gd name="T54" fmla="*/ 24 h 24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4" h="24">
                    <a:moveTo>
                      <a:pt x="0" y="6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6" y="24"/>
                    </a:lnTo>
                    <a:lnTo>
                      <a:pt x="6" y="12"/>
                    </a:lnTo>
                    <a:lnTo>
                      <a:pt x="24" y="12"/>
                    </a:lnTo>
                    <a:lnTo>
                      <a:pt x="24" y="6"/>
                    </a:lnTo>
                    <a:lnTo>
                      <a:pt x="24" y="0"/>
                    </a:lnTo>
                    <a:lnTo>
                      <a:pt x="0" y="6"/>
                    </a:lnTo>
                    <a:close/>
                    <a:moveTo>
                      <a:pt x="24" y="0"/>
                    </a:moveTo>
                    <a:lnTo>
                      <a:pt x="0" y="6"/>
                    </a:ln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60" name="Freeform 212">
                <a:extLst>
                  <a:ext uri="{FF2B5EF4-FFF2-40B4-BE49-F238E27FC236}">
                    <a16:creationId xmlns:a16="http://schemas.microsoft.com/office/drawing/2014/main" id="{2BBCF7D7-AB44-2575-7C0A-F439DB0A15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358"/>
                <a:ext cx="24" cy="18"/>
              </a:xfrm>
              <a:custGeom>
                <a:avLst/>
                <a:gdLst>
                  <a:gd name="T0" fmla="*/ 18 w 24"/>
                  <a:gd name="T1" fmla="*/ 18 h 18"/>
                  <a:gd name="T2" fmla="*/ 24 w 24"/>
                  <a:gd name="T3" fmla="*/ 18 h 18"/>
                  <a:gd name="T4" fmla="*/ 6 w 24"/>
                  <a:gd name="T5" fmla="*/ 0 h 18"/>
                  <a:gd name="T6" fmla="*/ 0 w 24"/>
                  <a:gd name="T7" fmla="*/ 0 h 18"/>
                  <a:gd name="T8" fmla="*/ 18 w 24"/>
                  <a:gd name="T9" fmla="*/ 18 h 18"/>
                  <a:gd name="T10" fmla="*/ 0 w 24"/>
                  <a:gd name="T11" fmla="*/ 0 h 18"/>
                  <a:gd name="T12" fmla="*/ 0 w 24"/>
                  <a:gd name="T13" fmla="*/ 6 h 18"/>
                  <a:gd name="T14" fmla="*/ 0 w 24"/>
                  <a:gd name="T15" fmla="*/ 6 h 18"/>
                  <a:gd name="T16" fmla="*/ 12 w 24"/>
                  <a:gd name="T17" fmla="*/ 12 h 18"/>
                  <a:gd name="T18" fmla="*/ 0 w 24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18"/>
                  <a:gd name="T32" fmla="*/ 24 w 24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18">
                    <a:moveTo>
                      <a:pt x="18" y="18"/>
                    </a:moveTo>
                    <a:lnTo>
                      <a:pt x="24" y="18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18" y="18"/>
                    </a:lnTo>
                    <a:close/>
                    <a:moveTo>
                      <a:pt x="0" y="0"/>
                    </a:moveTo>
                    <a:lnTo>
                      <a:pt x="0" y="6"/>
                    </a:lnTo>
                    <a:lnTo>
                      <a:pt x="12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61" name="Freeform 213">
                <a:extLst>
                  <a:ext uri="{FF2B5EF4-FFF2-40B4-BE49-F238E27FC236}">
                    <a16:creationId xmlns:a16="http://schemas.microsoft.com/office/drawing/2014/main" id="{55A820E7-BDDD-7884-C233-7E880F4A3C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346"/>
                <a:ext cx="24" cy="36"/>
              </a:xfrm>
              <a:custGeom>
                <a:avLst/>
                <a:gdLst>
                  <a:gd name="T0" fmla="*/ 0 w 24"/>
                  <a:gd name="T1" fmla="*/ 24 h 36"/>
                  <a:gd name="T2" fmla="*/ 0 w 24"/>
                  <a:gd name="T3" fmla="*/ 24 h 36"/>
                  <a:gd name="T4" fmla="*/ 24 w 24"/>
                  <a:gd name="T5" fmla="*/ 36 h 36"/>
                  <a:gd name="T6" fmla="*/ 24 w 24"/>
                  <a:gd name="T7" fmla="*/ 24 h 36"/>
                  <a:gd name="T8" fmla="*/ 24 w 24"/>
                  <a:gd name="T9" fmla="*/ 18 h 36"/>
                  <a:gd name="T10" fmla="*/ 0 w 24"/>
                  <a:gd name="T11" fmla="*/ 24 h 36"/>
                  <a:gd name="T12" fmla="*/ 24 w 24"/>
                  <a:gd name="T13" fmla="*/ 18 h 36"/>
                  <a:gd name="T14" fmla="*/ 18 w 24"/>
                  <a:gd name="T15" fmla="*/ 0 h 36"/>
                  <a:gd name="T16" fmla="*/ 6 w 24"/>
                  <a:gd name="T17" fmla="*/ 12 h 36"/>
                  <a:gd name="T18" fmla="*/ 12 w 24"/>
                  <a:gd name="T19" fmla="*/ 24 h 36"/>
                  <a:gd name="T20" fmla="*/ 24 w 24"/>
                  <a:gd name="T21" fmla="*/ 18 h 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4"/>
                  <a:gd name="T34" fmla="*/ 0 h 36"/>
                  <a:gd name="T35" fmla="*/ 24 w 24"/>
                  <a:gd name="T36" fmla="*/ 36 h 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4" h="36">
                    <a:moveTo>
                      <a:pt x="0" y="24"/>
                    </a:moveTo>
                    <a:lnTo>
                      <a:pt x="0" y="24"/>
                    </a:lnTo>
                    <a:lnTo>
                      <a:pt x="24" y="36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0" y="24"/>
                    </a:lnTo>
                    <a:close/>
                    <a:moveTo>
                      <a:pt x="24" y="18"/>
                    </a:moveTo>
                    <a:lnTo>
                      <a:pt x="18" y="0"/>
                    </a:lnTo>
                    <a:lnTo>
                      <a:pt x="6" y="12"/>
                    </a:lnTo>
                    <a:lnTo>
                      <a:pt x="12" y="24"/>
                    </a:lnTo>
                    <a:lnTo>
                      <a:pt x="24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62" name="Freeform 214">
                <a:extLst>
                  <a:ext uri="{FF2B5EF4-FFF2-40B4-BE49-F238E27FC236}">
                    <a16:creationId xmlns:a16="http://schemas.microsoft.com/office/drawing/2014/main" id="{919E6A76-F3C4-2B3D-51D1-CD93059A1D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7" y="2370"/>
                <a:ext cx="36" cy="35"/>
              </a:xfrm>
              <a:custGeom>
                <a:avLst/>
                <a:gdLst>
                  <a:gd name="T0" fmla="*/ 12 w 36"/>
                  <a:gd name="T1" fmla="*/ 6 h 35"/>
                  <a:gd name="T2" fmla="*/ 12 w 36"/>
                  <a:gd name="T3" fmla="*/ 6 h 35"/>
                  <a:gd name="T4" fmla="*/ 0 w 36"/>
                  <a:gd name="T5" fmla="*/ 12 h 35"/>
                  <a:gd name="T6" fmla="*/ 12 w 36"/>
                  <a:gd name="T7" fmla="*/ 35 h 35"/>
                  <a:gd name="T8" fmla="*/ 30 w 36"/>
                  <a:gd name="T9" fmla="*/ 18 h 35"/>
                  <a:gd name="T10" fmla="*/ 36 w 36"/>
                  <a:gd name="T11" fmla="*/ 6 h 35"/>
                  <a:gd name="T12" fmla="*/ 12 w 36"/>
                  <a:gd name="T13" fmla="*/ 6 h 35"/>
                  <a:gd name="T14" fmla="*/ 12 w 36"/>
                  <a:gd name="T15" fmla="*/ 0 h 35"/>
                  <a:gd name="T16" fmla="*/ 12 w 36"/>
                  <a:gd name="T17" fmla="*/ 0 h 35"/>
                  <a:gd name="T18" fmla="*/ 12 w 36"/>
                  <a:gd name="T19" fmla="*/ 6 h 35"/>
                  <a:gd name="T20" fmla="*/ 24 w 36"/>
                  <a:gd name="T21" fmla="*/ 6 h 35"/>
                  <a:gd name="T22" fmla="*/ 12 w 36"/>
                  <a:gd name="T23" fmla="*/ 0 h 3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6"/>
                  <a:gd name="T37" fmla="*/ 0 h 35"/>
                  <a:gd name="T38" fmla="*/ 36 w 36"/>
                  <a:gd name="T39" fmla="*/ 35 h 3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6" h="35">
                    <a:moveTo>
                      <a:pt x="12" y="6"/>
                    </a:moveTo>
                    <a:lnTo>
                      <a:pt x="12" y="6"/>
                    </a:lnTo>
                    <a:lnTo>
                      <a:pt x="0" y="12"/>
                    </a:lnTo>
                    <a:lnTo>
                      <a:pt x="12" y="35"/>
                    </a:lnTo>
                    <a:lnTo>
                      <a:pt x="30" y="18"/>
                    </a:lnTo>
                    <a:lnTo>
                      <a:pt x="36" y="6"/>
                    </a:lnTo>
                    <a:lnTo>
                      <a:pt x="12" y="6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63" name="Freeform 215">
                <a:extLst>
                  <a:ext uri="{FF2B5EF4-FFF2-40B4-BE49-F238E27FC236}">
                    <a16:creationId xmlns:a16="http://schemas.microsoft.com/office/drawing/2014/main" id="{C62D29D3-E787-4B79-77F0-1AEFC828A7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382"/>
                <a:ext cx="30" cy="18"/>
              </a:xfrm>
              <a:custGeom>
                <a:avLst/>
                <a:gdLst>
                  <a:gd name="T0" fmla="*/ 12 w 30"/>
                  <a:gd name="T1" fmla="*/ 18 h 18"/>
                  <a:gd name="T2" fmla="*/ 12 w 30"/>
                  <a:gd name="T3" fmla="*/ 18 h 18"/>
                  <a:gd name="T4" fmla="*/ 12 w 30"/>
                  <a:gd name="T5" fmla="*/ 18 h 18"/>
                  <a:gd name="T6" fmla="*/ 30 w 30"/>
                  <a:gd name="T7" fmla="*/ 6 h 18"/>
                  <a:gd name="T8" fmla="*/ 30 w 30"/>
                  <a:gd name="T9" fmla="*/ 6 h 18"/>
                  <a:gd name="T10" fmla="*/ 24 w 30"/>
                  <a:gd name="T11" fmla="*/ 0 h 18"/>
                  <a:gd name="T12" fmla="*/ 12 w 30"/>
                  <a:gd name="T13" fmla="*/ 18 h 18"/>
                  <a:gd name="T14" fmla="*/ 12 w 30"/>
                  <a:gd name="T15" fmla="*/ 0 h 18"/>
                  <a:gd name="T16" fmla="*/ 0 w 30"/>
                  <a:gd name="T17" fmla="*/ 12 h 18"/>
                  <a:gd name="T18" fmla="*/ 12 w 30"/>
                  <a:gd name="T19" fmla="*/ 18 h 18"/>
                  <a:gd name="T20" fmla="*/ 18 w 30"/>
                  <a:gd name="T21" fmla="*/ 12 h 18"/>
                  <a:gd name="T22" fmla="*/ 12 w 30"/>
                  <a:gd name="T23" fmla="*/ 0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0"/>
                  <a:gd name="T37" fmla="*/ 0 h 18"/>
                  <a:gd name="T38" fmla="*/ 30 w 30"/>
                  <a:gd name="T39" fmla="*/ 18 h 1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0" h="18">
                    <a:moveTo>
                      <a:pt x="12" y="18"/>
                    </a:moveTo>
                    <a:lnTo>
                      <a:pt x="12" y="18"/>
                    </a:lnTo>
                    <a:lnTo>
                      <a:pt x="30" y="6"/>
                    </a:lnTo>
                    <a:lnTo>
                      <a:pt x="24" y="0"/>
                    </a:lnTo>
                    <a:lnTo>
                      <a:pt x="12" y="18"/>
                    </a:lnTo>
                    <a:close/>
                    <a:moveTo>
                      <a:pt x="12" y="0"/>
                    </a:moveTo>
                    <a:lnTo>
                      <a:pt x="0" y="12"/>
                    </a:lnTo>
                    <a:lnTo>
                      <a:pt x="12" y="18"/>
                    </a:lnTo>
                    <a:lnTo>
                      <a:pt x="18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64" name="Freeform 216">
                <a:extLst>
                  <a:ext uri="{FF2B5EF4-FFF2-40B4-BE49-F238E27FC236}">
                    <a16:creationId xmlns:a16="http://schemas.microsoft.com/office/drawing/2014/main" id="{84B3025B-7B25-E1CB-917B-F63DF5C335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7" y="2382"/>
                <a:ext cx="48" cy="29"/>
              </a:xfrm>
              <a:custGeom>
                <a:avLst/>
                <a:gdLst>
                  <a:gd name="T0" fmla="*/ 6 w 48"/>
                  <a:gd name="T1" fmla="*/ 23 h 29"/>
                  <a:gd name="T2" fmla="*/ 12 w 48"/>
                  <a:gd name="T3" fmla="*/ 23 h 29"/>
                  <a:gd name="T4" fmla="*/ 18 w 48"/>
                  <a:gd name="T5" fmla="*/ 29 h 29"/>
                  <a:gd name="T6" fmla="*/ 30 w 48"/>
                  <a:gd name="T7" fmla="*/ 29 h 29"/>
                  <a:gd name="T8" fmla="*/ 30 w 48"/>
                  <a:gd name="T9" fmla="*/ 29 h 29"/>
                  <a:gd name="T10" fmla="*/ 48 w 48"/>
                  <a:gd name="T11" fmla="*/ 12 h 29"/>
                  <a:gd name="T12" fmla="*/ 24 w 48"/>
                  <a:gd name="T13" fmla="*/ 6 h 29"/>
                  <a:gd name="T14" fmla="*/ 18 w 48"/>
                  <a:gd name="T15" fmla="*/ 6 h 29"/>
                  <a:gd name="T16" fmla="*/ 12 w 48"/>
                  <a:gd name="T17" fmla="*/ 0 h 29"/>
                  <a:gd name="T18" fmla="*/ 6 w 48"/>
                  <a:gd name="T19" fmla="*/ 23 h 29"/>
                  <a:gd name="T20" fmla="*/ 0 w 48"/>
                  <a:gd name="T21" fmla="*/ 18 h 29"/>
                  <a:gd name="T22" fmla="*/ 0 w 48"/>
                  <a:gd name="T23" fmla="*/ 23 h 29"/>
                  <a:gd name="T24" fmla="*/ 6 w 48"/>
                  <a:gd name="T25" fmla="*/ 23 h 29"/>
                  <a:gd name="T26" fmla="*/ 12 w 48"/>
                  <a:gd name="T27" fmla="*/ 12 h 29"/>
                  <a:gd name="T28" fmla="*/ 0 w 48"/>
                  <a:gd name="T29" fmla="*/ 18 h 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8"/>
                  <a:gd name="T46" fmla="*/ 0 h 29"/>
                  <a:gd name="T47" fmla="*/ 48 w 48"/>
                  <a:gd name="T48" fmla="*/ 29 h 2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8" h="29">
                    <a:moveTo>
                      <a:pt x="6" y="23"/>
                    </a:moveTo>
                    <a:lnTo>
                      <a:pt x="12" y="23"/>
                    </a:lnTo>
                    <a:lnTo>
                      <a:pt x="18" y="29"/>
                    </a:lnTo>
                    <a:lnTo>
                      <a:pt x="30" y="29"/>
                    </a:lnTo>
                    <a:lnTo>
                      <a:pt x="48" y="12"/>
                    </a:lnTo>
                    <a:lnTo>
                      <a:pt x="24" y="6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6" y="23"/>
                    </a:lnTo>
                    <a:close/>
                    <a:moveTo>
                      <a:pt x="0" y="18"/>
                    </a:moveTo>
                    <a:lnTo>
                      <a:pt x="0" y="23"/>
                    </a:lnTo>
                    <a:lnTo>
                      <a:pt x="6" y="23"/>
                    </a:lnTo>
                    <a:lnTo>
                      <a:pt x="12" y="12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65" name="Freeform 217">
                <a:extLst>
                  <a:ext uri="{FF2B5EF4-FFF2-40B4-BE49-F238E27FC236}">
                    <a16:creationId xmlns:a16="http://schemas.microsoft.com/office/drawing/2014/main" id="{CF2749F9-E7B4-5F93-2FAF-BDEA1B16E8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37" y="2394"/>
                <a:ext cx="24" cy="29"/>
              </a:xfrm>
              <a:custGeom>
                <a:avLst/>
                <a:gdLst>
                  <a:gd name="T0" fmla="*/ 0 w 24"/>
                  <a:gd name="T1" fmla="*/ 11 h 29"/>
                  <a:gd name="T2" fmla="*/ 0 w 24"/>
                  <a:gd name="T3" fmla="*/ 29 h 29"/>
                  <a:gd name="T4" fmla="*/ 24 w 24"/>
                  <a:gd name="T5" fmla="*/ 23 h 29"/>
                  <a:gd name="T6" fmla="*/ 24 w 24"/>
                  <a:gd name="T7" fmla="*/ 6 h 29"/>
                  <a:gd name="T8" fmla="*/ 0 w 24"/>
                  <a:gd name="T9" fmla="*/ 11 h 29"/>
                  <a:gd name="T10" fmla="*/ 24 w 24"/>
                  <a:gd name="T11" fmla="*/ 6 h 29"/>
                  <a:gd name="T12" fmla="*/ 18 w 24"/>
                  <a:gd name="T13" fmla="*/ 6 h 29"/>
                  <a:gd name="T14" fmla="*/ 18 w 24"/>
                  <a:gd name="T15" fmla="*/ 0 h 29"/>
                  <a:gd name="T16" fmla="*/ 12 w 24"/>
                  <a:gd name="T17" fmla="*/ 11 h 29"/>
                  <a:gd name="T18" fmla="*/ 24 w 24"/>
                  <a:gd name="T19" fmla="*/ 6 h 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29"/>
                  <a:gd name="T32" fmla="*/ 24 w 24"/>
                  <a:gd name="T33" fmla="*/ 29 h 2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29">
                    <a:moveTo>
                      <a:pt x="0" y="11"/>
                    </a:moveTo>
                    <a:lnTo>
                      <a:pt x="0" y="29"/>
                    </a:lnTo>
                    <a:lnTo>
                      <a:pt x="24" y="23"/>
                    </a:lnTo>
                    <a:lnTo>
                      <a:pt x="24" y="6"/>
                    </a:lnTo>
                    <a:lnTo>
                      <a:pt x="0" y="11"/>
                    </a:lnTo>
                    <a:close/>
                    <a:moveTo>
                      <a:pt x="24" y="6"/>
                    </a:moveTo>
                    <a:lnTo>
                      <a:pt x="18" y="6"/>
                    </a:lnTo>
                    <a:lnTo>
                      <a:pt x="18" y="0"/>
                    </a:lnTo>
                    <a:lnTo>
                      <a:pt x="12" y="11"/>
                    </a:lnTo>
                    <a:lnTo>
                      <a:pt x="24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66" name="Freeform 218">
                <a:extLst>
                  <a:ext uri="{FF2B5EF4-FFF2-40B4-BE49-F238E27FC236}">
                    <a16:creationId xmlns:a16="http://schemas.microsoft.com/office/drawing/2014/main" id="{41930680-18CE-CA8D-A677-D368BB6346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9" y="2417"/>
                <a:ext cx="12" cy="12"/>
              </a:xfrm>
              <a:custGeom>
                <a:avLst/>
                <a:gdLst>
                  <a:gd name="T0" fmla="*/ 6 w 12"/>
                  <a:gd name="T1" fmla="*/ 12 h 12"/>
                  <a:gd name="T2" fmla="*/ 12 w 12"/>
                  <a:gd name="T3" fmla="*/ 6 h 12"/>
                  <a:gd name="T4" fmla="*/ 12 w 12"/>
                  <a:gd name="T5" fmla="*/ 0 h 12"/>
                  <a:gd name="T6" fmla="*/ 0 w 12"/>
                  <a:gd name="T7" fmla="*/ 0 h 12"/>
                  <a:gd name="T8" fmla="*/ 6 w 12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6" y="12"/>
                    </a:moveTo>
                    <a:lnTo>
                      <a:pt x="12" y="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67" name="Freeform 219">
                <a:extLst>
                  <a:ext uri="{FF2B5EF4-FFF2-40B4-BE49-F238E27FC236}">
                    <a16:creationId xmlns:a16="http://schemas.microsoft.com/office/drawing/2014/main" id="{ECE3F92D-09F4-7338-A1A9-0A33496A9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2459"/>
                <a:ext cx="6" cy="6"/>
              </a:xfrm>
              <a:custGeom>
                <a:avLst/>
                <a:gdLst>
                  <a:gd name="T0" fmla="*/ 6 w 6"/>
                  <a:gd name="T1" fmla="*/ 0 h 6"/>
                  <a:gd name="T2" fmla="*/ 0 w 6"/>
                  <a:gd name="T3" fmla="*/ 0 h 6"/>
                  <a:gd name="T4" fmla="*/ 0 w 6"/>
                  <a:gd name="T5" fmla="*/ 0 h 6"/>
                  <a:gd name="T6" fmla="*/ 0 w 6"/>
                  <a:gd name="T7" fmla="*/ 6 h 6"/>
                  <a:gd name="T8" fmla="*/ 6 w 6"/>
                  <a:gd name="T9" fmla="*/ 6 h 6"/>
                  <a:gd name="T10" fmla="*/ 6 w 6"/>
                  <a:gd name="T11" fmla="*/ 6 h 6"/>
                  <a:gd name="T12" fmla="*/ 6 w 6"/>
                  <a:gd name="T13" fmla="*/ 0 h 6"/>
                  <a:gd name="T14" fmla="*/ 6 w 6"/>
                  <a:gd name="T15" fmla="*/ 0 h 6"/>
                  <a:gd name="T16" fmla="*/ 6 w 6"/>
                  <a:gd name="T17" fmla="*/ 0 h 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"/>
                  <a:gd name="T28" fmla="*/ 0 h 6"/>
                  <a:gd name="T29" fmla="*/ 6 w 6"/>
                  <a:gd name="T30" fmla="*/ 6 h 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" h="6">
                    <a:moveTo>
                      <a:pt x="6" y="0"/>
                    </a:moveTo>
                    <a:lnTo>
                      <a:pt x="0" y="0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68" name="Freeform 220">
                <a:extLst>
                  <a:ext uri="{FF2B5EF4-FFF2-40B4-BE49-F238E27FC236}">
                    <a16:creationId xmlns:a16="http://schemas.microsoft.com/office/drawing/2014/main" id="{26DF6EB7-4C40-42AD-BDFE-0B7E6CFFAF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" y="2459"/>
                <a:ext cx="12" cy="6"/>
              </a:xfrm>
              <a:custGeom>
                <a:avLst/>
                <a:gdLst>
                  <a:gd name="T0" fmla="*/ 6 w 12"/>
                  <a:gd name="T1" fmla="*/ 0 h 6"/>
                  <a:gd name="T2" fmla="*/ 6 w 12"/>
                  <a:gd name="T3" fmla="*/ 0 h 6"/>
                  <a:gd name="T4" fmla="*/ 0 w 12"/>
                  <a:gd name="T5" fmla="*/ 0 h 6"/>
                  <a:gd name="T6" fmla="*/ 6 w 12"/>
                  <a:gd name="T7" fmla="*/ 6 h 6"/>
                  <a:gd name="T8" fmla="*/ 6 w 12"/>
                  <a:gd name="T9" fmla="*/ 6 h 6"/>
                  <a:gd name="T10" fmla="*/ 12 w 12"/>
                  <a:gd name="T11" fmla="*/ 6 h 6"/>
                  <a:gd name="T12" fmla="*/ 12 w 12"/>
                  <a:gd name="T13" fmla="*/ 0 h 6"/>
                  <a:gd name="T14" fmla="*/ 12 w 12"/>
                  <a:gd name="T15" fmla="*/ 0 h 6"/>
                  <a:gd name="T16" fmla="*/ 6 w 12"/>
                  <a:gd name="T17" fmla="*/ 0 h 6"/>
                  <a:gd name="T18" fmla="*/ 6 w 12"/>
                  <a:gd name="T19" fmla="*/ 0 h 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"/>
                  <a:gd name="T31" fmla="*/ 0 h 6"/>
                  <a:gd name="T32" fmla="*/ 12 w 12"/>
                  <a:gd name="T33" fmla="*/ 6 h 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" h="6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12" y="6"/>
                    </a:lnTo>
                    <a:lnTo>
                      <a:pt x="12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69" name="Freeform 221">
                <a:extLst>
                  <a:ext uri="{FF2B5EF4-FFF2-40B4-BE49-F238E27FC236}">
                    <a16:creationId xmlns:a16="http://schemas.microsoft.com/office/drawing/2014/main" id="{84D22FC9-EFF0-D0DC-95CF-25D1FD9F07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9" y="2358"/>
                <a:ext cx="1" cy="12"/>
              </a:xfrm>
              <a:custGeom>
                <a:avLst/>
                <a:gdLst>
                  <a:gd name="T0" fmla="*/ 0 w 1"/>
                  <a:gd name="T1" fmla="*/ 12 h 12"/>
                  <a:gd name="T2" fmla="*/ 0 w 1"/>
                  <a:gd name="T3" fmla="*/ 6 h 12"/>
                  <a:gd name="T4" fmla="*/ 0 w 1"/>
                  <a:gd name="T5" fmla="*/ 0 h 12"/>
                  <a:gd name="T6" fmla="*/ 0 w 1"/>
                  <a:gd name="T7" fmla="*/ 6 h 12"/>
                  <a:gd name="T8" fmla="*/ 0 w 1"/>
                  <a:gd name="T9" fmla="*/ 12 h 12"/>
                  <a:gd name="T10" fmla="*/ 0 w 1"/>
                  <a:gd name="T11" fmla="*/ 12 h 12"/>
                  <a:gd name="T12" fmla="*/ 0 w 1"/>
                  <a:gd name="T13" fmla="*/ 12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12"/>
                  <a:gd name="T23" fmla="*/ 1 w 1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12">
                    <a:moveTo>
                      <a:pt x="0" y="12"/>
                    </a:moveTo>
                    <a:lnTo>
                      <a:pt x="0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70" name="Freeform 222">
                <a:extLst>
                  <a:ext uri="{FF2B5EF4-FFF2-40B4-BE49-F238E27FC236}">
                    <a16:creationId xmlns:a16="http://schemas.microsoft.com/office/drawing/2014/main" id="{6B6CB67A-925F-A272-7D0C-BF85BB04F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2346"/>
                <a:ext cx="12" cy="30"/>
              </a:xfrm>
              <a:custGeom>
                <a:avLst/>
                <a:gdLst>
                  <a:gd name="T0" fmla="*/ 0 w 12"/>
                  <a:gd name="T1" fmla="*/ 30 h 30"/>
                  <a:gd name="T2" fmla="*/ 6 w 12"/>
                  <a:gd name="T3" fmla="*/ 6 h 30"/>
                  <a:gd name="T4" fmla="*/ 6 w 12"/>
                  <a:gd name="T5" fmla="*/ 6 h 30"/>
                  <a:gd name="T6" fmla="*/ 12 w 12"/>
                  <a:gd name="T7" fmla="*/ 0 h 30"/>
                  <a:gd name="T8" fmla="*/ 12 w 12"/>
                  <a:gd name="T9" fmla="*/ 0 h 30"/>
                  <a:gd name="T10" fmla="*/ 6 w 12"/>
                  <a:gd name="T11" fmla="*/ 6 h 30"/>
                  <a:gd name="T12" fmla="*/ 6 w 12"/>
                  <a:gd name="T13" fmla="*/ 12 h 30"/>
                  <a:gd name="T14" fmla="*/ 6 w 12"/>
                  <a:gd name="T15" fmla="*/ 18 h 30"/>
                  <a:gd name="T16" fmla="*/ 0 w 12"/>
                  <a:gd name="T17" fmla="*/ 24 h 30"/>
                  <a:gd name="T18" fmla="*/ 0 w 12"/>
                  <a:gd name="T19" fmla="*/ 24 h 30"/>
                  <a:gd name="T20" fmla="*/ 0 w 12"/>
                  <a:gd name="T21" fmla="*/ 30 h 30"/>
                  <a:gd name="T22" fmla="*/ 0 w 12"/>
                  <a:gd name="T23" fmla="*/ 30 h 30"/>
                  <a:gd name="T24" fmla="*/ 0 w 12"/>
                  <a:gd name="T25" fmla="*/ 30 h 30"/>
                  <a:gd name="T26" fmla="*/ 0 w 12"/>
                  <a:gd name="T27" fmla="*/ 30 h 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2"/>
                  <a:gd name="T43" fmla="*/ 0 h 30"/>
                  <a:gd name="T44" fmla="*/ 12 w 12"/>
                  <a:gd name="T45" fmla="*/ 30 h 3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2" h="30">
                    <a:moveTo>
                      <a:pt x="0" y="30"/>
                    </a:moveTo>
                    <a:lnTo>
                      <a:pt x="6" y="6"/>
                    </a:lnTo>
                    <a:lnTo>
                      <a:pt x="12" y="0"/>
                    </a:lnTo>
                    <a:lnTo>
                      <a:pt x="6" y="6"/>
                    </a:lnTo>
                    <a:lnTo>
                      <a:pt x="6" y="12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71" name="Freeform 223">
                <a:extLst>
                  <a:ext uri="{FF2B5EF4-FFF2-40B4-BE49-F238E27FC236}">
                    <a16:creationId xmlns:a16="http://schemas.microsoft.com/office/drawing/2014/main" id="{0FEAC98D-3C9D-C4E7-05C4-F88841197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3" y="2352"/>
                <a:ext cx="30" cy="30"/>
              </a:xfrm>
              <a:custGeom>
                <a:avLst/>
                <a:gdLst>
                  <a:gd name="T0" fmla="*/ 24 w 30"/>
                  <a:gd name="T1" fmla="*/ 30 h 30"/>
                  <a:gd name="T2" fmla="*/ 30 w 30"/>
                  <a:gd name="T3" fmla="*/ 6 h 30"/>
                  <a:gd name="T4" fmla="*/ 6 w 30"/>
                  <a:gd name="T5" fmla="*/ 0 h 30"/>
                  <a:gd name="T6" fmla="*/ 0 w 30"/>
                  <a:gd name="T7" fmla="*/ 24 h 30"/>
                  <a:gd name="T8" fmla="*/ 24 w 30"/>
                  <a:gd name="T9" fmla="*/ 3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0"/>
                  <a:gd name="T17" fmla="*/ 30 w 30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0">
                    <a:moveTo>
                      <a:pt x="24" y="30"/>
                    </a:moveTo>
                    <a:lnTo>
                      <a:pt x="30" y="6"/>
                    </a:lnTo>
                    <a:lnTo>
                      <a:pt x="6" y="0"/>
                    </a:lnTo>
                    <a:lnTo>
                      <a:pt x="0" y="24"/>
                    </a:lnTo>
                    <a:lnTo>
                      <a:pt x="24" y="3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72" name="Freeform 224">
                <a:extLst>
                  <a:ext uri="{FF2B5EF4-FFF2-40B4-BE49-F238E27FC236}">
                    <a16:creationId xmlns:a16="http://schemas.microsoft.com/office/drawing/2014/main" id="{992EA09C-185B-F1EB-E816-546B35115B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9" y="2334"/>
                <a:ext cx="24" cy="24"/>
              </a:xfrm>
              <a:custGeom>
                <a:avLst/>
                <a:gdLst>
                  <a:gd name="T0" fmla="*/ 24 w 24"/>
                  <a:gd name="T1" fmla="*/ 24 h 24"/>
                  <a:gd name="T2" fmla="*/ 24 w 24"/>
                  <a:gd name="T3" fmla="*/ 18 h 24"/>
                  <a:gd name="T4" fmla="*/ 24 w 24"/>
                  <a:gd name="T5" fmla="*/ 18 h 24"/>
                  <a:gd name="T6" fmla="*/ 24 w 24"/>
                  <a:gd name="T7" fmla="*/ 24 h 24"/>
                  <a:gd name="T8" fmla="*/ 12 w 24"/>
                  <a:gd name="T9" fmla="*/ 0 h 24"/>
                  <a:gd name="T10" fmla="*/ 0 w 24"/>
                  <a:gd name="T11" fmla="*/ 12 h 24"/>
                  <a:gd name="T12" fmla="*/ 0 w 24"/>
                  <a:gd name="T13" fmla="*/ 18 h 24"/>
                  <a:gd name="T14" fmla="*/ 24 w 24"/>
                  <a:gd name="T15" fmla="*/ 24 h 24"/>
                  <a:gd name="T16" fmla="*/ 24 w 24"/>
                  <a:gd name="T17" fmla="*/ 24 h 24"/>
                  <a:gd name="T18" fmla="*/ 24 w 24"/>
                  <a:gd name="T19" fmla="*/ 24 h 24"/>
                  <a:gd name="T20" fmla="*/ 24 w 24"/>
                  <a:gd name="T21" fmla="*/ 24 h 24"/>
                  <a:gd name="T22" fmla="*/ 12 w 24"/>
                  <a:gd name="T23" fmla="*/ 18 h 24"/>
                  <a:gd name="T24" fmla="*/ 24 w 24"/>
                  <a:gd name="T25" fmla="*/ 24 h 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24"/>
                  <a:gd name="T41" fmla="*/ 24 w 24"/>
                  <a:gd name="T42" fmla="*/ 24 h 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24">
                    <a:moveTo>
                      <a:pt x="24" y="24"/>
                    </a:moveTo>
                    <a:lnTo>
                      <a:pt x="24" y="18"/>
                    </a:lnTo>
                    <a:lnTo>
                      <a:pt x="24" y="24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24" y="24"/>
                    </a:lnTo>
                    <a:close/>
                    <a:moveTo>
                      <a:pt x="24" y="24"/>
                    </a:moveTo>
                    <a:lnTo>
                      <a:pt x="24" y="24"/>
                    </a:lnTo>
                    <a:lnTo>
                      <a:pt x="12" y="18"/>
                    </a:lnTo>
                    <a:lnTo>
                      <a:pt x="24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73" name="Freeform 225">
                <a:extLst>
                  <a:ext uri="{FF2B5EF4-FFF2-40B4-BE49-F238E27FC236}">
                    <a16:creationId xmlns:a16="http://schemas.microsoft.com/office/drawing/2014/main" id="{ABD8F463-FD8B-151F-B11B-D2B6D4C58D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9" y="2334"/>
                <a:ext cx="24" cy="24"/>
              </a:xfrm>
              <a:custGeom>
                <a:avLst/>
                <a:gdLst>
                  <a:gd name="T0" fmla="*/ 12 w 24"/>
                  <a:gd name="T1" fmla="*/ 0 h 24"/>
                  <a:gd name="T2" fmla="*/ 6 w 24"/>
                  <a:gd name="T3" fmla="*/ 6 h 24"/>
                  <a:gd name="T4" fmla="*/ 0 w 24"/>
                  <a:gd name="T5" fmla="*/ 18 h 24"/>
                  <a:gd name="T6" fmla="*/ 24 w 24"/>
                  <a:gd name="T7" fmla="*/ 24 h 24"/>
                  <a:gd name="T8" fmla="*/ 24 w 24"/>
                  <a:gd name="T9" fmla="*/ 24 h 24"/>
                  <a:gd name="T10" fmla="*/ 24 w 24"/>
                  <a:gd name="T11" fmla="*/ 18 h 24"/>
                  <a:gd name="T12" fmla="*/ 12 w 24"/>
                  <a:gd name="T13" fmla="*/ 0 h 24"/>
                  <a:gd name="T14" fmla="*/ 24 w 24"/>
                  <a:gd name="T15" fmla="*/ 24 h 24"/>
                  <a:gd name="T16" fmla="*/ 12 w 24"/>
                  <a:gd name="T17" fmla="*/ 0 h 24"/>
                  <a:gd name="T18" fmla="*/ 24 w 24"/>
                  <a:gd name="T19" fmla="*/ 18 h 24"/>
                  <a:gd name="T20" fmla="*/ 12 w 24"/>
                  <a:gd name="T21" fmla="*/ 0 h 24"/>
                  <a:gd name="T22" fmla="*/ 24 w 24"/>
                  <a:gd name="T23" fmla="*/ 24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12" y="0"/>
                    </a:moveTo>
                    <a:lnTo>
                      <a:pt x="6" y="6"/>
                    </a:lnTo>
                    <a:lnTo>
                      <a:pt x="0" y="18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12" y="0"/>
                    </a:lnTo>
                    <a:close/>
                    <a:moveTo>
                      <a:pt x="24" y="24"/>
                    </a:moveTo>
                    <a:lnTo>
                      <a:pt x="12" y="0"/>
                    </a:lnTo>
                    <a:lnTo>
                      <a:pt x="24" y="18"/>
                    </a:lnTo>
                    <a:lnTo>
                      <a:pt x="12" y="0"/>
                    </a:lnTo>
                    <a:lnTo>
                      <a:pt x="24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74" name="Freeform 226">
                <a:extLst>
                  <a:ext uri="{FF2B5EF4-FFF2-40B4-BE49-F238E27FC236}">
                    <a16:creationId xmlns:a16="http://schemas.microsoft.com/office/drawing/2014/main" id="{0497259C-16E2-CC89-C2FF-A7E5FC16B9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3" y="2346"/>
                <a:ext cx="30" cy="30"/>
              </a:xfrm>
              <a:custGeom>
                <a:avLst/>
                <a:gdLst>
                  <a:gd name="T0" fmla="*/ 6 w 30"/>
                  <a:gd name="T1" fmla="*/ 0 h 30"/>
                  <a:gd name="T2" fmla="*/ 6 w 30"/>
                  <a:gd name="T3" fmla="*/ 12 h 30"/>
                  <a:gd name="T4" fmla="*/ 0 w 30"/>
                  <a:gd name="T5" fmla="*/ 30 h 30"/>
                  <a:gd name="T6" fmla="*/ 24 w 30"/>
                  <a:gd name="T7" fmla="*/ 24 h 30"/>
                  <a:gd name="T8" fmla="*/ 24 w 30"/>
                  <a:gd name="T9" fmla="*/ 24 h 30"/>
                  <a:gd name="T10" fmla="*/ 30 w 30"/>
                  <a:gd name="T11" fmla="*/ 18 h 30"/>
                  <a:gd name="T12" fmla="*/ 30 w 30"/>
                  <a:gd name="T13" fmla="*/ 12 h 30"/>
                  <a:gd name="T14" fmla="*/ 30 w 30"/>
                  <a:gd name="T15" fmla="*/ 12 h 30"/>
                  <a:gd name="T16" fmla="*/ 6 w 30"/>
                  <a:gd name="T17" fmla="*/ 0 h 30"/>
                  <a:gd name="T18" fmla="*/ 30 w 30"/>
                  <a:gd name="T19" fmla="*/ 12 h 30"/>
                  <a:gd name="T20" fmla="*/ 30 w 30"/>
                  <a:gd name="T21" fmla="*/ 12 h 30"/>
                  <a:gd name="T22" fmla="*/ 30 w 30"/>
                  <a:gd name="T23" fmla="*/ 12 h 30"/>
                  <a:gd name="T24" fmla="*/ 18 w 30"/>
                  <a:gd name="T25" fmla="*/ 6 h 30"/>
                  <a:gd name="T26" fmla="*/ 30 w 30"/>
                  <a:gd name="T27" fmla="*/ 12 h 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0"/>
                  <a:gd name="T43" fmla="*/ 0 h 30"/>
                  <a:gd name="T44" fmla="*/ 30 w 30"/>
                  <a:gd name="T45" fmla="*/ 30 h 3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0" h="30">
                    <a:moveTo>
                      <a:pt x="6" y="0"/>
                    </a:moveTo>
                    <a:lnTo>
                      <a:pt x="6" y="12"/>
                    </a:lnTo>
                    <a:lnTo>
                      <a:pt x="0" y="30"/>
                    </a:lnTo>
                    <a:lnTo>
                      <a:pt x="24" y="24"/>
                    </a:lnTo>
                    <a:lnTo>
                      <a:pt x="30" y="18"/>
                    </a:lnTo>
                    <a:lnTo>
                      <a:pt x="30" y="12"/>
                    </a:lnTo>
                    <a:lnTo>
                      <a:pt x="6" y="0"/>
                    </a:lnTo>
                    <a:close/>
                    <a:moveTo>
                      <a:pt x="30" y="12"/>
                    </a:moveTo>
                    <a:lnTo>
                      <a:pt x="30" y="12"/>
                    </a:lnTo>
                    <a:lnTo>
                      <a:pt x="18" y="6"/>
                    </a:ln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75" name="Freeform 227">
                <a:extLst>
                  <a:ext uri="{FF2B5EF4-FFF2-40B4-BE49-F238E27FC236}">
                    <a16:creationId xmlns:a16="http://schemas.microsoft.com/office/drawing/2014/main" id="{3ECEDC7D-BC1B-8E42-7CA2-E2DDA70F1A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3" y="2364"/>
                <a:ext cx="24" cy="24"/>
              </a:xfrm>
              <a:custGeom>
                <a:avLst/>
                <a:gdLst>
                  <a:gd name="T0" fmla="*/ 0 w 24"/>
                  <a:gd name="T1" fmla="*/ 6 h 24"/>
                  <a:gd name="T2" fmla="*/ 0 w 24"/>
                  <a:gd name="T3" fmla="*/ 6 h 24"/>
                  <a:gd name="T4" fmla="*/ 0 w 24"/>
                  <a:gd name="T5" fmla="*/ 6 h 24"/>
                  <a:gd name="T6" fmla="*/ 12 w 24"/>
                  <a:gd name="T7" fmla="*/ 0 h 24"/>
                  <a:gd name="T8" fmla="*/ 6 w 24"/>
                  <a:gd name="T9" fmla="*/ 24 h 24"/>
                  <a:gd name="T10" fmla="*/ 18 w 24"/>
                  <a:gd name="T11" fmla="*/ 18 h 24"/>
                  <a:gd name="T12" fmla="*/ 24 w 24"/>
                  <a:gd name="T13" fmla="*/ 12 h 24"/>
                  <a:gd name="T14" fmla="*/ 24 w 24"/>
                  <a:gd name="T15" fmla="*/ 12 h 24"/>
                  <a:gd name="T16" fmla="*/ 24 w 24"/>
                  <a:gd name="T17" fmla="*/ 12 h 24"/>
                  <a:gd name="T18" fmla="*/ 0 w 24"/>
                  <a:gd name="T19" fmla="*/ 6 h 24"/>
                  <a:gd name="T20" fmla="*/ 24 w 24"/>
                  <a:gd name="T21" fmla="*/ 12 h 24"/>
                  <a:gd name="T22" fmla="*/ 24 w 24"/>
                  <a:gd name="T23" fmla="*/ 6 h 24"/>
                  <a:gd name="T24" fmla="*/ 24 w 24"/>
                  <a:gd name="T25" fmla="*/ 6 h 24"/>
                  <a:gd name="T26" fmla="*/ 12 w 24"/>
                  <a:gd name="T27" fmla="*/ 6 h 24"/>
                  <a:gd name="T28" fmla="*/ 24 w 24"/>
                  <a:gd name="T29" fmla="*/ 12 h 2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"/>
                  <a:gd name="T46" fmla="*/ 0 h 24"/>
                  <a:gd name="T47" fmla="*/ 24 w 24"/>
                  <a:gd name="T48" fmla="*/ 24 h 2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" h="24">
                    <a:moveTo>
                      <a:pt x="0" y="6"/>
                    </a:moveTo>
                    <a:lnTo>
                      <a:pt x="0" y="6"/>
                    </a:lnTo>
                    <a:lnTo>
                      <a:pt x="12" y="0"/>
                    </a:lnTo>
                    <a:lnTo>
                      <a:pt x="6" y="24"/>
                    </a:lnTo>
                    <a:lnTo>
                      <a:pt x="18" y="18"/>
                    </a:lnTo>
                    <a:lnTo>
                      <a:pt x="24" y="12"/>
                    </a:lnTo>
                    <a:lnTo>
                      <a:pt x="0" y="6"/>
                    </a:lnTo>
                    <a:close/>
                    <a:moveTo>
                      <a:pt x="24" y="12"/>
                    </a:moveTo>
                    <a:lnTo>
                      <a:pt x="24" y="6"/>
                    </a:lnTo>
                    <a:lnTo>
                      <a:pt x="12" y="6"/>
                    </a:lnTo>
                    <a:lnTo>
                      <a:pt x="24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76" name="Freeform 228">
                <a:extLst>
                  <a:ext uri="{FF2B5EF4-FFF2-40B4-BE49-F238E27FC236}">
                    <a16:creationId xmlns:a16="http://schemas.microsoft.com/office/drawing/2014/main" id="{679575D2-4965-818F-7B05-628531AC01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9" y="2364"/>
                <a:ext cx="12" cy="24"/>
              </a:xfrm>
              <a:custGeom>
                <a:avLst/>
                <a:gdLst>
                  <a:gd name="T0" fmla="*/ 0 w 12"/>
                  <a:gd name="T1" fmla="*/ 24 h 24"/>
                  <a:gd name="T2" fmla="*/ 0 w 12"/>
                  <a:gd name="T3" fmla="*/ 24 h 24"/>
                  <a:gd name="T4" fmla="*/ 12 w 12"/>
                  <a:gd name="T5" fmla="*/ 0 h 24"/>
                  <a:gd name="T6" fmla="*/ 6 w 12"/>
                  <a:gd name="T7" fmla="*/ 0 h 24"/>
                  <a:gd name="T8" fmla="*/ 0 w 12"/>
                  <a:gd name="T9" fmla="*/ 24 h 24"/>
                  <a:gd name="T10" fmla="*/ 6 w 12"/>
                  <a:gd name="T11" fmla="*/ 0 h 24"/>
                  <a:gd name="T12" fmla="*/ 0 w 12"/>
                  <a:gd name="T13" fmla="*/ 24 h 24"/>
                  <a:gd name="T14" fmla="*/ 6 w 12"/>
                  <a:gd name="T15" fmla="*/ 0 h 24"/>
                  <a:gd name="T16" fmla="*/ 0 w 12"/>
                  <a:gd name="T17" fmla="*/ 24 h 24"/>
                  <a:gd name="T18" fmla="*/ 6 w 12"/>
                  <a:gd name="T19" fmla="*/ 0 h 2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"/>
                  <a:gd name="T31" fmla="*/ 0 h 24"/>
                  <a:gd name="T32" fmla="*/ 12 w 12"/>
                  <a:gd name="T33" fmla="*/ 24 h 2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" h="24">
                    <a:moveTo>
                      <a:pt x="0" y="24"/>
                    </a:moveTo>
                    <a:lnTo>
                      <a:pt x="0" y="2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24"/>
                    </a:lnTo>
                    <a:close/>
                    <a:moveTo>
                      <a:pt x="6" y="0"/>
                    </a:moveTo>
                    <a:lnTo>
                      <a:pt x="0" y="24"/>
                    </a:lnTo>
                    <a:lnTo>
                      <a:pt x="6" y="0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77" name="Freeform 229">
                <a:extLst>
                  <a:ext uri="{FF2B5EF4-FFF2-40B4-BE49-F238E27FC236}">
                    <a16:creationId xmlns:a16="http://schemas.microsoft.com/office/drawing/2014/main" id="{5458A4A4-264E-5181-98CD-9C1C8FFCFE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9" y="2376"/>
                <a:ext cx="18" cy="18"/>
              </a:xfrm>
              <a:custGeom>
                <a:avLst/>
                <a:gdLst>
                  <a:gd name="T0" fmla="*/ 0 w 18"/>
                  <a:gd name="T1" fmla="*/ 12 h 18"/>
                  <a:gd name="T2" fmla="*/ 18 w 18"/>
                  <a:gd name="T3" fmla="*/ 18 h 18"/>
                  <a:gd name="T4" fmla="*/ 18 w 18"/>
                  <a:gd name="T5" fmla="*/ 6 h 18"/>
                  <a:gd name="T6" fmla="*/ 6 w 18"/>
                  <a:gd name="T7" fmla="*/ 0 h 18"/>
                  <a:gd name="T8" fmla="*/ 0 w 18"/>
                  <a:gd name="T9" fmla="*/ 12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8"/>
                  <a:gd name="T17" fmla="*/ 18 w 18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8">
                    <a:moveTo>
                      <a:pt x="0" y="12"/>
                    </a:moveTo>
                    <a:lnTo>
                      <a:pt x="18" y="18"/>
                    </a:lnTo>
                    <a:lnTo>
                      <a:pt x="18" y="6"/>
                    </a:lnTo>
                    <a:lnTo>
                      <a:pt x="6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78" name="Freeform 230">
                <a:extLst>
                  <a:ext uri="{FF2B5EF4-FFF2-40B4-BE49-F238E27FC236}">
                    <a16:creationId xmlns:a16="http://schemas.microsoft.com/office/drawing/2014/main" id="{9EE6F4DE-BBF5-B707-6F04-90AC64A8A2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1" y="2346"/>
                <a:ext cx="18" cy="30"/>
              </a:xfrm>
              <a:custGeom>
                <a:avLst/>
                <a:gdLst>
                  <a:gd name="T0" fmla="*/ 12 w 18"/>
                  <a:gd name="T1" fmla="*/ 30 h 30"/>
                  <a:gd name="T2" fmla="*/ 6 w 18"/>
                  <a:gd name="T3" fmla="*/ 6 h 30"/>
                  <a:gd name="T4" fmla="*/ 6 w 18"/>
                  <a:gd name="T5" fmla="*/ 6 h 30"/>
                  <a:gd name="T6" fmla="*/ 0 w 18"/>
                  <a:gd name="T7" fmla="*/ 0 h 30"/>
                  <a:gd name="T8" fmla="*/ 6 w 18"/>
                  <a:gd name="T9" fmla="*/ 0 h 30"/>
                  <a:gd name="T10" fmla="*/ 6 w 18"/>
                  <a:gd name="T11" fmla="*/ 6 h 30"/>
                  <a:gd name="T12" fmla="*/ 6 w 18"/>
                  <a:gd name="T13" fmla="*/ 12 h 30"/>
                  <a:gd name="T14" fmla="*/ 12 w 18"/>
                  <a:gd name="T15" fmla="*/ 18 h 30"/>
                  <a:gd name="T16" fmla="*/ 12 w 18"/>
                  <a:gd name="T17" fmla="*/ 24 h 30"/>
                  <a:gd name="T18" fmla="*/ 12 w 18"/>
                  <a:gd name="T19" fmla="*/ 24 h 30"/>
                  <a:gd name="T20" fmla="*/ 12 w 18"/>
                  <a:gd name="T21" fmla="*/ 30 h 30"/>
                  <a:gd name="T22" fmla="*/ 18 w 18"/>
                  <a:gd name="T23" fmla="*/ 30 h 30"/>
                  <a:gd name="T24" fmla="*/ 12 w 18"/>
                  <a:gd name="T25" fmla="*/ 30 h 30"/>
                  <a:gd name="T26" fmla="*/ 12 w 18"/>
                  <a:gd name="T27" fmla="*/ 30 h 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8"/>
                  <a:gd name="T43" fmla="*/ 0 h 30"/>
                  <a:gd name="T44" fmla="*/ 18 w 18"/>
                  <a:gd name="T45" fmla="*/ 30 h 3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8" h="30">
                    <a:moveTo>
                      <a:pt x="12" y="30"/>
                    </a:moveTo>
                    <a:lnTo>
                      <a:pt x="6" y="6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6" y="6"/>
                    </a:lnTo>
                    <a:lnTo>
                      <a:pt x="6" y="12"/>
                    </a:lnTo>
                    <a:lnTo>
                      <a:pt x="12" y="18"/>
                    </a:lnTo>
                    <a:lnTo>
                      <a:pt x="12" y="24"/>
                    </a:lnTo>
                    <a:lnTo>
                      <a:pt x="12" y="30"/>
                    </a:lnTo>
                    <a:lnTo>
                      <a:pt x="18" y="30"/>
                    </a:lnTo>
                    <a:lnTo>
                      <a:pt x="12" y="3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79" name="Freeform 231">
                <a:extLst>
                  <a:ext uri="{FF2B5EF4-FFF2-40B4-BE49-F238E27FC236}">
                    <a16:creationId xmlns:a16="http://schemas.microsoft.com/office/drawing/2014/main" id="{D006F9B5-DF51-7293-1E80-7AA77A3163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5" y="2352"/>
                <a:ext cx="30" cy="30"/>
              </a:xfrm>
              <a:custGeom>
                <a:avLst/>
                <a:gdLst>
                  <a:gd name="T0" fmla="*/ 30 w 30"/>
                  <a:gd name="T1" fmla="*/ 24 h 30"/>
                  <a:gd name="T2" fmla="*/ 24 w 30"/>
                  <a:gd name="T3" fmla="*/ 0 h 30"/>
                  <a:gd name="T4" fmla="*/ 0 w 30"/>
                  <a:gd name="T5" fmla="*/ 6 h 30"/>
                  <a:gd name="T6" fmla="*/ 6 w 30"/>
                  <a:gd name="T7" fmla="*/ 30 h 30"/>
                  <a:gd name="T8" fmla="*/ 30 w 30"/>
                  <a:gd name="T9" fmla="*/ 24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0"/>
                  <a:gd name="T17" fmla="*/ 30 w 30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0">
                    <a:moveTo>
                      <a:pt x="30" y="24"/>
                    </a:moveTo>
                    <a:lnTo>
                      <a:pt x="24" y="0"/>
                    </a:lnTo>
                    <a:lnTo>
                      <a:pt x="0" y="6"/>
                    </a:lnTo>
                    <a:lnTo>
                      <a:pt x="6" y="30"/>
                    </a:lnTo>
                    <a:lnTo>
                      <a:pt x="3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80" name="Freeform 232">
                <a:extLst>
                  <a:ext uri="{FF2B5EF4-FFF2-40B4-BE49-F238E27FC236}">
                    <a16:creationId xmlns:a16="http://schemas.microsoft.com/office/drawing/2014/main" id="{8EEAC9EE-3933-D578-AC53-6699D205B7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25" y="2334"/>
                <a:ext cx="24" cy="24"/>
              </a:xfrm>
              <a:custGeom>
                <a:avLst/>
                <a:gdLst>
                  <a:gd name="T0" fmla="*/ 24 w 24"/>
                  <a:gd name="T1" fmla="*/ 18 h 24"/>
                  <a:gd name="T2" fmla="*/ 24 w 24"/>
                  <a:gd name="T3" fmla="*/ 12 h 24"/>
                  <a:gd name="T4" fmla="*/ 24 w 24"/>
                  <a:gd name="T5" fmla="*/ 6 h 24"/>
                  <a:gd name="T6" fmla="*/ 12 w 24"/>
                  <a:gd name="T7" fmla="*/ 0 h 24"/>
                  <a:gd name="T8" fmla="*/ 6 w 24"/>
                  <a:gd name="T9" fmla="*/ 24 h 24"/>
                  <a:gd name="T10" fmla="*/ 0 w 24"/>
                  <a:gd name="T11" fmla="*/ 18 h 24"/>
                  <a:gd name="T12" fmla="*/ 0 w 24"/>
                  <a:gd name="T13" fmla="*/ 18 h 24"/>
                  <a:gd name="T14" fmla="*/ 0 w 24"/>
                  <a:gd name="T15" fmla="*/ 24 h 24"/>
                  <a:gd name="T16" fmla="*/ 24 w 24"/>
                  <a:gd name="T17" fmla="*/ 18 h 24"/>
                  <a:gd name="T18" fmla="*/ 0 w 24"/>
                  <a:gd name="T19" fmla="*/ 24 h 24"/>
                  <a:gd name="T20" fmla="*/ 0 w 24"/>
                  <a:gd name="T21" fmla="*/ 24 h 24"/>
                  <a:gd name="T22" fmla="*/ 0 w 24"/>
                  <a:gd name="T23" fmla="*/ 24 h 24"/>
                  <a:gd name="T24" fmla="*/ 12 w 24"/>
                  <a:gd name="T25" fmla="*/ 18 h 24"/>
                  <a:gd name="T26" fmla="*/ 0 w 24"/>
                  <a:gd name="T27" fmla="*/ 24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4"/>
                  <a:gd name="T43" fmla="*/ 0 h 24"/>
                  <a:gd name="T44" fmla="*/ 24 w 24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4" h="24">
                    <a:moveTo>
                      <a:pt x="24" y="18"/>
                    </a:moveTo>
                    <a:lnTo>
                      <a:pt x="24" y="12"/>
                    </a:lnTo>
                    <a:lnTo>
                      <a:pt x="24" y="6"/>
                    </a:lnTo>
                    <a:lnTo>
                      <a:pt x="12" y="0"/>
                    </a:lnTo>
                    <a:lnTo>
                      <a:pt x="6" y="24"/>
                    </a:lnTo>
                    <a:lnTo>
                      <a:pt x="0" y="18"/>
                    </a:lnTo>
                    <a:lnTo>
                      <a:pt x="0" y="24"/>
                    </a:lnTo>
                    <a:lnTo>
                      <a:pt x="24" y="18"/>
                    </a:lnTo>
                    <a:close/>
                    <a:moveTo>
                      <a:pt x="0" y="24"/>
                    </a:moveTo>
                    <a:lnTo>
                      <a:pt x="0" y="24"/>
                    </a:lnTo>
                    <a:lnTo>
                      <a:pt x="12" y="18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81" name="Freeform 233">
                <a:extLst>
                  <a:ext uri="{FF2B5EF4-FFF2-40B4-BE49-F238E27FC236}">
                    <a16:creationId xmlns:a16="http://schemas.microsoft.com/office/drawing/2014/main" id="{5B061A8A-14A8-C951-0921-D098193D3A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25" y="2334"/>
                <a:ext cx="24" cy="24"/>
              </a:xfrm>
              <a:custGeom>
                <a:avLst/>
                <a:gdLst>
                  <a:gd name="T0" fmla="*/ 0 w 24"/>
                  <a:gd name="T1" fmla="*/ 18 h 24"/>
                  <a:gd name="T2" fmla="*/ 0 w 24"/>
                  <a:gd name="T3" fmla="*/ 24 h 24"/>
                  <a:gd name="T4" fmla="*/ 0 w 24"/>
                  <a:gd name="T5" fmla="*/ 24 h 24"/>
                  <a:gd name="T6" fmla="*/ 24 w 24"/>
                  <a:gd name="T7" fmla="*/ 18 h 24"/>
                  <a:gd name="T8" fmla="*/ 24 w 24"/>
                  <a:gd name="T9" fmla="*/ 6 h 24"/>
                  <a:gd name="T10" fmla="*/ 18 w 24"/>
                  <a:gd name="T11" fmla="*/ 0 h 24"/>
                  <a:gd name="T12" fmla="*/ 0 w 24"/>
                  <a:gd name="T13" fmla="*/ 18 h 24"/>
                  <a:gd name="T14" fmla="*/ 12 w 24"/>
                  <a:gd name="T15" fmla="*/ 0 h 24"/>
                  <a:gd name="T16" fmla="*/ 0 w 24"/>
                  <a:gd name="T17" fmla="*/ 18 h 24"/>
                  <a:gd name="T18" fmla="*/ 18 w 24"/>
                  <a:gd name="T19" fmla="*/ 0 h 24"/>
                  <a:gd name="T20" fmla="*/ 6 w 24"/>
                  <a:gd name="T21" fmla="*/ 24 h 24"/>
                  <a:gd name="T22" fmla="*/ 12 w 24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0" y="18"/>
                    </a:moveTo>
                    <a:lnTo>
                      <a:pt x="0" y="24"/>
                    </a:lnTo>
                    <a:lnTo>
                      <a:pt x="24" y="18"/>
                    </a:lnTo>
                    <a:lnTo>
                      <a:pt x="24" y="6"/>
                    </a:lnTo>
                    <a:lnTo>
                      <a:pt x="18" y="0"/>
                    </a:lnTo>
                    <a:lnTo>
                      <a:pt x="0" y="18"/>
                    </a:lnTo>
                    <a:close/>
                    <a:moveTo>
                      <a:pt x="12" y="0"/>
                    </a:moveTo>
                    <a:lnTo>
                      <a:pt x="0" y="18"/>
                    </a:lnTo>
                    <a:lnTo>
                      <a:pt x="18" y="0"/>
                    </a:lnTo>
                    <a:lnTo>
                      <a:pt x="6" y="2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82" name="Freeform 234">
                <a:extLst>
                  <a:ext uri="{FF2B5EF4-FFF2-40B4-BE49-F238E27FC236}">
                    <a16:creationId xmlns:a16="http://schemas.microsoft.com/office/drawing/2014/main" id="{1230CB42-D51C-DBBD-752B-CA060028D3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25" y="2352"/>
                <a:ext cx="30" cy="24"/>
              </a:xfrm>
              <a:custGeom>
                <a:avLst/>
                <a:gdLst>
                  <a:gd name="T0" fmla="*/ 6 w 30"/>
                  <a:gd name="T1" fmla="*/ 6 h 24"/>
                  <a:gd name="T2" fmla="*/ 6 w 30"/>
                  <a:gd name="T3" fmla="*/ 6 h 24"/>
                  <a:gd name="T4" fmla="*/ 6 w 30"/>
                  <a:gd name="T5" fmla="*/ 12 h 24"/>
                  <a:gd name="T6" fmla="*/ 6 w 30"/>
                  <a:gd name="T7" fmla="*/ 18 h 24"/>
                  <a:gd name="T8" fmla="*/ 6 w 30"/>
                  <a:gd name="T9" fmla="*/ 18 h 24"/>
                  <a:gd name="T10" fmla="*/ 30 w 30"/>
                  <a:gd name="T11" fmla="*/ 24 h 24"/>
                  <a:gd name="T12" fmla="*/ 30 w 30"/>
                  <a:gd name="T13" fmla="*/ 6 h 24"/>
                  <a:gd name="T14" fmla="*/ 24 w 30"/>
                  <a:gd name="T15" fmla="*/ 0 h 24"/>
                  <a:gd name="T16" fmla="*/ 6 w 30"/>
                  <a:gd name="T17" fmla="*/ 6 h 24"/>
                  <a:gd name="T18" fmla="*/ 0 w 30"/>
                  <a:gd name="T19" fmla="*/ 6 h 24"/>
                  <a:gd name="T20" fmla="*/ 0 w 30"/>
                  <a:gd name="T21" fmla="*/ 6 h 24"/>
                  <a:gd name="T22" fmla="*/ 6 w 30"/>
                  <a:gd name="T23" fmla="*/ 6 h 24"/>
                  <a:gd name="T24" fmla="*/ 12 w 30"/>
                  <a:gd name="T25" fmla="*/ 0 h 24"/>
                  <a:gd name="T26" fmla="*/ 0 w 30"/>
                  <a:gd name="T27" fmla="*/ 6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0"/>
                  <a:gd name="T43" fmla="*/ 0 h 24"/>
                  <a:gd name="T44" fmla="*/ 30 w 30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0" h="24">
                    <a:moveTo>
                      <a:pt x="6" y="6"/>
                    </a:moveTo>
                    <a:lnTo>
                      <a:pt x="6" y="6"/>
                    </a:lnTo>
                    <a:lnTo>
                      <a:pt x="6" y="12"/>
                    </a:lnTo>
                    <a:lnTo>
                      <a:pt x="6" y="18"/>
                    </a:lnTo>
                    <a:lnTo>
                      <a:pt x="30" y="24"/>
                    </a:lnTo>
                    <a:lnTo>
                      <a:pt x="30" y="6"/>
                    </a:lnTo>
                    <a:lnTo>
                      <a:pt x="24" y="0"/>
                    </a:lnTo>
                    <a:lnTo>
                      <a:pt x="6" y="6"/>
                    </a:lnTo>
                    <a:close/>
                    <a:moveTo>
                      <a:pt x="0" y="6"/>
                    </a:moveTo>
                    <a:lnTo>
                      <a:pt x="0" y="6"/>
                    </a:lnTo>
                    <a:lnTo>
                      <a:pt x="6" y="6"/>
                    </a:lnTo>
                    <a:lnTo>
                      <a:pt x="12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83" name="Freeform 235">
                <a:extLst>
                  <a:ext uri="{FF2B5EF4-FFF2-40B4-BE49-F238E27FC236}">
                    <a16:creationId xmlns:a16="http://schemas.microsoft.com/office/drawing/2014/main" id="{F6D70F58-D595-741C-1AC6-0C2AC8EED6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31" y="2364"/>
                <a:ext cx="30" cy="24"/>
              </a:xfrm>
              <a:custGeom>
                <a:avLst/>
                <a:gdLst>
                  <a:gd name="T0" fmla="*/ 0 w 30"/>
                  <a:gd name="T1" fmla="*/ 12 h 24"/>
                  <a:gd name="T2" fmla="*/ 0 w 30"/>
                  <a:gd name="T3" fmla="*/ 12 h 24"/>
                  <a:gd name="T4" fmla="*/ 0 w 30"/>
                  <a:gd name="T5" fmla="*/ 12 h 24"/>
                  <a:gd name="T6" fmla="*/ 6 w 30"/>
                  <a:gd name="T7" fmla="*/ 18 h 24"/>
                  <a:gd name="T8" fmla="*/ 18 w 30"/>
                  <a:gd name="T9" fmla="*/ 24 h 24"/>
                  <a:gd name="T10" fmla="*/ 12 w 30"/>
                  <a:gd name="T11" fmla="*/ 0 h 24"/>
                  <a:gd name="T12" fmla="*/ 24 w 30"/>
                  <a:gd name="T13" fmla="*/ 6 h 24"/>
                  <a:gd name="T14" fmla="*/ 30 w 30"/>
                  <a:gd name="T15" fmla="*/ 6 h 24"/>
                  <a:gd name="T16" fmla="*/ 24 w 30"/>
                  <a:gd name="T17" fmla="*/ 6 h 24"/>
                  <a:gd name="T18" fmla="*/ 0 w 30"/>
                  <a:gd name="T19" fmla="*/ 12 h 24"/>
                  <a:gd name="T20" fmla="*/ 0 w 30"/>
                  <a:gd name="T21" fmla="*/ 6 h 24"/>
                  <a:gd name="T22" fmla="*/ 0 w 30"/>
                  <a:gd name="T23" fmla="*/ 6 h 24"/>
                  <a:gd name="T24" fmla="*/ 0 w 30"/>
                  <a:gd name="T25" fmla="*/ 12 h 24"/>
                  <a:gd name="T26" fmla="*/ 12 w 30"/>
                  <a:gd name="T27" fmla="*/ 6 h 24"/>
                  <a:gd name="T28" fmla="*/ 0 w 30"/>
                  <a:gd name="T29" fmla="*/ 6 h 2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0"/>
                  <a:gd name="T46" fmla="*/ 0 h 24"/>
                  <a:gd name="T47" fmla="*/ 30 w 30"/>
                  <a:gd name="T48" fmla="*/ 24 h 2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0" h="24">
                    <a:moveTo>
                      <a:pt x="0" y="12"/>
                    </a:moveTo>
                    <a:lnTo>
                      <a:pt x="0" y="12"/>
                    </a:lnTo>
                    <a:lnTo>
                      <a:pt x="6" y="18"/>
                    </a:lnTo>
                    <a:lnTo>
                      <a:pt x="18" y="24"/>
                    </a:lnTo>
                    <a:lnTo>
                      <a:pt x="12" y="0"/>
                    </a:lnTo>
                    <a:lnTo>
                      <a:pt x="24" y="6"/>
                    </a:lnTo>
                    <a:lnTo>
                      <a:pt x="30" y="6"/>
                    </a:lnTo>
                    <a:lnTo>
                      <a:pt x="24" y="6"/>
                    </a:lnTo>
                    <a:lnTo>
                      <a:pt x="0" y="12"/>
                    </a:lnTo>
                    <a:close/>
                    <a:moveTo>
                      <a:pt x="0" y="6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2" y="6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84" name="Freeform 236">
                <a:extLst>
                  <a:ext uri="{FF2B5EF4-FFF2-40B4-BE49-F238E27FC236}">
                    <a16:creationId xmlns:a16="http://schemas.microsoft.com/office/drawing/2014/main" id="{1D227AC5-BA47-9BAD-18CF-4860E5E8E5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37" y="2364"/>
                <a:ext cx="18" cy="24"/>
              </a:xfrm>
              <a:custGeom>
                <a:avLst/>
                <a:gdLst>
                  <a:gd name="T0" fmla="*/ 6 w 18"/>
                  <a:gd name="T1" fmla="*/ 0 h 24"/>
                  <a:gd name="T2" fmla="*/ 0 w 18"/>
                  <a:gd name="T3" fmla="*/ 0 h 24"/>
                  <a:gd name="T4" fmla="*/ 12 w 18"/>
                  <a:gd name="T5" fmla="*/ 24 h 24"/>
                  <a:gd name="T6" fmla="*/ 18 w 18"/>
                  <a:gd name="T7" fmla="*/ 24 h 24"/>
                  <a:gd name="T8" fmla="*/ 6 w 18"/>
                  <a:gd name="T9" fmla="*/ 0 h 24"/>
                  <a:gd name="T10" fmla="*/ 12 w 18"/>
                  <a:gd name="T11" fmla="*/ 24 h 24"/>
                  <a:gd name="T12" fmla="*/ 6 w 18"/>
                  <a:gd name="T13" fmla="*/ 0 h 24"/>
                  <a:gd name="T14" fmla="*/ 18 w 18"/>
                  <a:gd name="T15" fmla="*/ 24 h 24"/>
                  <a:gd name="T16" fmla="*/ 6 w 18"/>
                  <a:gd name="T17" fmla="*/ 0 h 24"/>
                  <a:gd name="T18" fmla="*/ 12 w 18"/>
                  <a:gd name="T19" fmla="*/ 24 h 2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8"/>
                  <a:gd name="T31" fmla="*/ 0 h 24"/>
                  <a:gd name="T32" fmla="*/ 18 w 18"/>
                  <a:gd name="T33" fmla="*/ 24 h 2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8" h="24">
                    <a:moveTo>
                      <a:pt x="6" y="0"/>
                    </a:moveTo>
                    <a:lnTo>
                      <a:pt x="0" y="0"/>
                    </a:lnTo>
                    <a:lnTo>
                      <a:pt x="12" y="24"/>
                    </a:lnTo>
                    <a:lnTo>
                      <a:pt x="18" y="24"/>
                    </a:lnTo>
                    <a:lnTo>
                      <a:pt x="6" y="0"/>
                    </a:lnTo>
                    <a:close/>
                    <a:moveTo>
                      <a:pt x="12" y="24"/>
                    </a:moveTo>
                    <a:lnTo>
                      <a:pt x="6" y="0"/>
                    </a:lnTo>
                    <a:lnTo>
                      <a:pt x="18" y="24"/>
                    </a:lnTo>
                    <a:lnTo>
                      <a:pt x="6" y="0"/>
                    </a:lnTo>
                    <a:lnTo>
                      <a:pt x="12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85" name="Freeform 237">
                <a:extLst>
                  <a:ext uri="{FF2B5EF4-FFF2-40B4-BE49-F238E27FC236}">
                    <a16:creationId xmlns:a16="http://schemas.microsoft.com/office/drawing/2014/main" id="{75D0BA30-006A-9CD1-1490-2C49AB5B7D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1" y="2376"/>
                <a:ext cx="18" cy="18"/>
              </a:xfrm>
              <a:custGeom>
                <a:avLst/>
                <a:gdLst>
                  <a:gd name="T0" fmla="*/ 0 w 18"/>
                  <a:gd name="T1" fmla="*/ 6 h 18"/>
                  <a:gd name="T2" fmla="*/ 6 w 18"/>
                  <a:gd name="T3" fmla="*/ 18 h 18"/>
                  <a:gd name="T4" fmla="*/ 18 w 18"/>
                  <a:gd name="T5" fmla="*/ 12 h 18"/>
                  <a:gd name="T6" fmla="*/ 12 w 18"/>
                  <a:gd name="T7" fmla="*/ 0 h 18"/>
                  <a:gd name="T8" fmla="*/ 0 w 18"/>
                  <a:gd name="T9" fmla="*/ 6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8"/>
                  <a:gd name="T17" fmla="*/ 18 w 18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8">
                    <a:moveTo>
                      <a:pt x="0" y="6"/>
                    </a:moveTo>
                    <a:lnTo>
                      <a:pt x="6" y="18"/>
                    </a:lnTo>
                    <a:lnTo>
                      <a:pt x="18" y="12"/>
                    </a:lnTo>
                    <a:lnTo>
                      <a:pt x="12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86" name="Freeform 238">
                <a:extLst>
                  <a:ext uri="{FF2B5EF4-FFF2-40B4-BE49-F238E27FC236}">
                    <a16:creationId xmlns:a16="http://schemas.microsoft.com/office/drawing/2014/main" id="{CA857D77-8C94-A8BF-DAC6-B985245841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1" y="2459"/>
                <a:ext cx="48" cy="78"/>
              </a:xfrm>
              <a:custGeom>
                <a:avLst/>
                <a:gdLst>
                  <a:gd name="T0" fmla="*/ 48 w 48"/>
                  <a:gd name="T1" fmla="*/ 0 h 78"/>
                  <a:gd name="T2" fmla="*/ 48 w 48"/>
                  <a:gd name="T3" fmla="*/ 0 h 78"/>
                  <a:gd name="T4" fmla="*/ 42 w 48"/>
                  <a:gd name="T5" fmla="*/ 12 h 78"/>
                  <a:gd name="T6" fmla="*/ 36 w 48"/>
                  <a:gd name="T7" fmla="*/ 24 h 78"/>
                  <a:gd name="T8" fmla="*/ 30 w 48"/>
                  <a:gd name="T9" fmla="*/ 36 h 78"/>
                  <a:gd name="T10" fmla="*/ 24 w 48"/>
                  <a:gd name="T11" fmla="*/ 42 h 78"/>
                  <a:gd name="T12" fmla="*/ 18 w 48"/>
                  <a:gd name="T13" fmla="*/ 54 h 78"/>
                  <a:gd name="T14" fmla="*/ 12 w 48"/>
                  <a:gd name="T15" fmla="*/ 60 h 78"/>
                  <a:gd name="T16" fmla="*/ 6 w 48"/>
                  <a:gd name="T17" fmla="*/ 72 h 78"/>
                  <a:gd name="T18" fmla="*/ 0 w 48"/>
                  <a:gd name="T19" fmla="*/ 78 h 78"/>
                  <a:gd name="T20" fmla="*/ 0 w 48"/>
                  <a:gd name="T21" fmla="*/ 78 h 78"/>
                  <a:gd name="T22" fmla="*/ 0 w 48"/>
                  <a:gd name="T23" fmla="*/ 78 h 78"/>
                  <a:gd name="T24" fmla="*/ 6 w 48"/>
                  <a:gd name="T25" fmla="*/ 72 h 78"/>
                  <a:gd name="T26" fmla="*/ 12 w 48"/>
                  <a:gd name="T27" fmla="*/ 60 h 78"/>
                  <a:gd name="T28" fmla="*/ 18 w 48"/>
                  <a:gd name="T29" fmla="*/ 54 h 78"/>
                  <a:gd name="T30" fmla="*/ 24 w 48"/>
                  <a:gd name="T31" fmla="*/ 42 h 78"/>
                  <a:gd name="T32" fmla="*/ 36 w 48"/>
                  <a:gd name="T33" fmla="*/ 30 h 78"/>
                  <a:gd name="T34" fmla="*/ 42 w 48"/>
                  <a:gd name="T35" fmla="*/ 18 h 78"/>
                  <a:gd name="T36" fmla="*/ 48 w 48"/>
                  <a:gd name="T37" fmla="*/ 12 h 78"/>
                  <a:gd name="T38" fmla="*/ 48 w 48"/>
                  <a:gd name="T39" fmla="*/ 0 h 78"/>
                  <a:gd name="T40" fmla="*/ 48 w 48"/>
                  <a:gd name="T41" fmla="*/ 0 h 78"/>
                  <a:gd name="T42" fmla="*/ 48 w 48"/>
                  <a:gd name="T43" fmla="*/ 0 h 78"/>
                  <a:gd name="T44" fmla="*/ 48 w 48"/>
                  <a:gd name="T45" fmla="*/ 0 h 78"/>
                  <a:gd name="T46" fmla="*/ 48 w 48"/>
                  <a:gd name="T47" fmla="*/ 0 h 7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8"/>
                  <a:gd name="T73" fmla="*/ 0 h 78"/>
                  <a:gd name="T74" fmla="*/ 48 w 48"/>
                  <a:gd name="T75" fmla="*/ 78 h 7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8" h="78">
                    <a:moveTo>
                      <a:pt x="48" y="0"/>
                    </a:moveTo>
                    <a:lnTo>
                      <a:pt x="48" y="0"/>
                    </a:lnTo>
                    <a:lnTo>
                      <a:pt x="42" y="12"/>
                    </a:lnTo>
                    <a:lnTo>
                      <a:pt x="36" y="24"/>
                    </a:lnTo>
                    <a:lnTo>
                      <a:pt x="30" y="36"/>
                    </a:lnTo>
                    <a:lnTo>
                      <a:pt x="24" y="42"/>
                    </a:lnTo>
                    <a:lnTo>
                      <a:pt x="18" y="54"/>
                    </a:lnTo>
                    <a:lnTo>
                      <a:pt x="12" y="60"/>
                    </a:lnTo>
                    <a:lnTo>
                      <a:pt x="6" y="72"/>
                    </a:lnTo>
                    <a:lnTo>
                      <a:pt x="0" y="78"/>
                    </a:lnTo>
                    <a:lnTo>
                      <a:pt x="6" y="72"/>
                    </a:lnTo>
                    <a:lnTo>
                      <a:pt x="12" y="60"/>
                    </a:lnTo>
                    <a:lnTo>
                      <a:pt x="18" y="54"/>
                    </a:lnTo>
                    <a:lnTo>
                      <a:pt x="24" y="42"/>
                    </a:lnTo>
                    <a:lnTo>
                      <a:pt x="36" y="30"/>
                    </a:lnTo>
                    <a:lnTo>
                      <a:pt x="42" y="18"/>
                    </a:lnTo>
                    <a:lnTo>
                      <a:pt x="48" y="12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87" name="Freeform 239">
                <a:extLst>
                  <a:ext uri="{FF2B5EF4-FFF2-40B4-BE49-F238E27FC236}">
                    <a16:creationId xmlns:a16="http://schemas.microsoft.com/office/drawing/2014/main" id="{6EC54FEE-D2EF-34FC-2D9C-FFF1898DE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2459"/>
                <a:ext cx="48" cy="78"/>
              </a:xfrm>
              <a:custGeom>
                <a:avLst/>
                <a:gdLst>
                  <a:gd name="T0" fmla="*/ 0 w 48"/>
                  <a:gd name="T1" fmla="*/ 0 h 78"/>
                  <a:gd name="T2" fmla="*/ 0 w 48"/>
                  <a:gd name="T3" fmla="*/ 0 h 78"/>
                  <a:gd name="T4" fmla="*/ 6 w 48"/>
                  <a:gd name="T5" fmla="*/ 12 h 78"/>
                  <a:gd name="T6" fmla="*/ 12 w 48"/>
                  <a:gd name="T7" fmla="*/ 24 h 78"/>
                  <a:gd name="T8" fmla="*/ 18 w 48"/>
                  <a:gd name="T9" fmla="*/ 36 h 78"/>
                  <a:gd name="T10" fmla="*/ 24 w 48"/>
                  <a:gd name="T11" fmla="*/ 42 h 78"/>
                  <a:gd name="T12" fmla="*/ 30 w 48"/>
                  <a:gd name="T13" fmla="*/ 54 h 78"/>
                  <a:gd name="T14" fmla="*/ 36 w 48"/>
                  <a:gd name="T15" fmla="*/ 60 h 78"/>
                  <a:gd name="T16" fmla="*/ 42 w 48"/>
                  <a:gd name="T17" fmla="*/ 72 h 78"/>
                  <a:gd name="T18" fmla="*/ 48 w 48"/>
                  <a:gd name="T19" fmla="*/ 78 h 78"/>
                  <a:gd name="T20" fmla="*/ 48 w 48"/>
                  <a:gd name="T21" fmla="*/ 78 h 78"/>
                  <a:gd name="T22" fmla="*/ 48 w 48"/>
                  <a:gd name="T23" fmla="*/ 78 h 78"/>
                  <a:gd name="T24" fmla="*/ 42 w 48"/>
                  <a:gd name="T25" fmla="*/ 72 h 78"/>
                  <a:gd name="T26" fmla="*/ 36 w 48"/>
                  <a:gd name="T27" fmla="*/ 60 h 78"/>
                  <a:gd name="T28" fmla="*/ 30 w 48"/>
                  <a:gd name="T29" fmla="*/ 54 h 78"/>
                  <a:gd name="T30" fmla="*/ 24 w 48"/>
                  <a:gd name="T31" fmla="*/ 42 h 78"/>
                  <a:gd name="T32" fmla="*/ 12 w 48"/>
                  <a:gd name="T33" fmla="*/ 30 h 78"/>
                  <a:gd name="T34" fmla="*/ 6 w 48"/>
                  <a:gd name="T35" fmla="*/ 18 h 78"/>
                  <a:gd name="T36" fmla="*/ 0 w 48"/>
                  <a:gd name="T37" fmla="*/ 12 h 78"/>
                  <a:gd name="T38" fmla="*/ 0 w 48"/>
                  <a:gd name="T39" fmla="*/ 0 h 78"/>
                  <a:gd name="T40" fmla="*/ 0 w 48"/>
                  <a:gd name="T41" fmla="*/ 0 h 78"/>
                  <a:gd name="T42" fmla="*/ 0 w 48"/>
                  <a:gd name="T43" fmla="*/ 0 h 78"/>
                  <a:gd name="T44" fmla="*/ 0 w 48"/>
                  <a:gd name="T45" fmla="*/ 0 h 78"/>
                  <a:gd name="T46" fmla="*/ 0 w 48"/>
                  <a:gd name="T47" fmla="*/ 0 h 7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8"/>
                  <a:gd name="T73" fmla="*/ 0 h 78"/>
                  <a:gd name="T74" fmla="*/ 48 w 48"/>
                  <a:gd name="T75" fmla="*/ 78 h 7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8" h="78">
                    <a:moveTo>
                      <a:pt x="0" y="0"/>
                    </a:moveTo>
                    <a:lnTo>
                      <a:pt x="0" y="0"/>
                    </a:lnTo>
                    <a:lnTo>
                      <a:pt x="6" y="12"/>
                    </a:lnTo>
                    <a:lnTo>
                      <a:pt x="12" y="24"/>
                    </a:lnTo>
                    <a:lnTo>
                      <a:pt x="18" y="36"/>
                    </a:lnTo>
                    <a:lnTo>
                      <a:pt x="24" y="42"/>
                    </a:lnTo>
                    <a:lnTo>
                      <a:pt x="30" y="54"/>
                    </a:lnTo>
                    <a:lnTo>
                      <a:pt x="36" y="60"/>
                    </a:lnTo>
                    <a:lnTo>
                      <a:pt x="42" y="72"/>
                    </a:lnTo>
                    <a:lnTo>
                      <a:pt x="48" y="78"/>
                    </a:lnTo>
                    <a:lnTo>
                      <a:pt x="42" y="72"/>
                    </a:lnTo>
                    <a:lnTo>
                      <a:pt x="36" y="60"/>
                    </a:lnTo>
                    <a:lnTo>
                      <a:pt x="30" y="54"/>
                    </a:lnTo>
                    <a:lnTo>
                      <a:pt x="24" y="42"/>
                    </a:lnTo>
                    <a:lnTo>
                      <a:pt x="12" y="30"/>
                    </a:lnTo>
                    <a:lnTo>
                      <a:pt x="6" y="18"/>
                    </a:lnTo>
                    <a:lnTo>
                      <a:pt x="0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88" name="Freeform 240">
                <a:extLst>
                  <a:ext uri="{FF2B5EF4-FFF2-40B4-BE49-F238E27FC236}">
                    <a16:creationId xmlns:a16="http://schemas.microsoft.com/office/drawing/2014/main" id="{34B5FA3E-8B63-F8AA-3A1E-1E1D1827EB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9" y="2346"/>
                <a:ext cx="42" cy="71"/>
              </a:xfrm>
              <a:custGeom>
                <a:avLst/>
                <a:gdLst>
                  <a:gd name="T0" fmla="*/ 0 w 42"/>
                  <a:gd name="T1" fmla="*/ 71 h 71"/>
                  <a:gd name="T2" fmla="*/ 6 w 42"/>
                  <a:gd name="T3" fmla="*/ 71 h 71"/>
                  <a:gd name="T4" fmla="*/ 18 w 42"/>
                  <a:gd name="T5" fmla="*/ 71 h 71"/>
                  <a:gd name="T6" fmla="*/ 30 w 42"/>
                  <a:gd name="T7" fmla="*/ 65 h 71"/>
                  <a:gd name="T8" fmla="*/ 36 w 42"/>
                  <a:gd name="T9" fmla="*/ 59 h 71"/>
                  <a:gd name="T10" fmla="*/ 36 w 42"/>
                  <a:gd name="T11" fmla="*/ 54 h 71"/>
                  <a:gd name="T12" fmla="*/ 42 w 42"/>
                  <a:gd name="T13" fmla="*/ 48 h 71"/>
                  <a:gd name="T14" fmla="*/ 42 w 42"/>
                  <a:gd name="T15" fmla="*/ 42 h 71"/>
                  <a:gd name="T16" fmla="*/ 42 w 42"/>
                  <a:gd name="T17" fmla="*/ 42 h 71"/>
                  <a:gd name="T18" fmla="*/ 36 w 42"/>
                  <a:gd name="T19" fmla="*/ 36 h 71"/>
                  <a:gd name="T20" fmla="*/ 30 w 42"/>
                  <a:gd name="T21" fmla="*/ 30 h 71"/>
                  <a:gd name="T22" fmla="*/ 24 w 42"/>
                  <a:gd name="T23" fmla="*/ 30 h 71"/>
                  <a:gd name="T24" fmla="*/ 30 w 42"/>
                  <a:gd name="T25" fmla="*/ 12 h 71"/>
                  <a:gd name="T26" fmla="*/ 30 w 42"/>
                  <a:gd name="T27" fmla="*/ 0 h 71"/>
                  <a:gd name="T28" fmla="*/ 24 w 42"/>
                  <a:gd name="T29" fmla="*/ 12 h 71"/>
                  <a:gd name="T30" fmla="*/ 24 w 42"/>
                  <a:gd name="T31" fmla="*/ 6 h 71"/>
                  <a:gd name="T32" fmla="*/ 24 w 42"/>
                  <a:gd name="T33" fmla="*/ 12 h 71"/>
                  <a:gd name="T34" fmla="*/ 24 w 42"/>
                  <a:gd name="T35" fmla="*/ 18 h 71"/>
                  <a:gd name="T36" fmla="*/ 24 w 42"/>
                  <a:gd name="T37" fmla="*/ 24 h 71"/>
                  <a:gd name="T38" fmla="*/ 18 w 42"/>
                  <a:gd name="T39" fmla="*/ 24 h 71"/>
                  <a:gd name="T40" fmla="*/ 18 w 42"/>
                  <a:gd name="T41" fmla="*/ 18 h 71"/>
                  <a:gd name="T42" fmla="*/ 18 w 42"/>
                  <a:gd name="T43" fmla="*/ 24 h 71"/>
                  <a:gd name="T44" fmla="*/ 18 w 42"/>
                  <a:gd name="T45" fmla="*/ 30 h 71"/>
                  <a:gd name="T46" fmla="*/ 24 w 42"/>
                  <a:gd name="T47" fmla="*/ 36 h 71"/>
                  <a:gd name="T48" fmla="*/ 36 w 42"/>
                  <a:gd name="T49" fmla="*/ 48 h 71"/>
                  <a:gd name="T50" fmla="*/ 36 w 42"/>
                  <a:gd name="T51" fmla="*/ 48 h 71"/>
                  <a:gd name="T52" fmla="*/ 30 w 42"/>
                  <a:gd name="T53" fmla="*/ 48 h 71"/>
                  <a:gd name="T54" fmla="*/ 24 w 42"/>
                  <a:gd name="T55" fmla="*/ 54 h 71"/>
                  <a:gd name="T56" fmla="*/ 12 w 42"/>
                  <a:gd name="T57" fmla="*/ 54 h 71"/>
                  <a:gd name="T58" fmla="*/ 6 w 42"/>
                  <a:gd name="T59" fmla="*/ 59 h 71"/>
                  <a:gd name="T60" fmla="*/ 0 w 42"/>
                  <a:gd name="T61" fmla="*/ 71 h 71"/>
                  <a:gd name="T62" fmla="*/ 0 w 42"/>
                  <a:gd name="T63" fmla="*/ 71 h 71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2"/>
                  <a:gd name="T97" fmla="*/ 0 h 71"/>
                  <a:gd name="T98" fmla="*/ 42 w 42"/>
                  <a:gd name="T99" fmla="*/ 71 h 71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2" h="71">
                    <a:moveTo>
                      <a:pt x="0" y="71"/>
                    </a:moveTo>
                    <a:lnTo>
                      <a:pt x="6" y="71"/>
                    </a:lnTo>
                    <a:lnTo>
                      <a:pt x="18" y="71"/>
                    </a:lnTo>
                    <a:lnTo>
                      <a:pt x="30" y="65"/>
                    </a:lnTo>
                    <a:lnTo>
                      <a:pt x="36" y="59"/>
                    </a:lnTo>
                    <a:lnTo>
                      <a:pt x="36" y="54"/>
                    </a:lnTo>
                    <a:lnTo>
                      <a:pt x="42" y="48"/>
                    </a:lnTo>
                    <a:lnTo>
                      <a:pt x="42" y="42"/>
                    </a:lnTo>
                    <a:lnTo>
                      <a:pt x="36" y="36"/>
                    </a:lnTo>
                    <a:lnTo>
                      <a:pt x="30" y="30"/>
                    </a:lnTo>
                    <a:lnTo>
                      <a:pt x="24" y="30"/>
                    </a:lnTo>
                    <a:lnTo>
                      <a:pt x="30" y="12"/>
                    </a:lnTo>
                    <a:lnTo>
                      <a:pt x="30" y="0"/>
                    </a:lnTo>
                    <a:lnTo>
                      <a:pt x="24" y="12"/>
                    </a:lnTo>
                    <a:lnTo>
                      <a:pt x="24" y="6"/>
                    </a:lnTo>
                    <a:lnTo>
                      <a:pt x="24" y="12"/>
                    </a:lnTo>
                    <a:lnTo>
                      <a:pt x="24" y="18"/>
                    </a:lnTo>
                    <a:lnTo>
                      <a:pt x="24" y="24"/>
                    </a:lnTo>
                    <a:lnTo>
                      <a:pt x="18" y="24"/>
                    </a:lnTo>
                    <a:lnTo>
                      <a:pt x="18" y="18"/>
                    </a:lnTo>
                    <a:lnTo>
                      <a:pt x="18" y="24"/>
                    </a:lnTo>
                    <a:lnTo>
                      <a:pt x="18" y="30"/>
                    </a:lnTo>
                    <a:lnTo>
                      <a:pt x="24" y="36"/>
                    </a:lnTo>
                    <a:lnTo>
                      <a:pt x="36" y="48"/>
                    </a:lnTo>
                    <a:lnTo>
                      <a:pt x="30" y="48"/>
                    </a:lnTo>
                    <a:lnTo>
                      <a:pt x="24" y="54"/>
                    </a:lnTo>
                    <a:lnTo>
                      <a:pt x="12" y="54"/>
                    </a:lnTo>
                    <a:lnTo>
                      <a:pt x="6" y="59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89" name="Freeform 241">
                <a:extLst>
                  <a:ext uri="{FF2B5EF4-FFF2-40B4-BE49-F238E27FC236}">
                    <a16:creationId xmlns:a16="http://schemas.microsoft.com/office/drawing/2014/main" id="{E72FB6D2-9CF8-6649-3D5C-A4EB4E2AE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3" y="2400"/>
                <a:ext cx="42" cy="35"/>
              </a:xfrm>
              <a:custGeom>
                <a:avLst/>
                <a:gdLst>
                  <a:gd name="T0" fmla="*/ 0 w 42"/>
                  <a:gd name="T1" fmla="*/ 29 h 35"/>
                  <a:gd name="T2" fmla="*/ 12 w 42"/>
                  <a:gd name="T3" fmla="*/ 35 h 35"/>
                  <a:gd name="T4" fmla="*/ 24 w 42"/>
                  <a:gd name="T5" fmla="*/ 29 h 35"/>
                  <a:gd name="T6" fmla="*/ 42 w 42"/>
                  <a:gd name="T7" fmla="*/ 17 h 35"/>
                  <a:gd name="T8" fmla="*/ 24 w 42"/>
                  <a:gd name="T9" fmla="*/ 0 h 35"/>
                  <a:gd name="T10" fmla="*/ 12 w 42"/>
                  <a:gd name="T11" fmla="*/ 5 h 35"/>
                  <a:gd name="T12" fmla="*/ 12 w 42"/>
                  <a:gd name="T13" fmla="*/ 5 h 35"/>
                  <a:gd name="T14" fmla="*/ 18 w 42"/>
                  <a:gd name="T15" fmla="*/ 11 h 35"/>
                  <a:gd name="T16" fmla="*/ 0 w 42"/>
                  <a:gd name="T17" fmla="*/ 29 h 3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2"/>
                  <a:gd name="T28" fmla="*/ 0 h 35"/>
                  <a:gd name="T29" fmla="*/ 42 w 42"/>
                  <a:gd name="T30" fmla="*/ 35 h 3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2" h="35">
                    <a:moveTo>
                      <a:pt x="0" y="29"/>
                    </a:moveTo>
                    <a:lnTo>
                      <a:pt x="12" y="35"/>
                    </a:lnTo>
                    <a:lnTo>
                      <a:pt x="24" y="29"/>
                    </a:lnTo>
                    <a:lnTo>
                      <a:pt x="42" y="17"/>
                    </a:lnTo>
                    <a:lnTo>
                      <a:pt x="24" y="0"/>
                    </a:lnTo>
                    <a:lnTo>
                      <a:pt x="12" y="5"/>
                    </a:lnTo>
                    <a:lnTo>
                      <a:pt x="18" y="11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90" name="Freeform 242">
                <a:extLst>
                  <a:ext uri="{FF2B5EF4-FFF2-40B4-BE49-F238E27FC236}">
                    <a16:creationId xmlns:a16="http://schemas.microsoft.com/office/drawing/2014/main" id="{ED1857C9-B0CC-CE90-667A-10ACA5B093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7" y="2388"/>
                <a:ext cx="24" cy="29"/>
              </a:xfrm>
              <a:custGeom>
                <a:avLst/>
                <a:gdLst>
                  <a:gd name="T0" fmla="*/ 18 w 24"/>
                  <a:gd name="T1" fmla="*/ 29 h 29"/>
                  <a:gd name="T2" fmla="*/ 24 w 24"/>
                  <a:gd name="T3" fmla="*/ 29 h 29"/>
                  <a:gd name="T4" fmla="*/ 24 w 24"/>
                  <a:gd name="T5" fmla="*/ 23 h 29"/>
                  <a:gd name="T6" fmla="*/ 18 w 24"/>
                  <a:gd name="T7" fmla="*/ 23 h 29"/>
                  <a:gd name="T8" fmla="*/ 24 w 24"/>
                  <a:gd name="T9" fmla="*/ 0 h 29"/>
                  <a:gd name="T10" fmla="*/ 12 w 24"/>
                  <a:gd name="T11" fmla="*/ 6 h 29"/>
                  <a:gd name="T12" fmla="*/ 6 w 24"/>
                  <a:gd name="T13" fmla="*/ 6 h 29"/>
                  <a:gd name="T14" fmla="*/ 0 w 24"/>
                  <a:gd name="T15" fmla="*/ 12 h 29"/>
                  <a:gd name="T16" fmla="*/ 18 w 24"/>
                  <a:gd name="T17" fmla="*/ 29 h 29"/>
                  <a:gd name="T18" fmla="*/ 18 w 24"/>
                  <a:gd name="T19" fmla="*/ 29 h 29"/>
                  <a:gd name="T20" fmla="*/ 18 w 24"/>
                  <a:gd name="T21" fmla="*/ 29 h 29"/>
                  <a:gd name="T22" fmla="*/ 18 w 24"/>
                  <a:gd name="T23" fmla="*/ 29 h 29"/>
                  <a:gd name="T24" fmla="*/ 12 w 24"/>
                  <a:gd name="T25" fmla="*/ 23 h 29"/>
                  <a:gd name="T26" fmla="*/ 18 w 24"/>
                  <a:gd name="T27" fmla="*/ 29 h 2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4"/>
                  <a:gd name="T43" fmla="*/ 0 h 29"/>
                  <a:gd name="T44" fmla="*/ 24 w 24"/>
                  <a:gd name="T45" fmla="*/ 29 h 2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4" h="29">
                    <a:moveTo>
                      <a:pt x="18" y="29"/>
                    </a:moveTo>
                    <a:lnTo>
                      <a:pt x="24" y="29"/>
                    </a:lnTo>
                    <a:lnTo>
                      <a:pt x="24" y="23"/>
                    </a:lnTo>
                    <a:lnTo>
                      <a:pt x="18" y="23"/>
                    </a:lnTo>
                    <a:lnTo>
                      <a:pt x="24" y="0"/>
                    </a:lnTo>
                    <a:lnTo>
                      <a:pt x="12" y="6"/>
                    </a:lnTo>
                    <a:lnTo>
                      <a:pt x="6" y="6"/>
                    </a:lnTo>
                    <a:lnTo>
                      <a:pt x="0" y="12"/>
                    </a:lnTo>
                    <a:lnTo>
                      <a:pt x="18" y="29"/>
                    </a:lnTo>
                    <a:close/>
                    <a:moveTo>
                      <a:pt x="18" y="29"/>
                    </a:moveTo>
                    <a:lnTo>
                      <a:pt x="18" y="29"/>
                    </a:lnTo>
                    <a:lnTo>
                      <a:pt x="12" y="23"/>
                    </a:lnTo>
                    <a:lnTo>
                      <a:pt x="18" y="29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91" name="Freeform 243">
                <a:extLst>
                  <a:ext uri="{FF2B5EF4-FFF2-40B4-BE49-F238E27FC236}">
                    <a16:creationId xmlns:a16="http://schemas.microsoft.com/office/drawing/2014/main" id="{9E373151-D086-EDA8-8F9A-6E73EE21BE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79" y="2382"/>
                <a:ext cx="24" cy="29"/>
              </a:xfrm>
              <a:custGeom>
                <a:avLst/>
                <a:gdLst>
                  <a:gd name="T0" fmla="*/ 12 w 24"/>
                  <a:gd name="T1" fmla="*/ 29 h 29"/>
                  <a:gd name="T2" fmla="*/ 12 w 24"/>
                  <a:gd name="T3" fmla="*/ 29 h 29"/>
                  <a:gd name="T4" fmla="*/ 18 w 24"/>
                  <a:gd name="T5" fmla="*/ 23 h 29"/>
                  <a:gd name="T6" fmla="*/ 24 w 24"/>
                  <a:gd name="T7" fmla="*/ 12 h 29"/>
                  <a:gd name="T8" fmla="*/ 18 w 24"/>
                  <a:gd name="T9" fmla="*/ 0 h 29"/>
                  <a:gd name="T10" fmla="*/ 0 w 24"/>
                  <a:gd name="T11" fmla="*/ 18 h 29"/>
                  <a:gd name="T12" fmla="*/ 0 w 24"/>
                  <a:gd name="T13" fmla="*/ 12 h 29"/>
                  <a:gd name="T14" fmla="*/ 0 w 24"/>
                  <a:gd name="T15" fmla="*/ 12 h 29"/>
                  <a:gd name="T16" fmla="*/ 12 w 24"/>
                  <a:gd name="T17" fmla="*/ 29 h 29"/>
                  <a:gd name="T18" fmla="*/ 6 w 24"/>
                  <a:gd name="T19" fmla="*/ 29 h 29"/>
                  <a:gd name="T20" fmla="*/ 12 w 24"/>
                  <a:gd name="T21" fmla="*/ 29 h 29"/>
                  <a:gd name="T22" fmla="*/ 12 w 24"/>
                  <a:gd name="T23" fmla="*/ 29 h 29"/>
                  <a:gd name="T24" fmla="*/ 6 w 24"/>
                  <a:gd name="T25" fmla="*/ 18 h 29"/>
                  <a:gd name="T26" fmla="*/ 6 w 24"/>
                  <a:gd name="T27" fmla="*/ 29 h 2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24"/>
                  <a:gd name="T43" fmla="*/ 0 h 29"/>
                  <a:gd name="T44" fmla="*/ 24 w 24"/>
                  <a:gd name="T45" fmla="*/ 29 h 2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24" h="29">
                    <a:moveTo>
                      <a:pt x="12" y="29"/>
                    </a:moveTo>
                    <a:lnTo>
                      <a:pt x="12" y="29"/>
                    </a:lnTo>
                    <a:lnTo>
                      <a:pt x="18" y="23"/>
                    </a:lnTo>
                    <a:lnTo>
                      <a:pt x="24" y="12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12" y="29"/>
                    </a:lnTo>
                    <a:close/>
                    <a:moveTo>
                      <a:pt x="6" y="29"/>
                    </a:moveTo>
                    <a:lnTo>
                      <a:pt x="12" y="29"/>
                    </a:lnTo>
                    <a:lnTo>
                      <a:pt x="6" y="18"/>
                    </a:lnTo>
                    <a:lnTo>
                      <a:pt x="6" y="29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92" name="Freeform 244">
                <a:extLst>
                  <a:ext uri="{FF2B5EF4-FFF2-40B4-BE49-F238E27FC236}">
                    <a16:creationId xmlns:a16="http://schemas.microsoft.com/office/drawing/2014/main" id="{846878E5-4E4A-88F4-C760-D63A3FC2CF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7" y="2364"/>
                <a:ext cx="30" cy="36"/>
              </a:xfrm>
              <a:custGeom>
                <a:avLst/>
                <a:gdLst>
                  <a:gd name="T0" fmla="*/ 30 w 30"/>
                  <a:gd name="T1" fmla="*/ 18 h 36"/>
                  <a:gd name="T2" fmla="*/ 30 w 30"/>
                  <a:gd name="T3" fmla="*/ 18 h 36"/>
                  <a:gd name="T4" fmla="*/ 24 w 30"/>
                  <a:gd name="T5" fmla="*/ 12 h 36"/>
                  <a:gd name="T6" fmla="*/ 18 w 30"/>
                  <a:gd name="T7" fmla="*/ 6 h 36"/>
                  <a:gd name="T8" fmla="*/ 18 w 30"/>
                  <a:gd name="T9" fmla="*/ 6 h 36"/>
                  <a:gd name="T10" fmla="*/ 0 w 30"/>
                  <a:gd name="T11" fmla="*/ 0 h 36"/>
                  <a:gd name="T12" fmla="*/ 0 w 30"/>
                  <a:gd name="T13" fmla="*/ 18 h 36"/>
                  <a:gd name="T14" fmla="*/ 6 w 30"/>
                  <a:gd name="T15" fmla="*/ 30 h 36"/>
                  <a:gd name="T16" fmla="*/ 12 w 30"/>
                  <a:gd name="T17" fmla="*/ 36 h 36"/>
                  <a:gd name="T18" fmla="*/ 12 w 30"/>
                  <a:gd name="T19" fmla="*/ 36 h 36"/>
                  <a:gd name="T20" fmla="*/ 30 w 30"/>
                  <a:gd name="T21" fmla="*/ 18 h 36"/>
                  <a:gd name="T22" fmla="*/ 30 w 30"/>
                  <a:gd name="T23" fmla="*/ 18 h 36"/>
                  <a:gd name="T24" fmla="*/ 30 w 30"/>
                  <a:gd name="T25" fmla="*/ 18 h 36"/>
                  <a:gd name="T26" fmla="*/ 30 w 30"/>
                  <a:gd name="T27" fmla="*/ 18 h 36"/>
                  <a:gd name="T28" fmla="*/ 24 w 30"/>
                  <a:gd name="T29" fmla="*/ 24 h 36"/>
                  <a:gd name="T30" fmla="*/ 30 w 30"/>
                  <a:gd name="T31" fmla="*/ 18 h 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0"/>
                  <a:gd name="T49" fmla="*/ 0 h 36"/>
                  <a:gd name="T50" fmla="*/ 30 w 30"/>
                  <a:gd name="T51" fmla="*/ 36 h 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0" h="36">
                    <a:moveTo>
                      <a:pt x="30" y="18"/>
                    </a:moveTo>
                    <a:lnTo>
                      <a:pt x="30" y="18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0" y="0"/>
                    </a:lnTo>
                    <a:lnTo>
                      <a:pt x="0" y="18"/>
                    </a:lnTo>
                    <a:lnTo>
                      <a:pt x="6" y="30"/>
                    </a:lnTo>
                    <a:lnTo>
                      <a:pt x="12" y="36"/>
                    </a:lnTo>
                    <a:lnTo>
                      <a:pt x="30" y="18"/>
                    </a:lnTo>
                    <a:close/>
                    <a:moveTo>
                      <a:pt x="30" y="18"/>
                    </a:moveTo>
                    <a:lnTo>
                      <a:pt x="30" y="18"/>
                    </a:lnTo>
                    <a:lnTo>
                      <a:pt x="24" y="24"/>
                    </a:lnTo>
                    <a:lnTo>
                      <a:pt x="30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93" name="Freeform 245">
                <a:extLst>
                  <a:ext uri="{FF2B5EF4-FFF2-40B4-BE49-F238E27FC236}">
                    <a16:creationId xmlns:a16="http://schemas.microsoft.com/office/drawing/2014/main" id="{8C8EF464-15B3-BD2F-FF3E-4EC21505E2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352"/>
                <a:ext cx="24" cy="30"/>
              </a:xfrm>
              <a:custGeom>
                <a:avLst/>
                <a:gdLst>
                  <a:gd name="T0" fmla="*/ 24 w 24"/>
                  <a:gd name="T1" fmla="*/ 24 h 30"/>
                  <a:gd name="T2" fmla="*/ 24 w 24"/>
                  <a:gd name="T3" fmla="*/ 6 h 30"/>
                  <a:gd name="T4" fmla="*/ 6 w 24"/>
                  <a:gd name="T5" fmla="*/ 0 h 30"/>
                  <a:gd name="T6" fmla="*/ 0 w 24"/>
                  <a:gd name="T7" fmla="*/ 18 h 30"/>
                  <a:gd name="T8" fmla="*/ 24 w 24"/>
                  <a:gd name="T9" fmla="*/ 24 h 30"/>
                  <a:gd name="T10" fmla="*/ 24 w 24"/>
                  <a:gd name="T11" fmla="*/ 30 h 30"/>
                  <a:gd name="T12" fmla="*/ 24 w 24"/>
                  <a:gd name="T13" fmla="*/ 24 h 30"/>
                  <a:gd name="T14" fmla="*/ 24 w 24"/>
                  <a:gd name="T15" fmla="*/ 24 h 30"/>
                  <a:gd name="T16" fmla="*/ 12 w 24"/>
                  <a:gd name="T17" fmla="*/ 24 h 30"/>
                  <a:gd name="T18" fmla="*/ 24 w 24"/>
                  <a:gd name="T19" fmla="*/ 30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30"/>
                  <a:gd name="T32" fmla="*/ 24 w 24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30">
                    <a:moveTo>
                      <a:pt x="24" y="24"/>
                    </a:moveTo>
                    <a:lnTo>
                      <a:pt x="24" y="6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24" y="24"/>
                    </a:lnTo>
                    <a:close/>
                    <a:moveTo>
                      <a:pt x="24" y="30"/>
                    </a:moveTo>
                    <a:lnTo>
                      <a:pt x="24" y="24"/>
                    </a:lnTo>
                    <a:lnTo>
                      <a:pt x="12" y="24"/>
                    </a:lnTo>
                    <a:lnTo>
                      <a:pt x="24" y="3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94" name="Freeform 246">
                <a:extLst>
                  <a:ext uri="{FF2B5EF4-FFF2-40B4-BE49-F238E27FC236}">
                    <a16:creationId xmlns:a16="http://schemas.microsoft.com/office/drawing/2014/main" id="{D5F3ECB6-7A5D-0F8F-B073-026F5C92C8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7" y="2346"/>
                <a:ext cx="24" cy="12"/>
              </a:xfrm>
              <a:custGeom>
                <a:avLst/>
                <a:gdLst>
                  <a:gd name="T0" fmla="*/ 18 w 24"/>
                  <a:gd name="T1" fmla="*/ 12 h 12"/>
                  <a:gd name="T2" fmla="*/ 24 w 24"/>
                  <a:gd name="T3" fmla="*/ 6 h 12"/>
                  <a:gd name="T4" fmla="*/ 0 w 24"/>
                  <a:gd name="T5" fmla="*/ 0 h 12"/>
                  <a:gd name="T6" fmla="*/ 0 w 24"/>
                  <a:gd name="T7" fmla="*/ 6 h 12"/>
                  <a:gd name="T8" fmla="*/ 18 w 24"/>
                  <a:gd name="T9" fmla="*/ 12 h 12"/>
                  <a:gd name="T10" fmla="*/ 0 w 24"/>
                  <a:gd name="T11" fmla="*/ 6 h 12"/>
                  <a:gd name="T12" fmla="*/ 0 w 24"/>
                  <a:gd name="T13" fmla="*/ 6 h 12"/>
                  <a:gd name="T14" fmla="*/ 0 w 24"/>
                  <a:gd name="T15" fmla="*/ 6 h 12"/>
                  <a:gd name="T16" fmla="*/ 12 w 24"/>
                  <a:gd name="T17" fmla="*/ 12 h 12"/>
                  <a:gd name="T18" fmla="*/ 0 w 24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12"/>
                  <a:gd name="T32" fmla="*/ 24 w 24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12">
                    <a:moveTo>
                      <a:pt x="18" y="12"/>
                    </a:moveTo>
                    <a:lnTo>
                      <a:pt x="24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8" y="12"/>
                    </a:lnTo>
                    <a:close/>
                    <a:moveTo>
                      <a:pt x="0" y="6"/>
                    </a:moveTo>
                    <a:lnTo>
                      <a:pt x="0" y="6"/>
                    </a:lnTo>
                    <a:lnTo>
                      <a:pt x="12" y="1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95" name="Freeform 247">
                <a:extLst>
                  <a:ext uri="{FF2B5EF4-FFF2-40B4-BE49-F238E27FC236}">
                    <a16:creationId xmlns:a16="http://schemas.microsoft.com/office/drawing/2014/main" id="{64ACC643-0289-607C-EDAE-626C9EDBC67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346"/>
                <a:ext cx="30" cy="12"/>
              </a:xfrm>
              <a:custGeom>
                <a:avLst/>
                <a:gdLst>
                  <a:gd name="T0" fmla="*/ 6 w 30"/>
                  <a:gd name="T1" fmla="*/ 0 h 12"/>
                  <a:gd name="T2" fmla="*/ 0 w 30"/>
                  <a:gd name="T3" fmla="*/ 6 h 12"/>
                  <a:gd name="T4" fmla="*/ 24 w 30"/>
                  <a:gd name="T5" fmla="*/ 12 h 12"/>
                  <a:gd name="T6" fmla="*/ 30 w 30"/>
                  <a:gd name="T7" fmla="*/ 6 h 12"/>
                  <a:gd name="T8" fmla="*/ 6 w 30"/>
                  <a:gd name="T9" fmla="*/ 0 h 12"/>
                  <a:gd name="T10" fmla="*/ 30 w 30"/>
                  <a:gd name="T11" fmla="*/ 6 h 12"/>
                  <a:gd name="T12" fmla="*/ 6 w 30"/>
                  <a:gd name="T13" fmla="*/ 0 h 12"/>
                  <a:gd name="T14" fmla="*/ 30 w 30"/>
                  <a:gd name="T15" fmla="*/ 6 h 12"/>
                  <a:gd name="T16" fmla="*/ 6 w 30"/>
                  <a:gd name="T17" fmla="*/ 0 h 12"/>
                  <a:gd name="T18" fmla="*/ 30 w 30"/>
                  <a:gd name="T19" fmla="*/ 6 h 1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12"/>
                  <a:gd name="T32" fmla="*/ 30 w 30"/>
                  <a:gd name="T33" fmla="*/ 12 h 1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12">
                    <a:moveTo>
                      <a:pt x="6" y="0"/>
                    </a:moveTo>
                    <a:lnTo>
                      <a:pt x="0" y="6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6" y="0"/>
                    </a:lnTo>
                    <a:close/>
                    <a:moveTo>
                      <a:pt x="30" y="6"/>
                    </a:moveTo>
                    <a:lnTo>
                      <a:pt x="6" y="0"/>
                    </a:lnTo>
                    <a:lnTo>
                      <a:pt x="30" y="6"/>
                    </a:lnTo>
                    <a:lnTo>
                      <a:pt x="6" y="0"/>
                    </a:lnTo>
                    <a:lnTo>
                      <a:pt x="3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96" name="Freeform 248">
                <a:extLst>
                  <a:ext uri="{FF2B5EF4-FFF2-40B4-BE49-F238E27FC236}">
                    <a16:creationId xmlns:a16="http://schemas.microsoft.com/office/drawing/2014/main" id="{C2CEDD29-E42F-F610-94B1-9AE75F62E6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352"/>
                <a:ext cx="24" cy="6"/>
              </a:xfrm>
              <a:custGeom>
                <a:avLst/>
                <a:gdLst>
                  <a:gd name="T0" fmla="*/ 24 w 24"/>
                  <a:gd name="T1" fmla="*/ 0 h 6"/>
                  <a:gd name="T2" fmla="*/ 24 w 24"/>
                  <a:gd name="T3" fmla="*/ 0 h 6"/>
                  <a:gd name="T4" fmla="*/ 0 w 24"/>
                  <a:gd name="T5" fmla="*/ 0 h 6"/>
                  <a:gd name="T6" fmla="*/ 0 w 24"/>
                  <a:gd name="T7" fmla="*/ 6 h 6"/>
                  <a:gd name="T8" fmla="*/ 24 w 24"/>
                  <a:gd name="T9" fmla="*/ 0 h 6"/>
                  <a:gd name="T10" fmla="*/ 0 w 24"/>
                  <a:gd name="T11" fmla="*/ 0 h 6"/>
                  <a:gd name="T12" fmla="*/ 24 w 24"/>
                  <a:gd name="T13" fmla="*/ 0 h 6"/>
                  <a:gd name="T14" fmla="*/ 0 w 24"/>
                  <a:gd name="T15" fmla="*/ 6 h 6"/>
                  <a:gd name="T16" fmla="*/ 24 w 24"/>
                  <a:gd name="T17" fmla="*/ 6 h 6"/>
                  <a:gd name="T18" fmla="*/ 0 w 24"/>
                  <a:gd name="T19" fmla="*/ 0 h 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6"/>
                  <a:gd name="T32" fmla="*/ 24 w 24"/>
                  <a:gd name="T33" fmla="*/ 6 h 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6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24" y="0"/>
                    </a:lnTo>
                    <a:close/>
                    <a:moveTo>
                      <a:pt x="0" y="0"/>
                    </a:moveTo>
                    <a:lnTo>
                      <a:pt x="24" y="0"/>
                    </a:lnTo>
                    <a:lnTo>
                      <a:pt x="0" y="6"/>
                    </a:lnTo>
                    <a:lnTo>
                      <a:pt x="24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97" name="Freeform 249">
                <a:extLst>
                  <a:ext uri="{FF2B5EF4-FFF2-40B4-BE49-F238E27FC236}">
                    <a16:creationId xmlns:a16="http://schemas.microsoft.com/office/drawing/2014/main" id="{137858DE-8648-15FF-598F-A1141A49ADE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352"/>
                <a:ext cx="24" cy="24"/>
              </a:xfrm>
              <a:custGeom>
                <a:avLst/>
                <a:gdLst>
                  <a:gd name="T0" fmla="*/ 0 w 24"/>
                  <a:gd name="T1" fmla="*/ 0 h 24"/>
                  <a:gd name="T2" fmla="*/ 0 w 24"/>
                  <a:gd name="T3" fmla="*/ 6 h 24"/>
                  <a:gd name="T4" fmla="*/ 0 w 24"/>
                  <a:gd name="T5" fmla="*/ 6 h 24"/>
                  <a:gd name="T6" fmla="*/ 0 w 24"/>
                  <a:gd name="T7" fmla="*/ 6 h 24"/>
                  <a:gd name="T8" fmla="*/ 0 w 24"/>
                  <a:gd name="T9" fmla="*/ 6 h 24"/>
                  <a:gd name="T10" fmla="*/ 0 w 24"/>
                  <a:gd name="T11" fmla="*/ 24 h 24"/>
                  <a:gd name="T12" fmla="*/ 18 w 24"/>
                  <a:gd name="T13" fmla="*/ 18 h 24"/>
                  <a:gd name="T14" fmla="*/ 24 w 24"/>
                  <a:gd name="T15" fmla="*/ 12 h 24"/>
                  <a:gd name="T16" fmla="*/ 24 w 24"/>
                  <a:gd name="T17" fmla="*/ 6 h 24"/>
                  <a:gd name="T18" fmla="*/ 24 w 24"/>
                  <a:gd name="T19" fmla="*/ 0 h 24"/>
                  <a:gd name="T20" fmla="*/ 0 w 24"/>
                  <a:gd name="T21" fmla="*/ 0 h 24"/>
                  <a:gd name="T22" fmla="*/ 24 w 24"/>
                  <a:gd name="T23" fmla="*/ 0 h 24"/>
                  <a:gd name="T24" fmla="*/ 0 w 24"/>
                  <a:gd name="T25" fmla="*/ 0 h 24"/>
                  <a:gd name="T26" fmla="*/ 24 w 24"/>
                  <a:gd name="T27" fmla="*/ 0 h 24"/>
                  <a:gd name="T28" fmla="*/ 0 w 24"/>
                  <a:gd name="T29" fmla="*/ 0 h 24"/>
                  <a:gd name="T30" fmla="*/ 24 w 24"/>
                  <a:gd name="T31" fmla="*/ 0 h 2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4"/>
                  <a:gd name="T49" fmla="*/ 0 h 24"/>
                  <a:gd name="T50" fmla="*/ 24 w 24"/>
                  <a:gd name="T51" fmla="*/ 24 h 2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4" h="24">
                    <a:moveTo>
                      <a:pt x="0" y="0"/>
                    </a:moveTo>
                    <a:lnTo>
                      <a:pt x="0" y="6"/>
                    </a:lnTo>
                    <a:lnTo>
                      <a:pt x="0" y="24"/>
                    </a:lnTo>
                    <a:lnTo>
                      <a:pt x="18" y="18"/>
                    </a:lnTo>
                    <a:lnTo>
                      <a:pt x="24" y="12"/>
                    </a:lnTo>
                    <a:lnTo>
                      <a:pt x="24" y="6"/>
                    </a:lnTo>
                    <a:lnTo>
                      <a:pt x="24" y="0"/>
                    </a:lnTo>
                    <a:lnTo>
                      <a:pt x="0" y="0"/>
                    </a:lnTo>
                    <a:close/>
                    <a:moveTo>
                      <a:pt x="24" y="0"/>
                    </a:moveTo>
                    <a:lnTo>
                      <a:pt x="0" y="0"/>
                    </a:ln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98" name="Freeform 250">
                <a:extLst>
                  <a:ext uri="{FF2B5EF4-FFF2-40B4-BE49-F238E27FC236}">
                    <a16:creationId xmlns:a16="http://schemas.microsoft.com/office/drawing/2014/main" id="{3B65D503-9A6F-367E-7C5D-3BFFB91C24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358"/>
                <a:ext cx="18" cy="18"/>
              </a:xfrm>
              <a:custGeom>
                <a:avLst/>
                <a:gdLst>
                  <a:gd name="T0" fmla="*/ 18 w 18"/>
                  <a:gd name="T1" fmla="*/ 0 h 18"/>
                  <a:gd name="T2" fmla="*/ 18 w 18"/>
                  <a:gd name="T3" fmla="*/ 0 h 18"/>
                  <a:gd name="T4" fmla="*/ 0 w 18"/>
                  <a:gd name="T5" fmla="*/ 18 h 18"/>
                  <a:gd name="T6" fmla="*/ 0 w 18"/>
                  <a:gd name="T7" fmla="*/ 18 h 18"/>
                  <a:gd name="T8" fmla="*/ 18 w 18"/>
                  <a:gd name="T9" fmla="*/ 0 h 18"/>
                  <a:gd name="T10" fmla="*/ 18 w 18"/>
                  <a:gd name="T11" fmla="*/ 6 h 18"/>
                  <a:gd name="T12" fmla="*/ 18 w 18"/>
                  <a:gd name="T13" fmla="*/ 0 h 18"/>
                  <a:gd name="T14" fmla="*/ 18 w 18"/>
                  <a:gd name="T15" fmla="*/ 0 h 18"/>
                  <a:gd name="T16" fmla="*/ 6 w 18"/>
                  <a:gd name="T17" fmla="*/ 12 h 18"/>
                  <a:gd name="T18" fmla="*/ 18 w 18"/>
                  <a:gd name="T19" fmla="*/ 6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8"/>
                  <a:gd name="T31" fmla="*/ 0 h 18"/>
                  <a:gd name="T32" fmla="*/ 18 w 18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8" h="18">
                    <a:moveTo>
                      <a:pt x="18" y="0"/>
                    </a:moveTo>
                    <a:lnTo>
                      <a:pt x="18" y="0"/>
                    </a:lnTo>
                    <a:lnTo>
                      <a:pt x="0" y="18"/>
                    </a:lnTo>
                    <a:lnTo>
                      <a:pt x="18" y="0"/>
                    </a:lnTo>
                    <a:close/>
                    <a:moveTo>
                      <a:pt x="18" y="6"/>
                    </a:moveTo>
                    <a:lnTo>
                      <a:pt x="18" y="0"/>
                    </a:lnTo>
                    <a:lnTo>
                      <a:pt x="6" y="12"/>
                    </a:lnTo>
                    <a:lnTo>
                      <a:pt x="18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399" name="Freeform 251">
                <a:extLst>
                  <a:ext uri="{FF2B5EF4-FFF2-40B4-BE49-F238E27FC236}">
                    <a16:creationId xmlns:a16="http://schemas.microsoft.com/office/drawing/2014/main" id="{5F6D82A5-EAF8-43DF-AB90-0D078CA9B8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55" y="2346"/>
                <a:ext cx="24" cy="36"/>
              </a:xfrm>
              <a:custGeom>
                <a:avLst/>
                <a:gdLst>
                  <a:gd name="T0" fmla="*/ 0 w 24"/>
                  <a:gd name="T1" fmla="*/ 18 h 36"/>
                  <a:gd name="T2" fmla="*/ 0 w 24"/>
                  <a:gd name="T3" fmla="*/ 24 h 36"/>
                  <a:gd name="T4" fmla="*/ 6 w 24"/>
                  <a:gd name="T5" fmla="*/ 36 h 36"/>
                  <a:gd name="T6" fmla="*/ 24 w 24"/>
                  <a:gd name="T7" fmla="*/ 24 h 36"/>
                  <a:gd name="T8" fmla="*/ 24 w 24"/>
                  <a:gd name="T9" fmla="*/ 24 h 36"/>
                  <a:gd name="T10" fmla="*/ 0 w 24"/>
                  <a:gd name="T11" fmla="*/ 18 h 36"/>
                  <a:gd name="T12" fmla="*/ 24 w 24"/>
                  <a:gd name="T13" fmla="*/ 12 h 36"/>
                  <a:gd name="T14" fmla="*/ 12 w 24"/>
                  <a:gd name="T15" fmla="*/ 0 h 36"/>
                  <a:gd name="T16" fmla="*/ 0 w 24"/>
                  <a:gd name="T17" fmla="*/ 18 h 36"/>
                  <a:gd name="T18" fmla="*/ 12 w 24"/>
                  <a:gd name="T19" fmla="*/ 18 h 36"/>
                  <a:gd name="T20" fmla="*/ 24 w 24"/>
                  <a:gd name="T21" fmla="*/ 12 h 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4"/>
                  <a:gd name="T34" fmla="*/ 0 h 36"/>
                  <a:gd name="T35" fmla="*/ 24 w 24"/>
                  <a:gd name="T36" fmla="*/ 36 h 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4" h="36">
                    <a:moveTo>
                      <a:pt x="0" y="18"/>
                    </a:moveTo>
                    <a:lnTo>
                      <a:pt x="0" y="24"/>
                    </a:lnTo>
                    <a:lnTo>
                      <a:pt x="6" y="36"/>
                    </a:lnTo>
                    <a:lnTo>
                      <a:pt x="24" y="24"/>
                    </a:lnTo>
                    <a:lnTo>
                      <a:pt x="0" y="18"/>
                    </a:lnTo>
                    <a:close/>
                    <a:moveTo>
                      <a:pt x="24" y="12"/>
                    </a:moveTo>
                    <a:lnTo>
                      <a:pt x="12" y="0"/>
                    </a:lnTo>
                    <a:lnTo>
                      <a:pt x="0" y="18"/>
                    </a:lnTo>
                    <a:lnTo>
                      <a:pt x="12" y="18"/>
                    </a:lnTo>
                    <a:lnTo>
                      <a:pt x="24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00" name="Freeform 252">
                <a:extLst>
                  <a:ext uri="{FF2B5EF4-FFF2-40B4-BE49-F238E27FC236}">
                    <a16:creationId xmlns:a16="http://schemas.microsoft.com/office/drawing/2014/main" id="{2BC7F702-E3B5-4095-DF7C-3DF8BF1F39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55" y="2370"/>
                <a:ext cx="36" cy="30"/>
              </a:xfrm>
              <a:custGeom>
                <a:avLst/>
                <a:gdLst>
                  <a:gd name="T0" fmla="*/ 0 w 36"/>
                  <a:gd name="T1" fmla="*/ 6 h 30"/>
                  <a:gd name="T2" fmla="*/ 6 w 36"/>
                  <a:gd name="T3" fmla="*/ 18 h 30"/>
                  <a:gd name="T4" fmla="*/ 24 w 36"/>
                  <a:gd name="T5" fmla="*/ 30 h 30"/>
                  <a:gd name="T6" fmla="*/ 36 w 36"/>
                  <a:gd name="T7" fmla="*/ 12 h 30"/>
                  <a:gd name="T8" fmla="*/ 24 w 36"/>
                  <a:gd name="T9" fmla="*/ 6 h 30"/>
                  <a:gd name="T10" fmla="*/ 24 w 36"/>
                  <a:gd name="T11" fmla="*/ 6 h 30"/>
                  <a:gd name="T12" fmla="*/ 0 w 36"/>
                  <a:gd name="T13" fmla="*/ 6 h 30"/>
                  <a:gd name="T14" fmla="*/ 24 w 36"/>
                  <a:gd name="T15" fmla="*/ 6 h 30"/>
                  <a:gd name="T16" fmla="*/ 24 w 36"/>
                  <a:gd name="T17" fmla="*/ 0 h 30"/>
                  <a:gd name="T18" fmla="*/ 24 w 36"/>
                  <a:gd name="T19" fmla="*/ 0 h 30"/>
                  <a:gd name="T20" fmla="*/ 12 w 36"/>
                  <a:gd name="T21" fmla="*/ 6 h 30"/>
                  <a:gd name="T22" fmla="*/ 24 w 36"/>
                  <a:gd name="T23" fmla="*/ 6 h 3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6"/>
                  <a:gd name="T37" fmla="*/ 0 h 30"/>
                  <a:gd name="T38" fmla="*/ 36 w 36"/>
                  <a:gd name="T39" fmla="*/ 30 h 3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6" h="30">
                    <a:moveTo>
                      <a:pt x="0" y="6"/>
                    </a:moveTo>
                    <a:lnTo>
                      <a:pt x="6" y="18"/>
                    </a:lnTo>
                    <a:lnTo>
                      <a:pt x="24" y="30"/>
                    </a:lnTo>
                    <a:lnTo>
                      <a:pt x="36" y="12"/>
                    </a:lnTo>
                    <a:lnTo>
                      <a:pt x="24" y="6"/>
                    </a:lnTo>
                    <a:lnTo>
                      <a:pt x="0" y="6"/>
                    </a:lnTo>
                    <a:close/>
                    <a:moveTo>
                      <a:pt x="24" y="6"/>
                    </a:moveTo>
                    <a:lnTo>
                      <a:pt x="24" y="0"/>
                    </a:lnTo>
                    <a:lnTo>
                      <a:pt x="12" y="6"/>
                    </a:lnTo>
                    <a:lnTo>
                      <a:pt x="24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01" name="Freeform 253">
                <a:extLst>
                  <a:ext uri="{FF2B5EF4-FFF2-40B4-BE49-F238E27FC236}">
                    <a16:creationId xmlns:a16="http://schemas.microsoft.com/office/drawing/2014/main" id="{0DCEEF76-1CAE-E4B8-5D95-27F425C9B2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73" y="2382"/>
                <a:ext cx="36" cy="18"/>
              </a:xfrm>
              <a:custGeom>
                <a:avLst/>
                <a:gdLst>
                  <a:gd name="T0" fmla="*/ 6 w 36"/>
                  <a:gd name="T1" fmla="*/ 0 h 18"/>
                  <a:gd name="T2" fmla="*/ 6 w 36"/>
                  <a:gd name="T3" fmla="*/ 0 h 18"/>
                  <a:gd name="T4" fmla="*/ 0 w 36"/>
                  <a:gd name="T5" fmla="*/ 6 h 18"/>
                  <a:gd name="T6" fmla="*/ 18 w 36"/>
                  <a:gd name="T7" fmla="*/ 18 h 18"/>
                  <a:gd name="T8" fmla="*/ 18 w 36"/>
                  <a:gd name="T9" fmla="*/ 18 h 18"/>
                  <a:gd name="T10" fmla="*/ 6 w 36"/>
                  <a:gd name="T11" fmla="*/ 0 h 18"/>
                  <a:gd name="T12" fmla="*/ 18 w 36"/>
                  <a:gd name="T13" fmla="*/ 18 h 18"/>
                  <a:gd name="T14" fmla="*/ 36 w 36"/>
                  <a:gd name="T15" fmla="*/ 6 h 18"/>
                  <a:gd name="T16" fmla="*/ 18 w 36"/>
                  <a:gd name="T17" fmla="*/ 0 h 18"/>
                  <a:gd name="T18" fmla="*/ 12 w 36"/>
                  <a:gd name="T19" fmla="*/ 12 h 18"/>
                  <a:gd name="T20" fmla="*/ 18 w 36"/>
                  <a:gd name="T21" fmla="*/ 18 h 1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6"/>
                  <a:gd name="T34" fmla="*/ 0 h 18"/>
                  <a:gd name="T35" fmla="*/ 36 w 36"/>
                  <a:gd name="T36" fmla="*/ 18 h 1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6" h="18">
                    <a:moveTo>
                      <a:pt x="6" y="0"/>
                    </a:moveTo>
                    <a:lnTo>
                      <a:pt x="6" y="0"/>
                    </a:lnTo>
                    <a:lnTo>
                      <a:pt x="0" y="6"/>
                    </a:lnTo>
                    <a:lnTo>
                      <a:pt x="18" y="18"/>
                    </a:lnTo>
                    <a:lnTo>
                      <a:pt x="6" y="0"/>
                    </a:lnTo>
                    <a:close/>
                    <a:moveTo>
                      <a:pt x="18" y="18"/>
                    </a:moveTo>
                    <a:lnTo>
                      <a:pt x="36" y="6"/>
                    </a:lnTo>
                    <a:lnTo>
                      <a:pt x="18" y="0"/>
                    </a:lnTo>
                    <a:lnTo>
                      <a:pt x="12" y="12"/>
                    </a:lnTo>
                    <a:lnTo>
                      <a:pt x="18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02" name="Freeform 254">
                <a:extLst>
                  <a:ext uri="{FF2B5EF4-FFF2-40B4-BE49-F238E27FC236}">
                    <a16:creationId xmlns:a16="http://schemas.microsoft.com/office/drawing/2014/main" id="{395882E7-F71C-990D-BD5B-16C1278006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3" y="2382"/>
                <a:ext cx="48" cy="29"/>
              </a:xfrm>
              <a:custGeom>
                <a:avLst/>
                <a:gdLst>
                  <a:gd name="T0" fmla="*/ 36 w 48"/>
                  <a:gd name="T1" fmla="*/ 0 h 29"/>
                  <a:gd name="T2" fmla="*/ 30 w 48"/>
                  <a:gd name="T3" fmla="*/ 0 h 29"/>
                  <a:gd name="T4" fmla="*/ 24 w 48"/>
                  <a:gd name="T5" fmla="*/ 6 h 29"/>
                  <a:gd name="T6" fmla="*/ 0 w 48"/>
                  <a:gd name="T7" fmla="*/ 12 h 29"/>
                  <a:gd name="T8" fmla="*/ 18 w 48"/>
                  <a:gd name="T9" fmla="*/ 29 h 29"/>
                  <a:gd name="T10" fmla="*/ 18 w 48"/>
                  <a:gd name="T11" fmla="*/ 29 h 29"/>
                  <a:gd name="T12" fmla="*/ 30 w 48"/>
                  <a:gd name="T13" fmla="*/ 29 h 29"/>
                  <a:gd name="T14" fmla="*/ 36 w 48"/>
                  <a:gd name="T15" fmla="*/ 23 h 29"/>
                  <a:gd name="T16" fmla="*/ 42 w 48"/>
                  <a:gd name="T17" fmla="*/ 23 h 29"/>
                  <a:gd name="T18" fmla="*/ 36 w 48"/>
                  <a:gd name="T19" fmla="*/ 0 h 29"/>
                  <a:gd name="T20" fmla="*/ 42 w 48"/>
                  <a:gd name="T21" fmla="*/ 23 h 29"/>
                  <a:gd name="T22" fmla="*/ 48 w 48"/>
                  <a:gd name="T23" fmla="*/ 23 h 29"/>
                  <a:gd name="T24" fmla="*/ 48 w 48"/>
                  <a:gd name="T25" fmla="*/ 18 h 29"/>
                  <a:gd name="T26" fmla="*/ 42 w 48"/>
                  <a:gd name="T27" fmla="*/ 12 h 29"/>
                  <a:gd name="T28" fmla="*/ 42 w 48"/>
                  <a:gd name="T29" fmla="*/ 23 h 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8"/>
                  <a:gd name="T46" fmla="*/ 0 h 29"/>
                  <a:gd name="T47" fmla="*/ 48 w 48"/>
                  <a:gd name="T48" fmla="*/ 29 h 2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8" h="29">
                    <a:moveTo>
                      <a:pt x="36" y="0"/>
                    </a:moveTo>
                    <a:lnTo>
                      <a:pt x="30" y="0"/>
                    </a:lnTo>
                    <a:lnTo>
                      <a:pt x="24" y="6"/>
                    </a:lnTo>
                    <a:lnTo>
                      <a:pt x="0" y="12"/>
                    </a:lnTo>
                    <a:lnTo>
                      <a:pt x="18" y="29"/>
                    </a:lnTo>
                    <a:lnTo>
                      <a:pt x="30" y="29"/>
                    </a:lnTo>
                    <a:lnTo>
                      <a:pt x="36" y="23"/>
                    </a:lnTo>
                    <a:lnTo>
                      <a:pt x="42" y="23"/>
                    </a:lnTo>
                    <a:lnTo>
                      <a:pt x="36" y="0"/>
                    </a:lnTo>
                    <a:close/>
                    <a:moveTo>
                      <a:pt x="42" y="23"/>
                    </a:moveTo>
                    <a:lnTo>
                      <a:pt x="48" y="23"/>
                    </a:lnTo>
                    <a:lnTo>
                      <a:pt x="48" y="18"/>
                    </a:lnTo>
                    <a:lnTo>
                      <a:pt x="42" y="12"/>
                    </a:lnTo>
                    <a:lnTo>
                      <a:pt x="42" y="23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03" name="Freeform 255">
                <a:extLst>
                  <a:ext uri="{FF2B5EF4-FFF2-40B4-BE49-F238E27FC236}">
                    <a16:creationId xmlns:a16="http://schemas.microsoft.com/office/drawing/2014/main" id="{BDCD594F-29FD-A886-FF9E-5AEE3BFA7F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37" y="2394"/>
                <a:ext cx="30" cy="29"/>
              </a:xfrm>
              <a:custGeom>
                <a:avLst/>
                <a:gdLst>
                  <a:gd name="T0" fmla="*/ 6 w 30"/>
                  <a:gd name="T1" fmla="*/ 6 h 29"/>
                  <a:gd name="T2" fmla="*/ 0 w 30"/>
                  <a:gd name="T3" fmla="*/ 23 h 29"/>
                  <a:gd name="T4" fmla="*/ 24 w 30"/>
                  <a:gd name="T5" fmla="*/ 29 h 29"/>
                  <a:gd name="T6" fmla="*/ 30 w 30"/>
                  <a:gd name="T7" fmla="*/ 11 h 29"/>
                  <a:gd name="T8" fmla="*/ 6 w 30"/>
                  <a:gd name="T9" fmla="*/ 6 h 29"/>
                  <a:gd name="T10" fmla="*/ 6 w 30"/>
                  <a:gd name="T11" fmla="*/ 0 h 29"/>
                  <a:gd name="T12" fmla="*/ 6 w 30"/>
                  <a:gd name="T13" fmla="*/ 6 h 29"/>
                  <a:gd name="T14" fmla="*/ 6 w 30"/>
                  <a:gd name="T15" fmla="*/ 6 h 29"/>
                  <a:gd name="T16" fmla="*/ 18 w 30"/>
                  <a:gd name="T17" fmla="*/ 11 h 29"/>
                  <a:gd name="T18" fmla="*/ 6 w 30"/>
                  <a:gd name="T19" fmla="*/ 0 h 2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29"/>
                  <a:gd name="T32" fmla="*/ 30 w 30"/>
                  <a:gd name="T33" fmla="*/ 29 h 2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29">
                    <a:moveTo>
                      <a:pt x="6" y="6"/>
                    </a:moveTo>
                    <a:lnTo>
                      <a:pt x="0" y="23"/>
                    </a:lnTo>
                    <a:lnTo>
                      <a:pt x="24" y="29"/>
                    </a:lnTo>
                    <a:lnTo>
                      <a:pt x="30" y="11"/>
                    </a:lnTo>
                    <a:lnTo>
                      <a:pt x="6" y="6"/>
                    </a:lnTo>
                    <a:close/>
                    <a:moveTo>
                      <a:pt x="6" y="0"/>
                    </a:moveTo>
                    <a:lnTo>
                      <a:pt x="6" y="6"/>
                    </a:lnTo>
                    <a:lnTo>
                      <a:pt x="18" y="1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04" name="Freeform 256">
                <a:extLst>
                  <a:ext uri="{FF2B5EF4-FFF2-40B4-BE49-F238E27FC236}">
                    <a16:creationId xmlns:a16="http://schemas.microsoft.com/office/drawing/2014/main" id="{B487438F-E79B-7CF4-4EB4-EC0059DD5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" y="2417"/>
                <a:ext cx="12" cy="12"/>
              </a:xfrm>
              <a:custGeom>
                <a:avLst/>
                <a:gdLst>
                  <a:gd name="T0" fmla="*/ 0 w 12"/>
                  <a:gd name="T1" fmla="*/ 0 h 12"/>
                  <a:gd name="T2" fmla="*/ 0 w 12"/>
                  <a:gd name="T3" fmla="*/ 6 h 12"/>
                  <a:gd name="T4" fmla="*/ 6 w 12"/>
                  <a:gd name="T5" fmla="*/ 12 h 12"/>
                  <a:gd name="T6" fmla="*/ 12 w 12"/>
                  <a:gd name="T7" fmla="*/ 0 h 12"/>
                  <a:gd name="T8" fmla="*/ 0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0" y="0"/>
                    </a:moveTo>
                    <a:lnTo>
                      <a:pt x="0" y="6"/>
                    </a:lnTo>
                    <a:lnTo>
                      <a:pt x="6" y="12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05" name="Freeform 257">
                <a:extLst>
                  <a:ext uri="{FF2B5EF4-FFF2-40B4-BE49-F238E27FC236}">
                    <a16:creationId xmlns:a16="http://schemas.microsoft.com/office/drawing/2014/main" id="{1C938F7A-B0A0-879B-7265-C09BABD68F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5" y="2411"/>
                <a:ext cx="48" cy="18"/>
              </a:xfrm>
              <a:custGeom>
                <a:avLst/>
                <a:gdLst>
                  <a:gd name="T0" fmla="*/ 48 w 48"/>
                  <a:gd name="T1" fmla="*/ 18 h 18"/>
                  <a:gd name="T2" fmla="*/ 42 w 48"/>
                  <a:gd name="T3" fmla="*/ 18 h 18"/>
                  <a:gd name="T4" fmla="*/ 30 w 48"/>
                  <a:gd name="T5" fmla="*/ 18 h 18"/>
                  <a:gd name="T6" fmla="*/ 30 w 48"/>
                  <a:gd name="T7" fmla="*/ 18 h 18"/>
                  <a:gd name="T8" fmla="*/ 24 w 48"/>
                  <a:gd name="T9" fmla="*/ 12 h 18"/>
                  <a:gd name="T10" fmla="*/ 18 w 48"/>
                  <a:gd name="T11" fmla="*/ 6 h 18"/>
                  <a:gd name="T12" fmla="*/ 18 w 48"/>
                  <a:gd name="T13" fmla="*/ 6 h 18"/>
                  <a:gd name="T14" fmla="*/ 18 w 48"/>
                  <a:gd name="T15" fmla="*/ 6 h 18"/>
                  <a:gd name="T16" fmla="*/ 12 w 48"/>
                  <a:gd name="T17" fmla="*/ 6 h 18"/>
                  <a:gd name="T18" fmla="*/ 12 w 48"/>
                  <a:gd name="T19" fmla="*/ 6 h 18"/>
                  <a:gd name="T20" fmla="*/ 12 w 48"/>
                  <a:gd name="T21" fmla="*/ 6 h 18"/>
                  <a:gd name="T22" fmla="*/ 6 w 48"/>
                  <a:gd name="T23" fmla="*/ 0 h 18"/>
                  <a:gd name="T24" fmla="*/ 6 w 48"/>
                  <a:gd name="T25" fmla="*/ 0 h 18"/>
                  <a:gd name="T26" fmla="*/ 6 w 48"/>
                  <a:gd name="T27" fmla="*/ 0 h 18"/>
                  <a:gd name="T28" fmla="*/ 0 w 48"/>
                  <a:gd name="T29" fmla="*/ 0 h 18"/>
                  <a:gd name="T30" fmla="*/ 6 w 48"/>
                  <a:gd name="T31" fmla="*/ 0 h 18"/>
                  <a:gd name="T32" fmla="*/ 6 w 48"/>
                  <a:gd name="T33" fmla="*/ 0 h 18"/>
                  <a:gd name="T34" fmla="*/ 12 w 48"/>
                  <a:gd name="T35" fmla="*/ 0 h 18"/>
                  <a:gd name="T36" fmla="*/ 12 w 48"/>
                  <a:gd name="T37" fmla="*/ 0 h 18"/>
                  <a:gd name="T38" fmla="*/ 18 w 48"/>
                  <a:gd name="T39" fmla="*/ 6 h 18"/>
                  <a:gd name="T40" fmla="*/ 18 w 48"/>
                  <a:gd name="T41" fmla="*/ 6 h 18"/>
                  <a:gd name="T42" fmla="*/ 24 w 48"/>
                  <a:gd name="T43" fmla="*/ 12 h 18"/>
                  <a:gd name="T44" fmla="*/ 30 w 48"/>
                  <a:gd name="T45" fmla="*/ 12 h 18"/>
                  <a:gd name="T46" fmla="*/ 30 w 48"/>
                  <a:gd name="T47" fmla="*/ 12 h 18"/>
                  <a:gd name="T48" fmla="*/ 36 w 48"/>
                  <a:gd name="T49" fmla="*/ 12 h 18"/>
                  <a:gd name="T50" fmla="*/ 42 w 48"/>
                  <a:gd name="T51" fmla="*/ 12 h 18"/>
                  <a:gd name="T52" fmla="*/ 42 w 48"/>
                  <a:gd name="T53" fmla="*/ 12 h 18"/>
                  <a:gd name="T54" fmla="*/ 48 w 48"/>
                  <a:gd name="T55" fmla="*/ 18 h 18"/>
                  <a:gd name="T56" fmla="*/ 48 w 48"/>
                  <a:gd name="T57" fmla="*/ 18 h 1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48"/>
                  <a:gd name="T88" fmla="*/ 0 h 18"/>
                  <a:gd name="T89" fmla="*/ 48 w 48"/>
                  <a:gd name="T90" fmla="*/ 18 h 18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48" h="18">
                    <a:moveTo>
                      <a:pt x="48" y="18"/>
                    </a:moveTo>
                    <a:lnTo>
                      <a:pt x="42" y="18"/>
                    </a:lnTo>
                    <a:lnTo>
                      <a:pt x="30" y="18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12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18" y="6"/>
                    </a:lnTo>
                    <a:lnTo>
                      <a:pt x="24" y="12"/>
                    </a:lnTo>
                    <a:lnTo>
                      <a:pt x="30" y="12"/>
                    </a:lnTo>
                    <a:lnTo>
                      <a:pt x="36" y="12"/>
                    </a:lnTo>
                    <a:lnTo>
                      <a:pt x="42" y="12"/>
                    </a:lnTo>
                    <a:lnTo>
                      <a:pt x="48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06" name="Freeform 258">
                <a:extLst>
                  <a:ext uri="{FF2B5EF4-FFF2-40B4-BE49-F238E27FC236}">
                    <a16:creationId xmlns:a16="http://schemas.microsoft.com/office/drawing/2014/main" id="{D42E8B3C-115F-DEA7-C72C-FC6567C393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9" y="2417"/>
                <a:ext cx="24" cy="24"/>
              </a:xfrm>
              <a:custGeom>
                <a:avLst/>
                <a:gdLst>
                  <a:gd name="T0" fmla="*/ 18 w 24"/>
                  <a:gd name="T1" fmla="*/ 0 h 24"/>
                  <a:gd name="T2" fmla="*/ 18 w 24"/>
                  <a:gd name="T3" fmla="*/ 0 h 24"/>
                  <a:gd name="T4" fmla="*/ 18 w 24"/>
                  <a:gd name="T5" fmla="*/ 0 h 24"/>
                  <a:gd name="T6" fmla="*/ 12 w 24"/>
                  <a:gd name="T7" fmla="*/ 0 h 24"/>
                  <a:gd name="T8" fmla="*/ 18 w 24"/>
                  <a:gd name="T9" fmla="*/ 6 h 24"/>
                  <a:gd name="T10" fmla="*/ 0 w 24"/>
                  <a:gd name="T11" fmla="*/ 18 h 24"/>
                  <a:gd name="T12" fmla="*/ 12 w 24"/>
                  <a:gd name="T13" fmla="*/ 24 h 24"/>
                  <a:gd name="T14" fmla="*/ 18 w 24"/>
                  <a:gd name="T15" fmla="*/ 24 h 24"/>
                  <a:gd name="T16" fmla="*/ 24 w 24"/>
                  <a:gd name="T17" fmla="*/ 24 h 24"/>
                  <a:gd name="T18" fmla="*/ 18 w 24"/>
                  <a:gd name="T19" fmla="*/ 0 h 2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24"/>
                  <a:gd name="T32" fmla="*/ 24 w 24"/>
                  <a:gd name="T33" fmla="*/ 24 h 2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24">
                    <a:moveTo>
                      <a:pt x="18" y="0"/>
                    </a:moveTo>
                    <a:lnTo>
                      <a:pt x="18" y="0"/>
                    </a:lnTo>
                    <a:lnTo>
                      <a:pt x="12" y="0"/>
                    </a:lnTo>
                    <a:lnTo>
                      <a:pt x="18" y="6"/>
                    </a:lnTo>
                    <a:lnTo>
                      <a:pt x="0" y="18"/>
                    </a:lnTo>
                    <a:lnTo>
                      <a:pt x="12" y="24"/>
                    </a:lnTo>
                    <a:lnTo>
                      <a:pt x="18" y="24"/>
                    </a:lnTo>
                    <a:lnTo>
                      <a:pt x="24" y="24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07" name="Freeform 259">
                <a:extLst>
                  <a:ext uri="{FF2B5EF4-FFF2-40B4-BE49-F238E27FC236}">
                    <a16:creationId xmlns:a16="http://schemas.microsoft.com/office/drawing/2014/main" id="{303A2297-9CD9-4706-5C97-B1E5D7E9B2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417"/>
                <a:ext cx="24" cy="24"/>
              </a:xfrm>
              <a:custGeom>
                <a:avLst/>
                <a:gdLst>
                  <a:gd name="T0" fmla="*/ 12 w 24"/>
                  <a:gd name="T1" fmla="*/ 0 h 24"/>
                  <a:gd name="T2" fmla="*/ 12 w 24"/>
                  <a:gd name="T3" fmla="*/ 0 h 24"/>
                  <a:gd name="T4" fmla="*/ 18 w 24"/>
                  <a:gd name="T5" fmla="*/ 6 h 24"/>
                  <a:gd name="T6" fmla="*/ 0 w 24"/>
                  <a:gd name="T7" fmla="*/ 18 h 24"/>
                  <a:gd name="T8" fmla="*/ 6 w 24"/>
                  <a:gd name="T9" fmla="*/ 24 h 24"/>
                  <a:gd name="T10" fmla="*/ 12 w 24"/>
                  <a:gd name="T11" fmla="*/ 24 h 24"/>
                  <a:gd name="T12" fmla="*/ 18 w 24"/>
                  <a:gd name="T13" fmla="*/ 24 h 24"/>
                  <a:gd name="T14" fmla="*/ 12 w 24"/>
                  <a:gd name="T15" fmla="*/ 0 h 24"/>
                  <a:gd name="T16" fmla="*/ 24 w 24"/>
                  <a:gd name="T17" fmla="*/ 6 h 24"/>
                  <a:gd name="T18" fmla="*/ 18 w 24"/>
                  <a:gd name="T19" fmla="*/ 0 h 24"/>
                  <a:gd name="T20" fmla="*/ 12 w 24"/>
                  <a:gd name="T21" fmla="*/ 0 h 24"/>
                  <a:gd name="T22" fmla="*/ 12 w 24"/>
                  <a:gd name="T23" fmla="*/ 12 h 24"/>
                  <a:gd name="T24" fmla="*/ 24 w 24"/>
                  <a:gd name="T25" fmla="*/ 6 h 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24"/>
                  <a:gd name="T41" fmla="*/ 24 w 24"/>
                  <a:gd name="T42" fmla="*/ 24 h 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24">
                    <a:moveTo>
                      <a:pt x="12" y="0"/>
                    </a:moveTo>
                    <a:lnTo>
                      <a:pt x="12" y="0"/>
                    </a:lnTo>
                    <a:lnTo>
                      <a:pt x="18" y="6"/>
                    </a:lnTo>
                    <a:lnTo>
                      <a:pt x="0" y="18"/>
                    </a:lnTo>
                    <a:lnTo>
                      <a:pt x="6" y="24"/>
                    </a:lnTo>
                    <a:lnTo>
                      <a:pt x="12" y="24"/>
                    </a:lnTo>
                    <a:lnTo>
                      <a:pt x="18" y="24"/>
                    </a:lnTo>
                    <a:lnTo>
                      <a:pt x="12" y="0"/>
                    </a:lnTo>
                    <a:close/>
                    <a:moveTo>
                      <a:pt x="24" y="6"/>
                    </a:moveTo>
                    <a:lnTo>
                      <a:pt x="18" y="0"/>
                    </a:lnTo>
                    <a:lnTo>
                      <a:pt x="12" y="0"/>
                    </a:lnTo>
                    <a:lnTo>
                      <a:pt x="12" y="12"/>
                    </a:lnTo>
                    <a:lnTo>
                      <a:pt x="24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08" name="Freeform 260">
                <a:extLst>
                  <a:ext uri="{FF2B5EF4-FFF2-40B4-BE49-F238E27FC236}">
                    <a16:creationId xmlns:a16="http://schemas.microsoft.com/office/drawing/2014/main" id="{8AC2B1C7-A7E7-8877-DB42-5C9936085C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1" y="2411"/>
                <a:ext cx="30" cy="24"/>
              </a:xfrm>
              <a:custGeom>
                <a:avLst/>
                <a:gdLst>
                  <a:gd name="T0" fmla="*/ 30 w 30"/>
                  <a:gd name="T1" fmla="*/ 6 h 24"/>
                  <a:gd name="T2" fmla="*/ 24 w 30"/>
                  <a:gd name="T3" fmla="*/ 0 h 24"/>
                  <a:gd name="T4" fmla="*/ 24 w 30"/>
                  <a:gd name="T5" fmla="*/ 6 h 24"/>
                  <a:gd name="T6" fmla="*/ 24 w 30"/>
                  <a:gd name="T7" fmla="*/ 12 h 24"/>
                  <a:gd name="T8" fmla="*/ 0 w 30"/>
                  <a:gd name="T9" fmla="*/ 6 h 24"/>
                  <a:gd name="T10" fmla="*/ 6 w 30"/>
                  <a:gd name="T11" fmla="*/ 18 h 24"/>
                  <a:gd name="T12" fmla="*/ 12 w 30"/>
                  <a:gd name="T13" fmla="*/ 24 h 24"/>
                  <a:gd name="T14" fmla="*/ 18 w 30"/>
                  <a:gd name="T15" fmla="*/ 24 h 24"/>
                  <a:gd name="T16" fmla="*/ 30 w 30"/>
                  <a:gd name="T17" fmla="*/ 6 h 24"/>
                  <a:gd name="T18" fmla="*/ 30 w 30"/>
                  <a:gd name="T19" fmla="*/ 12 h 24"/>
                  <a:gd name="T20" fmla="*/ 30 w 30"/>
                  <a:gd name="T21" fmla="*/ 6 h 24"/>
                  <a:gd name="T22" fmla="*/ 30 w 30"/>
                  <a:gd name="T23" fmla="*/ 6 h 24"/>
                  <a:gd name="T24" fmla="*/ 24 w 30"/>
                  <a:gd name="T25" fmla="*/ 18 h 24"/>
                  <a:gd name="T26" fmla="*/ 30 w 30"/>
                  <a:gd name="T27" fmla="*/ 12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0"/>
                  <a:gd name="T43" fmla="*/ 0 h 24"/>
                  <a:gd name="T44" fmla="*/ 30 w 30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0" h="24">
                    <a:moveTo>
                      <a:pt x="30" y="6"/>
                    </a:moveTo>
                    <a:lnTo>
                      <a:pt x="24" y="0"/>
                    </a:lnTo>
                    <a:lnTo>
                      <a:pt x="24" y="6"/>
                    </a:lnTo>
                    <a:lnTo>
                      <a:pt x="24" y="12"/>
                    </a:lnTo>
                    <a:lnTo>
                      <a:pt x="0" y="6"/>
                    </a:lnTo>
                    <a:lnTo>
                      <a:pt x="6" y="18"/>
                    </a:lnTo>
                    <a:lnTo>
                      <a:pt x="12" y="24"/>
                    </a:lnTo>
                    <a:lnTo>
                      <a:pt x="18" y="24"/>
                    </a:lnTo>
                    <a:lnTo>
                      <a:pt x="30" y="6"/>
                    </a:lnTo>
                    <a:close/>
                    <a:moveTo>
                      <a:pt x="30" y="12"/>
                    </a:moveTo>
                    <a:lnTo>
                      <a:pt x="30" y="6"/>
                    </a:lnTo>
                    <a:lnTo>
                      <a:pt x="24" y="18"/>
                    </a:ln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09" name="Freeform 261">
                <a:extLst>
                  <a:ext uri="{FF2B5EF4-FFF2-40B4-BE49-F238E27FC236}">
                    <a16:creationId xmlns:a16="http://schemas.microsoft.com/office/drawing/2014/main" id="{8810BD31-5822-3410-0EF8-8732C6E041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7" y="2405"/>
                <a:ext cx="18" cy="24"/>
              </a:xfrm>
              <a:custGeom>
                <a:avLst/>
                <a:gdLst>
                  <a:gd name="T0" fmla="*/ 6 w 18"/>
                  <a:gd name="T1" fmla="*/ 0 h 24"/>
                  <a:gd name="T2" fmla="*/ 6 w 18"/>
                  <a:gd name="T3" fmla="*/ 0 h 24"/>
                  <a:gd name="T4" fmla="*/ 6 w 18"/>
                  <a:gd name="T5" fmla="*/ 0 h 24"/>
                  <a:gd name="T6" fmla="*/ 0 w 18"/>
                  <a:gd name="T7" fmla="*/ 24 h 24"/>
                  <a:gd name="T8" fmla="*/ 6 w 18"/>
                  <a:gd name="T9" fmla="*/ 24 h 24"/>
                  <a:gd name="T10" fmla="*/ 6 w 18"/>
                  <a:gd name="T11" fmla="*/ 24 h 24"/>
                  <a:gd name="T12" fmla="*/ 6 w 18"/>
                  <a:gd name="T13" fmla="*/ 0 h 24"/>
                  <a:gd name="T14" fmla="*/ 18 w 18"/>
                  <a:gd name="T15" fmla="*/ 18 h 24"/>
                  <a:gd name="T16" fmla="*/ 18 w 18"/>
                  <a:gd name="T17" fmla="*/ 6 h 24"/>
                  <a:gd name="T18" fmla="*/ 6 w 18"/>
                  <a:gd name="T19" fmla="*/ 0 h 24"/>
                  <a:gd name="T20" fmla="*/ 6 w 18"/>
                  <a:gd name="T21" fmla="*/ 12 h 24"/>
                  <a:gd name="T22" fmla="*/ 18 w 18"/>
                  <a:gd name="T23" fmla="*/ 18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24"/>
                  <a:gd name="T38" fmla="*/ 18 w 18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24">
                    <a:moveTo>
                      <a:pt x="6" y="0"/>
                    </a:moveTo>
                    <a:lnTo>
                      <a:pt x="6" y="0"/>
                    </a:lnTo>
                    <a:lnTo>
                      <a:pt x="0" y="24"/>
                    </a:lnTo>
                    <a:lnTo>
                      <a:pt x="6" y="24"/>
                    </a:lnTo>
                    <a:lnTo>
                      <a:pt x="6" y="0"/>
                    </a:lnTo>
                    <a:close/>
                    <a:moveTo>
                      <a:pt x="18" y="18"/>
                    </a:moveTo>
                    <a:lnTo>
                      <a:pt x="18" y="6"/>
                    </a:lnTo>
                    <a:lnTo>
                      <a:pt x="6" y="0"/>
                    </a:lnTo>
                    <a:lnTo>
                      <a:pt x="6" y="12"/>
                    </a:lnTo>
                    <a:lnTo>
                      <a:pt x="18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10" name="Freeform 262">
                <a:extLst>
                  <a:ext uri="{FF2B5EF4-FFF2-40B4-BE49-F238E27FC236}">
                    <a16:creationId xmlns:a16="http://schemas.microsoft.com/office/drawing/2014/main" id="{50C866DD-183A-518A-00FA-AAAF3EB55B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1" y="2405"/>
                <a:ext cx="18" cy="24"/>
              </a:xfrm>
              <a:custGeom>
                <a:avLst/>
                <a:gdLst>
                  <a:gd name="T0" fmla="*/ 18 w 18"/>
                  <a:gd name="T1" fmla="*/ 6 h 24"/>
                  <a:gd name="T2" fmla="*/ 18 w 18"/>
                  <a:gd name="T3" fmla="*/ 6 h 24"/>
                  <a:gd name="T4" fmla="*/ 12 w 18"/>
                  <a:gd name="T5" fmla="*/ 0 h 24"/>
                  <a:gd name="T6" fmla="*/ 6 w 18"/>
                  <a:gd name="T7" fmla="*/ 24 h 24"/>
                  <a:gd name="T8" fmla="*/ 6 w 18"/>
                  <a:gd name="T9" fmla="*/ 24 h 24"/>
                  <a:gd name="T10" fmla="*/ 0 w 18"/>
                  <a:gd name="T11" fmla="*/ 24 h 24"/>
                  <a:gd name="T12" fmla="*/ 18 w 18"/>
                  <a:gd name="T13" fmla="*/ 6 h 24"/>
                  <a:gd name="T14" fmla="*/ 0 w 18"/>
                  <a:gd name="T15" fmla="*/ 24 h 24"/>
                  <a:gd name="T16" fmla="*/ 6 w 18"/>
                  <a:gd name="T17" fmla="*/ 24 h 24"/>
                  <a:gd name="T18" fmla="*/ 6 w 18"/>
                  <a:gd name="T19" fmla="*/ 24 h 24"/>
                  <a:gd name="T20" fmla="*/ 12 w 18"/>
                  <a:gd name="T21" fmla="*/ 12 h 24"/>
                  <a:gd name="T22" fmla="*/ 0 w 18"/>
                  <a:gd name="T23" fmla="*/ 24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24"/>
                  <a:gd name="T38" fmla="*/ 18 w 18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24">
                    <a:moveTo>
                      <a:pt x="18" y="6"/>
                    </a:moveTo>
                    <a:lnTo>
                      <a:pt x="18" y="6"/>
                    </a:lnTo>
                    <a:lnTo>
                      <a:pt x="12" y="0"/>
                    </a:lnTo>
                    <a:lnTo>
                      <a:pt x="6" y="24"/>
                    </a:lnTo>
                    <a:lnTo>
                      <a:pt x="0" y="24"/>
                    </a:lnTo>
                    <a:lnTo>
                      <a:pt x="18" y="6"/>
                    </a:lnTo>
                    <a:close/>
                    <a:moveTo>
                      <a:pt x="0" y="24"/>
                    </a:moveTo>
                    <a:lnTo>
                      <a:pt x="6" y="24"/>
                    </a:lnTo>
                    <a:lnTo>
                      <a:pt x="12" y="12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11" name="Freeform 263">
                <a:extLst>
                  <a:ext uri="{FF2B5EF4-FFF2-40B4-BE49-F238E27FC236}">
                    <a16:creationId xmlns:a16="http://schemas.microsoft.com/office/drawing/2014/main" id="{146046D2-E371-46B4-41BA-34D7888DE2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1" y="2405"/>
                <a:ext cx="12" cy="24"/>
              </a:xfrm>
              <a:custGeom>
                <a:avLst/>
                <a:gdLst>
                  <a:gd name="T0" fmla="*/ 6 w 12"/>
                  <a:gd name="T1" fmla="*/ 0 h 24"/>
                  <a:gd name="T2" fmla="*/ 6 w 12"/>
                  <a:gd name="T3" fmla="*/ 0 h 24"/>
                  <a:gd name="T4" fmla="*/ 6 w 12"/>
                  <a:gd name="T5" fmla="*/ 0 h 24"/>
                  <a:gd name="T6" fmla="*/ 0 w 12"/>
                  <a:gd name="T7" fmla="*/ 24 h 24"/>
                  <a:gd name="T8" fmla="*/ 6 w 12"/>
                  <a:gd name="T9" fmla="*/ 24 h 24"/>
                  <a:gd name="T10" fmla="*/ 6 w 12"/>
                  <a:gd name="T11" fmla="*/ 24 h 24"/>
                  <a:gd name="T12" fmla="*/ 6 w 12"/>
                  <a:gd name="T13" fmla="*/ 0 h 24"/>
                  <a:gd name="T14" fmla="*/ 12 w 12"/>
                  <a:gd name="T15" fmla="*/ 0 h 24"/>
                  <a:gd name="T16" fmla="*/ 12 w 12"/>
                  <a:gd name="T17" fmla="*/ 0 h 24"/>
                  <a:gd name="T18" fmla="*/ 6 w 12"/>
                  <a:gd name="T19" fmla="*/ 0 h 24"/>
                  <a:gd name="T20" fmla="*/ 6 w 12"/>
                  <a:gd name="T21" fmla="*/ 12 h 24"/>
                  <a:gd name="T22" fmla="*/ 12 w 12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4"/>
                  <a:gd name="T38" fmla="*/ 12 w 12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4">
                    <a:moveTo>
                      <a:pt x="6" y="0"/>
                    </a:moveTo>
                    <a:lnTo>
                      <a:pt x="6" y="0"/>
                    </a:lnTo>
                    <a:lnTo>
                      <a:pt x="0" y="24"/>
                    </a:lnTo>
                    <a:lnTo>
                      <a:pt x="6" y="24"/>
                    </a:lnTo>
                    <a:lnTo>
                      <a:pt x="6" y="0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lnTo>
                      <a:pt x="6" y="0"/>
                    </a:lnTo>
                    <a:lnTo>
                      <a:pt x="6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12" name="Freeform 264">
                <a:extLst>
                  <a:ext uri="{FF2B5EF4-FFF2-40B4-BE49-F238E27FC236}">
                    <a16:creationId xmlns:a16="http://schemas.microsoft.com/office/drawing/2014/main" id="{00606D04-2894-E9ED-7ECA-7DAF82BA034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405"/>
                <a:ext cx="12" cy="18"/>
              </a:xfrm>
              <a:custGeom>
                <a:avLst/>
                <a:gdLst>
                  <a:gd name="T0" fmla="*/ 12 w 12"/>
                  <a:gd name="T1" fmla="*/ 0 h 18"/>
                  <a:gd name="T2" fmla="*/ 12 w 12"/>
                  <a:gd name="T3" fmla="*/ 0 h 18"/>
                  <a:gd name="T4" fmla="*/ 12 w 12"/>
                  <a:gd name="T5" fmla="*/ 0 h 18"/>
                  <a:gd name="T6" fmla="*/ 12 w 12"/>
                  <a:gd name="T7" fmla="*/ 0 h 18"/>
                  <a:gd name="T8" fmla="*/ 12 w 12"/>
                  <a:gd name="T9" fmla="*/ 0 h 18"/>
                  <a:gd name="T10" fmla="*/ 12 w 12"/>
                  <a:gd name="T11" fmla="*/ 0 h 18"/>
                  <a:gd name="T12" fmla="*/ 12 w 12"/>
                  <a:gd name="T13" fmla="*/ 0 h 18"/>
                  <a:gd name="T14" fmla="*/ 12 w 12"/>
                  <a:gd name="T15" fmla="*/ 0 h 18"/>
                  <a:gd name="T16" fmla="*/ 12 w 12"/>
                  <a:gd name="T17" fmla="*/ 0 h 18"/>
                  <a:gd name="T18" fmla="*/ 6 w 12"/>
                  <a:gd name="T19" fmla="*/ 18 h 18"/>
                  <a:gd name="T20" fmla="*/ 0 w 12"/>
                  <a:gd name="T21" fmla="*/ 18 h 18"/>
                  <a:gd name="T22" fmla="*/ 0 w 12"/>
                  <a:gd name="T23" fmla="*/ 18 h 18"/>
                  <a:gd name="T24" fmla="*/ 0 w 12"/>
                  <a:gd name="T25" fmla="*/ 18 h 18"/>
                  <a:gd name="T26" fmla="*/ 0 w 12"/>
                  <a:gd name="T27" fmla="*/ 18 h 18"/>
                  <a:gd name="T28" fmla="*/ 6 w 12"/>
                  <a:gd name="T29" fmla="*/ 18 h 18"/>
                  <a:gd name="T30" fmla="*/ 6 w 12"/>
                  <a:gd name="T31" fmla="*/ 18 h 18"/>
                  <a:gd name="T32" fmla="*/ 6 w 12"/>
                  <a:gd name="T33" fmla="*/ 18 h 18"/>
                  <a:gd name="T34" fmla="*/ 6 w 12"/>
                  <a:gd name="T35" fmla="*/ 18 h 18"/>
                  <a:gd name="T36" fmla="*/ 12 w 12"/>
                  <a:gd name="T37" fmla="*/ 0 h 18"/>
                  <a:gd name="T38" fmla="*/ 12 w 12"/>
                  <a:gd name="T39" fmla="*/ 0 h 18"/>
                  <a:gd name="T40" fmla="*/ 12 w 12"/>
                  <a:gd name="T41" fmla="*/ 0 h 18"/>
                  <a:gd name="T42" fmla="*/ 12 w 12"/>
                  <a:gd name="T43" fmla="*/ 0 h 18"/>
                  <a:gd name="T44" fmla="*/ 12 w 12"/>
                  <a:gd name="T45" fmla="*/ 12 h 18"/>
                  <a:gd name="T46" fmla="*/ 12 w 12"/>
                  <a:gd name="T47" fmla="*/ 0 h 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2"/>
                  <a:gd name="T73" fmla="*/ 0 h 18"/>
                  <a:gd name="T74" fmla="*/ 12 w 12"/>
                  <a:gd name="T75" fmla="*/ 18 h 1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2" h="18">
                    <a:moveTo>
                      <a:pt x="12" y="0"/>
                    </a:moveTo>
                    <a:lnTo>
                      <a:pt x="12" y="0"/>
                    </a:lnTo>
                    <a:lnTo>
                      <a:pt x="6" y="18"/>
                    </a:lnTo>
                    <a:lnTo>
                      <a:pt x="0" y="18"/>
                    </a:lnTo>
                    <a:lnTo>
                      <a:pt x="6" y="18"/>
                    </a:lnTo>
                    <a:lnTo>
                      <a:pt x="12" y="0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13" name="Freeform 265">
                <a:extLst>
                  <a:ext uri="{FF2B5EF4-FFF2-40B4-BE49-F238E27FC236}">
                    <a16:creationId xmlns:a16="http://schemas.microsoft.com/office/drawing/2014/main" id="{BB73E0B8-465A-B287-9574-BC298292DE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400"/>
                <a:ext cx="12" cy="23"/>
              </a:xfrm>
              <a:custGeom>
                <a:avLst/>
                <a:gdLst>
                  <a:gd name="T0" fmla="*/ 12 w 12"/>
                  <a:gd name="T1" fmla="*/ 5 h 23"/>
                  <a:gd name="T2" fmla="*/ 12 w 12"/>
                  <a:gd name="T3" fmla="*/ 5 h 23"/>
                  <a:gd name="T4" fmla="*/ 12 w 12"/>
                  <a:gd name="T5" fmla="*/ 0 h 23"/>
                  <a:gd name="T6" fmla="*/ 0 w 12"/>
                  <a:gd name="T7" fmla="*/ 23 h 23"/>
                  <a:gd name="T8" fmla="*/ 0 w 12"/>
                  <a:gd name="T9" fmla="*/ 23 h 23"/>
                  <a:gd name="T10" fmla="*/ 12 w 12"/>
                  <a:gd name="T11" fmla="*/ 5 h 23"/>
                  <a:gd name="T12" fmla="*/ 0 w 12"/>
                  <a:gd name="T13" fmla="*/ 23 h 23"/>
                  <a:gd name="T14" fmla="*/ 0 w 12"/>
                  <a:gd name="T15" fmla="*/ 23 h 23"/>
                  <a:gd name="T16" fmla="*/ 6 w 12"/>
                  <a:gd name="T17" fmla="*/ 23 h 23"/>
                  <a:gd name="T18" fmla="*/ 6 w 12"/>
                  <a:gd name="T19" fmla="*/ 11 h 23"/>
                  <a:gd name="T20" fmla="*/ 0 w 12"/>
                  <a:gd name="T21" fmla="*/ 23 h 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"/>
                  <a:gd name="T34" fmla="*/ 0 h 23"/>
                  <a:gd name="T35" fmla="*/ 12 w 12"/>
                  <a:gd name="T36" fmla="*/ 23 h 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" h="23">
                    <a:moveTo>
                      <a:pt x="12" y="5"/>
                    </a:moveTo>
                    <a:lnTo>
                      <a:pt x="12" y="5"/>
                    </a:lnTo>
                    <a:lnTo>
                      <a:pt x="12" y="0"/>
                    </a:lnTo>
                    <a:lnTo>
                      <a:pt x="0" y="23"/>
                    </a:lnTo>
                    <a:lnTo>
                      <a:pt x="12" y="5"/>
                    </a:lnTo>
                    <a:close/>
                    <a:moveTo>
                      <a:pt x="0" y="23"/>
                    </a:moveTo>
                    <a:lnTo>
                      <a:pt x="0" y="23"/>
                    </a:lnTo>
                    <a:lnTo>
                      <a:pt x="6" y="23"/>
                    </a:lnTo>
                    <a:lnTo>
                      <a:pt x="6" y="11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14" name="Freeform 266">
                <a:extLst>
                  <a:ext uri="{FF2B5EF4-FFF2-40B4-BE49-F238E27FC236}">
                    <a16:creationId xmlns:a16="http://schemas.microsoft.com/office/drawing/2014/main" id="{FE31A519-717B-EB3E-52F1-DB67814DCE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400"/>
                <a:ext cx="12" cy="23"/>
              </a:xfrm>
              <a:custGeom>
                <a:avLst/>
                <a:gdLst>
                  <a:gd name="T0" fmla="*/ 6 w 12"/>
                  <a:gd name="T1" fmla="*/ 0 h 23"/>
                  <a:gd name="T2" fmla="*/ 6 w 12"/>
                  <a:gd name="T3" fmla="*/ 0 h 23"/>
                  <a:gd name="T4" fmla="*/ 6 w 12"/>
                  <a:gd name="T5" fmla="*/ 0 h 23"/>
                  <a:gd name="T6" fmla="*/ 0 w 12"/>
                  <a:gd name="T7" fmla="*/ 23 h 23"/>
                  <a:gd name="T8" fmla="*/ 0 w 12"/>
                  <a:gd name="T9" fmla="*/ 23 h 23"/>
                  <a:gd name="T10" fmla="*/ 0 w 12"/>
                  <a:gd name="T11" fmla="*/ 23 h 23"/>
                  <a:gd name="T12" fmla="*/ 6 w 12"/>
                  <a:gd name="T13" fmla="*/ 0 h 23"/>
                  <a:gd name="T14" fmla="*/ 12 w 12"/>
                  <a:gd name="T15" fmla="*/ 0 h 23"/>
                  <a:gd name="T16" fmla="*/ 6 w 12"/>
                  <a:gd name="T17" fmla="*/ 0 h 23"/>
                  <a:gd name="T18" fmla="*/ 6 w 12"/>
                  <a:gd name="T19" fmla="*/ 0 h 23"/>
                  <a:gd name="T20" fmla="*/ 6 w 12"/>
                  <a:gd name="T21" fmla="*/ 11 h 23"/>
                  <a:gd name="T22" fmla="*/ 12 w 12"/>
                  <a:gd name="T23" fmla="*/ 0 h 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3"/>
                  <a:gd name="T38" fmla="*/ 12 w 12"/>
                  <a:gd name="T39" fmla="*/ 23 h 2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3">
                    <a:moveTo>
                      <a:pt x="6" y="0"/>
                    </a:moveTo>
                    <a:lnTo>
                      <a:pt x="6" y="0"/>
                    </a:lnTo>
                    <a:lnTo>
                      <a:pt x="0" y="23"/>
                    </a:lnTo>
                    <a:lnTo>
                      <a:pt x="6" y="0"/>
                    </a:lnTo>
                    <a:close/>
                    <a:moveTo>
                      <a:pt x="12" y="0"/>
                    </a:moveTo>
                    <a:lnTo>
                      <a:pt x="6" y="0"/>
                    </a:lnTo>
                    <a:lnTo>
                      <a:pt x="6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15" name="Freeform 267">
                <a:extLst>
                  <a:ext uri="{FF2B5EF4-FFF2-40B4-BE49-F238E27FC236}">
                    <a16:creationId xmlns:a16="http://schemas.microsoft.com/office/drawing/2014/main" id="{417F1758-9F85-8AC6-2214-E1D3A1457E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400"/>
                <a:ext cx="6" cy="23"/>
              </a:xfrm>
              <a:custGeom>
                <a:avLst/>
                <a:gdLst>
                  <a:gd name="T0" fmla="*/ 6 w 6"/>
                  <a:gd name="T1" fmla="*/ 23 h 23"/>
                  <a:gd name="T2" fmla="*/ 6 w 6"/>
                  <a:gd name="T3" fmla="*/ 23 h 23"/>
                  <a:gd name="T4" fmla="*/ 6 w 6"/>
                  <a:gd name="T5" fmla="*/ 0 h 23"/>
                  <a:gd name="T6" fmla="*/ 6 w 6"/>
                  <a:gd name="T7" fmla="*/ 0 h 23"/>
                  <a:gd name="T8" fmla="*/ 0 w 6"/>
                  <a:gd name="T9" fmla="*/ 0 h 23"/>
                  <a:gd name="T10" fmla="*/ 6 w 6"/>
                  <a:gd name="T11" fmla="*/ 23 h 23"/>
                  <a:gd name="T12" fmla="*/ 6 w 6"/>
                  <a:gd name="T13" fmla="*/ 0 h 23"/>
                  <a:gd name="T14" fmla="*/ 6 w 6"/>
                  <a:gd name="T15" fmla="*/ 23 h 23"/>
                  <a:gd name="T16" fmla="*/ 0 w 6"/>
                  <a:gd name="T17" fmla="*/ 0 h 23"/>
                  <a:gd name="T18" fmla="*/ 0 w 6"/>
                  <a:gd name="T19" fmla="*/ 23 h 23"/>
                  <a:gd name="T20" fmla="*/ 6 w 6"/>
                  <a:gd name="T21" fmla="*/ 0 h 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"/>
                  <a:gd name="T34" fmla="*/ 0 h 23"/>
                  <a:gd name="T35" fmla="*/ 6 w 6"/>
                  <a:gd name="T36" fmla="*/ 23 h 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" h="23">
                    <a:moveTo>
                      <a:pt x="6" y="23"/>
                    </a:moveTo>
                    <a:lnTo>
                      <a:pt x="6" y="23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6" y="23"/>
                    </a:lnTo>
                    <a:close/>
                    <a:moveTo>
                      <a:pt x="6" y="0"/>
                    </a:moveTo>
                    <a:lnTo>
                      <a:pt x="6" y="23"/>
                    </a:lnTo>
                    <a:lnTo>
                      <a:pt x="0" y="0"/>
                    </a:lnTo>
                    <a:lnTo>
                      <a:pt x="0" y="23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16" name="Freeform 268">
                <a:extLst>
                  <a:ext uri="{FF2B5EF4-FFF2-40B4-BE49-F238E27FC236}">
                    <a16:creationId xmlns:a16="http://schemas.microsoft.com/office/drawing/2014/main" id="{72BB74E0-D8BB-33F8-23CF-6FF537FCA4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95" y="2400"/>
                <a:ext cx="18" cy="23"/>
              </a:xfrm>
              <a:custGeom>
                <a:avLst/>
                <a:gdLst>
                  <a:gd name="T0" fmla="*/ 0 w 18"/>
                  <a:gd name="T1" fmla="*/ 23 h 23"/>
                  <a:gd name="T2" fmla="*/ 6 w 18"/>
                  <a:gd name="T3" fmla="*/ 23 h 23"/>
                  <a:gd name="T4" fmla="*/ 6 w 18"/>
                  <a:gd name="T5" fmla="*/ 23 h 23"/>
                  <a:gd name="T6" fmla="*/ 18 w 18"/>
                  <a:gd name="T7" fmla="*/ 5 h 23"/>
                  <a:gd name="T8" fmla="*/ 18 w 18"/>
                  <a:gd name="T9" fmla="*/ 5 h 23"/>
                  <a:gd name="T10" fmla="*/ 12 w 18"/>
                  <a:gd name="T11" fmla="*/ 0 h 23"/>
                  <a:gd name="T12" fmla="*/ 0 w 18"/>
                  <a:gd name="T13" fmla="*/ 23 h 23"/>
                  <a:gd name="T14" fmla="*/ 12 w 18"/>
                  <a:gd name="T15" fmla="*/ 0 h 23"/>
                  <a:gd name="T16" fmla="*/ 12 w 18"/>
                  <a:gd name="T17" fmla="*/ 0 h 23"/>
                  <a:gd name="T18" fmla="*/ 6 w 18"/>
                  <a:gd name="T19" fmla="*/ 0 h 23"/>
                  <a:gd name="T20" fmla="*/ 6 w 18"/>
                  <a:gd name="T21" fmla="*/ 11 h 23"/>
                  <a:gd name="T22" fmla="*/ 12 w 18"/>
                  <a:gd name="T23" fmla="*/ 0 h 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23"/>
                  <a:gd name="T38" fmla="*/ 18 w 18"/>
                  <a:gd name="T39" fmla="*/ 23 h 2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23">
                    <a:moveTo>
                      <a:pt x="0" y="23"/>
                    </a:moveTo>
                    <a:lnTo>
                      <a:pt x="6" y="23"/>
                    </a:lnTo>
                    <a:lnTo>
                      <a:pt x="18" y="5"/>
                    </a:lnTo>
                    <a:lnTo>
                      <a:pt x="12" y="0"/>
                    </a:lnTo>
                    <a:lnTo>
                      <a:pt x="0" y="23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lnTo>
                      <a:pt x="6" y="0"/>
                    </a:lnTo>
                    <a:lnTo>
                      <a:pt x="6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17" name="Freeform 269">
                <a:extLst>
                  <a:ext uri="{FF2B5EF4-FFF2-40B4-BE49-F238E27FC236}">
                    <a16:creationId xmlns:a16="http://schemas.microsoft.com/office/drawing/2014/main" id="{88760F34-C454-D023-0A85-EA7EE41F42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1" y="2405"/>
                <a:ext cx="18" cy="24"/>
              </a:xfrm>
              <a:custGeom>
                <a:avLst/>
                <a:gdLst>
                  <a:gd name="T0" fmla="*/ 0 w 18"/>
                  <a:gd name="T1" fmla="*/ 18 h 24"/>
                  <a:gd name="T2" fmla="*/ 0 w 18"/>
                  <a:gd name="T3" fmla="*/ 24 h 24"/>
                  <a:gd name="T4" fmla="*/ 6 w 18"/>
                  <a:gd name="T5" fmla="*/ 24 h 24"/>
                  <a:gd name="T6" fmla="*/ 18 w 18"/>
                  <a:gd name="T7" fmla="*/ 24 h 24"/>
                  <a:gd name="T8" fmla="*/ 12 w 18"/>
                  <a:gd name="T9" fmla="*/ 0 h 24"/>
                  <a:gd name="T10" fmla="*/ 18 w 18"/>
                  <a:gd name="T11" fmla="*/ 0 h 24"/>
                  <a:gd name="T12" fmla="*/ 18 w 18"/>
                  <a:gd name="T13" fmla="*/ 0 h 24"/>
                  <a:gd name="T14" fmla="*/ 12 w 18"/>
                  <a:gd name="T15" fmla="*/ 0 h 24"/>
                  <a:gd name="T16" fmla="*/ 0 w 18"/>
                  <a:gd name="T17" fmla="*/ 18 h 24"/>
                  <a:gd name="T18" fmla="*/ 12 w 18"/>
                  <a:gd name="T19" fmla="*/ 0 h 24"/>
                  <a:gd name="T20" fmla="*/ 12 w 18"/>
                  <a:gd name="T21" fmla="*/ 0 h 24"/>
                  <a:gd name="T22" fmla="*/ 12 w 18"/>
                  <a:gd name="T23" fmla="*/ 0 h 24"/>
                  <a:gd name="T24" fmla="*/ 6 w 18"/>
                  <a:gd name="T25" fmla="*/ 6 h 24"/>
                  <a:gd name="T26" fmla="*/ 12 w 18"/>
                  <a:gd name="T27" fmla="*/ 0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8"/>
                  <a:gd name="T43" fmla="*/ 0 h 24"/>
                  <a:gd name="T44" fmla="*/ 18 w 18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8" h="24">
                    <a:moveTo>
                      <a:pt x="0" y="18"/>
                    </a:moveTo>
                    <a:lnTo>
                      <a:pt x="0" y="24"/>
                    </a:lnTo>
                    <a:lnTo>
                      <a:pt x="6" y="24"/>
                    </a:lnTo>
                    <a:lnTo>
                      <a:pt x="18" y="24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12" y="0"/>
                    </a:lnTo>
                    <a:lnTo>
                      <a:pt x="0" y="18"/>
                    </a:lnTo>
                    <a:close/>
                    <a:moveTo>
                      <a:pt x="12" y="0"/>
                    </a:moveTo>
                    <a:lnTo>
                      <a:pt x="12" y="0"/>
                    </a:lnTo>
                    <a:lnTo>
                      <a:pt x="6" y="6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18" name="Freeform 270">
                <a:extLst>
                  <a:ext uri="{FF2B5EF4-FFF2-40B4-BE49-F238E27FC236}">
                    <a16:creationId xmlns:a16="http://schemas.microsoft.com/office/drawing/2014/main" id="{36281256-E075-80ED-9221-8140D52213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07" y="2405"/>
                <a:ext cx="18" cy="30"/>
              </a:xfrm>
              <a:custGeom>
                <a:avLst/>
                <a:gdLst>
                  <a:gd name="T0" fmla="*/ 0 w 18"/>
                  <a:gd name="T1" fmla="*/ 18 h 30"/>
                  <a:gd name="T2" fmla="*/ 0 w 18"/>
                  <a:gd name="T3" fmla="*/ 24 h 30"/>
                  <a:gd name="T4" fmla="*/ 6 w 18"/>
                  <a:gd name="T5" fmla="*/ 24 h 30"/>
                  <a:gd name="T6" fmla="*/ 18 w 18"/>
                  <a:gd name="T7" fmla="*/ 30 h 30"/>
                  <a:gd name="T8" fmla="*/ 12 w 18"/>
                  <a:gd name="T9" fmla="*/ 6 h 30"/>
                  <a:gd name="T10" fmla="*/ 18 w 18"/>
                  <a:gd name="T11" fmla="*/ 6 h 30"/>
                  <a:gd name="T12" fmla="*/ 18 w 18"/>
                  <a:gd name="T13" fmla="*/ 6 h 30"/>
                  <a:gd name="T14" fmla="*/ 18 w 18"/>
                  <a:gd name="T15" fmla="*/ 6 h 30"/>
                  <a:gd name="T16" fmla="*/ 18 w 18"/>
                  <a:gd name="T17" fmla="*/ 6 h 30"/>
                  <a:gd name="T18" fmla="*/ 0 w 18"/>
                  <a:gd name="T19" fmla="*/ 18 h 30"/>
                  <a:gd name="T20" fmla="*/ 18 w 18"/>
                  <a:gd name="T21" fmla="*/ 6 h 30"/>
                  <a:gd name="T22" fmla="*/ 12 w 18"/>
                  <a:gd name="T23" fmla="*/ 0 h 30"/>
                  <a:gd name="T24" fmla="*/ 6 w 18"/>
                  <a:gd name="T25" fmla="*/ 0 h 30"/>
                  <a:gd name="T26" fmla="*/ 6 w 18"/>
                  <a:gd name="T27" fmla="*/ 12 h 30"/>
                  <a:gd name="T28" fmla="*/ 18 w 18"/>
                  <a:gd name="T29" fmla="*/ 6 h 3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8"/>
                  <a:gd name="T46" fmla="*/ 0 h 30"/>
                  <a:gd name="T47" fmla="*/ 18 w 18"/>
                  <a:gd name="T48" fmla="*/ 30 h 3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8" h="30">
                    <a:moveTo>
                      <a:pt x="0" y="18"/>
                    </a:moveTo>
                    <a:lnTo>
                      <a:pt x="0" y="24"/>
                    </a:lnTo>
                    <a:lnTo>
                      <a:pt x="6" y="24"/>
                    </a:lnTo>
                    <a:lnTo>
                      <a:pt x="18" y="30"/>
                    </a:lnTo>
                    <a:lnTo>
                      <a:pt x="12" y="6"/>
                    </a:lnTo>
                    <a:lnTo>
                      <a:pt x="18" y="6"/>
                    </a:lnTo>
                    <a:lnTo>
                      <a:pt x="0" y="18"/>
                    </a:lnTo>
                    <a:close/>
                    <a:moveTo>
                      <a:pt x="18" y="6"/>
                    </a:moveTo>
                    <a:lnTo>
                      <a:pt x="12" y="0"/>
                    </a:lnTo>
                    <a:lnTo>
                      <a:pt x="6" y="0"/>
                    </a:lnTo>
                    <a:lnTo>
                      <a:pt x="6" y="12"/>
                    </a:lnTo>
                    <a:lnTo>
                      <a:pt x="18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19" name="Freeform 271">
                <a:extLst>
                  <a:ext uri="{FF2B5EF4-FFF2-40B4-BE49-F238E27FC236}">
                    <a16:creationId xmlns:a16="http://schemas.microsoft.com/office/drawing/2014/main" id="{A2590D28-4ECF-272A-2696-C306A063E5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411"/>
                <a:ext cx="12" cy="24"/>
              </a:xfrm>
              <a:custGeom>
                <a:avLst/>
                <a:gdLst>
                  <a:gd name="T0" fmla="*/ 0 w 12"/>
                  <a:gd name="T1" fmla="*/ 24 h 24"/>
                  <a:gd name="T2" fmla="*/ 6 w 12"/>
                  <a:gd name="T3" fmla="*/ 24 h 24"/>
                  <a:gd name="T4" fmla="*/ 6 w 12"/>
                  <a:gd name="T5" fmla="*/ 24 h 24"/>
                  <a:gd name="T6" fmla="*/ 12 w 12"/>
                  <a:gd name="T7" fmla="*/ 0 h 24"/>
                  <a:gd name="T8" fmla="*/ 6 w 12"/>
                  <a:gd name="T9" fmla="*/ 0 h 24"/>
                  <a:gd name="T10" fmla="*/ 6 w 12"/>
                  <a:gd name="T11" fmla="*/ 0 h 24"/>
                  <a:gd name="T12" fmla="*/ 0 w 12"/>
                  <a:gd name="T13" fmla="*/ 24 h 24"/>
                  <a:gd name="T14" fmla="*/ 6 w 12"/>
                  <a:gd name="T15" fmla="*/ 0 h 24"/>
                  <a:gd name="T16" fmla="*/ 6 w 12"/>
                  <a:gd name="T17" fmla="*/ 0 h 24"/>
                  <a:gd name="T18" fmla="*/ 0 w 12"/>
                  <a:gd name="T19" fmla="*/ 0 h 24"/>
                  <a:gd name="T20" fmla="*/ 6 w 12"/>
                  <a:gd name="T21" fmla="*/ 12 h 24"/>
                  <a:gd name="T22" fmla="*/ 6 w 12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4"/>
                  <a:gd name="T38" fmla="*/ 12 w 12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4">
                    <a:moveTo>
                      <a:pt x="0" y="24"/>
                    </a:moveTo>
                    <a:lnTo>
                      <a:pt x="6" y="2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24"/>
                    </a:lnTo>
                    <a:close/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20" name="Freeform 272">
                <a:extLst>
                  <a:ext uri="{FF2B5EF4-FFF2-40B4-BE49-F238E27FC236}">
                    <a16:creationId xmlns:a16="http://schemas.microsoft.com/office/drawing/2014/main" id="{B3B111D3-E42A-0957-D6C4-EB88EC8A33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25" y="2411"/>
                <a:ext cx="18" cy="24"/>
              </a:xfrm>
              <a:custGeom>
                <a:avLst/>
                <a:gdLst>
                  <a:gd name="T0" fmla="*/ 6 w 18"/>
                  <a:gd name="T1" fmla="*/ 24 h 24"/>
                  <a:gd name="T2" fmla="*/ 6 w 18"/>
                  <a:gd name="T3" fmla="*/ 24 h 24"/>
                  <a:gd name="T4" fmla="*/ 12 w 18"/>
                  <a:gd name="T5" fmla="*/ 24 h 24"/>
                  <a:gd name="T6" fmla="*/ 18 w 18"/>
                  <a:gd name="T7" fmla="*/ 24 h 24"/>
                  <a:gd name="T8" fmla="*/ 18 w 18"/>
                  <a:gd name="T9" fmla="*/ 24 h 24"/>
                  <a:gd name="T10" fmla="*/ 12 w 18"/>
                  <a:gd name="T11" fmla="*/ 0 h 24"/>
                  <a:gd name="T12" fmla="*/ 6 w 18"/>
                  <a:gd name="T13" fmla="*/ 0 h 24"/>
                  <a:gd name="T14" fmla="*/ 0 w 18"/>
                  <a:gd name="T15" fmla="*/ 0 h 24"/>
                  <a:gd name="T16" fmla="*/ 6 w 18"/>
                  <a:gd name="T17" fmla="*/ 24 h 24"/>
                  <a:gd name="T18" fmla="*/ 0 w 18"/>
                  <a:gd name="T19" fmla="*/ 24 h 24"/>
                  <a:gd name="T20" fmla="*/ 0 w 18"/>
                  <a:gd name="T21" fmla="*/ 24 h 24"/>
                  <a:gd name="T22" fmla="*/ 6 w 18"/>
                  <a:gd name="T23" fmla="*/ 24 h 24"/>
                  <a:gd name="T24" fmla="*/ 6 w 18"/>
                  <a:gd name="T25" fmla="*/ 12 h 24"/>
                  <a:gd name="T26" fmla="*/ 0 w 18"/>
                  <a:gd name="T27" fmla="*/ 24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8"/>
                  <a:gd name="T43" fmla="*/ 0 h 24"/>
                  <a:gd name="T44" fmla="*/ 18 w 18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8" h="24">
                    <a:moveTo>
                      <a:pt x="6" y="24"/>
                    </a:moveTo>
                    <a:lnTo>
                      <a:pt x="6" y="24"/>
                    </a:lnTo>
                    <a:lnTo>
                      <a:pt x="12" y="24"/>
                    </a:lnTo>
                    <a:lnTo>
                      <a:pt x="18" y="2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6" y="24"/>
                    </a:lnTo>
                    <a:close/>
                    <a:moveTo>
                      <a:pt x="0" y="24"/>
                    </a:moveTo>
                    <a:lnTo>
                      <a:pt x="0" y="24"/>
                    </a:lnTo>
                    <a:lnTo>
                      <a:pt x="6" y="24"/>
                    </a:lnTo>
                    <a:lnTo>
                      <a:pt x="6" y="12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21" name="Freeform 273">
                <a:extLst>
                  <a:ext uri="{FF2B5EF4-FFF2-40B4-BE49-F238E27FC236}">
                    <a16:creationId xmlns:a16="http://schemas.microsoft.com/office/drawing/2014/main" id="{FA18395D-7500-6AC7-E68A-9D2342B8D8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31" y="2411"/>
                <a:ext cx="24" cy="24"/>
              </a:xfrm>
              <a:custGeom>
                <a:avLst/>
                <a:gdLst>
                  <a:gd name="T0" fmla="*/ 0 w 24"/>
                  <a:gd name="T1" fmla="*/ 18 h 24"/>
                  <a:gd name="T2" fmla="*/ 0 w 24"/>
                  <a:gd name="T3" fmla="*/ 24 h 24"/>
                  <a:gd name="T4" fmla="*/ 24 w 24"/>
                  <a:gd name="T5" fmla="*/ 12 h 24"/>
                  <a:gd name="T6" fmla="*/ 18 w 24"/>
                  <a:gd name="T7" fmla="*/ 6 h 24"/>
                  <a:gd name="T8" fmla="*/ 0 w 24"/>
                  <a:gd name="T9" fmla="*/ 18 h 24"/>
                  <a:gd name="T10" fmla="*/ 18 w 24"/>
                  <a:gd name="T11" fmla="*/ 6 h 24"/>
                  <a:gd name="T12" fmla="*/ 12 w 24"/>
                  <a:gd name="T13" fmla="*/ 0 h 24"/>
                  <a:gd name="T14" fmla="*/ 6 w 24"/>
                  <a:gd name="T15" fmla="*/ 0 h 24"/>
                  <a:gd name="T16" fmla="*/ 6 w 24"/>
                  <a:gd name="T17" fmla="*/ 12 h 24"/>
                  <a:gd name="T18" fmla="*/ 18 w 24"/>
                  <a:gd name="T19" fmla="*/ 6 h 2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24"/>
                  <a:gd name="T32" fmla="*/ 24 w 24"/>
                  <a:gd name="T33" fmla="*/ 24 h 2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24">
                    <a:moveTo>
                      <a:pt x="0" y="18"/>
                    </a:moveTo>
                    <a:lnTo>
                      <a:pt x="0" y="24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0" y="18"/>
                    </a:lnTo>
                    <a:close/>
                    <a:moveTo>
                      <a:pt x="18" y="6"/>
                    </a:moveTo>
                    <a:lnTo>
                      <a:pt x="12" y="0"/>
                    </a:lnTo>
                    <a:lnTo>
                      <a:pt x="6" y="0"/>
                    </a:lnTo>
                    <a:lnTo>
                      <a:pt x="6" y="12"/>
                    </a:lnTo>
                    <a:lnTo>
                      <a:pt x="18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22" name="Freeform 274">
                <a:extLst>
                  <a:ext uri="{FF2B5EF4-FFF2-40B4-BE49-F238E27FC236}">
                    <a16:creationId xmlns:a16="http://schemas.microsoft.com/office/drawing/2014/main" id="{8E8F0ADA-6DB1-CC8E-79FE-F25862AC2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3" y="2423"/>
                <a:ext cx="18" cy="18"/>
              </a:xfrm>
              <a:custGeom>
                <a:avLst/>
                <a:gdLst>
                  <a:gd name="T0" fmla="*/ 0 w 18"/>
                  <a:gd name="T1" fmla="*/ 18 h 18"/>
                  <a:gd name="T2" fmla="*/ 18 w 18"/>
                  <a:gd name="T3" fmla="*/ 12 h 18"/>
                  <a:gd name="T4" fmla="*/ 12 w 18"/>
                  <a:gd name="T5" fmla="*/ 0 h 18"/>
                  <a:gd name="T6" fmla="*/ 0 w 18"/>
                  <a:gd name="T7" fmla="*/ 6 h 18"/>
                  <a:gd name="T8" fmla="*/ 0 w 18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8"/>
                  <a:gd name="T17" fmla="*/ 18 w 18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8">
                    <a:moveTo>
                      <a:pt x="0" y="18"/>
                    </a:moveTo>
                    <a:lnTo>
                      <a:pt x="18" y="12"/>
                    </a:lnTo>
                    <a:lnTo>
                      <a:pt x="12" y="0"/>
                    </a:lnTo>
                    <a:lnTo>
                      <a:pt x="0" y="6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23" name="Freeform 275">
                <a:extLst>
                  <a:ext uri="{FF2B5EF4-FFF2-40B4-BE49-F238E27FC236}">
                    <a16:creationId xmlns:a16="http://schemas.microsoft.com/office/drawing/2014/main" id="{C33FCC65-AE1E-A620-F68C-2EA3114B6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1" y="2429"/>
                <a:ext cx="12" cy="30"/>
              </a:xfrm>
              <a:custGeom>
                <a:avLst/>
                <a:gdLst>
                  <a:gd name="T0" fmla="*/ 0 w 12"/>
                  <a:gd name="T1" fmla="*/ 6 h 30"/>
                  <a:gd name="T2" fmla="*/ 6 w 12"/>
                  <a:gd name="T3" fmla="*/ 12 h 30"/>
                  <a:gd name="T4" fmla="*/ 6 w 12"/>
                  <a:gd name="T5" fmla="*/ 18 h 30"/>
                  <a:gd name="T6" fmla="*/ 6 w 12"/>
                  <a:gd name="T7" fmla="*/ 18 h 30"/>
                  <a:gd name="T8" fmla="*/ 12 w 12"/>
                  <a:gd name="T9" fmla="*/ 24 h 30"/>
                  <a:gd name="T10" fmla="*/ 12 w 12"/>
                  <a:gd name="T11" fmla="*/ 24 h 30"/>
                  <a:gd name="T12" fmla="*/ 12 w 12"/>
                  <a:gd name="T13" fmla="*/ 30 h 30"/>
                  <a:gd name="T14" fmla="*/ 12 w 12"/>
                  <a:gd name="T15" fmla="*/ 30 h 30"/>
                  <a:gd name="T16" fmla="*/ 12 w 12"/>
                  <a:gd name="T17" fmla="*/ 30 h 30"/>
                  <a:gd name="T18" fmla="*/ 12 w 12"/>
                  <a:gd name="T19" fmla="*/ 24 h 30"/>
                  <a:gd name="T20" fmla="*/ 12 w 12"/>
                  <a:gd name="T21" fmla="*/ 24 h 30"/>
                  <a:gd name="T22" fmla="*/ 12 w 12"/>
                  <a:gd name="T23" fmla="*/ 18 h 30"/>
                  <a:gd name="T24" fmla="*/ 12 w 12"/>
                  <a:gd name="T25" fmla="*/ 18 h 30"/>
                  <a:gd name="T26" fmla="*/ 12 w 12"/>
                  <a:gd name="T27" fmla="*/ 12 h 30"/>
                  <a:gd name="T28" fmla="*/ 12 w 12"/>
                  <a:gd name="T29" fmla="*/ 12 h 30"/>
                  <a:gd name="T30" fmla="*/ 6 w 12"/>
                  <a:gd name="T31" fmla="*/ 6 h 30"/>
                  <a:gd name="T32" fmla="*/ 6 w 12"/>
                  <a:gd name="T33" fmla="*/ 6 h 30"/>
                  <a:gd name="T34" fmla="*/ 0 w 12"/>
                  <a:gd name="T35" fmla="*/ 0 h 30"/>
                  <a:gd name="T36" fmla="*/ 0 w 12"/>
                  <a:gd name="T37" fmla="*/ 6 h 30"/>
                  <a:gd name="T38" fmla="*/ 0 w 12"/>
                  <a:gd name="T39" fmla="*/ 6 h 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2"/>
                  <a:gd name="T61" fmla="*/ 0 h 30"/>
                  <a:gd name="T62" fmla="*/ 12 w 12"/>
                  <a:gd name="T63" fmla="*/ 30 h 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2" h="30">
                    <a:moveTo>
                      <a:pt x="0" y="6"/>
                    </a:moveTo>
                    <a:lnTo>
                      <a:pt x="6" y="12"/>
                    </a:lnTo>
                    <a:lnTo>
                      <a:pt x="6" y="18"/>
                    </a:lnTo>
                    <a:lnTo>
                      <a:pt x="12" y="24"/>
                    </a:lnTo>
                    <a:lnTo>
                      <a:pt x="12" y="30"/>
                    </a:lnTo>
                    <a:lnTo>
                      <a:pt x="12" y="24"/>
                    </a:lnTo>
                    <a:lnTo>
                      <a:pt x="12" y="18"/>
                    </a:lnTo>
                    <a:lnTo>
                      <a:pt x="12" y="12"/>
                    </a:lnTo>
                    <a:lnTo>
                      <a:pt x="6" y="6"/>
                    </a:lnTo>
                    <a:lnTo>
                      <a:pt x="0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24" name="Freeform 276">
                <a:extLst>
                  <a:ext uri="{FF2B5EF4-FFF2-40B4-BE49-F238E27FC236}">
                    <a16:creationId xmlns:a16="http://schemas.microsoft.com/office/drawing/2014/main" id="{B2B3B7BF-33AC-48CF-183B-5928095939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2423"/>
                <a:ext cx="18" cy="30"/>
              </a:xfrm>
              <a:custGeom>
                <a:avLst/>
                <a:gdLst>
                  <a:gd name="T0" fmla="*/ 0 w 18"/>
                  <a:gd name="T1" fmla="*/ 24 h 30"/>
                  <a:gd name="T2" fmla="*/ 6 w 18"/>
                  <a:gd name="T3" fmla="*/ 30 h 30"/>
                  <a:gd name="T4" fmla="*/ 18 w 18"/>
                  <a:gd name="T5" fmla="*/ 6 h 30"/>
                  <a:gd name="T6" fmla="*/ 12 w 18"/>
                  <a:gd name="T7" fmla="*/ 0 h 30"/>
                  <a:gd name="T8" fmla="*/ 0 w 18"/>
                  <a:gd name="T9" fmla="*/ 24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30"/>
                  <a:gd name="T17" fmla="*/ 18 w 18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30">
                    <a:moveTo>
                      <a:pt x="0" y="24"/>
                    </a:moveTo>
                    <a:lnTo>
                      <a:pt x="6" y="30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25" name="Freeform 277">
                <a:extLst>
                  <a:ext uri="{FF2B5EF4-FFF2-40B4-BE49-F238E27FC236}">
                    <a16:creationId xmlns:a16="http://schemas.microsoft.com/office/drawing/2014/main" id="{75931EE4-1414-9711-2F41-D2940903FC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55" y="2429"/>
                <a:ext cx="24" cy="30"/>
              </a:xfrm>
              <a:custGeom>
                <a:avLst/>
                <a:gdLst>
                  <a:gd name="T0" fmla="*/ 0 w 24"/>
                  <a:gd name="T1" fmla="*/ 6 h 30"/>
                  <a:gd name="T2" fmla="*/ 0 w 24"/>
                  <a:gd name="T3" fmla="*/ 12 h 30"/>
                  <a:gd name="T4" fmla="*/ 0 w 24"/>
                  <a:gd name="T5" fmla="*/ 12 h 30"/>
                  <a:gd name="T6" fmla="*/ 6 w 24"/>
                  <a:gd name="T7" fmla="*/ 18 h 30"/>
                  <a:gd name="T8" fmla="*/ 12 w 24"/>
                  <a:gd name="T9" fmla="*/ 30 h 30"/>
                  <a:gd name="T10" fmla="*/ 18 w 24"/>
                  <a:gd name="T11" fmla="*/ 6 h 30"/>
                  <a:gd name="T12" fmla="*/ 24 w 24"/>
                  <a:gd name="T13" fmla="*/ 12 h 30"/>
                  <a:gd name="T14" fmla="*/ 24 w 24"/>
                  <a:gd name="T15" fmla="*/ 12 h 30"/>
                  <a:gd name="T16" fmla="*/ 24 w 24"/>
                  <a:gd name="T17" fmla="*/ 12 h 30"/>
                  <a:gd name="T18" fmla="*/ 0 w 24"/>
                  <a:gd name="T19" fmla="*/ 6 h 30"/>
                  <a:gd name="T20" fmla="*/ 24 w 24"/>
                  <a:gd name="T21" fmla="*/ 12 h 30"/>
                  <a:gd name="T22" fmla="*/ 24 w 24"/>
                  <a:gd name="T23" fmla="*/ 6 h 30"/>
                  <a:gd name="T24" fmla="*/ 18 w 24"/>
                  <a:gd name="T25" fmla="*/ 0 h 30"/>
                  <a:gd name="T26" fmla="*/ 12 w 24"/>
                  <a:gd name="T27" fmla="*/ 12 h 30"/>
                  <a:gd name="T28" fmla="*/ 24 w 24"/>
                  <a:gd name="T29" fmla="*/ 12 h 3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"/>
                  <a:gd name="T46" fmla="*/ 0 h 30"/>
                  <a:gd name="T47" fmla="*/ 24 w 24"/>
                  <a:gd name="T48" fmla="*/ 30 h 3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" h="30">
                    <a:moveTo>
                      <a:pt x="0" y="6"/>
                    </a:moveTo>
                    <a:lnTo>
                      <a:pt x="0" y="12"/>
                    </a:lnTo>
                    <a:lnTo>
                      <a:pt x="6" y="18"/>
                    </a:lnTo>
                    <a:lnTo>
                      <a:pt x="12" y="30"/>
                    </a:lnTo>
                    <a:lnTo>
                      <a:pt x="18" y="6"/>
                    </a:lnTo>
                    <a:lnTo>
                      <a:pt x="24" y="12"/>
                    </a:lnTo>
                    <a:lnTo>
                      <a:pt x="0" y="6"/>
                    </a:lnTo>
                    <a:close/>
                    <a:moveTo>
                      <a:pt x="24" y="12"/>
                    </a:moveTo>
                    <a:lnTo>
                      <a:pt x="24" y="6"/>
                    </a:lnTo>
                    <a:lnTo>
                      <a:pt x="18" y="0"/>
                    </a:lnTo>
                    <a:lnTo>
                      <a:pt x="12" y="12"/>
                    </a:lnTo>
                    <a:lnTo>
                      <a:pt x="24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26" name="Freeform 278">
                <a:extLst>
                  <a:ext uri="{FF2B5EF4-FFF2-40B4-BE49-F238E27FC236}">
                    <a16:creationId xmlns:a16="http://schemas.microsoft.com/office/drawing/2014/main" id="{5FCA9FB9-D479-97C9-7CCB-1155FB8399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55" y="2435"/>
                <a:ext cx="24" cy="30"/>
              </a:xfrm>
              <a:custGeom>
                <a:avLst/>
                <a:gdLst>
                  <a:gd name="T0" fmla="*/ 0 w 24"/>
                  <a:gd name="T1" fmla="*/ 12 h 30"/>
                  <a:gd name="T2" fmla="*/ 0 w 24"/>
                  <a:gd name="T3" fmla="*/ 18 h 30"/>
                  <a:gd name="T4" fmla="*/ 6 w 24"/>
                  <a:gd name="T5" fmla="*/ 18 h 30"/>
                  <a:gd name="T6" fmla="*/ 6 w 24"/>
                  <a:gd name="T7" fmla="*/ 18 h 30"/>
                  <a:gd name="T8" fmla="*/ 6 w 24"/>
                  <a:gd name="T9" fmla="*/ 24 h 30"/>
                  <a:gd name="T10" fmla="*/ 12 w 24"/>
                  <a:gd name="T11" fmla="*/ 30 h 30"/>
                  <a:gd name="T12" fmla="*/ 12 w 24"/>
                  <a:gd name="T13" fmla="*/ 6 h 30"/>
                  <a:gd name="T14" fmla="*/ 24 w 24"/>
                  <a:gd name="T15" fmla="*/ 12 h 30"/>
                  <a:gd name="T16" fmla="*/ 24 w 24"/>
                  <a:gd name="T17" fmla="*/ 12 h 30"/>
                  <a:gd name="T18" fmla="*/ 24 w 24"/>
                  <a:gd name="T19" fmla="*/ 12 h 30"/>
                  <a:gd name="T20" fmla="*/ 24 w 24"/>
                  <a:gd name="T21" fmla="*/ 12 h 30"/>
                  <a:gd name="T22" fmla="*/ 0 w 24"/>
                  <a:gd name="T23" fmla="*/ 12 h 30"/>
                  <a:gd name="T24" fmla="*/ 24 w 24"/>
                  <a:gd name="T25" fmla="*/ 12 h 30"/>
                  <a:gd name="T26" fmla="*/ 24 w 24"/>
                  <a:gd name="T27" fmla="*/ 0 h 30"/>
                  <a:gd name="T28" fmla="*/ 18 w 24"/>
                  <a:gd name="T29" fmla="*/ 0 h 30"/>
                  <a:gd name="T30" fmla="*/ 12 w 24"/>
                  <a:gd name="T31" fmla="*/ 12 h 30"/>
                  <a:gd name="T32" fmla="*/ 24 w 24"/>
                  <a:gd name="T33" fmla="*/ 12 h 3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4"/>
                  <a:gd name="T52" fmla="*/ 0 h 30"/>
                  <a:gd name="T53" fmla="*/ 24 w 24"/>
                  <a:gd name="T54" fmla="*/ 30 h 3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4" h="30">
                    <a:moveTo>
                      <a:pt x="0" y="12"/>
                    </a:moveTo>
                    <a:lnTo>
                      <a:pt x="0" y="18"/>
                    </a:lnTo>
                    <a:lnTo>
                      <a:pt x="6" y="18"/>
                    </a:lnTo>
                    <a:lnTo>
                      <a:pt x="6" y="24"/>
                    </a:lnTo>
                    <a:lnTo>
                      <a:pt x="12" y="30"/>
                    </a:lnTo>
                    <a:lnTo>
                      <a:pt x="12" y="6"/>
                    </a:lnTo>
                    <a:lnTo>
                      <a:pt x="24" y="12"/>
                    </a:lnTo>
                    <a:lnTo>
                      <a:pt x="0" y="12"/>
                    </a:lnTo>
                    <a:close/>
                    <a:moveTo>
                      <a:pt x="24" y="12"/>
                    </a:moveTo>
                    <a:lnTo>
                      <a:pt x="24" y="0"/>
                    </a:lnTo>
                    <a:lnTo>
                      <a:pt x="18" y="0"/>
                    </a:lnTo>
                    <a:lnTo>
                      <a:pt x="12" y="12"/>
                    </a:lnTo>
                    <a:lnTo>
                      <a:pt x="24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27" name="Freeform 279">
                <a:extLst>
                  <a:ext uri="{FF2B5EF4-FFF2-40B4-BE49-F238E27FC236}">
                    <a16:creationId xmlns:a16="http://schemas.microsoft.com/office/drawing/2014/main" id="{9AA9B3AE-B069-9E15-5224-950801812D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41"/>
                <a:ext cx="24" cy="24"/>
              </a:xfrm>
              <a:custGeom>
                <a:avLst/>
                <a:gdLst>
                  <a:gd name="T0" fmla="*/ 0 w 24"/>
                  <a:gd name="T1" fmla="*/ 24 h 24"/>
                  <a:gd name="T2" fmla="*/ 6 w 24"/>
                  <a:gd name="T3" fmla="*/ 24 h 24"/>
                  <a:gd name="T4" fmla="*/ 6 w 24"/>
                  <a:gd name="T5" fmla="*/ 24 h 24"/>
                  <a:gd name="T6" fmla="*/ 24 w 24"/>
                  <a:gd name="T7" fmla="*/ 12 h 24"/>
                  <a:gd name="T8" fmla="*/ 24 w 24"/>
                  <a:gd name="T9" fmla="*/ 12 h 24"/>
                  <a:gd name="T10" fmla="*/ 24 w 24"/>
                  <a:gd name="T11" fmla="*/ 12 h 24"/>
                  <a:gd name="T12" fmla="*/ 18 w 24"/>
                  <a:gd name="T13" fmla="*/ 6 h 24"/>
                  <a:gd name="T14" fmla="*/ 0 w 24"/>
                  <a:gd name="T15" fmla="*/ 24 h 24"/>
                  <a:gd name="T16" fmla="*/ 18 w 24"/>
                  <a:gd name="T17" fmla="*/ 6 h 24"/>
                  <a:gd name="T18" fmla="*/ 12 w 24"/>
                  <a:gd name="T19" fmla="*/ 0 h 24"/>
                  <a:gd name="T20" fmla="*/ 6 w 24"/>
                  <a:gd name="T21" fmla="*/ 0 h 24"/>
                  <a:gd name="T22" fmla="*/ 12 w 24"/>
                  <a:gd name="T23" fmla="*/ 12 h 24"/>
                  <a:gd name="T24" fmla="*/ 18 w 24"/>
                  <a:gd name="T25" fmla="*/ 6 h 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24"/>
                  <a:gd name="T41" fmla="*/ 24 w 24"/>
                  <a:gd name="T42" fmla="*/ 24 h 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24">
                    <a:moveTo>
                      <a:pt x="0" y="24"/>
                    </a:moveTo>
                    <a:lnTo>
                      <a:pt x="6" y="24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0" y="24"/>
                    </a:lnTo>
                    <a:close/>
                    <a:moveTo>
                      <a:pt x="18" y="6"/>
                    </a:moveTo>
                    <a:lnTo>
                      <a:pt x="12" y="0"/>
                    </a:lnTo>
                    <a:lnTo>
                      <a:pt x="6" y="0"/>
                    </a:lnTo>
                    <a:lnTo>
                      <a:pt x="12" y="12"/>
                    </a:lnTo>
                    <a:lnTo>
                      <a:pt x="18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28" name="Freeform 280">
                <a:extLst>
                  <a:ext uri="{FF2B5EF4-FFF2-40B4-BE49-F238E27FC236}">
                    <a16:creationId xmlns:a16="http://schemas.microsoft.com/office/drawing/2014/main" id="{14FFA0AC-93CE-C979-AF16-DF969EC98F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47"/>
                <a:ext cx="24" cy="18"/>
              </a:xfrm>
              <a:custGeom>
                <a:avLst/>
                <a:gdLst>
                  <a:gd name="T0" fmla="*/ 24 w 24"/>
                  <a:gd name="T1" fmla="*/ 12 h 18"/>
                  <a:gd name="T2" fmla="*/ 24 w 24"/>
                  <a:gd name="T3" fmla="*/ 6 h 18"/>
                  <a:gd name="T4" fmla="*/ 24 w 24"/>
                  <a:gd name="T5" fmla="*/ 0 h 18"/>
                  <a:gd name="T6" fmla="*/ 0 w 24"/>
                  <a:gd name="T7" fmla="*/ 12 h 18"/>
                  <a:gd name="T8" fmla="*/ 0 w 24"/>
                  <a:gd name="T9" fmla="*/ 12 h 18"/>
                  <a:gd name="T10" fmla="*/ 0 w 24"/>
                  <a:gd name="T11" fmla="*/ 12 h 18"/>
                  <a:gd name="T12" fmla="*/ 24 w 24"/>
                  <a:gd name="T13" fmla="*/ 12 h 18"/>
                  <a:gd name="T14" fmla="*/ 6 w 24"/>
                  <a:gd name="T15" fmla="*/ 18 h 18"/>
                  <a:gd name="T16" fmla="*/ 24 w 24"/>
                  <a:gd name="T17" fmla="*/ 12 h 18"/>
                  <a:gd name="T18" fmla="*/ 0 w 24"/>
                  <a:gd name="T19" fmla="*/ 12 h 18"/>
                  <a:gd name="T20" fmla="*/ 24 w 24"/>
                  <a:gd name="T21" fmla="*/ 6 h 18"/>
                  <a:gd name="T22" fmla="*/ 6 w 24"/>
                  <a:gd name="T23" fmla="*/ 18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18"/>
                  <a:gd name="T38" fmla="*/ 24 w 24"/>
                  <a:gd name="T39" fmla="*/ 18 h 1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18">
                    <a:moveTo>
                      <a:pt x="24" y="12"/>
                    </a:moveTo>
                    <a:lnTo>
                      <a:pt x="24" y="6"/>
                    </a:lnTo>
                    <a:lnTo>
                      <a:pt x="24" y="0"/>
                    </a:lnTo>
                    <a:lnTo>
                      <a:pt x="0" y="12"/>
                    </a:lnTo>
                    <a:lnTo>
                      <a:pt x="24" y="12"/>
                    </a:lnTo>
                    <a:close/>
                    <a:moveTo>
                      <a:pt x="6" y="18"/>
                    </a:moveTo>
                    <a:lnTo>
                      <a:pt x="24" y="12"/>
                    </a:lnTo>
                    <a:lnTo>
                      <a:pt x="0" y="12"/>
                    </a:lnTo>
                    <a:lnTo>
                      <a:pt x="24" y="6"/>
                    </a:lnTo>
                    <a:lnTo>
                      <a:pt x="6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29" name="Freeform 281">
                <a:extLst>
                  <a:ext uri="{FF2B5EF4-FFF2-40B4-BE49-F238E27FC236}">
                    <a16:creationId xmlns:a16="http://schemas.microsoft.com/office/drawing/2014/main" id="{0DDCD84C-619D-F068-1701-AB4D2B198E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41"/>
                <a:ext cx="24" cy="24"/>
              </a:xfrm>
              <a:custGeom>
                <a:avLst/>
                <a:gdLst>
                  <a:gd name="T0" fmla="*/ 18 w 24"/>
                  <a:gd name="T1" fmla="*/ 0 h 24"/>
                  <a:gd name="T2" fmla="*/ 18 w 24"/>
                  <a:gd name="T3" fmla="*/ 6 h 24"/>
                  <a:gd name="T4" fmla="*/ 24 w 24"/>
                  <a:gd name="T5" fmla="*/ 6 h 24"/>
                  <a:gd name="T6" fmla="*/ 0 w 24"/>
                  <a:gd name="T7" fmla="*/ 6 h 24"/>
                  <a:gd name="T8" fmla="*/ 6 w 24"/>
                  <a:gd name="T9" fmla="*/ 18 h 24"/>
                  <a:gd name="T10" fmla="*/ 6 w 24"/>
                  <a:gd name="T11" fmla="*/ 24 h 24"/>
                  <a:gd name="T12" fmla="*/ 18 w 24"/>
                  <a:gd name="T13" fmla="*/ 0 h 24"/>
                  <a:gd name="T14" fmla="*/ 24 w 24"/>
                  <a:gd name="T15" fmla="*/ 6 h 24"/>
                  <a:gd name="T16" fmla="*/ 24 w 24"/>
                  <a:gd name="T17" fmla="*/ 6 h 24"/>
                  <a:gd name="T18" fmla="*/ 18 w 24"/>
                  <a:gd name="T19" fmla="*/ 0 h 24"/>
                  <a:gd name="T20" fmla="*/ 12 w 24"/>
                  <a:gd name="T21" fmla="*/ 12 h 24"/>
                  <a:gd name="T22" fmla="*/ 24 w 24"/>
                  <a:gd name="T23" fmla="*/ 6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18" y="0"/>
                    </a:moveTo>
                    <a:lnTo>
                      <a:pt x="18" y="6"/>
                    </a:lnTo>
                    <a:lnTo>
                      <a:pt x="24" y="6"/>
                    </a:lnTo>
                    <a:lnTo>
                      <a:pt x="0" y="6"/>
                    </a:lnTo>
                    <a:lnTo>
                      <a:pt x="6" y="18"/>
                    </a:lnTo>
                    <a:lnTo>
                      <a:pt x="6" y="24"/>
                    </a:lnTo>
                    <a:lnTo>
                      <a:pt x="18" y="0"/>
                    </a:lnTo>
                    <a:close/>
                    <a:moveTo>
                      <a:pt x="24" y="6"/>
                    </a:moveTo>
                    <a:lnTo>
                      <a:pt x="24" y="6"/>
                    </a:lnTo>
                    <a:lnTo>
                      <a:pt x="18" y="0"/>
                    </a:lnTo>
                    <a:lnTo>
                      <a:pt x="12" y="12"/>
                    </a:lnTo>
                    <a:lnTo>
                      <a:pt x="24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30" name="Freeform 282">
                <a:extLst>
                  <a:ext uri="{FF2B5EF4-FFF2-40B4-BE49-F238E27FC236}">
                    <a16:creationId xmlns:a16="http://schemas.microsoft.com/office/drawing/2014/main" id="{E9F6D5DE-9E64-2C7F-EA60-EAA6D17AD3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29"/>
                <a:ext cx="24" cy="24"/>
              </a:xfrm>
              <a:custGeom>
                <a:avLst/>
                <a:gdLst>
                  <a:gd name="T0" fmla="*/ 18 w 24"/>
                  <a:gd name="T1" fmla="*/ 12 h 24"/>
                  <a:gd name="T2" fmla="*/ 18 w 24"/>
                  <a:gd name="T3" fmla="*/ 18 h 24"/>
                  <a:gd name="T4" fmla="*/ 18 w 24"/>
                  <a:gd name="T5" fmla="*/ 18 h 24"/>
                  <a:gd name="T6" fmla="*/ 0 w 24"/>
                  <a:gd name="T7" fmla="*/ 0 h 24"/>
                  <a:gd name="T8" fmla="*/ 0 w 24"/>
                  <a:gd name="T9" fmla="*/ 12 h 24"/>
                  <a:gd name="T10" fmla="*/ 0 w 24"/>
                  <a:gd name="T11" fmla="*/ 24 h 24"/>
                  <a:gd name="T12" fmla="*/ 18 w 24"/>
                  <a:gd name="T13" fmla="*/ 12 h 24"/>
                  <a:gd name="T14" fmla="*/ 24 w 24"/>
                  <a:gd name="T15" fmla="*/ 18 h 24"/>
                  <a:gd name="T16" fmla="*/ 24 w 24"/>
                  <a:gd name="T17" fmla="*/ 18 h 24"/>
                  <a:gd name="T18" fmla="*/ 18 w 24"/>
                  <a:gd name="T19" fmla="*/ 12 h 24"/>
                  <a:gd name="T20" fmla="*/ 12 w 24"/>
                  <a:gd name="T21" fmla="*/ 18 h 24"/>
                  <a:gd name="T22" fmla="*/ 24 w 24"/>
                  <a:gd name="T23" fmla="*/ 18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18" y="12"/>
                    </a:moveTo>
                    <a:lnTo>
                      <a:pt x="18" y="18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0" y="24"/>
                    </a:lnTo>
                    <a:lnTo>
                      <a:pt x="18" y="12"/>
                    </a:lnTo>
                    <a:close/>
                    <a:moveTo>
                      <a:pt x="24" y="18"/>
                    </a:moveTo>
                    <a:lnTo>
                      <a:pt x="24" y="18"/>
                    </a:lnTo>
                    <a:lnTo>
                      <a:pt x="18" y="12"/>
                    </a:lnTo>
                    <a:lnTo>
                      <a:pt x="12" y="18"/>
                    </a:lnTo>
                    <a:lnTo>
                      <a:pt x="24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31" name="Freeform 283">
                <a:extLst>
                  <a:ext uri="{FF2B5EF4-FFF2-40B4-BE49-F238E27FC236}">
                    <a16:creationId xmlns:a16="http://schemas.microsoft.com/office/drawing/2014/main" id="{10BD5EF7-AF59-60F3-B9B6-DA14955B80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23"/>
                <a:ext cx="24" cy="24"/>
              </a:xfrm>
              <a:custGeom>
                <a:avLst/>
                <a:gdLst>
                  <a:gd name="T0" fmla="*/ 18 w 24"/>
                  <a:gd name="T1" fmla="*/ 24 h 24"/>
                  <a:gd name="T2" fmla="*/ 24 w 24"/>
                  <a:gd name="T3" fmla="*/ 18 h 24"/>
                  <a:gd name="T4" fmla="*/ 24 w 24"/>
                  <a:gd name="T5" fmla="*/ 12 h 24"/>
                  <a:gd name="T6" fmla="*/ 18 w 24"/>
                  <a:gd name="T7" fmla="*/ 6 h 24"/>
                  <a:gd name="T8" fmla="*/ 12 w 24"/>
                  <a:gd name="T9" fmla="*/ 0 h 24"/>
                  <a:gd name="T10" fmla="*/ 0 w 24"/>
                  <a:gd name="T11" fmla="*/ 18 h 24"/>
                  <a:gd name="T12" fmla="*/ 0 w 24"/>
                  <a:gd name="T13" fmla="*/ 18 h 24"/>
                  <a:gd name="T14" fmla="*/ 0 w 24"/>
                  <a:gd name="T15" fmla="*/ 18 h 24"/>
                  <a:gd name="T16" fmla="*/ 0 w 24"/>
                  <a:gd name="T17" fmla="*/ 6 h 24"/>
                  <a:gd name="T18" fmla="*/ 18 w 24"/>
                  <a:gd name="T19" fmla="*/ 24 h 24"/>
                  <a:gd name="T20" fmla="*/ 0 w 24"/>
                  <a:gd name="T21" fmla="*/ 6 h 24"/>
                  <a:gd name="T22" fmla="*/ 0 w 24"/>
                  <a:gd name="T23" fmla="*/ 6 h 24"/>
                  <a:gd name="T24" fmla="*/ 0 w 24"/>
                  <a:gd name="T25" fmla="*/ 6 h 24"/>
                  <a:gd name="T26" fmla="*/ 12 w 24"/>
                  <a:gd name="T27" fmla="*/ 18 h 24"/>
                  <a:gd name="T28" fmla="*/ 0 w 24"/>
                  <a:gd name="T29" fmla="*/ 6 h 2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4"/>
                  <a:gd name="T46" fmla="*/ 0 h 24"/>
                  <a:gd name="T47" fmla="*/ 24 w 24"/>
                  <a:gd name="T48" fmla="*/ 24 h 2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4" h="24">
                    <a:moveTo>
                      <a:pt x="18" y="24"/>
                    </a:moveTo>
                    <a:lnTo>
                      <a:pt x="24" y="18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0" y="18"/>
                    </a:lnTo>
                    <a:lnTo>
                      <a:pt x="0" y="6"/>
                    </a:lnTo>
                    <a:lnTo>
                      <a:pt x="18" y="24"/>
                    </a:lnTo>
                    <a:close/>
                    <a:moveTo>
                      <a:pt x="0" y="6"/>
                    </a:moveTo>
                    <a:lnTo>
                      <a:pt x="0" y="6"/>
                    </a:lnTo>
                    <a:lnTo>
                      <a:pt x="12" y="1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32" name="Freeform 284">
                <a:extLst>
                  <a:ext uri="{FF2B5EF4-FFF2-40B4-BE49-F238E27FC236}">
                    <a16:creationId xmlns:a16="http://schemas.microsoft.com/office/drawing/2014/main" id="{92279A84-982B-E542-308D-28E50734CE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55" y="2417"/>
                <a:ext cx="18" cy="24"/>
              </a:xfrm>
              <a:custGeom>
                <a:avLst/>
                <a:gdLst>
                  <a:gd name="T0" fmla="*/ 18 w 18"/>
                  <a:gd name="T1" fmla="*/ 6 h 24"/>
                  <a:gd name="T2" fmla="*/ 12 w 18"/>
                  <a:gd name="T3" fmla="*/ 6 h 24"/>
                  <a:gd name="T4" fmla="*/ 0 w 18"/>
                  <a:gd name="T5" fmla="*/ 0 h 24"/>
                  <a:gd name="T6" fmla="*/ 6 w 18"/>
                  <a:gd name="T7" fmla="*/ 24 h 24"/>
                  <a:gd name="T8" fmla="*/ 6 w 18"/>
                  <a:gd name="T9" fmla="*/ 24 h 24"/>
                  <a:gd name="T10" fmla="*/ 18 w 18"/>
                  <a:gd name="T11" fmla="*/ 6 h 24"/>
                  <a:gd name="T12" fmla="*/ 6 w 18"/>
                  <a:gd name="T13" fmla="*/ 24 h 24"/>
                  <a:gd name="T14" fmla="*/ 6 w 18"/>
                  <a:gd name="T15" fmla="*/ 24 h 24"/>
                  <a:gd name="T16" fmla="*/ 6 w 18"/>
                  <a:gd name="T17" fmla="*/ 24 h 24"/>
                  <a:gd name="T18" fmla="*/ 12 w 18"/>
                  <a:gd name="T19" fmla="*/ 18 h 24"/>
                  <a:gd name="T20" fmla="*/ 6 w 18"/>
                  <a:gd name="T21" fmla="*/ 24 h 2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8"/>
                  <a:gd name="T34" fmla="*/ 0 h 24"/>
                  <a:gd name="T35" fmla="*/ 18 w 18"/>
                  <a:gd name="T36" fmla="*/ 24 h 2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8" h="24">
                    <a:moveTo>
                      <a:pt x="18" y="6"/>
                    </a:moveTo>
                    <a:lnTo>
                      <a:pt x="12" y="6"/>
                    </a:lnTo>
                    <a:lnTo>
                      <a:pt x="0" y="0"/>
                    </a:lnTo>
                    <a:lnTo>
                      <a:pt x="6" y="24"/>
                    </a:lnTo>
                    <a:lnTo>
                      <a:pt x="18" y="6"/>
                    </a:lnTo>
                    <a:close/>
                    <a:moveTo>
                      <a:pt x="6" y="24"/>
                    </a:moveTo>
                    <a:lnTo>
                      <a:pt x="6" y="24"/>
                    </a:lnTo>
                    <a:lnTo>
                      <a:pt x="12" y="18"/>
                    </a:lnTo>
                    <a:lnTo>
                      <a:pt x="6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33" name="Freeform 285">
                <a:extLst>
                  <a:ext uri="{FF2B5EF4-FFF2-40B4-BE49-F238E27FC236}">
                    <a16:creationId xmlns:a16="http://schemas.microsoft.com/office/drawing/2014/main" id="{C1DB3E02-CBFE-406A-5DF1-21416E2EC7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9" y="2417"/>
                <a:ext cx="24" cy="18"/>
              </a:xfrm>
              <a:custGeom>
                <a:avLst/>
                <a:gdLst>
                  <a:gd name="T0" fmla="*/ 0 w 24"/>
                  <a:gd name="T1" fmla="*/ 18 h 18"/>
                  <a:gd name="T2" fmla="*/ 0 w 24"/>
                  <a:gd name="T3" fmla="*/ 18 h 18"/>
                  <a:gd name="T4" fmla="*/ 24 w 24"/>
                  <a:gd name="T5" fmla="*/ 18 h 18"/>
                  <a:gd name="T6" fmla="*/ 24 w 24"/>
                  <a:gd name="T7" fmla="*/ 12 h 18"/>
                  <a:gd name="T8" fmla="*/ 0 w 24"/>
                  <a:gd name="T9" fmla="*/ 18 h 18"/>
                  <a:gd name="T10" fmla="*/ 6 w 24"/>
                  <a:gd name="T11" fmla="*/ 0 h 18"/>
                  <a:gd name="T12" fmla="*/ 0 w 24"/>
                  <a:gd name="T13" fmla="*/ 6 h 18"/>
                  <a:gd name="T14" fmla="*/ 0 w 24"/>
                  <a:gd name="T15" fmla="*/ 18 h 18"/>
                  <a:gd name="T16" fmla="*/ 12 w 24"/>
                  <a:gd name="T17" fmla="*/ 12 h 18"/>
                  <a:gd name="T18" fmla="*/ 6 w 24"/>
                  <a:gd name="T19" fmla="*/ 0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18"/>
                  <a:gd name="T32" fmla="*/ 24 w 24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18">
                    <a:moveTo>
                      <a:pt x="0" y="18"/>
                    </a:moveTo>
                    <a:lnTo>
                      <a:pt x="0" y="18"/>
                    </a:lnTo>
                    <a:lnTo>
                      <a:pt x="24" y="18"/>
                    </a:lnTo>
                    <a:lnTo>
                      <a:pt x="24" y="12"/>
                    </a:lnTo>
                    <a:lnTo>
                      <a:pt x="0" y="18"/>
                    </a:lnTo>
                    <a:close/>
                    <a:moveTo>
                      <a:pt x="6" y="0"/>
                    </a:moveTo>
                    <a:lnTo>
                      <a:pt x="0" y="6"/>
                    </a:lnTo>
                    <a:lnTo>
                      <a:pt x="0" y="18"/>
                    </a:lnTo>
                    <a:lnTo>
                      <a:pt x="12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34" name="Freeform 286">
                <a:extLst>
                  <a:ext uri="{FF2B5EF4-FFF2-40B4-BE49-F238E27FC236}">
                    <a16:creationId xmlns:a16="http://schemas.microsoft.com/office/drawing/2014/main" id="{31CE5643-4E0B-8EC7-961A-A639DB530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9" y="2435"/>
                <a:ext cx="12" cy="12"/>
              </a:xfrm>
              <a:custGeom>
                <a:avLst/>
                <a:gdLst>
                  <a:gd name="T0" fmla="*/ 0 w 12"/>
                  <a:gd name="T1" fmla="*/ 0 h 12"/>
                  <a:gd name="T2" fmla="*/ 0 w 12"/>
                  <a:gd name="T3" fmla="*/ 6 h 12"/>
                  <a:gd name="T4" fmla="*/ 6 w 12"/>
                  <a:gd name="T5" fmla="*/ 12 h 12"/>
                  <a:gd name="T6" fmla="*/ 12 w 12"/>
                  <a:gd name="T7" fmla="*/ 0 h 12"/>
                  <a:gd name="T8" fmla="*/ 0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0" y="0"/>
                    </a:moveTo>
                    <a:lnTo>
                      <a:pt x="0" y="6"/>
                    </a:lnTo>
                    <a:lnTo>
                      <a:pt x="6" y="12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35" name="Freeform 287">
                <a:extLst>
                  <a:ext uri="{FF2B5EF4-FFF2-40B4-BE49-F238E27FC236}">
                    <a16:creationId xmlns:a16="http://schemas.microsoft.com/office/drawing/2014/main" id="{7D26B9DA-76CE-1C8D-96EA-DABE2E6B01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2411"/>
                <a:ext cx="48" cy="18"/>
              </a:xfrm>
              <a:custGeom>
                <a:avLst/>
                <a:gdLst>
                  <a:gd name="T0" fmla="*/ 0 w 48"/>
                  <a:gd name="T1" fmla="*/ 18 h 18"/>
                  <a:gd name="T2" fmla="*/ 6 w 48"/>
                  <a:gd name="T3" fmla="*/ 18 h 18"/>
                  <a:gd name="T4" fmla="*/ 18 w 48"/>
                  <a:gd name="T5" fmla="*/ 18 h 18"/>
                  <a:gd name="T6" fmla="*/ 18 w 48"/>
                  <a:gd name="T7" fmla="*/ 18 h 18"/>
                  <a:gd name="T8" fmla="*/ 24 w 48"/>
                  <a:gd name="T9" fmla="*/ 18 h 18"/>
                  <a:gd name="T10" fmla="*/ 30 w 48"/>
                  <a:gd name="T11" fmla="*/ 12 h 18"/>
                  <a:gd name="T12" fmla="*/ 30 w 48"/>
                  <a:gd name="T13" fmla="*/ 6 h 18"/>
                  <a:gd name="T14" fmla="*/ 30 w 48"/>
                  <a:gd name="T15" fmla="*/ 6 h 18"/>
                  <a:gd name="T16" fmla="*/ 36 w 48"/>
                  <a:gd name="T17" fmla="*/ 6 h 18"/>
                  <a:gd name="T18" fmla="*/ 36 w 48"/>
                  <a:gd name="T19" fmla="*/ 6 h 18"/>
                  <a:gd name="T20" fmla="*/ 36 w 48"/>
                  <a:gd name="T21" fmla="*/ 6 h 18"/>
                  <a:gd name="T22" fmla="*/ 42 w 48"/>
                  <a:gd name="T23" fmla="*/ 0 h 18"/>
                  <a:gd name="T24" fmla="*/ 42 w 48"/>
                  <a:gd name="T25" fmla="*/ 0 h 18"/>
                  <a:gd name="T26" fmla="*/ 42 w 48"/>
                  <a:gd name="T27" fmla="*/ 0 h 18"/>
                  <a:gd name="T28" fmla="*/ 48 w 48"/>
                  <a:gd name="T29" fmla="*/ 0 h 18"/>
                  <a:gd name="T30" fmla="*/ 48 w 48"/>
                  <a:gd name="T31" fmla="*/ 0 h 18"/>
                  <a:gd name="T32" fmla="*/ 48 w 48"/>
                  <a:gd name="T33" fmla="*/ 0 h 18"/>
                  <a:gd name="T34" fmla="*/ 42 w 48"/>
                  <a:gd name="T35" fmla="*/ 0 h 18"/>
                  <a:gd name="T36" fmla="*/ 42 w 48"/>
                  <a:gd name="T37" fmla="*/ 0 h 18"/>
                  <a:gd name="T38" fmla="*/ 36 w 48"/>
                  <a:gd name="T39" fmla="*/ 0 h 18"/>
                  <a:gd name="T40" fmla="*/ 36 w 48"/>
                  <a:gd name="T41" fmla="*/ 6 h 18"/>
                  <a:gd name="T42" fmla="*/ 30 w 48"/>
                  <a:gd name="T43" fmla="*/ 6 h 18"/>
                  <a:gd name="T44" fmla="*/ 30 w 48"/>
                  <a:gd name="T45" fmla="*/ 12 h 18"/>
                  <a:gd name="T46" fmla="*/ 24 w 48"/>
                  <a:gd name="T47" fmla="*/ 12 h 18"/>
                  <a:gd name="T48" fmla="*/ 24 w 48"/>
                  <a:gd name="T49" fmla="*/ 12 h 18"/>
                  <a:gd name="T50" fmla="*/ 18 w 48"/>
                  <a:gd name="T51" fmla="*/ 12 h 18"/>
                  <a:gd name="T52" fmla="*/ 12 w 48"/>
                  <a:gd name="T53" fmla="*/ 12 h 18"/>
                  <a:gd name="T54" fmla="*/ 6 w 48"/>
                  <a:gd name="T55" fmla="*/ 12 h 18"/>
                  <a:gd name="T56" fmla="*/ 0 w 48"/>
                  <a:gd name="T57" fmla="*/ 18 h 18"/>
                  <a:gd name="T58" fmla="*/ 0 w 48"/>
                  <a:gd name="T59" fmla="*/ 18 h 1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48"/>
                  <a:gd name="T91" fmla="*/ 0 h 18"/>
                  <a:gd name="T92" fmla="*/ 48 w 48"/>
                  <a:gd name="T93" fmla="*/ 18 h 18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48" h="18">
                    <a:moveTo>
                      <a:pt x="0" y="18"/>
                    </a:moveTo>
                    <a:lnTo>
                      <a:pt x="6" y="18"/>
                    </a:lnTo>
                    <a:lnTo>
                      <a:pt x="18" y="18"/>
                    </a:lnTo>
                    <a:lnTo>
                      <a:pt x="24" y="18"/>
                    </a:lnTo>
                    <a:lnTo>
                      <a:pt x="30" y="12"/>
                    </a:lnTo>
                    <a:lnTo>
                      <a:pt x="30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36" y="0"/>
                    </a:lnTo>
                    <a:lnTo>
                      <a:pt x="36" y="6"/>
                    </a:lnTo>
                    <a:lnTo>
                      <a:pt x="30" y="6"/>
                    </a:lnTo>
                    <a:lnTo>
                      <a:pt x="30" y="12"/>
                    </a:lnTo>
                    <a:lnTo>
                      <a:pt x="24" y="12"/>
                    </a:lnTo>
                    <a:lnTo>
                      <a:pt x="18" y="12"/>
                    </a:lnTo>
                    <a:lnTo>
                      <a:pt x="12" y="12"/>
                    </a:lnTo>
                    <a:lnTo>
                      <a:pt x="6" y="12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36" name="Freeform 288">
                <a:extLst>
                  <a:ext uri="{FF2B5EF4-FFF2-40B4-BE49-F238E27FC236}">
                    <a16:creationId xmlns:a16="http://schemas.microsoft.com/office/drawing/2014/main" id="{32F943D5-7BE7-EEE4-9148-BF9D4047F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5" y="2417"/>
                <a:ext cx="24" cy="24"/>
              </a:xfrm>
              <a:custGeom>
                <a:avLst/>
                <a:gdLst>
                  <a:gd name="T0" fmla="*/ 0 w 24"/>
                  <a:gd name="T1" fmla="*/ 24 h 24"/>
                  <a:gd name="T2" fmla="*/ 6 w 24"/>
                  <a:gd name="T3" fmla="*/ 24 h 24"/>
                  <a:gd name="T4" fmla="*/ 18 w 24"/>
                  <a:gd name="T5" fmla="*/ 24 h 24"/>
                  <a:gd name="T6" fmla="*/ 24 w 24"/>
                  <a:gd name="T7" fmla="*/ 18 h 24"/>
                  <a:gd name="T8" fmla="*/ 6 w 24"/>
                  <a:gd name="T9" fmla="*/ 6 h 24"/>
                  <a:gd name="T10" fmla="*/ 12 w 24"/>
                  <a:gd name="T11" fmla="*/ 0 h 24"/>
                  <a:gd name="T12" fmla="*/ 6 w 24"/>
                  <a:gd name="T13" fmla="*/ 0 h 24"/>
                  <a:gd name="T14" fmla="*/ 6 w 24"/>
                  <a:gd name="T15" fmla="*/ 0 h 24"/>
                  <a:gd name="T16" fmla="*/ 6 w 24"/>
                  <a:gd name="T17" fmla="*/ 0 h 24"/>
                  <a:gd name="T18" fmla="*/ 0 w 24"/>
                  <a:gd name="T19" fmla="*/ 24 h 2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24"/>
                  <a:gd name="T32" fmla="*/ 24 w 24"/>
                  <a:gd name="T33" fmla="*/ 24 h 2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24">
                    <a:moveTo>
                      <a:pt x="0" y="24"/>
                    </a:moveTo>
                    <a:lnTo>
                      <a:pt x="6" y="24"/>
                    </a:lnTo>
                    <a:lnTo>
                      <a:pt x="18" y="24"/>
                    </a:lnTo>
                    <a:lnTo>
                      <a:pt x="24" y="18"/>
                    </a:lnTo>
                    <a:lnTo>
                      <a:pt x="6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37" name="Freeform 289">
                <a:extLst>
                  <a:ext uri="{FF2B5EF4-FFF2-40B4-BE49-F238E27FC236}">
                    <a16:creationId xmlns:a16="http://schemas.microsoft.com/office/drawing/2014/main" id="{AB241796-3865-5F1B-7F6C-4A6878066D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17"/>
                <a:ext cx="24" cy="24"/>
              </a:xfrm>
              <a:custGeom>
                <a:avLst/>
                <a:gdLst>
                  <a:gd name="T0" fmla="*/ 12 w 24"/>
                  <a:gd name="T1" fmla="*/ 24 h 24"/>
                  <a:gd name="T2" fmla="*/ 18 w 24"/>
                  <a:gd name="T3" fmla="*/ 24 h 24"/>
                  <a:gd name="T4" fmla="*/ 24 w 24"/>
                  <a:gd name="T5" fmla="*/ 18 h 24"/>
                  <a:gd name="T6" fmla="*/ 6 w 24"/>
                  <a:gd name="T7" fmla="*/ 6 h 24"/>
                  <a:gd name="T8" fmla="*/ 12 w 24"/>
                  <a:gd name="T9" fmla="*/ 0 h 24"/>
                  <a:gd name="T10" fmla="*/ 12 w 24"/>
                  <a:gd name="T11" fmla="*/ 0 h 24"/>
                  <a:gd name="T12" fmla="*/ 12 w 24"/>
                  <a:gd name="T13" fmla="*/ 24 h 24"/>
                  <a:gd name="T14" fmla="*/ 12 w 24"/>
                  <a:gd name="T15" fmla="*/ 0 h 24"/>
                  <a:gd name="T16" fmla="*/ 6 w 24"/>
                  <a:gd name="T17" fmla="*/ 0 h 24"/>
                  <a:gd name="T18" fmla="*/ 0 w 24"/>
                  <a:gd name="T19" fmla="*/ 6 h 24"/>
                  <a:gd name="T20" fmla="*/ 12 w 24"/>
                  <a:gd name="T21" fmla="*/ 12 h 24"/>
                  <a:gd name="T22" fmla="*/ 12 w 24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12" y="24"/>
                    </a:moveTo>
                    <a:lnTo>
                      <a:pt x="18" y="24"/>
                    </a:lnTo>
                    <a:lnTo>
                      <a:pt x="24" y="18"/>
                    </a:lnTo>
                    <a:lnTo>
                      <a:pt x="6" y="6"/>
                    </a:lnTo>
                    <a:lnTo>
                      <a:pt x="12" y="0"/>
                    </a:lnTo>
                    <a:lnTo>
                      <a:pt x="12" y="24"/>
                    </a:lnTo>
                    <a:close/>
                    <a:moveTo>
                      <a:pt x="12" y="0"/>
                    </a:moveTo>
                    <a:lnTo>
                      <a:pt x="6" y="0"/>
                    </a:lnTo>
                    <a:lnTo>
                      <a:pt x="0" y="6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38" name="Freeform 290">
                <a:extLst>
                  <a:ext uri="{FF2B5EF4-FFF2-40B4-BE49-F238E27FC236}">
                    <a16:creationId xmlns:a16="http://schemas.microsoft.com/office/drawing/2014/main" id="{FDD2F12D-9180-F2D8-12CE-2680937A473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7" y="2411"/>
                <a:ext cx="30" cy="24"/>
              </a:xfrm>
              <a:custGeom>
                <a:avLst/>
                <a:gdLst>
                  <a:gd name="T0" fmla="*/ 18 w 30"/>
                  <a:gd name="T1" fmla="*/ 24 h 24"/>
                  <a:gd name="T2" fmla="*/ 24 w 30"/>
                  <a:gd name="T3" fmla="*/ 24 h 24"/>
                  <a:gd name="T4" fmla="*/ 24 w 30"/>
                  <a:gd name="T5" fmla="*/ 18 h 24"/>
                  <a:gd name="T6" fmla="*/ 30 w 30"/>
                  <a:gd name="T7" fmla="*/ 6 h 24"/>
                  <a:gd name="T8" fmla="*/ 6 w 30"/>
                  <a:gd name="T9" fmla="*/ 6 h 24"/>
                  <a:gd name="T10" fmla="*/ 6 w 30"/>
                  <a:gd name="T11" fmla="*/ 0 h 24"/>
                  <a:gd name="T12" fmla="*/ 6 w 30"/>
                  <a:gd name="T13" fmla="*/ 0 h 24"/>
                  <a:gd name="T14" fmla="*/ 0 w 30"/>
                  <a:gd name="T15" fmla="*/ 6 h 24"/>
                  <a:gd name="T16" fmla="*/ 18 w 30"/>
                  <a:gd name="T17" fmla="*/ 24 h 24"/>
                  <a:gd name="T18" fmla="*/ 0 w 30"/>
                  <a:gd name="T19" fmla="*/ 6 h 24"/>
                  <a:gd name="T20" fmla="*/ 0 w 30"/>
                  <a:gd name="T21" fmla="*/ 6 h 24"/>
                  <a:gd name="T22" fmla="*/ 0 w 30"/>
                  <a:gd name="T23" fmla="*/ 12 h 24"/>
                  <a:gd name="T24" fmla="*/ 12 w 30"/>
                  <a:gd name="T25" fmla="*/ 18 h 24"/>
                  <a:gd name="T26" fmla="*/ 0 w 30"/>
                  <a:gd name="T27" fmla="*/ 6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0"/>
                  <a:gd name="T43" fmla="*/ 0 h 24"/>
                  <a:gd name="T44" fmla="*/ 30 w 30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0" h="24">
                    <a:moveTo>
                      <a:pt x="18" y="24"/>
                    </a:moveTo>
                    <a:lnTo>
                      <a:pt x="24" y="24"/>
                    </a:lnTo>
                    <a:lnTo>
                      <a:pt x="24" y="18"/>
                    </a:lnTo>
                    <a:lnTo>
                      <a:pt x="30" y="6"/>
                    </a:lnTo>
                    <a:lnTo>
                      <a:pt x="6" y="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18" y="24"/>
                    </a:lnTo>
                    <a:close/>
                    <a:moveTo>
                      <a:pt x="0" y="6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2" y="1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39" name="Freeform 291">
                <a:extLst>
                  <a:ext uri="{FF2B5EF4-FFF2-40B4-BE49-F238E27FC236}">
                    <a16:creationId xmlns:a16="http://schemas.microsoft.com/office/drawing/2014/main" id="{F16DE7C0-64A0-02B9-53B5-304DEB56B4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73" y="2405"/>
                <a:ext cx="18" cy="24"/>
              </a:xfrm>
              <a:custGeom>
                <a:avLst/>
                <a:gdLst>
                  <a:gd name="T0" fmla="*/ 12 w 18"/>
                  <a:gd name="T1" fmla="*/ 24 h 24"/>
                  <a:gd name="T2" fmla="*/ 18 w 18"/>
                  <a:gd name="T3" fmla="*/ 24 h 24"/>
                  <a:gd name="T4" fmla="*/ 18 w 18"/>
                  <a:gd name="T5" fmla="*/ 24 h 24"/>
                  <a:gd name="T6" fmla="*/ 18 w 18"/>
                  <a:gd name="T7" fmla="*/ 24 h 24"/>
                  <a:gd name="T8" fmla="*/ 12 w 18"/>
                  <a:gd name="T9" fmla="*/ 0 h 24"/>
                  <a:gd name="T10" fmla="*/ 12 w 18"/>
                  <a:gd name="T11" fmla="*/ 0 h 24"/>
                  <a:gd name="T12" fmla="*/ 12 w 18"/>
                  <a:gd name="T13" fmla="*/ 0 h 24"/>
                  <a:gd name="T14" fmla="*/ 12 w 18"/>
                  <a:gd name="T15" fmla="*/ 24 h 24"/>
                  <a:gd name="T16" fmla="*/ 12 w 18"/>
                  <a:gd name="T17" fmla="*/ 0 h 24"/>
                  <a:gd name="T18" fmla="*/ 0 w 18"/>
                  <a:gd name="T19" fmla="*/ 6 h 24"/>
                  <a:gd name="T20" fmla="*/ 0 w 18"/>
                  <a:gd name="T21" fmla="*/ 12 h 24"/>
                  <a:gd name="T22" fmla="*/ 12 w 18"/>
                  <a:gd name="T23" fmla="*/ 12 h 24"/>
                  <a:gd name="T24" fmla="*/ 12 w 18"/>
                  <a:gd name="T25" fmla="*/ 0 h 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8"/>
                  <a:gd name="T40" fmla="*/ 0 h 24"/>
                  <a:gd name="T41" fmla="*/ 18 w 18"/>
                  <a:gd name="T42" fmla="*/ 24 h 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8" h="24">
                    <a:moveTo>
                      <a:pt x="12" y="24"/>
                    </a:moveTo>
                    <a:lnTo>
                      <a:pt x="18" y="24"/>
                    </a:lnTo>
                    <a:lnTo>
                      <a:pt x="12" y="0"/>
                    </a:lnTo>
                    <a:lnTo>
                      <a:pt x="12" y="24"/>
                    </a:lnTo>
                    <a:close/>
                    <a:moveTo>
                      <a:pt x="1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40" name="Freeform 292">
                <a:extLst>
                  <a:ext uri="{FF2B5EF4-FFF2-40B4-BE49-F238E27FC236}">
                    <a16:creationId xmlns:a16="http://schemas.microsoft.com/office/drawing/2014/main" id="{E32C2AA2-3080-76FD-0BFD-957B779A42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79" y="2405"/>
                <a:ext cx="18" cy="24"/>
              </a:xfrm>
              <a:custGeom>
                <a:avLst/>
                <a:gdLst>
                  <a:gd name="T0" fmla="*/ 18 w 18"/>
                  <a:gd name="T1" fmla="*/ 24 h 24"/>
                  <a:gd name="T2" fmla="*/ 18 w 18"/>
                  <a:gd name="T3" fmla="*/ 24 h 24"/>
                  <a:gd name="T4" fmla="*/ 12 w 18"/>
                  <a:gd name="T5" fmla="*/ 24 h 24"/>
                  <a:gd name="T6" fmla="*/ 6 w 18"/>
                  <a:gd name="T7" fmla="*/ 0 h 24"/>
                  <a:gd name="T8" fmla="*/ 6 w 18"/>
                  <a:gd name="T9" fmla="*/ 0 h 24"/>
                  <a:gd name="T10" fmla="*/ 0 w 18"/>
                  <a:gd name="T11" fmla="*/ 0 h 24"/>
                  <a:gd name="T12" fmla="*/ 18 w 18"/>
                  <a:gd name="T13" fmla="*/ 24 h 24"/>
                  <a:gd name="T14" fmla="*/ 12 w 18"/>
                  <a:gd name="T15" fmla="*/ 24 h 24"/>
                  <a:gd name="T16" fmla="*/ 18 w 18"/>
                  <a:gd name="T17" fmla="*/ 24 h 24"/>
                  <a:gd name="T18" fmla="*/ 18 w 18"/>
                  <a:gd name="T19" fmla="*/ 24 h 24"/>
                  <a:gd name="T20" fmla="*/ 6 w 18"/>
                  <a:gd name="T21" fmla="*/ 12 h 24"/>
                  <a:gd name="T22" fmla="*/ 12 w 18"/>
                  <a:gd name="T23" fmla="*/ 24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24"/>
                  <a:gd name="T38" fmla="*/ 18 w 18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24">
                    <a:moveTo>
                      <a:pt x="18" y="24"/>
                    </a:moveTo>
                    <a:lnTo>
                      <a:pt x="18" y="24"/>
                    </a:lnTo>
                    <a:lnTo>
                      <a:pt x="12" y="24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18" y="24"/>
                    </a:lnTo>
                    <a:close/>
                    <a:moveTo>
                      <a:pt x="12" y="24"/>
                    </a:moveTo>
                    <a:lnTo>
                      <a:pt x="18" y="24"/>
                    </a:lnTo>
                    <a:lnTo>
                      <a:pt x="6" y="12"/>
                    </a:lnTo>
                    <a:lnTo>
                      <a:pt x="12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41" name="Freeform 293">
                <a:extLst>
                  <a:ext uri="{FF2B5EF4-FFF2-40B4-BE49-F238E27FC236}">
                    <a16:creationId xmlns:a16="http://schemas.microsoft.com/office/drawing/2014/main" id="{CB883819-86C0-916B-ADD4-25CFCA176A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85" y="2405"/>
                <a:ext cx="12" cy="24"/>
              </a:xfrm>
              <a:custGeom>
                <a:avLst/>
                <a:gdLst>
                  <a:gd name="T0" fmla="*/ 6 w 12"/>
                  <a:gd name="T1" fmla="*/ 24 h 24"/>
                  <a:gd name="T2" fmla="*/ 12 w 12"/>
                  <a:gd name="T3" fmla="*/ 24 h 24"/>
                  <a:gd name="T4" fmla="*/ 12 w 12"/>
                  <a:gd name="T5" fmla="*/ 18 h 24"/>
                  <a:gd name="T6" fmla="*/ 6 w 12"/>
                  <a:gd name="T7" fmla="*/ 0 h 24"/>
                  <a:gd name="T8" fmla="*/ 6 w 12"/>
                  <a:gd name="T9" fmla="*/ 0 h 24"/>
                  <a:gd name="T10" fmla="*/ 6 w 12"/>
                  <a:gd name="T11" fmla="*/ 0 h 24"/>
                  <a:gd name="T12" fmla="*/ 6 w 12"/>
                  <a:gd name="T13" fmla="*/ 24 h 24"/>
                  <a:gd name="T14" fmla="*/ 6 w 12"/>
                  <a:gd name="T15" fmla="*/ 0 h 24"/>
                  <a:gd name="T16" fmla="*/ 0 w 12"/>
                  <a:gd name="T17" fmla="*/ 0 h 24"/>
                  <a:gd name="T18" fmla="*/ 0 w 12"/>
                  <a:gd name="T19" fmla="*/ 0 h 24"/>
                  <a:gd name="T20" fmla="*/ 6 w 12"/>
                  <a:gd name="T21" fmla="*/ 12 h 24"/>
                  <a:gd name="T22" fmla="*/ 6 w 12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4"/>
                  <a:gd name="T38" fmla="*/ 12 w 12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4">
                    <a:moveTo>
                      <a:pt x="6" y="24"/>
                    </a:moveTo>
                    <a:lnTo>
                      <a:pt x="12" y="24"/>
                    </a:lnTo>
                    <a:lnTo>
                      <a:pt x="12" y="18"/>
                    </a:lnTo>
                    <a:lnTo>
                      <a:pt x="6" y="0"/>
                    </a:lnTo>
                    <a:lnTo>
                      <a:pt x="6" y="24"/>
                    </a:lnTo>
                    <a:close/>
                    <a:moveTo>
                      <a:pt x="6" y="0"/>
                    </a:moveTo>
                    <a:lnTo>
                      <a:pt x="0" y="0"/>
                    </a:lnTo>
                    <a:lnTo>
                      <a:pt x="6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42" name="Freeform 294">
                <a:extLst>
                  <a:ext uri="{FF2B5EF4-FFF2-40B4-BE49-F238E27FC236}">
                    <a16:creationId xmlns:a16="http://schemas.microsoft.com/office/drawing/2014/main" id="{317932B7-2A73-5218-EA27-99522DD25C2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85" y="2400"/>
                <a:ext cx="18" cy="23"/>
              </a:xfrm>
              <a:custGeom>
                <a:avLst/>
                <a:gdLst>
                  <a:gd name="T0" fmla="*/ 12 w 18"/>
                  <a:gd name="T1" fmla="*/ 23 h 23"/>
                  <a:gd name="T2" fmla="*/ 18 w 18"/>
                  <a:gd name="T3" fmla="*/ 23 h 23"/>
                  <a:gd name="T4" fmla="*/ 18 w 18"/>
                  <a:gd name="T5" fmla="*/ 23 h 23"/>
                  <a:gd name="T6" fmla="*/ 18 w 18"/>
                  <a:gd name="T7" fmla="*/ 23 h 23"/>
                  <a:gd name="T8" fmla="*/ 18 w 18"/>
                  <a:gd name="T9" fmla="*/ 23 h 23"/>
                  <a:gd name="T10" fmla="*/ 18 w 18"/>
                  <a:gd name="T11" fmla="*/ 23 h 23"/>
                  <a:gd name="T12" fmla="*/ 18 w 18"/>
                  <a:gd name="T13" fmla="*/ 23 h 23"/>
                  <a:gd name="T14" fmla="*/ 6 w 18"/>
                  <a:gd name="T15" fmla="*/ 0 h 23"/>
                  <a:gd name="T16" fmla="*/ 6 w 18"/>
                  <a:gd name="T17" fmla="*/ 0 h 23"/>
                  <a:gd name="T18" fmla="*/ 6 w 18"/>
                  <a:gd name="T19" fmla="*/ 5 h 23"/>
                  <a:gd name="T20" fmla="*/ 6 w 18"/>
                  <a:gd name="T21" fmla="*/ 5 h 23"/>
                  <a:gd name="T22" fmla="*/ 6 w 18"/>
                  <a:gd name="T23" fmla="*/ 5 h 23"/>
                  <a:gd name="T24" fmla="*/ 6 w 18"/>
                  <a:gd name="T25" fmla="*/ 5 h 23"/>
                  <a:gd name="T26" fmla="*/ 6 w 18"/>
                  <a:gd name="T27" fmla="*/ 5 h 23"/>
                  <a:gd name="T28" fmla="*/ 0 w 18"/>
                  <a:gd name="T29" fmla="*/ 5 h 23"/>
                  <a:gd name="T30" fmla="*/ 12 w 18"/>
                  <a:gd name="T31" fmla="*/ 23 h 23"/>
                  <a:gd name="T32" fmla="*/ 6 w 18"/>
                  <a:gd name="T33" fmla="*/ 5 h 23"/>
                  <a:gd name="T34" fmla="*/ 6 w 18"/>
                  <a:gd name="T35" fmla="*/ 5 h 23"/>
                  <a:gd name="T36" fmla="*/ 6 w 18"/>
                  <a:gd name="T37" fmla="*/ 5 h 23"/>
                  <a:gd name="T38" fmla="*/ 6 w 18"/>
                  <a:gd name="T39" fmla="*/ 17 h 23"/>
                  <a:gd name="T40" fmla="*/ 6 w 18"/>
                  <a:gd name="T41" fmla="*/ 5 h 2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8"/>
                  <a:gd name="T64" fmla="*/ 0 h 23"/>
                  <a:gd name="T65" fmla="*/ 18 w 18"/>
                  <a:gd name="T66" fmla="*/ 23 h 23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8" h="23">
                    <a:moveTo>
                      <a:pt x="12" y="23"/>
                    </a:moveTo>
                    <a:lnTo>
                      <a:pt x="18" y="23"/>
                    </a:lnTo>
                    <a:lnTo>
                      <a:pt x="6" y="0"/>
                    </a:lnTo>
                    <a:lnTo>
                      <a:pt x="6" y="5"/>
                    </a:lnTo>
                    <a:lnTo>
                      <a:pt x="0" y="5"/>
                    </a:lnTo>
                    <a:lnTo>
                      <a:pt x="12" y="23"/>
                    </a:lnTo>
                    <a:close/>
                    <a:moveTo>
                      <a:pt x="6" y="5"/>
                    </a:moveTo>
                    <a:lnTo>
                      <a:pt x="6" y="5"/>
                    </a:lnTo>
                    <a:lnTo>
                      <a:pt x="6" y="17"/>
                    </a:lnTo>
                    <a:lnTo>
                      <a:pt x="6" y="5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43" name="Freeform 295">
                <a:extLst>
                  <a:ext uri="{FF2B5EF4-FFF2-40B4-BE49-F238E27FC236}">
                    <a16:creationId xmlns:a16="http://schemas.microsoft.com/office/drawing/2014/main" id="{BCEBE985-FDA8-8FFA-F15C-4ABD721F9F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91" y="2400"/>
                <a:ext cx="12" cy="23"/>
              </a:xfrm>
              <a:custGeom>
                <a:avLst/>
                <a:gdLst>
                  <a:gd name="T0" fmla="*/ 12 w 12"/>
                  <a:gd name="T1" fmla="*/ 23 h 23"/>
                  <a:gd name="T2" fmla="*/ 12 w 12"/>
                  <a:gd name="T3" fmla="*/ 23 h 23"/>
                  <a:gd name="T4" fmla="*/ 12 w 12"/>
                  <a:gd name="T5" fmla="*/ 23 h 23"/>
                  <a:gd name="T6" fmla="*/ 0 w 12"/>
                  <a:gd name="T7" fmla="*/ 0 h 23"/>
                  <a:gd name="T8" fmla="*/ 0 w 12"/>
                  <a:gd name="T9" fmla="*/ 5 h 23"/>
                  <a:gd name="T10" fmla="*/ 0 w 12"/>
                  <a:gd name="T11" fmla="*/ 5 h 23"/>
                  <a:gd name="T12" fmla="*/ 12 w 12"/>
                  <a:gd name="T13" fmla="*/ 23 h 23"/>
                  <a:gd name="T14" fmla="*/ 12 w 12"/>
                  <a:gd name="T15" fmla="*/ 23 h 23"/>
                  <a:gd name="T16" fmla="*/ 12 w 12"/>
                  <a:gd name="T17" fmla="*/ 23 h 23"/>
                  <a:gd name="T18" fmla="*/ 12 w 12"/>
                  <a:gd name="T19" fmla="*/ 23 h 23"/>
                  <a:gd name="T20" fmla="*/ 6 w 12"/>
                  <a:gd name="T21" fmla="*/ 11 h 23"/>
                  <a:gd name="T22" fmla="*/ 12 w 12"/>
                  <a:gd name="T23" fmla="*/ 23 h 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3"/>
                  <a:gd name="T38" fmla="*/ 12 w 12"/>
                  <a:gd name="T39" fmla="*/ 23 h 2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3">
                    <a:moveTo>
                      <a:pt x="12" y="23"/>
                    </a:moveTo>
                    <a:lnTo>
                      <a:pt x="12" y="23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2" y="23"/>
                    </a:lnTo>
                    <a:close/>
                    <a:moveTo>
                      <a:pt x="12" y="23"/>
                    </a:moveTo>
                    <a:lnTo>
                      <a:pt x="12" y="23"/>
                    </a:lnTo>
                    <a:lnTo>
                      <a:pt x="6" y="11"/>
                    </a:lnTo>
                    <a:lnTo>
                      <a:pt x="12" y="23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44" name="Freeform 296">
                <a:extLst>
                  <a:ext uri="{FF2B5EF4-FFF2-40B4-BE49-F238E27FC236}">
                    <a16:creationId xmlns:a16="http://schemas.microsoft.com/office/drawing/2014/main" id="{BD168A37-8B9A-4DE7-F7FC-561E6ED53B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91" y="2400"/>
                <a:ext cx="12" cy="23"/>
              </a:xfrm>
              <a:custGeom>
                <a:avLst/>
                <a:gdLst>
                  <a:gd name="T0" fmla="*/ 12 w 12"/>
                  <a:gd name="T1" fmla="*/ 23 h 23"/>
                  <a:gd name="T2" fmla="*/ 12 w 12"/>
                  <a:gd name="T3" fmla="*/ 23 h 23"/>
                  <a:gd name="T4" fmla="*/ 12 w 12"/>
                  <a:gd name="T5" fmla="*/ 23 h 23"/>
                  <a:gd name="T6" fmla="*/ 6 w 12"/>
                  <a:gd name="T7" fmla="*/ 0 h 23"/>
                  <a:gd name="T8" fmla="*/ 6 w 12"/>
                  <a:gd name="T9" fmla="*/ 0 h 23"/>
                  <a:gd name="T10" fmla="*/ 6 w 12"/>
                  <a:gd name="T11" fmla="*/ 0 h 23"/>
                  <a:gd name="T12" fmla="*/ 12 w 12"/>
                  <a:gd name="T13" fmla="*/ 23 h 23"/>
                  <a:gd name="T14" fmla="*/ 6 w 12"/>
                  <a:gd name="T15" fmla="*/ 0 h 23"/>
                  <a:gd name="T16" fmla="*/ 6 w 12"/>
                  <a:gd name="T17" fmla="*/ 0 h 23"/>
                  <a:gd name="T18" fmla="*/ 0 w 12"/>
                  <a:gd name="T19" fmla="*/ 0 h 23"/>
                  <a:gd name="T20" fmla="*/ 6 w 12"/>
                  <a:gd name="T21" fmla="*/ 11 h 23"/>
                  <a:gd name="T22" fmla="*/ 6 w 12"/>
                  <a:gd name="T23" fmla="*/ 0 h 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3"/>
                  <a:gd name="T38" fmla="*/ 12 w 12"/>
                  <a:gd name="T39" fmla="*/ 23 h 2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3">
                    <a:moveTo>
                      <a:pt x="12" y="23"/>
                    </a:moveTo>
                    <a:lnTo>
                      <a:pt x="12" y="23"/>
                    </a:lnTo>
                    <a:lnTo>
                      <a:pt x="6" y="0"/>
                    </a:lnTo>
                    <a:lnTo>
                      <a:pt x="12" y="23"/>
                    </a:lnTo>
                    <a:close/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6" y="1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45" name="Freeform 297">
                <a:extLst>
                  <a:ext uri="{FF2B5EF4-FFF2-40B4-BE49-F238E27FC236}">
                    <a16:creationId xmlns:a16="http://schemas.microsoft.com/office/drawing/2014/main" id="{C1A3ED66-F262-D4FC-D069-1BC1CFE77F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97" y="2400"/>
                <a:ext cx="6" cy="23"/>
              </a:xfrm>
              <a:custGeom>
                <a:avLst/>
                <a:gdLst>
                  <a:gd name="T0" fmla="*/ 6 w 6"/>
                  <a:gd name="T1" fmla="*/ 0 h 23"/>
                  <a:gd name="T2" fmla="*/ 6 w 6"/>
                  <a:gd name="T3" fmla="*/ 0 h 23"/>
                  <a:gd name="T4" fmla="*/ 0 w 6"/>
                  <a:gd name="T5" fmla="*/ 0 h 23"/>
                  <a:gd name="T6" fmla="*/ 0 w 6"/>
                  <a:gd name="T7" fmla="*/ 23 h 23"/>
                  <a:gd name="T8" fmla="*/ 0 w 6"/>
                  <a:gd name="T9" fmla="*/ 23 h 23"/>
                  <a:gd name="T10" fmla="*/ 6 w 6"/>
                  <a:gd name="T11" fmla="*/ 0 h 23"/>
                  <a:gd name="T12" fmla="*/ 6 w 6"/>
                  <a:gd name="T13" fmla="*/ 23 h 23"/>
                  <a:gd name="T14" fmla="*/ 6 w 6"/>
                  <a:gd name="T15" fmla="*/ 0 h 23"/>
                  <a:gd name="T16" fmla="*/ 0 w 6"/>
                  <a:gd name="T17" fmla="*/ 23 h 23"/>
                  <a:gd name="T18" fmla="*/ 0 w 6"/>
                  <a:gd name="T19" fmla="*/ 0 h 23"/>
                  <a:gd name="T20" fmla="*/ 6 w 6"/>
                  <a:gd name="T21" fmla="*/ 23 h 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"/>
                  <a:gd name="T34" fmla="*/ 0 h 23"/>
                  <a:gd name="T35" fmla="*/ 6 w 6"/>
                  <a:gd name="T36" fmla="*/ 23 h 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" h="23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23"/>
                    </a:lnTo>
                    <a:lnTo>
                      <a:pt x="6" y="0"/>
                    </a:lnTo>
                    <a:close/>
                    <a:moveTo>
                      <a:pt x="6" y="23"/>
                    </a:moveTo>
                    <a:lnTo>
                      <a:pt x="6" y="0"/>
                    </a:lnTo>
                    <a:lnTo>
                      <a:pt x="0" y="23"/>
                    </a:lnTo>
                    <a:lnTo>
                      <a:pt x="0" y="0"/>
                    </a:lnTo>
                    <a:lnTo>
                      <a:pt x="6" y="23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46" name="Freeform 298">
                <a:extLst>
                  <a:ext uri="{FF2B5EF4-FFF2-40B4-BE49-F238E27FC236}">
                    <a16:creationId xmlns:a16="http://schemas.microsoft.com/office/drawing/2014/main" id="{71EFCFAC-CF5B-E984-3DAE-72FDE81DA3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85" y="2400"/>
                <a:ext cx="18" cy="23"/>
              </a:xfrm>
              <a:custGeom>
                <a:avLst/>
                <a:gdLst>
                  <a:gd name="T0" fmla="*/ 6 w 18"/>
                  <a:gd name="T1" fmla="*/ 0 h 23"/>
                  <a:gd name="T2" fmla="*/ 6 w 18"/>
                  <a:gd name="T3" fmla="*/ 0 h 23"/>
                  <a:gd name="T4" fmla="*/ 0 w 18"/>
                  <a:gd name="T5" fmla="*/ 0 h 23"/>
                  <a:gd name="T6" fmla="*/ 12 w 18"/>
                  <a:gd name="T7" fmla="*/ 23 h 23"/>
                  <a:gd name="T8" fmla="*/ 18 w 18"/>
                  <a:gd name="T9" fmla="*/ 23 h 23"/>
                  <a:gd name="T10" fmla="*/ 18 w 18"/>
                  <a:gd name="T11" fmla="*/ 23 h 23"/>
                  <a:gd name="T12" fmla="*/ 6 w 18"/>
                  <a:gd name="T13" fmla="*/ 0 h 23"/>
                  <a:gd name="T14" fmla="*/ 12 w 18"/>
                  <a:gd name="T15" fmla="*/ 0 h 23"/>
                  <a:gd name="T16" fmla="*/ 6 w 18"/>
                  <a:gd name="T17" fmla="*/ 0 h 23"/>
                  <a:gd name="T18" fmla="*/ 6 w 18"/>
                  <a:gd name="T19" fmla="*/ 0 h 23"/>
                  <a:gd name="T20" fmla="*/ 12 w 18"/>
                  <a:gd name="T21" fmla="*/ 11 h 23"/>
                  <a:gd name="T22" fmla="*/ 12 w 18"/>
                  <a:gd name="T23" fmla="*/ 0 h 2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23"/>
                  <a:gd name="T38" fmla="*/ 18 w 18"/>
                  <a:gd name="T39" fmla="*/ 23 h 2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23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12" y="23"/>
                    </a:lnTo>
                    <a:lnTo>
                      <a:pt x="18" y="23"/>
                    </a:lnTo>
                    <a:lnTo>
                      <a:pt x="6" y="0"/>
                    </a:lnTo>
                    <a:close/>
                    <a:moveTo>
                      <a:pt x="12" y="0"/>
                    </a:moveTo>
                    <a:lnTo>
                      <a:pt x="6" y="0"/>
                    </a:lnTo>
                    <a:lnTo>
                      <a:pt x="12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47" name="Freeform 299">
                <a:extLst>
                  <a:ext uri="{FF2B5EF4-FFF2-40B4-BE49-F238E27FC236}">
                    <a16:creationId xmlns:a16="http://schemas.microsoft.com/office/drawing/2014/main" id="{407CB78C-BF75-5973-7374-6970AF6133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79" y="2400"/>
                <a:ext cx="18" cy="29"/>
              </a:xfrm>
              <a:custGeom>
                <a:avLst/>
                <a:gdLst>
                  <a:gd name="T0" fmla="*/ 6 w 18"/>
                  <a:gd name="T1" fmla="*/ 5 h 29"/>
                  <a:gd name="T2" fmla="*/ 0 w 18"/>
                  <a:gd name="T3" fmla="*/ 5 h 29"/>
                  <a:gd name="T4" fmla="*/ 0 w 18"/>
                  <a:gd name="T5" fmla="*/ 5 h 29"/>
                  <a:gd name="T6" fmla="*/ 6 w 18"/>
                  <a:gd name="T7" fmla="*/ 5 h 29"/>
                  <a:gd name="T8" fmla="*/ 0 w 18"/>
                  <a:gd name="T9" fmla="*/ 29 h 29"/>
                  <a:gd name="T10" fmla="*/ 12 w 18"/>
                  <a:gd name="T11" fmla="*/ 29 h 29"/>
                  <a:gd name="T12" fmla="*/ 18 w 18"/>
                  <a:gd name="T13" fmla="*/ 29 h 29"/>
                  <a:gd name="T14" fmla="*/ 18 w 18"/>
                  <a:gd name="T15" fmla="*/ 23 h 29"/>
                  <a:gd name="T16" fmla="*/ 6 w 18"/>
                  <a:gd name="T17" fmla="*/ 5 h 29"/>
                  <a:gd name="T18" fmla="*/ 6 w 18"/>
                  <a:gd name="T19" fmla="*/ 0 h 29"/>
                  <a:gd name="T20" fmla="*/ 6 w 18"/>
                  <a:gd name="T21" fmla="*/ 5 h 29"/>
                  <a:gd name="T22" fmla="*/ 6 w 18"/>
                  <a:gd name="T23" fmla="*/ 5 h 29"/>
                  <a:gd name="T24" fmla="*/ 12 w 18"/>
                  <a:gd name="T25" fmla="*/ 11 h 29"/>
                  <a:gd name="T26" fmla="*/ 6 w 18"/>
                  <a:gd name="T27" fmla="*/ 0 h 2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8"/>
                  <a:gd name="T43" fmla="*/ 0 h 29"/>
                  <a:gd name="T44" fmla="*/ 18 w 18"/>
                  <a:gd name="T45" fmla="*/ 29 h 2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8" h="29">
                    <a:moveTo>
                      <a:pt x="6" y="5"/>
                    </a:moveTo>
                    <a:lnTo>
                      <a:pt x="0" y="5"/>
                    </a:lnTo>
                    <a:lnTo>
                      <a:pt x="6" y="5"/>
                    </a:lnTo>
                    <a:lnTo>
                      <a:pt x="0" y="29"/>
                    </a:lnTo>
                    <a:lnTo>
                      <a:pt x="12" y="29"/>
                    </a:lnTo>
                    <a:lnTo>
                      <a:pt x="18" y="29"/>
                    </a:lnTo>
                    <a:lnTo>
                      <a:pt x="18" y="23"/>
                    </a:lnTo>
                    <a:lnTo>
                      <a:pt x="6" y="5"/>
                    </a:lnTo>
                    <a:close/>
                    <a:moveTo>
                      <a:pt x="6" y="0"/>
                    </a:moveTo>
                    <a:lnTo>
                      <a:pt x="6" y="5"/>
                    </a:lnTo>
                    <a:lnTo>
                      <a:pt x="12" y="1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48" name="Freeform 300">
                <a:extLst>
                  <a:ext uri="{FF2B5EF4-FFF2-40B4-BE49-F238E27FC236}">
                    <a16:creationId xmlns:a16="http://schemas.microsoft.com/office/drawing/2014/main" id="{857AB26B-8ED2-9F87-A4D9-8C48ED18E4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73" y="2405"/>
                <a:ext cx="18" cy="30"/>
              </a:xfrm>
              <a:custGeom>
                <a:avLst/>
                <a:gdLst>
                  <a:gd name="T0" fmla="*/ 0 w 18"/>
                  <a:gd name="T1" fmla="*/ 6 h 30"/>
                  <a:gd name="T2" fmla="*/ 0 w 18"/>
                  <a:gd name="T3" fmla="*/ 6 h 30"/>
                  <a:gd name="T4" fmla="*/ 0 w 18"/>
                  <a:gd name="T5" fmla="*/ 6 h 30"/>
                  <a:gd name="T6" fmla="*/ 0 w 18"/>
                  <a:gd name="T7" fmla="*/ 6 h 30"/>
                  <a:gd name="T8" fmla="*/ 6 w 18"/>
                  <a:gd name="T9" fmla="*/ 6 h 30"/>
                  <a:gd name="T10" fmla="*/ 6 w 18"/>
                  <a:gd name="T11" fmla="*/ 30 h 30"/>
                  <a:gd name="T12" fmla="*/ 18 w 18"/>
                  <a:gd name="T13" fmla="*/ 24 h 30"/>
                  <a:gd name="T14" fmla="*/ 18 w 18"/>
                  <a:gd name="T15" fmla="*/ 18 h 30"/>
                  <a:gd name="T16" fmla="*/ 0 w 18"/>
                  <a:gd name="T17" fmla="*/ 6 h 30"/>
                  <a:gd name="T18" fmla="*/ 12 w 18"/>
                  <a:gd name="T19" fmla="*/ 0 h 30"/>
                  <a:gd name="T20" fmla="*/ 6 w 18"/>
                  <a:gd name="T21" fmla="*/ 0 h 30"/>
                  <a:gd name="T22" fmla="*/ 0 w 18"/>
                  <a:gd name="T23" fmla="*/ 6 h 30"/>
                  <a:gd name="T24" fmla="*/ 12 w 18"/>
                  <a:gd name="T25" fmla="*/ 12 h 30"/>
                  <a:gd name="T26" fmla="*/ 12 w 18"/>
                  <a:gd name="T27" fmla="*/ 0 h 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8"/>
                  <a:gd name="T43" fmla="*/ 0 h 30"/>
                  <a:gd name="T44" fmla="*/ 18 w 18"/>
                  <a:gd name="T45" fmla="*/ 30 h 3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8" h="30">
                    <a:moveTo>
                      <a:pt x="0" y="6"/>
                    </a:moveTo>
                    <a:lnTo>
                      <a:pt x="0" y="6"/>
                    </a:lnTo>
                    <a:lnTo>
                      <a:pt x="6" y="6"/>
                    </a:lnTo>
                    <a:lnTo>
                      <a:pt x="6" y="30"/>
                    </a:lnTo>
                    <a:lnTo>
                      <a:pt x="18" y="24"/>
                    </a:lnTo>
                    <a:lnTo>
                      <a:pt x="18" y="18"/>
                    </a:lnTo>
                    <a:lnTo>
                      <a:pt x="0" y="6"/>
                    </a:lnTo>
                    <a:close/>
                    <a:moveTo>
                      <a:pt x="12" y="0"/>
                    </a:moveTo>
                    <a:lnTo>
                      <a:pt x="6" y="0"/>
                    </a:lnTo>
                    <a:lnTo>
                      <a:pt x="0" y="6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49" name="Freeform 301">
                <a:extLst>
                  <a:ext uri="{FF2B5EF4-FFF2-40B4-BE49-F238E27FC236}">
                    <a16:creationId xmlns:a16="http://schemas.microsoft.com/office/drawing/2014/main" id="{C21B74B6-0CF9-B759-2041-6AC6E2D491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7" y="2411"/>
                <a:ext cx="12" cy="24"/>
              </a:xfrm>
              <a:custGeom>
                <a:avLst/>
                <a:gdLst>
                  <a:gd name="T0" fmla="*/ 6 w 12"/>
                  <a:gd name="T1" fmla="*/ 0 h 24"/>
                  <a:gd name="T2" fmla="*/ 6 w 12"/>
                  <a:gd name="T3" fmla="*/ 0 h 24"/>
                  <a:gd name="T4" fmla="*/ 0 w 12"/>
                  <a:gd name="T5" fmla="*/ 6 h 24"/>
                  <a:gd name="T6" fmla="*/ 6 w 12"/>
                  <a:gd name="T7" fmla="*/ 24 h 24"/>
                  <a:gd name="T8" fmla="*/ 12 w 12"/>
                  <a:gd name="T9" fmla="*/ 24 h 24"/>
                  <a:gd name="T10" fmla="*/ 12 w 12"/>
                  <a:gd name="T11" fmla="*/ 24 h 24"/>
                  <a:gd name="T12" fmla="*/ 6 w 12"/>
                  <a:gd name="T13" fmla="*/ 0 h 24"/>
                  <a:gd name="T14" fmla="*/ 12 w 12"/>
                  <a:gd name="T15" fmla="*/ 0 h 24"/>
                  <a:gd name="T16" fmla="*/ 6 w 12"/>
                  <a:gd name="T17" fmla="*/ 0 h 24"/>
                  <a:gd name="T18" fmla="*/ 6 w 12"/>
                  <a:gd name="T19" fmla="*/ 0 h 24"/>
                  <a:gd name="T20" fmla="*/ 12 w 12"/>
                  <a:gd name="T21" fmla="*/ 12 h 24"/>
                  <a:gd name="T22" fmla="*/ 12 w 12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2"/>
                  <a:gd name="T37" fmla="*/ 0 h 24"/>
                  <a:gd name="T38" fmla="*/ 12 w 12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2" h="24">
                    <a:moveTo>
                      <a:pt x="6" y="0"/>
                    </a:moveTo>
                    <a:lnTo>
                      <a:pt x="6" y="0"/>
                    </a:lnTo>
                    <a:lnTo>
                      <a:pt x="0" y="6"/>
                    </a:lnTo>
                    <a:lnTo>
                      <a:pt x="6" y="24"/>
                    </a:lnTo>
                    <a:lnTo>
                      <a:pt x="12" y="24"/>
                    </a:lnTo>
                    <a:lnTo>
                      <a:pt x="6" y="0"/>
                    </a:lnTo>
                    <a:close/>
                    <a:moveTo>
                      <a:pt x="12" y="0"/>
                    </a:moveTo>
                    <a:lnTo>
                      <a:pt x="6" y="0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50" name="Freeform 302">
                <a:extLst>
                  <a:ext uri="{FF2B5EF4-FFF2-40B4-BE49-F238E27FC236}">
                    <a16:creationId xmlns:a16="http://schemas.microsoft.com/office/drawing/2014/main" id="{D6DEF158-D869-E3D5-039F-E06CD37F0D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61" y="2411"/>
                <a:ext cx="12" cy="24"/>
              </a:xfrm>
              <a:custGeom>
                <a:avLst/>
                <a:gdLst>
                  <a:gd name="T0" fmla="*/ 12 w 12"/>
                  <a:gd name="T1" fmla="*/ 0 h 24"/>
                  <a:gd name="T2" fmla="*/ 6 w 12"/>
                  <a:gd name="T3" fmla="*/ 0 h 24"/>
                  <a:gd name="T4" fmla="*/ 0 w 12"/>
                  <a:gd name="T5" fmla="*/ 0 h 24"/>
                  <a:gd name="T6" fmla="*/ 0 w 12"/>
                  <a:gd name="T7" fmla="*/ 24 h 24"/>
                  <a:gd name="T8" fmla="*/ 0 w 12"/>
                  <a:gd name="T9" fmla="*/ 24 h 24"/>
                  <a:gd name="T10" fmla="*/ 6 w 12"/>
                  <a:gd name="T11" fmla="*/ 24 h 24"/>
                  <a:gd name="T12" fmla="*/ 12 w 12"/>
                  <a:gd name="T13" fmla="*/ 24 h 24"/>
                  <a:gd name="T14" fmla="*/ 12 w 12"/>
                  <a:gd name="T15" fmla="*/ 24 h 24"/>
                  <a:gd name="T16" fmla="*/ 12 w 12"/>
                  <a:gd name="T17" fmla="*/ 0 h 24"/>
                  <a:gd name="T18" fmla="*/ 12 w 12"/>
                  <a:gd name="T19" fmla="*/ 24 h 24"/>
                  <a:gd name="T20" fmla="*/ 12 w 12"/>
                  <a:gd name="T21" fmla="*/ 24 h 24"/>
                  <a:gd name="T22" fmla="*/ 12 w 12"/>
                  <a:gd name="T23" fmla="*/ 24 h 24"/>
                  <a:gd name="T24" fmla="*/ 12 w 12"/>
                  <a:gd name="T25" fmla="*/ 12 h 24"/>
                  <a:gd name="T26" fmla="*/ 12 w 12"/>
                  <a:gd name="T27" fmla="*/ 24 h 2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2"/>
                  <a:gd name="T43" fmla="*/ 0 h 24"/>
                  <a:gd name="T44" fmla="*/ 12 w 12"/>
                  <a:gd name="T45" fmla="*/ 24 h 2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2" h="24">
                    <a:moveTo>
                      <a:pt x="12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6" y="24"/>
                    </a:lnTo>
                    <a:lnTo>
                      <a:pt x="12" y="24"/>
                    </a:lnTo>
                    <a:lnTo>
                      <a:pt x="12" y="0"/>
                    </a:lnTo>
                    <a:close/>
                    <a:moveTo>
                      <a:pt x="12" y="24"/>
                    </a:moveTo>
                    <a:lnTo>
                      <a:pt x="12" y="24"/>
                    </a:lnTo>
                    <a:lnTo>
                      <a:pt x="12" y="12"/>
                    </a:lnTo>
                    <a:lnTo>
                      <a:pt x="12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51" name="Freeform 303">
                <a:extLst>
                  <a:ext uri="{FF2B5EF4-FFF2-40B4-BE49-F238E27FC236}">
                    <a16:creationId xmlns:a16="http://schemas.microsoft.com/office/drawing/2014/main" id="{AED5A6EB-DDC3-F6F7-8C0D-E2FFA65180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9" y="2411"/>
                <a:ext cx="24" cy="24"/>
              </a:xfrm>
              <a:custGeom>
                <a:avLst/>
                <a:gdLst>
                  <a:gd name="T0" fmla="*/ 0 w 24"/>
                  <a:gd name="T1" fmla="*/ 6 h 24"/>
                  <a:gd name="T2" fmla="*/ 0 w 24"/>
                  <a:gd name="T3" fmla="*/ 12 h 24"/>
                  <a:gd name="T4" fmla="*/ 18 w 24"/>
                  <a:gd name="T5" fmla="*/ 24 h 24"/>
                  <a:gd name="T6" fmla="*/ 24 w 24"/>
                  <a:gd name="T7" fmla="*/ 18 h 24"/>
                  <a:gd name="T8" fmla="*/ 0 w 24"/>
                  <a:gd name="T9" fmla="*/ 6 h 24"/>
                  <a:gd name="T10" fmla="*/ 12 w 24"/>
                  <a:gd name="T11" fmla="*/ 0 h 24"/>
                  <a:gd name="T12" fmla="*/ 6 w 24"/>
                  <a:gd name="T13" fmla="*/ 0 h 24"/>
                  <a:gd name="T14" fmla="*/ 0 w 24"/>
                  <a:gd name="T15" fmla="*/ 6 h 24"/>
                  <a:gd name="T16" fmla="*/ 12 w 24"/>
                  <a:gd name="T17" fmla="*/ 12 h 24"/>
                  <a:gd name="T18" fmla="*/ 12 w 24"/>
                  <a:gd name="T19" fmla="*/ 0 h 2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4"/>
                  <a:gd name="T31" fmla="*/ 0 h 24"/>
                  <a:gd name="T32" fmla="*/ 24 w 24"/>
                  <a:gd name="T33" fmla="*/ 24 h 2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4" h="24">
                    <a:moveTo>
                      <a:pt x="0" y="6"/>
                    </a:moveTo>
                    <a:lnTo>
                      <a:pt x="0" y="12"/>
                    </a:lnTo>
                    <a:lnTo>
                      <a:pt x="18" y="24"/>
                    </a:lnTo>
                    <a:lnTo>
                      <a:pt x="24" y="18"/>
                    </a:lnTo>
                    <a:lnTo>
                      <a:pt x="0" y="6"/>
                    </a:lnTo>
                    <a:close/>
                    <a:moveTo>
                      <a:pt x="12" y="0"/>
                    </a:moveTo>
                    <a:lnTo>
                      <a:pt x="6" y="0"/>
                    </a:lnTo>
                    <a:lnTo>
                      <a:pt x="0" y="6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52" name="Freeform 304">
                <a:extLst>
                  <a:ext uri="{FF2B5EF4-FFF2-40B4-BE49-F238E27FC236}">
                    <a16:creationId xmlns:a16="http://schemas.microsoft.com/office/drawing/2014/main" id="{D2039327-E4A0-606B-C0FC-8944835878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" y="2423"/>
                <a:ext cx="18" cy="18"/>
              </a:xfrm>
              <a:custGeom>
                <a:avLst/>
                <a:gdLst>
                  <a:gd name="T0" fmla="*/ 12 w 18"/>
                  <a:gd name="T1" fmla="*/ 0 h 18"/>
                  <a:gd name="T2" fmla="*/ 0 w 18"/>
                  <a:gd name="T3" fmla="*/ 18 h 18"/>
                  <a:gd name="T4" fmla="*/ 18 w 18"/>
                  <a:gd name="T5" fmla="*/ 18 h 18"/>
                  <a:gd name="T6" fmla="*/ 18 w 18"/>
                  <a:gd name="T7" fmla="*/ 6 h 18"/>
                  <a:gd name="T8" fmla="*/ 12 w 18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18"/>
                  <a:gd name="T17" fmla="*/ 18 w 18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18">
                    <a:moveTo>
                      <a:pt x="12" y="0"/>
                    </a:moveTo>
                    <a:lnTo>
                      <a:pt x="0" y="18"/>
                    </a:lnTo>
                    <a:lnTo>
                      <a:pt x="18" y="18"/>
                    </a:lnTo>
                    <a:lnTo>
                      <a:pt x="18" y="6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53" name="Freeform 305">
                <a:extLst>
                  <a:ext uri="{FF2B5EF4-FFF2-40B4-BE49-F238E27FC236}">
                    <a16:creationId xmlns:a16="http://schemas.microsoft.com/office/drawing/2014/main" id="{4ABE106A-5FE7-B820-EE56-D27AB9C83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5" y="2429"/>
                <a:ext cx="18" cy="30"/>
              </a:xfrm>
              <a:custGeom>
                <a:avLst/>
                <a:gdLst>
                  <a:gd name="T0" fmla="*/ 12 w 18"/>
                  <a:gd name="T1" fmla="*/ 6 h 30"/>
                  <a:gd name="T2" fmla="*/ 6 w 18"/>
                  <a:gd name="T3" fmla="*/ 12 h 30"/>
                  <a:gd name="T4" fmla="*/ 6 w 18"/>
                  <a:gd name="T5" fmla="*/ 18 h 30"/>
                  <a:gd name="T6" fmla="*/ 6 w 18"/>
                  <a:gd name="T7" fmla="*/ 18 h 30"/>
                  <a:gd name="T8" fmla="*/ 6 w 18"/>
                  <a:gd name="T9" fmla="*/ 24 h 30"/>
                  <a:gd name="T10" fmla="*/ 6 w 18"/>
                  <a:gd name="T11" fmla="*/ 24 h 30"/>
                  <a:gd name="T12" fmla="*/ 6 w 18"/>
                  <a:gd name="T13" fmla="*/ 30 h 30"/>
                  <a:gd name="T14" fmla="*/ 0 w 18"/>
                  <a:gd name="T15" fmla="*/ 30 h 30"/>
                  <a:gd name="T16" fmla="*/ 0 w 18"/>
                  <a:gd name="T17" fmla="*/ 30 h 30"/>
                  <a:gd name="T18" fmla="*/ 0 w 18"/>
                  <a:gd name="T19" fmla="*/ 24 h 30"/>
                  <a:gd name="T20" fmla="*/ 6 w 18"/>
                  <a:gd name="T21" fmla="*/ 24 h 30"/>
                  <a:gd name="T22" fmla="*/ 6 w 18"/>
                  <a:gd name="T23" fmla="*/ 18 h 30"/>
                  <a:gd name="T24" fmla="*/ 6 w 18"/>
                  <a:gd name="T25" fmla="*/ 18 h 30"/>
                  <a:gd name="T26" fmla="*/ 6 w 18"/>
                  <a:gd name="T27" fmla="*/ 12 h 30"/>
                  <a:gd name="T28" fmla="*/ 6 w 18"/>
                  <a:gd name="T29" fmla="*/ 12 h 30"/>
                  <a:gd name="T30" fmla="*/ 6 w 18"/>
                  <a:gd name="T31" fmla="*/ 6 h 30"/>
                  <a:gd name="T32" fmla="*/ 12 w 18"/>
                  <a:gd name="T33" fmla="*/ 6 h 30"/>
                  <a:gd name="T34" fmla="*/ 18 w 18"/>
                  <a:gd name="T35" fmla="*/ 0 h 30"/>
                  <a:gd name="T36" fmla="*/ 12 w 18"/>
                  <a:gd name="T37" fmla="*/ 6 h 30"/>
                  <a:gd name="T38" fmla="*/ 12 w 18"/>
                  <a:gd name="T39" fmla="*/ 6 h 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8"/>
                  <a:gd name="T61" fmla="*/ 0 h 30"/>
                  <a:gd name="T62" fmla="*/ 18 w 18"/>
                  <a:gd name="T63" fmla="*/ 30 h 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8" h="30">
                    <a:moveTo>
                      <a:pt x="12" y="6"/>
                    </a:moveTo>
                    <a:lnTo>
                      <a:pt x="6" y="12"/>
                    </a:lnTo>
                    <a:lnTo>
                      <a:pt x="6" y="18"/>
                    </a:lnTo>
                    <a:lnTo>
                      <a:pt x="6" y="24"/>
                    </a:lnTo>
                    <a:lnTo>
                      <a:pt x="6" y="30"/>
                    </a:lnTo>
                    <a:lnTo>
                      <a:pt x="0" y="30"/>
                    </a:lnTo>
                    <a:lnTo>
                      <a:pt x="0" y="24"/>
                    </a:lnTo>
                    <a:lnTo>
                      <a:pt x="6" y="24"/>
                    </a:lnTo>
                    <a:lnTo>
                      <a:pt x="6" y="18"/>
                    </a:lnTo>
                    <a:lnTo>
                      <a:pt x="6" y="12"/>
                    </a:lnTo>
                    <a:lnTo>
                      <a:pt x="6" y="6"/>
                    </a:lnTo>
                    <a:lnTo>
                      <a:pt x="12" y="6"/>
                    </a:lnTo>
                    <a:lnTo>
                      <a:pt x="18" y="0"/>
                    </a:lnTo>
                    <a:lnTo>
                      <a:pt x="12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54" name="Freeform 306">
                <a:extLst>
                  <a:ext uri="{FF2B5EF4-FFF2-40B4-BE49-F238E27FC236}">
                    <a16:creationId xmlns:a16="http://schemas.microsoft.com/office/drawing/2014/main" id="{868F7618-7709-F320-948C-89F89BB183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5" y="2423"/>
                <a:ext cx="18" cy="30"/>
              </a:xfrm>
              <a:custGeom>
                <a:avLst/>
                <a:gdLst>
                  <a:gd name="T0" fmla="*/ 6 w 18"/>
                  <a:gd name="T1" fmla="*/ 0 h 30"/>
                  <a:gd name="T2" fmla="*/ 0 w 18"/>
                  <a:gd name="T3" fmla="*/ 6 h 30"/>
                  <a:gd name="T4" fmla="*/ 12 w 18"/>
                  <a:gd name="T5" fmla="*/ 30 h 30"/>
                  <a:gd name="T6" fmla="*/ 18 w 18"/>
                  <a:gd name="T7" fmla="*/ 24 h 30"/>
                  <a:gd name="T8" fmla="*/ 6 w 18"/>
                  <a:gd name="T9" fmla="*/ 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"/>
                  <a:gd name="T16" fmla="*/ 0 h 30"/>
                  <a:gd name="T17" fmla="*/ 18 w 18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" h="30">
                    <a:moveTo>
                      <a:pt x="6" y="0"/>
                    </a:moveTo>
                    <a:lnTo>
                      <a:pt x="0" y="6"/>
                    </a:lnTo>
                    <a:lnTo>
                      <a:pt x="12" y="30"/>
                    </a:lnTo>
                    <a:lnTo>
                      <a:pt x="18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55" name="Freeform 307">
                <a:extLst>
                  <a:ext uri="{FF2B5EF4-FFF2-40B4-BE49-F238E27FC236}">
                    <a16:creationId xmlns:a16="http://schemas.microsoft.com/office/drawing/2014/main" id="{3AB38433-AF47-2C89-E27A-8C3AD3A8E6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429"/>
                <a:ext cx="30" cy="30"/>
              </a:xfrm>
              <a:custGeom>
                <a:avLst/>
                <a:gdLst>
                  <a:gd name="T0" fmla="*/ 0 w 30"/>
                  <a:gd name="T1" fmla="*/ 12 h 30"/>
                  <a:gd name="T2" fmla="*/ 0 w 30"/>
                  <a:gd name="T3" fmla="*/ 12 h 30"/>
                  <a:gd name="T4" fmla="*/ 0 w 30"/>
                  <a:gd name="T5" fmla="*/ 12 h 30"/>
                  <a:gd name="T6" fmla="*/ 6 w 30"/>
                  <a:gd name="T7" fmla="*/ 12 h 30"/>
                  <a:gd name="T8" fmla="*/ 12 w 30"/>
                  <a:gd name="T9" fmla="*/ 6 h 30"/>
                  <a:gd name="T10" fmla="*/ 18 w 30"/>
                  <a:gd name="T11" fmla="*/ 30 h 30"/>
                  <a:gd name="T12" fmla="*/ 24 w 30"/>
                  <a:gd name="T13" fmla="*/ 18 h 30"/>
                  <a:gd name="T14" fmla="*/ 30 w 30"/>
                  <a:gd name="T15" fmla="*/ 12 h 30"/>
                  <a:gd name="T16" fmla="*/ 24 w 30"/>
                  <a:gd name="T17" fmla="*/ 6 h 30"/>
                  <a:gd name="T18" fmla="*/ 0 w 30"/>
                  <a:gd name="T19" fmla="*/ 12 h 30"/>
                  <a:gd name="T20" fmla="*/ 6 w 30"/>
                  <a:gd name="T21" fmla="*/ 0 h 30"/>
                  <a:gd name="T22" fmla="*/ 0 w 30"/>
                  <a:gd name="T23" fmla="*/ 6 h 30"/>
                  <a:gd name="T24" fmla="*/ 0 w 30"/>
                  <a:gd name="T25" fmla="*/ 12 h 30"/>
                  <a:gd name="T26" fmla="*/ 12 w 30"/>
                  <a:gd name="T27" fmla="*/ 12 h 30"/>
                  <a:gd name="T28" fmla="*/ 6 w 30"/>
                  <a:gd name="T29" fmla="*/ 0 h 3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0"/>
                  <a:gd name="T46" fmla="*/ 0 h 30"/>
                  <a:gd name="T47" fmla="*/ 30 w 30"/>
                  <a:gd name="T48" fmla="*/ 30 h 3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0" h="30">
                    <a:moveTo>
                      <a:pt x="0" y="12"/>
                    </a:moveTo>
                    <a:lnTo>
                      <a:pt x="0" y="12"/>
                    </a:lnTo>
                    <a:lnTo>
                      <a:pt x="6" y="12"/>
                    </a:lnTo>
                    <a:lnTo>
                      <a:pt x="12" y="6"/>
                    </a:lnTo>
                    <a:lnTo>
                      <a:pt x="18" y="30"/>
                    </a:lnTo>
                    <a:lnTo>
                      <a:pt x="24" y="18"/>
                    </a:lnTo>
                    <a:lnTo>
                      <a:pt x="30" y="12"/>
                    </a:lnTo>
                    <a:lnTo>
                      <a:pt x="24" y="6"/>
                    </a:lnTo>
                    <a:lnTo>
                      <a:pt x="0" y="12"/>
                    </a:lnTo>
                    <a:close/>
                    <a:moveTo>
                      <a:pt x="6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2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56" name="Freeform 308">
                <a:extLst>
                  <a:ext uri="{FF2B5EF4-FFF2-40B4-BE49-F238E27FC236}">
                    <a16:creationId xmlns:a16="http://schemas.microsoft.com/office/drawing/2014/main" id="{887E500B-9D29-27B5-DA38-3F5B411A46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435"/>
                <a:ext cx="24" cy="30"/>
              </a:xfrm>
              <a:custGeom>
                <a:avLst/>
                <a:gdLst>
                  <a:gd name="T0" fmla="*/ 0 w 24"/>
                  <a:gd name="T1" fmla="*/ 12 h 30"/>
                  <a:gd name="T2" fmla="*/ 0 w 24"/>
                  <a:gd name="T3" fmla="*/ 12 h 30"/>
                  <a:gd name="T4" fmla="*/ 0 w 24"/>
                  <a:gd name="T5" fmla="*/ 12 h 30"/>
                  <a:gd name="T6" fmla="*/ 0 w 24"/>
                  <a:gd name="T7" fmla="*/ 12 h 30"/>
                  <a:gd name="T8" fmla="*/ 0 w 24"/>
                  <a:gd name="T9" fmla="*/ 12 h 30"/>
                  <a:gd name="T10" fmla="*/ 0 w 24"/>
                  <a:gd name="T11" fmla="*/ 12 h 30"/>
                  <a:gd name="T12" fmla="*/ 6 w 24"/>
                  <a:gd name="T13" fmla="*/ 30 h 30"/>
                  <a:gd name="T14" fmla="*/ 18 w 24"/>
                  <a:gd name="T15" fmla="*/ 24 h 30"/>
                  <a:gd name="T16" fmla="*/ 24 w 24"/>
                  <a:gd name="T17" fmla="*/ 18 h 30"/>
                  <a:gd name="T18" fmla="*/ 24 w 24"/>
                  <a:gd name="T19" fmla="*/ 18 h 30"/>
                  <a:gd name="T20" fmla="*/ 24 w 24"/>
                  <a:gd name="T21" fmla="*/ 12 h 30"/>
                  <a:gd name="T22" fmla="*/ 0 w 24"/>
                  <a:gd name="T23" fmla="*/ 12 h 30"/>
                  <a:gd name="T24" fmla="*/ 12 w 24"/>
                  <a:gd name="T25" fmla="*/ 0 h 30"/>
                  <a:gd name="T26" fmla="*/ 0 w 24"/>
                  <a:gd name="T27" fmla="*/ 0 h 30"/>
                  <a:gd name="T28" fmla="*/ 0 w 24"/>
                  <a:gd name="T29" fmla="*/ 12 h 30"/>
                  <a:gd name="T30" fmla="*/ 12 w 24"/>
                  <a:gd name="T31" fmla="*/ 12 h 30"/>
                  <a:gd name="T32" fmla="*/ 12 w 24"/>
                  <a:gd name="T33" fmla="*/ 0 h 3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4"/>
                  <a:gd name="T52" fmla="*/ 0 h 30"/>
                  <a:gd name="T53" fmla="*/ 24 w 24"/>
                  <a:gd name="T54" fmla="*/ 30 h 3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4" h="30">
                    <a:moveTo>
                      <a:pt x="0" y="12"/>
                    </a:moveTo>
                    <a:lnTo>
                      <a:pt x="0" y="12"/>
                    </a:lnTo>
                    <a:lnTo>
                      <a:pt x="6" y="30"/>
                    </a:lnTo>
                    <a:lnTo>
                      <a:pt x="18" y="24"/>
                    </a:lnTo>
                    <a:lnTo>
                      <a:pt x="24" y="18"/>
                    </a:lnTo>
                    <a:lnTo>
                      <a:pt x="24" y="12"/>
                    </a:lnTo>
                    <a:lnTo>
                      <a:pt x="0" y="12"/>
                    </a:lnTo>
                    <a:close/>
                    <a:moveTo>
                      <a:pt x="12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12" y="1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57" name="Freeform 309">
                <a:extLst>
                  <a:ext uri="{FF2B5EF4-FFF2-40B4-BE49-F238E27FC236}">
                    <a16:creationId xmlns:a16="http://schemas.microsoft.com/office/drawing/2014/main" id="{9D7A343B-05CE-F350-692F-725B5DDFD1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441"/>
                <a:ext cx="24" cy="24"/>
              </a:xfrm>
              <a:custGeom>
                <a:avLst/>
                <a:gdLst>
                  <a:gd name="T0" fmla="*/ 6 w 24"/>
                  <a:gd name="T1" fmla="*/ 6 h 24"/>
                  <a:gd name="T2" fmla="*/ 6 w 24"/>
                  <a:gd name="T3" fmla="*/ 12 h 24"/>
                  <a:gd name="T4" fmla="*/ 0 w 24"/>
                  <a:gd name="T5" fmla="*/ 12 h 24"/>
                  <a:gd name="T6" fmla="*/ 24 w 24"/>
                  <a:gd name="T7" fmla="*/ 24 h 24"/>
                  <a:gd name="T8" fmla="*/ 24 w 24"/>
                  <a:gd name="T9" fmla="*/ 24 h 24"/>
                  <a:gd name="T10" fmla="*/ 24 w 24"/>
                  <a:gd name="T11" fmla="*/ 18 h 24"/>
                  <a:gd name="T12" fmla="*/ 6 w 24"/>
                  <a:gd name="T13" fmla="*/ 6 h 24"/>
                  <a:gd name="T14" fmla="*/ 24 w 24"/>
                  <a:gd name="T15" fmla="*/ 0 h 24"/>
                  <a:gd name="T16" fmla="*/ 12 w 24"/>
                  <a:gd name="T17" fmla="*/ 0 h 24"/>
                  <a:gd name="T18" fmla="*/ 6 w 24"/>
                  <a:gd name="T19" fmla="*/ 6 h 24"/>
                  <a:gd name="T20" fmla="*/ 18 w 24"/>
                  <a:gd name="T21" fmla="*/ 12 h 24"/>
                  <a:gd name="T22" fmla="*/ 24 w 24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6" y="6"/>
                    </a:moveTo>
                    <a:lnTo>
                      <a:pt x="6" y="12"/>
                    </a:lnTo>
                    <a:lnTo>
                      <a:pt x="0" y="12"/>
                    </a:lnTo>
                    <a:lnTo>
                      <a:pt x="24" y="24"/>
                    </a:lnTo>
                    <a:lnTo>
                      <a:pt x="24" y="18"/>
                    </a:lnTo>
                    <a:lnTo>
                      <a:pt x="6" y="6"/>
                    </a:lnTo>
                    <a:close/>
                    <a:moveTo>
                      <a:pt x="24" y="0"/>
                    </a:moveTo>
                    <a:lnTo>
                      <a:pt x="12" y="0"/>
                    </a:lnTo>
                    <a:lnTo>
                      <a:pt x="6" y="6"/>
                    </a:lnTo>
                    <a:lnTo>
                      <a:pt x="18" y="12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58" name="Freeform 310">
                <a:extLst>
                  <a:ext uri="{FF2B5EF4-FFF2-40B4-BE49-F238E27FC236}">
                    <a16:creationId xmlns:a16="http://schemas.microsoft.com/office/drawing/2014/main" id="{65AF05D6-EC4D-1E29-F154-44EB505B828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3" y="2447"/>
                <a:ext cx="24" cy="18"/>
              </a:xfrm>
              <a:custGeom>
                <a:avLst/>
                <a:gdLst>
                  <a:gd name="T0" fmla="*/ 24 w 24"/>
                  <a:gd name="T1" fmla="*/ 12 h 18"/>
                  <a:gd name="T2" fmla="*/ 24 w 24"/>
                  <a:gd name="T3" fmla="*/ 12 h 18"/>
                  <a:gd name="T4" fmla="*/ 24 w 24"/>
                  <a:gd name="T5" fmla="*/ 12 h 18"/>
                  <a:gd name="T6" fmla="*/ 6 w 24"/>
                  <a:gd name="T7" fmla="*/ 0 h 18"/>
                  <a:gd name="T8" fmla="*/ 0 w 24"/>
                  <a:gd name="T9" fmla="*/ 6 h 18"/>
                  <a:gd name="T10" fmla="*/ 0 w 24"/>
                  <a:gd name="T11" fmla="*/ 12 h 18"/>
                  <a:gd name="T12" fmla="*/ 24 w 24"/>
                  <a:gd name="T13" fmla="*/ 12 h 18"/>
                  <a:gd name="T14" fmla="*/ 0 w 24"/>
                  <a:gd name="T15" fmla="*/ 6 h 18"/>
                  <a:gd name="T16" fmla="*/ 24 w 24"/>
                  <a:gd name="T17" fmla="*/ 12 h 18"/>
                  <a:gd name="T18" fmla="*/ 0 w 24"/>
                  <a:gd name="T19" fmla="*/ 12 h 18"/>
                  <a:gd name="T20" fmla="*/ 24 w 24"/>
                  <a:gd name="T21" fmla="*/ 18 h 18"/>
                  <a:gd name="T22" fmla="*/ 0 w 24"/>
                  <a:gd name="T23" fmla="*/ 6 h 1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18"/>
                  <a:gd name="T38" fmla="*/ 24 w 24"/>
                  <a:gd name="T39" fmla="*/ 18 h 1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18">
                    <a:moveTo>
                      <a:pt x="24" y="12"/>
                    </a:moveTo>
                    <a:lnTo>
                      <a:pt x="24" y="12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0" y="12"/>
                    </a:lnTo>
                    <a:lnTo>
                      <a:pt x="24" y="12"/>
                    </a:lnTo>
                    <a:close/>
                    <a:moveTo>
                      <a:pt x="0" y="6"/>
                    </a:moveTo>
                    <a:lnTo>
                      <a:pt x="24" y="12"/>
                    </a:lnTo>
                    <a:lnTo>
                      <a:pt x="0" y="12"/>
                    </a:lnTo>
                    <a:lnTo>
                      <a:pt x="24" y="1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59" name="Freeform 311">
                <a:extLst>
                  <a:ext uri="{FF2B5EF4-FFF2-40B4-BE49-F238E27FC236}">
                    <a16:creationId xmlns:a16="http://schemas.microsoft.com/office/drawing/2014/main" id="{9D60BADD-35B1-0EC8-BD49-F650576052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441"/>
                <a:ext cx="24" cy="24"/>
              </a:xfrm>
              <a:custGeom>
                <a:avLst/>
                <a:gdLst>
                  <a:gd name="T0" fmla="*/ 12 w 24"/>
                  <a:gd name="T1" fmla="*/ 24 h 24"/>
                  <a:gd name="T2" fmla="*/ 18 w 24"/>
                  <a:gd name="T3" fmla="*/ 18 h 24"/>
                  <a:gd name="T4" fmla="*/ 24 w 24"/>
                  <a:gd name="T5" fmla="*/ 6 h 24"/>
                  <a:gd name="T6" fmla="*/ 0 w 24"/>
                  <a:gd name="T7" fmla="*/ 6 h 24"/>
                  <a:gd name="T8" fmla="*/ 0 w 24"/>
                  <a:gd name="T9" fmla="*/ 6 h 24"/>
                  <a:gd name="T10" fmla="*/ 0 w 24"/>
                  <a:gd name="T11" fmla="*/ 0 h 24"/>
                  <a:gd name="T12" fmla="*/ 12 w 24"/>
                  <a:gd name="T13" fmla="*/ 24 h 24"/>
                  <a:gd name="T14" fmla="*/ 0 w 24"/>
                  <a:gd name="T15" fmla="*/ 0 h 24"/>
                  <a:gd name="T16" fmla="*/ 0 w 24"/>
                  <a:gd name="T17" fmla="*/ 6 h 24"/>
                  <a:gd name="T18" fmla="*/ 0 w 24"/>
                  <a:gd name="T19" fmla="*/ 6 h 24"/>
                  <a:gd name="T20" fmla="*/ 6 w 24"/>
                  <a:gd name="T21" fmla="*/ 12 h 24"/>
                  <a:gd name="T22" fmla="*/ 0 w 24"/>
                  <a:gd name="T23" fmla="*/ 0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4"/>
                  <a:gd name="T37" fmla="*/ 0 h 24"/>
                  <a:gd name="T38" fmla="*/ 24 w 24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4" h="24">
                    <a:moveTo>
                      <a:pt x="12" y="24"/>
                    </a:moveTo>
                    <a:lnTo>
                      <a:pt x="18" y="18"/>
                    </a:lnTo>
                    <a:lnTo>
                      <a:pt x="24" y="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12" y="24"/>
                    </a:lnTo>
                    <a:close/>
                    <a:moveTo>
                      <a:pt x="0" y="0"/>
                    </a:moveTo>
                    <a:lnTo>
                      <a:pt x="0" y="6"/>
                    </a:lnTo>
                    <a:lnTo>
                      <a:pt x="6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60" name="Freeform 312">
                <a:extLst>
                  <a:ext uri="{FF2B5EF4-FFF2-40B4-BE49-F238E27FC236}">
                    <a16:creationId xmlns:a16="http://schemas.microsoft.com/office/drawing/2014/main" id="{D3B5D4B3-F355-AB98-7C1F-F8F09590D4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429"/>
                <a:ext cx="24" cy="24"/>
              </a:xfrm>
              <a:custGeom>
                <a:avLst/>
                <a:gdLst>
                  <a:gd name="T0" fmla="*/ 24 w 24"/>
                  <a:gd name="T1" fmla="*/ 24 h 24"/>
                  <a:gd name="T2" fmla="*/ 24 w 24"/>
                  <a:gd name="T3" fmla="*/ 12 h 24"/>
                  <a:gd name="T4" fmla="*/ 24 w 24"/>
                  <a:gd name="T5" fmla="*/ 6 h 24"/>
                  <a:gd name="T6" fmla="*/ 18 w 24"/>
                  <a:gd name="T7" fmla="*/ 0 h 24"/>
                  <a:gd name="T8" fmla="*/ 0 w 24"/>
                  <a:gd name="T9" fmla="*/ 18 h 24"/>
                  <a:gd name="T10" fmla="*/ 0 w 24"/>
                  <a:gd name="T11" fmla="*/ 18 h 24"/>
                  <a:gd name="T12" fmla="*/ 0 w 24"/>
                  <a:gd name="T13" fmla="*/ 12 h 24"/>
                  <a:gd name="T14" fmla="*/ 24 w 24"/>
                  <a:gd name="T15" fmla="*/ 24 h 24"/>
                  <a:gd name="T16" fmla="*/ 0 w 24"/>
                  <a:gd name="T17" fmla="*/ 12 h 24"/>
                  <a:gd name="T18" fmla="*/ 0 w 24"/>
                  <a:gd name="T19" fmla="*/ 18 h 24"/>
                  <a:gd name="T20" fmla="*/ 0 w 24"/>
                  <a:gd name="T21" fmla="*/ 18 h 24"/>
                  <a:gd name="T22" fmla="*/ 12 w 24"/>
                  <a:gd name="T23" fmla="*/ 18 h 24"/>
                  <a:gd name="T24" fmla="*/ 0 w 24"/>
                  <a:gd name="T25" fmla="*/ 12 h 2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24"/>
                  <a:gd name="T41" fmla="*/ 24 w 24"/>
                  <a:gd name="T42" fmla="*/ 24 h 2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24">
                    <a:moveTo>
                      <a:pt x="24" y="24"/>
                    </a:moveTo>
                    <a:lnTo>
                      <a:pt x="24" y="12"/>
                    </a:lnTo>
                    <a:lnTo>
                      <a:pt x="24" y="6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24" y="24"/>
                    </a:lnTo>
                    <a:close/>
                    <a:moveTo>
                      <a:pt x="0" y="12"/>
                    </a:moveTo>
                    <a:lnTo>
                      <a:pt x="0" y="18"/>
                    </a:lnTo>
                    <a:lnTo>
                      <a:pt x="12" y="1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61" name="Freeform 313">
                <a:extLst>
                  <a:ext uri="{FF2B5EF4-FFF2-40B4-BE49-F238E27FC236}">
                    <a16:creationId xmlns:a16="http://schemas.microsoft.com/office/drawing/2014/main" id="{FF708833-8064-DFB4-78D7-6BF80911C6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9" y="2423"/>
                <a:ext cx="18" cy="24"/>
              </a:xfrm>
              <a:custGeom>
                <a:avLst/>
                <a:gdLst>
                  <a:gd name="T0" fmla="*/ 18 w 18"/>
                  <a:gd name="T1" fmla="*/ 6 h 24"/>
                  <a:gd name="T2" fmla="*/ 18 w 18"/>
                  <a:gd name="T3" fmla="*/ 6 h 24"/>
                  <a:gd name="T4" fmla="*/ 18 w 18"/>
                  <a:gd name="T5" fmla="*/ 12 h 24"/>
                  <a:gd name="T6" fmla="*/ 18 w 18"/>
                  <a:gd name="T7" fmla="*/ 18 h 24"/>
                  <a:gd name="T8" fmla="*/ 18 w 18"/>
                  <a:gd name="T9" fmla="*/ 18 h 24"/>
                  <a:gd name="T10" fmla="*/ 6 w 18"/>
                  <a:gd name="T11" fmla="*/ 0 h 24"/>
                  <a:gd name="T12" fmla="*/ 0 w 18"/>
                  <a:gd name="T13" fmla="*/ 6 h 24"/>
                  <a:gd name="T14" fmla="*/ 0 w 18"/>
                  <a:gd name="T15" fmla="*/ 12 h 24"/>
                  <a:gd name="T16" fmla="*/ 0 w 18"/>
                  <a:gd name="T17" fmla="*/ 18 h 24"/>
                  <a:gd name="T18" fmla="*/ 0 w 18"/>
                  <a:gd name="T19" fmla="*/ 24 h 24"/>
                  <a:gd name="T20" fmla="*/ 18 w 18"/>
                  <a:gd name="T21" fmla="*/ 6 h 24"/>
                  <a:gd name="T22" fmla="*/ 18 w 18"/>
                  <a:gd name="T23" fmla="*/ 6 h 24"/>
                  <a:gd name="T24" fmla="*/ 18 w 18"/>
                  <a:gd name="T25" fmla="*/ 6 h 24"/>
                  <a:gd name="T26" fmla="*/ 18 w 18"/>
                  <a:gd name="T27" fmla="*/ 6 h 24"/>
                  <a:gd name="T28" fmla="*/ 12 w 18"/>
                  <a:gd name="T29" fmla="*/ 18 h 24"/>
                  <a:gd name="T30" fmla="*/ 18 w 18"/>
                  <a:gd name="T31" fmla="*/ 6 h 2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8"/>
                  <a:gd name="T49" fmla="*/ 0 h 24"/>
                  <a:gd name="T50" fmla="*/ 18 w 18"/>
                  <a:gd name="T51" fmla="*/ 24 h 2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8" h="24">
                    <a:moveTo>
                      <a:pt x="18" y="6"/>
                    </a:moveTo>
                    <a:lnTo>
                      <a:pt x="18" y="6"/>
                    </a:lnTo>
                    <a:lnTo>
                      <a:pt x="18" y="12"/>
                    </a:lnTo>
                    <a:lnTo>
                      <a:pt x="18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0" y="24"/>
                    </a:lnTo>
                    <a:lnTo>
                      <a:pt x="18" y="6"/>
                    </a:lnTo>
                    <a:close/>
                    <a:moveTo>
                      <a:pt x="18" y="6"/>
                    </a:moveTo>
                    <a:lnTo>
                      <a:pt x="18" y="6"/>
                    </a:lnTo>
                    <a:lnTo>
                      <a:pt x="12" y="18"/>
                    </a:lnTo>
                    <a:lnTo>
                      <a:pt x="18" y="6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62" name="Freeform 314">
                <a:extLst>
                  <a:ext uri="{FF2B5EF4-FFF2-40B4-BE49-F238E27FC236}">
                    <a16:creationId xmlns:a16="http://schemas.microsoft.com/office/drawing/2014/main" id="{BDF0414D-E18C-3573-3040-82AA1FC77D7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25" y="2417"/>
                <a:ext cx="18" cy="24"/>
              </a:xfrm>
              <a:custGeom>
                <a:avLst/>
                <a:gdLst>
                  <a:gd name="T0" fmla="*/ 18 w 18"/>
                  <a:gd name="T1" fmla="*/ 24 h 24"/>
                  <a:gd name="T2" fmla="*/ 18 w 18"/>
                  <a:gd name="T3" fmla="*/ 24 h 24"/>
                  <a:gd name="T4" fmla="*/ 12 w 18"/>
                  <a:gd name="T5" fmla="*/ 24 h 24"/>
                  <a:gd name="T6" fmla="*/ 18 w 18"/>
                  <a:gd name="T7" fmla="*/ 0 h 24"/>
                  <a:gd name="T8" fmla="*/ 6 w 18"/>
                  <a:gd name="T9" fmla="*/ 6 h 24"/>
                  <a:gd name="T10" fmla="*/ 0 w 18"/>
                  <a:gd name="T11" fmla="*/ 6 h 24"/>
                  <a:gd name="T12" fmla="*/ 18 w 18"/>
                  <a:gd name="T13" fmla="*/ 24 h 24"/>
                  <a:gd name="T14" fmla="*/ 12 w 18"/>
                  <a:gd name="T15" fmla="*/ 24 h 24"/>
                  <a:gd name="T16" fmla="*/ 18 w 18"/>
                  <a:gd name="T17" fmla="*/ 24 h 24"/>
                  <a:gd name="T18" fmla="*/ 18 w 18"/>
                  <a:gd name="T19" fmla="*/ 24 h 24"/>
                  <a:gd name="T20" fmla="*/ 6 w 18"/>
                  <a:gd name="T21" fmla="*/ 18 h 24"/>
                  <a:gd name="T22" fmla="*/ 12 w 18"/>
                  <a:gd name="T23" fmla="*/ 24 h 2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"/>
                  <a:gd name="T37" fmla="*/ 0 h 24"/>
                  <a:gd name="T38" fmla="*/ 18 w 18"/>
                  <a:gd name="T39" fmla="*/ 24 h 2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" h="24">
                    <a:moveTo>
                      <a:pt x="18" y="24"/>
                    </a:moveTo>
                    <a:lnTo>
                      <a:pt x="18" y="24"/>
                    </a:lnTo>
                    <a:lnTo>
                      <a:pt x="12" y="24"/>
                    </a:lnTo>
                    <a:lnTo>
                      <a:pt x="18" y="0"/>
                    </a:lnTo>
                    <a:lnTo>
                      <a:pt x="6" y="6"/>
                    </a:lnTo>
                    <a:lnTo>
                      <a:pt x="0" y="6"/>
                    </a:lnTo>
                    <a:lnTo>
                      <a:pt x="18" y="24"/>
                    </a:lnTo>
                    <a:close/>
                    <a:moveTo>
                      <a:pt x="12" y="24"/>
                    </a:moveTo>
                    <a:lnTo>
                      <a:pt x="18" y="24"/>
                    </a:lnTo>
                    <a:lnTo>
                      <a:pt x="6" y="18"/>
                    </a:lnTo>
                    <a:lnTo>
                      <a:pt x="12" y="24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63" name="Freeform 315">
                <a:extLst>
                  <a:ext uri="{FF2B5EF4-FFF2-40B4-BE49-F238E27FC236}">
                    <a16:creationId xmlns:a16="http://schemas.microsoft.com/office/drawing/2014/main" id="{748B23E5-3A1A-A8DB-C860-43CC4D7A1E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25" y="2417"/>
                <a:ext cx="30" cy="18"/>
              </a:xfrm>
              <a:custGeom>
                <a:avLst/>
                <a:gdLst>
                  <a:gd name="T0" fmla="*/ 6 w 30"/>
                  <a:gd name="T1" fmla="*/ 12 h 18"/>
                  <a:gd name="T2" fmla="*/ 0 w 30"/>
                  <a:gd name="T3" fmla="*/ 18 h 18"/>
                  <a:gd name="T4" fmla="*/ 24 w 30"/>
                  <a:gd name="T5" fmla="*/ 18 h 18"/>
                  <a:gd name="T6" fmla="*/ 30 w 30"/>
                  <a:gd name="T7" fmla="*/ 18 h 18"/>
                  <a:gd name="T8" fmla="*/ 6 w 30"/>
                  <a:gd name="T9" fmla="*/ 12 h 18"/>
                  <a:gd name="T10" fmla="*/ 30 w 30"/>
                  <a:gd name="T11" fmla="*/ 18 h 18"/>
                  <a:gd name="T12" fmla="*/ 30 w 30"/>
                  <a:gd name="T13" fmla="*/ 6 h 18"/>
                  <a:gd name="T14" fmla="*/ 18 w 30"/>
                  <a:gd name="T15" fmla="*/ 0 h 18"/>
                  <a:gd name="T16" fmla="*/ 18 w 30"/>
                  <a:gd name="T17" fmla="*/ 12 h 18"/>
                  <a:gd name="T18" fmla="*/ 30 w 30"/>
                  <a:gd name="T19" fmla="*/ 18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18"/>
                  <a:gd name="T32" fmla="*/ 30 w 30"/>
                  <a:gd name="T33" fmla="*/ 18 h 1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18">
                    <a:moveTo>
                      <a:pt x="6" y="12"/>
                    </a:moveTo>
                    <a:lnTo>
                      <a:pt x="0" y="18"/>
                    </a:lnTo>
                    <a:lnTo>
                      <a:pt x="24" y="18"/>
                    </a:lnTo>
                    <a:lnTo>
                      <a:pt x="30" y="18"/>
                    </a:lnTo>
                    <a:lnTo>
                      <a:pt x="6" y="12"/>
                    </a:lnTo>
                    <a:close/>
                    <a:moveTo>
                      <a:pt x="30" y="18"/>
                    </a:moveTo>
                    <a:lnTo>
                      <a:pt x="30" y="6"/>
                    </a:lnTo>
                    <a:lnTo>
                      <a:pt x="18" y="0"/>
                    </a:lnTo>
                    <a:lnTo>
                      <a:pt x="18" y="12"/>
                    </a:lnTo>
                    <a:lnTo>
                      <a:pt x="30" y="18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64" name="Freeform 316">
                <a:extLst>
                  <a:ext uri="{FF2B5EF4-FFF2-40B4-BE49-F238E27FC236}">
                    <a16:creationId xmlns:a16="http://schemas.microsoft.com/office/drawing/2014/main" id="{FA5861AA-E8FD-1492-17AA-23A497754E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" y="2435"/>
                <a:ext cx="12" cy="12"/>
              </a:xfrm>
              <a:custGeom>
                <a:avLst/>
                <a:gdLst>
                  <a:gd name="T0" fmla="*/ 6 w 12"/>
                  <a:gd name="T1" fmla="*/ 12 h 12"/>
                  <a:gd name="T2" fmla="*/ 12 w 12"/>
                  <a:gd name="T3" fmla="*/ 6 h 12"/>
                  <a:gd name="T4" fmla="*/ 12 w 12"/>
                  <a:gd name="T5" fmla="*/ 0 h 12"/>
                  <a:gd name="T6" fmla="*/ 0 w 12"/>
                  <a:gd name="T7" fmla="*/ 0 h 12"/>
                  <a:gd name="T8" fmla="*/ 6 w 12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6" y="12"/>
                    </a:moveTo>
                    <a:lnTo>
                      <a:pt x="12" y="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65" name="Freeform 317">
                <a:extLst>
                  <a:ext uri="{FF2B5EF4-FFF2-40B4-BE49-F238E27FC236}">
                    <a16:creationId xmlns:a16="http://schemas.microsoft.com/office/drawing/2014/main" id="{CEE44E14-D8D6-8A2C-D275-F507E90F2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" y="2370"/>
                <a:ext cx="30" cy="77"/>
              </a:xfrm>
              <a:custGeom>
                <a:avLst/>
                <a:gdLst>
                  <a:gd name="T0" fmla="*/ 12 w 30"/>
                  <a:gd name="T1" fmla="*/ 0 h 77"/>
                  <a:gd name="T2" fmla="*/ 6 w 30"/>
                  <a:gd name="T3" fmla="*/ 6 h 77"/>
                  <a:gd name="T4" fmla="*/ 6 w 30"/>
                  <a:gd name="T5" fmla="*/ 12 h 77"/>
                  <a:gd name="T6" fmla="*/ 0 w 30"/>
                  <a:gd name="T7" fmla="*/ 35 h 77"/>
                  <a:gd name="T8" fmla="*/ 6 w 30"/>
                  <a:gd name="T9" fmla="*/ 65 h 77"/>
                  <a:gd name="T10" fmla="*/ 6 w 30"/>
                  <a:gd name="T11" fmla="*/ 77 h 77"/>
                  <a:gd name="T12" fmla="*/ 12 w 30"/>
                  <a:gd name="T13" fmla="*/ 77 h 77"/>
                  <a:gd name="T14" fmla="*/ 18 w 30"/>
                  <a:gd name="T15" fmla="*/ 77 h 77"/>
                  <a:gd name="T16" fmla="*/ 24 w 30"/>
                  <a:gd name="T17" fmla="*/ 65 h 77"/>
                  <a:gd name="T18" fmla="*/ 30 w 30"/>
                  <a:gd name="T19" fmla="*/ 35 h 77"/>
                  <a:gd name="T20" fmla="*/ 24 w 30"/>
                  <a:gd name="T21" fmla="*/ 12 h 77"/>
                  <a:gd name="T22" fmla="*/ 18 w 30"/>
                  <a:gd name="T23" fmla="*/ 6 h 77"/>
                  <a:gd name="T24" fmla="*/ 12 w 30"/>
                  <a:gd name="T25" fmla="*/ 0 h 77"/>
                  <a:gd name="T26" fmla="*/ 12 w 30"/>
                  <a:gd name="T27" fmla="*/ 0 h 7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30"/>
                  <a:gd name="T43" fmla="*/ 0 h 77"/>
                  <a:gd name="T44" fmla="*/ 30 w 30"/>
                  <a:gd name="T45" fmla="*/ 77 h 7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30" h="77">
                    <a:moveTo>
                      <a:pt x="12" y="0"/>
                    </a:moveTo>
                    <a:lnTo>
                      <a:pt x="6" y="6"/>
                    </a:lnTo>
                    <a:lnTo>
                      <a:pt x="6" y="12"/>
                    </a:lnTo>
                    <a:lnTo>
                      <a:pt x="0" y="35"/>
                    </a:lnTo>
                    <a:lnTo>
                      <a:pt x="6" y="65"/>
                    </a:lnTo>
                    <a:lnTo>
                      <a:pt x="6" y="77"/>
                    </a:lnTo>
                    <a:lnTo>
                      <a:pt x="12" y="77"/>
                    </a:lnTo>
                    <a:lnTo>
                      <a:pt x="18" y="77"/>
                    </a:lnTo>
                    <a:lnTo>
                      <a:pt x="24" y="65"/>
                    </a:lnTo>
                    <a:lnTo>
                      <a:pt x="30" y="35"/>
                    </a:lnTo>
                    <a:lnTo>
                      <a:pt x="24" y="12"/>
                    </a:lnTo>
                    <a:lnTo>
                      <a:pt x="18" y="6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  <p:sp>
            <p:nvSpPr>
              <p:cNvPr id="11466" name="Freeform 318">
                <a:extLst>
                  <a:ext uri="{FF2B5EF4-FFF2-40B4-BE49-F238E27FC236}">
                    <a16:creationId xmlns:a16="http://schemas.microsoft.com/office/drawing/2014/main" id="{ACDEC3C0-8861-1A7F-4B18-A7946BE5D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5" y="2358"/>
                <a:ext cx="30" cy="47"/>
              </a:xfrm>
              <a:custGeom>
                <a:avLst/>
                <a:gdLst>
                  <a:gd name="T0" fmla="*/ 24 w 30"/>
                  <a:gd name="T1" fmla="*/ 0 h 47"/>
                  <a:gd name="T2" fmla="*/ 12 w 30"/>
                  <a:gd name="T3" fmla="*/ 6 h 47"/>
                  <a:gd name="T4" fmla="*/ 6 w 30"/>
                  <a:gd name="T5" fmla="*/ 18 h 47"/>
                  <a:gd name="T6" fmla="*/ 0 w 30"/>
                  <a:gd name="T7" fmla="*/ 47 h 47"/>
                  <a:gd name="T8" fmla="*/ 24 w 30"/>
                  <a:gd name="T9" fmla="*/ 47 h 47"/>
                  <a:gd name="T10" fmla="*/ 24 w 30"/>
                  <a:gd name="T11" fmla="*/ 36 h 47"/>
                  <a:gd name="T12" fmla="*/ 24 w 30"/>
                  <a:gd name="T13" fmla="*/ 30 h 47"/>
                  <a:gd name="T14" fmla="*/ 30 w 30"/>
                  <a:gd name="T15" fmla="*/ 24 h 47"/>
                  <a:gd name="T16" fmla="*/ 24 w 30"/>
                  <a:gd name="T17" fmla="*/ 24 h 47"/>
                  <a:gd name="T18" fmla="*/ 24 w 30"/>
                  <a:gd name="T19" fmla="*/ 0 h 4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0"/>
                  <a:gd name="T31" fmla="*/ 0 h 47"/>
                  <a:gd name="T32" fmla="*/ 30 w 30"/>
                  <a:gd name="T33" fmla="*/ 47 h 4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0" h="47">
                    <a:moveTo>
                      <a:pt x="24" y="0"/>
                    </a:moveTo>
                    <a:lnTo>
                      <a:pt x="12" y="6"/>
                    </a:lnTo>
                    <a:lnTo>
                      <a:pt x="6" y="18"/>
                    </a:lnTo>
                    <a:lnTo>
                      <a:pt x="0" y="47"/>
                    </a:lnTo>
                    <a:lnTo>
                      <a:pt x="24" y="47"/>
                    </a:lnTo>
                    <a:lnTo>
                      <a:pt x="24" y="36"/>
                    </a:lnTo>
                    <a:lnTo>
                      <a:pt x="24" y="30"/>
                    </a:lnTo>
                    <a:lnTo>
                      <a:pt x="30" y="24"/>
                    </a:lnTo>
                    <a:lnTo>
                      <a:pt x="24" y="24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solidFill>
                  <a:srgbClr val="00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/>
                <a:endParaRPr lang="zh-CN" altLang="en-US"/>
              </a:p>
            </p:txBody>
          </p:sp>
        </p:grpSp>
        <p:sp>
          <p:nvSpPr>
            <p:cNvPr id="11286" name="Freeform 319">
              <a:extLst>
                <a:ext uri="{FF2B5EF4-FFF2-40B4-BE49-F238E27FC236}">
                  <a16:creationId xmlns:a16="http://schemas.microsoft.com/office/drawing/2014/main" id="{50C92119-703A-87CF-9828-666F9BE42A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24" y="2386"/>
              <a:ext cx="30" cy="54"/>
            </a:xfrm>
            <a:custGeom>
              <a:avLst/>
              <a:gdLst>
                <a:gd name="T0" fmla="*/ 0 w 30"/>
                <a:gd name="T1" fmla="*/ 0 h 54"/>
                <a:gd name="T2" fmla="*/ 6 w 30"/>
                <a:gd name="T3" fmla="*/ 36 h 54"/>
                <a:gd name="T4" fmla="*/ 12 w 30"/>
                <a:gd name="T5" fmla="*/ 48 h 54"/>
                <a:gd name="T6" fmla="*/ 24 w 30"/>
                <a:gd name="T7" fmla="*/ 54 h 54"/>
                <a:gd name="T8" fmla="*/ 24 w 30"/>
                <a:gd name="T9" fmla="*/ 30 h 54"/>
                <a:gd name="T10" fmla="*/ 30 w 30"/>
                <a:gd name="T11" fmla="*/ 30 h 54"/>
                <a:gd name="T12" fmla="*/ 30 w 30"/>
                <a:gd name="T13" fmla="*/ 24 h 54"/>
                <a:gd name="T14" fmla="*/ 24 w 30"/>
                <a:gd name="T15" fmla="*/ 0 h 54"/>
                <a:gd name="T16" fmla="*/ 0 w 30"/>
                <a:gd name="T17" fmla="*/ 0 h 54"/>
                <a:gd name="T18" fmla="*/ 24 w 30"/>
                <a:gd name="T19" fmla="*/ 0 h 54"/>
                <a:gd name="T20" fmla="*/ 24 w 30"/>
                <a:gd name="T21" fmla="*/ 0 h 54"/>
                <a:gd name="T22" fmla="*/ 12 w 30"/>
                <a:gd name="T23" fmla="*/ 0 h 54"/>
                <a:gd name="T24" fmla="*/ 24 w 30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"/>
                <a:gd name="T40" fmla="*/ 0 h 54"/>
                <a:gd name="T41" fmla="*/ 30 w 30"/>
                <a:gd name="T42" fmla="*/ 54 h 5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" h="54">
                  <a:moveTo>
                    <a:pt x="0" y="0"/>
                  </a:moveTo>
                  <a:lnTo>
                    <a:pt x="6" y="36"/>
                  </a:lnTo>
                  <a:lnTo>
                    <a:pt x="12" y="48"/>
                  </a:lnTo>
                  <a:lnTo>
                    <a:pt x="24" y="54"/>
                  </a:lnTo>
                  <a:lnTo>
                    <a:pt x="24" y="30"/>
                  </a:lnTo>
                  <a:lnTo>
                    <a:pt x="30" y="30"/>
                  </a:lnTo>
                  <a:lnTo>
                    <a:pt x="30" y="24"/>
                  </a:lnTo>
                  <a:lnTo>
                    <a:pt x="24" y="0"/>
                  </a:lnTo>
                  <a:lnTo>
                    <a:pt x="0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lnTo>
                    <a:pt x="12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287" name="Freeform 320">
              <a:extLst>
                <a:ext uri="{FF2B5EF4-FFF2-40B4-BE49-F238E27FC236}">
                  <a16:creationId xmlns:a16="http://schemas.microsoft.com/office/drawing/2014/main" id="{A662684D-44F1-A945-DE67-085FA38D0E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386"/>
              <a:ext cx="30" cy="54"/>
            </a:xfrm>
            <a:custGeom>
              <a:avLst/>
              <a:gdLst>
                <a:gd name="T0" fmla="*/ 0 w 30"/>
                <a:gd name="T1" fmla="*/ 54 h 54"/>
                <a:gd name="T2" fmla="*/ 12 w 30"/>
                <a:gd name="T3" fmla="*/ 48 h 54"/>
                <a:gd name="T4" fmla="*/ 24 w 30"/>
                <a:gd name="T5" fmla="*/ 36 h 54"/>
                <a:gd name="T6" fmla="*/ 30 w 30"/>
                <a:gd name="T7" fmla="*/ 0 h 54"/>
                <a:gd name="T8" fmla="*/ 6 w 30"/>
                <a:gd name="T9" fmla="*/ 0 h 54"/>
                <a:gd name="T10" fmla="*/ 0 w 30"/>
                <a:gd name="T11" fmla="*/ 24 h 54"/>
                <a:gd name="T12" fmla="*/ 0 w 30"/>
                <a:gd name="T13" fmla="*/ 30 h 54"/>
                <a:gd name="T14" fmla="*/ 0 w 30"/>
                <a:gd name="T15" fmla="*/ 30 h 54"/>
                <a:gd name="T16" fmla="*/ 0 w 30"/>
                <a:gd name="T17" fmla="*/ 54 h 54"/>
                <a:gd name="T18" fmla="*/ 0 w 30"/>
                <a:gd name="T19" fmla="*/ 30 h 54"/>
                <a:gd name="T20" fmla="*/ 0 w 30"/>
                <a:gd name="T21" fmla="*/ 30 h 54"/>
                <a:gd name="T22" fmla="*/ 0 w 30"/>
                <a:gd name="T23" fmla="*/ 42 h 54"/>
                <a:gd name="T24" fmla="*/ 0 w 30"/>
                <a:gd name="T25" fmla="*/ 3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"/>
                <a:gd name="T40" fmla="*/ 0 h 54"/>
                <a:gd name="T41" fmla="*/ 30 w 30"/>
                <a:gd name="T42" fmla="*/ 54 h 5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" h="54">
                  <a:moveTo>
                    <a:pt x="0" y="54"/>
                  </a:moveTo>
                  <a:lnTo>
                    <a:pt x="12" y="48"/>
                  </a:lnTo>
                  <a:lnTo>
                    <a:pt x="24" y="36"/>
                  </a:lnTo>
                  <a:lnTo>
                    <a:pt x="30" y="0"/>
                  </a:lnTo>
                  <a:lnTo>
                    <a:pt x="6" y="0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54"/>
                  </a:lnTo>
                  <a:close/>
                  <a:moveTo>
                    <a:pt x="0" y="30"/>
                  </a:moveTo>
                  <a:lnTo>
                    <a:pt x="0" y="30"/>
                  </a:lnTo>
                  <a:lnTo>
                    <a:pt x="0" y="42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288" name="Freeform 321">
              <a:extLst>
                <a:ext uri="{FF2B5EF4-FFF2-40B4-BE49-F238E27FC236}">
                  <a16:creationId xmlns:a16="http://schemas.microsoft.com/office/drawing/2014/main" id="{9B4EF0B6-D30A-304F-4103-B3509BC28D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339"/>
              <a:ext cx="30" cy="47"/>
            </a:xfrm>
            <a:custGeom>
              <a:avLst/>
              <a:gdLst>
                <a:gd name="T0" fmla="*/ 30 w 30"/>
                <a:gd name="T1" fmla="*/ 47 h 47"/>
                <a:gd name="T2" fmla="*/ 24 w 30"/>
                <a:gd name="T3" fmla="*/ 18 h 47"/>
                <a:gd name="T4" fmla="*/ 12 w 30"/>
                <a:gd name="T5" fmla="*/ 6 h 47"/>
                <a:gd name="T6" fmla="*/ 0 w 30"/>
                <a:gd name="T7" fmla="*/ 0 h 47"/>
                <a:gd name="T8" fmla="*/ 0 w 30"/>
                <a:gd name="T9" fmla="*/ 24 h 47"/>
                <a:gd name="T10" fmla="*/ 0 w 30"/>
                <a:gd name="T11" fmla="*/ 24 h 47"/>
                <a:gd name="T12" fmla="*/ 0 w 30"/>
                <a:gd name="T13" fmla="*/ 30 h 47"/>
                <a:gd name="T14" fmla="*/ 6 w 30"/>
                <a:gd name="T15" fmla="*/ 47 h 47"/>
                <a:gd name="T16" fmla="*/ 30 w 30"/>
                <a:gd name="T17" fmla="*/ 47 h 47"/>
                <a:gd name="T18" fmla="*/ 6 w 30"/>
                <a:gd name="T19" fmla="*/ 47 h 47"/>
                <a:gd name="T20" fmla="*/ 6 w 30"/>
                <a:gd name="T21" fmla="*/ 47 h 47"/>
                <a:gd name="T22" fmla="*/ 18 w 30"/>
                <a:gd name="T23" fmla="*/ 47 h 47"/>
                <a:gd name="T24" fmla="*/ 6 w 30"/>
                <a:gd name="T25" fmla="*/ 47 h 4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"/>
                <a:gd name="T40" fmla="*/ 0 h 47"/>
                <a:gd name="T41" fmla="*/ 30 w 30"/>
                <a:gd name="T42" fmla="*/ 47 h 4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" h="47">
                  <a:moveTo>
                    <a:pt x="30" y="47"/>
                  </a:moveTo>
                  <a:lnTo>
                    <a:pt x="24" y="18"/>
                  </a:lnTo>
                  <a:lnTo>
                    <a:pt x="12" y="6"/>
                  </a:lnTo>
                  <a:lnTo>
                    <a:pt x="0" y="0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6" y="47"/>
                  </a:lnTo>
                  <a:lnTo>
                    <a:pt x="30" y="47"/>
                  </a:lnTo>
                  <a:close/>
                  <a:moveTo>
                    <a:pt x="6" y="47"/>
                  </a:moveTo>
                  <a:lnTo>
                    <a:pt x="6" y="47"/>
                  </a:lnTo>
                  <a:lnTo>
                    <a:pt x="18" y="47"/>
                  </a:lnTo>
                  <a:lnTo>
                    <a:pt x="6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289" name="Freeform 322">
              <a:extLst>
                <a:ext uri="{FF2B5EF4-FFF2-40B4-BE49-F238E27FC236}">
                  <a16:creationId xmlns:a16="http://schemas.microsoft.com/office/drawing/2014/main" id="{E1158045-5E4D-4A03-7D70-5664776FB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51"/>
              <a:ext cx="1" cy="12"/>
            </a:xfrm>
            <a:custGeom>
              <a:avLst/>
              <a:gdLst>
                <a:gd name="T0" fmla="*/ 0 w 1"/>
                <a:gd name="T1" fmla="*/ 12 h 12"/>
                <a:gd name="T2" fmla="*/ 0 w 1"/>
                <a:gd name="T3" fmla="*/ 12 h 12"/>
                <a:gd name="T4" fmla="*/ 0 w 1"/>
                <a:gd name="T5" fmla="*/ 12 h 12"/>
                <a:gd name="T6" fmla="*/ 0 w 1"/>
                <a:gd name="T7" fmla="*/ 0 h 12"/>
                <a:gd name="T8" fmla="*/ 0 w 1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"/>
                <a:gd name="T16" fmla="*/ 0 h 12"/>
                <a:gd name="T17" fmla="*/ 1 w 1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" h="12">
                  <a:moveTo>
                    <a:pt x="0" y="12"/>
                  </a:moveTo>
                  <a:lnTo>
                    <a:pt x="0" y="12"/>
                  </a:ln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290" name="Freeform 323">
              <a:extLst>
                <a:ext uri="{FF2B5EF4-FFF2-40B4-BE49-F238E27FC236}">
                  <a16:creationId xmlns:a16="http://schemas.microsoft.com/office/drawing/2014/main" id="{1A73DCAA-024E-142F-BC41-DBE96B493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428"/>
              <a:ext cx="24" cy="12"/>
            </a:xfrm>
            <a:custGeom>
              <a:avLst/>
              <a:gdLst>
                <a:gd name="T0" fmla="*/ 6 w 24"/>
                <a:gd name="T1" fmla="*/ 0 h 12"/>
                <a:gd name="T2" fmla="*/ 6 w 24"/>
                <a:gd name="T3" fmla="*/ 6 h 12"/>
                <a:gd name="T4" fmla="*/ 0 w 24"/>
                <a:gd name="T5" fmla="*/ 6 h 12"/>
                <a:gd name="T6" fmla="*/ 6 w 24"/>
                <a:gd name="T7" fmla="*/ 12 h 12"/>
                <a:gd name="T8" fmla="*/ 6 w 24"/>
                <a:gd name="T9" fmla="*/ 12 h 12"/>
                <a:gd name="T10" fmla="*/ 18 w 24"/>
                <a:gd name="T11" fmla="*/ 12 h 12"/>
                <a:gd name="T12" fmla="*/ 24 w 24"/>
                <a:gd name="T13" fmla="*/ 12 h 12"/>
                <a:gd name="T14" fmla="*/ 24 w 24"/>
                <a:gd name="T15" fmla="*/ 6 h 12"/>
                <a:gd name="T16" fmla="*/ 24 w 24"/>
                <a:gd name="T17" fmla="*/ 6 h 12"/>
                <a:gd name="T18" fmla="*/ 18 w 24"/>
                <a:gd name="T19" fmla="*/ 0 h 12"/>
                <a:gd name="T20" fmla="*/ 6 w 24"/>
                <a:gd name="T21" fmla="*/ 0 h 12"/>
                <a:gd name="T22" fmla="*/ 6 w 24"/>
                <a:gd name="T23" fmla="*/ 0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4"/>
                <a:gd name="T37" fmla="*/ 0 h 12"/>
                <a:gd name="T38" fmla="*/ 24 w 24"/>
                <a:gd name="T39" fmla="*/ 12 h 1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4" h="12">
                  <a:moveTo>
                    <a:pt x="6" y="0"/>
                  </a:moveTo>
                  <a:lnTo>
                    <a:pt x="6" y="6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61AC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291" name="Freeform 324">
              <a:extLst>
                <a:ext uri="{FF2B5EF4-FFF2-40B4-BE49-F238E27FC236}">
                  <a16:creationId xmlns:a16="http://schemas.microsoft.com/office/drawing/2014/main" id="{D9C8D01C-5A33-877A-0A8F-CBF26C1D4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" y="2416"/>
              <a:ext cx="24" cy="24"/>
            </a:xfrm>
            <a:custGeom>
              <a:avLst/>
              <a:gdLst>
                <a:gd name="T0" fmla="*/ 18 w 24"/>
                <a:gd name="T1" fmla="*/ 0 h 24"/>
                <a:gd name="T2" fmla="*/ 6 w 24"/>
                <a:gd name="T3" fmla="*/ 6 h 24"/>
                <a:gd name="T4" fmla="*/ 0 w 24"/>
                <a:gd name="T5" fmla="*/ 18 h 24"/>
                <a:gd name="T6" fmla="*/ 24 w 24"/>
                <a:gd name="T7" fmla="*/ 18 h 24"/>
                <a:gd name="T8" fmla="*/ 24 w 24"/>
                <a:gd name="T9" fmla="*/ 24 h 24"/>
                <a:gd name="T10" fmla="*/ 18 w 24"/>
                <a:gd name="T11" fmla="*/ 24 h 24"/>
                <a:gd name="T12" fmla="*/ 18 w 24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18" y="0"/>
                  </a:moveTo>
                  <a:lnTo>
                    <a:pt x="6" y="6"/>
                  </a:lnTo>
                  <a:lnTo>
                    <a:pt x="0" y="18"/>
                  </a:lnTo>
                  <a:lnTo>
                    <a:pt x="24" y="18"/>
                  </a:lnTo>
                  <a:lnTo>
                    <a:pt x="24" y="24"/>
                  </a:lnTo>
                  <a:lnTo>
                    <a:pt x="18" y="2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292" name="Freeform 325">
              <a:extLst>
                <a:ext uri="{FF2B5EF4-FFF2-40B4-BE49-F238E27FC236}">
                  <a16:creationId xmlns:a16="http://schemas.microsoft.com/office/drawing/2014/main" id="{52F2BF6D-6AC5-5F50-CECB-AE07412557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24" y="2434"/>
              <a:ext cx="24" cy="18"/>
            </a:xfrm>
            <a:custGeom>
              <a:avLst/>
              <a:gdLst>
                <a:gd name="T0" fmla="*/ 0 w 24"/>
                <a:gd name="T1" fmla="*/ 0 h 18"/>
                <a:gd name="T2" fmla="*/ 6 w 24"/>
                <a:gd name="T3" fmla="*/ 12 h 18"/>
                <a:gd name="T4" fmla="*/ 18 w 24"/>
                <a:gd name="T5" fmla="*/ 18 h 18"/>
                <a:gd name="T6" fmla="*/ 24 w 24"/>
                <a:gd name="T7" fmla="*/ 0 h 18"/>
                <a:gd name="T8" fmla="*/ 24 w 24"/>
                <a:gd name="T9" fmla="*/ 0 h 18"/>
                <a:gd name="T10" fmla="*/ 0 w 24"/>
                <a:gd name="T11" fmla="*/ 0 h 18"/>
                <a:gd name="T12" fmla="*/ 24 w 24"/>
                <a:gd name="T13" fmla="*/ 0 h 18"/>
                <a:gd name="T14" fmla="*/ 24 w 24"/>
                <a:gd name="T15" fmla="*/ 0 h 18"/>
                <a:gd name="T16" fmla="*/ 12 w 24"/>
                <a:gd name="T17" fmla="*/ 0 h 18"/>
                <a:gd name="T18" fmla="*/ 24 w 24"/>
                <a:gd name="T19" fmla="*/ 0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18"/>
                <a:gd name="T32" fmla="*/ 24 w 24"/>
                <a:gd name="T33" fmla="*/ 18 h 1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18">
                  <a:moveTo>
                    <a:pt x="0" y="0"/>
                  </a:moveTo>
                  <a:lnTo>
                    <a:pt x="6" y="12"/>
                  </a:lnTo>
                  <a:lnTo>
                    <a:pt x="18" y="18"/>
                  </a:lnTo>
                  <a:lnTo>
                    <a:pt x="24" y="0"/>
                  </a:lnTo>
                  <a:lnTo>
                    <a:pt x="0" y="0"/>
                  </a:lnTo>
                  <a:close/>
                  <a:moveTo>
                    <a:pt x="24" y="0"/>
                  </a:moveTo>
                  <a:lnTo>
                    <a:pt x="24" y="0"/>
                  </a:lnTo>
                  <a:lnTo>
                    <a:pt x="12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293" name="Freeform 326">
              <a:extLst>
                <a:ext uri="{FF2B5EF4-FFF2-40B4-BE49-F238E27FC236}">
                  <a16:creationId xmlns:a16="http://schemas.microsoft.com/office/drawing/2014/main" id="{E8B279DE-E516-0F98-1F55-696936F016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2" y="2428"/>
              <a:ext cx="12" cy="24"/>
            </a:xfrm>
            <a:custGeom>
              <a:avLst/>
              <a:gdLst>
                <a:gd name="T0" fmla="*/ 0 w 12"/>
                <a:gd name="T1" fmla="*/ 24 h 24"/>
                <a:gd name="T2" fmla="*/ 12 w 12"/>
                <a:gd name="T3" fmla="*/ 24 h 24"/>
                <a:gd name="T4" fmla="*/ 12 w 12"/>
                <a:gd name="T5" fmla="*/ 0 h 24"/>
                <a:gd name="T6" fmla="*/ 0 w 12"/>
                <a:gd name="T7" fmla="*/ 0 h 24"/>
                <a:gd name="T8" fmla="*/ 0 w 12"/>
                <a:gd name="T9" fmla="*/ 24 h 24"/>
                <a:gd name="T10" fmla="*/ 0 w 12"/>
                <a:gd name="T11" fmla="*/ 24 h 24"/>
                <a:gd name="T12" fmla="*/ 0 w 12"/>
                <a:gd name="T13" fmla="*/ 24 h 24"/>
                <a:gd name="T14" fmla="*/ 0 w 12"/>
                <a:gd name="T15" fmla="*/ 24 h 24"/>
                <a:gd name="T16" fmla="*/ 0 w 12"/>
                <a:gd name="T17" fmla="*/ 12 h 24"/>
                <a:gd name="T18" fmla="*/ 0 w 12"/>
                <a:gd name="T19" fmla="*/ 24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"/>
                <a:gd name="T31" fmla="*/ 0 h 24"/>
                <a:gd name="T32" fmla="*/ 12 w 12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" h="24">
                  <a:moveTo>
                    <a:pt x="0" y="24"/>
                  </a:moveTo>
                  <a:lnTo>
                    <a:pt x="12" y="24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lnTo>
                    <a:pt x="0" y="12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294" name="Freeform 327">
              <a:extLst>
                <a:ext uri="{FF2B5EF4-FFF2-40B4-BE49-F238E27FC236}">
                  <a16:creationId xmlns:a16="http://schemas.microsoft.com/office/drawing/2014/main" id="{35F9DD35-D2AB-3463-9EDB-632D008576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34"/>
              <a:ext cx="24" cy="18"/>
            </a:xfrm>
            <a:custGeom>
              <a:avLst/>
              <a:gdLst>
                <a:gd name="T0" fmla="*/ 12 w 24"/>
                <a:gd name="T1" fmla="*/ 18 h 18"/>
                <a:gd name="T2" fmla="*/ 18 w 24"/>
                <a:gd name="T3" fmla="*/ 12 h 18"/>
                <a:gd name="T4" fmla="*/ 24 w 24"/>
                <a:gd name="T5" fmla="*/ 0 h 18"/>
                <a:gd name="T6" fmla="*/ 0 w 24"/>
                <a:gd name="T7" fmla="*/ 0 h 18"/>
                <a:gd name="T8" fmla="*/ 6 w 24"/>
                <a:gd name="T9" fmla="*/ 0 h 18"/>
                <a:gd name="T10" fmla="*/ 6 w 24"/>
                <a:gd name="T11" fmla="*/ 0 h 18"/>
                <a:gd name="T12" fmla="*/ 12 w 24"/>
                <a:gd name="T13" fmla="*/ 18 h 18"/>
                <a:gd name="T14" fmla="*/ 6 w 24"/>
                <a:gd name="T15" fmla="*/ 18 h 18"/>
                <a:gd name="T16" fmla="*/ 12 w 24"/>
                <a:gd name="T17" fmla="*/ 18 h 18"/>
                <a:gd name="T18" fmla="*/ 12 w 24"/>
                <a:gd name="T19" fmla="*/ 18 h 18"/>
                <a:gd name="T20" fmla="*/ 6 w 24"/>
                <a:gd name="T21" fmla="*/ 6 h 18"/>
                <a:gd name="T22" fmla="*/ 6 w 24"/>
                <a:gd name="T23" fmla="*/ 18 h 1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4"/>
                <a:gd name="T37" fmla="*/ 0 h 18"/>
                <a:gd name="T38" fmla="*/ 24 w 24"/>
                <a:gd name="T39" fmla="*/ 18 h 1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4" h="18">
                  <a:moveTo>
                    <a:pt x="12" y="18"/>
                  </a:moveTo>
                  <a:lnTo>
                    <a:pt x="18" y="12"/>
                  </a:lnTo>
                  <a:lnTo>
                    <a:pt x="24" y="0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18"/>
                  </a:lnTo>
                  <a:close/>
                  <a:moveTo>
                    <a:pt x="6" y="18"/>
                  </a:moveTo>
                  <a:lnTo>
                    <a:pt x="12" y="18"/>
                  </a:lnTo>
                  <a:lnTo>
                    <a:pt x="6" y="6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295" name="Freeform 328">
              <a:extLst>
                <a:ext uri="{FF2B5EF4-FFF2-40B4-BE49-F238E27FC236}">
                  <a16:creationId xmlns:a16="http://schemas.microsoft.com/office/drawing/2014/main" id="{B6DE5098-18A6-88BC-7C55-B4DD6BA5A6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16"/>
              <a:ext cx="24" cy="24"/>
            </a:xfrm>
            <a:custGeom>
              <a:avLst/>
              <a:gdLst>
                <a:gd name="T0" fmla="*/ 24 w 24"/>
                <a:gd name="T1" fmla="*/ 18 h 24"/>
                <a:gd name="T2" fmla="*/ 18 w 24"/>
                <a:gd name="T3" fmla="*/ 6 h 24"/>
                <a:gd name="T4" fmla="*/ 6 w 24"/>
                <a:gd name="T5" fmla="*/ 0 h 24"/>
                <a:gd name="T6" fmla="*/ 6 w 24"/>
                <a:gd name="T7" fmla="*/ 24 h 24"/>
                <a:gd name="T8" fmla="*/ 6 w 24"/>
                <a:gd name="T9" fmla="*/ 24 h 24"/>
                <a:gd name="T10" fmla="*/ 0 w 24"/>
                <a:gd name="T11" fmla="*/ 18 h 24"/>
                <a:gd name="T12" fmla="*/ 24 w 24"/>
                <a:gd name="T13" fmla="*/ 18 h 24"/>
                <a:gd name="T14" fmla="*/ 0 w 24"/>
                <a:gd name="T15" fmla="*/ 18 h 24"/>
                <a:gd name="T16" fmla="*/ 0 w 24"/>
                <a:gd name="T17" fmla="*/ 18 h 24"/>
                <a:gd name="T18" fmla="*/ 12 w 24"/>
                <a:gd name="T19" fmla="*/ 18 h 24"/>
                <a:gd name="T20" fmla="*/ 0 w 24"/>
                <a:gd name="T21" fmla="*/ 18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24"/>
                <a:gd name="T35" fmla="*/ 24 w 24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24">
                  <a:moveTo>
                    <a:pt x="24" y="18"/>
                  </a:moveTo>
                  <a:lnTo>
                    <a:pt x="18" y="6"/>
                  </a:lnTo>
                  <a:lnTo>
                    <a:pt x="6" y="0"/>
                  </a:lnTo>
                  <a:lnTo>
                    <a:pt x="6" y="24"/>
                  </a:lnTo>
                  <a:lnTo>
                    <a:pt x="0" y="18"/>
                  </a:lnTo>
                  <a:lnTo>
                    <a:pt x="24" y="18"/>
                  </a:lnTo>
                  <a:close/>
                  <a:moveTo>
                    <a:pt x="0" y="18"/>
                  </a:moveTo>
                  <a:lnTo>
                    <a:pt x="0" y="18"/>
                  </a:lnTo>
                  <a:lnTo>
                    <a:pt x="12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296" name="Freeform 329">
              <a:extLst>
                <a:ext uri="{FF2B5EF4-FFF2-40B4-BE49-F238E27FC236}">
                  <a16:creationId xmlns:a16="http://schemas.microsoft.com/office/drawing/2014/main" id="{5070975A-EC52-FB86-9C9F-A37006FD0F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2" y="2416"/>
              <a:ext cx="12" cy="24"/>
            </a:xfrm>
            <a:custGeom>
              <a:avLst/>
              <a:gdLst>
                <a:gd name="T0" fmla="*/ 12 w 12"/>
                <a:gd name="T1" fmla="*/ 0 h 24"/>
                <a:gd name="T2" fmla="*/ 0 w 12"/>
                <a:gd name="T3" fmla="*/ 0 h 24"/>
                <a:gd name="T4" fmla="*/ 0 w 12"/>
                <a:gd name="T5" fmla="*/ 24 h 24"/>
                <a:gd name="T6" fmla="*/ 12 w 12"/>
                <a:gd name="T7" fmla="*/ 24 h 24"/>
                <a:gd name="T8" fmla="*/ 12 w 12"/>
                <a:gd name="T9" fmla="*/ 0 h 24"/>
                <a:gd name="T10" fmla="*/ 12 w 12"/>
                <a:gd name="T11" fmla="*/ 24 h 24"/>
                <a:gd name="T12" fmla="*/ 12 w 12"/>
                <a:gd name="T13" fmla="*/ 24 h 24"/>
                <a:gd name="T14" fmla="*/ 12 w 12"/>
                <a:gd name="T15" fmla="*/ 12 h 24"/>
                <a:gd name="T16" fmla="*/ 12 w 12"/>
                <a:gd name="T17" fmla="*/ 24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"/>
                <a:gd name="T28" fmla="*/ 0 h 24"/>
                <a:gd name="T29" fmla="*/ 12 w 12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" h="24">
                  <a:moveTo>
                    <a:pt x="12" y="0"/>
                  </a:moveTo>
                  <a:lnTo>
                    <a:pt x="0" y="0"/>
                  </a:lnTo>
                  <a:lnTo>
                    <a:pt x="0" y="24"/>
                  </a:lnTo>
                  <a:lnTo>
                    <a:pt x="12" y="24"/>
                  </a:lnTo>
                  <a:lnTo>
                    <a:pt x="12" y="0"/>
                  </a:lnTo>
                  <a:close/>
                  <a:moveTo>
                    <a:pt x="12" y="24"/>
                  </a:moveTo>
                  <a:lnTo>
                    <a:pt x="12" y="24"/>
                  </a:lnTo>
                  <a:lnTo>
                    <a:pt x="12" y="12"/>
                  </a:lnTo>
                  <a:lnTo>
                    <a:pt x="12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297" name="Freeform 330">
              <a:extLst>
                <a:ext uri="{FF2B5EF4-FFF2-40B4-BE49-F238E27FC236}">
                  <a16:creationId xmlns:a16="http://schemas.microsoft.com/office/drawing/2014/main" id="{D6D2E3E3-E13A-596C-4302-9D49014A0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428"/>
              <a:ext cx="1" cy="12"/>
            </a:xfrm>
            <a:custGeom>
              <a:avLst/>
              <a:gdLst>
                <a:gd name="T0" fmla="*/ 0 w 1"/>
                <a:gd name="T1" fmla="*/ 12 h 12"/>
                <a:gd name="T2" fmla="*/ 0 w 1"/>
                <a:gd name="T3" fmla="*/ 12 h 12"/>
                <a:gd name="T4" fmla="*/ 0 w 1"/>
                <a:gd name="T5" fmla="*/ 0 h 12"/>
                <a:gd name="T6" fmla="*/ 0 w 1"/>
                <a:gd name="T7" fmla="*/ 12 h 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12"/>
                <a:gd name="T14" fmla="*/ 1 w 1"/>
                <a:gd name="T15" fmla="*/ 12 h 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12">
                  <a:moveTo>
                    <a:pt x="0" y="12"/>
                  </a:moveTo>
                  <a:lnTo>
                    <a:pt x="0" y="12"/>
                  </a:ln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298" name="Freeform 331">
              <a:extLst>
                <a:ext uri="{FF2B5EF4-FFF2-40B4-BE49-F238E27FC236}">
                  <a16:creationId xmlns:a16="http://schemas.microsoft.com/office/drawing/2014/main" id="{5B08FB1A-2F21-B5EC-7D43-ED2317A96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" y="2375"/>
              <a:ext cx="6" cy="35"/>
            </a:xfrm>
            <a:custGeom>
              <a:avLst/>
              <a:gdLst>
                <a:gd name="T0" fmla="*/ 6 w 6"/>
                <a:gd name="T1" fmla="*/ 0 h 35"/>
                <a:gd name="T2" fmla="*/ 0 w 6"/>
                <a:gd name="T3" fmla="*/ 11 h 35"/>
                <a:gd name="T4" fmla="*/ 0 w 6"/>
                <a:gd name="T5" fmla="*/ 23 h 35"/>
                <a:gd name="T6" fmla="*/ 6 w 6"/>
                <a:gd name="T7" fmla="*/ 29 h 35"/>
                <a:gd name="T8" fmla="*/ 6 w 6"/>
                <a:gd name="T9" fmla="*/ 35 h 35"/>
                <a:gd name="T10" fmla="*/ 6 w 6"/>
                <a:gd name="T11" fmla="*/ 0 h 35"/>
                <a:gd name="T12" fmla="*/ 6 w 6"/>
                <a:gd name="T13" fmla="*/ 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35"/>
                <a:gd name="T23" fmla="*/ 6 w 6"/>
                <a:gd name="T24" fmla="*/ 35 h 3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35">
                  <a:moveTo>
                    <a:pt x="6" y="0"/>
                  </a:moveTo>
                  <a:lnTo>
                    <a:pt x="0" y="11"/>
                  </a:lnTo>
                  <a:lnTo>
                    <a:pt x="0" y="23"/>
                  </a:lnTo>
                  <a:lnTo>
                    <a:pt x="6" y="29"/>
                  </a:lnTo>
                  <a:lnTo>
                    <a:pt x="6" y="3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2145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299" name="Freeform 332">
              <a:extLst>
                <a:ext uri="{FF2B5EF4-FFF2-40B4-BE49-F238E27FC236}">
                  <a16:creationId xmlns:a16="http://schemas.microsoft.com/office/drawing/2014/main" id="{FD39CE18-2DB6-921C-31A0-C06E8C153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369"/>
              <a:ext cx="30" cy="47"/>
            </a:xfrm>
            <a:custGeom>
              <a:avLst/>
              <a:gdLst>
                <a:gd name="T0" fmla="*/ 12 w 30"/>
                <a:gd name="T1" fmla="*/ 0 h 47"/>
                <a:gd name="T2" fmla="*/ 6 w 30"/>
                <a:gd name="T3" fmla="*/ 17 h 47"/>
                <a:gd name="T4" fmla="*/ 0 w 30"/>
                <a:gd name="T5" fmla="*/ 35 h 47"/>
                <a:gd name="T6" fmla="*/ 6 w 30"/>
                <a:gd name="T7" fmla="*/ 41 h 47"/>
                <a:gd name="T8" fmla="*/ 6 w 30"/>
                <a:gd name="T9" fmla="*/ 47 h 47"/>
                <a:gd name="T10" fmla="*/ 30 w 30"/>
                <a:gd name="T11" fmla="*/ 41 h 47"/>
                <a:gd name="T12" fmla="*/ 30 w 30"/>
                <a:gd name="T13" fmla="*/ 35 h 47"/>
                <a:gd name="T14" fmla="*/ 30 w 30"/>
                <a:gd name="T15" fmla="*/ 29 h 47"/>
                <a:gd name="T16" fmla="*/ 30 w 30"/>
                <a:gd name="T17" fmla="*/ 23 h 47"/>
                <a:gd name="T18" fmla="*/ 30 w 30"/>
                <a:gd name="T19" fmla="*/ 17 h 47"/>
                <a:gd name="T20" fmla="*/ 12 w 30"/>
                <a:gd name="T21" fmla="*/ 0 h 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"/>
                <a:gd name="T34" fmla="*/ 0 h 47"/>
                <a:gd name="T35" fmla="*/ 30 w 30"/>
                <a:gd name="T36" fmla="*/ 47 h 4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" h="47">
                  <a:moveTo>
                    <a:pt x="12" y="0"/>
                  </a:moveTo>
                  <a:lnTo>
                    <a:pt x="6" y="17"/>
                  </a:lnTo>
                  <a:lnTo>
                    <a:pt x="0" y="35"/>
                  </a:lnTo>
                  <a:lnTo>
                    <a:pt x="6" y="41"/>
                  </a:lnTo>
                  <a:lnTo>
                    <a:pt x="6" y="47"/>
                  </a:lnTo>
                  <a:lnTo>
                    <a:pt x="30" y="41"/>
                  </a:lnTo>
                  <a:lnTo>
                    <a:pt x="30" y="35"/>
                  </a:lnTo>
                  <a:lnTo>
                    <a:pt x="30" y="29"/>
                  </a:lnTo>
                  <a:lnTo>
                    <a:pt x="30" y="23"/>
                  </a:lnTo>
                  <a:lnTo>
                    <a:pt x="30" y="1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00" name="Freeform 333">
              <a:extLst>
                <a:ext uri="{FF2B5EF4-FFF2-40B4-BE49-F238E27FC236}">
                  <a16:creationId xmlns:a16="http://schemas.microsoft.com/office/drawing/2014/main" id="{61C0A21F-AAFD-2959-D5FD-030398F84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375"/>
              <a:ext cx="24" cy="41"/>
            </a:xfrm>
            <a:custGeom>
              <a:avLst/>
              <a:gdLst>
                <a:gd name="T0" fmla="*/ 24 w 24"/>
                <a:gd name="T1" fmla="*/ 41 h 41"/>
                <a:gd name="T2" fmla="*/ 24 w 24"/>
                <a:gd name="T3" fmla="*/ 6 h 41"/>
                <a:gd name="T4" fmla="*/ 0 w 24"/>
                <a:gd name="T5" fmla="*/ 0 h 41"/>
                <a:gd name="T6" fmla="*/ 0 w 24"/>
                <a:gd name="T7" fmla="*/ 35 h 41"/>
                <a:gd name="T8" fmla="*/ 24 w 24"/>
                <a:gd name="T9" fmla="*/ 41 h 41"/>
                <a:gd name="T10" fmla="*/ 0 w 24"/>
                <a:gd name="T11" fmla="*/ 41 h 41"/>
                <a:gd name="T12" fmla="*/ 24 w 24"/>
                <a:gd name="T13" fmla="*/ 41 h 41"/>
                <a:gd name="T14" fmla="*/ 0 w 24"/>
                <a:gd name="T15" fmla="*/ 35 h 41"/>
                <a:gd name="T16" fmla="*/ 24 w 24"/>
                <a:gd name="T17" fmla="*/ 35 h 41"/>
                <a:gd name="T18" fmla="*/ 0 w 24"/>
                <a:gd name="T19" fmla="*/ 41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41"/>
                <a:gd name="T32" fmla="*/ 24 w 24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41">
                  <a:moveTo>
                    <a:pt x="24" y="41"/>
                  </a:moveTo>
                  <a:lnTo>
                    <a:pt x="24" y="6"/>
                  </a:lnTo>
                  <a:lnTo>
                    <a:pt x="0" y="0"/>
                  </a:lnTo>
                  <a:lnTo>
                    <a:pt x="0" y="35"/>
                  </a:lnTo>
                  <a:lnTo>
                    <a:pt x="24" y="41"/>
                  </a:lnTo>
                  <a:close/>
                  <a:moveTo>
                    <a:pt x="0" y="41"/>
                  </a:moveTo>
                  <a:lnTo>
                    <a:pt x="24" y="41"/>
                  </a:lnTo>
                  <a:lnTo>
                    <a:pt x="0" y="35"/>
                  </a:lnTo>
                  <a:lnTo>
                    <a:pt x="24" y="3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01" name="Freeform 334">
              <a:extLst>
                <a:ext uri="{FF2B5EF4-FFF2-40B4-BE49-F238E27FC236}">
                  <a16:creationId xmlns:a16="http://schemas.microsoft.com/office/drawing/2014/main" id="{493EF422-670B-1FC7-2EA1-7E07DE012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" y="2345"/>
              <a:ext cx="24" cy="36"/>
            </a:xfrm>
            <a:custGeom>
              <a:avLst/>
              <a:gdLst>
                <a:gd name="T0" fmla="*/ 18 w 24"/>
                <a:gd name="T1" fmla="*/ 36 h 36"/>
                <a:gd name="T2" fmla="*/ 24 w 24"/>
                <a:gd name="T3" fmla="*/ 0 h 36"/>
                <a:gd name="T4" fmla="*/ 0 w 24"/>
                <a:gd name="T5" fmla="*/ 24 h 36"/>
                <a:gd name="T6" fmla="*/ 6 w 24"/>
                <a:gd name="T7" fmla="*/ 30 h 36"/>
                <a:gd name="T8" fmla="*/ 18 w 24"/>
                <a:gd name="T9" fmla="*/ 36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36"/>
                <a:gd name="T17" fmla="*/ 24 w 24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36">
                  <a:moveTo>
                    <a:pt x="18" y="36"/>
                  </a:moveTo>
                  <a:lnTo>
                    <a:pt x="24" y="0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18" y="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02" name="Line 335">
              <a:extLst>
                <a:ext uri="{FF2B5EF4-FFF2-40B4-BE49-F238E27FC236}">
                  <a16:creationId xmlns:a16="http://schemas.microsoft.com/office/drawing/2014/main" id="{17B390D8-366D-804A-A691-E3EFEB602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4" y="2381"/>
              <a:ext cx="6" cy="23"/>
            </a:xfrm>
            <a:prstGeom prst="line">
              <a:avLst/>
            </a:prstGeom>
            <a:noFill/>
            <a:ln w="0">
              <a:solidFill>
                <a:srgbClr val="354A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03" name="Freeform 336">
              <a:extLst>
                <a:ext uri="{FF2B5EF4-FFF2-40B4-BE49-F238E27FC236}">
                  <a16:creationId xmlns:a16="http://schemas.microsoft.com/office/drawing/2014/main" id="{3617BA4F-E51A-3102-7E66-B6DF60056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375"/>
              <a:ext cx="30" cy="29"/>
            </a:xfrm>
            <a:custGeom>
              <a:avLst/>
              <a:gdLst>
                <a:gd name="T0" fmla="*/ 24 w 30"/>
                <a:gd name="T1" fmla="*/ 29 h 29"/>
                <a:gd name="T2" fmla="*/ 30 w 30"/>
                <a:gd name="T3" fmla="*/ 6 h 29"/>
                <a:gd name="T4" fmla="*/ 6 w 30"/>
                <a:gd name="T5" fmla="*/ 0 h 29"/>
                <a:gd name="T6" fmla="*/ 0 w 30"/>
                <a:gd name="T7" fmla="*/ 23 h 29"/>
                <a:gd name="T8" fmla="*/ 24 w 30"/>
                <a:gd name="T9" fmla="*/ 2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29"/>
                <a:gd name="T17" fmla="*/ 30 w 30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29">
                  <a:moveTo>
                    <a:pt x="24" y="29"/>
                  </a:moveTo>
                  <a:lnTo>
                    <a:pt x="30" y="6"/>
                  </a:lnTo>
                  <a:lnTo>
                    <a:pt x="6" y="0"/>
                  </a:lnTo>
                  <a:lnTo>
                    <a:pt x="0" y="23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04" name="Freeform 337">
              <a:extLst>
                <a:ext uri="{FF2B5EF4-FFF2-40B4-BE49-F238E27FC236}">
                  <a16:creationId xmlns:a16="http://schemas.microsoft.com/office/drawing/2014/main" id="{9F0D53A3-A0D8-5861-ED5B-874AC2EA2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1"/>
              <a:ext cx="24" cy="29"/>
            </a:xfrm>
            <a:custGeom>
              <a:avLst/>
              <a:gdLst>
                <a:gd name="T0" fmla="*/ 24 w 24"/>
                <a:gd name="T1" fmla="*/ 29 h 29"/>
                <a:gd name="T2" fmla="*/ 24 w 24"/>
                <a:gd name="T3" fmla="*/ 29 h 29"/>
                <a:gd name="T4" fmla="*/ 24 w 24"/>
                <a:gd name="T5" fmla="*/ 29 h 29"/>
                <a:gd name="T6" fmla="*/ 24 w 24"/>
                <a:gd name="T7" fmla="*/ 23 h 29"/>
                <a:gd name="T8" fmla="*/ 24 w 24"/>
                <a:gd name="T9" fmla="*/ 23 h 29"/>
                <a:gd name="T10" fmla="*/ 18 w 24"/>
                <a:gd name="T11" fmla="*/ 0 h 29"/>
                <a:gd name="T12" fmla="*/ 6 w 24"/>
                <a:gd name="T13" fmla="*/ 11 h 29"/>
                <a:gd name="T14" fmla="*/ 6 w 24"/>
                <a:gd name="T15" fmla="*/ 17 h 29"/>
                <a:gd name="T16" fmla="*/ 6 w 24"/>
                <a:gd name="T17" fmla="*/ 29 h 29"/>
                <a:gd name="T18" fmla="*/ 0 w 24"/>
                <a:gd name="T19" fmla="*/ 29 h 29"/>
                <a:gd name="T20" fmla="*/ 24 w 24"/>
                <a:gd name="T21" fmla="*/ 29 h 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29"/>
                <a:gd name="T35" fmla="*/ 24 w 24"/>
                <a:gd name="T36" fmla="*/ 29 h 2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29">
                  <a:moveTo>
                    <a:pt x="24" y="29"/>
                  </a:moveTo>
                  <a:lnTo>
                    <a:pt x="24" y="29"/>
                  </a:lnTo>
                  <a:lnTo>
                    <a:pt x="24" y="23"/>
                  </a:lnTo>
                  <a:lnTo>
                    <a:pt x="18" y="0"/>
                  </a:lnTo>
                  <a:lnTo>
                    <a:pt x="6" y="11"/>
                  </a:lnTo>
                  <a:lnTo>
                    <a:pt x="6" y="17"/>
                  </a:lnTo>
                  <a:lnTo>
                    <a:pt x="6" y="29"/>
                  </a:lnTo>
                  <a:lnTo>
                    <a:pt x="0" y="29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05" name="Freeform 338">
              <a:extLst>
                <a:ext uri="{FF2B5EF4-FFF2-40B4-BE49-F238E27FC236}">
                  <a16:creationId xmlns:a16="http://schemas.microsoft.com/office/drawing/2014/main" id="{3A06DC4D-02BB-E85B-886B-550F9D335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1"/>
              <a:ext cx="6" cy="29"/>
            </a:xfrm>
            <a:custGeom>
              <a:avLst/>
              <a:gdLst>
                <a:gd name="T0" fmla="*/ 0 w 6"/>
                <a:gd name="T1" fmla="*/ 0 h 29"/>
                <a:gd name="T2" fmla="*/ 6 w 6"/>
                <a:gd name="T3" fmla="*/ 11 h 29"/>
                <a:gd name="T4" fmla="*/ 6 w 6"/>
                <a:gd name="T5" fmla="*/ 17 h 29"/>
                <a:gd name="T6" fmla="*/ 0 w 6"/>
                <a:gd name="T7" fmla="*/ 29 h 29"/>
                <a:gd name="T8" fmla="*/ 0 w 6"/>
                <a:gd name="T9" fmla="*/ 29 h 29"/>
                <a:gd name="T10" fmla="*/ 0 w 6"/>
                <a:gd name="T11" fmla="*/ 0 h 29"/>
                <a:gd name="T12" fmla="*/ 0 w 6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"/>
                <a:gd name="T22" fmla="*/ 0 h 29"/>
                <a:gd name="T23" fmla="*/ 6 w 6"/>
                <a:gd name="T24" fmla="*/ 29 h 2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" h="29">
                  <a:moveTo>
                    <a:pt x="0" y="0"/>
                  </a:moveTo>
                  <a:lnTo>
                    <a:pt x="6" y="11"/>
                  </a:lnTo>
                  <a:lnTo>
                    <a:pt x="6" y="17"/>
                  </a:lnTo>
                  <a:lnTo>
                    <a:pt x="0" y="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45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06" name="Freeform 339">
              <a:extLst>
                <a:ext uri="{FF2B5EF4-FFF2-40B4-BE49-F238E27FC236}">
                  <a16:creationId xmlns:a16="http://schemas.microsoft.com/office/drawing/2014/main" id="{2BCD6C81-7CF2-6AE1-D4F6-A0D103FC9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369"/>
              <a:ext cx="24" cy="47"/>
            </a:xfrm>
            <a:custGeom>
              <a:avLst/>
              <a:gdLst>
                <a:gd name="T0" fmla="*/ 0 w 24"/>
                <a:gd name="T1" fmla="*/ 17 h 47"/>
                <a:gd name="T2" fmla="*/ 0 w 24"/>
                <a:gd name="T3" fmla="*/ 23 h 47"/>
                <a:gd name="T4" fmla="*/ 0 w 24"/>
                <a:gd name="T5" fmla="*/ 29 h 47"/>
                <a:gd name="T6" fmla="*/ 0 w 24"/>
                <a:gd name="T7" fmla="*/ 35 h 47"/>
                <a:gd name="T8" fmla="*/ 0 w 24"/>
                <a:gd name="T9" fmla="*/ 41 h 47"/>
                <a:gd name="T10" fmla="*/ 18 w 24"/>
                <a:gd name="T11" fmla="*/ 47 h 47"/>
                <a:gd name="T12" fmla="*/ 18 w 24"/>
                <a:gd name="T13" fmla="*/ 41 h 47"/>
                <a:gd name="T14" fmla="*/ 24 w 24"/>
                <a:gd name="T15" fmla="*/ 35 h 47"/>
                <a:gd name="T16" fmla="*/ 18 w 24"/>
                <a:gd name="T17" fmla="*/ 17 h 47"/>
                <a:gd name="T18" fmla="*/ 12 w 24"/>
                <a:gd name="T19" fmla="*/ 0 h 47"/>
                <a:gd name="T20" fmla="*/ 0 w 24"/>
                <a:gd name="T21" fmla="*/ 17 h 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47"/>
                <a:gd name="T35" fmla="*/ 24 w 24"/>
                <a:gd name="T36" fmla="*/ 47 h 4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47">
                  <a:moveTo>
                    <a:pt x="0" y="17"/>
                  </a:moveTo>
                  <a:lnTo>
                    <a:pt x="0" y="23"/>
                  </a:lnTo>
                  <a:lnTo>
                    <a:pt x="0" y="29"/>
                  </a:lnTo>
                  <a:lnTo>
                    <a:pt x="0" y="35"/>
                  </a:lnTo>
                  <a:lnTo>
                    <a:pt x="0" y="41"/>
                  </a:lnTo>
                  <a:lnTo>
                    <a:pt x="18" y="47"/>
                  </a:lnTo>
                  <a:lnTo>
                    <a:pt x="18" y="41"/>
                  </a:lnTo>
                  <a:lnTo>
                    <a:pt x="24" y="35"/>
                  </a:lnTo>
                  <a:lnTo>
                    <a:pt x="18" y="17"/>
                  </a:lnTo>
                  <a:lnTo>
                    <a:pt x="12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07" name="Freeform 340">
              <a:extLst>
                <a:ext uri="{FF2B5EF4-FFF2-40B4-BE49-F238E27FC236}">
                  <a16:creationId xmlns:a16="http://schemas.microsoft.com/office/drawing/2014/main" id="{5B3FA47F-F58E-1C0E-F12C-6E77FEC90C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24" y="2375"/>
              <a:ext cx="24" cy="41"/>
            </a:xfrm>
            <a:custGeom>
              <a:avLst/>
              <a:gdLst>
                <a:gd name="T0" fmla="*/ 24 w 24"/>
                <a:gd name="T1" fmla="*/ 35 h 41"/>
                <a:gd name="T2" fmla="*/ 24 w 24"/>
                <a:gd name="T3" fmla="*/ 0 h 41"/>
                <a:gd name="T4" fmla="*/ 0 w 24"/>
                <a:gd name="T5" fmla="*/ 6 h 41"/>
                <a:gd name="T6" fmla="*/ 0 w 24"/>
                <a:gd name="T7" fmla="*/ 41 h 41"/>
                <a:gd name="T8" fmla="*/ 24 w 24"/>
                <a:gd name="T9" fmla="*/ 35 h 41"/>
                <a:gd name="T10" fmla="*/ 6 w 24"/>
                <a:gd name="T11" fmla="*/ 35 h 41"/>
                <a:gd name="T12" fmla="*/ 24 w 24"/>
                <a:gd name="T13" fmla="*/ 35 h 41"/>
                <a:gd name="T14" fmla="*/ 0 w 24"/>
                <a:gd name="T15" fmla="*/ 41 h 41"/>
                <a:gd name="T16" fmla="*/ 24 w 24"/>
                <a:gd name="T17" fmla="*/ 41 h 41"/>
                <a:gd name="T18" fmla="*/ 6 w 24"/>
                <a:gd name="T19" fmla="*/ 35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41"/>
                <a:gd name="T32" fmla="*/ 24 w 24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41">
                  <a:moveTo>
                    <a:pt x="24" y="35"/>
                  </a:moveTo>
                  <a:lnTo>
                    <a:pt x="24" y="0"/>
                  </a:lnTo>
                  <a:lnTo>
                    <a:pt x="0" y="6"/>
                  </a:lnTo>
                  <a:lnTo>
                    <a:pt x="0" y="41"/>
                  </a:lnTo>
                  <a:lnTo>
                    <a:pt x="24" y="35"/>
                  </a:lnTo>
                  <a:close/>
                  <a:moveTo>
                    <a:pt x="6" y="35"/>
                  </a:moveTo>
                  <a:lnTo>
                    <a:pt x="24" y="35"/>
                  </a:lnTo>
                  <a:lnTo>
                    <a:pt x="0" y="41"/>
                  </a:lnTo>
                  <a:lnTo>
                    <a:pt x="24" y="41"/>
                  </a:lnTo>
                  <a:lnTo>
                    <a:pt x="6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08" name="Freeform 341">
              <a:extLst>
                <a:ext uri="{FF2B5EF4-FFF2-40B4-BE49-F238E27FC236}">
                  <a16:creationId xmlns:a16="http://schemas.microsoft.com/office/drawing/2014/main" id="{E10B2785-E05B-D616-7436-2C99C10B2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2345"/>
              <a:ext cx="24" cy="36"/>
            </a:xfrm>
            <a:custGeom>
              <a:avLst/>
              <a:gdLst>
                <a:gd name="T0" fmla="*/ 24 w 24"/>
                <a:gd name="T1" fmla="*/ 24 h 36"/>
                <a:gd name="T2" fmla="*/ 0 w 24"/>
                <a:gd name="T3" fmla="*/ 0 h 36"/>
                <a:gd name="T4" fmla="*/ 6 w 24"/>
                <a:gd name="T5" fmla="*/ 36 h 36"/>
                <a:gd name="T6" fmla="*/ 18 w 24"/>
                <a:gd name="T7" fmla="*/ 36 h 36"/>
                <a:gd name="T8" fmla="*/ 24 w 24"/>
                <a:gd name="T9" fmla="*/ 24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36"/>
                <a:gd name="T17" fmla="*/ 24 w 24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36">
                  <a:moveTo>
                    <a:pt x="24" y="24"/>
                  </a:moveTo>
                  <a:lnTo>
                    <a:pt x="0" y="0"/>
                  </a:lnTo>
                  <a:lnTo>
                    <a:pt x="6" y="36"/>
                  </a:lnTo>
                  <a:lnTo>
                    <a:pt x="18" y="36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09" name="Line 342">
              <a:extLst>
                <a:ext uri="{FF2B5EF4-FFF2-40B4-BE49-F238E27FC236}">
                  <a16:creationId xmlns:a16="http://schemas.microsoft.com/office/drawing/2014/main" id="{6FEBD025-97A3-3FCA-A13B-0747234CC1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36" y="2381"/>
              <a:ext cx="6" cy="23"/>
            </a:xfrm>
            <a:prstGeom prst="line">
              <a:avLst/>
            </a:prstGeom>
            <a:noFill/>
            <a:ln w="0">
              <a:solidFill>
                <a:srgbClr val="354A1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10" name="Freeform 343">
              <a:extLst>
                <a:ext uri="{FF2B5EF4-FFF2-40B4-BE49-F238E27FC236}">
                  <a16:creationId xmlns:a16="http://schemas.microsoft.com/office/drawing/2014/main" id="{0D80F95C-D522-ECF4-E1A2-47ED0E4D2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" y="2375"/>
              <a:ext cx="30" cy="29"/>
            </a:xfrm>
            <a:custGeom>
              <a:avLst/>
              <a:gdLst>
                <a:gd name="T0" fmla="*/ 30 w 30"/>
                <a:gd name="T1" fmla="*/ 23 h 29"/>
                <a:gd name="T2" fmla="*/ 24 w 30"/>
                <a:gd name="T3" fmla="*/ 0 h 29"/>
                <a:gd name="T4" fmla="*/ 0 w 30"/>
                <a:gd name="T5" fmla="*/ 6 h 29"/>
                <a:gd name="T6" fmla="*/ 6 w 30"/>
                <a:gd name="T7" fmla="*/ 29 h 29"/>
                <a:gd name="T8" fmla="*/ 30 w 30"/>
                <a:gd name="T9" fmla="*/ 23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29"/>
                <a:gd name="T17" fmla="*/ 30 w 30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29">
                  <a:moveTo>
                    <a:pt x="30" y="23"/>
                  </a:moveTo>
                  <a:lnTo>
                    <a:pt x="24" y="0"/>
                  </a:lnTo>
                  <a:lnTo>
                    <a:pt x="0" y="6"/>
                  </a:lnTo>
                  <a:lnTo>
                    <a:pt x="6" y="29"/>
                  </a:lnTo>
                  <a:lnTo>
                    <a:pt x="3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11" name="Freeform 344">
              <a:extLst>
                <a:ext uri="{FF2B5EF4-FFF2-40B4-BE49-F238E27FC236}">
                  <a16:creationId xmlns:a16="http://schemas.microsoft.com/office/drawing/2014/main" id="{DB59D3C9-BE81-67AF-5F17-127E6FC1F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1"/>
              <a:ext cx="24" cy="29"/>
            </a:xfrm>
            <a:custGeom>
              <a:avLst/>
              <a:gdLst>
                <a:gd name="T0" fmla="*/ 24 w 24"/>
                <a:gd name="T1" fmla="*/ 29 h 29"/>
                <a:gd name="T2" fmla="*/ 24 w 24"/>
                <a:gd name="T3" fmla="*/ 29 h 29"/>
                <a:gd name="T4" fmla="*/ 24 w 24"/>
                <a:gd name="T5" fmla="*/ 17 h 29"/>
                <a:gd name="T6" fmla="*/ 24 w 24"/>
                <a:gd name="T7" fmla="*/ 11 h 29"/>
                <a:gd name="T8" fmla="*/ 12 w 24"/>
                <a:gd name="T9" fmla="*/ 0 h 29"/>
                <a:gd name="T10" fmla="*/ 0 w 24"/>
                <a:gd name="T11" fmla="*/ 23 h 29"/>
                <a:gd name="T12" fmla="*/ 0 w 24"/>
                <a:gd name="T13" fmla="*/ 23 h 29"/>
                <a:gd name="T14" fmla="*/ 0 w 24"/>
                <a:gd name="T15" fmla="*/ 29 h 29"/>
                <a:gd name="T16" fmla="*/ 0 w 24"/>
                <a:gd name="T17" fmla="*/ 29 h 29"/>
                <a:gd name="T18" fmla="*/ 0 w 24"/>
                <a:gd name="T19" fmla="*/ 29 h 29"/>
                <a:gd name="T20" fmla="*/ 24 w 24"/>
                <a:gd name="T21" fmla="*/ 29 h 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29"/>
                <a:gd name="T35" fmla="*/ 24 w 24"/>
                <a:gd name="T36" fmla="*/ 29 h 2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29">
                  <a:moveTo>
                    <a:pt x="24" y="29"/>
                  </a:moveTo>
                  <a:lnTo>
                    <a:pt x="24" y="29"/>
                  </a:lnTo>
                  <a:lnTo>
                    <a:pt x="24" y="17"/>
                  </a:lnTo>
                  <a:lnTo>
                    <a:pt x="24" y="11"/>
                  </a:lnTo>
                  <a:lnTo>
                    <a:pt x="12" y="0"/>
                  </a:lnTo>
                  <a:lnTo>
                    <a:pt x="0" y="23"/>
                  </a:lnTo>
                  <a:lnTo>
                    <a:pt x="0" y="29"/>
                  </a:lnTo>
                  <a:lnTo>
                    <a:pt x="2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12" name="Freeform 345">
              <a:extLst>
                <a:ext uri="{FF2B5EF4-FFF2-40B4-BE49-F238E27FC236}">
                  <a16:creationId xmlns:a16="http://schemas.microsoft.com/office/drawing/2014/main" id="{D8ACE847-A1F4-A0BC-FA34-654DAD826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81"/>
              <a:ext cx="30" cy="23"/>
            </a:xfrm>
            <a:custGeom>
              <a:avLst/>
              <a:gdLst>
                <a:gd name="T0" fmla="*/ 30 w 30"/>
                <a:gd name="T1" fmla="*/ 5 h 23"/>
                <a:gd name="T2" fmla="*/ 30 w 30"/>
                <a:gd name="T3" fmla="*/ 5 h 23"/>
                <a:gd name="T4" fmla="*/ 18 w 30"/>
                <a:gd name="T5" fmla="*/ 0 h 23"/>
                <a:gd name="T6" fmla="*/ 12 w 30"/>
                <a:gd name="T7" fmla="*/ 0 h 23"/>
                <a:gd name="T8" fmla="*/ 0 w 30"/>
                <a:gd name="T9" fmla="*/ 5 h 23"/>
                <a:gd name="T10" fmla="*/ 18 w 30"/>
                <a:gd name="T11" fmla="*/ 23 h 23"/>
                <a:gd name="T12" fmla="*/ 12 w 30"/>
                <a:gd name="T13" fmla="*/ 23 h 23"/>
                <a:gd name="T14" fmla="*/ 6 w 30"/>
                <a:gd name="T15" fmla="*/ 23 h 23"/>
                <a:gd name="T16" fmla="*/ 30 w 30"/>
                <a:gd name="T17" fmla="*/ 5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3"/>
                <a:gd name="T29" fmla="*/ 30 w 30"/>
                <a:gd name="T30" fmla="*/ 23 h 2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3">
                  <a:moveTo>
                    <a:pt x="30" y="5"/>
                  </a:moveTo>
                  <a:lnTo>
                    <a:pt x="30" y="5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5"/>
                  </a:lnTo>
                  <a:lnTo>
                    <a:pt x="18" y="23"/>
                  </a:lnTo>
                  <a:lnTo>
                    <a:pt x="12" y="23"/>
                  </a:lnTo>
                  <a:lnTo>
                    <a:pt x="6" y="23"/>
                  </a:lnTo>
                  <a:lnTo>
                    <a:pt x="3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13" name="Freeform 346">
              <a:extLst>
                <a:ext uri="{FF2B5EF4-FFF2-40B4-BE49-F238E27FC236}">
                  <a16:creationId xmlns:a16="http://schemas.microsoft.com/office/drawing/2014/main" id="{26747A29-B8B7-04E7-D8DA-CE2055D5A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69"/>
              <a:ext cx="30" cy="29"/>
            </a:xfrm>
            <a:custGeom>
              <a:avLst/>
              <a:gdLst>
                <a:gd name="T0" fmla="*/ 30 w 30"/>
                <a:gd name="T1" fmla="*/ 6 h 29"/>
                <a:gd name="T2" fmla="*/ 30 w 30"/>
                <a:gd name="T3" fmla="*/ 6 h 29"/>
                <a:gd name="T4" fmla="*/ 18 w 30"/>
                <a:gd name="T5" fmla="*/ 0 h 29"/>
                <a:gd name="T6" fmla="*/ 12 w 30"/>
                <a:gd name="T7" fmla="*/ 0 h 29"/>
                <a:gd name="T8" fmla="*/ 0 w 30"/>
                <a:gd name="T9" fmla="*/ 6 h 29"/>
                <a:gd name="T10" fmla="*/ 12 w 30"/>
                <a:gd name="T11" fmla="*/ 29 h 29"/>
                <a:gd name="T12" fmla="*/ 12 w 30"/>
                <a:gd name="T13" fmla="*/ 29 h 29"/>
                <a:gd name="T14" fmla="*/ 12 w 30"/>
                <a:gd name="T15" fmla="*/ 23 h 29"/>
                <a:gd name="T16" fmla="*/ 30 w 30"/>
                <a:gd name="T17" fmla="*/ 6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9"/>
                <a:gd name="T29" fmla="*/ 30 w 30"/>
                <a:gd name="T30" fmla="*/ 29 h 2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9">
                  <a:moveTo>
                    <a:pt x="30" y="6"/>
                  </a:moveTo>
                  <a:lnTo>
                    <a:pt x="30" y="6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12" y="29"/>
                  </a:lnTo>
                  <a:lnTo>
                    <a:pt x="12" y="23"/>
                  </a:lnTo>
                  <a:lnTo>
                    <a:pt x="30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14" name="Freeform 347">
              <a:extLst>
                <a:ext uri="{FF2B5EF4-FFF2-40B4-BE49-F238E27FC236}">
                  <a16:creationId xmlns:a16="http://schemas.microsoft.com/office/drawing/2014/main" id="{6F10329A-6591-9DEA-3942-E04AFE468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69"/>
              <a:ext cx="30" cy="23"/>
            </a:xfrm>
            <a:custGeom>
              <a:avLst/>
              <a:gdLst>
                <a:gd name="T0" fmla="*/ 30 w 30"/>
                <a:gd name="T1" fmla="*/ 0 h 23"/>
                <a:gd name="T2" fmla="*/ 30 w 30"/>
                <a:gd name="T3" fmla="*/ 0 h 23"/>
                <a:gd name="T4" fmla="*/ 18 w 30"/>
                <a:gd name="T5" fmla="*/ 0 h 23"/>
                <a:gd name="T6" fmla="*/ 0 w 30"/>
                <a:gd name="T7" fmla="*/ 0 h 23"/>
                <a:gd name="T8" fmla="*/ 6 w 30"/>
                <a:gd name="T9" fmla="*/ 23 h 23"/>
                <a:gd name="T10" fmla="*/ 12 w 30"/>
                <a:gd name="T11" fmla="*/ 23 h 23"/>
                <a:gd name="T12" fmla="*/ 18 w 30"/>
                <a:gd name="T13" fmla="*/ 23 h 23"/>
                <a:gd name="T14" fmla="*/ 30 w 30"/>
                <a:gd name="T15" fmla="*/ 0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"/>
                <a:gd name="T25" fmla="*/ 0 h 23"/>
                <a:gd name="T26" fmla="*/ 30 w 30"/>
                <a:gd name="T27" fmla="*/ 23 h 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" h="23">
                  <a:moveTo>
                    <a:pt x="30" y="0"/>
                  </a:moveTo>
                  <a:lnTo>
                    <a:pt x="30" y="0"/>
                  </a:lnTo>
                  <a:lnTo>
                    <a:pt x="18" y="0"/>
                  </a:lnTo>
                  <a:lnTo>
                    <a:pt x="0" y="0"/>
                  </a:lnTo>
                  <a:lnTo>
                    <a:pt x="6" y="23"/>
                  </a:lnTo>
                  <a:lnTo>
                    <a:pt x="12" y="23"/>
                  </a:lnTo>
                  <a:lnTo>
                    <a:pt x="18" y="23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15" name="Freeform 348">
              <a:extLst>
                <a:ext uri="{FF2B5EF4-FFF2-40B4-BE49-F238E27FC236}">
                  <a16:creationId xmlns:a16="http://schemas.microsoft.com/office/drawing/2014/main" id="{7E0ABBE1-B56E-4030-BA98-AB9B64B13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363"/>
              <a:ext cx="36" cy="23"/>
            </a:xfrm>
            <a:custGeom>
              <a:avLst/>
              <a:gdLst>
                <a:gd name="T0" fmla="*/ 36 w 36"/>
                <a:gd name="T1" fmla="*/ 6 h 23"/>
                <a:gd name="T2" fmla="*/ 36 w 36"/>
                <a:gd name="T3" fmla="*/ 6 h 23"/>
                <a:gd name="T4" fmla="*/ 24 w 36"/>
                <a:gd name="T5" fmla="*/ 0 h 23"/>
                <a:gd name="T6" fmla="*/ 12 w 36"/>
                <a:gd name="T7" fmla="*/ 0 h 23"/>
                <a:gd name="T8" fmla="*/ 0 w 36"/>
                <a:gd name="T9" fmla="*/ 6 h 23"/>
                <a:gd name="T10" fmla="*/ 12 w 36"/>
                <a:gd name="T11" fmla="*/ 23 h 23"/>
                <a:gd name="T12" fmla="*/ 18 w 36"/>
                <a:gd name="T13" fmla="*/ 23 h 23"/>
                <a:gd name="T14" fmla="*/ 24 w 36"/>
                <a:gd name="T15" fmla="*/ 23 h 23"/>
                <a:gd name="T16" fmla="*/ 36 w 36"/>
                <a:gd name="T17" fmla="*/ 6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"/>
                <a:gd name="T28" fmla="*/ 0 h 23"/>
                <a:gd name="T29" fmla="*/ 36 w 36"/>
                <a:gd name="T30" fmla="*/ 23 h 2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" h="23">
                  <a:moveTo>
                    <a:pt x="36" y="6"/>
                  </a:moveTo>
                  <a:lnTo>
                    <a:pt x="36" y="6"/>
                  </a:lnTo>
                  <a:lnTo>
                    <a:pt x="24" y="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12" y="23"/>
                  </a:lnTo>
                  <a:lnTo>
                    <a:pt x="18" y="23"/>
                  </a:lnTo>
                  <a:lnTo>
                    <a:pt x="24" y="23"/>
                  </a:lnTo>
                  <a:lnTo>
                    <a:pt x="36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16" name="Freeform 349">
              <a:extLst>
                <a:ext uri="{FF2B5EF4-FFF2-40B4-BE49-F238E27FC236}">
                  <a16:creationId xmlns:a16="http://schemas.microsoft.com/office/drawing/2014/main" id="{627A229B-BDA7-BFCE-B782-5E0F7C064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363"/>
              <a:ext cx="36" cy="23"/>
            </a:xfrm>
            <a:custGeom>
              <a:avLst/>
              <a:gdLst>
                <a:gd name="T0" fmla="*/ 36 w 36"/>
                <a:gd name="T1" fmla="*/ 0 h 23"/>
                <a:gd name="T2" fmla="*/ 30 w 36"/>
                <a:gd name="T3" fmla="*/ 0 h 23"/>
                <a:gd name="T4" fmla="*/ 0 w 36"/>
                <a:gd name="T5" fmla="*/ 0 h 23"/>
                <a:gd name="T6" fmla="*/ 12 w 36"/>
                <a:gd name="T7" fmla="*/ 23 h 23"/>
                <a:gd name="T8" fmla="*/ 24 w 36"/>
                <a:gd name="T9" fmla="*/ 23 h 23"/>
                <a:gd name="T10" fmla="*/ 24 w 36"/>
                <a:gd name="T11" fmla="*/ 23 h 23"/>
                <a:gd name="T12" fmla="*/ 24 w 36"/>
                <a:gd name="T13" fmla="*/ 23 h 23"/>
                <a:gd name="T14" fmla="*/ 36 w 36"/>
                <a:gd name="T15" fmla="*/ 0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6"/>
                <a:gd name="T25" fmla="*/ 0 h 23"/>
                <a:gd name="T26" fmla="*/ 36 w 36"/>
                <a:gd name="T27" fmla="*/ 23 h 2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6" h="23">
                  <a:moveTo>
                    <a:pt x="36" y="0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12" y="23"/>
                  </a:lnTo>
                  <a:lnTo>
                    <a:pt x="24" y="23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17" name="Freeform 350">
              <a:extLst>
                <a:ext uri="{FF2B5EF4-FFF2-40B4-BE49-F238E27FC236}">
                  <a16:creationId xmlns:a16="http://schemas.microsoft.com/office/drawing/2014/main" id="{ED61EB33-93B8-2EA8-D539-20A92A3B7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57"/>
              <a:ext cx="30" cy="24"/>
            </a:xfrm>
            <a:custGeom>
              <a:avLst/>
              <a:gdLst>
                <a:gd name="T0" fmla="*/ 30 w 30"/>
                <a:gd name="T1" fmla="*/ 0 h 24"/>
                <a:gd name="T2" fmla="*/ 30 w 30"/>
                <a:gd name="T3" fmla="*/ 0 h 24"/>
                <a:gd name="T4" fmla="*/ 18 w 30"/>
                <a:gd name="T5" fmla="*/ 0 h 24"/>
                <a:gd name="T6" fmla="*/ 0 w 30"/>
                <a:gd name="T7" fmla="*/ 0 h 24"/>
                <a:gd name="T8" fmla="*/ 6 w 30"/>
                <a:gd name="T9" fmla="*/ 24 h 24"/>
                <a:gd name="T10" fmla="*/ 18 w 30"/>
                <a:gd name="T11" fmla="*/ 24 h 24"/>
                <a:gd name="T12" fmla="*/ 18 w 30"/>
                <a:gd name="T13" fmla="*/ 24 h 24"/>
                <a:gd name="T14" fmla="*/ 18 w 30"/>
                <a:gd name="T15" fmla="*/ 24 h 24"/>
                <a:gd name="T16" fmla="*/ 30 w 30"/>
                <a:gd name="T17" fmla="*/ 0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4"/>
                <a:gd name="T29" fmla="*/ 30 w 30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4">
                  <a:moveTo>
                    <a:pt x="30" y="0"/>
                  </a:moveTo>
                  <a:lnTo>
                    <a:pt x="30" y="0"/>
                  </a:lnTo>
                  <a:lnTo>
                    <a:pt x="18" y="0"/>
                  </a:lnTo>
                  <a:lnTo>
                    <a:pt x="0" y="0"/>
                  </a:lnTo>
                  <a:lnTo>
                    <a:pt x="6" y="24"/>
                  </a:lnTo>
                  <a:lnTo>
                    <a:pt x="18" y="24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18" name="Freeform 351">
              <a:extLst>
                <a:ext uri="{FF2B5EF4-FFF2-40B4-BE49-F238E27FC236}">
                  <a16:creationId xmlns:a16="http://schemas.microsoft.com/office/drawing/2014/main" id="{2FFC6212-1593-B6E2-4ECE-C85463F24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351"/>
              <a:ext cx="24" cy="24"/>
            </a:xfrm>
            <a:custGeom>
              <a:avLst/>
              <a:gdLst>
                <a:gd name="T0" fmla="*/ 24 w 24"/>
                <a:gd name="T1" fmla="*/ 0 h 24"/>
                <a:gd name="T2" fmla="*/ 18 w 24"/>
                <a:gd name="T3" fmla="*/ 0 h 24"/>
                <a:gd name="T4" fmla="*/ 0 w 24"/>
                <a:gd name="T5" fmla="*/ 0 h 24"/>
                <a:gd name="T6" fmla="*/ 6 w 24"/>
                <a:gd name="T7" fmla="*/ 24 h 24"/>
                <a:gd name="T8" fmla="*/ 12 w 24"/>
                <a:gd name="T9" fmla="*/ 24 h 24"/>
                <a:gd name="T10" fmla="*/ 18 w 24"/>
                <a:gd name="T11" fmla="*/ 24 h 24"/>
                <a:gd name="T12" fmla="*/ 24 w 24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"/>
                <a:gd name="T22" fmla="*/ 0 h 24"/>
                <a:gd name="T23" fmla="*/ 24 w 24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" h="24">
                  <a:moveTo>
                    <a:pt x="24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2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19" name="Freeform 352">
              <a:extLst>
                <a:ext uri="{FF2B5EF4-FFF2-40B4-BE49-F238E27FC236}">
                  <a16:creationId xmlns:a16="http://schemas.microsoft.com/office/drawing/2014/main" id="{059FA8F7-B9E2-E869-573A-8AD319EA1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345"/>
              <a:ext cx="18" cy="24"/>
            </a:xfrm>
            <a:custGeom>
              <a:avLst/>
              <a:gdLst>
                <a:gd name="T0" fmla="*/ 18 w 18"/>
                <a:gd name="T1" fmla="*/ 0 h 24"/>
                <a:gd name="T2" fmla="*/ 12 w 18"/>
                <a:gd name="T3" fmla="*/ 0 h 24"/>
                <a:gd name="T4" fmla="*/ 0 w 18"/>
                <a:gd name="T5" fmla="*/ 0 h 24"/>
                <a:gd name="T6" fmla="*/ 6 w 18"/>
                <a:gd name="T7" fmla="*/ 24 h 24"/>
                <a:gd name="T8" fmla="*/ 12 w 18"/>
                <a:gd name="T9" fmla="*/ 24 h 24"/>
                <a:gd name="T10" fmla="*/ 12 w 18"/>
                <a:gd name="T11" fmla="*/ 24 h 24"/>
                <a:gd name="T12" fmla="*/ 18 w 18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24"/>
                <a:gd name="T23" fmla="*/ 18 w 18"/>
                <a:gd name="T24" fmla="*/ 24 h 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24">
                  <a:moveTo>
                    <a:pt x="18" y="0"/>
                  </a:moveTo>
                  <a:lnTo>
                    <a:pt x="12" y="0"/>
                  </a:lnTo>
                  <a:lnTo>
                    <a:pt x="0" y="0"/>
                  </a:lnTo>
                  <a:lnTo>
                    <a:pt x="6" y="24"/>
                  </a:lnTo>
                  <a:lnTo>
                    <a:pt x="12" y="2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20" name="Freeform 353">
              <a:extLst>
                <a:ext uri="{FF2B5EF4-FFF2-40B4-BE49-F238E27FC236}">
                  <a16:creationId xmlns:a16="http://schemas.microsoft.com/office/drawing/2014/main" id="{E535D875-C474-6753-B3EE-A3DA8CCD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434"/>
              <a:ext cx="18" cy="6"/>
            </a:xfrm>
            <a:custGeom>
              <a:avLst/>
              <a:gdLst>
                <a:gd name="T0" fmla="*/ 0 w 18"/>
                <a:gd name="T1" fmla="*/ 0 h 6"/>
                <a:gd name="T2" fmla="*/ 0 w 18"/>
                <a:gd name="T3" fmla="*/ 6 h 6"/>
                <a:gd name="T4" fmla="*/ 0 w 18"/>
                <a:gd name="T5" fmla="*/ 6 h 6"/>
                <a:gd name="T6" fmla="*/ 6 w 18"/>
                <a:gd name="T7" fmla="*/ 6 h 6"/>
                <a:gd name="T8" fmla="*/ 6 w 18"/>
                <a:gd name="T9" fmla="*/ 6 h 6"/>
                <a:gd name="T10" fmla="*/ 6 w 18"/>
                <a:gd name="T11" fmla="*/ 6 h 6"/>
                <a:gd name="T12" fmla="*/ 6 w 18"/>
                <a:gd name="T13" fmla="*/ 6 h 6"/>
                <a:gd name="T14" fmla="*/ 12 w 18"/>
                <a:gd name="T15" fmla="*/ 6 h 6"/>
                <a:gd name="T16" fmla="*/ 12 w 18"/>
                <a:gd name="T17" fmla="*/ 6 h 6"/>
                <a:gd name="T18" fmla="*/ 18 w 18"/>
                <a:gd name="T19" fmla="*/ 6 h 6"/>
                <a:gd name="T20" fmla="*/ 18 w 18"/>
                <a:gd name="T21" fmla="*/ 6 h 6"/>
                <a:gd name="T22" fmla="*/ 6 w 18"/>
                <a:gd name="T23" fmla="*/ 6 h 6"/>
                <a:gd name="T24" fmla="*/ 6 w 18"/>
                <a:gd name="T25" fmla="*/ 0 h 6"/>
                <a:gd name="T26" fmla="*/ 0 w 18"/>
                <a:gd name="T27" fmla="*/ 0 h 6"/>
                <a:gd name="T28" fmla="*/ 0 w 18"/>
                <a:gd name="T29" fmla="*/ 0 h 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8"/>
                <a:gd name="T46" fmla="*/ 0 h 6"/>
                <a:gd name="T47" fmla="*/ 18 w 18"/>
                <a:gd name="T48" fmla="*/ 6 h 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8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6" y="6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45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21" name="Freeform 354">
              <a:extLst>
                <a:ext uri="{FF2B5EF4-FFF2-40B4-BE49-F238E27FC236}">
                  <a16:creationId xmlns:a16="http://schemas.microsoft.com/office/drawing/2014/main" id="{125BB680-F49C-EF4A-1164-80A585BC5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428"/>
              <a:ext cx="24" cy="24"/>
            </a:xfrm>
            <a:custGeom>
              <a:avLst/>
              <a:gdLst>
                <a:gd name="T0" fmla="*/ 0 w 24"/>
                <a:gd name="T1" fmla="*/ 12 h 24"/>
                <a:gd name="T2" fmla="*/ 0 w 24"/>
                <a:gd name="T3" fmla="*/ 18 h 24"/>
                <a:gd name="T4" fmla="*/ 6 w 24"/>
                <a:gd name="T5" fmla="*/ 24 h 24"/>
                <a:gd name="T6" fmla="*/ 18 w 24"/>
                <a:gd name="T7" fmla="*/ 24 h 24"/>
                <a:gd name="T8" fmla="*/ 6 w 24"/>
                <a:gd name="T9" fmla="*/ 0 h 24"/>
                <a:gd name="T10" fmla="*/ 18 w 24"/>
                <a:gd name="T11" fmla="*/ 0 h 24"/>
                <a:gd name="T12" fmla="*/ 24 w 24"/>
                <a:gd name="T13" fmla="*/ 6 h 24"/>
                <a:gd name="T14" fmla="*/ 24 w 24"/>
                <a:gd name="T15" fmla="*/ 6 h 24"/>
                <a:gd name="T16" fmla="*/ 24 w 24"/>
                <a:gd name="T17" fmla="*/ 6 h 24"/>
                <a:gd name="T18" fmla="*/ 0 w 24"/>
                <a:gd name="T19" fmla="*/ 1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24"/>
                <a:gd name="T32" fmla="*/ 24 w 24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24">
                  <a:moveTo>
                    <a:pt x="0" y="12"/>
                  </a:moveTo>
                  <a:lnTo>
                    <a:pt x="0" y="18"/>
                  </a:lnTo>
                  <a:lnTo>
                    <a:pt x="6" y="24"/>
                  </a:lnTo>
                  <a:lnTo>
                    <a:pt x="18" y="24"/>
                  </a:lnTo>
                  <a:lnTo>
                    <a:pt x="6" y="0"/>
                  </a:lnTo>
                  <a:lnTo>
                    <a:pt x="18" y="0"/>
                  </a:lnTo>
                  <a:lnTo>
                    <a:pt x="24" y="6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22" name="Freeform 355">
              <a:extLst>
                <a:ext uri="{FF2B5EF4-FFF2-40B4-BE49-F238E27FC236}">
                  <a16:creationId xmlns:a16="http://schemas.microsoft.com/office/drawing/2014/main" id="{91D2D40C-B7CC-21E2-7786-1705415B37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6" y="2428"/>
              <a:ext cx="18" cy="24"/>
            </a:xfrm>
            <a:custGeom>
              <a:avLst/>
              <a:gdLst>
                <a:gd name="T0" fmla="*/ 12 w 18"/>
                <a:gd name="T1" fmla="*/ 24 h 24"/>
                <a:gd name="T2" fmla="*/ 6 w 18"/>
                <a:gd name="T3" fmla="*/ 24 h 24"/>
                <a:gd name="T4" fmla="*/ 6 w 18"/>
                <a:gd name="T5" fmla="*/ 24 h 24"/>
                <a:gd name="T6" fmla="*/ 6 w 18"/>
                <a:gd name="T7" fmla="*/ 24 h 24"/>
                <a:gd name="T8" fmla="*/ 6 w 18"/>
                <a:gd name="T9" fmla="*/ 24 h 24"/>
                <a:gd name="T10" fmla="*/ 18 w 18"/>
                <a:gd name="T11" fmla="*/ 0 h 24"/>
                <a:gd name="T12" fmla="*/ 18 w 18"/>
                <a:gd name="T13" fmla="*/ 0 h 24"/>
                <a:gd name="T14" fmla="*/ 18 w 18"/>
                <a:gd name="T15" fmla="*/ 0 h 24"/>
                <a:gd name="T16" fmla="*/ 12 w 18"/>
                <a:gd name="T17" fmla="*/ 0 h 24"/>
                <a:gd name="T18" fmla="*/ 0 w 18"/>
                <a:gd name="T19" fmla="*/ 0 h 24"/>
                <a:gd name="T20" fmla="*/ 12 w 18"/>
                <a:gd name="T21" fmla="*/ 24 h 24"/>
                <a:gd name="T22" fmla="*/ 0 w 18"/>
                <a:gd name="T23" fmla="*/ 0 h 24"/>
                <a:gd name="T24" fmla="*/ 0 w 18"/>
                <a:gd name="T25" fmla="*/ 0 h 24"/>
                <a:gd name="T26" fmla="*/ 0 w 18"/>
                <a:gd name="T27" fmla="*/ 0 h 24"/>
                <a:gd name="T28" fmla="*/ 6 w 18"/>
                <a:gd name="T29" fmla="*/ 12 h 24"/>
                <a:gd name="T30" fmla="*/ 0 w 18"/>
                <a:gd name="T31" fmla="*/ 0 h 2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8"/>
                <a:gd name="T49" fmla="*/ 0 h 24"/>
                <a:gd name="T50" fmla="*/ 18 w 18"/>
                <a:gd name="T51" fmla="*/ 24 h 2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8" h="24">
                  <a:moveTo>
                    <a:pt x="12" y="24"/>
                  </a:moveTo>
                  <a:lnTo>
                    <a:pt x="6" y="24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2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6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23" name="Freeform 356">
              <a:extLst>
                <a:ext uri="{FF2B5EF4-FFF2-40B4-BE49-F238E27FC236}">
                  <a16:creationId xmlns:a16="http://schemas.microsoft.com/office/drawing/2014/main" id="{49C27DD1-93A4-2826-BECC-D9CBF5E4AD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6" y="2428"/>
              <a:ext cx="24" cy="24"/>
            </a:xfrm>
            <a:custGeom>
              <a:avLst/>
              <a:gdLst>
                <a:gd name="T0" fmla="*/ 6 w 24"/>
                <a:gd name="T1" fmla="*/ 24 h 24"/>
                <a:gd name="T2" fmla="*/ 0 w 24"/>
                <a:gd name="T3" fmla="*/ 18 h 24"/>
                <a:gd name="T4" fmla="*/ 0 w 24"/>
                <a:gd name="T5" fmla="*/ 18 h 24"/>
                <a:gd name="T6" fmla="*/ 0 w 24"/>
                <a:gd name="T7" fmla="*/ 18 h 24"/>
                <a:gd name="T8" fmla="*/ 24 w 24"/>
                <a:gd name="T9" fmla="*/ 6 h 24"/>
                <a:gd name="T10" fmla="*/ 18 w 24"/>
                <a:gd name="T11" fmla="*/ 0 h 24"/>
                <a:gd name="T12" fmla="*/ 18 w 24"/>
                <a:gd name="T13" fmla="*/ 0 h 24"/>
                <a:gd name="T14" fmla="*/ 18 w 24"/>
                <a:gd name="T15" fmla="*/ 0 h 24"/>
                <a:gd name="T16" fmla="*/ 12 w 24"/>
                <a:gd name="T17" fmla="*/ 0 h 24"/>
                <a:gd name="T18" fmla="*/ 6 w 24"/>
                <a:gd name="T19" fmla="*/ 24 h 24"/>
                <a:gd name="T20" fmla="*/ 6 w 24"/>
                <a:gd name="T21" fmla="*/ 24 h 24"/>
                <a:gd name="T22" fmla="*/ 6 w 24"/>
                <a:gd name="T23" fmla="*/ 24 h 24"/>
                <a:gd name="T24" fmla="*/ 6 w 24"/>
                <a:gd name="T25" fmla="*/ 24 h 24"/>
                <a:gd name="T26" fmla="*/ 12 w 24"/>
                <a:gd name="T27" fmla="*/ 12 h 24"/>
                <a:gd name="T28" fmla="*/ 6 w 24"/>
                <a:gd name="T29" fmla="*/ 24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4"/>
                <a:gd name="T46" fmla="*/ 0 h 24"/>
                <a:gd name="T47" fmla="*/ 24 w 24"/>
                <a:gd name="T48" fmla="*/ 24 h 2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4" h="24">
                  <a:moveTo>
                    <a:pt x="6" y="24"/>
                  </a:moveTo>
                  <a:lnTo>
                    <a:pt x="0" y="18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24"/>
                  </a:lnTo>
                  <a:close/>
                  <a:moveTo>
                    <a:pt x="6" y="24"/>
                  </a:moveTo>
                  <a:lnTo>
                    <a:pt x="6" y="24"/>
                  </a:lnTo>
                  <a:lnTo>
                    <a:pt x="12" y="12"/>
                  </a:lnTo>
                  <a:lnTo>
                    <a:pt x="6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24" name="Freeform 357">
              <a:extLst>
                <a:ext uri="{FF2B5EF4-FFF2-40B4-BE49-F238E27FC236}">
                  <a16:creationId xmlns:a16="http://schemas.microsoft.com/office/drawing/2014/main" id="{9BFE181E-55F9-BE1F-7F69-AB47BD235B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6" y="2428"/>
              <a:ext cx="24" cy="42"/>
            </a:xfrm>
            <a:custGeom>
              <a:avLst/>
              <a:gdLst>
                <a:gd name="T0" fmla="*/ 24 w 24"/>
                <a:gd name="T1" fmla="*/ 18 h 42"/>
                <a:gd name="T2" fmla="*/ 18 w 24"/>
                <a:gd name="T3" fmla="*/ 24 h 42"/>
                <a:gd name="T4" fmla="*/ 18 w 24"/>
                <a:gd name="T5" fmla="*/ 24 h 42"/>
                <a:gd name="T6" fmla="*/ 12 w 24"/>
                <a:gd name="T7" fmla="*/ 24 h 42"/>
                <a:gd name="T8" fmla="*/ 12 w 24"/>
                <a:gd name="T9" fmla="*/ 24 h 42"/>
                <a:gd name="T10" fmla="*/ 12 w 24"/>
                <a:gd name="T11" fmla="*/ 24 h 42"/>
                <a:gd name="T12" fmla="*/ 12 w 24"/>
                <a:gd name="T13" fmla="*/ 0 h 42"/>
                <a:gd name="T14" fmla="*/ 18 w 24"/>
                <a:gd name="T15" fmla="*/ 0 h 42"/>
                <a:gd name="T16" fmla="*/ 18 w 24"/>
                <a:gd name="T17" fmla="*/ 0 h 42"/>
                <a:gd name="T18" fmla="*/ 18 w 24"/>
                <a:gd name="T19" fmla="*/ 0 h 42"/>
                <a:gd name="T20" fmla="*/ 18 w 24"/>
                <a:gd name="T21" fmla="*/ 0 h 42"/>
                <a:gd name="T22" fmla="*/ 12 w 24"/>
                <a:gd name="T23" fmla="*/ 0 h 42"/>
                <a:gd name="T24" fmla="*/ 24 w 24"/>
                <a:gd name="T25" fmla="*/ 18 h 42"/>
                <a:gd name="T26" fmla="*/ 0 w 24"/>
                <a:gd name="T27" fmla="*/ 18 h 42"/>
                <a:gd name="T28" fmla="*/ 12 w 24"/>
                <a:gd name="T29" fmla="*/ 42 h 42"/>
                <a:gd name="T30" fmla="*/ 24 w 24"/>
                <a:gd name="T31" fmla="*/ 18 h 42"/>
                <a:gd name="T32" fmla="*/ 12 w 24"/>
                <a:gd name="T33" fmla="*/ 12 h 42"/>
                <a:gd name="T34" fmla="*/ 0 w 24"/>
                <a:gd name="T35" fmla="*/ 18 h 4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4"/>
                <a:gd name="T55" fmla="*/ 0 h 42"/>
                <a:gd name="T56" fmla="*/ 24 w 24"/>
                <a:gd name="T57" fmla="*/ 42 h 4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4" h="42">
                  <a:moveTo>
                    <a:pt x="24" y="18"/>
                  </a:moveTo>
                  <a:lnTo>
                    <a:pt x="18" y="24"/>
                  </a:lnTo>
                  <a:lnTo>
                    <a:pt x="12" y="24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24" y="18"/>
                  </a:lnTo>
                  <a:close/>
                  <a:moveTo>
                    <a:pt x="0" y="18"/>
                  </a:moveTo>
                  <a:lnTo>
                    <a:pt x="12" y="42"/>
                  </a:lnTo>
                  <a:lnTo>
                    <a:pt x="24" y="18"/>
                  </a:lnTo>
                  <a:lnTo>
                    <a:pt x="12" y="12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25" name="Freeform 358">
              <a:extLst>
                <a:ext uri="{FF2B5EF4-FFF2-40B4-BE49-F238E27FC236}">
                  <a16:creationId xmlns:a16="http://schemas.microsoft.com/office/drawing/2014/main" id="{A710724A-7320-E70D-2ADF-BCD28EC07D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28"/>
              <a:ext cx="12" cy="24"/>
            </a:xfrm>
            <a:custGeom>
              <a:avLst/>
              <a:gdLst>
                <a:gd name="T0" fmla="*/ 12 w 12"/>
                <a:gd name="T1" fmla="*/ 24 h 24"/>
                <a:gd name="T2" fmla="*/ 12 w 12"/>
                <a:gd name="T3" fmla="*/ 24 h 24"/>
                <a:gd name="T4" fmla="*/ 12 w 12"/>
                <a:gd name="T5" fmla="*/ 24 h 24"/>
                <a:gd name="T6" fmla="*/ 12 w 12"/>
                <a:gd name="T7" fmla="*/ 24 h 24"/>
                <a:gd name="T8" fmla="*/ 6 w 12"/>
                <a:gd name="T9" fmla="*/ 24 h 24"/>
                <a:gd name="T10" fmla="*/ 12 w 12"/>
                <a:gd name="T11" fmla="*/ 0 h 24"/>
                <a:gd name="T12" fmla="*/ 6 w 12"/>
                <a:gd name="T13" fmla="*/ 0 h 24"/>
                <a:gd name="T14" fmla="*/ 0 w 12"/>
                <a:gd name="T15" fmla="*/ 0 h 24"/>
                <a:gd name="T16" fmla="*/ 0 w 12"/>
                <a:gd name="T17" fmla="*/ 0 h 24"/>
                <a:gd name="T18" fmla="*/ 0 w 12"/>
                <a:gd name="T19" fmla="*/ 0 h 24"/>
                <a:gd name="T20" fmla="*/ 12 w 12"/>
                <a:gd name="T21" fmla="*/ 24 h 24"/>
                <a:gd name="T22" fmla="*/ 6 w 12"/>
                <a:gd name="T23" fmla="*/ 24 h 24"/>
                <a:gd name="T24" fmla="*/ 6 w 12"/>
                <a:gd name="T25" fmla="*/ 24 h 24"/>
                <a:gd name="T26" fmla="*/ 12 w 12"/>
                <a:gd name="T27" fmla="*/ 24 h 24"/>
                <a:gd name="T28" fmla="*/ 6 w 12"/>
                <a:gd name="T29" fmla="*/ 12 h 24"/>
                <a:gd name="T30" fmla="*/ 6 w 12"/>
                <a:gd name="T31" fmla="*/ 24 h 2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2"/>
                <a:gd name="T49" fmla="*/ 0 h 24"/>
                <a:gd name="T50" fmla="*/ 12 w 12"/>
                <a:gd name="T51" fmla="*/ 24 h 2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2" h="24">
                  <a:moveTo>
                    <a:pt x="12" y="24"/>
                  </a:moveTo>
                  <a:lnTo>
                    <a:pt x="12" y="24"/>
                  </a:lnTo>
                  <a:lnTo>
                    <a:pt x="6" y="24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12" y="24"/>
                  </a:lnTo>
                  <a:close/>
                  <a:moveTo>
                    <a:pt x="6" y="24"/>
                  </a:moveTo>
                  <a:lnTo>
                    <a:pt x="6" y="24"/>
                  </a:lnTo>
                  <a:lnTo>
                    <a:pt x="12" y="24"/>
                  </a:lnTo>
                  <a:lnTo>
                    <a:pt x="6" y="12"/>
                  </a:lnTo>
                  <a:lnTo>
                    <a:pt x="6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26" name="Freeform 359">
              <a:extLst>
                <a:ext uri="{FF2B5EF4-FFF2-40B4-BE49-F238E27FC236}">
                  <a16:creationId xmlns:a16="http://schemas.microsoft.com/office/drawing/2014/main" id="{78AD7497-FA1B-A510-B02E-AB00DCB989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28"/>
              <a:ext cx="24" cy="24"/>
            </a:xfrm>
            <a:custGeom>
              <a:avLst/>
              <a:gdLst>
                <a:gd name="T0" fmla="*/ 6 w 24"/>
                <a:gd name="T1" fmla="*/ 24 h 24"/>
                <a:gd name="T2" fmla="*/ 18 w 24"/>
                <a:gd name="T3" fmla="*/ 24 h 24"/>
                <a:gd name="T4" fmla="*/ 18 w 24"/>
                <a:gd name="T5" fmla="*/ 18 h 24"/>
                <a:gd name="T6" fmla="*/ 24 w 24"/>
                <a:gd name="T7" fmla="*/ 12 h 24"/>
                <a:gd name="T8" fmla="*/ 0 w 24"/>
                <a:gd name="T9" fmla="*/ 6 h 24"/>
                <a:gd name="T10" fmla="*/ 0 w 24"/>
                <a:gd name="T11" fmla="*/ 6 h 24"/>
                <a:gd name="T12" fmla="*/ 0 w 24"/>
                <a:gd name="T13" fmla="*/ 0 h 24"/>
                <a:gd name="T14" fmla="*/ 12 w 24"/>
                <a:gd name="T15" fmla="*/ 0 h 24"/>
                <a:gd name="T16" fmla="*/ 6 w 24"/>
                <a:gd name="T17" fmla="*/ 24 h 24"/>
                <a:gd name="T18" fmla="*/ 12 w 24"/>
                <a:gd name="T19" fmla="*/ 0 h 24"/>
                <a:gd name="T20" fmla="*/ 12 w 24"/>
                <a:gd name="T21" fmla="*/ 0 h 24"/>
                <a:gd name="T22" fmla="*/ 12 w 24"/>
                <a:gd name="T23" fmla="*/ 0 h 24"/>
                <a:gd name="T24" fmla="*/ 6 w 24"/>
                <a:gd name="T25" fmla="*/ 12 h 24"/>
                <a:gd name="T26" fmla="*/ 12 w 24"/>
                <a:gd name="T27" fmla="*/ 0 h 2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"/>
                <a:gd name="T43" fmla="*/ 0 h 24"/>
                <a:gd name="T44" fmla="*/ 24 w 24"/>
                <a:gd name="T45" fmla="*/ 24 h 2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" h="24">
                  <a:moveTo>
                    <a:pt x="6" y="24"/>
                  </a:moveTo>
                  <a:lnTo>
                    <a:pt x="18" y="24"/>
                  </a:lnTo>
                  <a:lnTo>
                    <a:pt x="18" y="18"/>
                  </a:lnTo>
                  <a:lnTo>
                    <a:pt x="24" y="12"/>
                  </a:lnTo>
                  <a:lnTo>
                    <a:pt x="0" y="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6" y="24"/>
                  </a:lnTo>
                  <a:close/>
                  <a:moveTo>
                    <a:pt x="12" y="0"/>
                  </a:moveTo>
                  <a:lnTo>
                    <a:pt x="12" y="0"/>
                  </a:lnTo>
                  <a:lnTo>
                    <a:pt x="6" y="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27" name="Freeform 360">
              <a:extLst>
                <a:ext uri="{FF2B5EF4-FFF2-40B4-BE49-F238E27FC236}">
                  <a16:creationId xmlns:a16="http://schemas.microsoft.com/office/drawing/2014/main" id="{66B8B1A1-FCD0-4DAB-0D99-812354AFDD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28"/>
              <a:ext cx="24" cy="24"/>
            </a:xfrm>
            <a:custGeom>
              <a:avLst/>
              <a:gdLst>
                <a:gd name="T0" fmla="*/ 12 w 24"/>
                <a:gd name="T1" fmla="*/ 0 h 24"/>
                <a:gd name="T2" fmla="*/ 0 w 24"/>
                <a:gd name="T3" fmla="*/ 0 h 24"/>
                <a:gd name="T4" fmla="*/ 0 w 24"/>
                <a:gd name="T5" fmla="*/ 24 h 24"/>
                <a:gd name="T6" fmla="*/ 12 w 24"/>
                <a:gd name="T7" fmla="*/ 24 h 24"/>
                <a:gd name="T8" fmla="*/ 12 w 24"/>
                <a:gd name="T9" fmla="*/ 0 h 24"/>
                <a:gd name="T10" fmla="*/ 24 w 24"/>
                <a:gd name="T11" fmla="*/ 12 h 24"/>
                <a:gd name="T12" fmla="*/ 24 w 24"/>
                <a:gd name="T13" fmla="*/ 0 h 24"/>
                <a:gd name="T14" fmla="*/ 12 w 24"/>
                <a:gd name="T15" fmla="*/ 0 h 24"/>
                <a:gd name="T16" fmla="*/ 12 w 24"/>
                <a:gd name="T17" fmla="*/ 12 h 24"/>
                <a:gd name="T18" fmla="*/ 24 w 24"/>
                <a:gd name="T19" fmla="*/ 1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24"/>
                <a:gd name="T32" fmla="*/ 24 w 24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24">
                  <a:moveTo>
                    <a:pt x="12" y="0"/>
                  </a:moveTo>
                  <a:lnTo>
                    <a:pt x="0" y="0"/>
                  </a:lnTo>
                  <a:lnTo>
                    <a:pt x="0" y="24"/>
                  </a:lnTo>
                  <a:lnTo>
                    <a:pt x="12" y="24"/>
                  </a:lnTo>
                  <a:lnTo>
                    <a:pt x="12" y="0"/>
                  </a:lnTo>
                  <a:close/>
                  <a:moveTo>
                    <a:pt x="24" y="12"/>
                  </a:moveTo>
                  <a:lnTo>
                    <a:pt x="24" y="0"/>
                  </a:lnTo>
                  <a:lnTo>
                    <a:pt x="12" y="0"/>
                  </a:lnTo>
                  <a:lnTo>
                    <a:pt x="12" y="12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28" name="Freeform 361">
              <a:extLst>
                <a:ext uri="{FF2B5EF4-FFF2-40B4-BE49-F238E27FC236}">
                  <a16:creationId xmlns:a16="http://schemas.microsoft.com/office/drawing/2014/main" id="{FED3EBC5-6A16-97CD-A504-310007FCD8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6" y="2434"/>
              <a:ext cx="24" cy="18"/>
            </a:xfrm>
            <a:custGeom>
              <a:avLst/>
              <a:gdLst>
                <a:gd name="T0" fmla="*/ 24 w 24"/>
                <a:gd name="T1" fmla="*/ 6 h 18"/>
                <a:gd name="T2" fmla="*/ 24 w 24"/>
                <a:gd name="T3" fmla="*/ 0 h 18"/>
                <a:gd name="T4" fmla="*/ 0 w 24"/>
                <a:gd name="T5" fmla="*/ 0 h 18"/>
                <a:gd name="T6" fmla="*/ 0 w 24"/>
                <a:gd name="T7" fmla="*/ 6 h 18"/>
                <a:gd name="T8" fmla="*/ 24 w 24"/>
                <a:gd name="T9" fmla="*/ 6 h 18"/>
                <a:gd name="T10" fmla="*/ 0 w 24"/>
                <a:gd name="T11" fmla="*/ 6 h 18"/>
                <a:gd name="T12" fmla="*/ 0 w 24"/>
                <a:gd name="T13" fmla="*/ 18 h 18"/>
                <a:gd name="T14" fmla="*/ 12 w 24"/>
                <a:gd name="T15" fmla="*/ 18 h 18"/>
                <a:gd name="T16" fmla="*/ 12 w 24"/>
                <a:gd name="T17" fmla="*/ 6 h 18"/>
                <a:gd name="T18" fmla="*/ 0 w 24"/>
                <a:gd name="T19" fmla="*/ 6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"/>
                <a:gd name="T31" fmla="*/ 0 h 18"/>
                <a:gd name="T32" fmla="*/ 24 w 24"/>
                <a:gd name="T33" fmla="*/ 18 h 1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" h="18">
                  <a:moveTo>
                    <a:pt x="24" y="6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24" y="6"/>
                  </a:lnTo>
                  <a:close/>
                  <a:moveTo>
                    <a:pt x="0" y="6"/>
                  </a:moveTo>
                  <a:lnTo>
                    <a:pt x="0" y="18"/>
                  </a:lnTo>
                  <a:lnTo>
                    <a:pt x="12" y="18"/>
                  </a:lnTo>
                  <a:lnTo>
                    <a:pt x="12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29" name="Freeform 362">
              <a:extLst>
                <a:ext uri="{FF2B5EF4-FFF2-40B4-BE49-F238E27FC236}">
                  <a16:creationId xmlns:a16="http://schemas.microsoft.com/office/drawing/2014/main" id="{E9813F9B-2BB2-192F-5D76-F7177284E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2" y="2422"/>
              <a:ext cx="18" cy="24"/>
            </a:xfrm>
            <a:custGeom>
              <a:avLst/>
              <a:gdLst>
                <a:gd name="T0" fmla="*/ 6 w 18"/>
                <a:gd name="T1" fmla="*/ 0 h 24"/>
                <a:gd name="T2" fmla="*/ 0 w 18"/>
                <a:gd name="T3" fmla="*/ 0 h 24"/>
                <a:gd name="T4" fmla="*/ 0 w 18"/>
                <a:gd name="T5" fmla="*/ 24 h 24"/>
                <a:gd name="T6" fmla="*/ 6 w 18"/>
                <a:gd name="T7" fmla="*/ 24 h 24"/>
                <a:gd name="T8" fmla="*/ 6 w 18"/>
                <a:gd name="T9" fmla="*/ 0 h 24"/>
                <a:gd name="T10" fmla="*/ 18 w 18"/>
                <a:gd name="T11" fmla="*/ 12 h 24"/>
                <a:gd name="T12" fmla="*/ 18 w 18"/>
                <a:gd name="T13" fmla="*/ 0 h 24"/>
                <a:gd name="T14" fmla="*/ 6 w 18"/>
                <a:gd name="T15" fmla="*/ 0 h 24"/>
                <a:gd name="T16" fmla="*/ 6 w 18"/>
                <a:gd name="T17" fmla="*/ 12 h 24"/>
                <a:gd name="T18" fmla="*/ 18 w 18"/>
                <a:gd name="T19" fmla="*/ 1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8"/>
                <a:gd name="T31" fmla="*/ 0 h 24"/>
                <a:gd name="T32" fmla="*/ 18 w 18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8" h="24">
                  <a:moveTo>
                    <a:pt x="6" y="0"/>
                  </a:moveTo>
                  <a:lnTo>
                    <a:pt x="0" y="0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6" y="0"/>
                  </a:lnTo>
                  <a:close/>
                  <a:moveTo>
                    <a:pt x="18" y="12"/>
                  </a:moveTo>
                  <a:lnTo>
                    <a:pt x="18" y="0"/>
                  </a:lnTo>
                  <a:lnTo>
                    <a:pt x="6" y="0"/>
                  </a:lnTo>
                  <a:lnTo>
                    <a:pt x="6" y="12"/>
                  </a:lnTo>
                  <a:lnTo>
                    <a:pt x="18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30" name="Freeform 363">
              <a:extLst>
                <a:ext uri="{FF2B5EF4-FFF2-40B4-BE49-F238E27FC236}">
                  <a16:creationId xmlns:a16="http://schemas.microsoft.com/office/drawing/2014/main" id="{51C079C8-973E-F879-3F66-696775156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" y="2422"/>
              <a:ext cx="18" cy="18"/>
            </a:xfrm>
            <a:custGeom>
              <a:avLst/>
              <a:gdLst>
                <a:gd name="T0" fmla="*/ 18 w 18"/>
                <a:gd name="T1" fmla="*/ 0 h 18"/>
                <a:gd name="T2" fmla="*/ 0 w 18"/>
                <a:gd name="T3" fmla="*/ 0 h 18"/>
                <a:gd name="T4" fmla="*/ 6 w 18"/>
                <a:gd name="T5" fmla="*/ 18 h 18"/>
                <a:gd name="T6" fmla="*/ 18 w 18"/>
                <a:gd name="T7" fmla="*/ 12 h 18"/>
                <a:gd name="T8" fmla="*/ 18 w 18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"/>
                <a:gd name="T16" fmla="*/ 0 h 18"/>
                <a:gd name="T17" fmla="*/ 18 w 18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" h="18">
                  <a:moveTo>
                    <a:pt x="18" y="0"/>
                  </a:moveTo>
                  <a:lnTo>
                    <a:pt x="0" y="0"/>
                  </a:lnTo>
                  <a:lnTo>
                    <a:pt x="6" y="18"/>
                  </a:lnTo>
                  <a:lnTo>
                    <a:pt x="18" y="12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31" name="Freeform 364">
              <a:extLst>
                <a:ext uri="{FF2B5EF4-FFF2-40B4-BE49-F238E27FC236}">
                  <a16:creationId xmlns:a16="http://schemas.microsoft.com/office/drawing/2014/main" id="{B9E6A988-0FDA-A749-511E-AA10987CD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6" y="2410"/>
              <a:ext cx="24" cy="18"/>
            </a:xfrm>
            <a:custGeom>
              <a:avLst/>
              <a:gdLst>
                <a:gd name="T0" fmla="*/ 12 w 24"/>
                <a:gd name="T1" fmla="*/ 0 h 18"/>
                <a:gd name="T2" fmla="*/ 6 w 24"/>
                <a:gd name="T3" fmla="*/ 6 h 18"/>
                <a:gd name="T4" fmla="*/ 0 w 24"/>
                <a:gd name="T5" fmla="*/ 12 h 18"/>
                <a:gd name="T6" fmla="*/ 6 w 24"/>
                <a:gd name="T7" fmla="*/ 18 h 18"/>
                <a:gd name="T8" fmla="*/ 12 w 24"/>
                <a:gd name="T9" fmla="*/ 18 h 18"/>
                <a:gd name="T10" fmla="*/ 18 w 24"/>
                <a:gd name="T11" fmla="*/ 18 h 18"/>
                <a:gd name="T12" fmla="*/ 24 w 24"/>
                <a:gd name="T13" fmla="*/ 18 h 18"/>
                <a:gd name="T14" fmla="*/ 24 w 24"/>
                <a:gd name="T15" fmla="*/ 12 h 18"/>
                <a:gd name="T16" fmla="*/ 24 w 24"/>
                <a:gd name="T17" fmla="*/ 6 h 18"/>
                <a:gd name="T18" fmla="*/ 18 w 24"/>
                <a:gd name="T19" fmla="*/ 0 h 18"/>
                <a:gd name="T20" fmla="*/ 12 w 24"/>
                <a:gd name="T21" fmla="*/ 0 h 18"/>
                <a:gd name="T22" fmla="*/ 12 w 24"/>
                <a:gd name="T23" fmla="*/ 0 h 1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4"/>
                <a:gd name="T37" fmla="*/ 0 h 18"/>
                <a:gd name="T38" fmla="*/ 24 w 24"/>
                <a:gd name="T39" fmla="*/ 18 h 1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4" h="18">
                  <a:moveTo>
                    <a:pt x="12" y="0"/>
                  </a:moveTo>
                  <a:lnTo>
                    <a:pt x="6" y="6"/>
                  </a:lnTo>
                  <a:lnTo>
                    <a:pt x="0" y="12"/>
                  </a:lnTo>
                  <a:lnTo>
                    <a:pt x="6" y="18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4" y="6"/>
                  </a:lnTo>
                  <a:lnTo>
                    <a:pt x="18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2145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32" name="Freeform 365">
              <a:extLst>
                <a:ext uri="{FF2B5EF4-FFF2-40B4-BE49-F238E27FC236}">
                  <a16:creationId xmlns:a16="http://schemas.microsoft.com/office/drawing/2014/main" id="{7400E8DB-73CB-9A5C-DECD-D6DF3F9D8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" y="2398"/>
              <a:ext cx="24" cy="24"/>
            </a:xfrm>
            <a:custGeom>
              <a:avLst/>
              <a:gdLst>
                <a:gd name="T0" fmla="*/ 24 w 24"/>
                <a:gd name="T1" fmla="*/ 0 h 24"/>
                <a:gd name="T2" fmla="*/ 6 w 24"/>
                <a:gd name="T3" fmla="*/ 6 h 24"/>
                <a:gd name="T4" fmla="*/ 0 w 24"/>
                <a:gd name="T5" fmla="*/ 24 h 24"/>
                <a:gd name="T6" fmla="*/ 24 w 24"/>
                <a:gd name="T7" fmla="*/ 24 h 24"/>
                <a:gd name="T8" fmla="*/ 24 w 24"/>
                <a:gd name="T9" fmla="*/ 24 h 24"/>
                <a:gd name="T10" fmla="*/ 24 w 24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24"/>
                <a:gd name="T20" fmla="*/ 24 w 24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24">
                  <a:moveTo>
                    <a:pt x="24" y="0"/>
                  </a:moveTo>
                  <a:lnTo>
                    <a:pt x="6" y="6"/>
                  </a:lnTo>
                  <a:lnTo>
                    <a:pt x="0" y="24"/>
                  </a:lnTo>
                  <a:lnTo>
                    <a:pt x="24" y="24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33" name="Freeform 366">
              <a:extLst>
                <a:ext uri="{FF2B5EF4-FFF2-40B4-BE49-F238E27FC236}">
                  <a16:creationId xmlns:a16="http://schemas.microsoft.com/office/drawing/2014/main" id="{DC59846A-F085-D244-4F47-C28B204729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24" y="2416"/>
              <a:ext cx="24" cy="24"/>
            </a:xfrm>
            <a:custGeom>
              <a:avLst/>
              <a:gdLst>
                <a:gd name="T0" fmla="*/ 0 w 24"/>
                <a:gd name="T1" fmla="*/ 6 h 24"/>
                <a:gd name="T2" fmla="*/ 6 w 24"/>
                <a:gd name="T3" fmla="*/ 18 h 24"/>
                <a:gd name="T4" fmla="*/ 24 w 24"/>
                <a:gd name="T5" fmla="*/ 24 h 24"/>
                <a:gd name="T6" fmla="*/ 24 w 24"/>
                <a:gd name="T7" fmla="*/ 0 h 24"/>
                <a:gd name="T8" fmla="*/ 24 w 24"/>
                <a:gd name="T9" fmla="*/ 6 h 24"/>
                <a:gd name="T10" fmla="*/ 24 w 24"/>
                <a:gd name="T11" fmla="*/ 6 h 24"/>
                <a:gd name="T12" fmla="*/ 0 w 24"/>
                <a:gd name="T13" fmla="*/ 6 h 24"/>
                <a:gd name="T14" fmla="*/ 24 w 24"/>
                <a:gd name="T15" fmla="*/ 6 h 24"/>
                <a:gd name="T16" fmla="*/ 24 w 24"/>
                <a:gd name="T17" fmla="*/ 6 h 24"/>
                <a:gd name="T18" fmla="*/ 12 w 24"/>
                <a:gd name="T19" fmla="*/ 6 h 24"/>
                <a:gd name="T20" fmla="*/ 24 w 24"/>
                <a:gd name="T21" fmla="*/ 6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24"/>
                <a:gd name="T35" fmla="*/ 24 w 24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24">
                  <a:moveTo>
                    <a:pt x="0" y="6"/>
                  </a:moveTo>
                  <a:lnTo>
                    <a:pt x="6" y="18"/>
                  </a:lnTo>
                  <a:lnTo>
                    <a:pt x="24" y="24"/>
                  </a:lnTo>
                  <a:lnTo>
                    <a:pt x="24" y="0"/>
                  </a:lnTo>
                  <a:lnTo>
                    <a:pt x="24" y="6"/>
                  </a:lnTo>
                  <a:lnTo>
                    <a:pt x="0" y="6"/>
                  </a:lnTo>
                  <a:close/>
                  <a:moveTo>
                    <a:pt x="24" y="6"/>
                  </a:moveTo>
                  <a:lnTo>
                    <a:pt x="24" y="6"/>
                  </a:lnTo>
                  <a:lnTo>
                    <a:pt x="12" y="6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34" name="Freeform 367">
              <a:extLst>
                <a:ext uri="{FF2B5EF4-FFF2-40B4-BE49-F238E27FC236}">
                  <a16:creationId xmlns:a16="http://schemas.microsoft.com/office/drawing/2014/main" id="{2BBD381D-14F8-A72C-62DF-DD4CECE1C8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16"/>
              <a:ext cx="6" cy="24"/>
            </a:xfrm>
            <a:custGeom>
              <a:avLst/>
              <a:gdLst>
                <a:gd name="T0" fmla="*/ 0 w 6"/>
                <a:gd name="T1" fmla="*/ 24 h 24"/>
                <a:gd name="T2" fmla="*/ 6 w 6"/>
                <a:gd name="T3" fmla="*/ 24 h 24"/>
                <a:gd name="T4" fmla="*/ 6 w 6"/>
                <a:gd name="T5" fmla="*/ 0 h 24"/>
                <a:gd name="T6" fmla="*/ 0 w 6"/>
                <a:gd name="T7" fmla="*/ 0 h 24"/>
                <a:gd name="T8" fmla="*/ 0 w 6"/>
                <a:gd name="T9" fmla="*/ 24 h 24"/>
                <a:gd name="T10" fmla="*/ 0 w 6"/>
                <a:gd name="T11" fmla="*/ 0 h 24"/>
                <a:gd name="T12" fmla="*/ 0 w 6"/>
                <a:gd name="T13" fmla="*/ 0 h 24"/>
                <a:gd name="T14" fmla="*/ 0 w 6"/>
                <a:gd name="T15" fmla="*/ 12 h 24"/>
                <a:gd name="T16" fmla="*/ 0 w 6"/>
                <a:gd name="T17" fmla="*/ 0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"/>
                <a:gd name="T28" fmla="*/ 0 h 24"/>
                <a:gd name="T29" fmla="*/ 6 w 6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" h="24">
                  <a:moveTo>
                    <a:pt x="0" y="24"/>
                  </a:moveTo>
                  <a:lnTo>
                    <a:pt x="6" y="24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35" name="Freeform 368">
              <a:extLst>
                <a:ext uri="{FF2B5EF4-FFF2-40B4-BE49-F238E27FC236}">
                  <a16:creationId xmlns:a16="http://schemas.microsoft.com/office/drawing/2014/main" id="{179C0FB4-C1B4-35A1-A6AB-5069321FD4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416"/>
              <a:ext cx="24" cy="24"/>
            </a:xfrm>
            <a:custGeom>
              <a:avLst/>
              <a:gdLst>
                <a:gd name="T0" fmla="*/ 6 w 24"/>
                <a:gd name="T1" fmla="*/ 24 h 24"/>
                <a:gd name="T2" fmla="*/ 18 w 24"/>
                <a:gd name="T3" fmla="*/ 18 h 24"/>
                <a:gd name="T4" fmla="*/ 24 w 24"/>
                <a:gd name="T5" fmla="*/ 6 h 24"/>
                <a:gd name="T6" fmla="*/ 0 w 24"/>
                <a:gd name="T7" fmla="*/ 6 h 24"/>
                <a:gd name="T8" fmla="*/ 0 w 24"/>
                <a:gd name="T9" fmla="*/ 6 h 24"/>
                <a:gd name="T10" fmla="*/ 6 w 24"/>
                <a:gd name="T11" fmla="*/ 0 h 24"/>
                <a:gd name="T12" fmla="*/ 6 w 24"/>
                <a:gd name="T13" fmla="*/ 24 h 24"/>
                <a:gd name="T14" fmla="*/ 6 w 24"/>
                <a:gd name="T15" fmla="*/ 0 h 24"/>
                <a:gd name="T16" fmla="*/ 6 w 24"/>
                <a:gd name="T17" fmla="*/ 0 h 24"/>
                <a:gd name="T18" fmla="*/ 6 w 24"/>
                <a:gd name="T19" fmla="*/ 12 h 24"/>
                <a:gd name="T20" fmla="*/ 6 w 24"/>
                <a:gd name="T21" fmla="*/ 0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24"/>
                <a:gd name="T35" fmla="*/ 24 w 24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24">
                  <a:moveTo>
                    <a:pt x="6" y="24"/>
                  </a:moveTo>
                  <a:lnTo>
                    <a:pt x="18" y="18"/>
                  </a:lnTo>
                  <a:lnTo>
                    <a:pt x="24" y="6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24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1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36" name="Freeform 369">
              <a:extLst>
                <a:ext uri="{FF2B5EF4-FFF2-40B4-BE49-F238E27FC236}">
                  <a16:creationId xmlns:a16="http://schemas.microsoft.com/office/drawing/2014/main" id="{E4DA0A22-46CF-8D43-77C3-217606DF9B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398"/>
              <a:ext cx="24" cy="24"/>
            </a:xfrm>
            <a:custGeom>
              <a:avLst/>
              <a:gdLst>
                <a:gd name="T0" fmla="*/ 24 w 24"/>
                <a:gd name="T1" fmla="*/ 24 h 24"/>
                <a:gd name="T2" fmla="*/ 18 w 24"/>
                <a:gd name="T3" fmla="*/ 6 h 24"/>
                <a:gd name="T4" fmla="*/ 6 w 24"/>
                <a:gd name="T5" fmla="*/ 0 h 24"/>
                <a:gd name="T6" fmla="*/ 6 w 24"/>
                <a:gd name="T7" fmla="*/ 24 h 24"/>
                <a:gd name="T8" fmla="*/ 0 w 24"/>
                <a:gd name="T9" fmla="*/ 24 h 24"/>
                <a:gd name="T10" fmla="*/ 0 w 24"/>
                <a:gd name="T11" fmla="*/ 24 h 24"/>
                <a:gd name="T12" fmla="*/ 24 w 24"/>
                <a:gd name="T13" fmla="*/ 24 h 24"/>
                <a:gd name="T14" fmla="*/ 0 w 24"/>
                <a:gd name="T15" fmla="*/ 24 h 24"/>
                <a:gd name="T16" fmla="*/ 0 w 24"/>
                <a:gd name="T17" fmla="*/ 24 h 24"/>
                <a:gd name="T18" fmla="*/ 12 w 24"/>
                <a:gd name="T19" fmla="*/ 24 h 24"/>
                <a:gd name="T20" fmla="*/ 0 w 24"/>
                <a:gd name="T21" fmla="*/ 24 h 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24"/>
                <a:gd name="T35" fmla="*/ 24 w 24"/>
                <a:gd name="T36" fmla="*/ 24 h 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24">
                  <a:moveTo>
                    <a:pt x="24" y="24"/>
                  </a:moveTo>
                  <a:lnTo>
                    <a:pt x="18" y="6"/>
                  </a:lnTo>
                  <a:lnTo>
                    <a:pt x="6" y="0"/>
                  </a:lnTo>
                  <a:lnTo>
                    <a:pt x="6" y="24"/>
                  </a:lnTo>
                  <a:lnTo>
                    <a:pt x="0" y="24"/>
                  </a:lnTo>
                  <a:lnTo>
                    <a:pt x="24" y="24"/>
                  </a:lnTo>
                  <a:close/>
                  <a:moveTo>
                    <a:pt x="0" y="24"/>
                  </a:moveTo>
                  <a:lnTo>
                    <a:pt x="0" y="24"/>
                  </a:lnTo>
                  <a:lnTo>
                    <a:pt x="12" y="24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37" name="Freeform 370">
              <a:extLst>
                <a:ext uri="{FF2B5EF4-FFF2-40B4-BE49-F238E27FC236}">
                  <a16:creationId xmlns:a16="http://schemas.microsoft.com/office/drawing/2014/main" id="{6FFA9177-8B45-AD84-361F-878D65277C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" y="2398"/>
              <a:ext cx="6" cy="24"/>
            </a:xfrm>
            <a:custGeom>
              <a:avLst/>
              <a:gdLst>
                <a:gd name="T0" fmla="*/ 6 w 6"/>
                <a:gd name="T1" fmla="*/ 0 h 24"/>
                <a:gd name="T2" fmla="*/ 0 w 6"/>
                <a:gd name="T3" fmla="*/ 0 h 24"/>
                <a:gd name="T4" fmla="*/ 0 w 6"/>
                <a:gd name="T5" fmla="*/ 24 h 24"/>
                <a:gd name="T6" fmla="*/ 6 w 6"/>
                <a:gd name="T7" fmla="*/ 24 h 24"/>
                <a:gd name="T8" fmla="*/ 6 w 6"/>
                <a:gd name="T9" fmla="*/ 0 h 24"/>
                <a:gd name="T10" fmla="*/ 6 w 6"/>
                <a:gd name="T11" fmla="*/ 24 h 24"/>
                <a:gd name="T12" fmla="*/ 6 w 6"/>
                <a:gd name="T13" fmla="*/ 24 h 24"/>
                <a:gd name="T14" fmla="*/ 6 w 6"/>
                <a:gd name="T15" fmla="*/ 12 h 24"/>
                <a:gd name="T16" fmla="*/ 6 w 6"/>
                <a:gd name="T17" fmla="*/ 24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"/>
                <a:gd name="T28" fmla="*/ 0 h 24"/>
                <a:gd name="T29" fmla="*/ 6 w 6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" h="24">
                  <a:moveTo>
                    <a:pt x="6" y="0"/>
                  </a:moveTo>
                  <a:lnTo>
                    <a:pt x="0" y="0"/>
                  </a:lnTo>
                  <a:lnTo>
                    <a:pt x="0" y="24"/>
                  </a:lnTo>
                  <a:lnTo>
                    <a:pt x="6" y="24"/>
                  </a:lnTo>
                  <a:lnTo>
                    <a:pt x="6" y="0"/>
                  </a:lnTo>
                  <a:close/>
                  <a:moveTo>
                    <a:pt x="6" y="24"/>
                  </a:moveTo>
                  <a:lnTo>
                    <a:pt x="6" y="24"/>
                  </a:lnTo>
                  <a:lnTo>
                    <a:pt x="6" y="12"/>
                  </a:lnTo>
                  <a:lnTo>
                    <a:pt x="6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38" name="Freeform 371">
              <a:extLst>
                <a:ext uri="{FF2B5EF4-FFF2-40B4-BE49-F238E27FC236}">
                  <a16:creationId xmlns:a16="http://schemas.microsoft.com/office/drawing/2014/main" id="{612CB248-F1CA-9F62-E26C-EB04A80B4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410"/>
              <a:ext cx="1" cy="12"/>
            </a:xfrm>
            <a:custGeom>
              <a:avLst/>
              <a:gdLst>
                <a:gd name="T0" fmla="*/ 0 w 1"/>
                <a:gd name="T1" fmla="*/ 12 h 12"/>
                <a:gd name="T2" fmla="*/ 0 w 1"/>
                <a:gd name="T3" fmla="*/ 12 h 12"/>
                <a:gd name="T4" fmla="*/ 0 w 1"/>
                <a:gd name="T5" fmla="*/ 0 h 12"/>
                <a:gd name="T6" fmla="*/ 0 w 1"/>
                <a:gd name="T7" fmla="*/ 12 h 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"/>
                <a:gd name="T13" fmla="*/ 0 h 12"/>
                <a:gd name="T14" fmla="*/ 1 w 1"/>
                <a:gd name="T15" fmla="*/ 12 h 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" h="12">
                  <a:moveTo>
                    <a:pt x="0" y="12"/>
                  </a:moveTo>
                  <a:lnTo>
                    <a:pt x="0" y="12"/>
                  </a:ln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39" name="Freeform 372">
              <a:extLst>
                <a:ext uri="{FF2B5EF4-FFF2-40B4-BE49-F238E27FC236}">
                  <a16:creationId xmlns:a16="http://schemas.microsoft.com/office/drawing/2014/main" id="{64767644-2F02-3BC5-F2CC-9A54D72F5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86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40" name="Freeform 373">
              <a:extLst>
                <a:ext uri="{FF2B5EF4-FFF2-40B4-BE49-F238E27FC236}">
                  <a16:creationId xmlns:a16="http://schemas.microsoft.com/office/drawing/2014/main" id="{997CACF8-E964-078D-E944-1167C003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57"/>
              <a:ext cx="6" cy="6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0 h 6"/>
                <a:gd name="T4" fmla="*/ 0 w 6"/>
                <a:gd name="T5" fmla="*/ 6 h 6"/>
                <a:gd name="T6" fmla="*/ 0 w 6"/>
                <a:gd name="T7" fmla="*/ 6 h 6"/>
                <a:gd name="T8" fmla="*/ 6 w 6"/>
                <a:gd name="T9" fmla="*/ 6 h 6"/>
                <a:gd name="T10" fmla="*/ 6 w 6"/>
                <a:gd name="T11" fmla="*/ 0 h 6"/>
                <a:gd name="T12" fmla="*/ 6 w 6"/>
                <a:gd name="T13" fmla="*/ 0 h 6"/>
                <a:gd name="T14" fmla="*/ 0 w 6"/>
                <a:gd name="T15" fmla="*/ 0 h 6"/>
                <a:gd name="T16" fmla="*/ 0 w 6"/>
                <a:gd name="T17" fmla="*/ 0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"/>
                <a:gd name="T28" fmla="*/ 0 h 6"/>
                <a:gd name="T29" fmla="*/ 6 w 6"/>
                <a:gd name="T30" fmla="*/ 6 h 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41" name="Freeform 374">
              <a:extLst>
                <a:ext uri="{FF2B5EF4-FFF2-40B4-BE49-F238E27FC236}">
                  <a16:creationId xmlns:a16="http://schemas.microsoft.com/office/drawing/2014/main" id="{2372D0EC-79C1-9F6E-D14A-D26B6EE0D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63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42" name="Freeform 375">
              <a:extLst>
                <a:ext uri="{FF2B5EF4-FFF2-40B4-BE49-F238E27FC236}">
                  <a16:creationId xmlns:a16="http://schemas.microsoft.com/office/drawing/2014/main" id="{7C9FB69A-08DE-64E4-9C88-27B438835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69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43" name="Freeform 376">
              <a:extLst>
                <a:ext uri="{FF2B5EF4-FFF2-40B4-BE49-F238E27FC236}">
                  <a16:creationId xmlns:a16="http://schemas.microsoft.com/office/drawing/2014/main" id="{0569A49B-C062-418D-764C-FD1F68B5D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75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44" name="Freeform 377">
              <a:extLst>
                <a:ext uri="{FF2B5EF4-FFF2-40B4-BE49-F238E27FC236}">
                  <a16:creationId xmlns:a16="http://schemas.microsoft.com/office/drawing/2014/main" id="{D45ED0B3-C98B-C9E3-1F2E-AB3074DD3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75"/>
              <a:ext cx="6" cy="6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0 h 6"/>
                <a:gd name="T4" fmla="*/ 0 w 6"/>
                <a:gd name="T5" fmla="*/ 6 h 6"/>
                <a:gd name="T6" fmla="*/ 0 w 6"/>
                <a:gd name="T7" fmla="*/ 6 h 6"/>
                <a:gd name="T8" fmla="*/ 6 w 6"/>
                <a:gd name="T9" fmla="*/ 6 h 6"/>
                <a:gd name="T10" fmla="*/ 6 w 6"/>
                <a:gd name="T11" fmla="*/ 0 h 6"/>
                <a:gd name="T12" fmla="*/ 6 w 6"/>
                <a:gd name="T13" fmla="*/ 0 h 6"/>
                <a:gd name="T14" fmla="*/ 0 w 6"/>
                <a:gd name="T15" fmla="*/ 0 h 6"/>
                <a:gd name="T16" fmla="*/ 0 w 6"/>
                <a:gd name="T17" fmla="*/ 0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"/>
                <a:gd name="T28" fmla="*/ 0 h 6"/>
                <a:gd name="T29" fmla="*/ 6 w 6"/>
                <a:gd name="T30" fmla="*/ 6 h 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45" name="Freeform 378">
              <a:extLst>
                <a:ext uri="{FF2B5EF4-FFF2-40B4-BE49-F238E27FC236}">
                  <a16:creationId xmlns:a16="http://schemas.microsoft.com/office/drawing/2014/main" id="{3C51A5C1-3033-B5A8-0960-7006C0F6D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81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46" name="Freeform 379">
              <a:extLst>
                <a:ext uri="{FF2B5EF4-FFF2-40B4-BE49-F238E27FC236}">
                  <a16:creationId xmlns:a16="http://schemas.microsoft.com/office/drawing/2014/main" id="{EADA704B-E580-A1F7-2805-62E90DEFF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57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47" name="Freeform 380">
              <a:extLst>
                <a:ext uri="{FF2B5EF4-FFF2-40B4-BE49-F238E27FC236}">
                  <a16:creationId xmlns:a16="http://schemas.microsoft.com/office/drawing/2014/main" id="{D2A9E669-4B19-38C1-835B-4D844C986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392"/>
              <a:ext cx="6" cy="6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0 h 6"/>
                <a:gd name="T4" fmla="*/ 0 w 6"/>
                <a:gd name="T5" fmla="*/ 6 h 6"/>
                <a:gd name="T6" fmla="*/ 0 w 6"/>
                <a:gd name="T7" fmla="*/ 6 h 6"/>
                <a:gd name="T8" fmla="*/ 6 w 6"/>
                <a:gd name="T9" fmla="*/ 6 h 6"/>
                <a:gd name="T10" fmla="*/ 6 w 6"/>
                <a:gd name="T11" fmla="*/ 6 h 6"/>
                <a:gd name="T12" fmla="*/ 6 w 6"/>
                <a:gd name="T13" fmla="*/ 0 h 6"/>
                <a:gd name="T14" fmla="*/ 0 w 6"/>
                <a:gd name="T15" fmla="*/ 0 h 6"/>
                <a:gd name="T16" fmla="*/ 0 w 6"/>
                <a:gd name="T17" fmla="*/ 0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"/>
                <a:gd name="T28" fmla="*/ 0 h 6"/>
                <a:gd name="T29" fmla="*/ 6 w 6"/>
                <a:gd name="T30" fmla="*/ 6 h 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" h="6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48" name="Freeform 381">
              <a:extLst>
                <a:ext uri="{FF2B5EF4-FFF2-40B4-BE49-F238E27FC236}">
                  <a16:creationId xmlns:a16="http://schemas.microsoft.com/office/drawing/2014/main" id="{2427C4FA-D5FC-10FA-F2C6-E07DA64C5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422"/>
              <a:ext cx="12" cy="1"/>
            </a:xfrm>
            <a:custGeom>
              <a:avLst/>
              <a:gdLst>
                <a:gd name="T0" fmla="*/ 6 w 12"/>
                <a:gd name="T1" fmla="*/ 0 h 1"/>
                <a:gd name="T2" fmla="*/ 6 w 12"/>
                <a:gd name="T3" fmla="*/ 0 h 1"/>
                <a:gd name="T4" fmla="*/ 0 w 12"/>
                <a:gd name="T5" fmla="*/ 0 h 1"/>
                <a:gd name="T6" fmla="*/ 6 w 12"/>
                <a:gd name="T7" fmla="*/ 0 h 1"/>
                <a:gd name="T8" fmla="*/ 6 w 12"/>
                <a:gd name="T9" fmla="*/ 0 h 1"/>
                <a:gd name="T10" fmla="*/ 12 w 12"/>
                <a:gd name="T11" fmla="*/ 0 h 1"/>
                <a:gd name="T12" fmla="*/ 12 w 12"/>
                <a:gd name="T13" fmla="*/ 0 h 1"/>
                <a:gd name="T14" fmla="*/ 12 w 12"/>
                <a:gd name="T15" fmla="*/ 0 h 1"/>
                <a:gd name="T16" fmla="*/ 6 w 12"/>
                <a:gd name="T17" fmla="*/ 0 h 1"/>
                <a:gd name="T18" fmla="*/ 6 w 12"/>
                <a:gd name="T19" fmla="*/ 0 h 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"/>
                <a:gd name="T31" fmla="*/ 0 h 1"/>
                <a:gd name="T32" fmla="*/ 12 w 12"/>
                <a:gd name="T33" fmla="*/ 1 h 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" h="1">
                  <a:moveTo>
                    <a:pt x="6" y="0"/>
                  </a:moveTo>
                  <a:lnTo>
                    <a:pt x="6" y="0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  <p:sp>
          <p:nvSpPr>
            <p:cNvPr id="11349" name="Freeform 382">
              <a:extLst>
                <a:ext uri="{FF2B5EF4-FFF2-40B4-BE49-F238E27FC236}">
                  <a16:creationId xmlns:a16="http://schemas.microsoft.com/office/drawing/2014/main" id="{69A0E842-FE28-0B0D-4941-A3BBE75CE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8" y="2434"/>
              <a:ext cx="6" cy="1"/>
            </a:xfrm>
            <a:custGeom>
              <a:avLst/>
              <a:gdLst>
                <a:gd name="T0" fmla="*/ 0 w 6"/>
                <a:gd name="T1" fmla="*/ 0 h 1"/>
                <a:gd name="T2" fmla="*/ 0 w 6"/>
                <a:gd name="T3" fmla="*/ 0 h 1"/>
                <a:gd name="T4" fmla="*/ 0 w 6"/>
                <a:gd name="T5" fmla="*/ 0 h 1"/>
                <a:gd name="T6" fmla="*/ 6 w 6"/>
                <a:gd name="T7" fmla="*/ 0 h 1"/>
                <a:gd name="T8" fmla="*/ 6 w 6"/>
                <a:gd name="T9" fmla="*/ 0 h 1"/>
                <a:gd name="T10" fmla="*/ 6 w 6"/>
                <a:gd name="T11" fmla="*/ 0 h 1"/>
                <a:gd name="T12" fmla="*/ 0 w 6"/>
                <a:gd name="T13" fmla="*/ 0 h 1"/>
                <a:gd name="T14" fmla="*/ 0 w 6"/>
                <a:gd name="T15" fmla="*/ 0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"/>
                <a:gd name="T25" fmla="*/ 0 h 1"/>
                <a:gd name="T26" fmla="*/ 6 w 6"/>
                <a:gd name="T27" fmla="*/ 1 h 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E7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/>
            </a:p>
          </p:txBody>
        </p:sp>
      </p:grpSp>
      <p:sp>
        <p:nvSpPr>
          <p:cNvPr id="433535" name="Text Box 383">
            <a:extLst>
              <a:ext uri="{FF2B5EF4-FFF2-40B4-BE49-F238E27FC236}">
                <a16:creationId xmlns:a16="http://schemas.microsoft.com/office/drawing/2014/main" id="{815F81C6-AC50-81B8-A8B1-A47392878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513" y="4052888"/>
            <a:ext cx="404812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lang="en-US" altLang="zh-CN" i="1">
                <a:solidFill>
                  <a:srgbClr val="FFFF00"/>
                </a:solidFill>
              </a:rPr>
              <a:t>O</a:t>
            </a:r>
            <a:endParaRPr lang="en-US" altLang="zh-CN" i="1">
              <a:solidFill>
                <a:schemeClr val="tx1"/>
              </a:solidFill>
            </a:endParaRPr>
          </a:p>
        </p:txBody>
      </p:sp>
      <p:graphicFrame>
        <p:nvGraphicFramePr>
          <p:cNvPr id="433536" name="Object 4">
            <a:extLst>
              <a:ext uri="{FF2B5EF4-FFF2-40B4-BE49-F238E27FC236}">
                <a16:creationId xmlns:a16="http://schemas.microsoft.com/office/drawing/2014/main" id="{8A17CC61-EC02-478E-57C7-EFDDDEF729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9071"/>
              </p:ext>
            </p:extLst>
          </p:nvPr>
        </p:nvGraphicFramePr>
        <p:xfrm>
          <a:off x="7335838" y="3938588"/>
          <a:ext cx="3317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811" imgH="411480" progId="Equation.3">
                  <p:embed/>
                </p:oleObj>
              </mc:Choice>
              <mc:Fallback>
                <p:oleObj name="Equation" r:id="rId6" imgW="144811" imgH="411480" progId="Equation.3">
                  <p:embed/>
                  <p:pic>
                    <p:nvPicPr>
                      <p:cNvPr id="433536" name="Object 4">
                        <a:extLst>
                          <a:ext uri="{FF2B5EF4-FFF2-40B4-BE49-F238E27FC236}">
                            <a16:creationId xmlns:a16="http://schemas.microsoft.com/office/drawing/2014/main" id="{8A17CC61-EC02-478E-57C7-EFDDDEF729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5838" y="3938588"/>
                        <a:ext cx="33178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3537" name="Rectangle 385">
            <a:extLst>
              <a:ext uri="{FF2B5EF4-FFF2-40B4-BE49-F238E27FC236}">
                <a16:creationId xmlns:a16="http://schemas.microsoft.com/office/drawing/2014/main" id="{5BAB0756-6B2F-386C-C3F6-DD0A29D15DDA}"/>
              </a:ext>
            </a:extLst>
          </p:cNvPr>
          <p:cNvSpPr>
            <a:spLocks noChangeArrowheads="1"/>
          </p:cNvSpPr>
          <p:nvPr/>
        </p:nvSpPr>
        <p:spPr bwMode="auto">
          <a:xfrm rot="1463351">
            <a:off x="7335838" y="4680210"/>
            <a:ext cx="303212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lang="en-US" altLang="zh-CN" i="1">
                <a:solidFill>
                  <a:srgbClr val="00FF00"/>
                </a:solidFill>
              </a:rPr>
              <a:t>r</a:t>
            </a:r>
          </a:p>
        </p:txBody>
      </p:sp>
      <p:sp>
        <p:nvSpPr>
          <p:cNvPr id="433538" name="Arc 386">
            <a:extLst>
              <a:ext uri="{FF2B5EF4-FFF2-40B4-BE49-F238E27FC236}">
                <a16:creationId xmlns:a16="http://schemas.microsoft.com/office/drawing/2014/main" id="{6EF1E038-9610-BD0F-2AC1-E5532B7E20E9}"/>
              </a:ext>
            </a:extLst>
          </p:cNvPr>
          <p:cNvSpPr>
            <a:spLocks/>
          </p:cNvSpPr>
          <p:nvPr/>
        </p:nvSpPr>
        <p:spPr bwMode="auto">
          <a:xfrm flipH="1">
            <a:off x="6257925" y="4168775"/>
            <a:ext cx="76200" cy="3048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l"/>
            <a:endParaRPr lang="zh-CN" altLang="en-US"/>
          </a:p>
        </p:txBody>
      </p:sp>
      <p:sp>
        <p:nvSpPr>
          <p:cNvPr id="433539" name="Text Box 387">
            <a:extLst>
              <a:ext uri="{FF2B5EF4-FFF2-40B4-BE49-F238E27FC236}">
                <a16:creationId xmlns:a16="http://schemas.microsoft.com/office/drawing/2014/main" id="{6DB09C3E-090F-0B89-3379-C8EDD82EE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838" y="4014788"/>
            <a:ext cx="652743" cy="49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r>
              <a:rPr lang="en-US" altLang="zh-CN" i="1">
                <a:solidFill>
                  <a:srgbClr val="FFFF00"/>
                </a:solidFill>
                <a:sym typeface="Symbol" panose="05050102010706020507" pitchFamily="18" charset="2"/>
              </a:rPr>
              <a:t></a:t>
            </a:r>
            <a:endParaRPr lang="en-US" altLang="zh-CN" i="1">
              <a:solidFill>
                <a:schemeClr val="tx1"/>
              </a:solidFill>
            </a:endParaRPr>
          </a:p>
        </p:txBody>
      </p:sp>
      <p:sp>
        <p:nvSpPr>
          <p:cNvPr id="433540" name="Text Box 388">
            <a:extLst>
              <a:ext uri="{FF2B5EF4-FFF2-40B4-BE49-F238E27FC236}">
                <a16:creationId xmlns:a16="http://schemas.microsoft.com/office/drawing/2014/main" id="{8A049C7D-9DCB-2D72-0D42-8B8D0EFD1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8" y="3357563"/>
            <a:ext cx="505777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25000"/>
              </a:lnSpc>
              <a:buFont typeface="Monotype Sorts" pitchFamily="2" charset="2"/>
              <a:buNone/>
            </a:pPr>
            <a:r>
              <a:rPr lang="zh-CN" altLang="en-US"/>
              <a:t>昆虫落到杆上的过程为完全非弹性碰撞</a:t>
            </a:r>
            <a:r>
              <a:rPr lang="en-US" altLang="zh-CN"/>
              <a:t>,</a:t>
            </a:r>
            <a:r>
              <a:rPr lang="zh-CN" altLang="en-US"/>
              <a:t>对于昆虫和杆构成的系统，合外力矩为零，动量矩守恒</a:t>
            </a:r>
          </a:p>
        </p:txBody>
      </p:sp>
      <p:sp>
        <p:nvSpPr>
          <p:cNvPr id="433541" name="AutoShape 389">
            <a:extLst>
              <a:ext uri="{FF2B5EF4-FFF2-40B4-BE49-F238E27FC236}">
                <a16:creationId xmlns:a16="http://schemas.microsoft.com/office/drawing/2014/main" id="{0D19EDD8-8B43-2F34-C9D0-90988E6C5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450" y="5251450"/>
            <a:ext cx="304800" cy="914400"/>
          </a:xfrm>
          <a:prstGeom prst="curvedRightArrow">
            <a:avLst>
              <a:gd name="adj1" fmla="val 60000"/>
              <a:gd name="adj2" fmla="val 120000"/>
              <a:gd name="adj3" fmla="val 33333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/>
            <a:endParaRPr lang="zh-CN" altLang="en-US"/>
          </a:p>
        </p:txBody>
      </p:sp>
      <p:sp>
        <p:nvSpPr>
          <p:cNvPr id="433542" name="Text Box 390">
            <a:extLst>
              <a:ext uri="{FF2B5EF4-FFF2-40B4-BE49-F238E27FC236}">
                <a16:creationId xmlns:a16="http://schemas.microsoft.com/office/drawing/2014/main" id="{0EF4C361-6F6D-47DB-CDBA-50A5F46EC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400050"/>
            <a:ext cx="827088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</a:rPr>
              <a:t>例</a:t>
            </a:r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433543" name="Text Box 391">
            <a:extLst>
              <a:ext uri="{FF2B5EF4-FFF2-40B4-BE49-F238E27FC236}">
                <a16:creationId xmlns:a16="http://schemas.microsoft.com/office/drawing/2014/main" id="{66C7251E-8CB1-88F2-9BCB-0B2A73330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3452813"/>
            <a:ext cx="827087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433544" name="Text Box 392">
            <a:extLst>
              <a:ext uri="{FF2B5EF4-FFF2-40B4-BE49-F238E27FC236}">
                <a16:creationId xmlns:a16="http://schemas.microsoft.com/office/drawing/2014/main" id="{5B8C6108-5DBB-7305-F254-A03D39EA9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784475"/>
            <a:ext cx="4718050" cy="511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25000"/>
              </a:lnSpc>
              <a:buFont typeface="Monotype Sorts" pitchFamily="2" charset="2"/>
              <a:buNone/>
            </a:pPr>
            <a:r>
              <a:rPr lang="zh-CN" altLang="en-US">
                <a:solidFill>
                  <a:srgbClr val="FFFF00"/>
                </a:solidFill>
              </a:rPr>
              <a:t>求</a:t>
            </a:r>
            <a:r>
              <a:rPr lang="zh-CN" altLang="en-US"/>
              <a:t>  昆虫沿杆爬行的</a:t>
            </a:r>
            <a:r>
              <a:rPr lang="zh-CN" altLang="en-US">
                <a:solidFill>
                  <a:srgbClr val="66FFFF"/>
                </a:solidFill>
              </a:rPr>
              <a:t>速度</a:t>
            </a:r>
            <a:r>
              <a:rPr lang="zh-CN" altLang="en-US"/>
              <a:t>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3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3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3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3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3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4" grpId="0" autoUpdateAnimBg="0"/>
      <p:bldP spid="433340" grpId="0" animBg="1"/>
      <p:bldP spid="433341" grpId="0" animBg="1"/>
      <p:bldP spid="433535" grpId="0" autoUpdateAnimBg="0"/>
      <p:bldP spid="433537" grpId="0" autoUpdateAnimBg="0"/>
      <p:bldP spid="433539" grpId="0" autoUpdateAnimBg="0"/>
      <p:bldP spid="433540" grpId="0" autoUpdateAnimBg="0"/>
      <p:bldP spid="433541" grpId="0" animBg="1"/>
      <p:bldP spid="433542" grpId="0"/>
      <p:bldP spid="433543" grpId="0"/>
      <p:bldP spid="4335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4178" name="Object 2">
            <a:extLst>
              <a:ext uri="{FF2B5EF4-FFF2-40B4-BE49-F238E27FC236}">
                <a16:creationId xmlns:a16="http://schemas.microsoft.com/office/drawing/2014/main" id="{A0CD7D47-2222-171B-EDEB-CA485955978E}"/>
              </a:ext>
            </a:extLst>
          </p:cNvPr>
          <p:cNvGraphicFramePr>
            <a:graphicFrameLocks/>
          </p:cNvGraphicFramePr>
          <p:nvPr/>
        </p:nvGraphicFramePr>
        <p:xfrm>
          <a:off x="5186363" y="1738313"/>
          <a:ext cx="1690687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3989" imgH="815479" progId="Equation.3">
                  <p:embed/>
                </p:oleObj>
              </mc:Choice>
              <mc:Fallback>
                <p:oleObj name="Equation" r:id="rId2" imgW="1683989" imgH="815479" progId="Equation.3">
                  <p:embed/>
                  <p:pic>
                    <p:nvPicPr>
                      <p:cNvPr id="434178" name="Object 2">
                        <a:extLst>
                          <a:ext uri="{FF2B5EF4-FFF2-40B4-BE49-F238E27FC236}">
                            <a16:creationId xmlns:a16="http://schemas.microsoft.com/office/drawing/2014/main" id="{A0CD7D47-2222-171B-EDEB-CA485955978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363" y="1738313"/>
                        <a:ext cx="1690687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79" name="Object 3">
            <a:extLst>
              <a:ext uri="{FF2B5EF4-FFF2-40B4-BE49-F238E27FC236}">
                <a16:creationId xmlns:a16="http://schemas.microsoft.com/office/drawing/2014/main" id="{BE422725-7976-80F0-8DE1-86CC2C1BAC2E}"/>
              </a:ext>
            </a:extLst>
          </p:cNvPr>
          <p:cNvGraphicFramePr>
            <a:graphicFrameLocks/>
          </p:cNvGraphicFramePr>
          <p:nvPr/>
        </p:nvGraphicFramePr>
        <p:xfrm>
          <a:off x="5003800" y="2852738"/>
          <a:ext cx="27924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8733" imgH="815479" progId="Equation.3">
                  <p:embed/>
                </p:oleObj>
              </mc:Choice>
              <mc:Fallback>
                <p:oleObj name="Equation" r:id="rId4" imgW="2788733" imgH="815479" progId="Equation.3">
                  <p:embed/>
                  <p:pic>
                    <p:nvPicPr>
                      <p:cNvPr id="434179" name="Object 3">
                        <a:extLst>
                          <a:ext uri="{FF2B5EF4-FFF2-40B4-BE49-F238E27FC236}">
                            <a16:creationId xmlns:a16="http://schemas.microsoft.com/office/drawing/2014/main" id="{BE422725-7976-80F0-8DE1-86CC2C1BAC2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852738"/>
                        <a:ext cx="27924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80" name="Object 4">
            <a:extLst>
              <a:ext uri="{FF2B5EF4-FFF2-40B4-BE49-F238E27FC236}">
                <a16:creationId xmlns:a16="http://schemas.microsoft.com/office/drawing/2014/main" id="{A2504AD5-F30D-D832-7873-C62A43B3B3B2}"/>
              </a:ext>
            </a:extLst>
          </p:cNvPr>
          <p:cNvGraphicFramePr>
            <a:graphicFrameLocks/>
          </p:cNvGraphicFramePr>
          <p:nvPr/>
        </p:nvGraphicFramePr>
        <p:xfrm>
          <a:off x="3203575" y="3933825"/>
          <a:ext cx="297973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64398" imgH="815479" progId="Equation.3">
                  <p:embed/>
                </p:oleObj>
              </mc:Choice>
              <mc:Fallback>
                <p:oleObj name="Equation" r:id="rId6" imgW="2964398" imgH="815479" progId="Equation.3">
                  <p:embed/>
                  <p:pic>
                    <p:nvPicPr>
                      <p:cNvPr id="434180" name="Object 4">
                        <a:extLst>
                          <a:ext uri="{FF2B5EF4-FFF2-40B4-BE49-F238E27FC236}">
                            <a16:creationId xmlns:a16="http://schemas.microsoft.com/office/drawing/2014/main" id="{A2504AD5-F30D-D832-7873-C62A43B3B3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933825"/>
                        <a:ext cx="297973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81" name="Object 5">
            <a:extLst>
              <a:ext uri="{FF2B5EF4-FFF2-40B4-BE49-F238E27FC236}">
                <a16:creationId xmlns:a16="http://schemas.microsoft.com/office/drawing/2014/main" id="{21DD3C53-AB53-CE63-370D-66C8DC802A68}"/>
              </a:ext>
            </a:extLst>
          </p:cNvPr>
          <p:cNvGraphicFramePr>
            <a:graphicFrameLocks/>
          </p:cNvGraphicFramePr>
          <p:nvPr/>
        </p:nvGraphicFramePr>
        <p:xfrm>
          <a:off x="1317625" y="5084763"/>
          <a:ext cx="41179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92033" imgH="815479" progId="Equation.3">
                  <p:embed/>
                </p:oleObj>
              </mc:Choice>
              <mc:Fallback>
                <p:oleObj name="Equation" r:id="rId8" imgW="4092033" imgH="815479" progId="Equation.3">
                  <p:embed/>
                  <p:pic>
                    <p:nvPicPr>
                      <p:cNvPr id="434181" name="Object 5">
                        <a:extLst>
                          <a:ext uri="{FF2B5EF4-FFF2-40B4-BE49-F238E27FC236}">
                            <a16:creationId xmlns:a16="http://schemas.microsoft.com/office/drawing/2014/main" id="{21DD3C53-AB53-CE63-370D-66C8DC802A6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25" y="5084763"/>
                        <a:ext cx="41179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82" name="Object 6">
            <a:extLst>
              <a:ext uri="{FF2B5EF4-FFF2-40B4-BE49-F238E27FC236}">
                <a16:creationId xmlns:a16="http://schemas.microsoft.com/office/drawing/2014/main" id="{8CEEC637-1100-0F6B-02D3-41F7948BD7D0}"/>
              </a:ext>
            </a:extLst>
          </p:cNvPr>
          <p:cNvGraphicFramePr>
            <a:graphicFrameLocks/>
          </p:cNvGraphicFramePr>
          <p:nvPr/>
        </p:nvGraphicFramePr>
        <p:xfrm>
          <a:off x="5435600" y="5084763"/>
          <a:ext cx="25654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44893" imgH="906752" progId="Equation.3">
                  <p:embed/>
                </p:oleObj>
              </mc:Choice>
              <mc:Fallback>
                <p:oleObj name="Equation" r:id="rId10" imgW="2544893" imgH="906752" progId="Equation.3">
                  <p:embed/>
                  <p:pic>
                    <p:nvPicPr>
                      <p:cNvPr id="434182" name="Object 6">
                        <a:extLst>
                          <a:ext uri="{FF2B5EF4-FFF2-40B4-BE49-F238E27FC236}">
                            <a16:creationId xmlns:a16="http://schemas.microsoft.com/office/drawing/2014/main" id="{8CEEC637-1100-0F6B-02D3-41F7948BD7D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5084763"/>
                        <a:ext cx="25654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4183" name="Text Box 7">
            <a:extLst>
              <a:ext uri="{FF2B5EF4-FFF2-40B4-BE49-F238E27FC236}">
                <a16:creationId xmlns:a16="http://schemas.microsoft.com/office/drawing/2014/main" id="{103B4347-F96D-F25B-0BE8-82366AB1C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916113"/>
            <a:ext cx="34575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/>
              <a:t>使杆以匀角速度转动</a:t>
            </a:r>
          </a:p>
        </p:txBody>
      </p:sp>
      <p:sp>
        <p:nvSpPr>
          <p:cNvPr id="434184" name="AutoShape 8">
            <a:extLst>
              <a:ext uri="{FF2B5EF4-FFF2-40B4-BE49-F238E27FC236}">
                <a16:creationId xmlns:a16="http://schemas.microsoft.com/office/drawing/2014/main" id="{FC220EAE-7550-79BC-86FB-2A8E87A43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060575"/>
            <a:ext cx="720725" cy="215900"/>
          </a:xfrm>
          <a:prstGeom prst="rightArrow">
            <a:avLst>
              <a:gd name="adj1" fmla="val 50000"/>
              <a:gd name="adj2" fmla="val 83456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34185" name="Object 7">
            <a:extLst>
              <a:ext uri="{FF2B5EF4-FFF2-40B4-BE49-F238E27FC236}">
                <a16:creationId xmlns:a16="http://schemas.microsoft.com/office/drawing/2014/main" id="{BF797B77-8FF7-AB6C-A292-D529B5A9F29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939925" y="3068638"/>
          <a:ext cx="2197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87096" imgH="411480" progId="Equation.3">
                  <p:embed/>
                </p:oleObj>
              </mc:Choice>
              <mc:Fallback>
                <p:oleObj name="公式" r:id="rId12" imgW="2187096" imgH="411480" progId="Equation.3">
                  <p:embed/>
                  <p:pic>
                    <p:nvPicPr>
                      <p:cNvPr id="434185" name="Object 7">
                        <a:extLst>
                          <a:ext uri="{FF2B5EF4-FFF2-40B4-BE49-F238E27FC236}">
                            <a16:creationId xmlns:a16="http://schemas.microsoft.com/office/drawing/2014/main" id="{BF797B77-8FF7-AB6C-A292-D529B5A9F294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925" y="3068638"/>
                        <a:ext cx="2197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4186" name="Text Box 10">
            <a:extLst>
              <a:ext uri="{FF2B5EF4-FFF2-40B4-BE49-F238E27FC236}">
                <a16:creationId xmlns:a16="http://schemas.microsoft.com/office/drawing/2014/main" id="{85E58944-A55E-7559-A73D-4550D2E77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149725"/>
            <a:ext cx="15843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/>
              <a:t>代入得</a:t>
            </a:r>
          </a:p>
        </p:txBody>
      </p:sp>
      <p:sp>
        <p:nvSpPr>
          <p:cNvPr id="434187" name="Text Box 11">
            <a:extLst>
              <a:ext uri="{FF2B5EF4-FFF2-40B4-BE49-F238E27FC236}">
                <a16:creationId xmlns:a16="http://schemas.microsoft.com/office/drawing/2014/main" id="{6234B39E-0336-1D58-B74F-6B3957E28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36613"/>
            <a:ext cx="1447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zh-CN" altLang="en-US"/>
              <a:t>转动定律</a:t>
            </a:r>
          </a:p>
        </p:txBody>
      </p:sp>
      <p:graphicFrame>
        <p:nvGraphicFramePr>
          <p:cNvPr id="434188" name="Object 8">
            <a:extLst>
              <a:ext uri="{FF2B5EF4-FFF2-40B4-BE49-F238E27FC236}">
                <a16:creationId xmlns:a16="http://schemas.microsoft.com/office/drawing/2014/main" id="{A9D3D2BA-C7D4-9C10-1B78-F02F2E1AC10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708400" y="658813"/>
          <a:ext cx="1905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97473" imgH="815479" progId="Equation.3">
                  <p:embed/>
                </p:oleObj>
              </mc:Choice>
              <mc:Fallback>
                <p:oleObj name="Equation" r:id="rId14" imgW="1897473" imgH="815479" progId="Equation.3">
                  <p:embed/>
                  <p:pic>
                    <p:nvPicPr>
                      <p:cNvPr id="434188" name="Object 8">
                        <a:extLst>
                          <a:ext uri="{FF2B5EF4-FFF2-40B4-BE49-F238E27FC236}">
                            <a16:creationId xmlns:a16="http://schemas.microsoft.com/office/drawing/2014/main" id="{A9D3D2BA-C7D4-9C10-1B78-F02F2E1AC10A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658813"/>
                        <a:ext cx="19050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4189" name="Text Box 13">
            <a:extLst>
              <a:ext uri="{FF2B5EF4-FFF2-40B4-BE49-F238E27FC236}">
                <a16:creationId xmlns:a16="http://schemas.microsoft.com/office/drawing/2014/main" id="{6617B8F5-86AA-C709-C2ED-2813B67AF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997200"/>
            <a:ext cx="10810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/>
              <a:t>其中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3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83" grpId="0"/>
      <p:bldP spid="434184" grpId="0" animBg="1"/>
      <p:bldP spid="434186" grpId="0"/>
      <p:bldP spid="434187" grpId="0" autoUpdateAnimBg="0"/>
      <p:bldP spid="43418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58" name="Text Box 2">
            <a:extLst>
              <a:ext uri="{FF2B5EF4-FFF2-40B4-BE49-F238E27FC236}">
                <a16:creationId xmlns:a16="http://schemas.microsoft.com/office/drawing/2014/main" id="{3C1464FF-1D68-90B9-E8C3-99DB74690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965200"/>
            <a:ext cx="47117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1.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刚体绕定轴转动运动学描述</a:t>
            </a:r>
          </a:p>
        </p:txBody>
      </p:sp>
      <p:sp>
        <p:nvSpPr>
          <p:cNvPr id="864259" name="Text Box 3">
            <a:extLst>
              <a:ext uri="{FF2B5EF4-FFF2-40B4-BE49-F238E27FC236}">
                <a16:creationId xmlns:a16="http://schemas.microsoft.com/office/drawing/2014/main" id="{C7565135-CA78-CE22-398C-9B96112EA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1574800"/>
            <a:ext cx="28194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(1)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角坐标</a:t>
            </a:r>
            <a:r>
              <a:rPr lang="zh-CN" alt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sym typeface="Symbol" pitchFamily="18" charset="2"/>
              </a:rPr>
              <a:t></a:t>
            </a:r>
            <a:endParaRPr lang="zh-CN" altLang="en-US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864260" name="Object 4">
            <a:extLst>
              <a:ext uri="{FF2B5EF4-FFF2-40B4-BE49-F238E27FC236}">
                <a16:creationId xmlns:a16="http://schemas.microsoft.com/office/drawing/2014/main" id="{FAE8030D-948D-1DDB-2815-F20A661BF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6550" y="1698625"/>
          <a:ext cx="11160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31560" imgH="419040" progId="Equation.3">
                  <p:embed/>
                </p:oleObj>
              </mc:Choice>
              <mc:Fallback>
                <p:oleObj name="公式" r:id="rId2" imgW="123156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550" y="1698625"/>
                        <a:ext cx="1116013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4261" name="Text Box 5">
            <a:extLst>
              <a:ext uri="{FF2B5EF4-FFF2-40B4-BE49-F238E27FC236}">
                <a16:creationId xmlns:a16="http://schemas.microsoft.com/office/drawing/2014/main" id="{CBAB8FC2-BB47-8A90-8BC6-F41B8EFB8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2374900"/>
            <a:ext cx="54102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(2)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角速度</a:t>
            </a:r>
            <a:r>
              <a:rPr lang="zh-CN" alt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sym typeface="Symbol" pitchFamily="18" charset="2"/>
              </a:rPr>
              <a:t></a:t>
            </a:r>
            <a:endParaRPr lang="zh-CN" altLang="en-US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864262" name="Object 6">
            <a:extLst>
              <a:ext uri="{FF2B5EF4-FFF2-40B4-BE49-F238E27FC236}">
                <a16:creationId xmlns:a16="http://schemas.microsoft.com/office/drawing/2014/main" id="{ECB0DB1A-BC30-A311-94CF-D2F330BCB5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8613" y="2214563"/>
          <a:ext cx="1036637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30040" imgH="888840" progId="Equation.3">
                  <p:embed/>
                </p:oleObj>
              </mc:Choice>
              <mc:Fallback>
                <p:oleObj name="公式" r:id="rId4" imgW="1130040" imgH="8888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8613" y="2214563"/>
                        <a:ext cx="1036637" cy="801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4263" name="Text Box 7">
            <a:extLst>
              <a:ext uri="{FF2B5EF4-FFF2-40B4-BE49-F238E27FC236}">
                <a16:creationId xmlns:a16="http://schemas.microsoft.com/office/drawing/2014/main" id="{F366734F-2B81-F71F-6573-413A01A2A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175000"/>
            <a:ext cx="61468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(3)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角加速度</a:t>
            </a:r>
            <a:r>
              <a:rPr lang="zh-CN" altLang="en-US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  <a:sym typeface="Symbol" pitchFamily="18" charset="2"/>
              </a:rPr>
              <a:t></a:t>
            </a:r>
            <a:endParaRPr lang="zh-CN" altLang="en-US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864264" name="Object 8">
            <a:extLst>
              <a:ext uri="{FF2B5EF4-FFF2-40B4-BE49-F238E27FC236}">
                <a16:creationId xmlns:a16="http://schemas.microsoft.com/office/drawing/2014/main" id="{88276BD9-BBF3-AF64-0096-A23D761588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48100" y="3028950"/>
          <a:ext cx="19113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20760" imgH="927000" progId="Equation.3">
                  <p:embed/>
                </p:oleObj>
              </mc:Choice>
              <mc:Fallback>
                <p:oleObj name="公式" r:id="rId6" imgW="2120760" imgH="927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3028950"/>
                        <a:ext cx="1911350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4265" name="Text Box 9">
            <a:extLst>
              <a:ext uri="{FF2B5EF4-FFF2-40B4-BE49-F238E27FC236}">
                <a16:creationId xmlns:a16="http://schemas.microsoft.com/office/drawing/2014/main" id="{11451375-8AC3-DD07-FDF7-D6CD8CECF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215900"/>
            <a:ext cx="6438900" cy="750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 sz="3600"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本章小结 </a:t>
            </a:r>
          </a:p>
        </p:txBody>
      </p:sp>
      <p:sp>
        <p:nvSpPr>
          <p:cNvPr id="864266" name="Text Box 10">
            <a:extLst>
              <a:ext uri="{FF2B5EF4-FFF2-40B4-BE49-F238E27FC236}">
                <a16:creationId xmlns:a16="http://schemas.microsoft.com/office/drawing/2014/main" id="{D79FBDAD-94E2-1411-E844-DE3688F1B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975100"/>
            <a:ext cx="48387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(4)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线量和角量的关系</a:t>
            </a:r>
          </a:p>
        </p:txBody>
      </p:sp>
      <p:graphicFrame>
        <p:nvGraphicFramePr>
          <p:cNvPr id="864267" name="Object 11">
            <a:extLst>
              <a:ext uri="{FF2B5EF4-FFF2-40B4-BE49-F238E27FC236}">
                <a16:creationId xmlns:a16="http://schemas.microsoft.com/office/drawing/2014/main" id="{B3486D39-BC7D-EB48-82C8-B0598F095C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7325" y="4721225"/>
          <a:ext cx="1062038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06360" imgH="330120" progId="Equation.3">
                  <p:embed/>
                </p:oleObj>
              </mc:Choice>
              <mc:Fallback>
                <p:oleObj name="公式" r:id="rId8" imgW="1206360" imgH="33012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5" y="4721225"/>
                        <a:ext cx="1062038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4268" name="Object 12">
            <a:extLst>
              <a:ext uri="{FF2B5EF4-FFF2-40B4-BE49-F238E27FC236}">
                <a16:creationId xmlns:a16="http://schemas.microsoft.com/office/drawing/2014/main" id="{01760999-4C4A-F79F-217D-529410E03A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0100" y="4760913"/>
          <a:ext cx="914400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41120" imgH="253800" progId="Equation.3">
                  <p:embed/>
                </p:oleObj>
              </mc:Choice>
              <mc:Fallback>
                <p:oleObj name="公式" r:id="rId10" imgW="1041120" imgH="253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100" y="4760913"/>
                        <a:ext cx="914400" cy="227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4269" name="Object 13">
            <a:extLst>
              <a:ext uri="{FF2B5EF4-FFF2-40B4-BE49-F238E27FC236}">
                <a16:creationId xmlns:a16="http://schemas.microsoft.com/office/drawing/2014/main" id="{1E01922E-7A83-4BC0-2224-912DBFAA2D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0150" y="4648200"/>
          <a:ext cx="10255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43000" imgH="457200" progId="Equation.3">
                  <p:embed/>
                </p:oleObj>
              </mc:Choice>
              <mc:Fallback>
                <p:oleObj name="公式" r:id="rId12" imgW="1143000" imgH="457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150" y="4648200"/>
                        <a:ext cx="1025525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4270" name="Object 14">
            <a:extLst>
              <a:ext uri="{FF2B5EF4-FFF2-40B4-BE49-F238E27FC236}">
                <a16:creationId xmlns:a16="http://schemas.microsoft.com/office/drawing/2014/main" id="{FD14D2C8-6B03-618B-E9DB-E3D5C84273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3863" y="4591050"/>
          <a:ext cx="119538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20480" imgH="495000" progId="Equation.3">
                  <p:embed/>
                </p:oleObj>
              </mc:Choice>
              <mc:Fallback>
                <p:oleObj name="公式" r:id="rId14" imgW="1320480" imgH="495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3863" y="4591050"/>
                        <a:ext cx="1195387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4271" name="Text Box 15">
            <a:extLst>
              <a:ext uri="{FF2B5EF4-FFF2-40B4-BE49-F238E27FC236}">
                <a16:creationId xmlns:a16="http://schemas.microsoft.com/office/drawing/2014/main" id="{FA6AECE2-8F90-5BDA-CBA8-04B8919A4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5116513"/>
            <a:ext cx="38100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(5)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匀变速定轴转动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graphicFrame>
        <p:nvGraphicFramePr>
          <p:cNvPr id="864272" name="Object 16">
            <a:extLst>
              <a:ext uri="{FF2B5EF4-FFF2-40B4-BE49-F238E27FC236}">
                <a16:creationId xmlns:a16="http://schemas.microsoft.com/office/drawing/2014/main" id="{6D428BCC-B764-3C84-BF45-DFE1F0C851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6825" y="5834063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422360" imgH="380880" progId="Equation.3">
                  <p:embed/>
                </p:oleObj>
              </mc:Choice>
              <mc:Fallback>
                <p:oleObj name="公式" r:id="rId16" imgW="1422360" imgH="3808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5834063"/>
                        <a:ext cx="1422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4273" name="Object 17">
            <a:extLst>
              <a:ext uri="{FF2B5EF4-FFF2-40B4-BE49-F238E27FC236}">
                <a16:creationId xmlns:a16="http://schemas.microsoft.com/office/drawing/2014/main" id="{FBA529EA-1382-DF38-3C8E-C89D7AC8C0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8188" y="5662613"/>
          <a:ext cx="23225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323800" imgH="723600" progId="Equation.3">
                  <p:embed/>
                </p:oleObj>
              </mc:Choice>
              <mc:Fallback>
                <p:oleObj name="公式" r:id="rId18" imgW="2323800" imgH="723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8" y="5662613"/>
                        <a:ext cx="2322512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4274" name="Object 18">
            <a:extLst>
              <a:ext uri="{FF2B5EF4-FFF2-40B4-BE49-F238E27FC236}">
                <a16:creationId xmlns:a16="http://schemas.microsoft.com/office/drawing/2014/main" id="{E69AB320-A16F-77B6-6BFD-C86760EA44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2988" y="5815013"/>
          <a:ext cx="26019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603160" imgH="419040" progId="Equation.3">
                  <p:embed/>
                </p:oleObj>
              </mc:Choice>
              <mc:Fallback>
                <p:oleObj name="公式" r:id="rId20" imgW="2603160" imgH="4190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2988" y="5815013"/>
                        <a:ext cx="2601912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6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64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6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4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64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6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64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6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4258" grpId="0"/>
      <p:bldP spid="864259" grpId="0"/>
      <p:bldP spid="864261" grpId="0"/>
      <p:bldP spid="864263" grpId="0"/>
      <p:bldP spid="864265" grpId="0"/>
      <p:bldP spid="864266" grpId="0"/>
      <p:bldP spid="86427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2" name="Text Box 2">
            <a:extLst>
              <a:ext uri="{FF2B5EF4-FFF2-40B4-BE49-F238E27FC236}">
                <a16:creationId xmlns:a16="http://schemas.microsoft.com/office/drawing/2014/main" id="{3BCE0FC0-ED35-BBB3-D2FE-DC8ACED00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304800"/>
            <a:ext cx="83439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2. 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刚体绕定轴转动的转动惯量</a:t>
            </a:r>
            <a:r>
              <a:rPr lang="en-US" altLang="zh-CN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------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刚体转动惯性的量度</a:t>
            </a:r>
          </a:p>
        </p:txBody>
      </p:sp>
      <p:sp>
        <p:nvSpPr>
          <p:cNvPr id="865283" name="Text Box 3">
            <a:extLst>
              <a:ext uri="{FF2B5EF4-FFF2-40B4-BE49-F238E27FC236}">
                <a16:creationId xmlns:a16="http://schemas.microsoft.com/office/drawing/2014/main" id="{9DE3E538-E563-FB21-B338-86C9F117C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914400"/>
            <a:ext cx="36195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(1)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转动惯量</a:t>
            </a:r>
          </a:p>
        </p:txBody>
      </p:sp>
      <p:graphicFrame>
        <p:nvGraphicFramePr>
          <p:cNvPr id="865284" name="Object 4">
            <a:extLst>
              <a:ext uri="{FF2B5EF4-FFF2-40B4-BE49-F238E27FC236}">
                <a16:creationId xmlns:a16="http://schemas.microsoft.com/office/drawing/2014/main" id="{A03D647B-D3B9-1187-18E4-8991F82CF8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995363"/>
          <a:ext cx="1447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47560" imgH="634680" progId="Equation.3">
                  <p:embed/>
                </p:oleObj>
              </mc:Choice>
              <mc:Fallback>
                <p:oleObj name="公式" r:id="rId2" imgW="1447560" imgH="6346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995363"/>
                        <a:ext cx="14478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5285" name="Text Box 5">
            <a:extLst>
              <a:ext uri="{FF2B5EF4-FFF2-40B4-BE49-F238E27FC236}">
                <a16:creationId xmlns:a16="http://schemas.microsoft.com/office/drawing/2014/main" id="{060B215B-E505-DB19-03C7-9E473A800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7100" y="901700"/>
            <a:ext cx="8890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或</a:t>
            </a:r>
          </a:p>
        </p:txBody>
      </p:sp>
      <p:graphicFrame>
        <p:nvGraphicFramePr>
          <p:cNvPr id="865286" name="Object 6">
            <a:extLst>
              <a:ext uri="{FF2B5EF4-FFF2-40B4-BE49-F238E27FC236}">
                <a16:creationId xmlns:a16="http://schemas.microsoft.com/office/drawing/2014/main" id="{1599CCAD-DFBC-439D-DBDF-7E33645C88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9463" y="992188"/>
          <a:ext cx="1333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33440" imgH="571320" progId="Equation.3">
                  <p:embed/>
                </p:oleObj>
              </mc:Choice>
              <mc:Fallback>
                <p:oleObj name="公式" r:id="rId4" imgW="1333440" imgH="5713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9463" y="992188"/>
                        <a:ext cx="13335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5287" name="Text Box 7">
            <a:extLst>
              <a:ext uri="{FF2B5EF4-FFF2-40B4-BE49-F238E27FC236}">
                <a16:creationId xmlns:a16="http://schemas.microsoft.com/office/drawing/2014/main" id="{1D2317A9-9303-13BB-95B9-F1034333F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1651000"/>
            <a:ext cx="33020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(2)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平行轴定理 </a:t>
            </a:r>
          </a:p>
        </p:txBody>
      </p:sp>
      <p:graphicFrame>
        <p:nvGraphicFramePr>
          <p:cNvPr id="865288" name="Object 8">
            <a:extLst>
              <a:ext uri="{FF2B5EF4-FFF2-40B4-BE49-F238E27FC236}">
                <a16:creationId xmlns:a16="http://schemas.microsoft.com/office/drawing/2014/main" id="{9B5B5166-243C-F582-D8D2-D05CFA77AB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0688" y="1703388"/>
          <a:ext cx="1638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38000" imgH="419040" progId="Equation.3">
                  <p:embed/>
                </p:oleObj>
              </mc:Choice>
              <mc:Fallback>
                <p:oleObj name="公式" r:id="rId6" imgW="1638000" imgH="419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1703388"/>
                        <a:ext cx="16383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5289" name="Text Box 9">
            <a:extLst>
              <a:ext uri="{FF2B5EF4-FFF2-40B4-BE49-F238E27FC236}">
                <a16:creationId xmlns:a16="http://schemas.microsoft.com/office/drawing/2014/main" id="{F518316E-83C0-270C-3BF5-A242E9664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2260600"/>
            <a:ext cx="51308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3. 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刚体绕定轴转动的转动定律</a:t>
            </a:r>
          </a:p>
        </p:txBody>
      </p:sp>
      <p:graphicFrame>
        <p:nvGraphicFramePr>
          <p:cNvPr id="865290" name="Object 10">
            <a:extLst>
              <a:ext uri="{FF2B5EF4-FFF2-40B4-BE49-F238E27FC236}">
                <a16:creationId xmlns:a16="http://schemas.microsoft.com/office/drawing/2014/main" id="{69C53EA6-BD43-993D-6298-52859CB4E0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7425" y="2971800"/>
          <a:ext cx="1003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02960" imgH="330120" progId="Equation.3">
                  <p:embed/>
                </p:oleObj>
              </mc:Choice>
              <mc:Fallback>
                <p:oleObj name="公式" r:id="rId8" imgW="1002960" imgH="3301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2971800"/>
                        <a:ext cx="10033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5291" name="Text Box 11">
            <a:extLst>
              <a:ext uri="{FF2B5EF4-FFF2-40B4-BE49-F238E27FC236}">
                <a16:creationId xmlns:a16="http://schemas.microsoft.com/office/drawing/2014/main" id="{53A234EC-E92C-71F9-AB4C-5D477C1BF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3340100"/>
            <a:ext cx="42926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4. 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刚体绕定轴转动的功和能</a:t>
            </a:r>
          </a:p>
        </p:txBody>
      </p:sp>
      <p:sp>
        <p:nvSpPr>
          <p:cNvPr id="865292" name="Text Box 12">
            <a:extLst>
              <a:ext uri="{FF2B5EF4-FFF2-40B4-BE49-F238E27FC236}">
                <a16:creationId xmlns:a16="http://schemas.microsoft.com/office/drawing/2014/main" id="{A7D1E3D2-2D25-1E11-BC79-EF842FE1F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4064000"/>
            <a:ext cx="3213100" cy="5127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(1)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刚体转动动能</a:t>
            </a:r>
          </a:p>
        </p:txBody>
      </p:sp>
      <p:graphicFrame>
        <p:nvGraphicFramePr>
          <p:cNvPr id="865293" name="Object 13">
            <a:extLst>
              <a:ext uri="{FF2B5EF4-FFF2-40B4-BE49-F238E27FC236}">
                <a16:creationId xmlns:a16="http://schemas.microsoft.com/office/drawing/2014/main" id="{E39E067C-84D9-D77A-2444-387DFAF7E4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3138" y="3944938"/>
          <a:ext cx="1371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71600" imgH="723600" progId="Equation.3">
                  <p:embed/>
                </p:oleObj>
              </mc:Choice>
              <mc:Fallback>
                <p:oleObj name="公式" r:id="rId10" imgW="1371600" imgH="723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3138" y="3944938"/>
                        <a:ext cx="13716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5294" name="Text Box 14">
            <a:extLst>
              <a:ext uri="{FF2B5EF4-FFF2-40B4-BE49-F238E27FC236}">
                <a16:creationId xmlns:a16="http://schemas.microsoft.com/office/drawing/2014/main" id="{ECE68E0D-9693-F055-F1F8-CD36D8DF8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4889500"/>
            <a:ext cx="23622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(2)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力矩的功</a:t>
            </a:r>
          </a:p>
        </p:txBody>
      </p:sp>
      <p:graphicFrame>
        <p:nvGraphicFramePr>
          <p:cNvPr id="865295" name="Object 15">
            <a:extLst>
              <a:ext uri="{FF2B5EF4-FFF2-40B4-BE49-F238E27FC236}">
                <a16:creationId xmlns:a16="http://schemas.microsoft.com/office/drawing/2014/main" id="{CDBE2C05-0CAF-B23E-B54B-71353EB453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6638" y="4826000"/>
          <a:ext cx="1511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11280" imgH="634680" progId="Equation.3">
                  <p:embed/>
                </p:oleObj>
              </mc:Choice>
              <mc:Fallback>
                <p:oleObj name="公式" r:id="rId12" imgW="1511280" imgH="6346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6638" y="4826000"/>
                        <a:ext cx="15113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5296" name="Text Box 16">
            <a:extLst>
              <a:ext uri="{FF2B5EF4-FFF2-40B4-BE49-F238E27FC236}">
                <a16:creationId xmlns:a16="http://schemas.microsoft.com/office/drawing/2014/main" id="{11F61BC3-84A0-AC0A-3CF2-7D5192153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5683250"/>
            <a:ext cx="4876800" cy="5127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(3)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刚体绕定轴转动的动能定理</a:t>
            </a:r>
          </a:p>
        </p:txBody>
      </p:sp>
      <p:graphicFrame>
        <p:nvGraphicFramePr>
          <p:cNvPr id="865297" name="Object 17">
            <a:extLst>
              <a:ext uri="{FF2B5EF4-FFF2-40B4-BE49-F238E27FC236}">
                <a16:creationId xmlns:a16="http://schemas.microsoft.com/office/drawing/2014/main" id="{B686FE47-206C-4BCA-63D3-A82C0CD6AB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4775" y="5567363"/>
          <a:ext cx="30416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009600" imgH="723600" progId="Equation.3">
                  <p:embed/>
                </p:oleObj>
              </mc:Choice>
              <mc:Fallback>
                <p:oleObj name="公式" r:id="rId14" imgW="3009600" imgH="723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775" y="5567363"/>
                        <a:ext cx="304165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6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6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65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65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65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65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6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5282" grpId="0"/>
      <p:bldP spid="865283" grpId="0"/>
      <p:bldP spid="865285" grpId="0"/>
      <p:bldP spid="865287" grpId="0"/>
      <p:bldP spid="865289" grpId="0"/>
      <p:bldP spid="865291" grpId="0"/>
      <p:bldP spid="865292" grpId="0"/>
      <p:bldP spid="865294" grpId="0"/>
      <p:bldP spid="86529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06" name="Text Box 2">
            <a:extLst>
              <a:ext uri="{FF2B5EF4-FFF2-40B4-BE49-F238E27FC236}">
                <a16:creationId xmlns:a16="http://schemas.microsoft.com/office/drawing/2014/main" id="{D4F47887-4FC0-541C-423E-E4F42A862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444500"/>
            <a:ext cx="3365500" cy="4977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(4)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刚体的重力势能</a:t>
            </a:r>
          </a:p>
        </p:txBody>
      </p:sp>
      <p:graphicFrame>
        <p:nvGraphicFramePr>
          <p:cNvPr id="866307" name="Object 3">
            <a:extLst>
              <a:ext uri="{FF2B5EF4-FFF2-40B4-BE49-F238E27FC236}">
                <a16:creationId xmlns:a16="http://schemas.microsoft.com/office/drawing/2014/main" id="{878B89D3-7502-D7A3-688E-7ECE2D135D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983289"/>
              </p:ext>
            </p:extLst>
          </p:nvPr>
        </p:nvGraphicFramePr>
        <p:xfrm>
          <a:off x="3970338" y="595313"/>
          <a:ext cx="130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07880" imgH="419040" progId="Equation.3">
                  <p:embed/>
                </p:oleObj>
              </mc:Choice>
              <mc:Fallback>
                <p:oleObj name="公式" r:id="rId2" imgW="1307880" imgH="419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95313"/>
                        <a:ext cx="13081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6308" name="Text Box 4">
            <a:extLst>
              <a:ext uri="{FF2B5EF4-FFF2-40B4-BE49-F238E27FC236}">
                <a16:creationId xmlns:a16="http://schemas.microsoft.com/office/drawing/2014/main" id="{1047A56E-738E-9791-1C38-887B2F876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92200"/>
            <a:ext cx="3162300" cy="4839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(5)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机械能守恒定律</a:t>
            </a:r>
          </a:p>
        </p:txBody>
      </p:sp>
      <p:sp>
        <p:nvSpPr>
          <p:cNvPr id="866309" name="Text Box 5">
            <a:extLst>
              <a:ext uri="{FF2B5EF4-FFF2-40B4-BE49-F238E27FC236}">
                <a16:creationId xmlns:a16="http://schemas.microsoft.com/office/drawing/2014/main" id="{BE401B9F-B417-04E9-4A43-FF85C1527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" y="1638300"/>
            <a:ext cx="3848100" cy="4979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当                        时， </a:t>
            </a:r>
          </a:p>
        </p:txBody>
      </p:sp>
      <p:graphicFrame>
        <p:nvGraphicFramePr>
          <p:cNvPr id="866310" name="Object 6">
            <a:extLst>
              <a:ext uri="{FF2B5EF4-FFF2-40B4-BE49-F238E27FC236}">
                <a16:creationId xmlns:a16="http://schemas.microsoft.com/office/drawing/2014/main" id="{0A13421A-B018-6754-8FD2-30FFB08C12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85912"/>
              </p:ext>
            </p:extLst>
          </p:nvPr>
        </p:nvGraphicFramePr>
        <p:xfrm>
          <a:off x="1539875" y="1754188"/>
          <a:ext cx="19034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4760" imgH="406080" progId="Equation.3">
                  <p:embed/>
                </p:oleObj>
              </mc:Choice>
              <mc:Fallback>
                <p:oleObj name="公式" r:id="rId4" imgW="1904760" imgH="4060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75" y="1754188"/>
                        <a:ext cx="19034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6311" name="Object 7">
            <a:extLst>
              <a:ext uri="{FF2B5EF4-FFF2-40B4-BE49-F238E27FC236}">
                <a16:creationId xmlns:a16="http://schemas.microsoft.com/office/drawing/2014/main" id="{D4ACD92A-76C4-A511-9537-FCC721CED1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448669"/>
              </p:ext>
            </p:extLst>
          </p:nvPr>
        </p:nvGraphicFramePr>
        <p:xfrm>
          <a:off x="4513263" y="1781175"/>
          <a:ext cx="1725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26920" imgH="419040" progId="Equation.3">
                  <p:embed/>
                </p:oleObj>
              </mc:Choice>
              <mc:Fallback>
                <p:oleObj name="公式" r:id="rId6" imgW="1726920" imgH="419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3" y="1781175"/>
                        <a:ext cx="1725612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6312" name="Text Box 8">
            <a:extLst>
              <a:ext uri="{FF2B5EF4-FFF2-40B4-BE49-F238E27FC236}">
                <a16:creationId xmlns:a16="http://schemas.microsoft.com/office/drawing/2014/main" id="{6812DD2E-1C2F-5F74-F999-421154238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00" y="1612900"/>
            <a:ext cx="901700" cy="4979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常量</a:t>
            </a:r>
          </a:p>
        </p:txBody>
      </p:sp>
      <p:sp>
        <p:nvSpPr>
          <p:cNvPr id="866313" name="Text Box 9">
            <a:extLst>
              <a:ext uri="{FF2B5EF4-FFF2-40B4-BE49-F238E27FC236}">
                <a16:creationId xmlns:a16="http://schemas.microsoft.com/office/drawing/2014/main" id="{648AFD40-6BF2-2985-837D-16BD47948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2324100"/>
            <a:ext cx="5080000" cy="49314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5. 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刚体绕定轴转动的角动量</a:t>
            </a:r>
          </a:p>
        </p:txBody>
      </p:sp>
      <p:sp>
        <p:nvSpPr>
          <p:cNvPr id="866314" name="Text Box 10">
            <a:extLst>
              <a:ext uri="{FF2B5EF4-FFF2-40B4-BE49-F238E27FC236}">
                <a16:creationId xmlns:a16="http://schemas.microsoft.com/office/drawing/2014/main" id="{868B11B8-FE70-D16E-A607-614CA6BEC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2895600"/>
            <a:ext cx="2882900" cy="4839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(1)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刚体的角动量</a:t>
            </a:r>
          </a:p>
        </p:txBody>
      </p:sp>
      <p:graphicFrame>
        <p:nvGraphicFramePr>
          <p:cNvPr id="866315" name="Object 11">
            <a:extLst>
              <a:ext uri="{FF2B5EF4-FFF2-40B4-BE49-F238E27FC236}">
                <a16:creationId xmlns:a16="http://schemas.microsoft.com/office/drawing/2014/main" id="{C5C4EA49-E091-9B1E-5CD8-45CB6AF5E9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524940"/>
              </p:ext>
            </p:extLst>
          </p:nvPr>
        </p:nvGraphicFramePr>
        <p:xfrm>
          <a:off x="4071938" y="3048000"/>
          <a:ext cx="901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01440" imgH="279360" progId="Equation.3">
                  <p:embed/>
                </p:oleObj>
              </mc:Choice>
              <mc:Fallback>
                <p:oleObj name="公式" r:id="rId8" imgW="901440" imgH="27936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8" y="3048000"/>
                        <a:ext cx="9017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6316" name="Text Box 12">
            <a:extLst>
              <a:ext uri="{FF2B5EF4-FFF2-40B4-BE49-F238E27FC236}">
                <a16:creationId xmlns:a16="http://schemas.microsoft.com/office/drawing/2014/main" id="{4DE50316-20B2-2A06-217C-5E68CC280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3619500"/>
            <a:ext cx="3441700" cy="4839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(2)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刚体的角动量定理</a:t>
            </a:r>
          </a:p>
        </p:txBody>
      </p:sp>
      <p:graphicFrame>
        <p:nvGraphicFramePr>
          <p:cNvPr id="866317" name="Object 13">
            <a:extLst>
              <a:ext uri="{FF2B5EF4-FFF2-40B4-BE49-F238E27FC236}">
                <a16:creationId xmlns:a16="http://schemas.microsoft.com/office/drawing/2014/main" id="{4F9AE5B7-7108-5FBE-7ED7-6D37AE3185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291463"/>
              </p:ext>
            </p:extLst>
          </p:nvPr>
        </p:nvGraphicFramePr>
        <p:xfrm>
          <a:off x="3938588" y="3532188"/>
          <a:ext cx="15478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49080" imgH="723600" progId="Equation.3">
                  <p:embed/>
                </p:oleObj>
              </mc:Choice>
              <mc:Fallback>
                <p:oleObj name="公式" r:id="rId10" imgW="1549080" imgH="723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8588" y="3532188"/>
                        <a:ext cx="1547812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6318" name="Text Box 14">
            <a:extLst>
              <a:ext uri="{FF2B5EF4-FFF2-40B4-BE49-F238E27FC236}">
                <a16:creationId xmlns:a16="http://schemas.microsoft.com/office/drawing/2014/main" id="{7C11C4E8-E74A-EBC3-8AB8-2A116B42A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4381500"/>
            <a:ext cx="3175000" cy="4839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(3)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角动量守恒定律</a:t>
            </a:r>
          </a:p>
        </p:txBody>
      </p:sp>
      <p:sp>
        <p:nvSpPr>
          <p:cNvPr id="866319" name="Text Box 15">
            <a:extLst>
              <a:ext uri="{FF2B5EF4-FFF2-40B4-BE49-F238E27FC236}">
                <a16:creationId xmlns:a16="http://schemas.microsoft.com/office/drawing/2014/main" id="{59E65E2B-6D9D-A7DA-8859-26275D9A3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4914900"/>
            <a:ext cx="2222500" cy="4979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当            时，</a:t>
            </a:r>
          </a:p>
        </p:txBody>
      </p:sp>
      <p:graphicFrame>
        <p:nvGraphicFramePr>
          <p:cNvPr id="866320" name="Object 16">
            <a:extLst>
              <a:ext uri="{FF2B5EF4-FFF2-40B4-BE49-F238E27FC236}">
                <a16:creationId xmlns:a16="http://schemas.microsoft.com/office/drawing/2014/main" id="{1FE7B18C-0E72-68E2-1556-6371676689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195110"/>
              </p:ext>
            </p:extLst>
          </p:nvPr>
        </p:nvGraphicFramePr>
        <p:xfrm>
          <a:off x="1627188" y="5086350"/>
          <a:ext cx="800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99920" imgH="279360" progId="Equation.3">
                  <p:embed/>
                </p:oleObj>
              </mc:Choice>
              <mc:Fallback>
                <p:oleObj name="公式" r:id="rId12" imgW="799920" imgH="27936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5086350"/>
                        <a:ext cx="8001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6321" name="Object 17">
            <a:extLst>
              <a:ext uri="{FF2B5EF4-FFF2-40B4-BE49-F238E27FC236}">
                <a16:creationId xmlns:a16="http://schemas.microsoft.com/office/drawing/2014/main" id="{7F4C8DED-5BCE-F5F1-1F4F-E226D34B3A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090708"/>
              </p:ext>
            </p:extLst>
          </p:nvPr>
        </p:nvGraphicFramePr>
        <p:xfrm>
          <a:off x="3635375" y="5060950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47640" imgH="279360" progId="Equation.3">
                  <p:embed/>
                </p:oleObj>
              </mc:Choice>
              <mc:Fallback>
                <p:oleObj name="公式" r:id="rId14" imgW="647640" imgH="27936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060950"/>
                        <a:ext cx="6477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6322" name="Text Box 18">
            <a:extLst>
              <a:ext uri="{FF2B5EF4-FFF2-40B4-BE49-F238E27FC236}">
                <a16:creationId xmlns:a16="http://schemas.microsoft.com/office/drawing/2014/main" id="{536A84BC-26A7-9544-EBA8-20F91FCE1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1800" y="4902200"/>
            <a:ext cx="1066800" cy="4979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常量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6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6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6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6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6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66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6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6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6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66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66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66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6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6306" grpId="0"/>
      <p:bldP spid="866308" grpId="0"/>
      <p:bldP spid="866309" grpId="0"/>
      <p:bldP spid="866312" grpId="0"/>
      <p:bldP spid="866313" grpId="0"/>
      <p:bldP spid="866314" grpId="0"/>
      <p:bldP spid="866316" grpId="0"/>
      <p:bldP spid="866318" grpId="0"/>
      <p:bldP spid="866319" grpId="0"/>
      <p:bldP spid="866322" grpId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-457200" algn="ctr" defTabSz="914400" rtl="0" eaLnBrk="0" fontAlgn="base" latinLnBrk="0" hangingPunct="0">
          <a:lnSpc>
            <a:spcPct val="120000"/>
          </a:lnSpc>
          <a:spcBef>
            <a:spcPct val="0"/>
          </a:spcBef>
          <a:spcAft>
            <a:spcPct val="0"/>
          </a:spcAft>
          <a:buClr>
            <a:schemeClr val="tx2"/>
          </a:buClr>
          <a:buSzTx/>
          <a:buFont typeface="Monotype Sorts" pitchFamily="2" charset="2"/>
          <a:buChar char="&amp;"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仿宋_GB2312" pitchFamily="49" charset="-122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-457200" algn="ctr" defTabSz="914400" rtl="0" eaLnBrk="0" fontAlgn="base" latinLnBrk="0" hangingPunct="0">
          <a:lnSpc>
            <a:spcPct val="120000"/>
          </a:lnSpc>
          <a:spcBef>
            <a:spcPct val="0"/>
          </a:spcBef>
          <a:spcAft>
            <a:spcPct val="0"/>
          </a:spcAft>
          <a:buClr>
            <a:schemeClr val="tx2"/>
          </a:buClr>
          <a:buSzTx/>
          <a:buFont typeface="Monotype Sorts" pitchFamily="2" charset="2"/>
          <a:buChar char="&amp;"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仿宋_GB2312" pitchFamily="49" charset="-122"/>
            <a:ea typeface="仿宋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13573</TotalTime>
  <Words>1718</Words>
  <Application>Microsoft Office PowerPoint</Application>
  <PresentationFormat>全屏显示(4:3)</PresentationFormat>
  <Paragraphs>258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Monotype Sorts</vt:lpstr>
      <vt:lpstr>PingFang SC</vt:lpstr>
      <vt:lpstr>仿宋_GB2312</vt:lpstr>
      <vt:lpstr>楷体_GB2312</vt:lpstr>
      <vt:lpstr>隶书</vt:lpstr>
      <vt:lpstr>宋体</vt:lpstr>
      <vt:lpstr>Arial</vt:lpstr>
      <vt:lpstr>Bookman Old Style</vt:lpstr>
      <vt:lpstr>Symbol</vt:lpstr>
      <vt:lpstr>Times New Roman</vt:lpstr>
      <vt:lpstr>Wingdings</vt:lpstr>
      <vt:lpstr>1_默认设计模板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功和能</dc:title>
  <dc:subject>大学物理电子教案</dc:subject>
  <dc:creator>zhaoshumin</dc:creator>
  <cp:lastModifiedBy>davidly .</cp:lastModifiedBy>
  <cp:revision>877</cp:revision>
  <dcterms:created xsi:type="dcterms:W3CDTF">2004-11-16T23:52:09Z</dcterms:created>
  <dcterms:modified xsi:type="dcterms:W3CDTF">2025-03-31T11:49:09Z</dcterms:modified>
</cp:coreProperties>
</file>