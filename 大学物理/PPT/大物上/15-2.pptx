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2"/>
  </p:notesMasterIdLst>
  <p:sldIdLst>
    <p:sldId id="889" r:id="rId2"/>
    <p:sldId id="976" r:id="rId3"/>
    <p:sldId id="894" r:id="rId4"/>
    <p:sldId id="895" r:id="rId5"/>
    <p:sldId id="896" r:id="rId6"/>
    <p:sldId id="897" r:id="rId7"/>
    <p:sldId id="898" r:id="rId8"/>
    <p:sldId id="899" r:id="rId9"/>
    <p:sldId id="900" r:id="rId10"/>
    <p:sldId id="901" r:id="rId11"/>
    <p:sldId id="908" r:id="rId12"/>
    <p:sldId id="909" r:id="rId13"/>
    <p:sldId id="910" r:id="rId14"/>
    <p:sldId id="902" r:id="rId15"/>
    <p:sldId id="903" r:id="rId16"/>
    <p:sldId id="904" r:id="rId17"/>
    <p:sldId id="905" r:id="rId18"/>
    <p:sldId id="906" r:id="rId19"/>
    <p:sldId id="920" r:id="rId20"/>
    <p:sldId id="921" r:id="rId21"/>
    <p:sldId id="922" r:id="rId22"/>
    <p:sldId id="923" r:id="rId23"/>
    <p:sldId id="924" r:id="rId24"/>
    <p:sldId id="925" r:id="rId25"/>
    <p:sldId id="980" r:id="rId26"/>
    <p:sldId id="981" r:id="rId27"/>
    <p:sldId id="969" r:id="rId28"/>
    <p:sldId id="970" r:id="rId29"/>
    <p:sldId id="978" r:id="rId30"/>
    <p:sldId id="979" r:id="rId3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ly ." initials="d.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6666FF"/>
    <a:srgbClr val="FF66CC"/>
    <a:srgbClr val="FFCC00"/>
    <a:srgbClr val="33CCCC"/>
    <a:srgbClr val="FF9900"/>
    <a:srgbClr val="FFFF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18" autoAdjust="0"/>
    <p:restoredTop sz="94683" autoAdjust="0"/>
  </p:normalViewPr>
  <p:slideViewPr>
    <p:cSldViewPr snapToGrid="0" showGuides="1">
      <p:cViewPr varScale="1">
        <p:scale>
          <a:sx n="83" d="100"/>
          <a:sy n="83" d="100"/>
        </p:scale>
        <p:origin x="183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7806EFE-0FCA-4FF7-B545-504A8634A95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3D76485-1461-4948-88F8-B865040D282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DE8288F-ACEC-4D16-B4DF-1769B1A9645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6B44D3ED-0D5F-40E8-BCBB-B7B050515A8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AAA4D8BB-5648-4043-84F5-D2B2F0341BF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F116E209-10A3-40CB-B205-7671319D62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17D6CE5-54A7-4CAC-A4C1-24A7D17AB8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599348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04234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4462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49765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9019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8438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494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91931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236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6047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4341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66F9AA9-8557-4880-AB50-DC861B2E0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272212"/>
          </a:xfrm>
          <a:prstGeom prst="rect">
            <a:avLst/>
          </a:prstGeom>
          <a:noFill/>
          <a:ln w="19050">
            <a:solidFill>
              <a:srgbClr val="006699">
                <a:alpha val="35001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3" name="AutoShape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4636068-FD54-4AC2-8B11-19B501F15215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7239000" y="6602413"/>
            <a:ext cx="501650" cy="168275"/>
          </a:xfrm>
          <a:prstGeom prst="actionButtonForwardNext">
            <a:avLst/>
          </a:prstGeom>
          <a:solidFill>
            <a:srgbClr val="12607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4" name="AutoShape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14D8FD7-7D6D-4A39-B280-C51E1CBCAA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91525" y="6602413"/>
            <a:ext cx="501650" cy="168275"/>
          </a:xfrm>
          <a:prstGeom prst="actionButtonForwardNext">
            <a:avLst/>
          </a:prstGeom>
          <a:solidFill>
            <a:srgbClr val="12607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5" name="AutoShape 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8ECE3A7-9843-4CE4-A65B-E06FA0AD6A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812088" y="6602413"/>
            <a:ext cx="504825" cy="161925"/>
          </a:xfrm>
          <a:prstGeom prst="actionButtonHome">
            <a:avLst/>
          </a:prstGeom>
          <a:solidFill>
            <a:srgbClr val="126072"/>
          </a:solidFill>
          <a:ln w="28575">
            <a:noFill/>
            <a:miter lim="800000"/>
            <a:headEnd/>
            <a:tailEnd type="none" w="med" len="lg"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7.emf"/><Relationship Id="rId7" Type="http://schemas.openxmlformats.org/officeDocument/2006/relationships/image" Target="../media/image9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6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oleObject" Target="../embeddings/oleObject25.bin"/><Relationship Id="rId7" Type="http://schemas.openxmlformats.org/officeDocument/2006/relationships/image" Target="../media/image28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27.png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6.png"/><Relationship Id="rId9" Type="http://schemas.openxmlformats.org/officeDocument/2006/relationships/image" Target="../media/image2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5.emf"/><Relationship Id="rId18" Type="http://schemas.openxmlformats.org/officeDocument/2006/relationships/oleObject" Target="../embeddings/oleObject37.bin"/><Relationship Id="rId26" Type="http://schemas.openxmlformats.org/officeDocument/2006/relationships/oleObject" Target="../embeddings/oleObject41.bin"/><Relationship Id="rId3" Type="http://schemas.openxmlformats.org/officeDocument/2006/relationships/image" Target="../media/image30.emf"/><Relationship Id="rId21" Type="http://schemas.openxmlformats.org/officeDocument/2006/relationships/image" Target="../media/image39.emf"/><Relationship Id="rId34" Type="http://schemas.openxmlformats.org/officeDocument/2006/relationships/oleObject" Target="../embeddings/oleObject45.bin"/><Relationship Id="rId7" Type="http://schemas.openxmlformats.org/officeDocument/2006/relationships/image" Target="../media/image32.e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7.emf"/><Relationship Id="rId25" Type="http://schemas.openxmlformats.org/officeDocument/2006/relationships/image" Target="../media/image41.emf"/><Relationship Id="rId33" Type="http://schemas.openxmlformats.org/officeDocument/2006/relationships/image" Target="../media/image45.e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38.bin"/><Relationship Id="rId29" Type="http://schemas.openxmlformats.org/officeDocument/2006/relationships/image" Target="../media/image4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4.emf"/><Relationship Id="rId24" Type="http://schemas.openxmlformats.org/officeDocument/2006/relationships/oleObject" Target="../embeddings/oleObject40.bin"/><Relationship Id="rId32" Type="http://schemas.openxmlformats.org/officeDocument/2006/relationships/oleObject" Target="../embeddings/oleObject44.bin"/><Relationship Id="rId37" Type="http://schemas.openxmlformats.org/officeDocument/2006/relationships/image" Target="../media/image47.emf"/><Relationship Id="rId5" Type="http://schemas.openxmlformats.org/officeDocument/2006/relationships/image" Target="../media/image31.emf"/><Relationship Id="rId15" Type="http://schemas.openxmlformats.org/officeDocument/2006/relationships/image" Target="../media/image36.emf"/><Relationship Id="rId23" Type="http://schemas.openxmlformats.org/officeDocument/2006/relationships/image" Target="../media/image40.emf"/><Relationship Id="rId28" Type="http://schemas.openxmlformats.org/officeDocument/2006/relationships/oleObject" Target="../embeddings/oleObject42.bin"/><Relationship Id="rId36" Type="http://schemas.openxmlformats.org/officeDocument/2006/relationships/oleObject" Target="../embeddings/oleObject46.bin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38.emf"/><Relationship Id="rId31" Type="http://schemas.openxmlformats.org/officeDocument/2006/relationships/image" Target="../media/image44.e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35.bin"/><Relationship Id="rId22" Type="http://schemas.openxmlformats.org/officeDocument/2006/relationships/oleObject" Target="../embeddings/oleObject39.bin"/><Relationship Id="rId27" Type="http://schemas.openxmlformats.org/officeDocument/2006/relationships/image" Target="../media/image42.emf"/><Relationship Id="rId30" Type="http://schemas.openxmlformats.org/officeDocument/2006/relationships/oleObject" Target="../embeddings/oleObject43.bin"/><Relationship Id="rId35" Type="http://schemas.openxmlformats.org/officeDocument/2006/relationships/image" Target="../media/image4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48.emf"/><Relationship Id="rId7" Type="http://schemas.openxmlformats.org/officeDocument/2006/relationships/image" Target="../media/image50.e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49.e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57.emf"/><Relationship Id="rId18" Type="http://schemas.openxmlformats.org/officeDocument/2006/relationships/oleObject" Target="../embeddings/oleObject59.bin"/><Relationship Id="rId26" Type="http://schemas.openxmlformats.org/officeDocument/2006/relationships/oleObject" Target="../embeddings/oleObject63.bin"/><Relationship Id="rId3" Type="http://schemas.openxmlformats.org/officeDocument/2006/relationships/image" Target="../media/image52.emf"/><Relationship Id="rId21" Type="http://schemas.openxmlformats.org/officeDocument/2006/relationships/image" Target="../media/image61.emf"/><Relationship Id="rId7" Type="http://schemas.openxmlformats.org/officeDocument/2006/relationships/image" Target="../media/image54.e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59.emf"/><Relationship Id="rId25" Type="http://schemas.openxmlformats.org/officeDocument/2006/relationships/image" Target="../media/image63.emf"/><Relationship Id="rId33" Type="http://schemas.openxmlformats.org/officeDocument/2006/relationships/image" Target="../media/image67.emf"/><Relationship Id="rId2" Type="http://schemas.openxmlformats.org/officeDocument/2006/relationships/oleObject" Target="../embeddings/oleObject51.bin"/><Relationship Id="rId16" Type="http://schemas.openxmlformats.org/officeDocument/2006/relationships/oleObject" Target="../embeddings/oleObject58.bin"/><Relationship Id="rId20" Type="http://schemas.openxmlformats.org/officeDocument/2006/relationships/oleObject" Target="../embeddings/oleObject60.bin"/><Relationship Id="rId29" Type="http://schemas.openxmlformats.org/officeDocument/2006/relationships/image" Target="../media/image6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56.emf"/><Relationship Id="rId24" Type="http://schemas.openxmlformats.org/officeDocument/2006/relationships/oleObject" Target="../embeddings/oleObject62.bin"/><Relationship Id="rId32" Type="http://schemas.openxmlformats.org/officeDocument/2006/relationships/oleObject" Target="../embeddings/oleObject66.bin"/><Relationship Id="rId5" Type="http://schemas.openxmlformats.org/officeDocument/2006/relationships/image" Target="../media/image53.emf"/><Relationship Id="rId15" Type="http://schemas.openxmlformats.org/officeDocument/2006/relationships/image" Target="../media/image58.emf"/><Relationship Id="rId23" Type="http://schemas.openxmlformats.org/officeDocument/2006/relationships/image" Target="../media/image62.emf"/><Relationship Id="rId28" Type="http://schemas.openxmlformats.org/officeDocument/2006/relationships/oleObject" Target="../embeddings/oleObject64.bin"/><Relationship Id="rId10" Type="http://schemas.openxmlformats.org/officeDocument/2006/relationships/oleObject" Target="../embeddings/oleObject55.bin"/><Relationship Id="rId19" Type="http://schemas.openxmlformats.org/officeDocument/2006/relationships/image" Target="../media/image60.emf"/><Relationship Id="rId31" Type="http://schemas.openxmlformats.org/officeDocument/2006/relationships/image" Target="../media/image66.e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5.emf"/><Relationship Id="rId14" Type="http://schemas.openxmlformats.org/officeDocument/2006/relationships/oleObject" Target="../embeddings/oleObject57.bin"/><Relationship Id="rId22" Type="http://schemas.openxmlformats.org/officeDocument/2006/relationships/oleObject" Target="../embeddings/oleObject61.bin"/><Relationship Id="rId27" Type="http://schemas.openxmlformats.org/officeDocument/2006/relationships/image" Target="../media/image64.emf"/><Relationship Id="rId30" Type="http://schemas.openxmlformats.org/officeDocument/2006/relationships/oleObject" Target="../embeddings/oleObject6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73.emf"/><Relationship Id="rId18" Type="http://schemas.openxmlformats.org/officeDocument/2006/relationships/oleObject" Target="../embeddings/oleObject75.bin"/><Relationship Id="rId26" Type="http://schemas.openxmlformats.org/officeDocument/2006/relationships/oleObject" Target="../embeddings/oleObject79.bin"/><Relationship Id="rId3" Type="http://schemas.openxmlformats.org/officeDocument/2006/relationships/image" Target="../media/image68.emf"/><Relationship Id="rId21" Type="http://schemas.openxmlformats.org/officeDocument/2006/relationships/image" Target="../media/image77.emf"/><Relationship Id="rId7" Type="http://schemas.openxmlformats.org/officeDocument/2006/relationships/image" Target="../media/image70.emf"/><Relationship Id="rId12" Type="http://schemas.openxmlformats.org/officeDocument/2006/relationships/oleObject" Target="../embeddings/oleObject72.bin"/><Relationship Id="rId17" Type="http://schemas.openxmlformats.org/officeDocument/2006/relationships/image" Target="../media/image75.emf"/><Relationship Id="rId25" Type="http://schemas.openxmlformats.org/officeDocument/2006/relationships/image" Target="../media/image79.emf"/><Relationship Id="rId2" Type="http://schemas.openxmlformats.org/officeDocument/2006/relationships/oleObject" Target="../embeddings/oleObject67.bin"/><Relationship Id="rId16" Type="http://schemas.openxmlformats.org/officeDocument/2006/relationships/oleObject" Target="../embeddings/oleObject74.bin"/><Relationship Id="rId20" Type="http://schemas.openxmlformats.org/officeDocument/2006/relationships/oleObject" Target="../embeddings/oleObject76.bin"/><Relationship Id="rId29" Type="http://schemas.openxmlformats.org/officeDocument/2006/relationships/image" Target="../media/image8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72.emf"/><Relationship Id="rId24" Type="http://schemas.openxmlformats.org/officeDocument/2006/relationships/oleObject" Target="../embeddings/oleObject78.bin"/><Relationship Id="rId5" Type="http://schemas.openxmlformats.org/officeDocument/2006/relationships/image" Target="../media/image69.emf"/><Relationship Id="rId15" Type="http://schemas.openxmlformats.org/officeDocument/2006/relationships/image" Target="../media/image74.emf"/><Relationship Id="rId23" Type="http://schemas.openxmlformats.org/officeDocument/2006/relationships/image" Target="../media/image78.emf"/><Relationship Id="rId28" Type="http://schemas.openxmlformats.org/officeDocument/2006/relationships/oleObject" Target="../embeddings/oleObject80.bin"/><Relationship Id="rId10" Type="http://schemas.openxmlformats.org/officeDocument/2006/relationships/oleObject" Target="../embeddings/oleObject71.bin"/><Relationship Id="rId19" Type="http://schemas.openxmlformats.org/officeDocument/2006/relationships/image" Target="../media/image76.emf"/><Relationship Id="rId4" Type="http://schemas.openxmlformats.org/officeDocument/2006/relationships/oleObject" Target="../embeddings/oleObject68.bin"/><Relationship Id="rId9" Type="http://schemas.openxmlformats.org/officeDocument/2006/relationships/image" Target="../media/image71.emf"/><Relationship Id="rId14" Type="http://schemas.openxmlformats.org/officeDocument/2006/relationships/oleObject" Target="../embeddings/oleObject73.bin"/><Relationship Id="rId22" Type="http://schemas.openxmlformats.org/officeDocument/2006/relationships/oleObject" Target="../embeddings/oleObject77.bin"/><Relationship Id="rId27" Type="http://schemas.openxmlformats.org/officeDocument/2006/relationships/image" Target="../media/image80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87.emf"/><Relationship Id="rId18" Type="http://schemas.openxmlformats.org/officeDocument/2006/relationships/oleObject" Target="../embeddings/oleObject89.bin"/><Relationship Id="rId26" Type="http://schemas.openxmlformats.org/officeDocument/2006/relationships/oleObject" Target="../embeddings/oleObject93.bin"/><Relationship Id="rId3" Type="http://schemas.openxmlformats.org/officeDocument/2006/relationships/image" Target="../media/image82.emf"/><Relationship Id="rId21" Type="http://schemas.openxmlformats.org/officeDocument/2006/relationships/image" Target="../media/image91.emf"/><Relationship Id="rId34" Type="http://schemas.openxmlformats.org/officeDocument/2006/relationships/oleObject" Target="../embeddings/oleObject97.bin"/><Relationship Id="rId7" Type="http://schemas.openxmlformats.org/officeDocument/2006/relationships/image" Target="../media/image84.emf"/><Relationship Id="rId12" Type="http://schemas.openxmlformats.org/officeDocument/2006/relationships/oleObject" Target="../embeddings/oleObject86.bin"/><Relationship Id="rId17" Type="http://schemas.openxmlformats.org/officeDocument/2006/relationships/image" Target="../media/image89.emf"/><Relationship Id="rId25" Type="http://schemas.openxmlformats.org/officeDocument/2006/relationships/image" Target="../media/image93.emf"/><Relationship Id="rId33" Type="http://schemas.openxmlformats.org/officeDocument/2006/relationships/image" Target="../media/image97.emf"/><Relationship Id="rId2" Type="http://schemas.openxmlformats.org/officeDocument/2006/relationships/oleObject" Target="../embeddings/oleObject81.bin"/><Relationship Id="rId16" Type="http://schemas.openxmlformats.org/officeDocument/2006/relationships/oleObject" Target="../embeddings/oleObject88.bin"/><Relationship Id="rId20" Type="http://schemas.openxmlformats.org/officeDocument/2006/relationships/oleObject" Target="../embeddings/oleObject90.bin"/><Relationship Id="rId29" Type="http://schemas.openxmlformats.org/officeDocument/2006/relationships/image" Target="../media/image9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86.emf"/><Relationship Id="rId24" Type="http://schemas.openxmlformats.org/officeDocument/2006/relationships/oleObject" Target="../embeddings/oleObject92.bin"/><Relationship Id="rId32" Type="http://schemas.openxmlformats.org/officeDocument/2006/relationships/oleObject" Target="../embeddings/oleObject96.bin"/><Relationship Id="rId37" Type="http://schemas.openxmlformats.org/officeDocument/2006/relationships/image" Target="../media/image99.emf"/><Relationship Id="rId5" Type="http://schemas.openxmlformats.org/officeDocument/2006/relationships/image" Target="../media/image83.emf"/><Relationship Id="rId15" Type="http://schemas.openxmlformats.org/officeDocument/2006/relationships/image" Target="../media/image88.emf"/><Relationship Id="rId23" Type="http://schemas.openxmlformats.org/officeDocument/2006/relationships/image" Target="../media/image92.emf"/><Relationship Id="rId28" Type="http://schemas.openxmlformats.org/officeDocument/2006/relationships/oleObject" Target="../embeddings/oleObject94.bin"/><Relationship Id="rId36" Type="http://schemas.openxmlformats.org/officeDocument/2006/relationships/oleObject" Target="../embeddings/oleObject98.bin"/><Relationship Id="rId10" Type="http://schemas.openxmlformats.org/officeDocument/2006/relationships/oleObject" Target="../embeddings/oleObject85.bin"/><Relationship Id="rId19" Type="http://schemas.openxmlformats.org/officeDocument/2006/relationships/image" Target="../media/image90.emf"/><Relationship Id="rId31" Type="http://schemas.openxmlformats.org/officeDocument/2006/relationships/image" Target="../media/image96.emf"/><Relationship Id="rId4" Type="http://schemas.openxmlformats.org/officeDocument/2006/relationships/oleObject" Target="../embeddings/oleObject82.bin"/><Relationship Id="rId9" Type="http://schemas.openxmlformats.org/officeDocument/2006/relationships/image" Target="../media/image85.emf"/><Relationship Id="rId14" Type="http://schemas.openxmlformats.org/officeDocument/2006/relationships/oleObject" Target="../embeddings/oleObject87.bin"/><Relationship Id="rId22" Type="http://schemas.openxmlformats.org/officeDocument/2006/relationships/oleObject" Target="../embeddings/oleObject91.bin"/><Relationship Id="rId27" Type="http://schemas.openxmlformats.org/officeDocument/2006/relationships/image" Target="../media/image94.emf"/><Relationship Id="rId30" Type="http://schemas.openxmlformats.org/officeDocument/2006/relationships/oleObject" Target="../embeddings/oleObject95.bin"/><Relationship Id="rId35" Type="http://schemas.openxmlformats.org/officeDocument/2006/relationships/image" Target="../media/image98.e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5.emf"/><Relationship Id="rId18" Type="http://schemas.openxmlformats.org/officeDocument/2006/relationships/oleObject" Target="../embeddings/oleObject107.bin"/><Relationship Id="rId26" Type="http://schemas.openxmlformats.org/officeDocument/2006/relationships/oleObject" Target="../embeddings/oleObject111.bin"/><Relationship Id="rId39" Type="http://schemas.openxmlformats.org/officeDocument/2006/relationships/image" Target="../media/image118.emf"/><Relationship Id="rId3" Type="http://schemas.openxmlformats.org/officeDocument/2006/relationships/image" Target="../media/image100.emf"/><Relationship Id="rId21" Type="http://schemas.openxmlformats.org/officeDocument/2006/relationships/image" Target="../media/image109.emf"/><Relationship Id="rId34" Type="http://schemas.openxmlformats.org/officeDocument/2006/relationships/oleObject" Target="../embeddings/oleObject115.bin"/><Relationship Id="rId42" Type="http://schemas.openxmlformats.org/officeDocument/2006/relationships/oleObject" Target="../embeddings/oleObject119.bin"/><Relationship Id="rId47" Type="http://schemas.openxmlformats.org/officeDocument/2006/relationships/image" Target="../media/image122.emf"/><Relationship Id="rId50" Type="http://schemas.openxmlformats.org/officeDocument/2006/relationships/image" Target="../media/image124.emf"/><Relationship Id="rId7" Type="http://schemas.openxmlformats.org/officeDocument/2006/relationships/image" Target="../media/image102.emf"/><Relationship Id="rId12" Type="http://schemas.openxmlformats.org/officeDocument/2006/relationships/oleObject" Target="../embeddings/oleObject104.bin"/><Relationship Id="rId17" Type="http://schemas.openxmlformats.org/officeDocument/2006/relationships/image" Target="../media/image107.emf"/><Relationship Id="rId25" Type="http://schemas.openxmlformats.org/officeDocument/2006/relationships/image" Target="../media/image111.emf"/><Relationship Id="rId33" Type="http://schemas.openxmlformats.org/officeDocument/2006/relationships/image" Target="../media/image115.emf"/><Relationship Id="rId38" Type="http://schemas.openxmlformats.org/officeDocument/2006/relationships/oleObject" Target="../embeddings/oleObject117.bin"/><Relationship Id="rId46" Type="http://schemas.openxmlformats.org/officeDocument/2006/relationships/oleObject" Target="../embeddings/oleObject121.bin"/><Relationship Id="rId2" Type="http://schemas.openxmlformats.org/officeDocument/2006/relationships/oleObject" Target="../embeddings/oleObject99.bin"/><Relationship Id="rId16" Type="http://schemas.openxmlformats.org/officeDocument/2006/relationships/oleObject" Target="../embeddings/oleObject106.bin"/><Relationship Id="rId20" Type="http://schemas.openxmlformats.org/officeDocument/2006/relationships/oleObject" Target="../embeddings/oleObject108.bin"/><Relationship Id="rId29" Type="http://schemas.openxmlformats.org/officeDocument/2006/relationships/image" Target="../media/image113.emf"/><Relationship Id="rId41" Type="http://schemas.openxmlformats.org/officeDocument/2006/relationships/image" Target="../media/image11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04.emf"/><Relationship Id="rId24" Type="http://schemas.openxmlformats.org/officeDocument/2006/relationships/oleObject" Target="../embeddings/oleObject110.bin"/><Relationship Id="rId32" Type="http://schemas.openxmlformats.org/officeDocument/2006/relationships/oleObject" Target="../embeddings/oleObject114.bin"/><Relationship Id="rId37" Type="http://schemas.openxmlformats.org/officeDocument/2006/relationships/image" Target="../media/image117.emf"/><Relationship Id="rId40" Type="http://schemas.openxmlformats.org/officeDocument/2006/relationships/oleObject" Target="../embeddings/oleObject118.bin"/><Relationship Id="rId45" Type="http://schemas.openxmlformats.org/officeDocument/2006/relationships/image" Target="../media/image121.emf"/><Relationship Id="rId5" Type="http://schemas.openxmlformats.org/officeDocument/2006/relationships/image" Target="../media/image101.emf"/><Relationship Id="rId15" Type="http://schemas.openxmlformats.org/officeDocument/2006/relationships/image" Target="../media/image106.emf"/><Relationship Id="rId23" Type="http://schemas.openxmlformats.org/officeDocument/2006/relationships/image" Target="../media/image110.emf"/><Relationship Id="rId28" Type="http://schemas.openxmlformats.org/officeDocument/2006/relationships/oleObject" Target="../embeddings/oleObject112.bin"/><Relationship Id="rId36" Type="http://schemas.openxmlformats.org/officeDocument/2006/relationships/oleObject" Target="../embeddings/oleObject116.bin"/><Relationship Id="rId49" Type="http://schemas.openxmlformats.org/officeDocument/2006/relationships/oleObject" Target="../embeddings/oleObject122.bin"/><Relationship Id="rId10" Type="http://schemas.openxmlformats.org/officeDocument/2006/relationships/oleObject" Target="../embeddings/oleObject103.bin"/><Relationship Id="rId19" Type="http://schemas.openxmlformats.org/officeDocument/2006/relationships/image" Target="../media/image108.emf"/><Relationship Id="rId31" Type="http://schemas.openxmlformats.org/officeDocument/2006/relationships/image" Target="../media/image114.emf"/><Relationship Id="rId44" Type="http://schemas.openxmlformats.org/officeDocument/2006/relationships/oleObject" Target="../embeddings/oleObject120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03.emf"/><Relationship Id="rId14" Type="http://schemas.openxmlformats.org/officeDocument/2006/relationships/oleObject" Target="../embeddings/oleObject105.bin"/><Relationship Id="rId22" Type="http://schemas.openxmlformats.org/officeDocument/2006/relationships/oleObject" Target="../embeddings/oleObject109.bin"/><Relationship Id="rId27" Type="http://schemas.openxmlformats.org/officeDocument/2006/relationships/image" Target="../media/image112.emf"/><Relationship Id="rId30" Type="http://schemas.openxmlformats.org/officeDocument/2006/relationships/oleObject" Target="../embeddings/oleObject113.bin"/><Relationship Id="rId35" Type="http://schemas.openxmlformats.org/officeDocument/2006/relationships/image" Target="../media/image116.emf"/><Relationship Id="rId43" Type="http://schemas.openxmlformats.org/officeDocument/2006/relationships/image" Target="../media/image120.emf"/><Relationship Id="rId48" Type="http://schemas.openxmlformats.org/officeDocument/2006/relationships/image" Target="../media/image123.emf"/><Relationship Id="rId8" Type="http://schemas.openxmlformats.org/officeDocument/2006/relationships/oleObject" Target="../embeddings/oleObject10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30.emf"/><Relationship Id="rId18" Type="http://schemas.openxmlformats.org/officeDocument/2006/relationships/image" Target="../media/image133.emf"/><Relationship Id="rId26" Type="http://schemas.openxmlformats.org/officeDocument/2006/relationships/oleObject" Target="../embeddings/oleObject134.bin"/><Relationship Id="rId3" Type="http://schemas.openxmlformats.org/officeDocument/2006/relationships/image" Target="../media/image125.emf"/><Relationship Id="rId21" Type="http://schemas.openxmlformats.org/officeDocument/2006/relationships/oleObject" Target="../embeddings/oleObject132.bin"/><Relationship Id="rId34" Type="http://schemas.openxmlformats.org/officeDocument/2006/relationships/oleObject" Target="../embeddings/oleObject138.bin"/><Relationship Id="rId7" Type="http://schemas.openxmlformats.org/officeDocument/2006/relationships/image" Target="../media/image127.emf"/><Relationship Id="rId12" Type="http://schemas.openxmlformats.org/officeDocument/2006/relationships/oleObject" Target="../embeddings/oleObject128.bin"/><Relationship Id="rId17" Type="http://schemas.openxmlformats.org/officeDocument/2006/relationships/oleObject" Target="../embeddings/oleObject130.bin"/><Relationship Id="rId25" Type="http://schemas.openxmlformats.org/officeDocument/2006/relationships/image" Target="../media/image137.emf"/><Relationship Id="rId33" Type="http://schemas.openxmlformats.org/officeDocument/2006/relationships/image" Target="../media/image141.emf"/><Relationship Id="rId2" Type="http://schemas.openxmlformats.org/officeDocument/2006/relationships/oleObject" Target="../embeddings/oleObject123.bin"/><Relationship Id="rId16" Type="http://schemas.openxmlformats.org/officeDocument/2006/relationships/image" Target="../media/image132.emf"/><Relationship Id="rId20" Type="http://schemas.openxmlformats.org/officeDocument/2006/relationships/image" Target="../media/image134.emf"/><Relationship Id="rId29" Type="http://schemas.openxmlformats.org/officeDocument/2006/relationships/image" Target="../media/image13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29.emf"/><Relationship Id="rId24" Type="http://schemas.openxmlformats.org/officeDocument/2006/relationships/image" Target="../media/image136.emf"/><Relationship Id="rId32" Type="http://schemas.openxmlformats.org/officeDocument/2006/relationships/oleObject" Target="../embeddings/oleObject137.bin"/><Relationship Id="rId37" Type="http://schemas.openxmlformats.org/officeDocument/2006/relationships/image" Target="../media/image143.emf"/><Relationship Id="rId5" Type="http://schemas.openxmlformats.org/officeDocument/2006/relationships/image" Target="../media/image126.emf"/><Relationship Id="rId15" Type="http://schemas.openxmlformats.org/officeDocument/2006/relationships/oleObject" Target="../embeddings/oleObject129.bin"/><Relationship Id="rId23" Type="http://schemas.openxmlformats.org/officeDocument/2006/relationships/oleObject" Target="../embeddings/oleObject133.bin"/><Relationship Id="rId28" Type="http://schemas.openxmlformats.org/officeDocument/2006/relationships/oleObject" Target="../embeddings/oleObject135.bin"/><Relationship Id="rId36" Type="http://schemas.openxmlformats.org/officeDocument/2006/relationships/oleObject" Target="../embeddings/oleObject139.bin"/><Relationship Id="rId10" Type="http://schemas.openxmlformats.org/officeDocument/2006/relationships/oleObject" Target="../embeddings/oleObject127.bin"/><Relationship Id="rId19" Type="http://schemas.openxmlformats.org/officeDocument/2006/relationships/oleObject" Target="../embeddings/oleObject131.bin"/><Relationship Id="rId31" Type="http://schemas.openxmlformats.org/officeDocument/2006/relationships/image" Target="../media/image140.emf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28.emf"/><Relationship Id="rId14" Type="http://schemas.openxmlformats.org/officeDocument/2006/relationships/image" Target="../media/image131.emf"/><Relationship Id="rId22" Type="http://schemas.openxmlformats.org/officeDocument/2006/relationships/image" Target="../media/image135.emf"/><Relationship Id="rId27" Type="http://schemas.openxmlformats.org/officeDocument/2006/relationships/image" Target="../media/image138.emf"/><Relationship Id="rId30" Type="http://schemas.openxmlformats.org/officeDocument/2006/relationships/oleObject" Target="../embeddings/oleObject136.bin"/><Relationship Id="rId35" Type="http://schemas.openxmlformats.org/officeDocument/2006/relationships/image" Target="../media/image142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13" Type="http://schemas.openxmlformats.org/officeDocument/2006/relationships/image" Target="../media/image149.emf"/><Relationship Id="rId18" Type="http://schemas.openxmlformats.org/officeDocument/2006/relationships/oleObject" Target="../embeddings/oleObject148.bin"/><Relationship Id="rId26" Type="http://schemas.openxmlformats.org/officeDocument/2006/relationships/oleObject" Target="../embeddings/oleObject152.bin"/><Relationship Id="rId3" Type="http://schemas.openxmlformats.org/officeDocument/2006/relationships/image" Target="../media/image144.emf"/><Relationship Id="rId21" Type="http://schemas.openxmlformats.org/officeDocument/2006/relationships/image" Target="../media/image153.emf"/><Relationship Id="rId7" Type="http://schemas.openxmlformats.org/officeDocument/2006/relationships/image" Target="../media/image146.emf"/><Relationship Id="rId12" Type="http://schemas.openxmlformats.org/officeDocument/2006/relationships/oleObject" Target="../embeddings/oleObject145.bin"/><Relationship Id="rId17" Type="http://schemas.openxmlformats.org/officeDocument/2006/relationships/image" Target="../media/image151.emf"/><Relationship Id="rId25" Type="http://schemas.openxmlformats.org/officeDocument/2006/relationships/image" Target="../media/image155.emf"/><Relationship Id="rId2" Type="http://schemas.openxmlformats.org/officeDocument/2006/relationships/oleObject" Target="../embeddings/oleObject140.bin"/><Relationship Id="rId16" Type="http://schemas.openxmlformats.org/officeDocument/2006/relationships/oleObject" Target="../embeddings/oleObject147.bin"/><Relationship Id="rId20" Type="http://schemas.openxmlformats.org/officeDocument/2006/relationships/oleObject" Target="../embeddings/oleObject149.bin"/><Relationship Id="rId29" Type="http://schemas.openxmlformats.org/officeDocument/2006/relationships/image" Target="../media/image15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48.emf"/><Relationship Id="rId24" Type="http://schemas.openxmlformats.org/officeDocument/2006/relationships/oleObject" Target="../embeddings/oleObject151.bin"/><Relationship Id="rId5" Type="http://schemas.openxmlformats.org/officeDocument/2006/relationships/image" Target="../media/image145.emf"/><Relationship Id="rId15" Type="http://schemas.openxmlformats.org/officeDocument/2006/relationships/image" Target="../media/image150.emf"/><Relationship Id="rId23" Type="http://schemas.openxmlformats.org/officeDocument/2006/relationships/image" Target="../media/image154.emf"/><Relationship Id="rId28" Type="http://schemas.openxmlformats.org/officeDocument/2006/relationships/oleObject" Target="../embeddings/oleObject153.bin"/><Relationship Id="rId10" Type="http://schemas.openxmlformats.org/officeDocument/2006/relationships/oleObject" Target="../embeddings/oleObject144.bin"/><Relationship Id="rId19" Type="http://schemas.openxmlformats.org/officeDocument/2006/relationships/image" Target="../media/image152.emf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47.emf"/><Relationship Id="rId14" Type="http://schemas.openxmlformats.org/officeDocument/2006/relationships/oleObject" Target="../embeddings/oleObject146.bin"/><Relationship Id="rId22" Type="http://schemas.openxmlformats.org/officeDocument/2006/relationships/oleObject" Target="../embeddings/oleObject150.bin"/><Relationship Id="rId27" Type="http://schemas.openxmlformats.org/officeDocument/2006/relationships/image" Target="../media/image156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13" Type="http://schemas.openxmlformats.org/officeDocument/2006/relationships/image" Target="../media/image163.emf"/><Relationship Id="rId18" Type="http://schemas.openxmlformats.org/officeDocument/2006/relationships/oleObject" Target="../embeddings/oleObject162.bin"/><Relationship Id="rId26" Type="http://schemas.openxmlformats.org/officeDocument/2006/relationships/oleObject" Target="../embeddings/oleObject166.bin"/><Relationship Id="rId3" Type="http://schemas.openxmlformats.org/officeDocument/2006/relationships/image" Target="../media/image158.emf"/><Relationship Id="rId21" Type="http://schemas.openxmlformats.org/officeDocument/2006/relationships/image" Target="../media/image167.emf"/><Relationship Id="rId7" Type="http://schemas.openxmlformats.org/officeDocument/2006/relationships/image" Target="../media/image160.emf"/><Relationship Id="rId12" Type="http://schemas.openxmlformats.org/officeDocument/2006/relationships/oleObject" Target="../embeddings/oleObject159.bin"/><Relationship Id="rId17" Type="http://schemas.openxmlformats.org/officeDocument/2006/relationships/image" Target="../media/image165.emf"/><Relationship Id="rId25" Type="http://schemas.openxmlformats.org/officeDocument/2006/relationships/image" Target="../media/image169.emf"/><Relationship Id="rId2" Type="http://schemas.openxmlformats.org/officeDocument/2006/relationships/oleObject" Target="../embeddings/oleObject154.bin"/><Relationship Id="rId16" Type="http://schemas.openxmlformats.org/officeDocument/2006/relationships/oleObject" Target="../embeddings/oleObject161.bin"/><Relationship Id="rId20" Type="http://schemas.openxmlformats.org/officeDocument/2006/relationships/oleObject" Target="../embeddings/oleObject1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62.emf"/><Relationship Id="rId24" Type="http://schemas.openxmlformats.org/officeDocument/2006/relationships/oleObject" Target="../embeddings/oleObject165.bin"/><Relationship Id="rId5" Type="http://schemas.openxmlformats.org/officeDocument/2006/relationships/image" Target="../media/image159.emf"/><Relationship Id="rId15" Type="http://schemas.openxmlformats.org/officeDocument/2006/relationships/image" Target="../media/image164.emf"/><Relationship Id="rId23" Type="http://schemas.openxmlformats.org/officeDocument/2006/relationships/image" Target="../media/image168.emf"/><Relationship Id="rId10" Type="http://schemas.openxmlformats.org/officeDocument/2006/relationships/oleObject" Target="../embeddings/oleObject158.bin"/><Relationship Id="rId19" Type="http://schemas.openxmlformats.org/officeDocument/2006/relationships/image" Target="../media/image166.emf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61.emf"/><Relationship Id="rId14" Type="http://schemas.openxmlformats.org/officeDocument/2006/relationships/oleObject" Target="../embeddings/oleObject160.bin"/><Relationship Id="rId22" Type="http://schemas.openxmlformats.org/officeDocument/2006/relationships/oleObject" Target="../embeddings/oleObject164.bin"/><Relationship Id="rId27" Type="http://schemas.openxmlformats.org/officeDocument/2006/relationships/image" Target="../media/image170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0.bin"/><Relationship Id="rId3" Type="http://schemas.openxmlformats.org/officeDocument/2006/relationships/image" Target="../media/image171.emf"/><Relationship Id="rId7" Type="http://schemas.openxmlformats.org/officeDocument/2006/relationships/image" Target="../media/image173.emf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9.bin"/><Relationship Id="rId5" Type="http://schemas.openxmlformats.org/officeDocument/2006/relationships/image" Target="../media/image172.emf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174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3" Type="http://schemas.openxmlformats.org/officeDocument/2006/relationships/image" Target="../media/image175.emf"/><Relationship Id="rId7" Type="http://schemas.openxmlformats.org/officeDocument/2006/relationships/image" Target="../media/image177.emf"/><Relationship Id="rId2" Type="http://schemas.openxmlformats.org/officeDocument/2006/relationships/oleObject" Target="../embeddings/oleObject1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3.bin"/><Relationship Id="rId5" Type="http://schemas.openxmlformats.org/officeDocument/2006/relationships/image" Target="../media/image176.emf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78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emf"/><Relationship Id="rId3" Type="http://schemas.openxmlformats.org/officeDocument/2006/relationships/image" Target="../media/image180.jpeg"/><Relationship Id="rId7" Type="http://schemas.openxmlformats.org/officeDocument/2006/relationships/oleObject" Target="../embeddings/oleObject176.bin"/><Relationship Id="rId2" Type="http://schemas.openxmlformats.org/officeDocument/2006/relationships/image" Target="../media/image17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2.emf"/><Relationship Id="rId5" Type="http://schemas.openxmlformats.org/officeDocument/2006/relationships/oleObject" Target="../embeddings/oleObject175.bin"/><Relationship Id="rId4" Type="http://schemas.openxmlformats.org/officeDocument/2006/relationships/image" Target="../media/image18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emf"/><Relationship Id="rId2" Type="http://schemas.openxmlformats.org/officeDocument/2006/relationships/oleObject" Target="../embeddings/oleObject17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5.emf"/><Relationship Id="rId4" Type="http://schemas.openxmlformats.org/officeDocument/2006/relationships/oleObject" Target="../embeddings/oleObject178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13" Type="http://schemas.openxmlformats.org/officeDocument/2006/relationships/image" Target="../media/image191.png"/><Relationship Id="rId18" Type="http://schemas.openxmlformats.org/officeDocument/2006/relationships/oleObject" Target="../embeddings/oleObject187.bin"/><Relationship Id="rId3" Type="http://schemas.openxmlformats.org/officeDocument/2006/relationships/image" Target="../media/image186.wmf"/><Relationship Id="rId21" Type="http://schemas.openxmlformats.org/officeDocument/2006/relationships/image" Target="../media/image195.wmf"/><Relationship Id="rId7" Type="http://schemas.openxmlformats.org/officeDocument/2006/relationships/image" Target="../media/image188.wmf"/><Relationship Id="rId12" Type="http://schemas.openxmlformats.org/officeDocument/2006/relationships/oleObject" Target="../embeddings/oleObject184.bin"/><Relationship Id="rId17" Type="http://schemas.openxmlformats.org/officeDocument/2006/relationships/image" Target="../media/image193.wmf"/><Relationship Id="rId25" Type="http://schemas.openxmlformats.org/officeDocument/2006/relationships/image" Target="../media/image197.emf"/><Relationship Id="rId2" Type="http://schemas.openxmlformats.org/officeDocument/2006/relationships/oleObject" Target="../embeddings/oleObject179.bin"/><Relationship Id="rId16" Type="http://schemas.openxmlformats.org/officeDocument/2006/relationships/oleObject" Target="../embeddings/oleObject186.bin"/><Relationship Id="rId20" Type="http://schemas.openxmlformats.org/officeDocument/2006/relationships/oleObject" Target="../embeddings/oleObject18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90.wmf"/><Relationship Id="rId24" Type="http://schemas.openxmlformats.org/officeDocument/2006/relationships/oleObject" Target="../embeddings/oleObject190.bin"/><Relationship Id="rId5" Type="http://schemas.openxmlformats.org/officeDocument/2006/relationships/image" Target="../media/image187.png"/><Relationship Id="rId15" Type="http://schemas.openxmlformats.org/officeDocument/2006/relationships/image" Target="../media/image192.png"/><Relationship Id="rId23" Type="http://schemas.openxmlformats.org/officeDocument/2006/relationships/image" Target="../media/image196.wmf"/><Relationship Id="rId10" Type="http://schemas.openxmlformats.org/officeDocument/2006/relationships/oleObject" Target="../embeddings/oleObject183.bin"/><Relationship Id="rId19" Type="http://schemas.openxmlformats.org/officeDocument/2006/relationships/image" Target="../media/image194.wmf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189.wmf"/><Relationship Id="rId14" Type="http://schemas.openxmlformats.org/officeDocument/2006/relationships/oleObject" Target="../embeddings/oleObject185.bin"/><Relationship Id="rId22" Type="http://schemas.openxmlformats.org/officeDocument/2006/relationships/oleObject" Target="../embeddings/oleObject18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4.bin"/><Relationship Id="rId3" Type="http://schemas.openxmlformats.org/officeDocument/2006/relationships/image" Target="../media/image198.wmf"/><Relationship Id="rId7" Type="http://schemas.openxmlformats.org/officeDocument/2006/relationships/image" Target="../media/image200.wmf"/><Relationship Id="rId2" Type="http://schemas.openxmlformats.org/officeDocument/2006/relationships/oleObject" Target="../embeddings/oleObject1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3.bin"/><Relationship Id="rId11" Type="http://schemas.openxmlformats.org/officeDocument/2006/relationships/image" Target="../media/image202.wmf"/><Relationship Id="rId5" Type="http://schemas.openxmlformats.org/officeDocument/2006/relationships/image" Target="../media/image199.wmf"/><Relationship Id="rId10" Type="http://schemas.openxmlformats.org/officeDocument/2006/relationships/oleObject" Target="../embeddings/oleObject195.bin"/><Relationship Id="rId4" Type="http://schemas.openxmlformats.org/officeDocument/2006/relationships/oleObject" Target="../embeddings/oleObject192.bin"/><Relationship Id="rId9" Type="http://schemas.openxmlformats.org/officeDocument/2006/relationships/image" Target="../media/image20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3" Type="http://schemas.openxmlformats.org/officeDocument/2006/relationships/image" Target="../media/image203.wmf"/><Relationship Id="rId7" Type="http://schemas.openxmlformats.org/officeDocument/2006/relationships/image" Target="../media/image205.wmf"/><Relationship Id="rId2" Type="http://schemas.openxmlformats.org/officeDocument/2006/relationships/oleObject" Target="../embeddings/oleObject19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207.wmf"/><Relationship Id="rId5" Type="http://schemas.openxmlformats.org/officeDocument/2006/relationships/image" Target="../media/image204.wmf"/><Relationship Id="rId10" Type="http://schemas.openxmlformats.org/officeDocument/2006/relationships/oleObject" Target="../embeddings/oleObject200.bin"/><Relationship Id="rId4" Type="http://schemas.openxmlformats.org/officeDocument/2006/relationships/oleObject" Target="../embeddings/oleObject197.bin"/><Relationship Id="rId9" Type="http://schemas.openxmlformats.org/officeDocument/2006/relationships/image" Target="../media/image206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4.bin"/><Relationship Id="rId13" Type="http://schemas.openxmlformats.org/officeDocument/2006/relationships/image" Target="../media/image213.emf"/><Relationship Id="rId3" Type="http://schemas.openxmlformats.org/officeDocument/2006/relationships/image" Target="../media/image208.emf"/><Relationship Id="rId7" Type="http://schemas.openxmlformats.org/officeDocument/2006/relationships/image" Target="../media/image210.emf"/><Relationship Id="rId12" Type="http://schemas.openxmlformats.org/officeDocument/2006/relationships/oleObject" Target="../embeddings/oleObject206.bin"/><Relationship Id="rId2" Type="http://schemas.openxmlformats.org/officeDocument/2006/relationships/oleObject" Target="../embeddings/oleObject2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3.bin"/><Relationship Id="rId11" Type="http://schemas.openxmlformats.org/officeDocument/2006/relationships/image" Target="../media/image212.emf"/><Relationship Id="rId5" Type="http://schemas.openxmlformats.org/officeDocument/2006/relationships/image" Target="../media/image209.emf"/><Relationship Id="rId10" Type="http://schemas.openxmlformats.org/officeDocument/2006/relationships/oleObject" Target="../embeddings/oleObject205.bin"/><Relationship Id="rId4" Type="http://schemas.openxmlformats.org/officeDocument/2006/relationships/oleObject" Target="../embeddings/oleObject202.bin"/><Relationship Id="rId9" Type="http://schemas.openxmlformats.org/officeDocument/2006/relationships/image" Target="../media/image2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91472C23-7979-418B-BD46-03318A101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1544638"/>
            <a:ext cx="656907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sz="4800">
                <a:solidFill>
                  <a:srgbClr val="14028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第七章</a:t>
            </a:r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801FA401-96AD-4AB0-A085-2FC6D3C0C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514600"/>
            <a:ext cx="5426075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sz="4800">
                <a:solidFill>
                  <a:srgbClr val="14028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狭义相对论</a:t>
            </a:r>
          </a:p>
        </p:txBody>
      </p:sp>
      <p:pic>
        <p:nvPicPr>
          <p:cNvPr id="3076" name="Picture 4" descr="002">
            <a:extLst>
              <a:ext uri="{FF2B5EF4-FFF2-40B4-BE49-F238E27FC236}">
                <a16:creationId xmlns:a16="http://schemas.microsoft.com/office/drawing/2014/main" id="{DE12AFE1-7B9D-46A5-ADAD-662E50215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2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 Box 5">
            <a:extLst>
              <a:ext uri="{FF2B5EF4-FFF2-40B4-BE49-F238E27FC236}">
                <a16:creationId xmlns:a16="http://schemas.microsoft.com/office/drawing/2014/main" id="{F83F7C85-CD65-486D-B155-F7ED5FD9B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133600"/>
            <a:ext cx="5791200" cy="892175"/>
          </a:xfrm>
          <a:prstGeom prst="rect">
            <a:avLst/>
          </a:prstGeom>
          <a:noFill/>
          <a:ln>
            <a:noFill/>
          </a:ln>
          <a:effectLst>
            <a:outerShdw dist="56796" dir="1593903" algn="ctr" rotWithShape="0">
              <a:srgbClr val="FFFF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750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狭义相对论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5B7E104-82CB-48E3-BC7A-9B1B48D84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538" y="3810000"/>
            <a:ext cx="52482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en-US" altLang="zh-CN" sz="3600">
                <a:solidFill>
                  <a:srgbClr val="FFFFFF"/>
                </a:solidFill>
                <a:latin typeface="隶书" pitchFamily="49" charset="-122"/>
                <a:ea typeface="隶书" pitchFamily="49" charset="-122"/>
              </a:rPr>
              <a:t>Special Relativity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>
            <a:extLst>
              <a:ext uri="{FF2B5EF4-FFF2-40B4-BE49-F238E27FC236}">
                <a16:creationId xmlns:a16="http://schemas.microsoft.com/office/drawing/2014/main" id="{C92033D3-091F-2A4C-CE76-5E851812F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936625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光速不变原理</a:t>
            </a:r>
          </a:p>
        </p:txBody>
      </p:sp>
      <p:sp>
        <p:nvSpPr>
          <p:cNvPr id="890883" name="Rectangle 3">
            <a:extLst>
              <a:ext uri="{FF2B5EF4-FFF2-40B4-BE49-F238E27FC236}">
                <a16:creationId xmlns:a16="http://schemas.microsoft.com/office/drawing/2014/main" id="{ABE5867D-73BC-3D04-89E6-2941A7641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433388"/>
            <a:ext cx="5599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 typeface="Wingdings" panose="05000000000000000000" pitchFamily="2" charset="2"/>
              <a:buChar char="Ø"/>
            </a:pPr>
            <a:r>
              <a:rPr kumimoji="1" lang="en-US" altLang="zh-CN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狭义相对论的两个基本假设</a:t>
            </a:r>
          </a:p>
        </p:txBody>
      </p:sp>
      <p:sp>
        <p:nvSpPr>
          <p:cNvPr id="890884" name="Rectangle 4">
            <a:extLst>
              <a:ext uri="{FF2B5EF4-FFF2-40B4-BE49-F238E27FC236}">
                <a16:creationId xmlns:a16="http://schemas.microsoft.com/office/drawing/2014/main" id="{4994DC19-3674-C05E-51DC-67F0A021B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912813"/>
            <a:ext cx="2908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defTabSz="762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defTabSz="762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defTabSz="762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defTabSz="762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相对性原理</a:t>
            </a:r>
          </a:p>
        </p:txBody>
      </p:sp>
      <p:sp>
        <p:nvSpPr>
          <p:cNvPr id="890885" name="Text Box 5">
            <a:extLst>
              <a:ext uri="{FF2B5EF4-FFF2-40B4-BE49-F238E27FC236}">
                <a16:creationId xmlns:a16="http://schemas.microsoft.com/office/drawing/2014/main" id="{1AFFCD50-4B94-2E13-A65D-4594ABDFD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3" y="1700213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Ø"/>
            </a:pPr>
            <a:r>
              <a:rPr kumimoji="1" lang="en-US" altLang="zh-CN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同时性的相对性</a:t>
            </a:r>
          </a:p>
        </p:txBody>
      </p:sp>
      <p:sp>
        <p:nvSpPr>
          <p:cNvPr id="890886" name="Text Box 6">
            <a:extLst>
              <a:ext uri="{FF2B5EF4-FFF2-40B4-BE49-F238E27FC236}">
                <a16:creationId xmlns:a16="http://schemas.microsoft.com/office/drawing/2014/main" id="{9EC5C2EA-372F-ACDB-FB3B-29E2D6E62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133600"/>
            <a:ext cx="815022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1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沿两个惯性系相对运动方向上发生的两个事件，在其中一个惯性系中表现为同时的，在另一个惯性系中观察，则总是在前一个惯性系运动的后方的那一事件先发生。</a:t>
            </a:r>
          </a:p>
        </p:txBody>
      </p:sp>
      <p:sp>
        <p:nvSpPr>
          <p:cNvPr id="13" name="Text Box 26">
            <a:extLst>
              <a:ext uri="{FF2B5EF4-FFF2-40B4-BE49-F238E27FC236}">
                <a16:creationId xmlns:a16="http://schemas.microsoft.com/office/drawing/2014/main" id="{BAFBA4AF-D8EB-0577-14D6-61573B1CF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3835400"/>
            <a:ext cx="2808288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>
              <a:lnSpc>
                <a:spcPct val="100000"/>
              </a:lnSpc>
              <a:buClrTx/>
              <a:buFont typeface="Monotype Sorts" pitchFamily="2" charset="2"/>
              <a:buNone/>
            </a:pPr>
            <a:r>
              <a:rPr kumimoji="1" lang="zh-CN" altLang="en-US">
                <a:solidFill>
                  <a:srgbClr val="00FFFF"/>
                </a:solidFill>
              </a:rPr>
              <a:t>时间膨胀效应</a:t>
            </a:r>
            <a:r>
              <a:rPr kumimoji="1" lang="zh-CN" altLang="en-US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</a:p>
        </p:txBody>
      </p:sp>
      <p:sp>
        <p:nvSpPr>
          <p:cNvPr id="14" name="Text Box 27">
            <a:extLst>
              <a:ext uri="{FF2B5EF4-FFF2-40B4-BE49-F238E27FC236}">
                <a16:creationId xmlns:a16="http://schemas.microsoft.com/office/drawing/2014/main" id="{8E432019-0BF2-A475-801C-6134C81FD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50" y="4962525"/>
            <a:ext cx="3097213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>
              <a:lnSpc>
                <a:spcPct val="100000"/>
              </a:lnSpc>
              <a:buClrTx/>
              <a:buFont typeface="Monotype Sorts" pitchFamily="2" charset="2"/>
              <a:buNone/>
            </a:pPr>
            <a:r>
              <a:rPr kumimoji="1" lang="zh-CN" altLang="en-US">
                <a:solidFill>
                  <a:srgbClr val="00FFFF"/>
                </a:solidFill>
                <a:latin typeface="Times New Roman" panose="02020603050405020304" pitchFamily="18" charset="0"/>
              </a:rPr>
              <a:t>长度收缩效应</a:t>
            </a:r>
          </a:p>
        </p:txBody>
      </p:sp>
      <p:sp>
        <p:nvSpPr>
          <p:cNvPr id="15" name="Text Box 30">
            <a:extLst>
              <a:ext uri="{FF2B5EF4-FFF2-40B4-BE49-F238E27FC236}">
                <a16:creationId xmlns:a16="http://schemas.microsoft.com/office/drawing/2014/main" id="{35A0E95D-FC49-3859-5B9F-313F84BDB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1450" y="3805238"/>
            <a:ext cx="3554413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>
              <a:lnSpc>
                <a:spcPct val="100000"/>
              </a:lnSpc>
              <a:buClrTx/>
              <a:buFont typeface="Monotype Sorts" pitchFamily="2" charset="2"/>
              <a:buNone/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固有时间（原时）最短   </a:t>
            </a:r>
          </a:p>
        </p:txBody>
      </p:sp>
      <p:sp>
        <p:nvSpPr>
          <p:cNvPr id="16" name="Text Box 31">
            <a:extLst>
              <a:ext uri="{FF2B5EF4-FFF2-40B4-BE49-F238E27FC236}">
                <a16:creationId xmlns:a16="http://schemas.microsoft.com/office/drawing/2014/main" id="{FE6995DF-48A3-08E2-CEB4-FE39AB5A7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975" y="5100638"/>
            <a:ext cx="34766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 typeface="Monotype Sorts" pitchFamily="2" charset="2"/>
              <a:buNone/>
            </a:pPr>
            <a:r>
              <a:rPr kumimoji="1" lang="zh-CN" altLang="en-US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固有长度（原长）最长  </a:t>
            </a:r>
          </a:p>
        </p:txBody>
      </p:sp>
      <p:graphicFrame>
        <p:nvGraphicFramePr>
          <p:cNvPr id="17" name="Object 33">
            <a:extLst>
              <a:ext uri="{FF2B5EF4-FFF2-40B4-BE49-F238E27FC236}">
                <a16:creationId xmlns:a16="http://schemas.microsoft.com/office/drawing/2014/main" id="{E00DEFD7-98A5-6649-9CB6-B7600FD3F87F}"/>
              </a:ext>
            </a:extLst>
          </p:cNvPr>
          <p:cNvGraphicFramePr>
            <a:graphicFrameLocks/>
          </p:cNvGraphicFramePr>
          <p:nvPr/>
        </p:nvGraphicFramePr>
        <p:xfrm>
          <a:off x="2701925" y="3616325"/>
          <a:ext cx="201612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41400" imgH="863280" progId="Equation.3">
                  <p:embed/>
                </p:oleObj>
              </mc:Choice>
              <mc:Fallback>
                <p:oleObj name="公式" r:id="rId2" imgW="1841400" imgH="863280" progId="Equation.3">
                  <p:embed/>
                  <p:pic>
                    <p:nvPicPr>
                      <p:cNvPr id="17" name="Object 33">
                        <a:extLst>
                          <a:ext uri="{FF2B5EF4-FFF2-40B4-BE49-F238E27FC236}">
                            <a16:creationId xmlns:a16="http://schemas.microsoft.com/office/drawing/2014/main" id="{E00DEFD7-98A5-6649-9CB6-B7600FD3F8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925" y="3616325"/>
                        <a:ext cx="2016125" cy="1008063"/>
                      </a:xfrm>
                      <a:prstGeom prst="rect">
                        <a:avLst/>
                      </a:prstGeom>
                      <a:solidFill>
                        <a:srgbClr val="333333">
                          <a:alpha val="28999"/>
                        </a:srgbClr>
                      </a:solidFill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4">
            <a:extLst>
              <a:ext uri="{FF2B5EF4-FFF2-40B4-BE49-F238E27FC236}">
                <a16:creationId xmlns:a16="http://schemas.microsoft.com/office/drawing/2014/main" id="{274A2E8F-0E81-09BB-36EE-B5954D88F0AE}"/>
              </a:ext>
            </a:extLst>
          </p:cNvPr>
          <p:cNvGraphicFramePr>
            <a:graphicFrameLocks/>
          </p:cNvGraphicFramePr>
          <p:nvPr/>
        </p:nvGraphicFramePr>
        <p:xfrm>
          <a:off x="2754313" y="5016500"/>
          <a:ext cx="18002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88840" imgH="279360" progId="Equation.3">
                  <p:embed/>
                </p:oleObj>
              </mc:Choice>
              <mc:Fallback>
                <p:oleObj name="公式" r:id="rId4" imgW="888840" imgH="279360" progId="Equation.3">
                  <p:embed/>
                  <p:pic>
                    <p:nvPicPr>
                      <p:cNvPr id="18" name="Object 34">
                        <a:extLst>
                          <a:ext uri="{FF2B5EF4-FFF2-40B4-BE49-F238E27FC236}">
                            <a16:creationId xmlns:a16="http://schemas.microsoft.com/office/drawing/2014/main" id="{274A2E8F-0E81-09BB-36EE-B5954D88F0A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5016500"/>
                        <a:ext cx="1800225" cy="7191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90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90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0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9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90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90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882" grpId="0" autoUpdateAnimBg="0"/>
      <p:bldP spid="890883" grpId="0" autoUpdateAnimBg="0"/>
      <p:bldP spid="890884" grpId="0" autoUpdateAnimBg="0"/>
      <p:bldP spid="890885" grpId="0" autoUpdateAnimBg="0"/>
      <p:bldP spid="890886" grpId="0" autoUpdateAnimBg="0"/>
      <p:bldP spid="13" grpId="0" autoUpdateAnimBg="0"/>
      <p:bldP spid="14" grpId="0" autoUpdateAnimBg="0"/>
      <p:bldP spid="15" grpId="0" build="p" autoUpdateAnimBg="0"/>
      <p:bldP spid="1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2" name="Rectangle 2">
            <a:extLst>
              <a:ext uri="{FF2B5EF4-FFF2-40B4-BE49-F238E27FC236}">
                <a16:creationId xmlns:a16="http://schemas.microsoft.com/office/drawing/2014/main" id="{BA008C30-3DD4-4C08-A562-6A1F8B610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3079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896003" name="Text Box 3">
            <a:extLst>
              <a:ext uri="{FF2B5EF4-FFF2-40B4-BE49-F238E27FC236}">
                <a16:creationId xmlns:a16="http://schemas.microsoft.com/office/drawing/2014/main" id="{0EAF961F-7819-4C5F-A170-7D06A9264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298450"/>
            <a:ext cx="8170863" cy="124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dirty="0">
                <a:latin typeface="Times New Roman" panose="02020603050405020304" pitchFamily="18" charset="0"/>
              </a:rPr>
              <a:t>地球</a:t>
            </a:r>
            <a:r>
              <a:rPr kumimoji="1" lang="zh-CN" altLang="en-US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—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dirty="0">
                <a:latin typeface="Times New Roman" panose="02020603050405020304" pitchFamily="18" charset="0"/>
              </a:rPr>
              <a:t>月球系中测得地</a:t>
            </a:r>
            <a:r>
              <a:rPr kumimoji="1" lang="en-US" altLang="zh-CN" dirty="0">
                <a:latin typeface="Times New Roman" panose="02020603050405020304" pitchFamily="18" charset="0"/>
              </a:rPr>
              <a:t>—</a:t>
            </a:r>
            <a:r>
              <a:rPr kumimoji="1" lang="zh-CN" altLang="en-US" dirty="0">
                <a:latin typeface="Times New Roman" panose="02020603050405020304" pitchFamily="18" charset="0"/>
              </a:rPr>
              <a:t>月距离为 </a:t>
            </a:r>
            <a:r>
              <a:rPr kumimoji="1" lang="en-US" altLang="zh-CN" dirty="0">
                <a:solidFill>
                  <a:srgbClr val="66FFFF"/>
                </a:solidFill>
                <a:latin typeface="Times New Roman" panose="02020603050405020304" pitchFamily="18" charset="0"/>
              </a:rPr>
              <a:t>3.844×10</a:t>
            </a:r>
            <a:r>
              <a:rPr kumimoji="1" lang="en-US" altLang="zh-CN" baseline="30000" dirty="0">
                <a:solidFill>
                  <a:srgbClr val="66FFFF"/>
                </a:solidFill>
                <a:latin typeface="Times New Roman" panose="02020603050405020304" pitchFamily="18" charset="0"/>
              </a:rPr>
              <a:t>8 </a:t>
            </a:r>
            <a:r>
              <a:rPr kumimoji="1" lang="en-US" altLang="zh-CN" dirty="0">
                <a:solidFill>
                  <a:srgbClr val="66FFFF"/>
                </a:solidFill>
                <a:latin typeface="Times New Roman" panose="02020603050405020304" pitchFamily="18" charset="0"/>
              </a:rPr>
              <a:t>m</a:t>
            </a:r>
            <a:r>
              <a:rPr kumimoji="1" lang="zh-CN" altLang="en-US" dirty="0">
                <a:latin typeface="Times New Roman" panose="02020603050405020304" pitchFamily="18" charset="0"/>
              </a:rPr>
              <a:t>，一火箭 </a:t>
            </a:r>
            <a:r>
              <a:rPr kumimoji="1" lang="en-US" altLang="zh-CN" dirty="0">
                <a:solidFill>
                  <a:srgbClr val="66FFFF"/>
                </a:solidFill>
                <a:latin typeface="Times New Roman" panose="02020603050405020304" pitchFamily="18" charset="0"/>
              </a:rPr>
              <a:t>0.8 </a:t>
            </a:r>
            <a:r>
              <a:rPr kumimoji="1" lang="en-US" altLang="zh-CN" sz="2800" i="1" dirty="0">
                <a:solidFill>
                  <a:srgbClr val="66FFFF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i="1" dirty="0">
                <a:latin typeface="Times New Roman" panose="02020603050405020304" pitchFamily="18" charset="0"/>
              </a:rPr>
              <a:t> </a:t>
            </a:r>
            <a:r>
              <a:rPr kumimoji="1" lang="zh-CN" altLang="en-US" dirty="0">
                <a:latin typeface="Times New Roman" panose="02020603050405020304" pitchFamily="18" charset="0"/>
              </a:rPr>
              <a:t>的速率沿着从地球到月球的方向飞行，先经过地球 </a:t>
            </a:r>
            <a:r>
              <a:rPr kumimoji="1" lang="en-US" altLang="zh-CN" dirty="0">
                <a:latin typeface="Times New Roman" panose="02020603050405020304" pitchFamily="18" charset="0"/>
              </a:rPr>
              <a:t>(</a:t>
            </a:r>
            <a:r>
              <a:rPr kumimoji="1" lang="zh-CN" altLang="en-US" dirty="0">
                <a:latin typeface="Times New Roman" panose="02020603050405020304" pitchFamily="18" charset="0"/>
              </a:rPr>
              <a:t>事件</a:t>
            </a:r>
            <a:r>
              <a:rPr kumimoji="1" lang="en-US" altLang="zh-CN" dirty="0">
                <a:latin typeface="Times New Roman" panose="02020603050405020304" pitchFamily="18" charset="0"/>
              </a:rPr>
              <a:t>1)</a:t>
            </a:r>
            <a:r>
              <a:rPr kumimoji="1" lang="zh-CN" altLang="en-US" dirty="0">
                <a:latin typeface="Times New Roman" panose="02020603050405020304" pitchFamily="18" charset="0"/>
              </a:rPr>
              <a:t>，之后又经过月球 </a:t>
            </a:r>
            <a:r>
              <a:rPr kumimoji="1" lang="en-US" altLang="zh-CN" dirty="0">
                <a:latin typeface="Times New Roman" panose="02020603050405020304" pitchFamily="18" charset="0"/>
              </a:rPr>
              <a:t>(</a:t>
            </a:r>
            <a:r>
              <a:rPr kumimoji="1" lang="zh-CN" altLang="en-US" dirty="0">
                <a:latin typeface="Times New Roman" panose="02020603050405020304" pitchFamily="18" charset="0"/>
              </a:rPr>
              <a:t>事件</a:t>
            </a:r>
            <a:r>
              <a:rPr kumimoji="1" lang="en-US" altLang="zh-CN" dirty="0">
                <a:latin typeface="Times New Roman" panose="02020603050405020304" pitchFamily="18" charset="0"/>
              </a:rPr>
              <a:t>2)</a:t>
            </a:r>
            <a:r>
              <a:rPr kumimoji="1" lang="zh-CN" altLang="en-US" dirty="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896004" name="Rectangle 4">
            <a:extLst>
              <a:ext uri="{FF2B5EF4-FFF2-40B4-BE49-F238E27FC236}">
                <a16:creationId xmlns:a16="http://schemas.microsoft.com/office/drawing/2014/main" id="{DB257637-8F5A-4082-9A37-7B4A479CF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3" y="16287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896005" name="Text Box 5">
            <a:extLst>
              <a:ext uri="{FF2B5EF4-FFF2-40B4-BE49-F238E27FC236}">
                <a16:creationId xmlns:a16="http://schemas.microsoft.com/office/drawing/2014/main" id="{788F01C2-3045-4788-B14D-29459197B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1557338"/>
            <a:ext cx="79549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dirty="0">
                <a:latin typeface="Times New Roman" panose="02020603050405020304" pitchFamily="18" charset="0"/>
              </a:rPr>
              <a:t>在地球 </a:t>
            </a:r>
            <a:r>
              <a:rPr kumimoji="1" lang="en-US" altLang="zh-CN" dirty="0">
                <a:solidFill>
                  <a:srgbClr val="FFFF00"/>
                </a:solidFill>
                <a:latin typeface="Times New Roman" panose="02020603050405020304" pitchFamily="18" charset="0"/>
              </a:rPr>
              <a:t>— </a:t>
            </a:r>
            <a:r>
              <a:rPr kumimoji="1" lang="zh-CN" altLang="en-US" dirty="0">
                <a:latin typeface="Times New Roman" panose="02020603050405020304" pitchFamily="18" charset="0"/>
              </a:rPr>
              <a:t>月球系和火箭系中观测，火箭由地球飞向月球所需要的时间。</a:t>
            </a:r>
            <a:r>
              <a:rPr kumimoji="1" lang="zh-CN" altLang="en-US" b="0" dirty="0">
                <a:solidFill>
                  <a:srgbClr val="33CCFF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896006" name="Rectangle 6">
            <a:extLst>
              <a:ext uri="{FF2B5EF4-FFF2-40B4-BE49-F238E27FC236}">
                <a16:creationId xmlns:a16="http://schemas.microsoft.com/office/drawing/2014/main" id="{F59DB38F-80B1-47DF-BA77-0434A2FBC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24209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896007" name="Rectangle 7">
            <a:extLst>
              <a:ext uri="{FF2B5EF4-FFF2-40B4-BE49-F238E27FC236}">
                <a16:creationId xmlns:a16="http://schemas.microsoft.com/office/drawing/2014/main" id="{F3D156D6-C60C-4AAB-9379-10E23D26B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66975"/>
            <a:ext cx="80549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 dirty="0">
                <a:latin typeface="Times New Roman" panose="02020603050405020304" pitchFamily="18" charset="0"/>
              </a:rPr>
              <a:t>取固定在地球</a:t>
            </a:r>
            <a:r>
              <a:rPr kumimoji="1" lang="en-US" altLang="zh-CN" dirty="0">
                <a:latin typeface="Times New Roman" panose="02020603050405020304" pitchFamily="18" charset="0"/>
              </a:rPr>
              <a:t>—</a:t>
            </a:r>
            <a:r>
              <a:rPr kumimoji="1" lang="zh-CN" altLang="en-US" dirty="0">
                <a:latin typeface="Times New Roman" panose="02020603050405020304" pitchFamily="18" charset="0"/>
              </a:rPr>
              <a:t>月球上的坐标系为 </a:t>
            </a:r>
            <a:r>
              <a:rPr kumimoji="1" lang="en-US" altLang="zh-CN" i="1" dirty="0">
                <a:solidFill>
                  <a:srgbClr val="66FFFF"/>
                </a:solidFill>
                <a:latin typeface="Times New Roman" panose="02020603050405020304" pitchFamily="18" charset="0"/>
              </a:rPr>
              <a:t>S </a:t>
            </a:r>
            <a:r>
              <a:rPr kumimoji="1" lang="zh-CN" altLang="en-US" dirty="0">
                <a:latin typeface="Times New Roman" panose="02020603050405020304" pitchFamily="18" charset="0"/>
              </a:rPr>
              <a:t>系，固定在火箭上的坐标系为 </a:t>
            </a:r>
            <a:r>
              <a:rPr kumimoji="1" lang="en-US" altLang="zh-CN" i="1" dirty="0">
                <a:solidFill>
                  <a:srgbClr val="66FFFF"/>
                </a:solidFill>
                <a:latin typeface="Times New Roman" panose="02020603050405020304" pitchFamily="18" charset="0"/>
              </a:rPr>
              <a:t>S' </a:t>
            </a:r>
            <a:r>
              <a:rPr kumimoji="1" lang="zh-CN" altLang="en-US" dirty="0">
                <a:latin typeface="Times New Roman" panose="02020603050405020304" pitchFamily="18" charset="0"/>
              </a:rPr>
              <a:t>系。则地</a:t>
            </a:r>
            <a:r>
              <a:rPr kumimoji="1" lang="en-US" altLang="zh-CN" dirty="0">
                <a:latin typeface="Times New Roman" panose="02020603050405020304" pitchFamily="18" charset="0"/>
              </a:rPr>
              <a:t>—</a:t>
            </a:r>
            <a:r>
              <a:rPr kumimoji="1" lang="zh-CN" altLang="en-US" dirty="0">
                <a:latin typeface="Times New Roman" panose="02020603050405020304" pitchFamily="18" charset="0"/>
              </a:rPr>
              <a:t>月距离</a:t>
            </a:r>
          </a:p>
        </p:txBody>
      </p:sp>
      <p:graphicFrame>
        <p:nvGraphicFramePr>
          <p:cNvPr id="896008" name="Object 8">
            <a:extLst>
              <a:ext uri="{FF2B5EF4-FFF2-40B4-BE49-F238E27FC236}">
                <a16:creationId xmlns:a16="http://schemas.microsoft.com/office/drawing/2014/main" id="{48FC92E0-9247-4DD4-99BE-F385AC61B0EA}"/>
              </a:ext>
            </a:extLst>
          </p:cNvPr>
          <p:cNvGraphicFramePr>
            <a:graphicFrameLocks/>
          </p:cNvGraphicFramePr>
          <p:nvPr/>
        </p:nvGraphicFramePr>
        <p:xfrm>
          <a:off x="2708275" y="3357563"/>
          <a:ext cx="30448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48000" imgH="381055" progId="Equation.3">
                  <p:embed/>
                </p:oleObj>
              </mc:Choice>
              <mc:Fallback>
                <p:oleObj name="公式" r:id="rId2" imgW="3048000" imgH="381055" progId="Equation.3">
                  <p:embed/>
                  <p:pic>
                    <p:nvPicPr>
                      <p:cNvPr id="896008" name="Object 8">
                        <a:extLst>
                          <a:ext uri="{FF2B5EF4-FFF2-40B4-BE49-F238E27FC236}">
                            <a16:creationId xmlns:a16="http://schemas.microsoft.com/office/drawing/2014/main" id="{48FC92E0-9247-4DD4-99BE-F385AC61B0E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275" y="3357563"/>
                        <a:ext cx="30448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6009" name="Object 9">
            <a:extLst>
              <a:ext uri="{FF2B5EF4-FFF2-40B4-BE49-F238E27FC236}">
                <a16:creationId xmlns:a16="http://schemas.microsoft.com/office/drawing/2014/main" id="{EA10C3AF-9E79-422D-9E44-B9CF70464D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5413" y="4441825"/>
          <a:ext cx="41386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22389" imgH="769592" progId="Equation.3">
                  <p:embed/>
                </p:oleObj>
              </mc:Choice>
              <mc:Fallback>
                <p:oleObj name="公式" r:id="rId4" imgW="4122389" imgH="769592" progId="Equation.3">
                  <p:embed/>
                  <p:pic>
                    <p:nvPicPr>
                      <p:cNvPr id="896009" name="Object 9">
                        <a:extLst>
                          <a:ext uri="{FF2B5EF4-FFF2-40B4-BE49-F238E27FC236}">
                            <a16:creationId xmlns:a16="http://schemas.microsoft.com/office/drawing/2014/main" id="{EA10C3AF-9E79-422D-9E44-B9CF70464D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3" y="4441825"/>
                        <a:ext cx="413861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6010" name="Text Box 10">
            <a:extLst>
              <a:ext uri="{FF2B5EF4-FFF2-40B4-BE49-F238E27FC236}">
                <a16:creationId xmlns:a16="http://schemas.microsoft.com/office/drawing/2014/main" id="{9DA1BAC2-9ADF-40F8-ADFE-3F2ADA851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892550"/>
            <a:ext cx="81375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Times New Roman" panose="02020603050405020304" pitchFamily="18" charset="0"/>
              </a:rPr>
              <a:t>在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</a:rPr>
              <a:t>系中火箭由地球飞向月球的时间为</a:t>
            </a:r>
          </a:p>
        </p:txBody>
      </p:sp>
      <p:sp>
        <p:nvSpPr>
          <p:cNvPr id="896011" name="Rectangle 11">
            <a:extLst>
              <a:ext uri="{FF2B5EF4-FFF2-40B4-BE49-F238E27FC236}">
                <a16:creationId xmlns:a16="http://schemas.microsoft.com/office/drawing/2014/main" id="{01C01548-14BC-4550-A73F-024FCDEC5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5445125"/>
            <a:ext cx="8054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733550" algn="l"/>
              </a:tabLs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tabLst>
                <a:tab pos="1733550" algn="l"/>
              </a:tabLs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tabLst>
                <a:tab pos="1733550" algn="l"/>
              </a:tabLs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tabLst>
                <a:tab pos="1733550" algn="l"/>
              </a:tabLs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tabLst>
                <a:tab pos="1733550" algn="l"/>
              </a:tabLs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33550" algn="l"/>
              </a:tabLs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33550" algn="l"/>
              </a:tabLs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33550" algn="l"/>
              </a:tabLs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33550" algn="l"/>
              </a:tabLs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 eaLnBrk="1" hangingPunct="1"/>
            <a:r>
              <a:rPr kumimoji="1" lang="zh-CN" altLang="en-US">
                <a:latin typeface="Times New Roman" panose="02020603050405020304" pitchFamily="18" charset="0"/>
              </a:rPr>
              <a:t>设在系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S' </a:t>
            </a:r>
            <a:r>
              <a:rPr kumimoji="1" lang="zh-CN" altLang="en-US">
                <a:latin typeface="Times New Roman" panose="02020603050405020304" pitchFamily="18" charset="0"/>
              </a:rPr>
              <a:t>中，地</a:t>
            </a:r>
            <a:r>
              <a:rPr kumimoji="1" lang="en-US" altLang="zh-CN">
                <a:latin typeface="Times New Roman" panose="02020603050405020304" pitchFamily="18" charset="0"/>
              </a:rPr>
              <a:t>—</a:t>
            </a:r>
            <a:r>
              <a:rPr kumimoji="1" lang="zh-CN" altLang="en-US">
                <a:latin typeface="Times New Roman" panose="02020603050405020304" pitchFamily="18" charset="0"/>
              </a:rPr>
              <a:t>月距离为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1000" i="1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'</a:t>
            </a:r>
            <a:r>
              <a:rPr kumimoji="1" lang="zh-CN" altLang="en-US">
                <a:latin typeface="Times New Roman" panose="02020603050405020304" pitchFamily="18" charset="0"/>
              </a:rPr>
              <a:t>，根据长度收缩公式有</a:t>
            </a:r>
          </a:p>
        </p:txBody>
      </p:sp>
      <p:graphicFrame>
        <p:nvGraphicFramePr>
          <p:cNvPr id="896012" name="Object 12">
            <a:extLst>
              <a:ext uri="{FF2B5EF4-FFF2-40B4-BE49-F238E27FC236}">
                <a16:creationId xmlns:a16="http://schemas.microsoft.com/office/drawing/2014/main" id="{3CAD30C1-386F-4817-9D88-10AA60636EFD}"/>
              </a:ext>
            </a:extLst>
          </p:cNvPr>
          <p:cNvGraphicFramePr>
            <a:graphicFrameLocks/>
          </p:cNvGraphicFramePr>
          <p:nvPr/>
        </p:nvGraphicFramePr>
        <p:xfrm>
          <a:off x="3262313" y="6021388"/>
          <a:ext cx="17414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22307" imgH="418961" progId="Equation.3">
                  <p:embed/>
                </p:oleObj>
              </mc:Choice>
              <mc:Fallback>
                <p:oleObj name="公式" r:id="rId6" imgW="1722307" imgH="418961" progId="Equation.3">
                  <p:embed/>
                  <p:pic>
                    <p:nvPicPr>
                      <p:cNvPr id="896012" name="Object 12">
                        <a:extLst>
                          <a:ext uri="{FF2B5EF4-FFF2-40B4-BE49-F238E27FC236}">
                            <a16:creationId xmlns:a16="http://schemas.microsoft.com/office/drawing/2014/main" id="{3CAD30C1-386F-4817-9D88-10AA60636EF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6021388"/>
                        <a:ext cx="17414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89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"/>
                                        <p:tgtEl>
                                          <p:spTgt spid="89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9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9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"/>
                                        <p:tgtEl>
                                          <p:spTgt spid="89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9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89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89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6002" grpId="0" autoUpdateAnimBg="0"/>
      <p:bldP spid="896003" grpId="0" autoUpdateAnimBg="0"/>
      <p:bldP spid="896004" grpId="0" autoUpdateAnimBg="0"/>
      <p:bldP spid="896005" grpId="0" autoUpdateAnimBg="0"/>
      <p:bldP spid="896006" grpId="0" autoUpdateAnimBg="0"/>
      <p:bldP spid="896007" grpId="0" autoUpdateAnimBg="0"/>
      <p:bldP spid="896010" grpId="0" autoUpdateAnimBg="0"/>
      <p:bldP spid="89601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7026" name="Object 2">
            <a:extLst>
              <a:ext uri="{FF2B5EF4-FFF2-40B4-BE49-F238E27FC236}">
                <a16:creationId xmlns:a16="http://schemas.microsoft.com/office/drawing/2014/main" id="{34C88EED-F6E6-4A0E-BBC1-D1384A8B249D}"/>
              </a:ext>
            </a:extLst>
          </p:cNvPr>
          <p:cNvGraphicFramePr>
            <a:graphicFrameLocks/>
          </p:cNvGraphicFramePr>
          <p:nvPr/>
        </p:nvGraphicFramePr>
        <p:xfrm>
          <a:off x="3571875" y="2349500"/>
          <a:ext cx="4610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594642" imgH="822960" progId="Equation.3">
                  <p:embed/>
                </p:oleObj>
              </mc:Choice>
              <mc:Fallback>
                <p:oleObj name="公式" r:id="rId2" imgW="4594642" imgH="822960" progId="Equation.3">
                  <p:embed/>
                  <p:pic>
                    <p:nvPicPr>
                      <p:cNvPr id="897026" name="Object 2">
                        <a:extLst>
                          <a:ext uri="{FF2B5EF4-FFF2-40B4-BE49-F238E27FC236}">
                            <a16:creationId xmlns:a16="http://schemas.microsoft.com/office/drawing/2014/main" id="{34C88EED-F6E6-4A0E-BBC1-D1384A8B24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2349500"/>
                        <a:ext cx="4610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7027" name="Text Box 3">
            <a:extLst>
              <a:ext uri="{FF2B5EF4-FFF2-40B4-BE49-F238E27FC236}">
                <a16:creationId xmlns:a16="http://schemas.microsoft.com/office/drawing/2014/main" id="{BA3B42D0-A10E-4D5B-8D75-AE76630A8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5" y="549275"/>
            <a:ext cx="6411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kumimoji="1" lang="zh-CN" altLang="en-US">
                <a:latin typeface="Times New Roman" panose="02020603050405020304" pitchFamily="18" charset="0"/>
              </a:rPr>
              <a:t>因此，在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S' </a:t>
            </a:r>
            <a:r>
              <a:rPr kumimoji="1" lang="zh-CN" altLang="en-US">
                <a:latin typeface="Times New Roman" panose="02020603050405020304" pitchFamily="18" charset="0"/>
              </a:rPr>
              <a:t>系中火箭由地球飞向月球的时间为</a:t>
            </a:r>
          </a:p>
        </p:txBody>
      </p:sp>
      <p:graphicFrame>
        <p:nvGraphicFramePr>
          <p:cNvPr id="897028" name="Object 4">
            <a:extLst>
              <a:ext uri="{FF2B5EF4-FFF2-40B4-BE49-F238E27FC236}">
                <a16:creationId xmlns:a16="http://schemas.microsoft.com/office/drawing/2014/main" id="{48194760-7425-4BF5-BE4E-942BD99152C2}"/>
              </a:ext>
            </a:extLst>
          </p:cNvPr>
          <p:cNvGraphicFramePr>
            <a:graphicFrameLocks/>
          </p:cNvGraphicFramePr>
          <p:nvPr/>
        </p:nvGraphicFramePr>
        <p:xfrm>
          <a:off x="2492375" y="1284288"/>
          <a:ext cx="27098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705131" imgH="838422" progId="Equation.3">
                  <p:embed/>
                </p:oleObj>
              </mc:Choice>
              <mc:Fallback>
                <p:oleObj name="公式" r:id="rId4" imgW="2705131" imgH="838422" progId="Equation.3">
                  <p:embed/>
                  <p:pic>
                    <p:nvPicPr>
                      <p:cNvPr id="897028" name="Object 4">
                        <a:extLst>
                          <a:ext uri="{FF2B5EF4-FFF2-40B4-BE49-F238E27FC236}">
                            <a16:creationId xmlns:a16="http://schemas.microsoft.com/office/drawing/2014/main" id="{48194760-7425-4BF5-BE4E-942BD99152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1284288"/>
                        <a:ext cx="27098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7029" name="Text Box 5">
            <a:extLst>
              <a:ext uri="{FF2B5EF4-FFF2-40B4-BE49-F238E27FC236}">
                <a16:creationId xmlns:a16="http://schemas.microsoft.com/office/drawing/2014/main" id="{4E681FA0-CF24-4A7E-9169-972172172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692525"/>
            <a:ext cx="898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另解</a:t>
            </a:r>
            <a:r>
              <a:rPr kumimoji="1" lang="en-US" altLang="zh-CN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897030" name="Object 6">
            <a:extLst>
              <a:ext uri="{FF2B5EF4-FFF2-40B4-BE49-F238E27FC236}">
                <a16:creationId xmlns:a16="http://schemas.microsoft.com/office/drawing/2014/main" id="{B7FF7C8A-3E8D-4AFD-BFA1-6CA32B5E33F4}"/>
              </a:ext>
            </a:extLst>
          </p:cNvPr>
          <p:cNvGraphicFramePr>
            <a:graphicFrameLocks/>
          </p:cNvGraphicFramePr>
          <p:nvPr/>
        </p:nvGraphicFramePr>
        <p:xfrm>
          <a:off x="1916113" y="3505200"/>
          <a:ext cx="183991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28800" imgH="845903" progId="Equation.3">
                  <p:embed/>
                </p:oleObj>
              </mc:Choice>
              <mc:Fallback>
                <p:oleObj name="公式" r:id="rId6" imgW="1828800" imgH="845903" progId="Equation.3">
                  <p:embed/>
                  <p:pic>
                    <p:nvPicPr>
                      <p:cNvPr id="897030" name="Object 6">
                        <a:extLst>
                          <a:ext uri="{FF2B5EF4-FFF2-40B4-BE49-F238E27FC236}">
                            <a16:creationId xmlns:a16="http://schemas.microsoft.com/office/drawing/2014/main" id="{B7FF7C8A-3E8D-4AFD-BFA1-6CA32B5E33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3505200"/>
                        <a:ext cx="1839912" cy="860425"/>
                      </a:xfrm>
                      <a:prstGeom prst="rect">
                        <a:avLst/>
                      </a:prstGeom>
                      <a:solidFill>
                        <a:srgbClr val="0066FF"/>
                      </a:solidFill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7031" name="Object 7">
            <a:extLst>
              <a:ext uri="{FF2B5EF4-FFF2-40B4-BE49-F238E27FC236}">
                <a16:creationId xmlns:a16="http://schemas.microsoft.com/office/drawing/2014/main" id="{BB6E7521-BC44-4690-B81B-8D70A84CB13F}"/>
              </a:ext>
            </a:extLst>
          </p:cNvPr>
          <p:cNvGraphicFramePr>
            <a:graphicFrameLocks/>
          </p:cNvGraphicFramePr>
          <p:nvPr/>
        </p:nvGraphicFramePr>
        <p:xfrm>
          <a:off x="4173538" y="3717925"/>
          <a:ext cx="44307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427438" imgH="464848" progId="Equation.3">
                  <p:embed/>
                </p:oleObj>
              </mc:Choice>
              <mc:Fallback>
                <p:oleObj name="公式" r:id="rId8" imgW="4427438" imgH="464848" progId="Equation.3">
                  <p:embed/>
                  <p:pic>
                    <p:nvPicPr>
                      <p:cNvPr id="897031" name="Object 7">
                        <a:extLst>
                          <a:ext uri="{FF2B5EF4-FFF2-40B4-BE49-F238E27FC236}">
                            <a16:creationId xmlns:a16="http://schemas.microsoft.com/office/drawing/2014/main" id="{BB6E7521-BC44-4690-B81B-8D70A84CB13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538" y="3717925"/>
                        <a:ext cx="443071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97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9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9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9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89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7027" grpId="0" autoUpdateAnimBg="0"/>
      <p:bldP spid="89702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Text Box 2">
            <a:extLst>
              <a:ext uri="{FF2B5EF4-FFF2-40B4-BE49-F238E27FC236}">
                <a16:creationId xmlns:a16="http://schemas.microsoft.com/office/drawing/2014/main" id="{55C54308-B00B-44FB-93FE-DD0BA1E4C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346075"/>
            <a:ext cx="82804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  <a:t>静止的带电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π</a:t>
            </a:r>
            <a:r>
              <a:rPr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  <a:t>介子的半衰期为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1.77×10</a:t>
            </a:r>
            <a:r>
              <a:rPr lang="en-US" altLang="zh-CN" baseline="30000">
                <a:solidFill>
                  <a:srgbClr val="FFCC66"/>
                </a:solidFill>
                <a:latin typeface="Times New Roman" panose="02020603050405020304" pitchFamily="18" charset="0"/>
              </a:rPr>
              <a:t>-8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  <a:t>（不稳定粒子数目减少一半经历的时间称为半衰期</a:t>
            </a:r>
            <a:r>
              <a:rPr lang="en-US" altLang="zh-CN">
                <a:solidFill>
                  <a:srgbClr val="FFFF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  <a:t>即当</a:t>
            </a:r>
            <a:r>
              <a:rPr lang="en-US" altLang="zh-CN" i="1">
                <a:solidFill>
                  <a:srgbClr val="FFCC66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>
                <a:solidFill>
                  <a:srgbClr val="FFCC66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>
                <a:solidFill>
                  <a:srgbClr val="FFCC66"/>
                </a:solidFill>
                <a:latin typeface="Times New Roman" panose="02020603050405020304" pitchFamily="18" charset="0"/>
              </a:rPr>
              <a:t>1/2</a:t>
            </a:r>
            <a:r>
              <a:rPr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  <a:t>时</a:t>
            </a:r>
            <a:r>
              <a:rPr lang="en-US" altLang="zh-CN" i="1">
                <a:solidFill>
                  <a:srgbClr val="FFCC66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>
                <a:solidFill>
                  <a:srgbClr val="FFCC66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aseline="-25000">
                <a:solidFill>
                  <a:srgbClr val="FFCC66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/2</a:t>
            </a:r>
            <a:r>
              <a:rPr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>
                <a:solidFill>
                  <a:srgbClr val="FFFFFF"/>
                </a:solidFill>
                <a:latin typeface="Times New Roman" panose="02020603050405020304" pitchFamily="18" charset="0"/>
              </a:rPr>
              <a:t>.  </a:t>
            </a:r>
            <a:r>
              <a:rPr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  <a:t>今有一束平行运动的介子，速率为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0.99</a:t>
            </a:r>
            <a:r>
              <a:rPr lang="en-US" altLang="zh-CN" i="1">
                <a:solidFill>
                  <a:srgbClr val="FFCC66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  <a:t>，在离开</a:t>
            </a:r>
            <a:r>
              <a:rPr lang="en-US" altLang="zh-CN">
                <a:solidFill>
                  <a:srgbClr val="FFFFFF"/>
                </a:solidFill>
                <a:latin typeface="Times New Roman" panose="02020603050405020304" pitchFamily="18" charset="0"/>
              </a:rPr>
              <a:t>π</a:t>
            </a:r>
            <a:r>
              <a:rPr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  <a:t>介子源 </a:t>
            </a:r>
            <a:r>
              <a:rPr lang="en-US" altLang="zh-CN">
                <a:solidFill>
                  <a:srgbClr val="FFFFFF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  <a:t>加速器中的靶</a:t>
            </a:r>
            <a:r>
              <a:rPr lang="en-US" altLang="zh-CN">
                <a:solidFill>
                  <a:srgbClr val="FFFF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39m</a:t>
            </a:r>
            <a:r>
              <a:rPr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  <a:t>处</a:t>
            </a:r>
            <a:r>
              <a:rPr lang="en-US" altLang="zh-CN">
                <a:solidFill>
                  <a:srgbClr val="FFFF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  <a:t>发现它的强度已减少为原来强度的一半</a:t>
            </a:r>
            <a:r>
              <a:rPr lang="en-US" altLang="zh-CN">
                <a:solidFill>
                  <a:srgbClr val="FFFFFF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944131" name="Rectangle 3">
            <a:extLst>
              <a:ext uri="{FF2B5EF4-FFF2-40B4-BE49-F238E27FC236}">
                <a16:creationId xmlns:a16="http://schemas.microsoft.com/office/drawing/2014/main" id="{7FA68D0B-561D-4C9D-AC8F-F4C57F37B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79413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944132" name="Text Box 4">
            <a:extLst>
              <a:ext uri="{FF2B5EF4-FFF2-40B4-BE49-F238E27FC236}">
                <a16:creationId xmlns:a16="http://schemas.microsoft.com/office/drawing/2014/main" id="{302B91BB-1452-4818-9736-98EF2FAAB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2884488"/>
            <a:ext cx="4103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FFFF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>
                <a:solidFill>
                  <a:srgbClr val="00FFFF"/>
                </a:solidFill>
              </a:rPr>
              <a:t>用经典力学解释实验结果</a:t>
            </a:r>
          </a:p>
        </p:txBody>
      </p:sp>
      <p:sp>
        <p:nvSpPr>
          <p:cNvPr id="944133" name="Rectangle 5">
            <a:extLst>
              <a:ext uri="{FF2B5EF4-FFF2-40B4-BE49-F238E27FC236}">
                <a16:creationId xmlns:a16="http://schemas.microsoft.com/office/drawing/2014/main" id="{FE926A00-B289-4BAA-9A87-5F5C70B1F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2884488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944134" name="Text Box 6">
            <a:extLst>
              <a:ext uri="{FF2B5EF4-FFF2-40B4-BE49-F238E27FC236}">
                <a16:creationId xmlns:a16="http://schemas.microsoft.com/office/drawing/2014/main" id="{07E6F9C1-315E-47A6-BE4B-084E7DE74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486150"/>
            <a:ext cx="6769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CC66"/>
                </a:solidFill>
              </a:rPr>
              <a:t>π</a:t>
            </a:r>
            <a:r>
              <a:rPr lang="zh-CN" altLang="en-US">
                <a:solidFill>
                  <a:srgbClr val="FFFFFF"/>
                </a:solidFill>
              </a:rPr>
              <a:t>介子束在半衰期内即半数衰变前通过的路程为</a:t>
            </a:r>
          </a:p>
        </p:txBody>
      </p:sp>
      <p:sp>
        <p:nvSpPr>
          <p:cNvPr id="944135" name="Rectangle 7">
            <a:extLst>
              <a:ext uri="{FF2B5EF4-FFF2-40B4-BE49-F238E27FC236}">
                <a16:creationId xmlns:a16="http://schemas.microsoft.com/office/drawing/2014/main" id="{68A9D703-CDBD-47C1-AFDB-B3FF88D89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44136" name="Object 8">
            <a:extLst>
              <a:ext uri="{FF2B5EF4-FFF2-40B4-BE49-F238E27FC236}">
                <a16:creationId xmlns:a16="http://schemas.microsoft.com/office/drawing/2014/main" id="{B035855C-28E9-46AE-9AD3-9C509359E2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4165600"/>
          <a:ext cx="55467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570002" imgH="403999" progId="Equation.3">
                  <p:embed/>
                </p:oleObj>
              </mc:Choice>
              <mc:Fallback>
                <p:oleObj name="公式" r:id="rId2" imgW="5570002" imgH="403999" progId="Equation.3">
                  <p:embed/>
                  <p:pic>
                    <p:nvPicPr>
                      <p:cNvPr id="944136" name="Object 8">
                        <a:extLst>
                          <a:ext uri="{FF2B5EF4-FFF2-40B4-BE49-F238E27FC236}">
                            <a16:creationId xmlns:a16="http://schemas.microsoft.com/office/drawing/2014/main" id="{B035855C-28E9-46AE-9AD3-9C509359E2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4165600"/>
                        <a:ext cx="55467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4137" name="Text Box 9">
            <a:extLst>
              <a:ext uri="{FF2B5EF4-FFF2-40B4-BE49-F238E27FC236}">
                <a16:creationId xmlns:a16="http://schemas.microsoft.com/office/drawing/2014/main" id="{D19A1BD8-EE7B-4E1B-A709-ACD782AA9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4652963"/>
            <a:ext cx="76073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</a:rPr>
              <a:t>与实验结果矛盾</a:t>
            </a:r>
            <a:r>
              <a:rPr lang="en-US" altLang="zh-CN">
                <a:solidFill>
                  <a:srgbClr val="FFFFFF"/>
                </a:solidFill>
              </a:rPr>
              <a:t>,</a:t>
            </a:r>
            <a:r>
              <a:rPr lang="en-US" altLang="zh-CN">
                <a:solidFill>
                  <a:srgbClr val="FFCC66"/>
                </a:solidFill>
              </a:rPr>
              <a:t>π</a:t>
            </a:r>
            <a:r>
              <a:rPr lang="zh-CN" altLang="en-US">
                <a:solidFill>
                  <a:srgbClr val="FFFFFF"/>
                </a:solidFill>
              </a:rPr>
              <a:t>介子的运动速度接近光速，牛顿力学已不适用，必须考虑相对论效应</a:t>
            </a:r>
            <a:r>
              <a:rPr lang="en-US" altLang="zh-CN">
                <a:solidFill>
                  <a:srgbClr val="FFFFFF"/>
                </a:solidFill>
              </a:rPr>
              <a:t>. </a:t>
            </a:r>
          </a:p>
        </p:txBody>
      </p:sp>
      <p:sp>
        <p:nvSpPr>
          <p:cNvPr id="944138" name="Rectangle 10">
            <a:extLst>
              <a:ext uri="{FF2B5EF4-FFF2-40B4-BE49-F238E27FC236}">
                <a16:creationId xmlns:a16="http://schemas.microsoft.com/office/drawing/2014/main" id="{BB68ADA9-59C5-4C52-97A7-AA7235EA0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3" y="2292350"/>
            <a:ext cx="309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FF"/>
                </a:solidFill>
              </a:rPr>
              <a:t>试解释这一实验结果</a:t>
            </a:r>
            <a:r>
              <a:rPr lang="en-US" altLang="zh-CN">
                <a:solidFill>
                  <a:srgbClr val="FFFFFF"/>
                </a:solidFill>
              </a:rPr>
              <a:t>.</a:t>
            </a:r>
            <a:endParaRPr lang="en-US" altLang="zh-CN" sz="180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4139" name="Rectangle 11">
            <a:extLst>
              <a:ext uri="{FF2B5EF4-FFF2-40B4-BE49-F238E27FC236}">
                <a16:creationId xmlns:a16="http://schemas.microsoft.com/office/drawing/2014/main" id="{7BA6ED84-0DA5-4714-A1E4-489CC3B78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44140" name="Rectangle 12">
            <a:extLst>
              <a:ext uri="{FF2B5EF4-FFF2-40B4-BE49-F238E27FC236}">
                <a16:creationId xmlns:a16="http://schemas.microsoft.com/office/drawing/2014/main" id="{C643E8EE-5F76-4733-BEDE-25D4E75BC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2292350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4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4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4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4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4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4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4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4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4130" grpId="0"/>
      <p:bldP spid="944131" grpId="0"/>
      <p:bldP spid="944132" grpId="0"/>
      <p:bldP spid="944133" grpId="0"/>
      <p:bldP spid="944134" grpId="0"/>
      <p:bldP spid="944137" grpId="0"/>
      <p:bldP spid="944138" grpId="0"/>
      <p:bldP spid="9441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Text Box 2">
            <a:extLst>
              <a:ext uri="{FF2B5EF4-FFF2-40B4-BE49-F238E27FC236}">
                <a16:creationId xmlns:a16="http://schemas.microsoft.com/office/drawing/2014/main" id="{4F69A7D9-40A5-4B4E-B45F-2FF8B2DD7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908050"/>
            <a:ext cx="792162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3525" indent="-263525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FFFF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设相对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π</a:t>
            </a:r>
            <a:r>
              <a:rPr lang="zh-CN" altLang="en-US">
                <a:solidFill>
                  <a:srgbClr val="FFFFFF"/>
                </a:solidFill>
              </a:rPr>
              <a:t>介子静止的参考系为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FFCC66"/>
                </a:solidFill>
                <a:sym typeface="Symbol" panose="05050102010706020507" pitchFamily="18" charset="2"/>
              </a:rPr>
              <a:t></a:t>
            </a:r>
            <a:r>
              <a:rPr lang="zh-CN" altLang="en-US">
                <a:solidFill>
                  <a:srgbClr val="FFFFFF"/>
                </a:solidFill>
              </a:rPr>
              <a:t>系</a:t>
            </a:r>
            <a:r>
              <a:rPr lang="en-US" altLang="zh-CN">
                <a:solidFill>
                  <a:srgbClr val="FFFFFF"/>
                </a:solidFill>
              </a:rPr>
              <a:t>,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π</a:t>
            </a:r>
            <a:r>
              <a:rPr lang="zh-CN" altLang="en-US">
                <a:solidFill>
                  <a:srgbClr val="FFFFFF"/>
                </a:solidFill>
              </a:rPr>
              <a:t>介子半衰期在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>
                <a:solidFill>
                  <a:srgbClr val="FFFFFF"/>
                </a:solidFill>
              </a:rPr>
              <a:t>系为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1.77×10</a:t>
            </a:r>
            <a:r>
              <a:rPr lang="en-US" altLang="zh-CN" baseline="30000">
                <a:solidFill>
                  <a:srgbClr val="FFCC66"/>
                </a:solidFill>
                <a:latin typeface="Times New Roman" panose="02020603050405020304" pitchFamily="18" charset="0"/>
              </a:rPr>
              <a:t>-8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>
                <a:solidFill>
                  <a:srgbClr val="FFFFFF"/>
                </a:solidFill>
              </a:rPr>
              <a:t>，是原时</a:t>
            </a:r>
            <a:r>
              <a:rPr lang="el-GR" altLang="zh-CN" i="1">
                <a:solidFill>
                  <a:srgbClr val="FFCC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baseline="-25000">
                <a:solidFill>
                  <a:srgbClr val="FFCC66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>
                <a:solidFill>
                  <a:srgbClr val="FFFFFF"/>
                </a:solidFill>
              </a:rPr>
              <a:t> .</a:t>
            </a:r>
          </a:p>
        </p:txBody>
      </p:sp>
      <p:sp>
        <p:nvSpPr>
          <p:cNvPr id="945155" name="Rectangle 3">
            <a:extLst>
              <a:ext uri="{FF2B5EF4-FFF2-40B4-BE49-F238E27FC236}">
                <a16:creationId xmlns:a16="http://schemas.microsoft.com/office/drawing/2014/main" id="{A6C11FEA-7827-4026-84BC-3DC1D13F5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45156" name="Object 4">
            <a:extLst>
              <a:ext uri="{FF2B5EF4-FFF2-40B4-BE49-F238E27FC236}">
                <a16:creationId xmlns:a16="http://schemas.microsoft.com/office/drawing/2014/main" id="{FEF0328B-11E1-4331-AD5E-80F7D3DC76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7825" y="3367088"/>
          <a:ext cx="14859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38207" imgH="1166109" progId="Equation.3">
                  <p:embed/>
                </p:oleObj>
              </mc:Choice>
              <mc:Fallback>
                <p:oleObj name="公式" r:id="rId2" imgW="1638207" imgH="1166109" progId="Equation.3">
                  <p:embed/>
                  <p:pic>
                    <p:nvPicPr>
                      <p:cNvPr id="945156" name="Object 4">
                        <a:extLst>
                          <a:ext uri="{FF2B5EF4-FFF2-40B4-BE49-F238E27FC236}">
                            <a16:creationId xmlns:a16="http://schemas.microsoft.com/office/drawing/2014/main" id="{FEF0328B-11E1-4331-AD5E-80F7D3DC76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3367088"/>
                        <a:ext cx="14859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5157" name="Text Box 5">
            <a:extLst>
              <a:ext uri="{FF2B5EF4-FFF2-40B4-BE49-F238E27FC236}">
                <a16:creationId xmlns:a16="http://schemas.microsoft.com/office/drawing/2014/main" id="{8B205369-C644-4CCC-B596-52BCEB7C0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675188"/>
            <a:ext cx="6913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π</a:t>
            </a:r>
            <a:r>
              <a:rPr lang="zh-CN" altLang="en-US">
                <a:solidFill>
                  <a:srgbClr val="FFFFFF"/>
                </a:solidFill>
              </a:rPr>
              <a:t>介子在这段时间内通过的路程为</a:t>
            </a:r>
          </a:p>
        </p:txBody>
      </p:sp>
      <p:sp>
        <p:nvSpPr>
          <p:cNvPr id="945158" name="Rectangle 6">
            <a:extLst>
              <a:ext uri="{FF2B5EF4-FFF2-40B4-BE49-F238E27FC236}">
                <a16:creationId xmlns:a16="http://schemas.microsoft.com/office/drawing/2014/main" id="{EBBF3A72-3059-4544-9980-76280E6B9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45159" name="Object 7">
            <a:extLst>
              <a:ext uri="{FF2B5EF4-FFF2-40B4-BE49-F238E27FC236}">
                <a16:creationId xmlns:a16="http://schemas.microsoft.com/office/drawing/2014/main" id="{20F17F27-9AA7-408D-9A14-6D4134574A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8138" y="5308600"/>
          <a:ext cx="52816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265451" imgH="327688" progId="Equation.3">
                  <p:embed/>
                </p:oleObj>
              </mc:Choice>
              <mc:Fallback>
                <p:oleObj name="公式" r:id="rId4" imgW="5265451" imgH="327688" progId="Equation.3">
                  <p:embed/>
                  <p:pic>
                    <p:nvPicPr>
                      <p:cNvPr id="945159" name="Object 7">
                        <a:extLst>
                          <a:ext uri="{FF2B5EF4-FFF2-40B4-BE49-F238E27FC236}">
                            <a16:creationId xmlns:a16="http://schemas.microsoft.com/office/drawing/2014/main" id="{20F17F27-9AA7-408D-9A14-6D4134574A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138" y="5308600"/>
                        <a:ext cx="52816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5160" name="Text Box 8">
            <a:extLst>
              <a:ext uri="{FF2B5EF4-FFF2-40B4-BE49-F238E27FC236}">
                <a16:creationId xmlns:a16="http://schemas.microsoft.com/office/drawing/2014/main" id="{24D32F76-BAA6-4C67-8A17-433F3F4CB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851525"/>
            <a:ext cx="5761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9900"/>
                </a:solidFill>
              </a:rPr>
              <a:t>这与实验结果基本吻合</a:t>
            </a:r>
            <a:r>
              <a:rPr lang="en-US" altLang="zh-CN">
                <a:solidFill>
                  <a:srgbClr val="FF9900"/>
                </a:solidFill>
              </a:rPr>
              <a:t>.</a:t>
            </a:r>
          </a:p>
        </p:txBody>
      </p:sp>
      <p:sp>
        <p:nvSpPr>
          <p:cNvPr id="945161" name="Text Box 9">
            <a:extLst>
              <a:ext uri="{FF2B5EF4-FFF2-40B4-BE49-F238E27FC236}">
                <a16:creationId xmlns:a16="http://schemas.microsoft.com/office/drawing/2014/main" id="{16C45E78-1665-4F0E-930E-F9665C97D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450850"/>
            <a:ext cx="73453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sym typeface="Wingdings 2" pitchFamily="18" charset="2"/>
              </a:rPr>
              <a:t>(2) </a:t>
            </a:r>
            <a:r>
              <a:rPr lang="zh-CN" altLang="en-US">
                <a:solidFill>
                  <a:srgbClr val="00FFFF"/>
                </a:solidFill>
              </a:rPr>
              <a:t>用时间延缓效应解释实验结果</a:t>
            </a:r>
          </a:p>
        </p:txBody>
      </p:sp>
      <p:sp>
        <p:nvSpPr>
          <p:cNvPr id="945162" name="Text Box 10">
            <a:extLst>
              <a:ext uri="{FF2B5EF4-FFF2-40B4-BE49-F238E27FC236}">
                <a16:creationId xmlns:a16="http://schemas.microsoft.com/office/drawing/2014/main" id="{F55742DB-AFF4-4110-BD3E-CF934B1FA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878013"/>
            <a:ext cx="7921625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3525" indent="-263525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00FFFF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FFFFFF"/>
                </a:solidFill>
              </a:rPr>
              <a:t>设实验室参考系为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>
                <a:solidFill>
                  <a:srgbClr val="FFFFFF"/>
                </a:solidFill>
              </a:rPr>
              <a:t>系</a:t>
            </a:r>
            <a:r>
              <a:rPr lang="en-US" altLang="zh-CN">
                <a:solidFill>
                  <a:srgbClr val="FFFFFF"/>
                </a:solidFill>
              </a:rPr>
              <a:t>. 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>
                <a:solidFill>
                  <a:srgbClr val="FFFFFF"/>
                </a:solidFill>
              </a:rPr>
              <a:t>系相对于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>
                <a:solidFill>
                  <a:srgbClr val="FFFFFF"/>
                </a:solidFill>
              </a:rPr>
              <a:t>系的运动速度为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0.99</a:t>
            </a:r>
            <a:r>
              <a:rPr lang="en-US" altLang="zh-CN" i="1">
                <a:solidFill>
                  <a:srgbClr val="FFCC66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>
                <a:solidFill>
                  <a:srgbClr val="FFFFFF"/>
                </a:solidFill>
              </a:rPr>
              <a:t>，在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>
                <a:solidFill>
                  <a:srgbClr val="FFFFFF"/>
                </a:solidFill>
              </a:rPr>
              <a:t>系中观测，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π</a:t>
            </a:r>
            <a:r>
              <a:rPr lang="zh-CN" altLang="en-US">
                <a:solidFill>
                  <a:srgbClr val="FFFFFF"/>
                </a:solidFill>
              </a:rPr>
              <a:t>介子以高速运动，测得的半衰期应为运动时间</a:t>
            </a:r>
          </a:p>
        </p:txBody>
      </p:sp>
      <p:graphicFrame>
        <p:nvGraphicFramePr>
          <p:cNvPr id="945163" name="Object 11">
            <a:extLst>
              <a:ext uri="{FF2B5EF4-FFF2-40B4-BE49-F238E27FC236}">
                <a16:creationId xmlns:a16="http://schemas.microsoft.com/office/drawing/2014/main" id="{BCF1F7ED-C62D-4911-8CB5-90B6A12ADB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3325813"/>
          <a:ext cx="1863725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57213" imgH="1166109" progId="Equation.3">
                  <p:embed/>
                </p:oleObj>
              </mc:Choice>
              <mc:Fallback>
                <p:oleObj name="公式" r:id="rId6" imgW="2057213" imgH="1166109" progId="Equation.3">
                  <p:embed/>
                  <p:pic>
                    <p:nvPicPr>
                      <p:cNvPr id="945163" name="Object 11">
                        <a:extLst>
                          <a:ext uri="{FF2B5EF4-FFF2-40B4-BE49-F238E27FC236}">
                            <a16:creationId xmlns:a16="http://schemas.microsoft.com/office/drawing/2014/main" id="{BCF1F7ED-C62D-4911-8CB5-90B6A12ADB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325813"/>
                        <a:ext cx="1863725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5164" name="Object 12">
            <a:extLst>
              <a:ext uri="{FF2B5EF4-FFF2-40B4-BE49-F238E27FC236}">
                <a16:creationId xmlns:a16="http://schemas.microsoft.com/office/drawing/2014/main" id="{F126510D-B563-4251-B984-ACD1B8106E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3513138"/>
          <a:ext cx="1268413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94367" imgH="327688" progId="Equation.3">
                  <p:embed/>
                </p:oleObj>
              </mc:Choice>
              <mc:Fallback>
                <p:oleObj name="公式" r:id="rId8" imgW="1394367" imgH="327688" progId="Equation.3">
                  <p:embed/>
                  <p:pic>
                    <p:nvPicPr>
                      <p:cNvPr id="945164" name="Object 12">
                        <a:extLst>
                          <a:ext uri="{FF2B5EF4-FFF2-40B4-BE49-F238E27FC236}">
                            <a16:creationId xmlns:a16="http://schemas.microsoft.com/office/drawing/2014/main" id="{F126510D-B563-4251-B984-ACD1B8106E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513138"/>
                        <a:ext cx="1268413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4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4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4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4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4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4" grpId="0"/>
      <p:bldP spid="945157" grpId="0"/>
      <p:bldP spid="945160" grpId="0"/>
      <p:bldP spid="945161" grpId="0"/>
      <p:bldP spid="9451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FC385743-80EB-47EC-8624-83C29A968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49275"/>
            <a:ext cx="66246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 sz="18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6179" name="Text Box 3">
            <a:extLst>
              <a:ext uri="{FF2B5EF4-FFF2-40B4-BE49-F238E27FC236}">
                <a16:creationId xmlns:a16="http://schemas.microsoft.com/office/drawing/2014/main" id="{15B8002A-C184-4DAC-AC55-C8F66E925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404813"/>
            <a:ext cx="460851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sym typeface="Wingdings 2" pitchFamily="18" charset="2"/>
              </a:rPr>
              <a:t>(3) </a:t>
            </a:r>
            <a:r>
              <a:rPr lang="zh-CN" altLang="en-US">
                <a:solidFill>
                  <a:srgbClr val="00FFFF"/>
                </a:solidFill>
              </a:rPr>
              <a:t>用长度收缩效应解释实验结果</a:t>
            </a:r>
          </a:p>
        </p:txBody>
      </p:sp>
      <p:sp>
        <p:nvSpPr>
          <p:cNvPr id="946180" name="Text Box 4">
            <a:extLst>
              <a:ext uri="{FF2B5EF4-FFF2-40B4-BE49-F238E27FC236}">
                <a16:creationId xmlns:a16="http://schemas.microsoft.com/office/drawing/2014/main" id="{931EB1CB-7318-46C0-B8B9-CD8DB79B8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981075"/>
            <a:ext cx="80645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</a:rPr>
              <a:t>在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>
                <a:solidFill>
                  <a:srgbClr val="FFFFFF"/>
                </a:solidFill>
              </a:rPr>
              <a:t>的半衰期为             ，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π</a:t>
            </a:r>
            <a:r>
              <a:rPr lang="zh-CN" altLang="en-US">
                <a:solidFill>
                  <a:srgbClr val="FFFFFF"/>
                </a:solidFill>
              </a:rPr>
              <a:t>介子系的观测者认为，实验室参考系即</a:t>
            </a:r>
            <a:r>
              <a:rPr lang="en-US" altLang="zh-CN">
                <a:solidFill>
                  <a:srgbClr val="FFCC66"/>
                </a:solidFill>
              </a:rPr>
              <a:t>S</a:t>
            </a:r>
            <a:r>
              <a:rPr lang="zh-CN" altLang="en-US">
                <a:solidFill>
                  <a:srgbClr val="FFFFFF"/>
                </a:solidFill>
              </a:rPr>
              <a:t>系的尺子是运动的尺子，是要缩短的，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>
                <a:solidFill>
                  <a:srgbClr val="FFFFFF"/>
                </a:solidFill>
              </a:rPr>
              <a:t>系测得的当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π</a:t>
            </a:r>
            <a:r>
              <a:rPr lang="zh-CN" altLang="en-US">
                <a:solidFill>
                  <a:srgbClr val="FFFFFF"/>
                </a:solidFill>
              </a:rPr>
              <a:t>介子束的强度减少到原强度的一半时前进的距离为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39m</a:t>
            </a:r>
            <a:r>
              <a:rPr lang="zh-CN" altLang="en-US">
                <a:solidFill>
                  <a:srgbClr val="FFFFFF"/>
                </a:solidFill>
              </a:rPr>
              <a:t>，在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>
                <a:solidFill>
                  <a:srgbClr val="FFFFFF"/>
                </a:solidFill>
              </a:rPr>
              <a:t>系只有</a:t>
            </a:r>
          </a:p>
        </p:txBody>
      </p:sp>
      <p:sp>
        <p:nvSpPr>
          <p:cNvPr id="946181" name="Rectangle 5">
            <a:extLst>
              <a:ext uri="{FF2B5EF4-FFF2-40B4-BE49-F238E27FC236}">
                <a16:creationId xmlns:a16="http://schemas.microsoft.com/office/drawing/2014/main" id="{B93CAAA6-A356-48E1-B98F-4E6D513ED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46182" name="Object 6">
            <a:extLst>
              <a:ext uri="{FF2B5EF4-FFF2-40B4-BE49-F238E27FC236}">
                <a16:creationId xmlns:a16="http://schemas.microsoft.com/office/drawing/2014/main" id="{FC130E43-B118-40E1-9DFE-FD8A4C1F0D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4875" y="3044825"/>
          <a:ext cx="535146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341589" imgH="785054" progId="Equation.3">
                  <p:embed/>
                </p:oleObj>
              </mc:Choice>
              <mc:Fallback>
                <p:oleObj name="公式" r:id="rId2" imgW="5341589" imgH="785054" progId="Equation.3">
                  <p:embed/>
                  <p:pic>
                    <p:nvPicPr>
                      <p:cNvPr id="946182" name="Object 6">
                        <a:extLst>
                          <a:ext uri="{FF2B5EF4-FFF2-40B4-BE49-F238E27FC236}">
                            <a16:creationId xmlns:a16="http://schemas.microsoft.com/office/drawing/2014/main" id="{FC130E43-B118-40E1-9DFE-FD8A4C1F0D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75" y="3044825"/>
                        <a:ext cx="535146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6183" name="Text Box 7">
            <a:extLst>
              <a:ext uri="{FF2B5EF4-FFF2-40B4-BE49-F238E27FC236}">
                <a16:creationId xmlns:a16="http://schemas.microsoft.com/office/drawing/2014/main" id="{2FE0F176-AB05-4231-A06D-2A9B056E5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025900"/>
            <a:ext cx="424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</a:rPr>
              <a:t>通过这段距离所需的时间等于</a:t>
            </a:r>
          </a:p>
        </p:txBody>
      </p:sp>
      <p:sp>
        <p:nvSpPr>
          <p:cNvPr id="946184" name="Rectangle 8">
            <a:extLst>
              <a:ext uri="{FF2B5EF4-FFF2-40B4-BE49-F238E27FC236}">
                <a16:creationId xmlns:a16="http://schemas.microsoft.com/office/drawing/2014/main" id="{C139DF45-6E1D-4AC3-B962-C7CC1DEB6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46185" name="Object 9">
            <a:extLst>
              <a:ext uri="{FF2B5EF4-FFF2-40B4-BE49-F238E27FC236}">
                <a16:creationId xmlns:a16="http://schemas.microsoft.com/office/drawing/2014/main" id="{CA368281-E46B-4D61-8F09-ECC8F16AAE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4779963"/>
          <a:ext cx="49657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952938" imgH="708743" progId="Equation.3">
                  <p:embed/>
                </p:oleObj>
              </mc:Choice>
              <mc:Fallback>
                <p:oleObj name="公式" r:id="rId4" imgW="4952938" imgH="708743" progId="Equation.3">
                  <p:embed/>
                  <p:pic>
                    <p:nvPicPr>
                      <p:cNvPr id="946185" name="Object 9">
                        <a:extLst>
                          <a:ext uri="{FF2B5EF4-FFF2-40B4-BE49-F238E27FC236}">
                            <a16:creationId xmlns:a16="http://schemas.microsoft.com/office/drawing/2014/main" id="{CA368281-E46B-4D61-8F09-ECC8F16AAE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4779963"/>
                        <a:ext cx="496570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6186" name="Text Box 10">
            <a:extLst>
              <a:ext uri="{FF2B5EF4-FFF2-40B4-BE49-F238E27FC236}">
                <a16:creationId xmlns:a16="http://schemas.microsoft.com/office/drawing/2014/main" id="{42AA6322-3D30-456E-BFAF-4DD64B494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851525"/>
            <a:ext cx="6192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</a:rPr>
              <a:t>与</a:t>
            </a:r>
            <a:r>
              <a:rPr lang="en-US" altLang="zh-CN">
                <a:solidFill>
                  <a:srgbClr val="FFCC66"/>
                </a:solidFill>
              </a:rPr>
              <a:t>π</a:t>
            </a:r>
            <a:r>
              <a:rPr lang="zh-CN" altLang="en-US">
                <a:solidFill>
                  <a:srgbClr val="FFFFFF"/>
                </a:solidFill>
              </a:rPr>
              <a:t>介子系测得的半衰期基本一致</a:t>
            </a:r>
            <a:r>
              <a:rPr lang="en-US" altLang="zh-CN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946187" name="Rectangle 11">
            <a:extLst>
              <a:ext uri="{FF2B5EF4-FFF2-40B4-BE49-F238E27FC236}">
                <a16:creationId xmlns:a16="http://schemas.microsoft.com/office/drawing/2014/main" id="{42F2DA77-66DA-4D96-84CF-3B3F8A769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46188" name="Object 12">
            <a:extLst>
              <a:ext uri="{FF2B5EF4-FFF2-40B4-BE49-F238E27FC236}">
                <a16:creationId xmlns:a16="http://schemas.microsoft.com/office/drawing/2014/main" id="{21778A01-F43C-4F3B-BF88-38E8897953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1052513"/>
          <a:ext cx="18891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50720" imgH="403999" progId="Equation.3">
                  <p:embed/>
                </p:oleObj>
              </mc:Choice>
              <mc:Fallback>
                <p:oleObj name="公式" r:id="rId6" imgW="1950720" imgH="403999" progId="Equation.3">
                  <p:embed/>
                  <p:pic>
                    <p:nvPicPr>
                      <p:cNvPr id="946188" name="Object 12">
                        <a:extLst>
                          <a:ext uri="{FF2B5EF4-FFF2-40B4-BE49-F238E27FC236}">
                            <a16:creationId xmlns:a16="http://schemas.microsoft.com/office/drawing/2014/main" id="{21778A01-F43C-4F3B-BF88-38E8897953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1052513"/>
                        <a:ext cx="18891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4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4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4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4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4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6179" grpId="0"/>
      <p:bldP spid="946180" grpId="0"/>
      <p:bldP spid="946183" grpId="0"/>
      <p:bldP spid="94618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202" name="Text Box 2">
            <a:extLst>
              <a:ext uri="{FF2B5EF4-FFF2-40B4-BE49-F238E27FC236}">
                <a16:creationId xmlns:a16="http://schemas.microsoft.com/office/drawing/2014/main" id="{48E143B1-1EA6-4522-8218-834A80968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50850"/>
            <a:ext cx="1296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FFFF"/>
                </a:solidFill>
                <a:sym typeface="Wingdings" panose="05000000000000000000" pitchFamily="2" charset="2"/>
              </a:rPr>
              <a:t> </a:t>
            </a:r>
            <a:r>
              <a:rPr lang="zh-CN" altLang="en-US">
                <a:solidFill>
                  <a:srgbClr val="FFFF00"/>
                </a:solidFill>
              </a:rPr>
              <a:t>讨论</a:t>
            </a:r>
          </a:p>
        </p:txBody>
      </p:sp>
      <p:sp>
        <p:nvSpPr>
          <p:cNvPr id="947203" name="Text Box 3">
            <a:extLst>
              <a:ext uri="{FF2B5EF4-FFF2-40B4-BE49-F238E27FC236}">
                <a16:creationId xmlns:a16="http://schemas.microsoft.com/office/drawing/2014/main" id="{DABF1F77-8A81-48C4-A0B8-762E9559D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908050"/>
            <a:ext cx="8281987" cy="1187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52425" indent="-352425" eaLnBrk="1" hangingPunct="1">
              <a:spcBef>
                <a:spcPct val="50000"/>
              </a:spcBef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sym typeface="Wingdings 2" pitchFamily="18" charset="2"/>
              </a:rPr>
              <a:t>(1)</a:t>
            </a:r>
            <a:r>
              <a:rPr lang="zh-CN" altLang="en-US">
                <a:solidFill>
                  <a:srgbClr val="00FFFF"/>
                </a:solidFill>
              </a:rPr>
              <a:t>用牛顿力学解释实验结果时</a:t>
            </a:r>
            <a:r>
              <a:rPr lang="zh-CN" altLang="en-US">
                <a:solidFill>
                  <a:srgbClr val="00FFCC"/>
                </a:solidFill>
              </a:rPr>
              <a:t>，</a:t>
            </a:r>
            <a:r>
              <a:rPr lang="zh-CN" altLang="en-US">
                <a:solidFill>
                  <a:srgbClr val="FFFFFF"/>
                </a:solidFill>
              </a:rPr>
              <a:t>利用了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S</a:t>
            </a:r>
            <a:r>
              <a:rPr lang="zh-CN" altLang="en-US">
                <a:solidFill>
                  <a:srgbClr val="FFFFFF"/>
                </a:solidFill>
              </a:rPr>
              <a:t>系（实验室系）的长度测量结果（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39m</a:t>
            </a:r>
            <a:r>
              <a:rPr lang="zh-CN" altLang="en-US">
                <a:solidFill>
                  <a:srgbClr val="FFFFFF"/>
                </a:solidFill>
              </a:rPr>
              <a:t>）</a:t>
            </a:r>
            <a:r>
              <a:rPr lang="en-US" altLang="zh-CN">
                <a:solidFill>
                  <a:srgbClr val="FFFFFF"/>
                </a:solidFill>
              </a:rPr>
              <a:t>,</a:t>
            </a:r>
            <a:r>
              <a:rPr lang="zh-CN" altLang="en-US">
                <a:solidFill>
                  <a:srgbClr val="FFFFFF"/>
                </a:solidFill>
              </a:rPr>
              <a:t>又利用了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S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>
                <a:solidFill>
                  <a:srgbClr val="FFFFFF"/>
                </a:solidFill>
              </a:rPr>
              <a:t>系（介子系）的时间测量结果（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1.77×10</a:t>
            </a:r>
            <a:r>
              <a:rPr lang="en-US" altLang="zh-CN" baseline="30000">
                <a:solidFill>
                  <a:srgbClr val="FFCC66"/>
                </a:solidFill>
                <a:latin typeface="Times New Roman" pitchFamily="18" charset="0"/>
              </a:rPr>
              <a:t>-8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s</a:t>
            </a:r>
            <a:r>
              <a:rPr lang="zh-CN" altLang="en-US">
                <a:solidFill>
                  <a:srgbClr val="FFFFFF"/>
                </a:solidFill>
              </a:rPr>
              <a:t>），导致与实验结果矛盾的结论</a:t>
            </a:r>
            <a:r>
              <a:rPr lang="en-US" altLang="zh-CN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947204" name="Rectangle 4">
            <a:extLst>
              <a:ext uri="{FF2B5EF4-FFF2-40B4-BE49-F238E27FC236}">
                <a16:creationId xmlns:a16="http://schemas.microsoft.com/office/drawing/2014/main" id="{A51585A5-A4F6-4A4D-9C89-909135A92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8" y="5232400"/>
            <a:ext cx="8281987" cy="1187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54013" indent="-354013" eaLnBrk="1" hangingPunct="1">
              <a:spcBef>
                <a:spcPct val="50000"/>
              </a:spcBef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sym typeface="Wingdings 2" pitchFamily="18" charset="2"/>
              </a:rPr>
              <a:t>(4)</a:t>
            </a:r>
            <a:r>
              <a:rPr lang="zh-CN" altLang="en-US">
                <a:solidFill>
                  <a:srgbClr val="00FFFF"/>
                </a:solidFill>
              </a:rPr>
              <a:t>相对论的时间延缓与长度收缩总是紧密联系在一起的</a:t>
            </a:r>
            <a:r>
              <a:rPr lang="zh-CN" altLang="en-US">
                <a:solidFill>
                  <a:srgbClr val="00FFCC"/>
                </a:solidFill>
              </a:rPr>
              <a:t>。</a:t>
            </a:r>
            <a:r>
              <a:rPr lang="zh-CN" altLang="en-US">
                <a:solidFill>
                  <a:srgbClr val="FFFFFF"/>
                </a:solidFill>
              </a:rPr>
              <a:t>所有验证相对论时间延缓效应的近代物理实验，都同样验证了相对论长度收缩效应</a:t>
            </a:r>
            <a:r>
              <a:rPr lang="en-US" altLang="zh-CN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947205" name="Rectangle 5">
            <a:extLst>
              <a:ext uri="{FF2B5EF4-FFF2-40B4-BE49-F238E27FC236}">
                <a16:creationId xmlns:a16="http://schemas.microsoft.com/office/drawing/2014/main" id="{7EF534F8-53F5-4F0E-9E32-CA85C3C31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8" y="3716338"/>
            <a:ext cx="8307387" cy="15525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54013" indent="-354013" eaLnBrk="1" hangingPunct="1">
              <a:spcBef>
                <a:spcPct val="50000"/>
              </a:spcBef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sym typeface="Wingdings 2" pitchFamily="18" charset="2"/>
              </a:rPr>
              <a:t>(3)</a:t>
            </a:r>
            <a:r>
              <a:rPr lang="zh-CN" altLang="en-US">
                <a:solidFill>
                  <a:srgbClr val="00FFFF"/>
                </a:solidFill>
                <a:latin typeface="Times New Roman" pitchFamily="18" charset="0"/>
              </a:rPr>
              <a:t>用长度收缩效应解释实验结果</a:t>
            </a:r>
            <a:r>
              <a:rPr lang="zh-CN" altLang="en-US">
                <a:solidFill>
                  <a:srgbClr val="00FFCC"/>
                </a:solidFill>
                <a:latin typeface="Times New Roman" pitchFamily="18" charset="0"/>
              </a:rPr>
              <a:t>，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利用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S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  <a:sym typeface="Symbol" pitchFamily="18" charset="2"/>
              </a:rPr>
              <a:t>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系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(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π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介子系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)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的长度和时间测量结果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(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长度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: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5.5m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；时间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: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1.77×10</a:t>
            </a:r>
            <a:r>
              <a:rPr lang="en-US" altLang="zh-CN" baseline="30000">
                <a:solidFill>
                  <a:srgbClr val="FFCC66"/>
                </a:solidFill>
                <a:latin typeface="Times New Roman" pitchFamily="18" charset="0"/>
              </a:rPr>
              <a:t>-8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s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). 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运动着的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π</a:t>
            </a:r>
            <a:r>
              <a:rPr lang="zh-CN" altLang="en-US">
                <a:solidFill>
                  <a:srgbClr val="FFFFFF"/>
                </a:solidFill>
                <a:latin typeface="Times New Roman" pitchFamily="18" charset="0"/>
              </a:rPr>
              <a:t>介子观测到实验室的空间距离缩短了，在它的固有半衰期内能通过这段距离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947206" name="Rectangle 6">
            <a:extLst>
              <a:ext uri="{FF2B5EF4-FFF2-40B4-BE49-F238E27FC236}">
                <a16:creationId xmlns:a16="http://schemas.microsoft.com/office/drawing/2014/main" id="{94007956-AAC2-4278-8342-6F4F385EF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8" y="2060575"/>
            <a:ext cx="8307387" cy="16986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54013" indent="-354013" eaLnBrk="1" hangingPunct="1">
              <a:lnSpc>
                <a:spcPct val="110000"/>
              </a:lnSpc>
              <a:spcBef>
                <a:spcPct val="50000"/>
              </a:spcBef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  <a:sym typeface="Wingdings 2" pitchFamily="18" charset="2"/>
              </a:rPr>
              <a:t>(2)</a:t>
            </a:r>
            <a:r>
              <a:rPr lang="zh-CN" altLang="en-US">
                <a:solidFill>
                  <a:srgbClr val="00FFFF"/>
                </a:solidFill>
              </a:rPr>
              <a:t>时间延缓效应解释实验结果</a:t>
            </a:r>
            <a:r>
              <a:rPr lang="zh-CN" altLang="en-US">
                <a:solidFill>
                  <a:srgbClr val="00FFCC"/>
                </a:solidFill>
              </a:rPr>
              <a:t>，</a:t>
            </a:r>
            <a:r>
              <a:rPr lang="zh-CN" altLang="en-US">
                <a:solidFill>
                  <a:srgbClr val="FFFFFF"/>
                </a:solidFill>
              </a:rPr>
              <a:t>利用了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S</a:t>
            </a:r>
            <a:r>
              <a:rPr lang="zh-CN" altLang="en-US">
                <a:solidFill>
                  <a:srgbClr val="FFFFFF"/>
                </a:solidFill>
              </a:rPr>
              <a:t>系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(</a:t>
            </a:r>
            <a:r>
              <a:rPr lang="zh-CN" altLang="en-US">
                <a:solidFill>
                  <a:srgbClr val="FFFFFF"/>
                </a:solidFill>
              </a:rPr>
              <a:t>实验室系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)</a:t>
            </a:r>
            <a:r>
              <a:rPr lang="zh-CN" altLang="en-US">
                <a:solidFill>
                  <a:srgbClr val="FFFFFF"/>
                </a:solidFill>
              </a:rPr>
              <a:t>的测量结果（长度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: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39m</a:t>
            </a:r>
            <a:r>
              <a:rPr lang="zh-CN" altLang="en-US">
                <a:solidFill>
                  <a:srgbClr val="FFFFFF"/>
                </a:solidFill>
              </a:rPr>
              <a:t>；时间</a:t>
            </a:r>
            <a:r>
              <a:rPr lang="en-US" altLang="zh-CN">
                <a:solidFill>
                  <a:srgbClr val="FFFFFF"/>
                </a:solidFill>
                <a:latin typeface="Times New Roman" pitchFamily="18" charset="0"/>
              </a:rPr>
              <a:t>: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1.26×10</a:t>
            </a:r>
            <a:r>
              <a:rPr lang="en-US" altLang="zh-CN" baseline="30000">
                <a:solidFill>
                  <a:srgbClr val="FFCC66"/>
                </a:solidFill>
                <a:latin typeface="Times New Roman" pitchFamily="18" charset="0"/>
              </a:rPr>
              <a:t>-7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s</a:t>
            </a:r>
            <a:r>
              <a:rPr lang="zh-CN" altLang="en-US">
                <a:solidFill>
                  <a:srgbClr val="FFFFFF"/>
                </a:solidFill>
              </a:rPr>
              <a:t>）</a:t>
            </a:r>
            <a:r>
              <a:rPr lang="en-US" altLang="zh-CN">
                <a:solidFill>
                  <a:srgbClr val="FFFFFF"/>
                </a:solidFill>
              </a:rPr>
              <a:t>. </a:t>
            </a:r>
            <a:r>
              <a:rPr lang="zh-CN" altLang="en-US">
                <a:solidFill>
                  <a:srgbClr val="FFFFFF"/>
                </a:solidFill>
              </a:rPr>
              <a:t>实验室的观测者测量的</a:t>
            </a:r>
            <a:r>
              <a:rPr lang="zh-CN" altLang="en-US">
                <a:solidFill>
                  <a:srgbClr val="FFCC66"/>
                </a:solidFill>
                <a:latin typeface="Times New Roman" pitchFamily="18" charset="0"/>
                <a:sym typeface="Symbol" pitchFamily="18" charset="2"/>
              </a:rPr>
              <a:t></a:t>
            </a:r>
            <a:r>
              <a:rPr lang="zh-CN" altLang="en-US">
                <a:solidFill>
                  <a:srgbClr val="FFFFFF"/>
                </a:solidFill>
              </a:rPr>
              <a:t>介子运动时的半衰期比静止时大得多</a:t>
            </a:r>
            <a:r>
              <a:rPr lang="en-US" altLang="zh-CN">
                <a:solidFill>
                  <a:srgbClr val="FFFFFF"/>
                </a:solidFill>
              </a:rPr>
              <a:t>.</a:t>
            </a:r>
            <a:r>
              <a:rPr lang="zh-CN" altLang="en-US">
                <a:solidFill>
                  <a:srgbClr val="FFFFFF"/>
                </a:solidFill>
              </a:rPr>
              <a:t>在半衰期内可通过</a:t>
            </a:r>
            <a:r>
              <a:rPr lang="en-US" altLang="zh-CN">
                <a:solidFill>
                  <a:srgbClr val="FFCC66"/>
                </a:solidFill>
                <a:latin typeface="Times New Roman" pitchFamily="18" charset="0"/>
              </a:rPr>
              <a:t>39m</a:t>
            </a:r>
            <a:r>
              <a:rPr lang="en-US" altLang="zh-CN">
                <a:solidFill>
                  <a:srgbClr val="FFFFFF"/>
                </a:solidFill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7202" grpId="0"/>
      <p:bldP spid="947203" grpId="0"/>
      <p:bldP spid="947204" grpId="0"/>
      <p:bldP spid="947205" grpId="0"/>
      <p:bldP spid="94720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26" name="Text Box 2">
            <a:extLst>
              <a:ext uri="{FF2B5EF4-FFF2-40B4-BE49-F238E27FC236}">
                <a16:creationId xmlns:a16="http://schemas.microsoft.com/office/drawing/2014/main" id="{13B444A7-DC86-4CA8-BF8B-FC14D7E15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563563"/>
            <a:ext cx="2376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FF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 </a:t>
            </a:r>
            <a:r>
              <a:rPr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解题思路</a:t>
            </a:r>
          </a:p>
        </p:txBody>
      </p:sp>
      <p:sp>
        <p:nvSpPr>
          <p:cNvPr id="948227" name="Text Box 3">
            <a:extLst>
              <a:ext uri="{FF2B5EF4-FFF2-40B4-BE49-F238E27FC236}">
                <a16:creationId xmlns:a16="http://schemas.microsoft.com/office/drawing/2014/main" id="{5AF0F6C7-3C2E-4B18-8540-AA874A98F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27125"/>
            <a:ext cx="82089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学习狭义相对论，正确理解和掌握相对论的时空观是最重要的，要理解同时性的相对性，时空量度的相对性，处理实际问题时要注意：</a:t>
            </a:r>
          </a:p>
        </p:txBody>
      </p:sp>
      <p:sp>
        <p:nvSpPr>
          <p:cNvPr id="948228" name="Text Box 4">
            <a:extLst>
              <a:ext uri="{FF2B5EF4-FFF2-40B4-BE49-F238E27FC236}">
                <a16:creationId xmlns:a16="http://schemas.microsoft.com/office/drawing/2014/main" id="{3D49DB88-1BC8-4078-92AC-0B2FCB105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2541588"/>
            <a:ext cx="82089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zh-CN" altLang="en-US">
                <a:solidFill>
                  <a:srgbClr val="00FFFF"/>
                </a:solidFill>
                <a:latin typeface="Times New Roman" panose="02020603050405020304" pitchFamily="18" charset="0"/>
                <a:ea typeface="楷体_GB2312" pitchFamily="49" charset="-122"/>
              </a:rPr>
              <a:t>明确两个参考系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系和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系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一般情况下选地面为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系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运动物体为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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系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948229" name="Text Box 5">
            <a:extLst>
              <a:ext uri="{FF2B5EF4-FFF2-40B4-BE49-F238E27FC236}">
                <a16:creationId xmlns:a16="http://schemas.microsoft.com/office/drawing/2014/main" id="{FC9E99F1-2E23-404E-87DC-79ACF6B99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3535363"/>
            <a:ext cx="8208963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 eaLnBrk="1" hangingPunct="1">
              <a:lnSpc>
                <a:spcPct val="115000"/>
              </a:lnSpc>
            </a:pP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zh-CN" altLang="en-US">
                <a:solidFill>
                  <a:srgbClr val="00FFFF"/>
                </a:solidFill>
                <a:latin typeface="Times New Roman" panose="02020603050405020304" pitchFamily="18" charset="0"/>
                <a:ea typeface="楷体_GB2312" pitchFamily="49" charset="-122"/>
              </a:rPr>
              <a:t>明确原长，原时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的概念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sp>
        <p:nvSpPr>
          <p:cNvPr id="948231" name="Rectangle 7">
            <a:extLst>
              <a:ext uri="{FF2B5EF4-FFF2-40B4-BE49-F238E27FC236}">
                <a16:creationId xmlns:a16="http://schemas.microsoft.com/office/drawing/2014/main" id="{985DF494-F89B-4201-AF84-F0DFBB375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088" y="4265613"/>
            <a:ext cx="6127750" cy="5127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 eaLnBrk="1" hangingPunct="1">
              <a:lnSpc>
                <a:spcPct val="115000"/>
              </a:lnSpc>
              <a:defRPr/>
            </a:pPr>
            <a:r>
              <a:rPr lang="zh-CN" altLang="en-US"/>
              <a:t>相对物体静止的惯性系测量的长度为</a:t>
            </a:r>
            <a:r>
              <a:rPr lang="zh-CN" altLang="en-US">
                <a:solidFill>
                  <a:schemeClr val="accent1"/>
                </a:solidFill>
              </a:rPr>
              <a:t>原长。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948232" name="Rectangle 8">
            <a:extLst>
              <a:ext uri="{FF2B5EF4-FFF2-40B4-BE49-F238E27FC236}">
                <a16:creationId xmlns:a16="http://schemas.microsoft.com/office/drawing/2014/main" id="{11E24F3C-ACED-406A-8AA0-C913A2687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4881563"/>
            <a:ext cx="5614988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None/>
            </a:pPr>
            <a:r>
              <a:rPr lang="zh-CN" altLang="en-US"/>
              <a:t>一个惯性系中同一地点测量的两个事件的时间间隔为</a:t>
            </a:r>
            <a:r>
              <a:rPr lang="zh-CN" altLang="en-US">
                <a:solidFill>
                  <a:schemeClr val="accent1"/>
                </a:solidFill>
              </a:rPr>
              <a:t>原时。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4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4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8226" grpId="0"/>
      <p:bldP spid="948227" grpId="0"/>
      <p:bldP spid="948228" grpId="0"/>
      <p:bldP spid="948229" grpId="0"/>
      <p:bldP spid="948231" grpId="0"/>
      <p:bldP spid="9482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250" name="Text Box 2">
            <a:extLst>
              <a:ext uri="{FF2B5EF4-FFF2-40B4-BE49-F238E27FC236}">
                <a16:creationId xmlns:a16="http://schemas.microsoft.com/office/drawing/2014/main" id="{AAA9ED38-7CB6-4E1C-A1DB-7359B475A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3368675"/>
            <a:ext cx="79946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3525" indent="-263525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FFFF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如果已知一个惯性系中同一地点发生的两个事件的时间间隔，计算这两个事件在另一惯性系中的时间间隔</a:t>
            </a:r>
          </a:p>
        </p:txBody>
      </p:sp>
      <p:sp>
        <p:nvSpPr>
          <p:cNvPr id="949251" name="Rectangle 3">
            <a:extLst>
              <a:ext uri="{FF2B5EF4-FFF2-40B4-BE49-F238E27FC236}">
                <a16:creationId xmlns:a16="http://schemas.microsoft.com/office/drawing/2014/main" id="{45D9A4E8-48A9-4448-AD82-5B5DB5483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49252" name="Object 4">
            <a:extLst>
              <a:ext uri="{FF2B5EF4-FFF2-40B4-BE49-F238E27FC236}">
                <a16:creationId xmlns:a16="http://schemas.microsoft.com/office/drawing/2014/main" id="{3B9AC1D8-349D-400A-B3F7-19C7BCB30D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2325" y="2406650"/>
          <a:ext cx="1727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14344" imgH="785054" progId="Equation.3">
                  <p:embed/>
                </p:oleObj>
              </mc:Choice>
              <mc:Fallback>
                <p:oleObj name="公式" r:id="rId2" imgW="1714344" imgH="78505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2406650"/>
                        <a:ext cx="1727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9253" name="Rectangle 5">
            <a:extLst>
              <a:ext uri="{FF2B5EF4-FFF2-40B4-BE49-F238E27FC236}">
                <a16:creationId xmlns:a16="http://schemas.microsoft.com/office/drawing/2014/main" id="{B4344C8F-81A8-477C-94DB-54AAE1BC2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49254" name="Object 6">
            <a:extLst>
              <a:ext uri="{FF2B5EF4-FFF2-40B4-BE49-F238E27FC236}">
                <a16:creationId xmlns:a16="http://schemas.microsoft.com/office/drawing/2014/main" id="{01852F67-F287-44DB-A69D-7BBA652713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5675" y="4449763"/>
          <a:ext cx="1409700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94367" imgH="1166109" progId="Equation.3">
                  <p:embed/>
                </p:oleObj>
              </mc:Choice>
              <mc:Fallback>
                <p:oleObj name="公式" r:id="rId4" imgW="1394367" imgH="116610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675" y="4449763"/>
                        <a:ext cx="1409700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9255" name="Rectangle 7">
            <a:extLst>
              <a:ext uri="{FF2B5EF4-FFF2-40B4-BE49-F238E27FC236}">
                <a16:creationId xmlns:a16="http://schemas.microsoft.com/office/drawing/2014/main" id="{7918AE43-01B5-46A8-85AB-292675295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615950"/>
            <a:ext cx="648335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注意时空量度相对性的两个公式的</a:t>
            </a:r>
            <a:r>
              <a:rPr lang="zh-CN" altLang="en-US">
                <a:solidFill>
                  <a:srgbClr val="00FFFF"/>
                </a:solidFill>
                <a:latin typeface="楷体_GB2312" pitchFamily="49" charset="-122"/>
                <a:ea typeface="楷体_GB2312" pitchFamily="49" charset="-122"/>
              </a:rPr>
              <a:t>适用范围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949256" name="Rectangle 8">
            <a:extLst>
              <a:ext uri="{FF2B5EF4-FFF2-40B4-BE49-F238E27FC236}">
                <a16:creationId xmlns:a16="http://schemas.microsoft.com/office/drawing/2014/main" id="{C1F0FAAF-3827-46F2-8573-EDD6B38F1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1477963"/>
            <a:ext cx="80295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3525" indent="-263525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00FFFF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如果待测长度相对于一惯性系静止，计算相对其运动的惯性系中的长度</a:t>
            </a:r>
          </a:p>
        </p:txBody>
      </p:sp>
      <p:sp>
        <p:nvSpPr>
          <p:cNvPr id="949257" name="Rectangle 9">
            <a:extLst>
              <a:ext uri="{FF2B5EF4-FFF2-40B4-BE49-F238E27FC236}">
                <a16:creationId xmlns:a16="http://schemas.microsoft.com/office/drawing/2014/main" id="{57CB8071-2D23-4885-9896-20E736409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5599113"/>
            <a:ext cx="7475538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rgbClr val="00FF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如果不是这两种情况，要用洛仑兹变换求解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4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250" grpId="0"/>
      <p:bldP spid="949255" grpId="0"/>
      <p:bldP spid="949256" grpId="0"/>
      <p:bldP spid="94925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3B4CF58-2DD8-40A9-87AD-4CAB8AE711CC}"/>
              </a:ext>
            </a:extLst>
          </p:cNvPr>
          <p:cNvGrpSpPr>
            <a:grpSpLocks/>
          </p:cNvGrpSpPr>
          <p:nvPr/>
        </p:nvGrpSpPr>
        <p:grpSpPr bwMode="auto">
          <a:xfrm>
            <a:off x="116032" y="55490"/>
            <a:ext cx="8691562" cy="2797176"/>
            <a:chOff x="1368" y="54"/>
            <a:chExt cx="4128" cy="1762"/>
          </a:xfrm>
        </p:grpSpPr>
        <p:sp>
          <p:nvSpPr>
            <p:cNvPr id="21519" name="Text Box 3">
              <a:extLst>
                <a:ext uri="{FF2B5EF4-FFF2-40B4-BE49-F238E27FC236}">
                  <a16:creationId xmlns:a16="http://schemas.microsoft.com/office/drawing/2014/main" id="{DD5E1ECD-7EF3-443B-AB6D-77E2E2A65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8" y="54"/>
              <a:ext cx="4128" cy="1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rgbClr val="FFCC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例．</a:t>
              </a: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飞船经过地球时，相对地球的速率 </a:t>
              </a:r>
              <a:r>
                <a:rPr lang="en-US" altLang="zh-CN" dirty="0">
                  <a:solidFill>
                    <a:schemeClr val="accent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u=0.99C</a:t>
              </a:r>
              <a:r>
                <a:rPr lang="en-US" altLang="zh-CN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，飞船飞行了</a:t>
              </a:r>
              <a:r>
                <a:rPr lang="en-US" altLang="zh-CN" dirty="0">
                  <a:solidFill>
                    <a:schemeClr val="accent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5</a:t>
              </a:r>
              <a:r>
                <a:rPr lang="zh-CN" altLang="en-US" dirty="0">
                  <a:solidFill>
                    <a:schemeClr val="accent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年</a:t>
              </a: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（飞船上测得的时间间隔）后停靠到空间站，随即调头，以相同的相对速率返回，再次经过地球又经历了</a:t>
              </a:r>
              <a:r>
                <a:rPr lang="en-US" altLang="zh-CN" dirty="0">
                  <a:solidFill>
                    <a:schemeClr val="accent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5</a:t>
              </a:r>
              <a:r>
                <a:rPr lang="zh-CN" altLang="en-US" dirty="0">
                  <a:solidFill>
                    <a:schemeClr val="accent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年</a:t>
              </a: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。试问地球上的观测者看来，飞船来回经历的时间是多少？停靠及掉头过程中的加速度不计。</a:t>
              </a:r>
            </a:p>
          </p:txBody>
        </p:sp>
        <p:graphicFrame>
          <p:nvGraphicFramePr>
            <p:cNvPr id="21520" name="Object 4">
              <a:extLst>
                <a:ext uri="{FF2B5EF4-FFF2-40B4-BE49-F238E27FC236}">
                  <a16:creationId xmlns:a16="http://schemas.microsoft.com/office/drawing/2014/main" id="{8C5B0BE2-7C82-457F-91D3-675029142C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6" y="210"/>
            <a:ext cx="136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14102" imgH="177492" progId="Equation.DSMT4">
                    <p:embed/>
                  </p:oleObj>
                </mc:Choice>
                <mc:Fallback>
                  <p:oleObj name="Equation" r:id="rId3" imgW="114102" imgH="177492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6" y="210"/>
                          <a:ext cx="136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07" name="Rectangle 5">
            <a:extLst>
              <a:ext uri="{FF2B5EF4-FFF2-40B4-BE49-F238E27FC236}">
                <a16:creationId xmlns:a16="http://schemas.microsoft.com/office/drawing/2014/main" id="{3CCA1012-8138-4690-811A-A83AA9609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779" y="-290528"/>
            <a:ext cx="492443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5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sp>
        <p:nvSpPr>
          <p:cNvPr id="21508" name="Rectangle 6">
            <a:extLst>
              <a:ext uri="{FF2B5EF4-FFF2-40B4-BE49-F238E27FC236}">
                <a16:creationId xmlns:a16="http://schemas.microsoft.com/office/drawing/2014/main" id="{3C198A5B-32AF-4317-A058-320FB0C37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779" y="-290528"/>
            <a:ext cx="492443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5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34F17289-BBD2-4D90-BAAD-3928B49CEA35}"/>
              </a:ext>
            </a:extLst>
          </p:cNvPr>
          <p:cNvGrpSpPr>
            <a:grpSpLocks/>
          </p:cNvGrpSpPr>
          <p:nvPr/>
        </p:nvGrpSpPr>
        <p:grpSpPr bwMode="auto">
          <a:xfrm>
            <a:off x="532534" y="2688359"/>
            <a:ext cx="7586663" cy="1689100"/>
            <a:chOff x="446" y="1264"/>
            <a:chExt cx="4779" cy="1064"/>
          </a:xfrm>
        </p:grpSpPr>
        <p:sp>
          <p:nvSpPr>
            <p:cNvPr id="21516" name="Text Box 8">
              <a:extLst>
                <a:ext uri="{FF2B5EF4-FFF2-40B4-BE49-F238E27FC236}">
                  <a16:creationId xmlns:a16="http://schemas.microsoft.com/office/drawing/2014/main" id="{81527E16-78F1-4A2A-8966-B0B7919D3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" y="1264"/>
              <a:ext cx="4779" cy="1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rgbClr val="00FFFF"/>
                  </a:solidFill>
                </a:rPr>
                <a:t>解：</a:t>
              </a:r>
              <a:r>
                <a:rPr lang="zh-CN" altLang="en-US" dirty="0"/>
                <a:t>在飞往空间站的过程中，计时始终在飞船中同一地点，因此所测时间              系原时，根据时间延缓效应公式，地面上测得的对应时间     为：</a:t>
              </a:r>
            </a:p>
          </p:txBody>
        </p:sp>
        <p:graphicFrame>
          <p:nvGraphicFramePr>
            <p:cNvPr id="21517" name="Object 9">
              <a:extLst>
                <a:ext uri="{FF2B5EF4-FFF2-40B4-BE49-F238E27FC236}">
                  <a16:creationId xmlns:a16="http://schemas.microsoft.com/office/drawing/2014/main" id="{82618E19-273E-47AC-8BED-E90E1D444B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7435079"/>
                </p:ext>
              </p:extLst>
            </p:nvPr>
          </p:nvGraphicFramePr>
          <p:xfrm>
            <a:off x="2004" y="1706"/>
            <a:ext cx="917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22030" imgH="228501" progId="Equation.DSMT4">
                    <p:embed/>
                  </p:oleObj>
                </mc:Choice>
                <mc:Fallback>
                  <p:oleObj name="Equation" r:id="rId5" imgW="622030" imgH="228501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4" y="1706"/>
                          <a:ext cx="917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8" name="Object 10">
              <a:extLst>
                <a:ext uri="{FF2B5EF4-FFF2-40B4-BE49-F238E27FC236}">
                  <a16:creationId xmlns:a16="http://schemas.microsoft.com/office/drawing/2014/main" id="{4A3676F3-CEB4-43EC-A948-6D8422167B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2629567"/>
                </p:ext>
              </p:extLst>
            </p:nvPr>
          </p:nvGraphicFramePr>
          <p:xfrm>
            <a:off x="3006" y="2030"/>
            <a:ext cx="31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335" imgH="177646" progId="Equation.DSMT4">
                    <p:embed/>
                  </p:oleObj>
                </mc:Choice>
                <mc:Fallback>
                  <p:oleObj name="Equation" r:id="rId7" imgW="190335" imgH="177646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6" y="2030"/>
                          <a:ext cx="316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0" name="Rectangle 11">
            <a:extLst>
              <a:ext uri="{FF2B5EF4-FFF2-40B4-BE49-F238E27FC236}">
                <a16:creationId xmlns:a16="http://schemas.microsoft.com/office/drawing/2014/main" id="{B4074DBF-7CAF-4971-9ABD-D13CCBAF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779" y="-290528"/>
            <a:ext cx="492443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5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graphicFrame>
        <p:nvGraphicFramePr>
          <p:cNvPr id="132108" name="Object 12">
            <a:extLst>
              <a:ext uri="{FF2B5EF4-FFF2-40B4-BE49-F238E27FC236}">
                <a16:creationId xmlns:a16="http://schemas.microsoft.com/office/drawing/2014/main" id="{1AAEF821-8901-41C7-BB72-47E54A73EA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718718"/>
              </p:ext>
            </p:extLst>
          </p:nvPr>
        </p:nvGraphicFramePr>
        <p:xfrm>
          <a:off x="1748093" y="4275771"/>
          <a:ext cx="5043488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78100" imgH="495300" progId="Equation.DSMT4">
                  <p:embed/>
                </p:oleObj>
              </mc:Choice>
              <mc:Fallback>
                <p:oleObj name="Equation" r:id="rId9" imgW="2578100" imgH="4953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8093" y="4275771"/>
                        <a:ext cx="5043488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13">
            <a:extLst>
              <a:ext uri="{FF2B5EF4-FFF2-40B4-BE49-F238E27FC236}">
                <a16:creationId xmlns:a16="http://schemas.microsoft.com/office/drawing/2014/main" id="{BC2209FE-A0C1-4176-A7A0-B577416FC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779" y="-290528"/>
            <a:ext cx="492443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lnSpc>
                <a:spcPct val="150000"/>
              </a:lnSpc>
              <a:buClr>
                <a:schemeClr val="tx2"/>
              </a:buClr>
              <a:buFont typeface="Monotype Sorts" pitchFamily="2" charset="2"/>
              <a:buChar char="&amp;"/>
            </a:pPr>
            <a:endParaRPr lang="zh-CN" altLang="en-US"/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8F986BEF-683E-4482-B56D-B3A533A92368}"/>
              </a:ext>
            </a:extLst>
          </p:cNvPr>
          <p:cNvGrpSpPr>
            <a:grpSpLocks/>
          </p:cNvGrpSpPr>
          <p:nvPr/>
        </p:nvGrpSpPr>
        <p:grpSpPr bwMode="auto">
          <a:xfrm>
            <a:off x="687513" y="5164859"/>
            <a:ext cx="7817399" cy="1689100"/>
            <a:chOff x="1549" y="2958"/>
            <a:chExt cx="3933" cy="1064"/>
          </a:xfrm>
        </p:grpSpPr>
        <p:sp>
          <p:nvSpPr>
            <p:cNvPr id="21514" name="Text Box 15">
              <a:extLst>
                <a:ext uri="{FF2B5EF4-FFF2-40B4-BE49-F238E27FC236}">
                  <a16:creationId xmlns:a16="http://schemas.microsoft.com/office/drawing/2014/main" id="{2FD1DB4F-B25B-4E37-BB4F-AC5833AD7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9" y="2958"/>
              <a:ext cx="3933" cy="1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dirty="0"/>
                <a:t>       </a:t>
              </a:r>
              <a:r>
                <a:rPr lang="zh-CN" altLang="zh-CN" dirty="0"/>
                <a:t>同理，从空间站返回，</a:t>
              </a:r>
              <a:r>
                <a:rPr lang="zh-CN" altLang="en-US" dirty="0"/>
                <a:t>地</a:t>
              </a:r>
              <a:r>
                <a:rPr lang="zh-CN" altLang="zh-CN" dirty="0"/>
                <a:t>面上测得的时间也是</a:t>
              </a:r>
              <a:r>
                <a:rPr lang="zh-CN" altLang="en-US" dirty="0"/>
                <a:t>      </a:t>
              </a:r>
              <a:r>
                <a:rPr lang="zh-CN" altLang="zh-CN" dirty="0"/>
                <a:t>。因此，飞船往返，在飞船上经历的时间为</a:t>
              </a:r>
              <a:r>
                <a:rPr lang="en-US" altLang="zh-CN" dirty="0">
                  <a:solidFill>
                    <a:srgbClr val="00FFFF"/>
                  </a:solidFill>
                </a:rPr>
                <a:t>10</a:t>
              </a:r>
              <a:r>
                <a:rPr lang="zh-CN" altLang="en-US" dirty="0"/>
                <a:t>年，在地面看来经历的时间是</a:t>
              </a:r>
              <a:r>
                <a:rPr lang="en-US" altLang="zh-CN" dirty="0">
                  <a:solidFill>
                    <a:srgbClr val="00FFFF"/>
                  </a:solidFill>
                </a:rPr>
                <a:t>70.8</a:t>
              </a:r>
              <a:r>
                <a:rPr lang="zh-CN" altLang="en-US" dirty="0"/>
                <a:t>年。</a:t>
              </a:r>
            </a:p>
          </p:txBody>
        </p:sp>
        <p:graphicFrame>
          <p:nvGraphicFramePr>
            <p:cNvPr id="21515" name="Object 16">
              <a:extLst>
                <a:ext uri="{FF2B5EF4-FFF2-40B4-BE49-F238E27FC236}">
                  <a16:creationId xmlns:a16="http://schemas.microsoft.com/office/drawing/2014/main" id="{7E44B7B9-8F69-48BF-8ED2-04A26E6FCE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364700"/>
                </p:ext>
              </p:extLst>
            </p:nvPr>
          </p:nvGraphicFramePr>
          <p:xfrm>
            <a:off x="5003" y="3052"/>
            <a:ext cx="22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90335" imgH="177646" progId="Equation.DSMT4">
                    <p:embed/>
                  </p:oleObj>
                </mc:Choice>
                <mc:Fallback>
                  <p:oleObj name="Equation" r:id="rId11" imgW="190335" imgH="177646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3" y="3052"/>
                          <a:ext cx="227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314" name="Object 2">
            <a:extLst>
              <a:ext uri="{FF2B5EF4-FFF2-40B4-BE49-F238E27FC236}">
                <a16:creationId xmlns:a16="http://schemas.microsoft.com/office/drawing/2014/main" id="{88CBC0C1-B19F-45C1-B25E-19616567E7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033511"/>
              </p:ext>
            </p:extLst>
          </p:nvPr>
        </p:nvGraphicFramePr>
        <p:xfrm>
          <a:off x="6378575" y="544512"/>
          <a:ext cx="2541588" cy="259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786252" imgH="883810" progId="Photoshop.Image.5">
                  <p:embed/>
                </p:oleObj>
              </mc:Choice>
              <mc:Fallback>
                <p:oleObj name="Image" r:id="rId3" imgW="786252" imgH="883810" progId="Photoshop.Image.5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8575" y="544512"/>
                        <a:ext cx="2541588" cy="259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5" name="Text Box 3">
            <a:extLst>
              <a:ext uri="{FF2B5EF4-FFF2-40B4-BE49-F238E27FC236}">
                <a16:creationId xmlns:a16="http://schemas.microsoft.com/office/drawing/2014/main" id="{900C7DA9-07BB-4A56-9284-A54D4810D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700" y="247650"/>
            <a:ext cx="5027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zh-CN" altLang="en-US" sz="2800">
                <a:solidFill>
                  <a:srgbClr val="00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双生子佯谬 （</a:t>
            </a:r>
            <a:r>
              <a:rPr lang="en-US" altLang="zh-CN" sz="2800">
                <a:solidFill>
                  <a:srgbClr val="FFCC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twin paradox</a:t>
            </a:r>
            <a:r>
              <a:rPr lang="zh-CN" altLang="en-US" sz="2800">
                <a:solidFill>
                  <a:srgbClr val="00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141316" name="Rectangle 4">
            <a:extLst>
              <a:ext uri="{FF2B5EF4-FFF2-40B4-BE49-F238E27FC236}">
                <a16:creationId xmlns:a16="http://schemas.microsoft.com/office/drawing/2014/main" id="{BC2AF3FC-DA52-4B1C-9A1A-E49F5C36C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742950"/>
            <a:ext cx="6269037" cy="1422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/>
              <a:t>    一双生子</a:t>
            </a:r>
            <a:r>
              <a:rPr lang="en-US" altLang="zh-CN" sz="2000" dirty="0">
                <a:solidFill>
                  <a:srgbClr val="FFCC00"/>
                </a:solidFill>
              </a:rPr>
              <a:t>Jim</a:t>
            </a:r>
            <a:r>
              <a:rPr lang="en-US" altLang="zh-CN" sz="2000" dirty="0"/>
              <a:t> </a:t>
            </a:r>
            <a:r>
              <a:rPr lang="zh-CN" altLang="en-US" sz="2000" dirty="0"/>
              <a:t>和 </a:t>
            </a:r>
            <a:r>
              <a:rPr lang="en-US" altLang="zh-CN" sz="2000" dirty="0">
                <a:solidFill>
                  <a:srgbClr val="FFCC00"/>
                </a:solidFill>
              </a:rPr>
              <a:t>Tim</a:t>
            </a:r>
            <a:r>
              <a:rPr lang="en-US" altLang="zh-CN" sz="2000" dirty="0"/>
              <a:t> </a:t>
            </a:r>
            <a:r>
              <a:rPr lang="zh-CN" altLang="en-US" sz="2000" dirty="0"/>
              <a:t>，在</a:t>
            </a:r>
            <a:r>
              <a:rPr lang="en-US" altLang="zh-CN" sz="2000" dirty="0">
                <a:solidFill>
                  <a:schemeClr val="accent1"/>
                </a:solidFill>
              </a:rPr>
              <a:t>20</a:t>
            </a:r>
            <a:r>
              <a:rPr lang="zh-CN" altLang="en-US" sz="2000" dirty="0"/>
              <a:t>岁生日那天，</a:t>
            </a:r>
            <a:r>
              <a:rPr lang="en-US" altLang="zh-CN" sz="2000" dirty="0">
                <a:solidFill>
                  <a:srgbClr val="FFCC00"/>
                </a:solidFill>
              </a:rPr>
              <a:t>Tim</a:t>
            </a:r>
            <a:r>
              <a:rPr lang="en-US" altLang="zh-CN" sz="2000" dirty="0"/>
              <a:t> </a:t>
            </a:r>
            <a:r>
              <a:rPr lang="zh-CN" altLang="en-US" sz="2000" dirty="0"/>
              <a:t>坐上</a:t>
            </a:r>
            <a:r>
              <a:rPr lang="en-US" altLang="zh-CN" sz="2000" dirty="0">
                <a:solidFill>
                  <a:srgbClr val="00FFFF"/>
                </a:solidFill>
              </a:rPr>
              <a:t>u=0.9998c</a:t>
            </a:r>
            <a:r>
              <a:rPr lang="zh-CN" altLang="en-US" sz="2000" dirty="0"/>
              <a:t>的飞船相对于地球作匀速直线运动，一去一回整一年，在飞船上</a:t>
            </a:r>
            <a:r>
              <a:rPr lang="zh-CN" altLang="en-US" sz="2000" dirty="0">
                <a:solidFill>
                  <a:schemeClr val="accent1"/>
                </a:solidFill>
              </a:rPr>
              <a:t>一年</a:t>
            </a:r>
            <a:r>
              <a:rPr lang="zh-CN" altLang="en-US" sz="2000" dirty="0"/>
              <a:t>，在地球上经过</a:t>
            </a:r>
            <a:r>
              <a:rPr lang="en-US" altLang="zh-CN" sz="2000" dirty="0">
                <a:solidFill>
                  <a:schemeClr val="accent1"/>
                </a:solidFill>
              </a:rPr>
              <a:t>50</a:t>
            </a:r>
            <a:r>
              <a:rPr lang="zh-CN" altLang="en-US" sz="2000" dirty="0">
                <a:solidFill>
                  <a:schemeClr val="accent1"/>
                </a:solidFill>
              </a:rPr>
              <a:t>年</a:t>
            </a:r>
            <a:r>
              <a:rPr lang="zh-CN" altLang="en-US" sz="2000" dirty="0"/>
              <a:t>！</a:t>
            </a:r>
          </a:p>
        </p:txBody>
      </p:sp>
      <p:sp>
        <p:nvSpPr>
          <p:cNvPr id="141318" name="Rectangle 6">
            <a:extLst>
              <a:ext uri="{FF2B5EF4-FFF2-40B4-BE49-F238E27FC236}">
                <a16:creationId xmlns:a16="http://schemas.microsoft.com/office/drawing/2014/main" id="{7746AE9C-FA4E-4977-A4FB-9760FE215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3854226"/>
            <a:ext cx="6151562" cy="96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66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en-US" sz="2000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000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21</a:t>
            </a:r>
            <a:r>
              <a:rPr lang="zh-CN" altLang="en-US" sz="2000" dirty="0">
                <a:solidFill>
                  <a:srgbClr val="FF66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岁的 </a:t>
            </a:r>
            <a:r>
              <a:rPr lang="en-US" altLang="zh-CN" sz="2000" dirty="0">
                <a:solidFill>
                  <a:srgbClr val="FF66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Tim </a:t>
            </a:r>
            <a:r>
              <a:rPr lang="zh-CN" altLang="en-US" sz="2000" dirty="0">
                <a:solidFill>
                  <a:srgbClr val="FF66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归来时，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66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迎接他的是</a:t>
            </a:r>
            <a:r>
              <a:rPr lang="en-US" altLang="zh-CN" sz="2000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70</a:t>
            </a:r>
            <a:r>
              <a:rPr lang="zh-CN" altLang="en-US" sz="2000" dirty="0">
                <a:solidFill>
                  <a:srgbClr val="FF66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岁的 </a:t>
            </a:r>
            <a:r>
              <a:rPr lang="en-US" altLang="zh-CN" sz="2000" dirty="0">
                <a:solidFill>
                  <a:srgbClr val="FF66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Jim</a:t>
            </a:r>
            <a:r>
              <a:rPr lang="zh-CN" altLang="en-US" sz="2000" dirty="0">
                <a:solidFill>
                  <a:srgbClr val="FF66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graphicFrame>
        <p:nvGraphicFramePr>
          <p:cNvPr id="141319" name="Object 7">
            <a:extLst>
              <a:ext uri="{FF2B5EF4-FFF2-40B4-BE49-F238E27FC236}">
                <a16:creationId xmlns:a16="http://schemas.microsoft.com/office/drawing/2014/main" id="{B9434534-B20D-4D40-83AB-B0EF7DEEA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056972"/>
              </p:ext>
            </p:extLst>
          </p:nvPr>
        </p:nvGraphicFramePr>
        <p:xfrm>
          <a:off x="264968" y="2227539"/>
          <a:ext cx="2652712" cy="276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1037890" imgH="972355" progId="Photoshop.Image.5">
                  <p:embed/>
                </p:oleObj>
              </mc:Choice>
              <mc:Fallback>
                <p:oleObj name="Image" r:id="rId5" imgW="1037890" imgH="972355" progId="Photoshop.Image.5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68" y="2227539"/>
                        <a:ext cx="2652712" cy="276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20" name="Rectangle 8">
            <a:extLst>
              <a:ext uri="{FF2B5EF4-FFF2-40B4-BE49-F238E27FC236}">
                <a16:creationId xmlns:a16="http://schemas.microsoft.com/office/drawing/2014/main" id="{3AF19F15-FE04-4D25-B1E5-12CF0970C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6" y="4996139"/>
            <a:ext cx="5522913" cy="1883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但是，运动是相对的，可以看成地球运动，飞船不动。地球上</a:t>
            </a:r>
            <a:r>
              <a:rPr lang="zh-CN" altLang="en-US" sz="2000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一年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，在静止的飞船上是</a:t>
            </a:r>
            <a:r>
              <a:rPr lang="en-US" altLang="zh-CN" sz="2000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50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年；</a:t>
            </a:r>
            <a:r>
              <a:rPr lang="en-US" altLang="zh-CN" sz="2000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21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岁的 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Jim 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迎来的是</a:t>
            </a:r>
            <a:r>
              <a:rPr lang="en-US" altLang="zh-CN" sz="2000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70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岁的 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Tim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                 </a:t>
            </a:r>
            <a:r>
              <a:rPr lang="en-US" altLang="zh-CN" sz="2000" dirty="0">
                <a:solidFill>
                  <a:srgbClr val="FF99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——</a:t>
            </a:r>
            <a:r>
              <a:rPr lang="zh-CN" altLang="en-US" sz="2000" dirty="0">
                <a:solidFill>
                  <a:srgbClr val="FF99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到底谁年轻？</a:t>
            </a:r>
          </a:p>
        </p:txBody>
      </p:sp>
      <p:pic>
        <p:nvPicPr>
          <p:cNvPr id="141321" name="Picture 9" descr="未标题-2 副本">
            <a:extLst>
              <a:ext uri="{FF2B5EF4-FFF2-40B4-BE49-F238E27FC236}">
                <a16:creationId xmlns:a16="http://schemas.microsoft.com/office/drawing/2014/main" id="{61212CE1-384C-4A3B-AC75-B55292332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025" y="3717926"/>
            <a:ext cx="2603139" cy="259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49254" name="Object 6">
            <a:extLst>
              <a:ext uri="{FF2B5EF4-FFF2-40B4-BE49-F238E27FC236}">
                <a16:creationId xmlns:a16="http://schemas.microsoft.com/office/drawing/2014/main" id="{65EE797C-7543-4B43-896B-3F63ED9B9A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660319"/>
              </p:ext>
            </p:extLst>
          </p:nvPr>
        </p:nvGraphicFramePr>
        <p:xfrm>
          <a:off x="3355975" y="2347913"/>
          <a:ext cx="2432050" cy="132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80882" imgH="632432" progId="Equation.3">
                  <p:embed/>
                </p:oleObj>
              </mc:Choice>
              <mc:Fallback>
                <p:oleObj name="公式" r:id="rId8" imgW="1180882" imgH="63243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975" y="2347913"/>
                        <a:ext cx="2432050" cy="132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300"/>
                                        <p:tgtEl>
                                          <p:spTgt spid="141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300"/>
                                        <p:tgtEl>
                                          <p:spTgt spid="14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300"/>
                                        <p:tgtEl>
                                          <p:spTgt spid="141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300"/>
                                        <p:tgtEl>
                                          <p:spTgt spid="14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300"/>
                                        <p:tgtEl>
                                          <p:spTgt spid="141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autoUpdateAnimBg="0"/>
      <p:bldP spid="141316" grpId="0" build="p" autoUpdateAnimBg="0"/>
      <p:bldP spid="141318" grpId="0" build="p" autoUpdateAnimBg="0"/>
      <p:bldP spid="141320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E61DC210-C196-4F61-BD2D-7D4C86DC7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2182" y="288283"/>
            <a:ext cx="5122681" cy="2896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这是一个</a:t>
            </a:r>
            <a:r>
              <a:rPr lang="zh-CN" altLang="en-US" sz="2000" dirty="0">
                <a:solidFill>
                  <a:srgbClr val="00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佯谬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，其实不是相对论有什么毛病，而是不适当地乱用了狭义相对论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CC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飞船不是惯性系。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    </a:t>
            </a:r>
            <a:r>
              <a:rPr lang="zh-CN" altLang="en-US" sz="2000" dirty="0">
                <a:solidFill>
                  <a:srgbClr val="00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广义相对论讨论：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加速系中发生时钟延缓效应是绝对的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</a:t>
            </a:r>
            <a:r>
              <a:rPr lang="en-US" altLang="zh-CN" sz="2000" dirty="0">
                <a:solidFill>
                  <a:srgbClr val="FF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sz="2000" dirty="0">
                <a:solidFill>
                  <a:srgbClr val="FF66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一定是 </a:t>
            </a:r>
            <a:r>
              <a:rPr lang="en-US" altLang="zh-CN" sz="2000" dirty="0">
                <a:solidFill>
                  <a:srgbClr val="FF66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Tim </a:t>
            </a:r>
            <a:r>
              <a:rPr lang="zh-CN" altLang="en-US" sz="2000" dirty="0">
                <a:solidFill>
                  <a:srgbClr val="FF66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年轻</a:t>
            </a:r>
            <a:r>
              <a:rPr lang="en-US" altLang="zh-CN" sz="2000" dirty="0">
                <a:solidFill>
                  <a:srgbClr val="FF66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!</a:t>
            </a:r>
          </a:p>
        </p:txBody>
      </p:sp>
      <p:graphicFrame>
        <p:nvGraphicFramePr>
          <p:cNvPr id="142339" name="Object 3">
            <a:extLst>
              <a:ext uri="{FF2B5EF4-FFF2-40B4-BE49-F238E27FC236}">
                <a16:creationId xmlns:a16="http://schemas.microsoft.com/office/drawing/2014/main" id="{2FDA8ECC-C51F-4093-92D0-7C091C5E35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104660"/>
              </p:ext>
            </p:extLst>
          </p:nvPr>
        </p:nvGraphicFramePr>
        <p:xfrm>
          <a:off x="581890" y="288283"/>
          <a:ext cx="2810742" cy="2686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1037890" imgH="972355" progId="Photoshop.Image.5">
                  <p:embed/>
                </p:oleObj>
              </mc:Choice>
              <mc:Fallback>
                <p:oleObj name="Image" r:id="rId3" imgW="1037890" imgH="972355" progId="Photoshop.Image.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890" y="288283"/>
                        <a:ext cx="2810742" cy="2686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0" name="Rectangle 4">
            <a:extLst>
              <a:ext uri="{FF2B5EF4-FFF2-40B4-BE49-F238E27FC236}">
                <a16:creationId xmlns:a16="http://schemas.microsoft.com/office/drawing/2014/main" id="{99DAFD0E-1D5B-489A-AF08-91DE38491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90" y="3039108"/>
            <a:ext cx="8582819" cy="373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771525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1971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年美国空军将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Cs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原子钟放在飞机上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沿赤道向东和向西绕地球一周。回到原处后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分别比静止在地面上的钟</a:t>
            </a:r>
            <a:r>
              <a:rPr kumimoji="1" lang="zh-CN" altLang="en-US" sz="2000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慢了</a:t>
            </a:r>
            <a:r>
              <a:rPr kumimoji="1" lang="en-US" altLang="zh-CN" sz="2000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59 ns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kumimoji="1" lang="zh-CN" altLang="en-US" sz="2000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快</a:t>
            </a:r>
            <a:r>
              <a:rPr kumimoji="1" lang="en-US" altLang="zh-CN" sz="2000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273 ns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因为地球从西往东自转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地面不是惯性系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而从地心指向太阳的参考系是惯性系。飞机的速度总小于地球自转的速度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无论是向东还是向西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它相对于惯性系都是向东转的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只是前者转速大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后者转速小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而地面上的钟的转速介于二者之间。 </a:t>
            </a:r>
          </a:p>
          <a:p>
            <a:pPr algn="just" eaLnBrk="1" hangingPunct="1">
              <a:lnSpc>
                <a:spcPct val="150000"/>
              </a:lnSpc>
            </a:pPr>
            <a:r>
              <a:rPr kumimoji="1" lang="zh-CN" altLang="en-US" sz="2000" dirty="0">
                <a:solidFill>
                  <a:srgbClr val="FFCC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上述实验表明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相对于</a:t>
            </a:r>
            <a:r>
              <a:rPr kumimoji="1" lang="zh-CN" altLang="en-US" sz="2000" dirty="0">
                <a:solidFill>
                  <a:srgbClr val="00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惯性系转速愈大的钟走得愈慢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这和孪生子问题所预期的效 应是一致的。上述实验结果与广义相对论的理论计算比较</a:t>
            </a:r>
            <a:r>
              <a:rPr kumimoji="1" lang="en-US" altLang="zh-CN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kumimoji="1" lang="zh-CN" altLang="en-US" sz="2000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在实验误差范围内相符。</a:t>
            </a:r>
            <a:endParaRPr kumimoji="1" lang="zh-CN" altLang="en-US" sz="2000" b="0" dirty="0">
              <a:solidFill>
                <a:srgbClr val="FFFF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42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300"/>
                                        <p:tgtEl>
                                          <p:spTgt spid="142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300"/>
                                        <p:tgtEl>
                                          <p:spTgt spid="142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300"/>
                                        <p:tgtEl>
                                          <p:spTgt spid="142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build="p" autoUpdateAnimBg="0"/>
      <p:bldP spid="14234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050" name="Rectangle 2">
            <a:extLst>
              <a:ext uri="{FF2B5EF4-FFF2-40B4-BE49-F238E27FC236}">
                <a16:creationId xmlns:a16="http://schemas.microsoft.com/office/drawing/2014/main" id="{C2E1F143-8BA4-4EDD-AAE7-B55D6930E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8613"/>
            <a:ext cx="9144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§15.4</a:t>
            </a:r>
            <a:r>
              <a:rPr kumimoji="1" lang="en-US" altLang="zh-CN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洛伦兹变换</a:t>
            </a:r>
            <a:endParaRPr kumimoji="1" lang="zh-CN" altLang="en-US" sz="4000">
              <a:solidFill>
                <a:srgbClr val="66FF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8051" name="Text Box 3">
            <a:extLst>
              <a:ext uri="{FF2B5EF4-FFF2-40B4-BE49-F238E27FC236}">
                <a16:creationId xmlns:a16="http://schemas.microsoft.com/office/drawing/2014/main" id="{12985E3B-D78E-4A74-9B77-0F433186E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68363"/>
            <a:ext cx="698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</a:t>
            </a: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kumimoji="1" lang="zh-CN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洛伦兹变换</a:t>
            </a:r>
            <a:r>
              <a:rPr kumimoji="1" lang="en-US" altLang="zh-CN" sz="2000">
                <a:solidFill>
                  <a:srgbClr val="EDFE4A"/>
                </a:solidFill>
              </a:rPr>
              <a:t>(</a:t>
            </a:r>
            <a:r>
              <a:rPr kumimoji="1" lang="en-US" altLang="zh-CN" sz="2000">
                <a:solidFill>
                  <a:srgbClr val="EDFE4A"/>
                </a:solidFill>
                <a:latin typeface="Times New Roman" panose="02020603050405020304" pitchFamily="18" charset="0"/>
              </a:rPr>
              <a:t>Lorentz transformation)</a:t>
            </a:r>
            <a:r>
              <a:rPr kumimoji="1" lang="en-US" altLang="zh-CN" sz="2800">
                <a:solidFill>
                  <a:srgbClr val="EDFE4A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898052" name="Object 4">
            <a:extLst>
              <a:ext uri="{FF2B5EF4-FFF2-40B4-BE49-F238E27FC236}">
                <a16:creationId xmlns:a16="http://schemas.microsoft.com/office/drawing/2014/main" id="{68C5BF3A-725E-439D-BEA5-608E407962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1462088"/>
          <a:ext cx="4619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920" imgH="160103" progId="Equation.3">
                  <p:embed/>
                </p:oleObj>
              </mc:Choice>
              <mc:Fallback>
                <p:oleObj name="Equation" r:id="rId2" imgW="121920" imgH="16010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462088"/>
                        <a:ext cx="461963" cy="44450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8053" name="AutoShape 5">
            <a:extLst>
              <a:ext uri="{FF2B5EF4-FFF2-40B4-BE49-F238E27FC236}">
                <a16:creationId xmlns:a16="http://schemas.microsoft.com/office/drawing/2014/main" id="{93A41524-CE2C-46D9-8052-6AA95FD4FC5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45594" y="3426619"/>
            <a:ext cx="1939925" cy="360363"/>
          </a:xfrm>
          <a:prstGeom prst="rightArrow">
            <a:avLst>
              <a:gd name="adj1" fmla="val 36565"/>
              <a:gd name="adj2" fmla="val 965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054" name="Line 6">
            <a:extLst>
              <a:ext uri="{FF2B5EF4-FFF2-40B4-BE49-F238E27FC236}">
                <a16:creationId xmlns:a16="http://schemas.microsoft.com/office/drawing/2014/main" id="{691667F5-EB9A-4F4B-9E45-9EC7FDCCF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1897063"/>
            <a:ext cx="5461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055" name="Line 7">
            <a:extLst>
              <a:ext uri="{FF2B5EF4-FFF2-40B4-BE49-F238E27FC236}">
                <a16:creationId xmlns:a16="http://schemas.microsoft.com/office/drawing/2014/main" id="{08F314A0-161A-4898-AFC7-62FA33539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3113" y="1897063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056" name="Line 8">
            <a:extLst>
              <a:ext uri="{FF2B5EF4-FFF2-40B4-BE49-F238E27FC236}">
                <a16:creationId xmlns:a16="http://schemas.microsoft.com/office/drawing/2014/main" id="{A829625C-1108-4F42-825E-01FD959BED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6375" y="1895475"/>
            <a:ext cx="546100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98057" name="Object 9">
            <a:extLst>
              <a:ext uri="{FF2B5EF4-FFF2-40B4-BE49-F238E27FC236}">
                <a16:creationId xmlns:a16="http://schemas.microsoft.com/office/drawing/2014/main" id="{D91179F7-8250-480A-BAA2-EB4236078C2A}"/>
              </a:ext>
            </a:extLst>
          </p:cNvPr>
          <p:cNvGraphicFramePr>
            <a:graphicFrameLocks/>
          </p:cNvGraphicFramePr>
          <p:nvPr/>
        </p:nvGraphicFramePr>
        <p:xfrm>
          <a:off x="1620838" y="1517650"/>
          <a:ext cx="215900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8058" imgH="213471" progId="Equation.3">
                  <p:embed/>
                </p:oleObj>
              </mc:Choice>
              <mc:Fallback>
                <p:oleObj name="公式" r:id="rId4" imgW="198058" imgH="213471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1517650"/>
                        <a:ext cx="215900" cy="23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8058" name="Object 10">
            <a:extLst>
              <a:ext uri="{FF2B5EF4-FFF2-40B4-BE49-F238E27FC236}">
                <a16:creationId xmlns:a16="http://schemas.microsoft.com/office/drawing/2014/main" id="{E497C836-C342-4039-90BF-807A2B36F10C}"/>
              </a:ext>
            </a:extLst>
          </p:cNvPr>
          <p:cNvGraphicFramePr>
            <a:graphicFrameLocks/>
          </p:cNvGraphicFramePr>
          <p:nvPr/>
        </p:nvGraphicFramePr>
        <p:xfrm>
          <a:off x="2384425" y="1481138"/>
          <a:ext cx="315913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5049" imgH="251377" progId="Equation.3">
                  <p:embed/>
                </p:oleObj>
              </mc:Choice>
              <mc:Fallback>
                <p:oleObj name="公式" r:id="rId6" imgW="305049" imgH="251377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5" y="1481138"/>
                        <a:ext cx="315913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8059" name="Text Box 11">
            <a:extLst>
              <a:ext uri="{FF2B5EF4-FFF2-40B4-BE49-F238E27FC236}">
                <a16:creationId xmlns:a16="http://schemas.microsoft.com/office/drawing/2014/main" id="{7900432C-A784-4CC9-98D2-7EDD7CA5D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179638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zh-CN">
                <a:latin typeface="Times New Roman" panose="02020603050405020304" pitchFamily="18" charset="0"/>
              </a:rPr>
              <a:t>因此</a:t>
            </a:r>
            <a:endParaRPr kumimoji="1" lang="zh-CN" altLang="en-US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98060" name="Object 12">
            <a:extLst>
              <a:ext uri="{FF2B5EF4-FFF2-40B4-BE49-F238E27FC236}">
                <a16:creationId xmlns:a16="http://schemas.microsoft.com/office/drawing/2014/main" id="{C9102F13-ACDF-44F3-A326-D9AE3C2E22A7}"/>
              </a:ext>
            </a:extLst>
          </p:cNvPr>
          <p:cNvGraphicFramePr>
            <a:graphicFrameLocks/>
          </p:cNvGraphicFramePr>
          <p:nvPr/>
        </p:nvGraphicFramePr>
        <p:xfrm>
          <a:off x="1562100" y="2178050"/>
          <a:ext cx="2505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84182" imgH="418961" progId="Equation.3">
                  <p:embed/>
                </p:oleObj>
              </mc:Choice>
              <mc:Fallback>
                <p:oleObj name="公式" r:id="rId8" imgW="2484182" imgH="418961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2178050"/>
                        <a:ext cx="25050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8061" name="Object 13">
            <a:extLst>
              <a:ext uri="{FF2B5EF4-FFF2-40B4-BE49-F238E27FC236}">
                <a16:creationId xmlns:a16="http://schemas.microsoft.com/office/drawing/2014/main" id="{C662703A-B196-4808-8977-68BE9CCCFD01}"/>
              </a:ext>
            </a:extLst>
          </p:cNvPr>
          <p:cNvGraphicFramePr>
            <a:graphicFrameLocks/>
          </p:cNvGraphicFramePr>
          <p:nvPr/>
        </p:nvGraphicFramePr>
        <p:xfrm>
          <a:off x="3003550" y="1316038"/>
          <a:ext cx="13604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41120" imgH="418961" progId="Equation.3">
                  <p:embed/>
                </p:oleObj>
              </mc:Choice>
              <mc:Fallback>
                <p:oleObj name="公式" r:id="rId10" imgW="1341120" imgH="418961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1316038"/>
                        <a:ext cx="13604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8062" name="Object 14">
            <a:extLst>
              <a:ext uri="{FF2B5EF4-FFF2-40B4-BE49-F238E27FC236}">
                <a16:creationId xmlns:a16="http://schemas.microsoft.com/office/drawing/2014/main" id="{AE30E896-867E-44B9-B67E-49CBF788DC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2782888"/>
          <a:ext cx="4714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0238" imgH="160103" progId="Equation.3">
                  <p:embed/>
                </p:oleObj>
              </mc:Choice>
              <mc:Fallback>
                <p:oleObj name="Equation" r:id="rId12" imgW="160238" imgH="16010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782888"/>
                        <a:ext cx="471488" cy="473075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8063" name="Line 15">
            <a:extLst>
              <a:ext uri="{FF2B5EF4-FFF2-40B4-BE49-F238E27FC236}">
                <a16:creationId xmlns:a16="http://schemas.microsoft.com/office/drawing/2014/main" id="{61F11726-3417-420F-88AC-BD7E4EC24F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6538" y="3327400"/>
            <a:ext cx="7620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064" name="Line 16">
            <a:extLst>
              <a:ext uri="{FF2B5EF4-FFF2-40B4-BE49-F238E27FC236}">
                <a16:creationId xmlns:a16="http://schemas.microsoft.com/office/drawing/2014/main" id="{DBA35CDA-FC7B-41AD-AAE2-531BDB2F22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7975" y="2895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065" name="Line 17">
            <a:extLst>
              <a:ext uri="{FF2B5EF4-FFF2-40B4-BE49-F238E27FC236}">
                <a16:creationId xmlns:a16="http://schemas.microsoft.com/office/drawing/2014/main" id="{35CD074B-0338-48DA-89ED-9616A0DA6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2075" y="3789363"/>
            <a:ext cx="762000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066" name="AutoShape 18">
            <a:extLst>
              <a:ext uri="{FF2B5EF4-FFF2-40B4-BE49-F238E27FC236}">
                <a16:creationId xmlns:a16="http://schemas.microsoft.com/office/drawing/2014/main" id="{05F40EAC-6451-4A00-BA9C-2C5C4BA4B61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285037" y="4189413"/>
            <a:ext cx="334963" cy="350838"/>
          </a:xfrm>
          <a:prstGeom prst="rightArrow">
            <a:avLst>
              <a:gd name="adj1" fmla="val 35750"/>
              <a:gd name="adj2" fmla="val 34361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98067" name="Object 19">
            <a:extLst>
              <a:ext uri="{FF2B5EF4-FFF2-40B4-BE49-F238E27FC236}">
                <a16:creationId xmlns:a16="http://schemas.microsoft.com/office/drawing/2014/main" id="{F470EEB6-D264-4CF3-BE76-3EE0708A8489}"/>
              </a:ext>
            </a:extLst>
          </p:cNvPr>
          <p:cNvGraphicFramePr>
            <a:graphicFrameLocks/>
          </p:cNvGraphicFramePr>
          <p:nvPr/>
        </p:nvGraphicFramePr>
        <p:xfrm>
          <a:off x="2222500" y="3500438"/>
          <a:ext cx="12700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57518" imgH="418961" progId="Equation.3">
                  <p:embed/>
                </p:oleObj>
              </mc:Choice>
              <mc:Fallback>
                <p:oleObj name="公式" r:id="rId14" imgW="1257518" imgH="418961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3500438"/>
                        <a:ext cx="12700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8068" name="Object 20">
            <a:extLst>
              <a:ext uri="{FF2B5EF4-FFF2-40B4-BE49-F238E27FC236}">
                <a16:creationId xmlns:a16="http://schemas.microsoft.com/office/drawing/2014/main" id="{8FB03145-6FDF-4C35-ACFE-9C4B2B136F48}"/>
              </a:ext>
            </a:extLst>
          </p:cNvPr>
          <p:cNvGraphicFramePr>
            <a:graphicFrameLocks/>
          </p:cNvGraphicFramePr>
          <p:nvPr/>
        </p:nvGraphicFramePr>
        <p:xfrm>
          <a:off x="2484438" y="3111500"/>
          <a:ext cx="404812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88651" imgH="304745" progId="Equation.3">
                  <p:embed/>
                </p:oleObj>
              </mc:Choice>
              <mc:Fallback>
                <p:oleObj name="公式" r:id="rId16" imgW="388651" imgH="304745" progId="Equation.3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111500"/>
                        <a:ext cx="404812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8069" name="Object 21">
            <a:extLst>
              <a:ext uri="{FF2B5EF4-FFF2-40B4-BE49-F238E27FC236}">
                <a16:creationId xmlns:a16="http://schemas.microsoft.com/office/drawing/2014/main" id="{0BDDD241-127C-478C-9FA2-BF080A54535F}"/>
              </a:ext>
            </a:extLst>
          </p:cNvPr>
          <p:cNvGraphicFramePr>
            <a:graphicFrameLocks/>
          </p:cNvGraphicFramePr>
          <p:nvPr/>
        </p:nvGraphicFramePr>
        <p:xfrm>
          <a:off x="2525713" y="2722563"/>
          <a:ext cx="317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05049" imgH="304745" progId="Equation.3">
                  <p:embed/>
                </p:oleObj>
              </mc:Choice>
              <mc:Fallback>
                <p:oleObj name="公式" r:id="rId18" imgW="305049" imgH="304745" progId="Equation.3">
                  <p:embed/>
                  <p:pic>
                    <p:nvPicPr>
                      <p:cNvPr id="0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3" y="2722563"/>
                        <a:ext cx="317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8070" name="Text Box 22">
            <a:extLst>
              <a:ext uri="{FF2B5EF4-FFF2-40B4-BE49-F238E27FC236}">
                <a16:creationId xmlns:a16="http://schemas.microsoft.com/office/drawing/2014/main" id="{FD801720-7D9F-4062-8A18-AC2890931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98145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zh-CN">
                <a:latin typeface="Times New Roman" panose="02020603050405020304" pitchFamily="18" charset="0"/>
              </a:rPr>
              <a:t>洛伦兹</a:t>
            </a:r>
            <a:r>
              <a:rPr kumimoji="1" lang="zh-CN" altLang="en-US">
                <a:latin typeface="宋体" panose="02010600030101010101" pitchFamily="2" charset="-122"/>
              </a:rPr>
              <a:t>坐标变换式</a:t>
            </a:r>
          </a:p>
        </p:txBody>
      </p:sp>
      <p:sp>
        <p:nvSpPr>
          <p:cNvPr id="898071" name="Text Box 23">
            <a:extLst>
              <a:ext uri="{FF2B5EF4-FFF2-40B4-BE49-F238E27FC236}">
                <a16:creationId xmlns:a16="http://schemas.microsoft.com/office/drawing/2014/main" id="{412924CF-37AD-44EE-8A22-B3600898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603750"/>
            <a:ext cx="1263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</a:rPr>
              <a:t>正变换</a:t>
            </a:r>
          </a:p>
        </p:txBody>
      </p:sp>
      <p:graphicFrame>
        <p:nvGraphicFramePr>
          <p:cNvPr id="898072" name="Object 24">
            <a:extLst>
              <a:ext uri="{FF2B5EF4-FFF2-40B4-BE49-F238E27FC236}">
                <a16:creationId xmlns:a16="http://schemas.microsoft.com/office/drawing/2014/main" id="{52B8016D-ABDC-4A2D-BB50-1F1144493E19}"/>
              </a:ext>
            </a:extLst>
          </p:cNvPr>
          <p:cNvGraphicFramePr>
            <a:graphicFrameLocks/>
          </p:cNvGraphicFramePr>
          <p:nvPr/>
        </p:nvGraphicFramePr>
        <p:xfrm>
          <a:off x="5653088" y="4883150"/>
          <a:ext cx="9286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914649" imgH="381055" progId="Equation.3">
                  <p:embed/>
                </p:oleObj>
              </mc:Choice>
              <mc:Fallback>
                <p:oleObj name="公式" r:id="rId20" imgW="914649" imgH="381055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8" y="4883150"/>
                        <a:ext cx="92868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8073" name="Object 25">
            <a:extLst>
              <a:ext uri="{FF2B5EF4-FFF2-40B4-BE49-F238E27FC236}">
                <a16:creationId xmlns:a16="http://schemas.microsoft.com/office/drawing/2014/main" id="{E6F105EB-EFDF-45C6-9E00-B84EF0EF0573}"/>
              </a:ext>
            </a:extLst>
          </p:cNvPr>
          <p:cNvGraphicFramePr>
            <a:graphicFrameLocks/>
          </p:cNvGraphicFramePr>
          <p:nvPr/>
        </p:nvGraphicFramePr>
        <p:xfrm>
          <a:off x="4244975" y="4883150"/>
          <a:ext cx="108743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074389" imgH="381055" progId="Equation.3">
                  <p:embed/>
                </p:oleObj>
              </mc:Choice>
              <mc:Fallback>
                <p:oleObj name="公式" r:id="rId22" imgW="1074389" imgH="381055" progId="Equation.3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4975" y="4883150"/>
                        <a:ext cx="108743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8074" name="Object 26">
            <a:extLst>
              <a:ext uri="{FF2B5EF4-FFF2-40B4-BE49-F238E27FC236}">
                <a16:creationId xmlns:a16="http://schemas.microsoft.com/office/drawing/2014/main" id="{259C2A0A-7271-4C6D-BF08-D727714896B8}"/>
              </a:ext>
            </a:extLst>
          </p:cNvPr>
          <p:cNvGraphicFramePr>
            <a:graphicFrameLocks/>
          </p:cNvGraphicFramePr>
          <p:nvPr/>
        </p:nvGraphicFramePr>
        <p:xfrm>
          <a:off x="6902450" y="4627563"/>
          <a:ext cx="1846263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828800" imgH="883809" progId="Equation.3">
                  <p:embed/>
                </p:oleObj>
              </mc:Choice>
              <mc:Fallback>
                <p:oleObj name="公式" r:id="rId24" imgW="1828800" imgH="883809" progId="Equation.3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450" y="4627563"/>
                        <a:ext cx="1846263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8075" name="Object 27">
            <a:extLst>
              <a:ext uri="{FF2B5EF4-FFF2-40B4-BE49-F238E27FC236}">
                <a16:creationId xmlns:a16="http://schemas.microsoft.com/office/drawing/2014/main" id="{45A2AE38-29CF-4DC4-B750-033FA3DA69AF}"/>
              </a:ext>
            </a:extLst>
          </p:cNvPr>
          <p:cNvGraphicFramePr>
            <a:graphicFrameLocks/>
          </p:cNvGraphicFramePr>
          <p:nvPr/>
        </p:nvGraphicFramePr>
        <p:xfrm>
          <a:off x="2179638" y="4654550"/>
          <a:ext cx="1744662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737236" imgH="838422" progId="Equation.3">
                  <p:embed/>
                </p:oleObj>
              </mc:Choice>
              <mc:Fallback>
                <p:oleObj name="公式" r:id="rId26" imgW="1737236" imgH="838422" progId="Equation.3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4654550"/>
                        <a:ext cx="1744662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8076" name="Rectangle 28">
            <a:extLst>
              <a:ext uri="{FF2B5EF4-FFF2-40B4-BE49-F238E27FC236}">
                <a16:creationId xmlns:a16="http://schemas.microsoft.com/office/drawing/2014/main" id="{99732D16-768E-47D0-989A-30564A0C8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4556125"/>
            <a:ext cx="6696075" cy="1008063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077" name="Text Box 29">
            <a:extLst>
              <a:ext uri="{FF2B5EF4-FFF2-40B4-BE49-F238E27FC236}">
                <a16:creationId xmlns:a16="http://schemas.microsoft.com/office/drawing/2014/main" id="{D8F8EAE0-4164-4ED2-914C-997697057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60950"/>
            <a:ext cx="1212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</a:rPr>
              <a:t>逆变换</a:t>
            </a:r>
          </a:p>
        </p:txBody>
      </p:sp>
      <p:sp>
        <p:nvSpPr>
          <p:cNvPr id="898078" name="Rectangle 30">
            <a:extLst>
              <a:ext uri="{FF2B5EF4-FFF2-40B4-BE49-F238E27FC236}">
                <a16:creationId xmlns:a16="http://schemas.microsoft.com/office/drawing/2014/main" id="{140FB019-A5C0-4B01-A200-8DEF3312A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5637213"/>
            <a:ext cx="5876925" cy="960437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endParaRPr kumimoji="1" lang="zh-CN" altLang="zh-CN" b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98079" name="Object 31">
            <a:extLst>
              <a:ext uri="{FF2B5EF4-FFF2-40B4-BE49-F238E27FC236}">
                <a16:creationId xmlns:a16="http://schemas.microsoft.com/office/drawing/2014/main" id="{6B318461-4DF2-48FE-948F-17BC44073257}"/>
              </a:ext>
            </a:extLst>
          </p:cNvPr>
          <p:cNvGraphicFramePr>
            <a:graphicFrameLocks/>
          </p:cNvGraphicFramePr>
          <p:nvPr/>
        </p:nvGraphicFramePr>
        <p:xfrm>
          <a:off x="1057275" y="5668963"/>
          <a:ext cx="16430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638207" imgH="838422" progId="Equation.3">
                  <p:embed/>
                </p:oleObj>
              </mc:Choice>
              <mc:Fallback>
                <p:oleObj name="公式" r:id="rId28" imgW="1638207" imgH="838422" progId="Equation.3">
                  <p:embed/>
                  <p:pic>
                    <p:nvPicPr>
                      <p:cNvPr id="0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5668963"/>
                        <a:ext cx="16430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8080" name="Object 32">
            <a:extLst>
              <a:ext uri="{FF2B5EF4-FFF2-40B4-BE49-F238E27FC236}">
                <a16:creationId xmlns:a16="http://schemas.microsoft.com/office/drawing/2014/main" id="{AB135366-0E89-455D-946B-38A9D4E947CA}"/>
              </a:ext>
            </a:extLst>
          </p:cNvPr>
          <p:cNvGraphicFramePr>
            <a:graphicFrameLocks/>
          </p:cNvGraphicFramePr>
          <p:nvPr/>
        </p:nvGraphicFramePr>
        <p:xfrm>
          <a:off x="3276600" y="5748338"/>
          <a:ext cx="108743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074389" imgH="381055" progId="Equation.3">
                  <p:embed/>
                </p:oleObj>
              </mc:Choice>
              <mc:Fallback>
                <p:oleObj name="公式" r:id="rId30" imgW="1074389" imgH="381055" progId="Equation.3">
                  <p:embed/>
                  <p:pic>
                    <p:nvPicPr>
                      <p:cNvPr id="0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748338"/>
                        <a:ext cx="1087438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8081" name="Object 33">
            <a:extLst>
              <a:ext uri="{FF2B5EF4-FFF2-40B4-BE49-F238E27FC236}">
                <a16:creationId xmlns:a16="http://schemas.microsoft.com/office/drawing/2014/main" id="{FFA1E512-125A-41C0-A3BC-1E9DE7FB5E06}"/>
              </a:ext>
            </a:extLst>
          </p:cNvPr>
          <p:cNvGraphicFramePr>
            <a:graphicFrameLocks/>
          </p:cNvGraphicFramePr>
          <p:nvPr/>
        </p:nvGraphicFramePr>
        <p:xfrm>
          <a:off x="3203575" y="6180138"/>
          <a:ext cx="92868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914649" imgH="381055" progId="Equation.3">
                  <p:embed/>
                </p:oleObj>
              </mc:Choice>
              <mc:Fallback>
                <p:oleObj name="公式" r:id="rId32" imgW="914649" imgH="381055" progId="Equation.3">
                  <p:embed/>
                  <p:pic>
                    <p:nvPicPr>
                      <p:cNvPr id="0" name="Object 33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6180138"/>
                        <a:ext cx="928688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8082" name="Object 34">
            <a:extLst>
              <a:ext uri="{FF2B5EF4-FFF2-40B4-BE49-F238E27FC236}">
                <a16:creationId xmlns:a16="http://schemas.microsoft.com/office/drawing/2014/main" id="{5A64DA0A-6F75-49EE-B2A9-B6B36A7FC309}"/>
              </a:ext>
            </a:extLst>
          </p:cNvPr>
          <p:cNvGraphicFramePr>
            <a:graphicFrameLocks/>
          </p:cNvGraphicFramePr>
          <p:nvPr/>
        </p:nvGraphicFramePr>
        <p:xfrm>
          <a:off x="4808538" y="5637213"/>
          <a:ext cx="1947862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927829" imgH="883809" progId="Equation.3">
                  <p:embed/>
                </p:oleObj>
              </mc:Choice>
              <mc:Fallback>
                <p:oleObj name="公式" r:id="rId34" imgW="1927829" imgH="883809" progId="Equation.3">
                  <p:embed/>
                  <p:pic>
                    <p:nvPicPr>
                      <p:cNvPr id="0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538" y="5637213"/>
                        <a:ext cx="1947862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5">
            <a:extLst>
              <a:ext uri="{FF2B5EF4-FFF2-40B4-BE49-F238E27FC236}">
                <a16:creationId xmlns:a16="http://schemas.microsoft.com/office/drawing/2014/main" id="{3C43E6DC-A406-434F-B1B1-1DB6C3193AE8}"/>
              </a:ext>
            </a:extLst>
          </p:cNvPr>
          <p:cNvGrpSpPr>
            <a:grpSpLocks/>
          </p:cNvGrpSpPr>
          <p:nvPr/>
        </p:nvGrpSpPr>
        <p:grpSpPr bwMode="auto">
          <a:xfrm>
            <a:off x="4367213" y="1127125"/>
            <a:ext cx="2286000" cy="2667000"/>
            <a:chOff x="3072" y="288"/>
            <a:chExt cx="1440" cy="1680"/>
          </a:xfrm>
        </p:grpSpPr>
        <p:sp>
          <p:nvSpPr>
            <p:cNvPr id="24642" name="Text Box 36">
              <a:extLst>
                <a:ext uri="{FF2B5EF4-FFF2-40B4-BE49-F238E27FC236}">
                  <a16:creationId xmlns:a16="http://schemas.microsoft.com/office/drawing/2014/main" id="{683758F4-CF21-4256-B954-46D287F21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337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O'</a:t>
              </a:r>
            </a:p>
          </p:txBody>
        </p:sp>
        <p:sp>
          <p:nvSpPr>
            <p:cNvPr id="24643" name="Text Box 37">
              <a:extLst>
                <a:ext uri="{FF2B5EF4-FFF2-40B4-BE49-F238E27FC236}">
                  <a16:creationId xmlns:a16="http://schemas.microsoft.com/office/drawing/2014/main" id="{08CF1C56-9233-4144-A6C4-C6C709CB6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68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S'</a:t>
              </a:r>
            </a:p>
          </p:txBody>
        </p:sp>
        <p:sp>
          <p:nvSpPr>
            <p:cNvPr id="898086" name="Line 38">
              <a:extLst>
                <a:ext uri="{FF2B5EF4-FFF2-40B4-BE49-F238E27FC236}">
                  <a16:creationId xmlns:a16="http://schemas.microsoft.com/office/drawing/2014/main" id="{6A9B9C4D-A8B7-4305-9EB9-035EEC74BD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1479"/>
              <a:ext cx="528" cy="489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8087" name="Line 39">
              <a:extLst>
                <a:ext uri="{FF2B5EF4-FFF2-40B4-BE49-F238E27FC236}">
                  <a16:creationId xmlns:a16="http://schemas.microsoft.com/office/drawing/2014/main" id="{07976D61-59E4-4A4B-94DD-19585C048A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288"/>
              <a:ext cx="0" cy="1209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8088" name="Line 40">
              <a:extLst>
                <a:ext uri="{FF2B5EF4-FFF2-40B4-BE49-F238E27FC236}">
                  <a16:creationId xmlns:a16="http://schemas.microsoft.com/office/drawing/2014/main" id="{36DACEFE-5B46-461E-AD5A-AD8C2F9259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1488"/>
              <a:ext cx="912" cy="9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898089" name="Rectangle 41">
            <a:extLst>
              <a:ext uri="{FF2B5EF4-FFF2-40B4-BE49-F238E27FC236}">
                <a16:creationId xmlns:a16="http://schemas.microsoft.com/office/drawing/2014/main" id="{74468969-BF42-48A4-B2D0-AFAB217C9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4825" y="992188"/>
            <a:ext cx="4600575" cy="28575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endParaRPr kumimoji="1" lang="zh-CN" altLang="zh-CN">
              <a:solidFill>
                <a:srgbClr val="00CC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8090" name="Text Box 42">
            <a:extLst>
              <a:ext uri="{FF2B5EF4-FFF2-40B4-BE49-F238E27FC236}">
                <a16:creationId xmlns:a16="http://schemas.microsoft.com/office/drawing/2014/main" id="{7421F86D-5D85-4F7A-9DEF-BD551C7E5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75" y="1392238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kumimoji="1" lang="en-US" altLang="zh-CN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8091" name="Text Box 43">
            <a:extLst>
              <a:ext uri="{FF2B5EF4-FFF2-40B4-BE49-F238E27FC236}">
                <a16:creationId xmlns:a16="http://schemas.microsoft.com/office/drawing/2014/main" id="{8FBC525F-52A6-4C2D-9317-02B019014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0438" y="1362075"/>
            <a:ext cx="1646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)</a:t>
            </a:r>
            <a:endParaRPr kumimoji="1" lang="en-US" altLang="zh-CN" b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8092" name="Text Box 44">
            <a:extLst>
              <a:ext uri="{FF2B5EF4-FFF2-40B4-BE49-F238E27FC236}">
                <a16:creationId xmlns:a16="http://schemas.microsoft.com/office/drawing/2014/main" id="{243FC7AC-C54D-4310-94E8-9835EBEC6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3263" y="1851025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x'</a:t>
            </a:r>
            <a:r>
              <a:rPr kumimoji="1"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y</a:t>
            </a:r>
            <a:r>
              <a:rPr kumimoji="1"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'</a:t>
            </a:r>
            <a:r>
              <a:rPr kumimoji="1"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z</a:t>
            </a:r>
            <a:r>
              <a:rPr kumimoji="1"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'</a:t>
            </a:r>
            <a:r>
              <a:rPr kumimoji="1"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'</a:t>
            </a:r>
            <a:r>
              <a:rPr kumimoji="1"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3" name="Group 45">
            <a:extLst>
              <a:ext uri="{FF2B5EF4-FFF2-40B4-BE49-F238E27FC236}">
                <a16:creationId xmlns:a16="http://schemas.microsoft.com/office/drawing/2014/main" id="{9E31465C-9826-4BD5-A84E-28FBA04F49FA}"/>
              </a:ext>
            </a:extLst>
          </p:cNvPr>
          <p:cNvGrpSpPr>
            <a:grpSpLocks/>
          </p:cNvGrpSpPr>
          <p:nvPr/>
        </p:nvGrpSpPr>
        <p:grpSpPr bwMode="auto">
          <a:xfrm>
            <a:off x="4286250" y="1128713"/>
            <a:ext cx="3581400" cy="2681287"/>
            <a:chOff x="240" y="192"/>
            <a:chExt cx="2256" cy="1689"/>
          </a:xfrm>
        </p:grpSpPr>
        <p:sp>
          <p:nvSpPr>
            <p:cNvPr id="898094" name="Line 46">
              <a:extLst>
                <a:ext uri="{FF2B5EF4-FFF2-40B4-BE49-F238E27FC236}">
                  <a16:creationId xmlns:a16="http://schemas.microsoft.com/office/drawing/2014/main" id="{9F119591-2429-451D-BF18-7E4598F03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" y="1392"/>
              <a:ext cx="1690" cy="1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638" name="Text Box 47">
              <a:extLst>
                <a:ext uri="{FF2B5EF4-FFF2-40B4-BE49-F238E27FC236}">
                  <a16:creationId xmlns:a16="http://schemas.microsoft.com/office/drawing/2014/main" id="{53982E1A-5034-457E-85BE-40D9BD1264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" y="1161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39" name="Text Box 48">
              <a:extLst>
                <a:ext uri="{FF2B5EF4-FFF2-40B4-BE49-F238E27FC236}">
                  <a16:creationId xmlns:a16="http://schemas.microsoft.com/office/drawing/2014/main" id="{562160D4-21F3-4E88-AA72-62F5230339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" y="201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8097" name="Line 49">
              <a:extLst>
                <a:ext uri="{FF2B5EF4-FFF2-40B4-BE49-F238E27FC236}">
                  <a16:creationId xmlns:a16="http://schemas.microsoft.com/office/drawing/2014/main" id="{9189499C-4EC2-4353-8A07-1CBF0C071C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1392"/>
              <a:ext cx="576" cy="489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8098" name="Line 50">
              <a:extLst>
                <a:ext uri="{FF2B5EF4-FFF2-40B4-BE49-F238E27FC236}">
                  <a16:creationId xmlns:a16="http://schemas.microsoft.com/office/drawing/2014/main" id="{B0081D18-D2BC-444E-8A61-931BBF051B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192"/>
              <a:ext cx="0" cy="1209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" name="Group 51">
            <a:extLst>
              <a:ext uri="{FF2B5EF4-FFF2-40B4-BE49-F238E27FC236}">
                <a16:creationId xmlns:a16="http://schemas.microsoft.com/office/drawing/2014/main" id="{14F26E54-2AF1-40D4-90E7-4BF7DC7233F4}"/>
              </a:ext>
            </a:extLst>
          </p:cNvPr>
          <p:cNvGrpSpPr>
            <a:grpSpLocks/>
          </p:cNvGrpSpPr>
          <p:nvPr/>
        </p:nvGrpSpPr>
        <p:grpSpPr bwMode="auto">
          <a:xfrm>
            <a:off x="5276850" y="1052513"/>
            <a:ext cx="2286000" cy="2743200"/>
            <a:chOff x="2928" y="384"/>
            <a:chExt cx="1440" cy="1728"/>
          </a:xfrm>
        </p:grpSpPr>
        <p:grpSp>
          <p:nvGrpSpPr>
            <p:cNvPr id="24627" name="Group 52">
              <a:extLst>
                <a:ext uri="{FF2B5EF4-FFF2-40B4-BE49-F238E27FC236}">
                  <a16:creationId xmlns:a16="http://schemas.microsoft.com/office/drawing/2014/main" id="{CC553480-3B3E-4BE5-82BB-94FA651047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384"/>
              <a:ext cx="442" cy="336"/>
              <a:chOff x="7190" y="2016"/>
              <a:chExt cx="442" cy="336"/>
            </a:xfrm>
          </p:grpSpPr>
          <p:sp>
            <p:nvSpPr>
              <p:cNvPr id="898101" name="Line 53">
                <a:extLst>
                  <a:ext uri="{FF2B5EF4-FFF2-40B4-BE49-F238E27FC236}">
                    <a16:creationId xmlns:a16="http://schemas.microsoft.com/office/drawing/2014/main" id="{69370419-82F6-45FA-8A3A-77FD581FD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90" y="2352"/>
                <a:ext cx="336" cy="0"/>
              </a:xfrm>
              <a:prstGeom prst="line">
                <a:avLst/>
              </a:prstGeom>
              <a:noFill/>
              <a:ln w="38100">
                <a:solidFill>
                  <a:srgbClr val="FF66FF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635" name="Text Box 54">
                <a:extLst>
                  <a:ext uri="{FF2B5EF4-FFF2-40B4-BE49-F238E27FC236}">
                    <a16:creationId xmlns:a16="http://schemas.microsoft.com/office/drawing/2014/main" id="{B88B267B-D101-4A8B-BF9B-638670C60B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82" y="2016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800" i="1">
                    <a:solidFill>
                      <a:srgbClr val="FF99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8103" name="Line 55">
                <a:extLst>
                  <a:ext uri="{FF2B5EF4-FFF2-40B4-BE49-F238E27FC236}">
                    <a16:creationId xmlns:a16="http://schemas.microsoft.com/office/drawing/2014/main" id="{43B41C41-19E4-49D6-A947-B25863CFD2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92" y="2070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FF99FF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4628" name="Group 56">
              <a:extLst>
                <a:ext uri="{FF2B5EF4-FFF2-40B4-BE49-F238E27FC236}">
                  <a16:creationId xmlns:a16="http://schemas.microsoft.com/office/drawing/2014/main" id="{E801A9F1-875C-4D02-B030-C40D1937DB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432"/>
              <a:ext cx="1440" cy="1680"/>
              <a:chOff x="3072" y="288"/>
              <a:chExt cx="1440" cy="1680"/>
            </a:xfrm>
          </p:grpSpPr>
          <p:sp>
            <p:nvSpPr>
              <p:cNvPr id="24629" name="Text Box 57">
                <a:extLst>
                  <a:ext uri="{FF2B5EF4-FFF2-40B4-BE49-F238E27FC236}">
                    <a16:creationId xmlns:a16="http://schemas.microsoft.com/office/drawing/2014/main" id="{6ED0A16B-80A3-4E6D-8AC2-8919AE0C02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1337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O'</a:t>
                </a:r>
              </a:p>
            </p:txBody>
          </p:sp>
          <p:sp>
            <p:nvSpPr>
              <p:cNvPr id="24630" name="Text Box 58">
                <a:extLst>
                  <a:ext uri="{FF2B5EF4-FFF2-40B4-BE49-F238E27FC236}">
                    <a16:creationId xmlns:a16="http://schemas.microsoft.com/office/drawing/2014/main" id="{B52EE767-5077-4AF1-A9E2-8D7781D6F9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368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S'</a:t>
                </a:r>
              </a:p>
            </p:txBody>
          </p:sp>
          <p:sp>
            <p:nvSpPr>
              <p:cNvPr id="898107" name="Line 59">
                <a:extLst>
                  <a:ext uri="{FF2B5EF4-FFF2-40B4-BE49-F238E27FC236}">
                    <a16:creationId xmlns:a16="http://schemas.microsoft.com/office/drawing/2014/main" id="{E58A5095-9E33-41F2-9FC6-4EF2548E4C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72" y="1479"/>
                <a:ext cx="528" cy="489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98108" name="Line 60">
                <a:extLst>
                  <a:ext uri="{FF2B5EF4-FFF2-40B4-BE49-F238E27FC236}">
                    <a16:creationId xmlns:a16="http://schemas.microsoft.com/office/drawing/2014/main" id="{DD1EB6ED-CFD4-4A16-B757-D20CEE194B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288"/>
                <a:ext cx="0" cy="1209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98109" name="Line 61">
                <a:extLst>
                  <a:ext uri="{FF2B5EF4-FFF2-40B4-BE49-F238E27FC236}">
                    <a16:creationId xmlns:a16="http://schemas.microsoft.com/office/drawing/2014/main" id="{D9B21CD6-0EDC-4180-BC0E-77F7FBD11E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1488"/>
                <a:ext cx="912" cy="9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898110" name="Line 62">
            <a:extLst>
              <a:ext uri="{FF2B5EF4-FFF2-40B4-BE49-F238E27FC236}">
                <a16:creationId xmlns:a16="http://schemas.microsoft.com/office/drawing/2014/main" id="{E3E95E4E-21EC-49C2-86D9-A34907787C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00650" y="1738313"/>
            <a:ext cx="1676400" cy="1295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111" name="Line 63">
            <a:extLst>
              <a:ext uri="{FF2B5EF4-FFF2-40B4-BE49-F238E27FC236}">
                <a16:creationId xmlns:a16="http://schemas.microsoft.com/office/drawing/2014/main" id="{E9EAFA9C-3413-44FD-B972-6E481B082B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5050" y="1738313"/>
            <a:ext cx="762000" cy="1295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112" name="Line 64">
            <a:extLst>
              <a:ext uri="{FF2B5EF4-FFF2-40B4-BE49-F238E27FC236}">
                <a16:creationId xmlns:a16="http://schemas.microsoft.com/office/drawing/2014/main" id="{B791E9E0-B816-4A3E-B8D0-050DDD6F79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3250" y="1738313"/>
            <a:ext cx="0" cy="1828800"/>
          </a:xfrm>
          <a:prstGeom prst="line">
            <a:avLst/>
          </a:prstGeom>
          <a:noFill/>
          <a:ln w="19050">
            <a:solidFill>
              <a:srgbClr val="FFCCFF"/>
            </a:solidFill>
            <a:prstDash val="lgDashDot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113" name="Line 65">
            <a:extLst>
              <a:ext uri="{FF2B5EF4-FFF2-40B4-BE49-F238E27FC236}">
                <a16:creationId xmlns:a16="http://schemas.microsoft.com/office/drawing/2014/main" id="{1EBBC4BD-8028-4457-88B9-9E46C80DE8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53250" y="3033713"/>
            <a:ext cx="609600" cy="533400"/>
          </a:xfrm>
          <a:prstGeom prst="line">
            <a:avLst/>
          </a:prstGeom>
          <a:noFill/>
          <a:ln w="19050">
            <a:solidFill>
              <a:srgbClr val="FFCCFF"/>
            </a:solidFill>
            <a:prstDash val="lgDashDot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114" name="Line 66">
            <a:extLst>
              <a:ext uri="{FF2B5EF4-FFF2-40B4-BE49-F238E27FC236}">
                <a16:creationId xmlns:a16="http://schemas.microsoft.com/office/drawing/2014/main" id="{EBC1C2E8-2F17-4F7B-B002-E6165ECC7D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4550" y="3552825"/>
            <a:ext cx="2298700" cy="0"/>
          </a:xfrm>
          <a:prstGeom prst="line">
            <a:avLst/>
          </a:prstGeom>
          <a:noFill/>
          <a:ln w="19050">
            <a:solidFill>
              <a:srgbClr val="66FFFF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115" name="Line 67">
            <a:extLst>
              <a:ext uri="{FF2B5EF4-FFF2-40B4-BE49-F238E27FC236}">
                <a16:creationId xmlns:a16="http://schemas.microsoft.com/office/drawing/2014/main" id="{DCA2B7D7-970E-4BAB-890B-135A1C4752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3257550"/>
            <a:ext cx="890588" cy="4763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116" name="Line 68">
            <a:extLst>
              <a:ext uri="{FF2B5EF4-FFF2-40B4-BE49-F238E27FC236}">
                <a16:creationId xmlns:a16="http://schemas.microsoft.com/office/drawing/2014/main" id="{1678A12B-1B6A-4245-93CE-8B6373AD95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0575" y="3262313"/>
            <a:ext cx="141605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 type="triangle" w="med" len="lg"/>
            <a:tailEnd type="triangle" w="med" len="lg"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8117" name="Oval 69">
            <a:extLst>
              <a:ext uri="{FF2B5EF4-FFF2-40B4-BE49-F238E27FC236}">
                <a16:creationId xmlns:a16="http://schemas.microsoft.com/office/drawing/2014/main" id="{548AC03D-5E98-49E0-A6CA-A0B75A799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5" y="1614488"/>
            <a:ext cx="228600" cy="2286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98118" name="Object 70">
            <a:extLst>
              <a:ext uri="{FF2B5EF4-FFF2-40B4-BE49-F238E27FC236}">
                <a16:creationId xmlns:a16="http://schemas.microsoft.com/office/drawing/2014/main" id="{168FE8AF-E7B2-434C-9E52-1E23392717D5}"/>
              </a:ext>
            </a:extLst>
          </p:cNvPr>
          <p:cNvGraphicFramePr>
            <a:graphicFrameLocks/>
          </p:cNvGraphicFramePr>
          <p:nvPr/>
        </p:nvGraphicFramePr>
        <p:xfrm>
          <a:off x="6156325" y="3763963"/>
          <a:ext cx="25987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2575747" imgH="418961" progId="Equation.3">
                  <p:embed/>
                </p:oleObj>
              </mc:Choice>
              <mc:Fallback>
                <p:oleObj name="公式" r:id="rId36" imgW="2575747" imgH="418961" progId="Equation.3">
                  <p:embed/>
                  <p:pic>
                    <p:nvPicPr>
                      <p:cNvPr id="0" name="Object 70"/>
                      <p:cNvPicPr>
                        <a:picLocks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3763963"/>
                        <a:ext cx="25987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9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89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89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8050" grpId="0" autoUpdateAnimBg="0"/>
      <p:bldP spid="898051" grpId="0" autoUpdateAnimBg="0"/>
      <p:bldP spid="898053" grpId="0" animBg="1"/>
      <p:bldP spid="898059" grpId="0" autoUpdateAnimBg="0"/>
      <p:bldP spid="898066" grpId="0" animBg="1"/>
      <p:bldP spid="898070" grpId="0" autoUpdateAnimBg="0"/>
      <p:bldP spid="898071" grpId="0"/>
      <p:bldP spid="898076" grpId="0" animBg="1"/>
      <p:bldP spid="898077" grpId="0"/>
      <p:bldP spid="898078" grpId="0" animBg="1" autoUpdateAnimBg="0"/>
      <p:bldP spid="898089" grpId="0" animBg="1"/>
      <p:bldP spid="898090" grpId="0" autoUpdateAnimBg="0"/>
      <p:bldP spid="898091" grpId="0" autoUpdateAnimBg="0"/>
      <p:bldP spid="898092" grpId="0" autoUpdateAnimBg="0"/>
      <p:bldP spid="8981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4" name="Text Box 2">
            <a:extLst>
              <a:ext uri="{FF2B5EF4-FFF2-40B4-BE49-F238E27FC236}">
                <a16:creationId xmlns:a16="http://schemas.microsoft.com/office/drawing/2014/main" id="{80822FFF-BB1E-4FE2-8251-09F61E288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307975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Clr>
                <a:srgbClr val="33CC33"/>
              </a:buClr>
              <a:buFont typeface="Wingdings" panose="05000000000000000000" pitchFamily="2" charset="2"/>
              <a:buChar char="u"/>
            </a:pPr>
            <a:r>
              <a:rPr kumimoji="1" lang="en-US" altLang="zh-CN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zh-CN">
                <a:solidFill>
                  <a:srgbClr val="FFFF00"/>
                </a:solidFill>
                <a:latin typeface="Times New Roman" panose="02020603050405020304" pitchFamily="18" charset="0"/>
              </a:rPr>
              <a:t>洛伦兹</a:t>
            </a: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坐标</a:t>
            </a:r>
            <a:r>
              <a:rPr kumimoji="1" lang="zh-CN" altLang="zh-CN">
                <a:solidFill>
                  <a:srgbClr val="FFFF00"/>
                </a:solidFill>
                <a:latin typeface="Times New Roman" panose="02020603050405020304" pitchFamily="18" charset="0"/>
              </a:rPr>
              <a:t>变换</a:t>
            </a: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式的推导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EF6CDA2F-B269-4CE3-9AE7-4254D940B8B9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750888"/>
            <a:ext cx="4094162" cy="3398837"/>
            <a:chOff x="3016" y="709"/>
            <a:chExt cx="2579" cy="2141"/>
          </a:xfrm>
        </p:grpSpPr>
        <p:sp>
          <p:nvSpPr>
            <p:cNvPr id="899076" name="Line 4">
              <a:extLst>
                <a:ext uri="{FF2B5EF4-FFF2-40B4-BE49-F238E27FC236}">
                  <a16:creationId xmlns:a16="http://schemas.microsoft.com/office/drawing/2014/main" id="{B1D75D95-098A-435D-9ADA-B087D8BCBE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6" y="2183"/>
              <a:ext cx="192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9077" name="Line 5">
              <a:extLst>
                <a:ext uri="{FF2B5EF4-FFF2-40B4-BE49-F238E27FC236}">
                  <a16:creationId xmlns:a16="http://schemas.microsoft.com/office/drawing/2014/main" id="{A80EF709-E5B2-4A5F-9F72-D8EA9EDDA5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6" y="2183"/>
              <a:ext cx="480" cy="47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9078" name="Line 6">
              <a:extLst>
                <a:ext uri="{FF2B5EF4-FFF2-40B4-BE49-F238E27FC236}">
                  <a16:creationId xmlns:a16="http://schemas.microsoft.com/office/drawing/2014/main" id="{8595397F-E608-488B-8A53-703B77A4C2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6" y="782"/>
              <a:ext cx="0" cy="140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615" name="Text Box 7">
              <a:extLst>
                <a:ext uri="{FF2B5EF4-FFF2-40B4-BE49-F238E27FC236}">
                  <a16:creationId xmlns:a16="http://schemas.microsoft.com/office/drawing/2014/main" id="{759674DE-29AF-475B-8747-B46813CEF9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0" y="2174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6" name="Text Box 8">
              <a:extLst>
                <a:ext uri="{FF2B5EF4-FFF2-40B4-BE49-F238E27FC236}">
                  <a16:creationId xmlns:a16="http://schemas.microsoft.com/office/drawing/2014/main" id="{899D82D2-3B60-434A-A31E-2EF244214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2" y="2513"/>
              <a:ext cx="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7" name="Text Box 9">
              <a:extLst>
                <a:ext uri="{FF2B5EF4-FFF2-40B4-BE49-F238E27FC236}">
                  <a16:creationId xmlns:a16="http://schemas.microsoft.com/office/drawing/2014/main" id="{340445D1-EBDF-46BC-8106-4745ADA540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" y="219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8" name="Text Box 10">
              <a:extLst>
                <a:ext uri="{FF2B5EF4-FFF2-40B4-BE49-F238E27FC236}">
                  <a16:creationId xmlns:a16="http://schemas.microsoft.com/office/drawing/2014/main" id="{159C81FB-5045-4D37-BABE-A0C428504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4" y="737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9" name="Text Box 11">
              <a:extLst>
                <a:ext uri="{FF2B5EF4-FFF2-40B4-BE49-F238E27FC236}">
                  <a16:creationId xmlns:a16="http://schemas.microsoft.com/office/drawing/2014/main" id="{3ACAEDE1-6934-450F-83BE-79FEF1089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0" y="1017"/>
              <a:ext cx="28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9084" name="Line 12">
              <a:extLst>
                <a:ext uri="{FF2B5EF4-FFF2-40B4-BE49-F238E27FC236}">
                  <a16:creationId xmlns:a16="http://schemas.microsoft.com/office/drawing/2014/main" id="{AB9372E3-3E47-4BA1-BEF4-D37FD85CAE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8" y="2183"/>
              <a:ext cx="528" cy="474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621" name="Text Box 13">
              <a:extLst>
                <a:ext uri="{FF2B5EF4-FFF2-40B4-BE49-F238E27FC236}">
                  <a16:creationId xmlns:a16="http://schemas.microsoft.com/office/drawing/2014/main" id="{557370A7-582E-40D3-9E04-2E81C7413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6" y="2177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solidFill>
                    <a:srgbClr val="FF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O'</a:t>
              </a:r>
              <a:endParaRPr kumimoji="1" lang="en-US" altLang="zh-CN" b="0">
                <a:solidFill>
                  <a:srgbClr val="FF99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2" name="Text Box 14">
              <a:extLst>
                <a:ext uri="{FF2B5EF4-FFF2-40B4-BE49-F238E27FC236}">
                  <a16:creationId xmlns:a16="http://schemas.microsoft.com/office/drawing/2014/main" id="{1F4762F0-B596-48B1-B47C-D35F07B4E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2523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solidFill>
                    <a:srgbClr val="FF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z'</a:t>
              </a:r>
              <a:endParaRPr kumimoji="1" lang="en-US" altLang="zh-CN" b="0">
                <a:solidFill>
                  <a:srgbClr val="FF99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3" name="Text Box 15">
              <a:extLst>
                <a:ext uri="{FF2B5EF4-FFF2-40B4-BE49-F238E27FC236}">
                  <a16:creationId xmlns:a16="http://schemas.microsoft.com/office/drawing/2014/main" id="{5E361F01-ACC9-4E8B-9159-06519788E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2" y="2196"/>
              <a:ext cx="4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solidFill>
                    <a:srgbClr val="FF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kumimoji="1" lang="en-US" altLang="zh-CN" sz="2800" i="1">
                  <a:solidFill>
                    <a:srgbClr val="FF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x'</a:t>
              </a:r>
              <a:r>
                <a:rPr kumimoji="1" lang="en-US" altLang="zh-CN" sz="2800">
                  <a:solidFill>
                    <a:srgbClr val="FF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kumimoji="1" lang="en-US" altLang="zh-CN" b="0">
                <a:solidFill>
                  <a:srgbClr val="FF99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4" name="Text Box 16">
              <a:extLst>
                <a:ext uri="{FF2B5EF4-FFF2-40B4-BE49-F238E27FC236}">
                  <a16:creationId xmlns:a16="http://schemas.microsoft.com/office/drawing/2014/main" id="{E2FD4AF4-B103-42AD-8F20-83C5F58F9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4" y="737"/>
              <a:ext cx="2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solidFill>
                    <a:srgbClr val="FF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y'</a:t>
              </a:r>
              <a:endParaRPr kumimoji="1" lang="en-US" altLang="zh-CN" b="0">
                <a:solidFill>
                  <a:srgbClr val="FF99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5" name="Text Box 17">
              <a:extLst>
                <a:ext uri="{FF2B5EF4-FFF2-40B4-BE49-F238E27FC236}">
                  <a16:creationId xmlns:a16="http://schemas.microsoft.com/office/drawing/2014/main" id="{A4431653-CDB4-40E7-BD16-F0B8400633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" y="1026"/>
              <a:ext cx="3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solidFill>
                    <a:srgbClr val="FF99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S'</a:t>
              </a:r>
              <a:endParaRPr kumimoji="1" lang="en-US" altLang="zh-CN" b="0">
                <a:solidFill>
                  <a:srgbClr val="FF99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9090" name="Line 18">
              <a:extLst>
                <a:ext uri="{FF2B5EF4-FFF2-40B4-BE49-F238E27FC236}">
                  <a16:creationId xmlns:a16="http://schemas.microsoft.com/office/drawing/2014/main" id="{208576A1-C074-4E78-9063-CAFB04277C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6" y="785"/>
              <a:ext cx="0" cy="1401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5627" name="Group 19">
              <a:extLst>
                <a:ext uri="{FF2B5EF4-FFF2-40B4-BE49-F238E27FC236}">
                  <a16:creationId xmlns:a16="http://schemas.microsoft.com/office/drawing/2014/main" id="{6D917DDB-F044-4ED1-949E-1AA92B75B7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6" y="1025"/>
              <a:ext cx="586" cy="336"/>
              <a:chOff x="4560" y="2304"/>
              <a:chExt cx="586" cy="336"/>
            </a:xfrm>
          </p:grpSpPr>
          <p:sp>
            <p:nvSpPr>
              <p:cNvPr id="899092" name="Line 20">
                <a:extLst>
                  <a:ext uri="{FF2B5EF4-FFF2-40B4-BE49-F238E27FC236}">
                    <a16:creationId xmlns:a16="http://schemas.microsoft.com/office/drawing/2014/main" id="{F6FECA3C-D058-4CEB-A0BA-17FF0746E4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264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25639" name="Group 21">
                <a:extLst>
                  <a:ext uri="{FF2B5EF4-FFF2-40B4-BE49-F238E27FC236}">
                    <a16:creationId xmlns:a16="http://schemas.microsoft.com/office/drawing/2014/main" id="{31D99BA0-820A-403C-98FD-7C3AE1B2D6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6" y="2304"/>
                <a:ext cx="250" cy="327"/>
                <a:chOff x="4742" y="2106"/>
                <a:chExt cx="250" cy="327"/>
              </a:xfrm>
            </p:grpSpPr>
            <p:sp>
              <p:nvSpPr>
                <p:cNvPr id="25640" name="Text Box 22">
                  <a:extLst>
                    <a:ext uri="{FF2B5EF4-FFF2-40B4-BE49-F238E27FC236}">
                      <a16:creationId xmlns:a16="http://schemas.microsoft.com/office/drawing/2014/main" id="{95678E13-F7FC-4812-A266-811DB2F828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42" y="2106"/>
                  <a:ext cx="241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sz="2800" i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u</a:t>
                  </a:r>
                  <a:endParaRPr kumimoji="1" lang="en-US" altLang="zh-CN" b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99095" name="Line 23">
                  <a:extLst>
                    <a:ext uri="{FF2B5EF4-FFF2-40B4-BE49-F238E27FC236}">
                      <a16:creationId xmlns:a16="http://schemas.microsoft.com/office/drawing/2014/main" id="{F8D313D2-F6B9-4853-8552-6BD0D4CAE6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2" y="2160"/>
                  <a:ext cx="240" cy="0"/>
                </a:xfrm>
                <a:prstGeom prst="line">
                  <a:avLst/>
                </a:prstGeom>
                <a:noFill/>
                <a:ln w="3810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  <p:sp>
          <p:nvSpPr>
            <p:cNvPr id="899096" name="Oval 24">
              <a:extLst>
                <a:ext uri="{FF2B5EF4-FFF2-40B4-BE49-F238E27FC236}">
                  <a16:creationId xmlns:a16="http://schemas.microsoft.com/office/drawing/2014/main" id="{72C459B9-2807-4105-82A0-54FC48318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8" y="1330"/>
              <a:ext cx="144" cy="147"/>
            </a:xfrm>
            <a:prstGeom prst="ellipse">
              <a:avLst/>
            </a:prstGeom>
            <a:solidFill>
              <a:srgbClr val="00FF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629" name="Text Box 25">
              <a:extLst>
                <a:ext uri="{FF2B5EF4-FFF2-40B4-BE49-F238E27FC236}">
                  <a16:creationId xmlns:a16="http://schemas.microsoft.com/office/drawing/2014/main" id="{6A89D0F5-258D-4F5C-BF75-CA80C13E5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1" y="1265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kumimoji="1"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0" name="Text Box 26">
              <a:extLst>
                <a:ext uri="{FF2B5EF4-FFF2-40B4-BE49-F238E27FC236}">
                  <a16:creationId xmlns:a16="http://schemas.microsoft.com/office/drawing/2014/main" id="{E18250AF-6326-453B-B052-7F2245678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8" y="709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kumimoji="1"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x,y,z</a:t>
              </a:r>
              <a:r>
                <a: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1" name="Text Box 27">
              <a:extLst>
                <a:ext uri="{FF2B5EF4-FFF2-40B4-BE49-F238E27FC236}">
                  <a16:creationId xmlns:a16="http://schemas.microsoft.com/office/drawing/2014/main" id="{118F43F8-98C6-4953-BF98-F5BFB2334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4" y="981"/>
              <a:ext cx="9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kumimoji="1"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x',y',z'</a:t>
              </a:r>
              <a:r>
                <a: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9100" name="Line 28">
              <a:extLst>
                <a:ext uri="{FF2B5EF4-FFF2-40B4-BE49-F238E27FC236}">
                  <a16:creationId xmlns:a16="http://schemas.microsoft.com/office/drawing/2014/main" id="{0B5B0729-F355-4373-A222-339375F034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8" y="2185"/>
              <a:ext cx="1056" cy="0"/>
            </a:xfrm>
            <a:prstGeom prst="line">
              <a:avLst/>
            </a:prstGeom>
            <a:noFill/>
            <a:ln w="28575">
              <a:solidFill>
                <a:srgbClr val="FF9933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9101" name="Line 29">
              <a:extLst>
                <a:ext uri="{FF2B5EF4-FFF2-40B4-BE49-F238E27FC236}">
                  <a16:creationId xmlns:a16="http://schemas.microsoft.com/office/drawing/2014/main" id="{3C7C0BDE-1AE7-4366-91DA-380CB63C79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2" y="1401"/>
              <a:ext cx="1392" cy="76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9102" name="Line 30">
              <a:extLst>
                <a:ext uri="{FF2B5EF4-FFF2-40B4-BE49-F238E27FC236}">
                  <a16:creationId xmlns:a16="http://schemas.microsoft.com/office/drawing/2014/main" id="{8BAE1588-ECE9-411A-9029-4ECA9FC14E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1" y="1407"/>
              <a:ext cx="912" cy="76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99103" name="Line 31">
              <a:extLst>
                <a:ext uri="{FF2B5EF4-FFF2-40B4-BE49-F238E27FC236}">
                  <a16:creationId xmlns:a16="http://schemas.microsoft.com/office/drawing/2014/main" id="{58A420BC-8A0E-41D2-84BE-61D207B163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" y="2185"/>
              <a:ext cx="480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25636" name="Object 32">
              <a:extLst>
                <a:ext uri="{FF2B5EF4-FFF2-40B4-BE49-F238E27FC236}">
                  <a16:creationId xmlns:a16="http://schemas.microsoft.com/office/drawing/2014/main" id="{A8EABD8D-4E52-4016-B1F7-387C751908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36" y="1553"/>
            <a:ext cx="336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4456" imgH="152622" progId="Equation.3">
                    <p:embed/>
                  </p:oleObj>
                </mc:Choice>
                <mc:Fallback>
                  <p:oleObj name="Equation" r:id="rId2" imgW="114456" imgH="152622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6" y="1553"/>
                          <a:ext cx="336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7" name="Object 33">
              <a:extLst>
                <a:ext uri="{FF2B5EF4-FFF2-40B4-BE49-F238E27FC236}">
                  <a16:creationId xmlns:a16="http://schemas.microsoft.com/office/drawing/2014/main" id="{9E97C0E3-572A-42D0-910A-98B4409DF8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04" y="1793"/>
            <a:ext cx="336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76" imgH="152622" progId="Equation.3">
                    <p:embed/>
                  </p:oleObj>
                </mc:Choice>
                <mc:Fallback>
                  <p:oleObj name="Equation" r:id="rId4" imgW="152276" imgH="152622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4" y="1793"/>
                          <a:ext cx="336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99106" name="Rectangle 34">
            <a:extLst>
              <a:ext uri="{FF2B5EF4-FFF2-40B4-BE49-F238E27FC236}">
                <a16:creationId xmlns:a16="http://schemas.microsoft.com/office/drawing/2014/main" id="{B3DCE56F-07F3-408E-956E-FA9AC897D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836613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</a:rPr>
              <a:t>时空变换关系必须满足</a:t>
            </a:r>
          </a:p>
        </p:txBody>
      </p:sp>
      <p:sp>
        <p:nvSpPr>
          <p:cNvPr id="899107" name="Rectangle 35">
            <a:extLst>
              <a:ext uri="{FF2B5EF4-FFF2-40B4-BE49-F238E27FC236}">
                <a16:creationId xmlns:a16="http://schemas.microsoft.com/office/drawing/2014/main" id="{7095FBDC-AB9E-485E-8363-96F58ABE3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412875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1" lang="en-US" altLang="zh-CN">
                <a:solidFill>
                  <a:srgbClr val="FF66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</a:rPr>
              <a:t>两个基本假设</a:t>
            </a:r>
          </a:p>
        </p:txBody>
      </p:sp>
      <p:sp>
        <p:nvSpPr>
          <p:cNvPr id="899108" name="Rectangle 36">
            <a:extLst>
              <a:ext uri="{FF2B5EF4-FFF2-40B4-BE49-F238E27FC236}">
                <a16:creationId xmlns:a16="http://schemas.microsoft.com/office/drawing/2014/main" id="{A4E00443-6465-458E-930A-ADDB200ED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1878013"/>
            <a:ext cx="3887788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FF6600"/>
              </a:buClr>
              <a:buFont typeface="Wingdings" panose="05000000000000000000" pitchFamily="2" charset="2"/>
              <a:buChar char="l"/>
            </a:pPr>
            <a:r>
              <a:rPr kumimoji="1" lang="zh-CN" altLang="en-US">
                <a:latin typeface="Times New Roman" panose="02020603050405020304" pitchFamily="18" charset="0"/>
              </a:rPr>
              <a:t>当质点速率远小于真空中的光速，新时空变换能退化到伽利略变换</a:t>
            </a:r>
          </a:p>
        </p:txBody>
      </p:sp>
      <p:sp>
        <p:nvSpPr>
          <p:cNvPr id="899109" name="Rectangle 37">
            <a:extLst>
              <a:ext uri="{FF2B5EF4-FFF2-40B4-BE49-F238E27FC236}">
                <a16:creationId xmlns:a16="http://schemas.microsoft.com/office/drawing/2014/main" id="{CC69959A-23B1-4830-B59B-58C03D414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4941888"/>
            <a:ext cx="5894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>
                <a:latin typeface="Times New Roman" panose="02020603050405020304" pitchFamily="18" charset="0"/>
              </a:rPr>
              <a:t>对惯性系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S'</a:t>
            </a:r>
            <a:r>
              <a:rPr kumimoji="1" lang="en-US" altLang="zh-CN"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</a:rPr>
              <a:t>，根据光速不变原理，有</a:t>
            </a:r>
          </a:p>
        </p:txBody>
      </p:sp>
      <p:graphicFrame>
        <p:nvGraphicFramePr>
          <p:cNvPr id="899110" name="Object 38">
            <a:extLst>
              <a:ext uri="{FF2B5EF4-FFF2-40B4-BE49-F238E27FC236}">
                <a16:creationId xmlns:a16="http://schemas.microsoft.com/office/drawing/2014/main" id="{9690D361-8991-4A91-AB7D-876E962AF19F}"/>
              </a:ext>
            </a:extLst>
          </p:cNvPr>
          <p:cNvGraphicFramePr>
            <a:graphicFrameLocks/>
          </p:cNvGraphicFramePr>
          <p:nvPr/>
        </p:nvGraphicFramePr>
        <p:xfrm>
          <a:off x="2687638" y="5516563"/>
          <a:ext cx="346868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36651" imgH="457366" progId="Equation.3">
                  <p:embed/>
                </p:oleObj>
              </mc:Choice>
              <mc:Fallback>
                <p:oleObj name="公式" r:id="rId6" imgW="3436651" imgH="457366" progId="Equation.3">
                  <p:embed/>
                  <p:pic>
                    <p:nvPicPr>
                      <p:cNvPr id="0" name="Object 3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5516563"/>
                        <a:ext cx="3468687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9111" name="Rectangle 39">
            <a:extLst>
              <a:ext uri="{FF2B5EF4-FFF2-40B4-BE49-F238E27FC236}">
                <a16:creationId xmlns:a16="http://schemas.microsoft.com/office/drawing/2014/main" id="{166A3DAC-3EFD-4BCE-8A94-54E20E98D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8" y="6076950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</a:rPr>
              <a:t>在两个参考系中两者形式完全相同</a:t>
            </a:r>
          </a:p>
        </p:txBody>
      </p:sp>
      <p:sp>
        <p:nvSpPr>
          <p:cNvPr id="899112" name="Rectangle 40">
            <a:extLst>
              <a:ext uri="{FF2B5EF4-FFF2-40B4-BE49-F238E27FC236}">
                <a16:creationId xmlns:a16="http://schemas.microsoft.com/office/drawing/2014/main" id="{8CD7524D-7464-4B91-9A46-EC214F4C5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692525"/>
            <a:ext cx="3529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t </a:t>
            </a:r>
            <a:r>
              <a:rPr kumimoji="1" lang="zh-CN" altLang="en-US">
                <a:latin typeface="Times New Roman" panose="02020603050405020304" pitchFamily="18" charset="0"/>
              </a:rPr>
              <a:t>时刻，对惯性系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S </a:t>
            </a:r>
            <a:r>
              <a:rPr kumimoji="1" lang="zh-CN" altLang="en-US">
                <a:latin typeface="Times New Roman" panose="02020603050405020304" pitchFamily="18" charset="0"/>
              </a:rPr>
              <a:t>有</a:t>
            </a:r>
          </a:p>
        </p:txBody>
      </p:sp>
      <p:graphicFrame>
        <p:nvGraphicFramePr>
          <p:cNvPr id="899113" name="Object 41">
            <a:extLst>
              <a:ext uri="{FF2B5EF4-FFF2-40B4-BE49-F238E27FC236}">
                <a16:creationId xmlns:a16="http://schemas.microsoft.com/office/drawing/2014/main" id="{7B8CF8CE-10CE-485B-8469-DC73E69AEA32}"/>
              </a:ext>
            </a:extLst>
          </p:cNvPr>
          <p:cNvGraphicFramePr>
            <a:graphicFrameLocks/>
          </p:cNvGraphicFramePr>
          <p:nvPr/>
        </p:nvGraphicFramePr>
        <p:xfrm>
          <a:off x="1390650" y="4221163"/>
          <a:ext cx="310991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86318" imgH="457366" progId="Equation.3">
                  <p:embed/>
                </p:oleObj>
              </mc:Choice>
              <mc:Fallback>
                <p:oleObj name="公式" r:id="rId8" imgW="3086318" imgH="457366" progId="Equation.3">
                  <p:embed/>
                  <p:pic>
                    <p:nvPicPr>
                      <p:cNvPr id="0" name="Object 41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4221163"/>
                        <a:ext cx="3109913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899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899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300"/>
                                        <p:tgtEl>
                                          <p:spTgt spid="89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300"/>
                                        <p:tgtEl>
                                          <p:spTgt spid="89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300"/>
                                        <p:tgtEl>
                                          <p:spTgt spid="899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89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899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899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99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300"/>
                                        <p:tgtEl>
                                          <p:spTgt spid="89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9074" grpId="0" autoUpdateAnimBg="0"/>
      <p:bldP spid="899106" grpId="0" autoUpdateAnimBg="0"/>
      <p:bldP spid="899107" grpId="0" autoUpdateAnimBg="0"/>
      <p:bldP spid="899108" grpId="0" autoUpdateAnimBg="0"/>
      <p:bldP spid="899109" grpId="0" autoUpdateAnimBg="0"/>
      <p:bldP spid="899111" grpId="0" autoUpdateAnimBg="0"/>
      <p:bldP spid="89911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0098" name="Object 2">
            <a:extLst>
              <a:ext uri="{FF2B5EF4-FFF2-40B4-BE49-F238E27FC236}">
                <a16:creationId xmlns:a16="http://schemas.microsoft.com/office/drawing/2014/main" id="{118825AE-088E-43A9-861A-45C6487BEE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293938"/>
          <a:ext cx="35306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46169" imgH="198009" progId="Equation.3">
                  <p:embed/>
                </p:oleObj>
              </mc:Choice>
              <mc:Fallback>
                <p:oleObj name="公式" r:id="rId2" imgW="1646169" imgH="19800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293938"/>
                        <a:ext cx="35306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099" name="Rectangle 3">
            <a:extLst>
              <a:ext uri="{FF2B5EF4-FFF2-40B4-BE49-F238E27FC236}">
                <a16:creationId xmlns:a16="http://schemas.microsoft.com/office/drawing/2014/main" id="{C3CB91C1-D0D6-4D25-99F7-FC9897A47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628775"/>
            <a:ext cx="4454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</a:rPr>
              <a:t>设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S'</a:t>
            </a:r>
            <a:r>
              <a:rPr kumimoji="1" lang="en-US" altLang="zh-CN" i="1"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</a:rPr>
              <a:t>系相对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</a:rPr>
              <a:t>系的速度为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u</a:t>
            </a:r>
          </a:p>
        </p:txBody>
      </p:sp>
      <p:graphicFrame>
        <p:nvGraphicFramePr>
          <p:cNvPr id="900100" name="Object 4">
            <a:extLst>
              <a:ext uri="{FF2B5EF4-FFF2-40B4-BE49-F238E27FC236}">
                <a16:creationId xmlns:a16="http://schemas.microsoft.com/office/drawing/2014/main" id="{C8451802-7427-40A6-BDAA-EC946603CB1A}"/>
              </a:ext>
            </a:extLst>
          </p:cNvPr>
          <p:cNvGraphicFramePr>
            <a:graphicFrameLocks/>
          </p:cNvGraphicFramePr>
          <p:nvPr/>
        </p:nvGraphicFramePr>
        <p:xfrm>
          <a:off x="455613" y="2947988"/>
          <a:ext cx="51958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181849" imgH="381055" progId="Equation.3">
                  <p:embed/>
                </p:oleObj>
              </mc:Choice>
              <mc:Fallback>
                <p:oleObj name="公式" r:id="rId4" imgW="5181849" imgH="381055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13" y="2947988"/>
                        <a:ext cx="51958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101" name="AutoShape 5">
            <a:extLst>
              <a:ext uri="{FF2B5EF4-FFF2-40B4-BE49-F238E27FC236}">
                <a16:creationId xmlns:a16="http://schemas.microsoft.com/office/drawing/2014/main" id="{C10848D5-49FA-48A0-B066-6524977DB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954338"/>
            <a:ext cx="728663" cy="360362"/>
          </a:xfrm>
          <a:prstGeom prst="rightArrow">
            <a:avLst>
              <a:gd name="adj1" fmla="val 37444"/>
              <a:gd name="adj2" fmla="val 70556"/>
            </a:avLst>
          </a:prstGeom>
          <a:solidFill>
            <a:srgbClr val="FFCCFF"/>
          </a:solidFill>
          <a:ln w="222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00102" name="Object 6">
            <a:extLst>
              <a:ext uri="{FF2B5EF4-FFF2-40B4-BE49-F238E27FC236}">
                <a16:creationId xmlns:a16="http://schemas.microsoft.com/office/drawing/2014/main" id="{F7852993-FADC-4BA9-BCB4-2759B4CAF69F}"/>
              </a:ext>
            </a:extLst>
          </p:cNvPr>
          <p:cNvGraphicFramePr>
            <a:graphicFrameLocks/>
          </p:cNvGraphicFramePr>
          <p:nvPr/>
        </p:nvGraphicFramePr>
        <p:xfrm>
          <a:off x="6551613" y="2708275"/>
          <a:ext cx="226853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55769" imgH="807498" progId="Equation.3">
                  <p:embed/>
                </p:oleObj>
              </mc:Choice>
              <mc:Fallback>
                <p:oleObj name="公式" r:id="rId6" imgW="2255769" imgH="807498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1613" y="2708275"/>
                        <a:ext cx="2268537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03" name="Object 7">
            <a:extLst>
              <a:ext uri="{FF2B5EF4-FFF2-40B4-BE49-F238E27FC236}">
                <a16:creationId xmlns:a16="http://schemas.microsoft.com/office/drawing/2014/main" id="{96505B72-A5DF-4C83-8D82-67517E212674}"/>
              </a:ext>
            </a:extLst>
          </p:cNvPr>
          <p:cNvGraphicFramePr>
            <a:graphicFrameLocks/>
          </p:cNvGraphicFramePr>
          <p:nvPr/>
        </p:nvGraphicFramePr>
        <p:xfrm>
          <a:off x="900113" y="3992563"/>
          <a:ext cx="42957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038787" imgH="381055" progId="Equation.3">
                  <p:embed/>
                </p:oleObj>
              </mc:Choice>
              <mc:Fallback>
                <p:oleObj name="公式" r:id="rId8" imgW="4038787" imgH="381055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992563"/>
                        <a:ext cx="429577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104" name="Rectangle 8">
            <a:extLst>
              <a:ext uri="{FF2B5EF4-FFF2-40B4-BE49-F238E27FC236}">
                <a16:creationId xmlns:a16="http://schemas.microsoft.com/office/drawing/2014/main" id="{DF294E8F-337C-48DA-A02D-B7896A393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257425"/>
            <a:ext cx="172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</a:rPr>
              <a:t>对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O' </a:t>
            </a:r>
            <a:r>
              <a:rPr kumimoji="1" lang="zh-CN" altLang="en-US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900105" name="Rectangle 9">
            <a:extLst>
              <a:ext uri="{FF2B5EF4-FFF2-40B4-BE49-F238E27FC236}">
                <a16:creationId xmlns:a16="http://schemas.microsoft.com/office/drawing/2014/main" id="{5057761B-DF60-40CC-A875-F0E80D3C3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82963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</a:rPr>
              <a:t>对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O </a:t>
            </a:r>
            <a:r>
              <a:rPr kumimoji="1" lang="en-US" altLang="zh-CN"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900106" name="Object 10">
            <a:extLst>
              <a:ext uri="{FF2B5EF4-FFF2-40B4-BE49-F238E27FC236}">
                <a16:creationId xmlns:a16="http://schemas.microsoft.com/office/drawing/2014/main" id="{DFA34343-985F-4FFA-9E8F-672D2525633B}"/>
              </a:ext>
            </a:extLst>
          </p:cNvPr>
          <p:cNvGraphicFramePr>
            <a:graphicFrameLocks/>
          </p:cNvGraphicFramePr>
          <p:nvPr/>
        </p:nvGraphicFramePr>
        <p:xfrm>
          <a:off x="5292725" y="3959225"/>
          <a:ext cx="1042988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28607" imgH="304745" progId="Equation.3">
                  <p:embed/>
                </p:oleObj>
              </mc:Choice>
              <mc:Fallback>
                <p:oleObj name="公式" r:id="rId10" imgW="1028607" imgH="304745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959225"/>
                        <a:ext cx="1042988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107" name="Line 11">
            <a:extLst>
              <a:ext uri="{FF2B5EF4-FFF2-40B4-BE49-F238E27FC236}">
                <a16:creationId xmlns:a16="http://schemas.microsoft.com/office/drawing/2014/main" id="{4E3897E4-FC55-40EF-9B25-656AFD44A7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3900" y="2403475"/>
            <a:ext cx="26670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0108" name="Oval 12">
            <a:extLst>
              <a:ext uri="{FF2B5EF4-FFF2-40B4-BE49-F238E27FC236}">
                <a16:creationId xmlns:a16="http://schemas.microsoft.com/office/drawing/2014/main" id="{637F25B4-3139-43AC-A5D0-FC8A8AEE7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327275"/>
            <a:ext cx="152400" cy="152400"/>
          </a:xfrm>
          <a:prstGeom prst="ellipse">
            <a:avLst/>
          </a:prstGeom>
          <a:solidFill>
            <a:srgbClr val="FF6600"/>
          </a:solidFill>
          <a:ln w="222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0109" name="Oval 13">
            <a:extLst>
              <a:ext uri="{FF2B5EF4-FFF2-40B4-BE49-F238E27FC236}">
                <a16:creationId xmlns:a16="http://schemas.microsoft.com/office/drawing/2014/main" id="{7C42C1CC-F352-4886-A218-2EDDC3DF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900" y="2327275"/>
            <a:ext cx="152400" cy="152400"/>
          </a:xfrm>
          <a:prstGeom prst="ellipse">
            <a:avLst/>
          </a:prstGeom>
          <a:solidFill>
            <a:srgbClr val="FFFF00"/>
          </a:solidFill>
          <a:ln w="222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0110" name="Text Box 14">
            <a:extLst>
              <a:ext uri="{FF2B5EF4-FFF2-40B4-BE49-F238E27FC236}">
                <a16:creationId xmlns:a16="http://schemas.microsoft.com/office/drawing/2014/main" id="{D83B7390-5DA4-4C2A-907C-FEBE47384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025" y="1844675"/>
            <a:ext cx="852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latin typeface="Times New Roman" panose="02020603050405020304" pitchFamily="18" charset="0"/>
              </a:rPr>
              <a:t>x</a:t>
            </a:r>
            <a:r>
              <a:rPr kumimoji="1" lang="en-US" altLang="zh-CN">
                <a:latin typeface="Times New Roman" panose="02020603050405020304" pitchFamily="18" charset="0"/>
              </a:rPr>
              <a:t> (</a:t>
            </a:r>
            <a:r>
              <a:rPr kumimoji="1" lang="en-US" altLang="zh-CN" i="1">
                <a:latin typeface="Times New Roman" panose="02020603050405020304" pitchFamily="18" charset="0"/>
              </a:rPr>
              <a:t>x'</a:t>
            </a:r>
            <a:r>
              <a:rPr kumimoji="1" lang="en-US" altLang="zh-CN">
                <a:latin typeface="Times New Roman" panose="02020603050405020304" pitchFamily="18" charset="0"/>
              </a:rPr>
              <a:t>)</a:t>
            </a:r>
            <a:endParaRPr kumimoji="1" lang="en-US" altLang="zh-CN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0111" name="Text Box 15">
            <a:extLst>
              <a:ext uri="{FF2B5EF4-FFF2-40B4-BE49-F238E27FC236}">
                <a16:creationId xmlns:a16="http://schemas.microsoft.com/office/drawing/2014/main" id="{5CEDFD00-D27F-41A3-B48C-8633694E2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184467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latin typeface="Times New Roman" panose="02020603050405020304" pitchFamily="18" charset="0"/>
              </a:rPr>
              <a:t>O</a:t>
            </a:r>
            <a:endParaRPr kumimoji="1" lang="en-US" altLang="zh-CN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0112" name="Text Box 16">
            <a:extLst>
              <a:ext uri="{FF2B5EF4-FFF2-40B4-BE49-F238E27FC236}">
                <a16:creationId xmlns:a16="http://schemas.microsoft.com/office/drawing/2014/main" id="{14B3A1D4-81D2-47CF-A8BE-FC7C098D8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8300" y="18446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i="1">
                <a:latin typeface="Times New Roman" panose="02020603050405020304" pitchFamily="18" charset="0"/>
              </a:rPr>
              <a:t>O'</a:t>
            </a:r>
            <a:endParaRPr kumimoji="1" lang="en-US" altLang="zh-CN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0113" name="Line 17">
            <a:extLst>
              <a:ext uri="{FF2B5EF4-FFF2-40B4-BE49-F238E27FC236}">
                <a16:creationId xmlns:a16="http://schemas.microsoft.com/office/drawing/2014/main" id="{69CB123A-4B6A-43A1-82E6-1182B95C5A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1150" y="1700213"/>
            <a:ext cx="9144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00114" name="Object 18">
            <a:extLst>
              <a:ext uri="{FF2B5EF4-FFF2-40B4-BE49-F238E27FC236}">
                <a16:creationId xmlns:a16="http://schemas.microsoft.com/office/drawing/2014/main" id="{D1341907-B1F8-48F4-B849-F46E2E8443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9213" y="1484313"/>
          <a:ext cx="3651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456" imgH="121698" progId="Equation.3">
                  <p:embed/>
                </p:oleObj>
              </mc:Choice>
              <mc:Fallback>
                <p:oleObj name="Equation" r:id="rId12" imgW="114456" imgH="121698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9213" y="1484313"/>
                        <a:ext cx="3651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15" name="Object 19">
            <a:extLst>
              <a:ext uri="{FF2B5EF4-FFF2-40B4-BE49-F238E27FC236}">
                <a16:creationId xmlns:a16="http://schemas.microsoft.com/office/drawing/2014/main" id="{BA62EB89-08B2-41B8-9CED-7DA4F5991741}"/>
              </a:ext>
            </a:extLst>
          </p:cNvPr>
          <p:cNvGraphicFramePr>
            <a:graphicFrameLocks/>
          </p:cNvGraphicFramePr>
          <p:nvPr/>
        </p:nvGraphicFramePr>
        <p:xfrm>
          <a:off x="7161213" y="3709988"/>
          <a:ext cx="16589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46169" imgH="807498" progId="Equation.3">
                  <p:embed/>
                </p:oleObj>
              </mc:Choice>
              <mc:Fallback>
                <p:oleObj name="公式" r:id="rId14" imgW="1646169" imgH="807498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213" y="3709988"/>
                        <a:ext cx="165893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116" name="AutoShape 20">
            <a:extLst>
              <a:ext uri="{FF2B5EF4-FFF2-40B4-BE49-F238E27FC236}">
                <a16:creationId xmlns:a16="http://schemas.microsoft.com/office/drawing/2014/main" id="{912F4F92-E651-435E-8F43-E0DBED20D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741863"/>
            <a:ext cx="609600" cy="296862"/>
          </a:xfrm>
          <a:prstGeom prst="rightArrow">
            <a:avLst>
              <a:gd name="adj1" fmla="val 35935"/>
              <a:gd name="adj2" fmla="val 71121"/>
            </a:avLst>
          </a:prstGeom>
          <a:solidFill>
            <a:srgbClr val="FFCCFF"/>
          </a:solidFill>
          <a:ln w="222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00117" name="Object 21">
            <a:extLst>
              <a:ext uri="{FF2B5EF4-FFF2-40B4-BE49-F238E27FC236}">
                <a16:creationId xmlns:a16="http://schemas.microsoft.com/office/drawing/2014/main" id="{8A3508DE-CD02-460D-8826-AD20FAD6DE2C}"/>
              </a:ext>
            </a:extLst>
          </p:cNvPr>
          <p:cNvGraphicFramePr>
            <a:graphicFrameLocks/>
          </p:cNvGraphicFramePr>
          <p:nvPr/>
        </p:nvGraphicFramePr>
        <p:xfrm>
          <a:off x="4067175" y="4751388"/>
          <a:ext cx="889000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823084" imgH="213471" progId="Equation.3">
                  <p:embed/>
                </p:oleObj>
              </mc:Choice>
              <mc:Fallback>
                <p:oleObj name="公式" r:id="rId16" imgW="823084" imgH="213471" progId="Equation.3">
                  <p:embed/>
                  <p:pic>
                    <p:nvPicPr>
                      <p:cNvPr id="0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751388"/>
                        <a:ext cx="889000" cy="2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18" name="Object 22">
            <a:extLst>
              <a:ext uri="{FF2B5EF4-FFF2-40B4-BE49-F238E27FC236}">
                <a16:creationId xmlns:a16="http://schemas.microsoft.com/office/drawing/2014/main" id="{05FB21D4-C0B4-4139-BDBA-2911A1DBC844}"/>
              </a:ext>
            </a:extLst>
          </p:cNvPr>
          <p:cNvGraphicFramePr>
            <a:graphicFrameLocks/>
          </p:cNvGraphicFramePr>
          <p:nvPr/>
        </p:nvGraphicFramePr>
        <p:xfrm>
          <a:off x="6407150" y="4679950"/>
          <a:ext cx="19812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966147" imgH="381055" progId="Equation.3">
                  <p:embed/>
                </p:oleObj>
              </mc:Choice>
              <mc:Fallback>
                <p:oleObj name="公式" r:id="rId18" imgW="1966147" imgH="381055" progId="Equation.3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4679950"/>
                        <a:ext cx="1981200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19" name="Object 23">
            <a:extLst>
              <a:ext uri="{FF2B5EF4-FFF2-40B4-BE49-F238E27FC236}">
                <a16:creationId xmlns:a16="http://schemas.microsoft.com/office/drawing/2014/main" id="{715D63ED-9B81-4734-8D7E-A17F47D27896}"/>
              </a:ext>
            </a:extLst>
          </p:cNvPr>
          <p:cNvGraphicFramePr>
            <a:graphicFrameLocks/>
          </p:cNvGraphicFramePr>
          <p:nvPr/>
        </p:nvGraphicFramePr>
        <p:xfrm>
          <a:off x="6419850" y="5186363"/>
          <a:ext cx="169227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676524" imgH="304745" progId="Equation.3">
                  <p:embed/>
                </p:oleObj>
              </mc:Choice>
              <mc:Fallback>
                <p:oleObj name="公式" r:id="rId20" imgW="1676524" imgH="304745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5186363"/>
                        <a:ext cx="169227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120" name="AutoShape 24">
            <a:extLst>
              <a:ext uri="{FF2B5EF4-FFF2-40B4-BE49-F238E27FC236}">
                <a16:creationId xmlns:a16="http://schemas.microsoft.com/office/drawing/2014/main" id="{F479CF7B-4310-4753-854C-A98F76F4D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751388"/>
            <a:ext cx="1008063" cy="280987"/>
          </a:xfrm>
          <a:prstGeom prst="rightArrow">
            <a:avLst>
              <a:gd name="adj1" fmla="val 38509"/>
              <a:gd name="adj2" fmla="val 110617"/>
            </a:avLst>
          </a:prstGeom>
          <a:solidFill>
            <a:srgbClr val="FFCCFF"/>
          </a:solidFill>
          <a:ln w="222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0121" name="Rectangle 25">
            <a:extLst>
              <a:ext uri="{FF2B5EF4-FFF2-40B4-BE49-F238E27FC236}">
                <a16:creationId xmlns:a16="http://schemas.microsoft.com/office/drawing/2014/main" id="{0E3F8809-62C0-410E-8AE3-BE85623EF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1263" y="4606925"/>
            <a:ext cx="2168525" cy="938213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00122" name="Object 26">
            <a:extLst>
              <a:ext uri="{FF2B5EF4-FFF2-40B4-BE49-F238E27FC236}">
                <a16:creationId xmlns:a16="http://schemas.microsoft.com/office/drawing/2014/main" id="{1A3CD159-6CFD-4CE1-B01A-94F83E68CA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3397250"/>
          <a:ext cx="37719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760127" imgH="198009" progId="Equation.3">
                  <p:embed/>
                </p:oleObj>
              </mc:Choice>
              <mc:Fallback>
                <p:oleObj name="公式" r:id="rId22" imgW="1760127" imgH="198009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397250"/>
                        <a:ext cx="37719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123" name="AutoShape 27">
            <a:extLst>
              <a:ext uri="{FF2B5EF4-FFF2-40B4-BE49-F238E27FC236}">
                <a16:creationId xmlns:a16="http://schemas.microsoft.com/office/drawing/2014/main" id="{E14F0063-ECDF-4165-A431-635330DE9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4021138"/>
            <a:ext cx="609600" cy="296862"/>
          </a:xfrm>
          <a:prstGeom prst="rightArrow">
            <a:avLst>
              <a:gd name="adj1" fmla="val 35935"/>
              <a:gd name="adj2" fmla="val 71121"/>
            </a:avLst>
          </a:prstGeom>
          <a:solidFill>
            <a:srgbClr val="FFCCFF"/>
          </a:solidFill>
          <a:ln w="222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00124" name="Object 28">
            <a:extLst>
              <a:ext uri="{FF2B5EF4-FFF2-40B4-BE49-F238E27FC236}">
                <a16:creationId xmlns:a16="http://schemas.microsoft.com/office/drawing/2014/main" id="{2C2EF6E9-5F0E-4EA2-8A69-5DFE38F8B94A}"/>
              </a:ext>
            </a:extLst>
          </p:cNvPr>
          <p:cNvGraphicFramePr>
            <a:graphicFrameLocks/>
          </p:cNvGraphicFramePr>
          <p:nvPr/>
        </p:nvGraphicFramePr>
        <p:xfrm>
          <a:off x="1149350" y="4462463"/>
          <a:ext cx="10128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998251" imgH="807498" progId="Equation.3">
                  <p:embed/>
                </p:oleObj>
              </mc:Choice>
              <mc:Fallback>
                <p:oleObj name="公式" r:id="rId24" imgW="998251" imgH="807498" progId="Equation.3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350" y="4462463"/>
                        <a:ext cx="10128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25" name="Object 29">
            <a:hlinkClick r:id="" action="ppaction://noaction"/>
            <a:extLst>
              <a:ext uri="{FF2B5EF4-FFF2-40B4-BE49-F238E27FC236}">
                <a16:creationId xmlns:a16="http://schemas.microsoft.com/office/drawing/2014/main" id="{58823521-5EF1-4F1B-AA5D-96A8097A88D9}"/>
              </a:ext>
            </a:extLst>
          </p:cNvPr>
          <p:cNvGraphicFramePr>
            <a:graphicFrameLocks/>
          </p:cNvGraphicFramePr>
          <p:nvPr/>
        </p:nvGraphicFramePr>
        <p:xfrm>
          <a:off x="900113" y="5399088"/>
          <a:ext cx="346868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436651" imgH="457366" progId="Equation.3">
                  <p:embed/>
                </p:oleObj>
              </mc:Choice>
              <mc:Fallback>
                <p:oleObj name="公式" r:id="rId26" imgW="3436651" imgH="457366" progId="Equation.3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399088"/>
                        <a:ext cx="3468687" cy="471487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rgbClr val="FFCC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26" name="Object 30">
            <a:extLst>
              <a:ext uri="{FF2B5EF4-FFF2-40B4-BE49-F238E27FC236}">
                <a16:creationId xmlns:a16="http://schemas.microsoft.com/office/drawing/2014/main" id="{BF4E70BD-E2B3-4695-AC79-52D6A5DDB5E0}"/>
              </a:ext>
            </a:extLst>
          </p:cNvPr>
          <p:cNvGraphicFramePr>
            <a:graphicFrameLocks/>
          </p:cNvGraphicFramePr>
          <p:nvPr/>
        </p:nvGraphicFramePr>
        <p:xfrm>
          <a:off x="827088" y="6021388"/>
          <a:ext cx="5586412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5547609" imgH="426942" progId="Equation.3">
                  <p:embed/>
                </p:oleObj>
              </mc:Choice>
              <mc:Fallback>
                <p:oleObj name="公式" r:id="rId28" imgW="5547609" imgH="426942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6021388"/>
                        <a:ext cx="5586412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0127" name="Object 31">
            <a:extLst>
              <a:ext uri="{FF2B5EF4-FFF2-40B4-BE49-F238E27FC236}">
                <a16:creationId xmlns:a16="http://schemas.microsoft.com/office/drawing/2014/main" id="{DAA4C1D2-DC58-4748-B050-2ACC88E5A3E8}"/>
              </a:ext>
            </a:extLst>
          </p:cNvPr>
          <p:cNvGraphicFramePr>
            <a:graphicFrameLocks/>
          </p:cNvGraphicFramePr>
          <p:nvPr/>
        </p:nvGraphicFramePr>
        <p:xfrm>
          <a:off x="3495675" y="765175"/>
          <a:ext cx="15335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524249" imgH="304745" progId="Equation.3">
                  <p:embed/>
                </p:oleObj>
              </mc:Choice>
              <mc:Fallback>
                <p:oleObj name="公式" r:id="rId30" imgW="1524249" imgH="304745" progId="Equation.3">
                  <p:embed/>
                  <p:pic>
                    <p:nvPicPr>
                      <p:cNvPr id="0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675" y="765175"/>
                        <a:ext cx="1533525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128" name="Rectangle 32">
            <a:extLst>
              <a:ext uri="{FF2B5EF4-FFF2-40B4-BE49-F238E27FC236}">
                <a16:creationId xmlns:a16="http://schemas.microsoft.com/office/drawing/2014/main" id="{266A24E1-4240-4CEE-9E87-11BE3E04A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882650"/>
            <a:ext cx="287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</a:rPr>
              <a:t>变换关系</a:t>
            </a:r>
            <a:r>
              <a:rPr kumimoji="1" lang="en-US" altLang="zh-CN">
                <a:latin typeface="Times New Roman" panose="02020603050405020304" pitchFamily="18" charset="0"/>
              </a:rPr>
              <a:t>(</a:t>
            </a:r>
            <a:r>
              <a:rPr kumimoji="1" lang="zh-CN" altLang="en-US">
                <a:latin typeface="Times New Roman" panose="02020603050405020304" pitchFamily="18" charset="0"/>
              </a:rPr>
              <a:t>线性</a:t>
            </a:r>
            <a:r>
              <a:rPr kumimoji="1" lang="en-US" altLang="zh-CN"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900129" name="Object 33">
            <a:extLst>
              <a:ext uri="{FF2B5EF4-FFF2-40B4-BE49-F238E27FC236}">
                <a16:creationId xmlns:a16="http://schemas.microsoft.com/office/drawing/2014/main" id="{C9684CA9-294F-446D-A913-FF5B9F5A62DB}"/>
              </a:ext>
            </a:extLst>
          </p:cNvPr>
          <p:cNvGraphicFramePr>
            <a:graphicFrameLocks/>
          </p:cNvGraphicFramePr>
          <p:nvPr/>
        </p:nvGraphicFramePr>
        <p:xfrm>
          <a:off x="3463925" y="1235075"/>
          <a:ext cx="1671638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661098" imgH="304745" progId="Equation.3">
                  <p:embed/>
                </p:oleObj>
              </mc:Choice>
              <mc:Fallback>
                <p:oleObj name="公式" r:id="rId32" imgW="1661098" imgH="304745" progId="Equation.3">
                  <p:embed/>
                  <p:pic>
                    <p:nvPicPr>
                      <p:cNvPr id="0" name="Object 33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1235075"/>
                        <a:ext cx="1671638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130" name="Text Box 34">
            <a:extLst>
              <a:ext uri="{FF2B5EF4-FFF2-40B4-BE49-F238E27FC236}">
                <a16:creationId xmlns:a16="http://schemas.microsoft.com/office/drawing/2014/main" id="{E6813CF8-ACCC-47E5-A1F5-6ED6E01F6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0538" y="827088"/>
            <a:ext cx="2722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lang="en-US" altLang="zh-CN" sz="2800" i="1">
                <a:solidFill>
                  <a:srgbClr val="00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kumimoji="1" lang="en-US" altLang="zh-CN" sz="2800" i="1">
                <a:solidFill>
                  <a:srgbClr val="00CC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,b ,d ,e</a:t>
            </a:r>
            <a:r>
              <a:rPr kumimoji="1" lang="en-US" altLang="zh-CN" sz="2800" i="1">
                <a:solidFill>
                  <a:srgbClr val="EDFE4A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</a:rPr>
              <a:t>待定系数</a:t>
            </a:r>
          </a:p>
        </p:txBody>
      </p:sp>
      <p:sp>
        <p:nvSpPr>
          <p:cNvPr id="900131" name="Text Box 35">
            <a:extLst>
              <a:ext uri="{FF2B5EF4-FFF2-40B4-BE49-F238E27FC236}">
                <a16:creationId xmlns:a16="http://schemas.microsoft.com/office/drawing/2014/main" id="{975B97AE-7331-4C2E-B933-28ABD5930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07975"/>
            <a:ext cx="6911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zh-CN">
                <a:solidFill>
                  <a:srgbClr val="FFFF00"/>
                </a:solidFill>
                <a:latin typeface="Times New Roman" panose="02020603050405020304" pitchFamily="18" charset="0"/>
              </a:rPr>
              <a:t>设洛伦兹</a:t>
            </a: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坐标</a:t>
            </a:r>
            <a:r>
              <a:rPr kumimoji="1" lang="zh-CN" altLang="zh-CN">
                <a:solidFill>
                  <a:srgbClr val="FFFF00"/>
                </a:solidFill>
                <a:latin typeface="Times New Roman" panose="02020603050405020304" pitchFamily="18" charset="0"/>
              </a:rPr>
              <a:t>变换</a:t>
            </a: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</a:rPr>
              <a:t>式具有以下形式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300"/>
                                        <p:tgtEl>
                                          <p:spTgt spid="90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0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0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0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00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90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0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0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90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0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90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90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900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00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900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90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90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900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900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90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900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900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90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90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0" fill="hold"/>
                                        <p:tgtEl>
                                          <p:spTgt spid="900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0" fill="hold"/>
                                        <p:tgtEl>
                                          <p:spTgt spid="900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90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90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0099" grpId="0" autoUpdateAnimBg="0"/>
      <p:bldP spid="900101" grpId="0" animBg="1"/>
      <p:bldP spid="900104" grpId="0" autoUpdateAnimBg="0"/>
      <p:bldP spid="900105" grpId="0" autoUpdateAnimBg="0"/>
      <p:bldP spid="900108" grpId="0" animBg="1"/>
      <p:bldP spid="900109" grpId="0" animBg="1"/>
      <p:bldP spid="900110" grpId="0" autoUpdateAnimBg="0"/>
      <p:bldP spid="900111" grpId="0" autoUpdateAnimBg="0"/>
      <p:bldP spid="900112" grpId="0" autoUpdateAnimBg="0"/>
      <p:bldP spid="900116" grpId="0" animBg="1"/>
      <p:bldP spid="900120" grpId="0" animBg="1"/>
      <p:bldP spid="900121" grpId="0" animBg="1"/>
      <p:bldP spid="900123" grpId="0" animBg="1"/>
      <p:bldP spid="900128" grpId="0" autoUpdateAnimBg="0"/>
      <p:bldP spid="900130" grpId="0"/>
      <p:bldP spid="90013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2">
            <a:extLst>
              <a:ext uri="{FF2B5EF4-FFF2-40B4-BE49-F238E27FC236}">
                <a16:creationId xmlns:a16="http://schemas.microsoft.com/office/drawing/2014/main" id="{347F1290-15C5-491B-8103-9E43B1E80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581525"/>
            <a:ext cx="8496300" cy="143986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1123" name="AutoShape 3">
            <a:extLst>
              <a:ext uri="{FF2B5EF4-FFF2-40B4-BE49-F238E27FC236}">
                <a16:creationId xmlns:a16="http://schemas.microsoft.com/office/drawing/2014/main" id="{B2D29C83-188C-41F3-A7DD-80D130F57B24}"/>
              </a:ext>
            </a:extLst>
          </p:cNvPr>
          <p:cNvSpPr>
            <a:spLocks/>
          </p:cNvSpPr>
          <p:nvPr/>
        </p:nvSpPr>
        <p:spPr bwMode="auto">
          <a:xfrm>
            <a:off x="179388" y="404813"/>
            <a:ext cx="127000" cy="1223962"/>
          </a:xfrm>
          <a:prstGeom prst="leftBrace">
            <a:avLst>
              <a:gd name="adj1" fmla="val 80312"/>
              <a:gd name="adj2" fmla="val 50000"/>
            </a:avLst>
          </a:prstGeom>
          <a:noFill/>
          <a:ln w="22225">
            <a:solidFill>
              <a:srgbClr val="66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01124" name="Object 4">
            <a:extLst>
              <a:ext uri="{FF2B5EF4-FFF2-40B4-BE49-F238E27FC236}">
                <a16:creationId xmlns:a16="http://schemas.microsoft.com/office/drawing/2014/main" id="{82F0247D-5B89-4BB4-BD7D-573655B0744D}"/>
              </a:ext>
            </a:extLst>
          </p:cNvPr>
          <p:cNvGraphicFramePr>
            <a:graphicFrameLocks/>
          </p:cNvGraphicFramePr>
          <p:nvPr/>
        </p:nvGraphicFramePr>
        <p:xfrm>
          <a:off x="395288" y="333375"/>
          <a:ext cx="841533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382124" imgH="838422" progId="Equation.3">
                  <p:embed/>
                </p:oleObj>
              </mc:Choice>
              <mc:Fallback>
                <p:oleObj name="公式" r:id="rId2" imgW="8382124" imgH="83842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33375"/>
                        <a:ext cx="8415337" cy="847725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rgbClr val="FFCC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25" name="Object 5">
            <a:extLst>
              <a:ext uri="{FF2B5EF4-FFF2-40B4-BE49-F238E27FC236}">
                <a16:creationId xmlns:a16="http://schemas.microsoft.com/office/drawing/2014/main" id="{F01D36B6-008B-4D86-9714-05D4D4C4C1E8}"/>
              </a:ext>
            </a:extLst>
          </p:cNvPr>
          <p:cNvGraphicFramePr>
            <a:graphicFrameLocks/>
          </p:cNvGraphicFramePr>
          <p:nvPr/>
        </p:nvGraphicFramePr>
        <p:xfrm>
          <a:off x="395288" y="1412875"/>
          <a:ext cx="308768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86318" imgH="457366" progId="Equation.3">
                  <p:embed/>
                </p:oleObj>
              </mc:Choice>
              <mc:Fallback>
                <p:oleObj name="公式" r:id="rId4" imgW="3086318" imgH="457366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412875"/>
                        <a:ext cx="3087687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26" name="Rectangle 6">
            <a:extLst>
              <a:ext uri="{FF2B5EF4-FFF2-40B4-BE49-F238E27FC236}">
                <a16:creationId xmlns:a16="http://schemas.microsoft.com/office/drawing/2014/main" id="{FC227DA6-080D-43A3-A7A8-534B53DCF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89138"/>
            <a:ext cx="4167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/>
              <a:t>比较两式，有</a:t>
            </a:r>
          </a:p>
        </p:txBody>
      </p:sp>
      <p:graphicFrame>
        <p:nvGraphicFramePr>
          <p:cNvPr id="901127" name="Object 7">
            <a:extLst>
              <a:ext uri="{FF2B5EF4-FFF2-40B4-BE49-F238E27FC236}">
                <a16:creationId xmlns:a16="http://schemas.microsoft.com/office/drawing/2014/main" id="{C3367084-689B-446D-939D-57D691971AAB}"/>
              </a:ext>
            </a:extLst>
          </p:cNvPr>
          <p:cNvGraphicFramePr>
            <a:graphicFrameLocks/>
          </p:cNvGraphicFramePr>
          <p:nvPr/>
        </p:nvGraphicFramePr>
        <p:xfrm>
          <a:off x="739775" y="2641600"/>
          <a:ext cx="196056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50720" imgH="418961" progId="Equation.3">
                  <p:embed/>
                </p:oleObj>
              </mc:Choice>
              <mc:Fallback>
                <p:oleObj name="公式" r:id="rId6" imgW="1950720" imgH="418961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2641600"/>
                        <a:ext cx="1960563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28" name="Object 8">
            <a:extLst>
              <a:ext uri="{FF2B5EF4-FFF2-40B4-BE49-F238E27FC236}">
                <a16:creationId xmlns:a16="http://schemas.microsoft.com/office/drawing/2014/main" id="{A862E7BA-240D-4A6F-8E03-DB1BE28CADB9}"/>
              </a:ext>
            </a:extLst>
          </p:cNvPr>
          <p:cNvGraphicFramePr>
            <a:graphicFrameLocks/>
          </p:cNvGraphicFramePr>
          <p:nvPr/>
        </p:nvGraphicFramePr>
        <p:xfrm>
          <a:off x="3419475" y="2430463"/>
          <a:ext cx="231457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09016" imgH="838422" progId="Equation.3">
                  <p:embed/>
                </p:oleObj>
              </mc:Choice>
              <mc:Fallback>
                <p:oleObj name="公式" r:id="rId8" imgW="2309016" imgH="838422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430463"/>
                        <a:ext cx="231457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29" name="Object 9">
            <a:extLst>
              <a:ext uri="{FF2B5EF4-FFF2-40B4-BE49-F238E27FC236}">
                <a16:creationId xmlns:a16="http://schemas.microsoft.com/office/drawing/2014/main" id="{2C96EF15-23D6-43EC-8B50-0E84CE1F8700}"/>
              </a:ext>
            </a:extLst>
          </p:cNvPr>
          <p:cNvGraphicFramePr>
            <a:graphicFrameLocks/>
          </p:cNvGraphicFramePr>
          <p:nvPr/>
        </p:nvGraphicFramePr>
        <p:xfrm>
          <a:off x="6227763" y="2635250"/>
          <a:ext cx="25241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69727" imgH="426942" progId="Equation.3">
                  <p:embed/>
                </p:oleObj>
              </mc:Choice>
              <mc:Fallback>
                <p:oleObj name="公式" r:id="rId10" imgW="2369727" imgH="426942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635250"/>
                        <a:ext cx="252412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30" name="Object 10">
            <a:extLst>
              <a:ext uri="{FF2B5EF4-FFF2-40B4-BE49-F238E27FC236}">
                <a16:creationId xmlns:a16="http://schemas.microsoft.com/office/drawing/2014/main" id="{88051668-667F-4623-B446-0802144E690C}"/>
              </a:ext>
            </a:extLst>
          </p:cNvPr>
          <p:cNvGraphicFramePr>
            <a:graphicFrameLocks/>
          </p:cNvGraphicFramePr>
          <p:nvPr/>
        </p:nvGraphicFramePr>
        <p:xfrm>
          <a:off x="871538" y="3590925"/>
          <a:ext cx="24225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400082" imgH="785054" progId="Equation.3">
                  <p:embed/>
                </p:oleObj>
              </mc:Choice>
              <mc:Fallback>
                <p:oleObj name="公式" r:id="rId12" imgW="2400082" imgH="785054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3590925"/>
                        <a:ext cx="24225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31" name="Object 11">
            <a:extLst>
              <a:ext uri="{FF2B5EF4-FFF2-40B4-BE49-F238E27FC236}">
                <a16:creationId xmlns:a16="http://schemas.microsoft.com/office/drawing/2014/main" id="{6A0B31D4-7BDA-4713-BA4B-9FA90617E83C}"/>
              </a:ext>
            </a:extLst>
          </p:cNvPr>
          <p:cNvGraphicFramePr>
            <a:graphicFrameLocks/>
          </p:cNvGraphicFramePr>
          <p:nvPr/>
        </p:nvGraphicFramePr>
        <p:xfrm>
          <a:off x="3927475" y="3546475"/>
          <a:ext cx="244475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422973" imgH="876328" progId="Equation.3">
                  <p:embed/>
                </p:oleObj>
              </mc:Choice>
              <mc:Fallback>
                <p:oleObj name="公式" r:id="rId14" imgW="2422973" imgH="876328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475" y="3546475"/>
                        <a:ext cx="2444750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32" name="Object 12">
            <a:extLst>
              <a:ext uri="{FF2B5EF4-FFF2-40B4-BE49-F238E27FC236}">
                <a16:creationId xmlns:a16="http://schemas.microsoft.com/office/drawing/2014/main" id="{FDFDFD5C-B828-4FBB-9DAA-0DBC2115EC97}"/>
              </a:ext>
            </a:extLst>
          </p:cNvPr>
          <p:cNvGraphicFramePr>
            <a:graphicFrameLocks/>
          </p:cNvGraphicFramePr>
          <p:nvPr/>
        </p:nvGraphicFramePr>
        <p:xfrm>
          <a:off x="7265988" y="3775075"/>
          <a:ext cx="118427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203773" imgH="304745" progId="Equation.3">
                  <p:embed/>
                </p:oleObj>
              </mc:Choice>
              <mc:Fallback>
                <p:oleObj name="公式" r:id="rId16" imgW="1203773" imgH="304745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988" y="3775075"/>
                        <a:ext cx="118427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33" name="Object 13">
            <a:extLst>
              <a:ext uri="{FF2B5EF4-FFF2-40B4-BE49-F238E27FC236}">
                <a16:creationId xmlns:a16="http://schemas.microsoft.com/office/drawing/2014/main" id="{CF9E7C3E-4445-4968-9F9B-1C6073A6A605}"/>
              </a:ext>
            </a:extLst>
          </p:cNvPr>
          <p:cNvGraphicFramePr>
            <a:graphicFrameLocks/>
          </p:cNvGraphicFramePr>
          <p:nvPr/>
        </p:nvGraphicFramePr>
        <p:xfrm>
          <a:off x="755650" y="4884738"/>
          <a:ext cx="17446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737236" imgH="838422" progId="Equation.3">
                  <p:embed/>
                </p:oleObj>
              </mc:Choice>
              <mc:Fallback>
                <p:oleObj name="公式" r:id="rId18" imgW="1737236" imgH="838422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884738"/>
                        <a:ext cx="17446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34" name="Object 14">
            <a:extLst>
              <a:ext uri="{FF2B5EF4-FFF2-40B4-BE49-F238E27FC236}">
                <a16:creationId xmlns:a16="http://schemas.microsoft.com/office/drawing/2014/main" id="{F3EEB16D-0705-4920-9538-1A42A751BCFC}"/>
              </a:ext>
            </a:extLst>
          </p:cNvPr>
          <p:cNvGraphicFramePr>
            <a:graphicFrameLocks/>
          </p:cNvGraphicFramePr>
          <p:nvPr/>
        </p:nvGraphicFramePr>
        <p:xfrm>
          <a:off x="6659563" y="4830763"/>
          <a:ext cx="1846262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828800" imgH="883809" progId="Equation.3">
                  <p:embed/>
                </p:oleObj>
              </mc:Choice>
              <mc:Fallback>
                <p:oleObj name="公式" r:id="rId20" imgW="1828800" imgH="883809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4830763"/>
                        <a:ext cx="1846262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35" name="Object 15">
            <a:extLst>
              <a:ext uri="{FF2B5EF4-FFF2-40B4-BE49-F238E27FC236}">
                <a16:creationId xmlns:a16="http://schemas.microsoft.com/office/drawing/2014/main" id="{43E6902A-7454-491D-B7C0-6B730B3B90E6}"/>
              </a:ext>
            </a:extLst>
          </p:cNvPr>
          <p:cNvGraphicFramePr>
            <a:graphicFrameLocks/>
          </p:cNvGraphicFramePr>
          <p:nvPr/>
        </p:nvGraphicFramePr>
        <p:xfrm>
          <a:off x="3203575" y="5084763"/>
          <a:ext cx="108743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074389" imgH="381055" progId="Equation.3">
                  <p:embed/>
                </p:oleObj>
              </mc:Choice>
              <mc:Fallback>
                <p:oleObj name="公式" r:id="rId22" imgW="1074389" imgH="381055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084763"/>
                        <a:ext cx="1087438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36" name="Object 16">
            <a:extLst>
              <a:ext uri="{FF2B5EF4-FFF2-40B4-BE49-F238E27FC236}">
                <a16:creationId xmlns:a16="http://schemas.microsoft.com/office/drawing/2014/main" id="{DD51561F-2D8C-4436-B9BB-E4029FA88A4F}"/>
              </a:ext>
            </a:extLst>
          </p:cNvPr>
          <p:cNvGraphicFramePr>
            <a:graphicFrameLocks/>
          </p:cNvGraphicFramePr>
          <p:nvPr/>
        </p:nvGraphicFramePr>
        <p:xfrm>
          <a:off x="5003800" y="5084763"/>
          <a:ext cx="92868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914649" imgH="381055" progId="Equation.3">
                  <p:embed/>
                </p:oleObj>
              </mc:Choice>
              <mc:Fallback>
                <p:oleObj name="公式" r:id="rId24" imgW="914649" imgH="381055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084763"/>
                        <a:ext cx="928688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65" name="Group 17">
            <a:extLst>
              <a:ext uri="{FF2B5EF4-FFF2-40B4-BE49-F238E27FC236}">
                <a16:creationId xmlns:a16="http://schemas.microsoft.com/office/drawing/2014/main" id="{D9287A87-5BC7-4B96-AA05-581B91832A21}"/>
              </a:ext>
            </a:extLst>
          </p:cNvPr>
          <p:cNvGrpSpPr>
            <a:grpSpLocks/>
          </p:cNvGrpSpPr>
          <p:nvPr/>
        </p:nvGrpSpPr>
        <p:grpSpPr bwMode="auto">
          <a:xfrm>
            <a:off x="6372225" y="1412875"/>
            <a:ext cx="1671638" cy="785813"/>
            <a:chOff x="4014" y="890"/>
            <a:chExt cx="1053" cy="495"/>
          </a:xfrm>
        </p:grpSpPr>
        <p:graphicFrame>
          <p:nvGraphicFramePr>
            <p:cNvPr id="27666" name="Object 18">
              <a:extLst>
                <a:ext uri="{FF2B5EF4-FFF2-40B4-BE49-F238E27FC236}">
                  <a16:creationId xmlns:a16="http://schemas.microsoft.com/office/drawing/2014/main" id="{CEEA8CFF-29E1-4963-9239-EC964EDFD8C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34" y="890"/>
            <a:ext cx="96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524249" imgH="304745" progId="Equation.3">
                    <p:embed/>
                  </p:oleObj>
                </mc:Choice>
                <mc:Fallback>
                  <p:oleObj name="公式" r:id="rId26" imgW="1524249" imgH="304745" progId="Equation.3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4" y="890"/>
                          <a:ext cx="966" cy="200"/>
                        </a:xfrm>
                        <a:prstGeom prst="rect">
                          <a:avLst/>
                        </a:prstGeom>
                        <a:solidFill>
                          <a:schemeClr val="accent2"/>
                        </a:solidFill>
                        <a:ln w="9525">
                          <a:solidFill>
                            <a:schemeClr val="bg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7" name="Object 19">
              <a:extLst>
                <a:ext uri="{FF2B5EF4-FFF2-40B4-BE49-F238E27FC236}">
                  <a16:creationId xmlns:a16="http://schemas.microsoft.com/office/drawing/2014/main" id="{D997D63C-1176-46FB-A13C-8C0204466AF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14" y="1186"/>
            <a:ext cx="1053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1661098" imgH="304745" progId="Equation.3">
                    <p:embed/>
                  </p:oleObj>
                </mc:Choice>
                <mc:Fallback>
                  <p:oleObj name="公式" r:id="rId28" imgW="1661098" imgH="304745" progId="Equation.3">
                    <p:embed/>
                    <p:pic>
                      <p:nvPicPr>
                        <p:cNvPr id="0" name="Object 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1186"/>
                          <a:ext cx="1053" cy="199"/>
                        </a:xfrm>
                        <a:prstGeom prst="rect">
                          <a:avLst/>
                        </a:prstGeom>
                        <a:solidFill>
                          <a:schemeClr val="accent2"/>
                        </a:solidFill>
                        <a:ln w="9525">
                          <a:solidFill>
                            <a:schemeClr val="bg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90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90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90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0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90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22" grpId="0" animBg="1"/>
      <p:bldP spid="901123" grpId="0" animBg="1"/>
      <p:bldP spid="90112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Text Box 2">
            <a:extLst>
              <a:ext uri="{FF2B5EF4-FFF2-40B4-BE49-F238E27FC236}">
                <a16:creationId xmlns:a16="http://schemas.microsoft.com/office/drawing/2014/main" id="{C9F34722-E044-4642-87F9-49F108B32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341313"/>
            <a:ext cx="1222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讨论</a:t>
            </a:r>
          </a:p>
        </p:txBody>
      </p:sp>
      <p:sp>
        <p:nvSpPr>
          <p:cNvPr id="902147" name="AutoShape 3">
            <a:extLst>
              <a:ext uri="{FF2B5EF4-FFF2-40B4-BE49-F238E27FC236}">
                <a16:creationId xmlns:a16="http://schemas.microsoft.com/office/drawing/2014/main" id="{ECDD6381-DF3F-4786-AEA3-A01D2D77C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431800"/>
            <a:ext cx="381000" cy="349250"/>
          </a:xfrm>
          <a:prstGeom prst="star5">
            <a:avLst/>
          </a:prstGeom>
          <a:solidFill>
            <a:srgbClr val="FF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2149" name="Rectangle 5">
            <a:extLst>
              <a:ext uri="{FF2B5EF4-FFF2-40B4-BE49-F238E27FC236}">
                <a16:creationId xmlns:a16="http://schemas.microsoft.com/office/drawing/2014/main" id="{334834D5-DA5C-4099-9E53-A9C313AB0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8" y="742950"/>
            <a:ext cx="8054975" cy="1979613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2800">
                <a:latin typeface="Times New Roman" pitchFamily="18" charset="0"/>
                <a:ea typeface="宋体" pitchFamily="2" charset="-122"/>
                <a:sym typeface="Monotype Sorts" pitchFamily="2" charset="2"/>
              </a:rPr>
              <a:t>(1)</a:t>
            </a:r>
            <a:r>
              <a:rPr lang="zh-CN" altLang="en-US"/>
              <a:t>洛仑兹变换中</a:t>
            </a:r>
            <a:r>
              <a:rPr kumimoji="1" lang="en-US" altLang="zh-CN" i="1">
                <a:solidFill>
                  <a:srgbClr val="FFCC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  <a:r>
              <a:rPr kumimoji="1" lang="en-US" altLang="zh-CN" i="1">
                <a:solidFill>
                  <a:srgbClr val="FFCC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</a:t>
            </a:r>
            <a:r>
              <a:rPr lang="zh-CN" altLang="en-US"/>
              <a:t>是</a:t>
            </a:r>
            <a:r>
              <a:rPr kumimoji="1" lang="en-US" altLang="zh-CN" i="1">
                <a:solidFill>
                  <a:srgbClr val="FFCC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  <a:r>
              <a:rPr lang="zh-CN" altLang="en-US"/>
              <a:t>和</a:t>
            </a:r>
            <a:r>
              <a:rPr lang="en-US" altLang="zh-CN" i="1"/>
              <a:t>t</a:t>
            </a:r>
            <a:r>
              <a:rPr lang="zh-CN" altLang="en-US"/>
              <a:t>的函数，</a:t>
            </a:r>
            <a:r>
              <a:rPr kumimoji="1" lang="en-US" altLang="zh-CN" i="1">
                <a:solidFill>
                  <a:srgbClr val="FFCC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kumimoji="1" lang="en-US" altLang="zh-CN" i="1">
                <a:solidFill>
                  <a:srgbClr val="FFCC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</a:t>
            </a:r>
            <a:r>
              <a:rPr lang="zh-CN" altLang="en-US"/>
              <a:t>是</a:t>
            </a:r>
            <a:r>
              <a:rPr kumimoji="1" lang="en-US" altLang="zh-CN" i="1">
                <a:solidFill>
                  <a:srgbClr val="FFCC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  <a:r>
              <a:rPr lang="zh-CN" altLang="en-US"/>
              <a:t>和</a:t>
            </a:r>
            <a:r>
              <a:rPr lang="en-US" altLang="zh-CN" i="1"/>
              <a:t>t</a:t>
            </a:r>
            <a:r>
              <a:rPr lang="zh-CN" altLang="en-US"/>
              <a:t>的函数，而且都与</a:t>
            </a:r>
            <a:r>
              <a:rPr kumimoji="1" lang="en-US" altLang="zh-CN">
                <a:solidFill>
                  <a:srgbClr val="FFCC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zh-CN" altLang="en-US"/>
              <a:t>系和</a:t>
            </a:r>
            <a:r>
              <a:rPr kumimoji="1" lang="en-US" altLang="zh-CN">
                <a:solidFill>
                  <a:srgbClr val="FFCC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kumimoji="1" lang="en-US" altLang="zh-CN">
                <a:solidFill>
                  <a:srgbClr val="FFCC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</a:t>
            </a:r>
            <a:r>
              <a:rPr lang="zh-CN" altLang="en-US"/>
              <a:t>系的相对运动速度</a:t>
            </a:r>
            <a:r>
              <a:rPr lang="en-US" altLang="zh-CN" i="1">
                <a:solidFill>
                  <a:srgbClr val="FFCC66"/>
                </a:solidFill>
              </a:rPr>
              <a:t>u</a:t>
            </a:r>
            <a:r>
              <a:rPr lang="zh-CN" altLang="en-US"/>
              <a:t>有关</a:t>
            </a:r>
            <a:r>
              <a:rPr lang="en-US" altLang="zh-CN"/>
              <a:t>,</a:t>
            </a:r>
            <a:r>
              <a:rPr lang="zh-CN" altLang="en-US"/>
              <a:t>揭示出时间、空间、物质运动之间的关系</a:t>
            </a:r>
            <a:r>
              <a:rPr lang="en-US" altLang="zh-CN"/>
              <a:t>,</a:t>
            </a:r>
            <a:r>
              <a:rPr kumimoji="1" lang="zh-CN" altLang="en-US">
                <a:solidFill>
                  <a:srgbClr val="66FFFF"/>
                </a:solidFill>
                <a:sym typeface="Symbol" pitchFamily="18" charset="2"/>
              </a:rPr>
              <a:t>反映空间测量与时间测量相互影响，相互制约</a:t>
            </a:r>
            <a:r>
              <a:rPr kumimoji="1" lang="en-US" altLang="zh-CN">
                <a:solidFill>
                  <a:srgbClr val="66FFFF"/>
                </a:solidFill>
                <a:sym typeface="Symbol" pitchFamily="18" charset="2"/>
              </a:rPr>
              <a:t>.</a:t>
            </a:r>
            <a:endParaRPr kumimoji="1" lang="en-US" altLang="zh-CN">
              <a:solidFill>
                <a:srgbClr val="66FFFF"/>
              </a:solidFill>
            </a:endParaRPr>
          </a:p>
          <a:p>
            <a:pPr eaLnBrk="1" hangingPunct="1">
              <a:defRPr/>
            </a:pPr>
            <a:endParaRPr lang="en-US" altLang="zh-CN"/>
          </a:p>
        </p:txBody>
      </p:sp>
      <p:sp>
        <p:nvSpPr>
          <p:cNvPr id="902150" name="Rectangle 6">
            <a:extLst>
              <a:ext uri="{FF2B5EF4-FFF2-40B4-BE49-F238E27FC236}">
                <a16:creationId xmlns:a16="http://schemas.microsoft.com/office/drawing/2014/main" id="{C1986F25-3E8A-4912-B0A0-B03B48E5C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8" y="2327275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例如，测量空间和时间</a:t>
            </a:r>
            <a:endParaRPr kumimoji="1"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02151" name="Object 7">
            <a:extLst>
              <a:ext uri="{FF2B5EF4-FFF2-40B4-BE49-F238E27FC236}">
                <a16:creationId xmlns:a16="http://schemas.microsoft.com/office/drawing/2014/main" id="{813739A0-34DF-4BF0-9EB3-D4B8EC8A95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44738" y="2871788"/>
          <a:ext cx="4619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920" imgH="160103" progId="Equation.3">
                  <p:embed/>
                </p:oleObj>
              </mc:Choice>
              <mc:Fallback>
                <p:oleObj name="Equation" r:id="rId2" imgW="121920" imgH="16010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738" y="2871788"/>
                        <a:ext cx="461962" cy="44450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52" name="Object 8">
            <a:extLst>
              <a:ext uri="{FF2B5EF4-FFF2-40B4-BE49-F238E27FC236}">
                <a16:creationId xmlns:a16="http://schemas.microsoft.com/office/drawing/2014/main" id="{D715943A-F52C-4A14-8B97-13648222CB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8175" y="2870200"/>
          <a:ext cx="4445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238" imgH="160103" progId="Equation.3">
                  <p:embed/>
                </p:oleObj>
              </mc:Choice>
              <mc:Fallback>
                <p:oleObj name="Equation" r:id="rId4" imgW="160238" imgH="16010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8175" y="2870200"/>
                        <a:ext cx="444500" cy="446088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153" name="Text Box 9">
            <a:extLst>
              <a:ext uri="{FF2B5EF4-FFF2-40B4-BE49-F238E27FC236}">
                <a16:creationId xmlns:a16="http://schemas.microsoft.com/office/drawing/2014/main" id="{97A47C64-D26F-4C99-B78C-86B18DA47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343535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>
                <a:latin typeface="Times New Roman" panose="02020603050405020304" pitchFamily="18" charset="0"/>
              </a:rPr>
              <a:t>事件</a:t>
            </a:r>
            <a:r>
              <a:rPr kumimoji="1" lang="en-US" altLang="zh-CN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902154" name="Text Box 10">
            <a:extLst>
              <a:ext uri="{FF2B5EF4-FFF2-40B4-BE49-F238E27FC236}">
                <a16:creationId xmlns:a16="http://schemas.microsoft.com/office/drawing/2014/main" id="{B3902C1F-88C0-4059-B3D2-62AF4D4B7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4011613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>
                <a:latin typeface="Times New Roman" panose="02020603050405020304" pitchFamily="18" charset="0"/>
              </a:rPr>
              <a:t>事件</a:t>
            </a:r>
            <a:r>
              <a:rPr kumimoji="1" lang="en-US" altLang="zh-CN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02155" name="Line 11">
            <a:extLst>
              <a:ext uri="{FF2B5EF4-FFF2-40B4-BE49-F238E27FC236}">
                <a16:creationId xmlns:a16="http://schemas.microsoft.com/office/drawing/2014/main" id="{4A4E2D93-A8A5-4F5F-82C4-6B0255860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1238" y="2873375"/>
            <a:ext cx="0" cy="368300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2156" name="Line 12">
            <a:extLst>
              <a:ext uri="{FF2B5EF4-FFF2-40B4-BE49-F238E27FC236}">
                <a16:creationId xmlns:a16="http://schemas.microsoft.com/office/drawing/2014/main" id="{706E027F-FF8B-4E12-BB98-C74C63D846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3688" y="2873375"/>
            <a:ext cx="0" cy="368300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2157" name="Line 13">
            <a:extLst>
              <a:ext uri="{FF2B5EF4-FFF2-40B4-BE49-F238E27FC236}">
                <a16:creationId xmlns:a16="http://schemas.microsoft.com/office/drawing/2014/main" id="{7E384E9B-1BDE-4058-AFC6-BCFEDF474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975" y="3389313"/>
            <a:ext cx="5122863" cy="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2158" name="Line 14">
            <a:extLst>
              <a:ext uri="{FF2B5EF4-FFF2-40B4-BE49-F238E27FC236}">
                <a16:creationId xmlns:a16="http://schemas.microsoft.com/office/drawing/2014/main" id="{8D782AD0-1A31-47A5-8FAA-849C1DE38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975" y="3965575"/>
            <a:ext cx="5122863" cy="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02159" name="Object 15">
            <a:extLst>
              <a:ext uri="{FF2B5EF4-FFF2-40B4-BE49-F238E27FC236}">
                <a16:creationId xmlns:a16="http://schemas.microsoft.com/office/drawing/2014/main" id="{2190F113-7ACA-4FE7-B0D9-F9F0829B485B}"/>
              </a:ext>
            </a:extLst>
          </p:cNvPr>
          <p:cNvGraphicFramePr>
            <a:graphicFrameLocks/>
          </p:cNvGraphicFramePr>
          <p:nvPr/>
        </p:nvGraphicFramePr>
        <p:xfrm>
          <a:off x="1711325" y="3455988"/>
          <a:ext cx="1727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14344" imgH="403999" progId="Equation.3">
                  <p:embed/>
                </p:oleObj>
              </mc:Choice>
              <mc:Fallback>
                <p:oleObj name="公式" r:id="rId6" imgW="1714344" imgH="403999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325" y="3455988"/>
                        <a:ext cx="1727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60" name="Object 16">
            <a:extLst>
              <a:ext uri="{FF2B5EF4-FFF2-40B4-BE49-F238E27FC236}">
                <a16:creationId xmlns:a16="http://schemas.microsoft.com/office/drawing/2014/main" id="{EA669A4E-01AC-4655-90E8-AE46A04DD4CA}"/>
              </a:ext>
            </a:extLst>
          </p:cNvPr>
          <p:cNvGraphicFramePr>
            <a:graphicFrameLocks/>
          </p:cNvGraphicFramePr>
          <p:nvPr/>
        </p:nvGraphicFramePr>
        <p:xfrm>
          <a:off x="3662363" y="3455988"/>
          <a:ext cx="2044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26858" imgH="403999" progId="Equation.3">
                  <p:embed/>
                </p:oleObj>
              </mc:Choice>
              <mc:Fallback>
                <p:oleObj name="公式" r:id="rId8" imgW="2026858" imgH="403999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363" y="3455988"/>
                        <a:ext cx="2044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61" name="Object 17">
            <a:extLst>
              <a:ext uri="{FF2B5EF4-FFF2-40B4-BE49-F238E27FC236}">
                <a16:creationId xmlns:a16="http://schemas.microsoft.com/office/drawing/2014/main" id="{B3A187BB-B8EE-4FFD-BC46-21B69C6B60D1}"/>
              </a:ext>
            </a:extLst>
          </p:cNvPr>
          <p:cNvGraphicFramePr>
            <a:graphicFrameLocks/>
          </p:cNvGraphicFramePr>
          <p:nvPr/>
        </p:nvGraphicFramePr>
        <p:xfrm>
          <a:off x="1592263" y="4032250"/>
          <a:ext cx="19002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74582" imgH="403999" progId="Equation.3">
                  <p:embed/>
                </p:oleObj>
              </mc:Choice>
              <mc:Fallback>
                <p:oleObj name="公式" r:id="rId10" imgW="1874582" imgH="403999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3" y="4032250"/>
                        <a:ext cx="19002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62" name="Object 18">
            <a:extLst>
              <a:ext uri="{FF2B5EF4-FFF2-40B4-BE49-F238E27FC236}">
                <a16:creationId xmlns:a16="http://schemas.microsoft.com/office/drawing/2014/main" id="{09F2DE2C-FFA2-41E7-8F2F-740A03F682E6}"/>
              </a:ext>
            </a:extLst>
          </p:cNvPr>
          <p:cNvGraphicFramePr>
            <a:graphicFrameLocks/>
          </p:cNvGraphicFramePr>
          <p:nvPr/>
        </p:nvGraphicFramePr>
        <p:xfrm>
          <a:off x="3579813" y="4032250"/>
          <a:ext cx="2209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94560" imgH="403999" progId="Equation.3">
                  <p:embed/>
                </p:oleObj>
              </mc:Choice>
              <mc:Fallback>
                <p:oleObj name="公式" r:id="rId12" imgW="2194560" imgH="403999" progId="Equation.3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813" y="4032250"/>
                        <a:ext cx="2209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163" name="Text Box 19">
            <a:extLst>
              <a:ext uri="{FF2B5EF4-FFF2-40B4-BE49-F238E27FC236}">
                <a16:creationId xmlns:a16="http://schemas.microsoft.com/office/drawing/2014/main" id="{B8F15D7C-36F9-49FA-B39D-CA5F304DB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5765800"/>
            <a:ext cx="8540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</a:rPr>
              <a:t>时间间隔</a:t>
            </a:r>
            <a:endParaRPr kumimoji="1" lang="zh-CN" altLang="en-US" b="0">
              <a:latin typeface="Times New Roman" panose="02020603050405020304" pitchFamily="18" charset="0"/>
            </a:endParaRPr>
          </a:p>
        </p:txBody>
      </p:sp>
      <p:sp>
        <p:nvSpPr>
          <p:cNvPr id="902164" name="Text Box 20">
            <a:extLst>
              <a:ext uri="{FF2B5EF4-FFF2-40B4-BE49-F238E27FC236}">
                <a16:creationId xmlns:a16="http://schemas.microsoft.com/office/drawing/2014/main" id="{E3C1E63C-93B2-4496-8194-6C361208F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4748213"/>
            <a:ext cx="8540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</a:rPr>
              <a:t>空间间隔</a:t>
            </a:r>
            <a:endParaRPr kumimoji="1" lang="zh-CN" altLang="en-US" b="0">
              <a:latin typeface="Times New Roman" panose="02020603050405020304" pitchFamily="18" charset="0"/>
            </a:endParaRPr>
          </a:p>
        </p:txBody>
      </p:sp>
      <p:sp>
        <p:nvSpPr>
          <p:cNvPr id="902165" name="Line 21">
            <a:extLst>
              <a:ext uri="{FF2B5EF4-FFF2-40B4-BE49-F238E27FC236}">
                <a16:creationId xmlns:a16="http://schemas.microsoft.com/office/drawing/2014/main" id="{0900A287-D5D7-4BF9-9D6A-5BDB662FD8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975" y="4540250"/>
            <a:ext cx="5122863" cy="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2166" name="Line 22">
            <a:extLst>
              <a:ext uri="{FF2B5EF4-FFF2-40B4-BE49-F238E27FC236}">
                <a16:creationId xmlns:a16="http://schemas.microsoft.com/office/drawing/2014/main" id="{E9BD46D3-2DB9-42F3-808B-1B331BF437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975" y="5837238"/>
            <a:ext cx="5122863" cy="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02167" name="Object 23">
            <a:extLst>
              <a:ext uri="{FF2B5EF4-FFF2-40B4-BE49-F238E27FC236}">
                <a16:creationId xmlns:a16="http://schemas.microsoft.com/office/drawing/2014/main" id="{87F72036-5143-4F93-8A15-3F462E4756F6}"/>
              </a:ext>
            </a:extLst>
          </p:cNvPr>
          <p:cNvGraphicFramePr>
            <a:graphicFrameLocks/>
          </p:cNvGraphicFramePr>
          <p:nvPr/>
        </p:nvGraphicFramePr>
        <p:xfrm>
          <a:off x="1749425" y="4554538"/>
          <a:ext cx="165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38207" imgH="403999" progId="Equation.3">
                  <p:embed/>
                </p:oleObj>
              </mc:Choice>
              <mc:Fallback>
                <p:oleObj name="公式" r:id="rId14" imgW="1638207" imgH="403999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25" y="4554538"/>
                        <a:ext cx="1651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68" name="Object 24">
            <a:extLst>
              <a:ext uri="{FF2B5EF4-FFF2-40B4-BE49-F238E27FC236}">
                <a16:creationId xmlns:a16="http://schemas.microsoft.com/office/drawing/2014/main" id="{A5307DB3-3027-4EF5-853E-4739B48E799B}"/>
              </a:ext>
            </a:extLst>
          </p:cNvPr>
          <p:cNvGraphicFramePr>
            <a:graphicFrameLocks/>
          </p:cNvGraphicFramePr>
          <p:nvPr/>
        </p:nvGraphicFramePr>
        <p:xfrm>
          <a:off x="1724025" y="4973638"/>
          <a:ext cx="1701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683989" imgH="403999" progId="Equation.3">
                  <p:embed/>
                </p:oleObj>
              </mc:Choice>
              <mc:Fallback>
                <p:oleObj name="公式" r:id="rId16" imgW="1683989" imgH="403999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4973638"/>
                        <a:ext cx="1701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69" name="Object 25">
            <a:extLst>
              <a:ext uri="{FF2B5EF4-FFF2-40B4-BE49-F238E27FC236}">
                <a16:creationId xmlns:a16="http://schemas.microsoft.com/office/drawing/2014/main" id="{F58C0006-83DD-4404-BF8A-F9EB7A92BE20}"/>
              </a:ext>
            </a:extLst>
          </p:cNvPr>
          <p:cNvGraphicFramePr>
            <a:graphicFrameLocks/>
          </p:cNvGraphicFramePr>
          <p:nvPr/>
        </p:nvGraphicFramePr>
        <p:xfrm>
          <a:off x="1751013" y="5346700"/>
          <a:ext cx="1612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600387" imgH="403999" progId="Equation.3">
                  <p:embed/>
                </p:oleObj>
              </mc:Choice>
              <mc:Fallback>
                <p:oleObj name="公式" r:id="rId18" imgW="1600387" imgH="403999" progId="Equation.3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013" y="5346700"/>
                        <a:ext cx="1612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70" name="Object 26">
            <a:extLst>
              <a:ext uri="{FF2B5EF4-FFF2-40B4-BE49-F238E27FC236}">
                <a16:creationId xmlns:a16="http://schemas.microsoft.com/office/drawing/2014/main" id="{23717622-81EB-4316-80C1-B9E57482801B}"/>
              </a:ext>
            </a:extLst>
          </p:cNvPr>
          <p:cNvGraphicFramePr>
            <a:graphicFrameLocks/>
          </p:cNvGraphicFramePr>
          <p:nvPr/>
        </p:nvGraphicFramePr>
        <p:xfrm>
          <a:off x="3725863" y="4540250"/>
          <a:ext cx="1917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904938" imgH="403999" progId="Equation.3">
                  <p:embed/>
                </p:oleObj>
              </mc:Choice>
              <mc:Fallback>
                <p:oleObj name="公式" r:id="rId20" imgW="1904938" imgH="403999" progId="Equation.3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5863" y="4540250"/>
                        <a:ext cx="1917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71" name="Object 27">
            <a:extLst>
              <a:ext uri="{FF2B5EF4-FFF2-40B4-BE49-F238E27FC236}">
                <a16:creationId xmlns:a16="http://schemas.microsoft.com/office/drawing/2014/main" id="{D147314C-9C80-4E17-9898-E97B1F8A1A2D}"/>
              </a:ext>
            </a:extLst>
          </p:cNvPr>
          <p:cNvGraphicFramePr>
            <a:graphicFrameLocks/>
          </p:cNvGraphicFramePr>
          <p:nvPr/>
        </p:nvGraphicFramePr>
        <p:xfrm>
          <a:off x="3711575" y="4972050"/>
          <a:ext cx="1943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927829" imgH="403999" progId="Equation.3">
                  <p:embed/>
                </p:oleObj>
              </mc:Choice>
              <mc:Fallback>
                <p:oleObj name="公式" r:id="rId22" imgW="1927829" imgH="403999" progId="Equation.3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1575" y="4972050"/>
                        <a:ext cx="1943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72" name="Object 28">
            <a:extLst>
              <a:ext uri="{FF2B5EF4-FFF2-40B4-BE49-F238E27FC236}">
                <a16:creationId xmlns:a16="http://schemas.microsoft.com/office/drawing/2014/main" id="{C5F52BA8-4FC6-4948-849E-DE41614A5888}"/>
              </a:ext>
            </a:extLst>
          </p:cNvPr>
          <p:cNvGraphicFramePr>
            <a:graphicFrameLocks/>
          </p:cNvGraphicFramePr>
          <p:nvPr/>
        </p:nvGraphicFramePr>
        <p:xfrm>
          <a:off x="3733800" y="5349875"/>
          <a:ext cx="1866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851691" imgH="403999" progId="Equation.3">
                  <p:embed/>
                </p:oleObj>
              </mc:Choice>
              <mc:Fallback>
                <p:oleObj name="公式" r:id="rId24" imgW="1851691" imgH="403999" progId="Equation.3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349875"/>
                        <a:ext cx="1866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73" name="Object 29">
            <a:extLst>
              <a:ext uri="{FF2B5EF4-FFF2-40B4-BE49-F238E27FC236}">
                <a16:creationId xmlns:a16="http://schemas.microsoft.com/office/drawing/2014/main" id="{E4FFFA68-711B-4238-ADBD-F638CB0732B4}"/>
              </a:ext>
            </a:extLst>
          </p:cNvPr>
          <p:cNvGraphicFramePr>
            <a:graphicFrameLocks/>
          </p:cNvGraphicFramePr>
          <p:nvPr/>
        </p:nvGraphicFramePr>
        <p:xfrm>
          <a:off x="1843088" y="5981700"/>
          <a:ext cx="1447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432684" imgH="403999" progId="Equation.3">
                  <p:embed/>
                </p:oleObj>
              </mc:Choice>
              <mc:Fallback>
                <p:oleObj name="公式" r:id="rId26" imgW="1432684" imgH="403999" progId="Equation.3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5981700"/>
                        <a:ext cx="1447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74" name="Object 30">
            <a:extLst>
              <a:ext uri="{FF2B5EF4-FFF2-40B4-BE49-F238E27FC236}">
                <a16:creationId xmlns:a16="http://schemas.microsoft.com/office/drawing/2014/main" id="{254CC252-E3DF-4AF3-AE19-803D3D620EC5}"/>
              </a:ext>
            </a:extLst>
          </p:cNvPr>
          <p:cNvGraphicFramePr>
            <a:graphicFrameLocks/>
          </p:cNvGraphicFramePr>
          <p:nvPr/>
        </p:nvGraphicFramePr>
        <p:xfrm>
          <a:off x="3795713" y="5994400"/>
          <a:ext cx="1689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676524" imgH="403999" progId="Equation.3">
                  <p:embed/>
                </p:oleObj>
              </mc:Choice>
              <mc:Fallback>
                <p:oleObj name="公式" r:id="rId28" imgW="1676524" imgH="403999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713" y="5994400"/>
                        <a:ext cx="1689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75" name="Object 31">
            <a:extLst>
              <a:ext uri="{FF2B5EF4-FFF2-40B4-BE49-F238E27FC236}">
                <a16:creationId xmlns:a16="http://schemas.microsoft.com/office/drawing/2014/main" id="{5FDE3FB1-1200-4750-B6F5-77E80050988F}"/>
              </a:ext>
            </a:extLst>
          </p:cNvPr>
          <p:cNvGraphicFramePr>
            <a:graphicFrameLocks/>
          </p:cNvGraphicFramePr>
          <p:nvPr/>
        </p:nvGraphicFramePr>
        <p:xfrm>
          <a:off x="6275388" y="3257550"/>
          <a:ext cx="2184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2171669" imgH="838422" progId="Equation.3">
                  <p:embed/>
                </p:oleObj>
              </mc:Choice>
              <mc:Fallback>
                <p:oleObj name="公式" r:id="rId30" imgW="2171669" imgH="838422" progId="Equation.3">
                  <p:embed/>
                  <p:pic>
                    <p:nvPicPr>
                      <p:cNvPr id="0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5388" y="3257550"/>
                        <a:ext cx="2184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76" name="Object 32">
            <a:extLst>
              <a:ext uri="{FF2B5EF4-FFF2-40B4-BE49-F238E27FC236}">
                <a16:creationId xmlns:a16="http://schemas.microsoft.com/office/drawing/2014/main" id="{EC044B23-2583-4036-BA39-C26C9BFB36E9}"/>
              </a:ext>
            </a:extLst>
          </p:cNvPr>
          <p:cNvGraphicFramePr>
            <a:graphicFrameLocks/>
          </p:cNvGraphicFramePr>
          <p:nvPr/>
        </p:nvGraphicFramePr>
        <p:xfrm>
          <a:off x="6732588" y="4219575"/>
          <a:ext cx="1270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257518" imgH="381055" progId="Equation.3">
                  <p:embed/>
                </p:oleObj>
              </mc:Choice>
              <mc:Fallback>
                <p:oleObj name="公式" r:id="rId32" imgW="1257518" imgH="381055" progId="Equation.3">
                  <p:embed/>
                  <p:pic>
                    <p:nvPicPr>
                      <p:cNvPr id="0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4219575"/>
                        <a:ext cx="1270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77" name="Object 33">
            <a:extLst>
              <a:ext uri="{FF2B5EF4-FFF2-40B4-BE49-F238E27FC236}">
                <a16:creationId xmlns:a16="http://schemas.microsoft.com/office/drawing/2014/main" id="{915D0B7F-0863-492E-8110-A5E5880F47A8}"/>
              </a:ext>
            </a:extLst>
          </p:cNvPr>
          <p:cNvGraphicFramePr>
            <a:graphicFrameLocks/>
          </p:cNvGraphicFramePr>
          <p:nvPr/>
        </p:nvGraphicFramePr>
        <p:xfrm>
          <a:off x="6745288" y="4811713"/>
          <a:ext cx="1244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226664" imgH="289782" progId="Equation.3">
                  <p:embed/>
                </p:oleObj>
              </mc:Choice>
              <mc:Fallback>
                <p:oleObj name="公式" r:id="rId34" imgW="1226664" imgH="289782" progId="Equation.3">
                  <p:embed/>
                  <p:pic>
                    <p:nvPicPr>
                      <p:cNvPr id="0" name="Object 33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5288" y="4811713"/>
                        <a:ext cx="12446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78" name="Object 34">
            <a:extLst>
              <a:ext uri="{FF2B5EF4-FFF2-40B4-BE49-F238E27FC236}">
                <a16:creationId xmlns:a16="http://schemas.microsoft.com/office/drawing/2014/main" id="{7CD26C44-07E7-426E-933E-395D99862436}"/>
              </a:ext>
            </a:extLst>
          </p:cNvPr>
          <p:cNvGraphicFramePr>
            <a:graphicFrameLocks/>
          </p:cNvGraphicFramePr>
          <p:nvPr/>
        </p:nvGraphicFramePr>
        <p:xfrm>
          <a:off x="6072188" y="5262563"/>
          <a:ext cx="2590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2575747" imgH="883809" progId="Equation.3">
                  <p:embed/>
                </p:oleObj>
              </mc:Choice>
              <mc:Fallback>
                <p:oleObj name="公式" r:id="rId36" imgW="2575747" imgH="883809" progId="Equation.3">
                  <p:embed/>
                  <p:pic>
                    <p:nvPicPr>
                      <p:cNvPr id="0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5262563"/>
                        <a:ext cx="2590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179" name="Rectangle 35">
            <a:extLst>
              <a:ext uri="{FF2B5EF4-FFF2-40B4-BE49-F238E27FC236}">
                <a16:creationId xmlns:a16="http://schemas.microsoft.com/office/drawing/2014/main" id="{90B97D9A-5654-46CE-887B-C28DBAA17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738" y="3246438"/>
            <a:ext cx="2663825" cy="3022600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02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02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0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0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0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02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0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90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0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90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02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02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02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0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0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0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0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0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0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0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90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90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90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90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90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90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90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90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90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90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2146" grpId="0"/>
      <p:bldP spid="902149" grpId="0" autoUpdateAnimBg="0"/>
      <p:bldP spid="902150" grpId="0" autoUpdateAnimBg="0"/>
      <p:bldP spid="902153" grpId="0" autoUpdateAnimBg="0"/>
      <p:bldP spid="902154" grpId="0" autoUpdateAnimBg="0"/>
      <p:bldP spid="902163" grpId="0" autoUpdateAnimBg="0"/>
      <p:bldP spid="902164" grpId="0" autoUpdateAnimBg="0"/>
      <p:bldP spid="90217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Rectangle 2">
            <a:extLst>
              <a:ext uri="{FF2B5EF4-FFF2-40B4-BE49-F238E27FC236}">
                <a16:creationId xmlns:a16="http://schemas.microsoft.com/office/drawing/2014/main" id="{35A03A63-1AC9-4D42-B0F1-25A048158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79413"/>
            <a:ext cx="7227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u &lt;&lt; c 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洛伦兹变换简化为伽利略变换式</a:t>
            </a:r>
          </a:p>
        </p:txBody>
      </p:sp>
      <p:graphicFrame>
        <p:nvGraphicFramePr>
          <p:cNvPr id="903171" name="Object 3">
            <a:extLst>
              <a:ext uri="{FF2B5EF4-FFF2-40B4-BE49-F238E27FC236}">
                <a16:creationId xmlns:a16="http://schemas.microsoft.com/office/drawing/2014/main" id="{8001B747-77BE-44BD-AB73-019D1454676C}"/>
              </a:ext>
            </a:extLst>
          </p:cNvPr>
          <p:cNvGraphicFramePr>
            <a:graphicFrameLocks/>
          </p:cNvGraphicFramePr>
          <p:nvPr/>
        </p:nvGraphicFramePr>
        <p:xfrm>
          <a:off x="1706563" y="763588"/>
          <a:ext cx="21447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41313" imgH="853385" progId="Equation.3">
                  <p:embed/>
                </p:oleObj>
              </mc:Choice>
              <mc:Fallback>
                <p:oleObj name="公式" r:id="rId2" imgW="2141313" imgH="853385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763588"/>
                        <a:ext cx="21447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3172" name="AutoShape 4">
            <a:extLst>
              <a:ext uri="{FF2B5EF4-FFF2-40B4-BE49-F238E27FC236}">
                <a16:creationId xmlns:a16="http://schemas.microsoft.com/office/drawing/2014/main" id="{8862B900-8AEC-45DC-9681-F5664D3E7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1052513"/>
            <a:ext cx="762000" cy="360362"/>
          </a:xfrm>
          <a:prstGeom prst="rightArrow">
            <a:avLst>
              <a:gd name="adj1" fmla="val 35417"/>
              <a:gd name="adj2" fmla="val 69163"/>
            </a:avLst>
          </a:prstGeom>
          <a:solidFill>
            <a:srgbClr val="FFCCFF"/>
          </a:solidFill>
          <a:ln w="222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华文中宋" pitchFamily="2" charset="-122"/>
            </a:endParaRPr>
          </a:p>
        </p:txBody>
      </p:sp>
      <p:graphicFrame>
        <p:nvGraphicFramePr>
          <p:cNvPr id="903173" name="Object 5">
            <a:extLst>
              <a:ext uri="{FF2B5EF4-FFF2-40B4-BE49-F238E27FC236}">
                <a16:creationId xmlns:a16="http://schemas.microsoft.com/office/drawing/2014/main" id="{9FFB4DCB-150F-4EAB-9F41-ABDA9A79128D}"/>
              </a:ext>
            </a:extLst>
          </p:cNvPr>
          <p:cNvGraphicFramePr>
            <a:graphicFrameLocks/>
          </p:cNvGraphicFramePr>
          <p:nvPr/>
        </p:nvGraphicFramePr>
        <p:xfrm>
          <a:off x="5110163" y="1009650"/>
          <a:ext cx="145732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55576" imgH="312226" progId="Equation.3">
                  <p:embed/>
                </p:oleObj>
              </mc:Choice>
              <mc:Fallback>
                <p:oleObj name="公式" r:id="rId4" imgW="1455576" imgH="312226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1009650"/>
                        <a:ext cx="145732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3174" name="Rectangle 6">
            <a:extLst>
              <a:ext uri="{FF2B5EF4-FFF2-40B4-BE49-F238E27FC236}">
                <a16:creationId xmlns:a16="http://schemas.microsoft.com/office/drawing/2014/main" id="{B24ACE18-D18A-402F-A392-53F07FA4D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674813"/>
            <a:ext cx="7558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在低速情况下，相对论时空观可由绝对时空观替代</a:t>
            </a:r>
          </a:p>
        </p:txBody>
      </p:sp>
      <p:graphicFrame>
        <p:nvGraphicFramePr>
          <p:cNvPr id="903175" name="Object 7">
            <a:extLst>
              <a:ext uri="{FF2B5EF4-FFF2-40B4-BE49-F238E27FC236}">
                <a16:creationId xmlns:a16="http://schemas.microsoft.com/office/drawing/2014/main" id="{3EA6B541-2368-4740-B645-161826E96BAD}"/>
              </a:ext>
            </a:extLst>
          </p:cNvPr>
          <p:cNvGraphicFramePr>
            <a:graphicFrameLocks/>
          </p:cNvGraphicFramePr>
          <p:nvPr/>
        </p:nvGraphicFramePr>
        <p:xfrm>
          <a:off x="6970713" y="1023938"/>
          <a:ext cx="69691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93202" imgH="312226" progId="Equation.3">
                  <p:embed/>
                </p:oleObj>
              </mc:Choice>
              <mc:Fallback>
                <p:oleObj name="公式" r:id="rId6" imgW="693202" imgH="312226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0713" y="1023938"/>
                        <a:ext cx="696912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3176" name="Rectangle 8">
            <a:extLst>
              <a:ext uri="{FF2B5EF4-FFF2-40B4-BE49-F238E27FC236}">
                <a16:creationId xmlns:a16="http://schemas.microsoft.com/office/drawing/2014/main" id="{1C5C579E-7313-4218-88CB-FF0B46083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205038"/>
            <a:ext cx="716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(3) 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光速是各种物体运动的一个极限速度  </a:t>
            </a:r>
          </a:p>
        </p:txBody>
      </p:sp>
      <p:graphicFrame>
        <p:nvGraphicFramePr>
          <p:cNvPr id="903177" name="Object 9">
            <a:extLst>
              <a:ext uri="{FF2B5EF4-FFF2-40B4-BE49-F238E27FC236}">
                <a16:creationId xmlns:a16="http://schemas.microsoft.com/office/drawing/2014/main" id="{55BFC4DB-18A1-4DB9-8A73-A6C3625137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890838"/>
          <a:ext cx="64135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31520" imgH="236414" progId="Equation.3">
                  <p:embed/>
                </p:oleObj>
              </mc:Choice>
              <mc:Fallback>
                <p:oleObj name="公式" r:id="rId8" imgW="731520" imgH="23641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890838"/>
                        <a:ext cx="64135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3178" name="Object 10">
            <a:extLst>
              <a:ext uri="{FF2B5EF4-FFF2-40B4-BE49-F238E27FC236}">
                <a16:creationId xmlns:a16="http://schemas.microsoft.com/office/drawing/2014/main" id="{9ECBB253-9FF6-4C51-B966-D0E669FDFE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2708275"/>
          <a:ext cx="17160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73611" imgH="434423" progId="Equation.3">
                  <p:embed/>
                </p:oleObj>
              </mc:Choice>
              <mc:Fallback>
                <p:oleObj name="公式" r:id="rId10" imgW="1973611" imgH="43442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708275"/>
                        <a:ext cx="171608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3179" name="Rectangle 11">
            <a:extLst>
              <a:ext uri="{FF2B5EF4-FFF2-40B4-BE49-F238E27FC236}">
                <a16:creationId xmlns:a16="http://schemas.microsoft.com/office/drawing/2014/main" id="{F12FA001-88B3-44F8-8C3C-AC12A58FA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746375"/>
            <a:ext cx="464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虚数（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洛伦兹变换失去意义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903180" name="Rectangle 12">
            <a:extLst>
              <a:ext uri="{FF2B5EF4-FFF2-40B4-BE49-F238E27FC236}">
                <a16:creationId xmlns:a16="http://schemas.microsoft.com/office/drawing/2014/main" id="{67D5782E-FF9C-47DE-A5D3-55ABC670F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763" y="3284538"/>
            <a:ext cx="5110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任何物体的运动都不会超过光速</a:t>
            </a:r>
          </a:p>
        </p:txBody>
      </p:sp>
      <p:graphicFrame>
        <p:nvGraphicFramePr>
          <p:cNvPr id="902175" name="Object 31">
            <a:extLst>
              <a:ext uri="{FF2B5EF4-FFF2-40B4-BE49-F238E27FC236}">
                <a16:creationId xmlns:a16="http://schemas.microsoft.com/office/drawing/2014/main" id="{60716E84-B22F-491C-B253-C9ACA7F54310}"/>
              </a:ext>
            </a:extLst>
          </p:cNvPr>
          <p:cNvGraphicFramePr>
            <a:graphicFrameLocks/>
          </p:cNvGraphicFramePr>
          <p:nvPr/>
        </p:nvGraphicFramePr>
        <p:xfrm>
          <a:off x="1838325" y="3970338"/>
          <a:ext cx="2184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79133" imgH="845903" progId="Equation.3">
                  <p:embed/>
                </p:oleObj>
              </mc:Choice>
              <mc:Fallback>
                <p:oleObj name="公式" r:id="rId12" imgW="2179133" imgH="845903" progId="Equation.3">
                  <p:embed/>
                  <p:pic>
                    <p:nvPicPr>
                      <p:cNvPr id="0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3970338"/>
                        <a:ext cx="2184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78" name="Object 34">
            <a:extLst>
              <a:ext uri="{FF2B5EF4-FFF2-40B4-BE49-F238E27FC236}">
                <a16:creationId xmlns:a16="http://schemas.microsoft.com/office/drawing/2014/main" id="{3168D899-7A70-43DF-86E2-6745468D1E6F}"/>
              </a:ext>
            </a:extLst>
          </p:cNvPr>
          <p:cNvGraphicFramePr>
            <a:graphicFrameLocks/>
          </p:cNvGraphicFramePr>
          <p:nvPr/>
        </p:nvGraphicFramePr>
        <p:xfrm>
          <a:off x="5102225" y="3957638"/>
          <a:ext cx="2590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583211" imgH="891789" progId="Equation.3">
                  <p:embed/>
                </p:oleObj>
              </mc:Choice>
              <mc:Fallback>
                <p:oleObj name="公式" r:id="rId14" imgW="2583211" imgH="891789" progId="Equation.3">
                  <p:embed/>
                  <p:pic>
                    <p:nvPicPr>
                      <p:cNvPr id="0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2225" y="3957638"/>
                        <a:ext cx="2590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51" name="Object 43">
            <a:extLst>
              <a:ext uri="{FF2B5EF4-FFF2-40B4-BE49-F238E27FC236}">
                <a16:creationId xmlns:a16="http://schemas.microsoft.com/office/drawing/2014/main" id="{D9C7116F-77C1-4AAB-8A2B-9ED617DCB4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0913" y="5114925"/>
          <a:ext cx="4619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9384" imgH="167585" progId="Equation.3">
                  <p:embed/>
                </p:oleObj>
              </mc:Choice>
              <mc:Fallback>
                <p:oleObj name="Equation" r:id="rId16" imgW="129384" imgH="167585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5114925"/>
                        <a:ext cx="461962" cy="44450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52" name="Object 8">
            <a:extLst>
              <a:ext uri="{FF2B5EF4-FFF2-40B4-BE49-F238E27FC236}">
                <a16:creationId xmlns:a16="http://schemas.microsoft.com/office/drawing/2014/main" id="{34DC4F4C-C2AD-4AE6-8E9D-A41BAF8F1B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8850" y="6015038"/>
          <a:ext cx="44450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7702" imgH="167585" progId="Equation.3">
                  <p:embed/>
                </p:oleObj>
              </mc:Choice>
              <mc:Fallback>
                <p:oleObj name="Equation" r:id="rId18" imgW="167702" imgH="16758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6015038"/>
                        <a:ext cx="444500" cy="446087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9">
            <a:extLst>
              <a:ext uri="{FF2B5EF4-FFF2-40B4-BE49-F238E27FC236}">
                <a16:creationId xmlns:a16="http://schemas.microsoft.com/office/drawing/2014/main" id="{417A5643-179B-4AE6-AD19-582F901C0FB4}"/>
              </a:ext>
            </a:extLst>
          </p:cNvPr>
          <p:cNvGraphicFramePr>
            <a:graphicFrameLocks/>
          </p:cNvGraphicFramePr>
          <p:nvPr/>
        </p:nvGraphicFramePr>
        <p:xfrm>
          <a:off x="7197725" y="5821363"/>
          <a:ext cx="835025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72253" imgH="167585" progId="Equation.DSMT4">
                  <p:embed/>
                </p:oleObj>
              </mc:Choice>
              <mc:Fallback>
                <p:oleObj name="Equation" r:id="rId20" imgW="472253" imgH="167585" progId="Equation.DSMT4">
                  <p:embed/>
                  <p:pic>
                    <p:nvPicPr>
                      <p:cNvPr id="0" name="Object 59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7725" y="5821363"/>
                        <a:ext cx="835025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0">
            <a:extLst>
              <a:ext uri="{FF2B5EF4-FFF2-40B4-BE49-F238E27FC236}">
                <a16:creationId xmlns:a16="http://schemas.microsoft.com/office/drawing/2014/main" id="{B28B6A2D-7859-4E39-ACFA-A9423E533E6D}"/>
              </a:ext>
            </a:extLst>
          </p:cNvPr>
          <p:cNvGraphicFramePr>
            <a:graphicFrameLocks/>
          </p:cNvGraphicFramePr>
          <p:nvPr/>
        </p:nvGraphicFramePr>
        <p:xfrm>
          <a:off x="7219950" y="6249988"/>
          <a:ext cx="865188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72253" imgH="167585" progId="Equation.DSMT4">
                  <p:embed/>
                </p:oleObj>
              </mc:Choice>
              <mc:Fallback>
                <p:oleObj name="Equation" r:id="rId22" imgW="472253" imgH="167585" progId="Equation.DSMT4">
                  <p:embed/>
                  <p:pic>
                    <p:nvPicPr>
                      <p:cNvPr id="0" name="Object 60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9950" y="6249988"/>
                        <a:ext cx="865188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3">
            <a:extLst>
              <a:ext uri="{FF2B5EF4-FFF2-40B4-BE49-F238E27FC236}">
                <a16:creationId xmlns:a16="http://schemas.microsoft.com/office/drawing/2014/main" id="{FAE7F1EE-B1A0-40B7-B80C-12CEF9C7E4FD}"/>
              </a:ext>
            </a:extLst>
          </p:cNvPr>
          <p:cNvGraphicFramePr>
            <a:graphicFrameLocks/>
          </p:cNvGraphicFramePr>
          <p:nvPr/>
        </p:nvGraphicFramePr>
        <p:xfrm>
          <a:off x="1778000" y="5035550"/>
          <a:ext cx="9302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426969" imgH="167585" progId="Equation.3">
                  <p:embed/>
                </p:oleObj>
              </mc:Choice>
              <mc:Fallback>
                <p:oleObj name="公式" r:id="rId24" imgW="426969" imgH="167585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5035550"/>
                        <a:ext cx="93027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9">
            <a:extLst>
              <a:ext uri="{FF2B5EF4-FFF2-40B4-BE49-F238E27FC236}">
                <a16:creationId xmlns:a16="http://schemas.microsoft.com/office/drawing/2014/main" id="{9AD344B3-D421-4CFD-AD3A-F9E222FDD058}"/>
              </a:ext>
            </a:extLst>
          </p:cNvPr>
          <p:cNvGraphicFramePr>
            <a:graphicFrameLocks/>
          </p:cNvGraphicFramePr>
          <p:nvPr/>
        </p:nvGraphicFramePr>
        <p:xfrm>
          <a:off x="1752600" y="5389563"/>
          <a:ext cx="9556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411542" imgH="167585" progId="Equation.3">
                  <p:embed/>
                </p:oleObj>
              </mc:Choice>
              <mc:Fallback>
                <p:oleObj name="公式" r:id="rId26" imgW="411542" imgH="167585" progId="Equation.3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389563"/>
                        <a:ext cx="95567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062DE407-0FFC-4DEF-BE55-C0156E9AEA83}"/>
              </a:ext>
            </a:extLst>
          </p:cNvPr>
          <p:cNvGraphicFramePr>
            <a:graphicFrameLocks/>
          </p:cNvGraphicFramePr>
          <p:nvPr/>
        </p:nvGraphicFramePr>
        <p:xfrm>
          <a:off x="1690688" y="5834063"/>
          <a:ext cx="101282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464789" imgH="167585" progId="Equation.3">
                  <p:embed/>
                </p:oleObj>
              </mc:Choice>
              <mc:Fallback>
                <p:oleObj name="公式" r:id="rId28" imgW="464789" imgH="167585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5834063"/>
                        <a:ext cx="1012825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F937244A-1CF9-41EB-AB67-A9242A6692FB}"/>
              </a:ext>
            </a:extLst>
          </p:cNvPr>
          <p:cNvGraphicFramePr>
            <a:graphicFrameLocks/>
          </p:cNvGraphicFramePr>
          <p:nvPr/>
        </p:nvGraphicFramePr>
        <p:xfrm>
          <a:off x="1628775" y="6211888"/>
          <a:ext cx="10414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449362" imgH="167585" progId="Equation.3">
                  <p:embed/>
                </p:oleObj>
              </mc:Choice>
              <mc:Fallback>
                <p:oleObj name="公式" r:id="rId30" imgW="449362" imgH="167585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6211888"/>
                        <a:ext cx="10414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5EDAA599-80FB-4EB2-A1F9-A20727A84217}"/>
              </a:ext>
            </a:extLst>
          </p:cNvPr>
          <p:cNvGraphicFramePr>
            <a:graphicFrameLocks/>
          </p:cNvGraphicFramePr>
          <p:nvPr/>
        </p:nvGraphicFramePr>
        <p:xfrm>
          <a:off x="3467100" y="4965700"/>
          <a:ext cx="9302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426969" imgH="167585" progId="Equation.3">
                  <p:embed/>
                </p:oleObj>
              </mc:Choice>
              <mc:Fallback>
                <p:oleObj name="公式" r:id="rId32" imgW="426969" imgH="167585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4965700"/>
                        <a:ext cx="93027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5AA43572-E716-4286-964C-D316F2180E7C}"/>
              </a:ext>
            </a:extLst>
          </p:cNvPr>
          <p:cNvGraphicFramePr>
            <a:graphicFrameLocks/>
          </p:cNvGraphicFramePr>
          <p:nvPr/>
        </p:nvGraphicFramePr>
        <p:xfrm>
          <a:off x="3441700" y="5319713"/>
          <a:ext cx="9556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411542" imgH="167585" progId="Equation.3">
                  <p:embed/>
                </p:oleObj>
              </mc:Choice>
              <mc:Fallback>
                <p:oleObj name="公式" r:id="rId34" imgW="411542" imgH="167585" progId="Equation.3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5319713"/>
                        <a:ext cx="95567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C080C070-FEC2-4B01-B2BB-2855623E6644}"/>
              </a:ext>
            </a:extLst>
          </p:cNvPr>
          <p:cNvGraphicFramePr>
            <a:graphicFrameLocks/>
          </p:cNvGraphicFramePr>
          <p:nvPr/>
        </p:nvGraphicFramePr>
        <p:xfrm>
          <a:off x="3379788" y="5764213"/>
          <a:ext cx="101282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464789" imgH="167585" progId="Equation.3">
                  <p:embed/>
                </p:oleObj>
              </mc:Choice>
              <mc:Fallback>
                <p:oleObj name="公式" r:id="rId36" imgW="464789" imgH="167585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9788" y="5764213"/>
                        <a:ext cx="1012825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2EF86658-E968-47E9-9DB7-3567EB5ECEB7}"/>
              </a:ext>
            </a:extLst>
          </p:cNvPr>
          <p:cNvGraphicFramePr>
            <a:graphicFrameLocks/>
          </p:cNvGraphicFramePr>
          <p:nvPr/>
        </p:nvGraphicFramePr>
        <p:xfrm>
          <a:off x="3317875" y="6142038"/>
          <a:ext cx="10414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449362" imgH="167585" progId="Equation.3">
                  <p:embed/>
                </p:oleObj>
              </mc:Choice>
              <mc:Fallback>
                <p:oleObj name="公式" r:id="rId38" imgW="449362" imgH="167585" progId="Equation.3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75" y="6142038"/>
                        <a:ext cx="10414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406A763-85D2-4B58-88F1-4C41697E8E55}"/>
              </a:ext>
            </a:extLst>
          </p:cNvPr>
          <p:cNvGraphicFramePr>
            <a:graphicFrameLocks/>
          </p:cNvGraphicFramePr>
          <p:nvPr/>
        </p:nvGraphicFramePr>
        <p:xfrm>
          <a:off x="5341938" y="4954588"/>
          <a:ext cx="957262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434433" imgH="167585" progId="Equation.3">
                  <p:embed/>
                </p:oleObj>
              </mc:Choice>
              <mc:Fallback>
                <p:oleObj name="公式" r:id="rId40" imgW="434433" imgH="167585" progId="Equation.3">
                  <p:embed/>
                  <p:pic>
                    <p:nvPicPr>
                      <p:cNvPr id="0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1938" y="4954588"/>
                        <a:ext cx="957262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1354D5A3-A203-40D6-8767-2741FFEA8548}"/>
              </a:ext>
            </a:extLst>
          </p:cNvPr>
          <p:cNvGraphicFramePr>
            <a:graphicFrameLocks/>
          </p:cNvGraphicFramePr>
          <p:nvPr/>
        </p:nvGraphicFramePr>
        <p:xfrm>
          <a:off x="5329238" y="5308600"/>
          <a:ext cx="9556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411542" imgH="167585" progId="Equation.3">
                  <p:embed/>
                </p:oleObj>
              </mc:Choice>
              <mc:Fallback>
                <p:oleObj name="公式" r:id="rId42" imgW="411542" imgH="167585" progId="Equation.3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238" y="5308600"/>
                        <a:ext cx="95567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7EF384E4-2BA5-4D1A-B678-8ABBE8A6721E}"/>
              </a:ext>
            </a:extLst>
          </p:cNvPr>
          <p:cNvGraphicFramePr>
            <a:graphicFrameLocks/>
          </p:cNvGraphicFramePr>
          <p:nvPr/>
        </p:nvGraphicFramePr>
        <p:xfrm>
          <a:off x="5267325" y="5753100"/>
          <a:ext cx="101282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464789" imgH="167585" progId="Equation.3">
                  <p:embed/>
                </p:oleObj>
              </mc:Choice>
              <mc:Fallback>
                <p:oleObj name="公式" r:id="rId44" imgW="464789" imgH="167585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7325" y="5753100"/>
                        <a:ext cx="101282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8680CAAF-043E-4CBC-BDFB-1D6202F8E79F}"/>
              </a:ext>
            </a:extLst>
          </p:cNvPr>
          <p:cNvGraphicFramePr>
            <a:graphicFrameLocks/>
          </p:cNvGraphicFramePr>
          <p:nvPr/>
        </p:nvGraphicFramePr>
        <p:xfrm>
          <a:off x="5205413" y="6130925"/>
          <a:ext cx="10414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6" imgW="449362" imgH="167585" progId="Equation.3">
                  <p:embed/>
                </p:oleObj>
              </mc:Choice>
              <mc:Fallback>
                <p:oleObj name="公式" r:id="rId46" imgW="449362" imgH="167585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413" y="6130925"/>
                        <a:ext cx="10414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998A68F5-8C55-4678-AF63-5E421D2C24D6}"/>
              </a:ext>
            </a:extLst>
          </p:cNvPr>
          <p:cNvGraphicFramePr>
            <a:graphicFrameLocks/>
          </p:cNvGraphicFramePr>
          <p:nvPr/>
        </p:nvGraphicFramePr>
        <p:xfrm>
          <a:off x="6923088" y="4979988"/>
          <a:ext cx="957262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434433" imgH="167585" progId="Equation.3">
                  <p:embed/>
                </p:oleObj>
              </mc:Choice>
              <mc:Fallback>
                <p:oleObj name="公式" r:id="rId40" imgW="434433" imgH="167585" progId="Equation.3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088" y="4979988"/>
                        <a:ext cx="957262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D0BE5541-DB9F-4086-A65A-322F65B959B9}"/>
              </a:ext>
            </a:extLst>
          </p:cNvPr>
          <p:cNvGraphicFramePr>
            <a:graphicFrameLocks/>
          </p:cNvGraphicFramePr>
          <p:nvPr/>
        </p:nvGraphicFramePr>
        <p:xfrm>
          <a:off x="6910388" y="5334000"/>
          <a:ext cx="9556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9" imgW="411542" imgH="167585" progId="Equation.3">
                  <p:embed/>
                </p:oleObj>
              </mc:Choice>
              <mc:Fallback>
                <p:oleObj name="公式" r:id="rId49" imgW="411542" imgH="167585" progId="Equation.3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0388" y="5334000"/>
                        <a:ext cx="95567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0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0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0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0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0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0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90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3170" grpId="0" autoUpdateAnimBg="0"/>
      <p:bldP spid="903172" grpId="0" animBg="1"/>
      <p:bldP spid="903174" grpId="0" autoUpdateAnimBg="0"/>
      <p:bldP spid="903176" grpId="0" autoUpdateAnimBg="0"/>
      <p:bldP spid="903179" grpId="0" autoUpdateAnimBg="0"/>
      <p:bldP spid="90318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4" name="Text Box 2">
            <a:extLst>
              <a:ext uri="{FF2B5EF4-FFF2-40B4-BE49-F238E27FC236}">
                <a16:creationId xmlns:a16="http://schemas.microsoft.com/office/drawing/2014/main" id="{3F48B2A7-6BD4-4DC3-A122-AEA338768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388938"/>
            <a:ext cx="6219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</a:t>
            </a: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kumimoji="1" lang="zh-CN" altLang="en-US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由洛仑兹变换看相对论时空观</a:t>
            </a:r>
          </a:p>
        </p:txBody>
      </p:sp>
      <p:graphicFrame>
        <p:nvGraphicFramePr>
          <p:cNvPr id="904195" name="Object 3">
            <a:extLst>
              <a:ext uri="{FF2B5EF4-FFF2-40B4-BE49-F238E27FC236}">
                <a16:creationId xmlns:a16="http://schemas.microsoft.com/office/drawing/2014/main" id="{99E20FEB-7CED-42F7-A676-85BB3DD4735B}"/>
              </a:ext>
            </a:extLst>
          </p:cNvPr>
          <p:cNvGraphicFramePr>
            <a:graphicFrameLocks/>
          </p:cNvGraphicFramePr>
          <p:nvPr/>
        </p:nvGraphicFramePr>
        <p:xfrm>
          <a:off x="4867275" y="1187450"/>
          <a:ext cx="11699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3062" imgH="343149" progId="Equation.3">
                  <p:embed/>
                </p:oleObj>
              </mc:Choice>
              <mc:Fallback>
                <p:oleObj name="公式" r:id="rId2" imgW="1143062" imgH="343149" progId="Equation.3">
                  <p:embed/>
                  <p:pic>
                    <p:nvPicPr>
                      <p:cNvPr id="904195" name="Object 3">
                        <a:extLst>
                          <a:ext uri="{FF2B5EF4-FFF2-40B4-BE49-F238E27FC236}">
                            <a16:creationId xmlns:a16="http://schemas.microsoft.com/office/drawing/2014/main" id="{99E20FEB-7CED-42F7-A676-85BB3DD473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275" y="1187450"/>
                        <a:ext cx="11699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4196" name="Text Box 4">
            <a:extLst>
              <a:ext uri="{FF2B5EF4-FFF2-40B4-BE49-F238E27FC236}">
                <a16:creationId xmlns:a16="http://schemas.microsoft.com/office/drawing/2014/main" id="{10F0EE9B-65B8-40F3-8D39-E29196208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141413"/>
            <a:ext cx="263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FF6600"/>
              </a:buClr>
              <a:buFont typeface="Wingdings" panose="05000000000000000000" pitchFamily="2" charset="2"/>
              <a:buChar char="l"/>
            </a:pP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同时性的相对性</a:t>
            </a:r>
            <a:endParaRPr kumimoji="1" lang="zh-CN" altLang="en-US" b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904197" name="Object 5">
            <a:extLst>
              <a:ext uri="{FF2B5EF4-FFF2-40B4-BE49-F238E27FC236}">
                <a16:creationId xmlns:a16="http://schemas.microsoft.com/office/drawing/2014/main" id="{31AC857A-7703-4E41-ABC6-4BB57A315D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2550" y="1160463"/>
          <a:ext cx="4460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76" imgH="152622" progId="Equation.3">
                  <p:embed/>
                </p:oleObj>
              </mc:Choice>
              <mc:Fallback>
                <p:oleObj name="Equation" r:id="rId4" imgW="152276" imgH="152622" progId="Equation.3">
                  <p:embed/>
                  <p:pic>
                    <p:nvPicPr>
                      <p:cNvPr id="904197" name="Object 5">
                        <a:extLst>
                          <a:ext uri="{FF2B5EF4-FFF2-40B4-BE49-F238E27FC236}">
                            <a16:creationId xmlns:a16="http://schemas.microsoft.com/office/drawing/2014/main" id="{31AC857A-7703-4E41-ABC6-4BB57A315D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2550" y="1160463"/>
                        <a:ext cx="446088" cy="447675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198" name="Object 6">
            <a:extLst>
              <a:ext uri="{FF2B5EF4-FFF2-40B4-BE49-F238E27FC236}">
                <a16:creationId xmlns:a16="http://schemas.microsoft.com/office/drawing/2014/main" id="{FE7CC82D-D5B5-41B4-ACC0-8D59ADCBF533}"/>
              </a:ext>
            </a:extLst>
          </p:cNvPr>
          <p:cNvGraphicFramePr>
            <a:graphicFrameLocks/>
          </p:cNvGraphicFramePr>
          <p:nvPr/>
        </p:nvGraphicFramePr>
        <p:xfrm>
          <a:off x="6235700" y="1212850"/>
          <a:ext cx="114458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20171" imgH="297263" progId="Equation.3">
                  <p:embed/>
                </p:oleObj>
              </mc:Choice>
              <mc:Fallback>
                <p:oleObj name="公式" r:id="rId6" imgW="1120171" imgH="297263" progId="Equation.3">
                  <p:embed/>
                  <p:pic>
                    <p:nvPicPr>
                      <p:cNvPr id="904198" name="Object 6">
                        <a:extLst>
                          <a:ext uri="{FF2B5EF4-FFF2-40B4-BE49-F238E27FC236}">
                            <a16:creationId xmlns:a16="http://schemas.microsoft.com/office/drawing/2014/main" id="{FE7CC82D-D5B5-41B4-ACC0-8D59ADCBF53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1212850"/>
                        <a:ext cx="1144588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199" name="Object 7">
            <a:extLst>
              <a:ext uri="{FF2B5EF4-FFF2-40B4-BE49-F238E27FC236}">
                <a16:creationId xmlns:a16="http://schemas.microsoft.com/office/drawing/2014/main" id="{34199F88-40BA-4CA4-8064-2EFECE324E18}"/>
              </a:ext>
            </a:extLst>
          </p:cNvPr>
          <p:cNvGraphicFramePr>
            <a:graphicFrameLocks/>
          </p:cNvGraphicFramePr>
          <p:nvPr/>
        </p:nvGraphicFramePr>
        <p:xfrm>
          <a:off x="2051050" y="1773238"/>
          <a:ext cx="2692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66813" imgH="876328" progId="Equation.3">
                  <p:embed/>
                </p:oleObj>
              </mc:Choice>
              <mc:Fallback>
                <p:oleObj name="公式" r:id="rId8" imgW="2666813" imgH="876328" progId="Equation.3">
                  <p:embed/>
                  <p:pic>
                    <p:nvPicPr>
                      <p:cNvPr id="904199" name="Object 7">
                        <a:extLst>
                          <a:ext uri="{FF2B5EF4-FFF2-40B4-BE49-F238E27FC236}">
                            <a16:creationId xmlns:a16="http://schemas.microsoft.com/office/drawing/2014/main" id="{34199F88-40BA-4CA4-8064-2EFECE324E1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773238"/>
                        <a:ext cx="26924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00" name="Object 8">
            <a:extLst>
              <a:ext uri="{FF2B5EF4-FFF2-40B4-BE49-F238E27FC236}">
                <a16:creationId xmlns:a16="http://schemas.microsoft.com/office/drawing/2014/main" id="{93420B43-82F8-469F-8C24-BA243A0D67F2}"/>
              </a:ext>
            </a:extLst>
          </p:cNvPr>
          <p:cNvGraphicFramePr>
            <a:graphicFrameLocks/>
          </p:cNvGraphicFramePr>
          <p:nvPr/>
        </p:nvGraphicFramePr>
        <p:xfrm>
          <a:off x="6300788" y="2027238"/>
          <a:ext cx="1003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82824" imgH="297263" progId="Equation.3">
                  <p:embed/>
                </p:oleObj>
              </mc:Choice>
              <mc:Fallback>
                <p:oleObj name="公式" r:id="rId10" imgW="982824" imgH="297263" progId="Equation.3">
                  <p:embed/>
                  <p:pic>
                    <p:nvPicPr>
                      <p:cNvPr id="904200" name="Object 8">
                        <a:extLst>
                          <a:ext uri="{FF2B5EF4-FFF2-40B4-BE49-F238E27FC236}">
                            <a16:creationId xmlns:a16="http://schemas.microsoft.com/office/drawing/2014/main" id="{93420B43-82F8-469F-8C24-BA243A0D67F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027238"/>
                        <a:ext cx="1003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4201" name="AutoShape 9">
            <a:extLst>
              <a:ext uri="{FF2B5EF4-FFF2-40B4-BE49-F238E27FC236}">
                <a16:creationId xmlns:a16="http://schemas.microsoft.com/office/drawing/2014/main" id="{D82A46F8-E7E9-42F2-853B-B12B727B3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2060575"/>
            <a:ext cx="1193800" cy="290513"/>
          </a:xfrm>
          <a:prstGeom prst="rightArrow">
            <a:avLst>
              <a:gd name="adj1" fmla="val 35648"/>
              <a:gd name="adj2" fmla="val 114204"/>
            </a:avLst>
          </a:prstGeom>
          <a:solidFill>
            <a:srgbClr val="FFCCFF"/>
          </a:solidFill>
          <a:ln w="222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华文中宋" pitchFamily="2" charset="-122"/>
            </a:endParaRPr>
          </a:p>
        </p:txBody>
      </p:sp>
      <p:graphicFrame>
        <p:nvGraphicFramePr>
          <p:cNvPr id="904202" name="Object 10">
            <a:extLst>
              <a:ext uri="{FF2B5EF4-FFF2-40B4-BE49-F238E27FC236}">
                <a16:creationId xmlns:a16="http://schemas.microsoft.com/office/drawing/2014/main" id="{22EE971D-FE66-4E81-B31F-D425854A8F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6663" y="1963738"/>
          <a:ext cx="4619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456" imgH="152622" progId="Equation.3">
                  <p:embed/>
                </p:oleObj>
              </mc:Choice>
              <mc:Fallback>
                <p:oleObj name="Equation" r:id="rId12" imgW="114456" imgH="152622" progId="Equation.3">
                  <p:embed/>
                  <p:pic>
                    <p:nvPicPr>
                      <p:cNvPr id="904202" name="Object 10">
                        <a:extLst>
                          <a:ext uri="{FF2B5EF4-FFF2-40B4-BE49-F238E27FC236}">
                            <a16:creationId xmlns:a16="http://schemas.microsoft.com/office/drawing/2014/main" id="{22EE971D-FE66-4E81-B31F-D425854A8F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663" y="1963738"/>
                        <a:ext cx="461962" cy="44450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4203" name="Text Box 11">
            <a:extLst>
              <a:ext uri="{FF2B5EF4-FFF2-40B4-BE49-F238E27FC236}">
                <a16:creationId xmlns:a16="http://schemas.microsoft.com/office/drawing/2014/main" id="{73488782-253D-4B58-AC49-BA0446960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819400"/>
            <a:ext cx="1712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FF6600"/>
              </a:buClr>
              <a:buFont typeface="Wingdings" panose="05000000000000000000" pitchFamily="2" charset="2"/>
              <a:buChar char="l"/>
            </a:pP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时间延缓</a:t>
            </a:r>
            <a:endParaRPr kumimoji="1" lang="zh-CN" altLang="en-US" b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904204" name="Object 12">
            <a:extLst>
              <a:ext uri="{FF2B5EF4-FFF2-40B4-BE49-F238E27FC236}">
                <a16:creationId xmlns:a16="http://schemas.microsoft.com/office/drawing/2014/main" id="{BA8342DE-76B4-47F9-8DA6-4E7C2B91DB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9850" y="2838450"/>
          <a:ext cx="4445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76" imgH="152622" progId="Equation.3">
                  <p:embed/>
                </p:oleObj>
              </mc:Choice>
              <mc:Fallback>
                <p:oleObj name="Equation" r:id="rId4" imgW="152276" imgH="152622" progId="Equation.3">
                  <p:embed/>
                  <p:pic>
                    <p:nvPicPr>
                      <p:cNvPr id="904204" name="Object 12">
                        <a:extLst>
                          <a:ext uri="{FF2B5EF4-FFF2-40B4-BE49-F238E27FC236}">
                            <a16:creationId xmlns:a16="http://schemas.microsoft.com/office/drawing/2014/main" id="{BA8342DE-76B4-47F9-8DA6-4E7C2B91DB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9850" y="2838450"/>
                        <a:ext cx="444500" cy="446088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05" name="Object 13">
            <a:extLst>
              <a:ext uri="{FF2B5EF4-FFF2-40B4-BE49-F238E27FC236}">
                <a16:creationId xmlns:a16="http://schemas.microsoft.com/office/drawing/2014/main" id="{C804166C-C5E4-4714-99CA-1664C9601C7D}"/>
              </a:ext>
            </a:extLst>
          </p:cNvPr>
          <p:cNvGraphicFramePr>
            <a:graphicFrameLocks/>
          </p:cNvGraphicFramePr>
          <p:nvPr/>
        </p:nvGraphicFramePr>
        <p:xfrm>
          <a:off x="4787900" y="2863850"/>
          <a:ext cx="12207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196309" imgH="343149" progId="Equation.3">
                  <p:embed/>
                </p:oleObj>
              </mc:Choice>
              <mc:Fallback>
                <p:oleObj name="公式" r:id="rId15" imgW="1196309" imgH="343149" progId="Equation.3">
                  <p:embed/>
                  <p:pic>
                    <p:nvPicPr>
                      <p:cNvPr id="904205" name="Object 13">
                        <a:extLst>
                          <a:ext uri="{FF2B5EF4-FFF2-40B4-BE49-F238E27FC236}">
                            <a16:creationId xmlns:a16="http://schemas.microsoft.com/office/drawing/2014/main" id="{C804166C-C5E4-4714-99CA-1664C9601C7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2863850"/>
                        <a:ext cx="12207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06" name="Object 14">
            <a:extLst>
              <a:ext uri="{FF2B5EF4-FFF2-40B4-BE49-F238E27FC236}">
                <a16:creationId xmlns:a16="http://schemas.microsoft.com/office/drawing/2014/main" id="{606C0EE8-925A-4639-9C6D-C93AF9BAE0A3}"/>
              </a:ext>
            </a:extLst>
          </p:cNvPr>
          <p:cNvGraphicFramePr>
            <a:graphicFrameLocks/>
          </p:cNvGraphicFramePr>
          <p:nvPr/>
        </p:nvGraphicFramePr>
        <p:xfrm>
          <a:off x="6300788" y="2832100"/>
          <a:ext cx="11969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173418" imgH="411480" progId="Equation.3">
                  <p:embed/>
                </p:oleObj>
              </mc:Choice>
              <mc:Fallback>
                <p:oleObj name="公式" r:id="rId17" imgW="1173418" imgH="411480" progId="Equation.3">
                  <p:embed/>
                  <p:pic>
                    <p:nvPicPr>
                      <p:cNvPr id="904206" name="Object 14">
                        <a:extLst>
                          <a:ext uri="{FF2B5EF4-FFF2-40B4-BE49-F238E27FC236}">
                            <a16:creationId xmlns:a16="http://schemas.microsoft.com/office/drawing/2014/main" id="{606C0EE8-925A-4639-9C6D-C93AF9BAE0A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832100"/>
                        <a:ext cx="11969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07" name="Object 15">
            <a:extLst>
              <a:ext uri="{FF2B5EF4-FFF2-40B4-BE49-F238E27FC236}">
                <a16:creationId xmlns:a16="http://schemas.microsoft.com/office/drawing/2014/main" id="{98E63AD7-08AB-43AC-8034-90ECB365C7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692525"/>
          <a:ext cx="4619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4456" imgH="152622" progId="Equation.3">
                  <p:embed/>
                </p:oleObj>
              </mc:Choice>
              <mc:Fallback>
                <p:oleObj name="Equation" r:id="rId19" imgW="114456" imgH="152622" progId="Equation.3">
                  <p:embed/>
                  <p:pic>
                    <p:nvPicPr>
                      <p:cNvPr id="904207" name="Object 15">
                        <a:extLst>
                          <a:ext uri="{FF2B5EF4-FFF2-40B4-BE49-F238E27FC236}">
                            <a16:creationId xmlns:a16="http://schemas.microsoft.com/office/drawing/2014/main" id="{98E63AD7-08AB-43AC-8034-90ECB365C7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692525"/>
                        <a:ext cx="461962" cy="44450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08" name="Object 16">
            <a:extLst>
              <a:ext uri="{FF2B5EF4-FFF2-40B4-BE49-F238E27FC236}">
                <a16:creationId xmlns:a16="http://schemas.microsoft.com/office/drawing/2014/main" id="{DB00AA0E-0A92-41AE-9008-8AE49C472EEC}"/>
              </a:ext>
            </a:extLst>
          </p:cNvPr>
          <p:cNvGraphicFramePr>
            <a:graphicFrameLocks/>
          </p:cNvGraphicFramePr>
          <p:nvPr/>
        </p:nvGraphicFramePr>
        <p:xfrm>
          <a:off x="2039938" y="3463925"/>
          <a:ext cx="2692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666813" imgH="876328" progId="Equation.3">
                  <p:embed/>
                </p:oleObj>
              </mc:Choice>
              <mc:Fallback>
                <p:oleObj name="公式" r:id="rId21" imgW="2666813" imgH="876328" progId="Equation.3">
                  <p:embed/>
                  <p:pic>
                    <p:nvPicPr>
                      <p:cNvPr id="904208" name="Object 16">
                        <a:extLst>
                          <a:ext uri="{FF2B5EF4-FFF2-40B4-BE49-F238E27FC236}">
                            <a16:creationId xmlns:a16="http://schemas.microsoft.com/office/drawing/2014/main" id="{DB00AA0E-0A92-41AE-9008-8AE49C472EE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9938" y="3463925"/>
                        <a:ext cx="26924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09" name="Object 17">
            <a:extLst>
              <a:ext uri="{FF2B5EF4-FFF2-40B4-BE49-F238E27FC236}">
                <a16:creationId xmlns:a16="http://schemas.microsoft.com/office/drawing/2014/main" id="{01844431-FAF5-48B3-8702-B9DD66DE39DB}"/>
              </a:ext>
            </a:extLst>
          </p:cNvPr>
          <p:cNvGraphicFramePr>
            <a:graphicFrameLocks/>
          </p:cNvGraphicFramePr>
          <p:nvPr/>
        </p:nvGraphicFramePr>
        <p:xfrm>
          <a:off x="6313488" y="3482975"/>
          <a:ext cx="2362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339371" imgH="838422" progId="Equation.3">
                  <p:embed/>
                </p:oleObj>
              </mc:Choice>
              <mc:Fallback>
                <p:oleObj name="公式" r:id="rId23" imgW="2339371" imgH="838422" progId="Equation.3">
                  <p:embed/>
                  <p:pic>
                    <p:nvPicPr>
                      <p:cNvPr id="904209" name="Object 17">
                        <a:extLst>
                          <a:ext uri="{FF2B5EF4-FFF2-40B4-BE49-F238E27FC236}">
                            <a16:creationId xmlns:a16="http://schemas.microsoft.com/office/drawing/2014/main" id="{01844431-FAF5-48B3-8702-B9DD66DE39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488" y="3482975"/>
                        <a:ext cx="23622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4210" name="AutoShape 18">
            <a:extLst>
              <a:ext uri="{FF2B5EF4-FFF2-40B4-BE49-F238E27FC236}">
                <a16:creationId xmlns:a16="http://schemas.microsoft.com/office/drawing/2014/main" id="{BFB3EE0D-DDE4-4A8E-BF38-ACEB90707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3786188"/>
            <a:ext cx="1150938" cy="290512"/>
          </a:xfrm>
          <a:prstGeom prst="rightArrow">
            <a:avLst>
              <a:gd name="adj1" fmla="val 35648"/>
              <a:gd name="adj2" fmla="val 109297"/>
            </a:avLst>
          </a:prstGeom>
          <a:solidFill>
            <a:srgbClr val="FFCCFF"/>
          </a:solidFill>
          <a:ln w="222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904211" name="Text Box 19">
            <a:extLst>
              <a:ext uri="{FF2B5EF4-FFF2-40B4-BE49-F238E27FC236}">
                <a16:creationId xmlns:a16="http://schemas.microsoft.com/office/drawing/2014/main" id="{F470D3D2-90BB-488B-A8EC-0DDB973BF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556125"/>
            <a:ext cx="1712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FF6600"/>
              </a:buClr>
              <a:buFont typeface="Wingdings" panose="05000000000000000000" pitchFamily="2" charset="2"/>
              <a:buChar char="l"/>
            </a:pP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长度收缩</a:t>
            </a:r>
            <a:endParaRPr kumimoji="1" lang="zh-CN" altLang="en-US" b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904212" name="Object 20">
            <a:extLst>
              <a:ext uri="{FF2B5EF4-FFF2-40B4-BE49-F238E27FC236}">
                <a16:creationId xmlns:a16="http://schemas.microsoft.com/office/drawing/2014/main" id="{0EC1D342-82E1-43E5-9887-3222DA49F0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4562475"/>
          <a:ext cx="4619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4456" imgH="152622" progId="Equation.3">
                  <p:embed/>
                </p:oleObj>
              </mc:Choice>
              <mc:Fallback>
                <p:oleObj name="Equation" r:id="rId19" imgW="114456" imgH="152622" progId="Equation.3">
                  <p:embed/>
                  <p:pic>
                    <p:nvPicPr>
                      <p:cNvPr id="904212" name="Object 20">
                        <a:extLst>
                          <a:ext uri="{FF2B5EF4-FFF2-40B4-BE49-F238E27FC236}">
                            <a16:creationId xmlns:a16="http://schemas.microsoft.com/office/drawing/2014/main" id="{0EC1D342-82E1-43E5-9887-3222DA49F0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562475"/>
                        <a:ext cx="461963" cy="44450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13" name="Object 21">
            <a:extLst>
              <a:ext uri="{FF2B5EF4-FFF2-40B4-BE49-F238E27FC236}">
                <a16:creationId xmlns:a16="http://schemas.microsoft.com/office/drawing/2014/main" id="{86637FB2-EC9E-4D71-87CC-725C93393151}"/>
              </a:ext>
            </a:extLst>
          </p:cNvPr>
          <p:cNvGraphicFramePr>
            <a:graphicFrameLocks/>
          </p:cNvGraphicFramePr>
          <p:nvPr/>
        </p:nvGraphicFramePr>
        <p:xfrm>
          <a:off x="4645025" y="4600575"/>
          <a:ext cx="10810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058962" imgH="343149" progId="Equation.3">
                  <p:embed/>
                </p:oleObj>
              </mc:Choice>
              <mc:Fallback>
                <p:oleObj name="公式" r:id="rId26" imgW="1058962" imgH="343149" progId="Equation.3">
                  <p:embed/>
                  <p:pic>
                    <p:nvPicPr>
                      <p:cNvPr id="904213" name="Object 21">
                        <a:extLst>
                          <a:ext uri="{FF2B5EF4-FFF2-40B4-BE49-F238E27FC236}">
                            <a16:creationId xmlns:a16="http://schemas.microsoft.com/office/drawing/2014/main" id="{86637FB2-EC9E-4D71-87CC-725C9339315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4600575"/>
                        <a:ext cx="10810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14" name="Object 22">
            <a:extLst>
              <a:ext uri="{FF2B5EF4-FFF2-40B4-BE49-F238E27FC236}">
                <a16:creationId xmlns:a16="http://schemas.microsoft.com/office/drawing/2014/main" id="{16CB9B45-7E72-445D-A70E-AA559AE87CB6}"/>
              </a:ext>
            </a:extLst>
          </p:cNvPr>
          <p:cNvGraphicFramePr>
            <a:graphicFrameLocks/>
          </p:cNvGraphicFramePr>
          <p:nvPr/>
        </p:nvGraphicFramePr>
        <p:xfrm>
          <a:off x="6084888" y="4625975"/>
          <a:ext cx="992187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967896" imgH="297263" progId="Equation.3">
                  <p:embed/>
                </p:oleObj>
              </mc:Choice>
              <mc:Fallback>
                <p:oleObj name="公式" r:id="rId28" imgW="967896" imgH="297263" progId="Equation.3">
                  <p:embed/>
                  <p:pic>
                    <p:nvPicPr>
                      <p:cNvPr id="904214" name="Object 22">
                        <a:extLst>
                          <a:ext uri="{FF2B5EF4-FFF2-40B4-BE49-F238E27FC236}">
                            <a16:creationId xmlns:a16="http://schemas.microsoft.com/office/drawing/2014/main" id="{16CB9B45-7E72-445D-A70E-AA559AE87CB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4625975"/>
                        <a:ext cx="992187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15" name="Object 23">
            <a:extLst>
              <a:ext uri="{FF2B5EF4-FFF2-40B4-BE49-F238E27FC236}">
                <a16:creationId xmlns:a16="http://schemas.microsoft.com/office/drawing/2014/main" id="{18525DFB-9A12-48C3-80D4-9A9F5DAB18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0475" y="5280025"/>
          <a:ext cx="4318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52276" imgH="152622" progId="Equation.3">
                  <p:embed/>
                </p:oleObj>
              </mc:Choice>
              <mc:Fallback>
                <p:oleObj name="Equation" r:id="rId30" imgW="152276" imgH="152622" progId="Equation.3">
                  <p:embed/>
                  <p:pic>
                    <p:nvPicPr>
                      <p:cNvPr id="904215" name="Object 23">
                        <a:extLst>
                          <a:ext uri="{FF2B5EF4-FFF2-40B4-BE49-F238E27FC236}">
                            <a16:creationId xmlns:a16="http://schemas.microsoft.com/office/drawing/2014/main" id="{18525DFB-9A12-48C3-80D4-9A9F5DAB18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5280025"/>
                        <a:ext cx="431800" cy="433388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16" name="Object 24">
            <a:extLst>
              <a:ext uri="{FF2B5EF4-FFF2-40B4-BE49-F238E27FC236}">
                <a16:creationId xmlns:a16="http://schemas.microsoft.com/office/drawing/2014/main" id="{9271FCB8-F820-49E4-A41E-143F93511D09}"/>
              </a:ext>
            </a:extLst>
          </p:cNvPr>
          <p:cNvGraphicFramePr>
            <a:graphicFrameLocks/>
          </p:cNvGraphicFramePr>
          <p:nvPr/>
        </p:nvGraphicFramePr>
        <p:xfrm>
          <a:off x="2027238" y="5084763"/>
          <a:ext cx="2184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2164204" imgH="830441" progId="Equation.3">
                  <p:embed/>
                </p:oleObj>
              </mc:Choice>
              <mc:Fallback>
                <p:oleObj name="公式" r:id="rId32" imgW="2164204" imgH="830441" progId="Equation.3">
                  <p:embed/>
                  <p:pic>
                    <p:nvPicPr>
                      <p:cNvPr id="904216" name="Object 24">
                        <a:extLst>
                          <a:ext uri="{FF2B5EF4-FFF2-40B4-BE49-F238E27FC236}">
                            <a16:creationId xmlns:a16="http://schemas.microsoft.com/office/drawing/2014/main" id="{9271FCB8-F820-49E4-A41E-143F93511D0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5084763"/>
                        <a:ext cx="2184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4217" name="AutoShape 25">
            <a:extLst>
              <a:ext uri="{FF2B5EF4-FFF2-40B4-BE49-F238E27FC236}">
                <a16:creationId xmlns:a16="http://schemas.microsoft.com/office/drawing/2014/main" id="{A1E0030E-3690-4E9D-B2E6-56A7D7794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5395913"/>
            <a:ext cx="1479550" cy="265112"/>
          </a:xfrm>
          <a:prstGeom prst="rightArrow">
            <a:avLst>
              <a:gd name="adj1" fmla="val 41954"/>
              <a:gd name="adj2" fmla="val 148926"/>
            </a:avLst>
          </a:prstGeom>
          <a:solidFill>
            <a:srgbClr val="FFCCFF"/>
          </a:solidFill>
          <a:ln w="222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华文中宋" pitchFamily="2" charset="-122"/>
            </a:endParaRPr>
          </a:p>
        </p:txBody>
      </p:sp>
      <p:graphicFrame>
        <p:nvGraphicFramePr>
          <p:cNvPr id="904218" name="Object 26">
            <a:extLst>
              <a:ext uri="{FF2B5EF4-FFF2-40B4-BE49-F238E27FC236}">
                <a16:creationId xmlns:a16="http://schemas.microsoft.com/office/drawing/2014/main" id="{06BF4DC0-A628-437D-BA02-DC3408332CD6}"/>
              </a:ext>
            </a:extLst>
          </p:cNvPr>
          <p:cNvGraphicFramePr>
            <a:graphicFrameLocks/>
          </p:cNvGraphicFramePr>
          <p:nvPr/>
        </p:nvGraphicFramePr>
        <p:xfrm>
          <a:off x="6148388" y="5099050"/>
          <a:ext cx="2527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2507073" imgH="830441" progId="Equation.3">
                  <p:embed/>
                </p:oleObj>
              </mc:Choice>
              <mc:Fallback>
                <p:oleObj name="公式" r:id="rId34" imgW="2507073" imgH="830441" progId="Equation.3">
                  <p:embed/>
                  <p:pic>
                    <p:nvPicPr>
                      <p:cNvPr id="904218" name="Object 26">
                        <a:extLst>
                          <a:ext uri="{FF2B5EF4-FFF2-40B4-BE49-F238E27FC236}">
                            <a16:creationId xmlns:a16="http://schemas.microsoft.com/office/drawing/2014/main" id="{06BF4DC0-A628-437D-BA02-DC3408332CD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8388" y="5099050"/>
                        <a:ext cx="2527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4219" name="Object 27">
            <a:extLst>
              <a:ext uri="{FF2B5EF4-FFF2-40B4-BE49-F238E27FC236}">
                <a16:creationId xmlns:a16="http://schemas.microsoft.com/office/drawing/2014/main" id="{0F91C6F0-9C2D-4D04-A165-779CB31405AA}"/>
              </a:ext>
            </a:extLst>
          </p:cNvPr>
          <p:cNvGraphicFramePr>
            <a:graphicFrameLocks/>
          </p:cNvGraphicFramePr>
          <p:nvPr/>
        </p:nvGraphicFramePr>
        <p:xfrm>
          <a:off x="4500563" y="5949950"/>
          <a:ext cx="1778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752662" imgH="495272" progId="Equation.3">
                  <p:embed/>
                </p:oleObj>
              </mc:Choice>
              <mc:Fallback>
                <p:oleObj name="公式" r:id="rId36" imgW="1752662" imgH="495272" progId="Equation.3">
                  <p:embed/>
                  <p:pic>
                    <p:nvPicPr>
                      <p:cNvPr id="904219" name="Object 27">
                        <a:extLst>
                          <a:ext uri="{FF2B5EF4-FFF2-40B4-BE49-F238E27FC236}">
                            <a16:creationId xmlns:a16="http://schemas.microsoft.com/office/drawing/2014/main" id="{0F91C6F0-9C2D-4D04-A165-779CB31405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949950"/>
                        <a:ext cx="1778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0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04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04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0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04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04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04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0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90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90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04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904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90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90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194" grpId="0" autoUpdateAnimBg="0"/>
      <p:bldP spid="904196" grpId="0" autoUpdateAnimBg="0"/>
      <p:bldP spid="904201" grpId="0" animBg="1"/>
      <p:bldP spid="904203" grpId="0" autoUpdateAnimBg="0"/>
      <p:bldP spid="904210" grpId="0" animBg="1"/>
      <p:bldP spid="904211" grpId="0" autoUpdateAnimBg="0"/>
      <p:bldP spid="9042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18" name="Text Box 2">
            <a:extLst>
              <a:ext uri="{FF2B5EF4-FFF2-40B4-BE49-F238E27FC236}">
                <a16:creationId xmlns:a16="http://schemas.microsoft.com/office/drawing/2014/main" id="{25FFB3B5-97FA-4384-845C-94C9718B7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388938"/>
            <a:ext cx="1755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</a:t>
            </a: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kumimoji="1" lang="zh-CN" altLang="en-US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时序</a:t>
            </a:r>
          </a:p>
        </p:txBody>
      </p:sp>
      <p:graphicFrame>
        <p:nvGraphicFramePr>
          <p:cNvPr id="905219" name="Object 3">
            <a:extLst>
              <a:ext uri="{FF2B5EF4-FFF2-40B4-BE49-F238E27FC236}">
                <a16:creationId xmlns:a16="http://schemas.microsoft.com/office/drawing/2014/main" id="{56449BB5-0F0F-4175-81E1-C83C149F8EE9}"/>
              </a:ext>
            </a:extLst>
          </p:cNvPr>
          <p:cNvGraphicFramePr>
            <a:graphicFrameLocks/>
          </p:cNvGraphicFramePr>
          <p:nvPr/>
        </p:nvGraphicFramePr>
        <p:xfrm>
          <a:off x="2092325" y="549275"/>
          <a:ext cx="5143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120640" imgH="891789" progId="Equation.3">
                  <p:embed/>
                </p:oleObj>
              </mc:Choice>
              <mc:Fallback>
                <p:oleObj name="公式" r:id="rId2" imgW="5120640" imgH="891789" progId="Equation.3">
                  <p:embed/>
                  <p:pic>
                    <p:nvPicPr>
                      <p:cNvPr id="905219" name="Object 3">
                        <a:extLst>
                          <a:ext uri="{FF2B5EF4-FFF2-40B4-BE49-F238E27FC236}">
                            <a16:creationId xmlns:a16="http://schemas.microsoft.com/office/drawing/2014/main" id="{56449BB5-0F0F-4175-81E1-C83C149F8E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325" y="549275"/>
                        <a:ext cx="5143500" cy="914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20" name="Object 4">
            <a:extLst>
              <a:ext uri="{FF2B5EF4-FFF2-40B4-BE49-F238E27FC236}">
                <a16:creationId xmlns:a16="http://schemas.microsoft.com/office/drawing/2014/main" id="{23228B5B-8326-4711-BCBA-E2BA64D929BE}"/>
              </a:ext>
            </a:extLst>
          </p:cNvPr>
          <p:cNvGraphicFramePr>
            <a:graphicFrameLocks/>
          </p:cNvGraphicFramePr>
          <p:nvPr/>
        </p:nvGraphicFramePr>
        <p:xfrm>
          <a:off x="2195513" y="1781175"/>
          <a:ext cx="990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67896" imgH="297263" progId="Equation.3">
                  <p:embed/>
                </p:oleObj>
              </mc:Choice>
              <mc:Fallback>
                <p:oleObj name="公式" r:id="rId4" imgW="967896" imgH="297263" progId="Equation.3">
                  <p:embed/>
                  <p:pic>
                    <p:nvPicPr>
                      <p:cNvPr id="905220" name="Object 4">
                        <a:extLst>
                          <a:ext uri="{FF2B5EF4-FFF2-40B4-BE49-F238E27FC236}">
                            <a16:creationId xmlns:a16="http://schemas.microsoft.com/office/drawing/2014/main" id="{23228B5B-8326-4711-BCBA-E2BA64D929B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781175"/>
                        <a:ext cx="990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21" name="Object 5">
            <a:extLst>
              <a:ext uri="{FF2B5EF4-FFF2-40B4-BE49-F238E27FC236}">
                <a16:creationId xmlns:a16="http://schemas.microsoft.com/office/drawing/2014/main" id="{2890F624-271B-42B8-97E3-08E7F1A47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1717675"/>
          <a:ext cx="4619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456" imgH="152622" progId="Equation.3">
                  <p:embed/>
                </p:oleObj>
              </mc:Choice>
              <mc:Fallback>
                <p:oleObj name="Equation" r:id="rId6" imgW="114456" imgH="152622" progId="Equation.3">
                  <p:embed/>
                  <p:pic>
                    <p:nvPicPr>
                      <p:cNvPr id="905221" name="Object 5">
                        <a:extLst>
                          <a:ext uri="{FF2B5EF4-FFF2-40B4-BE49-F238E27FC236}">
                            <a16:creationId xmlns:a16="http://schemas.microsoft.com/office/drawing/2014/main" id="{2890F624-271B-42B8-97E3-08E7F1A477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717675"/>
                        <a:ext cx="461963" cy="44450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5222" name="Text Box 6">
            <a:extLst>
              <a:ext uri="{FF2B5EF4-FFF2-40B4-BE49-F238E27FC236}">
                <a16:creationId xmlns:a16="http://schemas.microsoft.com/office/drawing/2014/main" id="{771A5C9E-8C09-4DC1-8E57-F11E54EBF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711325"/>
            <a:ext cx="935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假设</a:t>
            </a:r>
            <a:endParaRPr kumimoji="1" lang="zh-CN" altLang="en-US" b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905223" name="Text Box 7">
            <a:extLst>
              <a:ext uri="{FF2B5EF4-FFF2-40B4-BE49-F238E27FC236}">
                <a16:creationId xmlns:a16="http://schemas.microsoft.com/office/drawing/2014/main" id="{37D5C1C7-4516-4FAA-A193-8E8CF4AFA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8188" y="1711325"/>
            <a:ext cx="3048000" cy="476250"/>
          </a:xfrm>
          <a:prstGeom prst="rect">
            <a:avLst/>
          </a:prstGeom>
          <a:noFill/>
          <a:ln w="19050">
            <a:solidFill>
              <a:srgbClr val="66FF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事件</a:t>
            </a: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先与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事件</a:t>
            </a: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发生</a:t>
            </a:r>
            <a:endParaRPr kumimoji="1" lang="zh-CN" altLang="en-US" sz="2800">
              <a:solidFill>
                <a:srgbClr val="66FF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905224" name="Object 8">
            <a:extLst>
              <a:ext uri="{FF2B5EF4-FFF2-40B4-BE49-F238E27FC236}">
                <a16:creationId xmlns:a16="http://schemas.microsoft.com/office/drawing/2014/main" id="{0D0D0846-C9EF-4C93-A63A-66C3C049D395}"/>
              </a:ext>
            </a:extLst>
          </p:cNvPr>
          <p:cNvGraphicFramePr>
            <a:graphicFrameLocks/>
          </p:cNvGraphicFramePr>
          <p:nvPr/>
        </p:nvGraphicFramePr>
        <p:xfrm>
          <a:off x="1425575" y="2339975"/>
          <a:ext cx="161448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92424" imgH="297263" progId="Equation.3">
                  <p:embed/>
                </p:oleObj>
              </mc:Choice>
              <mc:Fallback>
                <p:oleObj name="公式" r:id="rId8" imgW="1592424" imgH="297263" progId="Equation.3">
                  <p:embed/>
                  <p:pic>
                    <p:nvPicPr>
                      <p:cNvPr id="905224" name="Object 8">
                        <a:extLst>
                          <a:ext uri="{FF2B5EF4-FFF2-40B4-BE49-F238E27FC236}">
                            <a16:creationId xmlns:a16="http://schemas.microsoft.com/office/drawing/2014/main" id="{0D0D0846-C9EF-4C93-A63A-66C3C049D39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2339975"/>
                        <a:ext cx="1614488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25" name="Object 9">
            <a:extLst>
              <a:ext uri="{FF2B5EF4-FFF2-40B4-BE49-F238E27FC236}">
                <a16:creationId xmlns:a16="http://schemas.microsoft.com/office/drawing/2014/main" id="{FE4AEDCF-F671-406B-9F4B-536D9E9E51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2308225"/>
          <a:ext cx="4714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276" imgH="152622" progId="Equation.3">
                  <p:embed/>
                </p:oleObj>
              </mc:Choice>
              <mc:Fallback>
                <p:oleObj name="Equation" r:id="rId10" imgW="152276" imgH="152622" progId="Equation.3">
                  <p:embed/>
                  <p:pic>
                    <p:nvPicPr>
                      <p:cNvPr id="905225" name="Object 9">
                        <a:extLst>
                          <a:ext uri="{FF2B5EF4-FFF2-40B4-BE49-F238E27FC236}">
                            <a16:creationId xmlns:a16="http://schemas.microsoft.com/office/drawing/2014/main" id="{FE4AEDCF-F671-406B-9F4B-536D9E9E51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308225"/>
                        <a:ext cx="471488" cy="473075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5226" name="Text Box 10">
            <a:extLst>
              <a:ext uri="{FF2B5EF4-FFF2-40B4-BE49-F238E27FC236}">
                <a16:creationId xmlns:a16="http://schemas.microsoft.com/office/drawing/2014/main" id="{5376AF5A-BAA2-48EA-B9F2-382406CCF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971800"/>
            <a:ext cx="3671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FF6600"/>
              </a:buClr>
              <a:buFont typeface="Wingdings" panose="05000000000000000000" pitchFamily="2" charset="2"/>
              <a:buNone/>
            </a:pP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 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两独立事件间的时序</a:t>
            </a:r>
          </a:p>
        </p:txBody>
      </p:sp>
      <p:graphicFrame>
        <p:nvGraphicFramePr>
          <p:cNvPr id="905227" name="Object 11">
            <a:extLst>
              <a:ext uri="{FF2B5EF4-FFF2-40B4-BE49-F238E27FC236}">
                <a16:creationId xmlns:a16="http://schemas.microsoft.com/office/drawing/2014/main" id="{07A7ABCA-E311-47EF-8F25-C7FFEE1783A0}"/>
              </a:ext>
            </a:extLst>
          </p:cNvPr>
          <p:cNvGraphicFramePr>
            <a:graphicFrameLocks/>
          </p:cNvGraphicFramePr>
          <p:nvPr/>
        </p:nvGraphicFramePr>
        <p:xfrm>
          <a:off x="927100" y="3475038"/>
          <a:ext cx="356711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558571" imgH="418961" progId="Equation.3">
                  <p:embed/>
                </p:oleObj>
              </mc:Choice>
              <mc:Fallback>
                <p:oleObj name="公式" r:id="rId12" imgW="3558571" imgH="418961" progId="Equation.3">
                  <p:embed/>
                  <p:pic>
                    <p:nvPicPr>
                      <p:cNvPr id="905227" name="Object 11">
                        <a:extLst>
                          <a:ext uri="{FF2B5EF4-FFF2-40B4-BE49-F238E27FC236}">
                            <a16:creationId xmlns:a16="http://schemas.microsoft.com/office/drawing/2014/main" id="{07A7ABCA-E311-47EF-8F25-C7FFEE1783A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3475038"/>
                        <a:ext cx="3567113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28" name="Object 12">
            <a:extLst>
              <a:ext uri="{FF2B5EF4-FFF2-40B4-BE49-F238E27FC236}">
                <a16:creationId xmlns:a16="http://schemas.microsoft.com/office/drawing/2014/main" id="{7B4177C1-4B5B-4063-803B-6A6B732EEB35}"/>
              </a:ext>
            </a:extLst>
          </p:cNvPr>
          <p:cNvGraphicFramePr>
            <a:graphicFrameLocks/>
          </p:cNvGraphicFramePr>
          <p:nvPr/>
        </p:nvGraphicFramePr>
        <p:xfrm>
          <a:off x="4932363" y="3584575"/>
          <a:ext cx="1079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58962" imgH="297263" progId="Equation.3">
                  <p:embed/>
                </p:oleObj>
              </mc:Choice>
              <mc:Fallback>
                <p:oleObj name="公式" r:id="rId14" imgW="1058962" imgH="297263" progId="Equation.3">
                  <p:embed/>
                  <p:pic>
                    <p:nvPicPr>
                      <p:cNvPr id="905228" name="Object 12">
                        <a:extLst>
                          <a:ext uri="{FF2B5EF4-FFF2-40B4-BE49-F238E27FC236}">
                            <a16:creationId xmlns:a16="http://schemas.microsoft.com/office/drawing/2014/main" id="{7B4177C1-4B5B-4063-803B-6A6B732EEB3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3584575"/>
                        <a:ext cx="1079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5229" name="Text Box 13">
            <a:extLst>
              <a:ext uri="{FF2B5EF4-FFF2-40B4-BE49-F238E27FC236}">
                <a16:creationId xmlns:a16="http://schemas.microsoft.com/office/drawing/2014/main" id="{6F8A2ED8-4FDD-4E5C-9C3E-B8CF46B51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4638" y="3476625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时序不变</a:t>
            </a:r>
          </a:p>
        </p:txBody>
      </p:sp>
      <p:graphicFrame>
        <p:nvGraphicFramePr>
          <p:cNvPr id="905230" name="Object 14">
            <a:extLst>
              <a:ext uri="{FF2B5EF4-FFF2-40B4-BE49-F238E27FC236}">
                <a16:creationId xmlns:a16="http://schemas.microsoft.com/office/drawing/2014/main" id="{0D89E162-4D3C-42C5-B0BE-B06B75E8CFE4}"/>
              </a:ext>
            </a:extLst>
          </p:cNvPr>
          <p:cNvGraphicFramePr>
            <a:graphicFrameLocks/>
          </p:cNvGraphicFramePr>
          <p:nvPr/>
        </p:nvGraphicFramePr>
        <p:xfrm>
          <a:off x="952500" y="4089400"/>
          <a:ext cx="351631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505324" imgH="418961" progId="Equation.3">
                  <p:embed/>
                </p:oleObj>
              </mc:Choice>
              <mc:Fallback>
                <p:oleObj name="公式" r:id="rId16" imgW="3505324" imgH="418961" progId="Equation.3">
                  <p:embed/>
                  <p:pic>
                    <p:nvPicPr>
                      <p:cNvPr id="905230" name="Object 14">
                        <a:extLst>
                          <a:ext uri="{FF2B5EF4-FFF2-40B4-BE49-F238E27FC236}">
                            <a16:creationId xmlns:a16="http://schemas.microsoft.com/office/drawing/2014/main" id="{0D89E162-4D3C-42C5-B0BE-B06B75E8CFE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4089400"/>
                        <a:ext cx="3516313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31" name="Object 15">
            <a:extLst>
              <a:ext uri="{FF2B5EF4-FFF2-40B4-BE49-F238E27FC236}">
                <a16:creationId xmlns:a16="http://schemas.microsoft.com/office/drawing/2014/main" id="{54906632-40E8-42FE-987C-BA80BBFC5CC0}"/>
              </a:ext>
            </a:extLst>
          </p:cNvPr>
          <p:cNvGraphicFramePr>
            <a:graphicFrameLocks/>
          </p:cNvGraphicFramePr>
          <p:nvPr/>
        </p:nvGraphicFramePr>
        <p:xfrm>
          <a:off x="4932363" y="4152900"/>
          <a:ext cx="1079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058962" imgH="297263" progId="Equation.3">
                  <p:embed/>
                </p:oleObj>
              </mc:Choice>
              <mc:Fallback>
                <p:oleObj name="公式" r:id="rId18" imgW="1058962" imgH="297263" progId="Equation.3">
                  <p:embed/>
                  <p:pic>
                    <p:nvPicPr>
                      <p:cNvPr id="905231" name="Object 15">
                        <a:extLst>
                          <a:ext uri="{FF2B5EF4-FFF2-40B4-BE49-F238E27FC236}">
                            <a16:creationId xmlns:a16="http://schemas.microsoft.com/office/drawing/2014/main" id="{54906632-40E8-42FE-987C-BA80BBFC5C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4152900"/>
                        <a:ext cx="1079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5232" name="Text Box 16">
            <a:extLst>
              <a:ext uri="{FF2B5EF4-FFF2-40B4-BE49-F238E27FC236}">
                <a16:creationId xmlns:a16="http://schemas.microsoft.com/office/drawing/2014/main" id="{4B26B91B-42BF-41C7-989E-A8D4C1DE9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4638" y="4083050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同时发生</a:t>
            </a:r>
            <a:endParaRPr kumimoji="1" lang="zh-CN" altLang="en-US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905233" name="Object 17">
            <a:extLst>
              <a:ext uri="{FF2B5EF4-FFF2-40B4-BE49-F238E27FC236}">
                <a16:creationId xmlns:a16="http://schemas.microsoft.com/office/drawing/2014/main" id="{66C99751-D573-48DB-BB85-FBFE111437F4}"/>
              </a:ext>
            </a:extLst>
          </p:cNvPr>
          <p:cNvGraphicFramePr>
            <a:graphicFrameLocks/>
          </p:cNvGraphicFramePr>
          <p:nvPr/>
        </p:nvGraphicFramePr>
        <p:xfrm>
          <a:off x="933450" y="4665663"/>
          <a:ext cx="355441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543144" imgH="418961" progId="Equation.3">
                  <p:embed/>
                </p:oleObj>
              </mc:Choice>
              <mc:Fallback>
                <p:oleObj name="公式" r:id="rId20" imgW="3543144" imgH="418961" progId="Equation.3">
                  <p:embed/>
                  <p:pic>
                    <p:nvPicPr>
                      <p:cNvPr id="905233" name="Object 17">
                        <a:extLst>
                          <a:ext uri="{FF2B5EF4-FFF2-40B4-BE49-F238E27FC236}">
                            <a16:creationId xmlns:a16="http://schemas.microsoft.com/office/drawing/2014/main" id="{66C99751-D573-48DB-BB85-FBFE111437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4665663"/>
                        <a:ext cx="3554413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34" name="Object 18">
            <a:extLst>
              <a:ext uri="{FF2B5EF4-FFF2-40B4-BE49-F238E27FC236}">
                <a16:creationId xmlns:a16="http://schemas.microsoft.com/office/drawing/2014/main" id="{2D4BD2CB-CB7A-4FE6-90B5-962A06DA9EFD}"/>
              </a:ext>
            </a:extLst>
          </p:cNvPr>
          <p:cNvGraphicFramePr>
            <a:graphicFrameLocks/>
          </p:cNvGraphicFramePr>
          <p:nvPr/>
        </p:nvGraphicFramePr>
        <p:xfrm>
          <a:off x="4932363" y="4729163"/>
          <a:ext cx="1079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058962" imgH="297263" progId="Equation.3">
                  <p:embed/>
                </p:oleObj>
              </mc:Choice>
              <mc:Fallback>
                <p:oleObj name="公式" r:id="rId22" imgW="1058962" imgH="297263" progId="Equation.3">
                  <p:embed/>
                  <p:pic>
                    <p:nvPicPr>
                      <p:cNvPr id="905234" name="Object 18">
                        <a:extLst>
                          <a:ext uri="{FF2B5EF4-FFF2-40B4-BE49-F238E27FC236}">
                            <a16:creationId xmlns:a16="http://schemas.microsoft.com/office/drawing/2014/main" id="{2D4BD2CB-CB7A-4FE6-90B5-962A06DA9EF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4729163"/>
                        <a:ext cx="1079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5235" name="Text Box 19">
            <a:extLst>
              <a:ext uri="{FF2B5EF4-FFF2-40B4-BE49-F238E27FC236}">
                <a16:creationId xmlns:a16="http://schemas.microsoft.com/office/drawing/2014/main" id="{AE1B448C-55A6-46B6-8180-103D5AD8D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4638" y="4659313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时序颠倒</a:t>
            </a:r>
            <a:endParaRPr kumimoji="1" lang="zh-CN" altLang="en-US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905236" name="Text Box 20">
            <a:extLst>
              <a:ext uri="{FF2B5EF4-FFF2-40B4-BE49-F238E27FC236}">
                <a16:creationId xmlns:a16="http://schemas.microsoft.com/office/drawing/2014/main" id="{B2D61398-0FF9-45F5-9CCB-3AAAF54F8A51}"/>
              </a:ext>
            </a:extLst>
          </p:cNvPr>
          <p:cNvSpPr txBox="1">
            <a:spLocks noChangeArrowheads="1"/>
          </p:cNvSpPr>
          <p:nvPr/>
        </p:nvSpPr>
        <p:spPr bwMode="auto">
          <a:xfrm rot="944851">
            <a:off x="1979613" y="1952625"/>
            <a:ext cx="935037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7200" b="0">
                <a:solidFill>
                  <a:srgbClr val="00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?</a:t>
            </a:r>
            <a:endParaRPr kumimoji="1" lang="en-US" altLang="zh-CN" sz="7200" b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905237" name="AutoShape 21">
            <a:extLst>
              <a:ext uri="{FF2B5EF4-FFF2-40B4-BE49-F238E27FC236}">
                <a16:creationId xmlns:a16="http://schemas.microsoft.com/office/drawing/2014/main" id="{4D6F1943-A5AC-4C30-9485-E27E5C9FD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1846263"/>
            <a:ext cx="1150937" cy="287337"/>
          </a:xfrm>
          <a:prstGeom prst="rightArrow">
            <a:avLst>
              <a:gd name="adj1" fmla="val 35685"/>
              <a:gd name="adj2" fmla="val 89494"/>
            </a:avLst>
          </a:prstGeom>
          <a:solidFill>
            <a:srgbClr val="FFCCFF"/>
          </a:solidFill>
          <a:ln w="222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905238" name="Text Box 22">
            <a:extLst>
              <a:ext uri="{FF2B5EF4-FFF2-40B4-BE49-F238E27FC236}">
                <a16:creationId xmlns:a16="http://schemas.microsoft.com/office/drawing/2014/main" id="{68E06423-7B66-495C-976E-A665303D7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229225"/>
            <a:ext cx="4178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2.</a:t>
            </a:r>
            <a:r>
              <a:rPr kumimoji="1" lang="en-US" altLang="zh-CN" sz="2800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同地发生的两事件间的时序</a:t>
            </a:r>
          </a:p>
        </p:txBody>
      </p:sp>
      <p:graphicFrame>
        <p:nvGraphicFramePr>
          <p:cNvPr id="905239" name="Object 23">
            <a:extLst>
              <a:ext uri="{FF2B5EF4-FFF2-40B4-BE49-F238E27FC236}">
                <a16:creationId xmlns:a16="http://schemas.microsoft.com/office/drawing/2014/main" id="{E23C78A5-8A6F-47C3-A6B3-921C25B361DC}"/>
              </a:ext>
            </a:extLst>
          </p:cNvPr>
          <p:cNvGraphicFramePr>
            <a:graphicFrameLocks/>
          </p:cNvGraphicFramePr>
          <p:nvPr/>
        </p:nvGraphicFramePr>
        <p:xfrm>
          <a:off x="812800" y="5932488"/>
          <a:ext cx="1041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021142" imgH="297263" progId="Equation.3">
                  <p:embed/>
                </p:oleObj>
              </mc:Choice>
              <mc:Fallback>
                <p:oleObj name="公式" r:id="rId24" imgW="1021142" imgH="297263" progId="Equation.3">
                  <p:embed/>
                  <p:pic>
                    <p:nvPicPr>
                      <p:cNvPr id="905239" name="Object 23">
                        <a:extLst>
                          <a:ext uri="{FF2B5EF4-FFF2-40B4-BE49-F238E27FC236}">
                            <a16:creationId xmlns:a16="http://schemas.microsoft.com/office/drawing/2014/main" id="{E23C78A5-8A6F-47C3-A6B3-921C25B361D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5932488"/>
                        <a:ext cx="10414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40" name="Object 24">
            <a:extLst>
              <a:ext uri="{FF2B5EF4-FFF2-40B4-BE49-F238E27FC236}">
                <a16:creationId xmlns:a16="http://schemas.microsoft.com/office/drawing/2014/main" id="{2F52DB5A-29D5-4EF7-9798-8CE4C4E14DBC}"/>
              </a:ext>
            </a:extLst>
          </p:cNvPr>
          <p:cNvGraphicFramePr>
            <a:graphicFrameLocks/>
          </p:cNvGraphicFramePr>
          <p:nvPr/>
        </p:nvGraphicFramePr>
        <p:xfrm>
          <a:off x="2339975" y="5673725"/>
          <a:ext cx="1892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867118" imgH="830441" progId="Equation.3">
                  <p:embed/>
                </p:oleObj>
              </mc:Choice>
              <mc:Fallback>
                <p:oleObj name="公式" r:id="rId26" imgW="1867118" imgH="830441" progId="Equation.3">
                  <p:embed/>
                  <p:pic>
                    <p:nvPicPr>
                      <p:cNvPr id="905240" name="Object 24">
                        <a:extLst>
                          <a:ext uri="{FF2B5EF4-FFF2-40B4-BE49-F238E27FC236}">
                            <a16:creationId xmlns:a16="http://schemas.microsoft.com/office/drawing/2014/main" id="{2F52DB5A-29D5-4EF7-9798-8CE4C4E14DB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673725"/>
                        <a:ext cx="1892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5241" name="Object 25">
            <a:extLst>
              <a:ext uri="{FF2B5EF4-FFF2-40B4-BE49-F238E27FC236}">
                <a16:creationId xmlns:a16="http://schemas.microsoft.com/office/drawing/2014/main" id="{C7E199B4-F890-443B-A0F6-2524CBB27498}"/>
              </a:ext>
            </a:extLst>
          </p:cNvPr>
          <p:cNvGraphicFramePr>
            <a:graphicFrameLocks/>
          </p:cNvGraphicFramePr>
          <p:nvPr/>
        </p:nvGraphicFramePr>
        <p:xfrm>
          <a:off x="4140200" y="5961063"/>
          <a:ext cx="673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647918" imgH="297263" progId="Equation.3">
                  <p:embed/>
                </p:oleObj>
              </mc:Choice>
              <mc:Fallback>
                <p:oleObj name="公式" r:id="rId28" imgW="647918" imgH="297263" progId="Equation.3">
                  <p:embed/>
                  <p:pic>
                    <p:nvPicPr>
                      <p:cNvPr id="905241" name="Object 25">
                        <a:extLst>
                          <a:ext uri="{FF2B5EF4-FFF2-40B4-BE49-F238E27FC236}">
                            <a16:creationId xmlns:a16="http://schemas.microsoft.com/office/drawing/2014/main" id="{C7E199B4-F890-443B-A0F6-2524CBB2749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961063"/>
                        <a:ext cx="673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5242" name="Text Box 26">
            <a:extLst>
              <a:ext uri="{FF2B5EF4-FFF2-40B4-BE49-F238E27FC236}">
                <a16:creationId xmlns:a16="http://schemas.microsoft.com/office/drawing/2014/main" id="{B1FAC142-AA91-406F-B862-39CC41305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5864225"/>
            <a:ext cx="180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时序不变</a:t>
            </a:r>
          </a:p>
        </p:txBody>
      </p:sp>
      <p:sp>
        <p:nvSpPr>
          <p:cNvPr id="905243" name="Text Box 27">
            <a:extLst>
              <a:ext uri="{FF2B5EF4-FFF2-40B4-BE49-F238E27FC236}">
                <a16:creationId xmlns:a16="http://schemas.microsoft.com/office/drawing/2014/main" id="{162F96D8-01D6-4248-998B-F540DE9B5D93}"/>
              </a:ext>
            </a:extLst>
          </p:cNvPr>
          <p:cNvSpPr txBox="1">
            <a:spLocks noChangeArrowheads="1"/>
          </p:cNvSpPr>
          <p:nvPr/>
        </p:nvSpPr>
        <p:spPr bwMode="auto">
          <a:xfrm rot="944851">
            <a:off x="1692275" y="5624513"/>
            <a:ext cx="935038" cy="118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7200" b="0">
                <a:solidFill>
                  <a:srgbClr val="00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?</a:t>
            </a:r>
            <a:endParaRPr kumimoji="1" lang="en-US" altLang="zh-CN" sz="7200" b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5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0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0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0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0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0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0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905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905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905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0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0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0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0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0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0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0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0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0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0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90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90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000"/>
                                        <p:tgtEl>
                                          <p:spTgt spid="905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2000" fill="hold"/>
                                        <p:tgtEl>
                                          <p:spTgt spid="905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000" fill="hold"/>
                                        <p:tgtEl>
                                          <p:spTgt spid="905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0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90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90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5218" grpId="0" autoUpdateAnimBg="0"/>
      <p:bldP spid="905222" grpId="0" autoUpdateAnimBg="0"/>
      <p:bldP spid="905223" grpId="0" animBg="1" autoUpdateAnimBg="0"/>
      <p:bldP spid="905226" grpId="0" autoUpdateAnimBg="0"/>
      <p:bldP spid="905229" grpId="0" autoUpdateAnimBg="0"/>
      <p:bldP spid="905232" grpId="0" autoUpdateAnimBg="0"/>
      <p:bldP spid="905235" grpId="0" autoUpdateAnimBg="0"/>
      <p:bldP spid="905236" grpId="0"/>
      <p:bldP spid="905237" grpId="0" animBg="1"/>
      <p:bldP spid="905238" grpId="0" autoUpdateAnimBg="0"/>
      <p:bldP spid="905242" grpId="0" autoUpdateAnimBg="0"/>
      <p:bldP spid="90524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Text Box 2">
            <a:extLst>
              <a:ext uri="{FF2B5EF4-FFF2-40B4-BE49-F238E27FC236}">
                <a16:creationId xmlns:a16="http://schemas.microsoft.com/office/drawing/2014/main" id="{5E37C0E4-8093-4919-AFAB-B98402B4D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73238"/>
            <a:ext cx="2020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3. 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因果律事件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F0438C5D-CF34-4512-8DCD-EE6D1C0DA094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103313"/>
            <a:ext cx="3749675" cy="2224087"/>
            <a:chOff x="2352" y="672"/>
            <a:chExt cx="2362" cy="1401"/>
          </a:xfrm>
        </p:grpSpPr>
        <p:sp>
          <p:nvSpPr>
            <p:cNvPr id="14380" name="Text Box 4">
              <a:extLst>
                <a:ext uri="{FF2B5EF4-FFF2-40B4-BE49-F238E27FC236}">
                  <a16:creationId xmlns:a16="http://schemas.microsoft.com/office/drawing/2014/main" id="{09BCBAB5-DC5E-4A64-9248-D4CC2F7D0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0" y="1488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81" name="Text Box 5">
              <a:extLst>
                <a:ext uri="{FF2B5EF4-FFF2-40B4-BE49-F238E27FC236}">
                  <a16:creationId xmlns:a16="http://schemas.microsoft.com/office/drawing/2014/main" id="{3540415D-2B44-4C80-8D33-157897E89B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825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7270" name="Line 6">
              <a:extLst>
                <a:ext uri="{FF2B5EF4-FFF2-40B4-BE49-F238E27FC236}">
                  <a16:creationId xmlns:a16="http://schemas.microsoft.com/office/drawing/2014/main" id="{966F4E39-B7F0-4767-B112-DFBA3F3DE1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1728"/>
              <a:ext cx="384" cy="34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endParaRPr>
            </a:p>
          </p:txBody>
        </p:sp>
        <p:sp>
          <p:nvSpPr>
            <p:cNvPr id="907271" name="Line 7">
              <a:extLst>
                <a:ext uri="{FF2B5EF4-FFF2-40B4-BE49-F238E27FC236}">
                  <a16:creationId xmlns:a16="http://schemas.microsoft.com/office/drawing/2014/main" id="{252AEFAD-FE70-4A16-8699-C2B124052A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672"/>
              <a:ext cx="0" cy="106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endParaRPr>
            </a:p>
          </p:txBody>
        </p:sp>
        <p:sp>
          <p:nvSpPr>
            <p:cNvPr id="907272" name="Line 8">
              <a:extLst>
                <a:ext uri="{FF2B5EF4-FFF2-40B4-BE49-F238E27FC236}">
                  <a16:creationId xmlns:a16="http://schemas.microsoft.com/office/drawing/2014/main" id="{DD68D67F-0FD6-4533-939A-27DDAF5FB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728"/>
              <a:ext cx="192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endParaRPr>
            </a:p>
          </p:txBody>
        </p:sp>
        <p:sp>
          <p:nvSpPr>
            <p:cNvPr id="14385" name="Text Box 9">
              <a:extLst>
                <a:ext uri="{FF2B5EF4-FFF2-40B4-BE49-F238E27FC236}">
                  <a16:creationId xmlns:a16="http://schemas.microsoft.com/office/drawing/2014/main" id="{497276E7-6039-42B3-A8C4-138D14D68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680"/>
              <a:ext cx="25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en-US" sz="320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id="{9034B587-98A3-4572-BCE2-149A5DE33D77}"/>
              </a:ext>
            </a:extLst>
          </p:cNvPr>
          <p:cNvGrpSpPr>
            <a:grpSpLocks/>
          </p:cNvGrpSpPr>
          <p:nvPr/>
        </p:nvGrpSpPr>
        <p:grpSpPr bwMode="auto">
          <a:xfrm>
            <a:off x="6342063" y="2719388"/>
            <a:ext cx="533400" cy="600075"/>
            <a:chOff x="2426" y="1302"/>
            <a:chExt cx="336" cy="378"/>
          </a:xfrm>
        </p:grpSpPr>
        <p:graphicFrame>
          <p:nvGraphicFramePr>
            <p:cNvPr id="14378" name="Object 11">
              <a:extLst>
                <a:ext uri="{FF2B5EF4-FFF2-40B4-BE49-F238E27FC236}">
                  <a16:creationId xmlns:a16="http://schemas.microsoft.com/office/drawing/2014/main" id="{7B243E1B-410A-4768-86A6-78BA695F39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6" y="1351"/>
            <a:ext cx="336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44811" imgH="183046" progId="Equation.3">
                    <p:embed/>
                  </p:oleObj>
                </mc:Choice>
                <mc:Fallback>
                  <p:oleObj name="公式" r:id="rId2" imgW="144811" imgH="183046" progId="Equation.3">
                    <p:embed/>
                    <p:pic>
                      <p:nvPicPr>
                        <p:cNvPr id="14378" name="Object 11">
                          <a:extLst>
                            <a:ext uri="{FF2B5EF4-FFF2-40B4-BE49-F238E27FC236}">
                              <a16:creationId xmlns:a16="http://schemas.microsoft.com/office/drawing/2014/main" id="{7B243E1B-410A-4768-86A6-78BA695F39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1351"/>
                          <a:ext cx="336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7276" name="Oval 12">
              <a:extLst>
                <a:ext uri="{FF2B5EF4-FFF2-40B4-BE49-F238E27FC236}">
                  <a16:creationId xmlns:a16="http://schemas.microsoft.com/office/drawing/2014/main" id="{6489FAC9-C036-47B9-91E0-5CA247373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3" y="1302"/>
              <a:ext cx="103" cy="93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endParaRPr>
            </a:p>
          </p:txBody>
        </p:sp>
      </p:grpSp>
      <p:graphicFrame>
        <p:nvGraphicFramePr>
          <p:cNvPr id="907277" name="Object 13">
            <a:extLst>
              <a:ext uri="{FF2B5EF4-FFF2-40B4-BE49-F238E27FC236}">
                <a16:creationId xmlns:a16="http://schemas.microsoft.com/office/drawing/2014/main" id="{D1193BF5-F351-40DF-AF10-F8BAB5CD8B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62875" y="3160713"/>
          <a:ext cx="5334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4456" imgH="183046" progId="Equation.3">
                  <p:embed/>
                </p:oleObj>
              </mc:Choice>
              <mc:Fallback>
                <p:oleObj name="公式" r:id="rId4" imgW="114456" imgH="183046" progId="Equation.3">
                  <p:embed/>
                  <p:pic>
                    <p:nvPicPr>
                      <p:cNvPr id="907277" name="Object 13">
                        <a:extLst>
                          <a:ext uri="{FF2B5EF4-FFF2-40B4-BE49-F238E27FC236}">
                            <a16:creationId xmlns:a16="http://schemas.microsoft.com/office/drawing/2014/main" id="{D1193BF5-F351-40DF-AF10-F8BAB5CD8B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75" y="3160713"/>
                        <a:ext cx="53340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7278" name="Object 14">
            <a:extLst>
              <a:ext uri="{FF2B5EF4-FFF2-40B4-BE49-F238E27FC236}">
                <a16:creationId xmlns:a16="http://schemas.microsoft.com/office/drawing/2014/main" id="{7DF415EE-0EA6-4AF3-8BD4-57BEDA4AFA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8100" y="3160713"/>
          <a:ext cx="6096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1564" imgH="183046" progId="Equation.3">
                  <p:embed/>
                </p:oleObj>
              </mc:Choice>
              <mc:Fallback>
                <p:oleObj name="公式" r:id="rId6" imgW="91564" imgH="183046" progId="Equation.3">
                  <p:embed/>
                  <p:pic>
                    <p:nvPicPr>
                      <p:cNvPr id="907278" name="Object 14">
                        <a:extLst>
                          <a:ext uri="{FF2B5EF4-FFF2-40B4-BE49-F238E27FC236}">
                            <a16:creationId xmlns:a16="http://schemas.microsoft.com/office/drawing/2014/main" id="{7DF415EE-0EA6-4AF3-8BD4-57BEDA4AFA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8100" y="3160713"/>
                        <a:ext cx="60960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5">
            <a:extLst>
              <a:ext uri="{FF2B5EF4-FFF2-40B4-BE49-F238E27FC236}">
                <a16:creationId xmlns:a16="http://schemas.microsoft.com/office/drawing/2014/main" id="{D8BB643E-4ECD-4BE6-A17F-7AF4B8B08727}"/>
              </a:ext>
            </a:extLst>
          </p:cNvPr>
          <p:cNvGrpSpPr>
            <a:grpSpLocks/>
          </p:cNvGrpSpPr>
          <p:nvPr/>
        </p:nvGrpSpPr>
        <p:grpSpPr bwMode="auto">
          <a:xfrm>
            <a:off x="5753100" y="2246313"/>
            <a:ext cx="914400" cy="304800"/>
            <a:chOff x="6384" y="2064"/>
            <a:chExt cx="576" cy="192"/>
          </a:xfrm>
        </p:grpSpPr>
        <p:sp>
          <p:nvSpPr>
            <p:cNvPr id="907280" name="AutoShape 16">
              <a:extLst>
                <a:ext uri="{FF2B5EF4-FFF2-40B4-BE49-F238E27FC236}">
                  <a16:creationId xmlns:a16="http://schemas.microsoft.com/office/drawing/2014/main" id="{0F5DDF1B-A198-4823-B214-D20D085D9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2" y="2064"/>
              <a:ext cx="508" cy="192"/>
            </a:xfrm>
            <a:prstGeom prst="homePlate">
              <a:avLst>
                <a:gd name="adj" fmla="val 90510"/>
              </a:avLst>
            </a:prstGeom>
            <a:solidFill>
              <a:schemeClr val="accent2"/>
            </a:solidFill>
            <a:ln w="38100">
              <a:solidFill>
                <a:srgbClr val="FF3300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endParaRPr>
            </a:p>
          </p:txBody>
        </p:sp>
        <p:sp>
          <p:nvSpPr>
            <p:cNvPr id="907281" name="Oval 17">
              <a:extLst>
                <a:ext uri="{FF2B5EF4-FFF2-40B4-BE49-F238E27FC236}">
                  <a16:creationId xmlns:a16="http://schemas.microsoft.com/office/drawing/2014/main" id="{8B7FAEFA-2537-42EE-B003-5841AE76E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4" y="2064"/>
              <a:ext cx="136" cy="192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FFFF00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endParaRPr>
            </a:p>
          </p:txBody>
        </p:sp>
      </p:grpSp>
      <p:grpSp>
        <p:nvGrpSpPr>
          <p:cNvPr id="5" name="Group 18">
            <a:extLst>
              <a:ext uri="{FF2B5EF4-FFF2-40B4-BE49-F238E27FC236}">
                <a16:creationId xmlns:a16="http://schemas.microsoft.com/office/drawing/2014/main" id="{B5BC95F9-1B56-4004-995E-88996DE13098}"/>
              </a:ext>
            </a:extLst>
          </p:cNvPr>
          <p:cNvGrpSpPr>
            <a:grpSpLocks/>
          </p:cNvGrpSpPr>
          <p:nvPr/>
        </p:nvGrpSpPr>
        <p:grpSpPr bwMode="auto">
          <a:xfrm>
            <a:off x="6210300" y="1360488"/>
            <a:ext cx="765175" cy="581025"/>
            <a:chOff x="4112" y="306"/>
            <a:chExt cx="482" cy="366"/>
          </a:xfrm>
        </p:grpSpPr>
        <p:sp>
          <p:nvSpPr>
            <p:cNvPr id="907283" name="Line 19">
              <a:extLst>
                <a:ext uri="{FF2B5EF4-FFF2-40B4-BE49-F238E27FC236}">
                  <a16:creationId xmlns:a16="http://schemas.microsoft.com/office/drawing/2014/main" id="{C0CB7996-9E51-4391-BBFB-7FCEC8BB8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2" y="672"/>
              <a:ext cx="482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endParaRPr>
            </a:p>
          </p:txBody>
        </p:sp>
        <p:sp>
          <p:nvSpPr>
            <p:cNvPr id="14374" name="Text Box 20">
              <a:extLst>
                <a:ext uri="{FF2B5EF4-FFF2-40B4-BE49-F238E27FC236}">
                  <a16:creationId xmlns:a16="http://schemas.microsoft.com/office/drawing/2014/main" id="{4012A0F2-81B4-4EE6-861B-CB61DFB8B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2" y="306"/>
              <a:ext cx="25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3200" i="1">
                  <a:solidFill>
                    <a:srgbClr val="66FF33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v</a:t>
              </a:r>
              <a:endParaRPr kumimoji="1" lang="en-US" altLang="zh-CN" sz="3200" b="0">
                <a:solidFill>
                  <a:srgbClr val="66FF33"/>
                </a:solidFill>
                <a:latin typeface="Bookman Old Style" panose="0205060405050502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7285" name="Line 21">
              <a:extLst>
                <a:ext uri="{FF2B5EF4-FFF2-40B4-BE49-F238E27FC236}">
                  <a16:creationId xmlns:a16="http://schemas.microsoft.com/office/drawing/2014/main" id="{4C4CFA38-62BA-49BC-A9F9-FDBA043541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5" y="390"/>
              <a:ext cx="202" cy="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endParaRPr>
            </a:p>
          </p:txBody>
        </p:sp>
      </p:grpSp>
      <p:grpSp>
        <p:nvGrpSpPr>
          <p:cNvPr id="6" name="Group 22">
            <a:extLst>
              <a:ext uri="{FF2B5EF4-FFF2-40B4-BE49-F238E27FC236}">
                <a16:creationId xmlns:a16="http://schemas.microsoft.com/office/drawing/2014/main" id="{47EA1F46-9B83-4B38-B922-53D5BDE86828}"/>
              </a:ext>
            </a:extLst>
          </p:cNvPr>
          <p:cNvGrpSpPr>
            <a:grpSpLocks/>
          </p:cNvGrpSpPr>
          <p:nvPr/>
        </p:nvGrpSpPr>
        <p:grpSpPr bwMode="auto">
          <a:xfrm>
            <a:off x="5753100" y="2246313"/>
            <a:ext cx="914400" cy="304800"/>
            <a:chOff x="6384" y="2064"/>
            <a:chExt cx="576" cy="192"/>
          </a:xfrm>
        </p:grpSpPr>
        <p:sp>
          <p:nvSpPr>
            <p:cNvPr id="907287" name="AutoShape 23">
              <a:extLst>
                <a:ext uri="{FF2B5EF4-FFF2-40B4-BE49-F238E27FC236}">
                  <a16:creationId xmlns:a16="http://schemas.microsoft.com/office/drawing/2014/main" id="{33FB8DE0-FC12-40A0-BC22-B49ED2FCE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2" y="2064"/>
              <a:ext cx="508" cy="192"/>
            </a:xfrm>
            <a:prstGeom prst="homePlate">
              <a:avLst>
                <a:gd name="adj" fmla="val 90510"/>
              </a:avLst>
            </a:prstGeom>
            <a:solidFill>
              <a:schemeClr val="accent2"/>
            </a:solidFill>
            <a:ln w="38100">
              <a:solidFill>
                <a:srgbClr val="FFCC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endParaRPr>
            </a:p>
          </p:txBody>
        </p:sp>
        <p:sp>
          <p:nvSpPr>
            <p:cNvPr id="907288" name="Oval 24">
              <a:extLst>
                <a:ext uri="{FF2B5EF4-FFF2-40B4-BE49-F238E27FC236}">
                  <a16:creationId xmlns:a16="http://schemas.microsoft.com/office/drawing/2014/main" id="{29BDF196-60FD-440B-BC71-F86510C97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4" y="2064"/>
              <a:ext cx="136" cy="192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rgbClr val="FFCC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endParaRPr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id="{1210FC29-A3C4-4944-9E25-68D00850583B}"/>
              </a:ext>
            </a:extLst>
          </p:cNvPr>
          <p:cNvGrpSpPr>
            <a:grpSpLocks/>
          </p:cNvGrpSpPr>
          <p:nvPr/>
        </p:nvGrpSpPr>
        <p:grpSpPr bwMode="auto">
          <a:xfrm>
            <a:off x="7747000" y="1865313"/>
            <a:ext cx="460375" cy="1436687"/>
            <a:chOff x="5030" y="624"/>
            <a:chExt cx="290" cy="905"/>
          </a:xfrm>
        </p:grpSpPr>
        <p:graphicFrame>
          <p:nvGraphicFramePr>
            <p:cNvPr id="14361" name="Object 26">
              <a:extLst>
                <a:ext uri="{FF2B5EF4-FFF2-40B4-BE49-F238E27FC236}">
                  <a16:creationId xmlns:a16="http://schemas.microsoft.com/office/drawing/2014/main" id="{B0955622-BE67-4C3D-BC09-4A45633336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30" y="1200"/>
            <a:ext cx="290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52276" imgH="183046" progId="Equation.3">
                    <p:embed/>
                  </p:oleObj>
                </mc:Choice>
                <mc:Fallback>
                  <p:oleObj name="公式" r:id="rId8" imgW="152276" imgH="183046" progId="Equation.3">
                    <p:embed/>
                    <p:pic>
                      <p:nvPicPr>
                        <p:cNvPr id="14361" name="Object 26">
                          <a:extLst>
                            <a:ext uri="{FF2B5EF4-FFF2-40B4-BE49-F238E27FC236}">
                              <a16:creationId xmlns:a16="http://schemas.microsoft.com/office/drawing/2014/main" id="{B0955622-BE67-4C3D-BC09-4A45633336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0" y="1200"/>
                          <a:ext cx="290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62" name="Group 27">
              <a:extLst>
                <a:ext uri="{FF2B5EF4-FFF2-40B4-BE49-F238E27FC236}">
                  <a16:creationId xmlns:a16="http://schemas.microsoft.com/office/drawing/2014/main" id="{D0DBBC37-FD85-4939-9507-2818F19BEC07}"/>
                </a:ext>
              </a:extLst>
            </p:cNvPr>
            <p:cNvGrpSpPr>
              <a:grpSpLocks/>
            </p:cNvGrpSpPr>
            <p:nvPr/>
          </p:nvGrpSpPr>
          <p:grpSpPr bwMode="auto">
            <a:xfrm rot="5365996">
              <a:off x="4910" y="888"/>
              <a:ext cx="624" cy="96"/>
              <a:chOff x="672" y="336"/>
              <a:chExt cx="624" cy="96"/>
            </a:xfrm>
          </p:grpSpPr>
          <p:sp>
            <p:nvSpPr>
              <p:cNvPr id="907292" name="Line 28">
                <a:extLst>
                  <a:ext uri="{FF2B5EF4-FFF2-40B4-BE49-F238E27FC236}">
                    <a16:creationId xmlns:a16="http://schemas.microsoft.com/office/drawing/2014/main" id="{8003B664-8100-4E9A-87C0-C958B005B8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1" y="445"/>
                <a:ext cx="576" cy="0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ea typeface="华文中宋" pitchFamily="2" charset="-122"/>
                </a:endParaRPr>
              </a:p>
            </p:txBody>
          </p:sp>
          <p:sp>
            <p:nvSpPr>
              <p:cNvPr id="907293" name="Line 29">
                <a:extLst>
                  <a:ext uri="{FF2B5EF4-FFF2-40B4-BE49-F238E27FC236}">
                    <a16:creationId xmlns:a16="http://schemas.microsoft.com/office/drawing/2014/main" id="{E270AEB5-7603-4080-B4B5-F3A8F902C4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3" y="336"/>
                <a:ext cx="144" cy="96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ea typeface="华文中宋" pitchFamily="2" charset="-122"/>
                </a:endParaRPr>
              </a:p>
            </p:txBody>
          </p:sp>
          <p:sp>
            <p:nvSpPr>
              <p:cNvPr id="907294" name="Line 30">
                <a:extLst>
                  <a:ext uri="{FF2B5EF4-FFF2-40B4-BE49-F238E27FC236}">
                    <a16:creationId xmlns:a16="http://schemas.microsoft.com/office/drawing/2014/main" id="{D864B30A-3345-4FD5-B27B-C1EA1DE591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349"/>
                <a:ext cx="144" cy="96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ea typeface="华文中宋" pitchFamily="2" charset="-122"/>
                </a:endParaRPr>
              </a:p>
            </p:txBody>
          </p:sp>
          <p:sp>
            <p:nvSpPr>
              <p:cNvPr id="907295" name="Line 31">
                <a:extLst>
                  <a:ext uri="{FF2B5EF4-FFF2-40B4-BE49-F238E27FC236}">
                    <a16:creationId xmlns:a16="http://schemas.microsoft.com/office/drawing/2014/main" id="{AE835403-F565-4EC0-B803-3A782BB4F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8" y="349"/>
                <a:ext cx="144" cy="96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ea typeface="华文中宋" pitchFamily="2" charset="-122"/>
                </a:endParaRPr>
              </a:p>
            </p:txBody>
          </p:sp>
          <p:sp>
            <p:nvSpPr>
              <p:cNvPr id="907296" name="Line 32">
                <a:extLst>
                  <a:ext uri="{FF2B5EF4-FFF2-40B4-BE49-F238E27FC236}">
                    <a16:creationId xmlns:a16="http://schemas.microsoft.com/office/drawing/2014/main" id="{1F53A229-AA8E-43EE-98EF-6AA0251CA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349"/>
                <a:ext cx="144" cy="96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ea typeface="华文中宋" pitchFamily="2" charset="-122"/>
                </a:endParaRPr>
              </a:p>
            </p:txBody>
          </p:sp>
          <p:sp>
            <p:nvSpPr>
              <p:cNvPr id="907297" name="Line 33">
                <a:extLst>
                  <a:ext uri="{FF2B5EF4-FFF2-40B4-BE49-F238E27FC236}">
                    <a16:creationId xmlns:a16="http://schemas.microsoft.com/office/drawing/2014/main" id="{1E405968-F477-4B8C-BEA5-9DF879611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39" y="336"/>
                <a:ext cx="144" cy="96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ea typeface="华文中宋" pitchFamily="2" charset="-122"/>
                </a:endParaRPr>
              </a:p>
            </p:txBody>
          </p:sp>
          <p:sp>
            <p:nvSpPr>
              <p:cNvPr id="907298" name="Line 34">
                <a:extLst>
                  <a:ext uri="{FF2B5EF4-FFF2-40B4-BE49-F238E27FC236}">
                    <a16:creationId xmlns:a16="http://schemas.microsoft.com/office/drawing/2014/main" id="{28ABA38F-8BB3-4242-982F-C32A928E9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7" y="336"/>
                <a:ext cx="144" cy="96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ea typeface="华文中宋" pitchFamily="2" charset="-122"/>
                </a:endParaRPr>
              </a:p>
            </p:txBody>
          </p:sp>
        </p:grpSp>
        <p:sp>
          <p:nvSpPr>
            <p:cNvPr id="907299" name="Oval 35">
              <a:extLst>
                <a:ext uri="{FF2B5EF4-FFF2-40B4-BE49-F238E27FC236}">
                  <a16:creationId xmlns:a16="http://schemas.microsoft.com/office/drawing/2014/main" id="{A0413CDB-97A6-4224-9AB0-66888727C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1" y="1159"/>
              <a:ext cx="103" cy="93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华文中宋" pitchFamily="2" charset="-122"/>
              </a:endParaRPr>
            </a:p>
          </p:txBody>
        </p:sp>
      </p:grpSp>
      <p:sp>
        <p:nvSpPr>
          <p:cNvPr id="907300" name="Text Box 36">
            <a:extLst>
              <a:ext uri="{FF2B5EF4-FFF2-40B4-BE49-F238E27FC236}">
                <a16:creationId xmlns:a16="http://schemas.microsoft.com/office/drawing/2014/main" id="{9DFE33F2-CFB1-4DE1-8023-C155DCEA0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3" y="2514600"/>
            <a:ext cx="20732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子弹传递速度</a:t>
            </a: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平均速度</a:t>
            </a: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endParaRPr kumimoji="1" lang="en-US" altLang="zh-CN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907301" name="Object 37">
            <a:extLst>
              <a:ext uri="{FF2B5EF4-FFF2-40B4-BE49-F238E27FC236}">
                <a16:creationId xmlns:a16="http://schemas.microsoft.com/office/drawing/2014/main" id="{ED6E9A3D-1430-40E0-906D-7E49D5E1AEF0}"/>
              </a:ext>
            </a:extLst>
          </p:cNvPr>
          <p:cNvGraphicFramePr>
            <a:graphicFrameLocks/>
          </p:cNvGraphicFramePr>
          <p:nvPr/>
        </p:nvGraphicFramePr>
        <p:xfrm>
          <a:off x="3117850" y="2514600"/>
          <a:ext cx="15255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01358" imgH="891789" progId="Equation.3">
                  <p:embed/>
                </p:oleObj>
              </mc:Choice>
              <mc:Fallback>
                <p:oleObj name="公式" r:id="rId10" imgW="1501358" imgH="891789" progId="Equation.3">
                  <p:embed/>
                  <p:pic>
                    <p:nvPicPr>
                      <p:cNvPr id="907301" name="Object 37">
                        <a:extLst>
                          <a:ext uri="{FF2B5EF4-FFF2-40B4-BE49-F238E27FC236}">
                            <a16:creationId xmlns:a16="http://schemas.microsoft.com/office/drawing/2014/main" id="{ED6E9A3D-1430-40E0-906D-7E49D5E1AEF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2514600"/>
                        <a:ext cx="15255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7302" name="Object 38">
            <a:extLst>
              <a:ext uri="{FF2B5EF4-FFF2-40B4-BE49-F238E27FC236}">
                <a16:creationId xmlns:a16="http://schemas.microsoft.com/office/drawing/2014/main" id="{8BEA66AC-407C-44E9-9670-D114B738CF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125" y="2549525"/>
          <a:ext cx="4619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456" imgH="152622" progId="Equation.3">
                  <p:embed/>
                </p:oleObj>
              </mc:Choice>
              <mc:Fallback>
                <p:oleObj name="Equation" r:id="rId12" imgW="114456" imgH="152622" progId="Equation.3">
                  <p:embed/>
                  <p:pic>
                    <p:nvPicPr>
                      <p:cNvPr id="907302" name="Object 38">
                        <a:extLst>
                          <a:ext uri="{FF2B5EF4-FFF2-40B4-BE49-F238E27FC236}">
                            <a16:creationId xmlns:a16="http://schemas.microsoft.com/office/drawing/2014/main" id="{8BEA66AC-407C-44E9-9670-D114B738CF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" y="2549525"/>
                        <a:ext cx="461963" cy="44450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7303" name="Object 39">
            <a:extLst>
              <a:ext uri="{FF2B5EF4-FFF2-40B4-BE49-F238E27FC236}">
                <a16:creationId xmlns:a16="http://schemas.microsoft.com/office/drawing/2014/main" id="{64F70E35-D9AD-474B-9E2B-EE09579C81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4035425"/>
          <a:ext cx="4714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76" imgH="152622" progId="Equation.3">
                  <p:embed/>
                </p:oleObj>
              </mc:Choice>
              <mc:Fallback>
                <p:oleObj name="Equation" r:id="rId14" imgW="152276" imgH="152622" progId="Equation.3">
                  <p:embed/>
                  <p:pic>
                    <p:nvPicPr>
                      <p:cNvPr id="907303" name="Object 39">
                        <a:extLst>
                          <a:ext uri="{FF2B5EF4-FFF2-40B4-BE49-F238E27FC236}">
                            <a16:creationId xmlns:a16="http://schemas.microsoft.com/office/drawing/2014/main" id="{64F70E35-D9AD-474B-9E2B-EE09579C81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035425"/>
                        <a:ext cx="471488" cy="473075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7304" name="Object 40">
            <a:extLst>
              <a:ext uri="{FF2B5EF4-FFF2-40B4-BE49-F238E27FC236}">
                <a16:creationId xmlns:a16="http://schemas.microsoft.com/office/drawing/2014/main" id="{3ECA4869-AA7D-4396-8A8F-FF68448DB6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1900" y="3829050"/>
          <a:ext cx="4257675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011929" imgH="472329" progId="Equation.3">
                  <p:embed/>
                </p:oleObj>
              </mc:Choice>
              <mc:Fallback>
                <p:oleObj name="公式" r:id="rId16" imgW="2011929" imgH="472329" progId="Equation.3">
                  <p:embed/>
                  <p:pic>
                    <p:nvPicPr>
                      <p:cNvPr id="907304" name="Object 40">
                        <a:extLst>
                          <a:ext uri="{FF2B5EF4-FFF2-40B4-BE49-F238E27FC236}">
                            <a16:creationId xmlns:a16="http://schemas.microsoft.com/office/drawing/2014/main" id="{3ECA4869-AA7D-4396-8A8F-FF68448DB6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900" y="3829050"/>
                        <a:ext cx="4257675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33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7305" name="Object 41">
            <a:extLst>
              <a:ext uri="{FF2B5EF4-FFF2-40B4-BE49-F238E27FC236}">
                <a16:creationId xmlns:a16="http://schemas.microsoft.com/office/drawing/2014/main" id="{3C3E5B03-846A-4F05-ACBD-D04B2457F79A}"/>
              </a:ext>
            </a:extLst>
          </p:cNvPr>
          <p:cNvGraphicFramePr>
            <a:graphicFrameLocks/>
          </p:cNvGraphicFramePr>
          <p:nvPr/>
        </p:nvGraphicFramePr>
        <p:xfrm>
          <a:off x="2941638" y="5122863"/>
          <a:ext cx="86360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38013" imgH="220952" progId="Equation.3">
                  <p:embed/>
                </p:oleObj>
              </mc:Choice>
              <mc:Fallback>
                <p:oleObj name="公式" r:id="rId18" imgW="838013" imgH="220952" progId="Equation.3">
                  <p:embed/>
                  <p:pic>
                    <p:nvPicPr>
                      <p:cNvPr id="907305" name="Object 41">
                        <a:extLst>
                          <a:ext uri="{FF2B5EF4-FFF2-40B4-BE49-F238E27FC236}">
                            <a16:creationId xmlns:a16="http://schemas.microsoft.com/office/drawing/2014/main" id="{3C3E5B03-846A-4F05-ACBD-D04B2457F7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638" y="5122863"/>
                        <a:ext cx="863600" cy="24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7306" name="Object 42">
            <a:extLst>
              <a:ext uri="{FF2B5EF4-FFF2-40B4-BE49-F238E27FC236}">
                <a16:creationId xmlns:a16="http://schemas.microsoft.com/office/drawing/2014/main" id="{DACB9507-74A5-424A-87FF-585EC66584FE}"/>
              </a:ext>
            </a:extLst>
          </p:cNvPr>
          <p:cNvGraphicFramePr>
            <a:graphicFrameLocks/>
          </p:cNvGraphicFramePr>
          <p:nvPr/>
        </p:nvGraphicFramePr>
        <p:xfrm>
          <a:off x="3013075" y="5481638"/>
          <a:ext cx="83820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815122" imgH="266839" progId="Equation.3">
                  <p:embed/>
                </p:oleObj>
              </mc:Choice>
              <mc:Fallback>
                <p:oleObj name="公式" r:id="rId20" imgW="815122" imgH="266839" progId="Equation.3">
                  <p:embed/>
                  <p:pic>
                    <p:nvPicPr>
                      <p:cNvPr id="907306" name="Object 42">
                        <a:extLst>
                          <a:ext uri="{FF2B5EF4-FFF2-40B4-BE49-F238E27FC236}">
                            <a16:creationId xmlns:a16="http://schemas.microsoft.com/office/drawing/2014/main" id="{DACB9507-74A5-424A-87FF-585EC66584F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5481638"/>
                        <a:ext cx="838200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7307" name="AutoShape 43">
            <a:extLst>
              <a:ext uri="{FF2B5EF4-FFF2-40B4-BE49-F238E27FC236}">
                <a16:creationId xmlns:a16="http://schemas.microsoft.com/office/drawing/2014/main" id="{4658E7B9-A7CC-413F-B020-AEB5DE81E5AD}"/>
              </a:ext>
            </a:extLst>
          </p:cNvPr>
          <p:cNvSpPr>
            <a:spLocks/>
          </p:cNvSpPr>
          <p:nvPr/>
        </p:nvSpPr>
        <p:spPr bwMode="auto">
          <a:xfrm rot="10800000">
            <a:off x="4021138" y="5122863"/>
            <a:ext cx="288925" cy="647700"/>
          </a:xfrm>
          <a:prstGeom prst="leftBrace">
            <a:avLst>
              <a:gd name="adj1" fmla="val 18681"/>
              <a:gd name="adj2" fmla="val 50000"/>
            </a:avLst>
          </a:prstGeom>
          <a:noFill/>
          <a:ln w="22225">
            <a:solidFill>
              <a:srgbClr val="66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华文中宋" pitchFamily="2" charset="-122"/>
            </a:endParaRPr>
          </a:p>
        </p:txBody>
      </p:sp>
      <p:graphicFrame>
        <p:nvGraphicFramePr>
          <p:cNvPr id="907308" name="Object 44">
            <a:extLst>
              <a:ext uri="{FF2B5EF4-FFF2-40B4-BE49-F238E27FC236}">
                <a16:creationId xmlns:a16="http://schemas.microsoft.com/office/drawing/2014/main" id="{36D59D17-A08D-4733-A5F4-EC50A89A6EE6}"/>
              </a:ext>
            </a:extLst>
          </p:cNvPr>
          <p:cNvGraphicFramePr>
            <a:graphicFrameLocks/>
          </p:cNvGraphicFramePr>
          <p:nvPr/>
        </p:nvGraphicFramePr>
        <p:xfrm>
          <a:off x="4525963" y="5265738"/>
          <a:ext cx="134143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325693" imgH="449386" progId="Equation.3">
                  <p:embed/>
                </p:oleObj>
              </mc:Choice>
              <mc:Fallback>
                <p:oleObj name="公式" r:id="rId22" imgW="1325693" imgH="449386" progId="Equation.3">
                  <p:embed/>
                  <p:pic>
                    <p:nvPicPr>
                      <p:cNvPr id="907308" name="Object 44">
                        <a:extLst>
                          <a:ext uri="{FF2B5EF4-FFF2-40B4-BE49-F238E27FC236}">
                            <a16:creationId xmlns:a16="http://schemas.microsoft.com/office/drawing/2014/main" id="{36D59D17-A08D-4733-A5F4-EC50A89A6E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5265738"/>
                        <a:ext cx="134143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33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7309" name="AutoShape 45">
            <a:extLst>
              <a:ext uri="{FF2B5EF4-FFF2-40B4-BE49-F238E27FC236}">
                <a16:creationId xmlns:a16="http://schemas.microsoft.com/office/drawing/2014/main" id="{69D6B860-4F7C-4D96-8045-0545003ECFA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667251" y="4811712"/>
            <a:ext cx="431800" cy="333375"/>
          </a:xfrm>
          <a:prstGeom prst="rightArrow">
            <a:avLst>
              <a:gd name="adj1" fmla="val 33991"/>
              <a:gd name="adj2" fmla="val 45069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907310" name="AutoShape 46">
            <a:extLst>
              <a:ext uri="{FF2B5EF4-FFF2-40B4-BE49-F238E27FC236}">
                <a16:creationId xmlns:a16="http://schemas.microsoft.com/office/drawing/2014/main" id="{2F8BD6F8-597C-47E1-ABC9-72F72D8E4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213225"/>
            <a:ext cx="976313" cy="333375"/>
          </a:xfrm>
          <a:prstGeom prst="rightArrow">
            <a:avLst>
              <a:gd name="adj1" fmla="val 33991"/>
              <a:gd name="adj2" fmla="val 101903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华文中宋" pitchFamily="2" charset="-122"/>
            </a:endParaRPr>
          </a:p>
        </p:txBody>
      </p:sp>
      <p:graphicFrame>
        <p:nvGraphicFramePr>
          <p:cNvPr id="907311" name="Object 47">
            <a:extLst>
              <a:ext uri="{FF2B5EF4-FFF2-40B4-BE49-F238E27FC236}">
                <a16:creationId xmlns:a16="http://schemas.microsoft.com/office/drawing/2014/main" id="{1F37FC60-D6C4-4FF5-92A7-B169BB5E3090}"/>
              </a:ext>
            </a:extLst>
          </p:cNvPr>
          <p:cNvGraphicFramePr>
            <a:graphicFrameLocks/>
          </p:cNvGraphicFramePr>
          <p:nvPr/>
        </p:nvGraphicFramePr>
        <p:xfrm>
          <a:off x="7019925" y="4114800"/>
          <a:ext cx="1079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058962" imgH="297263" progId="Equation.3">
                  <p:embed/>
                </p:oleObj>
              </mc:Choice>
              <mc:Fallback>
                <p:oleObj name="公式" r:id="rId24" imgW="1058962" imgH="297263" progId="Equation.3">
                  <p:embed/>
                  <p:pic>
                    <p:nvPicPr>
                      <p:cNvPr id="907311" name="Object 47">
                        <a:extLst>
                          <a:ext uri="{FF2B5EF4-FFF2-40B4-BE49-F238E27FC236}">
                            <a16:creationId xmlns:a16="http://schemas.microsoft.com/office/drawing/2014/main" id="{1F37FC60-D6C4-4FF5-92A7-B169BB5E30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4114800"/>
                        <a:ext cx="1079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7312" name="Text Box 48">
            <a:extLst>
              <a:ext uri="{FF2B5EF4-FFF2-40B4-BE49-F238E27FC236}">
                <a16:creationId xmlns:a16="http://schemas.microsoft.com/office/drawing/2014/main" id="{670C4236-4934-4E4F-B773-D5DE1644C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6130925"/>
            <a:ext cx="4321175" cy="46672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因果律事件间的时序不会颠倒</a:t>
            </a:r>
            <a:endParaRPr kumimoji="1" lang="zh-CN" altLang="en-US" b="0">
              <a:solidFill>
                <a:srgbClr val="66FF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14360" name="Object 49">
            <a:extLst>
              <a:ext uri="{FF2B5EF4-FFF2-40B4-BE49-F238E27FC236}">
                <a16:creationId xmlns:a16="http://schemas.microsoft.com/office/drawing/2014/main" id="{5E2EA937-CF1D-42AD-B72D-47836217D71A}"/>
              </a:ext>
            </a:extLst>
          </p:cNvPr>
          <p:cNvGraphicFramePr>
            <a:graphicFrameLocks/>
          </p:cNvGraphicFramePr>
          <p:nvPr/>
        </p:nvGraphicFramePr>
        <p:xfrm>
          <a:off x="395288" y="549275"/>
          <a:ext cx="460851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5120640" imgH="891789" progId="Equation.3">
                  <p:embed/>
                </p:oleObj>
              </mc:Choice>
              <mc:Fallback>
                <p:oleObj name="公式" r:id="rId26" imgW="5120640" imgH="891789" progId="Equation.3">
                  <p:embed/>
                  <p:pic>
                    <p:nvPicPr>
                      <p:cNvPr id="14360" name="Object 49">
                        <a:extLst>
                          <a:ext uri="{FF2B5EF4-FFF2-40B4-BE49-F238E27FC236}">
                            <a16:creationId xmlns:a16="http://schemas.microsoft.com/office/drawing/2014/main" id="{5E2EA937-CF1D-42AD-B72D-47836217D71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49275"/>
                        <a:ext cx="4608512" cy="841375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48148E-6 L 0.13923 1.48148E-6 " pathEditMode="fixed" rAng="0" ptsTypes="AA">
                                      <p:cBhvr>
                                        <p:cTn id="3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6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0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0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07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4" dur="500"/>
                                        <p:tgtEl>
                                          <p:spTgt spid="90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07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07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907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907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07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07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07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07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0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7266" grpId="0" autoUpdateAnimBg="0"/>
      <p:bldP spid="907300" grpId="0" autoUpdateAnimBg="0"/>
      <p:bldP spid="907307" grpId="0" animBg="1"/>
      <p:bldP spid="907309" grpId="0" animBg="1"/>
      <p:bldP spid="907310" grpId="0" animBg="1"/>
      <p:bldP spid="907312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>
            <a:extLst>
              <a:ext uri="{FF2B5EF4-FFF2-40B4-BE49-F238E27FC236}">
                <a16:creationId xmlns:a16="http://schemas.microsoft.com/office/drawing/2014/main" id="{F44C70A8-FAEA-4EC7-BA05-1B393B1F9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3079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908291" name="Text Box 3">
            <a:extLst>
              <a:ext uri="{FF2B5EF4-FFF2-40B4-BE49-F238E27FC236}">
                <a16:creationId xmlns:a16="http://schemas.microsoft.com/office/drawing/2014/main" id="{89031CE3-B22E-4093-B603-0A02EB881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234950"/>
            <a:ext cx="8170863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一短跑选手在地面上以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10 s</a:t>
            </a: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的时间跑完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100 m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。一飞船沿同一方向以速率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= 0.8 </a:t>
            </a:r>
            <a:r>
              <a:rPr kumimoji="1" lang="en-US" altLang="zh-CN" sz="2800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飞行。</a:t>
            </a:r>
          </a:p>
        </p:txBody>
      </p:sp>
      <p:sp>
        <p:nvSpPr>
          <p:cNvPr id="908292" name="Rectangle 4">
            <a:extLst>
              <a:ext uri="{FF2B5EF4-FFF2-40B4-BE49-F238E27FC236}">
                <a16:creationId xmlns:a16="http://schemas.microsoft.com/office/drawing/2014/main" id="{1B0AFD52-0B5A-4536-98AE-A041FEAF6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3" y="13398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908293" name="Text Box 5">
            <a:extLst>
              <a:ext uri="{FF2B5EF4-FFF2-40B4-BE49-F238E27FC236}">
                <a16:creationId xmlns:a16="http://schemas.microsoft.com/office/drawing/2014/main" id="{C2FB6AA0-F08B-4015-B37F-26CB7C626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1268413"/>
            <a:ext cx="809942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(1)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飞船参考系上的观测者测得百米跑道的长度和选手跑过的路程；</a:t>
            </a: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(2)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飞船参考系上测得选手的平均速度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r>
              <a:rPr kumimoji="1" lang="zh-CN" altLang="en-US" b="0">
                <a:solidFill>
                  <a:srgbClr val="33CC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908294" name="Rectangle 6">
            <a:extLst>
              <a:ext uri="{FF2B5EF4-FFF2-40B4-BE49-F238E27FC236}">
                <a16:creationId xmlns:a16="http://schemas.microsoft.com/office/drawing/2014/main" id="{39F27951-14F8-442B-9A9D-CB4B8489A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23495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908295" name="Rectangle 7">
            <a:extLst>
              <a:ext uri="{FF2B5EF4-FFF2-40B4-BE49-F238E27FC236}">
                <a16:creationId xmlns:a16="http://schemas.microsoft.com/office/drawing/2014/main" id="{EA0B22BD-4213-431D-95F6-CEEA63530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395538"/>
            <a:ext cx="80549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设地面参考系为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系， 飞船参考系为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S'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，选手起跑为事件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“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1”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，到终点为事件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“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2”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，依题意有</a:t>
            </a:r>
          </a:p>
        </p:txBody>
      </p:sp>
      <p:graphicFrame>
        <p:nvGraphicFramePr>
          <p:cNvPr id="908296" name="Object 8">
            <a:extLst>
              <a:ext uri="{FF2B5EF4-FFF2-40B4-BE49-F238E27FC236}">
                <a16:creationId xmlns:a16="http://schemas.microsoft.com/office/drawing/2014/main" id="{504F1D3F-5127-425A-9C31-AE99B0741BD1}"/>
              </a:ext>
            </a:extLst>
          </p:cNvPr>
          <p:cNvGraphicFramePr>
            <a:graphicFrameLocks/>
          </p:cNvGraphicFramePr>
          <p:nvPr/>
        </p:nvGraphicFramePr>
        <p:xfrm>
          <a:off x="1862138" y="3473450"/>
          <a:ext cx="16129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92424" imgH="297263" progId="Equation.3">
                  <p:embed/>
                </p:oleObj>
              </mc:Choice>
              <mc:Fallback>
                <p:oleObj name="公式" r:id="rId2" imgW="1592424" imgH="297263" progId="Equation.3">
                  <p:embed/>
                  <p:pic>
                    <p:nvPicPr>
                      <p:cNvPr id="908296" name="Object 8">
                        <a:extLst>
                          <a:ext uri="{FF2B5EF4-FFF2-40B4-BE49-F238E27FC236}">
                            <a16:creationId xmlns:a16="http://schemas.microsoft.com/office/drawing/2014/main" id="{504F1D3F-5127-425A-9C31-AE99B0741B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8" y="3473450"/>
                        <a:ext cx="16129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8297" name="Object 9">
            <a:extLst>
              <a:ext uri="{FF2B5EF4-FFF2-40B4-BE49-F238E27FC236}">
                <a16:creationId xmlns:a16="http://schemas.microsoft.com/office/drawing/2014/main" id="{40A95422-F3A7-4EB0-A81D-ED7CE2C6FC07}"/>
              </a:ext>
            </a:extLst>
          </p:cNvPr>
          <p:cNvGraphicFramePr>
            <a:graphicFrameLocks/>
          </p:cNvGraphicFramePr>
          <p:nvPr/>
        </p:nvGraphicFramePr>
        <p:xfrm>
          <a:off x="3878263" y="3473450"/>
          <a:ext cx="1249362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19200" imgH="297263" progId="Equation.3">
                  <p:embed/>
                </p:oleObj>
              </mc:Choice>
              <mc:Fallback>
                <p:oleObj name="公式" r:id="rId4" imgW="1219200" imgH="297263" progId="Equation.3">
                  <p:embed/>
                  <p:pic>
                    <p:nvPicPr>
                      <p:cNvPr id="908297" name="Object 9">
                        <a:extLst>
                          <a:ext uri="{FF2B5EF4-FFF2-40B4-BE49-F238E27FC236}">
                            <a16:creationId xmlns:a16="http://schemas.microsoft.com/office/drawing/2014/main" id="{40A95422-F3A7-4EB0-A81D-ED7CE2C6FC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8263" y="3473450"/>
                        <a:ext cx="1249362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8298" name="Object 10">
            <a:extLst>
              <a:ext uri="{FF2B5EF4-FFF2-40B4-BE49-F238E27FC236}">
                <a16:creationId xmlns:a16="http://schemas.microsoft.com/office/drawing/2014/main" id="{BAFA7C98-956E-4967-BC7F-5A10EF375AEC}"/>
              </a:ext>
            </a:extLst>
          </p:cNvPr>
          <p:cNvGraphicFramePr>
            <a:graphicFrameLocks/>
          </p:cNvGraphicFramePr>
          <p:nvPr/>
        </p:nvGraphicFramePr>
        <p:xfrm>
          <a:off x="5568950" y="3471863"/>
          <a:ext cx="1235075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11736" imgH="297263" progId="Equation.3">
                  <p:embed/>
                </p:oleObj>
              </mc:Choice>
              <mc:Fallback>
                <p:oleObj name="公式" r:id="rId6" imgW="1211736" imgH="297263" progId="Equation.3">
                  <p:embed/>
                  <p:pic>
                    <p:nvPicPr>
                      <p:cNvPr id="908298" name="Object 10">
                        <a:extLst>
                          <a:ext uri="{FF2B5EF4-FFF2-40B4-BE49-F238E27FC236}">
                            <a16:creationId xmlns:a16="http://schemas.microsoft.com/office/drawing/2014/main" id="{BAFA7C98-956E-4967-BC7F-5A10EF375AE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8950" y="3471863"/>
                        <a:ext cx="1235075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8299" name="Text Box 11">
            <a:extLst>
              <a:ext uri="{FF2B5EF4-FFF2-40B4-BE49-F238E27FC236}">
                <a16:creationId xmlns:a16="http://schemas.microsoft.com/office/drawing/2014/main" id="{9B2FA1EF-3BF4-4BA2-B4B6-994727F3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827463"/>
            <a:ext cx="809942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(1)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系中测得跑道长度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100m</a:t>
            </a: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为原长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</a:t>
            </a:r>
            <a:r>
              <a:rPr kumimoji="1" lang="en-US" altLang="zh-CN" baseline="-25000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，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S'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系中测得跑道长度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为运动长度，由长度收缩公式有</a:t>
            </a:r>
          </a:p>
        </p:txBody>
      </p:sp>
      <p:graphicFrame>
        <p:nvGraphicFramePr>
          <p:cNvPr id="908300" name="Object 12">
            <a:extLst>
              <a:ext uri="{FF2B5EF4-FFF2-40B4-BE49-F238E27FC236}">
                <a16:creationId xmlns:a16="http://schemas.microsoft.com/office/drawing/2014/main" id="{65E8CAD8-BEC2-492B-AF44-82745823F466}"/>
              </a:ext>
            </a:extLst>
          </p:cNvPr>
          <p:cNvGraphicFramePr>
            <a:graphicFrameLocks/>
          </p:cNvGraphicFramePr>
          <p:nvPr/>
        </p:nvGraphicFramePr>
        <p:xfrm>
          <a:off x="1763713" y="4941888"/>
          <a:ext cx="5703887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707349" imgH="495272" progId="Equation.3">
                  <p:embed/>
                </p:oleObj>
              </mc:Choice>
              <mc:Fallback>
                <p:oleObj name="公式" r:id="rId8" imgW="5707349" imgH="495272" progId="Equation.3">
                  <p:embed/>
                  <p:pic>
                    <p:nvPicPr>
                      <p:cNvPr id="908300" name="Object 12">
                        <a:extLst>
                          <a:ext uri="{FF2B5EF4-FFF2-40B4-BE49-F238E27FC236}">
                            <a16:creationId xmlns:a16="http://schemas.microsoft.com/office/drawing/2014/main" id="{65E8CAD8-BEC2-492B-AF44-82745823F46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941888"/>
                        <a:ext cx="5703887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8301" name="Rectangle 13">
            <a:extLst>
              <a:ext uri="{FF2B5EF4-FFF2-40B4-BE49-F238E27FC236}">
                <a16:creationId xmlns:a16="http://schemas.microsoft.com/office/drawing/2014/main" id="{99D9F002-F515-48DA-B6A4-51AFFD486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516563"/>
            <a:ext cx="80549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选手从起点到终点，这一过程在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S'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系中对应的空间间隔为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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x'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，根据空间间隔变换式得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90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"/>
                                        <p:tgtEl>
                                          <p:spTgt spid="90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08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0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"/>
                                        <p:tgtEl>
                                          <p:spTgt spid="90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0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0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0" grpId="0" autoUpdateAnimBg="0"/>
      <p:bldP spid="908291" grpId="0" autoUpdateAnimBg="0"/>
      <p:bldP spid="908292" grpId="0" autoUpdateAnimBg="0"/>
      <p:bldP spid="908293" grpId="0" autoUpdateAnimBg="0"/>
      <p:bldP spid="908294" grpId="0" autoUpdateAnimBg="0"/>
      <p:bldP spid="908295" grpId="0" autoUpdateAnimBg="0"/>
      <p:bldP spid="908299" grpId="0" autoUpdateAnimBg="0"/>
      <p:bldP spid="90830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9314" name="Object 2">
            <a:extLst>
              <a:ext uri="{FF2B5EF4-FFF2-40B4-BE49-F238E27FC236}">
                <a16:creationId xmlns:a16="http://schemas.microsoft.com/office/drawing/2014/main" id="{C0C20553-4B2C-4796-92C1-C61113B946FC}"/>
              </a:ext>
            </a:extLst>
          </p:cNvPr>
          <p:cNvGraphicFramePr>
            <a:graphicFrameLocks/>
          </p:cNvGraphicFramePr>
          <p:nvPr/>
        </p:nvGraphicFramePr>
        <p:xfrm>
          <a:off x="838200" y="476250"/>
          <a:ext cx="79105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901909" imgH="891789" progId="Equation.3">
                  <p:embed/>
                </p:oleObj>
              </mc:Choice>
              <mc:Fallback>
                <p:oleObj name="公式" r:id="rId2" imgW="7901909" imgH="891789" progId="Equation.3">
                  <p:embed/>
                  <p:pic>
                    <p:nvPicPr>
                      <p:cNvPr id="909314" name="Object 2">
                        <a:extLst>
                          <a:ext uri="{FF2B5EF4-FFF2-40B4-BE49-F238E27FC236}">
                            <a16:creationId xmlns:a16="http://schemas.microsoft.com/office/drawing/2014/main" id="{C0C20553-4B2C-4796-92C1-C61113B946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76250"/>
                        <a:ext cx="79105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9315" name="Rectangle 3">
            <a:extLst>
              <a:ext uri="{FF2B5EF4-FFF2-40B4-BE49-F238E27FC236}">
                <a16:creationId xmlns:a16="http://schemas.microsoft.com/office/drawing/2014/main" id="{E55A61D7-698F-448A-A5E3-7DE593490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484313"/>
            <a:ext cx="80549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因此，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S'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系中测得选手跑过的路程为</a:t>
            </a:r>
          </a:p>
        </p:txBody>
      </p:sp>
      <p:graphicFrame>
        <p:nvGraphicFramePr>
          <p:cNvPr id="909316" name="Object 4">
            <a:extLst>
              <a:ext uri="{FF2B5EF4-FFF2-40B4-BE49-F238E27FC236}">
                <a16:creationId xmlns:a16="http://schemas.microsoft.com/office/drawing/2014/main" id="{9D1B2E93-38CE-47F9-A21B-451650BDCB3D}"/>
              </a:ext>
            </a:extLst>
          </p:cNvPr>
          <p:cNvGraphicFramePr>
            <a:graphicFrameLocks/>
          </p:cNvGraphicFramePr>
          <p:nvPr/>
        </p:nvGraphicFramePr>
        <p:xfrm>
          <a:off x="2843213" y="2133600"/>
          <a:ext cx="24907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68756" imgH="434423" progId="Equation.3">
                  <p:embed/>
                </p:oleObj>
              </mc:Choice>
              <mc:Fallback>
                <p:oleObj name="公式" r:id="rId4" imgW="2468756" imgH="434423" progId="Equation.3">
                  <p:embed/>
                  <p:pic>
                    <p:nvPicPr>
                      <p:cNvPr id="909316" name="Object 4">
                        <a:extLst>
                          <a:ext uri="{FF2B5EF4-FFF2-40B4-BE49-F238E27FC236}">
                            <a16:creationId xmlns:a16="http://schemas.microsoft.com/office/drawing/2014/main" id="{9D1B2E93-38CE-47F9-A21B-451650BDCB3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133600"/>
                        <a:ext cx="24907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9317" name="Rectangle 5">
            <a:extLst>
              <a:ext uri="{FF2B5EF4-FFF2-40B4-BE49-F238E27FC236}">
                <a16:creationId xmlns:a16="http://schemas.microsoft.com/office/drawing/2014/main" id="{EB5B3795-DC44-45F0-977B-8FC773FF9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565400"/>
            <a:ext cx="80549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(2)</a:t>
            </a:r>
            <a:r>
              <a:rPr kumimoji="1"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S'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系中测得选手从起点到终点的时间间隔为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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t'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，由洛仑兹变换得</a:t>
            </a:r>
          </a:p>
        </p:txBody>
      </p:sp>
      <p:graphicFrame>
        <p:nvGraphicFramePr>
          <p:cNvPr id="909318" name="Object 6">
            <a:extLst>
              <a:ext uri="{FF2B5EF4-FFF2-40B4-BE49-F238E27FC236}">
                <a16:creationId xmlns:a16="http://schemas.microsoft.com/office/drawing/2014/main" id="{B385D81D-3D17-4981-971D-0CA992ADECAA}"/>
              </a:ext>
            </a:extLst>
          </p:cNvPr>
          <p:cNvGraphicFramePr>
            <a:graphicFrameLocks/>
          </p:cNvGraphicFramePr>
          <p:nvPr/>
        </p:nvGraphicFramePr>
        <p:xfrm>
          <a:off x="1763713" y="3357563"/>
          <a:ext cx="5811837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768558" imgH="1234440" progId="Equation.3">
                  <p:embed/>
                </p:oleObj>
              </mc:Choice>
              <mc:Fallback>
                <p:oleObj name="公式" r:id="rId6" imgW="5768558" imgH="1234440" progId="Equation.3">
                  <p:embed/>
                  <p:pic>
                    <p:nvPicPr>
                      <p:cNvPr id="909318" name="Object 6">
                        <a:extLst>
                          <a:ext uri="{FF2B5EF4-FFF2-40B4-BE49-F238E27FC236}">
                            <a16:creationId xmlns:a16="http://schemas.microsoft.com/office/drawing/2014/main" id="{B385D81D-3D17-4981-971D-0CA992ADEC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357563"/>
                        <a:ext cx="5811837" cy="125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9319" name="Rectangle 7">
            <a:extLst>
              <a:ext uri="{FF2B5EF4-FFF2-40B4-BE49-F238E27FC236}">
                <a16:creationId xmlns:a16="http://schemas.microsoft.com/office/drawing/2014/main" id="{EDFB40C4-2BB1-46C5-BCC6-196FEF4D8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724400"/>
            <a:ext cx="80549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S'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系中测得选手的平均速度为</a:t>
            </a:r>
          </a:p>
        </p:txBody>
      </p:sp>
      <p:graphicFrame>
        <p:nvGraphicFramePr>
          <p:cNvPr id="909320" name="Object 8">
            <a:extLst>
              <a:ext uri="{FF2B5EF4-FFF2-40B4-BE49-F238E27FC236}">
                <a16:creationId xmlns:a16="http://schemas.microsoft.com/office/drawing/2014/main" id="{FCE3CC0B-8F04-4803-8D5D-63C00507900A}"/>
              </a:ext>
            </a:extLst>
          </p:cNvPr>
          <p:cNvGraphicFramePr>
            <a:graphicFrameLocks/>
          </p:cNvGraphicFramePr>
          <p:nvPr/>
        </p:nvGraphicFramePr>
        <p:xfrm>
          <a:off x="1476375" y="5300663"/>
          <a:ext cx="64103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378158" imgH="838422" progId="Equation.3">
                  <p:embed/>
                </p:oleObj>
              </mc:Choice>
              <mc:Fallback>
                <p:oleObj name="公式" r:id="rId8" imgW="6378158" imgH="838422" progId="Equation.3">
                  <p:embed/>
                  <p:pic>
                    <p:nvPicPr>
                      <p:cNvPr id="909320" name="Object 8">
                        <a:extLst>
                          <a:ext uri="{FF2B5EF4-FFF2-40B4-BE49-F238E27FC236}">
                            <a16:creationId xmlns:a16="http://schemas.microsoft.com/office/drawing/2014/main" id="{FCE3CC0B-8F04-4803-8D5D-63C00507900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300663"/>
                        <a:ext cx="64103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9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9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9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9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9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9315" grpId="0" autoUpdateAnimBg="0"/>
      <p:bldP spid="909317" grpId="0" autoUpdateAnimBg="0"/>
      <p:bldP spid="90931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38" name="Rectangle 2">
            <a:extLst>
              <a:ext uri="{FF2B5EF4-FFF2-40B4-BE49-F238E27FC236}">
                <a16:creationId xmlns:a16="http://schemas.microsoft.com/office/drawing/2014/main" id="{600D77CD-82B4-C2D3-5A49-B6B7CA3C539E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293688" y="3397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910339" name="Text Box 3">
            <a:extLst>
              <a:ext uri="{FF2B5EF4-FFF2-40B4-BE49-F238E27FC236}">
                <a16:creationId xmlns:a16="http://schemas.microsoft.com/office/drawing/2014/main" id="{C3A11C8D-6DB8-DECF-4580-7E9EB746D74E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793750" y="266700"/>
            <a:ext cx="8116888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北京和上海相距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1000 km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，北京站的甲火车先于上海站的乙火车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1.0×10 </a:t>
            </a:r>
            <a:r>
              <a:rPr kumimoji="1" lang="en-US" altLang="zh-CN" baseline="30000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-3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发车。现有一艘飞船沿从北京到上海的方向从高空掠过，速率恒为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u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= 0.6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kumimoji="1" lang="en-US" altLang="zh-CN" i="1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。试求宇航员参考系中测得的甲乙两列火车发车的时间间隔，哪一列先开</a:t>
            </a: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?</a:t>
            </a:r>
          </a:p>
        </p:txBody>
      </p:sp>
      <p:sp>
        <p:nvSpPr>
          <p:cNvPr id="910340" name="Rectangle 4">
            <a:extLst>
              <a:ext uri="{FF2B5EF4-FFF2-40B4-BE49-F238E27FC236}">
                <a16:creationId xmlns:a16="http://schemas.microsoft.com/office/drawing/2014/main" id="{A8EDAC57-80BE-146D-EFFB-206163D5602C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277813" y="20605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910341" name="Text Box 5">
            <a:extLst>
              <a:ext uri="{FF2B5EF4-FFF2-40B4-BE49-F238E27FC236}">
                <a16:creationId xmlns:a16="http://schemas.microsoft.com/office/drawing/2014/main" id="{D7F5FC9E-FE8A-6DC7-3FCA-0C95EBB5C8EB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793750" y="1989138"/>
            <a:ext cx="80994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宇航员参考系中测得的甲乙两列火车发车的时间间隔，哪一列先开</a:t>
            </a:r>
            <a:r>
              <a:rPr kumimoji="1" lang="en-US" altLang="zh-CN">
                <a:latin typeface="Times New Roman" panose="02020603050405020304" pitchFamily="18" charset="0"/>
                <a:ea typeface="华文中宋" panose="02010600040101010101" pitchFamily="2" charset="-122"/>
              </a:rPr>
              <a:t>?</a:t>
            </a:r>
          </a:p>
        </p:txBody>
      </p:sp>
      <p:sp>
        <p:nvSpPr>
          <p:cNvPr id="910342" name="Rectangle 6">
            <a:extLst>
              <a:ext uri="{FF2B5EF4-FFF2-40B4-BE49-F238E27FC236}">
                <a16:creationId xmlns:a16="http://schemas.microsoft.com/office/drawing/2014/main" id="{3E649EFC-7BCB-88F8-D53B-B36CBABDA02A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276225" y="29781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910343" name="Rectangle 7">
            <a:extLst>
              <a:ext uri="{FF2B5EF4-FFF2-40B4-BE49-F238E27FC236}">
                <a16:creationId xmlns:a16="http://schemas.microsoft.com/office/drawing/2014/main" id="{95566DF4-54D6-AFFA-79E9-57A1F746A649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755650" y="2924175"/>
            <a:ext cx="813752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取地面为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系，和飞船一起运动的参考系为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</a:t>
            </a:r>
            <a:r>
              <a:rPr kumimoji="1" lang="en-US" altLang="zh-CN" i="1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系，北京站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为坐标原点，北京至上海方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向为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kumimoji="1" lang="en-US" altLang="zh-CN" i="1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轴正方向，依题意有</a:t>
            </a:r>
          </a:p>
        </p:txBody>
      </p:sp>
      <p:pic>
        <p:nvPicPr>
          <p:cNvPr id="910344" name="Picture 8" descr="j0802">
            <a:extLst>
              <a:ext uri="{FF2B5EF4-FFF2-40B4-BE49-F238E27FC236}">
                <a16:creationId xmlns:a16="http://schemas.microsoft.com/office/drawing/2014/main" id="{1D085113-5C04-C2A7-9A6E-84FA2A750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06" r="26711" b="10342"/>
          <a:stretch>
            <a:fillRect/>
          </a:stretch>
        </p:blipFill>
        <p:spPr bwMode="blackGray">
          <a:xfrm>
            <a:off x="7689850" y="5337175"/>
            <a:ext cx="3492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0345" name="Picture 9" descr="tam1a">
            <a:extLst>
              <a:ext uri="{FF2B5EF4-FFF2-40B4-BE49-F238E27FC236}">
                <a16:creationId xmlns:a16="http://schemas.microsoft.com/office/drawing/2014/main" id="{5CF7D0FD-F68F-87F6-0403-AB3764A0D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99" t="13971" r="9538" b="27766"/>
          <a:stretch>
            <a:fillRect/>
          </a:stretch>
        </p:blipFill>
        <p:spPr bwMode="blackGray">
          <a:xfrm>
            <a:off x="5253038" y="5649913"/>
            <a:ext cx="8794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0346" name="Picture 10" descr="x-33htfj05">
            <a:extLst>
              <a:ext uri="{FF2B5EF4-FFF2-40B4-BE49-F238E27FC236}">
                <a16:creationId xmlns:a16="http://schemas.microsoft.com/office/drawing/2014/main" id="{C8567292-2B3D-C79A-C9D4-1276CB73E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" t="11157" b="20020"/>
          <a:stretch>
            <a:fillRect/>
          </a:stretch>
        </p:blipFill>
        <p:spPr bwMode="blackGray">
          <a:xfrm>
            <a:off x="6045200" y="4322763"/>
            <a:ext cx="1757363" cy="82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0347" name="Text Box 11">
            <a:extLst>
              <a:ext uri="{FF2B5EF4-FFF2-40B4-BE49-F238E27FC236}">
                <a16:creationId xmlns:a16="http://schemas.microsoft.com/office/drawing/2014/main" id="{02C9D1FA-5C47-8AF5-5D26-CB7F6077608C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5470525" y="6080125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kumimoji="1" lang="en-US" altLang="zh-CN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0348" name="Text Box 12">
            <a:extLst>
              <a:ext uri="{FF2B5EF4-FFF2-40B4-BE49-F238E27FC236}">
                <a16:creationId xmlns:a16="http://schemas.microsoft.com/office/drawing/2014/main" id="{05199B51-717F-3ABF-A9AD-D995E3370AA9}"/>
              </a:ext>
            </a:extLst>
          </p:cNvPr>
          <p:cNvSpPr txBox="1">
            <a:spLocks noChangeArrowheads="1"/>
          </p:cNvSpPr>
          <p:nvPr/>
        </p:nvSpPr>
        <p:spPr bwMode="blackGray">
          <a:xfrm>
            <a:off x="8350250" y="5935663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kumimoji="1" lang="en-US" altLang="zh-CN" b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A7CCA5D4-D9A1-5603-66FE-C0B634145770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4130675"/>
            <a:ext cx="3835400" cy="2381250"/>
            <a:chOff x="3061" y="2602"/>
            <a:chExt cx="2416" cy="1500"/>
          </a:xfrm>
        </p:grpSpPr>
        <p:sp>
          <p:nvSpPr>
            <p:cNvPr id="25627" name="Line 14">
              <a:extLst>
                <a:ext uri="{FF2B5EF4-FFF2-40B4-BE49-F238E27FC236}">
                  <a16:creationId xmlns:a16="http://schemas.microsoft.com/office/drawing/2014/main" id="{BC698EF8-55EA-FDC3-1D17-7E61C2B707E7}"/>
                </a:ext>
              </a:extLst>
            </p:cNvPr>
            <p:cNvSpPr>
              <a:spLocks noChangeShapeType="1"/>
            </p:cNvSpPr>
            <p:nvPr/>
          </p:nvSpPr>
          <p:spPr bwMode="blackGray">
            <a:xfrm>
              <a:off x="3557" y="3766"/>
              <a:ext cx="1920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8" name="Line 15">
              <a:extLst>
                <a:ext uri="{FF2B5EF4-FFF2-40B4-BE49-F238E27FC236}">
                  <a16:creationId xmlns:a16="http://schemas.microsoft.com/office/drawing/2014/main" id="{BF276D24-1B7E-C131-DA2B-53459EEF9681}"/>
                </a:ext>
              </a:extLst>
            </p:cNvPr>
            <p:cNvSpPr>
              <a:spLocks noChangeShapeType="1"/>
            </p:cNvSpPr>
            <p:nvPr/>
          </p:nvSpPr>
          <p:spPr bwMode="blackGray">
            <a:xfrm flipH="1">
              <a:off x="3173" y="3757"/>
              <a:ext cx="384" cy="345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9" name="Line 16">
              <a:extLst>
                <a:ext uri="{FF2B5EF4-FFF2-40B4-BE49-F238E27FC236}">
                  <a16:creationId xmlns:a16="http://schemas.microsoft.com/office/drawing/2014/main" id="{9C61DCF4-BB58-8B36-895B-17CC7E0D7CCB}"/>
                </a:ext>
              </a:extLst>
            </p:cNvPr>
            <p:cNvSpPr>
              <a:spLocks noChangeShapeType="1"/>
            </p:cNvSpPr>
            <p:nvPr/>
          </p:nvSpPr>
          <p:spPr bwMode="blackGray">
            <a:xfrm flipV="1">
              <a:off x="3557" y="2701"/>
              <a:ext cx="0" cy="1065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0" name="Text Box 17">
              <a:extLst>
                <a:ext uri="{FF2B5EF4-FFF2-40B4-BE49-F238E27FC236}">
                  <a16:creationId xmlns:a16="http://schemas.microsoft.com/office/drawing/2014/main" id="{515286C9-E7C1-CFC2-1F26-69BB55989D2B}"/>
                </a:ext>
              </a:extLst>
            </p:cNvPr>
            <p:cNvSpPr txBox="1">
              <a:spLocks noChangeArrowheads="1"/>
            </p:cNvSpPr>
            <p:nvPr/>
          </p:nvSpPr>
          <p:spPr bwMode="blackGray">
            <a:xfrm>
              <a:off x="3249" y="2922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1" name="Text Box 18">
              <a:extLst>
                <a:ext uri="{FF2B5EF4-FFF2-40B4-BE49-F238E27FC236}">
                  <a16:creationId xmlns:a16="http://schemas.microsoft.com/office/drawing/2014/main" id="{47D7A733-BC19-0599-251C-E87A53B1AAF4}"/>
                </a:ext>
              </a:extLst>
            </p:cNvPr>
            <p:cNvSpPr txBox="1">
              <a:spLocks noChangeArrowheads="1"/>
            </p:cNvSpPr>
            <p:nvPr/>
          </p:nvSpPr>
          <p:spPr bwMode="blackGray">
            <a:xfrm>
              <a:off x="3061" y="3739"/>
              <a:ext cx="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kumimoji="1" lang="en-US" altLang="zh-CN" b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2" name="Text Box 19">
              <a:extLst>
                <a:ext uri="{FF2B5EF4-FFF2-40B4-BE49-F238E27FC236}">
                  <a16:creationId xmlns:a16="http://schemas.microsoft.com/office/drawing/2014/main" id="{8940C526-B292-2D88-E844-EEB020915A47}"/>
                </a:ext>
              </a:extLst>
            </p:cNvPr>
            <p:cNvSpPr txBox="1">
              <a:spLocks noChangeArrowheads="1"/>
            </p:cNvSpPr>
            <p:nvPr/>
          </p:nvSpPr>
          <p:spPr bwMode="blackGray">
            <a:xfrm>
              <a:off x="3288" y="2602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kumimoji="1" lang="en-US" altLang="zh-CN" sz="2800" i="1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kumimoji="1" lang="en-US" altLang="zh-CN" b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:a16="http://schemas.microsoft.com/office/drawing/2014/main" id="{48991AD9-0B33-F429-BB54-536D6CA8CB49}"/>
              </a:ext>
            </a:extLst>
          </p:cNvPr>
          <p:cNvGrpSpPr>
            <a:grpSpLocks/>
          </p:cNvGrpSpPr>
          <p:nvPr/>
        </p:nvGrpSpPr>
        <p:grpSpPr bwMode="auto">
          <a:xfrm>
            <a:off x="6794500" y="3754438"/>
            <a:ext cx="835025" cy="568325"/>
            <a:chOff x="4560" y="2282"/>
            <a:chExt cx="621" cy="358"/>
          </a:xfrm>
        </p:grpSpPr>
        <p:sp>
          <p:nvSpPr>
            <p:cNvPr id="25623" name="Line 21">
              <a:extLst>
                <a:ext uri="{FF2B5EF4-FFF2-40B4-BE49-F238E27FC236}">
                  <a16:creationId xmlns:a16="http://schemas.microsoft.com/office/drawing/2014/main" id="{A45039F9-54F5-1A08-5B11-ED35C28305D9}"/>
                </a:ext>
              </a:extLst>
            </p:cNvPr>
            <p:cNvSpPr>
              <a:spLocks noChangeShapeType="1"/>
            </p:cNvSpPr>
            <p:nvPr/>
          </p:nvSpPr>
          <p:spPr bwMode="blackGray">
            <a:xfrm>
              <a:off x="4560" y="2640"/>
              <a:ext cx="576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5624" name="Group 22">
              <a:extLst>
                <a:ext uri="{FF2B5EF4-FFF2-40B4-BE49-F238E27FC236}">
                  <a16:creationId xmlns:a16="http://schemas.microsoft.com/office/drawing/2014/main" id="{34A3811F-E697-AC94-8CF5-3800AFBDA0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2282"/>
              <a:ext cx="285" cy="354"/>
              <a:chOff x="4742" y="2084"/>
              <a:chExt cx="285" cy="354"/>
            </a:xfrm>
          </p:grpSpPr>
          <p:sp>
            <p:nvSpPr>
              <p:cNvPr id="25625" name="Text Box 23">
                <a:extLst>
                  <a:ext uri="{FF2B5EF4-FFF2-40B4-BE49-F238E27FC236}">
                    <a16:creationId xmlns:a16="http://schemas.microsoft.com/office/drawing/2014/main" id="{6F543DD0-DA58-7C65-66C1-CC5B3C713D47}"/>
                  </a:ext>
                </a:extLst>
              </p:cNvPr>
              <p:cNvSpPr txBox="1">
                <a:spLocks noChangeArrowheads="1"/>
              </p:cNvSpPr>
              <p:nvPr/>
            </p:nvSpPr>
            <p:spPr bwMode="blackGray">
              <a:xfrm>
                <a:off x="4742" y="2084"/>
                <a:ext cx="285" cy="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endParaRPr kumimoji="1" lang="en-US" altLang="zh-CN" b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25626" name="Line 24">
                <a:extLst>
                  <a:ext uri="{FF2B5EF4-FFF2-40B4-BE49-F238E27FC236}">
                    <a16:creationId xmlns:a16="http://schemas.microsoft.com/office/drawing/2014/main" id="{A2378187-601F-20E7-C081-2B3CEBDA5290}"/>
                  </a:ext>
                </a:extLst>
              </p:cNvPr>
              <p:cNvSpPr>
                <a:spLocks noChangeShapeType="1"/>
              </p:cNvSpPr>
              <p:nvPr/>
            </p:nvSpPr>
            <p:spPr bwMode="blackGray">
              <a:xfrm>
                <a:off x="4752" y="2160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25">
            <a:extLst>
              <a:ext uri="{FF2B5EF4-FFF2-40B4-BE49-F238E27FC236}">
                <a16:creationId xmlns:a16="http://schemas.microsoft.com/office/drawing/2014/main" id="{2A4693DC-58CD-0BCF-5A47-A3A2D24161E4}"/>
              </a:ext>
            </a:extLst>
          </p:cNvPr>
          <p:cNvGrpSpPr>
            <a:grpSpLocks/>
          </p:cNvGrpSpPr>
          <p:nvPr/>
        </p:nvGrpSpPr>
        <p:grpSpPr bwMode="auto">
          <a:xfrm>
            <a:off x="6261100" y="3937000"/>
            <a:ext cx="1430338" cy="1212850"/>
            <a:chOff x="4610" y="2731"/>
            <a:chExt cx="901" cy="764"/>
          </a:xfrm>
        </p:grpSpPr>
        <p:sp>
          <p:nvSpPr>
            <p:cNvPr id="25618" name="Text Box 26">
              <a:extLst>
                <a:ext uri="{FF2B5EF4-FFF2-40B4-BE49-F238E27FC236}">
                  <a16:creationId xmlns:a16="http://schemas.microsoft.com/office/drawing/2014/main" id="{F697D115-CE15-98F9-A0D6-C295978CBBD3}"/>
                </a:ext>
              </a:extLst>
            </p:cNvPr>
            <p:cNvSpPr txBox="1">
              <a:spLocks noChangeArrowheads="1"/>
            </p:cNvSpPr>
            <p:nvPr/>
          </p:nvSpPr>
          <p:spPr bwMode="blackGray">
            <a:xfrm>
              <a:off x="4610" y="2731"/>
              <a:ext cx="324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kumimoji="1" lang="en-US" altLang="zh-CN" i="1">
                  <a:solidFill>
                    <a:srgbClr val="66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S'</a:t>
              </a:r>
              <a:r>
                <a:rPr kumimoji="1" lang="en-US" altLang="zh-CN">
                  <a:solidFill>
                    <a:srgbClr val="66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</a:p>
          </p:txBody>
        </p:sp>
        <p:sp>
          <p:nvSpPr>
            <p:cNvPr id="25619" name="Text Box 27">
              <a:extLst>
                <a:ext uri="{FF2B5EF4-FFF2-40B4-BE49-F238E27FC236}">
                  <a16:creationId xmlns:a16="http://schemas.microsoft.com/office/drawing/2014/main" id="{4E796039-0294-5066-2093-9A0E2AB75C47}"/>
                </a:ext>
              </a:extLst>
            </p:cNvPr>
            <p:cNvSpPr txBox="1">
              <a:spLocks noChangeArrowheads="1"/>
            </p:cNvSpPr>
            <p:nvPr/>
          </p:nvSpPr>
          <p:spPr bwMode="blackGray">
            <a:xfrm>
              <a:off x="4830" y="3184"/>
              <a:ext cx="356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kumimoji="1" lang="en-US" altLang="zh-CN" i="1">
                  <a:solidFill>
                    <a:srgbClr val="66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O'</a:t>
              </a:r>
              <a:r>
                <a:rPr kumimoji="1" lang="en-US" altLang="zh-CN">
                  <a:solidFill>
                    <a:srgbClr val="66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endParaRPr kumimoji="1" lang="en-US" altLang="zh-CN" sz="2800" i="1">
                <a:solidFill>
                  <a:srgbClr val="66FF33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5620" name="Line 28">
              <a:extLst>
                <a:ext uri="{FF2B5EF4-FFF2-40B4-BE49-F238E27FC236}">
                  <a16:creationId xmlns:a16="http://schemas.microsoft.com/office/drawing/2014/main" id="{8B772FE0-4580-4F61-CAC8-F9454C42583E}"/>
                </a:ext>
              </a:extLst>
            </p:cNvPr>
            <p:cNvSpPr>
              <a:spLocks noChangeShapeType="1"/>
            </p:cNvSpPr>
            <p:nvPr/>
          </p:nvSpPr>
          <p:spPr bwMode="blackGray">
            <a:xfrm flipH="1">
              <a:off x="4748" y="3205"/>
              <a:ext cx="175" cy="159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1" name="Line 29">
              <a:extLst>
                <a:ext uri="{FF2B5EF4-FFF2-40B4-BE49-F238E27FC236}">
                  <a16:creationId xmlns:a16="http://schemas.microsoft.com/office/drawing/2014/main" id="{77C59C9C-87EE-5536-24C1-6BB0AEABA9EB}"/>
                </a:ext>
              </a:extLst>
            </p:cNvPr>
            <p:cNvSpPr>
              <a:spLocks noChangeShapeType="1"/>
            </p:cNvSpPr>
            <p:nvPr/>
          </p:nvSpPr>
          <p:spPr bwMode="blackGray">
            <a:xfrm flipV="1">
              <a:off x="4926" y="2795"/>
              <a:ext cx="0" cy="411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2" name="Line 30">
              <a:extLst>
                <a:ext uri="{FF2B5EF4-FFF2-40B4-BE49-F238E27FC236}">
                  <a16:creationId xmlns:a16="http://schemas.microsoft.com/office/drawing/2014/main" id="{0CCF851A-04B9-9DEA-0100-70639448C435}"/>
                </a:ext>
              </a:extLst>
            </p:cNvPr>
            <p:cNvSpPr>
              <a:spLocks noChangeShapeType="1"/>
            </p:cNvSpPr>
            <p:nvPr/>
          </p:nvSpPr>
          <p:spPr bwMode="blackGray">
            <a:xfrm>
              <a:off x="4922" y="3206"/>
              <a:ext cx="589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910367" name="Object 2">
            <a:extLst>
              <a:ext uri="{FF2B5EF4-FFF2-40B4-BE49-F238E27FC236}">
                <a16:creationId xmlns:a16="http://schemas.microsoft.com/office/drawing/2014/main" id="{C53EA5BD-AB85-7D37-C85E-C359E9FA67DD}"/>
              </a:ext>
            </a:extLst>
          </p:cNvPr>
          <p:cNvGraphicFramePr>
            <a:graphicFrameLocks/>
          </p:cNvGraphicFramePr>
          <p:nvPr/>
        </p:nvGraphicFramePr>
        <p:xfrm>
          <a:off x="1311275" y="5373688"/>
          <a:ext cx="246856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445864" imgH="365594" progId="Equation.3">
                  <p:embed/>
                </p:oleObj>
              </mc:Choice>
              <mc:Fallback>
                <p:oleObj name="公式" r:id="rId5" imgW="2445864" imgH="365594" progId="Equation.3">
                  <p:embed/>
                  <p:pic>
                    <p:nvPicPr>
                      <p:cNvPr id="910367" name="Object 2">
                        <a:extLst>
                          <a:ext uri="{FF2B5EF4-FFF2-40B4-BE49-F238E27FC236}">
                            <a16:creationId xmlns:a16="http://schemas.microsoft.com/office/drawing/2014/main" id="{C53EA5BD-AB85-7D37-C85E-C359E9FA67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1311275" y="5373688"/>
                        <a:ext cx="246856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0368" name="Object 3">
            <a:extLst>
              <a:ext uri="{FF2B5EF4-FFF2-40B4-BE49-F238E27FC236}">
                <a16:creationId xmlns:a16="http://schemas.microsoft.com/office/drawing/2014/main" id="{4D9ECED5-9309-FAAB-634D-BF8E2B052B2A}"/>
              </a:ext>
            </a:extLst>
          </p:cNvPr>
          <p:cNvGraphicFramePr>
            <a:graphicFrameLocks/>
          </p:cNvGraphicFramePr>
          <p:nvPr/>
        </p:nvGraphicFramePr>
        <p:xfrm>
          <a:off x="1331913" y="4724400"/>
          <a:ext cx="21986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164204" imgH="365594" progId="Equation.3">
                  <p:embed/>
                </p:oleObj>
              </mc:Choice>
              <mc:Fallback>
                <p:oleObj name="公式" r:id="rId7" imgW="2164204" imgH="365594" progId="Equation.3">
                  <p:embed/>
                  <p:pic>
                    <p:nvPicPr>
                      <p:cNvPr id="910368" name="Object 3">
                        <a:extLst>
                          <a:ext uri="{FF2B5EF4-FFF2-40B4-BE49-F238E27FC236}">
                            <a16:creationId xmlns:a16="http://schemas.microsoft.com/office/drawing/2014/main" id="{4D9ECED5-9309-FAAB-634D-BF8E2B052B2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Gray">
                      <a:xfrm>
                        <a:off x="1331913" y="4724400"/>
                        <a:ext cx="219868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10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10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91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1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1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0338" grpId="0" autoUpdateAnimBg="0"/>
      <p:bldP spid="910339" grpId="0" autoUpdateAnimBg="0"/>
      <p:bldP spid="910340" grpId="0" autoUpdateAnimBg="0"/>
      <p:bldP spid="910341" grpId="0" autoUpdateAnimBg="0"/>
      <p:bldP spid="910342" grpId="0" autoUpdateAnimBg="0"/>
      <p:bldP spid="910343" grpId="0" autoUpdateAnimBg="0"/>
      <p:bldP spid="910347" grpId="0"/>
      <p:bldP spid="91034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2" name="Text Box 2">
            <a:extLst>
              <a:ext uri="{FF2B5EF4-FFF2-40B4-BE49-F238E27FC236}">
                <a16:creationId xmlns:a16="http://schemas.microsoft.com/office/drawing/2014/main" id="{CC853DFE-1770-7F43-6DE6-E457515DC518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827088" y="4005263"/>
            <a:ext cx="79216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t‘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&lt; 0</a:t>
            </a:r>
            <a:r>
              <a:rPr kumimoji="1" lang="zh-CN" altLang="en-US">
                <a:latin typeface="Times New Roman" panose="02020603050405020304" pitchFamily="18" charset="0"/>
              </a:rPr>
              <a:t>，说明上海站的乙火车先开，时序颠倒。若北京站的另一列丙火车先于北京站的甲火车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</a:rPr>
              <a:t>1.0×10 </a:t>
            </a:r>
            <a:r>
              <a:rPr kumimoji="1" lang="en-US" altLang="zh-CN" baseline="30000">
                <a:solidFill>
                  <a:srgbClr val="66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kumimoji="1" lang="en-US" altLang="zh-CN" baseline="30000">
                <a:solidFill>
                  <a:srgbClr val="66FFFF"/>
                </a:solidFill>
                <a:latin typeface="Times New Roman" panose="02020603050405020304" pitchFamily="18" charset="0"/>
              </a:rPr>
              <a:t>3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</a:rPr>
              <a:t>s </a:t>
            </a:r>
            <a:r>
              <a:rPr kumimoji="1" lang="zh-CN" altLang="en-US">
                <a:latin typeface="Times New Roman" panose="02020603050405020304" pitchFamily="18" charset="0"/>
              </a:rPr>
              <a:t>发车，则宇航员参考系中测得哪一列火车先开？</a:t>
            </a:r>
          </a:p>
        </p:txBody>
      </p:sp>
      <p:graphicFrame>
        <p:nvGraphicFramePr>
          <p:cNvPr id="911363" name="Object 2">
            <a:extLst>
              <a:ext uri="{FF2B5EF4-FFF2-40B4-BE49-F238E27FC236}">
                <a16:creationId xmlns:a16="http://schemas.microsoft.com/office/drawing/2014/main" id="{9F92CB36-E5DC-03C5-62CB-A177433BB670}"/>
              </a:ext>
            </a:extLst>
          </p:cNvPr>
          <p:cNvGraphicFramePr>
            <a:graphicFrameLocks/>
          </p:cNvGraphicFramePr>
          <p:nvPr/>
        </p:nvGraphicFramePr>
        <p:xfrm>
          <a:off x="1187450" y="981075"/>
          <a:ext cx="2319338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93589" imgH="1226959" progId="Equation.3">
                  <p:embed/>
                </p:oleObj>
              </mc:Choice>
              <mc:Fallback>
                <p:oleObj name="公式" r:id="rId2" imgW="2293589" imgH="1226959" progId="Equation.3">
                  <p:embed/>
                  <p:pic>
                    <p:nvPicPr>
                      <p:cNvPr id="911363" name="Object 2">
                        <a:extLst>
                          <a:ext uri="{FF2B5EF4-FFF2-40B4-BE49-F238E27FC236}">
                            <a16:creationId xmlns:a16="http://schemas.microsoft.com/office/drawing/2014/main" id="{9F92CB36-E5DC-03C5-62CB-A177433BB67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1187450" y="981075"/>
                        <a:ext cx="2319338" cy="125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64" name="Object 3">
            <a:extLst>
              <a:ext uri="{FF2B5EF4-FFF2-40B4-BE49-F238E27FC236}">
                <a16:creationId xmlns:a16="http://schemas.microsoft.com/office/drawing/2014/main" id="{4153F5F5-D46A-DD8B-E85C-A57AB60D58E1}"/>
              </a:ext>
            </a:extLst>
          </p:cNvPr>
          <p:cNvGraphicFramePr>
            <a:graphicFrameLocks/>
          </p:cNvGraphicFramePr>
          <p:nvPr/>
        </p:nvGraphicFramePr>
        <p:xfrm>
          <a:off x="2528888" y="2420938"/>
          <a:ext cx="6146800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126356" imgH="1280326" progId="Equation.3">
                  <p:embed/>
                </p:oleObj>
              </mc:Choice>
              <mc:Fallback>
                <p:oleObj name="公式" r:id="rId4" imgW="6126356" imgH="1280326" progId="Equation.3">
                  <p:embed/>
                  <p:pic>
                    <p:nvPicPr>
                      <p:cNvPr id="911364" name="Object 3">
                        <a:extLst>
                          <a:ext uri="{FF2B5EF4-FFF2-40B4-BE49-F238E27FC236}">
                            <a16:creationId xmlns:a16="http://schemas.microsoft.com/office/drawing/2014/main" id="{4153F5F5-D46A-DD8B-E85C-A57AB60D58E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2528888" y="2420938"/>
                        <a:ext cx="6146800" cy="1306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65" name="Rectangle 5">
            <a:extLst>
              <a:ext uri="{FF2B5EF4-FFF2-40B4-BE49-F238E27FC236}">
                <a16:creationId xmlns:a16="http://schemas.microsoft.com/office/drawing/2014/main" id="{D6DF7493-B694-80AA-4959-D6046080661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4213" y="404813"/>
            <a:ext cx="83883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由洛仑兹坐标变换，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S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</a:t>
            </a:r>
            <a:r>
              <a:rPr kumimoji="1" lang="en-US" altLang="zh-CN" i="1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华文中宋" panose="02010600040101010101" pitchFamily="2" charset="-122"/>
              </a:rPr>
              <a:t>测得甲乙两列火车发车的时间间隔为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"/>
                                        <p:tgtEl>
                                          <p:spTgt spid="91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62" grpId="0" autoUpdateAnimBg="0"/>
      <p:bldP spid="91136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>
            <a:extLst>
              <a:ext uri="{FF2B5EF4-FFF2-40B4-BE49-F238E27FC236}">
                <a16:creationId xmlns:a16="http://schemas.microsoft.com/office/drawing/2014/main" id="{2A07815F-4CE5-1C77-0191-C0CE15441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" y="1446213"/>
            <a:ext cx="841851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>
              <a:lnSpc>
                <a:spcPct val="100000"/>
              </a:lnSpc>
              <a:buClrTx/>
              <a:buFontTx/>
              <a:buNone/>
            </a:pP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先向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开枪，过了</a:t>
            </a:r>
            <a:r>
              <a:rPr lang="en-US" altLang="zh-CN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12.5n s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才向</a:t>
            </a:r>
            <a:r>
              <a:rPr lang="zh-CN" altLang="en-US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开枪，因而站台上的人作证：这场枪战是由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挑起的，假如你是车中的乘客 你看见的情况是怎样的？</a:t>
            </a:r>
          </a:p>
        </p:txBody>
      </p:sp>
      <p:sp>
        <p:nvSpPr>
          <p:cNvPr id="13327" name="Rectangle 3">
            <a:extLst>
              <a:ext uri="{FF2B5EF4-FFF2-40B4-BE49-F238E27FC236}">
                <a16:creationId xmlns:a16="http://schemas.microsoft.com/office/drawing/2014/main" id="{2541E49C-744E-F187-035B-7BBE4ADA4B8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14400" y="3657600"/>
            <a:ext cx="7010400" cy="16764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328" name="Line 4">
            <a:extLst>
              <a:ext uri="{FF2B5EF4-FFF2-40B4-BE49-F238E27FC236}">
                <a16:creationId xmlns:a16="http://schemas.microsoft.com/office/drawing/2014/main" id="{65025224-4D08-E2FF-3716-911AB943836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4648200"/>
            <a:ext cx="8382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314" name="Object 5">
            <a:extLst>
              <a:ext uri="{FF2B5EF4-FFF2-40B4-BE49-F238E27FC236}">
                <a16:creationId xmlns:a16="http://schemas.microsoft.com/office/drawing/2014/main" id="{1B23C247-B0FC-65AE-C4E0-56B4C285BB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8325" y="4125913"/>
          <a:ext cx="692150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280" imgH="164880" progId="Equation.DSMT4">
                  <p:embed/>
                </p:oleObj>
              </mc:Choice>
              <mc:Fallback>
                <p:oleObj name="Equation" r:id="rId2" imgW="368280" imgH="164880" progId="Equation.DSMT4">
                  <p:embed/>
                  <p:pic>
                    <p:nvPicPr>
                      <p:cNvPr id="13314" name="Object 5">
                        <a:extLst>
                          <a:ext uri="{FF2B5EF4-FFF2-40B4-BE49-F238E27FC236}">
                            <a16:creationId xmlns:a16="http://schemas.microsoft.com/office/drawing/2014/main" id="{1B23C247-B0FC-65AE-C4E0-56B4C285BB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8325" y="4125913"/>
                        <a:ext cx="692150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6" name="Object 6">
            <a:extLst>
              <a:ext uri="{FF2B5EF4-FFF2-40B4-BE49-F238E27FC236}">
                <a16:creationId xmlns:a16="http://schemas.microsoft.com/office/drawing/2014/main" id="{9B16B066-A3CD-3820-AF00-1B23C6951D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3810000"/>
          <a:ext cx="504825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4" imgW="403895" imgH="1127858" progId="Paint.Picture">
                  <p:embed/>
                </p:oleObj>
              </mc:Choice>
              <mc:Fallback>
                <p:oleObj name="BMP 图象" r:id="rId4" imgW="403895" imgH="1127858" progId="Paint.Picture">
                  <p:embed/>
                  <p:pic>
                    <p:nvPicPr>
                      <p:cNvPr id="138246" name="Object 6">
                        <a:extLst>
                          <a:ext uri="{FF2B5EF4-FFF2-40B4-BE49-F238E27FC236}">
                            <a16:creationId xmlns:a16="http://schemas.microsoft.com/office/drawing/2014/main" id="{9B16B066-A3CD-3820-AF00-1B23C6951D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3810000"/>
                        <a:ext cx="504825" cy="1409700"/>
                      </a:xfrm>
                      <a:prstGeom prst="rect">
                        <a:avLst/>
                      </a:prstGeom>
                      <a:solidFill>
                        <a:srgbClr val="5F5F5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7" name="Line 7">
            <a:extLst>
              <a:ext uri="{FF2B5EF4-FFF2-40B4-BE49-F238E27FC236}">
                <a16:creationId xmlns:a16="http://schemas.microsoft.com/office/drawing/2014/main" id="{645DF018-FF64-F94D-D915-AC32E69660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200400"/>
            <a:ext cx="0" cy="457200"/>
          </a:xfrm>
          <a:prstGeom prst="line">
            <a:avLst/>
          </a:prstGeom>
          <a:noFill/>
          <a:ln w="28575">
            <a:solidFill>
              <a:srgbClr val="FFFF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48" name="Line 8">
            <a:extLst>
              <a:ext uri="{FF2B5EF4-FFF2-40B4-BE49-F238E27FC236}">
                <a16:creationId xmlns:a16="http://schemas.microsoft.com/office/drawing/2014/main" id="{0648AAF5-1F5B-FD68-4F46-BF9E59CDF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200400"/>
            <a:ext cx="0" cy="457200"/>
          </a:xfrm>
          <a:prstGeom prst="line">
            <a:avLst/>
          </a:prstGeom>
          <a:noFill/>
          <a:ln w="28575">
            <a:solidFill>
              <a:srgbClr val="FFFF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49" name="Line 9">
            <a:extLst>
              <a:ext uri="{FF2B5EF4-FFF2-40B4-BE49-F238E27FC236}">
                <a16:creationId xmlns:a16="http://schemas.microsoft.com/office/drawing/2014/main" id="{0FDF45C5-0375-1FAB-F1A9-A70D0E0E32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276600"/>
            <a:ext cx="5791200" cy="0"/>
          </a:xfrm>
          <a:prstGeom prst="line">
            <a:avLst/>
          </a:prstGeom>
          <a:noFill/>
          <a:ln w="28575">
            <a:solidFill>
              <a:srgbClr val="FFFF99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8250" name="Object 10">
            <a:extLst>
              <a:ext uri="{FF2B5EF4-FFF2-40B4-BE49-F238E27FC236}">
                <a16:creationId xmlns:a16="http://schemas.microsoft.com/office/drawing/2014/main" id="{044C7395-C858-7AF4-C35C-F25503881E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5700" y="3095625"/>
          <a:ext cx="3508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64880" progId="Equation.DSMT4">
                  <p:embed/>
                </p:oleObj>
              </mc:Choice>
              <mc:Fallback>
                <p:oleObj name="Equation" r:id="rId6" imgW="126720" imgH="164880" progId="Equation.DSMT4">
                  <p:embed/>
                  <p:pic>
                    <p:nvPicPr>
                      <p:cNvPr id="138250" name="Object 10">
                        <a:extLst>
                          <a:ext uri="{FF2B5EF4-FFF2-40B4-BE49-F238E27FC236}">
                            <a16:creationId xmlns:a16="http://schemas.microsoft.com/office/drawing/2014/main" id="{044C7395-C858-7AF4-C35C-F25503881E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3095625"/>
                        <a:ext cx="3508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51" name="Object 11">
            <a:extLst>
              <a:ext uri="{FF2B5EF4-FFF2-40B4-BE49-F238E27FC236}">
                <a16:creationId xmlns:a16="http://schemas.microsoft.com/office/drawing/2014/main" id="{0A9B7CC0-92A0-EC8B-6936-23E9B08E08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0125" y="3224213"/>
          <a:ext cx="3444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" imgH="164880" progId="Equation.DSMT4">
                  <p:embed/>
                </p:oleObj>
              </mc:Choice>
              <mc:Fallback>
                <p:oleObj name="Equation" r:id="rId8" imgW="139680" imgH="164880" progId="Equation.DSMT4">
                  <p:embed/>
                  <p:pic>
                    <p:nvPicPr>
                      <p:cNvPr id="138251" name="Object 11">
                        <a:extLst>
                          <a:ext uri="{FF2B5EF4-FFF2-40B4-BE49-F238E27FC236}">
                            <a16:creationId xmlns:a16="http://schemas.microsoft.com/office/drawing/2014/main" id="{0A9B7CC0-92A0-EC8B-6936-23E9B08E08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25" y="3224213"/>
                        <a:ext cx="34448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52" name="AutoShape 12">
            <a:extLst>
              <a:ext uri="{FF2B5EF4-FFF2-40B4-BE49-F238E27FC236}">
                <a16:creationId xmlns:a16="http://schemas.microsoft.com/office/drawing/2014/main" id="{81C0B918-BA25-C82E-D656-BB4CA4E3B17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6764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333" name="Rectangle 13">
            <a:extLst>
              <a:ext uri="{FF2B5EF4-FFF2-40B4-BE49-F238E27FC236}">
                <a16:creationId xmlns:a16="http://schemas.microsoft.com/office/drawing/2014/main" id="{3360EFDE-415C-1E5A-88D0-09765733C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791200"/>
            <a:ext cx="6477000" cy="152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334" name="Oval 14">
            <a:extLst>
              <a:ext uri="{FF2B5EF4-FFF2-40B4-BE49-F238E27FC236}">
                <a16:creationId xmlns:a16="http://schemas.microsoft.com/office/drawing/2014/main" id="{593CF4F1-E963-EE27-80D2-D27269454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3340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335" name="Oval 15">
            <a:extLst>
              <a:ext uri="{FF2B5EF4-FFF2-40B4-BE49-F238E27FC236}">
                <a16:creationId xmlns:a16="http://schemas.microsoft.com/office/drawing/2014/main" id="{691A8AE9-DAAE-233C-27EE-912DFFCB7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3340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56" name="Rectangle 16">
            <a:extLst>
              <a:ext uri="{FF2B5EF4-FFF2-40B4-BE49-F238E27FC236}">
                <a16:creationId xmlns:a16="http://schemas.microsoft.com/office/drawing/2014/main" id="{FC4E5149-5418-00AF-DBDE-6DA7D568E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6688"/>
            <a:ext cx="9144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>
              <a:lnSpc>
                <a:spcPct val="100000"/>
              </a:lnSpc>
              <a:buClrTx/>
              <a:buFontTx/>
              <a:buNone/>
            </a:pPr>
            <a:r>
              <a:rPr lang="zh-CN" altLang="en-US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一列高速列车以</a:t>
            </a:r>
            <a:r>
              <a:rPr lang="en-US" altLang="zh-CN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0.6C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的速度沿平直轨道运动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车上   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 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两人距离 </a:t>
            </a:r>
            <a:r>
              <a:rPr lang="en-US" altLang="zh-CN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L’=10m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在车前 ，</a:t>
            </a:r>
            <a:r>
              <a:rPr lang="en-US" altLang="zh-CN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在车后，</a:t>
            </a:r>
          </a:p>
        </p:txBody>
      </p:sp>
      <p:sp>
        <p:nvSpPr>
          <p:cNvPr id="138257" name="AutoShape 17">
            <a:extLst>
              <a:ext uri="{FF2B5EF4-FFF2-40B4-BE49-F238E27FC236}">
                <a16:creationId xmlns:a16="http://schemas.microsoft.com/office/drawing/2014/main" id="{637FD325-2B44-04B2-121A-7DBA3772AC0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9050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58" name="AutoShape 18">
            <a:extLst>
              <a:ext uri="{FF2B5EF4-FFF2-40B4-BE49-F238E27FC236}">
                <a16:creationId xmlns:a16="http://schemas.microsoft.com/office/drawing/2014/main" id="{E1598312-2B15-B932-6658-E146991C46E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1336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59" name="AutoShape 19">
            <a:extLst>
              <a:ext uri="{FF2B5EF4-FFF2-40B4-BE49-F238E27FC236}">
                <a16:creationId xmlns:a16="http://schemas.microsoft.com/office/drawing/2014/main" id="{25286080-1175-64A0-B03A-C47BC874C14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3622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60" name="AutoShape 20">
            <a:extLst>
              <a:ext uri="{FF2B5EF4-FFF2-40B4-BE49-F238E27FC236}">
                <a16:creationId xmlns:a16="http://schemas.microsoft.com/office/drawing/2014/main" id="{FA00FDB6-B296-D8E1-AAF2-4884775A0FE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5908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61" name="AutoShape 21">
            <a:extLst>
              <a:ext uri="{FF2B5EF4-FFF2-40B4-BE49-F238E27FC236}">
                <a16:creationId xmlns:a16="http://schemas.microsoft.com/office/drawing/2014/main" id="{0A5A811A-A792-BA67-4E19-6FBDECA6DFF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8194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62" name="AutoShape 22">
            <a:extLst>
              <a:ext uri="{FF2B5EF4-FFF2-40B4-BE49-F238E27FC236}">
                <a16:creationId xmlns:a16="http://schemas.microsoft.com/office/drawing/2014/main" id="{13505828-B306-464B-355D-C0BD3AFDF9E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0480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63" name="AutoShape 23">
            <a:extLst>
              <a:ext uri="{FF2B5EF4-FFF2-40B4-BE49-F238E27FC236}">
                <a16:creationId xmlns:a16="http://schemas.microsoft.com/office/drawing/2014/main" id="{06BF4D88-4185-7901-0819-772261072B4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2766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64" name="AutoShape 24">
            <a:extLst>
              <a:ext uri="{FF2B5EF4-FFF2-40B4-BE49-F238E27FC236}">
                <a16:creationId xmlns:a16="http://schemas.microsoft.com/office/drawing/2014/main" id="{B63CB9E2-89A1-2C77-6A64-28A62AB52C4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5052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65" name="AutoShape 25">
            <a:extLst>
              <a:ext uri="{FF2B5EF4-FFF2-40B4-BE49-F238E27FC236}">
                <a16:creationId xmlns:a16="http://schemas.microsoft.com/office/drawing/2014/main" id="{79A872B6-B7A3-9284-E24A-21DD0AB1297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7338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66" name="AutoShape 26">
            <a:extLst>
              <a:ext uri="{FF2B5EF4-FFF2-40B4-BE49-F238E27FC236}">
                <a16:creationId xmlns:a16="http://schemas.microsoft.com/office/drawing/2014/main" id="{58A14B6B-0E92-518E-7CEC-FC70E894569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9624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67" name="AutoShape 27">
            <a:extLst>
              <a:ext uri="{FF2B5EF4-FFF2-40B4-BE49-F238E27FC236}">
                <a16:creationId xmlns:a16="http://schemas.microsoft.com/office/drawing/2014/main" id="{9D723E8C-BB71-9A7B-630E-CC9441B7874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1910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68" name="AutoShape 28">
            <a:extLst>
              <a:ext uri="{FF2B5EF4-FFF2-40B4-BE49-F238E27FC236}">
                <a16:creationId xmlns:a16="http://schemas.microsoft.com/office/drawing/2014/main" id="{E255B074-4742-4737-9513-C6304A4F916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4196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69" name="AutoShape 29">
            <a:extLst>
              <a:ext uri="{FF2B5EF4-FFF2-40B4-BE49-F238E27FC236}">
                <a16:creationId xmlns:a16="http://schemas.microsoft.com/office/drawing/2014/main" id="{277E1B36-531B-750A-B773-F6BD6A77577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6482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70" name="AutoShape 30">
            <a:extLst>
              <a:ext uri="{FF2B5EF4-FFF2-40B4-BE49-F238E27FC236}">
                <a16:creationId xmlns:a16="http://schemas.microsoft.com/office/drawing/2014/main" id="{1C6B5D07-20D5-460D-C424-94C9B08F842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8768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71" name="AutoShape 31">
            <a:extLst>
              <a:ext uri="{FF2B5EF4-FFF2-40B4-BE49-F238E27FC236}">
                <a16:creationId xmlns:a16="http://schemas.microsoft.com/office/drawing/2014/main" id="{F86EE269-A3BA-A20E-0C56-E3167ED35AC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1054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72" name="AutoShape 32">
            <a:extLst>
              <a:ext uri="{FF2B5EF4-FFF2-40B4-BE49-F238E27FC236}">
                <a16:creationId xmlns:a16="http://schemas.microsoft.com/office/drawing/2014/main" id="{6303DF43-7E16-6DB1-2C8D-9118BC5DC58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3340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73" name="AutoShape 33">
            <a:extLst>
              <a:ext uri="{FF2B5EF4-FFF2-40B4-BE49-F238E27FC236}">
                <a16:creationId xmlns:a16="http://schemas.microsoft.com/office/drawing/2014/main" id="{76349A8B-F9EA-1434-0900-B5503C73CFB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5626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74" name="AutoShape 34">
            <a:extLst>
              <a:ext uri="{FF2B5EF4-FFF2-40B4-BE49-F238E27FC236}">
                <a16:creationId xmlns:a16="http://schemas.microsoft.com/office/drawing/2014/main" id="{48587A2B-9C98-913A-09A8-DBDD8890C0F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912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75" name="AutoShape 35">
            <a:extLst>
              <a:ext uri="{FF2B5EF4-FFF2-40B4-BE49-F238E27FC236}">
                <a16:creationId xmlns:a16="http://schemas.microsoft.com/office/drawing/2014/main" id="{89376991-3BBD-36BC-B1BD-04BBE24D3AA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0198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76" name="AutoShape 36">
            <a:extLst>
              <a:ext uri="{FF2B5EF4-FFF2-40B4-BE49-F238E27FC236}">
                <a16:creationId xmlns:a16="http://schemas.microsoft.com/office/drawing/2014/main" id="{A67C2DF1-9D4A-11A7-25DB-7AA0E7BE2F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2484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77" name="AutoShape 37">
            <a:extLst>
              <a:ext uri="{FF2B5EF4-FFF2-40B4-BE49-F238E27FC236}">
                <a16:creationId xmlns:a16="http://schemas.microsoft.com/office/drawing/2014/main" id="{F194BFFE-4706-EC88-43CC-C2C0E8D8F9E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4770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78" name="AutoShape 38">
            <a:extLst>
              <a:ext uri="{FF2B5EF4-FFF2-40B4-BE49-F238E27FC236}">
                <a16:creationId xmlns:a16="http://schemas.microsoft.com/office/drawing/2014/main" id="{28A785D6-676A-F2E4-3884-CDD5F9ECD28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7056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79" name="AutoShape 39">
            <a:extLst>
              <a:ext uri="{FF2B5EF4-FFF2-40B4-BE49-F238E27FC236}">
                <a16:creationId xmlns:a16="http://schemas.microsoft.com/office/drawing/2014/main" id="{1657904B-DAC1-FF30-2614-CA4D56D66B3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9342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80" name="AutoShape 40">
            <a:extLst>
              <a:ext uri="{FF2B5EF4-FFF2-40B4-BE49-F238E27FC236}">
                <a16:creationId xmlns:a16="http://schemas.microsoft.com/office/drawing/2014/main" id="{4F22909B-226E-1D8F-5579-80D701C992C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1628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81" name="AutoShape 41">
            <a:extLst>
              <a:ext uri="{FF2B5EF4-FFF2-40B4-BE49-F238E27FC236}">
                <a16:creationId xmlns:a16="http://schemas.microsoft.com/office/drawing/2014/main" id="{AC75EA0E-4569-1164-F720-F4BBFD183D2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1628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82" name="AutoShape 42">
            <a:extLst>
              <a:ext uri="{FF2B5EF4-FFF2-40B4-BE49-F238E27FC236}">
                <a16:creationId xmlns:a16="http://schemas.microsoft.com/office/drawing/2014/main" id="{0EBAF2E4-E43F-75F8-1C55-F18904BBE7B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342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83" name="AutoShape 43">
            <a:extLst>
              <a:ext uri="{FF2B5EF4-FFF2-40B4-BE49-F238E27FC236}">
                <a16:creationId xmlns:a16="http://schemas.microsoft.com/office/drawing/2014/main" id="{4D16FCD7-1689-FF9F-C7DC-2E4EA4F3593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7056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84" name="AutoShape 44">
            <a:extLst>
              <a:ext uri="{FF2B5EF4-FFF2-40B4-BE49-F238E27FC236}">
                <a16:creationId xmlns:a16="http://schemas.microsoft.com/office/drawing/2014/main" id="{57F82DB7-B4FC-3C74-86EA-03F6309F044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770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85" name="AutoShape 45">
            <a:extLst>
              <a:ext uri="{FF2B5EF4-FFF2-40B4-BE49-F238E27FC236}">
                <a16:creationId xmlns:a16="http://schemas.microsoft.com/office/drawing/2014/main" id="{E36E6640-2E1F-69E0-5364-DE3EB3BC077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484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86" name="AutoShape 46">
            <a:extLst>
              <a:ext uri="{FF2B5EF4-FFF2-40B4-BE49-F238E27FC236}">
                <a16:creationId xmlns:a16="http://schemas.microsoft.com/office/drawing/2014/main" id="{8B0BBD2D-4D32-7183-A73C-C485E98DF2D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198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87" name="AutoShape 47">
            <a:extLst>
              <a:ext uri="{FF2B5EF4-FFF2-40B4-BE49-F238E27FC236}">
                <a16:creationId xmlns:a16="http://schemas.microsoft.com/office/drawing/2014/main" id="{669B846C-F0D4-22ED-4683-E66EC988547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912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88" name="AutoShape 48">
            <a:extLst>
              <a:ext uri="{FF2B5EF4-FFF2-40B4-BE49-F238E27FC236}">
                <a16:creationId xmlns:a16="http://schemas.microsoft.com/office/drawing/2014/main" id="{CDB5D5FE-AA05-EA54-B3BE-B6D0A4F7CCF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626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89" name="AutoShape 49">
            <a:extLst>
              <a:ext uri="{FF2B5EF4-FFF2-40B4-BE49-F238E27FC236}">
                <a16:creationId xmlns:a16="http://schemas.microsoft.com/office/drawing/2014/main" id="{1A445DA1-9368-A78B-A75F-C5968AC646A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340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90" name="AutoShape 50">
            <a:extLst>
              <a:ext uri="{FF2B5EF4-FFF2-40B4-BE49-F238E27FC236}">
                <a16:creationId xmlns:a16="http://schemas.microsoft.com/office/drawing/2014/main" id="{733493E9-184A-8C3D-94B1-C223FB53788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1054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91" name="AutoShape 51">
            <a:extLst>
              <a:ext uri="{FF2B5EF4-FFF2-40B4-BE49-F238E27FC236}">
                <a16:creationId xmlns:a16="http://schemas.microsoft.com/office/drawing/2014/main" id="{DA852698-0F0E-711F-412F-84FA0D9B095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8768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92" name="AutoShape 52">
            <a:extLst>
              <a:ext uri="{FF2B5EF4-FFF2-40B4-BE49-F238E27FC236}">
                <a16:creationId xmlns:a16="http://schemas.microsoft.com/office/drawing/2014/main" id="{5ED3CE6E-509D-2BA5-85A2-7F2C7F9A239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6482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93" name="AutoShape 53">
            <a:extLst>
              <a:ext uri="{FF2B5EF4-FFF2-40B4-BE49-F238E27FC236}">
                <a16:creationId xmlns:a16="http://schemas.microsoft.com/office/drawing/2014/main" id="{B450CD74-7563-0160-4005-509479B1603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4196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94" name="AutoShape 54">
            <a:extLst>
              <a:ext uri="{FF2B5EF4-FFF2-40B4-BE49-F238E27FC236}">
                <a16:creationId xmlns:a16="http://schemas.microsoft.com/office/drawing/2014/main" id="{B5068FEF-0523-7FF0-823A-25A9912AA40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1910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95" name="AutoShape 55">
            <a:extLst>
              <a:ext uri="{FF2B5EF4-FFF2-40B4-BE49-F238E27FC236}">
                <a16:creationId xmlns:a16="http://schemas.microsoft.com/office/drawing/2014/main" id="{B92A6F0E-A36F-23F0-74B5-B573FC4ECEF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9624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96" name="AutoShape 56">
            <a:extLst>
              <a:ext uri="{FF2B5EF4-FFF2-40B4-BE49-F238E27FC236}">
                <a16:creationId xmlns:a16="http://schemas.microsoft.com/office/drawing/2014/main" id="{08A5ACAC-6FEC-ACA9-3D64-A464E6F97D9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7338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97" name="AutoShape 57">
            <a:extLst>
              <a:ext uri="{FF2B5EF4-FFF2-40B4-BE49-F238E27FC236}">
                <a16:creationId xmlns:a16="http://schemas.microsoft.com/office/drawing/2014/main" id="{118812E1-36D8-5600-CD44-F797C720261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052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98" name="AutoShape 58">
            <a:extLst>
              <a:ext uri="{FF2B5EF4-FFF2-40B4-BE49-F238E27FC236}">
                <a16:creationId xmlns:a16="http://schemas.microsoft.com/office/drawing/2014/main" id="{CD89613D-3211-7EE1-FC70-49CF46047E8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766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299" name="AutoShape 59">
            <a:extLst>
              <a:ext uri="{FF2B5EF4-FFF2-40B4-BE49-F238E27FC236}">
                <a16:creationId xmlns:a16="http://schemas.microsoft.com/office/drawing/2014/main" id="{D1BCFB97-E2C8-B8B1-9DBA-721E8EE6D3E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480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300" name="AutoShape 60">
            <a:extLst>
              <a:ext uri="{FF2B5EF4-FFF2-40B4-BE49-F238E27FC236}">
                <a16:creationId xmlns:a16="http://schemas.microsoft.com/office/drawing/2014/main" id="{1C15E478-C6F3-7E3B-5187-EF8C16D1971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8194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301" name="AutoShape 61">
            <a:extLst>
              <a:ext uri="{FF2B5EF4-FFF2-40B4-BE49-F238E27FC236}">
                <a16:creationId xmlns:a16="http://schemas.microsoft.com/office/drawing/2014/main" id="{0197D901-C2AF-CC9B-8333-A82EA128A43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908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302" name="AutoShape 62">
            <a:extLst>
              <a:ext uri="{FF2B5EF4-FFF2-40B4-BE49-F238E27FC236}">
                <a16:creationId xmlns:a16="http://schemas.microsoft.com/office/drawing/2014/main" id="{C043CBBC-B125-18D4-F83A-761BACD5E32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3622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303" name="AutoShape 63">
            <a:extLst>
              <a:ext uri="{FF2B5EF4-FFF2-40B4-BE49-F238E27FC236}">
                <a16:creationId xmlns:a16="http://schemas.microsoft.com/office/drawing/2014/main" id="{3006216C-EDEE-D3B1-8016-A6AF433CAE0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1336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304" name="AutoShape 64">
            <a:extLst>
              <a:ext uri="{FF2B5EF4-FFF2-40B4-BE49-F238E27FC236}">
                <a16:creationId xmlns:a16="http://schemas.microsoft.com/office/drawing/2014/main" id="{9F10E4BD-1264-DFBB-62E9-CCB8ECF5BD3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050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305" name="AutoShape 65">
            <a:extLst>
              <a:ext uri="{FF2B5EF4-FFF2-40B4-BE49-F238E27FC236}">
                <a16:creationId xmlns:a16="http://schemas.microsoft.com/office/drawing/2014/main" id="{103F3CB2-0EBD-EF70-F20D-E01E0394612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764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8306" name="AutoShape 66">
            <a:extLst>
              <a:ext uri="{FF2B5EF4-FFF2-40B4-BE49-F238E27FC236}">
                <a16:creationId xmlns:a16="http://schemas.microsoft.com/office/drawing/2014/main" id="{983F7B06-2203-B61C-AA39-D2C2A350810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391400" y="40386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387" name="Oval 67">
            <a:extLst>
              <a:ext uri="{FF2B5EF4-FFF2-40B4-BE49-F238E27FC236}">
                <a16:creationId xmlns:a16="http://schemas.microsoft.com/office/drawing/2014/main" id="{314E4822-F0E6-F66F-7CEF-B78D68EE5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486400"/>
            <a:ext cx="152400" cy="152400"/>
          </a:xfrm>
          <a:prstGeom prst="ellipse">
            <a:avLst/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3388" name="Oval 68">
            <a:extLst>
              <a:ext uri="{FF2B5EF4-FFF2-40B4-BE49-F238E27FC236}">
                <a16:creationId xmlns:a16="http://schemas.microsoft.com/office/drawing/2014/main" id="{2E322106-5D9A-6C8C-9E32-2CB164525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486400"/>
            <a:ext cx="152400" cy="152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38309" name="Object 69">
            <a:extLst>
              <a:ext uri="{FF2B5EF4-FFF2-40B4-BE49-F238E27FC236}">
                <a16:creationId xmlns:a16="http://schemas.microsoft.com/office/drawing/2014/main" id="{926FBC00-F813-1391-9C9D-C7C12506C5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867400"/>
          <a:ext cx="9144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10" imgW="1154520" imgH="406440" progId="MS_ClipArt_Gallery.5">
                  <p:embed/>
                </p:oleObj>
              </mc:Choice>
              <mc:Fallback>
                <p:oleObj name="Clip" r:id="rId10" imgW="1154520" imgH="406440" progId="MS_ClipArt_Gallery.5">
                  <p:embed/>
                  <p:pic>
                    <p:nvPicPr>
                      <p:cNvPr id="138309" name="Object 69">
                        <a:extLst>
                          <a:ext uri="{FF2B5EF4-FFF2-40B4-BE49-F238E27FC236}">
                            <a16:creationId xmlns:a16="http://schemas.microsoft.com/office/drawing/2014/main" id="{926FBC00-F813-1391-9C9D-C7C12506C5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67400"/>
                        <a:ext cx="91440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0" name="Object 70">
            <a:extLst>
              <a:ext uri="{FF2B5EF4-FFF2-40B4-BE49-F238E27FC236}">
                <a16:creationId xmlns:a16="http://schemas.microsoft.com/office/drawing/2014/main" id="{D2CC6333-C8BD-EC72-8071-9D3BB685DB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3733800"/>
          <a:ext cx="514350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12" imgW="411516" imgH="1120237" progId="Paint.Picture">
                  <p:embed/>
                </p:oleObj>
              </mc:Choice>
              <mc:Fallback>
                <p:oleObj name="BMP 图象" r:id="rId12" imgW="411516" imgH="1120237" progId="Paint.Picture">
                  <p:embed/>
                  <p:pic>
                    <p:nvPicPr>
                      <p:cNvPr id="138310" name="Object 70">
                        <a:extLst>
                          <a:ext uri="{FF2B5EF4-FFF2-40B4-BE49-F238E27FC236}">
                            <a16:creationId xmlns:a16="http://schemas.microsoft.com/office/drawing/2014/main" id="{D2CC6333-C8BD-EC72-8071-9D3BB685DB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733800"/>
                        <a:ext cx="514350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311" name="AutoShape 71">
            <a:extLst>
              <a:ext uri="{FF2B5EF4-FFF2-40B4-BE49-F238E27FC236}">
                <a16:creationId xmlns:a16="http://schemas.microsoft.com/office/drawing/2014/main" id="{73A87496-3E0D-E8A5-ACAB-8D23DF835B3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47800" y="4191000"/>
            <a:ext cx="152400" cy="74613"/>
          </a:xfrm>
          <a:prstGeom prst="homePlate">
            <a:avLst>
              <a:gd name="adj" fmla="val 51063"/>
            </a:avLst>
          </a:prstGeom>
          <a:solidFill>
            <a:srgbClr val="5F5F5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38312" name="Object 72">
            <a:extLst>
              <a:ext uri="{FF2B5EF4-FFF2-40B4-BE49-F238E27FC236}">
                <a16:creationId xmlns:a16="http://schemas.microsoft.com/office/drawing/2014/main" id="{56549220-F1C3-22AE-CF7D-C9B4E89F4C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962400"/>
          <a:ext cx="787400" cy="234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14" imgW="541067" imgH="1813717" progId="Paint.Picture">
                  <p:embed/>
                </p:oleObj>
              </mc:Choice>
              <mc:Fallback>
                <p:oleObj name="BMP 图象" r:id="rId14" imgW="541067" imgH="1813717" progId="Paint.Picture">
                  <p:embed/>
                  <p:pic>
                    <p:nvPicPr>
                      <p:cNvPr id="138312" name="Object 72">
                        <a:extLst>
                          <a:ext uri="{FF2B5EF4-FFF2-40B4-BE49-F238E27FC236}">
                            <a16:creationId xmlns:a16="http://schemas.microsoft.com/office/drawing/2014/main" id="{56549220-F1C3-22AE-CF7D-C9B4E89F4C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962400"/>
                        <a:ext cx="787400" cy="234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313" name="Rectangle 73">
            <a:extLst>
              <a:ext uri="{FF2B5EF4-FFF2-40B4-BE49-F238E27FC236}">
                <a16:creationId xmlns:a16="http://schemas.microsoft.com/office/drawing/2014/main" id="{04846D6E-F12B-1115-2ABB-40A5FF33A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985838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>
              <a:lnSpc>
                <a:spcPct val="100000"/>
              </a:lnSpc>
              <a:buClrTx/>
              <a:buFontTx/>
              <a:buNone/>
            </a:pP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当列车通过一站台时，突然发生枪战事件，站台上的人看到：</a:t>
            </a:r>
          </a:p>
        </p:txBody>
      </p:sp>
      <p:graphicFrame>
        <p:nvGraphicFramePr>
          <p:cNvPr id="138314" name="Object 74">
            <a:extLst>
              <a:ext uri="{FF2B5EF4-FFF2-40B4-BE49-F238E27FC236}">
                <a16:creationId xmlns:a16="http://schemas.microsoft.com/office/drawing/2014/main" id="{F9DB310C-AE4D-612E-8137-6C96B5D350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3048000"/>
          <a:ext cx="12954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3000" imgH="355320" progId="Equation.3">
                  <p:embed/>
                </p:oleObj>
              </mc:Choice>
              <mc:Fallback>
                <p:oleObj name="Equation" r:id="rId16" imgW="1143000" imgH="355320" progId="Equation.3">
                  <p:embed/>
                  <p:pic>
                    <p:nvPicPr>
                      <p:cNvPr id="138314" name="Object 74">
                        <a:extLst>
                          <a:ext uri="{FF2B5EF4-FFF2-40B4-BE49-F238E27FC236}">
                            <a16:creationId xmlns:a16="http://schemas.microsoft.com/office/drawing/2014/main" id="{F9DB310C-AE4D-612E-8137-6C96B5D350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048000"/>
                        <a:ext cx="1295400" cy="4016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5" name="Object 75">
            <a:extLst>
              <a:ext uri="{FF2B5EF4-FFF2-40B4-BE49-F238E27FC236}">
                <a16:creationId xmlns:a16="http://schemas.microsoft.com/office/drawing/2014/main" id="{77B2A27F-F8E3-698F-9D99-641DAD1950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4419600"/>
          <a:ext cx="1625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25400" imgH="355320" progId="Equation.3">
                  <p:embed/>
                </p:oleObj>
              </mc:Choice>
              <mc:Fallback>
                <p:oleObj name="Equation" r:id="rId18" imgW="1625400" imgH="355320" progId="Equation.3">
                  <p:embed/>
                  <p:pic>
                    <p:nvPicPr>
                      <p:cNvPr id="138315" name="Object 75">
                        <a:extLst>
                          <a:ext uri="{FF2B5EF4-FFF2-40B4-BE49-F238E27FC236}">
                            <a16:creationId xmlns:a16="http://schemas.microsoft.com/office/drawing/2014/main" id="{77B2A27F-F8E3-698F-9D99-641DAD1950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419600"/>
                        <a:ext cx="1625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6" name="Object 76">
            <a:extLst>
              <a:ext uri="{FF2B5EF4-FFF2-40B4-BE49-F238E27FC236}">
                <a16:creationId xmlns:a16="http://schemas.microsoft.com/office/drawing/2014/main" id="{EAAC7E13-61F9-CDFC-D798-706C76D1D7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419600"/>
          <a:ext cx="3162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162240" imgH="457200" progId="Equation.3">
                  <p:embed/>
                </p:oleObj>
              </mc:Choice>
              <mc:Fallback>
                <p:oleObj name="Equation" r:id="rId20" imgW="3162240" imgH="457200" progId="Equation.3">
                  <p:embed/>
                  <p:pic>
                    <p:nvPicPr>
                      <p:cNvPr id="138316" name="Object 76">
                        <a:extLst>
                          <a:ext uri="{FF2B5EF4-FFF2-40B4-BE49-F238E27FC236}">
                            <a16:creationId xmlns:a16="http://schemas.microsoft.com/office/drawing/2014/main" id="{EAAC7E13-61F9-CDFC-D798-706C76D1D7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419600"/>
                        <a:ext cx="3162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7" name="Object 77">
            <a:extLst>
              <a:ext uri="{FF2B5EF4-FFF2-40B4-BE49-F238E27FC236}">
                <a16:creationId xmlns:a16="http://schemas.microsoft.com/office/drawing/2014/main" id="{FDDFB126-D0B6-3A5D-2A20-638A76EAB7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5100" y="4883150"/>
          <a:ext cx="2908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908080" imgH="457200" progId="Equation.3">
                  <p:embed/>
                </p:oleObj>
              </mc:Choice>
              <mc:Fallback>
                <p:oleObj name="公式" r:id="rId22" imgW="2908080" imgH="457200" progId="Equation.3">
                  <p:embed/>
                  <p:pic>
                    <p:nvPicPr>
                      <p:cNvPr id="138317" name="Object 77">
                        <a:extLst>
                          <a:ext uri="{FF2B5EF4-FFF2-40B4-BE49-F238E27FC236}">
                            <a16:creationId xmlns:a16="http://schemas.microsoft.com/office/drawing/2014/main" id="{FDDFB126-D0B6-3A5D-2A20-638A76EAB7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4883150"/>
                        <a:ext cx="2908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8" name="Object 78">
            <a:extLst>
              <a:ext uri="{FF2B5EF4-FFF2-40B4-BE49-F238E27FC236}">
                <a16:creationId xmlns:a16="http://schemas.microsoft.com/office/drawing/2014/main" id="{757EF671-95C2-3583-178E-3AB44EFEDE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4838" y="2770188"/>
          <a:ext cx="1346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46040" imgH="330120" progId="Equation.DSMT4">
                  <p:embed/>
                </p:oleObj>
              </mc:Choice>
              <mc:Fallback>
                <p:oleObj name="Equation" r:id="rId24" imgW="1346040" imgH="330120" progId="Equation.DSMT4">
                  <p:embed/>
                  <p:pic>
                    <p:nvPicPr>
                      <p:cNvPr id="138318" name="Object 78">
                        <a:extLst>
                          <a:ext uri="{FF2B5EF4-FFF2-40B4-BE49-F238E27FC236}">
                            <a16:creationId xmlns:a16="http://schemas.microsoft.com/office/drawing/2014/main" id="{757EF671-95C2-3583-178E-3AB44EFEDE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838" y="2770188"/>
                        <a:ext cx="1346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8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8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9" dur="500"/>
                                        <p:tgtEl>
                                          <p:spTgt spid="13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75"/>
                                        <p:tgtEl>
                                          <p:spTgt spid="138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60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63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66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69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72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75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78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81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84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87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90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93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96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99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125"/>
                            </p:stCondLst>
                            <p:childTnLst>
                              <p:par>
                                <p:cTn id="102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05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275"/>
                            </p:stCondLst>
                            <p:childTnLst>
                              <p:par>
                                <p:cTn id="108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111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425"/>
                            </p:stCondLst>
                            <p:childTnLst>
                              <p:par>
                                <p:cTn id="114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575"/>
                            </p:stCondLst>
                            <p:childTnLst>
                              <p:par>
                                <p:cTn id="120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1650"/>
                            </p:stCondLst>
                            <p:childTnLst>
                              <p:par>
                                <p:cTn id="123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126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129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875"/>
                            </p:stCondLst>
                            <p:childTnLst>
                              <p:par>
                                <p:cTn id="132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950"/>
                            </p:stCondLst>
                            <p:childTnLst>
                              <p:par>
                                <p:cTn id="135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2025"/>
                            </p:stCondLst>
                            <p:childTnLst>
                              <p:par>
                                <p:cTn id="138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141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2175"/>
                            </p:stCondLst>
                            <p:childTnLst>
                              <p:par>
                                <p:cTn id="144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147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2325"/>
                            </p:stCondLst>
                            <p:childTnLst>
                              <p:par>
                                <p:cTn id="150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153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2475"/>
                            </p:stCondLst>
                            <p:childTnLst>
                              <p:par>
                                <p:cTn id="156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2550"/>
                            </p:stCondLst>
                            <p:childTnLst>
                              <p:par>
                                <p:cTn id="159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2625"/>
                            </p:stCondLst>
                            <p:childTnLst>
                              <p:par>
                                <p:cTn id="162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165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2775"/>
                            </p:stCondLst>
                            <p:childTnLst>
                              <p:par>
                                <p:cTn id="168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2850"/>
                            </p:stCondLst>
                            <p:childTnLst>
                              <p:par>
                                <p:cTn id="171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2925"/>
                            </p:stCondLst>
                            <p:childTnLst>
                              <p:par>
                                <p:cTn id="174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7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3075"/>
                            </p:stCondLst>
                            <p:childTnLst>
                              <p:par>
                                <p:cTn id="180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afterGroup">
                            <p:stCondLst>
                              <p:cond delay="3150"/>
                            </p:stCondLst>
                            <p:childTnLst>
                              <p:par>
                                <p:cTn id="183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3225"/>
                            </p:stCondLst>
                            <p:childTnLst>
                              <p:par>
                                <p:cTn id="186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189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3375"/>
                            </p:stCondLst>
                            <p:childTnLst>
                              <p:par>
                                <p:cTn id="192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3450"/>
                            </p:stCondLst>
                            <p:childTnLst>
                              <p:par>
                                <p:cTn id="195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3525"/>
                            </p:stCondLst>
                            <p:childTnLst>
                              <p:par>
                                <p:cTn id="198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201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3675"/>
                            </p:stCondLst>
                            <p:childTnLst>
                              <p:par>
                                <p:cTn id="204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207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 nodeType="afterGroup">
                            <p:stCondLst>
                              <p:cond delay="3825"/>
                            </p:stCondLst>
                            <p:childTnLst>
                              <p:par>
                                <p:cTn id="210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6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1" dur="500"/>
                                        <p:tgtEl>
                                          <p:spTgt spid="13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138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138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138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138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138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138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autoUpdateAnimBg="0"/>
      <p:bldP spid="138252" grpId="0" animBg="1"/>
      <p:bldP spid="138256" grpId="0" autoUpdateAnimBg="0"/>
      <p:bldP spid="138257" grpId="0" animBg="1"/>
      <p:bldP spid="138258" grpId="0" animBg="1"/>
      <p:bldP spid="138259" grpId="0" animBg="1"/>
      <p:bldP spid="138260" grpId="0" animBg="1"/>
      <p:bldP spid="138261" grpId="0" animBg="1"/>
      <p:bldP spid="138262" grpId="0" animBg="1"/>
      <p:bldP spid="138263" grpId="0" animBg="1"/>
      <p:bldP spid="138264" grpId="0" animBg="1"/>
      <p:bldP spid="138265" grpId="0" animBg="1"/>
      <p:bldP spid="138266" grpId="0" animBg="1"/>
      <p:bldP spid="138267" grpId="0" animBg="1"/>
      <p:bldP spid="138268" grpId="0" animBg="1"/>
      <p:bldP spid="138269" grpId="0" animBg="1"/>
      <p:bldP spid="138270" grpId="0" animBg="1"/>
      <p:bldP spid="138271" grpId="0" animBg="1"/>
      <p:bldP spid="138272" grpId="0" animBg="1"/>
      <p:bldP spid="138273" grpId="0" animBg="1"/>
      <p:bldP spid="138274" grpId="0" animBg="1"/>
      <p:bldP spid="138275" grpId="0" animBg="1"/>
      <p:bldP spid="138276" grpId="0" animBg="1"/>
      <p:bldP spid="138277" grpId="0" animBg="1"/>
      <p:bldP spid="138278" grpId="0" animBg="1"/>
      <p:bldP spid="138279" grpId="0" animBg="1"/>
      <p:bldP spid="138280" grpId="0" animBg="1"/>
      <p:bldP spid="138281" grpId="0" animBg="1"/>
      <p:bldP spid="138282" grpId="0" animBg="1"/>
      <p:bldP spid="138283" grpId="0" animBg="1"/>
      <p:bldP spid="138284" grpId="0" animBg="1"/>
      <p:bldP spid="138285" grpId="0" animBg="1"/>
      <p:bldP spid="138286" grpId="0" animBg="1"/>
      <p:bldP spid="138287" grpId="0" animBg="1"/>
      <p:bldP spid="138288" grpId="0" animBg="1"/>
      <p:bldP spid="138289" grpId="0" animBg="1"/>
      <p:bldP spid="138290" grpId="0" animBg="1"/>
      <p:bldP spid="138291" grpId="0" animBg="1"/>
      <p:bldP spid="138292" grpId="0" animBg="1"/>
      <p:bldP spid="138293" grpId="0" animBg="1"/>
      <p:bldP spid="138294" grpId="0" animBg="1"/>
      <p:bldP spid="138295" grpId="0" animBg="1"/>
      <p:bldP spid="138296" grpId="0" animBg="1"/>
      <p:bldP spid="138297" grpId="0" animBg="1"/>
      <p:bldP spid="138298" grpId="0" animBg="1"/>
      <p:bldP spid="138299" grpId="0" animBg="1"/>
      <p:bldP spid="138300" grpId="0" animBg="1"/>
      <p:bldP spid="138301" grpId="0" animBg="1"/>
      <p:bldP spid="138302" grpId="0" animBg="1"/>
      <p:bldP spid="138303" grpId="0" animBg="1"/>
      <p:bldP spid="138304" grpId="0" animBg="1"/>
      <p:bldP spid="138305" grpId="0" animBg="1"/>
      <p:bldP spid="138306" grpId="0" animBg="1"/>
      <p:bldP spid="138311" grpId="0" animBg="1"/>
      <p:bldP spid="138313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8" name="Text Box 4">
            <a:extLst>
              <a:ext uri="{FF2B5EF4-FFF2-40B4-BE49-F238E27FC236}">
                <a16:creationId xmlns:a16="http://schemas.microsoft.com/office/drawing/2014/main" id="{A3169466-DF8F-8E17-0421-F8D8C72C6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138" y="474663"/>
            <a:ext cx="5867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 sz="2800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r>
              <a:rPr kumimoji="1" lang="zh-CN" altLang="en-US" sz="28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已知</a:t>
            </a:r>
            <a:r>
              <a:rPr kumimoji="1" lang="zh-CN" altLang="en-US" sz="3200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5" pitchFamily="2" charset="2"/>
              </a:rPr>
              <a:t>⊿</a:t>
            </a:r>
            <a:r>
              <a:rPr kumimoji="1" lang="en-US" altLang="zh-CN" sz="2800" i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5" pitchFamily="2" charset="2"/>
              </a:rPr>
              <a:t>t </a:t>
            </a:r>
            <a:r>
              <a:rPr kumimoji="1" lang="en-US" altLang="zh-CN" sz="2800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5" pitchFamily="2" charset="2"/>
              </a:rPr>
              <a:t>=12.5ns </a:t>
            </a:r>
            <a:r>
              <a:rPr kumimoji="1" lang="en-US" altLang="zh-CN" sz="3200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5" pitchFamily="2" charset="2"/>
              </a:rPr>
              <a:t>⊿</a:t>
            </a:r>
            <a:r>
              <a:rPr kumimoji="1" lang="en-US" altLang="zh-CN" sz="2800" i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5" pitchFamily="2" charset="2"/>
              </a:rPr>
              <a:t>x'</a:t>
            </a:r>
            <a:r>
              <a:rPr kumimoji="1" lang="en-US" altLang="zh-CN" sz="2800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Math5" pitchFamily="2" charset="2"/>
              </a:rPr>
              <a:t>=10m</a:t>
            </a:r>
          </a:p>
        </p:txBody>
      </p:sp>
      <p:sp>
        <p:nvSpPr>
          <p:cNvPr id="139269" name="Text Box 5">
            <a:extLst>
              <a:ext uri="{FF2B5EF4-FFF2-40B4-BE49-F238E27FC236}">
                <a16:creationId xmlns:a16="http://schemas.microsoft.com/office/drawing/2014/main" id="{A4B200D4-F9D7-7A69-36DE-6EAFE8BD7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5850" y="454818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800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 0</a:t>
            </a:r>
            <a:endParaRPr kumimoji="1" lang="en-US" altLang="zh-CN" sz="2800" b="0">
              <a:solidFill>
                <a:srgbClr val="FFCC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39270" name="Object 6">
            <a:extLst>
              <a:ext uri="{FF2B5EF4-FFF2-40B4-BE49-F238E27FC236}">
                <a16:creationId xmlns:a16="http://schemas.microsoft.com/office/drawing/2014/main" id="{05C1833E-AFC3-E029-2ABF-D6BDBDF044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7163" y="4443413"/>
          <a:ext cx="21351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203040" progId="Equation.DSMT4">
                  <p:embed/>
                </p:oleObj>
              </mc:Choice>
              <mc:Fallback>
                <p:oleObj name="Equation" r:id="rId2" imgW="698400" imgH="203040" progId="Equation.DSMT4">
                  <p:embed/>
                  <p:pic>
                    <p:nvPicPr>
                      <p:cNvPr id="139270" name="Object 6">
                        <a:extLst>
                          <a:ext uri="{FF2B5EF4-FFF2-40B4-BE49-F238E27FC236}">
                            <a16:creationId xmlns:a16="http://schemas.microsoft.com/office/drawing/2014/main" id="{05C1833E-AFC3-E029-2ABF-D6BDBDF044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163" y="4443413"/>
                        <a:ext cx="213518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2" name="Text Box 8">
            <a:extLst>
              <a:ext uri="{FF2B5EF4-FFF2-40B4-BE49-F238E27FC236}">
                <a16:creationId xmlns:a16="http://schemas.microsoft.com/office/drawing/2014/main" id="{7A33B185-CBE3-F9EA-D3AC-6BA3D3D58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576888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 sz="2800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问：</a:t>
            </a:r>
            <a:r>
              <a:rPr kumimoji="1" lang="zh-CN" altLang="en-US" sz="28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为什么不直接用</a:t>
            </a:r>
            <a:r>
              <a:rPr kumimoji="1" lang="zh-CN" altLang="en-US" sz="2800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</a:t>
            </a:r>
            <a:r>
              <a:rPr kumimoji="1" lang="en-US" altLang="zh-CN" sz="2800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</a:p>
        </p:txBody>
      </p:sp>
      <p:graphicFrame>
        <p:nvGraphicFramePr>
          <p:cNvPr id="139275" name="Object 11">
            <a:extLst>
              <a:ext uri="{FF2B5EF4-FFF2-40B4-BE49-F238E27FC236}">
                <a16:creationId xmlns:a16="http://schemas.microsoft.com/office/drawing/2014/main" id="{96EF09F2-612C-B07E-016D-F564EA5730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3938" y="1063625"/>
          <a:ext cx="3533775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12800" imgH="749160" progId="Equation.3">
                  <p:embed/>
                </p:oleObj>
              </mc:Choice>
              <mc:Fallback>
                <p:oleObj name="公式" r:id="rId4" imgW="1612800" imgH="749160" progId="Equation.3">
                  <p:embed/>
                  <p:pic>
                    <p:nvPicPr>
                      <p:cNvPr id="139275" name="Object 11">
                        <a:extLst>
                          <a:ext uri="{FF2B5EF4-FFF2-40B4-BE49-F238E27FC236}">
                            <a16:creationId xmlns:a16="http://schemas.microsoft.com/office/drawing/2014/main" id="{96EF09F2-612C-B07E-016D-F564EA5730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1063625"/>
                        <a:ext cx="3533775" cy="16795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6" name="Object 12">
            <a:extLst>
              <a:ext uri="{FF2B5EF4-FFF2-40B4-BE49-F238E27FC236}">
                <a16:creationId xmlns:a16="http://schemas.microsoft.com/office/drawing/2014/main" id="{47193044-EF5E-4018-912A-5986E691ED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0013" y="1736725"/>
          <a:ext cx="2438400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38280" imgH="1549080" progId="Equation.3">
                  <p:embed/>
                </p:oleObj>
              </mc:Choice>
              <mc:Fallback>
                <p:oleObj name="Equation" r:id="rId6" imgW="2438280" imgH="1549080" progId="Equation.3">
                  <p:embed/>
                  <p:pic>
                    <p:nvPicPr>
                      <p:cNvPr id="139276" name="Object 12">
                        <a:extLst>
                          <a:ext uri="{FF2B5EF4-FFF2-40B4-BE49-F238E27FC236}">
                            <a16:creationId xmlns:a16="http://schemas.microsoft.com/office/drawing/2014/main" id="{47193044-EF5E-4018-912A-5986E691ED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13" y="1736725"/>
                        <a:ext cx="2438400" cy="14525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7" name="Object 13">
            <a:extLst>
              <a:ext uri="{FF2B5EF4-FFF2-40B4-BE49-F238E27FC236}">
                <a16:creationId xmlns:a16="http://schemas.microsoft.com/office/drawing/2014/main" id="{AD786376-3141-4C34-7EB9-F4783824F7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1413" y="3368675"/>
          <a:ext cx="4151312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6960" imgH="901440" progId="Equation.3">
                  <p:embed/>
                </p:oleObj>
              </mc:Choice>
              <mc:Fallback>
                <p:oleObj name="Equation" r:id="rId8" imgW="3936960" imgH="901440" progId="Equation.3">
                  <p:embed/>
                  <p:pic>
                    <p:nvPicPr>
                      <p:cNvPr id="139277" name="Object 13">
                        <a:extLst>
                          <a:ext uri="{FF2B5EF4-FFF2-40B4-BE49-F238E27FC236}">
                            <a16:creationId xmlns:a16="http://schemas.microsoft.com/office/drawing/2014/main" id="{AD786376-3141-4C34-7EB9-F4783824F7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3368675"/>
                        <a:ext cx="4151312" cy="8683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8" name="Object 14">
            <a:extLst>
              <a:ext uri="{FF2B5EF4-FFF2-40B4-BE49-F238E27FC236}">
                <a16:creationId xmlns:a16="http://schemas.microsoft.com/office/drawing/2014/main" id="{E0394351-3DBE-7836-7578-4DF193EC74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6250" y="5014913"/>
          <a:ext cx="232568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61960" imgH="1650960" progId="Equation.3">
                  <p:embed/>
                </p:oleObj>
              </mc:Choice>
              <mc:Fallback>
                <p:oleObj name="Equation" r:id="rId10" imgW="2361960" imgH="1650960" progId="Equation.3">
                  <p:embed/>
                  <p:pic>
                    <p:nvPicPr>
                      <p:cNvPr id="139278" name="Object 14">
                        <a:extLst>
                          <a:ext uri="{FF2B5EF4-FFF2-40B4-BE49-F238E27FC236}">
                            <a16:creationId xmlns:a16="http://schemas.microsoft.com/office/drawing/2014/main" id="{E0394351-3DBE-7836-7578-4DF193EC74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5014913"/>
                        <a:ext cx="2325688" cy="14478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75" fill="hold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" fill="hold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4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13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8" grpId="0" autoUpdateAnimBg="0"/>
      <p:bldP spid="139269" grpId="0" autoUpdateAnimBg="0"/>
      <p:bldP spid="13927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4" name="Object 2">
            <a:extLst>
              <a:ext uri="{FF2B5EF4-FFF2-40B4-BE49-F238E27FC236}">
                <a16:creationId xmlns:a16="http://schemas.microsoft.com/office/drawing/2014/main" id="{E30B60B3-B8E0-AD0F-9A6B-4A08EF856A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447800"/>
          <a:ext cx="2527300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0880" imgH="1549080" progId="Equation.3">
                  <p:embed/>
                </p:oleObj>
              </mc:Choice>
              <mc:Fallback>
                <p:oleObj name="Equation" r:id="rId2" imgW="2450880" imgH="1549080" progId="Equation.3">
                  <p:embed/>
                  <p:pic>
                    <p:nvPicPr>
                      <p:cNvPr id="69634" name="Object 2">
                        <a:extLst>
                          <a:ext uri="{FF2B5EF4-FFF2-40B4-BE49-F238E27FC236}">
                            <a16:creationId xmlns:a16="http://schemas.microsoft.com/office/drawing/2014/main" id="{E30B60B3-B8E0-AD0F-9A6B-4A08EF856A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447800"/>
                        <a:ext cx="2527300" cy="15970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6" name="Text Box 4">
            <a:extLst>
              <a:ext uri="{FF2B5EF4-FFF2-40B4-BE49-F238E27FC236}">
                <a16:creationId xmlns:a16="http://schemas.microsoft.com/office/drawing/2014/main" id="{90383751-7135-E76C-EB62-EDDFB740E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843588"/>
            <a:ext cx="5662613" cy="557212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因果律在惯性系是绝对的。</a:t>
            </a:r>
          </a:p>
        </p:txBody>
      </p:sp>
      <p:graphicFrame>
        <p:nvGraphicFramePr>
          <p:cNvPr id="69637" name="Object 3">
            <a:extLst>
              <a:ext uri="{FF2B5EF4-FFF2-40B4-BE49-F238E27FC236}">
                <a16:creationId xmlns:a16="http://schemas.microsoft.com/office/drawing/2014/main" id="{5B7E6017-2B27-5FE5-5297-0F43CDCD95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2895600"/>
          <a:ext cx="3352800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88760" imgH="596880" progId="Equation.3">
                  <p:embed/>
                </p:oleObj>
              </mc:Choice>
              <mc:Fallback>
                <p:oleObj name="Equation" r:id="rId4" imgW="1688760" imgH="596880" progId="Equation.3">
                  <p:embed/>
                  <p:pic>
                    <p:nvPicPr>
                      <p:cNvPr id="69637" name="Object 3">
                        <a:extLst>
                          <a:ext uri="{FF2B5EF4-FFF2-40B4-BE49-F238E27FC236}">
                            <a16:creationId xmlns:a16="http://schemas.microsoft.com/office/drawing/2014/main" id="{5B7E6017-2B27-5FE5-5297-0F43CDCD95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895600"/>
                        <a:ext cx="3352800" cy="11858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Text Box 6">
            <a:extLst>
              <a:ext uri="{FF2B5EF4-FFF2-40B4-BE49-F238E27FC236}">
                <a16:creationId xmlns:a16="http://schemas.microsoft.com/office/drawing/2014/main" id="{290778BB-B408-C4B0-1A38-32411D6CB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2613" y="3179763"/>
            <a:ext cx="9048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即：</a:t>
            </a:r>
            <a:endParaRPr kumimoji="1" lang="zh-CN" altLang="en-US" b="0">
              <a:latin typeface="Times New Roman" panose="02020603050405020304" pitchFamily="18" charset="0"/>
            </a:endParaRPr>
          </a:p>
        </p:txBody>
      </p:sp>
      <p:graphicFrame>
        <p:nvGraphicFramePr>
          <p:cNvPr id="69639" name="Object 4">
            <a:extLst>
              <a:ext uri="{FF2B5EF4-FFF2-40B4-BE49-F238E27FC236}">
                <a16:creationId xmlns:a16="http://schemas.microsoft.com/office/drawing/2014/main" id="{60990984-ABDD-61A8-64BB-A8EED6E908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1676400"/>
          <a:ext cx="403860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800" imgH="558720" progId="Equation.3">
                  <p:embed/>
                </p:oleObj>
              </mc:Choice>
              <mc:Fallback>
                <p:oleObj name="Equation" r:id="rId6" imgW="1612800" imgH="558720" progId="Equation.3">
                  <p:embed/>
                  <p:pic>
                    <p:nvPicPr>
                      <p:cNvPr id="69639" name="Object 4">
                        <a:extLst>
                          <a:ext uri="{FF2B5EF4-FFF2-40B4-BE49-F238E27FC236}">
                            <a16:creationId xmlns:a16="http://schemas.microsoft.com/office/drawing/2014/main" id="{60990984-ABDD-61A8-64BB-A8EED6E908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676400"/>
                        <a:ext cx="4038600" cy="12858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1" name="Text Box 9">
            <a:extLst>
              <a:ext uri="{FF2B5EF4-FFF2-40B4-BE49-F238E27FC236}">
                <a16:creationId xmlns:a16="http://schemas.microsoft.com/office/drawing/2014/main" id="{B1831A11-5700-D968-102A-71989494C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129213"/>
            <a:ext cx="5334000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kumimoji="1" lang="zh-CN" altLang="en-US" sz="2800">
                <a:latin typeface="Times New Roman" panose="02020603050405020304" pitchFamily="18" charset="0"/>
                <a:sym typeface="Math5" pitchFamily="2" charset="2"/>
              </a:rPr>
              <a:t>那么</a:t>
            </a:r>
            <a:r>
              <a:rPr kumimoji="1" lang="en-US" altLang="zh-CN" sz="2800">
                <a:latin typeface="Times New Roman" panose="02020603050405020304" pitchFamily="18" charset="0"/>
                <a:sym typeface="Math5" pitchFamily="2" charset="2"/>
              </a:rPr>
              <a:t>: </a:t>
            </a:r>
            <a:r>
              <a:rPr kumimoji="1" lang="en-US" altLang="zh-CN" sz="3200">
                <a:solidFill>
                  <a:srgbClr val="FF0000"/>
                </a:solidFill>
                <a:latin typeface="Times New Roman" panose="02020603050405020304" pitchFamily="18" charset="0"/>
                <a:sym typeface="Math5" pitchFamily="2" charset="2"/>
              </a:rPr>
              <a:t>⊿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Math5" pitchFamily="2" charset="2"/>
              </a:rPr>
              <a:t>t</a:t>
            </a:r>
            <a:r>
              <a:rPr kumimoji="1" lang="en-US" altLang="zh-CN" sz="2800" i="1">
                <a:latin typeface="Times New Roman" panose="02020603050405020304" pitchFamily="18" charset="0"/>
                <a:sym typeface="Math5" pitchFamily="2" charset="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sym typeface="Math5" pitchFamily="2" charset="2"/>
              </a:rPr>
              <a:t>与</a:t>
            </a:r>
            <a:r>
              <a:rPr kumimoji="1" lang="zh-CN" altLang="en-US" sz="3200">
                <a:solidFill>
                  <a:srgbClr val="FF0000"/>
                </a:solidFill>
                <a:latin typeface="Times New Roman" panose="02020603050405020304" pitchFamily="18" charset="0"/>
                <a:sym typeface="Math5" pitchFamily="2" charset="2"/>
              </a:rPr>
              <a:t>⊿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Math5" pitchFamily="2" charset="2"/>
              </a:rPr>
              <a:t>t'</a:t>
            </a:r>
            <a:r>
              <a:rPr kumimoji="1" lang="en-US" altLang="zh-CN" sz="2800" i="1">
                <a:latin typeface="Times New Roman" panose="02020603050405020304" pitchFamily="18" charset="0"/>
                <a:sym typeface="Math5" pitchFamily="2" charset="2"/>
              </a:rPr>
              <a:t>  </a:t>
            </a:r>
            <a:r>
              <a:rPr kumimoji="1" lang="zh-CN" altLang="zh-CN" sz="2800">
                <a:latin typeface="Times New Roman" panose="02020603050405020304" pitchFamily="18" charset="0"/>
                <a:sym typeface="Math5" pitchFamily="2" charset="2"/>
              </a:rPr>
              <a:t>同号</a:t>
            </a:r>
            <a:r>
              <a:rPr kumimoji="1" lang="en-US" altLang="zh-CN" sz="2800">
                <a:latin typeface="Times New Roman" panose="02020603050405020304" pitchFamily="18" charset="0"/>
                <a:sym typeface="Math5" pitchFamily="2" charset="2"/>
              </a:rPr>
              <a:t>!</a:t>
            </a:r>
          </a:p>
        </p:txBody>
      </p:sp>
      <p:sp>
        <p:nvSpPr>
          <p:cNvPr id="69642" name="AutoShape 10">
            <a:extLst>
              <a:ext uri="{FF2B5EF4-FFF2-40B4-BE49-F238E27FC236}">
                <a16:creationId xmlns:a16="http://schemas.microsoft.com/office/drawing/2014/main" id="{C6A0DDB3-763F-F00A-CB96-777443776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410200"/>
            <a:ext cx="2362200" cy="914400"/>
          </a:xfrm>
          <a:prstGeom prst="cloudCallout">
            <a:avLst>
              <a:gd name="adj1" fmla="val 26208"/>
              <a:gd name="adj2" fmla="val -7639"/>
            </a:avLst>
          </a:prstGeom>
          <a:solidFill>
            <a:srgbClr val="FFFF00"/>
          </a:solidFill>
          <a:ln w="38100">
            <a:solidFill>
              <a:schemeClr val="accent2"/>
            </a:solidFill>
            <a:prstDash val="sysDot"/>
            <a:round/>
            <a:headEnd/>
            <a:tailEnd/>
          </a:ln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结论：</a:t>
            </a:r>
          </a:p>
        </p:txBody>
      </p:sp>
      <p:sp>
        <p:nvSpPr>
          <p:cNvPr id="69646" name="Text Box 14">
            <a:extLst>
              <a:ext uri="{FF2B5EF4-FFF2-40B4-BE49-F238E27FC236}">
                <a16:creationId xmlns:a16="http://schemas.microsoft.com/office/drawing/2014/main" id="{BD6A0B09-8ED6-56BF-7C3D-4B16D58F4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60350"/>
            <a:ext cx="91440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如果两事件有因果关系：</a:t>
            </a:r>
            <a:r>
              <a:rPr kumimoji="1" lang="en-US" altLang="zh-CN" sz="2800">
                <a:latin typeface="Times New Roman" panose="02020603050405020304" pitchFamily="18" charset="0"/>
              </a:rPr>
              <a:t>A</a:t>
            </a:r>
            <a:r>
              <a:rPr kumimoji="1" lang="zh-CN" altLang="en-US" sz="2800">
                <a:latin typeface="Times New Roman" panose="02020603050405020304" pitchFamily="18" charset="0"/>
              </a:rPr>
              <a:t>开枪，</a:t>
            </a:r>
            <a:r>
              <a:rPr kumimoji="1" lang="en-US" altLang="zh-CN" sz="2800">
                <a:latin typeface="Times New Roman" panose="02020603050405020304" pitchFamily="18" charset="0"/>
              </a:rPr>
              <a:t>B</a:t>
            </a:r>
            <a:r>
              <a:rPr kumimoji="1" lang="zh-CN" altLang="en-US" sz="2800">
                <a:latin typeface="Times New Roman" panose="02020603050405020304" pitchFamily="18" charset="0"/>
              </a:rPr>
              <a:t>中弹。</a:t>
            </a:r>
          </a:p>
        </p:txBody>
      </p:sp>
      <p:graphicFrame>
        <p:nvGraphicFramePr>
          <p:cNvPr id="69647" name="Object 5">
            <a:extLst>
              <a:ext uri="{FF2B5EF4-FFF2-40B4-BE49-F238E27FC236}">
                <a16:creationId xmlns:a16="http://schemas.microsoft.com/office/drawing/2014/main" id="{6A3F8779-808F-55C0-BE4A-E33D2288D5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6288" y="700088"/>
          <a:ext cx="5429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1200" imgH="393480" progId="Equation.3">
                  <p:embed/>
                </p:oleObj>
              </mc:Choice>
              <mc:Fallback>
                <p:oleObj name="公式" r:id="rId8" imgW="241200" imgH="393480" progId="Equation.3">
                  <p:embed/>
                  <p:pic>
                    <p:nvPicPr>
                      <p:cNvPr id="69647" name="Object 5">
                        <a:extLst>
                          <a:ext uri="{FF2B5EF4-FFF2-40B4-BE49-F238E27FC236}">
                            <a16:creationId xmlns:a16="http://schemas.microsoft.com/office/drawing/2014/main" id="{6A3F8779-808F-55C0-BE4A-E33D2288D5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700088"/>
                        <a:ext cx="542925" cy="8858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8" name="Text Box 16">
            <a:extLst>
              <a:ext uri="{FF2B5EF4-FFF2-40B4-BE49-F238E27FC236}">
                <a16:creationId xmlns:a16="http://schemas.microsoft.com/office/drawing/2014/main" id="{0BCC572D-A909-BC8D-395F-24B3F89C7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8200"/>
            <a:ext cx="762000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代表子弹飞行速率。看</a:t>
            </a:r>
            <a:r>
              <a:rPr kumimoji="1" lang="zh-CN" altLang="en-US" sz="3200">
                <a:solidFill>
                  <a:srgbClr val="FF0000"/>
                </a:solidFill>
                <a:latin typeface="Times New Roman" panose="02020603050405020304" pitchFamily="18" charset="0"/>
                <a:sym typeface="Math5" pitchFamily="2" charset="2"/>
              </a:rPr>
              <a:t>⊿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Math5" pitchFamily="2" charset="2"/>
              </a:rPr>
              <a:t>t</a:t>
            </a:r>
            <a:r>
              <a:rPr kumimoji="1" lang="en-US" altLang="zh-CN" sz="2800" i="1">
                <a:latin typeface="Times New Roman" panose="02020603050405020304" pitchFamily="18" charset="0"/>
                <a:sym typeface="Math5" pitchFamily="2" charset="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sym typeface="Math5" pitchFamily="2" charset="2"/>
              </a:rPr>
              <a:t>与</a:t>
            </a:r>
            <a:r>
              <a:rPr kumimoji="1" lang="zh-CN" altLang="en-US" sz="3200">
                <a:solidFill>
                  <a:srgbClr val="FF0000"/>
                </a:solidFill>
                <a:latin typeface="Times New Roman" panose="02020603050405020304" pitchFamily="18" charset="0"/>
                <a:sym typeface="Math5" pitchFamily="2" charset="2"/>
              </a:rPr>
              <a:t>⊿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Math5" pitchFamily="2" charset="2"/>
              </a:rPr>
              <a:t>t’ </a:t>
            </a:r>
            <a:r>
              <a:rPr kumimoji="1" lang="zh-CN" altLang="en-US" sz="2800">
                <a:latin typeface="Times New Roman" panose="02020603050405020304" pitchFamily="18" charset="0"/>
                <a:sym typeface="Math5" pitchFamily="2" charset="2"/>
              </a:rPr>
              <a:t>有什么关系：</a:t>
            </a:r>
          </a:p>
        </p:txBody>
      </p:sp>
      <p:graphicFrame>
        <p:nvGraphicFramePr>
          <p:cNvPr id="69651" name="Object 6">
            <a:extLst>
              <a:ext uri="{FF2B5EF4-FFF2-40B4-BE49-F238E27FC236}">
                <a16:creationId xmlns:a16="http://schemas.microsoft.com/office/drawing/2014/main" id="{C7722FFE-FC96-43FF-4A52-5EF2E5CCFA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1625" y="4275138"/>
          <a:ext cx="19589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444240" progId="Equation.3">
                  <p:embed/>
                </p:oleObj>
              </mc:Choice>
              <mc:Fallback>
                <p:oleObj name="Equation" r:id="rId10" imgW="876240" imgH="444240" progId="Equation.3">
                  <p:embed/>
                  <p:pic>
                    <p:nvPicPr>
                      <p:cNvPr id="69651" name="Object 6">
                        <a:extLst>
                          <a:ext uri="{FF2B5EF4-FFF2-40B4-BE49-F238E27FC236}">
                            <a16:creationId xmlns:a16="http://schemas.microsoft.com/office/drawing/2014/main" id="{C7722FFE-FC96-43FF-4A52-5EF2E5CCFA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625" y="4275138"/>
                        <a:ext cx="1958975" cy="9937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9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9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696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696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9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 animBg="1" autoUpdateAnimBg="0"/>
      <p:bldP spid="69638" grpId="0" autoUpdateAnimBg="0"/>
      <p:bldP spid="69641" grpId="0" autoUpdateAnimBg="0"/>
      <p:bldP spid="69642" grpId="0" animBg="1" autoUpdateAnimBg="0"/>
      <p:bldP spid="69646" grpId="0" autoUpdateAnimBg="0"/>
      <p:bldP spid="6964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86" name="Rectangle 2">
            <a:extLst>
              <a:ext uri="{FF2B5EF4-FFF2-40B4-BE49-F238E27FC236}">
                <a16:creationId xmlns:a16="http://schemas.microsoft.com/office/drawing/2014/main" id="{943D7F9C-A3A3-1042-E1A6-94F99FF9011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93688" y="3079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912387" name="Text Box 3">
            <a:extLst>
              <a:ext uri="{FF2B5EF4-FFF2-40B4-BE49-F238E27FC236}">
                <a16:creationId xmlns:a16="http://schemas.microsoft.com/office/drawing/2014/main" id="{D0849AB1-EF64-7D77-082B-8DD1E260530D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55650" y="204788"/>
            <a:ext cx="80660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宇宙飞船以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</a:rPr>
              <a:t>0.8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i="1"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</a:rPr>
              <a:t>速度远离地球</a:t>
            </a:r>
            <a:r>
              <a:rPr kumimoji="1" lang="en-US" altLang="zh-CN">
                <a:latin typeface="Times New Roman" panose="02020603050405020304" pitchFamily="18" charset="0"/>
              </a:rPr>
              <a:t>(</a:t>
            </a:r>
            <a:r>
              <a:rPr kumimoji="1" lang="zh-CN" altLang="en-US">
                <a:latin typeface="Times New Roman" panose="02020603050405020304" pitchFamily="18" charset="0"/>
              </a:rPr>
              <a:t>退行速度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u =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</a:rPr>
              <a:t>0.8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c</a:t>
            </a:r>
            <a:r>
              <a:rPr kumimoji="1" lang="en-US" altLang="zh-CN" i="1">
                <a:latin typeface="Times New Roman" panose="02020603050405020304" pitchFamily="18" charset="0"/>
              </a:rPr>
              <a:t> </a:t>
            </a:r>
            <a:r>
              <a:rPr kumimoji="1" lang="en-US" altLang="zh-CN">
                <a:latin typeface="Times New Roman" panose="02020603050405020304" pitchFamily="18" charset="0"/>
              </a:rPr>
              <a:t>)</a:t>
            </a:r>
            <a:r>
              <a:rPr kumimoji="1" lang="zh-CN" altLang="en-US">
                <a:latin typeface="Times New Roman" panose="02020603050405020304" pitchFamily="18" charset="0"/>
              </a:rPr>
              <a:t>，在此过程中飞船向地球发出两个闪光信号，其时间间隔为 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baseline="-25000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en-US" altLang="zh-CN" i="1" baseline="-25000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912388" name="Rectangle 4">
            <a:extLst>
              <a:ext uri="{FF2B5EF4-FFF2-40B4-BE49-F238E27FC236}">
                <a16:creationId xmlns:a16="http://schemas.microsoft.com/office/drawing/2014/main" id="{B6B30434-B002-CA24-5283-C4272C431A3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77813" y="12684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912389" name="Text Box 5">
            <a:extLst>
              <a:ext uri="{FF2B5EF4-FFF2-40B4-BE49-F238E27FC236}">
                <a16:creationId xmlns:a16="http://schemas.microsoft.com/office/drawing/2014/main" id="{4AF53D98-5455-9F64-1263-0951B75D3F28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55650" y="1268413"/>
            <a:ext cx="600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地球上接收到它发出的两个光信号间隔 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en-US" altLang="zh-CN" i="1" baseline="-25000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912390" name="Rectangle 6">
            <a:extLst>
              <a:ext uri="{FF2B5EF4-FFF2-40B4-BE49-F238E27FC236}">
                <a16:creationId xmlns:a16="http://schemas.microsoft.com/office/drawing/2014/main" id="{E848B29D-E04B-0E1A-A1C7-48BB165A3A3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76225" y="17732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912391" name="Text Box 7">
            <a:extLst>
              <a:ext uri="{FF2B5EF4-FFF2-40B4-BE49-F238E27FC236}">
                <a16:creationId xmlns:a16="http://schemas.microsoft.com/office/drawing/2014/main" id="{548EBD5F-42D3-F688-727E-4F0E739DEB62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79463" y="1700213"/>
            <a:ext cx="81375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令宇宙飞船为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S' </a:t>
            </a:r>
            <a:r>
              <a:rPr kumimoji="1" lang="zh-CN" altLang="en-US">
                <a:latin typeface="Times New Roman" panose="02020603050405020304" pitchFamily="18" charset="0"/>
              </a:rPr>
              <a:t>系，地面为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S </a:t>
            </a:r>
            <a:r>
              <a:rPr kumimoji="1" lang="zh-CN" altLang="en-US">
                <a:latin typeface="Times New Roman" panose="02020603050405020304" pitchFamily="18" charset="0"/>
              </a:rPr>
              <a:t>系，光信号由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</a:rPr>
              <a:t>O' </a:t>
            </a:r>
            <a:r>
              <a:rPr kumimoji="1" lang="zh-CN" altLang="en-US">
                <a:latin typeface="Times New Roman" panose="02020603050405020304" pitchFamily="18" charset="0"/>
              </a:rPr>
              <a:t>点发出。</a:t>
            </a:r>
          </a:p>
        </p:txBody>
      </p:sp>
      <p:sp>
        <p:nvSpPr>
          <p:cNvPr id="912392" name="Line 8">
            <a:extLst>
              <a:ext uri="{FF2B5EF4-FFF2-40B4-BE49-F238E27FC236}">
                <a16:creationId xmlns:a16="http://schemas.microsoft.com/office/drawing/2014/main" id="{C1D59BA5-44B6-7C28-136F-B0A727A9560E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1042988" y="3040063"/>
            <a:ext cx="7416800" cy="0"/>
          </a:xfrm>
          <a:prstGeom prst="line">
            <a:avLst/>
          </a:prstGeom>
          <a:noFill/>
          <a:ln w="9525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2393" name="Oval 9">
            <a:extLst>
              <a:ext uri="{FF2B5EF4-FFF2-40B4-BE49-F238E27FC236}">
                <a16:creationId xmlns:a16="http://schemas.microsoft.com/office/drawing/2014/main" id="{CDA449B0-835C-55BF-A7CB-27F0E3F7294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403350" y="2968625"/>
            <a:ext cx="144463" cy="144463"/>
          </a:xfrm>
          <a:prstGeom prst="ellipse">
            <a:avLst/>
          </a:prstGeom>
          <a:solidFill>
            <a:srgbClr val="FFFFFF"/>
          </a:solidFill>
          <a:ln w="9525" algn="ctr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912394" name="Text Box 10">
            <a:extLst>
              <a:ext uri="{FF2B5EF4-FFF2-40B4-BE49-F238E27FC236}">
                <a16:creationId xmlns:a16="http://schemas.microsoft.com/office/drawing/2014/main" id="{525EBB2F-1166-46A4-2E10-C0C163EB0840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1187450" y="3081338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</a:p>
        </p:txBody>
      </p:sp>
      <p:sp>
        <p:nvSpPr>
          <p:cNvPr id="912395" name="Oval 11">
            <a:extLst>
              <a:ext uri="{FF2B5EF4-FFF2-40B4-BE49-F238E27FC236}">
                <a16:creationId xmlns:a16="http://schemas.microsoft.com/office/drawing/2014/main" id="{538787C1-706D-6CA6-F94F-421FF00FCE0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339975" y="2968625"/>
            <a:ext cx="144463" cy="144463"/>
          </a:xfrm>
          <a:prstGeom prst="ellipse">
            <a:avLst/>
          </a:prstGeom>
          <a:solidFill>
            <a:srgbClr val="FFFF00"/>
          </a:solidFill>
          <a:ln w="9525" algn="ctr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912396" name="Text Box 12">
            <a:extLst>
              <a:ext uri="{FF2B5EF4-FFF2-40B4-BE49-F238E27FC236}">
                <a16:creationId xmlns:a16="http://schemas.microsoft.com/office/drawing/2014/main" id="{B031D4C2-4003-7D28-3F9F-4D8C6B1135F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195513" y="3040063"/>
            <a:ext cx="649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O'</a:t>
            </a:r>
          </a:p>
        </p:txBody>
      </p:sp>
      <p:sp>
        <p:nvSpPr>
          <p:cNvPr id="912397" name="Text Box 13">
            <a:extLst>
              <a:ext uri="{FF2B5EF4-FFF2-40B4-BE49-F238E27FC236}">
                <a16:creationId xmlns:a16="http://schemas.microsoft.com/office/drawing/2014/main" id="{A3D45BA6-D1E0-C3FF-F29E-C9A977C45E7B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7308850" y="3040063"/>
            <a:ext cx="1554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x  </a:t>
            </a:r>
            <a:r>
              <a:rPr kumimoji="1"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  </a:t>
            </a: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kumimoji="1" lang="en-US" altLang="zh-CN" sz="2800" i="1" baseline="30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′</a:t>
            </a:r>
            <a:r>
              <a:rPr kumimoji="1"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912398" name="Text Box 14">
            <a:extLst>
              <a:ext uri="{FF2B5EF4-FFF2-40B4-BE49-F238E27FC236}">
                <a16:creationId xmlns:a16="http://schemas.microsoft.com/office/drawing/2014/main" id="{0C3B0B2D-A1AA-89D3-1E40-72D81C753A1D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255838" y="2290763"/>
            <a:ext cx="371475" cy="528637"/>
          </a:xfrm>
          <a:prstGeom prst="rect">
            <a:avLst/>
          </a:prstGeom>
          <a:noFill/>
          <a:ln w="9525" algn="ctr">
            <a:solidFill>
              <a:srgbClr val="FF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912399" name="Oval 15">
            <a:extLst>
              <a:ext uri="{FF2B5EF4-FFF2-40B4-BE49-F238E27FC236}">
                <a16:creationId xmlns:a16="http://schemas.microsoft.com/office/drawing/2014/main" id="{FD1FFF4F-C2E6-EF43-4984-D49BF4F3975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895850" y="2954338"/>
            <a:ext cx="144463" cy="144462"/>
          </a:xfrm>
          <a:prstGeom prst="ellipse">
            <a:avLst/>
          </a:prstGeom>
          <a:solidFill>
            <a:srgbClr val="FFFF00"/>
          </a:solidFill>
          <a:ln w="9525" algn="ctr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912400" name="Text Box 16">
            <a:extLst>
              <a:ext uri="{FF2B5EF4-FFF2-40B4-BE49-F238E27FC236}">
                <a16:creationId xmlns:a16="http://schemas.microsoft.com/office/drawing/2014/main" id="{3EF55A78-D0AF-2913-15F7-A1AE5D4DDAE9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787900" y="3025775"/>
            <a:ext cx="669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O'</a:t>
            </a:r>
          </a:p>
        </p:txBody>
      </p:sp>
      <p:sp>
        <p:nvSpPr>
          <p:cNvPr id="912401" name="Text Box 17">
            <a:extLst>
              <a:ext uri="{FF2B5EF4-FFF2-40B4-BE49-F238E27FC236}">
                <a16:creationId xmlns:a16="http://schemas.microsoft.com/office/drawing/2014/main" id="{0EE432E2-5E8B-640E-A987-DC27924F26AA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811713" y="2276475"/>
            <a:ext cx="371475" cy="528638"/>
          </a:xfrm>
          <a:prstGeom prst="rect">
            <a:avLst/>
          </a:prstGeom>
          <a:noFill/>
          <a:ln w="9525" algn="ctr">
            <a:solidFill>
              <a:srgbClr val="FF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8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912402" name="Text Box 18">
            <a:extLst>
              <a:ext uri="{FF2B5EF4-FFF2-40B4-BE49-F238E27FC236}">
                <a16:creationId xmlns:a16="http://schemas.microsoft.com/office/drawing/2014/main" id="{704753FD-8E7B-DE02-8179-B2544975F345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2162175" y="3429000"/>
            <a:ext cx="5016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t'</a:t>
            </a:r>
            <a:r>
              <a:rPr kumimoji="1" lang="en-US" altLang="zh-CN" sz="280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80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912403" name="Text Box 19">
            <a:extLst>
              <a:ext uri="{FF2B5EF4-FFF2-40B4-BE49-F238E27FC236}">
                <a16:creationId xmlns:a16="http://schemas.microsoft.com/office/drawing/2014/main" id="{BC009D6D-0DE6-8B60-36A1-0C702659567E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824413" y="3429000"/>
            <a:ext cx="5016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t'</a:t>
            </a:r>
            <a:r>
              <a:rPr kumimoji="1" lang="en-US" altLang="zh-CN" sz="280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800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80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graphicFrame>
        <p:nvGraphicFramePr>
          <p:cNvPr id="912404" name="Object 2">
            <a:extLst>
              <a:ext uri="{FF2B5EF4-FFF2-40B4-BE49-F238E27FC236}">
                <a16:creationId xmlns:a16="http://schemas.microsoft.com/office/drawing/2014/main" id="{5D206D11-10C0-14B7-F278-C18F159FB3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7038" y="2420938"/>
          <a:ext cx="149383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11000" imgH="228600" progId="Equation.3">
                  <p:embed/>
                </p:oleObj>
              </mc:Choice>
              <mc:Fallback>
                <p:oleObj name="公式" r:id="rId2" imgW="711000" imgH="228600" progId="Equation.3">
                  <p:embed/>
                  <p:pic>
                    <p:nvPicPr>
                      <p:cNvPr id="912404" name="Object 2">
                        <a:extLst>
                          <a:ext uri="{FF2B5EF4-FFF2-40B4-BE49-F238E27FC236}">
                            <a16:creationId xmlns:a16="http://schemas.microsoft.com/office/drawing/2014/main" id="{5D206D11-10C0-14B7-F278-C18F159FB3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6777038" y="2420938"/>
                        <a:ext cx="1493837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2405" name="Object 3">
            <a:extLst>
              <a:ext uri="{FF2B5EF4-FFF2-40B4-BE49-F238E27FC236}">
                <a16:creationId xmlns:a16="http://schemas.microsoft.com/office/drawing/2014/main" id="{4D92C3CF-5EF4-6471-AD84-673C3CD7E3DE}"/>
              </a:ext>
            </a:extLst>
          </p:cNvPr>
          <p:cNvGraphicFramePr>
            <a:graphicFrameLocks/>
          </p:cNvGraphicFramePr>
          <p:nvPr/>
        </p:nvGraphicFramePr>
        <p:xfrm>
          <a:off x="900113" y="4532313"/>
          <a:ext cx="329406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88960" imgH="838080" progId="Equation.3">
                  <p:embed/>
                </p:oleObj>
              </mc:Choice>
              <mc:Fallback>
                <p:oleObj name="公式" r:id="rId4" imgW="3288960" imgH="838080" progId="Equation.3">
                  <p:embed/>
                  <p:pic>
                    <p:nvPicPr>
                      <p:cNvPr id="912405" name="Object 3">
                        <a:extLst>
                          <a:ext uri="{FF2B5EF4-FFF2-40B4-BE49-F238E27FC236}">
                            <a16:creationId xmlns:a16="http://schemas.microsoft.com/office/drawing/2014/main" id="{4D92C3CF-5EF4-6471-AD84-673C3CD7E3D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900113" y="4532313"/>
                        <a:ext cx="3294062" cy="841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2406" name="Text Box 22">
            <a:extLst>
              <a:ext uri="{FF2B5EF4-FFF2-40B4-BE49-F238E27FC236}">
                <a16:creationId xmlns:a16="http://schemas.microsoft.com/office/drawing/2014/main" id="{E54BA4E2-F07C-5666-ED91-F33948CE05E8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354388" y="4240213"/>
            <a:ext cx="692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 sz="4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？</a:t>
            </a:r>
          </a:p>
        </p:txBody>
      </p:sp>
      <p:graphicFrame>
        <p:nvGraphicFramePr>
          <p:cNvPr id="912407" name="Object 4">
            <a:extLst>
              <a:ext uri="{FF2B5EF4-FFF2-40B4-BE49-F238E27FC236}">
                <a16:creationId xmlns:a16="http://schemas.microsoft.com/office/drawing/2014/main" id="{0AF50632-77DB-692F-8962-0FC07A875D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0113" y="3644900"/>
          <a:ext cx="197643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81080" imgH="863280" progId="Equation.3">
                  <p:embed/>
                </p:oleObj>
              </mc:Choice>
              <mc:Fallback>
                <p:oleObj name="公式" r:id="rId6" imgW="1981080" imgH="863280" progId="Equation.3">
                  <p:embed/>
                  <p:pic>
                    <p:nvPicPr>
                      <p:cNvPr id="912407" name="Object 4">
                        <a:extLst>
                          <a:ext uri="{FF2B5EF4-FFF2-40B4-BE49-F238E27FC236}">
                            <a16:creationId xmlns:a16="http://schemas.microsoft.com/office/drawing/2014/main" id="{0AF50632-77DB-692F-8962-0FC07A875D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980113" y="3644900"/>
                        <a:ext cx="1976437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2408" name="Object 5">
            <a:extLst>
              <a:ext uri="{FF2B5EF4-FFF2-40B4-BE49-F238E27FC236}">
                <a16:creationId xmlns:a16="http://schemas.microsoft.com/office/drawing/2014/main" id="{1CEFFF6B-7CE6-0771-B8E6-46A798B6BB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9950" y="4508500"/>
          <a:ext cx="207803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82600" imgH="863280" progId="Equation.3">
                  <p:embed/>
                </p:oleObj>
              </mc:Choice>
              <mc:Fallback>
                <p:oleObj name="公式" r:id="rId8" imgW="2082600" imgH="863280" progId="Equation.3">
                  <p:embed/>
                  <p:pic>
                    <p:nvPicPr>
                      <p:cNvPr id="912408" name="Object 5">
                        <a:extLst>
                          <a:ext uri="{FF2B5EF4-FFF2-40B4-BE49-F238E27FC236}">
                            <a16:creationId xmlns:a16="http://schemas.microsoft.com/office/drawing/2014/main" id="{1CEFFF6B-7CE6-0771-B8E6-46A798B6BB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5949950" y="4508500"/>
                        <a:ext cx="2078038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2409" name="Object 6">
            <a:extLst>
              <a:ext uri="{FF2B5EF4-FFF2-40B4-BE49-F238E27FC236}">
                <a16:creationId xmlns:a16="http://schemas.microsoft.com/office/drawing/2014/main" id="{D8AEA91E-51CF-50AD-7B39-BA1378783B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5629275"/>
          <a:ext cx="266223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666880" imgH="825480" progId="Equation.3">
                  <p:embed/>
                </p:oleObj>
              </mc:Choice>
              <mc:Fallback>
                <p:oleObj name="公式" r:id="rId10" imgW="2666880" imgH="825480" progId="Equation.3">
                  <p:embed/>
                  <p:pic>
                    <p:nvPicPr>
                      <p:cNvPr id="912409" name="Object 6">
                        <a:extLst>
                          <a:ext uri="{FF2B5EF4-FFF2-40B4-BE49-F238E27FC236}">
                            <a16:creationId xmlns:a16="http://schemas.microsoft.com/office/drawing/2014/main" id="{D8AEA91E-51CF-50AD-7B39-BA1378783B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900113" y="5629275"/>
                        <a:ext cx="2662237" cy="823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2410" name="Object 7">
            <a:extLst>
              <a:ext uri="{FF2B5EF4-FFF2-40B4-BE49-F238E27FC236}">
                <a16:creationId xmlns:a16="http://schemas.microsoft.com/office/drawing/2014/main" id="{957A7B02-3E51-0696-EC44-4390737E15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4425" y="5588000"/>
          <a:ext cx="443865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431960" imgH="876240" progId="Equation.3">
                  <p:embed/>
                </p:oleObj>
              </mc:Choice>
              <mc:Fallback>
                <p:oleObj name="公式" r:id="rId12" imgW="4431960" imgH="876240" progId="Equation.3">
                  <p:embed/>
                  <p:pic>
                    <p:nvPicPr>
                      <p:cNvPr id="912410" name="Object 7">
                        <a:extLst>
                          <a:ext uri="{FF2B5EF4-FFF2-40B4-BE49-F238E27FC236}">
                            <a16:creationId xmlns:a16="http://schemas.microsoft.com/office/drawing/2014/main" id="{957A7B02-3E51-0696-EC44-4390737E15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White">
                      <a:xfrm>
                        <a:off x="3654425" y="5588000"/>
                        <a:ext cx="4438650" cy="877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91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1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91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1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1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1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1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1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1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1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1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1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1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1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91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12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12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91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91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1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91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386" grpId="0" autoUpdateAnimBg="0"/>
      <p:bldP spid="912387" grpId="0" autoUpdateAnimBg="0"/>
      <p:bldP spid="912388" grpId="0" autoUpdateAnimBg="0"/>
      <p:bldP spid="912389" grpId="0" autoUpdateAnimBg="0"/>
      <p:bldP spid="912390" grpId="0" autoUpdateAnimBg="0"/>
      <p:bldP spid="912391" grpId="0" autoUpdateAnimBg="0"/>
      <p:bldP spid="912393" grpId="0" animBg="1"/>
      <p:bldP spid="912394" grpId="0"/>
      <p:bldP spid="912395" grpId="0" animBg="1"/>
      <p:bldP spid="912396" grpId="0"/>
      <p:bldP spid="912397" grpId="0"/>
      <p:bldP spid="912398" grpId="0" animBg="1"/>
      <p:bldP spid="912399" grpId="0" animBg="1"/>
      <p:bldP spid="912400" grpId="0"/>
      <p:bldP spid="912401" grpId="0" animBg="1"/>
      <p:bldP spid="912402" grpId="0"/>
      <p:bldP spid="912403" grpId="0"/>
      <p:bldP spid="91240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8|0.8|0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|2.2|13.9|1.3|3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3|2.5|4.2|9|5.5|2.7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-457200" algn="ctr" defTabSz="914400" rtl="0" eaLnBrk="0" fontAlgn="base" latinLnBrk="0" hangingPunct="0">
          <a:lnSpc>
            <a:spcPct val="120000"/>
          </a:lnSpc>
          <a:spcBef>
            <a:spcPct val="0"/>
          </a:spcBef>
          <a:spcAft>
            <a:spcPct val="0"/>
          </a:spcAft>
          <a:buClr>
            <a:schemeClr val="tx2"/>
          </a:buClr>
          <a:buSzTx/>
          <a:buFont typeface="Monotype Sorts" pitchFamily="2" charset="2"/>
          <a:buChar char="&amp;"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仿宋_GB2312" pitchFamily="49" charset="-122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-457200" algn="ctr" defTabSz="914400" rtl="0" eaLnBrk="0" fontAlgn="base" latinLnBrk="0" hangingPunct="0">
          <a:lnSpc>
            <a:spcPct val="120000"/>
          </a:lnSpc>
          <a:spcBef>
            <a:spcPct val="0"/>
          </a:spcBef>
          <a:spcAft>
            <a:spcPct val="0"/>
          </a:spcAft>
          <a:buClr>
            <a:schemeClr val="tx2"/>
          </a:buClr>
          <a:buSzTx/>
          <a:buFont typeface="Monotype Sorts" pitchFamily="2" charset="2"/>
          <a:buChar char="&amp;"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仿宋_GB2312" pitchFamily="49" charset="-122"/>
            <a:ea typeface="仿宋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13127</TotalTime>
  <Words>2473</Words>
  <Application>Microsoft Office PowerPoint</Application>
  <PresentationFormat>全屏显示(4:3)</PresentationFormat>
  <Paragraphs>209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30</vt:i4>
      </vt:variant>
    </vt:vector>
  </HeadingPairs>
  <TitlesOfParts>
    <vt:vector size="48" baseType="lpstr">
      <vt:lpstr>Monotype Sorts</vt:lpstr>
      <vt:lpstr>仿宋_GB2312</vt:lpstr>
      <vt:lpstr>黑体</vt:lpstr>
      <vt:lpstr>华文中宋</vt:lpstr>
      <vt:lpstr>楷体_GB2312</vt:lpstr>
      <vt:lpstr>隶书</vt:lpstr>
      <vt:lpstr>宋体</vt:lpstr>
      <vt:lpstr>Arial</vt:lpstr>
      <vt:lpstr>Bookman Old Style</vt:lpstr>
      <vt:lpstr>Symbol</vt:lpstr>
      <vt:lpstr>Times New Roman</vt:lpstr>
      <vt:lpstr>Wingdings</vt:lpstr>
      <vt:lpstr>1_默认设计模板</vt:lpstr>
      <vt:lpstr>公式</vt:lpstr>
      <vt:lpstr>Equation</vt:lpstr>
      <vt:lpstr>Image</vt:lpstr>
      <vt:lpstr>BMP 图象</vt:lpstr>
      <vt:lpstr>Clip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功和能</dc:title>
  <dc:subject>大学物理电子教案</dc:subject>
  <dc:creator>zhaoshumin</dc:creator>
  <cp:lastModifiedBy>davidly .</cp:lastModifiedBy>
  <cp:revision>879</cp:revision>
  <dcterms:created xsi:type="dcterms:W3CDTF">2004-11-16T23:52:09Z</dcterms:created>
  <dcterms:modified xsi:type="dcterms:W3CDTF">2025-04-07T13:23:51Z</dcterms:modified>
</cp:coreProperties>
</file>